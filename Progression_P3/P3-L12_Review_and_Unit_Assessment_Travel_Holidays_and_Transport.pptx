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Map · 2–6 Grammar spine (not marked) · 6–7 Assessment map · 7–21 Listening (20) · 21–29 Reading (10) · 29–46 Writing (20) · 46–56 Speaking (10, one-to-one or trusted pairs) · 56–60 Profile and P4 target.
FLEX slides are optional. Use them if the class is moving quickly; otherwise the same activities are on the website for homework.
Content source: Miftah Arabic website, Pathways › Progression › P3 Travel, Holidays and Transport › P3-L12. The website P3-L12 is a four-skill, 60-mark unit assessment: a twelve-question grammar spine (revision, not counted), Part A listening (three texts — a trip to Jordan 8 · Sami and Layla on tourism: who said what 6 · a transport official on high-speed rail 6 = 20), Part B1 reading (an article on responsible tourism: 10), Part B2 writing (five-field travel form 5 + 145–160-word article 15, marked task / range / accuracy) and Part C speaking (role play: a travel-agency consultation 4 + topic conversation 6), then a P4 target.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speaking one-to-one or in trusted pairs (it can move to the next lesson).
• If time is short: listening + reading in class; writing and speaking next lesson.
• Holidays are personal: the travel form, article and role play may describe an imagined trip. Never press anyone about family travel or money.
• Accuracy focus today (the website mark scheme): the la- of the Type 2 result (the primary criterion) · kāna / kānat agreement · qāla inna, other verbs anna — and in speaking, a law answer to the law question.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sections: grammar spine · Part A listening · Part B1 reading · Part B2 writing · Part C speaking · mark scheme · reflection.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 1 tests one of the words prepared at home at the end of P3-L11. Questions 2–5 are from the website twelve-question grammar spine (used diagnostically; the full spine is reviewed on the next slide).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Use it to choose ONE thing to check in your writing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REVIEW (website twelve-question grammar spine, correct answers): إِذَا زُرْتَ الأُرْدُنَّ، سَتَنْبَهِرُ · لَوْ حَجَزْتُ مُبَكِّرًا، لَوَفَّرْتُ المَالَ · زُرْتُ · كُنْتُ قَدْ · سَأُقِيمُ · فِي · يَتَعَلَّمَ · قَالَ الدَّلِيلُ إِنَّ · إِلَى · تَسْتَقْطِبُ المَدِينَةُ السُّيَّاحَ · بَيْنَ · كَانَتْ قَدْ أَقَامَتْ. Close the vocabulary vault during each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sixty marks across listening, reading, writing and speaking).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1–4 (website Part A, 20 marks). Before listening: label each question C / R / P / O and write the signal (سَـ / لَـ · قَالَ · كَانَ قَدْ · أَرَى) — P3-L10. Question 1: two past perfects (كُنْتُ قَدْ). Question 2: whose view? The guide’s (قَالَ … إِنَّ). Question 4: the sa- result = a real plan. Each recording may be played twice; students answer after the second reading.
SCRIPT: يَقُولُ المُسَافِرُ: كُنْتُ قَدْ حَجَزْتُ رِحْلَتِي إِلَى الأُرْدُنِّ قَبْلَ شَهْرَيْنِ، وَكُنْتُ قَدْ أَقَمْتُ فِي فُنْدُقٍ صَغِيرٍ فِي عَمَّانَ. قَالَ الدَّلِيلُ إِنَّ أَفْضَلَ وَقْتٍ لِزِيَارَةِ البَتْرَاءِ هُوَ الصَّبَاحُ البَاكِرُ. اسْتَعْمَلْتُ الحَافِلَةَ السِّيَاحِيَّةَ الَّتِي تَصِلُ بَيْنَ المُدُنِ. إِذَا زُرْتُ الأُرْدُنَّ ثَانِيَةً، سَأُخَصِّصُ يَوْمَيْنِ لِلْبَتْرَاءِ. وَلَوْ كُنْتُ قَدْ بَقِيتُ لَيْلَةً إِضَافِيَّةً، لَرَأَيْتُ الخَزْنَةَ تَحْتَ ضَوْءِ الشُّمُوعِ. وَتَسْتَقْطِبُ البَتْرَاءُ نَحْوَ مِلْيُونِ زَائِرٍ سَنَوِيًّا. وَأَرَى أَنَّ السِّيَاحَةَ المُسْتَدَامَةَ ضَرُورَةٌ لِحِمَايَةِ هٰذَا التُّرَاثِ.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/4. Reveal the script only after the attempt; ask which signal (the result marker sa- / la- · كَانَ قَدْ · a reporting verb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1 · QUESTIONS 5–8 (website Part A, 20 marks). Before listening: label each question C / R / P / O and write the signal (سَـ / لَـ · قَالَ · كَانَ قَدْ · أَرَى) — P3-L10. Question 5: the la- result = a regret. Question 6 is a number: نَحْوَ مِلْيُونِ = about a million. Question 8 asks for the traveller’s OWN view (أَرَى أَنَّ). Each recording may be played twice; students answer after the second reading.
SCRIPT: يَقُولُ المُسَافِرُ: كُنْتُ قَدْ حَجَزْتُ رِحْلَتِي إِلَى الأُرْدُنِّ قَبْلَ شَهْرَيْنِ، وَكُنْتُ قَدْ أَقَمْتُ فِي فُنْدُقٍ صَغِيرٍ فِي عَمَّانَ. قَالَ الدَّلِيلُ إِنَّ أَفْضَلَ وَقْتٍ لِزِيَارَةِ البَتْرَاءِ هُوَ الصَّبَاحُ البَاكِرُ. اسْتَعْمَلْتُ الحَافِلَةَ السِّيَاحِيَّةَ الَّتِي تَصِلُ بَيْنَ المُدُنِ. إِذَا زُرْتُ الأُرْدُنَّ ثَانِيَةً، سَأُخَصِّصُ يَوْمَيْنِ لِلْبَتْرَاءِ. وَلَوْ كُنْتُ قَدْ بَقِيتُ لَيْلَةً إِضَافِيَّةً، لَرَأَيْتُ الخَزْنَةَ تَحْتَ ضَوْءِ الشُّمُوعِ. وَتَسْتَقْطِبُ البَتْرَاءُ نَحْوَ مِلْيُونِ زَائِرٍ سَنَوِيًّا. وَأَرَى أَنَّ السِّيَاحَةَ المُسْتَدَامَةَ ضَرُورَةٌ لِحِمَايَةِ هٰذَا التُّرَاثِ.
Private chat: 4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/4. Reveal the script only after the attempt; ask which signal (the result marker sa- / la- · كَانَ قَدْ · a reporting verb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2 · 6 QUESTIONS (website Part A, 20 marks). Before listening: label each question C / R / P / O and write the signal (سَـ / لَـ · قَالَ · كَانَ قَدْ · أَرَى) — P3-L10. Attribution: write S / L / both beside each question while listening — listen for the name before each line. Each recording may be played twice; students answer after the second reading.
SCRIPT: سَامِي: تُسْهِمُ السِّيَاحَةُ فِي الاقْتِصَادِ المَحَلِّيِّ وَتُوَفِّرُ فُرَصَ عَمَلٍ. لَيْلَى: أَتَّفِقُ، لٰكِنْ إِذَا لَمْ نُنَظِّمِ الزِّيَارَاتِ، سَيَتَدَهْوَرُ التُّرَاثُ. سَامِي: وَلَوِ اعْتَمَدَتِ الدُّوَلُ نِظَامَ الحِصَصِ مُبَكِّرًا، لَكَانَتِ المَوَاقِعُ أَفْضَلَ حَالًا. لَيْلَى: وَقَالَ خَبِيرٌ إِنَّ مَسْؤُولِيَّةَ السَّائِحِ لَا تَقِلُّ عَنْ سِيَاسَةِ الدَّوْلَةِ. سَامِي: وَيُسْتَحْسَنُ أَنْ يَحْتَرِمَ الزَّائِرُ العَادَاتِ المَحَلِّيَّةَ. لَيْلَى: وَأَنَا أَرَى أَنَّ التَّوْعِيَةَ هِيَ الحَلُّ.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/6. Reveal the script only after the attempt; ask which signal (the result marker sa- / la- · كَانَ قَدْ · a reporting verb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TEXT 3 · 6 QUESTIONS (website Part A, 20 marks). Before listening: label each question C / R / P / O and write the signal (سَـ / لَـ · قَالَ · كَانَ قَدْ · أَرَى) — P3-L10. Listen for the reporting verbs (أَكَّدَ · أَشَارَ إِلَى · قَالَ إِنَّ · اعْتَرَفَ بِـ), كَانَتْ قَدْ and the two conditionals (sa- / la-). Each recording may be played twice; students answer after the second reading.
SCRIPT: يَقُولُ مَسْؤُولٌ فِي هَيْئَةِ النَّقْلِ: كَانَتِ الهَيْئَةُ قَدْ أَطْلَقَتْ مَشْرُوعَ الخَطِّ الحَدِيدِيِّ السَّرِيعِ قَبْلَ سَنَوَاتٍ. وَأَكَّدَ أَنَّ المَشْرُوعَ قَلَّصَ وَقْتَ السَّفَرِ بَيْنَ المُدُنِ الكُبْرَى. وَأَشَارَ إِلَى أَنَّ القِطَارَ يَصِلُ بَيْنَ العَاصِمَةِ وَالسَّاحِلِ فِي سَاعَتَيْنِ. وَقَالَ إِنَّهُ إِذَا اعْتَمَدْنَا عَلَى النَّقْلِ الكَهْرَبَائِيِّ، سَتَنْخَفِضُ الانْبِعَاثَاتُ. وَاعْتَرَفَ بِأَنَّ البُنْيَةَ التَّحْتِيَّةَ تَحْتَاجُ إِلَى مَزِيدٍ مِنَ الاسْتِثْمَارِ. وَلَوْ بَدَأَ المَشْرُوعُ مُبَكِّرًا، لَكَانَ الرَّبْطُ أَوْسَعَ اليَوْمَ.
Private chat: 6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Mark /6. Reveal the script only after the attempt; ask which signal (the result marker sa- / la- · كَانَ قَدْ · a reporting verb · أَرَى أَنَّ · a speaker’s name) proved each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TEXT (website Part B1). No English support on assessment texts. Strategy (P3-L08): box every إِذَا and لَوْ, underline the result marker, and ask: does the writer recommend (idhā) or criticise (law)? Website text corrected: وَكَانَ الكَاتِبُ قَدْ زَارَ (the website has an extra قَدْ before كَانَ).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conditionals, attitude and structure · R4 result-marker gap-fill and purpose). Website skill labels for these questions: R1 · R2 · R2 · R3 · R3.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(website Part B1: R1 main idea · R2 detail · R3 conditionals, attitude and structure · R4 result-marker gap-fill and purpose). Website skill labels for these questions: R3 · R3 · R4 · R4 · R4. Keep the text on the previous slide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 Ask one student to read the evidence phrase aloud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1 (website, 5 marks): one mark per field completed accurately in Arabic (a phrase is enough). Field 1 must use يُقِيمُ فِي; field 2 يَحْجِزُ; field 3 كُنْتُ قَدْ + past; field 4 a Type 1 (إِذَا + past → سَـ); field 5 a Type 2 (لَوْ + past → لَـ). Students may describe an imagined trip.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WRITING QUESTION 2 (website, 15 marks): a 145–160-word travel article. Required: a past-perfect background, yaḥjiz / yuqīm, a Type 1 recommendation AND a Type 2 reflection (two separate Range marks), reported speech with a verb other than قَالَ, and a tourism verb. Mark scheme exactly as on the website (Accuracy: the لَـ of the Type 2 result 2 · كَانَ / كَانَتْ agreement 2 · إِنَّ / أَنَّ 1). The P3-L09 website model is a full-mark exemplar — show it ONLY after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ROLE PLAY (website, 4 marks). Teacher plays a travel agent: أَهْلًا وَسَهْلًا فِي وَكَالَتِنَا. كَيْفَ أُسَاعِدُكَ؟ Model answers: مَا الَّذِي تَتَمَيَّزُ بِهِ فَاسُ؟ (agent: تَتَمَيَّزُ بِأَزِقَّتِهَا وَتَسْتَقْطِبُ آلَافَ السُّيَّاحِ) · أُرِيدُ أَنْ أَحْجِزَ غُرْفَةً؛ أَيْنَ يُمْكِنُ أَنْ أُقِيمَ؟ · فِي رِحْلَتِي السَّابِقَةِ كُنْتُ قَدْ حَجَزْتُ فُنْدُقًا، لٰكِنِّي اكْتَشَفْتُ أَنَّ الحَجْزَ أُلْغِيَ … · إِذَا سَافَرْتُ فِي الرَّبِيعِ، مَاذَا تَنْصَحُنِي؟ Website mark scheme: Communication (2): all four prompts are addressed clearly and relevantly. Accuracy (2): yaḥjiz / yuqīm past forms in prompt 3 and the Type 1 recommendation are formed correctly. The destination is described with yastaqṭib or yatamayyaz bi-. To a girl: اسْأَلِي · صِفِي · وَاجَهْتِهَا · اطْلُبِي.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CONVERSATION (website, 6 marks): structure · reason · extra (P3-L11). Website mark scheme: Communication (3): answers are developed with point, reason and example. Quality of language (3): the past perfect (Q1), a Type 1 conditional (Q2) and a Type 2 conditional (Q3) all appear and are accurate. Q3 opens with law; a student who answers with idhā is avoiding the conditional — record it and note the missed mark. Allow time-buying and repair phrases (سُؤَالٌ جَمِيلٌ · دَعْنِي أُفَكِّرُ · عَفْوًا، أَقْصِدُ). To a girl: صِفِي · كُنْتِ قَدْ تَوَقَّعْتِهِ · رَأْيُكِ · لَدَيْكِ · سَتَذْهَبِينَ. ORGANISATION: one-to-one while others finish writing, or trusted pairs with the teacher as examiner.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(website: complete the four components to generate targeted guidance). The bands are a teacher guide in line with the P1 and P2 assessments. Return each student’s P3-L11 “priority error” note next to their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(P4-L01 · The Natural World — Landscapes, Ecosystems and Biodiversity) will spend class time USING this language, so students prepare it tonight — short, simple, easy to access (school guidance: “Simple, Short, Interesting, Relevant, Easy to access”). Progression P4 begins with the natural world (website P4-L01 “The Natural World — Landscapes, Ecosystems and Biodiversity”).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P3  ·  P3-L12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P3-L12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Review and Unit Assessment: Travel, Holidays and Transport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المُرَاجَعَةُ وَتَقْيِيمُ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Show what you can understand and produce about travel — kuntu qad for the background, idhā … sa- to recommend, law … la- to reflect, qāla inna for the guide, yustaḥsan an + a verb in -a — then choose one precise target for Progression P4.</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P3-L12 · Progression P3 · Travel, Holidays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end of unit P3</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P3 › P3-L12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Grammar spine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تَهْيِئَةٌ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P3 checklist and 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Listening: three texts, 20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Reading: 10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27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Writing 20 + speaking 10.</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الكِتَابَةُ وَالتَّحَدُّثُ</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My profile and one P4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for P4: the natural world.</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Start each section with the questions you find easiest. Leave a blank and come back. The grammar spine does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وَكِيلُ سَفَرٍ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insurance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agent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guidebook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1 conditional.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سَتَنْبَهِرُ.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زُرْتَ الأُرْدُنَّ، تَنْبَهِرُ.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تَزُورُ الأُرْدُنَّ، سَتَنْبَهِرُ.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الفُنْدُقَ قَبْلَ السَّفَرِ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قَدْ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subjunctive: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تَعَلَّمَ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يَتَعَلَّمَ</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المَدِينَةُ السُّيَّاحَ.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تَسْتَقْطِبُ المَدِينَةُ بِالسُّيَّاحِ.</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تَقْطِبُ المَدِينَةُ السُّيَّاحَ.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وَكِيلُ سَفَرٍ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travel insurance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travel agent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travel guidebook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(P3-L11).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Type 1 conditional.</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إِذَا زُرْتَ الأُرْدُنَّ، سَتَنْبَهِرُ.</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زُرْتَ الأُرْدُنَّ، تَنْبَهِرُ.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تَزُورُ الأُرْدُنَّ، سَتَنْبَهِرُ.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past perfect: ___ </a:t>
            </a:r>
            <a:pPr algn="l" indent="0" marL="0">
              <a:buNone/>
            </a:pPr>
            <a:r>
              <a:rPr lang="ar-SA" altLang="en-US" sz="1650" b="1" dirty="0">
                <a:solidFill>
                  <a:srgbClr val="1B3B6F"/>
                </a:solidFill>
                <a:latin typeface="Amiri" pitchFamily="2" charset="-78"/>
                <a:ea typeface="Amiri" pitchFamily="2" charset="-78"/>
                <a:cs typeface="Amiri" pitchFamily="2" charset="-78"/>
              </a:rPr>
              <a:t>حَجَزْتُ الفُنْدُقَ قَبْلَ السَّفَرِ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سَـ</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قَدْ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subjunctive: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الزَّائِرُ التَّحِيَّةَ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يَتَعَلَّمُ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تَعَلَّمَ</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يَتَعَلَّمَ</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7.</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يَسْتَقْطِبُ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تَسْتَقْطِبُ المَدِينَةُ السُّيَّاحَ.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تَسْتَقْطِبُ المَدِينَةُ بِالسُّيَّاحِ.</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تَقْطِبُ المَدِينَةُ السُّيَّاحَ.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grammar spine 10.</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This warm-up does NOT count. Use it to choose ONE thing to check in your writing today.</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كُنْتُ قَدْ … · إِذَا … سَـ · لَوْ … لَـ · أَنْ يَتَعَلَّمَ</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REVIEW · THE P3 GRAMMAR SPINE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P3 accuracy checklist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مُرَاجَعَةُ القَوَاعِدِ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Lesson</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P3-L05</a:t>
            </a:r>
            <a:endParaRPr lang="en-US" sz="1100" dirty="0"/>
          </a:p>
        </p:txBody>
      </p:sp>
      <p:sp>
        <p:nvSpPr>
          <p:cNvPr id="21" name="Text 18"/>
          <p:cNvSpPr txBox="1"/>
          <p:nvPr/>
        </p:nvSpPr>
        <p:spPr>
          <a:xfrm>
            <a:off x="3291840" y="2267712"/>
            <a:ext cx="5852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إِذَا زُرْتَ الأُرْدُنَّ، سَتَنْبَهِرُ · لَوْ حَجَزْتُ مُبَكِّرًا، لَوَفَّرْتُ</a:t>
            </a:r>
            <a:endParaRPr lang="ar-SA" sz="2000" dirty="0"/>
          </a:p>
        </p:txBody>
      </p:sp>
      <p:sp>
        <p:nvSpPr>
          <p:cNvPr id="22" name="Text 19"/>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1 · Type 2</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P3-L02 · L03</a:t>
            </a:r>
            <a:endParaRPr lang="en-US" sz="1100" dirty="0"/>
          </a:p>
        </p:txBody>
      </p:sp>
      <p:sp>
        <p:nvSpPr>
          <p:cNvPr id="27" name="Text 24"/>
          <p:cNvSpPr txBox="1"/>
          <p:nvPr/>
        </p:nvSpPr>
        <p:spPr>
          <a:xfrm>
            <a:off x="3291840" y="3004718"/>
            <a:ext cx="5852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كُنْتُ قَدْ حَجَزْتُ · كَانَتْ قَدْ أَقَامَتْ</a:t>
            </a:r>
            <a:endParaRPr lang="ar-SA" sz="2000" dirty="0"/>
          </a:p>
        </p:txBody>
      </p:sp>
      <p:sp>
        <p:nvSpPr>
          <p:cNvPr id="28" name="Text 25"/>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past perfect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P3-L06</a:t>
            </a:r>
            <a:endParaRPr lang="en-US" sz="1100" dirty="0"/>
          </a:p>
        </p:txBody>
      </p:sp>
      <p:sp>
        <p:nvSpPr>
          <p:cNvPr id="33" name="Text 30"/>
          <p:cNvSpPr txBox="1"/>
          <p:nvPr/>
        </p:nvSpPr>
        <p:spPr>
          <a:xfrm>
            <a:off x="3291840" y="3741725"/>
            <a:ext cx="5852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قَالَ الدَّلِيلُ إِنَّ … · أَشَارَ إِلَى أَنَّ …</a:t>
            </a:r>
            <a:endParaRPr lang="ar-SA" sz="2000" dirty="0"/>
          </a:p>
        </p:txBody>
      </p:sp>
      <p:sp>
        <p:nvSpPr>
          <p:cNvPr id="34" name="Text 31"/>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reported speech</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P3-L07</a:t>
            </a:r>
            <a:endParaRPr lang="en-US" sz="1100" dirty="0"/>
          </a:p>
        </p:txBody>
      </p:sp>
      <p:sp>
        <p:nvSpPr>
          <p:cNvPr id="39" name="Text 36"/>
          <p:cNvSpPr txBox="1"/>
          <p:nvPr/>
        </p:nvSpPr>
        <p:spPr>
          <a:xfrm>
            <a:off x="3291840" y="4478731"/>
            <a:ext cx="5852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يُسْتَحْسَنُ أَنْ يَتَعَلَّمَ الزَّائِرُ التَّحِيَّةَ</a:t>
            </a:r>
            <a:endParaRPr lang="ar-SA" sz="2000" dirty="0"/>
          </a:p>
        </p:txBody>
      </p:sp>
      <p:sp>
        <p:nvSpPr>
          <p:cNvPr id="40" name="Text 37"/>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verb in -a</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P3-L01 · L02 · L04</a:t>
            </a:r>
            <a:endParaRPr lang="en-US" sz="1100" dirty="0"/>
          </a:p>
        </p:txBody>
      </p:sp>
      <p:sp>
        <p:nvSpPr>
          <p:cNvPr id="43" name="Text 40"/>
          <p:cNvSpPr txBox="1"/>
          <p:nvPr/>
        </p:nvSpPr>
        <p:spPr>
          <a:xfrm>
            <a:off x="3291840" y="5215738"/>
            <a:ext cx="58521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سَأُقِيمُ فِي … · تَسْتَقْطِبُ المَدِينَةُ السُّيَّاحَ · يَصِلُ بَيْنَ</a:t>
            </a:r>
            <a:endParaRPr lang="ar-SA" sz="2000" dirty="0"/>
          </a:p>
        </p:txBody>
      </p:sp>
      <p:sp>
        <p:nvSpPr>
          <p:cNvPr id="44" name="Text 41"/>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 verbs</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And one habit for every part today: name the structure the question needs before you answer.</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skills, sixty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9419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1810512"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you do</a:t>
            </a:r>
            <a:endParaRPr lang="en-US" sz="1100" dirty="0"/>
          </a:p>
        </p:txBody>
      </p:sp>
      <p:sp>
        <p:nvSpPr>
          <p:cNvPr id="18" name="Text 15"/>
          <p:cNvSpPr txBox="1"/>
          <p:nvPr/>
        </p:nvSpPr>
        <p:spPr>
          <a:xfrm>
            <a:off x="53035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43076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1847088"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texts (each heard twice): a trip to Jordan (8) · Sami and Layla on tourism (6) · a transport official on high-speed rail (6)</a:t>
            </a:r>
            <a:endParaRPr lang="en-US" sz="1100" dirty="0"/>
          </a:p>
        </p:txBody>
      </p:sp>
      <p:sp>
        <p:nvSpPr>
          <p:cNvPr id="22" name="Text 19"/>
          <p:cNvSpPr txBox="1"/>
          <p:nvPr/>
        </p:nvSpPr>
        <p:spPr>
          <a:xfrm>
            <a:off x="566928"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43076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1847088"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article on responsible tourism: main idea, detail, conditionals and attitude, result-marker gap-fills, purpose</a:t>
            </a:r>
            <a:endParaRPr lang="en-US" sz="1100" dirty="0"/>
          </a:p>
        </p:txBody>
      </p:sp>
      <p:sp>
        <p:nvSpPr>
          <p:cNvPr id="28" name="Text 25"/>
          <p:cNvSpPr txBox="1"/>
          <p:nvPr/>
        </p:nvSpPr>
        <p:spPr>
          <a:xfrm>
            <a:off x="566928"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43076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1847088"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five-field travel form (5) + a 145–160-word travel article (15)</a:t>
            </a:r>
            <a:endParaRPr lang="en-US" sz="1100" dirty="0"/>
          </a:p>
        </p:txBody>
      </p:sp>
      <p:sp>
        <p:nvSpPr>
          <p:cNvPr id="34" name="Text 31"/>
          <p:cNvSpPr txBox="1"/>
          <p:nvPr/>
        </p:nvSpPr>
        <p:spPr>
          <a:xfrm>
            <a:off x="566928"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43076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1847088"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role play: a travel-agency consultation (4) + a topic conversation (6)</a:t>
            </a:r>
            <a:endParaRPr lang="en-US" sz="1100" dirty="0"/>
          </a:p>
        </p:txBody>
      </p:sp>
      <p:sp>
        <p:nvSpPr>
          <p:cNvPr id="40" name="Text 37"/>
          <p:cNvSpPr txBox="1"/>
          <p:nvPr/>
        </p:nvSpPr>
        <p:spPr>
          <a:xfrm>
            <a:off x="566928"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to Jordan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trip?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Cancelled the trip</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Booked the trip and stayed in a small hotel in Amman</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guide say about visiting Petra?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Night is the only time</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Early morning is the best time</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always closed</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transport did they use?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private car only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tourist coach between cities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cruise ship</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 for next time?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Skip Petra</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 return</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Devote two days to Petra</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1–4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to Jordan (1):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had the traveller done before the trip?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Cancelled the trip</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Booked the trip and stayed in a small hotel in Amman</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حَجَزْتُ رِحْلَتِي … وَكُنْتُ قَدْ أَقَمْتُ فِي فُنْدُقٍ صَغِيرٍ.</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guide say about visiting Petra?</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Night is the only time</a:t>
            </a:r>
            <a:endParaRPr lang="en-US" sz="1250" dirty="0"/>
          </a:p>
        </p:txBody>
      </p:sp>
      <p:sp>
        <p:nvSpPr>
          <p:cNvPr id="37" name="Shape 34"/>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6368796"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Early morning is the best time</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always closed</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قَالَ الدَّلِيلُ إِنَّ أَفْضَلَ وَقْتٍ … هُوَ الصَّبَاحُ البَاكِرُ.</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transport did they use?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private car only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tourist coach between cities</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cruise ship</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اسْتَعْمَلْتُ الحَافِلَةَ السِّيَاحِيَّةَ الَّتِي تَصِلُ بَيْنَ المُدُنِ.</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1 plan for next time?</a:t>
            </a:r>
            <a:endParaRPr lang="en-US" sz="1250" dirty="0"/>
          </a:p>
        </p:txBody>
      </p:sp>
      <p:sp>
        <p:nvSpPr>
          <p:cNvPr id="64" name="Shape 61"/>
          <p:cNvSpPr/>
          <p:nvPr/>
        </p:nvSpPr>
        <p:spPr>
          <a:xfrm>
            <a:off x="6368796"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Skip Petra</a:t>
            </a:r>
            <a:endParaRPr lang="en-US" sz="1250" dirty="0"/>
          </a:p>
        </p:txBody>
      </p:sp>
      <p:sp>
        <p:nvSpPr>
          <p:cNvPr id="67" name="Shape 64"/>
          <p:cNvSpPr/>
          <p:nvPr/>
        </p:nvSpPr>
        <p:spPr>
          <a:xfrm>
            <a:off x="6368796"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 return</a:t>
            </a:r>
            <a:endParaRPr lang="en-US" sz="1250" dirty="0"/>
          </a:p>
        </p:txBody>
      </p:sp>
      <p:sp>
        <p:nvSpPr>
          <p:cNvPr id="70" name="Shape 67"/>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368796"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Devote two days to Petra</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زُرْتُ الأُرْدُنَّ ثَانِيَةً، سَأُخَصِّصُ يَوْمَيْنِ لِلْبَتْرَاءِ.</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to Jordan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Staying makes no difference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they stayed an extra night, they would have seen the Treasury by candlelight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refused to stay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visitors does Petra attract yearly?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a thousand</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a million</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a hundred</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had the traveller stayed?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luxury resort</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relatives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small hotel in Amman</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traveller's own view on sustainable tourism?</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necessary to protect this heritage</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unimportant</a:t>
            </a:r>
            <a:endParaRPr lang="en-US" sz="12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harms heritage</a:t>
            </a:r>
            <a:endParaRPr lang="en-US" sz="12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1 · QUESTIONS 5–8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trip to Jordan (2):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regret?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Staying makes no difference</a:t>
            </a:r>
            <a:endParaRPr lang="en-US" sz="1250" dirty="0"/>
          </a:p>
        </p:txBody>
      </p:sp>
      <p:sp>
        <p:nvSpPr>
          <p:cNvPr id="22" name="Shape 19"/>
          <p:cNvSpPr/>
          <p:nvPr/>
        </p:nvSpPr>
        <p:spPr>
          <a:xfrm>
            <a:off x="548640" y="2825496"/>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they stayed an extra night, they would have seen the Treasury by candlelight</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refused to stay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كُنْتُ قَدْ بَقِيتُ لَيْلَةً إِضَافِيَّةً، لَرَأَيْتُ الخَزْنَةَ تَحْتَ ضَوْءِ الشُّمُوعِ.</a:t>
            </a:r>
            <a:endParaRPr lang="ar-SA" sz="13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visitors does Petra attract yearly?</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a thousand</a:t>
            </a:r>
            <a:endParaRPr lang="en-US" sz="1250" dirty="0"/>
          </a:p>
        </p:txBody>
      </p:sp>
      <p:sp>
        <p:nvSpPr>
          <p:cNvPr id="37" name="Shape 34"/>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6368796"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a million</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About a hundred</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تَسْتَقْطِبُ البَتْرَاءُ نَحْوَ مِلْيُونِ زَائِرٍ سَنَوِيًّا.</a:t>
            </a:r>
            <a:endParaRPr lang="ar-SA" sz="13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had the traveller stayed?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luxury resort</a:t>
            </a:r>
            <a:endParaRPr lang="en-US" sz="125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relatives</a:t>
            </a:r>
            <a:endParaRPr lang="en-US" sz="125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a small hotel in Amman</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قَدْ أَقَمْتُ فِي فُنْدُقٍ صَغِيرٍ فِي عَمَّانَ.</a:t>
            </a:r>
            <a:endParaRPr lang="ar-SA" sz="13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traveller's own view on sustainable tourism?</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necessary to protect this heritage</a:t>
            </a:r>
            <a:endParaRPr lang="en-US" sz="125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unimportant</a:t>
            </a:r>
            <a:endParaRPr lang="en-US" sz="125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harms heritage</a:t>
            </a:r>
            <a:endParaRPr lang="en-US" sz="125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أَرَى أَنَّ السِّيَاحَةَ المُسْتَدَامَةَ ضَرُورَةٌ لِحِمَايَةِ هٰذَا التُّرَاثِ.</a:t>
            </a:r>
            <a:endParaRPr lang="ar-SA"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 and Layla: who said what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tourism contributes to the local economy?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the Type 1 concern about unregulated visits?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the Type 2 counterfactual about quotas?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cites an expert on tourist responsibility?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gives the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advice?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awareness is the solution?</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Both</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Layla</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2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Sami and Layla: who said what: answers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tourism contributes to the local economy?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تُسْهِمُ السِّيَاحَةُ فِي الاقْتِصَادِ المَحَلِّيِّ.</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states the Type 1 concern about unregulated visits?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إِذَا لَمْ نُنَظِّمِ الزِّيَارَاتِ، سَيَتَدَهْوَرُ التُّرَاثُ.</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makes the Type 2 counterfactual about quotas?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ea typeface="Amiri" pitchFamily="2" charset="-78"/>
                <a:cs typeface="Amiri" pitchFamily="2" charset="-78"/>
              </a:rPr>
              <a:t>سَامِي: وَلَوِ اعْتَمَدَتِ الدُّوَلُ نِظَامَ الحِصَصِ مُبَكِّرًا، لَكَانَتِ المَوَاقِعُ أَفْضَلَ.</a:t>
            </a:r>
            <a:endParaRPr lang="ar-SA" sz="11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cites an expert on tourist responsibility?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قَالَ خَبِيرٌ إِنَّ مَسْؤُولِيَّةَ السَّائِحِ لَا تَقِلُّ.</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gives the </a:t>
            </a:r>
            <a:pPr algn="l" indent="0" marL="0">
              <a:buNone/>
            </a:pPr>
            <a:r>
              <a:rPr lang="ar-SA" altLang="en-US" sz="1650" b="1" dirty="0">
                <a:solidFill>
                  <a:srgbClr val="1B3B6F"/>
                </a:solidFill>
                <a:latin typeface="Amiri" pitchFamily="2" charset="-78"/>
                <a:ea typeface="Amiri" pitchFamily="2" charset="-78"/>
                <a:cs typeface="Amiri" pitchFamily="2" charset="-78"/>
              </a:rPr>
              <a:t>يُسْتَحْسَنُ أَنْ</a:t>
            </a:r>
            <a:pPr algn="l" indent="0" marL="0">
              <a:buNone/>
            </a:pPr>
            <a:r>
              <a:rPr lang="en-US" sz="1250" b="1" dirty="0">
                <a:solidFill>
                  <a:srgbClr val="1B3B6F"/>
                </a:solidFill>
                <a:latin typeface="Calibri" pitchFamily="34" charset="0"/>
                <a:cs typeface="Amiri" pitchFamily="2" charset="-78"/>
              </a:rPr>
              <a:t> advice?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Layla</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سَامِي: وَيُسْتَحْسَنُ أَنْ يَحْتَرِمَ الزَّائِرُ العَادَاتِ المَحَلِّيَّةَ.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says awareness is the solution?</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a:t>
            </a:r>
            <a:endParaRPr lang="en-US" sz="125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Both</a:t>
            </a:r>
            <a:endParaRPr lang="en-US" sz="125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Layla</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لَيْلَى: وَأَنَا أَرَى أَنَّ التَّوْعِيَةَ هِيَ الحَلُّ.</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A transport official on high-speed rail</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never started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starts next year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authority had launched the high-speed rail project years earlier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reduced travel time between major cities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increased travel time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had no effect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takes a whole day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train connects the capital and the coast in two hours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reach the coast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 (Type 1)?</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they rely on electric transport, emissions will fall</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Electric transport raises emissions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Emissions cannot fall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Infrastructure is complete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is unnecessary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The official concedes the infrastructure needs more investment</a:t>
            </a:r>
            <a:endParaRPr lang="en-US" sz="120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 (Type 2)?</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Early start makes no difference</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project cannot expand</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the project started earlier, connectivity would be wider today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LISTENING · TEXT 3 · 6 QUESTIONS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A transport official on high-speed rail: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project never started</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project starts next year</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authority had launched the high-speed rail project years earlier</a:t>
            </a:r>
            <a:endParaRPr lang="en-US" sz="11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كَانَتِ الهَيْئَةُ قَدْ أَطْلَقَتْ مَشْرُوعَ الخَطِّ الحَدِيدِيِّ … قَبْلَ سَنَوَاتٍ.</a:t>
            </a:r>
            <a:endParaRPr lang="ar-SA"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project reduced travel time between major cities</a:t>
            </a:r>
            <a:endParaRPr lang="en-US" sz="11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increased travel time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had no effect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أَكَّدَ أَنَّ المَشْرُوعَ قَلَّصَ وَقْتَ السَّفَرِ.</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takes a whole day</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train connects the capital and the coast in two hours</a:t>
            </a:r>
            <a:endParaRPr lang="en-US" sz="11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reach the coast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يَصِلُ بَيْنَ العَاصِمَةِ وَالسَّاحِلِ فِي سَاعَتَيْنِ.</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 (Type 1)?</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If they rely on electric transport, emissions will fall</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Electric transport raises emissions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Emissions cannot fall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إِذَا اعْتَمَدْنَا عَلَى النَّقْلِ الكَهْرَبَائِيِّ، سَتَنْخَفِضُ الانْبِعَاثَاتُ.</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Infrastructure is complete</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Investment is unnecessary</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official concedes the infrastructure needs more investment</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ea typeface="Amiri" pitchFamily="2" charset="-78"/>
                <a:cs typeface="Amiri" pitchFamily="2" charset="-78"/>
              </a:rPr>
              <a:t>اعْتَرَفَ بِأَنَّ البُنْيَةَ التَّحْتِيَّةَ تَحْتَاجُ إِلَى مَزِيدٍ مِنَ الاسْتِثْمَارِ.</a:t>
            </a:r>
            <a:endParaRPr lang="ar-SA" sz="12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supported (Type 2)?</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Early start makes no difference</a:t>
            </a:r>
            <a:endParaRPr lang="en-US" sz="1250" dirty="0"/>
          </a:p>
        </p:txBody>
      </p:sp>
      <p:sp>
        <p:nvSpPr>
          <p:cNvPr id="97" name="Shape 94"/>
          <p:cNvSpPr/>
          <p:nvPr/>
        </p:nvSpPr>
        <p:spPr>
          <a:xfrm>
            <a:off x="827836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project cannot expand</a:t>
            </a:r>
            <a:endParaRPr lang="en-US" sz="1250" dirty="0"/>
          </a:p>
        </p:txBody>
      </p:sp>
      <p:sp>
        <p:nvSpPr>
          <p:cNvPr id="100" name="Shape 97"/>
          <p:cNvSpPr/>
          <p:nvPr/>
        </p:nvSpPr>
        <p:spPr>
          <a:xfrm>
            <a:off x="8186928" y="5538216"/>
            <a:ext cx="3453384"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827836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the project started earlier, connectivity would be wider today</a:t>
            </a:r>
            <a:endParaRPr lang="en-US" sz="11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لَوْ بَدَأَ المَشْرُوعُ مُبَكِّرًا، لَكَانَ الرَّبْطُ أَوْسَعَ اليَوْمَ.</a:t>
            </a:r>
            <a:endParaRPr lang="ar-SA" sz="13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PART B1 · 10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Responsible tourism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السِّيَاحَةُ المَسْؤُولَةُ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تُعَدُّ السِّيَاحَةُ سِلَاحًا ذَا حَدَّيْنِ. فَهِيَ تُسْهِمُ فِي الاقْتِصَادِ وَتُوَفِّرُ فُرَصَ عَمَلٍ، غَيْرَ أَنَّهَا قَدْ تُلْحِقُ الضَّرَرَ بِالتُّرَاثِ إِذَا لَمْ تُنَظَّمْ. يَقُولُ كَاتِبُ المَقَالِ: «إِذَا احْتَرَمَ السُّيَّاحُ القَوَاعِدَ، سَتَبْقَى المَوَاقِعُ لِلْأَجْيَالِ.» ثُمَّ يُضِيفُ: «لَوِ اهْتَمَّتِ الحُكُومَاتُ بِالتَّنْظِيمِ مُنْذُ البِدَايَةِ، لَمَا تَدَهْوَرَتْ مَوَاقِعُ كَثِيرَةٌ.» وَيُسْتَحْسَنُ أَنْ يَتَعَلَّمَ الزَّائِرُ عَادَاتِ البَلَدِ قَبْلَ وُصُولِهِ. وَكَانَ الكَاتِبُ قَدْ زَارَ البَتْرَاءَ، وَأَشَارَ إِلَى أَنَّ التَّنْظِيمَ الجَيِّدَ يَحْمِي جَمَالَهَا. وَالغَرَضُ مِنَ النَّصِّ إِقْنَاعُ القَارِئِ بِالسِّيَاحَةِ المَسْؤُولَةِ.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1–5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1–5</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view?</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a double-edged sword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purely good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Tourism is purely bad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benefits of tourism?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only harms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supports the economy and provides jobs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effect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cultural advice does the writer give?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 the country's customs before arriving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customs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the country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Type 1 conditional.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لَوِ اهْتَمَّتِ الحُكُومَاتُ … لَمَا تَدَهْوَرَتْ</a:t>
            </a:r>
            <a:endParaRPr lang="ar-SA"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كَانَ الكَاتِبُ قَدْ زَارَ البَتْرَاءَ</a:t>
            </a:r>
            <a:endParaRPr lang="ar-SA"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إِذَا احْتَرَمَ السُّيَّاحُ القَوَاعِدَ، سَتَبْقَى المَوَاقِعُ لِلْأَجْيَالِ</a:t>
            </a:r>
            <a:endParaRPr lang="ar-SA"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Type 2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إِذَا احْتَرَمَ السُّيَّاحُ القَوَاعِدَ، سَتَبْقَى المَوَاقِعُ</a:t>
            </a:r>
            <a:endParaRPr lang="ar-SA" sz="1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يُسْتَحْسَنُ أَنْ يَتَعَلَّمَ الزَّائِرُ</a:t>
            </a:r>
            <a:endParaRPr lang="ar-SA" sz="1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050" dirty="0">
                <a:solidFill>
                  <a:srgbClr val="1F2A37"/>
                </a:solidFill>
                <a:latin typeface="Amiri" pitchFamily="2" charset="-78"/>
                <a:ea typeface="Amiri" pitchFamily="2" charset="-78"/>
                <a:cs typeface="Amiri" pitchFamily="2" charset="-78"/>
              </a:rPr>
              <a:t>لَوِ اهْتَمَّتِ الحُكُومَاتُ بِالتَّنْظِيمِ مُنْذُ البِدَايَةِ، لَمَا تَدَهْوَرَتْ مَوَاقِعُ كَثِيرَةٌ</a:t>
            </a:r>
            <a:endParaRPr lang="ar-SA" sz="10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1–5: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main view?</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Tourism is a double-edged sword</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Tourism is purely good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Tourism is purely bad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تُعَدُّ السِّيَاحَةُ سِلَاحًا ذَا حَدَّيْنِ.</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benefits of tourism?</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only harms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supports the economy and provides jobs</a:t>
            </a:r>
            <a:endParaRPr lang="en-US" sz="11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effect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تُسْهِمُ فِي الاقْتِصَادِ وَتُوَفِّرُ فُرَصَ عَمَلٍ.</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cultural advice does the writer give?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 the country's customs before arriving</a:t>
            </a:r>
            <a:endParaRPr lang="en-US" sz="11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customs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the country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يُسْتَحْسَنُ أَنْ يَتَعَلَّمَ الزَّائِرُ عَادَاتِ البَلَدِ قَبْلَ وُصُولِهِ.</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Type 1 conditional.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لَوِ اهْتَمَّتِ الحُكُومَاتُ … لَمَا تَدَهْوَرَتْ</a:t>
            </a:r>
            <a:endParaRPr lang="ar-SA"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كَانَ الكَاتِبُ قَدْ زَارَ البَتْرَاءَ</a:t>
            </a:r>
            <a:endParaRPr lang="ar-SA"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إِذَا احْتَرَمَ السُّيَّاحُ القَوَاعِدَ، سَتَبْقَى المَوَاقِعُ لِلْأَجْيَالِ</a:t>
            </a:r>
            <a:endParaRPr lang="ar-SA"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إِذَا … سَـ</a:t>
            </a:r>
            <a:pPr algn="l" indent="0" marL="0">
              <a:buNone/>
            </a:pPr>
            <a:r>
              <a:rPr lang="en-US" sz="1050" i="1" dirty="0">
                <a:solidFill>
                  <a:srgbClr val="8A6D1E"/>
                </a:solidFill>
                <a:latin typeface="Calibri" pitchFamily="34" charset="0"/>
                <a:cs typeface="Amiri" pitchFamily="2" charset="-78"/>
              </a:rPr>
              <a:t> is the Type 1 conditional.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Identify the Type 2 conditional.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إِذَا احْتَرَمَ السُّيَّاحُ القَوَاعِدَ، سَتَبْقَى المَوَاقِعُ</a:t>
            </a:r>
            <a:endParaRPr lang="ar-SA" sz="10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050" dirty="0">
                <a:solidFill>
                  <a:srgbClr val="9AA1AB"/>
                </a:solidFill>
                <a:latin typeface="Amiri" pitchFamily="2" charset="-78"/>
                <a:ea typeface="Amiri" pitchFamily="2" charset="-78"/>
                <a:cs typeface="Amiri" pitchFamily="2" charset="-78"/>
              </a:rPr>
              <a:t>يُسْتَحْسَنُ أَنْ يَتَعَلَّمَ الزَّائِرُ</a:t>
            </a:r>
            <a:endParaRPr lang="ar-SA" sz="10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050" b="1" dirty="0">
                <a:solidFill>
                  <a:srgbClr val="1F2A37"/>
                </a:solidFill>
                <a:latin typeface="Amiri" pitchFamily="2" charset="-78"/>
                <a:ea typeface="Amiri" pitchFamily="2" charset="-78"/>
                <a:cs typeface="Amiri" pitchFamily="2" charset="-78"/>
              </a:rPr>
              <a:t>لَوِ اهْتَمَّتِ الحُكُومَاتُ بِالتَّنْظِيمِ مُنْذُ البِدَايَةِ، لَمَا تَدَهْوَرَتْ مَوَاقِعُ كَثِيرَةٌ</a:t>
            </a:r>
            <a:endParaRPr lang="ar-SA" sz="10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لَوْ … لَـ</a:t>
            </a:r>
            <a:pPr algn="l" indent="0" marL="0">
              <a:buNone/>
            </a:pPr>
            <a:r>
              <a:rPr lang="en-US" sz="1050" i="1" dirty="0">
                <a:solidFill>
                  <a:srgbClr val="8A6D1E"/>
                </a:solidFill>
                <a:latin typeface="Calibri" pitchFamily="34" charset="0"/>
                <a:cs typeface="Amiri" pitchFamily="2" charset="-78"/>
              </a:rPr>
              <a:t> is the Type 2 conditional.</a:t>
            </a:r>
            <a:endParaRPr lang="en-US" sz="10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QUESTIONS 6–10 · 1 MARK EACH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 6–10</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argumentative purpose does the Type 2 serve?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praises current regulation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implies current regulation was inadequate — an implicit criticism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reports a fact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the past-perfect structure.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كَانَ الكَاتِبُ قَدْ زَارَ البَتْرَاءَ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إِذَا احْتَرَمَ السُّيَّاحُ</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يُسْتَحْسَنُ أَنْ يَتَعَلَّمَ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1 gap: </a:t>
            </a:r>
            <a:pPr algn="l" indent="0" marL="0">
              <a:buNone/>
            </a:pPr>
            <a:r>
              <a:rPr lang="ar-SA" altLang="en-US" sz="1650" b="1" dirty="0">
                <a:solidFill>
                  <a:srgbClr val="1B3B6F"/>
                </a:solidFill>
                <a:latin typeface="Amiri" pitchFamily="2" charset="-78"/>
                <a:ea typeface="Amiri" pitchFamily="2" charset="-78"/>
                <a:cs typeface="Amiri" pitchFamily="2" charset="-78"/>
              </a:rPr>
              <a:t>إِذَا احْتَرَمَ السُّيَّاحُ القَوَاعِدَ،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لَبَقِيَتِ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بَقِيَتِ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سَتَبْقَى</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gap: </a:t>
            </a:r>
            <a:pPr algn="l" indent="0" marL="0">
              <a:buNone/>
            </a:pPr>
            <a:r>
              <a:rPr lang="ar-SA" altLang="en-US" sz="1650" b="1" dirty="0">
                <a:solidFill>
                  <a:srgbClr val="1B3B6F"/>
                </a:solidFill>
                <a:latin typeface="Amiri" pitchFamily="2" charset="-78"/>
                <a:ea typeface="Amiri" pitchFamily="2" charset="-78"/>
                <a:cs typeface="Amiri" pitchFamily="2" charset="-78"/>
              </a:rPr>
              <a:t>لَوِ اهْتَمَّتِ الحُكُومَاتُ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سَتَتَدَهْوَرُ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تَتَدَهْوَرُ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لَمَا تَدَهْوَرَتِ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persuade the reader to practise responsible tourism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report the news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entertain only</a:t>
            </a:r>
            <a:endParaRPr lang="en-US" sz="125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READING · ANSWERS · SHOW AFTER THE SECTION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Questions 6–10: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argumentative purpose does the Type 2 serve?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praises current regulation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implies current regulation was inadequate — an implicit criticism</a:t>
            </a:r>
            <a:endParaRPr lang="en-US" sz="11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reports a fact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implies the condition was not met, hinting at criticism.</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Find the past-perfect structure.</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كَانَ الكَاتِبُ قَدْ زَارَ البَتْرَاءَ</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إِذَا احْتَرَمَ السُّيَّاحُ</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يُسْتَحْسَنُ أَنْ يَتَعَلَّمَ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كَانَ … قَدْ</a:t>
            </a:r>
            <a:pPr algn="l" indent="0" marL="0">
              <a:buNone/>
            </a:pPr>
            <a:r>
              <a:rPr lang="en-US" sz="1050" i="1" dirty="0">
                <a:solidFill>
                  <a:srgbClr val="8A6D1E"/>
                </a:solidFill>
                <a:latin typeface="Calibri" pitchFamily="34" charset="0"/>
                <a:cs typeface="Amiri" pitchFamily="2" charset="-78"/>
              </a:rPr>
              <a:t> + past is the past perfect.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1 gap: </a:t>
            </a:r>
            <a:pPr algn="l" indent="0" marL="0">
              <a:buNone/>
            </a:pPr>
            <a:r>
              <a:rPr lang="ar-SA" altLang="en-US" sz="1650" b="1" dirty="0">
                <a:solidFill>
                  <a:srgbClr val="1B3B6F"/>
                </a:solidFill>
                <a:latin typeface="Amiri" pitchFamily="2" charset="-78"/>
                <a:ea typeface="Amiri" pitchFamily="2" charset="-78"/>
                <a:cs typeface="Amiri" pitchFamily="2" charset="-78"/>
              </a:rPr>
              <a:t>إِذَا احْتَرَمَ السُّيَّاحُ القَوَاعِدَ،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لَبَقِيَتِ</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بَقِيَتِ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سَتَبْقَى</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real </a:t>
            </a:r>
            <a:pPr algn="l" indent="0" marL="0">
              <a:buNone/>
            </a:pPr>
            <a:r>
              <a:rPr lang="ar-SA" altLang="en-US" sz="1350" dirty="0">
                <a:solidFill>
                  <a:srgbClr val="8A6D1E"/>
                </a:solidFill>
                <a:latin typeface="Amiri" pitchFamily="2" charset="-78"/>
                <a:ea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result.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the Type 2 gap: </a:t>
            </a:r>
            <a:pPr algn="l" indent="0" marL="0">
              <a:buNone/>
            </a:pPr>
            <a:r>
              <a:rPr lang="ar-SA" altLang="en-US" sz="1650" b="1" dirty="0">
                <a:solidFill>
                  <a:srgbClr val="1B3B6F"/>
                </a:solidFill>
                <a:latin typeface="Amiri" pitchFamily="2" charset="-78"/>
                <a:ea typeface="Amiri" pitchFamily="2" charset="-78"/>
                <a:cs typeface="Amiri" pitchFamily="2" charset="-78"/>
              </a:rPr>
              <a:t>لَوِ اهْتَمَّتِ الحُكُومَاتُ مُبَكِّرًا،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المَوَاقِعُ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سَتَتَدَهْوَرُ</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تَتَدَهْوَرُ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لَمَا تَدَهْوَرَتِ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counterfactual </a:t>
            </a:r>
            <a:pPr algn="l" indent="0" marL="0">
              <a:buNone/>
            </a:pPr>
            <a:r>
              <a:rPr lang="ar-SA" altLang="en-US" sz="1350" dirty="0">
                <a:solidFill>
                  <a:srgbClr val="8A6D1E"/>
                </a:solidFill>
                <a:latin typeface="Amiri" pitchFamily="2" charset="-78"/>
                <a:ea typeface="Amiri" pitchFamily="2" charset="-78"/>
                <a:cs typeface="Amiri" pitchFamily="2" charset="-78"/>
              </a:rPr>
              <a:t>لَوْ</a:t>
            </a:r>
            <a:pPr algn="l" indent="0" marL="0">
              <a:buNone/>
            </a:pPr>
            <a:r>
              <a:rPr lang="en-US" sz="1050" i="1" dirty="0">
                <a:solidFill>
                  <a:srgbClr val="8A6D1E"/>
                </a:solidFill>
                <a:latin typeface="Calibri" pitchFamily="34" charset="0"/>
                <a:cs typeface="Amiri" pitchFamily="2" charset="-78"/>
              </a:rPr>
              <a:t> conditional takes a </a:t>
            </a:r>
            <a:pPr algn="l" indent="0" marL="0">
              <a:buNone/>
            </a:pPr>
            <a:r>
              <a:rPr lang="ar-SA" altLang="en-US" sz="1350" dirty="0">
                <a:solidFill>
                  <a:srgbClr val="8A6D1E"/>
                </a:solidFill>
                <a:latin typeface="Amiri" pitchFamily="2" charset="-78"/>
                <a:ea typeface="Amiri" pitchFamily="2" charset="-78"/>
                <a:cs typeface="Amiri" pitchFamily="2" charset="-78"/>
              </a:rPr>
              <a:t>لَـ</a:t>
            </a:r>
            <a:pPr algn="l" indent="0" marL="0">
              <a:buNone/>
            </a:pPr>
            <a:r>
              <a:rPr lang="en-US" sz="1050" i="1" dirty="0">
                <a:solidFill>
                  <a:srgbClr val="8A6D1E"/>
                </a:solidFill>
                <a:latin typeface="Calibri" pitchFamily="34" charset="0"/>
                <a:cs typeface="Amiri" pitchFamily="2" charset="-78"/>
              </a:rPr>
              <a:t> result (here the negative </a:t>
            </a:r>
            <a:pPr algn="l" indent="0" marL="0">
              <a:buNone/>
            </a:pPr>
            <a:r>
              <a:rPr lang="ar-SA" altLang="en-US" sz="1350" dirty="0">
                <a:solidFill>
                  <a:srgbClr val="8A6D1E"/>
                </a:solidFill>
                <a:latin typeface="Amiri" pitchFamily="2" charset="-78"/>
                <a:ea typeface="Amiri" pitchFamily="2" charset="-78"/>
                <a:cs typeface="Amiri" pitchFamily="2" charset="-78"/>
              </a:rPr>
              <a:t>لَمَا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purpose of the text?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To persuade the reader to practise responsible tourism</a:t>
            </a:r>
            <a:endParaRPr lang="en-US" sz="11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report the news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entertain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الغَرَضُ مِنَ النَّصِّ إِقْنَاعُ القَارِئِ بِالسِّيَاحَةِ المَسْؤُولَةِ.</a:t>
            </a:r>
            <a:endParaRPr lang="ar-SA" sz="13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1 · TRAVEL FORM · 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travel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 in Arabic</a:t>
            </a:r>
            <a:endParaRPr lang="en-US" sz="1100" dirty="0"/>
          </a:p>
        </p:txBody>
      </p:sp>
      <p:sp>
        <p:nvSpPr>
          <p:cNvPr id="17" name="Text 14"/>
          <p:cNvSpPr txBox="1"/>
          <p:nvPr/>
        </p:nvSpPr>
        <p:spPr>
          <a:xfrm>
            <a:off x="382219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label</a:t>
            </a:r>
            <a:endParaRPr lang="en-US" sz="1100" dirty="0"/>
          </a:p>
        </p:txBody>
      </p:sp>
      <p:sp>
        <p:nvSpPr>
          <p:cNvPr id="18" name="Text 15"/>
          <p:cNvSpPr txBox="1"/>
          <p:nvPr/>
        </p:nvSpPr>
        <p:spPr>
          <a:xfrm>
            <a:off x="5303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Field</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1" name="Text 18"/>
          <p:cNvSpPr txBox="1"/>
          <p:nvPr/>
        </p:nvSpPr>
        <p:spPr>
          <a:xfrm>
            <a:off x="3840480" y="2267712"/>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الوِجْهَةُ وَمَكَانُ الإِقَامَةِ بِاسْتِعْمَالِ «يُقِيمُ فِي»</a:t>
            </a:r>
            <a:endParaRPr lang="ar-SA" sz="1800" dirty="0"/>
          </a:p>
        </p:txBody>
      </p:sp>
      <p:sp>
        <p:nvSpPr>
          <p:cNvPr id="22" name="Text 19"/>
          <p:cNvSpPr txBox="1"/>
          <p:nvPr/>
        </p:nvSpPr>
        <p:spPr>
          <a:xfrm>
            <a:off x="56692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Destination and accommodation using yuqīm fī</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7" name="Text 24"/>
          <p:cNvSpPr txBox="1"/>
          <p:nvPr/>
        </p:nvSpPr>
        <p:spPr>
          <a:xfrm>
            <a:off x="3840480" y="3004718"/>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طَرِيقَةُ الحَجْزِ بِاسْتِعْمَالِ «يَحْجِزُ»</a:t>
            </a:r>
            <a:endParaRPr lang="ar-SA" sz="1800" dirty="0"/>
          </a:p>
        </p:txBody>
      </p:sp>
      <p:sp>
        <p:nvSpPr>
          <p:cNvPr id="28" name="Text 25"/>
          <p:cNvSpPr txBox="1"/>
          <p:nvPr/>
        </p:nvSpPr>
        <p:spPr>
          <a:xfrm>
            <a:off x="56692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Your booking method using yaḥjiz</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3" name="Text 30"/>
          <p:cNvSpPr txBox="1"/>
          <p:nvPr/>
        </p:nvSpPr>
        <p:spPr>
          <a:xfrm>
            <a:off x="3840480" y="3741725"/>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إِنْجَازٌ سَابِقٌ عَنِ التَّحْضِيرِ بِاسْتِعْمَالِ «كُنْتُ قَدْ …»</a:t>
            </a:r>
            <a:endParaRPr lang="ar-SA" sz="1800" dirty="0"/>
          </a:p>
        </p:txBody>
      </p:sp>
      <p:sp>
        <p:nvSpPr>
          <p:cNvPr id="34" name="Text 31"/>
          <p:cNvSpPr txBox="1"/>
          <p:nvPr/>
        </p:nvSpPr>
        <p:spPr>
          <a:xfrm>
            <a:off x="56692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A prior research/preparation statement using the past perfect</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9" name="Text 36"/>
          <p:cNvSpPr txBox="1"/>
          <p:nvPr/>
        </p:nvSpPr>
        <p:spPr>
          <a:xfrm>
            <a:off x="3840480" y="4478731"/>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خُطَّةٌ شَرْطِيَّةٌ مِنَ النَّوْعِ الأَوَّلِ</a:t>
            </a:r>
            <a:endParaRPr lang="ar-SA" sz="1800" dirty="0"/>
          </a:p>
        </p:txBody>
      </p:sp>
      <p:sp>
        <p:nvSpPr>
          <p:cNvPr id="40" name="Text 37"/>
          <p:cNvSpPr txBox="1"/>
          <p:nvPr/>
        </p:nvSpPr>
        <p:spPr>
          <a:xfrm>
            <a:off x="56692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 A Type 1 conditional plan</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5" name="Text 42"/>
          <p:cNvSpPr txBox="1"/>
          <p:nvPr/>
        </p:nvSpPr>
        <p:spPr>
          <a:xfrm>
            <a:off x="3840480" y="5215738"/>
            <a:ext cx="402336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تَأَمُّلٌ شَرْطِيٌّ مِنَ النَّوْعِ الثَّانِي عَنْ رِحْلَةٍ سَابِقَةٍ</a:t>
            </a:r>
            <a:endParaRPr lang="ar-SA" sz="1800" dirty="0"/>
          </a:p>
        </p:txBody>
      </p:sp>
      <p:sp>
        <p:nvSpPr>
          <p:cNvPr id="46" name="Text 43"/>
          <p:cNvSpPr txBox="1"/>
          <p:nvPr/>
        </p:nvSpPr>
        <p:spPr>
          <a:xfrm>
            <a:off x="56692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 A Type 2 conditional reflection on a previous trip</a:t>
            </a:r>
            <a:endParaRPr lang="en-US" sz="1100" dirty="0"/>
          </a:p>
        </p:txBody>
      </p:sp>
      <p:sp>
        <p:nvSpPr>
          <p:cNvPr id="47" name="Shape 44"/>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Example: </a:t>
            </a:r>
            <a:pPr algn="l" indent="0" marL="0">
              <a:buNone/>
            </a:pPr>
            <a:r>
              <a:rPr lang="ar-SA" altLang="en-US" sz="1450" b="1" dirty="0">
                <a:solidFill>
                  <a:srgbClr val="1B3B6F"/>
                </a:solidFill>
                <a:latin typeface="Amiri" pitchFamily="2" charset="-78"/>
                <a:ea typeface="Amiri" pitchFamily="2" charset="-78"/>
                <a:cs typeface="Amiri" pitchFamily="2" charset="-78"/>
              </a:rPr>
              <a:t>سَأُقِيمُ فِي رِيَاضٍ فِي فَاسَ</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حَجَزْتُ عَبْرَ الإِنْتَرْنِتْ</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كُنْتُ قَدْ قَرَأْتُ عَنِ المَدِينَةِ</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إِذَا زُرْتُهَا، سَأَبْقَى أُسْبُوعًا</a:t>
            </a:r>
            <a:pPr algn="l" indent="0" marL="0">
              <a:buNone/>
            </a:pPr>
            <a:r>
              <a:rPr lang="en-US" sz="1100" b="1" dirty="0">
                <a:solidFill>
                  <a:srgbClr val="1B3B6F"/>
                </a:solidFill>
                <a:latin typeface="Calibri" pitchFamily="34" charset="0"/>
                <a:cs typeface="Amiri" pitchFamily="2" charset="-78"/>
              </a:rPr>
              <a:t> · </a:t>
            </a:r>
            <a:pPr algn="l" indent="0" marL="0">
              <a:buNone/>
            </a:pPr>
            <a:r>
              <a:rPr lang="ar-SA" altLang="en-US" sz="1450" b="1" dirty="0">
                <a:solidFill>
                  <a:srgbClr val="1B3B6F"/>
                </a:solidFill>
                <a:latin typeface="Amiri" pitchFamily="2" charset="-78"/>
                <a:ea typeface="Amiri" pitchFamily="2" charset="-78"/>
                <a:cs typeface="Amiri" pitchFamily="2" charset="-78"/>
              </a:rPr>
              <a:t>لَوْ بَقِيتُ أَطْوَلَ، لَرَأَيْتُ المَزِيدَ</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WRITING · QUESTION 2 · 145–160 WORDS · 15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travel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مَقَالَةُ 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Marks</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mark scheme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7516368" y="2267712"/>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 completion (TC) /5</a:t>
            </a:r>
            <a:endParaRPr lang="en-US" sz="1100" dirty="0"/>
          </a:p>
        </p:txBody>
      </p:sp>
      <p:sp>
        <p:nvSpPr>
          <p:cNvPr id="20" name="Text 17"/>
          <p:cNvSpPr txBox="1"/>
          <p:nvPr/>
        </p:nvSpPr>
        <p:spPr>
          <a:xfrm>
            <a:off x="566928" y="2267712"/>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destination is described and the journey or booking is covered with yaḥjiz / yuqīm. · The experience is narrated with a past-perfect background. · Both a Type 1 recommendation and a Type 2 reflection are present; 145-160 words.</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516368" y="3054096"/>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Range /5</a:t>
            </a:r>
            <a:endParaRPr lang="en-US" sz="1100" dirty="0"/>
          </a:p>
        </p:txBody>
      </p:sp>
      <p:sp>
        <p:nvSpPr>
          <p:cNvPr id="25" name="Text 22"/>
          <p:cNvSpPr txBox="1"/>
          <p:nvPr/>
        </p:nvSpPr>
        <p:spPr>
          <a:xfrm>
            <a:off x="566928" y="3054096"/>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Type 1 conditional (idhā + past → sa-) — one mark. · A Type 2 conditional (law + past → la-) — a second, separate mark. · Past perfect (kāna qad), reported speech with a verb other than qāla, and a tourism verb (yastaqṭib / yubhir).</a:t>
            </a:r>
            <a:endParaRPr lang="en-US" sz="1100" dirty="0"/>
          </a:p>
        </p:txBody>
      </p:sp>
      <p:sp>
        <p:nvSpPr>
          <p:cNvPr id="26" name="Shape 23"/>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9" name="Text 26"/>
          <p:cNvSpPr txBox="1"/>
          <p:nvPr/>
        </p:nvSpPr>
        <p:spPr>
          <a:xfrm>
            <a:off x="7516368" y="3840480"/>
            <a:ext cx="41422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Accuracy /5</a:t>
            </a:r>
            <a:endParaRPr lang="en-US" sz="1100" dirty="0"/>
          </a:p>
        </p:txBody>
      </p:sp>
      <p:sp>
        <p:nvSpPr>
          <p:cNvPr id="30" name="Text 27"/>
          <p:cNvSpPr txBox="1"/>
          <p:nvPr/>
        </p:nvSpPr>
        <p:spPr>
          <a:xfrm>
            <a:off x="566928" y="3840480"/>
            <a:ext cx="6766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Type 2 la- prefix in the result clause (2 marks — the primary criterion). · Past-perfect kāna / kānat agreement (2 marks). · Reported speech inna after qāla, anna after other verbs (1 mark).</a:t>
            </a:r>
            <a:endParaRPr lang="en-US" sz="1100" dirty="0"/>
          </a:p>
        </p:txBody>
      </p:sp>
      <p:sp>
        <p:nvSpPr>
          <p:cNvPr id="31" name="Shape 28"/>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Independent evidence: no translation software or AI. Plan the four paragraphs (P3-L09): narrative (kuntu qad) · recommend (idhā) · reflect (law) · conclude.</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ROLE PLAY · 4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Role play: a travel-agency consultation</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وَكَالَةِ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is assessed</a:t>
            </a:r>
            <a:endParaRPr lang="en-US" sz="1100" dirty="0"/>
          </a:p>
        </p:txBody>
      </p:sp>
      <p:sp>
        <p:nvSpPr>
          <p:cNvPr id="17" name="Text 14"/>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Prompt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601968" y="2267712"/>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a destination; the response should use yastaqṭib or yatamayyaz bi-.</a:t>
            </a:r>
            <a:endParaRPr lang="en-US" sz="1100" dirty="0"/>
          </a:p>
        </p:txBody>
      </p:sp>
      <p:sp>
        <p:nvSpPr>
          <p:cNvPr id="20" name="Text 17"/>
          <p:cNvSpPr txBox="1"/>
          <p:nvPr/>
        </p:nvSpPr>
        <p:spPr>
          <a:xfrm>
            <a:off x="548640" y="2267712"/>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اسْأَلْ عَنْ وِجْهَةٍ سِيَاحِيَّةٍ.</a:t>
            </a:r>
            <a:endParaRPr lang="ar-SA" sz="18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601968" y="3054096"/>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booking and accommodation options using yaḥjiz and yuqīm.</a:t>
            </a:r>
            <a:endParaRPr lang="en-US" sz="1100" dirty="0"/>
          </a:p>
        </p:txBody>
      </p:sp>
      <p:sp>
        <p:nvSpPr>
          <p:cNvPr id="23" name="Text 20"/>
          <p:cNvSpPr txBox="1"/>
          <p:nvPr/>
        </p:nvSpPr>
        <p:spPr>
          <a:xfrm>
            <a:off x="548640" y="3054096"/>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اسْأَلْ عَنْ خِيَارَاتِ الحَجْزِ وَالإِقَامَةِ.</a:t>
            </a:r>
            <a:endParaRPr lang="ar-SA" sz="18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601968" y="3840480"/>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problem you faced on a past holiday, using the past and the past perfect.</a:t>
            </a:r>
            <a:endParaRPr lang="en-US" sz="1100" dirty="0"/>
          </a:p>
        </p:txBody>
      </p:sp>
      <p:sp>
        <p:nvSpPr>
          <p:cNvPr id="26" name="Text 23"/>
          <p:cNvSpPr txBox="1"/>
          <p:nvPr/>
        </p:nvSpPr>
        <p:spPr>
          <a:xfrm>
            <a:off x="548640" y="3840480"/>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مُشْكِلَةً وَاجَهْتَهَا فِي إِجَازَةٍ سَابِقَةٍ.</a:t>
            </a:r>
            <a:endParaRPr lang="ar-SA" sz="1800" dirty="0"/>
          </a:p>
        </p:txBody>
      </p:sp>
      <p:sp>
        <p:nvSpPr>
          <p:cNvPr id="27" name="Shape 2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6601968" y="4626864"/>
            <a:ext cx="50566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the agent for a conditional recommendation using a Type 1 conditional.</a:t>
            </a:r>
            <a:endParaRPr lang="en-US" sz="1100" dirty="0"/>
          </a:p>
        </p:txBody>
      </p:sp>
      <p:sp>
        <p:nvSpPr>
          <p:cNvPr id="29" name="Text 26"/>
          <p:cNvSpPr txBox="1"/>
          <p:nvPr/>
        </p:nvSpPr>
        <p:spPr>
          <a:xfrm>
            <a:off x="548640" y="4626864"/>
            <a:ext cx="585216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اطْلُبْ تَوْصِيَةً شَرْطِيَّةً مِنَ الوَكِيلِ.</a:t>
            </a:r>
            <a:endParaRPr lang="ar-SA" sz="1800" dirty="0"/>
          </a:p>
        </p:txBody>
      </p:sp>
      <p:sp>
        <p:nvSpPr>
          <p:cNvPr id="30" name="Text 2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2 · accuracy 2 (yaḥjiz / yuqīm past forms in prompt 3 · an accurate Type 1 recommendation).</a:t>
            </a:r>
            <a:endParaRPr lang="en-US" sz="115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SPEAKING · PART C · TOPIC CONVERSATION · 6 MARKS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 conversation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المُحَادَثَةُ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 → required</a:t>
            </a:r>
            <a:endParaRPr lang="en-US" sz="1100" dirty="0"/>
          </a:p>
        </p:txBody>
      </p:sp>
      <p:sp>
        <p:nvSpPr>
          <p:cNvPr id="17" name="Text 14"/>
          <p:cNvSpPr txBox="1"/>
          <p:nvPr/>
        </p:nvSpPr>
        <p:spPr>
          <a:xfrm>
            <a:off x="530352" y="1810512"/>
            <a:ext cx="5614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(website)</a:t>
            </a:r>
            <a:endParaRPr lang="en-US" sz="1100" dirty="0"/>
          </a:p>
        </p:txBody>
      </p:sp>
      <p:sp>
        <p:nvSpPr>
          <p:cNvPr id="18" name="Shape 15"/>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19" name="Text 16"/>
          <p:cNvSpPr txBox="1"/>
          <p:nvPr/>
        </p:nvSpPr>
        <p:spPr>
          <a:xfrm>
            <a:off x="6327648" y="2267712"/>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past holiday — what had you expected? → past perfect required</a:t>
            </a:r>
            <a:endParaRPr lang="en-US" sz="1100" dirty="0"/>
          </a:p>
        </p:txBody>
      </p:sp>
      <p:sp>
        <p:nvSpPr>
          <p:cNvPr id="20" name="Text 17"/>
          <p:cNvSpPr txBox="1"/>
          <p:nvPr/>
        </p:nvSpPr>
        <p:spPr>
          <a:xfrm>
            <a:off x="548640" y="2267712"/>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إِجَازَةً مَاضِيَةً — مَا الَّذِي كُنْتَ قَدْ تَوَقَّعْتَهُ؟</a:t>
            </a:r>
            <a:endParaRPr lang="ar-SA" sz="1800" dirty="0"/>
          </a:p>
        </p:txBody>
      </p:sp>
      <p:sp>
        <p:nvSpPr>
          <p:cNvPr id="21" name="Shape 18"/>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2" name="Text 19"/>
          <p:cNvSpPr txBox="1"/>
          <p:nvPr/>
        </p:nvSpPr>
        <p:spPr>
          <a:xfrm>
            <a:off x="6327648" y="3054096"/>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view on sustainable tourism? → a Type 1 conditional expected</a:t>
            </a:r>
            <a:endParaRPr lang="en-US" sz="1100" dirty="0"/>
          </a:p>
        </p:txBody>
      </p:sp>
      <p:sp>
        <p:nvSpPr>
          <p:cNvPr id="23" name="Text 20"/>
          <p:cNvSpPr txBox="1"/>
          <p:nvPr/>
        </p:nvSpPr>
        <p:spPr>
          <a:xfrm>
            <a:off x="548640" y="3054096"/>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فِي السِّيَاحَةِ المُسْتَدَامَةِ؟</a:t>
            </a:r>
            <a:endParaRPr lang="ar-SA" sz="1800" dirty="0"/>
          </a:p>
        </p:txBody>
      </p:sp>
      <p:sp>
        <p:nvSpPr>
          <p:cNvPr id="24" name="Shape 2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5" name="Text 22"/>
          <p:cNvSpPr txBox="1"/>
          <p:nvPr/>
        </p:nvSpPr>
        <p:spPr>
          <a:xfrm>
            <a:off x="6327648" y="3840480"/>
            <a:ext cx="5330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you had an unlimited travel budget, where would you go? → Type 2 conditional required</a:t>
            </a:r>
            <a:endParaRPr lang="en-US" sz="1100" dirty="0"/>
          </a:p>
        </p:txBody>
      </p:sp>
      <p:sp>
        <p:nvSpPr>
          <p:cNvPr id="26" name="Text 23"/>
          <p:cNvSpPr txBox="1"/>
          <p:nvPr/>
        </p:nvSpPr>
        <p:spPr>
          <a:xfrm>
            <a:off x="548640" y="3840480"/>
            <a:ext cx="5577840"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لَوْ كَانَ لَدَيْكَ مِيزَانِيَّةٌ غَيْرُ مَحْدُودَةٍ لِلسَّفَرِ، أَيْنَ سَتَذْهَبُ؟</a:t>
            </a:r>
            <a:endParaRPr lang="ar-SA" sz="1800" dirty="0"/>
          </a:p>
        </p:txBody>
      </p:sp>
      <p:sp>
        <p:nvSpPr>
          <p:cNvPr id="27" name="Text 2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Marks (website): communication 3 · quality of language 3 — the examiner records whether the Type 2 is produced or avoided.</a:t>
            </a:r>
            <a:endParaRPr lang="en-US" sz="11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RESULTS · YOUR P3 FOUR-SKILLS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P3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Section</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Teacher guide (total /60)</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54–60 Excellent — accurate, varied Arabic about travel and tourism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B1 ·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42–53 Good — secure, with a few focused gaps</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B2 · Writing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30–41 Satisfactory — core communication in place</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 · Speaking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Below 30 — revisit P3-L03, L05 and L07 with guided practice</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My writing improvement target … · My speaking improvement target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describe a trip with kuntu qad + past and yaḥjiz / yuqīm.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recommend with idhā … sa- (or fa-lā budda min).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reflect with law … la- — and answer a law question with law.</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report a guide (qāla inna · ashāra ilā anna) and advise with yustaḥsan an.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write a 145–160-word travel article with eight Range markers.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P3-L12 · P3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P4-L01: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P3 · Travel, Holidays and Transport · P3-L12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P4-L01 · The Natural World — Landscapes, Ecosystems and Biodiversity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نِظَامٌ بِيئِيٌّ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ecosystem</a:t>
            </a:r>
            <a:pPr indent="0" marL="0">
              <a:buNone/>
            </a:pPr>
            <a:r>
              <a:rPr lang="ar-SA" sz="1000" i="1" dirty="0">
                <a:solidFill>
                  <a:srgbClr val="5A6472"/>
                </a:solidFill>
                <a:latin typeface="Calibri" pitchFamily="34" charset="0"/>
                <a:ea typeface="Amiri" pitchFamily="2" charset="-78"/>
                <a:cs typeface="Amiri" pitchFamily="2" charset="-78"/>
              </a:rPr>
              <a:t>  pl. أَنْظِمَةٌ بِيئِيَّةٌ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تَنَوُّعٌ حَيَوِيٌّ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biodiversity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مَوْطِنٌ طَبِيعِيٌّ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natural habitat</a:t>
            </a:r>
            <a:pPr indent="0" marL="0">
              <a:buNone/>
            </a:pPr>
            <a:r>
              <a:rPr lang="ar-SA" sz="1000" i="1" dirty="0">
                <a:solidFill>
                  <a:srgbClr val="5A6472"/>
                </a:solidFill>
                <a:latin typeface="Calibri" pitchFamily="34" charset="0"/>
                <a:ea typeface="Amiri" pitchFamily="2" charset="-78"/>
                <a:cs typeface="Amiri" pitchFamily="2" charset="-78"/>
              </a:rPr>
              <a:t>  pl. مَوَاطِنُ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يُهَدِّدُ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threatens</a:t>
            </a:r>
            <a:pPr indent="0" marL="0">
              <a:buNone/>
            </a:pPr>
            <a:r>
              <a:rPr lang="ar-SA" sz="1000" i="1" dirty="0">
                <a:solidFill>
                  <a:srgbClr val="5A6472"/>
                </a:solidFill>
                <a:latin typeface="Calibri" pitchFamily="34" charset="0"/>
                <a:ea typeface="Amiri" pitchFamily="2" charset="-78"/>
                <a:cs typeface="Amiri" pitchFamily="2" charset="-78"/>
              </a:rPr>
              <a:t>  تُهَدِّدُ she / it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لِكَيْ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so that, in order to</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natural place would you most like to protect,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أُرِيدُ أَنْ أَحْمِيَ ______ لِكَيْ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Redo the website P3-L12 section with your lowest score; learn the five P4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Improve one paragraph of your assessed article (add a missing structure), then learn the five P4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sentences about a natural place you know, using the five words and one li-kay + a verb in -a.</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P3-L12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P4-L01 · The Natural World — Landscapes, Ecosystems and Biodiversity</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العَالَمُ الطَّبِيعِيُّ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P3 complete — well done! Carry the P3 checklist into P4: kuntu qad · idhā … sa- · law … la- · qāla inna · an + a verb in -a.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P3-L12 · Review and Unit Assessment: Travel, Holidays and Transport</dc:title>
  <dc:subject>PptxGenJS Presentation</dc:subject>
  <dc:creator>Al Madina Online School · Arabic Department</dc:creator>
  <cp:lastModifiedBy>Al Madina Online School · Arabic Department</cp:lastModifiedBy>
  <cp:revision>1</cp:revision>
  <dcterms:created xsi:type="dcterms:W3CDTF">2026-10-11T06:43:15Z</dcterms:created>
  <dcterms:modified xsi:type="dcterms:W3CDTF">2026-10-11T06:43:15Z</dcterms:modified>
</cp:coreProperties>
</file>