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P4 target.
FLEX slides are optional. Use them if the class is moving quickly; otherwise the same activities are on the website for homework.
Content source: Miftah Arabic website, Pathways › Progression › P3 Travel, Holidays and Transport › P3-L12. The website P3-L12 is a four-skill, 60-mark unit assessment: a twelve-question grammar spine (revision, not counted), Part A listening (three texts — a trip to Jordan 8 · Sami and Layla on tourism: who said what 6 · a transport official on high-speed rail 6 = 20), Part B1 reading (an article on responsible tourism: 10), Part B2 writing (five-field travel form 5 + 145–160-word article 15, marked task / range / accuracy) and Part C speaking (role play: a travel-agency consultation 4 + topic conversation 6), then a P4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Holidays are personal: the travel form, article and role play may describe an imagined trip. Never press anyone about family travel or money.
• Accuracy focus today (the website mark scheme): the la- of the Type 2 result (the primary criterion) · kāna / kānat agreement · qāla inna, other verbs anna — and in speaking, a law answer to the law question.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P3-L11.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إِذَا زُرْتَ الأُرْدُنَّ، سَتَنْبَهِرُ · لَوْ حَجَزْتُ مُبَكِّرًا، لَوَفَّرْتُ المَالَ · زُرْتُ · كُنْتُ قَدْ · سَأُقِيمُ · فِي · يَتَعَلَّمَ · قَالَ الدَّلِيلُ إِنَّ · إِلَى · تَسْتَقْطِبُ المَدِينَةُ السُّيَّاحَ · بَيْنَ · كَانَتْ قَدْ أَقَامَتْ.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label each question C / R / P / O and write the signal (سَـ / لَـ · قَالَ · كَانَ قَدْ · أَرَى) — P3-L10. Question 1: two past perfects (كُنْتُ قَدْ). Question 2: whose view? The guide’s (قَالَ … إِنَّ). Question 4: the sa- result = a real plan. Each recording may be played twice; students answer after the second reading.
SCRIPT: يَقُولُ المُسَافِرُ: كُنْتُ قَدْ حَجَزْتُ رِحْلَتِي إِلَى الأُرْدُنِّ قَبْلَ شَهْرَيْنِ، وَكُنْتُ قَدْ أَقَمْتُ فِي فُنْدُقٍ صَغِيرٍ فِي عَمَّانَ. قَالَ الدَّلِيلُ إِنَّ أَفْضَلَ وَقْتٍ لِزِيَارَةِ البَتْرَاءِ هُوَ الصَّبَاحُ البَاكِرُ. اسْتَعْمَلْتُ الحَافِلَةَ السِّيَاحِيَّةَ الَّتِي تَصِلُ بَيْنَ المُدُنِ. إِذَا زُرْتُ الأُرْدُنَّ ثَانِيَةً، سَأُخَصِّصُ يَوْمَيْنِ لِلْبَتْرَاءِ. وَلَوْ كُنْتُ قَدْ بَقِيتُ لَيْلَةً إِضَافِيَّةً، لَرَأَيْتُ الخَزْنَةَ تَحْتَ ضَوْءِ الشُّمُوعِ. وَتَسْتَقْطِبُ البَتْرَاءُ نَحْوَ مِلْيُونِ زَائِرٍ سَنَوِيًّا. وَأَرَى أَنَّ السِّيَاحَةَ المُسْتَدَامَةَ ضَرُورَةٌ لِحِمَايَةِ هٰذَا التُّرَاثِ.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(the result marker sa- / la- · كَانَ قَدْ · a reporting verb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label each question C / R / P / O and write the signal (سَـ / لَـ · قَالَ · كَانَ قَدْ · أَرَى) — P3-L10. Question 5: the la- result = a regret. Question 6 is a number: نَحْوَ مِلْيُونِ = about a million. Question 8 asks for the traveller’s OWN view (أَرَى أَنَّ). Each recording may be played twice; students answer after the second reading.
SCRIPT: يَقُولُ المُسَافِرُ: كُنْتُ قَدْ حَجَزْتُ رِحْلَتِي إِلَى الأُرْدُنِّ قَبْلَ شَهْرَيْنِ، وَكُنْتُ قَدْ أَقَمْتُ فِي فُنْدُقٍ صَغِيرٍ فِي عَمَّانَ. قَالَ الدَّلِيلُ إِنَّ أَفْضَلَ وَقْتٍ لِزِيَارَةِ البَتْرَاءِ هُوَ الصَّبَاحُ البَاكِرُ. اسْتَعْمَلْتُ الحَافِلَةَ السِّيَاحِيَّةَ الَّتِي تَصِلُ بَيْنَ المُدُنِ. إِذَا زُرْتُ الأُرْدُنَّ ثَانِيَةً، سَأُخَصِّصُ يَوْمَيْنِ لِلْبَتْرَاءِ. وَلَوْ كُنْتُ قَدْ بَقِيتُ لَيْلَةً إِضَافِيَّةً، لَرَأَيْتُ الخَزْنَةَ تَحْتَ ضَوْءِ الشُّمُوعِ. وَتَسْتَقْطِبُ البَتْرَاءُ نَحْوَ مِلْيُونِ زَائِرٍ سَنَوِيًّا. وَأَرَى أَنَّ السِّيَاحَةَ المُسْتَدَامَةَ ضَرُورَةٌ لِحِمَايَةِ هٰذَا التُّرَاثِ.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(the result marker sa- / la- · كَانَ قَدْ · a reporting verb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label each question C / R / P / O and write the signal (سَـ / لَـ · قَالَ · كَانَ قَدْ · أَرَى) — P3-L10. Attribution: write S / L / both beside each question while listening — listen for the name before each line. Each recording may be played twice; students answer after the second reading.
SCRIPT: سَامِي: تُسْهِمُ السِّيَاحَةُ فِي الاقْتِصَادِ المَحَلِّيِّ وَتُوَفِّرُ فُرَصَ عَمَلٍ. لَيْلَى: أَتَّفِقُ، لٰكِنْ إِذَا لَمْ نُنَظِّمِ الزِّيَارَاتِ، سَيَتَدَهْوَرُ التُّرَاثُ. سَامِي: وَلَوِ اعْتَمَدَتِ الدُّوَلُ نِظَامَ الحِصَصِ مُبَكِّرًا، لَكَانَتِ المَوَاقِعُ أَفْضَلَ حَالًا. لَيْلَى: وَقَالَ خَبِيرٌ إِنَّ مَسْؤُولِيَّةَ السَّائِحِ لَا تَقِلُّ عَنْ سِيَاسَةِ الدَّوْلَةِ. سَامِي: وَيُسْتَحْسَنُ أَنْ يَحْتَرِمَ الزَّائِرُ العَادَاتِ المَحَلِّيَّةَ. لَيْلَى: وَأَنَا أَرَى أَنَّ التَّوْعِيَةَ هِيَ الحَلُّ.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(the result marker sa- / la- · كَانَ قَدْ · a reporting verb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label each question C / R / P / O and write the signal (سَـ / لَـ · قَالَ · كَانَ قَدْ · أَرَى) — P3-L10. Listen for the reporting verbs (أَكَّدَ · أَشَارَ إِلَى · قَالَ إِنَّ · اعْتَرَفَ بِـ), كَانَتْ قَدْ and the two conditionals (sa- / la-). Each recording may be played twice; students answer after the second reading.
SCRIPT: يَقُولُ مَسْؤُولٌ فِي هَيْئَةِ النَّقْلِ: كَانَتِ الهَيْئَةُ قَدْ أَطْلَقَتْ مَشْرُوعَ الخَطِّ الحَدِيدِيِّ السَّرِيعِ قَبْلَ سَنَوَاتٍ. وَأَكَّدَ أَنَّ المَشْرُوعَ قَلَّصَ وَقْتَ السَّفَرِ بَيْنَ المُدُنِ الكُبْرَى. وَأَشَارَ إِلَى أَنَّ القِطَارَ يَصِلُ بَيْنَ العَاصِمَةِ وَالسَّاحِلِ فِي سَاعَتَيْنِ. وَقَالَ إِنَّهُ إِذَا اعْتَمَدْنَا عَلَى النَّقْلِ الكَهْرَبَائِيِّ، سَتَنْخَفِضُ الانْبِعَاثَاتُ. وَاعْتَرَفَ بِأَنَّ البُنْيَةَ التَّحْتِيَّةَ تَحْتَاجُ إِلَى مَزِيدٍ مِنَ الاسْتِثْمَارِ. وَلَوْ بَدَأَ المَشْرُوعُ مُبَكِّرًا، لَكَانَ الرَّبْطُ أَوْسَعَ اليَوْمَ.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(the result marker sa- / la- · كَانَ قَدْ · a reporting verb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(P3-L08): box every إِذَا and لَوْ, underline the result marker, and ask: does the writer recommend (idhā) or criticise (law)? Website text corrected: وَكَانَ الكَاتِبُ قَدْ زَارَ (the website has an extra قَدْ before كَانَ).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conditionals, attitude and structure · R4 result-marker gap-fill and purpose). Website skill labels for these questions: R1 · R2 · R2 · R3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conditionals, attitude and structure · R4 result-marker gap-fill and purpose). Website skill labels for these questions: R3 · R3 · R4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1 must use يُقِيمُ فِي; field 2 يَحْجِزُ; field 3 كُنْتُ قَدْ + past; field 4 a Type 1 (إِذَا + past → سَـ); field 5 a Type 2 (لَوْ + past → لَـ). Students may describe an imagined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a 145–160-word travel article. Required: a past-perfect background, yaḥjiz / yuqīm, a Type 1 recommendation AND a Type 2 reflection (two separate Range marks), reported speech with a verb other than قَالَ, and a tourism verb. Mark scheme exactly as on the website (Accuracy: the لَـ of the Type 2 result 2 · كَانَ / كَانَتْ agreement 2 · إِنَّ / أَنَّ 1). The P3-L09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a travel agent: أَهْلًا وَسَهْلًا فِي وَكَالَتِنَا. كَيْفَ أُسَاعِدُكَ؟ Model answers: مَا الَّذِي تَتَمَيَّزُ بِهِ فَاسُ؟ (agent: تَتَمَيَّزُ بِأَزِقَّتِهَا وَتَسْتَقْطِبُ آلَافَ السُّيَّاحِ) · أُرِيدُ أَنْ أَحْجِزَ غُرْفَةً؛ أَيْنَ يُمْكِنُ أَنْ أُقِيمَ؟ · فِي رِحْلَتِي السَّابِقَةِ كُنْتُ قَدْ حَجَزْتُ فُنْدُقًا، لٰكِنِّي اكْتَشَفْتُ أَنَّ الحَجْزَ أُلْغِيَ … · إِذَا سَافَرْتُ فِي الرَّبِيعِ، مَاذَا تَنْصَحُنِي؟ Website mark scheme: Communication (2): all four prompts are addressed clearly and relevantly. Accuracy (2): yaḥjiz / yuqīm past forms in prompt 3 and the Type 1 recommendation are formed correctly. The destination is described with yastaqṭib or yatamayyaz bi-. To a girl: اسْأَلِي · صِفِي · وَاجَهْتِهَا · اطْلُبِي.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structure · reason · extra (P3-L11). Website mark scheme: Communication (3): answers are developed with point, reason and example. Quality of language (3): the past perfect (Q1), a Type 1 conditional (Q2) and a Type 2 conditional (Q3) all appear and are accurate. Q3 opens with law; a student who answers with idhā is avoiding the conditional — record it and note the missed mark. Allow time-buying and repair phrases (سُؤَالٌ جَمِيلٌ · دَعْنِي أُفَكِّرُ · عَفْوًا، أَقْصِدُ). To a girl: صِفِي · كُنْتِ قَدْ تَوَقَّعْتِهِ · رَأْيُكِ · لَدَيْكِ · سَتَذْهَبِينَ.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P1 and P2 assessments. Return each student’s P3-L11 “priority error” note next to their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(P4-L01 · The Natural World — Landscapes, Ecosystems and Biodiversity) will spend class time USING this language, so students prepare it tonight — short, simple, easy to access (school guidance: “Simple, Short, Interesting, Relevant, Easy to access”). Progression P4 begins with the natural world (website P4-L01 “The Natural World — Landscapes, Ecosystems and Biodiversity”).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P3  ·  P3-L12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P3-L12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Review and Unit Assessment: Travel, Holidays and Transport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Show what you can understand and produce about travel — kuntu qad for the background, idhā … sa- to recommend, law … la- to reflect, qāla inna for the guide, yustaḥsan an + a verb in -a — then choose one precise target for Progression P4.</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P3-L12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end of unit P3</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P3 › P3-L12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P3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P4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P4: the natural world.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وَكِيلُ سَفَرٍ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travel insurance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travel agent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travel guidebook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Type 1 conditional.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الأُرْدُنَّ، سَتَنْبَهِرُ.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الأُرْدُنَّ، تَنْبَهِرُ.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تَزُورُ الأُرْدُنَّ، سَتَنْبَهِرُ.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حَجَزْتُ الفُنْدُقَ قَبْلَ السَّفَرِ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subjunctive: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يَسْتَقْطِبُ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تَسْتَقْطِبُ المَدِينَةُ السُّيَّاحَ.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تَسْتَقْطِبُ المَدِينَةُ بِالسُّيَّاحِ.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تَقْطِبُ المَدِينَةُ السُّيَّاحَ.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وَكِيلُ سَفَرٍ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travel insurance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travel agent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travel guidebook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Type 1 conditional.</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زُرْتَ الأُرْدُنَّ، سَتَنْبَهِرُ.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زُرْتَ الأُرْدُنَّ، تَنْبَهِرُ.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تَزُورُ الأُرْدُنَّ، سَتَنْبَهِرُ.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حَجَزْتُ الفُنْدُقَ قَبْلَ السَّفَرِ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subjunctive: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يَتَعَلَّمُ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يَتَعَلَّمَ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يَسْتَقْطِبُ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تَسْتَقْطِبُ المَدِينَةُ السُّيَّاحَ.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تَسْتَقْطِبُ المَدِينَةُ بِالسُّيَّاحِ.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تَقْطِبُ المَدِينَةُ السُّيَّاحَ.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كُنْتُ قَدْ … · إِذَا … سَـ · لَوْ … لَـ · أَنْ يَتَعَلَّمَ</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P3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P3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P3-L05</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زُرْتَ الأُرْدُنَّ، سَتَنْبَهِرُ · لَوْ حَجَزْتُ مُبَكِّرًا، لَوَفَّرْتُ</a:t>
            </a:r>
            <a:endParaRPr lang="ar-SA" sz="20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 · Type 2</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P3-L02 · L03</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كُنْتُ قَدْ حَجَزْتُ · كَانَتْ قَدْ أَقَامَتْ</a:t>
            </a:r>
            <a:endParaRPr lang="ar-SA" sz="20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P3-L06</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قَالَ الدَّلِيلُ إِنَّ … · أَشَارَ إِلَى أَنَّ …</a:t>
            </a:r>
            <a:endParaRPr lang="ar-SA" sz="20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P3-L07</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يُسْتَحْسَنُ أَنْ يَتَعَلَّمَ الزَّائِرُ التَّحِيَّةَ</a:t>
            </a:r>
            <a:endParaRPr lang="ar-SA" sz="20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verb in -a</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P3-L01 · L02 · L04</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سَأُقِيمُ فِي … · تَسْتَقْطِبُ المَدِينَةُ السُّيَّاحَ · يَصِلُ بَيْنَ</a:t>
            </a:r>
            <a:endParaRPr lang="ar-SA" sz="20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travel verbs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And one habit for every part today: name the structure the question needs before you answer.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texts (each heard twice): a trip to Jordan (8) · Sami and Layla on tourism (6) · a transport official on high-speed rail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article on responsible tourism: main idea, detail, conditionals and attitude, result-marker gap-fills, purpose</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travel form (5) + a 145–160-word travel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role play: a travel-agency consultation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trip to Jordan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before the trip?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Cancelled the trip</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Booked the trip and stayed in a small hotel in Amman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guide say about visiting Petra?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Night is the only time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Early morning is the best time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always closed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transport did they use?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private car only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tourist coach between cities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cruise ship</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plan for next time?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Skip Petra</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return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Devote two days to Petra</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trip to Jordan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before the trip?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Cancelled the trip</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Booked the trip and stayed in a small hotel in Amman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قَدْ حَجَزْتُ رِحْلَتِي … وَكُنْتُ قَدْ أَقَمْتُ فِي فُنْدُقٍ صَغِيرٍ.</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guide say about visiting Petra?</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Night is the only time</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Early morning is the best time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always closed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الدَّلِيلُ إِنَّ أَفْضَلَ وَقْتٍ … هُوَ الصَّبَاحُ البَاكِرُ.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transport did they use?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private car only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tourist coach between cities</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cruise ship</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اسْتَعْمَلْتُ الحَافِلَةَ السِّيَاحِيَّةَ الَّتِي تَصِلُ بَيْنَ المُدُنِ.</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plan for next time?</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Skip Petra</a:t>
            </a:r>
            <a:endParaRPr lang="en-US" sz="1250" dirty="0"/>
          </a:p>
        </p:txBody>
      </p:sp>
      <p:sp>
        <p:nvSpPr>
          <p:cNvPr id="67" name="Shape 64"/>
          <p:cNvSpPr/>
          <p:nvPr/>
        </p:nvSpPr>
        <p:spPr>
          <a:xfrm>
            <a:off x="6368796"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return</a:t>
            </a:r>
            <a:endParaRPr lang="en-US" sz="1250" dirty="0"/>
          </a:p>
        </p:txBody>
      </p:sp>
      <p:sp>
        <p:nvSpPr>
          <p:cNvPr id="70" name="Shape 67"/>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368796"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Devote two days to Petra</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زُرْتُ الأُرْدُنَّ ثَانِيَةً، سَأُخَصِّصُ يَوْمَيْنِ لِلْبَتْرَاءِ.</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trip to Jordan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regret?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Staying makes no difference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they stayed an extra night, they would have seen the Treasury by candlelight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refused to stay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visitors does Petra attract yearly?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a thousand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a million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a hundred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had the traveller stayed?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luxury resort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relatives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small hotel in Amman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traveller's own view on sustainable tourism?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necessary to protect this heritage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unimportant</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harms heritage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trip to Jordan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regret?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Staying makes no difference</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they stayed an extra night, they would have seen the Treasury by candlelight</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refused to stay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كُنْتُ قَدْ بَقِيتُ لَيْلَةً إِضَافِيَّةً، لَرَأَيْتُ الخَزْنَةَ تَحْتَ ضَوْءِ الشُّمُوعِ.</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visitors does Petra attract yearly?</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About a thousand</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a million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About a hundred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تَسْتَقْطِبُ البَتْرَاءُ نَحْوَ مِلْيُونِ زَائِرٍ سَنَوِيًّا.</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had the traveller stayed?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luxury resort</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relatives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small hotel in Amman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قَدْ أَقَمْتُ فِي فُنْدُقٍ صَغِيرٍ فِي عَمَّانَ.</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traveller's own view on sustainable tourism?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necessary to protect this heritage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unimportant</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harms heritage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أَرَى أَنَّ السِّيَاحَةَ المُسْتَدَامَةَ ضَرُورَةٌ لِحِمَايَةِ هٰذَا التُّرَاثِ.</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 and Layla: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tourism contributes to the local economy?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states the Type 1 concern about unregulated visits?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2 counterfactual about quotas?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cites an expert on tourist responsibility?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gives the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advice?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awareness is the solution?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Sami and Layla: who said what: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tourism contributes to the local economy?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تُسْهِمُ السِّيَاحَةُ فِي الاقْتِصَادِ المَحَلِّيِّ.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states the Type 1 concern about unregulated visits?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إِذَا لَمْ نُنَظِّمِ الزِّيَارَاتِ، سَيَتَدَهْوَرُ التُّرَاثُ.</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2 counterfactual about quotas?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سَامِي: وَلَوِ اعْتَمَدَتِ الدُّوَلُ نِظَامَ الحِصَصِ مُبَكِّرًا، لَكَانَتِ المَوَاقِعُ أَفْضَلَ.</a:t>
            </a:r>
            <a:endParaRPr lang="ar-SA" sz="11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cites an expert on tourist responsibility?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قَالَ خَبِيرٌ إِنَّ مَسْؤُولِيَّةَ السَّائِحِ لَا تَقِلُّ.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gives the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advice?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وَيُسْتَحْسَنُ أَنْ يَحْتَرِمَ الزَّائِرُ العَادَاتِ المَحَلِّيَّةَ.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awareness is the solution?</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وَأَنَا أَرَى أَنَّ التَّوْعِيَةَ هِيَ الحَلُّ.</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A transport official on high-speed rail</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project never started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project starts next year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authority had launched the high-speed rail project years earlier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project reduced travel time between major cities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increased travel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had no effect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takes a whole 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connects the capital and the coast in two hours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reach the coast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(Type 1)?</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they rely on electric transport, emissions will fall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Electric transport raises emissions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Emissions cannot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Infrastructure is complete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is unnecessary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official concedes the infrastructure needs more investment</a:t>
            </a:r>
            <a:endParaRPr lang="en-US" sz="120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(Type 2)?</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Early start makes no difference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project cannot expand</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 project started earlier, connectivity would be wider today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A transport official on high-speed rail: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project never started</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project starts next year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authority had launched the high-speed rail project years earlier</a:t>
            </a:r>
            <a:endParaRPr lang="en-US" sz="11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كَانَتِ الهَيْئَةُ قَدْ أَطْلَقَتْ مَشْرُوعَ الخَطِّ الحَدِيدِيِّ … قَبْلَ سَنَوَاتٍ.</a:t>
            </a:r>
            <a:endParaRPr lang="ar-SA"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project reduced travel time between major cities</a:t>
            </a:r>
            <a:endParaRPr lang="en-US" sz="11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increased travel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had no effect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أَكَّدَ أَنَّ المَشْرُوعَ قَلَّصَ وَقْتَ السَّفَرِ.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takes a whole day</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train connects the capital and the coast in two hours</a:t>
            </a:r>
            <a:endParaRPr lang="en-US" sz="11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reach the coast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يَصِلُ بَيْنَ العَاصِمَةِ وَالسَّاحِلِ فِي سَاعَتَيْنِ.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(Type 1)?</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they rely on electric transport, emissions will fall</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Electric transport raises emissions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Emissions cannot fall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إِذَا اعْتَمَدْنَا عَلَى النَّقْلِ الكَهْرَبَائِيِّ، سَتَنْخَفِضُ الانْبِعَاثَاتُ.</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Infrastructure is complete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Investment is unnecessary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official concedes the infrastructure needs more investment</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اعْتَرَفَ بِأَنَّ البُنْيَةَ التَّحْتِيَّةَ تَحْتَاجُ إِلَى مَزِيدٍ مِنَ الاسْتِثْمَارِ.</a:t>
            </a:r>
            <a:endParaRPr lang="ar-SA" sz="12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(Type 2)?</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Early start makes no difference</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project cannot expand</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the project started earlier, connectivity would be wider today</a:t>
            </a:r>
            <a:endParaRPr lang="en-US" sz="11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بَدَأَ المَشْرُوعُ مُبَكِّرًا، لَكَانَ الرَّبْطُ أَوْسَعَ اليَوْمَ.</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Responsible tourism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السِّيَاحَةُ المَسْؤُولَةُ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تُعَدُّ السِّيَاحَةُ سِلَاحًا ذَا حَدَّيْنِ. فَهِيَ تُسْهِمُ فِي الاقْتِصَادِ وَتُوَفِّرُ فُرَصَ عَمَلٍ، غَيْرَ أَنَّهَا قَدْ تُلْحِقُ الضَّرَرَ بِالتُّرَاثِ إِذَا لَمْ تُنَظَّمْ. يَقُولُ كَاتِبُ المَقَالِ: «إِذَا احْتَرَمَ السُّيَّاحُ القَوَاعِدَ، سَتَبْقَى المَوَاقِعُ لِلْأَجْيَالِ.» ثُمَّ يُضِيفُ: «لَوِ اهْتَمَّتِ الحُكُومَاتُ بِالتَّنْظِيمِ مُنْذُ البِدَايَةِ، لَمَا تَدَهْوَرَتْ مَوَاقِعُ كَثِيرَةٌ.» وَيُسْتَحْسَنُ أَنْ يَتَعَلَّمَ الزَّائِرُ عَادَاتِ البَلَدِ قَبْلَ وُصُولِهِ. وَكَانَ الكَاتِبُ قَدْ زَارَ البَتْرَاءَ، وَأَشَارَ إِلَى أَنَّ التَّنْظِيمَ الجَيِّدَ يَحْمِي جَمَالَهَا. وَالغَرَضُ مِنَ النَّصِّ إِقْنَاعُ القَارِئِ بِالسِّيَاحَةِ المَسْؤُولَةِ.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main view?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Tourism is a double-edged sword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Tourism is purely good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Tourism is purely bad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benefits of tourism?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only harms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supports the economy and provides jobs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effect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cultural advice does the writer give?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 the country's customs before arriving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 customs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country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Type 1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لَوِ اهْتَمَّتِ الحُكُومَاتُ … لَمَا تَدَهْوَرَتْ</a:t>
            </a:r>
            <a:endParaRPr lang="ar-SA"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كَانَ الكَاتِبُ قَدْ زَارَ البَتْرَاءَ</a:t>
            </a:r>
            <a:endParaRPr lang="ar-SA"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إِذَا احْتَرَمَ السُّيَّاحُ القَوَاعِدَ، سَتَبْقَى المَوَاقِعُ لِلْأَجْيَالِ</a:t>
            </a:r>
            <a:endParaRPr lang="ar-SA"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Type 2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إِذَا احْتَرَمَ السُّيَّاحُ القَوَاعِدَ، سَتَبْقَى المَوَاقِعُ</a:t>
            </a:r>
            <a:endParaRPr lang="ar-SA" sz="1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يُسْتَحْسَنُ أَنْ يَتَعَلَّمَ الزَّائِرُ</a:t>
            </a:r>
            <a:endParaRPr lang="ar-SA" sz="1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لَوِ اهْتَمَّتِ الحُكُومَاتُ بِالتَّنْظِيمِ مُنْذُ البِدَايَةِ، لَمَا تَدَهْوَرَتْ مَوَاقِعُ كَثِيرَةٌ</a:t>
            </a:r>
            <a:endParaRPr lang="ar-SA"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main view?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Tourism is a double-edged sword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Tourism is purely good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Tourism is purely bad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السِّيَاحَةُ سِلَاحًا ذَا حَدَّيْنِ.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benefits of tourism?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only harms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supports the economy and provides jobs</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effect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تُسْهِمُ فِي الاقْتِصَادِ وَتُوَفِّرُ فُرَصَ عَمَلٍ.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cultural advice does the writer give?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Learn the country's customs before arriving</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 customs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country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يُسْتَحْسَنُ أَنْ يَتَعَلَّمَ الزَّائِرُ عَادَاتِ البَلَدِ قَبْلَ وُصُولِهِ.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Type 1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لَوِ اهْتَمَّتِ الحُكُومَاتُ … لَمَا تَدَهْوَرَتْ</a:t>
            </a:r>
            <a:endParaRPr lang="ar-SA"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كَانَ الكَاتِبُ قَدْ زَارَ البَتْرَاءَ</a:t>
            </a:r>
            <a:endParaRPr lang="ar-SA"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إِذَا احْتَرَمَ السُّيَّاحُ القَوَاعِدَ، سَتَبْقَى المَوَاقِعُ لِلْأَجْيَالِ</a:t>
            </a:r>
            <a:endParaRPr lang="ar-SA"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the Type 1 conditional.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Type 2 conditional.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إِذَا احْتَرَمَ السُّيَّاحُ القَوَاعِدَ، سَتَبْقَى المَوَاقِعُ</a:t>
            </a:r>
            <a:endParaRPr lang="ar-SA" sz="10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يُسْتَحْسَنُ أَنْ يَتَعَلَّمَ الزَّائِرُ</a:t>
            </a:r>
            <a:endParaRPr lang="ar-SA" sz="10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لَوِ اهْتَمَّتِ الحُكُومَاتُ بِالتَّنْظِيمِ مُنْذُ البِدَايَةِ، لَمَا تَدَهْوَرَتْ مَوَاقِعُ كَثِيرَةٌ</a:t>
            </a:r>
            <a:endParaRPr lang="ar-SA" sz="10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Type 2 conditional.</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argumentative purpose does the Type 2 serve?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praises current regulation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implies current regulation was inadequate — an implicit criticism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reports a fact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Find the past-perfect structure.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الكَاتِبُ قَدْ زَارَ البَتْرَاءَ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احْتَرَمَ السُّيَّاحُ</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يُسْتَحْسَنُ أَنْ يَتَعَلَّمَ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1 gap: </a:t>
            </a:r>
            <a:pPr algn="l" indent="0" marL="0">
              <a:buNone/>
            </a:pPr>
            <a:r>
              <a:rPr lang="ar-SA" altLang="en-US" sz="1650" b="1" dirty="0">
                <a:solidFill>
                  <a:srgbClr val="1B3B6F"/>
                </a:solidFill>
                <a:latin typeface="Amiri" pitchFamily="34" charset="0"/>
                <a:ea typeface="Amiri" pitchFamily="34" charset="-122"/>
                <a:cs typeface="Amiri" pitchFamily="34" charset="-120"/>
              </a:rPr>
              <a:t>إِذَا احْتَرَمَ السُّيَّاحُ القَوَاعِدَ،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المَوَاقِعُ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لَبَقِيَتِ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بَقِيَتِ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سَتَبْقَى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gap: </a:t>
            </a:r>
            <a:pPr algn="l" indent="0" marL="0">
              <a:buNone/>
            </a:pPr>
            <a:r>
              <a:rPr lang="ar-SA" altLang="en-US" sz="1650" b="1" dirty="0">
                <a:solidFill>
                  <a:srgbClr val="1B3B6F"/>
                </a:solidFill>
                <a:latin typeface="Amiri" pitchFamily="34" charset="0"/>
                <a:ea typeface="Amiri" pitchFamily="34" charset="-122"/>
                <a:cs typeface="Amiri" pitchFamily="34" charset="-120"/>
              </a:rPr>
              <a:t>لَوِ اهْتَمَّتِ الحُكُومَاتُ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المَوَاقِعُ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سَتَتَدَهْوَرُ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تَتَدَهْوَرُ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 تَدَهْوَرَتِ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persuade the reader to practise responsible tourism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report the news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entertain only</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argumentative purpose does the Type 2 serve?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praises current regulation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implies current regulation was inadequate — an implicit criticism</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reports a fact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implies the condition was not met, hinting at criticism.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Find the past-perfect structure.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الكَاتِبُ قَدْ زَارَ البَتْرَاءَ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احْتَرَمَ السُّيَّاحُ</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يُسْتَحْسَنُ أَنْ يَتَعَلَّمَ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 … قَدْ</a:t>
            </a:r>
            <a:pPr algn="l" indent="0" marL="0">
              <a:buNone/>
            </a:pPr>
            <a:r>
              <a:rPr lang="en-US" sz="1050" i="1" dirty="0">
                <a:solidFill>
                  <a:srgbClr val="8A6D1E"/>
                </a:solidFill>
                <a:latin typeface="Calibri" pitchFamily="34" charset="0"/>
                <a:ea typeface="Calibri" pitchFamily="34" charset="-122"/>
                <a:cs typeface="Calibri" pitchFamily="34" charset="-120"/>
              </a:rPr>
              <a:t> + past is the past perfect.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1 gap: </a:t>
            </a:r>
            <a:pPr algn="l" indent="0" marL="0">
              <a:buNone/>
            </a:pPr>
            <a:r>
              <a:rPr lang="ar-SA" altLang="en-US" sz="1650" b="1" dirty="0">
                <a:solidFill>
                  <a:srgbClr val="1B3B6F"/>
                </a:solidFill>
                <a:latin typeface="Amiri" pitchFamily="34" charset="0"/>
                <a:ea typeface="Amiri" pitchFamily="34" charset="-122"/>
                <a:cs typeface="Amiri" pitchFamily="34" charset="-120"/>
              </a:rPr>
              <a:t>إِذَا احْتَرَمَ السُّيَّاحُ القَوَاعِدَ،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المَوَاقِعُ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لَبَقِيَتِ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بَقِيَتِ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سَتَبْقَى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real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gap: </a:t>
            </a:r>
            <a:pPr algn="l" indent="0" marL="0">
              <a:buNone/>
            </a:pPr>
            <a:r>
              <a:rPr lang="ar-SA" altLang="en-US" sz="1650" b="1" dirty="0">
                <a:solidFill>
                  <a:srgbClr val="1B3B6F"/>
                </a:solidFill>
                <a:latin typeface="Amiri" pitchFamily="34" charset="0"/>
                <a:ea typeface="Amiri" pitchFamily="34" charset="-122"/>
                <a:cs typeface="Amiri" pitchFamily="34" charset="-120"/>
              </a:rPr>
              <a:t>لَوِ اهْتَمَّتِ الحُكُومَاتُ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المَوَاقِعُ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سَتَتَدَهْوَرُ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تَتَدَهْوَرُ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 تَدَهْوَرَتِ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 (here the negative </a:t>
            </a:r>
            <a:pPr algn="l" indent="0" marL="0">
              <a:buNone/>
            </a:pPr>
            <a:r>
              <a:rPr lang="ar-SA" altLang="en-US" sz="1350" dirty="0">
                <a:solidFill>
                  <a:srgbClr val="8A6D1E"/>
                </a:solidFill>
                <a:latin typeface="Amiri" pitchFamily="34" charset="0"/>
                <a:ea typeface="Amiri" pitchFamily="34" charset="-122"/>
                <a:cs typeface="Amiri" pitchFamily="34" charset="-120"/>
              </a:rPr>
              <a:t>لَمَا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persuade the reader to practise responsible tourism</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report the news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entertain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الغَرَضُ مِنَ النَّصِّ إِقْنَاعُ القَارِئِ بِالسِّيَاحَةِ المَسْؤُولَةِ.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1 · TRAVEL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travel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اسْتِمَارَةُ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38221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الوِجْهَةُ وَمَكَانُ الإِقَامَةِ بِاسْتِعْمَالِ «يُقِيمُ فِي»</a:t>
            </a:r>
            <a:endParaRPr lang="ar-SA" sz="18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Destination and accommodation using yuqīm fī</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40480" y="3004718"/>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طَرِيقَةُ الحَجْزِ بِاسْتِعْمَالِ «يَحْجِزُ»</a:t>
            </a:r>
            <a:endParaRPr lang="ar-SA" sz="18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Your booking method using yaḥjiz</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3840480" y="3741725"/>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إِنْجَازٌ سَابِقٌ عَنِ التَّحْضِيرِ بِاسْتِعْمَالِ «كُنْتُ قَدْ …»</a:t>
            </a:r>
            <a:endParaRPr lang="ar-SA" sz="18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 prior research/preparation statement using the past perfect</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3840480" y="4478731"/>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خُطَّةٌ شَرْطِيَّةٌ مِنَ النَّوْعِ الأَوَّلِ</a:t>
            </a:r>
            <a:endParaRPr lang="ar-SA" sz="18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 Type 1 conditional plan</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3840480" y="5215738"/>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تَأَمُّلٌ شَرْطِيٌّ مِنَ النَّوْعِ الثَّانِي عَنْ رِحْلَةٍ سَابِقَةٍ</a:t>
            </a:r>
            <a:endParaRPr lang="ar-SA" sz="18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A Type 2 conditional reflection on a previous trip</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450" b="1" dirty="0">
                <a:solidFill>
                  <a:srgbClr val="1B3B6F"/>
                </a:solidFill>
                <a:latin typeface="Amiri" pitchFamily="34" charset="0"/>
                <a:ea typeface="Amiri" pitchFamily="34" charset="-122"/>
                <a:cs typeface="Amiri" pitchFamily="34" charset="-120"/>
              </a:rPr>
              <a:t>سَأُقِيمُ فِي رِيَاضٍ فِي فَاسَ</a:t>
            </a:r>
            <a:pPr algn="l" indent="0" marL="0">
              <a:buNone/>
            </a:pPr>
            <a:r>
              <a:rPr lang="en-US" sz="1100" b="1" dirty="0">
                <a:solidFill>
                  <a:srgbClr val="1B3B6F"/>
                </a:solidFill>
                <a:latin typeface="Calibri" pitchFamily="34" charset="0"/>
                <a:ea typeface="Calibri" pitchFamily="34" charset="-122"/>
                <a:cs typeface="Calibri" pitchFamily="34" charset="-120"/>
              </a:rPr>
              <a:t> · </a:t>
            </a:r>
            <a:pPr algn="l" indent="0" marL="0">
              <a:buNone/>
            </a:pPr>
            <a:r>
              <a:rPr lang="ar-SA" altLang="en-US" sz="1450" b="1" dirty="0">
                <a:solidFill>
                  <a:srgbClr val="1B3B6F"/>
                </a:solidFill>
                <a:latin typeface="Amiri" pitchFamily="34" charset="0"/>
                <a:ea typeface="Amiri" pitchFamily="34" charset="-122"/>
                <a:cs typeface="Amiri" pitchFamily="34" charset="-120"/>
              </a:rPr>
              <a:t>حَجَزْتُ عَبْرَ الإِنْتَرْنِتْ</a:t>
            </a:r>
            <a:pPr algn="l" indent="0" marL="0">
              <a:buNone/>
            </a:pPr>
            <a:r>
              <a:rPr lang="en-US" sz="1100" b="1" dirty="0">
                <a:solidFill>
                  <a:srgbClr val="1B3B6F"/>
                </a:solidFill>
                <a:latin typeface="Calibri" pitchFamily="34" charset="0"/>
                <a:ea typeface="Calibri" pitchFamily="34" charset="-122"/>
                <a:cs typeface="Calibri" pitchFamily="34" charset="-120"/>
              </a:rPr>
              <a:t> · </a:t>
            </a:r>
            <a:pPr algn="l" indent="0" marL="0">
              <a:buNone/>
            </a:pPr>
            <a:r>
              <a:rPr lang="ar-SA" altLang="en-US" sz="1450" b="1" dirty="0">
                <a:solidFill>
                  <a:srgbClr val="1B3B6F"/>
                </a:solidFill>
                <a:latin typeface="Amiri" pitchFamily="34" charset="0"/>
                <a:ea typeface="Amiri" pitchFamily="34" charset="-122"/>
                <a:cs typeface="Amiri" pitchFamily="34" charset="-120"/>
              </a:rPr>
              <a:t>كُنْتُ قَدْ قَرَأْتُ عَنِ المَدِينَةِ</a:t>
            </a:r>
            <a:pPr algn="l" indent="0" marL="0">
              <a:buNone/>
            </a:pPr>
            <a:r>
              <a:rPr lang="en-US" sz="1100" b="1" dirty="0">
                <a:solidFill>
                  <a:srgbClr val="1B3B6F"/>
                </a:solidFill>
                <a:latin typeface="Calibri" pitchFamily="34" charset="0"/>
                <a:ea typeface="Calibri" pitchFamily="34" charset="-122"/>
                <a:cs typeface="Calibri" pitchFamily="34" charset="-120"/>
              </a:rPr>
              <a:t> · </a:t>
            </a:r>
            <a:pPr algn="l" indent="0" marL="0">
              <a:buNone/>
            </a:pPr>
            <a:r>
              <a:rPr lang="ar-SA" altLang="en-US" sz="1450" b="1" dirty="0">
                <a:solidFill>
                  <a:srgbClr val="1B3B6F"/>
                </a:solidFill>
                <a:latin typeface="Amiri" pitchFamily="34" charset="0"/>
                <a:ea typeface="Amiri" pitchFamily="34" charset="-122"/>
                <a:cs typeface="Amiri" pitchFamily="34" charset="-120"/>
              </a:rPr>
              <a:t>إِذَا زُرْتُهَا، سَأَبْقَى أُسْبُوعًا</a:t>
            </a:r>
            <a:pPr algn="l" indent="0" marL="0">
              <a:buNone/>
            </a:pPr>
            <a:r>
              <a:rPr lang="en-US" sz="1100" b="1" dirty="0">
                <a:solidFill>
                  <a:srgbClr val="1B3B6F"/>
                </a:solidFill>
                <a:latin typeface="Calibri" pitchFamily="34" charset="0"/>
                <a:ea typeface="Calibri" pitchFamily="34" charset="-122"/>
                <a:cs typeface="Calibri" pitchFamily="34" charset="-120"/>
              </a:rPr>
              <a:t> · </a:t>
            </a:r>
            <a:pPr algn="l" indent="0" marL="0">
              <a:buNone/>
            </a:pPr>
            <a:r>
              <a:rPr lang="ar-SA" altLang="en-US" sz="1450" b="1" dirty="0">
                <a:solidFill>
                  <a:srgbClr val="1B3B6F"/>
                </a:solidFill>
                <a:latin typeface="Amiri" pitchFamily="34" charset="0"/>
                <a:ea typeface="Amiri" pitchFamily="34" charset="-122"/>
                <a:cs typeface="Amiri" pitchFamily="34" charset="-120"/>
              </a:rPr>
              <a:t>لَوْ بَقِيتُ أَطْوَلَ، لَرَأَيْتُ المَزِيدَ</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145–160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travel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مَقَالَةُ 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(TC) /5</a:t>
            </a:r>
            <a:endParaRPr lang="en-US" sz="1100" dirty="0"/>
          </a:p>
        </p:txBody>
      </p:sp>
      <p:sp>
        <p:nvSpPr>
          <p:cNvPr id="20" name="Text 17"/>
          <p:cNvSpPr txBox="1"/>
          <p:nvPr/>
        </p:nvSpPr>
        <p:spPr>
          <a:xfrm>
            <a:off x="566928" y="2267712"/>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destination is described and the journey or booking is covered with yaḥjiz / yuqīm. · The experience is narrated with a past-perfect background. · Both a Type 1 recommendation and a Type 2 reflection are present; 145-160 words.</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a:t>
            </a:r>
            <a:endParaRPr lang="en-US" sz="1100" dirty="0"/>
          </a:p>
        </p:txBody>
      </p:sp>
      <p:sp>
        <p:nvSpPr>
          <p:cNvPr id="25" name="Text 22"/>
          <p:cNvSpPr txBox="1"/>
          <p:nvPr/>
        </p:nvSpPr>
        <p:spPr>
          <a:xfrm>
            <a:off x="566928" y="3054096"/>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Type 1 conditional (idhā + past → sa-) — one mark. · A Type 2 conditional (law + past → la-) — a second, separate mark. · Past perfect (kāna qad), reported speech with a verb other than qāla, and a tourism verb (yastaqṭib / yubhir).</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a:t>
            </a:r>
            <a:endParaRPr lang="en-US" sz="1100" dirty="0"/>
          </a:p>
        </p:txBody>
      </p:sp>
      <p:sp>
        <p:nvSpPr>
          <p:cNvPr id="30" name="Text 27"/>
          <p:cNvSpPr txBox="1"/>
          <p:nvPr/>
        </p:nvSpPr>
        <p:spPr>
          <a:xfrm>
            <a:off x="566928" y="3840480"/>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Type 2 la- prefix in the result clause (2 marks — the primary criterion). · Past-perfect kāna / kānat agreement (2 marks). · Reported speech inna after qāla, anna after other verbs (1 mark).</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Independent evidence: no translation software or AI. Plan the four paragraphs (P3-L09): narrative (kuntu qad) · recommend (idhā) · reflect (law) · conclude.</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Role play: a travel-agency consultation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وَكَالَةِ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about a destination; the response should use yastaqṭib or yatamayyaz bi-.</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اسْأَلْ عَنْ وِجْهَةٍ سِيَاحِيَّةٍ.</a:t>
            </a:r>
            <a:endParaRPr lang="ar-SA" sz="18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about booking and accommodation options using yaḥjiz and yuqīm.</a:t>
            </a:r>
            <a:endParaRPr lang="en-US" sz="1100" dirty="0"/>
          </a:p>
        </p:txBody>
      </p:sp>
      <p:sp>
        <p:nvSpPr>
          <p:cNvPr id="23" name="Text 20"/>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اسْأَلْ عَنْ خِيَارَاتِ الحَجْزِ وَالإِقَامَةِ.</a:t>
            </a:r>
            <a:endParaRPr lang="ar-SA" sz="18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a problem you faced on a past holiday, using the past and the past perfect.</a:t>
            </a:r>
            <a:endParaRPr lang="en-US" sz="1100" dirty="0"/>
          </a:p>
        </p:txBody>
      </p:sp>
      <p:sp>
        <p:nvSpPr>
          <p:cNvPr id="26" name="Text 23"/>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صِفْ مُشْكِلَةً وَاجَهْتَهَا فِي إِجَازَةٍ سَابِقَةٍ.</a:t>
            </a:r>
            <a:endParaRPr lang="ar-SA" sz="1800" dirty="0"/>
          </a:p>
        </p:txBody>
      </p:sp>
      <p:sp>
        <p:nvSpPr>
          <p:cNvPr id="27" name="Shape 2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the agent for a conditional recommendation using a Type 1 conditional.</a:t>
            </a:r>
            <a:endParaRPr lang="en-US" sz="1100" dirty="0"/>
          </a:p>
        </p:txBody>
      </p:sp>
      <p:sp>
        <p:nvSpPr>
          <p:cNvPr id="29" name="Text 26"/>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اطْلُبْ تَوْصِيَةً شَرْطِيَّةً مِنَ الوَكِيلِ.</a:t>
            </a:r>
            <a:endParaRPr lang="ar-SA" sz="1800" dirty="0"/>
          </a:p>
        </p:txBody>
      </p:sp>
      <p:sp>
        <p:nvSpPr>
          <p:cNvPr id="30" name="Text 2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2 · accuracy 2 (yaḥjiz / yuqīm past forms in prompt 3 · an accurate Type 1 recommendation).</a:t>
            </a:r>
            <a:endParaRPr lang="en-US" sz="11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 → required</a:t>
            </a:r>
            <a:endParaRPr lang="en-US" sz="1100" dirty="0"/>
          </a:p>
        </p:txBody>
      </p:sp>
      <p:sp>
        <p:nvSpPr>
          <p:cNvPr id="17" name="Text 14"/>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327648" y="2267712"/>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a past holiday — what had you expected? → past perfect required</a:t>
            </a:r>
            <a:endParaRPr lang="en-US" sz="1100" dirty="0"/>
          </a:p>
        </p:txBody>
      </p:sp>
      <p:sp>
        <p:nvSpPr>
          <p:cNvPr id="20" name="Text 17"/>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صِفْ إِجَازَةً مَاضِيَةً — مَا الَّذِي كُنْتَ قَدْ تَوَقَّعْتَهُ؟</a:t>
            </a:r>
            <a:endParaRPr lang="ar-SA" sz="18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327648" y="3054096"/>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your view on sustainable tourism? → a Type 1 conditional expected</a:t>
            </a:r>
            <a:endParaRPr lang="en-US" sz="1100" dirty="0"/>
          </a:p>
        </p:txBody>
      </p:sp>
      <p:sp>
        <p:nvSpPr>
          <p:cNvPr id="23" name="Text 20"/>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رَأْيُكَ فِي السِّيَاحَةِ المُسْتَدَامَةِ؟</a:t>
            </a:r>
            <a:endParaRPr lang="ar-SA" sz="18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327648" y="3840480"/>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you had an unlimited travel budget, where would you go? → Type 2 conditional required</a:t>
            </a:r>
            <a:endParaRPr lang="en-US" sz="1100" dirty="0"/>
          </a:p>
        </p:txBody>
      </p:sp>
      <p:sp>
        <p:nvSpPr>
          <p:cNvPr id="26" name="Text 23"/>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كَانَ لَدَيْكَ مِيزَانِيَّةٌ غَيْرُ مَحْدُودَةٍ لِلسَّفَرِ، أَيْنَ سَتَذْهَبُ؟</a:t>
            </a:r>
            <a:endParaRPr lang="ar-SA" sz="18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3 · quality of language 3 — the examiner records whether the Type 2 is produced or avoided.</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P3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P3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accurate, varied Arabic about travel and tourism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P3-L03, L05 and L07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a trip with kuntu qad + past and yaḥjiz / yuqīm.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recommend with idhā … sa- (or fa-lā budda min).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reflect with law … la- — and answer a law question with law.</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report a guide (qāla inna · ashāra ilā anna) and advise with yustaḥsan an.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 145–160-word travel article with eight Range markers.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P3-L12 · P3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P4-L01: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P4-L01 · The Natural World — Landscapes, Ecosystems and Biodiversity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نِظَامٌ بِيئِيٌّ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ecosystem</a:t>
            </a:r>
            <a:pPr indent="0" marL="0">
              <a:buNone/>
            </a:pPr>
            <a:r>
              <a:rPr lang="en-US" sz="1000" i="1" dirty="0">
                <a:solidFill>
                  <a:srgbClr val="5A6472"/>
                </a:solidFill>
                <a:latin typeface="Calibri" pitchFamily="34" charset="0"/>
                <a:ea typeface="Calibri" pitchFamily="34" charset="-122"/>
                <a:cs typeface="Calibri" pitchFamily="34" charset="-120"/>
              </a:rPr>
              <a:t>  pl. أَنْظِمَةٌ بِيئِيَّةٌ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تَنَوُّعٌ حَيَوِيٌّ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biodiversity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مَوْطِنٌ طَبِيعِيٌّ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natural habitat</a:t>
            </a:r>
            <a:pPr indent="0" marL="0">
              <a:buNone/>
            </a:pPr>
            <a:r>
              <a:rPr lang="en-US" sz="1000" i="1" dirty="0">
                <a:solidFill>
                  <a:srgbClr val="5A6472"/>
                </a:solidFill>
                <a:latin typeface="Calibri" pitchFamily="34" charset="0"/>
                <a:ea typeface="Calibri" pitchFamily="34" charset="-122"/>
                <a:cs typeface="Calibri" pitchFamily="34" charset="-120"/>
              </a:rPr>
              <a:t>  pl. مَوَاطِنُ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يُهَدِّدُ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threatens</a:t>
            </a:r>
            <a:pPr indent="0" marL="0">
              <a:buNone/>
            </a:pPr>
            <a:r>
              <a:rPr lang="en-US" sz="1000" i="1" dirty="0">
                <a:solidFill>
                  <a:srgbClr val="5A6472"/>
                </a:solidFill>
                <a:latin typeface="Calibri" pitchFamily="34" charset="0"/>
                <a:ea typeface="Calibri" pitchFamily="34" charset="-122"/>
                <a:cs typeface="Calibri" pitchFamily="34" charset="-120"/>
              </a:rPr>
              <a:t>  تُهَدِّدُ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لِكَيْ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 that, in order to</a:t>
            </a:r>
            <a:pPr indent="0" marL="0">
              <a:buNone/>
            </a:pPr>
            <a:r>
              <a:rPr lang="en-US" sz="1000" i="1" dirty="0">
                <a:solidFill>
                  <a:srgbClr val="5A6472"/>
                </a:solidFill>
                <a:latin typeface="Calibri" pitchFamily="34" charset="0"/>
                <a:ea typeface="Calibri" pitchFamily="34" charset="-122"/>
                <a:cs typeface="Calibri" pitchFamily="34" charset="-120"/>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natural place would you most like to protect,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أُرِيدُ أَنْ أَحْمِيَ ______ لِكَيْ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website P3-L12 section with your lowest score; learn the five P4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one paragraph of your assessed article (add a missing structure), then learn the five P4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about a natural place you know, using the five words and one li-kay + a verb in -a.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P3-L12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P4-L01 · The Natural World — Landscapes, Ecosystems and Biodiversity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العَالَمُ 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P3 complete — well done! Carry the P3 checklist into P4: kuntu qad · idhā … sa- · law … la- · qāla inna · an + a verb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P3-L12 · Review and Unit Assessment: Travel, Holidays and Transport</dc:title>
  <dc:subject>PptxGenJS Presentation</dc:subject>
  <dc:creator>Al Madina Online School · Arabic Department</dc:creator>
  <cp:lastModifiedBy>Al Madina Online School · Arabic Department</cp:lastModifiedBy>
  <cp:revision>1</cp:revision>
  <dcterms:created xsi:type="dcterms:W3CDTF">2026-10-10T15:39:57Z</dcterms:created>
  <dcterms:modified xsi:type="dcterms:W3CDTF">2026-10-10T15:39:57Z</dcterms:modified>
</cp:coreProperties>
</file>