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Map · 2–6 Grammar spine (not marked) · 6–7 Assessment map · 7–21 Listening (20) · 21–29 Reading (10) · 29–46 Writing (20) · 46–56 Speaking (10, one-to-one or trusted pairs) · 56–60 Profile and P4 target.
FLEX slides are optional. Use them if the class is moving quickly; otherwise the same activities are on the website for homework.
Content source: Miftah Arabic website, Pathways › Progression › P3 Travel, Holidays and Transport › P3-L12. The website P3-L12 is a four-skill, 60-mark unit assessment: a twelve-question grammar spine (revision, not counted), Part A listening (three texts — a trip to Jordan 8 · Sami and Layla on tourism: who said what 6 · a transport official on high-speed rail 6 = 20), Part B1 reading (an article on responsible tourism: 10), Part B2 writing (five-field travel form 5 + 145–160-word article 15, marked task / range / accuracy) and Part C speaking (role play: a travel-agency consultation 4 + topic conversation 6), then a P4 target.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Everyone sits the same 60 marks. Access arrangements: extra time, questions read aloud in English, one section on screen at a time; speaking one-to-one or in trusted pairs (it can move to the next lesson).
• If time is short: listening + reading in class; writing and speaking next lesson.
• Holidays are personal: the travel form, article and role play may describe an imagined trip. Never press anyone about family travel or money.
• Accuracy focus today (the website mark scheme): the la- of the Type 2 result (the primary criterion) · kāna / kānat agreement · qāla inna, other verbs anna — and in speaking, a law answer to the law question.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Website sections: grammar spine · Part A listening · Part B1 reading · Part B2 writing · Part C speaking · mark scheme · reflection.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 1 tests one of the words prepared at home at the end of P3-L11. Questions 2–5 are from the website twelve-question grammar spine (used diagnostically; the full spine is reviewed on the next slide).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This warm-up does NOT count. Use it to choose ONE thing to check in your writing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REVIEW (website twelve-question grammar spine, correct answers): إِذَا زُرْتَ الأُرْدُنَّ، سَتَنْبَهِرُ · لَوْ حَجَزْتُ مُبَكِّرًا، لَوَفَّرْتُ المَالَ · زُرْتُ · كُنْتُ قَدْ · سَأُقِيمُ · فِي · يَتَعَلَّمَ · قَالَ الدَّلِيلُ إِنَّ · إِلَى · تَسْتَقْطِبُ المَدِينَةُ السُّيَّاحَ · بَيْنَ · كَانَتْ قَدْ أَقَامَتْ. Close the vocabulary vault during each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ASSESSMENT MAP (website: sixty marks across listening, reading, writing and speaking).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TEXT 1 · QUESTIONS 1–4 (website Part A, 20 marks). Before listening: label each question C / R / P / O and write the signal (سَـ / لَـ · قَالَ · كَانَ قَدْ · أَرَى) — P3-L10. Question 1: two past perfects (كُنْتُ قَدْ). Question 2: whose view? The guide’s (قَالَ … إِنَّ). Question 4: the sa- result = a real plan. Each recording may be played twice; students answer after the second reading.
SCRIPT: يَقُولُ المُسَافِرُ: كُنْتُ قَدْ حَجَزْتُ رِحْلَتِي إِلَى الأُرْدُنِّ قَبْلَ شَهْرَيْنِ، وَكُنْتُ قَدْ أَقَمْتُ فِي فُنْدُقٍ صَغِيرٍ فِي عَمَّانَ. قَالَ الدَّلِيلُ إِنَّ أَفْضَلَ وَقْتٍ لِزِيَارَةِ البَتْرَاءِ هُوَ الصَّبَاحُ البَاكِرُ. اسْتَعْمَلْتُ الحَافِلَةَ السِّيَاحِيَّةَ الَّتِي تَصِلُ بَيْنَ المُدُنِ. إِذَا زُرْتُ الأُرْدُنَّ ثَانِيَةً، سَأُخَصِّصُ يَوْمَيْنِ لِلْبَتْرَاءِ. وَلَوْ كُنْتُ قَدْ بَقِيتُ لَيْلَةً إِضَافِيَّةً، لَرَأَيْتُ الخَزْنَةَ تَحْتَ ضَوْءِ الشُّمُوعِ. وَتَسْتَقْطِبُ البَتْرَاءُ نَحْوَ مِلْيُونِ زَائِرٍ سَنَوِيًّا. وَأَرَى أَنَّ السِّيَاحَةَ المُسْتَدَامَةَ ضَرُورَةٌ لِحِمَايَةِ هٰذَا التُّرَاثِ.
Private chat: 4 letters.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Mark /4. Reveal the script only after the attempt; ask which signal (the result marker sa- / la- · كَانَ قَدْ · a reporting verb · أَرَى أَنَّ · a speaker’s name) proved each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TEXT 1 · QUESTIONS 5–8 (website Part A, 20 marks). Before listening: label each question C / R / P / O and write the signal (سَـ / لَـ · قَالَ · كَانَ قَدْ · أَرَى) — P3-L10. Question 5: the la- result = a regret. Question 6 is a number: نَحْوَ مِلْيُونِ = about a million. Question 8 asks for the traveller’s OWN view (أَرَى أَنَّ). Each recording may be played twice; students answer after the second reading.
SCRIPT: يَقُولُ المُسَافِرُ: كُنْتُ قَدْ حَجَزْتُ رِحْلَتِي إِلَى الأُرْدُنِّ قَبْلَ شَهْرَيْنِ، وَكُنْتُ قَدْ أَقَمْتُ فِي فُنْدُقٍ صَغِيرٍ فِي عَمَّانَ. قَالَ الدَّلِيلُ إِنَّ أَفْضَلَ وَقْتٍ لِزِيَارَةِ البَتْرَاءِ هُوَ الصَّبَاحُ البَاكِرُ. اسْتَعْمَلْتُ الحَافِلَةَ السِّيَاحِيَّةَ الَّتِي تَصِلُ بَيْنَ المُدُنِ. إِذَا زُرْتُ الأُرْدُنَّ ثَانِيَةً، سَأُخَصِّصُ يَوْمَيْنِ لِلْبَتْرَاءِ. وَلَوْ كُنْتُ قَدْ بَقِيتُ لَيْلَةً إِضَافِيَّةً، لَرَأَيْتُ الخَزْنَةَ تَحْتَ ضَوْءِ الشُّمُوعِ. وَتَسْتَقْطِبُ البَتْرَاءُ نَحْوَ مِلْيُونِ زَائِرٍ سَنَوِيًّا. وَأَرَى أَنَّ السِّيَاحَةَ المُسْتَدَامَةَ ضَرُورَةٌ لِحِمَايَةِ هٰذَا التُّرَاثِ.
Private chat: 4 letters.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Mark /4. Reveal the script only after the attempt; ask which signal (the result marker sa- / la- · كَانَ قَدْ · a reporting verb · أَرَى أَنَّ · a speaker’s name) proved each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TEXT 2 · 6 QUESTIONS (website Part A, 20 marks). Before listening: label each question C / R / P / O and write the signal (سَـ / لَـ · قَالَ · كَانَ قَدْ · أَرَى) — P3-L10. Attribution: write S / L / both beside each question while listening — listen for the name before each line. Each recording may be played twice; students answer after the second reading.
SCRIPT: سَامِي: تُسْهِمُ السِّيَاحَةُ فِي الاقْتِصَادِ المَحَلِّيِّ وَتُوَفِّرُ فُرَصَ عَمَلٍ. لَيْلَى: أَتَّفِقُ، لٰكِنْ إِذَا لَمْ نُنَظِّمِ الزِّيَارَاتِ، سَيَتَدَهْوَرُ التُّرَاثُ. سَامِي: وَلَوِ اعْتَمَدَتِ الدُّوَلُ نِظَامَ الحِصَصِ مُبَكِّرًا، لَكَانَتِ المَوَاقِعُ أَفْضَلَ حَالًا. لَيْلَى: وَقَالَ خَبِيرٌ إِنَّ مَسْؤُولِيَّةَ السَّائِحِ لَا تَقِلُّ عَنْ سِيَاسَةِ الدَّوْلَةِ. سَامِي: وَيُسْتَحْسَنُ أَنْ يَحْتَرِمَ الزَّائِرُ العَادَاتِ المَحَلِّيَّةَ. لَيْلَى: وَأَنَا أَرَى أَنَّ التَّوْعِيَةَ هِيَ الحَلُّ.
Private chat: 6 letters.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Mark /6. Reveal the script only after the attempt; ask which signal (the result marker sa- / la- · كَانَ قَدْ · a reporting verb · أَرَى أَنَّ · a speaker’s name) proved each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TEXT 3 · 6 QUESTIONS (website Part A, 20 marks). Before listening: label each question C / R / P / O and write the signal (سَـ / لَـ · قَالَ · كَانَ قَدْ · أَرَى) — P3-L10. Listen for the reporting verbs (أَكَّدَ · أَشَارَ إِلَى · قَالَ إِنَّ · اعْتَرَفَ بِـ), كَانَتْ قَدْ and the two conditionals (sa- / la-). Each recording may be played twice; students answer after the second reading.
SCRIPT: يَقُولُ مَسْؤُولٌ فِي هَيْئَةِ النَّقْلِ: كَانَتِ الهَيْئَةُ قَدْ أَطْلَقَتْ مَشْرُوعَ الخَطِّ الحَدِيدِيِّ السَّرِيعِ قَبْلَ سَنَوَاتٍ. وَأَكَّدَ أَنَّ المَشْرُوعَ قَلَّصَ وَقْتَ السَّفَرِ بَيْنَ المُدُنِ الكُبْرَى. وَأَشَارَ إِلَى أَنَّ القِطَارَ يَصِلُ بَيْنَ العَاصِمَةِ وَالسَّاحِلِ فِي سَاعَتَيْنِ. وَقَالَ إِنَّهُ إِذَا اعْتَمَدْنَا عَلَى النَّقْلِ الكَهْرَبَائِيِّ، سَتَنْخَفِضُ الانْبِعَاثَاتُ. وَاعْتَرَفَ بِأَنَّ البُنْيَةَ التَّحْتِيَّةَ تَحْتَاجُ إِلَى مَزِيدٍ مِنَ الاسْتِثْمَارِ. وَلَوْ بَدَأَ المَشْرُوعُ مُبَكِّرًا، لَكَانَ الرَّبْطُ أَوْسَعَ اليَوْمَ.
Private chat: 6 letters.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Mark /6. Reveal the script only after the attempt; ask which signal (the result marker sa- / la- · كَانَ قَدْ · a reporting verb · أَرَى أَنَّ · a speaker’s name) proved each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READING TEXT (website Part B1). No English support on assessment texts. Strategy (P3-L08): box every إِذَا and لَوْ, underline the result marker, and ask: does the writer recommend (idhā) or criticise (law)? Website text corrected: وَكَانَ الكَاتِبُ قَدْ زَارَ (the website has an extra قَدْ before كَانَ).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(website Part B1: R1 main idea · R2 detail · R3 conditionals, attitude and structure · R4 result-marker gap-fill and purpose). Website skill labels for these questions: R1 · R2 · R2 · R3 · R3. Keep the text on the previous slide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/5. Ask one student to read the evidence phrase aloud (by invitation).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(website Part B1: R1 main idea · R2 detail · R3 conditionals, attitude and structure · R4 result-marker gap-fill and purpose). Website skill labels for these questions: R3 · R3 · R4 · R4 · R4. Keep the text on the previous slide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/5. Ask one student to read the evidence phrase aloud (by invitation).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WRITING QUESTION 1 (website, 5 marks): one mark per field completed accurately in Arabic (a phrase is enough). Field 1 must use يُقِيمُ فِي; field 2 يَحْجِزُ; field 3 كُنْتُ قَدْ + past; field 4 a Type 1 (إِذَا + past → سَـ); field 5 a Type 2 (لَوْ + past → لَـ). Students may describe an imagined trip.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WRITING QUESTION 2 (website, 15 marks): a 145–160-word travel article. Required: a past-perfect background, yaḥjiz / yuqīm, a Type 1 recommendation AND a Type 2 reflection (two separate Range marks), reported speech with a verb other than قَالَ, and a tourism verb. Mark scheme exactly as on the website (Accuracy: the لَـ of the Type 2 result 2 · كَانَ / كَانَتْ agreement 2 · إِنَّ / أَنَّ 1). The P3-L09 website model is a full-mark exemplar — show it ONLY after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ROLE PLAY (website, 4 marks). Teacher plays a travel agent: أَهْلًا وَسَهْلًا فِي وَكَالَتِنَا. كَيْفَ أُسَاعِدُكَ؟ Model answers: مَا الَّذِي تَتَمَيَّزُ بِهِ فَاسُ؟ (agent: تَتَمَيَّزُ بِأَزِقَّتِهَا وَتَسْتَقْطِبُ آلَافَ السُّيَّاحِ) · أُرِيدُ أَنْ أَحْجِزَ غُرْفَةً؛ أَيْنَ يُمْكِنُ أَنْ أُقِيمَ؟ · فِي رِحْلَتِي السَّابِقَةِ كُنْتُ قَدْ حَجَزْتُ فُنْدُقًا، لٰكِنِّي اكْتَشَفْتُ أَنَّ الحَجْزَ أُلْغِيَ … · إِذَا سَافَرْتُ فِي الرَّبِيعِ، مَاذَا تَنْصَحُنِي؟ Website mark scheme: Communication (2): all four prompts are addressed clearly and relevantly. Accuracy (2): yaḥjiz / yuqīm past forms in prompt 3 and the Type 1 recommendation are formed correctly. The destination is described with yastaqṭib or yatamayyaz bi-. To a girl: اسْأَلِي · صِفِي · وَاجَهْتِهَا · اطْلُبِي.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TOPIC CONVERSATION (website, 6 marks): structure · reason · extra (P3-L11). Website mark scheme: Communication (3): answers are developed with point, reason and example. Quality of language (3): the past perfect (Q1), a Type 1 conditional (Q2) and a Type 2 conditional (Q3) all appear and are accurate. Q3 opens with law; a student who answers with idhā is avoiding the conditional — record it and note the missed mark. Allow time-buying and repair phrases (سُؤَالٌ جَمِيلٌ · دَعْنِي أُفَكِّرُ · عَفْوًا، أَقْصِدُ). To a girl: صِفِي · كُنْتِ قَدْ تَوَقَّعْتِهِ · رَأْيُكِ · لَدَيْكِ · سَتَذْهَبِينَ. ORGANISATION: one-to-one while others finish writing, or trusted pairs with the teacher as examiner.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PROFILE (website: complete the four components to generate targeted guidance). The bands are a teacher guide in line with the P1 and P2 assessments. Return each student’s P3-L11 “priority error” note next to their score.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(P4-L01 · The Natural World — Landscapes, Ecosystems and Biodiversity) will spend class time USING this language, so students prepare it tonight — short, simple, easy to access (school guidance: “Simple, Short, Interesting, Relevant, Easy to access”). Progression P4 begins with the natural world (website P4-L01 “The Natural World — Landscapes, Ecosystems and Biodiversity”).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9  ·  PROGRESSION P3  ·  P3-L12</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P3-L12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Review and Unit Assessment: Travel, Holidays and Transport</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المُرَاجَعَةُ وَتَقْيِيمُ الوَحْدَةِ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Show what you can understand and produce about travel — kuntu qad for the background, idhā … sa- to recommend, law … la- to reflect, qāla inna for the guide, yustaḥsan an + a verb in -a — then choose one precise target for Progression P4.</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P3-L12 · Progression P3 · Travel, Holidays and Transport</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Progression · end of unit P3</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Progression › P3 › P3-L12</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P3-L12 · P3 Assessment</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28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P3-L12 · P3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assessment,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P3-L12</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Grammar spine (not marked).</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تَهْيِئَةٌ</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The P3 checklist and the 60-mark map.</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خُطَّةُ التَّقْيِيمِ</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Listening: three texts, 20 marks.</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الاسْتِمَاعُ</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Reading: 10 marks.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القِرَاءَةُ</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27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Writing 20 + speaking 10.</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الكِتَابَةُ وَالتَّحَدُّثُ</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My profile and one P4 target.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الهَدَفُ</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for P4: the natural world.</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Start each section with the questions you find easiest. Leave a blank and come back. The grammar spine does not count.</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28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P3-L12 · P3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وَكِيلُ سَفَرٍ</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travel insurance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travel agent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travel guidebook</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Type 1 conditional.</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إِذَا زُرْتَ الأُرْدُنَّ، سَتَنْبَهِرُ.</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إِذَا زُرْتَ الأُرْدُنَّ، تَنْبَهِرُ.</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إِذَا تَزُورُ الأُرْدُنَّ، سَتَنْبَهِرُ.</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the past perfect: ___ </a:t>
            </a:r>
            <a:pPr algn="l" indent="0" marL="0">
              <a:buNone/>
            </a:pPr>
            <a:r>
              <a:rPr lang="ar-SA" altLang="en-US" sz="1650" b="1" dirty="0">
                <a:solidFill>
                  <a:srgbClr val="1B3B6F"/>
                </a:solidFill>
                <a:latin typeface="Amiri" pitchFamily="2" charset="-78"/>
                <a:ea typeface="Amiri" pitchFamily="2" charset="-78"/>
                <a:cs typeface="Amiri" pitchFamily="2" charset="-78"/>
              </a:rPr>
              <a:t>حَجَزْتُ الفُنْدُقَ قَبْلَ السَّفَرِ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سَـ</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إِذَا</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كُنْتُ قَدْ</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the subjunctive: </a:t>
            </a:r>
            <a:pPr algn="l" indent="0" marL="0">
              <a:buNone/>
            </a:pPr>
            <a:r>
              <a:rPr lang="ar-SA" altLang="en-US" sz="1650" b="1" dirty="0">
                <a:solidFill>
                  <a:srgbClr val="1B3B6F"/>
                </a:solidFill>
                <a:latin typeface="Amiri" pitchFamily="2" charset="-78"/>
                <a:ea typeface="Amiri" pitchFamily="2" charset="-78"/>
                <a:cs typeface="Amiri" pitchFamily="2" charset="-78"/>
              </a:rPr>
              <a:t>يُسْتَحْسَنُ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الزَّائِرُ التَّحِيَّةَ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يَتَعَلَّمُ</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تَعَلَّمَ</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يَتَعَلَّمَ</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with </a:t>
            </a:r>
            <a:pPr algn="l" indent="0" marL="0">
              <a:buNone/>
            </a:pPr>
            <a:r>
              <a:rPr lang="ar-SA" altLang="en-US" sz="1650" b="1" dirty="0">
                <a:solidFill>
                  <a:srgbClr val="1B3B6F"/>
                </a:solidFill>
                <a:latin typeface="Amiri" pitchFamily="2" charset="-78"/>
                <a:ea typeface="Amiri" pitchFamily="2" charset="-78"/>
                <a:cs typeface="Amiri" pitchFamily="2" charset="-78"/>
              </a:rPr>
              <a:t>يَسْتَقْطِبُ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تَسْتَقْطِبُ المَدِينَةُ السُّيَّاحَ.</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تَسْتَقْطِبُ المَدِينَةُ بِالسُّيَّاحِ.</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تَقْطِبُ المَدِينَةُ السُّيَّاحَ.</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28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P3-L12 · P3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وَكِيلُ سَفَرٍ</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travel insurance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travel agent</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travel guidebook</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(P3-L11).</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Type 1 conditional.</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إِذَا زُرْتَ الأُرْدُنَّ، سَتَنْبَهِرُ.</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إِذَا زُرْتَ الأُرْدُنَّ، تَنْبَهِرُ.</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إِذَا تَزُورُ الأُرْدُنَّ، سَتَنْبَهِرُ.</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Website grammar spine 1.</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the past perfect: ___ </a:t>
            </a:r>
            <a:pPr algn="l" indent="0" marL="0">
              <a:buNone/>
            </a:pPr>
            <a:r>
              <a:rPr lang="ar-SA" altLang="en-US" sz="1650" b="1" dirty="0">
                <a:solidFill>
                  <a:srgbClr val="1B3B6F"/>
                </a:solidFill>
                <a:latin typeface="Amiri" pitchFamily="2" charset="-78"/>
                <a:ea typeface="Amiri" pitchFamily="2" charset="-78"/>
                <a:cs typeface="Amiri" pitchFamily="2" charset="-78"/>
              </a:rPr>
              <a:t>حَجَزْتُ الفُنْدُقَ قَبْلَ السَّفَرِ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سَـ</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إِذَا</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كُنْتُ قَدْ</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Website grammar spine 4.</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the subjunctive: </a:t>
            </a:r>
            <a:pPr algn="l" indent="0" marL="0">
              <a:buNone/>
            </a:pPr>
            <a:r>
              <a:rPr lang="ar-SA" altLang="en-US" sz="1650" b="1" dirty="0">
                <a:solidFill>
                  <a:srgbClr val="1B3B6F"/>
                </a:solidFill>
                <a:latin typeface="Amiri" pitchFamily="2" charset="-78"/>
                <a:ea typeface="Amiri" pitchFamily="2" charset="-78"/>
                <a:cs typeface="Amiri" pitchFamily="2" charset="-78"/>
              </a:rPr>
              <a:t>يُسْتَحْسَنُ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الزَّائِرُ التَّحِيَّةَ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يَتَعَلَّمُ</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تَعَلَّمَ</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يَتَعَلَّمَ</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Website grammar spine 7.</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with </a:t>
            </a:r>
            <a:pPr algn="l" indent="0" marL="0">
              <a:buNone/>
            </a:pPr>
            <a:r>
              <a:rPr lang="ar-SA" altLang="en-US" sz="1650" b="1" dirty="0">
                <a:solidFill>
                  <a:srgbClr val="1B3B6F"/>
                </a:solidFill>
                <a:latin typeface="Amiri" pitchFamily="2" charset="-78"/>
                <a:ea typeface="Amiri" pitchFamily="2" charset="-78"/>
                <a:cs typeface="Amiri" pitchFamily="2" charset="-78"/>
              </a:rPr>
              <a:t>يَسْتَقْطِبُ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تَسْتَقْطِبُ المَدِينَةُ السُّيَّاحَ.</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تَسْتَقْطِبُ المَدِينَةُ بِالسُّيَّاحِ.</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تَقْطِبُ المَدِينَةُ السُّيَّاحَ.</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Website grammar spine 10.</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This warm-up does NOT count. Use it to choose ONE thing to check in your writing today.</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كُنْتُ قَدْ … · إِذَا … سَـ · لَوْ … لَـ · أَنْ يَتَعَلَّمَ</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28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P3-L12 · P3 Assessment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REVIEW · THE P3 GRAMMAR SPINE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P3 accuracy checklist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مُرَاجَعَةُ القَوَاعِدِ</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08592" y="1810512"/>
            <a:ext cx="23500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Lesson</a:t>
            </a:r>
            <a:endParaRPr lang="en-US" sz="1100" dirty="0"/>
          </a:p>
        </p:txBody>
      </p:sp>
      <p:sp>
        <p:nvSpPr>
          <p:cNvPr id="17" name="Text 14"/>
          <p:cNvSpPr txBox="1"/>
          <p:nvPr/>
        </p:nvSpPr>
        <p:spPr>
          <a:xfrm>
            <a:off x="32735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a:t>
            </a:r>
            <a:endParaRPr lang="en-US" sz="1100" dirty="0"/>
          </a:p>
        </p:txBody>
      </p:sp>
      <p:sp>
        <p:nvSpPr>
          <p:cNvPr id="18" name="Text 15"/>
          <p:cNvSpPr txBox="1"/>
          <p:nvPr/>
        </p:nvSpPr>
        <p:spPr>
          <a:xfrm>
            <a:off x="5303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Check</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9345168" y="2267712"/>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P3-L05</a:t>
            </a:r>
            <a:endParaRPr lang="en-US" sz="1100" dirty="0"/>
          </a:p>
        </p:txBody>
      </p:sp>
      <p:sp>
        <p:nvSpPr>
          <p:cNvPr id="21" name="Text 18"/>
          <p:cNvSpPr txBox="1"/>
          <p:nvPr/>
        </p:nvSpPr>
        <p:spPr>
          <a:xfrm>
            <a:off x="3291840" y="2267712"/>
            <a:ext cx="58521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إِذَا زُرْتَ الأُرْدُنَّ، سَتَنْبَهِرُ · لَوْ حَجَزْتُ مُبَكِّرًا، لَوَفَّرْتُ</a:t>
            </a:r>
            <a:endParaRPr lang="ar-SA" sz="2000" dirty="0"/>
          </a:p>
        </p:txBody>
      </p:sp>
      <p:sp>
        <p:nvSpPr>
          <p:cNvPr id="22" name="Text 19"/>
          <p:cNvSpPr txBox="1"/>
          <p:nvPr/>
        </p:nvSpPr>
        <p:spPr>
          <a:xfrm>
            <a:off x="566928" y="2267712"/>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Type 1 · Type 2</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9345168" y="3004718"/>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P3-L02 · L03</a:t>
            </a:r>
            <a:endParaRPr lang="en-US" sz="1100" dirty="0"/>
          </a:p>
        </p:txBody>
      </p:sp>
      <p:sp>
        <p:nvSpPr>
          <p:cNvPr id="27" name="Text 24"/>
          <p:cNvSpPr txBox="1"/>
          <p:nvPr/>
        </p:nvSpPr>
        <p:spPr>
          <a:xfrm>
            <a:off x="3291840" y="3004718"/>
            <a:ext cx="58521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كُنْتُ قَدْ حَجَزْتُ · كَانَتْ قَدْ أَقَامَتْ</a:t>
            </a:r>
            <a:endParaRPr lang="ar-SA" sz="2000" dirty="0"/>
          </a:p>
        </p:txBody>
      </p:sp>
      <p:sp>
        <p:nvSpPr>
          <p:cNvPr id="28" name="Text 25"/>
          <p:cNvSpPr txBox="1"/>
          <p:nvPr/>
        </p:nvSpPr>
        <p:spPr>
          <a:xfrm>
            <a:off x="566928" y="3004718"/>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past perfect</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9345168" y="3741725"/>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P3-L06</a:t>
            </a:r>
            <a:endParaRPr lang="en-US" sz="1100" dirty="0"/>
          </a:p>
        </p:txBody>
      </p:sp>
      <p:sp>
        <p:nvSpPr>
          <p:cNvPr id="33" name="Text 30"/>
          <p:cNvSpPr txBox="1"/>
          <p:nvPr/>
        </p:nvSpPr>
        <p:spPr>
          <a:xfrm>
            <a:off x="3291840" y="3741725"/>
            <a:ext cx="58521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قَالَ الدَّلِيلُ إِنَّ … · أَشَارَ إِلَى أَنَّ …</a:t>
            </a:r>
            <a:endParaRPr lang="ar-SA" sz="2000" dirty="0"/>
          </a:p>
        </p:txBody>
      </p:sp>
      <p:sp>
        <p:nvSpPr>
          <p:cNvPr id="34" name="Text 31"/>
          <p:cNvSpPr txBox="1"/>
          <p:nvPr/>
        </p:nvSpPr>
        <p:spPr>
          <a:xfrm>
            <a:off x="566928" y="3741725"/>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reported speech</a:t>
            </a:r>
            <a:endParaRPr lang="en-US" sz="1100" dirty="0"/>
          </a:p>
        </p:txBody>
      </p:sp>
      <p:sp>
        <p:nvSpPr>
          <p:cNvPr id="35" name="Shape 32"/>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8" name="Text 35"/>
          <p:cNvSpPr txBox="1"/>
          <p:nvPr/>
        </p:nvSpPr>
        <p:spPr>
          <a:xfrm>
            <a:off x="9345168" y="4478731"/>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P3-L07</a:t>
            </a:r>
            <a:endParaRPr lang="en-US" sz="1100" dirty="0"/>
          </a:p>
        </p:txBody>
      </p:sp>
      <p:sp>
        <p:nvSpPr>
          <p:cNvPr id="39" name="Text 36"/>
          <p:cNvSpPr txBox="1"/>
          <p:nvPr/>
        </p:nvSpPr>
        <p:spPr>
          <a:xfrm>
            <a:off x="3291840" y="4478731"/>
            <a:ext cx="58521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يُسْتَحْسَنُ أَنْ يَتَعَلَّمَ الزَّائِرُ التَّحِيَّةَ</a:t>
            </a:r>
            <a:endParaRPr lang="ar-SA" sz="2000" dirty="0"/>
          </a:p>
        </p:txBody>
      </p:sp>
      <p:sp>
        <p:nvSpPr>
          <p:cNvPr id="40" name="Text 37"/>
          <p:cNvSpPr txBox="1"/>
          <p:nvPr/>
        </p:nvSpPr>
        <p:spPr>
          <a:xfrm>
            <a:off x="566928" y="4478731"/>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 + verb in -a</a:t>
            </a:r>
            <a:endParaRPr lang="en-US" sz="1100" dirty="0"/>
          </a:p>
        </p:txBody>
      </p:sp>
      <p:sp>
        <p:nvSpPr>
          <p:cNvPr id="41" name="Shape 38"/>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2" name="Text 39"/>
          <p:cNvSpPr txBox="1"/>
          <p:nvPr/>
        </p:nvSpPr>
        <p:spPr>
          <a:xfrm>
            <a:off x="9345168" y="5215738"/>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P3-L01 · L02 · L04</a:t>
            </a:r>
            <a:endParaRPr lang="en-US" sz="1100" dirty="0"/>
          </a:p>
        </p:txBody>
      </p:sp>
      <p:sp>
        <p:nvSpPr>
          <p:cNvPr id="43" name="Text 40"/>
          <p:cNvSpPr txBox="1"/>
          <p:nvPr/>
        </p:nvSpPr>
        <p:spPr>
          <a:xfrm>
            <a:off x="3291840" y="5215738"/>
            <a:ext cx="58521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سَأُقِيمُ فِي … · تَسْتَقْطِبُ المَدِينَةُ السُّيَّاحَ · يَصِلُ بَيْنَ</a:t>
            </a:r>
            <a:endParaRPr lang="ar-SA" sz="2000" dirty="0"/>
          </a:p>
        </p:txBody>
      </p:sp>
      <p:sp>
        <p:nvSpPr>
          <p:cNvPr id="44" name="Text 41"/>
          <p:cNvSpPr txBox="1"/>
          <p:nvPr/>
        </p:nvSpPr>
        <p:spPr>
          <a:xfrm>
            <a:off x="566928" y="5215738"/>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travel verbs</a:t>
            </a:r>
            <a:endParaRPr lang="en-US" sz="1100" dirty="0"/>
          </a:p>
        </p:txBody>
      </p:sp>
      <p:sp>
        <p:nvSpPr>
          <p:cNvPr id="45" name="Text 4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And one habit for every part today: name the structure the question needs before you answer.</a:t>
            </a:r>
            <a:endParaRPr lang="en-US" sz="11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28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P3-L12 · P3 Assessment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ASSESSMENT MAP (WEBSITE) · 60 MARKS IN TOTAL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Four skills, sixty marks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خُطَّةُ التَّقْيِيمِ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9419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Section</a:t>
            </a:r>
            <a:endParaRPr lang="en-US" sz="1100" dirty="0"/>
          </a:p>
        </p:txBody>
      </p:sp>
      <p:sp>
        <p:nvSpPr>
          <p:cNvPr id="17" name="Text 14"/>
          <p:cNvSpPr txBox="1"/>
          <p:nvPr/>
        </p:nvSpPr>
        <p:spPr>
          <a:xfrm>
            <a:off x="1810512" y="1810512"/>
            <a:ext cx="6437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you do</a:t>
            </a:r>
            <a:endParaRPr lang="en-US" sz="1100" dirty="0"/>
          </a:p>
        </p:txBody>
      </p:sp>
      <p:sp>
        <p:nvSpPr>
          <p:cNvPr id="18" name="Text 15"/>
          <p:cNvSpPr txBox="1"/>
          <p:nvPr/>
        </p:nvSpPr>
        <p:spPr>
          <a:xfrm>
            <a:off x="530352"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Marks</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430768" y="2267712"/>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 Listening</a:t>
            </a:r>
            <a:endParaRPr lang="en-US" sz="1100" dirty="0"/>
          </a:p>
        </p:txBody>
      </p:sp>
      <p:sp>
        <p:nvSpPr>
          <p:cNvPr id="21" name="Text 18"/>
          <p:cNvSpPr txBox="1"/>
          <p:nvPr/>
        </p:nvSpPr>
        <p:spPr>
          <a:xfrm>
            <a:off x="1847088" y="2267712"/>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Three texts (each heard twice): a trip to Jordan (8) · Sami and Layla on tourism (6) · a transport official on high-speed rail (6)</a:t>
            </a:r>
            <a:endParaRPr lang="en-US" sz="1100" dirty="0"/>
          </a:p>
        </p:txBody>
      </p:sp>
      <p:sp>
        <p:nvSpPr>
          <p:cNvPr id="22" name="Text 19"/>
          <p:cNvSpPr txBox="1"/>
          <p:nvPr/>
        </p:nvSpPr>
        <p:spPr>
          <a:xfrm>
            <a:off x="566928" y="2267712"/>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20</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430768" y="3054096"/>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B1 · Reading</a:t>
            </a:r>
            <a:endParaRPr lang="en-US" sz="1100" dirty="0"/>
          </a:p>
        </p:txBody>
      </p:sp>
      <p:sp>
        <p:nvSpPr>
          <p:cNvPr id="27" name="Text 24"/>
          <p:cNvSpPr txBox="1"/>
          <p:nvPr/>
        </p:nvSpPr>
        <p:spPr>
          <a:xfrm>
            <a:off x="1847088" y="3054096"/>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 article on responsible tourism: main idea, detail, conditionals and attitude, result-marker gap-fills, purpose</a:t>
            </a:r>
            <a:endParaRPr lang="en-US" sz="1100" dirty="0"/>
          </a:p>
        </p:txBody>
      </p:sp>
      <p:sp>
        <p:nvSpPr>
          <p:cNvPr id="28" name="Text 25"/>
          <p:cNvSpPr txBox="1"/>
          <p:nvPr/>
        </p:nvSpPr>
        <p:spPr>
          <a:xfrm>
            <a:off x="566928" y="3054096"/>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10</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430768" y="3840480"/>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B2 · Writing</a:t>
            </a:r>
            <a:endParaRPr lang="en-US" sz="1100" dirty="0"/>
          </a:p>
        </p:txBody>
      </p:sp>
      <p:sp>
        <p:nvSpPr>
          <p:cNvPr id="33" name="Text 30"/>
          <p:cNvSpPr txBox="1"/>
          <p:nvPr/>
        </p:nvSpPr>
        <p:spPr>
          <a:xfrm>
            <a:off x="1847088" y="3840480"/>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five-field travel form (5) + a 145–160-word travel article (15)</a:t>
            </a:r>
            <a:endParaRPr lang="en-US" sz="1100" dirty="0"/>
          </a:p>
        </p:txBody>
      </p:sp>
      <p:sp>
        <p:nvSpPr>
          <p:cNvPr id="34" name="Text 31"/>
          <p:cNvSpPr txBox="1"/>
          <p:nvPr/>
        </p:nvSpPr>
        <p:spPr>
          <a:xfrm>
            <a:off x="566928" y="3840480"/>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20</a:t>
            </a:r>
            <a:endParaRPr lang="en-US" sz="1100" dirty="0"/>
          </a:p>
        </p:txBody>
      </p:sp>
      <p:sp>
        <p:nvSpPr>
          <p:cNvPr id="35" name="Shape 32"/>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8430768" y="4626864"/>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 · Speaking</a:t>
            </a:r>
            <a:endParaRPr lang="en-US" sz="1100" dirty="0"/>
          </a:p>
        </p:txBody>
      </p:sp>
      <p:sp>
        <p:nvSpPr>
          <p:cNvPr id="39" name="Text 36"/>
          <p:cNvSpPr txBox="1"/>
          <p:nvPr/>
        </p:nvSpPr>
        <p:spPr>
          <a:xfrm>
            <a:off x="1847088" y="4626864"/>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role play: a travel-agency consultation (4) + a topic conversation (6)</a:t>
            </a:r>
            <a:endParaRPr lang="en-US" sz="1100" dirty="0"/>
          </a:p>
        </p:txBody>
      </p:sp>
      <p:sp>
        <p:nvSpPr>
          <p:cNvPr id="40" name="Text 37"/>
          <p:cNvSpPr txBox="1"/>
          <p:nvPr/>
        </p:nvSpPr>
        <p:spPr>
          <a:xfrm>
            <a:off x="566928" y="4626864"/>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10</a:t>
            </a:r>
            <a:endParaRPr lang="en-US" sz="1100" dirty="0"/>
          </a:p>
        </p:txBody>
      </p:sp>
      <p:sp>
        <p:nvSpPr>
          <p:cNvPr id="41" name="Shape 38"/>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28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P3-L12 · P3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TEXT 1 · QUESTIONS 1–4 · 1 MARK EACH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trip to Jordan (1)</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had the traveller done before the trip?</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Nothing</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Cancelled the trip</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Booked the trip and stayed in a small hotel in Amman</a:t>
            </a:r>
            <a:endParaRPr lang="en-US" sz="12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guide say about visiting Petra?</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Night is the only time</a:t>
            </a:r>
            <a:endParaRPr lang="en-US" sz="12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Early morning is the best time</a:t>
            </a:r>
            <a:endParaRPr lang="en-US" sz="12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always closed</a:t>
            </a:r>
            <a:endParaRPr lang="en-US" sz="12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transport did they use?</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private car only</a:t>
            </a:r>
            <a:endParaRPr lang="en-US" sz="12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tourist coach between cities</a:t>
            </a:r>
            <a:endParaRPr lang="en-US" sz="12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cruise ship</a:t>
            </a:r>
            <a:endParaRPr lang="en-US" sz="12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Type 1 plan for next time?</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Skip Petra</a:t>
            </a:r>
            <a:endParaRPr lang="en-US" sz="12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Never return</a:t>
            </a:r>
            <a:endParaRPr lang="en-US" sz="12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Devote two days to Petra</a:t>
            </a:r>
            <a:endParaRPr lang="en-US" sz="12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28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P3-L12 · P3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TEXT 1 · QUESTIONS 1–4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trip to Jordan (1):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had the traveller done before the trip?</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Nothing</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Cancelled the trip</a:t>
            </a:r>
            <a:endParaRPr lang="en-US" sz="125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Booked the trip and stayed in a small hotel in Amman</a:t>
            </a:r>
            <a:endParaRPr lang="en-US" sz="125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كُنْتُ قَدْ حَجَزْتُ رِحْلَتِي … وَكُنْتُ قَدْ أَقَمْتُ فِي فُنْدُقٍ صَغِيرٍ.</a:t>
            </a:r>
            <a:endParaRPr lang="ar-SA" sz="13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guide say about visiting Petra?</a:t>
            </a:r>
            <a:endParaRPr lang="en-US" sz="1250" dirty="0"/>
          </a:p>
        </p:txBody>
      </p:sp>
      <p:sp>
        <p:nvSpPr>
          <p:cNvPr id="34" name="Shape 31"/>
          <p:cNvSpPr/>
          <p:nvPr/>
        </p:nvSpPr>
        <p:spPr>
          <a:xfrm>
            <a:off x="6368796"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Night is the only time</a:t>
            </a:r>
            <a:endParaRPr lang="en-US" sz="1250" dirty="0"/>
          </a:p>
        </p:txBody>
      </p:sp>
      <p:sp>
        <p:nvSpPr>
          <p:cNvPr id="37" name="Shape 34"/>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6368796"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Early morning is the best time</a:t>
            </a:r>
            <a:endParaRPr lang="en-US" sz="125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always closed</a:t>
            </a:r>
            <a:endParaRPr lang="en-US" sz="125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قَالَ الدَّلِيلُ إِنَّ أَفْضَلَ وَقْتٍ … هُوَ الصَّبَاحُ البَاكِرُ.</a:t>
            </a:r>
            <a:endParaRPr lang="ar-SA" sz="13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transport did they use?</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private car only</a:t>
            </a:r>
            <a:endParaRPr lang="en-US" sz="125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tourist coach between cities</a:t>
            </a:r>
            <a:endParaRPr lang="en-US" sz="125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cruise ship</a:t>
            </a:r>
            <a:endParaRPr lang="en-US" sz="125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اسْتَعْمَلْتُ الحَافِلَةَ السِّيَاحِيَّةَ الَّتِي تَصِلُ بَيْنَ المُدُنِ.</a:t>
            </a:r>
            <a:endParaRPr lang="ar-SA" sz="13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Type 1 plan for next time?</a:t>
            </a:r>
            <a:endParaRPr lang="en-US" sz="1250" dirty="0"/>
          </a:p>
        </p:txBody>
      </p:sp>
      <p:sp>
        <p:nvSpPr>
          <p:cNvPr id="64" name="Shape 61"/>
          <p:cNvSpPr/>
          <p:nvPr/>
        </p:nvSpPr>
        <p:spPr>
          <a:xfrm>
            <a:off x="6368796"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Skip Petra</a:t>
            </a:r>
            <a:endParaRPr lang="en-US" sz="1250" dirty="0"/>
          </a:p>
        </p:txBody>
      </p:sp>
      <p:sp>
        <p:nvSpPr>
          <p:cNvPr id="67" name="Shape 64"/>
          <p:cNvSpPr/>
          <p:nvPr/>
        </p:nvSpPr>
        <p:spPr>
          <a:xfrm>
            <a:off x="6368796"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Never return</a:t>
            </a:r>
            <a:endParaRPr lang="en-US" sz="1250" dirty="0"/>
          </a:p>
        </p:txBody>
      </p:sp>
      <p:sp>
        <p:nvSpPr>
          <p:cNvPr id="70" name="Shape 67"/>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368796"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Devote two days to Petra</a:t>
            </a:r>
            <a:endParaRPr lang="en-US" sz="125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إِذَا زُرْتُ الأُرْدُنَّ ثَانِيَةً، سَأُخَصِّصُ يَوْمَيْنِ لِلْبَتْرَاءِ.</a:t>
            </a:r>
            <a:endParaRPr lang="ar-SA" sz="13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28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P3-L12 · P3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TEXT 1 · QUESTIONS 5–8 · 1 MARK EACH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trip to Jordan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Type 2 regret?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Staying makes no difference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Had they stayed an extra night, they would have seen the Treasury by candlelight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refused to stay</a:t>
            </a:r>
            <a:endParaRPr lang="en-US" sz="12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visitors does Petra attract yearly?</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About a thousand</a:t>
            </a:r>
            <a:endParaRPr lang="en-US" sz="12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About a million</a:t>
            </a:r>
            <a:endParaRPr lang="en-US" sz="12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About a hundred</a:t>
            </a:r>
            <a:endParaRPr lang="en-US" sz="12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had the traveller stayed?</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a luxury resort</a:t>
            </a:r>
            <a:endParaRPr lang="en-US" sz="12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With relatives</a:t>
            </a:r>
            <a:endParaRPr lang="en-US" sz="12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a small hotel in Amman</a:t>
            </a:r>
            <a:endParaRPr lang="en-US" sz="12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traveller's own view on sustainable tourism?</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necessary to protect this heritage</a:t>
            </a:r>
            <a:endParaRPr lang="en-US" sz="12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unimportant</a:t>
            </a:r>
            <a:endParaRPr lang="en-US" sz="12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harms heritage</a:t>
            </a:r>
            <a:endParaRPr lang="en-US" sz="12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28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P3-L12 · P3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TEXT 1 · QUESTIONS 5–8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trip to Jordan (2):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Type 2 regret?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Staying makes no difference</a:t>
            </a:r>
            <a:endParaRPr lang="en-US" sz="1250" dirty="0"/>
          </a:p>
        </p:txBody>
      </p:sp>
      <p:sp>
        <p:nvSpPr>
          <p:cNvPr id="22" name="Shape 19"/>
          <p:cNvSpPr/>
          <p:nvPr/>
        </p:nvSpPr>
        <p:spPr>
          <a:xfrm>
            <a:off x="548640" y="2825496"/>
            <a:ext cx="5362956"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Had they stayed an extra night, they would have seen the Treasury by candlelight</a:t>
            </a:r>
            <a:endParaRPr lang="en-US" sz="11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refused to stay</a:t>
            </a:r>
            <a:endParaRPr lang="en-US" sz="125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لَوْ كُنْتُ قَدْ بَقِيتُ لَيْلَةً إِضَافِيَّةً، لَرَأَيْتُ الخَزْنَةَ تَحْتَ ضَوْءِ الشُّمُوعِ.</a:t>
            </a:r>
            <a:endParaRPr lang="ar-SA" sz="13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visitors does Petra attract yearly?</a:t>
            </a:r>
            <a:endParaRPr lang="en-US" sz="1250" dirty="0"/>
          </a:p>
        </p:txBody>
      </p:sp>
      <p:sp>
        <p:nvSpPr>
          <p:cNvPr id="34" name="Shape 31"/>
          <p:cNvSpPr/>
          <p:nvPr/>
        </p:nvSpPr>
        <p:spPr>
          <a:xfrm>
            <a:off x="6368796"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About a thousand</a:t>
            </a:r>
            <a:endParaRPr lang="en-US" sz="1250" dirty="0"/>
          </a:p>
        </p:txBody>
      </p:sp>
      <p:sp>
        <p:nvSpPr>
          <p:cNvPr id="37" name="Shape 34"/>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6368796"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About a million</a:t>
            </a:r>
            <a:endParaRPr lang="en-US" sz="125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About a hundred</a:t>
            </a:r>
            <a:endParaRPr lang="en-US" sz="125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تَسْتَقْطِبُ البَتْرَاءُ نَحْوَ مِلْيُونِ زَائِرٍ سَنَوِيًّا.</a:t>
            </a:r>
            <a:endParaRPr lang="ar-SA" sz="13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had the traveller stayed?</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 a luxury resort</a:t>
            </a:r>
            <a:endParaRPr lang="en-US" sz="1250" dirty="0"/>
          </a:p>
        </p:txBody>
      </p:sp>
      <p:sp>
        <p:nvSpPr>
          <p:cNvPr id="52" name="Shape 49"/>
          <p:cNvSpPr/>
          <p:nvPr/>
        </p:nvSpPr>
        <p:spPr>
          <a:xfrm>
            <a:off x="640080" y="5202936"/>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With relatives</a:t>
            </a:r>
            <a:endParaRPr lang="en-US" sz="1250" dirty="0"/>
          </a:p>
        </p:txBody>
      </p:sp>
      <p:sp>
        <p:nvSpPr>
          <p:cNvPr id="55" name="Shape 52"/>
          <p:cNvSpPr/>
          <p:nvPr/>
        </p:nvSpPr>
        <p:spPr>
          <a:xfrm>
            <a:off x="548640" y="5538216"/>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574792"/>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In a small hotel in Amman</a:t>
            </a:r>
            <a:endParaRPr lang="en-US" sz="125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كُنْتُ قَدْ أَقَمْتُ فِي فُنْدُقٍ صَغِيرٍ فِي عَمَّانَ.</a:t>
            </a:r>
            <a:endParaRPr lang="ar-SA" sz="13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traveller's own view on sustainable tourism?</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 is necessary to protect this heritage</a:t>
            </a:r>
            <a:endParaRPr lang="en-US" sz="125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unimportant</a:t>
            </a:r>
            <a:endParaRPr lang="en-US" sz="125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harms heritage</a:t>
            </a:r>
            <a:endParaRPr lang="en-US" sz="125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أَرَى أَنَّ السِّيَاحَةَ المُسْتَدَامَةَ ضَرُورَةٌ لِحِمَايَةِ هٰذَا التُّرَاثِ.</a:t>
            </a:r>
            <a:endParaRPr lang="ar-SA" sz="13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28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P3-L12 · P3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TEXT 2 · 6 QUESTIONS · 1 MARK EACH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Sami and Layla: who said what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says tourism contributes to the local economy?</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Layla</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Sami</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Both</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states the Type 1 concern about unregulated visits?</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Sami</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Both</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Layla</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makes the Type 2 counterfactual about quotas?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Sami</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Layla</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Both</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cites an expert on tourist responsibility?</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Sami</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Layla</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Both</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gives the </a:t>
            </a:r>
            <a:pPr algn="l" indent="0" marL="0">
              <a:buNone/>
            </a:pPr>
            <a:r>
              <a:rPr lang="ar-SA" altLang="en-US" sz="1650" b="1" dirty="0">
                <a:solidFill>
                  <a:srgbClr val="1B3B6F"/>
                </a:solidFill>
                <a:latin typeface="Amiri" pitchFamily="2" charset="-78"/>
                <a:ea typeface="Amiri" pitchFamily="2" charset="-78"/>
                <a:cs typeface="Amiri" pitchFamily="2" charset="-78"/>
              </a:rPr>
              <a:t>يُسْتَحْسَنُ أَنْ</a:t>
            </a:r>
            <a:pPr algn="l" indent="0" marL="0">
              <a:buNone/>
            </a:pPr>
            <a:r>
              <a:rPr lang="en-US" sz="1250" b="1" dirty="0">
                <a:solidFill>
                  <a:srgbClr val="1B3B6F"/>
                </a:solidFill>
                <a:latin typeface="Calibri" pitchFamily="34" charset="0"/>
                <a:cs typeface="Amiri" pitchFamily="2" charset="-78"/>
              </a:rPr>
              <a:t> advice?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Sami</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Layla</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Both</a:t>
            </a:r>
            <a:endParaRPr lang="en-US" sz="1250" dirty="0"/>
          </a:p>
        </p:txBody>
      </p:sp>
      <p:sp>
        <p:nvSpPr>
          <p:cNvPr id="80" name="Shape 77"/>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22350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3" name="Text 80"/>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says awareness is the solution?</a:t>
            </a:r>
            <a:endParaRPr lang="en-US" sz="1250" dirty="0"/>
          </a:p>
        </p:txBody>
      </p:sp>
      <p:sp>
        <p:nvSpPr>
          <p:cNvPr id="84" name="Shape 81"/>
          <p:cNvSpPr/>
          <p:nvPr/>
        </p:nvSpPr>
        <p:spPr>
          <a:xfrm>
            <a:off x="827836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6" name="Text 83"/>
          <p:cNvSpPr txBox="1"/>
          <p:nvPr/>
        </p:nvSpPr>
        <p:spPr>
          <a:xfrm>
            <a:off x="8607552"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Sami</a:t>
            </a:r>
            <a:endParaRPr lang="en-US" sz="1250" dirty="0"/>
          </a:p>
        </p:txBody>
      </p:sp>
      <p:sp>
        <p:nvSpPr>
          <p:cNvPr id="87" name="Shape 84"/>
          <p:cNvSpPr/>
          <p:nvPr/>
        </p:nvSpPr>
        <p:spPr>
          <a:xfrm>
            <a:off x="827836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9" name="Text 86"/>
          <p:cNvSpPr txBox="1"/>
          <p:nvPr/>
        </p:nvSpPr>
        <p:spPr>
          <a:xfrm>
            <a:off x="8607552"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Both</a:t>
            </a:r>
            <a:endParaRPr lang="en-US" sz="1250" dirty="0"/>
          </a:p>
        </p:txBody>
      </p:sp>
      <p:sp>
        <p:nvSpPr>
          <p:cNvPr id="90" name="Shape 87"/>
          <p:cNvSpPr/>
          <p:nvPr/>
        </p:nvSpPr>
        <p:spPr>
          <a:xfrm>
            <a:off x="827836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2" name="Text 89"/>
          <p:cNvSpPr txBox="1"/>
          <p:nvPr/>
        </p:nvSpPr>
        <p:spPr>
          <a:xfrm>
            <a:off x="8607552"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Layla</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28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P3-L12 · P3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TEXT 2 · 6 QUESTIONS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cs typeface="Amiri" pitchFamily="2" charset="-78"/>
              </a:rPr>
              <a:t>Sami and Layla: who said what: answers</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says tourism contributes to the local economy?</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Layla</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Sami</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Both</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سَامِي: تُسْهِمُ السِّيَاحَةُ فِي الاقْتِصَادِ المَحَلِّيِّ.</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states the Type 1 concern about unregulated visits?</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Sami</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Both</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Layla</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لَيْلَى: إِذَا لَمْ نُنَظِّمِ الزِّيَارَاتِ، سَيَتَدَهْوَرُ التُّرَاثُ.</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makes the Type 2 counterfactual about quotas?</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Sami</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Layla</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Both</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100" dirty="0">
                <a:solidFill>
                  <a:srgbClr val="8A6D1E"/>
                </a:solidFill>
                <a:latin typeface="Amiri" pitchFamily="2" charset="-78"/>
                <a:ea typeface="Amiri" pitchFamily="2" charset="-78"/>
                <a:cs typeface="Amiri" pitchFamily="2" charset="-78"/>
              </a:rPr>
              <a:t>سَامِي: وَلَوِ اعْتَمَدَتِ الدُّوَلُ نِظَامَ الحِصَصِ مُبَكِّرًا، لَكَانَتِ المَوَاقِعُ أَفْضَلَ.</a:t>
            </a:r>
            <a:endParaRPr lang="ar-SA" sz="110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cites an expert on tourist responsibility?</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Sami</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Layla</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Both</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لَيْلَى: قَالَ خَبِيرٌ إِنَّ مَسْؤُولِيَّةَ السَّائِحِ لَا تَقِلُّ.</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gives the </a:t>
            </a:r>
            <a:pPr algn="l" indent="0" marL="0">
              <a:buNone/>
            </a:pPr>
            <a:r>
              <a:rPr lang="ar-SA" altLang="en-US" sz="1650" b="1" dirty="0">
                <a:solidFill>
                  <a:srgbClr val="1B3B6F"/>
                </a:solidFill>
                <a:latin typeface="Amiri" pitchFamily="2" charset="-78"/>
                <a:ea typeface="Amiri" pitchFamily="2" charset="-78"/>
                <a:cs typeface="Amiri" pitchFamily="2" charset="-78"/>
              </a:rPr>
              <a:t>يُسْتَحْسَنُ أَنْ</a:t>
            </a:r>
            <a:pPr algn="l" indent="0" marL="0">
              <a:buNone/>
            </a:pPr>
            <a:r>
              <a:rPr lang="en-US" sz="1250" b="1" dirty="0">
                <a:solidFill>
                  <a:srgbClr val="1B3B6F"/>
                </a:solidFill>
                <a:latin typeface="Calibri" pitchFamily="34" charset="0"/>
                <a:cs typeface="Amiri" pitchFamily="2" charset="-78"/>
              </a:rPr>
              <a:t> advice?</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Sami</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Layla</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Both</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سَامِي: وَيُسْتَحْسَنُ أَنْ يَحْتَرِمَ الزَّائِرُ العَادَاتِ المَحَلِّيَّةَ.</a:t>
            </a:r>
            <a:endParaRPr lang="ar-SA" sz="1350" dirty="0"/>
          </a:p>
        </p:txBody>
      </p:sp>
      <p:sp>
        <p:nvSpPr>
          <p:cNvPr id="90" name="Shape 87"/>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22350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3" name="Text 90"/>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says awareness is the solution?</a:t>
            </a:r>
            <a:endParaRPr lang="en-US" sz="1250" dirty="0"/>
          </a:p>
        </p:txBody>
      </p:sp>
      <p:sp>
        <p:nvSpPr>
          <p:cNvPr id="94" name="Shape 91"/>
          <p:cNvSpPr/>
          <p:nvPr/>
        </p:nvSpPr>
        <p:spPr>
          <a:xfrm>
            <a:off x="8278368" y="4831080"/>
            <a:ext cx="256032" cy="256032"/>
          </a:xfrm>
          <a:prstGeom prst="ellipse">
            <a:avLst/>
          </a:prstGeom>
          <a:solidFill>
            <a:srgbClr val="C9CED6"/>
          </a:solidFill>
          <a:ln w="12700">
            <a:solidFill>
              <a:srgbClr val="C9CED6"/>
            </a:solidFill>
            <a:prstDash val="solid"/>
          </a:ln>
        </p:spPr>
      </p:sp>
      <p:sp>
        <p:nvSpPr>
          <p:cNvPr id="95" name="Text 92"/>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6" name="Text 93"/>
          <p:cNvSpPr txBox="1"/>
          <p:nvPr/>
        </p:nvSpPr>
        <p:spPr>
          <a:xfrm>
            <a:off x="8607552"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Sami</a:t>
            </a:r>
            <a:endParaRPr lang="en-US" sz="1250" dirty="0"/>
          </a:p>
        </p:txBody>
      </p:sp>
      <p:sp>
        <p:nvSpPr>
          <p:cNvPr id="97" name="Shape 94"/>
          <p:cNvSpPr/>
          <p:nvPr/>
        </p:nvSpPr>
        <p:spPr>
          <a:xfrm>
            <a:off x="8278368" y="5202936"/>
            <a:ext cx="256032" cy="256032"/>
          </a:xfrm>
          <a:prstGeom prst="ellipse">
            <a:avLst/>
          </a:prstGeom>
          <a:solidFill>
            <a:srgbClr val="C9CED6"/>
          </a:solidFill>
          <a:ln w="12700">
            <a:solidFill>
              <a:srgbClr val="C9CED6"/>
            </a:solidFill>
            <a:prstDash val="solid"/>
          </a:ln>
        </p:spPr>
      </p:sp>
      <p:sp>
        <p:nvSpPr>
          <p:cNvPr id="98" name="Text 95"/>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9" name="Text 96"/>
          <p:cNvSpPr txBox="1"/>
          <p:nvPr/>
        </p:nvSpPr>
        <p:spPr>
          <a:xfrm>
            <a:off x="8607552"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Both</a:t>
            </a:r>
            <a:endParaRPr lang="en-US" sz="1250" dirty="0"/>
          </a:p>
        </p:txBody>
      </p:sp>
      <p:sp>
        <p:nvSpPr>
          <p:cNvPr id="100" name="Shape 97"/>
          <p:cNvSpPr/>
          <p:nvPr/>
        </p:nvSpPr>
        <p:spPr>
          <a:xfrm>
            <a:off x="8186928" y="5538216"/>
            <a:ext cx="3453384" cy="347472"/>
          </a:xfrm>
          <a:prstGeom prst="roundRect">
            <a:avLst>
              <a:gd name="adj" fmla="val 15789"/>
            </a:avLst>
          </a:prstGeom>
          <a:solidFill>
            <a:srgbClr val="E6F4EC"/>
          </a:solidFill>
          <a:ln w="9525">
            <a:solidFill>
              <a:srgbClr val="2E8B57"/>
            </a:solidFill>
            <a:prstDash val="solid"/>
          </a:ln>
        </p:spPr>
      </p:sp>
      <p:sp>
        <p:nvSpPr>
          <p:cNvPr id="101" name="Shape 98"/>
          <p:cNvSpPr/>
          <p:nvPr/>
        </p:nvSpPr>
        <p:spPr>
          <a:xfrm>
            <a:off x="8278368" y="5574792"/>
            <a:ext cx="256032" cy="256032"/>
          </a:xfrm>
          <a:prstGeom prst="ellipse">
            <a:avLst/>
          </a:prstGeom>
          <a:solidFill>
            <a:srgbClr val="2E8B57"/>
          </a:solidFill>
          <a:ln w="12700">
            <a:solidFill>
              <a:srgbClr val="2E8B57"/>
            </a:solidFill>
            <a:prstDash val="solid"/>
          </a:ln>
        </p:spPr>
      </p:sp>
      <p:sp>
        <p:nvSpPr>
          <p:cNvPr id="102" name="Text 99"/>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103" name="Text 100"/>
          <p:cNvSpPr txBox="1"/>
          <p:nvPr/>
        </p:nvSpPr>
        <p:spPr>
          <a:xfrm>
            <a:off x="8607552"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Layla</a:t>
            </a:r>
            <a:endParaRPr lang="en-US" sz="1250" dirty="0"/>
          </a:p>
        </p:txBody>
      </p:sp>
      <p:sp>
        <p:nvSpPr>
          <p:cNvPr id="104" name="Text 101"/>
          <p:cNvSpPr txBox="1"/>
          <p:nvPr/>
        </p:nvSpPr>
        <p:spPr>
          <a:xfrm>
            <a:off x="8223504"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لَيْلَى: وَأَنَا أَرَى أَنَّ التَّوْعِيَةَ هِيَ الحَلُّ.</a:t>
            </a:r>
            <a:endParaRPr lang="ar-SA" sz="1350" dirty="0"/>
          </a:p>
        </p:txBody>
      </p:sp>
      <p:sp>
        <p:nvSpPr>
          <p:cNvPr id="105" name="Text 10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28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P3-L12 · P3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TEXT 3 · 6 QUESTIONS · 1 MARK EACH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A transport official on high-speed rail</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is supported?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project never started</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project starts next year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authority had launched the high-speed rail project years earlier</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is supported?</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project reduced travel time between major cities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increased travel time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had no effect</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is supported?</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takes a whole day</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train connects the capital and the coast in two hours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does not reach the coast</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is supported (Type 1)?</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If they rely on electric transport, emissions will fall</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Electric transport raises emissions</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Emissions cannot fall</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is supported?</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Infrastructure is complete</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Investment is unnecessary</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The official concedes the infrastructure needs more investment</a:t>
            </a:r>
            <a:endParaRPr lang="en-US" sz="1200" dirty="0"/>
          </a:p>
        </p:txBody>
      </p:sp>
      <p:sp>
        <p:nvSpPr>
          <p:cNvPr id="80" name="Shape 77"/>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22350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3" name="Text 80"/>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is supported (Type 2)?</a:t>
            </a:r>
            <a:endParaRPr lang="en-US" sz="1250" dirty="0"/>
          </a:p>
        </p:txBody>
      </p:sp>
      <p:sp>
        <p:nvSpPr>
          <p:cNvPr id="84" name="Shape 81"/>
          <p:cNvSpPr/>
          <p:nvPr/>
        </p:nvSpPr>
        <p:spPr>
          <a:xfrm>
            <a:off x="827836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6" name="Text 83"/>
          <p:cNvSpPr txBox="1"/>
          <p:nvPr/>
        </p:nvSpPr>
        <p:spPr>
          <a:xfrm>
            <a:off x="8607552"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Early start makes no difference</a:t>
            </a:r>
            <a:endParaRPr lang="en-US" sz="1250" dirty="0"/>
          </a:p>
        </p:txBody>
      </p:sp>
      <p:sp>
        <p:nvSpPr>
          <p:cNvPr id="87" name="Shape 84"/>
          <p:cNvSpPr/>
          <p:nvPr/>
        </p:nvSpPr>
        <p:spPr>
          <a:xfrm>
            <a:off x="827836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9" name="Text 86"/>
          <p:cNvSpPr txBox="1"/>
          <p:nvPr/>
        </p:nvSpPr>
        <p:spPr>
          <a:xfrm>
            <a:off x="8607552"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project cannot expand</a:t>
            </a:r>
            <a:endParaRPr lang="en-US" sz="1250" dirty="0"/>
          </a:p>
        </p:txBody>
      </p:sp>
      <p:sp>
        <p:nvSpPr>
          <p:cNvPr id="90" name="Shape 87"/>
          <p:cNvSpPr/>
          <p:nvPr/>
        </p:nvSpPr>
        <p:spPr>
          <a:xfrm>
            <a:off x="827836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2" name="Text 89"/>
          <p:cNvSpPr txBox="1"/>
          <p:nvPr/>
        </p:nvSpPr>
        <p:spPr>
          <a:xfrm>
            <a:off x="8607552"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Had the project started earlier, connectivity would be wider today</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28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P3-L12 · P3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TEXT 3 · 6 QUESTIONS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50" b="1" dirty="0">
                <a:solidFill>
                  <a:srgbClr val="1B3B6F"/>
                </a:solidFill>
                <a:latin typeface="Cambria" pitchFamily="34" charset="0"/>
                <a:cs typeface="Amiri" pitchFamily="2" charset="-78"/>
              </a:rPr>
              <a:t>A transport official on high-speed rail: answers</a:t>
            </a:r>
            <a:endParaRPr lang="en-US" sz="19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is supported?</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project never started</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project starts next year</a:t>
            </a:r>
            <a:endParaRPr lang="en-US" sz="1250" dirty="0"/>
          </a:p>
        </p:txBody>
      </p:sp>
      <p:sp>
        <p:nvSpPr>
          <p:cNvPr id="25" name="Shape 22"/>
          <p:cNvSpPr/>
          <p:nvPr/>
        </p:nvSpPr>
        <p:spPr>
          <a:xfrm>
            <a:off x="548640" y="3197352"/>
            <a:ext cx="3453384"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The authority had launched the high-speed rail project years earlier</a:t>
            </a:r>
            <a:endParaRPr lang="en-US" sz="11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250" dirty="0">
                <a:solidFill>
                  <a:srgbClr val="8A6D1E"/>
                </a:solidFill>
                <a:latin typeface="Amiri" pitchFamily="2" charset="-78"/>
                <a:ea typeface="Amiri" pitchFamily="2" charset="-78"/>
                <a:cs typeface="Amiri" pitchFamily="2" charset="-78"/>
              </a:rPr>
              <a:t>كَانَتِ الهَيْئَةُ قَدْ أَطْلَقَتْ مَشْرُوعَ الخَطِّ الحَدِيدِيِّ … قَبْلَ سَنَوَاتٍ.</a:t>
            </a:r>
            <a:endParaRPr lang="ar-SA"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is supported?</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The project reduced travel time between major cities</a:t>
            </a:r>
            <a:endParaRPr lang="en-US" sz="11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increased travel time</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had no effect</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أَكَّدَ أَنَّ المَشْرُوعَ قَلَّصَ وَقْتَ السَّفَرِ.</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is supported?</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takes a whole day</a:t>
            </a:r>
            <a:endParaRPr lang="en-US" sz="1250" dirty="0"/>
          </a:p>
        </p:txBody>
      </p:sp>
      <p:sp>
        <p:nvSpPr>
          <p:cNvPr id="52" name="Shape 49"/>
          <p:cNvSpPr/>
          <p:nvPr/>
        </p:nvSpPr>
        <p:spPr>
          <a:xfrm>
            <a:off x="8186928" y="2825496"/>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862072"/>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The train connects the capital and the coast in two hours</a:t>
            </a:r>
            <a:endParaRPr lang="en-US" sz="11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does not reach the coast</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يَصِلُ بَيْنَ العَاصِمَةِ وَالسَّاحِلِ فِي سَاعَتَيْنِ.</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is supported (Type 1)?</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If they rely on electric transport, emissions will fall</a:t>
            </a:r>
            <a:endParaRPr lang="en-US" sz="11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Electric transport raises emissions</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Emissions cannot fall</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إِذَا اعْتَمَدْنَا عَلَى النَّقْلِ الكَهْرَبَائِيِّ، سَتَنْخَفِضُ الانْبِعَاثَاتُ.</a:t>
            </a:r>
            <a:endParaRPr lang="ar-SA" sz="130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is supported?</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Infrastructure is complete</a:t>
            </a:r>
            <a:endParaRPr lang="en-US" sz="1250" dirty="0"/>
          </a:p>
        </p:txBody>
      </p:sp>
      <p:sp>
        <p:nvSpPr>
          <p:cNvPr id="82" name="Shape 79"/>
          <p:cNvSpPr/>
          <p:nvPr/>
        </p:nvSpPr>
        <p:spPr>
          <a:xfrm>
            <a:off x="4459224" y="5202936"/>
            <a:ext cx="256032" cy="256032"/>
          </a:xfrm>
          <a:prstGeom prst="ellipse">
            <a:avLst/>
          </a:prstGeom>
          <a:solidFill>
            <a:srgbClr val="C9CED6"/>
          </a:solidFill>
          <a:ln w="12700">
            <a:solidFill>
              <a:srgbClr val="C9CED6"/>
            </a:solidFill>
            <a:prstDash val="solid"/>
          </a:ln>
        </p:spPr>
      </p:sp>
      <p:sp>
        <p:nvSpPr>
          <p:cNvPr id="83" name="Text 80"/>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4" name="Text 81"/>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Investment is unnecessary</a:t>
            </a:r>
            <a:endParaRPr lang="en-US" sz="1250" dirty="0"/>
          </a:p>
        </p:txBody>
      </p:sp>
      <p:sp>
        <p:nvSpPr>
          <p:cNvPr id="85" name="Shape 82"/>
          <p:cNvSpPr/>
          <p:nvPr/>
        </p:nvSpPr>
        <p:spPr>
          <a:xfrm>
            <a:off x="4367784" y="5538216"/>
            <a:ext cx="3453384" cy="347472"/>
          </a:xfrm>
          <a:prstGeom prst="roundRect">
            <a:avLst>
              <a:gd name="adj" fmla="val 15789"/>
            </a:avLst>
          </a:prstGeom>
          <a:solidFill>
            <a:srgbClr val="E6F4EC"/>
          </a:solidFill>
          <a:ln w="9525">
            <a:solidFill>
              <a:srgbClr val="2E8B57"/>
            </a:solidFill>
            <a:prstDash val="solid"/>
          </a:ln>
        </p:spPr>
      </p:sp>
      <p:sp>
        <p:nvSpPr>
          <p:cNvPr id="86" name="Shape 83"/>
          <p:cNvSpPr/>
          <p:nvPr/>
        </p:nvSpPr>
        <p:spPr>
          <a:xfrm>
            <a:off x="4459224" y="5574792"/>
            <a:ext cx="256032" cy="256032"/>
          </a:xfrm>
          <a:prstGeom prst="ellipse">
            <a:avLst/>
          </a:prstGeom>
          <a:solidFill>
            <a:srgbClr val="2E8B57"/>
          </a:solidFill>
          <a:ln w="12700">
            <a:solidFill>
              <a:srgbClr val="2E8B57"/>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The official concedes the infrastructure needs more investment</a:t>
            </a:r>
            <a:endParaRPr lang="en-US" sz="11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250" dirty="0">
                <a:solidFill>
                  <a:srgbClr val="8A6D1E"/>
                </a:solidFill>
                <a:latin typeface="Amiri" pitchFamily="2" charset="-78"/>
                <a:ea typeface="Amiri" pitchFamily="2" charset="-78"/>
                <a:cs typeface="Amiri" pitchFamily="2" charset="-78"/>
              </a:rPr>
              <a:t>اعْتَرَفَ بِأَنَّ البُنْيَةَ التَّحْتِيَّةَ تَحْتَاجُ إِلَى مَزِيدٍ مِنَ الاسْتِثْمَارِ.</a:t>
            </a:r>
            <a:endParaRPr lang="ar-SA" sz="1250" dirty="0"/>
          </a:p>
        </p:txBody>
      </p:sp>
      <p:sp>
        <p:nvSpPr>
          <p:cNvPr id="90" name="Shape 87"/>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22350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3" name="Text 90"/>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is supported (Type 2)?</a:t>
            </a:r>
            <a:endParaRPr lang="en-US" sz="1250" dirty="0"/>
          </a:p>
        </p:txBody>
      </p:sp>
      <p:sp>
        <p:nvSpPr>
          <p:cNvPr id="94" name="Shape 91"/>
          <p:cNvSpPr/>
          <p:nvPr/>
        </p:nvSpPr>
        <p:spPr>
          <a:xfrm>
            <a:off x="8278368" y="4831080"/>
            <a:ext cx="256032" cy="256032"/>
          </a:xfrm>
          <a:prstGeom prst="ellipse">
            <a:avLst/>
          </a:prstGeom>
          <a:solidFill>
            <a:srgbClr val="C9CED6"/>
          </a:solidFill>
          <a:ln w="12700">
            <a:solidFill>
              <a:srgbClr val="C9CED6"/>
            </a:solidFill>
            <a:prstDash val="solid"/>
          </a:ln>
        </p:spPr>
      </p:sp>
      <p:sp>
        <p:nvSpPr>
          <p:cNvPr id="95" name="Text 92"/>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6" name="Text 93"/>
          <p:cNvSpPr txBox="1"/>
          <p:nvPr/>
        </p:nvSpPr>
        <p:spPr>
          <a:xfrm>
            <a:off x="8607552"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Early start makes no difference</a:t>
            </a:r>
            <a:endParaRPr lang="en-US" sz="1250" dirty="0"/>
          </a:p>
        </p:txBody>
      </p:sp>
      <p:sp>
        <p:nvSpPr>
          <p:cNvPr id="97" name="Shape 94"/>
          <p:cNvSpPr/>
          <p:nvPr/>
        </p:nvSpPr>
        <p:spPr>
          <a:xfrm>
            <a:off x="8278368" y="5202936"/>
            <a:ext cx="256032" cy="256032"/>
          </a:xfrm>
          <a:prstGeom prst="ellipse">
            <a:avLst/>
          </a:prstGeom>
          <a:solidFill>
            <a:srgbClr val="C9CED6"/>
          </a:solidFill>
          <a:ln w="12700">
            <a:solidFill>
              <a:srgbClr val="C9CED6"/>
            </a:solidFill>
            <a:prstDash val="solid"/>
          </a:ln>
        </p:spPr>
      </p:sp>
      <p:sp>
        <p:nvSpPr>
          <p:cNvPr id="98" name="Text 95"/>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9" name="Text 96"/>
          <p:cNvSpPr txBox="1"/>
          <p:nvPr/>
        </p:nvSpPr>
        <p:spPr>
          <a:xfrm>
            <a:off x="8607552"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project cannot expand</a:t>
            </a:r>
            <a:endParaRPr lang="en-US" sz="1250" dirty="0"/>
          </a:p>
        </p:txBody>
      </p:sp>
      <p:sp>
        <p:nvSpPr>
          <p:cNvPr id="100" name="Shape 97"/>
          <p:cNvSpPr/>
          <p:nvPr/>
        </p:nvSpPr>
        <p:spPr>
          <a:xfrm>
            <a:off x="8186928" y="5538216"/>
            <a:ext cx="3453384" cy="347472"/>
          </a:xfrm>
          <a:prstGeom prst="roundRect">
            <a:avLst>
              <a:gd name="adj" fmla="val 15789"/>
            </a:avLst>
          </a:prstGeom>
          <a:solidFill>
            <a:srgbClr val="E6F4EC"/>
          </a:solidFill>
          <a:ln w="9525">
            <a:solidFill>
              <a:srgbClr val="2E8B57"/>
            </a:solidFill>
            <a:prstDash val="solid"/>
          </a:ln>
        </p:spPr>
      </p:sp>
      <p:sp>
        <p:nvSpPr>
          <p:cNvPr id="101" name="Shape 98"/>
          <p:cNvSpPr/>
          <p:nvPr/>
        </p:nvSpPr>
        <p:spPr>
          <a:xfrm>
            <a:off x="8278368" y="5574792"/>
            <a:ext cx="256032" cy="256032"/>
          </a:xfrm>
          <a:prstGeom prst="ellipse">
            <a:avLst/>
          </a:prstGeom>
          <a:solidFill>
            <a:srgbClr val="2E8B57"/>
          </a:solidFill>
          <a:ln w="12700">
            <a:solidFill>
              <a:srgbClr val="2E8B57"/>
            </a:solidFill>
            <a:prstDash val="solid"/>
          </a:ln>
        </p:spPr>
      </p:sp>
      <p:sp>
        <p:nvSpPr>
          <p:cNvPr id="102" name="Text 99"/>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103" name="Text 100"/>
          <p:cNvSpPr txBox="1"/>
          <p:nvPr/>
        </p:nvSpPr>
        <p:spPr>
          <a:xfrm>
            <a:off x="8607552" y="5516880"/>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Had the project started earlier, connectivity would be wider today</a:t>
            </a:r>
            <a:endParaRPr lang="en-US" sz="1150" dirty="0"/>
          </a:p>
        </p:txBody>
      </p:sp>
      <p:sp>
        <p:nvSpPr>
          <p:cNvPr id="104" name="Text 101"/>
          <p:cNvSpPr txBox="1"/>
          <p:nvPr/>
        </p:nvSpPr>
        <p:spPr>
          <a:xfrm>
            <a:off x="8223504"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لَوْ بَدَأَ المَشْرُوعُ مُبَكِّرًا، لَكَانَ الرَّبْطُ أَوْسَعَ اليَوْمَ.</a:t>
            </a:r>
            <a:endParaRPr lang="ar-SA" sz="1350" dirty="0"/>
          </a:p>
        </p:txBody>
      </p:sp>
      <p:sp>
        <p:nvSpPr>
          <p:cNvPr id="105" name="Text 10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28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P3-L12 · P3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READING · PART B1 · 10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Responsible tourism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السِّيَاحَةُ المَسْؤُولَةُ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P3-L12</a:t>
            </a:r>
            <a:endParaRPr lang="en-US" sz="850" dirty="0"/>
          </a:p>
        </p:txBody>
      </p:sp>
      <p:sp>
        <p:nvSpPr>
          <p:cNvPr id="15" name="Shape 12"/>
          <p:cNvSpPr/>
          <p:nvPr/>
        </p:nvSpPr>
        <p:spPr>
          <a:xfrm>
            <a:off x="457200" y="1810512"/>
            <a:ext cx="112745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108173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تُعَدُّ السِّيَاحَةُ سِلَاحًا ذَا حَدَّيْنِ. فَهِيَ تُسْهِمُ فِي الاقْتِصَادِ وَتُوَفِّرُ فُرَصَ عَمَلٍ، غَيْرَ أَنَّهَا قَدْ تُلْحِقُ الضَّرَرَ بِالتُّرَاثِ إِذَا لَمْ تُنَظَّمْ. يَقُولُ كَاتِبُ المَقَالِ: «إِذَا احْتَرَمَ السُّيَّاحُ القَوَاعِدَ، سَتَبْقَى المَوَاقِعُ لِلْأَجْيَالِ.» ثُمَّ يُضِيفُ: «لَوِ اهْتَمَّتِ الحُكُومَاتُ بِالتَّنْظِيمِ مُنْذُ البِدَايَةِ، لَمَا تَدَهْوَرَتْ مَوَاقِعُ كَثِيرَةٌ.» وَيُسْتَحْسَنُ أَنْ يَتَعَلَّمَ الزَّائِرُ عَادَاتِ البَلَدِ قَبْلَ وُصُولِهِ. وَكَانَ الكَاتِبُ قَدْ زَارَ البَتْرَاءَ، وَأَشَارَ إِلَى أَنَّ التَّنْظِيمَ الجَيِّدَ يَحْمِي جَمَالَهَا. وَالغَرَضُ مِنَ النَّصِّ إِقْنَاعُ القَارِئِ بِالسِّيَاحَةِ المَسْؤُولَةِ.</a:t>
            </a:r>
            <a:endParaRPr lang="ar-SA" sz="2600" dirty="0"/>
          </a:p>
        </p:txBody>
      </p:sp>
      <p:sp>
        <p:nvSpPr>
          <p:cNvPr id="17" name="Text 1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28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P3-L12 · P3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READING · QUESTIONS 1–5 · 1 MARK EACH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 1–5</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writer's main view?</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Tourism is a double-edged sword</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Tourism is purely good</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Tourism is purely bad</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are the benefits of tourism?</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only harms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supports the economy and provides jobs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has no effect</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cultural advice does the writer give?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Learn the country's customs before arriving</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Avoid customs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Ignore the country</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Identify the Type 1 conditional.</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1250" dirty="0">
                <a:solidFill>
                  <a:srgbClr val="1F2A37"/>
                </a:solidFill>
                <a:latin typeface="Amiri" pitchFamily="2" charset="-78"/>
                <a:ea typeface="Amiri" pitchFamily="2" charset="-78"/>
                <a:cs typeface="Amiri" pitchFamily="2" charset="-78"/>
              </a:rPr>
              <a:t>لَوِ اهْتَمَّتِ الحُكُومَاتُ … لَمَا تَدَهْوَرَتْ</a:t>
            </a:r>
            <a:endParaRPr lang="ar-SA"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1250" dirty="0">
                <a:solidFill>
                  <a:srgbClr val="1F2A37"/>
                </a:solidFill>
                <a:latin typeface="Amiri" pitchFamily="2" charset="-78"/>
                <a:ea typeface="Amiri" pitchFamily="2" charset="-78"/>
                <a:cs typeface="Amiri" pitchFamily="2" charset="-78"/>
              </a:rPr>
              <a:t>كَانَ الكَاتِبُ قَدْ زَارَ البَتْرَاءَ</a:t>
            </a:r>
            <a:endParaRPr lang="ar-SA"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1250" dirty="0">
                <a:solidFill>
                  <a:srgbClr val="1F2A37"/>
                </a:solidFill>
                <a:latin typeface="Amiri" pitchFamily="2" charset="-78"/>
                <a:ea typeface="Amiri" pitchFamily="2" charset="-78"/>
                <a:cs typeface="Amiri" pitchFamily="2" charset="-78"/>
              </a:rPr>
              <a:t>إِذَا احْتَرَمَ السُّيَّاحُ القَوَاعِدَ، سَتَبْقَى المَوَاقِعُ لِلْأَجْيَالِ</a:t>
            </a:r>
            <a:endParaRPr lang="ar-SA"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Identify the Type 2 conditional.</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1050" dirty="0">
                <a:solidFill>
                  <a:srgbClr val="1F2A37"/>
                </a:solidFill>
                <a:latin typeface="Amiri" pitchFamily="2" charset="-78"/>
                <a:ea typeface="Amiri" pitchFamily="2" charset="-78"/>
                <a:cs typeface="Amiri" pitchFamily="2" charset="-78"/>
              </a:rPr>
              <a:t>إِذَا احْتَرَمَ السُّيَّاحُ القَوَاعِدَ، سَتَبْقَى المَوَاقِعُ</a:t>
            </a:r>
            <a:endParaRPr lang="ar-SA" sz="1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1050" dirty="0">
                <a:solidFill>
                  <a:srgbClr val="1F2A37"/>
                </a:solidFill>
                <a:latin typeface="Amiri" pitchFamily="2" charset="-78"/>
                <a:ea typeface="Amiri" pitchFamily="2" charset="-78"/>
                <a:cs typeface="Amiri" pitchFamily="2" charset="-78"/>
              </a:rPr>
              <a:t>يُسْتَحْسَنُ أَنْ يَتَعَلَّمَ الزَّائِرُ</a:t>
            </a:r>
            <a:endParaRPr lang="ar-SA" sz="1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1050" dirty="0">
                <a:solidFill>
                  <a:srgbClr val="1F2A37"/>
                </a:solidFill>
                <a:latin typeface="Amiri" pitchFamily="2" charset="-78"/>
                <a:ea typeface="Amiri" pitchFamily="2" charset="-78"/>
                <a:cs typeface="Amiri" pitchFamily="2" charset="-78"/>
              </a:rPr>
              <a:t>لَوِ اهْتَمَّتِ الحُكُومَاتُ بِالتَّنْظِيمِ مُنْذُ البِدَايَةِ، لَمَا تَدَهْوَرَتْ مَوَاقِعُ كَثِيرَةٌ</a:t>
            </a:r>
            <a:endParaRPr lang="ar-SA" sz="1050" dirty="0"/>
          </a:p>
        </p:txBody>
      </p:sp>
      <p:sp>
        <p:nvSpPr>
          <p:cNvPr id="80" name="Text 7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28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P3-L12 · P3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READING · ANSWERS · SHOW AFTER THE SECTION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Questions 1–5: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writer's main view?</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Tourism is a double-edged sword</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Tourism is purely good</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Tourism is purely bad</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تُعَدُّ السِّيَاحَةُ سِلَاحًا ذَا حَدَّيْنِ.</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are the benefits of tourism?</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only harms</a:t>
            </a:r>
            <a:endParaRPr lang="en-US" sz="1250" dirty="0"/>
          </a:p>
        </p:txBody>
      </p:sp>
      <p:sp>
        <p:nvSpPr>
          <p:cNvPr id="37" name="Shape 34"/>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It supports the economy and provides jobs</a:t>
            </a:r>
            <a:endParaRPr lang="en-US" sz="11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has no effect</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تُسْهِمُ فِي الاقْتِصَادِ وَتُوَفِّرُ فُرَصَ عَمَلٍ.</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cultural advice does the writer give?</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Learn the country's customs before arriving</a:t>
            </a:r>
            <a:endParaRPr lang="en-US" sz="11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Avoid customs</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Ignore the country</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يُسْتَحْسَنُ أَنْ يَتَعَلَّمَ الزَّائِرُ عَادَاتِ البَلَدِ قَبْلَ وُصُولِهِ.</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Identify the Type 1 conditional.</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250" dirty="0">
                <a:solidFill>
                  <a:srgbClr val="9AA1AB"/>
                </a:solidFill>
                <a:latin typeface="Amiri" pitchFamily="2" charset="-78"/>
                <a:ea typeface="Amiri" pitchFamily="2" charset="-78"/>
                <a:cs typeface="Amiri" pitchFamily="2" charset="-78"/>
              </a:rPr>
              <a:t>لَوِ اهْتَمَّتِ الحُكُومَاتُ … لَمَا تَدَهْوَرَتْ</a:t>
            </a:r>
            <a:endParaRPr lang="ar-SA"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250" dirty="0">
                <a:solidFill>
                  <a:srgbClr val="9AA1AB"/>
                </a:solidFill>
                <a:latin typeface="Amiri" pitchFamily="2" charset="-78"/>
                <a:ea typeface="Amiri" pitchFamily="2" charset="-78"/>
                <a:cs typeface="Amiri" pitchFamily="2" charset="-78"/>
              </a:rPr>
              <a:t>كَانَ الكَاتِبُ قَدْ زَارَ البَتْرَاءَ</a:t>
            </a:r>
            <a:endParaRPr lang="ar-SA"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250" b="1" dirty="0">
                <a:solidFill>
                  <a:srgbClr val="1F2A37"/>
                </a:solidFill>
                <a:latin typeface="Amiri" pitchFamily="2" charset="-78"/>
                <a:ea typeface="Amiri" pitchFamily="2" charset="-78"/>
                <a:cs typeface="Amiri" pitchFamily="2" charset="-78"/>
              </a:rPr>
              <a:t>إِذَا احْتَرَمَ السُّيَّاحُ القَوَاعِدَ، سَتَبْقَى المَوَاقِعُ لِلْأَجْيَالِ</a:t>
            </a:r>
            <a:endParaRPr lang="ar-SA"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إِذَا … سَـ</a:t>
            </a:r>
            <a:pPr algn="l" indent="0" marL="0">
              <a:buNone/>
            </a:pPr>
            <a:r>
              <a:rPr lang="en-US" sz="1050" i="1" dirty="0">
                <a:solidFill>
                  <a:srgbClr val="8A6D1E"/>
                </a:solidFill>
                <a:latin typeface="Calibri" pitchFamily="34" charset="0"/>
                <a:cs typeface="Amiri" pitchFamily="2" charset="-78"/>
              </a:rPr>
              <a:t> is the Type 1 conditional.</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Identify the Type 2 conditional.</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050" dirty="0">
                <a:solidFill>
                  <a:srgbClr val="9AA1AB"/>
                </a:solidFill>
                <a:latin typeface="Amiri" pitchFamily="2" charset="-78"/>
                <a:ea typeface="Amiri" pitchFamily="2" charset="-78"/>
                <a:cs typeface="Amiri" pitchFamily="2" charset="-78"/>
              </a:rPr>
              <a:t>إِذَا احْتَرَمَ السُّيَّاحُ القَوَاعِدَ، سَتَبْقَى المَوَاقِعُ</a:t>
            </a:r>
            <a:endParaRPr lang="ar-SA" sz="1050" dirty="0"/>
          </a:p>
        </p:txBody>
      </p:sp>
      <p:sp>
        <p:nvSpPr>
          <p:cNvPr id="82" name="Shape 79"/>
          <p:cNvSpPr/>
          <p:nvPr/>
        </p:nvSpPr>
        <p:spPr>
          <a:xfrm>
            <a:off x="4459224" y="5202936"/>
            <a:ext cx="256032" cy="256032"/>
          </a:xfrm>
          <a:prstGeom prst="ellipse">
            <a:avLst/>
          </a:prstGeom>
          <a:solidFill>
            <a:srgbClr val="C9CED6"/>
          </a:solidFill>
          <a:ln w="12700">
            <a:solidFill>
              <a:srgbClr val="C9CED6"/>
            </a:solidFill>
            <a:prstDash val="solid"/>
          </a:ln>
        </p:spPr>
      </p:sp>
      <p:sp>
        <p:nvSpPr>
          <p:cNvPr id="83" name="Text 80"/>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4" name="Text 81"/>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050" dirty="0">
                <a:solidFill>
                  <a:srgbClr val="9AA1AB"/>
                </a:solidFill>
                <a:latin typeface="Amiri" pitchFamily="2" charset="-78"/>
                <a:ea typeface="Amiri" pitchFamily="2" charset="-78"/>
                <a:cs typeface="Amiri" pitchFamily="2" charset="-78"/>
              </a:rPr>
              <a:t>يُسْتَحْسَنُ أَنْ يَتَعَلَّمَ الزَّائِرُ</a:t>
            </a:r>
            <a:endParaRPr lang="ar-SA" sz="1050" dirty="0"/>
          </a:p>
        </p:txBody>
      </p:sp>
      <p:sp>
        <p:nvSpPr>
          <p:cNvPr id="85" name="Shape 82"/>
          <p:cNvSpPr/>
          <p:nvPr/>
        </p:nvSpPr>
        <p:spPr>
          <a:xfrm>
            <a:off x="4367784" y="5538216"/>
            <a:ext cx="3453384" cy="347472"/>
          </a:xfrm>
          <a:prstGeom prst="roundRect">
            <a:avLst>
              <a:gd name="adj" fmla="val 15789"/>
            </a:avLst>
          </a:prstGeom>
          <a:solidFill>
            <a:srgbClr val="E6F4EC"/>
          </a:solidFill>
          <a:ln w="9525">
            <a:solidFill>
              <a:srgbClr val="2E8B57"/>
            </a:solidFill>
            <a:prstDash val="solid"/>
          </a:ln>
        </p:spPr>
      </p:sp>
      <p:sp>
        <p:nvSpPr>
          <p:cNvPr id="86" name="Shape 83"/>
          <p:cNvSpPr/>
          <p:nvPr/>
        </p:nvSpPr>
        <p:spPr>
          <a:xfrm>
            <a:off x="4459224" y="5574792"/>
            <a:ext cx="256032" cy="256032"/>
          </a:xfrm>
          <a:prstGeom prst="ellipse">
            <a:avLst/>
          </a:prstGeom>
          <a:solidFill>
            <a:srgbClr val="2E8B57"/>
          </a:solidFill>
          <a:ln w="12700">
            <a:solidFill>
              <a:srgbClr val="2E8B57"/>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050" b="1" dirty="0">
                <a:solidFill>
                  <a:srgbClr val="1F2A37"/>
                </a:solidFill>
                <a:latin typeface="Amiri" pitchFamily="2" charset="-78"/>
                <a:ea typeface="Amiri" pitchFamily="2" charset="-78"/>
                <a:cs typeface="Amiri" pitchFamily="2" charset="-78"/>
              </a:rPr>
              <a:t>لَوِ اهْتَمَّتِ الحُكُومَاتُ بِالتَّنْظِيمِ مُنْذُ البِدَايَةِ، لَمَا تَدَهْوَرَتْ مَوَاقِعُ كَثِيرَةٌ</a:t>
            </a:r>
            <a:endParaRPr lang="ar-SA" sz="10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لَوْ … لَـ</a:t>
            </a:r>
            <a:pPr algn="l" indent="0" marL="0">
              <a:buNone/>
            </a:pPr>
            <a:r>
              <a:rPr lang="en-US" sz="1050" i="1" dirty="0">
                <a:solidFill>
                  <a:srgbClr val="8A6D1E"/>
                </a:solidFill>
                <a:latin typeface="Calibri" pitchFamily="34" charset="0"/>
                <a:cs typeface="Amiri" pitchFamily="2" charset="-78"/>
              </a:rPr>
              <a:t> is the Type 2 conditional.</a:t>
            </a:r>
            <a:endParaRPr lang="en-US" sz="1050" dirty="0"/>
          </a:p>
        </p:txBody>
      </p:sp>
      <p:sp>
        <p:nvSpPr>
          <p:cNvPr id="90" name="Text 8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28</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P3-L12 · P3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READING · QUESTIONS 6–10 · 1 MARK EACH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 6–10</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argumentative purpose does the Type 2 serve?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praises current regulation</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implies current regulation was inadequate — an implicit criticism</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reports a fact</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Find the past-perfect structure.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كَانَ الكَاتِبُ قَدْ زَارَ البَتْرَاءَ</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إِذَا احْتَرَمَ السُّيَّاحُ</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يُسْتَحْسَنُ أَنْ يَتَعَلَّمَ</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the Type 1 gap: </a:t>
            </a:r>
            <a:pPr algn="l" indent="0" marL="0">
              <a:buNone/>
            </a:pPr>
            <a:r>
              <a:rPr lang="ar-SA" altLang="en-US" sz="1650" b="1" dirty="0">
                <a:solidFill>
                  <a:srgbClr val="1B3B6F"/>
                </a:solidFill>
                <a:latin typeface="Amiri" pitchFamily="2" charset="-78"/>
                <a:ea typeface="Amiri" pitchFamily="2" charset="-78"/>
                <a:cs typeface="Amiri" pitchFamily="2" charset="-78"/>
              </a:rPr>
              <a:t>إِذَا احْتَرَمَ السُّيَّاحُ القَوَاعِدَ،</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المَوَاقِعُ</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لَبَقِيَتِ</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بَقِيَتِ</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سَتَبْقَى</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the Type 2 gap: </a:t>
            </a:r>
            <a:pPr algn="l" indent="0" marL="0">
              <a:buNone/>
            </a:pPr>
            <a:r>
              <a:rPr lang="ar-SA" altLang="en-US" sz="1650" b="1" dirty="0">
                <a:solidFill>
                  <a:srgbClr val="1B3B6F"/>
                </a:solidFill>
                <a:latin typeface="Amiri" pitchFamily="2" charset="-78"/>
                <a:ea typeface="Amiri" pitchFamily="2" charset="-78"/>
                <a:cs typeface="Amiri" pitchFamily="2" charset="-78"/>
              </a:rPr>
              <a:t>لَوِ اهْتَمَّتِ الحُكُومَاتُ مُبَكِّرًا،</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المَوَاقِعُ</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سَتَتَدَهْوَرُ</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تَتَدَهْوَرُ</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لَمَا تَدَهْوَرَتِ</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purpose of the text?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persuade the reader to practise responsible tourism</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report the news</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entertain only</a:t>
            </a:r>
            <a:endParaRPr lang="en-US" sz="1250" dirty="0"/>
          </a:p>
        </p:txBody>
      </p:sp>
      <p:sp>
        <p:nvSpPr>
          <p:cNvPr id="80" name="Text 7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28</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P3-L12 · P3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READING · ANSWERS · SHOW AFTER THE SECTION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Questions 6–10: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argumentative purpose does the Type 2 serve?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praises current regulation</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It implies current regulation was inadequate — an implicit criticism</a:t>
            </a:r>
            <a:endParaRPr lang="en-US" sz="11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reports a fact</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counterfactual implies the condition was not met, hinting at criticism.</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Find the past-perfect structure.</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كَانَ الكَاتِبُ قَدْ زَارَ البَتْرَاءَ</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إِذَا احْتَرَمَ السُّيَّاحُ</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يُسْتَحْسَنُ أَنْ يَتَعَلَّمَ</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كَانَ … قَدْ</a:t>
            </a:r>
            <a:pPr algn="l" indent="0" marL="0">
              <a:buNone/>
            </a:pPr>
            <a:r>
              <a:rPr lang="en-US" sz="1050" i="1" dirty="0">
                <a:solidFill>
                  <a:srgbClr val="8A6D1E"/>
                </a:solidFill>
                <a:latin typeface="Calibri" pitchFamily="34" charset="0"/>
                <a:cs typeface="Amiri" pitchFamily="2" charset="-78"/>
              </a:rPr>
              <a:t> + past is the past perfect.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the Type 1 gap: </a:t>
            </a:r>
            <a:pPr algn="l" indent="0" marL="0">
              <a:buNone/>
            </a:pPr>
            <a:r>
              <a:rPr lang="ar-SA" altLang="en-US" sz="1650" b="1" dirty="0">
                <a:solidFill>
                  <a:srgbClr val="1B3B6F"/>
                </a:solidFill>
                <a:latin typeface="Amiri" pitchFamily="2" charset="-78"/>
                <a:ea typeface="Amiri" pitchFamily="2" charset="-78"/>
                <a:cs typeface="Amiri" pitchFamily="2" charset="-78"/>
              </a:rPr>
              <a:t>إِذَا احْتَرَمَ السُّيَّاحُ القَوَاعِدَ،</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المَوَاقِعُ</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لَبَقِيَتِ</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بَقِيَتِ</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سَتَبْقَى</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real </a:t>
            </a:r>
            <a:pPr algn="l" indent="0" marL="0">
              <a:buNone/>
            </a:pPr>
            <a:r>
              <a:rPr lang="ar-SA" altLang="en-US" sz="1350" dirty="0">
                <a:solidFill>
                  <a:srgbClr val="8A6D1E"/>
                </a:solidFill>
                <a:latin typeface="Amiri" pitchFamily="2" charset="-78"/>
                <a:ea typeface="Amiri" pitchFamily="2" charset="-78"/>
                <a:cs typeface="Amiri" pitchFamily="2" charset="-78"/>
              </a:rPr>
              <a:t>إِذَا</a:t>
            </a:r>
            <a:pPr algn="l" indent="0" marL="0">
              <a:buNone/>
            </a:pPr>
            <a:r>
              <a:rPr lang="en-US" sz="1050" i="1" dirty="0">
                <a:solidFill>
                  <a:srgbClr val="8A6D1E"/>
                </a:solidFill>
                <a:latin typeface="Calibri" pitchFamily="34" charset="0"/>
                <a:cs typeface="Amiri" pitchFamily="2" charset="-78"/>
              </a:rPr>
              <a:t> conditional takes a </a:t>
            </a:r>
            <a:pPr algn="l" indent="0" marL="0">
              <a:buNone/>
            </a:pPr>
            <a:r>
              <a:rPr lang="ar-SA" altLang="en-US" sz="1350" dirty="0">
                <a:solidFill>
                  <a:srgbClr val="8A6D1E"/>
                </a:solidFill>
                <a:latin typeface="Amiri" pitchFamily="2" charset="-78"/>
                <a:ea typeface="Amiri" pitchFamily="2" charset="-78"/>
                <a:cs typeface="Amiri" pitchFamily="2" charset="-78"/>
              </a:rPr>
              <a:t>سَـ</a:t>
            </a:r>
            <a:pPr algn="l" indent="0" marL="0">
              <a:buNone/>
            </a:pPr>
            <a:r>
              <a:rPr lang="en-US" sz="1050" i="1" dirty="0">
                <a:solidFill>
                  <a:srgbClr val="8A6D1E"/>
                </a:solidFill>
                <a:latin typeface="Calibri" pitchFamily="34" charset="0"/>
                <a:cs typeface="Amiri" pitchFamily="2" charset="-78"/>
              </a:rPr>
              <a:t> result.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the Type 2 gap: </a:t>
            </a:r>
            <a:pPr algn="l" indent="0" marL="0">
              <a:buNone/>
            </a:pPr>
            <a:r>
              <a:rPr lang="ar-SA" altLang="en-US" sz="1650" b="1" dirty="0">
                <a:solidFill>
                  <a:srgbClr val="1B3B6F"/>
                </a:solidFill>
                <a:latin typeface="Amiri" pitchFamily="2" charset="-78"/>
                <a:ea typeface="Amiri" pitchFamily="2" charset="-78"/>
                <a:cs typeface="Amiri" pitchFamily="2" charset="-78"/>
              </a:rPr>
              <a:t>لَوِ اهْتَمَّتِ الحُكُومَاتُ مُبَكِّرًا،</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المَوَاقِعُ</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سَتَتَدَهْوَرُ</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تَتَدَهْوَرُ</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لَمَا تَدَهْوَرَتِ</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counterfactual </a:t>
            </a:r>
            <a:pPr algn="l" indent="0" marL="0">
              <a:buNone/>
            </a:pPr>
            <a:r>
              <a:rPr lang="ar-SA" altLang="en-US" sz="1350" dirty="0">
                <a:solidFill>
                  <a:srgbClr val="8A6D1E"/>
                </a:solidFill>
                <a:latin typeface="Amiri" pitchFamily="2" charset="-78"/>
                <a:ea typeface="Amiri" pitchFamily="2" charset="-78"/>
                <a:cs typeface="Amiri" pitchFamily="2" charset="-78"/>
              </a:rPr>
              <a:t>لَوْ</a:t>
            </a:r>
            <a:pPr algn="l" indent="0" marL="0">
              <a:buNone/>
            </a:pPr>
            <a:r>
              <a:rPr lang="en-US" sz="1050" i="1" dirty="0">
                <a:solidFill>
                  <a:srgbClr val="8A6D1E"/>
                </a:solidFill>
                <a:latin typeface="Calibri" pitchFamily="34" charset="0"/>
                <a:cs typeface="Amiri" pitchFamily="2" charset="-78"/>
              </a:rPr>
              <a:t> conditional takes a </a:t>
            </a:r>
            <a:pPr algn="l" indent="0" marL="0">
              <a:buNone/>
            </a:pPr>
            <a:r>
              <a:rPr lang="ar-SA" altLang="en-US" sz="1350" dirty="0">
                <a:solidFill>
                  <a:srgbClr val="8A6D1E"/>
                </a:solidFill>
                <a:latin typeface="Amiri" pitchFamily="2" charset="-78"/>
                <a:ea typeface="Amiri" pitchFamily="2" charset="-78"/>
                <a:cs typeface="Amiri" pitchFamily="2" charset="-78"/>
              </a:rPr>
              <a:t>لَـ</a:t>
            </a:r>
            <a:pPr algn="l" indent="0" marL="0">
              <a:buNone/>
            </a:pPr>
            <a:r>
              <a:rPr lang="en-US" sz="1050" i="1" dirty="0">
                <a:solidFill>
                  <a:srgbClr val="8A6D1E"/>
                </a:solidFill>
                <a:latin typeface="Calibri" pitchFamily="34" charset="0"/>
                <a:cs typeface="Amiri" pitchFamily="2" charset="-78"/>
              </a:rPr>
              <a:t> result (here the negative </a:t>
            </a:r>
            <a:pPr algn="l" indent="0" marL="0">
              <a:buNone/>
            </a:pPr>
            <a:r>
              <a:rPr lang="ar-SA" altLang="en-US" sz="1350" dirty="0">
                <a:solidFill>
                  <a:srgbClr val="8A6D1E"/>
                </a:solidFill>
                <a:latin typeface="Amiri" pitchFamily="2" charset="-78"/>
                <a:ea typeface="Amiri" pitchFamily="2" charset="-78"/>
                <a:cs typeface="Amiri" pitchFamily="2" charset="-78"/>
              </a:rPr>
              <a:t>لَمَا</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purpose of the text?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To persuade the reader to practise responsible tourism</a:t>
            </a:r>
            <a:endParaRPr lang="en-US" sz="11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report the news</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entertain only</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الغَرَضُ مِنَ النَّصِّ إِقْنَاعُ القَارِئِ بِالسِّيَاحَةِ المَسْؤُولَةِ.</a:t>
            </a:r>
            <a:endParaRPr lang="ar-SA" sz="1350" dirty="0"/>
          </a:p>
        </p:txBody>
      </p:sp>
      <p:sp>
        <p:nvSpPr>
          <p:cNvPr id="90" name="Text 8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28</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P3-L12 · P3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WRITING · QUESTION 1 · TRAVEL FORM · 5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Complete the travel form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اسْتِمَارَةُ السَّفَرِ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2843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Your answer in Arabic</a:t>
            </a:r>
            <a:endParaRPr lang="en-US" sz="1100" dirty="0"/>
          </a:p>
        </p:txBody>
      </p:sp>
      <p:sp>
        <p:nvSpPr>
          <p:cNvPr id="17" name="Text 14"/>
          <p:cNvSpPr txBox="1"/>
          <p:nvPr/>
        </p:nvSpPr>
        <p:spPr>
          <a:xfrm>
            <a:off x="3822192"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Arabic label</a:t>
            </a:r>
            <a:endParaRPr lang="en-US" sz="1100" dirty="0"/>
          </a:p>
        </p:txBody>
      </p:sp>
      <p:sp>
        <p:nvSpPr>
          <p:cNvPr id="18" name="Text 15"/>
          <p:cNvSpPr txBox="1"/>
          <p:nvPr/>
        </p:nvSpPr>
        <p:spPr>
          <a:xfrm>
            <a:off x="53035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Field</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8065008" y="2267712"/>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1" name="Text 18"/>
          <p:cNvSpPr txBox="1"/>
          <p:nvPr/>
        </p:nvSpPr>
        <p:spPr>
          <a:xfrm>
            <a:off x="3840480" y="2267712"/>
            <a:ext cx="402336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الوِجْهَةُ وَمَكَانُ الإِقَامَةِ بِاسْتِعْمَالِ «يُقِيمُ فِي»</a:t>
            </a:r>
            <a:endParaRPr lang="ar-SA" sz="1800" dirty="0"/>
          </a:p>
        </p:txBody>
      </p:sp>
      <p:sp>
        <p:nvSpPr>
          <p:cNvPr id="22" name="Text 19"/>
          <p:cNvSpPr txBox="1"/>
          <p:nvPr/>
        </p:nvSpPr>
        <p:spPr>
          <a:xfrm>
            <a:off x="566928" y="2267712"/>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 · Destination and accommodation using yuqīm fī</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8065008" y="3004718"/>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7" name="Text 24"/>
          <p:cNvSpPr txBox="1"/>
          <p:nvPr/>
        </p:nvSpPr>
        <p:spPr>
          <a:xfrm>
            <a:off x="3840480" y="3004718"/>
            <a:ext cx="402336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طَرِيقَةُ الحَجْزِ بِاسْتِعْمَالِ «يَحْجِزُ»</a:t>
            </a:r>
            <a:endParaRPr lang="ar-SA" sz="1800" dirty="0"/>
          </a:p>
        </p:txBody>
      </p:sp>
      <p:sp>
        <p:nvSpPr>
          <p:cNvPr id="28" name="Text 25"/>
          <p:cNvSpPr txBox="1"/>
          <p:nvPr/>
        </p:nvSpPr>
        <p:spPr>
          <a:xfrm>
            <a:off x="566928" y="300471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 · Your booking method using yaḥjiz</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8065008" y="3741725"/>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3" name="Text 30"/>
          <p:cNvSpPr txBox="1"/>
          <p:nvPr/>
        </p:nvSpPr>
        <p:spPr>
          <a:xfrm>
            <a:off x="3840480" y="3741725"/>
            <a:ext cx="402336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إِنْجَازٌ سَابِقٌ عَنِ التَّحْضِيرِ بِاسْتِعْمَالِ «كُنْتُ قَدْ …»</a:t>
            </a:r>
            <a:endParaRPr lang="ar-SA" sz="1800" dirty="0"/>
          </a:p>
        </p:txBody>
      </p:sp>
      <p:sp>
        <p:nvSpPr>
          <p:cNvPr id="34" name="Text 31"/>
          <p:cNvSpPr txBox="1"/>
          <p:nvPr/>
        </p:nvSpPr>
        <p:spPr>
          <a:xfrm>
            <a:off x="566928" y="3741725"/>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 · A prior research/preparation statement using the past perfect</a:t>
            </a:r>
            <a:endParaRPr lang="en-US" sz="1100" dirty="0"/>
          </a:p>
        </p:txBody>
      </p:sp>
      <p:sp>
        <p:nvSpPr>
          <p:cNvPr id="35" name="Shape 32"/>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8" name="Text 35"/>
          <p:cNvSpPr txBox="1"/>
          <p:nvPr/>
        </p:nvSpPr>
        <p:spPr>
          <a:xfrm>
            <a:off x="8065008" y="4478731"/>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9" name="Text 36"/>
          <p:cNvSpPr txBox="1"/>
          <p:nvPr/>
        </p:nvSpPr>
        <p:spPr>
          <a:xfrm>
            <a:off x="3840480" y="4478731"/>
            <a:ext cx="402336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خُطَّةٌ شَرْطِيَّةٌ مِنَ النَّوْعِ الأَوَّلِ</a:t>
            </a:r>
            <a:endParaRPr lang="ar-SA" sz="1800" dirty="0"/>
          </a:p>
        </p:txBody>
      </p:sp>
      <p:sp>
        <p:nvSpPr>
          <p:cNvPr id="40" name="Text 37"/>
          <p:cNvSpPr txBox="1"/>
          <p:nvPr/>
        </p:nvSpPr>
        <p:spPr>
          <a:xfrm>
            <a:off x="566928" y="4478731"/>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 · A Type 1 conditional plan</a:t>
            </a:r>
            <a:endParaRPr lang="en-US" sz="1100" dirty="0"/>
          </a:p>
        </p:txBody>
      </p:sp>
      <p:sp>
        <p:nvSpPr>
          <p:cNvPr id="41" name="Shape 38"/>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Shape 40"/>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4" name="Text 41"/>
          <p:cNvSpPr txBox="1"/>
          <p:nvPr/>
        </p:nvSpPr>
        <p:spPr>
          <a:xfrm>
            <a:off x="8065008" y="5215738"/>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5" name="Text 42"/>
          <p:cNvSpPr txBox="1"/>
          <p:nvPr/>
        </p:nvSpPr>
        <p:spPr>
          <a:xfrm>
            <a:off x="3840480" y="5215738"/>
            <a:ext cx="402336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تَأَمُّلٌ شَرْطِيٌّ مِنَ النَّوْعِ الثَّانِي عَنْ رِحْلَةٍ سَابِقَةٍ</a:t>
            </a:r>
            <a:endParaRPr lang="ar-SA" sz="1800" dirty="0"/>
          </a:p>
        </p:txBody>
      </p:sp>
      <p:sp>
        <p:nvSpPr>
          <p:cNvPr id="46" name="Text 43"/>
          <p:cNvSpPr txBox="1"/>
          <p:nvPr/>
        </p:nvSpPr>
        <p:spPr>
          <a:xfrm>
            <a:off x="566928" y="521573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 · A Type 2 conditional reflection on a previous trip</a:t>
            </a:r>
            <a:endParaRPr lang="en-US" sz="1100" dirty="0"/>
          </a:p>
        </p:txBody>
      </p:sp>
      <p:sp>
        <p:nvSpPr>
          <p:cNvPr id="47" name="Shape 44"/>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Example: </a:t>
            </a:r>
            <a:pPr algn="l" indent="0" marL="0">
              <a:buNone/>
            </a:pPr>
            <a:r>
              <a:rPr lang="ar-SA" altLang="en-US" sz="1450" b="1" dirty="0">
                <a:solidFill>
                  <a:srgbClr val="1B3B6F"/>
                </a:solidFill>
                <a:latin typeface="Amiri" pitchFamily="2" charset="-78"/>
                <a:ea typeface="Amiri" pitchFamily="2" charset="-78"/>
                <a:cs typeface="Amiri" pitchFamily="2" charset="-78"/>
              </a:rPr>
              <a:t>سَأُقِيمُ فِي رِيَاضٍ فِي فَاسَ</a:t>
            </a:r>
            <a:pPr algn="l" indent="0" marL="0">
              <a:buNone/>
            </a:pPr>
            <a:r>
              <a:rPr lang="en-US" sz="1100" b="1" dirty="0">
                <a:solidFill>
                  <a:srgbClr val="1B3B6F"/>
                </a:solidFill>
                <a:latin typeface="Calibri" pitchFamily="34" charset="0"/>
                <a:cs typeface="Amiri" pitchFamily="2" charset="-78"/>
              </a:rPr>
              <a:t> · </a:t>
            </a:r>
            <a:pPr algn="l" indent="0" marL="0">
              <a:buNone/>
            </a:pPr>
            <a:r>
              <a:rPr lang="ar-SA" altLang="en-US" sz="1450" b="1" dirty="0">
                <a:solidFill>
                  <a:srgbClr val="1B3B6F"/>
                </a:solidFill>
                <a:latin typeface="Amiri" pitchFamily="2" charset="-78"/>
                <a:ea typeface="Amiri" pitchFamily="2" charset="-78"/>
                <a:cs typeface="Amiri" pitchFamily="2" charset="-78"/>
              </a:rPr>
              <a:t>حَجَزْتُ عَبْرَ الإِنْتَرْنِتْ</a:t>
            </a:r>
            <a:pPr algn="l" indent="0" marL="0">
              <a:buNone/>
            </a:pPr>
            <a:r>
              <a:rPr lang="en-US" sz="1100" b="1" dirty="0">
                <a:solidFill>
                  <a:srgbClr val="1B3B6F"/>
                </a:solidFill>
                <a:latin typeface="Calibri" pitchFamily="34" charset="0"/>
                <a:cs typeface="Amiri" pitchFamily="2" charset="-78"/>
              </a:rPr>
              <a:t> · </a:t>
            </a:r>
            <a:pPr algn="l" indent="0" marL="0">
              <a:buNone/>
            </a:pPr>
            <a:r>
              <a:rPr lang="ar-SA" altLang="en-US" sz="1450" b="1" dirty="0">
                <a:solidFill>
                  <a:srgbClr val="1B3B6F"/>
                </a:solidFill>
                <a:latin typeface="Amiri" pitchFamily="2" charset="-78"/>
                <a:ea typeface="Amiri" pitchFamily="2" charset="-78"/>
                <a:cs typeface="Amiri" pitchFamily="2" charset="-78"/>
              </a:rPr>
              <a:t>كُنْتُ قَدْ قَرَأْتُ عَنِ المَدِينَةِ</a:t>
            </a:r>
            <a:pPr algn="l" indent="0" marL="0">
              <a:buNone/>
            </a:pPr>
            <a:r>
              <a:rPr lang="en-US" sz="1100" b="1" dirty="0">
                <a:solidFill>
                  <a:srgbClr val="1B3B6F"/>
                </a:solidFill>
                <a:latin typeface="Calibri" pitchFamily="34" charset="0"/>
                <a:cs typeface="Amiri" pitchFamily="2" charset="-78"/>
              </a:rPr>
              <a:t> · </a:t>
            </a:r>
            <a:pPr algn="l" indent="0" marL="0">
              <a:buNone/>
            </a:pPr>
            <a:r>
              <a:rPr lang="ar-SA" altLang="en-US" sz="1450" b="1" dirty="0">
                <a:solidFill>
                  <a:srgbClr val="1B3B6F"/>
                </a:solidFill>
                <a:latin typeface="Amiri" pitchFamily="2" charset="-78"/>
                <a:ea typeface="Amiri" pitchFamily="2" charset="-78"/>
                <a:cs typeface="Amiri" pitchFamily="2" charset="-78"/>
              </a:rPr>
              <a:t>إِذَا زُرْتُهَا، سَأَبْقَى أُسْبُوعًا</a:t>
            </a:r>
            <a:pPr algn="l" indent="0" marL="0">
              <a:buNone/>
            </a:pPr>
            <a:r>
              <a:rPr lang="en-US" sz="1100" b="1" dirty="0">
                <a:solidFill>
                  <a:srgbClr val="1B3B6F"/>
                </a:solidFill>
                <a:latin typeface="Calibri" pitchFamily="34" charset="0"/>
                <a:cs typeface="Amiri" pitchFamily="2" charset="-78"/>
              </a:rPr>
              <a:t> · </a:t>
            </a:r>
            <a:pPr algn="l" indent="0" marL="0">
              <a:buNone/>
            </a:pPr>
            <a:r>
              <a:rPr lang="ar-SA" altLang="en-US" sz="1450" b="1" dirty="0">
                <a:solidFill>
                  <a:srgbClr val="1B3B6F"/>
                </a:solidFill>
                <a:latin typeface="Amiri" pitchFamily="2" charset="-78"/>
                <a:ea typeface="Amiri" pitchFamily="2" charset="-78"/>
                <a:cs typeface="Amiri" pitchFamily="2" charset="-78"/>
              </a:rPr>
              <a:t>لَوْ بَقِيتُ أَطْوَلَ، لَرَأَيْتُ المَزِيدَ</a:t>
            </a:r>
            <a:endParaRPr lang="en-US" sz="110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28</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P3-L12 · P3 Assessment</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WRITING · QUESTION 2 · 145–160 WORDS · 15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travel article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مَقَالَةُ سَفَرٍ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479792" y="1810512"/>
            <a:ext cx="41788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Marks</a:t>
            </a:r>
            <a:endParaRPr lang="en-US" sz="1100" dirty="0"/>
          </a:p>
        </p:txBody>
      </p:sp>
      <p:sp>
        <p:nvSpPr>
          <p:cNvPr id="17" name="Text 14"/>
          <p:cNvSpPr txBox="1"/>
          <p:nvPr/>
        </p:nvSpPr>
        <p:spPr>
          <a:xfrm>
            <a:off x="530352" y="1810512"/>
            <a:ext cx="6803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Website mark scheme</a:t>
            </a:r>
            <a:endParaRPr lang="en-US" sz="1100" dirty="0"/>
          </a:p>
        </p:txBody>
      </p:sp>
      <p:sp>
        <p:nvSpPr>
          <p:cNvPr id="18" name="Shape 15"/>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19" name="Text 16"/>
          <p:cNvSpPr txBox="1"/>
          <p:nvPr/>
        </p:nvSpPr>
        <p:spPr>
          <a:xfrm>
            <a:off x="7516368" y="2267712"/>
            <a:ext cx="41422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Task completion (TC) /5</a:t>
            </a:r>
            <a:endParaRPr lang="en-US" sz="1100" dirty="0"/>
          </a:p>
        </p:txBody>
      </p:sp>
      <p:sp>
        <p:nvSpPr>
          <p:cNvPr id="20" name="Text 17"/>
          <p:cNvSpPr txBox="1"/>
          <p:nvPr/>
        </p:nvSpPr>
        <p:spPr>
          <a:xfrm>
            <a:off x="566928" y="2267712"/>
            <a:ext cx="6766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destination is described and the journey or booking is covered with yaḥjiz / yuqīm. · The experience is narrated with a past-perfect background. · Both a Type 1 recommendation and a Type 2 reflection are present; 145-160 words.</a:t>
            </a:r>
            <a:endParaRPr lang="en-US" sz="1100" dirty="0"/>
          </a:p>
        </p:txBody>
      </p:sp>
      <p:sp>
        <p:nvSpPr>
          <p:cNvPr id="21" name="Shape 18"/>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2" name="Text 19"/>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7516368" y="3054096"/>
            <a:ext cx="41422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Range /5</a:t>
            </a:r>
            <a:endParaRPr lang="en-US" sz="1100" dirty="0"/>
          </a:p>
        </p:txBody>
      </p:sp>
      <p:sp>
        <p:nvSpPr>
          <p:cNvPr id="25" name="Text 22"/>
          <p:cNvSpPr txBox="1"/>
          <p:nvPr/>
        </p:nvSpPr>
        <p:spPr>
          <a:xfrm>
            <a:off x="566928" y="3054096"/>
            <a:ext cx="6766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Type 1 conditional (idhā + past → sa-) — one mark. · A Type 2 conditional (law + past → la-) — a second, separate mark. · Past perfect (kāna qad), reported speech with a verb other than qāla, and a tourism verb (yastaqṭib / yubhir).</a:t>
            </a:r>
            <a:endParaRPr lang="en-US" sz="1100" dirty="0"/>
          </a:p>
        </p:txBody>
      </p:sp>
      <p:sp>
        <p:nvSpPr>
          <p:cNvPr id="26" name="Shape 23"/>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8" name="Shape 25"/>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9" name="Text 26"/>
          <p:cNvSpPr txBox="1"/>
          <p:nvPr/>
        </p:nvSpPr>
        <p:spPr>
          <a:xfrm>
            <a:off x="7516368" y="3840480"/>
            <a:ext cx="41422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Accuracy /5</a:t>
            </a:r>
            <a:endParaRPr lang="en-US" sz="1100" dirty="0"/>
          </a:p>
        </p:txBody>
      </p:sp>
      <p:sp>
        <p:nvSpPr>
          <p:cNvPr id="30" name="Text 27"/>
          <p:cNvSpPr txBox="1"/>
          <p:nvPr/>
        </p:nvSpPr>
        <p:spPr>
          <a:xfrm>
            <a:off x="566928" y="3840480"/>
            <a:ext cx="6766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Type 2 la- prefix in the result clause (2 marks — the primary criterion). · Past-perfect kāna / kānat agreement (2 marks). · Reported speech inna after qāla, anna after other verbs (1 mark).</a:t>
            </a:r>
            <a:endParaRPr lang="en-US" sz="1100" dirty="0"/>
          </a:p>
        </p:txBody>
      </p:sp>
      <p:sp>
        <p:nvSpPr>
          <p:cNvPr id="31" name="Shape 28"/>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3" name="Text 3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Independent evidence: no translation software or AI. Plan the four paragraphs (P3-L09): narrative (kuntu qad) · recommend (idhā) · reflect (law) · conclude.</a:t>
            </a:r>
            <a:endParaRPr lang="en-US" sz="11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28</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P3-L12 · P3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SPEAKING · PART C · ROLE PLAY · 4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Role play: a travel-agency consultation</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فِي وَكَالَةِ السَّفَرِ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565392" y="1810512"/>
            <a:ext cx="50932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is assessed</a:t>
            </a:r>
            <a:endParaRPr lang="en-US" sz="1100" dirty="0"/>
          </a:p>
        </p:txBody>
      </p:sp>
      <p:sp>
        <p:nvSpPr>
          <p:cNvPr id="17" name="Text 14"/>
          <p:cNvSpPr txBox="1"/>
          <p:nvPr/>
        </p:nvSpPr>
        <p:spPr>
          <a:xfrm>
            <a:off x="5303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Prompt (website)</a:t>
            </a:r>
            <a:endParaRPr lang="en-US" sz="1100" dirty="0"/>
          </a:p>
        </p:txBody>
      </p:sp>
      <p:sp>
        <p:nvSpPr>
          <p:cNvPr id="18" name="Shape 15"/>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19" name="Text 16"/>
          <p:cNvSpPr txBox="1"/>
          <p:nvPr/>
        </p:nvSpPr>
        <p:spPr>
          <a:xfrm>
            <a:off x="6601968" y="2267712"/>
            <a:ext cx="50566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Ask about a destination; the response should use yastaqṭib or yatamayyaz bi-.</a:t>
            </a:r>
            <a:endParaRPr lang="en-US" sz="1100" dirty="0"/>
          </a:p>
        </p:txBody>
      </p:sp>
      <p:sp>
        <p:nvSpPr>
          <p:cNvPr id="20" name="Text 17"/>
          <p:cNvSpPr txBox="1"/>
          <p:nvPr/>
        </p:nvSpPr>
        <p:spPr>
          <a:xfrm>
            <a:off x="548640" y="2267712"/>
            <a:ext cx="5852160" cy="731520"/>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اسْأَلْ عَنْ وِجْهَةٍ سِيَاحِيَّةٍ.</a:t>
            </a:r>
            <a:endParaRPr lang="ar-SA" sz="1800" dirty="0"/>
          </a:p>
        </p:txBody>
      </p:sp>
      <p:sp>
        <p:nvSpPr>
          <p:cNvPr id="21" name="Shape 18"/>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2" name="Text 19"/>
          <p:cNvSpPr txBox="1"/>
          <p:nvPr/>
        </p:nvSpPr>
        <p:spPr>
          <a:xfrm>
            <a:off x="6601968" y="3054096"/>
            <a:ext cx="50566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Ask about booking and accommodation options using yaḥjiz and yuqīm.</a:t>
            </a:r>
            <a:endParaRPr lang="en-US" sz="1100" dirty="0"/>
          </a:p>
        </p:txBody>
      </p:sp>
      <p:sp>
        <p:nvSpPr>
          <p:cNvPr id="23" name="Text 20"/>
          <p:cNvSpPr txBox="1"/>
          <p:nvPr/>
        </p:nvSpPr>
        <p:spPr>
          <a:xfrm>
            <a:off x="548640" y="3054096"/>
            <a:ext cx="5852160" cy="731520"/>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اسْأَلْ عَنْ خِيَارَاتِ الحَجْزِ وَالإِقَامَةِ.</a:t>
            </a:r>
            <a:endParaRPr lang="ar-SA" sz="1800" dirty="0"/>
          </a:p>
        </p:txBody>
      </p:sp>
      <p:sp>
        <p:nvSpPr>
          <p:cNvPr id="24" name="Shape 21"/>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5" name="Text 22"/>
          <p:cNvSpPr txBox="1"/>
          <p:nvPr/>
        </p:nvSpPr>
        <p:spPr>
          <a:xfrm>
            <a:off x="6601968" y="3840480"/>
            <a:ext cx="50566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Describe a problem you faced on a past holiday, using the past and the past perfect.</a:t>
            </a:r>
            <a:endParaRPr lang="en-US" sz="1100" dirty="0"/>
          </a:p>
        </p:txBody>
      </p:sp>
      <p:sp>
        <p:nvSpPr>
          <p:cNvPr id="26" name="Text 23"/>
          <p:cNvSpPr txBox="1"/>
          <p:nvPr/>
        </p:nvSpPr>
        <p:spPr>
          <a:xfrm>
            <a:off x="548640" y="3840480"/>
            <a:ext cx="5852160" cy="731520"/>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صِفْ مُشْكِلَةً وَاجَهْتَهَا فِي إِجَازَةٍ سَابِقَةٍ.</a:t>
            </a:r>
            <a:endParaRPr lang="ar-SA" sz="1800" dirty="0"/>
          </a:p>
        </p:txBody>
      </p:sp>
      <p:sp>
        <p:nvSpPr>
          <p:cNvPr id="27" name="Shape 2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6601968" y="4626864"/>
            <a:ext cx="50566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Ask the agent for a conditional recommendation using a Type 1 conditional.</a:t>
            </a:r>
            <a:endParaRPr lang="en-US" sz="1100" dirty="0"/>
          </a:p>
        </p:txBody>
      </p:sp>
      <p:sp>
        <p:nvSpPr>
          <p:cNvPr id="29" name="Text 26"/>
          <p:cNvSpPr txBox="1"/>
          <p:nvPr/>
        </p:nvSpPr>
        <p:spPr>
          <a:xfrm>
            <a:off x="548640" y="4626864"/>
            <a:ext cx="5852160" cy="731520"/>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اطْلُبْ تَوْصِيَةً شَرْطِيَّةً مِنَ الوَكِيلِ.</a:t>
            </a:r>
            <a:endParaRPr lang="ar-SA" sz="1800" dirty="0"/>
          </a:p>
        </p:txBody>
      </p:sp>
      <p:sp>
        <p:nvSpPr>
          <p:cNvPr id="30" name="Text 2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Marks (website): communication 2 · accuracy 2 (yaḥjiz / yuqīm past forms in prompt 3 · an accurate Type 1 recommendation).</a:t>
            </a:r>
            <a:endParaRPr lang="en-US" sz="1150" dirty="0"/>
          </a:p>
        </p:txBody>
      </p:sp>
      <p:sp>
        <p:nvSpPr>
          <p:cNvPr id="31" name="Text 2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28</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P3-L12 · P3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SPEAKING · PART C · TOPIC CONVERSATION · 6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Topic conversation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المُحَادَثَةُ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291072" y="1810512"/>
            <a:ext cx="5367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 → required</a:t>
            </a:r>
            <a:endParaRPr lang="en-US" sz="1100" dirty="0"/>
          </a:p>
        </p:txBody>
      </p:sp>
      <p:sp>
        <p:nvSpPr>
          <p:cNvPr id="17" name="Text 14"/>
          <p:cNvSpPr txBox="1"/>
          <p:nvPr/>
        </p:nvSpPr>
        <p:spPr>
          <a:xfrm>
            <a:off x="530352" y="1810512"/>
            <a:ext cx="56144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Question (website)</a:t>
            </a:r>
            <a:endParaRPr lang="en-US" sz="1100" dirty="0"/>
          </a:p>
        </p:txBody>
      </p:sp>
      <p:sp>
        <p:nvSpPr>
          <p:cNvPr id="18" name="Shape 15"/>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19" name="Text 16"/>
          <p:cNvSpPr txBox="1"/>
          <p:nvPr/>
        </p:nvSpPr>
        <p:spPr>
          <a:xfrm>
            <a:off x="6327648" y="2267712"/>
            <a:ext cx="53309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Describe a past holiday — what had you expected? → past perfect required</a:t>
            </a:r>
            <a:endParaRPr lang="en-US" sz="1100" dirty="0"/>
          </a:p>
        </p:txBody>
      </p:sp>
      <p:sp>
        <p:nvSpPr>
          <p:cNvPr id="20" name="Text 17"/>
          <p:cNvSpPr txBox="1"/>
          <p:nvPr/>
        </p:nvSpPr>
        <p:spPr>
          <a:xfrm>
            <a:off x="548640" y="2267712"/>
            <a:ext cx="5577840" cy="731520"/>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صِفْ إِجَازَةً مَاضِيَةً — مَا الَّذِي كُنْتَ قَدْ تَوَقَّعْتَهُ؟</a:t>
            </a:r>
            <a:endParaRPr lang="ar-SA" sz="1800" dirty="0"/>
          </a:p>
        </p:txBody>
      </p:sp>
      <p:sp>
        <p:nvSpPr>
          <p:cNvPr id="21" name="Shape 18"/>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2" name="Text 19"/>
          <p:cNvSpPr txBox="1"/>
          <p:nvPr/>
        </p:nvSpPr>
        <p:spPr>
          <a:xfrm>
            <a:off x="6327648" y="3054096"/>
            <a:ext cx="53309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is your view on sustainable tourism? → a Type 1 conditional expected</a:t>
            </a:r>
            <a:endParaRPr lang="en-US" sz="1100" dirty="0"/>
          </a:p>
        </p:txBody>
      </p:sp>
      <p:sp>
        <p:nvSpPr>
          <p:cNvPr id="23" name="Text 20"/>
          <p:cNvSpPr txBox="1"/>
          <p:nvPr/>
        </p:nvSpPr>
        <p:spPr>
          <a:xfrm>
            <a:off x="548640" y="3054096"/>
            <a:ext cx="5577840" cy="731520"/>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 رَأْيُكَ فِي السِّيَاحَةِ المُسْتَدَامَةِ؟</a:t>
            </a:r>
            <a:endParaRPr lang="ar-SA" sz="1800" dirty="0"/>
          </a:p>
        </p:txBody>
      </p:sp>
      <p:sp>
        <p:nvSpPr>
          <p:cNvPr id="24" name="Shape 21"/>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5" name="Text 22"/>
          <p:cNvSpPr txBox="1"/>
          <p:nvPr/>
        </p:nvSpPr>
        <p:spPr>
          <a:xfrm>
            <a:off x="6327648" y="3840480"/>
            <a:ext cx="53309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If you had an unlimited travel budget, where would you go? → Type 2 conditional required</a:t>
            </a:r>
            <a:endParaRPr lang="en-US" sz="1100" dirty="0"/>
          </a:p>
        </p:txBody>
      </p:sp>
      <p:sp>
        <p:nvSpPr>
          <p:cNvPr id="26" name="Text 23"/>
          <p:cNvSpPr txBox="1"/>
          <p:nvPr/>
        </p:nvSpPr>
        <p:spPr>
          <a:xfrm>
            <a:off x="548640" y="3840480"/>
            <a:ext cx="5577840" cy="731520"/>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لَوْ كَانَ لَدَيْكَ مِيزَانِيَّةٌ غَيْرُ مَحْدُودَةٍ لِلسَّفَرِ، أَيْنَ سَتَذْهَبُ؟</a:t>
            </a:r>
            <a:endParaRPr lang="ar-SA" sz="1800" dirty="0"/>
          </a:p>
        </p:txBody>
      </p:sp>
      <p:sp>
        <p:nvSpPr>
          <p:cNvPr id="27" name="Text 2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Marks (website): communication 3 · quality of language 3 — the examiner records whether the Type 2 is produced or avoided.</a:t>
            </a:r>
            <a:endParaRPr lang="en-US" sz="11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28</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P3-L12 · P3 Assessment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RESULTS · YOUR P3 FOUR-SKILLS PROFILE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My P3 score profile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مِلَفُّ المَهَارَاتِ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695944"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Section</a:t>
            </a:r>
            <a:endParaRPr lang="en-US" sz="1100" dirty="0"/>
          </a:p>
        </p:txBody>
      </p:sp>
      <p:sp>
        <p:nvSpPr>
          <p:cNvPr id="17" name="Text 14"/>
          <p:cNvSpPr txBox="1"/>
          <p:nvPr/>
        </p:nvSpPr>
        <p:spPr>
          <a:xfrm>
            <a:off x="6867144" y="1810512"/>
            <a:ext cx="1682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My score</a:t>
            </a:r>
            <a:endParaRPr lang="en-US" sz="1100" dirty="0"/>
          </a:p>
        </p:txBody>
      </p:sp>
      <p:sp>
        <p:nvSpPr>
          <p:cNvPr id="18" name="Text 15"/>
          <p:cNvSpPr txBox="1"/>
          <p:nvPr/>
        </p:nvSpPr>
        <p:spPr>
          <a:xfrm>
            <a:off x="530352" y="1810512"/>
            <a:ext cx="6190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Teacher guide (total /60)</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732520" y="2267712"/>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 Listening</a:t>
            </a:r>
            <a:endParaRPr lang="en-US" sz="1100" dirty="0"/>
          </a:p>
        </p:txBody>
      </p:sp>
      <p:sp>
        <p:nvSpPr>
          <p:cNvPr id="21" name="Text 18"/>
          <p:cNvSpPr txBox="1"/>
          <p:nvPr/>
        </p:nvSpPr>
        <p:spPr>
          <a:xfrm>
            <a:off x="6903720" y="2267712"/>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/20</a:t>
            </a:r>
            <a:endParaRPr lang="en-US" sz="1100" dirty="0"/>
          </a:p>
        </p:txBody>
      </p:sp>
      <p:sp>
        <p:nvSpPr>
          <p:cNvPr id="22" name="Text 19"/>
          <p:cNvSpPr txBox="1"/>
          <p:nvPr/>
        </p:nvSpPr>
        <p:spPr>
          <a:xfrm>
            <a:off x="566928" y="2267712"/>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54–60 Excellent — accurate, varied Arabic about travel and tourism</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732520" y="3054096"/>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B1 · Reading</a:t>
            </a:r>
            <a:endParaRPr lang="en-US" sz="1100" dirty="0"/>
          </a:p>
        </p:txBody>
      </p:sp>
      <p:sp>
        <p:nvSpPr>
          <p:cNvPr id="27" name="Text 24"/>
          <p:cNvSpPr txBox="1"/>
          <p:nvPr/>
        </p:nvSpPr>
        <p:spPr>
          <a:xfrm>
            <a:off x="6903720" y="3054096"/>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/10</a:t>
            </a:r>
            <a:endParaRPr lang="en-US" sz="1100" dirty="0"/>
          </a:p>
        </p:txBody>
      </p:sp>
      <p:sp>
        <p:nvSpPr>
          <p:cNvPr id="28" name="Text 25"/>
          <p:cNvSpPr txBox="1"/>
          <p:nvPr/>
        </p:nvSpPr>
        <p:spPr>
          <a:xfrm>
            <a:off x="566928" y="3054096"/>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42–53 Good — secure, with a few focused gaps</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732520" y="3840480"/>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B2 · Writing</a:t>
            </a:r>
            <a:endParaRPr lang="en-US" sz="1100" dirty="0"/>
          </a:p>
        </p:txBody>
      </p:sp>
      <p:sp>
        <p:nvSpPr>
          <p:cNvPr id="33" name="Text 30"/>
          <p:cNvSpPr txBox="1"/>
          <p:nvPr/>
        </p:nvSpPr>
        <p:spPr>
          <a:xfrm>
            <a:off x="6903720" y="3840480"/>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/20</a:t>
            </a:r>
            <a:endParaRPr lang="en-US" sz="1100" dirty="0"/>
          </a:p>
        </p:txBody>
      </p:sp>
      <p:sp>
        <p:nvSpPr>
          <p:cNvPr id="34" name="Text 31"/>
          <p:cNvSpPr txBox="1"/>
          <p:nvPr/>
        </p:nvSpPr>
        <p:spPr>
          <a:xfrm>
            <a:off x="566928" y="3840480"/>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30–41 Satisfactory — core communication in place</a:t>
            </a:r>
            <a:endParaRPr lang="en-US" sz="1100" dirty="0"/>
          </a:p>
        </p:txBody>
      </p:sp>
      <p:sp>
        <p:nvSpPr>
          <p:cNvPr id="35" name="Shape 32"/>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8732520" y="4626864"/>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 · Speaking</a:t>
            </a:r>
            <a:endParaRPr lang="en-US" sz="1100" dirty="0"/>
          </a:p>
        </p:txBody>
      </p:sp>
      <p:sp>
        <p:nvSpPr>
          <p:cNvPr id="39" name="Text 36"/>
          <p:cNvSpPr txBox="1"/>
          <p:nvPr/>
        </p:nvSpPr>
        <p:spPr>
          <a:xfrm>
            <a:off x="6903720" y="4626864"/>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/10</a:t>
            </a:r>
            <a:endParaRPr lang="en-US" sz="1100" dirty="0"/>
          </a:p>
        </p:txBody>
      </p:sp>
      <p:sp>
        <p:nvSpPr>
          <p:cNvPr id="40" name="Text 37"/>
          <p:cNvSpPr txBox="1"/>
          <p:nvPr/>
        </p:nvSpPr>
        <p:spPr>
          <a:xfrm>
            <a:off x="566928" y="4626864"/>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Below 30 — revisit P3-L03, L05 and L07 with guided practice</a:t>
            </a:r>
            <a:endParaRPr lang="en-US" sz="1100" dirty="0"/>
          </a:p>
        </p:txBody>
      </p:sp>
      <p:sp>
        <p:nvSpPr>
          <p:cNvPr id="41" name="Shape 38"/>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My writing improvement target … · My speaking improvement target …</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28</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P3-L12 · P3 Assessment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describe a trip with kuntu qad + past and yaḥjiz / yuqīm.</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recommend with idhā … sa- (or fa-lā budda min).</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reflect with law … la- — and answer a law question with law.</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report a guide (qāla inna · ashāra ilā anna) and advise with yustaḥsan an.</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write a 145–160-word travel article with eight Range markers.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28</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P3-L12 · P3 Assessment</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P4-L01: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P3-L12</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P4-L01 · The Natural World — Landscapes, Ecosystems and Biodiversity</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نِظَامٌ بِيئِيٌّ</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an ecosystem</a:t>
            </a:r>
            <a:pPr indent="0" marL="0">
              <a:buNone/>
            </a:pPr>
            <a:r>
              <a:rPr lang="ar-SA" sz="1000" i="1" dirty="0">
                <a:solidFill>
                  <a:srgbClr val="5A6472"/>
                </a:solidFill>
                <a:latin typeface="Calibri" pitchFamily="34" charset="0"/>
                <a:ea typeface="Amiri" pitchFamily="2" charset="-78"/>
                <a:cs typeface="Amiri" pitchFamily="2" charset="-78"/>
              </a:rPr>
              <a:t>  pl. أَنْظِمَةٌ بِيئِيَّةٌ</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تَنَوُّعٌ حَيَوِيٌّ</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biodiversity</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مَوْطِنٌ طَبِيعِيٌّ</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natural habitat</a:t>
            </a:r>
            <a:pPr indent="0" marL="0">
              <a:buNone/>
            </a:pPr>
            <a:r>
              <a:rPr lang="ar-SA" sz="1000" i="1" dirty="0">
                <a:solidFill>
                  <a:srgbClr val="5A6472"/>
                </a:solidFill>
                <a:latin typeface="Calibri" pitchFamily="34" charset="0"/>
                <a:ea typeface="Amiri" pitchFamily="2" charset="-78"/>
                <a:cs typeface="Amiri" pitchFamily="2" charset="-78"/>
              </a:rPr>
              <a:t>  pl. مَوَاطِنُ</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يُهَدِّدُ</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it threatens</a:t>
            </a:r>
            <a:pPr indent="0" marL="0">
              <a:buNone/>
            </a:pPr>
            <a:r>
              <a:rPr lang="ar-SA" sz="1000" i="1" dirty="0">
                <a:solidFill>
                  <a:srgbClr val="5A6472"/>
                </a:solidFill>
                <a:latin typeface="Calibri" pitchFamily="34" charset="0"/>
                <a:ea typeface="Amiri" pitchFamily="2" charset="-78"/>
                <a:cs typeface="Amiri" pitchFamily="2" charset="-78"/>
              </a:rPr>
              <a:t>  تُهَدِّدُ she / it (f.)</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لِكَيْ</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so that, in order to</a:t>
            </a:r>
            <a:pPr indent="0" marL="0">
              <a:buNone/>
            </a:pPr>
            <a:r>
              <a:rPr lang="en-US" sz="1000" i="1" dirty="0">
                <a:solidFill>
                  <a:srgbClr val="5A6472"/>
                </a:solidFill>
                <a:latin typeface="Calibri" pitchFamily="34" charset="0"/>
                <a:cs typeface="Amiri" pitchFamily="2" charset="-78"/>
              </a:rPr>
              <a:t>  + verb in -a</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Which natural place would you most like to protect, and why?</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2" charset="-78"/>
                <a:ea typeface="Amiri" pitchFamily="2" charset="-78"/>
                <a:cs typeface="Amiri" pitchFamily="2" charset="-78"/>
              </a:rPr>
              <a:t>أُرِيدُ أَنْ أَحْمِيَ ______ لِكَيْ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Redo the website P3-L12 section with your lowest score; learn the five P4 words.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Improve one paragraph of your assessed article (add a missing structure), then learn the five P4 words.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three sentences about a natural place you know, using the five words and one li-kay + a verb in -a.</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28</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P3-L12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P4-L01 · The Natural World — Landscapes, Ecosystems and Biodiversity</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العَالَمُ الطَّبِيعِيُّ</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P3 complete — well done! Carry the P3 checklist into P4: kuntu qad · idhā … sa- · law … la- · qāla inna · an + a verb in -a.</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P3-L12 · Review and Unit Assessment: Travel, Holidays and Transport</dc:title>
  <dc:subject>PptxGenJS Presentation</dc:subject>
  <dc:creator>Al Madina Online School · Arabic Department</dc:creator>
  <cp:lastModifiedBy>Al Madina Online School · Arabic Department</cp:lastModifiedBy>
  <cp:revision>1</cp:revision>
  <dcterms:created xsi:type="dcterms:W3CDTF">2026-10-11T06:43:15Z</dcterms:created>
  <dcterms:modified xsi:type="dcterms:W3CDTF">2026-10-11T06:43:15Z</dcterms:modified>
</cp:coreProperties>
</file>