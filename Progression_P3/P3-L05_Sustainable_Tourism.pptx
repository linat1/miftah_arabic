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P3-L05. The website lesson “Sustainable Tourism — The Ethics and Impact of Travel”: vocabulary, grammar rules and quiz, patterns, common mistakes, sorter, listening, reading, speaking prompts and model, writing task and model, differentiation, final check and the lesson mission. Picture match: website visual game “Sustainable Tourism — The Ethics and Impact of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benefit and three harm sentences with correct complements (website Core). Develop: add a Type 1 concern and a Type 2 counterfactual. Stretch: a balanced 100–110-word argument citing a report and closing with a solution.
• Keep it balanced and hopeful: tourism brings jobs and pride as well as harm. Our faith teaches us to be trustees of the earth (khalīfa) and to avoid waste (isrāf) — a natural link for students who want to bring it in.
• The two conditionals are the heart of the lesson: idhā = a real, likely future (sa- + present); law = an unreal past (la- + past). The website’s commonest error is sa- after law.
• Grammar links: Type 1 (P1-L03) · law kuntu … la-kāna (P3-L02) · law lam … lamā (P3-L03) · reported speech ashāra ilā anna (P2-L02).
• TEACHER-WRITTEN ITEMS: waṣl alif shown without a kasra; spelling fix عَلَاوَةً → عِلَاوَةً; writing-checklist words given full case endings; rule headings and formulas in English and transliteration; sorter headings in transliteration; the verb, conditional and report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P3-L04. Questions 4–5 retrieve yatamayyaz bi- and the idhā … fa-lā budda min recommendation (P3-L04) — today we use idhā again, this time for a warning.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and likely → idhā … sa-. Unreal, in the past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فائدہ، اقتصاد، تنظیم and نسبت are all shared. Careful with نسبت: in Urdu it often means “relation, connection”; in a report بِنِسْبَةِ ٢٠٪ means “by 20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Sustainable tourism (website vocabulary (1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Sustainable tourism (website vocabulary (2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argument verbs (website vocabulary (1 of 2)). Hear → Say → See → Use. Transliteration is printed for Core students (cover it for Develop/Stretch).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argument verbs (website vocabulary (2 of 2)). Hear → Say → See → Use. Transliteration is printed for Core students (cover it for Develop/Stretch).
FLEX: teach if time allows; otherwise these are on the website vocabulary tab for homework.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Data and connectors (website vocabulary (1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Data and connectors (website vocabulary (2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“Impact verbs”, teaching point 2 and mistakes 1–2. Rows 3–5 are from the website reading and listening texts.
Variation: the website also uses ضَرَرًا بَالِغًا (indefinite): تُلْحِقُ السِّيَاحَةُ الجَوِّيَّةُ ضَرَرًا بَالِغًا بِالبِيئَةِ — the partner بِـ stays.
Environment retrieval: الانْبِعَاثَاتُ الكَرْبُونِيَّةُ (carbon emissions) · البِيئَةُ (the environment) · المَوَاقِعُ الهَشَّةُ (fragile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“Real concern (Type 1)” and “Counterfactual regret (Type 2)”, teaching point 1, the website table and mistake 3.
Ask: “Has it happened? Can it still happen?” If it is a real trend that can still happen → إِذَا … سَـ. If it is the past and it did NOT happen → لَوْ … لَـ.
Row 2: لَمْ + jussive after إِذَا (نُنَظِّمِ — the kasra is only there to join the next word). Row 5: the negative result لَمَا (P3-L03), from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“Cite and balance” and the reading: سِلَاحٌ ذُو حَدَّيْنِ (a double-edged sword) · فَمِنْ نَاحِيَةٍ … وَمِنْ نَاحِيَةٍ أُخْرَى (on the one hand … on the other).
Like إِنَّ, both أَنَّ and غَيْرَ أَنَّ make the next noun accusative (أَنَّ السِّيَاحَةَ) or take a pronoun (غَيْرَ أَنَّهَا).
قَدْ + present = “may, might” — it softens a claim, which makes an argument sound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and writing model.
بِنِسْبَةِ is followed by a number or adjective: بِنِسْبَةِ ٢٠٪ · بِنِسْبَةٍ كَبِيرَةٍ.
The passive: تُنَظِّمُ (she regulates) → تُنَظَّمُ (it is regulated); تَحْمِي (she protects) → تُحْمَى (it is protected).
لَا تَقِلُّ أَهَمِّيَّةً عَنْ = is no less important than — a strong, formal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impact verbs with their complements, and both conditional types used to state a real concern and a counterfactual regret.”
• Impact verbs: Each keeps its fixed complement.
• Real concern (Type 1): A likely consequence of a real trend.
• Counterfactual regret (Type 2): What would have been better had things differed.
• Cite and balance: Report a benefit, then turn to a harm.
Website common error: Using إِذَا for a counterfactual regret. A real trend takes إِذَا … سَـ; what should have been done but did not happen takes لَوْ …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with evidence: tushīru l-taqārīru ilā anna. tushim takes FĪ. Turn: ghayra anna. Harm takes BI-. A real trend that can still happen → idhā … SA-. A past that did not happen → law … LA-kānat. Add a solution: ʿilāwatan ʿalā 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balanced argument from a reported benefit, a real concern and a counterfactual.” Website feedback: any three different combinations work.
Core: read row 1 across. Develop: find the two Type 1 sentences (column 2 row 2, column 3 row 2) and the Type 2 (column 3 row 1). Stretch: rewrite column 3 row 1 negatively: لَوْ لَمْ تُنَظِّمِ الحُكُومَاتُ الزِّيَارَاتِ، لَمَا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every conditional you hear Type 1 or Type 2.
Listen 1: just listen. Listen 2: note answers. Then chat the letters.
Support: after the second listening, show the read-along slide (Arabic + English, line by line) for Core students.
SCRIPT (read aloud):
تُشِيرُ التَّقَارِيرُ إِلَى أَنَّ السِّيَاحَةَ تُسْهِمُ بِنِسْبَةٍ كَبِيرَةٍ فِي النَّاتِجِ المَحَلِّيِّ الإِجْمَالِيِّ فِي كَثِيرٍ مِنَ الدُّوَلِ العَرَبِيَّةِ، وَأَكَّدَ البَاحِثُونَ أَنَّهَا تُوَفِّرُ مَلَايِينَ فُرَصِ العَمَلِ. غَيْرَ أَنَّ السِّيَاحَةَ المُفْرِطَةَ تُلْحِقُ الضَّرَرَ بِالمَوَاقِعِ الهَشَّةِ. إِذَا وَاصَلَ السُّيَّاحُ زِيَارَةَ البَتْرَاءِ بِأَعْدَادٍ قِيَاسِيَّةٍ، سَيَتَدَهْوَرُ حَالُ الأَبْنِيَةِ النَّبَطِيَّةِ. وَلَوِ اعْتَمَدَ الأُرْدُنُّ نِظَامَ الحِصَصِ مُنْذُ البِدَايَةِ، لَكَانَتْ حَالَةُ المَوْقِعِ أَفْضَلَ اليَوْمَ. عِلَاوَةً عَلَى ذٰلِكَ، إِذَا اعْتَمَدَتِ الدُّوَلُ ضَرِيبَةَ السِّيَاحَةِ، سَتُحْمَى المَوَاقِعُ لِلْأَجْيَالِ القَادِمَةِ. فَمَسْؤُولِيَّةُ السَّائِحِ لَا تَقِلُّ أَهَمِّيَّةً عَنْ سِيَاسَاتِ الدَّوْلَةِ.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الضَّرَرُ المُحْتَمَلُ؟ (Harm)
B: إِذَا لَمْ نُنَظِّمِ الزِّيَارَاتِ، سَيَتَدَهْوَرُ التُّرَاثُ، وَلَوْ فَرَضْنَا حِصَصًا مُبَكِّرًا، لَكَانَ حَالُهُ أَفْضَلَ. (Type 1 plus Type 2)
Website prompts and model. Pair debate (2 minutes): Student A argues FOR more tourism, Student B AGAINST; each must use one Type 1 and one Type 2. Then swap. To a girl: اسْتَشْهِدِي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benefit and three harm sentences with correct complements. · Develop — Add a Type 1 concern and a Type 2 counterfactual. · Stretch — Write a balanced argument citing a report and closing with a solution.
Website writing task (Stretch): Write one hundred to one hundred and ten words arguing for sustainable tourism. Cite a report, use environmental vocabulary, and include a Type 1 real concern, a Type 2 counterfactual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التَّقَارِيرُ إِلَى أَنَّ · تُسْهِمُ … فِي · غَيْرَ أَنَّ · تُلْحِقُ الضَّرَرَ بِالبِيئَةِ · البَصْمَةَ الكَرْبُونِيَّةَ · إِذَا وَاصَلَ … سَيَتَدَهْوَرُ · لَوْ كَانَتْ … لَكَانَتْ · عِلَاوَةً عَلَى ذٰلِكَ · سَتُحْمَى.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(P3-L06 · Travel Problems and Solutions — Dealing With the Unexpected) will spend class time USING this language, so students prepare it tonight — short, simple, easy to access (school guidance: “Simple, Short, Interesting, Relevant, Easy to access”). The five words come from the website P3-L06 vocabulary (travel problems).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Sustainable Tourism — The Ethics and Impact of Travel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السِّيَاحَةُ المُسْتَدَامَةُ — أَخْلَاقِيَّاتُ السَّفَرِ وَتَأْثِيرُهُ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about the ethics of travel: yushim fī and yulḥiq al-ḍarar bi-, a real concern with idhā … sa-, a counterfactual regret with law … la-, and a balanced turn with tushīr al-taqārīr … ghayra anna.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P3-L05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Impact verbs + complements, Type 1 vs Type 2, citing and balancing, data and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sustainable choices, build a balanced argument, sort benefit / harm / solution.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الاكْتِظَاظُ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eco-tourism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over-tourism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tourism tax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بَصْمَةٌ كَرْبُونِيَّةٌ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carbon footprint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carbon tax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يُلْحِقُ الضَّرَرَ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contributes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causes harm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تَتَمَيَّزُ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أَزِقَّتِهَا الضَّيِّقَةِ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إِذَا زُرْتَ المَغْرِبَ، فَلَا بُدَّ مِنْ زِيَارَةِ فَاسَ.</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إِذَا زُرْتَ المَغْرِبَ، لَا بُدَّ زِيَارَةَ فَاسَ.</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لَوْ زُرْتَ المَغْرِبَ، سَلَا بُدَّ مِنْ زِيَارَةِ فَاسَ.</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الاكْتِظَاظُ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eco-tourism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over-tourism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tourism tax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بَصْمَةٌ كَرْبُونِيَّةٌ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carbon footprint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carbon tax</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يُلْحِقُ الضَّرَرَ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contributes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causes harm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تَتَمَيَّزُ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أَزِقَّتِهَا الضَّيِّقَةِ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P3-L04: yatamayyaz is fixed with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recommendation.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المَغْرِبَ، فَلَا بُدَّ مِنْ زِيَارَةِ فَاسَ.</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إِذَا زُرْتَ المَغْرِبَ، لَا بُدَّ زِيَارَةَ فَاسَ.</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لَوْ زُرْتَ المَغْرِبَ، سَلَا بُدَّ مِنْ زِيَارَةِ فَاسَ.</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P3-L04: idhā … fa-lā budda min + verbal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Real and likely → idhā … sa-. Unreal, in the past → law … la-.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وَاصَلُوا، </a:t>
            </a:r>
            <a:pPr rtl="1" algn="ctr" indent="0" marL="0">
              <a:lnSpc>
                <a:spcPct val="120000"/>
              </a:lnSpc>
              <a:buNone/>
            </a:pPr>
            <a:r>
              <a:rPr lang="ar-SA" altLang="en-US" sz="1950" b="1" dirty="0">
                <a:solidFill>
                  <a:srgbClr val="1D5FBF"/>
                </a:solidFill>
                <a:latin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يَتَدَهْوَرُ · </a:t>
            </a:r>
            <a:pPr rtl="1" algn="ctr" indent="0" marL="0">
              <a:lnSpc>
                <a:spcPct val="120000"/>
              </a:lnSpc>
              <a:buNone/>
            </a:pPr>
            <a:r>
              <a:rPr lang="ar-SA" altLang="en-US" sz="1950" b="1" dirty="0">
                <a:solidFill>
                  <a:srgbClr val="0E7C86"/>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نَظَّمْنَا، </a:t>
            </a:r>
            <a:pPr rtl="1" algn="ctr" indent="0" marL="0">
              <a:lnSpc>
                <a:spcPct val="120000"/>
              </a:lnSpc>
              <a:buNone/>
            </a:pPr>
            <a:r>
              <a:rPr lang="ar-SA" altLang="en-US" sz="1950" b="1" dirty="0">
                <a:solidFill>
                  <a:srgbClr val="0E7C86"/>
                </a:solidFill>
                <a:latin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كَانَ أَفْضَلَ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sustainable-tourism and environmental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yushim with fī and yulḥiq al-ḍarar with bi-.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real concern with idhā … sa- and a counterfactual with law … la-.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sustainability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sustainable-tourism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yushim fī and yulḥiq al-ḍarar 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real concern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regret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cite a report and turn with ghayra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Sustainable tourism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Impact and argument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Data and connectors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‎ضرر‎ </a:t>
            </a:r>
            <a:pPr indent="0" marL="0">
              <a:buNone/>
            </a:pPr>
            <a:r>
              <a:rPr lang="en-US" sz="950" b="1" dirty="0">
                <a:solidFill>
                  <a:srgbClr val="2E8B57"/>
                </a:solidFill>
                <a:latin typeface="Calibri" pitchFamily="34" charset="0"/>
                <a:cs typeface="Amiri" pitchFamily="2" charset="-78"/>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فَائِدَةٌ · فَوَائِدُ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‎فائدہ · فوائد‎ </a:t>
            </a:r>
            <a:pPr indent="0" marL="0">
              <a:buNone/>
            </a:pPr>
            <a:r>
              <a:rPr lang="en-US" sz="950" b="1" dirty="0">
                <a:solidFill>
                  <a:srgbClr val="2E8B57"/>
                </a:solidFill>
                <a:latin typeface="Calibri" pitchFamily="34" charset="0"/>
                <a:cs typeface="Amiri" pitchFamily="2" charset="-78"/>
              </a:rPr>
              <a:t> fāida · fawāid · a benefit · benefits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اقْتِصَادٌ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‎اقتصاد‎ </a:t>
            </a:r>
            <a:pPr indent="0" marL="0">
              <a:buNone/>
            </a:pPr>
            <a:r>
              <a:rPr lang="en-US" sz="950" b="1" dirty="0">
                <a:solidFill>
                  <a:srgbClr val="2E8B57"/>
                </a:solidFill>
                <a:latin typeface="Calibri" pitchFamily="34" charset="0"/>
                <a:cs typeface="Amiri" pitchFamily="2" charset="-78"/>
              </a:rPr>
              <a:t> iqtisād · the economy (اقتصادی = economic)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تَنْظِيمٌ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‎تنظیم‎ </a:t>
            </a:r>
            <a:pPr indent="0" marL="0">
              <a:buNone/>
            </a:pPr>
            <a:r>
              <a:rPr lang="en-US" sz="950" b="1" dirty="0">
                <a:solidFill>
                  <a:srgbClr val="2E8B57"/>
                </a:solidFill>
                <a:latin typeface="Calibri" pitchFamily="34" charset="0"/>
                <a:cs typeface="Amiri" pitchFamily="2" charset="-78"/>
              </a:rPr>
              <a:t> tanzīm · organisation, regulation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نِسْبَةٌ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a proportion, a ratio</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Sustainable tourism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tourism</a:t>
            </a:r>
            <a:endParaRPr lang="en-US" sz="1350" dirty="0"/>
          </a:p>
          <a:p>
            <a:pPr indent="0" marL="0">
              <a:buNone/>
            </a:pPr>
            <a:r>
              <a:rPr lang="en-US" sz="1100" i="1" dirty="0">
                <a:solidFill>
                  <a:srgbClr val="5A6472"/>
                </a:solidFill>
                <a:latin typeface="Calibri" pitchFamily="34" charset="0"/>
                <a:cs typeface="Amiri" pitchFamily="2" charset="-78"/>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سِيَاحَةٌ مَسْؤُولَةٌ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 tourism</a:t>
            </a:r>
            <a:endParaRPr lang="en-US" sz="1350" dirty="0"/>
          </a:p>
          <a:p>
            <a:pPr indent="0" marL="0">
              <a:buNone/>
            </a:pPr>
            <a:r>
              <a:rPr lang="en-US" sz="1100" i="1" dirty="0">
                <a:solidFill>
                  <a:srgbClr val="5A6472"/>
                </a:solidFill>
                <a:latin typeface="Calibri" pitchFamily="34" charset="0"/>
                <a:cs typeface="Amiri" pitchFamily="2" charset="-78"/>
              </a:rPr>
              <a:t>si-yā-ḥa-tun mas-ʾū-la-tun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سِيَاحَةٌ بِيئِيَّةٌ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eco-tourism</a:t>
            </a:r>
            <a:endParaRPr lang="en-US" sz="1350" dirty="0"/>
          </a:p>
          <a:p>
            <a:pPr indent="0" marL="0">
              <a:buNone/>
            </a:pPr>
            <a:r>
              <a:rPr lang="en-US" sz="1100" i="1" dirty="0">
                <a:solidFill>
                  <a:srgbClr val="5A6472"/>
                </a:solidFill>
                <a:latin typeface="Calibri" pitchFamily="34" charset="0"/>
                <a:cs typeface="Amiri" pitchFamily="2" charset="-78"/>
              </a:rPr>
              <a:t>si-yā-ḥa-tun bī-ʾiy-ya-tun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سِيَاحَةٌ مُجْتَمَعِيَّةٌ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community-based tourism</a:t>
            </a:r>
            <a:endParaRPr lang="en-US" sz="1350" dirty="0"/>
          </a:p>
          <a:p>
            <a:pPr indent="0" marL="0">
              <a:buNone/>
            </a:pPr>
            <a:r>
              <a:rPr lang="en-US" sz="1100" i="1" dirty="0">
                <a:solidFill>
                  <a:srgbClr val="5A6472"/>
                </a:solidFill>
                <a:latin typeface="Calibri" pitchFamily="34" charset="0"/>
                <a:cs typeface="Amiri" pitchFamily="2" charset="-78"/>
              </a:rPr>
              <a:t>si-yā-ḥa-tun muj-ta-ma-ʿiy-ya-tun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الاكْتِظَاظُ السِّيَاحِيُّ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over-tourism</a:t>
            </a:r>
            <a:endParaRPr lang="en-US" sz="1350" dirty="0"/>
          </a:p>
          <a:p>
            <a:pPr indent="0" marL="0">
              <a:buNone/>
            </a:pPr>
            <a:r>
              <a:rPr lang="en-US" sz="1100" i="1" dirty="0">
                <a:solidFill>
                  <a:srgbClr val="5A6472"/>
                </a:solidFill>
                <a:latin typeface="Calibri" pitchFamily="34" charset="0"/>
                <a:cs typeface="Amiri" pitchFamily="2" charset="-78"/>
              </a:rPr>
              <a:t>alk-ti-ẓā-ẓu as-si-yā-ḥiy-yu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Sustainable tourism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بَصْمَةٌ كَرْبُونِيَّةٌ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carbon footprint</a:t>
            </a:r>
            <a:endParaRPr lang="en-US" sz="1350" dirty="0"/>
          </a:p>
          <a:p>
            <a:pPr indent="0" marL="0">
              <a:buNone/>
            </a:pPr>
            <a:r>
              <a:rPr lang="en-US" sz="1100" i="1" dirty="0">
                <a:solidFill>
                  <a:srgbClr val="5A6472"/>
                </a:solidFill>
                <a:latin typeface="Calibri" pitchFamily="34" charset="0"/>
                <a:cs typeface="Amiri" pitchFamily="2" charset="-78"/>
              </a:rPr>
              <a:t>baṣ-ma-tun kar-bū-niy-ya-tun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بَصَمَاتٌ كَرْبُونِيَّةٌ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حِصَصُ دُخُولٍ</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quotas</a:t>
            </a:r>
            <a:endParaRPr lang="en-US" sz="1350" dirty="0"/>
          </a:p>
          <a:p>
            <a:pPr indent="0" marL="0">
              <a:buNone/>
            </a:pPr>
            <a:r>
              <a:rPr lang="en-US" sz="1100" i="1" dirty="0">
                <a:solidFill>
                  <a:srgbClr val="5A6472"/>
                </a:solidFill>
                <a:latin typeface="Calibri" pitchFamily="34" charset="0"/>
                <a:cs typeface="Amiri" pitchFamily="2" charset="-78"/>
              </a:rPr>
              <a:t>ḥi-ṣa-ṣu du-khū-lin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حِصَّةُ دُخُولٍ</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ضَرِيبَةُ السِّيَاحَةِ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tax</a:t>
            </a:r>
            <a:endParaRPr lang="en-US" sz="1350" dirty="0"/>
          </a:p>
          <a:p>
            <a:pPr indent="0" marL="0">
              <a:buNone/>
            </a:pPr>
            <a:r>
              <a:rPr lang="en-US" sz="1100" i="1" dirty="0">
                <a:solidFill>
                  <a:srgbClr val="5A6472"/>
                </a:solidFill>
                <a:latin typeface="Calibri" pitchFamily="34" charset="0"/>
                <a:cs typeface="Amiri" pitchFamily="2" charset="-78"/>
              </a:rPr>
              <a:t>ḍa-rī-ba-tu as-si-yā-ḥa-ti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ضَرَائِبُ السِّيَاحَةِ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أَعْدَادٌ قِيَاسِيَّةٌ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record numbers</a:t>
            </a:r>
            <a:endParaRPr lang="en-US" sz="1350" dirty="0"/>
          </a:p>
          <a:p>
            <a:pPr indent="0" marL="0">
              <a:buNone/>
            </a:pPr>
            <a:r>
              <a:rPr lang="en-US" sz="1100" i="1" dirty="0">
                <a:solidFill>
                  <a:srgbClr val="5A6472"/>
                </a:solidFill>
                <a:latin typeface="Calibri" pitchFamily="34" charset="0"/>
                <a:cs typeface="Amiri" pitchFamily="2" charset="-78"/>
              </a:rPr>
              <a:t>aʿ-dā-dun qi-yā-siy-ya-tun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عَدَدٌ قِيَاسِيٌّ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Impact and argument verbs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يُسْهِمُ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تُسْهِمُ فِي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يُلْحِقُ الضَّرَرَ بِـ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 harm to</a:t>
            </a:r>
            <a:endParaRPr lang="en-US" sz="1350" dirty="0"/>
          </a:p>
          <a:p>
            <a:pPr indent="0" marL="0">
              <a:buNone/>
            </a:pPr>
            <a:r>
              <a:rPr lang="en-US" sz="1100" i="1" dirty="0">
                <a:solidFill>
                  <a:srgbClr val="5A6472"/>
                </a:solidFill>
                <a:latin typeface="Calibri" pitchFamily="34" charset="0"/>
                <a:cs typeface="Amiri" pitchFamily="2" charset="-78"/>
              </a:rPr>
              <a:t>yul-ḥi-qu aḍ-ḍa-ra-ra bi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تُلْحِقُ الضَّرَرَ بِـ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يَحْمِي التُّرَاثَ</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heritage</a:t>
            </a:r>
            <a:endParaRPr lang="en-US" sz="1350" dirty="0"/>
          </a:p>
          <a:p>
            <a:pPr indent="0" marL="0">
              <a:buNone/>
            </a:pPr>
            <a:r>
              <a:rPr lang="en-US" sz="1100" i="1" dirty="0">
                <a:solidFill>
                  <a:srgbClr val="5A6472"/>
                </a:solidFill>
                <a:latin typeface="Calibri" pitchFamily="34" charset="0"/>
                <a:cs typeface="Amiri" pitchFamily="2" charset="-78"/>
              </a:rPr>
              <a:t>yaḥ-mī at-tu-rā-tha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تَحْمِي التُّرَاثَ</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يُوَازِنُ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تُوَازِنُ بَيْنَ</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Impact and argument verbs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يَتَدَهْوَرُ</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deteriorates</a:t>
            </a:r>
            <a:endParaRPr lang="en-US" sz="1350" dirty="0"/>
          </a:p>
          <a:p>
            <a:pPr indent="0" marL="0">
              <a:buNone/>
            </a:pPr>
            <a:r>
              <a:rPr lang="en-US" sz="1100" i="1" dirty="0">
                <a:solidFill>
                  <a:srgbClr val="5A6472"/>
                </a:solidFill>
                <a:latin typeface="Calibri" pitchFamily="34" charset="0"/>
                <a:cs typeface="Amiri" pitchFamily="2" charset="-78"/>
              </a:rPr>
              <a:t>ya-ta-dah-wa-ru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يَتَدَهْوَرُ</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التَّأْثِيرُ عَلَى التُّرَاثِ</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impact on heritage</a:t>
            </a:r>
            <a:endParaRPr lang="en-US" sz="1350" dirty="0"/>
          </a:p>
          <a:p>
            <a:pPr indent="0" marL="0">
              <a:buNone/>
            </a:pPr>
            <a:r>
              <a:rPr lang="en-US" sz="1100" i="1" dirty="0">
                <a:solidFill>
                  <a:srgbClr val="5A6472"/>
                </a:solidFill>
                <a:latin typeface="Calibri" pitchFamily="34" charset="0"/>
                <a:cs typeface="Amiri" pitchFamily="2" charset="-78"/>
              </a:rPr>
              <a:t>at-taʾ-thī-ru ʿa-lā at-tu-rā-thi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مَسْؤُولِيَّةُ السَّائِحِ</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responsibility</a:t>
            </a:r>
            <a:endParaRPr lang="en-US" sz="1350" dirty="0"/>
          </a:p>
          <a:p>
            <a:pPr indent="0" marL="0">
              <a:buNone/>
            </a:pPr>
            <a:r>
              <a:rPr lang="en-US" sz="1100" i="1" dirty="0">
                <a:solidFill>
                  <a:srgbClr val="5A6472"/>
                </a:solidFill>
                <a:latin typeface="Calibri" pitchFamily="34" charset="0"/>
                <a:cs typeface="Amiri" pitchFamily="2" charset="-78"/>
              </a:rPr>
              <a:t>mas-ʾū-liy-ya-tu as-sā-ʾi-ḥi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فَوَائِدُ اقْتِصَادِيَّةٌ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benefits</a:t>
            </a:r>
            <a:endParaRPr lang="en-US" sz="1350" dirty="0"/>
          </a:p>
          <a:p>
            <a:pPr indent="0" marL="0">
              <a:buNone/>
            </a:pPr>
            <a:r>
              <a:rPr lang="en-US" sz="1100" i="1" dirty="0">
                <a:solidFill>
                  <a:srgbClr val="5A6472"/>
                </a:solidFill>
                <a:latin typeface="Calibri" pitchFamily="34" charset="0"/>
                <a:cs typeface="Amiri" pitchFamily="2" charset="-78"/>
              </a:rPr>
              <a:t>fa-wā-ʾi-du aq-ti-ṣā-diy-ya-tun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فَائِدَةٌ اقْتِصَادِيَّةٌ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Data and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تُشِيرُ التَّقَارِيرُ إِلَى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reports indicate that</a:t>
            </a:r>
            <a:endParaRPr lang="en-US" sz="1350" dirty="0"/>
          </a:p>
          <a:p>
            <a:pPr indent="0" marL="0">
              <a:buNone/>
            </a:pPr>
            <a:r>
              <a:rPr lang="en-US" sz="1100" i="1" dirty="0">
                <a:solidFill>
                  <a:srgbClr val="5A6472"/>
                </a:solidFill>
                <a:latin typeface="Calibri" pitchFamily="34" charset="0"/>
                <a:cs typeface="Amiri" pitchFamily="2" charset="-78"/>
              </a:rPr>
              <a:t>tu-shī-ru at-ta-qā-rī-ru i-lā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النَّاتِجُ المَحَلِّيُّ الإِجْمَالِيُّ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gross domestic product</a:t>
            </a:r>
            <a:endParaRPr lang="en-US" sz="1350" dirty="0"/>
          </a:p>
          <a:p>
            <a:pPr indent="0" marL="0">
              <a:buNone/>
            </a:pPr>
            <a:r>
              <a:rPr lang="en-US" sz="1100" i="1" dirty="0">
                <a:solidFill>
                  <a:srgbClr val="5A6472"/>
                </a:solidFill>
                <a:latin typeface="Calibri" pitchFamily="34" charset="0"/>
                <a:cs typeface="Amiri" pitchFamily="2" charset="-78"/>
              </a:rPr>
              <a:t>an-nā-ti-ju al-ma-ḥal-liy-yu al-ij-mā-liy-yu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Data and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مُنْتَجَاتٌ مَحَلِّيَّةٌ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products</a:t>
            </a:r>
            <a:endParaRPr lang="en-US" sz="1350" dirty="0"/>
          </a:p>
          <a:p>
            <a:pPr indent="0" marL="0">
              <a:buNone/>
            </a:pPr>
            <a:r>
              <a:rPr lang="en-US" sz="1100" i="1" dirty="0">
                <a:solidFill>
                  <a:srgbClr val="5A6472"/>
                </a:solidFill>
                <a:latin typeface="Calibri" pitchFamily="34" charset="0"/>
                <a:cs typeface="Amiri" pitchFamily="2" charset="-78"/>
              </a:rPr>
              <a:t>mun-ta-jā-tun ma-ḥal-liy-ya-tun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مُنْتَجٌ مَحَلِّيٌّ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تَنْظِيمُ السِّيَاحَةِ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tourism regulation</a:t>
            </a:r>
            <a:endParaRPr lang="en-US" sz="1350" dirty="0"/>
          </a:p>
          <a:p>
            <a:pPr indent="0" marL="0">
              <a:buNone/>
            </a:pPr>
            <a:r>
              <a:rPr lang="en-US" sz="1100" i="1" dirty="0">
                <a:solidFill>
                  <a:srgbClr val="5A6472"/>
                </a:solidFill>
                <a:latin typeface="Calibri" pitchFamily="34" charset="0"/>
                <a:cs typeface="Amiri" pitchFamily="2" charset="-78"/>
              </a:rPr>
              <a:t>tan-ẓī-mu as-si-yā-ḥa-ti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تَوْعِيَةٌ ثَقَافِيَّةٌ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awareness</a:t>
            </a:r>
            <a:endParaRPr lang="en-US" sz="1350" dirty="0"/>
          </a:p>
          <a:p>
            <a:pPr indent="0" marL="0">
              <a:buNone/>
            </a:pPr>
            <a:r>
              <a:rPr lang="en-US" sz="1100" i="1" dirty="0">
                <a:solidFill>
                  <a:srgbClr val="5A6472"/>
                </a:solidFill>
                <a:latin typeface="Calibri" pitchFamily="34" charset="0"/>
                <a:cs typeface="Amiri" pitchFamily="2" charset="-78"/>
              </a:rPr>
              <a:t>taw-ʿi-ya-tun tha-qā-fiy-ya-tun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Shape 3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Statistical.</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بِنِسْبَةِ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a proportion of</a:t>
            </a:r>
            <a:endParaRPr lang="en-US" sz="1350" dirty="0"/>
          </a:p>
          <a:p>
            <a:pPr indent="0" marL="0">
              <a:buNone/>
            </a:pPr>
            <a:r>
              <a:rPr lang="en-US" sz="1100" i="1" dirty="0">
                <a:solidFill>
                  <a:srgbClr val="5A6472"/>
                </a:solidFill>
                <a:latin typeface="Calibri" pitchFamily="34" charset="0"/>
                <a:cs typeface="Amiri" pitchFamily="2" charset="-78"/>
              </a:rPr>
              <a:t>bi-nis-ba-ti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IMPACT VERBS AND THEIR COMPLEMENTS (WEBSITE RULE 1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impact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التَّأْثِيرِ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9077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126480" y="2267712"/>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تُسْهِمُ السِّيَاحَةُ </a:t>
            </a:r>
            <a:pPr rtl="1" algn="ctr" indent="0" marL="0">
              <a:buNone/>
            </a:pPr>
            <a:r>
              <a:rPr lang="ar-SA" altLang="en-US" sz="1900" b="1" dirty="0">
                <a:solidFill>
                  <a:srgbClr val="1D5FBF"/>
                </a:solidFill>
                <a:latin typeface="Amiri" pitchFamily="2" charset="-78"/>
                <a:cs typeface="Amiri" pitchFamily="2" charset="-78"/>
              </a:rPr>
              <a:t>فِي</a:t>
            </a:r>
            <a:pPr rtl="1" algn="ctr" indent="0" marL="0">
              <a:buNone/>
            </a:pPr>
            <a:r>
              <a:rPr lang="ar-SA" altLang="en-US" sz="1900" b="1" dirty="0">
                <a:solidFill>
                  <a:srgbClr val="1B3B6F"/>
                </a:solidFill>
                <a:latin typeface="Amiri" pitchFamily="2" charset="-78"/>
                <a:cs typeface="Amiri" pitchFamily="2" charset="-78"/>
              </a:rPr>
              <a:t> الاقْتِصَادِ المَحَلِّيِّ.</a:t>
            </a:r>
            <a:endParaRPr lang="ar-SA" sz="1900" dirty="0"/>
          </a:p>
        </p:txBody>
      </p:sp>
      <p:sp>
        <p:nvSpPr>
          <p:cNvPr id="22" name="Text 19"/>
          <p:cNvSpPr txBox="1"/>
          <p:nvPr/>
        </p:nvSpPr>
        <p:spPr>
          <a:xfrm>
            <a:off x="46817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3" name="Text 20"/>
          <p:cNvSpPr txBox="1"/>
          <p:nvPr/>
        </p:nvSpPr>
        <p:spPr>
          <a:xfrm>
            <a:off x="29443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يُسْهِمُ فِي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126480" y="300471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تُلْحِقُ السِّيَاحَةُ المُفْرِطَةُ الضَّرَرَ </a:t>
            </a:r>
            <a:pPr rtl="1" algn="ctr" indent="0" marL="0">
              <a:buNone/>
            </a:pPr>
            <a:r>
              <a:rPr lang="ar-SA" altLang="en-US" sz="1900" b="1" dirty="0">
                <a:solidFill>
                  <a:srgbClr val="0E7C86"/>
                </a:solidFill>
                <a:latin typeface="Amiri" pitchFamily="2" charset="-78"/>
                <a:cs typeface="Amiri" pitchFamily="2" charset="-78"/>
              </a:rPr>
              <a:t>بِالتُّرَاثِ</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9" name="Text 26"/>
          <p:cNvSpPr txBox="1"/>
          <p:nvPr/>
        </p:nvSpPr>
        <p:spPr>
          <a:xfrm>
            <a:off x="46817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0" name="Text 27"/>
          <p:cNvSpPr txBox="1"/>
          <p:nvPr/>
        </p:nvSpPr>
        <p:spPr>
          <a:xfrm>
            <a:off x="29443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 harm to</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يُلْحِقُ الضَّرَرَ</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126480" y="3741725"/>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سِيَاحَةٌ مُسْتَدَامَةٌ تَحْمِي </a:t>
            </a:r>
            <a:pPr rtl="1" algn="ctr" indent="0" marL="0">
              <a:buNone/>
            </a:pPr>
            <a:r>
              <a:rPr lang="ar-SA" altLang="en-US" sz="1900" b="1" dirty="0">
                <a:solidFill>
                  <a:srgbClr val="C77700"/>
                </a:solidFill>
                <a:latin typeface="Amiri" pitchFamily="2" charset="-78"/>
                <a:cs typeface="Amiri" pitchFamily="2" charset="-78"/>
              </a:rPr>
              <a:t>التُّرَاثَ</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46817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9443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protects</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يَحْمِي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126480" y="4478731"/>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وَازَنَتِ الحُكُومَاتُ </a:t>
            </a:r>
            <a:pPr rtl="1" algn="ctr" indent="0" marL="0">
              <a:buNone/>
            </a:pPr>
            <a:r>
              <a:rPr lang="ar-SA" altLang="en-US" sz="1900" b="1" dirty="0">
                <a:solidFill>
                  <a:srgbClr val="7B3FA0"/>
                </a:solidFill>
                <a:latin typeface="Amiri" pitchFamily="2" charset="-78"/>
                <a:cs typeface="Amiri" pitchFamily="2" charset="-78"/>
              </a:rPr>
              <a:t>بَيْنَ</a:t>
            </a:r>
            <a:pPr rtl="1" algn="ctr" indent="0" marL="0">
              <a:buNone/>
            </a:pPr>
            <a:r>
              <a:rPr lang="ar-SA" altLang="en-US" sz="1900" b="1" dirty="0">
                <a:solidFill>
                  <a:srgbClr val="1B3B6F"/>
                </a:solidFill>
                <a:latin typeface="Amiri" pitchFamily="2" charset="-78"/>
                <a:cs typeface="Amiri" pitchFamily="2" charset="-78"/>
              </a:rPr>
              <a:t> الرِّبْحِ </a:t>
            </a:r>
            <a:pPr rtl="1" algn="ctr" indent="0" marL="0">
              <a:buNone/>
            </a:pPr>
            <a:r>
              <a:rPr lang="ar-SA" altLang="en-US" sz="1900" b="1" dirty="0">
                <a:solidFill>
                  <a:srgbClr val="7B3FA0"/>
                </a:solidFill>
                <a:latin typeface="Amiri" pitchFamily="2" charset="-78"/>
                <a:cs typeface="Amiri" pitchFamily="2" charset="-78"/>
              </a:rPr>
              <a:t>وَ</a:t>
            </a:r>
            <a:pPr rtl="1" algn="ctr" indent="0" marL="0">
              <a:buNone/>
            </a:pPr>
            <a:r>
              <a:rPr lang="ar-SA" altLang="en-US" sz="1900" b="1" dirty="0">
                <a:solidFill>
                  <a:srgbClr val="1B3B6F"/>
                </a:solidFill>
                <a:latin typeface="Amiri" pitchFamily="2" charset="-78"/>
                <a:cs typeface="Amiri" pitchFamily="2" charset="-78"/>
              </a:rPr>
              <a:t>الحِمَايَةِ.</a:t>
            </a:r>
            <a:endParaRPr lang="ar-SA" sz="1900" dirty="0"/>
          </a:p>
        </p:txBody>
      </p:sp>
      <p:sp>
        <p:nvSpPr>
          <p:cNvPr id="41" name="Text 38"/>
          <p:cNvSpPr txBox="1"/>
          <p:nvPr/>
        </p:nvSpPr>
        <p:spPr>
          <a:xfrm>
            <a:off x="46817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wa-</a:t>
            </a:r>
            <a:endParaRPr lang="en-US" sz="1100" dirty="0"/>
          </a:p>
        </p:txBody>
      </p:sp>
      <p:sp>
        <p:nvSpPr>
          <p:cNvPr id="42" name="Text 39"/>
          <p:cNvSpPr txBox="1"/>
          <p:nvPr/>
        </p:nvSpPr>
        <p:spPr>
          <a:xfrm>
            <a:off x="29443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3" name="Text 40"/>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يُوَازِنُ بَيْنَ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126480" y="521573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cs typeface="Amiri" pitchFamily="2" charset="-78"/>
              </a:rPr>
              <a:t> حَالُ الأَبْنِيَةِ النَّبَطِيَّةِ.</a:t>
            </a:r>
            <a:endParaRPr lang="ar-SA" sz="1900" dirty="0"/>
          </a:p>
        </p:txBody>
      </p:sp>
      <p:sp>
        <p:nvSpPr>
          <p:cNvPr id="46" name="Text 43"/>
          <p:cNvSpPr txBox="1"/>
          <p:nvPr/>
        </p:nvSpPr>
        <p:spPr>
          <a:xfrm>
            <a:off x="46817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object</a:t>
            </a:r>
            <a:endParaRPr lang="en-US" sz="1100" dirty="0"/>
          </a:p>
        </p:txBody>
      </p:sp>
      <p:sp>
        <p:nvSpPr>
          <p:cNvPr id="47" name="Text 44"/>
          <p:cNvSpPr txBox="1"/>
          <p:nvPr/>
        </p:nvSpPr>
        <p:spPr>
          <a:xfrm>
            <a:off x="29443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deteriorates</a:t>
            </a:r>
            <a:endParaRPr lang="en-US" sz="1100" dirty="0"/>
          </a:p>
        </p:txBody>
      </p:sp>
      <p:sp>
        <p:nvSpPr>
          <p:cNvPr id="48" name="Text 45"/>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يَتَدَهْوَرُ</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tushim bi- ✗ → tushim fī ✓ · tulḥiq al-ḍarar al-turātha ✗ → bi-l-turāth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CONDITIONALS, TWO JOBS (WEBSITE RULES 2–3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real concern — or a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لِلْمُحْتَمَلِ · لَوْ لِلْمُمْتَنِعِ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63347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إِذَا</a:t>
            </a:r>
            <a:pPr rtl="1" algn="ctr" indent="0" marL="0">
              <a:buNone/>
            </a:pPr>
            <a:r>
              <a:rPr lang="ar-SA" altLang="en-US" sz="1900" b="1" dirty="0">
                <a:solidFill>
                  <a:srgbClr val="1B3B6F"/>
                </a:solidFill>
                <a:latin typeface="Amiri" pitchFamily="2" charset="-78"/>
                <a:cs typeface="Amiri" pitchFamily="2" charset="-78"/>
              </a:rPr>
              <a:t> وَاصَلَ السُّيَّاحُ بِهٰذِهِ الأَعْدَادِ، </a:t>
            </a:r>
            <a:pPr rtl="1" algn="ctr" indent="0" marL="0">
              <a:buNone/>
            </a:pPr>
            <a:r>
              <a:rPr lang="ar-SA" altLang="en-US" sz="1900" b="1" dirty="0">
                <a:solidFill>
                  <a:srgbClr val="1D5FBF"/>
                </a:solidFill>
                <a:latin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cs typeface="Amiri" pitchFamily="2" charset="-78"/>
              </a:rPr>
              <a:t> التُّرَاثُ.</a:t>
            </a:r>
            <a:endParaRPr lang="ar-SA" sz="1900" dirty="0"/>
          </a:p>
        </p:txBody>
      </p:sp>
      <p:sp>
        <p:nvSpPr>
          <p:cNvPr id="21" name="Text 18"/>
          <p:cNvSpPr txBox="1"/>
          <p:nvPr/>
        </p:nvSpPr>
        <p:spPr>
          <a:xfrm>
            <a:off x="267004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past → sa-</a:t>
            </a:r>
            <a:endParaRPr lang="en-US" sz="11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concern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إِذَا لَمْ</a:t>
            </a:r>
            <a:pPr rtl="1" algn="ctr" indent="0" marL="0">
              <a:buNone/>
            </a:pPr>
            <a:r>
              <a:rPr lang="ar-SA" altLang="en-US" sz="1900" b="1" dirty="0">
                <a:solidFill>
                  <a:srgbClr val="1B3B6F"/>
                </a:solidFill>
                <a:latin typeface="Amiri" pitchFamily="2" charset="-78"/>
                <a:cs typeface="Amiri" pitchFamily="2" charset="-78"/>
              </a:rPr>
              <a:t> نُنَظِّمِ الزِّيَارَاتِ، </a:t>
            </a:r>
            <a:pPr rtl="1" algn="ctr" indent="0" marL="0">
              <a:buNone/>
            </a:pPr>
            <a:r>
              <a:rPr lang="ar-SA" altLang="en-US" sz="1900" b="1" dirty="0">
                <a:solidFill>
                  <a:srgbClr val="1D5FBF"/>
                </a:solidFill>
                <a:latin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cs typeface="Amiri" pitchFamily="2" charset="-78"/>
              </a:rPr>
              <a:t> التُّرَاثُ.</a:t>
            </a:r>
            <a:endParaRPr lang="ar-SA" sz="1900" dirty="0"/>
          </a:p>
        </p:txBody>
      </p:sp>
      <p:sp>
        <p:nvSpPr>
          <p:cNvPr id="27" name="Text 24"/>
          <p:cNvSpPr txBox="1"/>
          <p:nvPr/>
        </p:nvSpPr>
        <p:spPr>
          <a:xfrm>
            <a:off x="267004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lam → sa-</a:t>
            </a:r>
            <a:endParaRPr lang="en-US" sz="11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concern (neg.)</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نَظَّمْنَا الزِّيَارَاتِ، </a:t>
            </a:r>
            <a:pPr rtl="1" algn="ctr" indent="0" marL="0">
              <a:buNone/>
            </a:pPr>
            <a:r>
              <a:rPr lang="ar-SA" altLang="en-US" sz="1900" b="1" dirty="0">
                <a:solidFill>
                  <a:srgbClr val="0E7C86"/>
                </a:solidFill>
                <a:latin typeface="Amiri" pitchFamily="2" charset="-78"/>
                <a:cs typeface="Amiri" pitchFamily="2" charset="-78"/>
              </a:rPr>
              <a:t>لَكَانَ</a:t>
            </a:r>
            <a:pPr rtl="1" algn="ctr" indent="0" marL="0">
              <a:buNone/>
            </a:pPr>
            <a:r>
              <a:rPr lang="ar-SA" altLang="en-US" sz="1900" b="1" dirty="0">
                <a:solidFill>
                  <a:srgbClr val="1B3B6F"/>
                </a:solidFill>
                <a:latin typeface="Amiri" pitchFamily="2" charset="-78"/>
                <a:cs typeface="Amiri" pitchFamily="2" charset="-78"/>
              </a:rPr>
              <a:t> التُّرَاثُ أَفْضَلَ.</a:t>
            </a:r>
            <a:endParaRPr lang="ar-SA" sz="1900" dirty="0"/>
          </a:p>
        </p:txBody>
      </p:sp>
      <p:sp>
        <p:nvSpPr>
          <p:cNvPr id="31" name="Text 28"/>
          <p:cNvSpPr txBox="1"/>
          <p:nvPr/>
        </p:nvSpPr>
        <p:spPr>
          <a:xfrm>
            <a:off x="267004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 la-</a:t>
            </a:r>
            <a:endParaRPr lang="en-US" sz="11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cs typeface="Amiri" pitchFamily="2" charset="-78"/>
              </a:rPr>
              <a:t> الرُّسُومُ أَعْلَى، </a:t>
            </a:r>
            <a:pPr rtl="1" algn="ctr" indent="0" marL="0">
              <a:buNone/>
            </a:pPr>
            <a:r>
              <a:rPr lang="ar-SA" altLang="en-US" sz="1900" b="1" dirty="0">
                <a:solidFill>
                  <a:srgbClr val="0E7C86"/>
                </a:solidFill>
                <a:latin typeface="Amiri" pitchFamily="2" charset="-78"/>
                <a:cs typeface="Amiri" pitchFamily="2" charset="-78"/>
              </a:rPr>
              <a:t>لَكَانَتِ</a:t>
            </a:r>
            <a:pPr rtl="1" algn="ctr" indent="0" marL="0">
              <a:buNone/>
            </a:pPr>
            <a:r>
              <a:rPr lang="ar-SA" altLang="en-US" sz="1900" b="1" dirty="0">
                <a:solidFill>
                  <a:srgbClr val="1B3B6F"/>
                </a:solidFill>
                <a:latin typeface="Amiri" pitchFamily="2" charset="-78"/>
                <a:cs typeface="Amiri" pitchFamily="2" charset="-78"/>
              </a:rPr>
              <a:t> الأَعْدَادُ أَكْثَرَ تَنْظِيمًا.</a:t>
            </a:r>
            <a:endParaRPr lang="ar-SA" sz="1900" dirty="0"/>
          </a:p>
        </p:txBody>
      </p:sp>
      <p:sp>
        <p:nvSpPr>
          <p:cNvPr id="37" name="Text 34"/>
          <p:cNvSpPr txBox="1"/>
          <p:nvPr/>
        </p:nvSpPr>
        <p:spPr>
          <a:xfrm>
            <a:off x="267004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kāna → la-kāna</a:t>
            </a:r>
            <a:endParaRPr lang="en-US" sz="11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 with kāna</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وَازَنَتِ الحُكُومَاتُ …، </a:t>
            </a:r>
            <a:pPr rtl="1" algn="ctr" indent="0" marL="0">
              <a:buNone/>
            </a:pPr>
            <a:r>
              <a:rPr lang="ar-SA" altLang="en-US" sz="1900" b="1" dirty="0">
                <a:solidFill>
                  <a:srgbClr val="0E7C86"/>
                </a:solidFill>
                <a:latin typeface="Amiri" pitchFamily="2" charset="-78"/>
                <a:cs typeface="Amiri" pitchFamily="2" charset="-78"/>
              </a:rPr>
              <a:t>لَمَا</a:t>
            </a:r>
            <a:pPr rtl="1" algn="ctr" indent="0" marL="0">
              <a:buNone/>
            </a:pPr>
            <a:r>
              <a:rPr lang="ar-SA" altLang="en-US" sz="1900" b="1" dirty="0">
                <a:solidFill>
                  <a:srgbClr val="1B3B6F"/>
                </a:solidFill>
                <a:latin typeface="Amiri" pitchFamily="2" charset="-78"/>
                <a:cs typeface="Amiri" pitchFamily="2" charset="-78"/>
              </a:rPr>
              <a:t> وَصَلَتِ المَوَاقِعُ إِلَى هٰذَا التَّدَهْوُرِ.</a:t>
            </a:r>
            <a:endParaRPr lang="ar-SA" sz="1900" dirty="0"/>
          </a:p>
        </p:txBody>
      </p:sp>
      <p:sp>
        <p:nvSpPr>
          <p:cNvPr id="41" name="Text 38"/>
          <p:cNvSpPr txBox="1"/>
          <p:nvPr/>
        </p:nvSpPr>
        <p:spPr>
          <a:xfrm>
            <a:off x="267004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 (neg. result)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idhā for a regret, or sa- after law. law nazzamnā, sa-yakūnu ✗ → la-kāna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CITE, TURN, ADD (WEBSITE RULE 4 + READING)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 balanced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اسْتَشْهِدْ · وَازِنْ · أَضِفْ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تُشِيرُ التَّقَارِيرُ إِلَى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تُشِيرُ التَّقَارِيرُ إِلَى أَنَّ السِّيَاحَةَ تُوَفِّرُ فُرَصَ عَمَلٍ.</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Reports indicate that tourism provides jobs.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accusative.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TURN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غَيْرَ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غَيْرَ أَنَّهَا قَدْ تُلْحِقُ الضَّرَرَ بِالبِيئَةِ.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However, it may cause harm to the environment.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ghayra anna + pronoun.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ADD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عِلَاوَةً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عِلَاوَةً عَلَى ذٰلِكَ، تَزِيدُ البَصْمَةَ الكَرْبُونِيَّةَ.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Moreover, it increases the carbon footprint.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further point.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لَوْ نَظَّمْنَا الزِّيَارَاتِ، لَكَانَ التُّرَاثُ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لَوْ نَظَّمْنَا الزِّيَارَاتِ، سَيَكُونُ التُّرَاثُ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DATA AND PASSIVE IN A FORMAL ARGUMENT (WEBSITE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التَّقَارِيرِ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bi-nisba</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تُسْهِمُ </a:t>
            </a:r>
            <a:pPr rtl="1" algn="ctr" indent="0" marL="0">
              <a:buNone/>
            </a:pPr>
            <a:r>
              <a:rPr lang="ar-SA" altLang="en-US" sz="1900" b="1" dirty="0">
                <a:solidFill>
                  <a:srgbClr val="C77700"/>
                </a:solidFill>
                <a:latin typeface="Amiri" pitchFamily="2" charset="-78"/>
                <a:cs typeface="Amiri" pitchFamily="2" charset="-78"/>
              </a:rPr>
              <a:t>بِنِسْبَةٍ كَبِيرَةٍ</a:t>
            </a:r>
            <a:pPr rtl="1" algn="ctr" indent="0" marL="0">
              <a:buNone/>
            </a:pPr>
            <a:r>
              <a:rPr lang="ar-SA" altLang="en-US" sz="1900" b="1" dirty="0">
                <a:solidFill>
                  <a:srgbClr val="1B3B6F"/>
                </a:solidFill>
                <a:latin typeface="Amiri" pitchFamily="2" charset="-78"/>
                <a:cs typeface="Amiri" pitchFamily="2" charset="-78"/>
              </a:rPr>
              <a:t> فِي النَّاتِجِ المَحَلِّيِّ الإِجْمَالِيِّ.</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akkada anna</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وَأَكَّدَ البَاحِثُونَ أَنَّهَا</a:t>
            </a:r>
            <a:pPr rtl="1" algn="ctr" indent="0" marL="0">
              <a:buNone/>
            </a:pPr>
            <a:r>
              <a:rPr lang="ar-SA" altLang="en-US" sz="1900" b="1" dirty="0">
                <a:solidFill>
                  <a:srgbClr val="1B3B6F"/>
                </a:solidFill>
                <a:latin typeface="Amiri" pitchFamily="2" charset="-78"/>
                <a:cs typeface="Amiri" pitchFamily="2" charset="-78"/>
              </a:rPr>
              <a:t> تُوَفِّرُ مَلَايِينَ فُرَصِ العَمَلِ.</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experts</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passive</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قَدْ تُلْحِقُ الضَّرَرَ بِالبِيئَةِ إِذَا لَمْ </a:t>
            </a:r>
            <a:pPr rtl="1" algn="ctr" indent="0" marL="0">
              <a:buNone/>
            </a:pPr>
            <a:r>
              <a:rPr lang="ar-SA" altLang="en-US" sz="1900" b="1" dirty="0">
                <a:solidFill>
                  <a:srgbClr val="D6336C"/>
                </a:solidFill>
                <a:latin typeface="Amiri" pitchFamily="2" charset="-78"/>
                <a:cs typeface="Amiri" pitchFamily="2" charset="-78"/>
              </a:rPr>
              <a:t>تُنَظَّمْ</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(neg.)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passive</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اعْتَمَدَتِ الدُّوَلُ ضَرِيبَةَ السِّيَاحَةِ، </a:t>
            </a:r>
            <a:pPr rtl="1" algn="ctr" indent="0" marL="0">
              <a:buNone/>
            </a:pPr>
            <a:r>
              <a:rPr lang="ar-SA" altLang="en-US" sz="1900" b="1" dirty="0">
                <a:solidFill>
                  <a:srgbClr val="D6336C"/>
                </a:solidFill>
                <a:latin typeface="Amiri" pitchFamily="2" charset="-78"/>
                <a:cs typeface="Amiri" pitchFamily="2" charset="-78"/>
              </a:rPr>
              <a:t>سَتُحْمَى</a:t>
            </a:r>
            <a:pPr rtl="1" algn="ctr" indent="0" marL="0">
              <a:buNone/>
            </a:pPr>
            <a:r>
              <a:rPr lang="ar-SA" altLang="en-US" sz="1900" b="1" dirty="0">
                <a:solidFill>
                  <a:srgbClr val="1B3B6F"/>
                </a:solidFill>
                <a:latin typeface="Amiri" pitchFamily="2" charset="-78"/>
                <a:cs typeface="Amiri" pitchFamily="2" charset="-78"/>
              </a:rPr>
              <a:t> المَوَاقِعُ.</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(future)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taqillu … ʿan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فَمَسْؤُولِيَّةُ السَّائِحِ </a:t>
            </a:r>
            <a:pPr rtl="1" algn="ctr" indent="0" marL="0">
              <a:buNone/>
            </a:pPr>
            <a:r>
              <a:rPr lang="ar-SA" altLang="en-US" sz="1900" b="1" dirty="0">
                <a:solidFill>
                  <a:srgbClr val="0E7C86"/>
                </a:solidFill>
                <a:latin typeface="Amiri" pitchFamily="2" charset="-78"/>
                <a:cs typeface="Amiri" pitchFamily="2" charset="-78"/>
              </a:rPr>
              <a:t>لَا تَقِلُّ أَهَمِّيَّةً عَنْ</a:t>
            </a:r>
            <a:pPr rtl="1" algn="ctr" indent="0" marL="0">
              <a:buNone/>
            </a:pPr>
            <a:r>
              <a:rPr lang="ar-SA" altLang="en-US" sz="1900" b="1" dirty="0">
                <a:solidFill>
                  <a:srgbClr val="1B3B6F"/>
                </a:solidFill>
                <a:latin typeface="Amiri" pitchFamily="2" charset="-78"/>
                <a:cs typeface="Amiri" pitchFamily="2" charset="-78"/>
              </a:rPr>
              <a:t> سِيَاسَاتِ الدَّوْلَةِ.</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 nobody named: tunaẓẓam (it is regulated) · sa-tuḥmā (they will be protected).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Both conditional types in ethical argument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نَوْعَا الشَّرْطِ فِي الحُجَّةِ الأَخْلَاقِيَّةِ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Impact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yushim fī · yulḥiq al-ḍarar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تُسْهِمُ السِّيَاحَةُ فِي الاقْتِصَادِ   ·   تُلْحِقُ السِّيَاحَةُ المُفْرِطَةُ الضَّرَرَ بِالتُّرَاثِ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concern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وَاصَلَ السُّيَّاحُ بِهٰذِهِ الأَعْدَادِ، سَيَتَدَهْوَرُ التُّرَاثُ</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regret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كَانَتِ الرُّسُومُ أَعْلَى، لَكَانَتِ الأَعْدَادُ أَكْثَرَ تَنْظِيمًا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Cite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tushīr al-taqārīr … ghayra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cs typeface="Amiri" pitchFamily="2" charset="-78"/>
              </a:rPr>
              <a:t>تُشِيرُ التَّقَارِيرُ إِلَى أَنَّ السِّيَاحَةَ تُوَفِّرُ فُرَصَ عَمَلٍ   ·   غَيْرَ أَنَّهَا قَدْ تُلْحِقُ الضَّرَرَ بِالبِيئَةِ</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تُسْهِمُ السِّيَاحَةُ ___ الاقْتِصَادِ المَحَلِّيِّ.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تُلْحِقُ السِّيَاحَةُ المُفْرِطَةُ الضَّرَرَ ___ التُّرَاثِ.</a:t>
            </a:r>
            <a:endParaRPr lang="ar-SA" sz="13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concern (Type 1)?</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وَاصَلَ السُّيَّاحُ بِهٰذِهِ الأَعْدَادِ، لَتَدَهْوَرَ التُّرَاثُ.</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وَاصَلَ السُّيَّاحُ بِهٰذِهِ الأَعْدَادِ، سَيَتَدَهْوَرُ التُّرَاثُ.</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يُوَاصِلُ السُّيَّاحُ الزِّيَارَةَ.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regret (Type 2)?</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كَانَتِ الرُّسُومُ أَعْلَى، لَكَانَتِ الأَعْدَادُ أَكْثَرَ تَنْظِيمًا.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رَفَعْنَا الرُّسُومَ، سَتَقِلُّ الأَعْدَادُ.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نَرْفَعُ الرُّسُومَ.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تُسْهِمُ السِّيَاحَةُ ___ الاقْتِصَادِ المَحَلِّيِّ.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تُلْحِقُ السِّيَاحَةُ المُفْرِطَةُ الضَّرَرَ ___ التُّرَاثِ.</a:t>
            </a:r>
            <a:endParaRPr lang="ar-SA" sz="13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concern (Type 1)?</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وَاصَلَ السُّيَّاحُ بِهٰذِهِ الأَعْدَادِ، لَتَدَهْوَرَ التُّرَاثُ.</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وَاصَلَ السُّيَّاحُ بِهٰذِهِ الأَعْدَادِ، سَيَتَدَهْوَرُ التُّرَاثُ.</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يُوَاصِلُ السُّيَّاحُ الزِّيَارَةَ.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regret (Type 2)?</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كَانَتِ الرُّسُومُ أَعْلَى، لَكَانَتِ الأَعْدَادُ أَكْثَرَ تَنْظِيمًا.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رَفَعْنَا الرُّسُومَ، سَتَقِلُّ الأَعْدَادُ.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نَرْفَعُ الرُّسُومَ.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balanced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Cite a benefit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2" charset="-78"/>
                <a:cs typeface="Amiri" pitchFamily="2" charset="-78"/>
              </a:rPr>
              <a:t>تُشِيرُ التَّقَارِيرُ إِلَى أَنَّ</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1D5FBF"/>
                </a:solidFill>
                <a:latin typeface="Amiri" pitchFamily="2" charset="-78"/>
                <a:cs typeface="Amiri" pitchFamily="2" charset="-78"/>
              </a:rPr>
              <a:t>تُسْهِمُ فِي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Turn to harm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2" charset="-78"/>
                <a:cs typeface="Amiri" pitchFamily="2" charset="-78"/>
              </a:rPr>
              <a:t>غَيْرَ أَنَّ</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0E7C86"/>
                </a:solidFill>
                <a:latin typeface="Amiri" pitchFamily="2" charset="-78"/>
                <a:cs typeface="Amiri" pitchFamily="2" charset="-78"/>
              </a:rPr>
              <a:t>تُلْحِقُ الضَّرَرَ بِـ</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 concern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سَـ</a:t>
            </a:r>
            <a:pPr rtl="1" algn="ctr" indent="0" marL="0">
              <a:buNone/>
            </a:pPr>
            <a:r>
              <a:rPr lang="ar-SA" altLang="en-US" sz="2800" b="1" dirty="0">
                <a:solidFill>
                  <a:srgbClr val="1B3B6F"/>
                </a:solidFill>
                <a:latin typeface="Amiri" pitchFamily="2" charset="-78"/>
                <a:cs typeface="Amiri" pitchFamily="2" charset="-78"/>
              </a:rPr>
              <a:t>يَتَدَهْوَرُ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 + 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cs typeface="Amiri" pitchFamily="2" charset="-78"/>
              </a:rPr>
              <a:t>لَوْ</a:t>
            </a:r>
            <a:pPr rtl="1" algn="ctr" indent="0" marL="0">
              <a:lnSpc>
                <a:spcPct val="120000"/>
              </a:lnSpc>
              <a:buNone/>
            </a:pPr>
            <a:r>
              <a:rPr lang="ar-SA" altLang="en-US" sz="1850" b="1" dirty="0">
                <a:solidFill>
                  <a:srgbClr val="1B3B6F"/>
                </a:solidFill>
                <a:latin typeface="Amiri" pitchFamily="2" charset="-78"/>
                <a:cs typeface="Amiri" pitchFamily="2" charset="-78"/>
              </a:rPr>
              <a:t> … </a:t>
            </a:r>
            <a:pPr rtl="1" algn="ctr" indent="0" marL="0">
              <a:lnSpc>
                <a:spcPct val="120000"/>
              </a:lnSpc>
              <a:buNone/>
            </a:pPr>
            <a:r>
              <a:rPr lang="ar-SA" altLang="en-US" sz="1850" b="1" dirty="0">
                <a:solidFill>
                  <a:srgbClr val="D6336C"/>
                </a:solidFill>
                <a:latin typeface="Amiri" pitchFamily="2" charset="-78"/>
                <a:cs typeface="Amiri" pitchFamily="2" charset="-78"/>
              </a:rPr>
              <a:t>لَـ</a:t>
            </a:r>
            <a:pPr rtl="1" algn="ctr" indent="0" marL="0">
              <a:lnSpc>
                <a:spcPct val="120000"/>
              </a:lnSpc>
              <a:buNone/>
            </a:pPr>
            <a:r>
              <a:rPr lang="ar-SA" altLang="en-US" sz="1850" b="1" dirty="0">
                <a:solidFill>
                  <a:srgbClr val="1B3B6F"/>
                </a:solidFill>
                <a:latin typeface="Amiri" pitchFamily="2" charset="-78"/>
                <a:cs typeface="Amiri" pitchFamily="2" charset="-78"/>
              </a:rPr>
              <a:t>كَانَتْ · </a:t>
            </a:r>
            <a:pPr rtl="1" algn="ctr" indent="0" marL="0">
              <a:lnSpc>
                <a:spcPct val="120000"/>
              </a:lnSpc>
              <a:buNone/>
            </a:pPr>
            <a:r>
              <a:rPr lang="ar-SA" altLang="en-US" sz="1850" b="1" dirty="0">
                <a:solidFill>
                  <a:srgbClr val="7B3FA0"/>
                </a:solidFill>
                <a:latin typeface="Amiri" pitchFamily="2" charset="-78"/>
                <a:cs typeface="Amiri" pitchFamily="2" charset="-78"/>
              </a:rPr>
              <a:t>عِلَاوَةً عَلَى ذٰلِكَ</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CITE / TURN</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BENEFIT · TYPE 1</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HARM</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 REGRET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ADD</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تُشِيرُ التَّقَارِيرُ إِلَى أَنَّ</a:t>
            </a:r>
            <a:pPr rtl="1" algn="r" indent="0" marL="0">
              <a:lnSpc>
                <a:spcPct val="120000"/>
              </a:lnSpc>
              <a:buNone/>
            </a:pPr>
            <a:r>
              <a:rPr lang="ar-SA" altLang="en-US" sz="1400" b="1" dirty="0">
                <a:solidFill>
                  <a:srgbClr val="1B3B6F"/>
                </a:solidFill>
                <a:latin typeface="Amiri" pitchFamily="2" charset="-78"/>
                <a:cs typeface="Amiri" pitchFamily="2" charset="-78"/>
              </a:rPr>
              <a:t> السِّيَاحَةَ </a:t>
            </a:r>
            <a:pPr rtl="1" algn="r" indent="0" marL="0">
              <a:lnSpc>
                <a:spcPct val="120000"/>
              </a:lnSpc>
              <a:buNone/>
            </a:pPr>
            <a:r>
              <a:rPr lang="ar-SA" altLang="en-US" sz="1400" b="1" dirty="0">
                <a:solidFill>
                  <a:srgbClr val="1D5FBF"/>
                </a:solidFill>
                <a:latin typeface="Amiri" pitchFamily="2" charset="-78"/>
                <a:cs typeface="Amiri" pitchFamily="2" charset="-78"/>
              </a:rPr>
              <a:t>تُسْهِمُ</a:t>
            </a:r>
            <a:pPr rtl="1" algn="r" indent="0" marL="0">
              <a:lnSpc>
                <a:spcPct val="120000"/>
              </a:lnSpc>
              <a:buNone/>
            </a:pPr>
            <a:r>
              <a:rPr lang="ar-SA" altLang="en-US" sz="1400" b="1" dirty="0">
                <a:solidFill>
                  <a:srgbClr val="1B3B6F"/>
                </a:solidFill>
                <a:latin typeface="Amiri" pitchFamily="2" charset="-78"/>
                <a:cs typeface="Amiri" pitchFamily="2" charset="-78"/>
              </a:rPr>
              <a:t> بِنِسْبَةٍ كَبِيرَةٍ </a:t>
            </a:r>
            <a:pPr rtl="1" algn="r" indent="0" marL="0">
              <a:lnSpc>
                <a:spcPct val="120000"/>
              </a:lnSpc>
              <a:buNone/>
            </a:pPr>
            <a:r>
              <a:rPr lang="ar-SA" altLang="en-US" sz="1400" b="1" dirty="0">
                <a:solidFill>
                  <a:srgbClr val="1D5FBF"/>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النَّاتِجِ المَحَلِّيِّ الإِجْمَالِيِّ. </a:t>
            </a:r>
            <a:pPr rtl="1" algn="r" indent="0" marL="0">
              <a:lnSpc>
                <a:spcPct val="120000"/>
              </a:lnSpc>
              <a:buNone/>
            </a:pPr>
            <a:r>
              <a:rPr lang="ar-SA" altLang="en-US" sz="1400" b="1" dirty="0">
                <a:solidFill>
                  <a:srgbClr val="C77700"/>
                </a:solidFill>
                <a:latin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cs typeface="Amiri" pitchFamily="2" charset="-78"/>
              </a:rPr>
              <a:t> السِّيَاحَةَ المُفْرِطَةَ </a:t>
            </a:r>
            <a:pPr rtl="1" algn="r" indent="0" marL="0">
              <a:lnSpc>
                <a:spcPct val="120000"/>
              </a:lnSpc>
              <a:buNone/>
            </a:pPr>
            <a:r>
              <a:rPr lang="ar-SA" altLang="en-US" sz="1400" b="1" dirty="0">
                <a:solidFill>
                  <a:srgbClr val="0E7C86"/>
                </a:solidFill>
                <a:latin typeface="Amiri" pitchFamily="2" charset="-78"/>
                <a:cs typeface="Amiri" pitchFamily="2" charset="-78"/>
              </a:rPr>
              <a:t>تُلْحِقُ الضَّرَرَ بِ</a:t>
            </a:r>
            <a:pPr rtl="1" algn="r" indent="0" marL="0">
              <a:lnSpc>
                <a:spcPct val="120000"/>
              </a:lnSpc>
              <a:buNone/>
            </a:pPr>
            <a:r>
              <a:rPr lang="ar-SA" altLang="en-US" sz="1400" b="1" dirty="0">
                <a:solidFill>
                  <a:srgbClr val="1B3B6F"/>
                </a:solidFill>
                <a:latin typeface="Amiri" pitchFamily="2" charset="-78"/>
                <a:cs typeface="Amiri" pitchFamily="2" charset="-78"/>
              </a:rPr>
              <a:t>البِيئَةِ وَالتُّرَاثِ. </a:t>
            </a:r>
            <a:pPr rtl="1" algn="r" indent="0" marL="0">
              <a:lnSpc>
                <a:spcPct val="120000"/>
              </a:lnSpc>
              <a:buNone/>
            </a:pPr>
            <a:r>
              <a:rPr lang="ar-SA" altLang="en-US" sz="1400" b="1" dirty="0">
                <a:solidFill>
                  <a:srgbClr val="1D5FBF"/>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وَاصَلَ السُّيَّاحُ زِيَارَةَ المَوَاقِعِ الهَشَّةِ بِأَعْدَادٍ قِيَاسِيَّةٍ، </a:t>
            </a:r>
            <a:pPr rtl="1" algn="r" indent="0" marL="0">
              <a:lnSpc>
                <a:spcPct val="120000"/>
              </a:lnSpc>
              <a:buNone/>
            </a:pPr>
            <a:r>
              <a:rPr lang="ar-SA" altLang="en-US" sz="1400" b="1" dirty="0">
                <a:solidFill>
                  <a:srgbClr val="1D5FBF"/>
                </a:solidFill>
                <a:latin typeface="Amiri" pitchFamily="2" charset="-78"/>
                <a:cs typeface="Amiri" pitchFamily="2" charset="-78"/>
              </a:rPr>
              <a:t>سَيَتَدَهْوَرُ</a:t>
            </a:r>
            <a:pPr rtl="1" algn="r" indent="0" marL="0">
              <a:lnSpc>
                <a:spcPct val="120000"/>
              </a:lnSpc>
              <a:buNone/>
            </a:pPr>
            <a:r>
              <a:rPr lang="ar-SA" altLang="en-US" sz="1400" b="1" dirty="0">
                <a:solidFill>
                  <a:srgbClr val="1B3B6F"/>
                </a:solidFill>
                <a:latin typeface="Amiri" pitchFamily="2" charset="-78"/>
                <a:cs typeface="Amiri" pitchFamily="2" charset="-78"/>
              </a:rPr>
              <a:t> حَالُهَا. </a:t>
            </a:r>
            <a:pPr rtl="1" algn="r" indent="0" marL="0">
              <a:lnSpc>
                <a:spcPct val="120000"/>
              </a:lnSpc>
              <a:buNone/>
            </a:pPr>
            <a:r>
              <a:rPr lang="ar-SA" altLang="en-US" sz="1400" b="1" dirty="0">
                <a:solidFill>
                  <a:srgbClr val="D6336C"/>
                </a:solidFill>
                <a:latin typeface="Amiri" pitchFamily="2" charset="-78"/>
                <a:cs typeface="Amiri" pitchFamily="2" charset="-78"/>
              </a:rPr>
              <a:t>وَلَوْ كَانَتْ</a:t>
            </a:r>
            <a:pPr rtl="1" algn="r" indent="0" marL="0">
              <a:lnSpc>
                <a:spcPct val="120000"/>
              </a:lnSpc>
              <a:buNone/>
            </a:pPr>
            <a:r>
              <a:rPr lang="ar-SA" altLang="en-US" sz="1400" b="1" dirty="0">
                <a:solidFill>
                  <a:srgbClr val="1B3B6F"/>
                </a:solidFill>
                <a:latin typeface="Amiri" pitchFamily="2" charset="-78"/>
                <a:cs typeface="Amiri" pitchFamily="2" charset="-78"/>
              </a:rPr>
              <a:t> سِيَاسَاتُ السِّيَاحَةِ أَكْثَرَ صَرَامَةً، </a:t>
            </a:r>
            <a:pPr rtl="1" algn="r" indent="0" marL="0">
              <a:lnSpc>
                <a:spcPct val="120000"/>
              </a:lnSpc>
              <a:buNone/>
            </a:pPr>
            <a:r>
              <a:rPr lang="ar-SA" altLang="en-US" sz="1400" b="1" dirty="0">
                <a:solidFill>
                  <a:srgbClr val="D6336C"/>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مَوَاقِعُ مِثْلُ البَتْرَاءِ أَفْضَلَ حَالًا اليَوْمَ. </a:t>
            </a:r>
            <a:pPr rtl="1" algn="r" indent="0" marL="0">
              <a:lnSpc>
                <a:spcPct val="120000"/>
              </a:lnSpc>
              <a:buNone/>
            </a:pPr>
            <a:r>
              <a:rPr lang="ar-SA" altLang="en-US" sz="1400" b="1" dirty="0">
                <a:solidFill>
                  <a:srgbClr val="7B3FA0"/>
                </a:solidFill>
                <a:latin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cs typeface="Amiri" pitchFamily="2" charset="-78"/>
              </a:rPr>
              <a:t>، إِذَا اعْتَمَدَتِ الدُّوَلُ نِظَامَ الحِصَصِ، سَتُحْمَى المَوَاقِعُ.</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Reports indicate that tourism contributes a large proportion of GDP. However, excessive tourism causes harm to the environment and heritage. If tourists continue to visit fragile sites in record numbers, their condition will deteriorate. Had tourism policies been stricter, sites like Petra would be in better condition today. Moreover, if countries adopt a quota system, the sites will be protected.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تُلْحِقُ السِّيَاحَةُ الجَوِّيَّةُ ضَرَرًا بَالِغًا بِالبِيئَةِ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air tourism causes serious harm to the environment</a:t>
            </a:r>
            <a:endParaRPr lang="en-US" sz="1250" dirty="0"/>
          </a:p>
          <a:p>
            <a:pPr indent="0" marL="0">
              <a:buNone/>
            </a:pPr>
            <a:r>
              <a:rPr lang="en-US" sz="1050" i="1" dirty="0">
                <a:solidFill>
                  <a:srgbClr val="8A6D1E"/>
                </a:solidFill>
                <a:latin typeface="Calibri" pitchFamily="34" charset="0"/>
                <a:cs typeface="Amiri" pitchFamily="2" charset="-78"/>
              </a:rPr>
              <a:t>yulḥiq al-ḍarar + bi-.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وَاصَلَ السُّيَّاحُ بِهٰذِهِ الأَعْدَادِ، سَيَتَدَهْوَرُ التُّرَاثُ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tourists continue in these numbers, heritage will deteriorate</a:t>
            </a:r>
            <a:endParaRPr lang="en-US" sz="1250" dirty="0"/>
          </a:p>
          <a:p>
            <a:pPr indent="0" marL="0">
              <a:buNone/>
            </a:pPr>
            <a:r>
              <a:rPr lang="en-US" sz="1050" i="1" dirty="0">
                <a:solidFill>
                  <a:srgbClr val="8A6D1E"/>
                </a:solidFill>
                <a:latin typeface="Calibri" pitchFamily="34" charset="0"/>
                <a:cs typeface="Amiri" pitchFamily="2" charset="-78"/>
              </a:rPr>
              <a:t>Type 1 real concern.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كَانَتْ رُسُومُ الدُّخُولِ أَعْلَى، لَكَانَ الضَّرَرُ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entry fees been higher, the damage would have been less</a:t>
            </a:r>
            <a:endParaRPr lang="en-US" sz="1250" dirty="0"/>
          </a:p>
          <a:p>
            <a:pPr indent="0" marL="0">
              <a:buNone/>
            </a:pPr>
            <a:r>
              <a:rPr lang="en-US" sz="1050" i="1" dirty="0">
                <a:solidFill>
                  <a:srgbClr val="8A6D1E"/>
                </a:solidFill>
                <a:latin typeface="Calibri" pitchFamily="34" charset="0"/>
                <a:cs typeface="Amiri" pitchFamily="2" charset="-78"/>
              </a:rPr>
              <a:t>Type 2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SUSTAINABLE TOURISM — THE ETHICS AND IMPACT OF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The responsible tourist: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transport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litter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save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أَلَّا نَتْرُكَ النُّفَايَاتِ.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تَقْلِيلُ اسْتِهْلَاكِ المِيَاهِ فِي الفُنْدُقِ.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النَّقْلُ العَامُّ أَكْثَرُ اسْتِدَامَةً.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transport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النَّقْلُ العَامُّ أَكْثَرُ اسْتِدَامَةً.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Public transport is more sustainable.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litter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أَلَّا نَتْرُكَ النُّفَايَاتِ.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not leave litter.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save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يَنْبَغِي تَقْلِيلُ اسْتِهْلَاكِ المِيَاهِ فِي الفُنْدُقِ.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Water use in the hotel should be reduced.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BALANCED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Benefit + concern + regret or solution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حُجَّةً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Reported benefit</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Harm / real concern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Regret / solution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تُشِيرُ التَّقَارِيرُ إِلَى أَنَّ السِّيَاحَةَ تُسْهِمُ فِي الاقْتِصَادِ</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غَيْرَ أَنَّهَا تُلْحِقُ الضَّرَرَ بِالتُّرَاثِ إِذَا لَمْ تُنَظَّمْ</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وَلَوْ نَظَّمَتِ الحُكُومَاتُ الزِّيَارَاتِ مُبَكِّرًا لَكَانَ التُّرَاثُ أَفْضَلَ</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وَأَكَّدَ البَاحِثُونَ أَنَّهَا تُوَفِّرُ فُرَصَ عَمَلٍ</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فَإِذَا تَجَاوَزَ الزُّوَّارُ طَاقَةَ المَوْقِعِ سَيَتَدَهْوَرُ حَالُهُ</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اعْتَمَدْنَا نِظَامَ الحِصَصِ سَتُحْمَى المَوَاقِعُ</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وَتَدْعَمُ السِّيَاحَةُ المُنْتَجَاتِ المَحَلِّيَّةَ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وَتَزِيدُ السِّيَاحَةُ الجَوِّيَّةُ البَصْمَةَ الكَرْبُونِيَّةَ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وَمَسْؤُولِيَّةُ السَّائِحِ لَا تَقِلُّ عَنْ سِيَاسَةِ الدَّوْلَةِ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label each conditional: Type 1 or Type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benefit, a harm — or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تُسْهِمُ فِي الاقْتِصَادِ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تُوَفِّرُ فُرَصَ 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تَدْعَمُ المُنْتَجَاتِ المَحَلِّيَّةَ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تُلْحِقُ الضَّرَرَ بِالتُّرَاثِ</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تُسَبِّبُ الاكْتِظَاظَ السِّيَاحِيَّ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تَزِيدُ البَصْمَةَ الكَرْبُونِيَّةَ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حِصَصُ الدُّخُولِ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ضَرِيبَةُ السِّيَاحَةِ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تَنْظِيمُ السِّيَاحَةِ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benefit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harm</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solution / regulation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benefit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تُسْهِمُ فِي الاقْتِصَادِ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تُوَفِّرُ فُرَصَ عَمَلٍ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تَدْعَمُ المُنْتَجَاتِ المَحَلِّيَّةَ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harm</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تُلْحِقُ الضَّرَرَ بِالتُّرَاثِ</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تُسَبِّبُ الاكْتِظَاظَ السِّيَاحِيَّ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تَزِيدُ البَصْمَةَ الكَرْبُونِيَّةَ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solution / regulation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حِصَصُ الدُّخُولِ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ضَرِيبَةُ السِّيَاحَةِ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تَنْظِيمُ السِّيَاحَةِ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لَوِ اعْتَمَدَ الأُرْدُنُّ نِظَامَ الحِصَصِ مُبَكِّرًا، ___ حَالُ البَتْرَاءِ أَفْضَلَ.</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a benefit with a harm?</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السِّيَاحَةُ جَيِّدَةٌ.</a:t>
            </a:r>
            <a:endParaRPr lang="ar-SA" sz="190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تُوَفِّرُ السِّيَاحَةُ فُرَصَ عَمَلٍ، غَيْرَ أَنَّهَا تُلْحِقُ الضَّرَرَ بِالبِيئَةِ.</a:t>
            </a:r>
            <a:endParaRPr lang="ar-SA" sz="190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السِّيَاحَةُ مُنْتَشِرَةٌ.</a:t>
            </a:r>
            <a:endParaRPr lang="ar-SA" sz="190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“over-tourism”?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السِّيَاحَةُ البِيئِيَّةُ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الاكْتِظَاظُ السِّيَاحِيُّ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تَوْعِيَةٌ ثَقَافِيَّةٌ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report as evidence?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السِّيَاحَةُ مُفِيدَةٌ لِلْجَمِيعِ.</a:t>
            </a:r>
            <a:endParaRPr lang="ar-SA" sz="18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أُحِبُّ السَّفَرَ.</a:t>
            </a:r>
            <a:endParaRPr lang="ar-SA" sz="18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تُشِيرُ التَّقَارِيرُ إِلَى أَنَّ السِّيَاحَةَ تُسْهِمُ فِي النَّاتِجِ المَحَلِّيِّ.</a:t>
            </a:r>
            <a:endParaRPr lang="ar-SA" sz="1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لَوِ اعْتَمَدَ الأُرْدُنُّ نِظَامَ الحِصَصِ مُبَكِّرًا، ___ حَالُ البَتْرَاءِ أَفْضَلَ.</a:t>
            </a:r>
            <a:endParaRPr lang="ar-SA" sz="10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a benefit with a harm?</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السِّيَاحَةُ جَيِّدَةٌ.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تُوَفِّرُ السِّيَاحَةُ فُرَصَ عَمَلٍ، غَيْرَ أَنَّهَا تُلْحِقُ الضَّرَرَ بِالبِيئَةِ.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السِّيَاحَةُ مُنْتَشِرَةٌ.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turns from a benefit to a harm.</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“over-tourism”?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السِّيَاحَةُ البِيئِيَّةُ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الاكْتِظَاظُ السِّيَاحِيُّ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تَوْعِيَةٌ ثَقَافِيَّةٌ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الاكْتِظَاظُ السِّيَاحِيُّ</a:t>
            </a:r>
            <a:pPr algn="l" indent="0" marL="0">
              <a:buNone/>
            </a:pPr>
            <a:r>
              <a:rPr lang="en-US" sz="1050" i="1" dirty="0">
                <a:solidFill>
                  <a:srgbClr val="8A6D1E"/>
                </a:solidFill>
                <a:latin typeface="Calibri" pitchFamily="34" charset="0"/>
                <a:cs typeface="Amiri" pitchFamily="2" charset="-78"/>
              </a:rPr>
              <a:t> is over-tourism.</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report as evidence?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السِّيَاحَةُ مُفِيدَةٌ لِلْجَمِيعِ.</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السَّفَرَ.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تُشِيرُ التَّقَارِيرُ إِلَى أَنَّ السِّيَاحَةَ تُسْهِمُ فِي النَّاتِجِ المَحَلِّيِّ.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تُشِيرُ التَّقَارِيرُ إِلَى أَنَّ</a:t>
            </a:r>
            <a:pPr algn="l" indent="0" marL="0">
              <a:buNone/>
            </a:pPr>
            <a:r>
              <a:rPr lang="en-US" sz="1050" i="1" dirty="0">
                <a:solidFill>
                  <a:srgbClr val="8A6D1E"/>
                </a:solidFill>
                <a:latin typeface="Calibri" pitchFamily="34" charset="0"/>
                <a:cs typeface="Amiri" pitchFamily="2" charset="-78"/>
              </a:rPr>
              <a:t> reports evidence.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تُسْهِمُ السِّيَاحَةُ بِالاقْتِصَادِ المَحَلِّيِّ.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tushim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تُلْحِقُ السِّيَاحَةُ الضَّرَرَ 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tulḥiq al-ḍarar + no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نَظَّمْنَا الزِّيَارَاتِ، سَيَكُونُ التُّرَاثُ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تُسْهِمُ السِّيَاحَةُ بِالاقْتِصَادِ المَحَلِّيِّ.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تُسْهِمُ السِّيَاحَةُ فِي الاقْتِصَادِ المَحَلِّيِّ.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يُسْهِمُ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تُلْحِقُ السِّيَاحَةُ الضَّرَرَ 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تُلْحِقُ السِّيَاحَةُ الضَّرَرَ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يُلْحِقُ الضَّرَرَ</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نَظَّمْنَا الزِّيَارَاتِ، سَيَكُونُ التُّرَاثُ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نَظَّمْنَا الزِّيَارَاتِ، لَكَانَ التُّرَاثُ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is tourism always good?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reports indicate about tourism?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contributes significantly to GDP and provides jobs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economic value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harms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excessive tourism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Protects sites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Causes harm to fragile sites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about Petra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Petra is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If visitors continue in record numbers, the Nabataean buildings will deteriorate</a:t>
            </a:r>
            <a:endParaRPr lang="en-US" sz="1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Jordan adopted quotas from the start, the site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Quotas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Jordan cannot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tourist responsibility?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 less important than state policy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policy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 al-taqārīr · ghayra anna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تُشِيرُ التَّقَارِيرُ إِلَى أَنَّ السِّيَاحَةَ تُسْهِمُ بِنِسْبَةٍ كَبِيرَةٍ فِي النَّاتِجِ المَحَلِّيِّ الإِجْمَالِيِّ فِي كَثِيرٍ مِنَ الدُّوَلِ العَرَبِيَّةِ، وَأَكَّدَ البَاحِثُونَ أَنَّهَا تُوَفِّرُ مَلَايِينَ فُرَصِ العَمَلِ.</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Reports indicate that tourism contributes a large proportion of GDP in many Arab countries, and researchers confirmed that it provides millions of jobs.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غَيْرَ أَنَّ السِّيَاحَةَ المُفْرِطَةَ تُلْحِقُ الضَّرَرَ بِالمَوَاقِعِ الهَشَّةِ.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excessive tourism causes harm to fragile sites.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إِذَا وَاصَلَ السُّيَّاحُ زِيَارَةَ البَتْرَاءِ بِأَعْدَادٍ قِيَاسِيَّةٍ، سَيَتَدَهْوَرُ حَالُ الأَبْنِيَةِ النَّبَطِيَّةِ. وَلَوِ اعْتَمَدَ الأُرْدُنُّ نِظَامَ الحِصَصِ مُنْذُ البِدَايَةِ، لَكَانَتْ حَالَةُ المَوْقِعِ أَفْضَلَ اليَوْمَ.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If tourists continue to visit Petra in record numbers, the Nabataean buildings will deteriorate. Had Jordan adopted a quota system from the start, the site would be in a better state today.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عِلَاوَةً عَلَى ذٰلِكَ، إِذَا اعْتَمَدَتِ الدُّوَلُ ضَرِيبَةَ السِّيَاحَةِ، سَتُحْمَى المَوَاقِعُ لِلْأَجْيَالِ القَادِمَةِ.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 if countries adopt a tourism tax, the sites will be protected for future generations.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فَمَسْؤُولِيَّةُ السَّائِحِ لَا تَقِلُّ أَهَمِّيَّةً عَنْ سِيَاسَاتِ الدَّوْلَةِ.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tourist’s responsibility is no less important than state policy.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reports indicate about tourism?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contributes significantly to GDP and provides jobs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economic value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harms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تُسْهِمُ بِنِسْبَةٍ كَبِيرَةٍ فِي النَّاتِجِ المَحَلِّيِّ … تُوَفِّرُ مَلَايِينَ فُرَصِ العَمَلِ.</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excessive tourism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Protects sites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Causes harm to fragile sites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تُلْحِقُ الضَّرَرَ بِالمَوَاقِعِ الهَشَّةِ.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about Petra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Petra is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visitors continue in record numbers, the Nabataean buildings will deteriorate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وَاصَلَ السُّيَّاحُ … سَيَتَدَهْوَرُ حَالُ الأَبْنِيَةِ النَّبَطِيَّةِ.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Jordan adopted quotas from the start, the site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Quotas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Jordan cannot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اعْتَمَدَ الأُرْدُنُّ نِظَامَ الحِصَصِ مُنْذُ البِدَايَةِ، لَكَانَتْ حَالَةُ المَوْقِعِ أَفْضَلَ.</a:t>
            </a:r>
            <a:endParaRPr lang="ar-SA"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tourist responsibility?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no less important than state policy</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policy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مَسْؤُولِيَّةُ السَّائِحِ لَا تَقِلُّ أَهَمِّيَّةً عَنْ سِيَاسَاتِ الدَّوْلَةِ.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 al-taqārīr · ghayra anna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argue about sustainable tourism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فَوَائِدُ السِّيَاحَةِ؟ اسْتَشْهِدْ بِتَقْرِيرٍ.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الضَّرَرُ المُحْتَمَلُ؟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كَانَ يَنْبَغِي فِعْلُهُ سَابِقًا؟ اسْتَعْمِلْ «لَوْ».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cs typeface="Amiri" pitchFamily="2" charset="-78"/>
              </a:rPr>
              <a:t>تُشِيرُ التَّقَارِيرُ إِلَى أَنَّ السِّيَاحَةَ تُسْهِمُ فِي ___ .</a:t>
            </a:r>
            <a:endParaRPr lang="ar-SA" sz="12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لَمْ نُنَظِّمِ الزِّيَارَاتِ، سَيَتَدَهْوَرُ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فَرَضْنَا حِصَصًا مُبَكِّرًا، لَكَانَ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فَوَائِدُ السِّيَاحَةِ؟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benefits of tourism?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تُشِيرُ التَّقَارِيرُ إِلَى أَنَّهَا تُسْهِمُ فِي الاقْتِصَادِ وَتُوَفِّرُ فُرَصَ عَمَلٍ.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Reports indicate that it contributes to the economy and provides jobs.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three benefit and three harm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three benefit and three harm sentences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concern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concern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balanced argument citing a report and closing with a solution.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argue for sustainable tourism — cite a report, use environmental vocabulary, a Type 1, a Type 2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وَاصَلَ السُّيَّاحُ ______ ، سَيَتَدَهْوَرُ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tourists continue …, … will deteriorate.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لَوْ كَانَتْ ______ أَكْثَرَ صَرَامَةً، لَكَانَ ______ أَفْضَلَ.</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stricter, … would have been better.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تُسْهِمُ السِّيَاحَةُ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Tourism contributes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تُوَفِّرُ ______ ، وَتَدْعَمُ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provides … and supports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تُلْحِقُ السِّيَاحَةُ المُفْرِطَةُ الضَّرَرَ بِالبِيئَةِ وَ ______ .</a:t>
            </a:r>
            <a:endParaRPr lang="ar-SA" sz="14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Excessive tourism causes harm to the environment and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تَزِيدُ السِّيَاحَةُ الجَوِّيَّةُ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Air travel increases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الاقْتِصَادِ المَحَلِّيِّ  ·  فُرَصَ عَمَلٍ  ·  المُنْتَجَاتِ المَحَلِّيَّةَ  ·  البِيئَةِ  ·  التُّرَاثِ  ·  المَوَاقِعِ الهَشَّةِ  ·  البَصْمَةَ الكَرْبُونِيَّةَ  ·  بِأَعْدَادٍ قِيَاسِيَّةٍ  ·  حَالُ المَوْقِعِ  ·  سِيَاسَاتُ السِّيَاحَةِ  ·  حِصَصُ الدُّخُولِ  ·  ضَرِيبَةُ السِّيَاحَةِ</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arguing for sustainable tourism. Cite a report, use environmental vocabulary, and include a Type 1 real concern, a Type 2 counterfactual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benefit (</a:t>
            </a:r>
            <a:pPr algn="l" indent="0" marL="0">
              <a:buNone/>
            </a:pPr>
            <a:r>
              <a:rPr lang="ar-SA" altLang="en-US" sz="1550" dirty="0">
                <a:solidFill>
                  <a:srgbClr val="1F2A37"/>
                </a:solidFill>
                <a:latin typeface="Amiri" pitchFamily="2" charset="-78"/>
                <a:cs typeface="Amiri" pitchFamily="2" charset="-78"/>
              </a:rPr>
              <a:t>تُشِيرُ التَّقَارِيرُ إِلَى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Environmental vocabulary (</a:t>
            </a:r>
            <a:pPr algn="l" indent="0" marL="0">
              <a:buNone/>
            </a:pPr>
            <a:r>
              <a:rPr lang="ar-SA" altLang="en-US" sz="1550" dirty="0">
                <a:solidFill>
                  <a:srgbClr val="1F2A37"/>
                </a:solidFill>
                <a:latin typeface="Amiri" pitchFamily="2" charset="-78"/>
                <a:cs typeface="Amiri" pitchFamily="2" charset="-78"/>
              </a:rPr>
              <a:t>بَصْمَةٌ كَرْبُونِيَّةٌ / انْبِعَاثَاتٌ / يُلْحِقُ الضَّرَرَ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real concern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connector (</a:t>
            </a:r>
            <a:pPr algn="l" indent="0" marL="0">
              <a:buNone/>
            </a:pPr>
            <a:r>
              <a:rPr lang="ar-SA" altLang="en-US" sz="1550" dirty="0">
                <a:solidFill>
                  <a:srgbClr val="1F2A37"/>
                </a:solidFill>
                <a:latin typeface="Amiri" pitchFamily="2" charset="-78"/>
                <a:cs typeface="Amiri" pitchFamily="2" charset="-78"/>
              </a:rPr>
              <a:t>غَيْرَ أَنَّ / عِلَاوَةً عَلَى ذٰلِكَ</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بِنِسْبَةٍ كَبِيرَةٍ فِي النَّاتِجِ المَحَلِّيِّ الإِجْمَالِيِّ</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large proportion of GDP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وَأَكَّدَ البَاحِثُونَ أَنَّهَا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researchers confirmed that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وَتَزِيدُ البَصْمَةَ الكَرْبُونِيَّةَ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increases the carbon footprint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سَتُحْمَى مَوَاقِعُ التُّرَاثِ لِلْأَجْيَالِ القَادِمَةِ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heritage sites will be protected for future generations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فَمَسْؤُولِيَّةُ السَّائِحِ وَالدَّوْلَةِ مُشْتَرَكَةٌ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responsibility of the tourist and the state is shared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تُشِيرُ التَّقَارِيرُ إِلَى أَنَّ السِّيَاحَةَ تُسْهِمُ بِنِسْبَةٍ كَبِيرَةٍ فِي النَّاتِجِ المَحَلِّيِّ الإِجْمَالِيِّ، وَأَكَّدَ البَاحِثُونَ أَنَّهَا تُوَفِّرُ مَلَايِينَ فُرَصِ العَمَلِ المَحَلِّيَّةِ. غَيْرَ أَنَّ السِّيَاحَةَ المُفْرِطَةَ تُلْحِقُ الضَّرَرَ بِالبِيئَةِ وَالتُّرَاثِ، وَتَزِيدُ البَصْمَةَ الكَرْبُونِيَّةَ. إِذَا وَاصَلَ السُّيَّاحُ زِيَارَةَ المَوَاقِعِ الهَشَّةِ بِأَعْدَادٍ قِيَاسِيَّةٍ، سَيَتَدَهْوَرُ حَالُهَا بِسُرْعَةٍ. وَلَوْ كَانَتْ سِيَاسَاتُ السِّيَاحَةِ المُسْتَدَامَةِ أَكْثَرَ صَرَامَةً مُنْذُ البِدَايَةِ، لَكَانَتْ مَوَاقِعُ مِثْلُ البَتْرَاءِ أَفْضَلَ حَالًا اليَوْمَ. عِلَاوَةً عَلَى ذٰلِكَ، إِذَا اعْتَمَدَتِ الدُّوَلُ العَرَبِيَّةُ نِظَامَ حِصَصِ الدُّخُولِ، سَتُحْمَى مَوَاقِعُ التُّرَاثِ لِلْأَجْيَالِ القَادِمَةِ. فَمَسْؤُولِيَّةُ السَّائِحِ وَالدَّوْلَةِ مُشْتَرَكَةٌ.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Reports indicate that tourism contributes a large proportion of GDP, and researchers have confirmed that it provides millions of local jobs. However, excessive tourism causes harm to the environment and heritage, and increases the carbon footprint. If tourists continue to visit fragile sites in record numbers, their condition will deteriorate quickly. Had sustainable tourism policies been stricter from the start, sites like Petra would be in better condition today. Moreover, if Arab countries adopt a system of entry quotas, heritage sites will be protected for future generations. So the responsibility of the tourist and the state is shared.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tushīr al-taqārīr ilā anna · tushim fī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ghayra anna · tulḥiq al-ḍarar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(law … la-) + ʿilāwatan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tushim has fī; tulḥiq al-ḍarar has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at least one benefit and one harm.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real concern uses idhā + past → sa-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regret uses law + past → la- + past (never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 a report and turn with ghayra anna / add with ʿilāwatan ʿalā dhālika.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تُلْحِقُ السِّيَاحَةُ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regret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لَوْ نَظَّمْنَا الزِّيَارَاتِ مُبَكِّرًا، لَكَانَ التُّرَاثُ أَفْضَلَ.</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إِذَا نَظَّمْنَا الزِّيَارَاتِ، سَيَتَحَسَّنُ التُّرَاثُ.</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نُنَظِّمُ الزِّيَارَاتِ.</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تُلْحِقُ السِّيَاحَةُ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regret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لَوْ نَظَّمْنَا الزِّيَارَاتِ مُبَكِّرًا، لَكَانَ التُّرَاثُ أَفْضَلَ.</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إِذَا نَظَّمْنَا الزِّيَارَاتِ، سَيَتَحَسَّنُ التُّرَاثُ.</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نُنَظِّمُ الزِّيَارَاتِ.</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a balanced view of tourism</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cs typeface="Amiri" pitchFamily="2" charset="-78"/>
              </a:rPr>
              <a:t>لَا شَكَّ أَنَّ السِّيَاحَةَ سِلَاحٌ ذُو حَدَّيْنِ. فَمِنْ نَاحِيَةٍ، تُسْهِمُ فِي الاقْتِصَادِ المَحَلِّيِّ وَتَدْعَمُ المُنْتَجَاتِ المَحَلِّيَّةَ وَتُعَزِّزُ التَّوْعِيَةَ الثَّقَافِيَّةَ. غَيْرَ أَنَّهَا، مِنْ نَاحِيَةٍ أُخْرَى، قَدْ تُلْحِقُ الضَّرَرَ بِالبِيئَةِ وَالتُّرَاثِ إِذَا لَمْ تُنَظَّمْ. إِذَا تَجَاوَزَ عَدَدُ الزُّوَّارِ طَاقَةَ المَوْقِعِ، سَيَتَدَهْوَرُ حَالُهُ بِسُرْعَةٍ. وَلَوْ وَازَنَتِ الحُكُومَاتُ بَيْنَ الرِّبْحِ وَالحِمَايَةِ مُنْذُ البِدَايَةِ، لَمَا وَصَلَتْ كَثِيرٌ مِنَ المَوَاقِعِ إِلَى هٰذَا التَّدَهْوُرِ. لِذٰلِكَ تَدْعُو التَّقَارِيرُ إِلَى السِّيَاحَةِ المُسْتَدَامَةِ الَّتِي تَحْمِي التُّرَاثَ وَتُحَقِّقُ الفَائِدَةَ مَعًا.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شَكَّ أَنَّ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 doubt that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سِلَاحٌ ذُو حَدَّيْنِ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double-edged sword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نَاحِيَةٍ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one hand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تُعَزِّزُ</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strengthens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لَمْ تُنَظَّمْ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it is not regulated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تَجَاوَزَ</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exceeded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طَاقَةَ المَوْقِعِ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site’s capacity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الرِّبْحِ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التَّدَهْوُرِ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تَدْعُو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call for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tourism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pure benefit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double-edged sword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pure harm</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per the text?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profit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Supporting the local economy, local products and cultural awareness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visitor numbers exceed a site's capacity, it deteriorates quickly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Sites never deteriorate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cannot exceed capacity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cannot balance them</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governments balanced profit and protection early, many sites would not have deteriorated</a:t>
            </a:r>
            <a:endParaRPr lang="en-US" sz="1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is pointless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reports call for?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tourism that protects heritage and delivers benefit together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tourism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Unlimited tourism</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tourism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pure benefit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double-edged sword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pure harm</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السِّيَاحَةَ سِلَاحٌ ذُو حَدَّيْنِ.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per the text?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profit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Supporting the local economy, local products and cultural awareness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تُسْهِمُ فِي الاقْتِصَادِ المَحَلِّيِّ وَتَدْعَمُ المُنْتَجَاتِ المَحَلِّيَّةَ وَتُعَزِّزُ التَّوْعِيَةَ الثَّقَافِيَّةَ.</a:t>
            </a:r>
            <a:endParaRPr lang="ar-SA" sz="9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visitor numbers exceed a site's capacity, it deteriorates quickly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Sites never deteriorate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cannot exceed capacity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تَجَاوَزَ عَدَدُ الزُّوَّارِ طَاقَةَ المَوْقِعِ، سَيَتَدَهْوَرُ حَالُهُ.</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cannot balance them</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governments balanced profit and protection early, many sites would not have deteriorated</a:t>
            </a:r>
            <a:endParaRPr lang="en-US" sz="10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 is pointless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cs typeface="Amiri" pitchFamily="2" charset="-78"/>
              </a:rPr>
              <a:t>لَوْ وَازَنَتِ الحُكُومَاتُ بَيْنَ الرِّبْحِ وَالحِمَايَةِ مُنْذُ البِدَايَةِ، لَمَا وَصَلَتْ … إِلَى هٰذَا التَّدَهْوُرِ.</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reports call for?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tourism that protects heritage and delivers benefit together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tourism</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Unlimited tourism</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cs typeface="Amiri" pitchFamily="2" charset="-78"/>
              </a:rPr>
              <a:t>تَدْعُو التَّقَارِيرُ إِلَى السِّيَاحَةِ المُسْتَدَامَةِ الَّتِي تَحْمِي التُّرَاثَ وَتُحَقِّقُ الفَائِدَةَ مَعًا.</a:t>
            </a:r>
            <a:endParaRPr lang="ar-SA" sz="9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Ethics Mission — Benefit, Harm and Two Conditionals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وَاصَلُوا، سَيَتَدَهْوَرُ</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concern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نَظَّمْنَا،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concern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رَفَعْنَا الرُّسُومَ،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الأَعْدَادُ أَقَلَّ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سَتَكُونُ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لَمْ نُنَظِّمِ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لَتَدَهْوَرَ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سَيَتَدَهْوَرُ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يَتَدَهْوَرُ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وَاصَلُوا، سَيَتَدَهْوَرُ</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concern</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concern.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نَظَّمْنَا،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concern</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رَفَعْنَا الرُّسُومَ،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الأَعْدَادُ أَقَلَّ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سَتَكُونُ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تَكُونُ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لَمْ نُنَظِّمِ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لَتَدَهْوَرَ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سَيَتَدَهْوَرُ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يَتَدَهْوَرُ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P3-L06 · Travel Problems and Solutions — Dealing With the Unexpected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تَأَخُّرُ الرِّحْلَةِ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flight delay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فُقْدَانُ الأَمْتِعَةِ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lost luggage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يَتَصَرَّفُ 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acts calmly</a:t>
            </a:r>
            <a:pPr indent="0" marL="0">
              <a:buNone/>
            </a:pPr>
            <a:r>
              <a:rPr lang="en-US" sz="1000" i="1" dirty="0">
                <a:solidFill>
                  <a:srgbClr val="5A6472"/>
                </a:solidFill>
                <a:latin typeface="Calibri" pitchFamily="34" charset="0"/>
                <a:cs typeface="Amiri" pitchFamily="2" charset="-78"/>
              </a:rPr>
              <a:t>  تَتَصَرَّفُ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يُبَلِّغُ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reports</a:t>
            </a:r>
            <a:pPr indent="0" marL="0">
              <a:buNone/>
            </a:pPr>
            <a:r>
              <a:rPr lang="en-US" sz="1000" i="1" dirty="0">
                <a:solidFill>
                  <a:srgbClr val="5A6472"/>
                </a:solidFill>
                <a:latin typeface="Calibri" pitchFamily="34" charset="0"/>
                <a:cs typeface="Amiri" pitchFamily="2" charset="-78"/>
              </a:rPr>
              <a:t>  تُبَلِّغُ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التَّأْمِينُ السِّيَاحِيُّ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travel insurance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Has something ever gone wrong on a journey? What did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مَرَّةً، ______ ، فَتَصَرَّفْتُ بِهُدُوءٍ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benefit and three harm sentences with tushim fī and tulḥiq al-ḍarar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concern and a Type 2 regret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argument for sustainable tourism.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P3-L06 · Travel Problems and Solutions — Dealing With the Unexpected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مَشَاكِلُ السَّفَرِ وَالحُلُولُ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tushim FĪ · tulḥiq al-ḍarar BI- — a real concern is idhā … sa-, a regret is law … la- (never sa-) — cite with tushīr al-taqārīr, turn with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P3-L05 · Sustainable Tourism — The Ethics and Impact of Travel</dc:title>
  <dc:subject>PptxGenJS Presentation</dc:subject>
  <dc:creator>Al Madina Online School · Arabic Department</dc:creator>
  <cp:lastModifiedBy>Al Madina Online School · Arabic Department</cp:lastModifiedBy>
  <cp:revision>1</cp:revision>
  <dcterms:created xsi:type="dcterms:W3CDTF">2026-10-11T06:43:10Z</dcterms:created>
  <dcterms:modified xsi:type="dcterms:W3CDTF">2026-10-11T06:43:10Z</dcterms:modified>
</cp:coreProperties>
</file>