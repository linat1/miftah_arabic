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P3 Travel, Holidays and Transport › P3-L05. The website lesson “Sustainable Tourism — The Ethics and Impact of Travel”: vocabulary, grammar rules and quiz, patterns, common mistakes, sorter, listening, reading, speaking prompts and model, writing task and model, differentiation, final check and the lesson mission. Picture match: website visual game “Sustainable Tourism — The Ethics and Impact of Travel”.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three benefit and three harm sentences with correct complements (website Core). Develop: add a Type 1 concern and a Type 2 counterfactual. Stretch: a balanced 100–110-word argument citing a report and closing with a solution.
• Keep it balanced and hopeful: tourism brings jobs and pride as well as harm. Our faith teaches us to be trustees of the earth (khalīfa) and to avoid waste (isrāf) — a natural link for students who want to bring it in.
• The two conditionals are the heart of the lesson: idhā = a real, likely future (sa- + present); law = an unreal past (la- + past). The website’s commonest error is sa- after law.
• Grammar links: Type 1 (P1-L03) · law kuntu … la-kāna (P3-L02) · law lam … lamā (P3-L03) · reported speech ashāra ilā anna (P2-L02).
• TEACHER-WRITTEN ITEMS: waṣl alif shown without a kasra; spelling fix عَلَاوَةً → عِلَاوَةً; writing-checklist words given full case endings; rule headings and formulas in English and transliteration; sorter headings in transliteration; the verb, conditional and report tables are teacher-built from the website texts. All other website items, including the visual game,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P3-L04. Questions 4–5 retrieve yatamayyaz bi- and the idhā … fa-lā budda min recommendation (P3-L04) — today we use idhā again, this time for a warning.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Real and likely → idhā … sa-. Unreal, in the past → law … 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ضرر، فائدہ، اقتصاد، تنظیم and نسبت are all shared. Careful with نسبت: in Urdu it often means “relation, connection”; in a report بِنِسْبَةِ ٢٠٪ means “by 20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Sustainable tourism (website vocabulary (1 of 2)). Hear → Say → See → Use. Transliteration is printed for Core students (cover it for Develop/Stretch).
Sustainable tourism: the problem (الاكْتِظَاظُ السِّيَاحِيُّ · بَصْمَةٌ كَرْبُونِيَّةٌ) and the solutions (حِصَصُ دُخُولٍ · ضَرِيبَةُ السِّيَاحَةِ). Venice and Amsterdam charge tourism taxes; Machu Picchu uses daily entry quotas.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Sustainable tourism (website vocabulary (2 of 2)). Hear → Say → See → Use. Transliteration is printed for Core students (cover it for Develop/Stretch).
Sustainable tourism: the problem (الاكْتِظَاظُ السِّيَاحِيُّ · بَصْمَةٌ كَرْبُونِيَّةٌ) and the solutions (حِصَصُ دُخُولٍ · ضَرِيبَةُ السِّيَاحَةِ). Venice and Amsterdam charge tourism taxes; Machu Picchu uses daily entry quotas.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Impact and argument verbs (website vocabulary (1 of 2)). Hear → Say → See → Use. Transliteration is printed for Core students (cover it for Develop/Stretch).
Impact and argument verbs: each keeps its partner — يُسْهِمُ فِي · يُلْحِقُ الضَّرَرَ بِـ · يُوَازِنُ بَيْنَ … وَ … . يَتَدَهْوَرُ (to deteriorate) takes no object. With السِّيَاحَةُ as subject, use ta-: تُسْهِمُ · تُلْحِقُ.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Impact and argument verbs (website vocabulary (2 of 2)). Hear → Say → See → Use. Transliteration is printed for Core students (cover it for Develop/Stretch).
FLEX: teach if time allows; otherwise these are on the website vocabulary tab for homework.
Impact and argument verbs: each keeps its partner — يُسْهِمُ فِي · يُلْحِقُ الضَّرَرَ بِـ · يُوَازِنُ بَيْنَ … وَ … . يَتَدَهْوَرُ (to deteriorate) takes no object. With السِّيَاحَةُ as subject, use ta-: تُسْهِمُ · تُلْحِقُ.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Data and connectors (website vocabulary (1 of 2)). Hear → Say → See → Use. Transliteration is printed for Core students (cover it for Develop/Stretch).
FLEX: teach if time allows; otherwise these are on the website vocabulary tab for homework.
Data and connectors: the language of a formal argument. تُشِيرُ التَّقَارِيرُ إِلَى أَنَّ cites evidence; غَيْرَ أَنَّ turns to the other side; عِلَاوَةً عَلَى ذٰلِكَ adds a further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Data and connectors (website vocabulary (2 of 2)). Hear → Say → See → Use. Transliteration is printed for Core students (cover it for Develop/Stretch).
FLEX: teach if time allows; otherwise these are on the website vocabulary tab for homework.
Data and connectors: the language of a formal argument. تُشِيرُ التَّقَارِيرُ إِلَى أَنَّ cites evidence; غَيْرَ أَنَّ turns to the other side; عِلَاوَةً عَلَى ذٰلِكَ adds a further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“Impact verbs”, teaching point 2 and mistakes 1–2. Rows 3–5 are from the website reading and listening texts.
Variation: the website also uses ضَرَرًا بَالِغًا (indefinite): تُلْحِقُ السِّيَاحَةُ الجَوِّيَّةُ ضَرَرًا بَالِغًا بِالبِيئَةِ — the partner بِـ stays.
Environment retrieval: الانْبِعَاثَاتُ الكَرْبُونِيَّةُ (carbon emissions) · البِيئَةُ (the environment) · المَوَاقِعُ الهَشَّةُ (fragile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“Real concern (Type 1)” and “Counterfactual regret (Type 2)”, teaching point 1, the website table and mistake 3.
Ask: “Has it happened? Can it still happen?” If it is a real trend that can still happen → إِذَا … سَـ. If it is the past and it did NOT happen → لَوْ … لَـ.
Row 2: لَمْ + jussive after إِذَا (نُنَظِّمِ — the kasra is only there to join the next word). Row 5: the negative result لَمَا (P3-L03), from the website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“Cite and balance” and the reading: سِلَاحٌ ذُو حَدَّيْنِ (a double-edged sword) · فَمِنْ نَاحِيَةٍ … وَمِنْ نَاحِيَةٍ أُخْرَى (on the one hand … on the other).
Like إِنَّ, both أَنَّ and غَيْرَ أَنَّ make the next noun accusative (أَنَّ السِّيَاحَةَ) or take a pronoun (غَيْرَ أَنَّهَا).
قَدْ + present = “may, might” — it softens a claim, which makes an argument sound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register tools from the website listening and writing model.
بِنِسْبَةِ is followed by a number or adjective: بِنِسْبَةِ ٢٠٪ · بِنِسْبَةٍ كَبِيرَةٍ.
The passive: تُنَظِّمُ (she regulates) → تُنَظَّمُ (it is regulated); تَحْمِي (she protects) → تُحْمَى (it is protected).
لَا تَقِلُّ أَهَمِّيَّةً عَنْ = is no less important than — a strong, formal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impact verbs with their complements, and both conditional types used to state a real concern and a counterfactual regret.”
• Impact verbs: Each keeps its fixed complement.
• Real concern (Type 1): A likely consequence of a real trend.
• Counterfactual regret (Type 2): What would have been better had things differed.
• Cite and balance: Report a benefit, then turn to a harm.
Website common error: Using إِذَا for a counterfactual regret. A real trend takes إِذَا … سَـ; what should have been done but did not happen takes لَوْ … لَـ.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“Start with evidence: tushīru l-taqārīru ilā anna. tushim takes FĪ. Turn: ghayra anna. Harm takes BI-. A real trend that can still happen → idhā … SA-. A past that did not happen → law … LA-kānat. Add a solution: ʿilāwatan ʿalā dhālika.”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Sustainable Tourism — The Ethics and Impact of Travel”)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turn each into a conditional: إِذَا اسْتَخْدَمْنَا النَّقْلَ العَامَّ، سَتَقِلُّ البَصْمَةُ الكَرْبُونِيَّةُ (Type 1) · لَوْ لَمْ يَتْرُكِ السُّيَّاحُ النُّفَايَاتِ، لَكَانَ الشَّاطِئُ أَنْظَفَ (Type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Sustainable Tourism — The Ethics and Impact of Travel”)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turn each into a conditional: إِذَا اسْتَخْدَمْنَا النَّقْلَ العَامَّ، سَتَقِلُّ البَصْمَةُ الكَرْبُونِيَّةُ (Type 1) · لَوْ لَمْ يَتْرُكِ السُّيَّاحُ النُّفَايَاتِ، لَكَانَ الشَّاطِئُ أَنْظَفَ (Type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live builder: “Build a balanced argument from a reported benefit, a real concern and a counterfactual.” Website feedback: any three different combinations work.
Core: read row 1 across. Develop: find the two Type 1 sentences (column 2 row 2, column 3 row 2) and the Type 2 (column 3 row 1). Stretch: rewrite column 3 row 1 negatively: لَوْ لَمْ تُنَظِّمِ الحُكُومَاتُ الزِّيَارَاتِ، لَمَا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build one balanced sentence with a card from each column: تُسْهِمُ … ، غَيْرَ أَنَّهَا … ؛ لِذٰلِكَ نَحْتَاجُ إِلَى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build one balanced sentence with a card from each column: تُسْهِمُ … ، غَيْرَ أَنَّهَا … ؛ لِذٰلِكَ نَحْتَاجُ إِلَى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label every conditional you hear Type 1 or Type 2.
Listen 1: just listen. Listen 2: note answers. Then chat the letters.
Support: after the second listening, show the read-along slide (Arabic + English, line by line) for Core students.
SCRIPT (read aloud):
تُشِيرُ التَّقَارِيرُ إِلَى أَنَّ السِّيَاحَةَ تُسْهِمُ بِنِسْبَةٍ كَبِيرَةٍ فِي النَّاتِجِ المَحَلِّيِّ الإِجْمَالِيِّ فِي كَثِيرٍ مِنَ الدُّوَلِ العَرَبِيَّةِ، وَأَكَّدَ البَاحِثُونَ أَنَّهَا تُوَفِّرُ مَلَايِينَ فُرَصِ العَمَلِ. غَيْرَ أَنَّ السِّيَاحَةَ المُفْرِطَةَ تُلْحِقُ الضَّرَرَ بِالمَوَاقِعِ الهَشَّةِ. إِذَا وَاصَلَ السُّيَّاحُ زِيَارَةَ البَتْرَاءِ بِأَعْدَادٍ قِيَاسِيَّةٍ، سَيَتَدَهْوَرُ حَالُ الأَبْنِيَةِ النَّبَطِيَّةِ. وَلَوِ اعْتَمَدَ الأُرْدُنُّ نِظَامَ الحِصَصِ مُنْذُ البِدَايَةِ، لَكَانَتْ حَالَةُ المَوْقِعِ أَفْضَلَ اليَوْمَ. عِلَاوَةً عَلَى ذٰلِكَ، إِذَا اعْتَمَدَتِ الدُّوَلُ ضَرِيبَةَ السِّيَاحَةِ، سَتُحْمَى المَوَاقِعُ لِلْأَجْيَالِ القَادِمَةِ. فَمَسْؤُولِيَّةُ السَّائِحِ لَا تَقِلُّ أَهَمِّيَّةً عَنْ سِيَاسَاتِ الدَّوْلَةِ.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الضَّرَرُ المُحْتَمَلُ؟ (Harm)
B: إِذَا لَمْ نُنَظِّمِ الزِّيَارَاتِ، سَيَتَدَهْوَرُ التُّرَاثُ، وَلَوْ فَرَضْنَا حِصَصًا مُبَكِّرًا، لَكَانَ حَالُهُ أَفْضَلَ. (Type 1 plus Type 2)
Website prompts and model. Pair debate (2 minutes): Student A argues FOR more tourism, Student B AGAINST; each must use one Type 1 and one Type 2. Then swap. To a girl: اسْتَشْهِدِي · عَبِّرِي · اسْتَعْمِلِي.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three benefit and three harm sentences with correct complements. · Develop — Add a Type 1 concern and a Type 2 counterfactual. · Stretch — Write a balanced argument citing a report and closing with a solution.
Website writing task (Stretch): Write one hundred to one hundred and ten words arguing for sustainable tourism. Cite a report, use environmental vocabulary, and include a Type 1 real concern, a Type 2 counterfactual and a formal connector.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تُشِيرُ التَّقَارِيرُ إِلَى أَنَّ · تُسْهِمُ … فِي · غَيْرَ أَنَّ · تُلْحِقُ الضَّرَرَ بِالبِيئَةِ · البَصْمَةَ الكَرْبُونِيَّةَ · إِذَا وَاصَلَ … سَيَتَدَهْوَرُ · لَوْ كَانَتْ … لَكَانَتْ · عِلَاوَةً عَلَى ذٰلِكَ · سَتُحْمَى.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(P3-L06 · Travel Problems and Solutions — Dealing With the Unexpected) will spend class time USING this language, so students prepare it tonight — short, simple, easy to access (school guidance: “Simple, Short, Interesting, Relevant, Easy to access”). The five words come from the website P3-L06 vocabulary (travel problems).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P3  ·  P3-L05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P3-L05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Sustainable Tourism — The Ethics and Impact of Travel</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السِّيَاحَةُ المُسْتَدَامَةُ — أَخْلَاقِيَّاتُ السَّفَرِ وَتَأْثِيرُهُ</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Argue about the ethics of travel: yushim fī and yulḥiq al-ḍarar bi-, a real concern with idhā … sa-, a counterfactual regret with law … la-, and a balanced turn with tushīr al-taqārīr … ghayra anna.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P3-L05 · Progression P3 · Travel, Holidays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P3 › P3-L05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Impact verbs + complements, Type 1 vs Type 2, citing and balancing, data and passive.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sustainable choices, build a balanced argument, sort benefit / harm / solution.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P3-L06.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الاكْتِظَاظُ السِّيَاحِيُّ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eco-tourism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over-tourism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tourism tax</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بَصْمَةٌ كَرْبُونِيَّةٌ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carbon footprint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carbon tax</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green hotel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يُلْحِقُ الضَّرَرَ بِـ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protects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contributes to</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causes harm to</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تَتَمَيَّزُ فَاسُ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أَزِقَّتِهَا الضَّيِّقَةِ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recommendation.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إِذَا زُرْتَ المَغْرِبَ، فَلَا بُدَّ مِنْ زِيَارَةِ فَاسَ.</a:t>
            </a:r>
            <a:endParaRPr lang="ar-SA" sz="16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إِذَا زُرْتَ المَغْرِبَ، لَا بُدَّ زِيَارَةَ فَاسَ.</a:t>
            </a:r>
            <a:endParaRPr lang="ar-SA" sz="16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لَوْ زُرْتَ المَغْرِبَ، سَلَا بُدَّ مِنْ زِيَارَةِ فَاسَ.</a:t>
            </a:r>
            <a:endParaRPr lang="ar-SA" sz="160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الاكْتِظَاظُ السِّيَاحِيُّ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eco-tourism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over-tourism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tourism tax</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بَصْمَةٌ كَرْبُونِيَّةٌ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carbon footprint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carbon tax</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green hotel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يُلْحِقُ الضَّرَرَ بِـ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protects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contributes to</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causes harm to</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تَتَمَيَّزُ فَاسُ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أَزِقَّتِهَا الضَّيِّقَةِ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P3-L04: yatamayyaz is fixed with bi-.</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recommendation.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زُرْتَ المَغْرِبَ، فَلَا بُدَّ مِنْ زِيَارَةِ فَاسَ.</a:t>
            </a:r>
            <a:endParaRPr lang="ar-SA" sz="16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إِذَا زُرْتَ المَغْرِبَ، لَا بُدَّ زِيَارَةَ فَاسَ.</a:t>
            </a:r>
            <a:endParaRPr lang="ar-SA" sz="16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لَوْ زُرْتَ المَغْرِبَ، سَلَا بُدَّ مِنْ زِيَارَةِ فَاسَ.</a:t>
            </a:r>
            <a:endParaRPr lang="ar-SA" sz="16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P3-L04: idhā … fa-lā budda min + verbal noun.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Real and likely → idhā … sa-. Unreal, in the past → law … la-.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إِذَا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وَاصَلُوا،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سَـ</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يَتَدَهْوَرُ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لَوْ</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نَظَّمْنَا،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لَـ</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كَانَ أَفْضَلَ</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sustainable-tourism and environmental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Follow yushim with fī and yulḥiq al-ḍarar with bi-.</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State a real concern with idhā … sa- and a counterfactual with law … la-.</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balanced sustainability argument.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sustainable-tourism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yushim fī and yulḥiq al-ḍarar bi-.</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state a real concern with idhā … sa-.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state a regret with law … la-.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cite a report and turn with ghayra anna.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balanced argument.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Sustainable tourism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Impact and argument verbs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Data and connectors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ضَرَرٌ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‎ضرر‎ </a:t>
            </a:r>
            <a:pPr indent="0" marL="0">
              <a:buNone/>
            </a:pPr>
            <a:r>
              <a:rPr lang="en-US" sz="950" b="1" dirty="0">
                <a:solidFill>
                  <a:srgbClr val="2E8B57"/>
                </a:solidFill>
                <a:latin typeface="Calibri" pitchFamily="34" charset="0"/>
                <a:cs typeface="Amiri" pitchFamily="2" charset="-78"/>
              </a:rPr>
              <a:t> zarar · harm, damage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فَائِدَةٌ · فَوَائِدُ</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‎فائدہ · فوائد‎ </a:t>
            </a:r>
            <a:pPr indent="0" marL="0">
              <a:buNone/>
            </a:pPr>
            <a:r>
              <a:rPr lang="en-US" sz="950" b="1" dirty="0">
                <a:solidFill>
                  <a:srgbClr val="2E8B57"/>
                </a:solidFill>
                <a:latin typeface="Calibri" pitchFamily="34" charset="0"/>
                <a:cs typeface="Amiri" pitchFamily="2" charset="-78"/>
              </a:rPr>
              <a:t> fāida · fawāid · a benefit · benefits</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اقْتِصَادٌ</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‎اقتصاد‎ </a:t>
            </a:r>
            <a:pPr indent="0" marL="0">
              <a:buNone/>
            </a:pPr>
            <a:r>
              <a:rPr lang="ar-SA" sz="950" b="1" dirty="0">
                <a:solidFill>
                  <a:srgbClr val="2E8B57"/>
                </a:solidFill>
                <a:latin typeface="Calibri" pitchFamily="34" charset="0"/>
                <a:ea typeface="Amiri" pitchFamily="2" charset="-78"/>
                <a:cs typeface="Amiri" pitchFamily="2" charset="-78"/>
              </a:rPr>
              <a:t> iqtisād · the economy (اقتصادی = economic)</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تَنْظِيمٌ</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‎تنظیم‎ </a:t>
            </a:r>
            <a:pPr indent="0" marL="0">
              <a:buNone/>
            </a:pPr>
            <a:r>
              <a:rPr lang="en-US" sz="950" b="1" dirty="0">
                <a:solidFill>
                  <a:srgbClr val="2E8B57"/>
                </a:solidFill>
                <a:latin typeface="Calibri" pitchFamily="34" charset="0"/>
                <a:cs typeface="Amiri" pitchFamily="2" charset="-78"/>
              </a:rPr>
              <a:t> tanzīm · organisation, regulation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نِسْبَةٌ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‎نسبت‎ </a:t>
            </a:r>
            <a:pPr indent="0" marL="0">
              <a:buNone/>
            </a:pPr>
            <a:r>
              <a:rPr lang="en-US" sz="950" b="1" dirty="0">
                <a:solidFill>
                  <a:srgbClr val="2E8B57"/>
                </a:solidFill>
                <a:latin typeface="Calibri" pitchFamily="34" charset="0"/>
                <a:cs typeface="Amiri" pitchFamily="2" charset="-78"/>
              </a:rPr>
              <a:t> nisbat · a proportion, a ratio</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Sustainable tourism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السِّيَاحَةُ المُسْتَدَامَةُ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sustainable tourism</a:t>
            </a:r>
            <a:endParaRPr lang="en-US" sz="1350" dirty="0"/>
          </a:p>
          <a:p>
            <a:pPr indent="0" marL="0">
              <a:buNone/>
            </a:pPr>
            <a:r>
              <a:rPr lang="en-US" sz="1100" i="1" dirty="0">
                <a:solidFill>
                  <a:srgbClr val="5A6472"/>
                </a:solidFill>
                <a:latin typeface="Calibri" pitchFamily="34" charset="0"/>
                <a:cs typeface="Amiri" pitchFamily="2" charset="-78"/>
              </a:rPr>
              <a:t>as-si-yā-ḥa-tu al-mus-ta-dā-ma-tu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سِيَاحَةٌ مَسْؤُولَةٌ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responsible tourism</a:t>
            </a:r>
            <a:endParaRPr lang="en-US" sz="1350" dirty="0"/>
          </a:p>
          <a:p>
            <a:pPr indent="0" marL="0">
              <a:buNone/>
            </a:pPr>
            <a:r>
              <a:rPr lang="en-US" sz="1100" i="1" dirty="0">
                <a:solidFill>
                  <a:srgbClr val="5A6472"/>
                </a:solidFill>
                <a:latin typeface="Calibri" pitchFamily="34" charset="0"/>
                <a:cs typeface="Amiri" pitchFamily="2" charset="-78"/>
              </a:rPr>
              <a:t>si-yā-ḥa-tun mas-ʾū-la-tun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سِيَاحَةٌ بِيئِيَّةٌ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eco-tourism</a:t>
            </a:r>
            <a:endParaRPr lang="en-US" sz="1350" dirty="0"/>
          </a:p>
          <a:p>
            <a:pPr indent="0" marL="0">
              <a:buNone/>
            </a:pPr>
            <a:r>
              <a:rPr lang="en-US" sz="1100" i="1" dirty="0">
                <a:solidFill>
                  <a:srgbClr val="5A6472"/>
                </a:solidFill>
                <a:latin typeface="Calibri" pitchFamily="34" charset="0"/>
                <a:cs typeface="Amiri" pitchFamily="2" charset="-78"/>
              </a:rPr>
              <a:t>si-yā-ḥa-tun bī-ʾiy-ya-tun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سِيَاحَةٌ مُجْتَمَعِيَّةٌ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community-based tourism</a:t>
            </a:r>
            <a:endParaRPr lang="en-US" sz="1350" dirty="0"/>
          </a:p>
          <a:p>
            <a:pPr indent="0" marL="0">
              <a:buNone/>
            </a:pPr>
            <a:r>
              <a:rPr lang="en-US" sz="1100" i="1" dirty="0">
                <a:solidFill>
                  <a:srgbClr val="5A6472"/>
                </a:solidFill>
                <a:latin typeface="Calibri" pitchFamily="34" charset="0"/>
                <a:cs typeface="Amiri" pitchFamily="2" charset="-78"/>
              </a:rPr>
              <a:t>si-yā-ḥa-tun muj-ta-ma-ʿiy-ya-tun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الاكْتِظَاظُ السِّيَاحِيُّ</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over-tourism</a:t>
            </a:r>
            <a:endParaRPr lang="en-US" sz="1350" dirty="0"/>
          </a:p>
          <a:p>
            <a:pPr indent="0" marL="0">
              <a:buNone/>
            </a:pPr>
            <a:r>
              <a:rPr lang="en-US" sz="1100" i="1" dirty="0">
                <a:solidFill>
                  <a:srgbClr val="5A6472"/>
                </a:solidFill>
                <a:latin typeface="Calibri" pitchFamily="34" charset="0"/>
                <a:cs typeface="Amiri" pitchFamily="2" charset="-78"/>
              </a:rPr>
              <a:t>alk-ti-ẓā-ẓu as-si-yā-ḥiy-yu</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Sustainable tourism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بَصْمَةٌ كَرْبُونِيَّةٌ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carbon footprint</a:t>
            </a:r>
            <a:endParaRPr lang="en-US" sz="1350" dirty="0"/>
          </a:p>
          <a:p>
            <a:pPr indent="0" marL="0">
              <a:buNone/>
            </a:pPr>
            <a:r>
              <a:rPr lang="en-US" sz="1100" i="1" dirty="0">
                <a:solidFill>
                  <a:srgbClr val="5A6472"/>
                </a:solidFill>
                <a:latin typeface="Calibri" pitchFamily="34" charset="0"/>
                <a:cs typeface="Amiri" pitchFamily="2" charset="-78"/>
              </a:rPr>
              <a:t>baṣ-ma-tun kar-bū-niy-ya-tun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بَصَمَاتٌ كَرْبُونِيَّةٌ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حِصَصُ دُخُولٍ</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entry quotas</a:t>
            </a:r>
            <a:endParaRPr lang="en-US" sz="1350" dirty="0"/>
          </a:p>
          <a:p>
            <a:pPr indent="0" marL="0">
              <a:buNone/>
            </a:pPr>
            <a:r>
              <a:rPr lang="en-US" sz="1100" i="1" dirty="0">
                <a:solidFill>
                  <a:srgbClr val="5A6472"/>
                </a:solidFill>
                <a:latin typeface="Calibri" pitchFamily="34" charset="0"/>
                <a:cs typeface="Amiri" pitchFamily="2" charset="-78"/>
              </a:rPr>
              <a:t>ḥi-ṣa-ṣu du-khū-lin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حِصَّةُ دُخُولٍ</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ضَرِيبَةُ السِّيَاحَةِ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tourism tax</a:t>
            </a:r>
            <a:endParaRPr lang="en-US" sz="1350" dirty="0"/>
          </a:p>
          <a:p>
            <a:pPr indent="0" marL="0">
              <a:buNone/>
            </a:pPr>
            <a:r>
              <a:rPr lang="en-US" sz="1100" i="1" dirty="0">
                <a:solidFill>
                  <a:srgbClr val="5A6472"/>
                </a:solidFill>
                <a:latin typeface="Calibri" pitchFamily="34" charset="0"/>
                <a:cs typeface="Amiri" pitchFamily="2" charset="-78"/>
              </a:rPr>
              <a:t>ḍa-rī-ba-tu as-si-yā-ḥa-ti</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ضَرَائِبُ السِّيَاحَةِ</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أَعْدَادٌ قِيَاسِيَّةٌ</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record numbers</a:t>
            </a:r>
            <a:endParaRPr lang="en-US" sz="1350" dirty="0"/>
          </a:p>
          <a:p>
            <a:pPr indent="0" marL="0">
              <a:buNone/>
            </a:pPr>
            <a:r>
              <a:rPr lang="en-US" sz="1100" i="1" dirty="0">
                <a:solidFill>
                  <a:srgbClr val="5A6472"/>
                </a:solidFill>
                <a:latin typeface="Calibri" pitchFamily="34" charset="0"/>
                <a:cs typeface="Amiri" pitchFamily="2" charset="-78"/>
              </a:rPr>
              <a:t>aʿ-dā-dun qi-yā-siy-ya-tun</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60" name="Text 5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عَدَدٌ قِيَاسِيٌّ</a:t>
            </a:r>
            <a:endParaRPr lang="ar-SA" sz="15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Impact and argument verbs (1 of 2)</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يُسْهِمُ فِي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contributes to</a:t>
            </a:r>
            <a:endParaRPr lang="en-US" sz="1350" dirty="0"/>
          </a:p>
          <a:p>
            <a:pPr indent="0" marL="0">
              <a:buNone/>
            </a:pPr>
            <a:r>
              <a:rPr lang="en-US" sz="1100" i="1" dirty="0">
                <a:solidFill>
                  <a:srgbClr val="5A6472"/>
                </a:solidFill>
                <a:latin typeface="Calibri" pitchFamily="34" charset="0"/>
                <a:cs typeface="Amiri" pitchFamily="2" charset="-78"/>
              </a:rPr>
              <a:t>yus-hi-mu fī</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تُسْهِمُ فِي</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0" name="Shape 27"/>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يُلْحِقُ الضَّرَرَ بِـ</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causes harm to</a:t>
            </a:r>
            <a:endParaRPr lang="en-US" sz="1350" dirty="0"/>
          </a:p>
          <a:p>
            <a:pPr indent="0" marL="0">
              <a:buNone/>
            </a:pPr>
            <a:r>
              <a:rPr lang="en-US" sz="1100" i="1" dirty="0">
                <a:solidFill>
                  <a:srgbClr val="5A6472"/>
                </a:solidFill>
                <a:latin typeface="Calibri" pitchFamily="34" charset="0"/>
                <a:cs typeface="Amiri" pitchFamily="2" charset="-78"/>
              </a:rPr>
              <a:t>yul-ḥi-qu aḍ-ḍa-ra-ra bi</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تُلْحِقُ الضَّرَرَ بِـ</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2" name="Shape 39"/>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يَحْمِي التُّرَاثَ</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protects heritage</a:t>
            </a:r>
            <a:endParaRPr lang="en-US" sz="1350" dirty="0"/>
          </a:p>
          <a:p>
            <a:pPr indent="0" marL="0">
              <a:buNone/>
            </a:pPr>
            <a:r>
              <a:rPr lang="en-US" sz="1100" i="1" dirty="0">
                <a:solidFill>
                  <a:srgbClr val="5A6472"/>
                </a:solidFill>
                <a:latin typeface="Calibri" pitchFamily="34" charset="0"/>
                <a:cs typeface="Amiri" pitchFamily="2" charset="-78"/>
              </a:rPr>
              <a:t>yaḥ-mī at-tu-rā-tha</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تَحْمِي التُّرَاثَ</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4" name="Shape 51"/>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يُوَازِنُ بَيْنَ</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balances between</a:t>
            </a:r>
            <a:endParaRPr lang="en-US" sz="1350" dirty="0"/>
          </a:p>
          <a:p>
            <a:pPr indent="0" marL="0">
              <a:buNone/>
            </a:pPr>
            <a:r>
              <a:rPr lang="en-US" sz="1100" i="1" dirty="0">
                <a:solidFill>
                  <a:srgbClr val="5A6472"/>
                </a:solidFill>
                <a:latin typeface="Calibri" pitchFamily="34" charset="0"/>
                <a:cs typeface="Amiri" pitchFamily="2" charset="-78"/>
              </a:rPr>
              <a:t>yu-wā-zi-nu bay-na</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60" name="Text 57"/>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تُوَازِنُ بَيْنَ</a:t>
            </a:r>
            <a:endParaRPr lang="ar-SA"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Impact and argument verbs (2 of 2)</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يَتَدَهْوَرُ</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deteriorates</a:t>
            </a:r>
            <a:endParaRPr lang="en-US" sz="1350" dirty="0"/>
          </a:p>
          <a:p>
            <a:pPr indent="0" marL="0">
              <a:buNone/>
            </a:pPr>
            <a:r>
              <a:rPr lang="en-US" sz="1100" i="1" dirty="0">
                <a:solidFill>
                  <a:srgbClr val="5A6472"/>
                </a:solidFill>
                <a:latin typeface="Calibri" pitchFamily="34" charset="0"/>
                <a:cs typeface="Amiri" pitchFamily="2" charset="-78"/>
              </a:rPr>
              <a:t>ya-ta-dah-wa-ru</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8" name="Text 25"/>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يَتَدَهْوَرُ</a:t>
            </a:r>
            <a:endParaRPr lang="ar-SA" sz="135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التَّأْثِيرُ عَلَى التُّرَاثِ</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impact on heritage</a:t>
            </a:r>
            <a:endParaRPr lang="en-US" sz="1350" dirty="0"/>
          </a:p>
          <a:p>
            <a:pPr indent="0" marL="0">
              <a:buNone/>
            </a:pPr>
            <a:r>
              <a:rPr lang="en-US" sz="1100" i="1" dirty="0">
                <a:solidFill>
                  <a:srgbClr val="5A6472"/>
                </a:solidFill>
                <a:latin typeface="Calibri" pitchFamily="34" charset="0"/>
                <a:cs typeface="Amiri" pitchFamily="2" charset="-78"/>
              </a:rPr>
              <a:t>at-taʾ-thī-ru ʿa-lā at-tu-rā-thi</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مَسْؤُولِيَّةُ السَّائِحِ</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tourist responsibility</a:t>
            </a:r>
            <a:endParaRPr lang="en-US" sz="1350" dirty="0"/>
          </a:p>
          <a:p>
            <a:pPr indent="0" marL="0">
              <a:buNone/>
            </a:pPr>
            <a:r>
              <a:rPr lang="en-US" sz="1100" i="1" dirty="0">
                <a:solidFill>
                  <a:srgbClr val="5A6472"/>
                </a:solidFill>
                <a:latin typeface="Calibri" pitchFamily="34" charset="0"/>
                <a:cs typeface="Amiri" pitchFamily="2" charset="-78"/>
              </a:rPr>
              <a:t>mas-ʾū-liy-ya-tu as-sā-ʾi-ḥi</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2" name="Shape 3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Text 4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فَوَائِدُ اقْتِصَادِيَّةٌ</a:t>
            </a:r>
            <a:endParaRPr lang="ar-SA" sz="3000" dirty="0"/>
          </a:p>
        </p:txBody>
      </p:sp>
      <p:sp>
        <p:nvSpPr>
          <p:cNvPr id="45" name="Text 4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economic benefits</a:t>
            </a:r>
            <a:endParaRPr lang="en-US" sz="1350" dirty="0"/>
          </a:p>
          <a:p>
            <a:pPr indent="0" marL="0">
              <a:buNone/>
            </a:pPr>
            <a:r>
              <a:rPr lang="en-US" sz="1100" i="1" dirty="0">
                <a:solidFill>
                  <a:srgbClr val="5A6472"/>
                </a:solidFill>
                <a:latin typeface="Calibri" pitchFamily="34" charset="0"/>
                <a:cs typeface="Amiri" pitchFamily="2" charset="-78"/>
              </a:rPr>
              <a:t>fa-wā-ʾi-du aq-ti-ṣā-diy-ya-tun</a:t>
            </a:r>
            <a:endParaRPr lang="en-US" sz="1350" dirty="0"/>
          </a:p>
        </p:txBody>
      </p:sp>
      <p:sp>
        <p:nvSpPr>
          <p:cNvPr id="46" name="Shape 4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8" name="Text 45"/>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فَائِدَةٌ اقْتِصَادِيَّةٌ</a:t>
            </a:r>
            <a:endParaRPr lang="ar-SA" sz="15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Data and connectors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تُشِيرُ التَّقَارِيرُ إِلَى أَنَّ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reports indicate that</a:t>
            </a:r>
            <a:endParaRPr lang="en-US" sz="1350" dirty="0"/>
          </a:p>
          <a:p>
            <a:pPr indent="0" marL="0">
              <a:buNone/>
            </a:pPr>
            <a:r>
              <a:rPr lang="en-US" sz="1100" i="1" dirty="0">
                <a:solidFill>
                  <a:srgbClr val="5A6472"/>
                </a:solidFill>
                <a:latin typeface="Calibri" pitchFamily="34" charset="0"/>
                <a:cs typeface="Amiri" pitchFamily="2" charset="-78"/>
              </a:rPr>
              <a:t>tu-shī-ru at-ta-qā-rī-ru i-lā an-na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النَّاتِجُ المَحَلِّيُّ الإِجْمَالِيُّ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gross domestic product</a:t>
            </a:r>
            <a:endParaRPr lang="en-US" sz="1350" dirty="0"/>
          </a:p>
          <a:p>
            <a:pPr indent="0" marL="0">
              <a:buNone/>
            </a:pPr>
            <a:r>
              <a:rPr lang="en-US" sz="1100" i="1" dirty="0">
                <a:solidFill>
                  <a:srgbClr val="5A6472"/>
                </a:solidFill>
                <a:latin typeface="Calibri" pitchFamily="34" charset="0"/>
                <a:cs typeface="Amiri" pitchFamily="2" charset="-78"/>
              </a:rPr>
              <a:t>an-nā-ti-ju al-ma-ḥal-liy-yu al-ij-mā-liy-yu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أَنَّ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ghay-ra an-na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عِلَاوَةً عَلَى ذٰلِكَ</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moreover</a:t>
            </a:r>
            <a:endParaRPr lang="en-US" sz="1350" dirty="0"/>
          </a:p>
          <a:p>
            <a:pPr indent="0" marL="0">
              <a:buNone/>
            </a:pPr>
            <a:r>
              <a:rPr lang="en-US" sz="1100" i="1" dirty="0">
                <a:solidFill>
                  <a:srgbClr val="5A6472"/>
                </a:solidFill>
                <a:latin typeface="Calibri" pitchFamily="34" charset="0"/>
                <a:cs typeface="Amiri" pitchFamily="2" charset="-78"/>
              </a:rPr>
              <a:t>ʿi-lā-wa-tan ʿa-lā dhā-li-ka</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Data and connectors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مُنْتَجَاتٌ مَحَلِّيَّةٌ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local products</a:t>
            </a:r>
            <a:endParaRPr lang="en-US" sz="1350" dirty="0"/>
          </a:p>
          <a:p>
            <a:pPr indent="0" marL="0">
              <a:buNone/>
            </a:pPr>
            <a:r>
              <a:rPr lang="en-US" sz="1100" i="1" dirty="0">
                <a:solidFill>
                  <a:srgbClr val="5A6472"/>
                </a:solidFill>
                <a:latin typeface="Calibri" pitchFamily="34" charset="0"/>
                <a:cs typeface="Amiri" pitchFamily="2" charset="-78"/>
              </a:rPr>
              <a:t>mun-ta-jā-tun ma-ḥal-liy-ya-tun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مُنْتَجٌ مَحَلِّيٌّ</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تَنْظِيمُ السِّيَاحَةِ</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tourism regulation</a:t>
            </a:r>
            <a:endParaRPr lang="en-US" sz="1350" dirty="0"/>
          </a:p>
          <a:p>
            <a:pPr indent="0" marL="0">
              <a:buNone/>
            </a:pPr>
            <a:r>
              <a:rPr lang="en-US" sz="1100" i="1" dirty="0">
                <a:solidFill>
                  <a:srgbClr val="5A6472"/>
                </a:solidFill>
                <a:latin typeface="Calibri" pitchFamily="34" charset="0"/>
                <a:cs typeface="Amiri" pitchFamily="2" charset="-78"/>
              </a:rPr>
              <a:t>tan-ẓī-mu as-si-yā-ḥa-ti</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تَوْعِيَةٌ ثَقَافِيَّةٌ</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awareness</a:t>
            </a:r>
            <a:endParaRPr lang="en-US" sz="1350" dirty="0"/>
          </a:p>
          <a:p>
            <a:pPr indent="0" marL="0">
              <a:buNone/>
            </a:pPr>
            <a:r>
              <a:rPr lang="en-US" sz="1100" i="1" dirty="0">
                <a:solidFill>
                  <a:srgbClr val="5A6472"/>
                </a:solidFill>
                <a:latin typeface="Calibri" pitchFamily="34" charset="0"/>
                <a:cs typeface="Amiri" pitchFamily="2" charset="-78"/>
              </a:rPr>
              <a:t>taw-ʿi-ya-tun tha-qā-fiy-ya-tun</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40" name="Shape 37"/>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Statistical.</a:t>
            </a:r>
            <a:endParaRPr lang="en-US" sz="8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بِنِسْبَةِ</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by a proportion of</a:t>
            </a:r>
            <a:endParaRPr lang="en-US" sz="1350" dirty="0"/>
          </a:p>
          <a:p>
            <a:pPr indent="0" marL="0">
              <a:buNone/>
            </a:pPr>
            <a:r>
              <a:rPr lang="en-US" sz="1100" i="1" dirty="0">
                <a:solidFill>
                  <a:srgbClr val="5A6472"/>
                </a:solidFill>
                <a:latin typeface="Calibri" pitchFamily="34" charset="0"/>
                <a:cs typeface="Amiri" pitchFamily="2" charset="-78"/>
              </a:rPr>
              <a:t>bi-nis-ba-ti</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IMPACT VERBS AND THEIR COMPLEMENTS (WEBSITE RULE 1 + TEACHING POINT 2)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Every impact verb has a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التَّأْثِيرِ وَمُتَمِّمَاتُهَا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08192" y="1810512"/>
            <a:ext cx="5550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464515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a:t>
            </a:r>
            <a:endParaRPr lang="en-US" sz="1100" dirty="0"/>
          </a:p>
        </p:txBody>
      </p:sp>
      <p:sp>
        <p:nvSpPr>
          <p:cNvPr id="18" name="Text 15"/>
          <p:cNvSpPr txBox="1"/>
          <p:nvPr/>
        </p:nvSpPr>
        <p:spPr>
          <a:xfrm>
            <a:off x="290779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126480" y="2267712"/>
            <a:ext cx="551383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تُسْهِمُ السِّيَاحَةُ </a:t>
            </a:r>
            <a:pPr rtl="1" algn="ctr" indent="0" marL="0">
              <a:buNone/>
            </a:pPr>
            <a:r>
              <a:rPr lang="ar-SA" altLang="en-US" sz="1900" b="1" dirty="0">
                <a:solidFill>
                  <a:srgbClr val="1D5FBF"/>
                </a:solidFill>
                <a:latin typeface="Amiri" pitchFamily="2" charset="-78"/>
                <a:ea typeface="Amiri" pitchFamily="2" charset="-78"/>
                <a:cs typeface="Amiri" pitchFamily="2" charset="-78"/>
              </a:rPr>
              <a:t>فِي</a:t>
            </a:r>
            <a:pPr rtl="1" algn="ctr" indent="0" marL="0">
              <a:buNone/>
            </a:pPr>
            <a:r>
              <a:rPr lang="ar-SA" altLang="en-US" sz="1900" b="1" dirty="0">
                <a:solidFill>
                  <a:srgbClr val="1B3B6F"/>
                </a:solidFill>
                <a:latin typeface="Amiri" pitchFamily="2" charset="-78"/>
                <a:ea typeface="Amiri" pitchFamily="2" charset="-78"/>
                <a:cs typeface="Amiri" pitchFamily="2" charset="-78"/>
              </a:rPr>
              <a:t> الاقْتِصَادِ المَحَلِّيِّ.</a:t>
            </a:r>
            <a:endParaRPr lang="ar-SA" sz="1900" dirty="0"/>
          </a:p>
        </p:txBody>
      </p:sp>
      <p:sp>
        <p:nvSpPr>
          <p:cNvPr id="22" name="Text 19"/>
          <p:cNvSpPr txBox="1"/>
          <p:nvPr/>
        </p:nvSpPr>
        <p:spPr>
          <a:xfrm>
            <a:off x="4681728" y="2267712"/>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fī</a:t>
            </a:r>
            <a:endParaRPr lang="en-US" sz="1100" dirty="0"/>
          </a:p>
        </p:txBody>
      </p:sp>
      <p:sp>
        <p:nvSpPr>
          <p:cNvPr id="23" name="Text 20"/>
          <p:cNvSpPr txBox="1"/>
          <p:nvPr/>
        </p:nvSpPr>
        <p:spPr>
          <a:xfrm>
            <a:off x="294436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contributes to</a:t>
            </a:r>
            <a:endParaRPr lang="en-US" sz="1100" dirty="0"/>
          </a:p>
        </p:txBody>
      </p:sp>
      <p:sp>
        <p:nvSpPr>
          <p:cNvPr id="24" name="Text 21"/>
          <p:cNvSpPr txBox="1"/>
          <p:nvPr/>
        </p:nvSpPr>
        <p:spPr>
          <a:xfrm>
            <a:off x="548640" y="2267712"/>
            <a:ext cx="219456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يُسْهِمُ فِي</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126480" y="3004718"/>
            <a:ext cx="551383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تُلْحِقُ السِّيَاحَةُ المُفْرِطَةُ الضَّرَرَ </a:t>
            </a:r>
            <a:pPr rtl="1" algn="ctr" indent="0" marL="0">
              <a:buNone/>
            </a:pPr>
            <a:r>
              <a:rPr lang="ar-SA" altLang="en-US" sz="1900" b="1" dirty="0">
                <a:solidFill>
                  <a:srgbClr val="0E7C86"/>
                </a:solidFill>
                <a:latin typeface="Amiri" pitchFamily="2" charset="-78"/>
                <a:ea typeface="Amiri" pitchFamily="2" charset="-78"/>
                <a:cs typeface="Amiri" pitchFamily="2" charset="-78"/>
              </a:rPr>
              <a:t>بِالتُّرَاثِ</a:t>
            </a:r>
            <a:pPr rtl="1" algn="ctr" indent="0" marL="0">
              <a:buNone/>
            </a:pPr>
            <a:r>
              <a:rPr lang="ar-SA" altLang="en-US" sz="1900" b="1" dirty="0">
                <a:solidFill>
                  <a:srgbClr val="1B3B6F"/>
                </a:solidFill>
                <a:latin typeface="Amiri" pitchFamily="2" charset="-78"/>
                <a:cs typeface="Amiri" pitchFamily="2" charset="-78"/>
              </a:rPr>
              <a:t>.</a:t>
            </a:r>
            <a:endParaRPr lang="ar-SA" sz="1900" dirty="0"/>
          </a:p>
        </p:txBody>
      </p:sp>
      <p:sp>
        <p:nvSpPr>
          <p:cNvPr id="29" name="Text 26"/>
          <p:cNvSpPr txBox="1"/>
          <p:nvPr/>
        </p:nvSpPr>
        <p:spPr>
          <a:xfrm>
            <a:off x="4681728" y="300471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a:t>
            </a:r>
            <a:endParaRPr lang="en-US" sz="1100" dirty="0"/>
          </a:p>
        </p:txBody>
      </p:sp>
      <p:sp>
        <p:nvSpPr>
          <p:cNvPr id="30" name="Text 27"/>
          <p:cNvSpPr txBox="1"/>
          <p:nvPr/>
        </p:nvSpPr>
        <p:spPr>
          <a:xfrm>
            <a:off x="294436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causes harm to</a:t>
            </a:r>
            <a:endParaRPr lang="en-US" sz="1100" dirty="0"/>
          </a:p>
        </p:txBody>
      </p:sp>
      <p:sp>
        <p:nvSpPr>
          <p:cNvPr id="31" name="Text 28"/>
          <p:cNvSpPr txBox="1"/>
          <p:nvPr/>
        </p:nvSpPr>
        <p:spPr>
          <a:xfrm>
            <a:off x="548640" y="3004718"/>
            <a:ext cx="219456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يُلْحِقُ الضَّرَرَ</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126480" y="3741725"/>
            <a:ext cx="551383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سِيَاحَةٌ مُسْتَدَامَةٌ تَحْمِي </a:t>
            </a:r>
            <a:pPr rtl="1" algn="ctr" indent="0" marL="0">
              <a:buNone/>
            </a:pPr>
            <a:r>
              <a:rPr lang="ar-SA" altLang="en-US" sz="1900" b="1" dirty="0">
                <a:solidFill>
                  <a:srgbClr val="C77700"/>
                </a:solidFill>
                <a:latin typeface="Amiri" pitchFamily="2" charset="-78"/>
                <a:ea typeface="Amiri" pitchFamily="2" charset="-78"/>
                <a:cs typeface="Amiri" pitchFamily="2" charset="-78"/>
              </a:rPr>
              <a:t>التُّرَاثَ</a:t>
            </a:r>
            <a:pPr rtl="1" algn="ctr" indent="0" marL="0">
              <a:buNone/>
            </a:pPr>
            <a:r>
              <a:rPr lang="ar-SA" altLang="en-US" sz="1900" b="1" dirty="0">
                <a:solidFill>
                  <a:srgbClr val="1B3B6F"/>
                </a:solidFill>
                <a:latin typeface="Amiri" pitchFamily="2" charset="-78"/>
                <a:cs typeface="Amiri" pitchFamily="2" charset="-78"/>
              </a:rPr>
              <a:t>.</a:t>
            </a:r>
            <a:endParaRPr lang="ar-SA" sz="1900" dirty="0"/>
          </a:p>
        </p:txBody>
      </p:sp>
      <p:sp>
        <p:nvSpPr>
          <p:cNvPr id="36" name="Text 33"/>
          <p:cNvSpPr txBox="1"/>
          <p:nvPr/>
        </p:nvSpPr>
        <p:spPr>
          <a:xfrm>
            <a:off x="4681728" y="3741725"/>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 object</a:t>
            </a:r>
            <a:endParaRPr lang="en-US" sz="1100" dirty="0"/>
          </a:p>
        </p:txBody>
      </p:sp>
      <p:sp>
        <p:nvSpPr>
          <p:cNvPr id="37" name="Text 34"/>
          <p:cNvSpPr txBox="1"/>
          <p:nvPr/>
        </p:nvSpPr>
        <p:spPr>
          <a:xfrm>
            <a:off x="294436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protects</a:t>
            </a:r>
            <a:endParaRPr lang="en-US" sz="1100" dirty="0"/>
          </a:p>
        </p:txBody>
      </p:sp>
      <p:sp>
        <p:nvSpPr>
          <p:cNvPr id="38" name="Text 35"/>
          <p:cNvSpPr txBox="1"/>
          <p:nvPr/>
        </p:nvSpPr>
        <p:spPr>
          <a:xfrm>
            <a:off x="548640" y="3741725"/>
            <a:ext cx="2194560" cy="682142"/>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2" charset="-78"/>
                <a:ea typeface="Amiri" pitchFamily="2" charset="-78"/>
                <a:cs typeface="Amiri" pitchFamily="2" charset="-78"/>
              </a:rPr>
              <a:t>يَحْمِي</a:t>
            </a:r>
            <a:endParaRPr lang="ar-SA" sz="20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6126480" y="4478731"/>
            <a:ext cx="551383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وَازَنَتِ الحُكُومَاتُ </a:t>
            </a:r>
            <a:pPr rtl="1" algn="ctr" indent="0" marL="0">
              <a:buNone/>
            </a:pPr>
            <a:r>
              <a:rPr lang="ar-SA" altLang="en-US" sz="1900" b="1" dirty="0">
                <a:solidFill>
                  <a:srgbClr val="7B3FA0"/>
                </a:solidFill>
                <a:latin typeface="Amiri" pitchFamily="2" charset="-78"/>
                <a:ea typeface="Amiri" pitchFamily="2" charset="-78"/>
                <a:cs typeface="Amiri" pitchFamily="2" charset="-78"/>
              </a:rPr>
              <a:t>بَيْنَ</a:t>
            </a:r>
            <a:pPr rtl="1" algn="ctr" indent="0" marL="0">
              <a:buNone/>
            </a:pPr>
            <a:r>
              <a:rPr lang="ar-SA" altLang="en-US" sz="1900" b="1" dirty="0">
                <a:solidFill>
                  <a:srgbClr val="1B3B6F"/>
                </a:solidFill>
                <a:latin typeface="Amiri" pitchFamily="2" charset="-78"/>
                <a:ea typeface="Amiri" pitchFamily="2" charset="-78"/>
                <a:cs typeface="Amiri" pitchFamily="2" charset="-78"/>
              </a:rPr>
              <a:t> الرِّبْحِ </a:t>
            </a:r>
            <a:pPr rtl="1" algn="ctr" indent="0" marL="0">
              <a:buNone/>
            </a:pPr>
            <a:r>
              <a:rPr lang="ar-SA" altLang="en-US" sz="1900" b="1" dirty="0">
                <a:solidFill>
                  <a:srgbClr val="7B3FA0"/>
                </a:solidFill>
                <a:latin typeface="Amiri" pitchFamily="2" charset="-78"/>
                <a:ea typeface="Amiri" pitchFamily="2" charset="-78"/>
                <a:cs typeface="Amiri" pitchFamily="2" charset="-78"/>
              </a:rPr>
              <a:t>وَ</a:t>
            </a:r>
            <a:pPr rtl="1" algn="ctr" indent="0" marL="0">
              <a:buNone/>
            </a:pPr>
            <a:r>
              <a:rPr lang="ar-SA" altLang="en-US" sz="1900" b="1" dirty="0">
                <a:solidFill>
                  <a:srgbClr val="1B3B6F"/>
                </a:solidFill>
                <a:latin typeface="Amiri" pitchFamily="2" charset="-78"/>
                <a:ea typeface="Amiri" pitchFamily="2" charset="-78"/>
                <a:cs typeface="Amiri" pitchFamily="2" charset="-78"/>
              </a:rPr>
              <a:t>الحِمَايَةِ.</a:t>
            </a:r>
            <a:endParaRPr lang="ar-SA" sz="1900" dirty="0"/>
          </a:p>
        </p:txBody>
      </p:sp>
      <p:sp>
        <p:nvSpPr>
          <p:cNvPr id="41" name="Text 38"/>
          <p:cNvSpPr txBox="1"/>
          <p:nvPr/>
        </p:nvSpPr>
        <p:spPr>
          <a:xfrm>
            <a:off x="4681728" y="4478731"/>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bayna … wa-</a:t>
            </a:r>
            <a:endParaRPr lang="en-US" sz="1100" dirty="0"/>
          </a:p>
        </p:txBody>
      </p:sp>
      <p:sp>
        <p:nvSpPr>
          <p:cNvPr id="42" name="Text 39"/>
          <p:cNvSpPr txBox="1"/>
          <p:nvPr/>
        </p:nvSpPr>
        <p:spPr>
          <a:xfrm>
            <a:off x="294436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balances</a:t>
            </a:r>
            <a:endParaRPr lang="en-US" sz="1100" dirty="0"/>
          </a:p>
        </p:txBody>
      </p:sp>
      <p:sp>
        <p:nvSpPr>
          <p:cNvPr id="43" name="Text 40"/>
          <p:cNvSpPr txBox="1"/>
          <p:nvPr/>
        </p:nvSpPr>
        <p:spPr>
          <a:xfrm>
            <a:off x="548640" y="4478731"/>
            <a:ext cx="219456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يُوَازِنُ بَيْنَ</a:t>
            </a:r>
            <a:endParaRPr lang="ar-SA" sz="20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6126480" y="5215738"/>
            <a:ext cx="5513832"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سَيَتَدَهْوَرُ</a:t>
            </a:r>
            <a:pPr rtl="1" algn="ctr" indent="0" marL="0">
              <a:buNone/>
            </a:pPr>
            <a:r>
              <a:rPr lang="ar-SA" altLang="en-US" sz="1900" b="1" dirty="0">
                <a:solidFill>
                  <a:srgbClr val="1B3B6F"/>
                </a:solidFill>
                <a:latin typeface="Amiri" pitchFamily="2" charset="-78"/>
                <a:ea typeface="Amiri" pitchFamily="2" charset="-78"/>
                <a:cs typeface="Amiri" pitchFamily="2" charset="-78"/>
              </a:rPr>
              <a:t> حَالُ الأَبْنِيَةِ النَّبَطِيَّةِ.</a:t>
            </a:r>
            <a:endParaRPr lang="ar-SA" sz="1900" dirty="0"/>
          </a:p>
        </p:txBody>
      </p:sp>
      <p:sp>
        <p:nvSpPr>
          <p:cNvPr id="46" name="Text 43"/>
          <p:cNvSpPr txBox="1"/>
          <p:nvPr/>
        </p:nvSpPr>
        <p:spPr>
          <a:xfrm>
            <a:off x="4681728" y="521573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object</a:t>
            </a:r>
            <a:endParaRPr lang="en-US" sz="1100" dirty="0"/>
          </a:p>
        </p:txBody>
      </p:sp>
      <p:sp>
        <p:nvSpPr>
          <p:cNvPr id="47" name="Text 44"/>
          <p:cNvSpPr txBox="1"/>
          <p:nvPr/>
        </p:nvSpPr>
        <p:spPr>
          <a:xfrm>
            <a:off x="294436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deteriorates</a:t>
            </a:r>
            <a:endParaRPr lang="en-US" sz="1100" dirty="0"/>
          </a:p>
        </p:txBody>
      </p:sp>
      <p:sp>
        <p:nvSpPr>
          <p:cNvPr id="48" name="Text 45"/>
          <p:cNvSpPr txBox="1"/>
          <p:nvPr/>
        </p:nvSpPr>
        <p:spPr>
          <a:xfrm>
            <a:off x="548640" y="5215738"/>
            <a:ext cx="219456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يَتَدَهْوَرُ</a:t>
            </a:r>
            <a:endParaRPr lang="ar-SA" sz="20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mistakes 1–2: tushim bi- ✗ → tushim fī ✓ · tulḥiq al-ḍarar al-turātha ✗ → bi-l-turāth ✓.</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TWO CONDITIONALS, TWO JOBS (WEBSITE RULES 2–3 + TEACHING POINT 1)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real concern — or a regret?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إِذَا لِلْمُحْتَمَلِ · لَوْ لِلْمُمْتَنِعِ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919472" y="1810512"/>
            <a:ext cx="6739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263347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8" name="Text 15"/>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937760" y="2267712"/>
            <a:ext cx="6702552"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ea typeface="Amiri" pitchFamily="2" charset="-78"/>
                <a:cs typeface="Amiri" pitchFamily="2" charset="-78"/>
              </a:rPr>
              <a:t>إِذَا</a:t>
            </a:r>
            <a:pPr rtl="1" algn="ctr" indent="0" marL="0">
              <a:buNone/>
            </a:pPr>
            <a:r>
              <a:rPr lang="ar-SA" altLang="en-US" sz="1900" b="1" dirty="0">
                <a:solidFill>
                  <a:srgbClr val="1B3B6F"/>
                </a:solidFill>
                <a:latin typeface="Amiri" pitchFamily="2" charset="-78"/>
                <a:ea typeface="Amiri" pitchFamily="2" charset="-78"/>
                <a:cs typeface="Amiri" pitchFamily="2" charset="-78"/>
              </a:rPr>
              <a:t> وَاصَلَ السُّيَّاحُ بِهٰذِهِ الأَعْدَادِ، </a:t>
            </a:r>
            <a:pPr rtl="1" algn="ctr" indent="0" marL="0">
              <a:buNone/>
            </a:pPr>
            <a:r>
              <a:rPr lang="ar-SA" altLang="en-US" sz="1900" b="1" dirty="0">
                <a:solidFill>
                  <a:srgbClr val="1D5FBF"/>
                </a:solidFill>
                <a:latin typeface="Amiri" pitchFamily="2" charset="-78"/>
                <a:ea typeface="Amiri" pitchFamily="2" charset="-78"/>
                <a:cs typeface="Amiri" pitchFamily="2" charset="-78"/>
              </a:rPr>
              <a:t>سَيَتَدَهْوَرُ</a:t>
            </a:r>
            <a:pPr rtl="1" algn="ctr" indent="0" marL="0">
              <a:buNone/>
            </a:pPr>
            <a:r>
              <a:rPr lang="ar-SA" altLang="en-US" sz="1900" b="1" dirty="0">
                <a:solidFill>
                  <a:srgbClr val="1B3B6F"/>
                </a:solidFill>
                <a:latin typeface="Amiri" pitchFamily="2" charset="-78"/>
                <a:ea typeface="Amiri" pitchFamily="2" charset="-78"/>
                <a:cs typeface="Amiri" pitchFamily="2" charset="-78"/>
              </a:rPr>
              <a:t> التُّرَاثُ.</a:t>
            </a:r>
            <a:endParaRPr lang="ar-SA" sz="1900" dirty="0"/>
          </a:p>
        </p:txBody>
      </p:sp>
      <p:sp>
        <p:nvSpPr>
          <p:cNvPr id="21" name="Text 18"/>
          <p:cNvSpPr txBox="1"/>
          <p:nvPr/>
        </p:nvSpPr>
        <p:spPr>
          <a:xfrm>
            <a:off x="2670048" y="2267712"/>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idhā + past → sa-</a:t>
            </a:r>
            <a:endParaRPr lang="en-US" sz="1100" dirty="0"/>
          </a:p>
        </p:txBody>
      </p:sp>
      <p:sp>
        <p:nvSpPr>
          <p:cNvPr id="22" name="Text 19"/>
          <p:cNvSpPr txBox="1"/>
          <p:nvPr/>
        </p:nvSpPr>
        <p:spPr>
          <a:xfrm>
            <a:off x="56692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real concern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4937760" y="3004718"/>
            <a:ext cx="6702552"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ea typeface="Amiri" pitchFamily="2" charset="-78"/>
                <a:cs typeface="Amiri" pitchFamily="2" charset="-78"/>
              </a:rPr>
              <a:t>إِذَا لَمْ</a:t>
            </a:r>
            <a:pPr rtl="1" algn="ctr" indent="0" marL="0">
              <a:buNone/>
            </a:pPr>
            <a:r>
              <a:rPr lang="ar-SA" altLang="en-US" sz="1900" b="1" dirty="0">
                <a:solidFill>
                  <a:srgbClr val="1B3B6F"/>
                </a:solidFill>
                <a:latin typeface="Amiri" pitchFamily="2" charset="-78"/>
                <a:ea typeface="Amiri" pitchFamily="2" charset="-78"/>
                <a:cs typeface="Amiri" pitchFamily="2" charset="-78"/>
              </a:rPr>
              <a:t> نُنَظِّمِ الزِّيَارَاتِ، </a:t>
            </a:r>
            <a:pPr rtl="1" algn="ctr" indent="0" marL="0">
              <a:buNone/>
            </a:pPr>
            <a:r>
              <a:rPr lang="ar-SA" altLang="en-US" sz="1900" b="1" dirty="0">
                <a:solidFill>
                  <a:srgbClr val="1D5FBF"/>
                </a:solidFill>
                <a:latin typeface="Amiri" pitchFamily="2" charset="-78"/>
                <a:ea typeface="Amiri" pitchFamily="2" charset="-78"/>
                <a:cs typeface="Amiri" pitchFamily="2" charset="-78"/>
              </a:rPr>
              <a:t>سَيَتَدَهْوَرُ</a:t>
            </a:r>
            <a:pPr rtl="1" algn="ctr" indent="0" marL="0">
              <a:buNone/>
            </a:pPr>
            <a:r>
              <a:rPr lang="ar-SA" altLang="en-US" sz="1900" b="1" dirty="0">
                <a:solidFill>
                  <a:srgbClr val="1B3B6F"/>
                </a:solidFill>
                <a:latin typeface="Amiri" pitchFamily="2" charset="-78"/>
                <a:ea typeface="Amiri" pitchFamily="2" charset="-78"/>
                <a:cs typeface="Amiri" pitchFamily="2" charset="-78"/>
              </a:rPr>
              <a:t> التُّرَاثُ.</a:t>
            </a:r>
            <a:endParaRPr lang="ar-SA" sz="1900" dirty="0"/>
          </a:p>
        </p:txBody>
      </p:sp>
      <p:sp>
        <p:nvSpPr>
          <p:cNvPr id="27" name="Text 24"/>
          <p:cNvSpPr txBox="1"/>
          <p:nvPr/>
        </p:nvSpPr>
        <p:spPr>
          <a:xfrm>
            <a:off x="2670048" y="300471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idhā lam → sa-</a:t>
            </a:r>
            <a:endParaRPr lang="en-US" sz="1100" dirty="0"/>
          </a:p>
        </p:txBody>
      </p:sp>
      <p:sp>
        <p:nvSpPr>
          <p:cNvPr id="28" name="Text 25"/>
          <p:cNvSpPr txBox="1"/>
          <p:nvPr/>
        </p:nvSpPr>
        <p:spPr>
          <a:xfrm>
            <a:off x="56692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real concern (neg.)</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937760" y="3741725"/>
            <a:ext cx="6702552"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لَوْ</a:t>
            </a:r>
            <a:pPr rtl="1" algn="ctr" indent="0" marL="0">
              <a:buNone/>
            </a:pPr>
            <a:r>
              <a:rPr lang="ar-SA" altLang="en-US" sz="1900" b="1" dirty="0">
                <a:solidFill>
                  <a:srgbClr val="1B3B6F"/>
                </a:solidFill>
                <a:latin typeface="Amiri" pitchFamily="2" charset="-78"/>
                <a:ea typeface="Amiri" pitchFamily="2" charset="-78"/>
                <a:cs typeface="Amiri" pitchFamily="2" charset="-78"/>
              </a:rPr>
              <a:t> نَظَّمْنَا الزِّيَارَاتِ، </a:t>
            </a:r>
            <a:pPr rtl="1" algn="ctr" indent="0" marL="0">
              <a:buNone/>
            </a:pPr>
            <a:r>
              <a:rPr lang="ar-SA" altLang="en-US" sz="1900" b="1" dirty="0">
                <a:solidFill>
                  <a:srgbClr val="0E7C86"/>
                </a:solidFill>
                <a:latin typeface="Amiri" pitchFamily="2" charset="-78"/>
                <a:ea typeface="Amiri" pitchFamily="2" charset="-78"/>
                <a:cs typeface="Amiri" pitchFamily="2" charset="-78"/>
              </a:rPr>
              <a:t>لَكَانَ</a:t>
            </a:r>
            <a:pPr rtl="1" algn="ctr" indent="0" marL="0">
              <a:buNone/>
            </a:pPr>
            <a:r>
              <a:rPr lang="ar-SA" altLang="en-US" sz="1900" b="1" dirty="0">
                <a:solidFill>
                  <a:srgbClr val="1B3B6F"/>
                </a:solidFill>
                <a:latin typeface="Amiri" pitchFamily="2" charset="-78"/>
                <a:ea typeface="Amiri" pitchFamily="2" charset="-78"/>
                <a:cs typeface="Amiri" pitchFamily="2" charset="-78"/>
              </a:rPr>
              <a:t> التُّرَاثُ أَفْضَلَ.</a:t>
            </a:r>
            <a:endParaRPr lang="ar-SA" sz="1900" dirty="0"/>
          </a:p>
        </p:txBody>
      </p:sp>
      <p:sp>
        <p:nvSpPr>
          <p:cNvPr id="31" name="Text 28"/>
          <p:cNvSpPr txBox="1"/>
          <p:nvPr/>
        </p:nvSpPr>
        <p:spPr>
          <a:xfrm>
            <a:off x="2670048" y="3741725"/>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past → la-</a:t>
            </a:r>
            <a:endParaRPr lang="en-US" sz="1100" dirty="0"/>
          </a:p>
        </p:txBody>
      </p:sp>
      <p:sp>
        <p:nvSpPr>
          <p:cNvPr id="32" name="Text 29"/>
          <p:cNvSpPr txBox="1"/>
          <p:nvPr/>
        </p:nvSpPr>
        <p:spPr>
          <a:xfrm>
            <a:off x="56692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regret</a:t>
            </a:r>
            <a:endParaRPr lang="en-US" sz="1100" dirty="0"/>
          </a:p>
        </p:txBody>
      </p:sp>
      <p:sp>
        <p:nvSpPr>
          <p:cNvPr id="33" name="Shape 3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4937760" y="4478731"/>
            <a:ext cx="6702552"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لَوْ كَانَتِ</a:t>
            </a:r>
            <a:pPr rtl="1" algn="ctr" indent="0" marL="0">
              <a:buNone/>
            </a:pPr>
            <a:r>
              <a:rPr lang="ar-SA" altLang="en-US" sz="1900" b="1" dirty="0">
                <a:solidFill>
                  <a:srgbClr val="1B3B6F"/>
                </a:solidFill>
                <a:latin typeface="Amiri" pitchFamily="2" charset="-78"/>
                <a:ea typeface="Amiri" pitchFamily="2" charset="-78"/>
                <a:cs typeface="Amiri" pitchFamily="2" charset="-78"/>
              </a:rPr>
              <a:t> الرُّسُومُ أَعْلَى، </a:t>
            </a:r>
            <a:pPr rtl="1" algn="ctr" indent="0" marL="0">
              <a:buNone/>
            </a:pPr>
            <a:r>
              <a:rPr lang="ar-SA" altLang="en-US" sz="1900" b="1" dirty="0">
                <a:solidFill>
                  <a:srgbClr val="0E7C86"/>
                </a:solidFill>
                <a:latin typeface="Amiri" pitchFamily="2" charset="-78"/>
                <a:ea typeface="Amiri" pitchFamily="2" charset="-78"/>
                <a:cs typeface="Amiri" pitchFamily="2" charset="-78"/>
              </a:rPr>
              <a:t>لَكَانَتِ</a:t>
            </a:r>
            <a:pPr rtl="1" algn="ctr" indent="0" marL="0">
              <a:buNone/>
            </a:pPr>
            <a:r>
              <a:rPr lang="ar-SA" altLang="en-US" sz="1900" b="1" dirty="0">
                <a:solidFill>
                  <a:srgbClr val="1B3B6F"/>
                </a:solidFill>
                <a:latin typeface="Amiri" pitchFamily="2" charset="-78"/>
                <a:ea typeface="Amiri" pitchFamily="2" charset="-78"/>
                <a:cs typeface="Amiri" pitchFamily="2" charset="-78"/>
              </a:rPr>
              <a:t> الأَعْدَادُ أَكْثَرَ تَنْظِيمًا.</a:t>
            </a:r>
            <a:endParaRPr lang="ar-SA" sz="1900" dirty="0"/>
          </a:p>
        </p:txBody>
      </p:sp>
      <p:sp>
        <p:nvSpPr>
          <p:cNvPr id="37" name="Text 34"/>
          <p:cNvSpPr txBox="1"/>
          <p:nvPr/>
        </p:nvSpPr>
        <p:spPr>
          <a:xfrm>
            <a:off x="2670048" y="4478731"/>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kāna → la-kāna</a:t>
            </a:r>
            <a:endParaRPr lang="en-US" sz="1100" dirty="0"/>
          </a:p>
        </p:txBody>
      </p:sp>
      <p:sp>
        <p:nvSpPr>
          <p:cNvPr id="38" name="Text 35"/>
          <p:cNvSpPr txBox="1"/>
          <p:nvPr/>
        </p:nvSpPr>
        <p:spPr>
          <a:xfrm>
            <a:off x="56692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regret with kāna</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937760" y="5215738"/>
            <a:ext cx="6702552"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لَوْ</a:t>
            </a:r>
            <a:pPr rtl="1" algn="ctr" indent="0" marL="0">
              <a:buNone/>
            </a:pPr>
            <a:r>
              <a:rPr lang="ar-SA" altLang="en-US" sz="1900" b="1" dirty="0">
                <a:solidFill>
                  <a:srgbClr val="1B3B6F"/>
                </a:solidFill>
                <a:latin typeface="Amiri" pitchFamily="2" charset="-78"/>
                <a:ea typeface="Amiri" pitchFamily="2" charset="-78"/>
                <a:cs typeface="Amiri" pitchFamily="2" charset="-78"/>
              </a:rPr>
              <a:t> وَازَنَتِ الحُكُومَاتُ …، </a:t>
            </a:r>
            <a:pPr rtl="1" algn="ctr" indent="0" marL="0">
              <a:buNone/>
            </a:pPr>
            <a:r>
              <a:rPr lang="ar-SA" altLang="en-US" sz="1900" b="1" dirty="0">
                <a:solidFill>
                  <a:srgbClr val="0E7C86"/>
                </a:solidFill>
                <a:latin typeface="Amiri" pitchFamily="2" charset="-78"/>
                <a:ea typeface="Amiri" pitchFamily="2" charset="-78"/>
                <a:cs typeface="Amiri" pitchFamily="2" charset="-78"/>
              </a:rPr>
              <a:t>لَمَا</a:t>
            </a:r>
            <a:pPr rtl="1" algn="ctr" indent="0" marL="0">
              <a:buNone/>
            </a:pPr>
            <a:r>
              <a:rPr lang="ar-SA" altLang="en-US" sz="1900" b="1" dirty="0">
                <a:solidFill>
                  <a:srgbClr val="1B3B6F"/>
                </a:solidFill>
                <a:latin typeface="Amiri" pitchFamily="2" charset="-78"/>
                <a:ea typeface="Amiri" pitchFamily="2" charset="-78"/>
                <a:cs typeface="Amiri" pitchFamily="2" charset="-78"/>
              </a:rPr>
              <a:t> وَصَلَتِ المَوَاقِعُ إِلَى هٰذَا التَّدَهْوُرِ.</a:t>
            </a:r>
            <a:endParaRPr lang="ar-SA" sz="1900" dirty="0"/>
          </a:p>
        </p:txBody>
      </p:sp>
      <p:sp>
        <p:nvSpPr>
          <p:cNvPr id="41" name="Text 38"/>
          <p:cNvSpPr txBox="1"/>
          <p:nvPr/>
        </p:nvSpPr>
        <p:spPr>
          <a:xfrm>
            <a:off x="2670048" y="5215738"/>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lamā</a:t>
            </a:r>
            <a:endParaRPr lang="en-US" sz="1100" dirty="0"/>
          </a:p>
        </p:txBody>
      </p:sp>
      <p:sp>
        <p:nvSpPr>
          <p:cNvPr id="42" name="Text 39"/>
          <p:cNvSpPr txBox="1"/>
          <p:nvPr/>
        </p:nvSpPr>
        <p:spPr>
          <a:xfrm>
            <a:off x="56692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regret (neg. result)</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error: idhā for a regret, or sa- after law. law nazzamnā, sa-yakūnu ✗ → la-kāna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CITE, TURN, ADD (WEBSITE RULE 4 + READING)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a balanced argument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اسْتَشْهِدْ · وَازِنْ · أَضِفْ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CITE · CORE</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تُشِيرُ التَّقَارِيرُ إِلَى أَنَّ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تُشِيرُ التَّقَارِيرُ إِلَى أَنَّ السِّيَاحَةَ تُوَفِّرُ فُرَصَ عَمَلٍ.</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Reports indicate that tourism provides jobs.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 + accusative.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TURN · DEVELOP</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غَيْرَ أَنَّهَا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غَيْرَ أَنَّهَا قَدْ تُلْحِقُ الضَّرَرَ بِالبِيئَةِ.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However, it may cause harm to the environment.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ghayra anna + pronoun.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16586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ADD · STRETCH</a:t>
            </a:r>
            <a:endParaRPr lang="en-US" sz="850" dirty="0"/>
          </a:p>
        </p:txBody>
      </p:sp>
      <p:sp>
        <p:nvSpPr>
          <p:cNvPr id="34" name="Text 31"/>
          <p:cNvSpPr txBox="1"/>
          <p:nvPr/>
        </p:nvSpPr>
        <p:spPr>
          <a:xfrm>
            <a:off x="1805940"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عِلَاوَةً عَلَى ذٰلِكَ</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عِلَاوَةً عَلَى ذٰلِكَ، تَزِيدُ البَصْمَةَ الكَرْبُونِيَّةَ.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Moreover, it increases the carbon footprint.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further point.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a Type 2 result takes la-, not sa-.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لَوْ نَظَّمْنَا الزِّيَارَاتِ، لَكَانَ التُّرَاثُ أَفْضَلَ</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لَوْ نَظَّمْنَا الزِّيَارَاتِ، سَيَكُونُ التُّرَاثُ أَفْضَلَ</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DATA AND PASSIVE IN A FORMAL ARGUMENT (WEBSITE LISTENING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Sound like a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لُغَةُ التَّقَارِيرِ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290779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bi-nisba</a:t>
            </a:r>
            <a:endParaRPr lang="en-US" sz="1100" dirty="0"/>
          </a:p>
        </p:txBody>
      </p:sp>
      <p:sp>
        <p:nvSpPr>
          <p:cNvPr id="21" name="Text 18"/>
          <p:cNvSpPr txBox="1"/>
          <p:nvPr/>
        </p:nvSpPr>
        <p:spPr>
          <a:xfrm>
            <a:off x="2926080" y="2267712"/>
            <a:ext cx="62179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تُسْهِمُ </a:t>
            </a:r>
            <a:pPr rtl="1" algn="ctr" indent="0" marL="0">
              <a:buNone/>
            </a:pPr>
            <a:r>
              <a:rPr lang="ar-SA" altLang="en-US" sz="1900" b="1" dirty="0">
                <a:solidFill>
                  <a:srgbClr val="C77700"/>
                </a:solidFill>
                <a:latin typeface="Amiri" pitchFamily="2" charset="-78"/>
                <a:ea typeface="Amiri" pitchFamily="2" charset="-78"/>
                <a:cs typeface="Amiri" pitchFamily="2" charset="-78"/>
              </a:rPr>
              <a:t>بِنِسْبَةٍ كَبِيرَةٍ</a:t>
            </a:r>
            <a:pPr rtl="1" algn="ctr" indent="0" marL="0">
              <a:buNone/>
            </a:pPr>
            <a:r>
              <a:rPr lang="ar-SA" altLang="en-US" sz="1900" b="1" dirty="0">
                <a:solidFill>
                  <a:srgbClr val="1B3B6F"/>
                </a:solidFill>
                <a:latin typeface="Amiri" pitchFamily="2" charset="-78"/>
                <a:ea typeface="Amiri" pitchFamily="2" charset="-78"/>
                <a:cs typeface="Amiri" pitchFamily="2" charset="-78"/>
              </a:rPr>
              <a:t> فِي النَّاتِجِ المَحَلِّيِّ الإِجْمَالِيِّ.</a:t>
            </a:r>
            <a:endParaRPr lang="ar-SA" sz="1900" dirty="0"/>
          </a:p>
        </p:txBody>
      </p:sp>
      <p:sp>
        <p:nvSpPr>
          <p:cNvPr id="22" name="Text 19"/>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data</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akkada anna</a:t>
            </a:r>
            <a:endParaRPr lang="en-US" sz="1100" dirty="0"/>
          </a:p>
        </p:txBody>
      </p:sp>
      <p:sp>
        <p:nvSpPr>
          <p:cNvPr id="27" name="Text 24"/>
          <p:cNvSpPr txBox="1"/>
          <p:nvPr/>
        </p:nvSpPr>
        <p:spPr>
          <a:xfrm>
            <a:off x="2926080" y="3004718"/>
            <a:ext cx="6217920" cy="682142"/>
          </a:xfrm>
          <a:prstGeom prst="rect">
            <a:avLst/>
          </a:prstGeom>
          <a:noFill/>
          <a:ln/>
        </p:spPr>
        <p:txBody>
          <a:bodyPr wrap="square" lIns="0" tIns="0" rIns="0" bIns="0" rtlCol="0" anchor="ctr"/>
          <a:lstStyle/>
          <a:p>
            <a:pPr rtl="1" algn="ctr" indent="0" marL="0">
              <a:buNone/>
            </a:pPr>
            <a:r>
              <a:rPr lang="ar-SA" altLang="en-US" sz="1900" b="1" dirty="0">
                <a:solidFill>
                  <a:srgbClr val="7B3FA0"/>
                </a:solidFill>
                <a:latin typeface="Amiri" pitchFamily="2" charset="-78"/>
                <a:ea typeface="Amiri" pitchFamily="2" charset="-78"/>
                <a:cs typeface="Amiri" pitchFamily="2" charset="-78"/>
              </a:rPr>
              <a:t>وَأَكَّدَ البَاحِثُونَ أَنَّهَا</a:t>
            </a:r>
            <a:pPr rtl="1" algn="ctr" indent="0" marL="0">
              <a:buNone/>
            </a:pPr>
            <a:r>
              <a:rPr lang="ar-SA" altLang="en-US" sz="1900" b="1" dirty="0">
                <a:solidFill>
                  <a:srgbClr val="1B3B6F"/>
                </a:solidFill>
                <a:latin typeface="Amiri" pitchFamily="2" charset="-78"/>
                <a:ea typeface="Amiri" pitchFamily="2" charset="-78"/>
                <a:cs typeface="Amiri" pitchFamily="2" charset="-78"/>
              </a:rPr>
              <a:t> تُوَفِّرُ مَلَايِينَ فُرَصِ العَمَلِ.</a:t>
            </a:r>
            <a:endParaRPr lang="ar-SA" sz="1900" dirty="0"/>
          </a:p>
        </p:txBody>
      </p:sp>
      <p:sp>
        <p:nvSpPr>
          <p:cNvPr id="28" name="Text 25"/>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experts</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lam + passive</a:t>
            </a:r>
            <a:endParaRPr lang="en-US" sz="1100" dirty="0"/>
          </a:p>
        </p:txBody>
      </p:sp>
      <p:sp>
        <p:nvSpPr>
          <p:cNvPr id="31" name="Text 28"/>
          <p:cNvSpPr txBox="1"/>
          <p:nvPr/>
        </p:nvSpPr>
        <p:spPr>
          <a:xfrm>
            <a:off x="2926080" y="3741725"/>
            <a:ext cx="62179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قَدْ تُلْحِقُ الضَّرَرَ بِالبِيئَةِ إِذَا لَمْ </a:t>
            </a:r>
            <a:pPr rtl="1" algn="ctr" indent="0" marL="0">
              <a:buNone/>
            </a:pPr>
            <a:r>
              <a:rPr lang="ar-SA" altLang="en-US" sz="1900" b="1" dirty="0">
                <a:solidFill>
                  <a:srgbClr val="D6336C"/>
                </a:solidFill>
                <a:latin typeface="Amiri" pitchFamily="2" charset="-78"/>
                <a:ea typeface="Amiri" pitchFamily="2" charset="-78"/>
                <a:cs typeface="Amiri" pitchFamily="2" charset="-78"/>
              </a:rPr>
              <a:t>تُنَظَّمْ</a:t>
            </a:r>
            <a:pPr rtl="1" algn="ctr" indent="0" marL="0">
              <a:buNone/>
            </a:pPr>
            <a:r>
              <a:rPr lang="ar-SA" altLang="en-US" sz="1900" b="1" dirty="0">
                <a:solidFill>
                  <a:srgbClr val="1B3B6F"/>
                </a:solidFill>
                <a:latin typeface="Amiri" pitchFamily="2" charset="-78"/>
                <a:cs typeface="Amiri" pitchFamily="2" charset="-78"/>
              </a:rPr>
              <a:t>.</a:t>
            </a:r>
            <a:endParaRPr lang="ar-SA" sz="1900" dirty="0"/>
          </a:p>
        </p:txBody>
      </p:sp>
      <p:sp>
        <p:nvSpPr>
          <p:cNvPr id="32" name="Text 29"/>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(neg.)</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 + passive</a:t>
            </a:r>
            <a:endParaRPr lang="en-US" sz="1100" dirty="0"/>
          </a:p>
        </p:txBody>
      </p:sp>
      <p:sp>
        <p:nvSpPr>
          <p:cNvPr id="35" name="Text 32"/>
          <p:cNvSpPr txBox="1"/>
          <p:nvPr/>
        </p:nvSpPr>
        <p:spPr>
          <a:xfrm>
            <a:off x="2926080" y="4478731"/>
            <a:ext cx="62179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إِذَا اعْتَمَدَتِ الدُّوَلُ ضَرِيبَةَ السِّيَاحَةِ، </a:t>
            </a:r>
            <a:pPr rtl="1" algn="ctr" indent="0" marL="0">
              <a:buNone/>
            </a:pPr>
            <a:r>
              <a:rPr lang="ar-SA" altLang="en-US" sz="1900" b="1" dirty="0">
                <a:solidFill>
                  <a:srgbClr val="D6336C"/>
                </a:solidFill>
                <a:latin typeface="Amiri" pitchFamily="2" charset="-78"/>
                <a:ea typeface="Amiri" pitchFamily="2" charset="-78"/>
                <a:cs typeface="Amiri" pitchFamily="2" charset="-78"/>
              </a:rPr>
              <a:t>سَتُحْمَى</a:t>
            </a:r>
            <a:pPr rtl="1" algn="ctr" indent="0" marL="0">
              <a:buNone/>
            </a:pPr>
            <a:r>
              <a:rPr lang="ar-SA" altLang="en-US" sz="1900" b="1" dirty="0">
                <a:solidFill>
                  <a:srgbClr val="1B3B6F"/>
                </a:solidFill>
                <a:latin typeface="Amiri" pitchFamily="2" charset="-78"/>
                <a:ea typeface="Amiri" pitchFamily="2" charset="-78"/>
                <a:cs typeface="Amiri" pitchFamily="2" charset="-78"/>
              </a:rPr>
              <a:t> المَوَاقِعُ.</a:t>
            </a:r>
            <a:endParaRPr lang="ar-SA" sz="1900" dirty="0"/>
          </a:p>
        </p:txBody>
      </p:sp>
      <p:sp>
        <p:nvSpPr>
          <p:cNvPr id="36" name="Text 33"/>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(future)</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lā taqillu … ʿan</a:t>
            </a:r>
            <a:endParaRPr lang="en-US" sz="1100" dirty="0"/>
          </a:p>
        </p:txBody>
      </p:sp>
      <p:sp>
        <p:nvSpPr>
          <p:cNvPr id="39" name="Text 36"/>
          <p:cNvSpPr txBox="1"/>
          <p:nvPr/>
        </p:nvSpPr>
        <p:spPr>
          <a:xfrm>
            <a:off x="2926080" y="5215738"/>
            <a:ext cx="62179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فَمَسْؤُولِيَّةُ السَّائِحِ </a:t>
            </a:r>
            <a:pPr rtl="1" algn="ctr" indent="0" marL="0">
              <a:buNone/>
            </a:pPr>
            <a:r>
              <a:rPr lang="ar-SA" altLang="en-US" sz="1900" b="1" dirty="0">
                <a:solidFill>
                  <a:srgbClr val="0E7C86"/>
                </a:solidFill>
                <a:latin typeface="Amiri" pitchFamily="2" charset="-78"/>
                <a:ea typeface="Amiri" pitchFamily="2" charset="-78"/>
                <a:cs typeface="Amiri" pitchFamily="2" charset="-78"/>
              </a:rPr>
              <a:t>لَا تَقِلُّ أَهَمِّيَّةً عَنْ</a:t>
            </a:r>
            <a:pPr rtl="1" algn="ctr" indent="0" marL="0">
              <a:buNone/>
            </a:pPr>
            <a:r>
              <a:rPr lang="ar-SA" altLang="en-US" sz="1900" b="1" dirty="0">
                <a:solidFill>
                  <a:srgbClr val="1B3B6F"/>
                </a:solidFill>
                <a:latin typeface="Amiri" pitchFamily="2" charset="-78"/>
                <a:ea typeface="Amiri" pitchFamily="2" charset="-78"/>
                <a:cs typeface="Amiri" pitchFamily="2" charset="-78"/>
              </a:rPr>
              <a:t> سِيَاسَاتِ الدَّوْلَةِ.</a:t>
            </a:r>
            <a:endParaRPr lang="ar-SA" sz="1900" dirty="0"/>
          </a:p>
        </p:txBody>
      </p:sp>
      <p:sp>
        <p:nvSpPr>
          <p:cNvPr id="40" name="Text 37"/>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close</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Passive = nobody named: tunaẓẓam (it is regulated) · sa-tuḥmā (they will be protected).</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Both conditional types in ethical argument</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نَوْعَا الشَّرْطِ فِي الحُجَّةِ الأَخْلَاقِيَّةِ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Impact verbs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yushim fī · yulḥiq al-ḍarar bi-</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تُسْهِمُ السِّيَاحَةُ فِي الاقْتِصَادِ   ·   تُلْحِقُ السِّيَاحَةُ المُفْرِطَةُ الضَّرَرَ بِالتُّرَاثِ</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Real concern (Type 1)</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past → sa-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وَاصَلَ السُّيَّاحُ بِهٰذِهِ الأَعْدَادِ، سَيَتَدَهْوَرُ التُّرَاثُ</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Counterfactual regret (Type 2)</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past → la-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لَوْ كَانَتِ الرُّسُومُ أَعْلَى، لَكَانَتِ الأَعْدَادُ أَكْثَرَ تَنْظِيمًا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Cite and balance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tushīr al-taqārīr … ghayra anna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F2A37"/>
                </a:solidFill>
                <a:latin typeface="Amiri" pitchFamily="2" charset="-78"/>
                <a:ea typeface="Amiri" pitchFamily="2" charset="-78"/>
                <a:cs typeface="Amiri" pitchFamily="2" charset="-78"/>
              </a:rPr>
              <a:t>تُشِيرُ التَّقَارِيرُ إِلَى أَنَّ السِّيَاحَةَ تُوَفِّرُ فُرَصَ عَمَلٍ   ·   غَيْرَ أَنَّهَا قَدْ تُلْحِقُ الضَّرَرَ بِالبِيئَةِ</a:t>
            </a:r>
            <a:endParaRPr lang="ar-SA" sz="19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تُسْهِمُ السِّيَاحَةُ ___ الاقْتِصَادِ المَحَلِّيِّ.</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تُلْحِقُ السِّيَاحَةُ المُفْرِطَةُ الضَّرَرَ ___ التُّرَاثِ.</a:t>
            </a:r>
            <a:endParaRPr lang="ar-SA" sz="13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 concern (Type 1)?</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وَاصَلَ السُّيَّاحُ بِهٰذِهِ الأَعْدَادِ، لَتَدَهْوَرَ التُّرَاثُ.</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وَاصَلَ السُّيَّاحُ بِهٰذِهِ الأَعْدَادِ، سَيَتَدَهْوَرُ التُّرَاثُ.</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يُوَاصِلُ السُّيَّاحُ الزِّيَارَةَ.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regret (Type 2)?</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كَانَتِ الرُّسُومُ أَعْلَى، لَكَانَتِ الأَعْدَادُ أَكْثَرَ تَنْظِيمًا.</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رَفَعْنَا الرُّسُومَ، سَتَقِلُّ الأَعْدَادُ.</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نَرْفَعُ الرُّسُومَ.</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تُسْهِمُ السِّيَاحَةُ ___ الاقْتِصَادِ المَحَلِّيِّ.</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يُسْهِمُ</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تُلْحِقُ السِّيَاحَةُ المُفْرِطَةُ الضَّرَرَ ___ التُّرَاثِ.</a:t>
            </a:r>
            <a:endParaRPr lang="ar-SA" sz="13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يُلْحِقُ الضَّرَرَ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 concern (Type 1)?</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وَاصَلَ السُّيَّاحُ بِهٰذِهِ الأَعْدَادِ، لَتَدَهْوَرَ التُّرَاثُ.</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وَاصَلَ السُّيَّاحُ بِهٰذِهِ الأَعْدَادِ، سَيَتَدَهْوَرُ التُّرَاثُ.</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يُوَاصِلُ السُّيَّاحُ الزِّيَارَةَ.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states a real, likely consequence.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regret (Type 2)?</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كَانَتِ الرُّسُومُ أَعْلَى، لَكَانَتِ الأَعْدَادُ أَكْثَرَ تَنْظِيمًا.</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رَفَعْنَا الرُّسُومَ، سَتَقِلُّ الأَعْدَادُ.</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نَرْفَعُ الرُّسُومَ.</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imagines an unreal past.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Watch me build a balanced argument</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Cite a benefit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C77700"/>
                </a:solidFill>
                <a:latin typeface="Amiri" pitchFamily="2" charset="-78"/>
                <a:ea typeface="Amiri" pitchFamily="2" charset="-78"/>
                <a:cs typeface="Amiri" pitchFamily="2" charset="-78"/>
              </a:rPr>
              <a:t>تُشِيرُ التَّقَارِيرُ إِلَى أَنَّ</a:t>
            </a:r>
            <a:pPr rtl="1" algn="ctr" indent="0" marL="0">
              <a:lnSpc>
                <a:spcPct val="120000"/>
              </a:lnSpc>
              <a:buNone/>
            </a:pPr>
            <a:r>
              <a:rPr lang="ar-SA" altLang="en-US" sz="1750" b="1" dirty="0">
                <a:solidFill>
                  <a:srgbClr val="1B3B6F"/>
                </a:solidFill>
                <a:latin typeface="Amiri" pitchFamily="2" charset="-78"/>
                <a:cs typeface="Amiri" pitchFamily="2" charset="-78"/>
              </a:rPr>
              <a:t> …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تُسْهِمُ فِي</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Evidence.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Turn to harm</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C77700"/>
                </a:solidFill>
                <a:latin typeface="Amiri" pitchFamily="2" charset="-78"/>
                <a:ea typeface="Amiri" pitchFamily="2" charset="-78"/>
                <a:cs typeface="Amiri" pitchFamily="2" charset="-78"/>
              </a:rPr>
              <a:t>غَيْرَ أَنَّ</a:t>
            </a:r>
            <a:pPr rtl="1" algn="ctr" indent="0" marL="0">
              <a:buNone/>
            </a:pPr>
            <a:r>
              <a:rPr lang="ar-SA" altLang="en-US" sz="2300" b="1" dirty="0">
                <a:solidFill>
                  <a:srgbClr val="1B3B6F"/>
                </a:solidFill>
                <a:latin typeface="Amiri" pitchFamily="2" charset="-78"/>
                <a:cs typeface="Amiri" pitchFamily="2" charset="-78"/>
              </a:rPr>
              <a:t> … </a:t>
            </a:r>
            <a:pPr rtl="1" algn="ctr" indent="0" marL="0">
              <a:buNone/>
            </a:pPr>
            <a:r>
              <a:rPr lang="ar-SA" altLang="en-US" sz="2300" b="1" dirty="0">
                <a:solidFill>
                  <a:srgbClr val="0E7C86"/>
                </a:solidFill>
                <a:latin typeface="Amiri" pitchFamily="2" charset="-78"/>
                <a:ea typeface="Amiri" pitchFamily="2" charset="-78"/>
                <a:cs typeface="Amiri" pitchFamily="2" charset="-78"/>
              </a:rPr>
              <a:t>تُلْحِقُ الضَّرَرَ بِـ</a:t>
            </a:r>
            <a:endParaRPr lang="ar-SA" sz="23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Real concern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إِذَا</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1D5FBF"/>
                </a:solidFill>
                <a:latin typeface="Amiri" pitchFamily="2" charset="-78"/>
                <a:ea typeface="Amiri" pitchFamily="2" charset="-78"/>
                <a:cs typeface="Amiri" pitchFamily="2" charset="-78"/>
              </a:rPr>
              <a:t>سَـ</a:t>
            </a:r>
            <a:pPr rtl="1" algn="ctr" indent="0" marL="0">
              <a:buNone/>
            </a:pPr>
            <a:r>
              <a:rPr lang="ar-SA" altLang="en-US" sz="2800" b="1" dirty="0">
                <a:solidFill>
                  <a:srgbClr val="1B3B6F"/>
                </a:solidFill>
                <a:latin typeface="Amiri" pitchFamily="2" charset="-78"/>
                <a:ea typeface="Amiri" pitchFamily="2" charset="-78"/>
                <a:cs typeface="Amiri" pitchFamily="2" charset="-78"/>
              </a:rPr>
              <a:t>يَتَدَهْوَرُ</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Type 1.</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Regret + solution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D6336C"/>
                </a:solidFill>
                <a:latin typeface="Amiri" pitchFamily="2" charset="-78"/>
                <a:ea typeface="Amiri" pitchFamily="2" charset="-78"/>
                <a:cs typeface="Amiri" pitchFamily="2" charset="-78"/>
              </a:rPr>
              <a:t>لَوْ</a:t>
            </a:r>
            <a:pPr rtl="1" algn="ctr" indent="0" marL="0">
              <a:lnSpc>
                <a:spcPct val="120000"/>
              </a:lnSpc>
              <a:buNone/>
            </a:pPr>
            <a:r>
              <a:rPr lang="ar-SA" altLang="en-US" sz="1850" b="1" dirty="0">
                <a:solidFill>
                  <a:srgbClr val="1B3B6F"/>
                </a:solidFill>
                <a:latin typeface="Amiri" pitchFamily="2" charset="-78"/>
                <a:cs typeface="Amiri" pitchFamily="2" charset="-78"/>
              </a:rPr>
              <a:t> … </a:t>
            </a:r>
            <a:pPr rtl="1" algn="ctr" indent="0" marL="0">
              <a:lnSpc>
                <a:spcPct val="120000"/>
              </a:lnSpc>
              <a:buNone/>
            </a:pPr>
            <a:r>
              <a:rPr lang="ar-SA" altLang="en-US" sz="1850" b="1" dirty="0">
                <a:solidFill>
                  <a:srgbClr val="D6336C"/>
                </a:solidFill>
                <a:latin typeface="Amiri" pitchFamily="2" charset="-78"/>
                <a:ea typeface="Amiri" pitchFamily="2" charset="-78"/>
                <a:cs typeface="Amiri" pitchFamily="2" charset="-78"/>
              </a:rPr>
              <a:t>لَـ</a:t>
            </a:r>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كَانَتْ · </a:t>
            </a:r>
            <a:pPr rtl="1" algn="ctr" indent="0" marL="0">
              <a:lnSpc>
                <a:spcPct val="120000"/>
              </a:lnSpc>
              <a:buNone/>
            </a:pPr>
            <a:r>
              <a:rPr lang="ar-SA" altLang="en-US" sz="1850" b="1" dirty="0">
                <a:solidFill>
                  <a:srgbClr val="7B3FA0"/>
                </a:solidFill>
                <a:latin typeface="Amiri" pitchFamily="2" charset="-78"/>
                <a:ea typeface="Amiri" pitchFamily="2" charset="-78"/>
                <a:cs typeface="Amiri" pitchFamily="2" charset="-78"/>
              </a:rPr>
              <a:t>عِلَاوَةً عَلَى ذٰلِكَ</a:t>
            </a:r>
            <a:endParaRPr lang="ar-SA" sz="18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Type 2.</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CITE / TURN</a:t>
            </a:r>
            <a:endParaRPr lang="en-US" sz="800" dirty="0"/>
          </a:p>
        </p:txBody>
      </p:sp>
      <p:sp>
        <p:nvSpPr>
          <p:cNvPr id="47" name="Shape 43"/>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BENEFIT · TYPE 1</a:t>
            </a:r>
            <a:endParaRPr lang="en-US" sz="800" dirty="0"/>
          </a:p>
        </p:txBody>
      </p:sp>
      <p:sp>
        <p:nvSpPr>
          <p:cNvPr id="49" name="Shape 45"/>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HARM</a:t>
            </a:r>
            <a:endParaRPr lang="en-US" sz="800" dirty="0"/>
          </a:p>
        </p:txBody>
      </p:sp>
      <p:sp>
        <p:nvSpPr>
          <p:cNvPr id="51" name="Shape 47"/>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 REGRET</a:t>
            </a:r>
            <a:endParaRPr lang="en-US" sz="800" dirty="0"/>
          </a:p>
        </p:txBody>
      </p:sp>
      <p:sp>
        <p:nvSpPr>
          <p:cNvPr id="53" name="Shape 49"/>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ADD</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تُشِيرُ التَّقَارِيرُ إِلَى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السِّيَاحَةَ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تُسْهِمُ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بِنِسْبَةٍ كَبِيرَةٍ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فِي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النَّاتِجِ المَحَلِّيِّ الإِجْمَالِيِّ.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غَيْرَ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السِّيَاحَةَ المُفْرِطَةَ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تُلْحِقُ الضَّرَرَ بِ</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البِيئَةِ وَالتُّرَاثِ.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إِذَا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وَاصَلَ السُّيَّاحُ زِيَارَةَ المَوَاقِعِ الهَشَّةِ بِأَعْدَادٍ قِيَاسِيَّةٍ،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سَيَتَدَهْوَرُ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حَالُهَا.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وَلَوْ كَانَتْ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سِيَاسَاتُ السِّيَاحَةِ أَكْثَرَ صَرَامَةً،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لَكَانَتْ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مَوَاقِعُ مِثْلُ البَتْرَاءِ أَفْضَلَ حَالًا اليَوْمَ.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عِلَاوَةً عَلَى ذٰلِكَ</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إِذَا اعْتَمَدَتِ الدُّوَلُ نِظَامَ الحِصَصِ، سَتُحْمَى المَوَاقِعُ.</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Reports indicate that tourism contributes a large proportion of GDP. However, excessive tourism causes harm to the environment and heritage. If tourists continue to visit fragile sites in record numbers, their condition will deteriorate. Had tourism policies been stricter, sites like Petra would be in better condition today. Moreover, if countries adopt a quota system, the sites will be protected.</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تُلْحِقُ السِّيَاحَةُ الجَوِّيَّةُ ضَرَرًا بَالِغًا بِالبِيئَةِ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air tourism causes serious harm to the environment</a:t>
            </a:r>
            <a:endParaRPr lang="en-US" sz="1250" dirty="0"/>
          </a:p>
          <a:p>
            <a:pPr indent="0" marL="0">
              <a:buNone/>
            </a:pPr>
            <a:r>
              <a:rPr lang="en-US" sz="1050" i="1" dirty="0">
                <a:solidFill>
                  <a:srgbClr val="8A6D1E"/>
                </a:solidFill>
                <a:latin typeface="Calibri" pitchFamily="34" charset="0"/>
                <a:cs typeface="Amiri" pitchFamily="2" charset="-78"/>
              </a:rPr>
              <a:t>yulḥiq al-ḍarar + bi-.</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وَاصَلَ السُّيَّاحُ بِهٰذِهِ الأَعْدَادِ، سَيَتَدَهْوَرُ التُّرَاثُ</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tourists continue in these numbers, heritage will deteriorate</a:t>
            </a:r>
            <a:endParaRPr lang="en-US" sz="1250" dirty="0"/>
          </a:p>
          <a:p>
            <a:pPr indent="0" marL="0">
              <a:buNone/>
            </a:pPr>
            <a:r>
              <a:rPr lang="en-US" sz="1050" i="1" dirty="0">
                <a:solidFill>
                  <a:srgbClr val="8A6D1E"/>
                </a:solidFill>
                <a:latin typeface="Calibri" pitchFamily="34" charset="0"/>
                <a:cs typeface="Amiri" pitchFamily="2" charset="-78"/>
              </a:rPr>
              <a:t>Type 1 real concern.</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لَوْ كَانَتْ رُسُومُ الدُّخُولِ أَعْلَى، لَكَانَ الضَّرَرُ أَقَلَّ</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entry fees been higher, the damage would have been less</a:t>
            </a:r>
            <a:endParaRPr lang="en-US" sz="1250" dirty="0"/>
          </a:p>
          <a:p>
            <a:pPr indent="0" marL="0">
              <a:buNone/>
            </a:pPr>
            <a:r>
              <a:rPr lang="en-US" sz="1050" i="1" dirty="0">
                <a:solidFill>
                  <a:srgbClr val="8A6D1E"/>
                </a:solidFill>
                <a:latin typeface="Calibri" pitchFamily="34" charset="0"/>
                <a:cs typeface="Amiri" pitchFamily="2" charset="-78"/>
              </a:rPr>
              <a:t>Type 2 counterfactual.</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SUSTAINABLE TOURISM — THE ETHICS AND IMPACT OF TRAVEL”</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The responsible tourist: match the picture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السَّائِحُ المَسْؤُولُ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green transport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no litter</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save water</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أَلَّا نَتْرُكَ النُّفَايَاتِ.</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يَنْبَغِي تَقْلِيلُ اسْتِهْلَاكِ المِيَاهِ فِي الفُنْدُقِ.</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النَّقْلُ العَامُّ أَكْثَرُ اسْتِدَامَةً.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السَّائِحُ المَسْؤُولُ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green transport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النَّقْلُ العَامُّ أَكْثَرُ اسْتِدَامَةً.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Public transport is more sustainable.</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no litter</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يَجِبُ أَلَّا نَتْرُكَ النُّفَايَاتِ.</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must not leave litter.</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save water</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يَنْبَغِي تَقْلِيلُ اسْتِهْلَاكِ المِيَاهِ فِي الفُنْدُقِ.</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Water use in the hotel should be reduced.</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BALANCED ARGUMENT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Benefit + concern + regret or solution</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حُجَّةً مُتَوَازِنَةً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Reported benefit</a:t>
            </a:r>
            <a:endParaRPr lang="en-US" sz="1100" dirty="0"/>
          </a:p>
        </p:txBody>
      </p:sp>
      <p:sp>
        <p:nvSpPr>
          <p:cNvPr id="17" name="Text 14"/>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Harm / real concern</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Regret / solution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تُشِيرُ التَّقَارِيرُ إِلَى أَنَّ السِّيَاحَةَ تُسْهِمُ فِي الاقْتِصَادِ</a:t>
            </a:r>
            <a:endParaRPr lang="ar-SA" sz="1500" dirty="0"/>
          </a:p>
        </p:txBody>
      </p:sp>
      <p:sp>
        <p:nvSpPr>
          <p:cNvPr id="21" name="Text 18"/>
          <p:cNvSpPr txBox="1"/>
          <p:nvPr/>
        </p:nvSpPr>
        <p:spPr>
          <a:xfrm>
            <a:off x="441655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غَيْرَ أَنَّهَا تُلْحِقُ الضَّرَرَ بِالتُّرَاثِ إِذَا لَمْ تُنَظَّمْ</a:t>
            </a:r>
            <a:endParaRPr lang="ar-SA" sz="16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وَلَوْ نَظَّمَتِ الحُكُومَاتُ الزِّيَارَاتِ مُبَكِّرًا لَكَانَ التُّرَاثُ أَفْضَلَ</a:t>
            </a:r>
            <a:endParaRPr lang="ar-SA" sz="145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وَأَكَّدَ البَاحِثُونَ أَنَّهَا تُوَفِّرُ فُرَصَ عَمَلٍ</a:t>
            </a:r>
            <a:endParaRPr lang="ar-SA" sz="1600" dirty="0"/>
          </a:p>
        </p:txBody>
      </p:sp>
      <p:sp>
        <p:nvSpPr>
          <p:cNvPr id="27" name="Text 24"/>
          <p:cNvSpPr txBox="1"/>
          <p:nvPr/>
        </p:nvSpPr>
        <p:spPr>
          <a:xfrm>
            <a:off x="44165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فَإِذَا تَجَاوَزَ الزُّوَّارُ طَاقَةَ المَوْقِعِ سَيَتَدَهْوَرُ حَالُهُ</a:t>
            </a:r>
            <a:endParaRPr lang="ar-SA" sz="16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اعْتَمَدْنَا نِظَامَ الحِصَصِ سَتُحْمَى المَوَاقِعُ</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وَتَدْعَمُ السِّيَاحَةُ المُنْتَجَاتِ المَحَلِّيَّةَ</a:t>
            </a:r>
            <a:endParaRPr lang="ar-SA" sz="1600" dirty="0"/>
          </a:p>
        </p:txBody>
      </p:sp>
      <p:sp>
        <p:nvSpPr>
          <p:cNvPr id="31" name="Text 28"/>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وَتَزِيدُ السِّيَاحَةُ الجَوِّيَّةُ البَصْمَةَ الكَرْبُونِيَّةَ</a:t>
            </a:r>
            <a:endParaRPr lang="ar-SA" sz="16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وَمَسْؤُولِيَّةُ السَّائِحِ لَا تَقِلُّ عَنْ سِيَاسَةِ الدَّوْلَةِ</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label each conditional: Type 1 or Type 2?</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benefit, a harm — or a solution?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تُسْهِمُ فِي الاقْتِصَادِ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تُوَفِّرُ فُرَصَ عَمَلٍ</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تَدْعَمُ المُنْتَجَاتِ المَحَلِّيَّةَ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تُلْحِقُ الضَّرَرَ بِالتُّرَاثِ</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تُسَبِّبُ الاكْتِظَاظَ السِّيَاحِيَّ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تَزِيدُ البَصْمَةَ الكَرْبُونِيَّةَ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حِصَصُ الدُّخُولِ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ضَرِيبَةُ السِّيَاحَةِ</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تَنْظِيمُ السِّيَاحَةِ</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benefit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harm</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solution / regulation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benefit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تُسْهِمُ فِي الاقْتِصَادِ</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تُوَفِّرُ فُرَصَ عَمَلٍ</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تَدْعَمُ المُنْتَجَاتِ المَحَلِّيَّةَ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harm</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تُلْحِقُ الضَّرَرَ بِالتُّرَاثِ</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تُسَبِّبُ الاكْتِظَاظَ السِّيَاحِيَّ</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تَزِيدُ البَصْمَةَ الكَرْبُونِيَّةَ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solution / regulation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حِصَصُ الدُّخُولِ</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ضَرِيبَةُ السِّيَاحَةِ</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تَنْظِيمُ السِّيَاحَةِ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لَوِ اعْتَمَدَ الأُرْدُنُّ نِظَامَ الحِصَصِ مُبَكِّرًا، ___ حَالُ البَتْرَاءِ أَفْضَلَ.</a:t>
            </a:r>
            <a:endParaRPr lang="ar-SA" sz="10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سَيَكُونُ</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يَكُونُ</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لَكَانَ</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balances a benefit with a harm?</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1900" dirty="0">
                <a:solidFill>
                  <a:srgbClr val="1F2A37"/>
                </a:solidFill>
                <a:latin typeface="Amiri" pitchFamily="2" charset="-78"/>
                <a:ea typeface="Amiri" pitchFamily="2" charset="-78"/>
                <a:cs typeface="Amiri" pitchFamily="2" charset="-78"/>
              </a:rPr>
              <a:t>السِّيَاحَةُ جَيِّدَةٌ.</a:t>
            </a:r>
            <a:endParaRPr lang="ar-SA" sz="190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1900" dirty="0">
                <a:solidFill>
                  <a:srgbClr val="1F2A37"/>
                </a:solidFill>
                <a:latin typeface="Amiri" pitchFamily="2" charset="-78"/>
                <a:ea typeface="Amiri" pitchFamily="2" charset="-78"/>
                <a:cs typeface="Amiri" pitchFamily="2" charset="-78"/>
              </a:rPr>
              <a:t>تُوَفِّرُ السِّيَاحَةُ فُرَصَ عَمَلٍ، غَيْرَ أَنَّهَا تُلْحِقُ الضَّرَرَ بِالبِيئَةِ.</a:t>
            </a:r>
            <a:endParaRPr lang="ar-SA" sz="190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1900" dirty="0">
                <a:solidFill>
                  <a:srgbClr val="1F2A37"/>
                </a:solidFill>
                <a:latin typeface="Amiri" pitchFamily="2" charset="-78"/>
                <a:ea typeface="Amiri" pitchFamily="2" charset="-78"/>
                <a:cs typeface="Amiri" pitchFamily="2" charset="-78"/>
              </a:rPr>
              <a:t>السِّيَاحَةُ مُنْتَشِرَةٌ.</a:t>
            </a:r>
            <a:endParaRPr lang="ar-SA" sz="190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“over-tourism”?</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السِّيَاحَةُ البِيئِيَّةُ</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الاكْتِظَاظُ السِّيَاحِيُّ</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تَوْعِيَةٌ ثَقَافِيَّةٌ</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cites a report as evidence?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السِّيَاحَةُ مُفِيدَةٌ لِلْجَمِيعِ.</a:t>
            </a:r>
            <a:endParaRPr lang="ar-SA" sz="18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أُحِبُّ السَّفَرَ.</a:t>
            </a:r>
            <a:endParaRPr lang="ar-SA" sz="18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تُشِيرُ التَّقَارِيرُ إِلَى أَنَّ السِّيَاحَةَ تُسْهِمُ فِي النَّاتِجِ المَحَلِّيِّ.</a:t>
            </a:r>
            <a:endParaRPr lang="ar-SA" sz="18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لَوِ اعْتَمَدَ الأُرْدُنُّ نِظَامَ الحِصَصِ مُبَكِّرًا، ___ حَالُ البَتْرَاءِ أَفْضَلَ.</a:t>
            </a:r>
            <a:endParaRPr lang="ar-SA" sz="10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سَيَكُونُ</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يَكُونُ</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لَكَانَ</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balances a benefit with a harm?</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السِّيَاحَةُ جَيِّدَةٌ.</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تُوَفِّرُ السِّيَاحَةُ فُرَصَ عَمَلٍ، غَيْرَ أَنَّهَا تُلْحِقُ الضَّرَرَ بِالبِيئَةِ.</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السِّيَاحَةُ مُنْتَشِرَةٌ.</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turns from a benefit to a harm.</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“over-tourism”?</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السِّيَاحَةُ البِيئِيَّةُ</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الاكْتِظَاظُ السِّيَاحِيُّ</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تَوْعِيَةٌ ثَقَافِيَّةٌ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الاكْتِظَاظُ السِّيَاحِيُّ</a:t>
            </a:r>
            <a:pPr algn="l" indent="0" marL="0">
              <a:buNone/>
            </a:pPr>
            <a:r>
              <a:rPr lang="en-US" sz="1050" i="1" dirty="0">
                <a:solidFill>
                  <a:srgbClr val="8A6D1E"/>
                </a:solidFill>
                <a:latin typeface="Calibri" pitchFamily="34" charset="0"/>
                <a:cs typeface="Amiri" pitchFamily="2" charset="-78"/>
              </a:rPr>
              <a:t> is over-tourism.</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cites a report as evidence?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السِّيَاحَةُ مُفِيدَةٌ لِلْجَمِيعِ.</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السَّفَرَ.</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تُشِيرُ التَّقَارِيرُ إِلَى أَنَّ السِّيَاحَةَ تُسْهِمُ فِي النَّاتِجِ المَحَلِّيِّ.</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تُشِيرُ التَّقَارِيرُ إِلَى أَنَّ</a:t>
            </a:r>
            <a:pPr algn="l" indent="0" marL="0">
              <a:buNone/>
            </a:pPr>
            <a:r>
              <a:rPr lang="en-US" sz="1050" i="1" dirty="0">
                <a:solidFill>
                  <a:srgbClr val="8A6D1E"/>
                </a:solidFill>
                <a:latin typeface="Calibri" pitchFamily="34" charset="0"/>
                <a:cs typeface="Amiri" pitchFamily="2" charset="-78"/>
              </a:rPr>
              <a:t> reports evidence.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تُسْهِمُ السِّيَاحَةُ بِالاقْتِصَادِ المَحَلِّيِّ.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tushim + bi-?</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تُلْحِقُ السِّيَاحَةُ الضَّرَرَ التُّرَاثَ.</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tulḥiq al-ḍarar + no bi-?</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نَظَّمْنَا الزِّيَارَاتِ، سَيَكُونُ التُّرَاثُ أَفْضَلَ.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sa-?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تُسْهِمُ السِّيَاحَةُ بِالاقْتِصَادِ المَحَلِّيِّ.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تُسْهِمُ السِّيَاحَةُ فِي الاقْتِصَادِ المَحَلِّيِّ.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يُسْهِمُ</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تُلْحِقُ السِّيَاحَةُ الضَّرَرَ التُّرَاثَ.</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تُلْحِقُ السِّيَاحَةُ الضَّرَرَ بِالتُّرَاثِ.</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يُلْحِقُ الضَّرَرَ</a:t>
            </a:r>
            <a:pPr algn="l" indent="0" marL="0">
              <a:buNone/>
            </a:pPr>
            <a:r>
              <a:rPr lang="en-US" sz="1150" b="1" dirty="0">
                <a:solidFill>
                  <a:srgbClr val="1B3B6F"/>
                </a:solidFill>
                <a:latin typeface="Calibri" pitchFamily="34" charset="0"/>
                <a:cs typeface="Amiri" pitchFamily="2" charset="-78"/>
              </a:rPr>
              <a:t> takes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لَوْ نَظَّمْنَا الزِّيَارَاتِ، سَيَكُونُ التُّرَاثُ أَفْضَلَ.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نَظَّمْنَا الزِّيَارَاتِ، لَكَانَ التُّرَاثُ أَفْضَلَ.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Listening: is tourism always good?</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reports indicate about tourism?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contributes significantly to GDP and provides jobs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no economic value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only harms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excessive tourism do?</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Protects sites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Has no effect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Causes harm to fragile sites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concern about Petra (Type 1)?</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Petra is indestructible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Numbers are falling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If visitors continue in record numbers, the Nabataean buildings will deteriorate</a:t>
            </a:r>
            <a:endParaRPr lang="en-US" sz="120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Jordan adopted quotas from the start, the site would be better today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Quotas make no difference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Jordan cannot act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say about tourist responsibility?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does not matter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no less important than state policy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replaces policy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tushīr al-taqārīr · ghayra anna · idhā … sa-.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تُشِيرُ التَّقَارِيرُ إِلَى أَنَّ السِّيَاحَةَ تُسْهِمُ بِنِسْبَةٍ كَبِيرَةٍ فِي النَّاتِجِ المَحَلِّيِّ الإِجْمَالِيِّ فِي كَثِيرٍ مِنَ الدُّوَلِ العَرَبِيَّةِ، وَأَكَّدَ البَاحِثُونَ أَنَّهَا تُوَفِّرُ مَلَايِينَ فُرَصِ العَمَلِ.</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Reports indicate that tourism contributes a large proportion of GDP in many Arab countries, and researchers confirmed that it provides millions of jobs.</a:t>
            </a:r>
            <a:endParaRPr lang="en-US" sz="120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غَيْرَ أَنَّ السِّيَاحَةَ المُفْرِطَةَ تُلْحِقُ الضَّرَرَ بِالمَوَاقِعِ الهَشَّةِ.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However, excessive tourism causes harm to fragile sites.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إِذَا وَاصَلَ السُّيَّاحُ زِيَارَةَ البَتْرَاءِ بِأَعْدَادٍ قِيَاسِيَّةٍ، سَيَتَدَهْوَرُ حَالُ الأَبْنِيَةِ النَّبَطِيَّةِ. وَلَوِ اعْتَمَدَ الأُرْدُنُّ نِظَامَ الحِصَصِ مُنْذُ البِدَايَةِ، لَكَانَتْ حَالَةُ المَوْقِعِ أَفْضَلَ اليَوْمَ.</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If tourists continue to visit Petra in record numbers, the Nabataean buildings will deteriorate. Had Jordan adopted a quota system from the start, the site would be in a better state today.</a:t>
            </a:r>
            <a:endParaRPr lang="en-US" sz="120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عِلَاوَةً عَلَى ذٰلِكَ، إِذَا اعْتَمَدَتِ الدُّوَلُ ضَرِيبَةَ السِّيَاحَةِ، سَتُحْمَى المَوَاقِعُ لِلْأَجْيَالِ القَادِمَةِ.</a:t>
            </a:r>
            <a:endParaRPr lang="ar-SA" sz="17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Moreover, if countries adopt a tourism tax, the sites will be protected for future generations.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فَمَسْؤُولِيَّةُ السَّائِحِ لَا تَقِلُّ أَهَمِّيَّةً عَنْ سِيَاسَاتِ الدَّوْلَةِ.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the tourist’s responsibility is no less important than state policy.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reports indicate about tourism?</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contributes significantly to GDP and provides jobs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no economic value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only harms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تُسْهِمُ بِنِسْبَةٍ كَبِيرَةٍ فِي النَّاتِجِ المَحَلِّيِّ … تُوَفِّرُ مَلَايِينَ فُرَصِ العَمَلِ.</a:t>
            </a:r>
            <a:endParaRPr lang="ar-SA" sz="11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excessive tourism do?</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Protects sites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Has no effect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Causes harm to fragile sites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تُلْحِقُ الضَّرَرَ بِالمَوَاقِعِ الهَشَّةِ.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concern about Petra (Type 1)?</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Petra is indestructible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Numbers are falling</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visitors continue in record numbers, the Nabataean buildings will deteriorate</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وَاصَلَ السُّيَّاحُ … سَيَتَدَهْوَرُ حَالُ الأَبْنِيَةِ النَّبَطِيَّةِ.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Jordan adopted quotas from the start, the site would be better today</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Quotas make no difference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Jordan cannot act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لَوِ اعْتَمَدَ الأُرْدُنُّ نِظَامَ الحِصَصِ مُنْذُ البِدَايَةِ، لَكَانَتْ حَالَةُ المَوْقِعِ أَفْضَلَ.</a:t>
            </a:r>
            <a:endParaRPr lang="ar-SA"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say about tourist responsibility?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does not matter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It is no less important than state policy</a:t>
            </a:r>
            <a:endParaRPr lang="en-US" sz="12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replaces policy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مَسْؤُولِيَّةُ السَّائِحِ لَا تَقِلُّ أَهَمِّيَّةً عَنْ سِيَاسَاتِ الدَّوْلَةِ.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tushīr al-taqārīr · ghayra anna · idhā … sa-.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Speaking: argue about sustainable tourism</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فَوَائِدُ السِّيَاحَةِ؟ اسْتَشْهِدْ بِتَقْرِيرٍ.</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الضَّرَرُ المُحْتَمَلُ؟ عَبِّرْ عَنْهُ بِشَرْطٍ مِنَ النَّوْعِ الأَوَّلِ.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كَانَ يَنْبَغِي فِعْلُهُ سَابِقًا؟ اسْتَعْمِلْ «لَوْ».</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250" b="1" dirty="0">
                <a:solidFill>
                  <a:srgbClr val="1D5FBF"/>
                </a:solidFill>
                <a:latin typeface="Amiri" pitchFamily="2" charset="-78"/>
                <a:ea typeface="Amiri" pitchFamily="2" charset="-78"/>
                <a:cs typeface="Amiri" pitchFamily="2" charset="-78"/>
              </a:rPr>
              <a:t>تُشِيرُ التَّقَارِيرُ إِلَى أَنَّ السِّيَاحَةَ تُسْهِمُ فِي ___ .</a:t>
            </a:r>
            <a:endParaRPr lang="ar-SA" sz="125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لَمْ نُنَظِّمِ الزِّيَارَاتِ، سَيَتَدَهْوَرُ ___ .</a:t>
            </a:r>
            <a:endParaRPr lang="ar-SA" sz="15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لَوْ فَرَضْنَا حِصَصًا مُبَكِّرًا، لَكَانَ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فَوَائِدُ السِّيَاحَةِ؟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are the benefits of tourism?</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تُشِيرُ التَّقَارِيرُ إِلَى أَنَّهَا تُسْهِمُ فِي الاقْتِصَادِ وَتُوَفِّرُ فُرَصَ عَمَلٍ.</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Reports indicate that it contributes to the economy and provides jobs.</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three benefit and three harm sentences with correct complements.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three benefit and three harm sentences with correct complements.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Type 1 concern and a Type 2 counterfactual.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Type 1 concern and a Type 2 counterfactual.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balanced argument citing a report and closing with a solution.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argue for sustainable tourism — cite a report, use environmental vocabulary, a Type 1, a Type 2 and a formal connector.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تُشِيرُ التَّقَارِيرُ إِلَى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Reports indicate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غَيْرَ أَنَّهَا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However,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إِذَا وَاصَلَ السُّيَّاحُ ______ ، سَيَتَدَهْوَرُ ______ .</a:t>
            </a:r>
            <a:endParaRPr lang="ar-SA" sz="16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tourists continue …, … will deteriorate.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لَوْ كَانَتْ ______ أَكْثَرَ صَرَامَةً، لَكَانَ ______ أَفْضَلَ.</a:t>
            </a:r>
            <a:endParaRPr lang="ar-SA" sz="15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 been stricter, … would have been better.</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تُسْهِمُ السِّيَاحَةُ فِي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Tourism contributes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تُوَفِّرُ ______ ، وَتَدْعَمُ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provides … and supports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تُلْحِقُ السِّيَاحَةُ المُفْرِطَةُ الضَّرَرَ بِالبِيئَةِ وَ ______ .</a:t>
            </a:r>
            <a:endParaRPr lang="ar-SA" sz="145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Excessive tourism causes harm to the environment and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تَزِيدُ السِّيَاحَةُ الجَوِّيَّةُ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Air travel increases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الاقْتِصَادِ المَحَلِّيِّ  ·  فُرَصَ عَمَلٍ  ·  المُنْتَجَاتِ المَحَلِّيَّةَ  ·  البِيئَةِ  ·  التُّرَاثِ  ·  المَوَاقِعِ الهَشَّةِ  ·  البَصْمَةَ الكَرْبُونِيَّةَ  ·  بِأَعْدَادٍ قِيَاسِيَّةٍ  ·  حَالُ المَوْقِعِ  ·  سِيَاسَاتُ السِّيَاحَةِ  ·  حِصَصُ الدُّخُولِ  ·  ضَرِيبَةُ السِّيَاحَةِ</a:t>
            </a:r>
            <a:endParaRPr lang="ar-SA" sz="12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one hundred to one hundred and ten words arguing for sustainable tourism. Cite a report, use environmental vocabulary, and include a Type 1 real concern, a Type 2 counterfactual and a formal connector.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reported benefit (</a:t>
            </a:r>
            <a:pPr algn="l" indent="0" marL="0">
              <a:buNone/>
            </a:pPr>
            <a:r>
              <a:rPr lang="ar-SA" altLang="en-US" sz="1550" dirty="0">
                <a:solidFill>
                  <a:srgbClr val="1F2A37"/>
                </a:solidFill>
                <a:latin typeface="Amiri" pitchFamily="2" charset="-78"/>
                <a:ea typeface="Amiri" pitchFamily="2" charset="-78"/>
                <a:cs typeface="Amiri" pitchFamily="2" charset="-78"/>
              </a:rPr>
              <a:t>تُشِيرُ التَّقَارِيرُ إِلَى أَنَّ</a:t>
            </a:r>
            <a:pPr algn="l" indent="0" marL="0">
              <a:buNone/>
            </a:pPr>
            <a:r>
              <a:rPr lang="en-US" sz="1200" dirty="0">
                <a:solidFill>
                  <a:srgbClr val="1F2A37"/>
                </a:solidFill>
                <a:latin typeface="Calibri" pitchFamily="34" charset="0"/>
                <a:cs typeface="Amiri" pitchFamily="2" charset="-78"/>
              </a:rPr>
              <a:t> …).</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Environmental vocabulary (</a:t>
            </a:r>
            <a:pPr algn="l" indent="0" marL="0">
              <a:buNone/>
            </a:pPr>
            <a:r>
              <a:rPr lang="ar-SA" altLang="en-US" sz="1550" dirty="0">
                <a:solidFill>
                  <a:srgbClr val="1F2A37"/>
                </a:solidFill>
                <a:latin typeface="Amiri" pitchFamily="2" charset="-78"/>
                <a:ea typeface="Amiri" pitchFamily="2" charset="-78"/>
                <a:cs typeface="Amiri" pitchFamily="2" charset="-78"/>
              </a:rPr>
              <a:t>بَصْمَةٌ كَرْبُونِيَّةٌ / انْبِعَاثَاتٌ / يُلْحِقُ الضَّرَرَ بِـ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real concern and a Type 2 counterfactual.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formal connector (</a:t>
            </a:r>
            <a:pPr algn="l" indent="0" marL="0">
              <a:buNone/>
            </a:pPr>
            <a:r>
              <a:rPr lang="ar-SA" altLang="en-US" sz="1550" dirty="0">
                <a:solidFill>
                  <a:srgbClr val="1F2A37"/>
                </a:solidFill>
                <a:latin typeface="Amiri" pitchFamily="2" charset="-78"/>
                <a:ea typeface="Amiri" pitchFamily="2" charset="-78"/>
                <a:cs typeface="Amiri" pitchFamily="2" charset="-78"/>
              </a:rPr>
              <a:t>غَيْرَ أَنَّ / عِلَاوَةً عَلَى 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بِنِسْبَةٍ كَبِيرَةٍ فِي النَّاتِجِ المَحَلِّيِّ الإِجْمَالِيِّ</a:t>
            </a:r>
            <a:endParaRPr lang="ar-SA" sz="16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large proportion of GDP</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وَأَكَّدَ البَاحِثُونَ أَنَّهَا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researchers confirmed that it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وَتَزِيدُ البَصْمَةَ الكَرْبُونِيَّةَ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it increases the carbon footprint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سَتُحْمَى مَوَاقِعُ التُّرَاثِ لِلْأَجْيَالِ القَادِمَةِ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heritage sites will be protected for future generations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فَمَسْؤُولِيَّةُ السَّائِحِ وَالدَّوْلَةِ مُشْتَرَكَةٌ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the responsibility of the tourist and the state is shared</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تُشِيرُ التَّقَارِيرُ إِلَى أَنَّ السِّيَاحَةَ تُسْهِمُ بِنِسْبَةٍ كَبِيرَةٍ فِي النَّاتِجِ المَحَلِّيِّ الإِجْمَالِيِّ، وَأَكَّدَ البَاحِثُونَ أَنَّهَا تُوَفِّرُ مَلَايِينَ فُرَصِ العَمَلِ المَحَلِّيَّةِ. غَيْرَ أَنَّ السِّيَاحَةَ المُفْرِطَةَ تُلْحِقُ الضَّرَرَ بِالبِيئَةِ وَالتُّرَاثِ، وَتَزِيدُ البَصْمَةَ الكَرْبُونِيَّةَ. إِذَا وَاصَلَ السُّيَّاحُ زِيَارَةَ المَوَاقِعِ الهَشَّةِ بِأَعْدَادٍ قِيَاسِيَّةٍ، سَيَتَدَهْوَرُ حَالُهَا بِسُرْعَةٍ. وَلَوْ كَانَتْ سِيَاسَاتُ السِّيَاحَةِ المُسْتَدَامَةِ أَكْثَرَ صَرَامَةً مُنْذُ البِدَايَةِ، لَكَانَتْ مَوَاقِعُ مِثْلُ البَتْرَاءِ أَفْضَلَ حَالًا اليَوْمَ. عِلَاوَةً عَلَى ذٰلِكَ، إِذَا اعْتَمَدَتِ الدُّوَلُ العَرَبِيَّةُ نِظَامَ حِصَصِ الدُّخُولِ، سَتُحْمَى مَوَاقِعُ التُّرَاثِ لِلْأَجْيَالِ القَادِمَةِ. فَمَسْؤُولِيَّةُ السَّائِحِ وَالدَّوْلَةِ مُشْتَرَكَةٌ.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Reports indicate that tourism contributes a large proportion of GDP, and researchers have confirmed that it provides millions of local jobs. However, excessive tourism causes harm to the environment and heritage, and increases the carbon footprint. If tourists continue to visit fragile sites in record numbers, their condition will deteriorate quickly. Had sustainable tourism policies been stricter from the start, sites like Petra would be in better condition today. Moreover, if Arab countries adopt a system of entry quotas, heritage sites will be protected for future generations. So the responsibility of the tourist and the state is shared.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tushīr al-taqārīr ilā anna · tushim fī</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ghayra anna · tulḥiq al-ḍarar bi-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Type 1 (idhā … sa-)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Type 2 (law … la-) + ʿilāwatan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tushim has fī; tulḥiq al-ḍarar has bi-.</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have at least one benefit and one harm.</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real concern uses idhā + past → sa- + present.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regret uses law + past → la- + past (never sa-).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cite a report and turn with ghayra anna / add with ʿilāwatan ʿalā dhālika.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تُسْهِمُ السِّيَاحَةُ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الاقْتِصَادِ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تُلْحِقُ السِّيَاحَةُ الضَّرَرَ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counterfactual regret (Type 2)?</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لَوْ نَظَّمْنَا الزِّيَارَاتِ مُبَكِّرًا، لَكَانَ التُّرَاثُ أَفْضَلَ.</a:t>
            </a:r>
            <a:endParaRPr lang="ar-SA" sz="14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إِذَا نَظَّمْنَا الزِّيَارَاتِ، سَيَتَحَسَّنُ التُّرَاثُ.</a:t>
            </a:r>
            <a:endParaRPr lang="ar-SA" sz="14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نُنَظِّمُ الزِّيَارَاتِ.</a:t>
            </a:r>
            <a:endParaRPr lang="ar-SA" sz="14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تُسْهِمُ السِّيَاحَةُ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الاقْتِصَادِ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فِي</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يُسْهِمُ</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تُلْحِقُ السِّيَاحَةُ الضَّرَرَ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يُلْحِقُ الضَّرَرَ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counterfactual regret (Type 2)?</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لَوْ نَظَّمْنَا الزِّيَارَاتِ مُبَكِّرًا، لَكَانَ التُّرَاثُ أَفْضَلَ.</a:t>
            </a:r>
            <a:endParaRPr lang="ar-SA" sz="14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إِذَا نَظَّمْنَا الزِّيَارَاتِ، سَيَتَحَسَّنُ التُّرَاثُ.</a:t>
            </a:r>
            <a:endParaRPr lang="ar-SA" sz="14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نُنَظِّمُ الزِّيَارَاتِ.</a:t>
            </a:r>
            <a:endParaRPr lang="ar-SA" sz="14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counterfactual.</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Reading: a balanced view of tourism</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50" dirty="0">
                <a:solidFill>
                  <a:srgbClr val="1F2A37"/>
                </a:solidFill>
                <a:latin typeface="Amiri" pitchFamily="2" charset="-78"/>
                <a:ea typeface="Amiri" pitchFamily="2" charset="-78"/>
                <a:cs typeface="Amiri" pitchFamily="2" charset="-78"/>
              </a:rPr>
              <a:t>لَا شَكَّ أَنَّ السِّيَاحَةَ سِلَاحٌ ذُو حَدَّيْنِ. فَمِنْ نَاحِيَةٍ، تُسْهِمُ فِي الاقْتِصَادِ المَحَلِّيِّ وَتَدْعَمُ المُنْتَجَاتِ المَحَلِّيَّةَ وَتُعَزِّزُ التَّوْعِيَةَ الثَّقَافِيَّةَ. غَيْرَ أَنَّهَا، مِنْ نَاحِيَةٍ أُخْرَى، قَدْ تُلْحِقُ الضَّرَرَ بِالبِيئَةِ وَالتُّرَاثِ إِذَا لَمْ تُنَظَّمْ. إِذَا تَجَاوَزَ عَدَدُ الزُّوَّارِ طَاقَةَ المَوْقِعِ، سَيَتَدَهْوَرُ حَالُهُ بِسُرْعَةٍ. وَلَوْ وَازَنَتِ الحُكُومَاتُ بَيْنَ الرِّبْحِ وَالحِمَايَةِ مُنْذُ البِدَايَةِ، لَمَا وَصَلَتْ كَثِيرٌ مِنَ المَوَاقِعِ إِلَى هٰذَا التَّدَهْوُرِ. لِذٰلِكَ تَدْعُو التَّقَارِيرُ إِلَى السِّيَاحَةِ المُسْتَدَامَةِ الَّتِي تَحْمِي التُّرَاثَ وَتُحَقِّقُ الفَائِدَةَ مَعًا.</a:t>
            </a:r>
            <a:endParaRPr lang="ar-SA" sz="23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شَكَّ أَنَّ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there is no doubt that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سِلَاحٌ ذُو حَدَّيْنِ</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double-edged sword</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نَاحِيَةٍ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 the one hand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تُعَزِّزُ</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strengthens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إِذَا لَمْ تُنَظَّمْ</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if it is not regulated</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تَجَاوَزَ</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exceeded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طَاقَةَ المَوْقِعِ</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site’s capacity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الرِّبْحِ</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profit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التَّدَهْوُرِ</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deterioration</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تَدْعُو إِلَى</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call for</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tourism described?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pure benefit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double-edged sword</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pure harm</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benefits, per the text?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profit</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Supporting the local economy, local products and cultural awareness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concern (Type 1)?</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visitor numbers exceed a site's capacity, it deteriorates quickly</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Sites never deteriorate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Numbers cannot exceed capacity</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Governments cannot balance them</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000" dirty="0">
                <a:solidFill>
                  <a:srgbClr val="1F2A37"/>
                </a:solidFill>
                <a:latin typeface="Calibri" pitchFamily="34" charset="0"/>
                <a:cs typeface="Amiri" pitchFamily="2" charset="-78"/>
              </a:rPr>
              <a:t>Had governments balanced profit and protection early, many sites would not have deteriorated</a:t>
            </a:r>
            <a:endParaRPr lang="en-US" sz="100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 is pointless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 reports call for?</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Sustainable tourism that protects heritage and delivers benefit together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Ending tourism</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Unlimited tourism</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tourism described?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pure benefit</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double-edged sword</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pure harm</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السِّيَاحَةَ سِلَاحٌ ذُو حَدَّيْنِ.</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benefits, per the text?</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profit</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Supporting the local economy, local products and cultural awareness</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950" dirty="0">
                <a:solidFill>
                  <a:srgbClr val="8A6D1E"/>
                </a:solidFill>
                <a:latin typeface="Amiri" pitchFamily="2" charset="-78"/>
                <a:ea typeface="Amiri" pitchFamily="2" charset="-78"/>
                <a:cs typeface="Amiri" pitchFamily="2" charset="-78"/>
              </a:rPr>
              <a:t>تُسْهِمُ فِي الاقْتِصَادِ المَحَلِّيِّ وَتَدْعَمُ المُنْتَجَاتِ المَحَلِّيَّةَ وَتُعَزِّزُ التَّوْعِيَةَ الثَّقَافِيَّةَ.</a:t>
            </a:r>
            <a:endParaRPr lang="ar-SA" sz="9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concern (Type 1)?</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visitor numbers exceed a site's capacity, it deteriorates quickly</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Sites never deteriorate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Numbers cannot exceed capacity</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تَجَاوَزَ عَدَدُ الزُّوَّارِ طَاقَةَ المَوْقِعِ، سَيَتَدَهْوَرُ حَالُهُ.</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Governments cannot balance them</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000" b="1" dirty="0">
                <a:solidFill>
                  <a:srgbClr val="1F2A37"/>
                </a:solidFill>
                <a:latin typeface="Calibri" pitchFamily="34" charset="0"/>
                <a:cs typeface="Amiri" pitchFamily="2" charset="-78"/>
              </a:rPr>
              <a:t>Had governments balanced profit and protection early, many sites would not have deteriorated</a:t>
            </a:r>
            <a:endParaRPr lang="en-US" sz="10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Balance is pointless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lnSpc>
                <a:spcPct val="120000"/>
              </a:lnSpc>
              <a:buNone/>
            </a:pPr>
            <a:r>
              <a:rPr lang="ar-SA" altLang="en-US" sz="900" dirty="0">
                <a:solidFill>
                  <a:srgbClr val="8A6D1E"/>
                </a:solidFill>
                <a:latin typeface="Amiri" pitchFamily="2" charset="-78"/>
                <a:ea typeface="Amiri" pitchFamily="2" charset="-78"/>
                <a:cs typeface="Amiri" pitchFamily="2" charset="-78"/>
              </a:rPr>
              <a:t>لَوْ وَازَنَتِ الحُكُومَاتُ بَيْنَ الرِّبْحِ وَالحِمَايَةِ مُنْذُ البِدَايَةِ، لَمَا وَصَلَتْ … إِلَى هٰذَا التَّدَهْوُرِ.</a:t>
            </a:r>
            <a:endParaRPr lang="ar-SA" sz="90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 reports call for?</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Sustainable tourism that protects heritage and delivers benefit together</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Ending tourism</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Unlimited tourism</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900" dirty="0">
                <a:solidFill>
                  <a:srgbClr val="8A6D1E"/>
                </a:solidFill>
                <a:latin typeface="Amiri" pitchFamily="2" charset="-78"/>
                <a:ea typeface="Amiri" pitchFamily="2" charset="-78"/>
                <a:cs typeface="Amiri" pitchFamily="2" charset="-78"/>
              </a:rPr>
              <a:t>تَدْعُو التَّقَارِيرُ إِلَى السِّيَاحَةِ المُسْتَدَامَةِ الَّتِي تَحْمِي التُّرَاثَ وَتُحَقِّقُ الفَائِدَةَ مَعًا.</a:t>
            </a:r>
            <a:endParaRPr lang="ar-SA" sz="90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Ethics Mission — Benefit, Harm and Two Conditionals</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تُسْهِمُ السِّيَاحَةُ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الاقْتِصَادِ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تُلْحِقُ الضَّرَرَ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إِذَا وَاصَلُوا، سَيَتَدَهْوَرُ</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counterfactual</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real concern</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لَوْ نَظَّمْنَا، لَكَانَ أَفْضَلَ</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real concern</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question</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counterfactual</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رَفَعْنَا الرُّسُومَ،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الأَعْدَادُ أَقَلَّ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لَكَانَتِ</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سَتَكُونُ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تَكُونُ</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1: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 لَمْ نُنَظِّمِ الزِّيَارَاتِ،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لَتَدَهْوَرَ</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سَيَتَدَهْوَرُ</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يَتَدَهْوَرُ</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تُسْهِمُ السِّيَاحَةُ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الاقْتِصَادِ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يُسْهِمُ</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تُلْحِقُ الضَّرَرَ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يُلْحِقُ الضَّرَرَ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إِذَا وَاصَلُوا، سَيَتَدَهْوَرُ</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counterfactual</a:t>
            </a:r>
            <a:endParaRPr lang="en-US" sz="125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real concern</a:t>
            </a:r>
            <a:endParaRPr lang="en-US" sz="125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a real concern.</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لَوْ نَظَّمْنَا، لَكَانَ أَفْضَلَ</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real concern</a:t>
            </a:r>
            <a:endParaRPr lang="en-US" sz="125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question</a:t>
            </a:r>
            <a:endParaRPr lang="en-US" sz="125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counterfactual</a:t>
            </a:r>
            <a:endParaRPr lang="en-US" sz="125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a counterfactual.</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رَفَعْنَا الرُّسُومَ،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الأَعْدَادُ أَقَلَّ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لَكَانَتِ</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سَتَكُونُ</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تَكُونُ</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1: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 لَمْ نُنَظِّمِ الزِّيَارَاتِ،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لَتَدَهْوَرَ</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سَيَتَدَهْوَرُ</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يَتَدَهْوَرُ</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1 result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P3-L05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P3-L06: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P3-L06 · Travel Problems and Solutions — Dealing With the Unexpected</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تَأَخُّرُ الرِّحْلَةِ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flight delay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فُقْدَانُ الأَمْتِعَةِ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lost luggage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يَتَصَرَّفُ بِهُدُوءٍ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acts calmly</a:t>
            </a:r>
            <a:pPr indent="0" marL="0">
              <a:buNone/>
            </a:pPr>
            <a:r>
              <a:rPr lang="ar-SA" sz="1000" i="1" dirty="0">
                <a:solidFill>
                  <a:srgbClr val="5A6472"/>
                </a:solidFill>
                <a:latin typeface="Calibri" pitchFamily="34" charset="0"/>
                <a:ea typeface="Amiri" pitchFamily="2" charset="-78"/>
                <a:cs typeface="Amiri" pitchFamily="2" charset="-78"/>
              </a:rPr>
              <a:t>  تَتَصَرَّفُ she</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يُبَلِّغُ عَنْ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reports</a:t>
            </a:r>
            <a:pPr indent="0" marL="0">
              <a:buNone/>
            </a:pPr>
            <a:r>
              <a:rPr lang="ar-SA" sz="1000" i="1" dirty="0">
                <a:solidFill>
                  <a:srgbClr val="5A6472"/>
                </a:solidFill>
                <a:latin typeface="Calibri" pitchFamily="34" charset="0"/>
                <a:ea typeface="Amiri" pitchFamily="2" charset="-78"/>
                <a:cs typeface="Amiri" pitchFamily="2" charset="-78"/>
              </a:rPr>
              <a:t>  تُبَلِّغُ she</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التَّأْمِينُ السِّيَاحِيُّ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travel insurance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Has something ever gone wrong on a journey? What did you do?</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مَرَّةً، ______ ، فَتَصَرَّفْتُ بِهُدُوءٍ وَ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benefit and three harm sentences with tushim fī and tulḥiq al-ḍarar bi-.</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Type 1 concern and a Type 2 regret (60–80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argument for sustainable tourism.</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P3-L05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P3-L06 · Travel Problems and Solutions — Dealing With the Unexpected</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مَشَاكِلُ السَّفَرِ وَالحُلُولُ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tushim FĪ · tulḥiq al-ḍarar BI- — a real concern is idhā … sa-, a regret is law … la- (never sa-) — cite with tushīr al-taqārīr, turn with ghayra anna.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P3-L05 · Sustainable Tourism — The Ethics and Impact of Travel</dc:title>
  <dc:subject>PptxGenJS Presentation</dc:subject>
  <dc:creator>Al Madina Online School · Arabic Department</dc:creator>
  <cp:lastModifiedBy>Al Madina Online School · Arabic Department</cp:lastModifiedBy>
  <cp:revision>1</cp:revision>
  <dcterms:created xsi:type="dcterms:W3CDTF">2026-10-11T06:43:10Z</dcterms:created>
  <dcterms:modified xsi:type="dcterms:W3CDTF">2026-10-11T06:43:10Z</dcterms:modified>
</cp:coreProperties>
</file>