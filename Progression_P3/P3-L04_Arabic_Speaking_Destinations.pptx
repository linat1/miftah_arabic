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P3-L04. The website lesson “Arabic-Speaking Destinations — Culture, Geography and Tourism”: vocabulary, grammar rules and quiz, patterns, common mistakes, sorter, listening, reading, speaking prompts and model, writing task and model, differentiation, final check and the lesson mission. Picture match: website visual game “Arabic-Speaking Destinations — Culture, Geography and Tourism”.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destination sentences with the tourism verbs and correct complements (website Core). Develop: add a present general description and a past visit. Stretch: a full magazine profile with a reported recommendation and a Type 1 close (website 100–110 words).
• Choose places with care and pride: Fez (al-Qarawiyyīn, founded by Fāṭima al-Fihriyya in 859 CE), Petra (one of the New Seven Wonders, 2007), Marrakesh, Cairo’s pyramids. Invite students to profile a place linked to their own family heritage.
• Agreement trap: city names are feminine (تَسْتَقْطِبُ مَرَّاكُشُ · تَتَمَيَّزُ فَاسُ), and many are diptotes — no tanwīn (زُرْتُ فَاسَ · فِي مَرَّاكُشَ).
• Grammar links: superlatives min afʿal (P3-L01) · past narrative (P3-L03) · Type 1 (P1-L03) · reported speech (P2-L02).
• TEACHER-WRITTEN ITEMS: waṣl alif shown without a kasra; one grammar fix (أَدْرَكْتُ أَنَّ لَا شَيْءَ → أَنَّهُ لَا شَيْءَ); rule headings and formulas in English and transliteration; sorter headings in transliteration; the agreement and register tables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P3-L03. Questions 4–5 retrieve the negative Type 2 and fāqa + object (P3-L03) — today’s profiles end with a visit and a reaction.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verbs take a direct object, two take bi-. Learn each with its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سیاح، سیاحت، مشہور، ممتاز، آثار and عجائب are all shared — the travel-magazine words are already familiar. Fun fact: Urdu عجائب گھر (“house of wonders”) means a museum; Arabic says مَتْحَفٌ.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Destinations and heritage (website vocabulary (1 of 2)). Hear → Say → See → Use. Transliteration is printed for Core students (cover it for Develop/Stretch).
Destinations and heritage: the nouns of a travel profile. مَوْقِعٌ لِلتُّرَاثِ العَالَمِيِّ = a UNESCO World Heritage Site (Fez’s medina and Petra are both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Destinations and heritage (website vocabulary (2 of 2)). Hear → Say → See → Use. Transliteration is printed for Core students (cover it for Develop/Stretch).
Destinations and heritage: the nouns of a travel profile. مَوْقِعٌ لِلتُّرَاثِ العَالَمِيِّ = a UNESCO World Heritage Site (Fez’s medina and Petra are both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Tourism verbs (website vocabulary (1 of 2)). Hear → Say → See → Use. Transliteration is printed for Core students (cover it for Develop/Stretch).
Tourism verbs: يَسْتَقْطِبُ (Form X) and يُبْهِرُ (Form IV) take a DIRECT object; يَتَمَيَّزُ and يَشْتَهِرُ are fixed with بِـ. With a city as subject, use ta-: تَسْتَقْطِبُ مَرَّاكُشُ.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Tourism verbs (website vocabulary (2 of 2)). Hear → Say → See → Use. Transliteration is printed for Core students (cover it for Develop/Stretch).
FLEX: teach if time allows; otherwise these are on the website vocabulary tab for homework.
Tourism verbs: يَسْتَقْطِبُ (Form X) and يُبْهِرُ (Form IV) take a DIRECT object; يَتَمَيَّزُ and يَشْتَهِرُ are fixed with بِـ. With a city as subject, use ta-: تَسْتَقْطِبُ مَرَّاكُشُ.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tourism industry (website vocabulary (1 of 2)). Hear → Say → See → Use. Transliteration is printed for Core students (cover it for Develop/Stretch).
FLEX: teach if time allows; otherwise these are on the website vocabulary tab for homework.
The tourism industry: words for the economics of travel — useful for the next lesson on sustainable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tourism industry (website vocabulary (2 of 2)). Hear → Say → See → Use. Transliteration is printed for Core students (cover it for Develop/Stretch).
FLEX: teach if time allows; otherwise these are on the website vocabulary tab for homework.
The tourism industry: words for the economics of travel — useful for the next lesson on sustainable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“Attracting and dazzling” and “Distinguished by, famous for”, the website table and teaching point 1. Row 5 (يَزْخَرُ بِـ = is rich in, teems with) is from the website sorter and live builder.
Website mistakes 1–3: تَسْتَقْطِبُ … بِمَلَايِينِ ✗ · تَتَمَيَّزُ … أَزِقَّتَهَا ✗ · تُبْهِرُ … بِزُوَّارِهَا ✗.
Careful: يُبْهِرُ CAN be followed by bi- for the MEANS (تُبْهِرُ زُوَّارَهَا بِأَلْوَانِ المَدَابِغِ = dazzles its visitors WITH the colours) — the person dazzled is always the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drawn from the website texts: تَسْتَقْطِبُ مَرَّاكُشُ (pattern 1) · تُبْهِرُ البَتْرَاءُ (rule 1) · تَسْتَقْطِبُ الأَهْرَامُ (mistake 1) · المَغْرِبُ / الأُرْدُنُّ.
Most city names are feminine. Countries with al- are usually masculine (المَغْرِبُ · الأُرْدُنُّ · العِرَاقُ); مِصْرُ is feminine.
Diptote place names (مَمْنُوعٌ مِنَ الصَّرْفِ): فَاسُ · مَرَّاكُشُ · مِصْرُ · مَكَّةُ — no tanwīn; after a preposition they take -a: فِي مَرَّاكُشَ · مِنْ مِصْرَ.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“General vs experience” and “Recommend with a conditional”, teaching point “Match the tense to the purpose”.
Card 3: when the result of idhā is NOT a sa- verb (لَا بُدَّ مِنْ · a command · a nominal sentence), it takes fa-: فَلَا بُدَّ مِنْ زِيَارَةِ … · فَزُرْ … · فَهِيَ تَجْرِبَةٌ فَرِيدَةٌ.
لَا بُدَّ مِنْ + verbal noun in the genitive: لَا بُدَّ مِنْ زِيَارَةِ / قَضَاءِ / تَجْرِبَةِ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reading (Petra) and writing model (Fez): min + afʿal + plural (مِنْ أَعْرَقِ المُدُنِ · مِنْ أَشْهَرِ الوِجْهَاتِ — P3-L01), the passive اخْتِيرَتْ (was chosen), a relative clause, sensory detail and a memorable close.
Accuracy: Petra was named one of the New Seven Wonders of the World in 2007; al-Qarawiyyīn (Fez, 859 CE) is often described as the oldest university still operating.
Stretch: write one sentence with each tool about a destination of your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tourism verbs with their complements, and how the register shifts between present, past and a conditional recommendation.”
• Attracting and dazzling: Both take a direct object.
• Distinguished by, famous for: Both are fixed with بِـ.
• General vs experience: Describe generally in the present, your visit in the past.
• Recommend with a conditional: Close a profile with a Type 1 recommendation.
Website common error: Adding بِـ after يَسْتَقْطِبُ / يُبْهِرُ (they take a direct object) or dropping بِـ after يَتَمَيَّزُ / يَشْتَهِرُ.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“Big picture in the present: tuʿaddu … min aʿraqi. Fez is a city → ta-: tastaqṭibu. Features need BI-. Now my visit — switch to the past: zurtu, adraktu anna-hu. Close with a recommendation: idhā zurta … FA-lā budda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Arabic-Speaking Destinations — Culture, Geography and Tourism”)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to magazine register: يَزُورُ السُّيَّاحُ المَعَالِمَ → تَسْتَقْطِبُ المَعَالِمُ التَّارِيخِيَّةُ آلَافَ الزُّوَّارِ · تَشْتَهِرُ المِنْطَقَةُ بِالشَّوَاطِئِ → تَتَمَيَّزُ المِنْطَقَةُ بِشَوَاطِئِهَا الذَّهَبِيَّةِ · يُجَرِّبُ السَّائِحُ الطَّعَامَ → لَا بُدَّ مِنْ تَجْرِبَةِ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Arabic-Speaking Destinations — Culture, Geography and Tourism”)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to magazine register: يَزُورُ السُّيَّاحُ المَعَالِمَ → تَسْتَقْطِبُ المَعَالِمُ التَّارِيخِيَّةُ آلَافَ الزُّوَّارِ · تَشْتَهِرُ المِنْطَقَةُ بِالشَّوَاطِئِ → تَتَمَيَّزُ المِنْطَقَةُ بِشَوَاطِئِهَا الذَّهَبِيَّةِ · يُجَرِّبُ السَّائِحُ الطَّعَامَ → لَا بُدَّ مِنْ تَجْرِبَةِ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destination profile from an attraction, a distinguishing feature and a recommendation.” Website feedback: any three different combinations work.
Core: read row 1 across. Develop: replace المَدِينَةُ with فَاسُ / مَرَّاكُشُ / البَتْرَاءُ and check the agreement. Stretch: change column 3 row 2 to a real country (إِذَا زُرْتَ الأُرْدُنَّ، فَلَا بُدَّ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card from each column in a sentence about a real destination: تَسْتَقْطِبُ … · تَشْتَهِرُ بِـ … · إِذَا زُرْتَ …، فَلَا بُدَّ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card from each column in a sentence about a real destination: تَسْتَقْطِبُ … · تَشْتَهِرُ بِـ … · إِذَا زُرْتَ …، فَلَا بُدَّ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note which sentences are present (description) and which are past (the visit).
Listen 1: just listen. Listen 2: note answers. Then chat the letters.
Support: after the second listening, show the read-along slide (Arabic + English, line by line) for Core students.
SCRIPT (read aloud):
تُعَدُّ مَدِينَةُ فَاسَ المَغْرِبِيَّةُ مِنْ أَعْرَقِ المُدُنِ العَرَبِيَّةِ. تَسْتَقْطِبُ آلَافَ السُّيَّاحِ سَنَوِيًّا بِتُرَاثِهَا المِعْمَارِيِّ الأَصِيلِ وَأَسْوَاقِهَا الحَيَّةِ. تَتَمَيَّزُ المَدِينَةُ القَدِيمَةُ بِأَزِقَّتِهَا الضَّيِّقَةِ، وَتَشْتَهِرُ بِأَقْدَمِ جَامِعَةٍ فِي العَالَمِ، جَامِعَةِ القَرَوِيِّينَ. تُبْهِرُ زُوَّارَهَا بِأَلْوَانِ المَدَابِغِ الشَّهِيرَةِ. زُرْتُ فَاسَ قَبْلَ عَامَيْنِ، وَأَدْرَكْتُ أَنَّهُ لَا شَيْءَ يُمْكِنُهُ أَنْ يُعَوِّضَ تَجْرِبَةَ التَّجَوُّلِ فِيهَا. وَأَشَارَ الدَّلِيلُ السِّيَاحِيُّ إِلَى أَنَّ أَفْضَلَ مَوْسِمٍ لِلزِّيَارَةِ هُوَ الرَّبِيعُ. إِذَا زُرْتَ المَغْرِبَ، فَلَا بُدَّ مِنْ زِيَارَةِ فَاسَ.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 تَنْصَحُ الزَّائِرَ؟ (Recommendation)
B: زُرْتُهَا وَأَبْهَرَتْنِي، وَإِذَا زُرْتَ المَغْرِبَ، فَلَا بُدَّ مِنْ زِيَارَةِ فَاسَ. (Past visit plus Type 1 recommendation)
Website prompts and model. Pair task: “tourism ambassador” — each student promotes a destination for 30 seconds; the partner checks yastaqṭib + object and yashtahir + bi-. To a girl: صِفِي · مُسْتَعْمِلَةً · احْكِي · قُمْتِ · انْصَحِي.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destination sentences using the tourism verbs with correct complements. · Develop — Add a past visit sentence and a present general description. · Stretch — Write a full magazine profile with a reported recommendation and a Type 1 close.
Website writing task (Stretch): Write a travel-magazine destination profile of one hundred to one hundred and ten words for an Arab city or site. Use يَسْتَقْطِبُ، يَتَمَيَّزُ بِـ، يَشْتَهِرُ بِـ and يُبْهِرُ, move from a present description to a past visit, and close with a Type 1 recommendation.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تُعَدُّ … مِنْ أَعْرَقِ · تَسْتَقْطِبُ آلَافَ السُّيَّاحِ · تَتَمَيَّزُ … بِأَزِقَّتِهَا · تَشْتَهِرُ بِأَقْدَمِ · تُبْهِرُ زُوَّارَهَا · زُرْتُ … وَأَدْرَكْتُ أَنَّهُ · أَشَارَ الدَّلِيلُ إِلَى أَنَّ · إِذَا زُرْتَ …، فَلَا بُدَّ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(P3-L05 · Sustainable Tourism — The Ethics and Impact of Travel) will spend class time USING this language, so students prepare it tonight — short, simple, easy to access (school guidance: “Simple, Short, Interesting, Relevant, Easy to access”). The five words come from the website P3-L05 vocabulary (sustainable tourism).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P3  ·  P3-L04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P3-L04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Arabic-Speaking Destinations — Culture, Geography and Tourism</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وِجْهَاتُ النَّاطِقِينَ بِالعَرَبِيَّةِ — الثَّقَافَةُ وَالسِّيَاحَةُ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Write about Arab destinations in travel-magazine register: yastaqṭib and yubhir with a direct object, yatamayyaz bi- and yashtahir bi-, the present for description and the past for your visit — then recommend with idhā zurta … fa-lā budda min.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P3-L04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P3 › P3-L04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ea typeface="Calibri" pitchFamily="34" charset="-122"/>
                <a:cs typeface="Calibri" pitchFamily="34" charset="-120"/>
              </a:rPr>
              <a:t>Tourism verbs + complements, place-name agreement, tense by purpose, magazine register.</a:t>
            </a:r>
            <a:endParaRPr lang="en-US" sz="11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tourism pictures, build a destination profile, sort the complements.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P3-L05.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وِجْهَةٌ سِيَاحِيَّةٌ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tourist guide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tourist destination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souvenir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مَعْلَمٌ تُرَاثِيٌّ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heritage landmark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museum guide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hotel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يَسْتَقْطِبُ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famous for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amazes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attracts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لَمْ أُسَافِرْ،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فَهِمْتُ الثَّقَافَةَ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سَمَا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reaction.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فَاقَ المَكَانُ تَوَقُّعَاتِي.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فَاقَ المَكَانُ عَلَى تَوَقُّعَاتِي.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فَاقَ المَكَانُ بِتَوَقُّعَاتِي.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وِجْهَةٌ سِيَاحِيَّةٌ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tourist guide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tourist destination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souvenir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مَعْلَمٌ تُرَاثِيٌّ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heritage landmark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museum guide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hotel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يَسْتَقْطِبُ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famous for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amazes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attracts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لَمْ أُسَافِرْ،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فَهِمْتُ الثَّقَافَةَ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سَمَا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P3-L03: law lam … lamā.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reaction.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فَاقَ المَكَانُ تَوَقُّعَاتِي.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فَاقَ المَكَانُ عَلَى تَوَقُّعَاتِي.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فَاقَ المَكَانُ بِتَوَقُّعَاتِي.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P3-L03: fāqa + direct object.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Two verbs take a direct object, two take bi-. Learn each with its partner.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تَسْتَقْطِبُ السُّيَّاحَ</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تُبْهِرُ زُوَّارَهَا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تَتَمَيَّزُ 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تَشْتَهِرُ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destination, heritage and tourism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yastaqṭib, yubhir and yastaḥiqq al-ziyāra to say what makes a place special.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Move between the present (description), the past (a visit) and a Type 1 recommendation.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travel-magazine destination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destination and heritage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yastaqṭib / yubhir with an object.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yatamayyaz bi- and yashtahir bi-.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in the present and narrate a visit in the past.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recommend with idhā … fa-lā budda min.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magazine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Destinations and heritage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Tourism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tourism industry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سَائِحٌ · سِيَاحَةٌ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‎سیاح · سیاحت‎ </a:t>
            </a:r>
            <a:pPr indent="0" marL="0">
              <a:buNone/>
            </a:pPr>
            <a:r>
              <a:rPr lang="en-US" sz="950" b="1" dirty="0">
                <a:solidFill>
                  <a:srgbClr val="2E8B57"/>
                </a:solidFill>
                <a:latin typeface="Calibri" pitchFamily="34" charset="0"/>
                <a:ea typeface="Calibri" pitchFamily="34" charset="-122"/>
                <a:cs typeface="Calibri" pitchFamily="34" charset="-120"/>
              </a:rPr>
              <a:t> sayyāh · siyāhat · a tourist · tourism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يَشْتَهِرُ · مَشْهُورٌ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‎مشہور‎ </a:t>
            </a:r>
            <a:pPr indent="0" marL="0">
              <a:buNone/>
            </a:pPr>
            <a:r>
              <a:rPr lang="en-US" sz="950" b="1" dirty="0">
                <a:solidFill>
                  <a:srgbClr val="2E8B57"/>
                </a:solidFill>
                <a:latin typeface="Calibri" pitchFamily="34" charset="0"/>
                <a:ea typeface="Calibri" pitchFamily="34" charset="-122"/>
                <a:cs typeface="Calibri" pitchFamily="34" charset="-120"/>
              </a:rPr>
              <a:t> mashhūr · is famous · famous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يَتَمَيَّزُ · مُمْتَازٌ</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‎ممتاز‎ </a:t>
            </a:r>
            <a:pPr indent="0" marL="0">
              <a:buNone/>
            </a:pPr>
            <a:r>
              <a:rPr lang="en-US" sz="950" b="1" dirty="0">
                <a:solidFill>
                  <a:srgbClr val="2E8B57"/>
                </a:solidFill>
                <a:latin typeface="Calibri" pitchFamily="34" charset="0"/>
                <a:ea typeface="Calibri" pitchFamily="34" charset="-122"/>
                <a:cs typeface="Calibri" pitchFamily="34" charset="-120"/>
              </a:rPr>
              <a:t> mumtāz · stands out · distinguished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آثَارٌ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‎آثار‎ </a:t>
            </a:r>
            <a:pPr indent="0" marL="0">
              <a:buNone/>
            </a:pPr>
            <a:r>
              <a:rPr lang="en-US" sz="950" b="1" dirty="0">
                <a:solidFill>
                  <a:srgbClr val="2E8B57"/>
                </a:solidFill>
                <a:latin typeface="Calibri" pitchFamily="34" charset="0"/>
                <a:ea typeface="Calibri" pitchFamily="34" charset="-122"/>
                <a:cs typeface="Calibri" pitchFamily="34" charset="-120"/>
              </a:rPr>
              <a:t> āsār · remains, ruins (آثارِ قدیمہ)</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عَجَائِبُ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‎عجائب‎ </a:t>
            </a:r>
            <a:pPr indent="0" marL="0">
              <a:buNone/>
            </a:pPr>
            <a:r>
              <a:rPr lang="en-US" sz="950" b="1" dirty="0">
                <a:solidFill>
                  <a:srgbClr val="2E8B57"/>
                </a:solidFill>
                <a:latin typeface="Calibri" pitchFamily="34" charset="0"/>
                <a:ea typeface="Calibri" pitchFamily="34" charset="-122"/>
                <a:cs typeface="Calibri" pitchFamily="34" charset="-120"/>
              </a:rPr>
              <a:t> ajāib · wonders (عجائب گھر = museum!)</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Destinations and heritage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وِجْهَةٌ سِيَاحِيَّةٌ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tourist destination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wij-ha-tun si-yā-ḥiy-ya-tun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وِجْهَاتٌ سِيَاحِيَّةٌ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مَعْلَمٌ تُرَاثِيٌّ</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heritage landmark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maʿ-la-mun tu-rā-thiy-yun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مَعَالِمُ تُرَاثِيَّةٌ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 لِلتُّرَاثِ العَالَمِيِّ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world heritage 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maw-qi-ʿun lilt-tu-rā-thi al-ʿā-la-miy-yi</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مَوَاقِعُ لِلتُّرَاثِ العَالَمِيِّ</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مَدِينَةٌ قَدِيمَةٌ</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old city, a medina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ma-dī-na-tun qa-dī-ma-tun</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مُدُنٌ قَدِيمَةٌ</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Destinations and heritage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سُوقٌ شَعْبِيٌّ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traditional souk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sū-qun shaʿ-biy-yun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أَسْوَاقٌ شَعْبِيَّةٌ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آثَارٌ</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archaeological sites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ā-thā-run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أَثَرٌ</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مَنْطِقَةٌ طَبِيعِيَّةٌ مَحْمِيَّةٌ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nature reserve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man-ṭi-qa-tun ṭa-bī-ʿiy-ya-tun maḥ-miy-ya-tun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مَنَاطِقُ طَبِيعِيَّةٌ مَحْمِيَّةٌ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مَتْحَفٌ وَطَنِيٌّ</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national museum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mat-ḥa-fun wa-ṭa-niy-yun</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مَتَاحِفُ وَطَنِيَّةٌ</a:t>
            </a:r>
            <a:endParaRPr lang="ar-SA" sz="15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Tourism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يَسْتَقْطِبُ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attracts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yas-taq-ṭi-bu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تَسْتَقْطِبُ</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يُبْهِرُ</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amazes, dazzles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yub-hi-ru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تُبْهِرُ</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يَسْتَحِقُّ الزِّيَارَةَ</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worth visiting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yas-ta-ḥiq-qu az-zi-yā-ra-ta</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يَتَمَيَّزُ بِـ</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ya-ta-may-ya-zu bi</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5" name="Text 52"/>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تَتَمَيَّزُ بِـ</a:t>
            </a:r>
            <a:endParaRPr lang="ar-SA"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Tourism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يَشْتَهِرُ بِـ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famous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yash-ta-hi-ru bi</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تَشْتَهِرُ بِـ</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 مِنْ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considered among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yu-ʿad-du min</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0" name="Text 37"/>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تُعَدُّ مِنْ</a:t>
            </a:r>
            <a:endParaRPr lang="ar-SA" sz="135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بُدَّ مِنْ زِيَارَةِ</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must-visit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bud-da min zi-yā-ra-ti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تَجْرِبَةٌ فَرِيدَةٌ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unique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taj-ri-ba-tun fa-rī-da-tun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tourism industry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مَوْسِمُ السِّيَاحَةِ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tourist season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maw-si-mu as-si-yā-ḥa-ti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 سِيَاحِيٌّ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tourist guide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 si-yā-ḥiy-yun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مُنْشَآتُ إِيوَاءٍ</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accommodation facilities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mun-sha-ʾā-tu ī-wā-ʾin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بُنْيَةُ الضِّيَافَةِ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hospitality infrastructure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bun-ya-tu aḍ-ḍi-yā-fa-ti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tourism industry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السِّيَاحَةُ المُسْتَدَامَةُ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sustainable tourism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as-si-yā-ḥa-tu al-mus-ta-dā-ma-tu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تَكَالِيفُ المَعِيشَةِ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cost of living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ta-kā-lī-fu al-ma-ʿī-sha-ti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نِدَاءُ المُغَامَرَةِ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call of adventure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ni-dā-ʾu al-mu-ghā-ma-ra-ti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زُوَّارٌ</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visitors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zuw-wā-run</a:t>
            </a:r>
            <a:endParaRPr lang="en-US" sz="1350" dirty="0"/>
          </a:p>
        </p:txBody>
      </p:sp>
      <p:sp>
        <p:nvSpPr>
          <p:cNvPr id="39" name="Shape 3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زَائِرَةٌ</a:t>
            </a:r>
            <a:endParaRPr lang="ar-SA" sz="1500" dirty="0"/>
          </a:p>
        </p:txBody>
      </p:sp>
      <p:sp>
        <p:nvSpPr>
          <p:cNvPr id="42" name="Shape 3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 sg.</a:t>
            </a:r>
            <a:endParaRPr lang="en-US" sz="700" dirty="0"/>
          </a:p>
        </p:txBody>
      </p:sp>
      <p:sp>
        <p:nvSpPr>
          <p:cNvPr id="44" name="Text 4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زَائِرٌ</a:t>
            </a:r>
            <a:endParaRPr lang="ar-SA"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TOURISM VERBS AND THEIR COMPLEMENTS (WEBSITE RULES 1–2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 — or bi-?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وَمُتَمِّمُهُ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5595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37307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a:t>
            </a:r>
            <a:endParaRPr lang="en-US" sz="1100" dirty="0"/>
          </a:p>
        </p:txBody>
      </p:sp>
      <p:sp>
        <p:nvSpPr>
          <p:cNvPr id="18" name="Text 15"/>
          <p:cNvSpPr txBox="1"/>
          <p:nvPr/>
        </p:nvSpPr>
        <p:spPr>
          <a:xfrm>
            <a:off x="254203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577840" y="2267712"/>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تَسْتَقْطِبُ مَرَّاكُشُ </a:t>
            </a:r>
            <a:pPr rtl="1" algn="ctr" indent="0" marL="0">
              <a:buNone/>
            </a:pPr>
            <a:r>
              <a:rPr lang="ar-SA" altLang="en-US" sz="1900" b="1" dirty="0">
                <a:solidFill>
                  <a:srgbClr val="1D5FBF"/>
                </a:solidFill>
                <a:latin typeface="Amiri" pitchFamily="34" charset="0"/>
                <a:ea typeface="Amiri" pitchFamily="34" charset="-122"/>
                <a:cs typeface="Amiri" pitchFamily="34" charset="-120"/>
              </a:rPr>
              <a:t>مَلَايِينَ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السُّيَّاحِ سَنَوِيًّا.</a:t>
            </a:r>
            <a:endParaRPr lang="ar-SA" sz="1900" dirty="0"/>
          </a:p>
        </p:txBody>
      </p:sp>
      <p:sp>
        <p:nvSpPr>
          <p:cNvPr id="22" name="Text 19"/>
          <p:cNvSpPr txBox="1"/>
          <p:nvPr/>
        </p:nvSpPr>
        <p:spPr>
          <a:xfrm>
            <a:off x="37673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23" name="Text 20"/>
          <p:cNvSpPr txBox="1"/>
          <p:nvPr/>
        </p:nvSpPr>
        <p:spPr>
          <a:xfrm>
            <a:off x="2578608" y="2267712"/>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X</a:t>
            </a:r>
            <a:endParaRPr lang="en-US" sz="1100" dirty="0"/>
          </a:p>
        </p:txBody>
      </p:sp>
      <p:sp>
        <p:nvSpPr>
          <p:cNvPr id="24" name="Text 21"/>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يَسْتَقْطِبُ</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577840" y="3004718"/>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تُبْهِرُ البَتْرَاءُ </a:t>
            </a:r>
            <a:pPr rtl="1" algn="ctr" indent="0" marL="0">
              <a:buNone/>
            </a:pPr>
            <a:r>
              <a:rPr lang="ar-SA" altLang="en-US" sz="1900" b="1" dirty="0">
                <a:solidFill>
                  <a:srgbClr val="1D5FBF"/>
                </a:solidFill>
                <a:latin typeface="Amiri" pitchFamily="34" charset="0"/>
                <a:ea typeface="Amiri" pitchFamily="34" charset="-122"/>
                <a:cs typeface="Amiri" pitchFamily="34" charset="-120"/>
              </a:rPr>
              <a:t>زُوَّارَهَا</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29" name="Text 26"/>
          <p:cNvSpPr txBox="1"/>
          <p:nvPr/>
        </p:nvSpPr>
        <p:spPr>
          <a:xfrm>
            <a:off x="37673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30" name="Text 27"/>
          <p:cNvSpPr txBox="1"/>
          <p:nvPr/>
        </p:nvSpPr>
        <p:spPr>
          <a:xfrm>
            <a:off x="2578608" y="3004718"/>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IV</a:t>
            </a:r>
            <a:endParaRPr lang="en-US" sz="1100" dirty="0"/>
          </a:p>
        </p:txBody>
      </p:sp>
      <p:sp>
        <p:nvSpPr>
          <p:cNvPr id="31" name="Text 28"/>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يُبْهِرُ</a:t>
            </a:r>
            <a:endParaRPr lang="ar-SA" sz="22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577840" y="3741725"/>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تَتَمَيَّزُ فَاسُ </a:t>
            </a:r>
            <a:pPr rtl="1" algn="ctr" indent="0" marL="0">
              <a:buNone/>
            </a:pPr>
            <a:r>
              <a:rPr lang="ar-SA" altLang="en-US" sz="1900" b="1" dirty="0">
                <a:solidFill>
                  <a:srgbClr val="0E7C86"/>
                </a:solidFill>
                <a:latin typeface="Amiri" pitchFamily="34" charset="0"/>
                <a:ea typeface="Amiri" pitchFamily="34" charset="-122"/>
                <a:cs typeface="Amiri" pitchFamily="34" charset="-120"/>
              </a:rPr>
              <a:t>بِأَزِقَّتِهَا</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الضَّيِّقَةِ.</a:t>
            </a:r>
            <a:endParaRPr lang="ar-SA" sz="1900" dirty="0"/>
          </a:p>
        </p:txBody>
      </p:sp>
      <p:sp>
        <p:nvSpPr>
          <p:cNvPr id="36" name="Text 33"/>
          <p:cNvSpPr txBox="1"/>
          <p:nvPr/>
        </p:nvSpPr>
        <p:spPr>
          <a:xfrm>
            <a:off x="37673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37" name="Text 34"/>
          <p:cNvSpPr txBox="1"/>
          <p:nvPr/>
        </p:nvSpPr>
        <p:spPr>
          <a:xfrm>
            <a:off x="2578608" y="3741725"/>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a:t>
            </a:r>
            <a:endParaRPr lang="en-US" sz="1100" dirty="0"/>
          </a:p>
        </p:txBody>
      </p:sp>
      <p:sp>
        <p:nvSpPr>
          <p:cNvPr id="38" name="Text 35"/>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يَتَمَيَّزُ</a:t>
            </a:r>
            <a:endParaRPr lang="ar-SA" sz="22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5577840" y="4478731"/>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تَشْتَهِرُ </a:t>
            </a:r>
            <a:pPr rtl="1" algn="ctr" indent="0" marL="0">
              <a:buNone/>
            </a:pPr>
            <a:r>
              <a:rPr lang="ar-SA" altLang="en-US" sz="1900" b="1" dirty="0">
                <a:solidFill>
                  <a:srgbClr val="0E7C86"/>
                </a:solidFill>
                <a:latin typeface="Amiri" pitchFamily="34" charset="0"/>
                <a:ea typeface="Amiri" pitchFamily="34" charset="-122"/>
                <a:cs typeface="Amiri" pitchFamily="34" charset="-120"/>
              </a:rPr>
              <a:t>بِأَقْدَمِ</a:t>
            </a:r>
            <a:pPr rtl="1" algn="ctr" indent="0" marL="0">
              <a:buNone/>
            </a:pPr>
            <a:r>
              <a:rPr lang="ar-SA" altLang="en-US" sz="1900" b="1" dirty="0">
                <a:solidFill>
                  <a:srgbClr val="1B3B6F"/>
                </a:solidFill>
                <a:latin typeface="Amiri" pitchFamily="34" charset="0"/>
                <a:ea typeface="Amiri" pitchFamily="34" charset="-122"/>
                <a:cs typeface="Amiri" pitchFamily="34" charset="-120"/>
              </a:rPr>
              <a:t> جَامِعَةٍ فِي العَالَمِ.</a:t>
            </a:r>
            <a:endParaRPr lang="ar-SA" sz="1900" dirty="0"/>
          </a:p>
        </p:txBody>
      </p:sp>
      <p:sp>
        <p:nvSpPr>
          <p:cNvPr id="43" name="Text 40"/>
          <p:cNvSpPr txBox="1"/>
          <p:nvPr/>
        </p:nvSpPr>
        <p:spPr>
          <a:xfrm>
            <a:off x="37673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44" name="Text 41"/>
          <p:cNvSpPr txBox="1"/>
          <p:nvPr/>
        </p:nvSpPr>
        <p:spPr>
          <a:xfrm>
            <a:off x="2578608" y="4478731"/>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VIII</a:t>
            </a:r>
            <a:endParaRPr lang="en-US" sz="1100" dirty="0"/>
          </a:p>
        </p:txBody>
      </p:sp>
      <p:sp>
        <p:nvSpPr>
          <p:cNvPr id="45" name="Text 42"/>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يَشْتَهِرُ</a:t>
            </a:r>
            <a:endParaRPr lang="ar-SA" sz="22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5577840" y="5215738"/>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تَزْخَرُ المَدِينَةُ </a:t>
            </a:r>
            <a:pPr rtl="1" algn="ctr" indent="0" marL="0">
              <a:buNone/>
            </a:pPr>
            <a:r>
              <a:rPr lang="ar-SA" altLang="en-US" sz="1900" b="1" dirty="0">
                <a:solidFill>
                  <a:srgbClr val="7B3FA0"/>
                </a:solidFill>
                <a:latin typeface="Amiri" pitchFamily="34" charset="0"/>
                <a:ea typeface="Amiri" pitchFamily="34" charset="-122"/>
                <a:cs typeface="Amiri" pitchFamily="34" charset="-120"/>
              </a:rPr>
              <a:t>بِالمَعَالِمِ</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التُّرَاثِيَّةِ.</a:t>
            </a:r>
            <a:endParaRPr lang="ar-SA" sz="1900" dirty="0"/>
          </a:p>
        </p:txBody>
      </p:sp>
      <p:sp>
        <p:nvSpPr>
          <p:cNvPr id="50" name="Text 47"/>
          <p:cNvSpPr txBox="1"/>
          <p:nvPr/>
        </p:nvSpPr>
        <p:spPr>
          <a:xfrm>
            <a:off x="37673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51" name="Text 48"/>
          <p:cNvSpPr txBox="1"/>
          <p:nvPr/>
        </p:nvSpPr>
        <p:spPr>
          <a:xfrm>
            <a:off x="2578608" y="5215738"/>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52" name="Text 49"/>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يَزْخَرُ</a:t>
            </a:r>
            <a:endParaRPr lang="ar-SA" sz="22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bi- after yastaqṭib / yubhir ✗ — or no bi- after yatamayyaz / yashtahir ✗.</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AGREEMENT WITH PLACE NAMES (WEBSITE LISTENING, READING AND PATTERNS)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Fez attracts — she attracts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مُطَابَقَةُ أَسْمَاءِ الأَمَاكِنِ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491947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8" name="Text 15"/>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Treated as</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Place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076688" y="2267712"/>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tanwīn</a:t>
            </a:r>
            <a:endParaRPr lang="en-US" sz="1100" dirty="0"/>
          </a:p>
        </p:txBody>
      </p:sp>
      <p:sp>
        <p:nvSpPr>
          <p:cNvPr id="22" name="Text 19"/>
          <p:cNvSpPr txBox="1"/>
          <p:nvPr/>
        </p:nvSpPr>
        <p:spPr>
          <a:xfrm>
            <a:off x="4937760" y="2267712"/>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تَسْتَقْطِبُ</a:t>
            </a:r>
            <a:pPr rtl="1" algn="ctr" indent="0" marL="0">
              <a:buNone/>
            </a:pPr>
            <a:r>
              <a:rPr lang="ar-SA" altLang="en-US" sz="1900" b="1" dirty="0">
                <a:solidFill>
                  <a:srgbClr val="1B3B6F"/>
                </a:solidFill>
                <a:latin typeface="Amiri" pitchFamily="34" charset="0"/>
                <a:ea typeface="Amiri" pitchFamily="34" charset="-122"/>
                <a:cs typeface="Amiri" pitchFamily="34" charset="-120"/>
              </a:rPr>
              <a:t> مَرَّاكُشُ مَلَايِينَ السُّيَّاحِ.</a:t>
            </a:r>
            <a:endParaRPr lang="ar-SA" sz="1900" dirty="0"/>
          </a:p>
        </p:txBody>
      </p:sp>
      <p:sp>
        <p:nvSpPr>
          <p:cNvPr id="23" name="Text 20"/>
          <p:cNvSpPr txBox="1"/>
          <p:nvPr/>
        </p:nvSpPr>
        <p:spPr>
          <a:xfrm>
            <a:off x="276148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Fez · Marrakesh (cities)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076688" y="300471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 + f.</a:t>
            </a:r>
            <a:endParaRPr lang="en-US" sz="1100" dirty="0"/>
          </a:p>
        </p:txBody>
      </p:sp>
      <p:sp>
        <p:nvSpPr>
          <p:cNvPr id="29" name="Text 26"/>
          <p:cNvSpPr txBox="1"/>
          <p:nvPr/>
        </p:nvSpPr>
        <p:spPr>
          <a:xfrm>
            <a:off x="4937760" y="3004718"/>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تُبْهِرُ</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البَتْرَاءُ زُوَّارَهَا.</a:t>
            </a:r>
            <a:endParaRPr lang="ar-SA" sz="1900" dirty="0"/>
          </a:p>
        </p:txBody>
      </p:sp>
      <p:sp>
        <p:nvSpPr>
          <p:cNvPr id="30" name="Text 27"/>
          <p:cNvSpPr txBox="1"/>
          <p:nvPr/>
        </p:nvSpPr>
        <p:spPr>
          <a:xfrm>
            <a:off x="276148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Petra</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076688" y="3741725"/>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 pl.</a:t>
            </a:r>
            <a:endParaRPr lang="en-US" sz="1100" dirty="0"/>
          </a:p>
        </p:txBody>
      </p:sp>
      <p:sp>
        <p:nvSpPr>
          <p:cNvPr id="36" name="Text 33"/>
          <p:cNvSpPr txBox="1"/>
          <p:nvPr/>
        </p:nvSpPr>
        <p:spPr>
          <a:xfrm>
            <a:off x="4937760" y="3741725"/>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تَسْتَقْطِبُ</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الأَهْرَامُ مَلَايِينَ السُّيَّاحِ.</a:t>
            </a:r>
            <a:endParaRPr lang="ar-SA" sz="1900" dirty="0"/>
          </a:p>
        </p:txBody>
      </p:sp>
      <p:sp>
        <p:nvSpPr>
          <p:cNvPr id="37" name="Text 34"/>
          <p:cNvSpPr txBox="1"/>
          <p:nvPr/>
        </p:nvSpPr>
        <p:spPr>
          <a:xfrm>
            <a:off x="276148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pyramids (pl.)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076688" y="4478731"/>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countries with al-</a:t>
            </a:r>
            <a:endParaRPr lang="en-US" sz="1100" dirty="0"/>
          </a:p>
        </p:txBody>
      </p:sp>
      <p:sp>
        <p:nvSpPr>
          <p:cNvPr id="41" name="Text 38"/>
          <p:cNvSpPr txBox="1"/>
          <p:nvPr/>
        </p:nvSpPr>
        <p:spPr>
          <a:xfrm>
            <a:off x="4937760" y="4478731"/>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يَسْتَقْطِبُ</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المَغْرِبُ السُّيَّاحَ.</a:t>
            </a:r>
            <a:endParaRPr lang="ar-SA" sz="1900" dirty="0"/>
          </a:p>
        </p:txBody>
      </p:sp>
      <p:sp>
        <p:nvSpPr>
          <p:cNvPr id="42" name="Text 39"/>
          <p:cNvSpPr txBox="1"/>
          <p:nvPr/>
        </p:nvSpPr>
        <p:spPr>
          <a:xfrm>
            <a:off x="276148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Morocco · Jordan</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076688" y="521573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tanwīn</a:t>
            </a:r>
            <a:endParaRPr lang="en-US" sz="1100" dirty="0"/>
          </a:p>
        </p:txBody>
      </p:sp>
      <p:sp>
        <p:nvSpPr>
          <p:cNvPr id="46" name="Text 43"/>
          <p:cNvSpPr txBox="1"/>
          <p:nvPr/>
        </p:nvSpPr>
        <p:spPr>
          <a:xfrm>
            <a:off x="4937760" y="5215738"/>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تَتَمَيَّزُ</a:t>
            </a:r>
            <a:pPr rtl="1" algn="ctr" indent="0" marL="0">
              <a:buNone/>
            </a:pPr>
            <a:r>
              <a:rPr lang="ar-SA" altLang="en-US" sz="1900" b="1" dirty="0">
                <a:solidFill>
                  <a:srgbClr val="1B3B6F"/>
                </a:solidFill>
                <a:latin typeface="Amiri" pitchFamily="34" charset="0"/>
                <a:ea typeface="Amiri" pitchFamily="34" charset="-122"/>
                <a:cs typeface="Amiri" pitchFamily="34" charset="-120"/>
              </a:rPr>
              <a:t> مِصْرُ بِآثَارِهَا.</a:t>
            </a:r>
            <a:endParaRPr lang="ar-SA" sz="1900" dirty="0"/>
          </a:p>
        </p:txBody>
      </p:sp>
      <p:sp>
        <p:nvSpPr>
          <p:cNvPr id="47" name="Text 44"/>
          <p:cNvSpPr txBox="1"/>
          <p:nvPr/>
        </p:nvSpPr>
        <p:spPr>
          <a:xfrm>
            <a:off x="276148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48" name="Text 45"/>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Egypt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Diptotes: zurtu fāsa · fī marrākusha · min miṣra — no tanwīn, and -a for the genitive.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MATCH THE TENSE TO THE PURPOSE (WEBSITE RULES 3–4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Describe · remember · recommend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الوَصْفُ · التَّجْرِبَةُ · التَّوْصِيَةُ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888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PRESENT · DESCRIBE · CORE</a:t>
            </a:r>
            <a:endParaRPr lang="en-US" sz="850" dirty="0"/>
          </a:p>
        </p:txBody>
      </p:sp>
      <p:sp>
        <p:nvSpPr>
          <p:cNvPr id="18" name="Text 15"/>
          <p:cNvSpPr txBox="1"/>
          <p:nvPr/>
        </p:nvSpPr>
        <p:spPr>
          <a:xfrm>
            <a:off x="10267188"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تُعَدُّ …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تُعَدُّ فَاسُ مِنْ أَعْرَقِ المُدُنِ العَرَبِيَّةِ.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Fez is considered one of the most ancient Arab cities.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General truth.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259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PAST · YOUR VISIT · DEVELOP</a:t>
            </a:r>
            <a:endParaRPr lang="en-US" sz="850" dirty="0"/>
          </a:p>
        </p:txBody>
      </p:sp>
      <p:sp>
        <p:nvSpPr>
          <p:cNvPr id="26" name="Text 23"/>
          <p:cNvSpPr txBox="1"/>
          <p:nvPr/>
        </p:nvSpPr>
        <p:spPr>
          <a:xfrm>
            <a:off x="6585204" y="1874520"/>
            <a:ext cx="11902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زُرْتُ … أَدْرَكْتُ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زُرْتُ فَاسَ قَبْلَ عَامَيْنِ، وَأَدْرَكْتُ سِحْرَهَا.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visited Fez two years ago and realised its magic.</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Your experience.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1 · RECOMMEND · STRETCH</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34" charset="0"/>
                <a:ea typeface="Amiri" pitchFamily="34" charset="-122"/>
                <a:cs typeface="Amiri" pitchFamily="34" charset="-120"/>
              </a:rPr>
              <a:t>إِذَا زُرْتَ … فَلَا بُدَّ</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زُرْتَ المَغْرِبَ، فَلَا بُدَّ مِنْ زِيَارَةِ فَاسَ.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visit Morocco, you must visit Fez.</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fa- before lā budda.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1: yastaqṭib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تَسْتَقْطِبُ الأَهْرَامُ مَلَايِينَ السُّيَّاحِ</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تَسْتَقْطِبُ الأَهْرَامُ بِمَلَايِينِ السُّيَّاحِ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TRAVEL-MAGAZINE REGISTER (WEBSITE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Sound like a travel magazine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أُسْلُوبُ المَجَلَّةِ السِّيَاحِيَّةِ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9077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 afʿal + pl.</a:t>
            </a:r>
            <a:endParaRPr lang="en-US" sz="1100" dirty="0"/>
          </a:p>
        </p:txBody>
      </p:sp>
      <p:sp>
        <p:nvSpPr>
          <p:cNvPr id="21" name="Text 18"/>
          <p:cNvSpPr txBox="1"/>
          <p:nvPr/>
        </p:nvSpPr>
        <p:spPr>
          <a:xfrm>
            <a:off x="2926080" y="2267712"/>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تُعَدُّ البَتْرَاءُ </a:t>
            </a:r>
            <a:pPr rtl="1" algn="ctr" indent="0" marL="0">
              <a:buNone/>
            </a:pPr>
            <a:r>
              <a:rPr lang="ar-SA" altLang="en-US" sz="1900" b="1" dirty="0">
                <a:solidFill>
                  <a:srgbClr val="C77700"/>
                </a:solidFill>
                <a:latin typeface="Amiri" pitchFamily="34" charset="0"/>
                <a:ea typeface="Amiri" pitchFamily="34" charset="-122"/>
                <a:cs typeface="Amiri" pitchFamily="34" charset="-120"/>
              </a:rPr>
              <a:t>مِنْ أَشْهَرِ</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الوِجْهَاتِ السِّيَاحِيَّةِ.</a:t>
            </a:r>
            <a:endParaRPr lang="ar-SA" sz="19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of the most …</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past</a:t>
            </a:r>
            <a:endParaRPr lang="en-US" sz="1100" dirty="0"/>
          </a:p>
        </p:txBody>
      </p:sp>
      <p:sp>
        <p:nvSpPr>
          <p:cNvPr id="27" name="Text 24"/>
          <p:cNvSpPr txBox="1"/>
          <p:nvPr/>
        </p:nvSpPr>
        <p:spPr>
          <a:xfrm>
            <a:off x="2926080" y="3004718"/>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وَقَدِ </a:t>
            </a:r>
            <a:pPr rtl="1" algn="ctr" indent="0" marL="0">
              <a:buNone/>
            </a:pPr>
            <a:r>
              <a:rPr lang="ar-SA" altLang="en-US" sz="1900" b="1" dirty="0">
                <a:solidFill>
                  <a:srgbClr val="D6336C"/>
                </a:solidFill>
                <a:latin typeface="Amiri" pitchFamily="34" charset="0"/>
                <a:ea typeface="Amiri" pitchFamily="34" charset="-122"/>
                <a:cs typeface="Amiri" pitchFamily="34" charset="-120"/>
              </a:rPr>
              <a:t>اخْتِيرَتْ</a:t>
            </a:r>
            <a:pPr rtl="1" algn="ctr" indent="0" marL="0">
              <a:buNone/>
            </a:pPr>
            <a:r>
              <a:rPr lang="ar-SA" altLang="en-US" sz="1900" b="1" dirty="0">
                <a:solidFill>
                  <a:srgbClr val="1B3B6F"/>
                </a:solidFill>
                <a:latin typeface="Amiri" pitchFamily="34" charset="0"/>
                <a:ea typeface="Amiri" pitchFamily="34" charset="-122"/>
                <a:cs typeface="Amiri" pitchFamily="34" charset="-120"/>
              </a:rPr>
              <a:t> وَاحِدَةً مِنْ عَجَائِبِ الدُّنْيَا الجَدِيدَةِ.</a:t>
            </a:r>
            <a:endParaRPr lang="ar-SA" sz="19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allatī</a:t>
            </a:r>
            <a:endParaRPr lang="en-US" sz="1100" dirty="0"/>
          </a:p>
        </p:txBody>
      </p:sp>
      <p:sp>
        <p:nvSpPr>
          <p:cNvPr id="31" name="Text 28"/>
          <p:cNvSpPr txBox="1"/>
          <p:nvPr/>
        </p:nvSpPr>
        <p:spPr>
          <a:xfrm>
            <a:off x="2926080" y="3741725"/>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تَشْتَهِرُ بِالخَزْنَةِ </a:t>
            </a:r>
            <a:pPr rtl="1" algn="ctr" indent="0" marL="0">
              <a:buNone/>
            </a:pPr>
            <a:r>
              <a:rPr lang="ar-SA" altLang="en-US" sz="1900" b="1" dirty="0">
                <a:solidFill>
                  <a:srgbClr val="7B3FA0"/>
                </a:solidFill>
                <a:latin typeface="Amiri" pitchFamily="34" charset="0"/>
                <a:ea typeface="Amiri" pitchFamily="34" charset="-122"/>
                <a:cs typeface="Amiri" pitchFamily="34" charset="-120"/>
              </a:rPr>
              <a:t>الَّتِي</a:t>
            </a:r>
            <a:pPr rtl="1" algn="ctr" indent="0" marL="0">
              <a:buNone/>
            </a:pPr>
            <a:r>
              <a:rPr lang="ar-SA" altLang="en-US" sz="1900" b="1" dirty="0">
                <a:solidFill>
                  <a:srgbClr val="1B3B6F"/>
                </a:solidFill>
                <a:latin typeface="Amiri" pitchFamily="34" charset="0"/>
                <a:ea typeface="Amiri" pitchFamily="34" charset="-122"/>
                <a:cs typeface="Amiri" pitchFamily="34" charset="-120"/>
              </a:rPr>
              <a:t> تَظْهَرُ فَجْأَةً.</a:t>
            </a:r>
            <a:endParaRPr lang="ar-SA" sz="1900" dirty="0"/>
          </a:p>
        </p:txBody>
      </p:sp>
      <p:sp>
        <p:nvSpPr>
          <p:cNvPr id="32" name="Text 29"/>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relative clause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iḍāfa</a:t>
            </a:r>
            <a:endParaRPr lang="en-US" sz="1100" dirty="0"/>
          </a:p>
        </p:txBody>
      </p:sp>
      <p:sp>
        <p:nvSpPr>
          <p:cNvPr id="35" name="Text 32"/>
          <p:cNvSpPr txBox="1"/>
          <p:nvPr/>
        </p:nvSpPr>
        <p:spPr>
          <a:xfrm>
            <a:off x="2926080" y="4478731"/>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تُبْهِرُ زُوَّارَهَا </a:t>
            </a:r>
            <a:pPr rtl="1" algn="ctr" indent="0" marL="0">
              <a:buNone/>
            </a:pPr>
            <a:r>
              <a:rPr lang="ar-SA" altLang="en-US" sz="1900" b="1" dirty="0">
                <a:solidFill>
                  <a:srgbClr val="1D5FBF"/>
                </a:solidFill>
                <a:latin typeface="Amiri" pitchFamily="34" charset="0"/>
                <a:ea typeface="Amiri" pitchFamily="34" charset="-122"/>
                <a:cs typeface="Amiri" pitchFamily="34" charset="-120"/>
              </a:rPr>
              <a:t>بِأَلْوَانِ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المَدَابِغِ </a:t>
            </a:r>
            <a:pPr rtl="1" algn="ctr" indent="0" marL="0">
              <a:buNone/>
            </a:pPr>
            <a:r>
              <a:rPr lang="ar-SA" altLang="en-US" sz="1900" b="1" dirty="0">
                <a:solidFill>
                  <a:srgbClr val="1D5FBF"/>
                </a:solidFill>
                <a:latin typeface="Amiri" pitchFamily="34" charset="0"/>
                <a:ea typeface="Amiri" pitchFamily="34" charset="-122"/>
                <a:cs typeface="Amiri" pitchFamily="34" charset="-120"/>
              </a:rPr>
              <a:t>وَرَوَائِحِ</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التَّوَابِلِ.</a:t>
            </a:r>
            <a:endParaRPr lang="ar-SA" sz="1900" dirty="0"/>
          </a:p>
        </p:txBody>
      </p:sp>
      <p:sp>
        <p:nvSpPr>
          <p:cNvPr id="36" name="Text 33"/>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senses</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fa-hiya + noun</a:t>
            </a:r>
            <a:endParaRPr lang="en-US" sz="1100" dirty="0"/>
          </a:p>
        </p:txBody>
      </p:sp>
      <p:sp>
        <p:nvSpPr>
          <p:cNvPr id="39" name="Text 36"/>
          <p:cNvSpPr txBox="1"/>
          <p:nvPr/>
        </p:nvSpPr>
        <p:spPr>
          <a:xfrm>
            <a:off x="2926080" y="5215738"/>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فَهِيَ </a:t>
            </a:r>
            <a:pPr rtl="1" algn="ctr" indent="0" marL="0">
              <a:buNone/>
            </a:pPr>
            <a:r>
              <a:rPr lang="ar-SA" altLang="en-US" sz="1900" b="1" dirty="0">
                <a:solidFill>
                  <a:srgbClr val="0E7C86"/>
                </a:solidFill>
                <a:latin typeface="Amiri" pitchFamily="34" charset="0"/>
                <a:ea typeface="Amiri" pitchFamily="34" charset="-122"/>
                <a:cs typeface="Amiri" pitchFamily="34" charset="-120"/>
              </a:rPr>
              <a:t>تَجْرِبَةٌ فَرِيدَةٌ لَا تُنْسَى</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40" name="Text 3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magazine profile moves from the big picture (yuʿaddu min ashhar …) to the senses (colours, smells) to a personal close.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Tourism verbs and travel-magazine register</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السِّيَاحَةِ وَأُسْلُوبُ المَجَلَّةِ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Attracting and dazzling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yastaqṭib / yubhir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تَسْتَقْطِبُ الأَهْرَامُ مَلَايِينَ السُّيَّاحِ   ·   تُبْهِرُ البَتْرَاءُ زُوَّارَهَا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Distinguished by, famous for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yatamayyaz bi- · yashtahir bi-</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تَتَمَيَّزُ فَاسُ بِأَزِقَّتِهَا الضَّيِّقَةِ   ·   تَشْتَهِرُ بِأَقْدَمِ جَامِعَةٍ فِي العَالَمِ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General vs experience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present (truth) · past (visit)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تُعَدُّ فَاسُ مِنْ أَعْرَقِ المُدُنِ   ·   زُرْتُ فَاسَ وَأَدْرَكْتُ سِحْرَهَا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Recommend with a conditional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zurta … fa-lā budda min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زُرْتَ المَغْرِبَ، فَلَا بُدَّ مِنْ زِيَارَةِ فَاسَ</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يَسْتَقْطِبُ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تَسْتَقْطِبُ مَرَّاكُشُ بِمَلَايِينِ السُّيَّاحِ.</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تَسْتَقْطِبُ مَرَّاكُشُ لِمَلَايِينِ السُّيَّاحِ.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تَسْتَقْطِبُ مَرَّاكُشُ مَلَايِينَ السُّيَّاحِ.</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تَتَمَيَّزُ المَدِينَةُ ___ أَزِقَّتِهَا الضَّيِّقَةِ.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تَشْتَهِرُ فَاسُ ___ أَقْدَمِ جَامِعَةٍ فِي العَالَمِ.</a:t>
            </a:r>
            <a:endParaRPr lang="ar-SA" sz="14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يُبْهِرُ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تُبْهِرُ البَتْرَاءُ زُوَّارَهَا.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تُبْهِرُ البَتْرَاءُ بِزُوَّارِهَا.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تُبْهِرُ البَتْرَاءُ لِزُوَّارِهَا.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يَسْتَقْطِبُ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تَسْتَقْطِبُ مَرَّاكُشُ بِمَلَايِينِ السُّيَّاحِ.</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تَسْتَقْطِبُ مَرَّاكُشُ لِمَلَايِينِ السُّيَّاحِ.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تَسْتَقْطِبُ مَرَّاكُشُ مَلَايِينَ السُّيَّاحِ.</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يَسْتَقْطِبُ</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تَتَمَيَّزُ المَدِينَةُ ___ أَزِقَّتِهَا الضَّيِّقَةِ.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يَتَمَيَّزُ</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تَشْتَهِرُ فَاسُ ___ أَقْدَمِ جَامِعَةٍ فِي العَالَمِ.</a:t>
            </a:r>
            <a:endParaRPr lang="ar-SA" sz="14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يَشْتَهِرُ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يُبْهِرُ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تُبْهِرُ البَتْرَاءُ زُوَّارَهَا.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تُبْهِرُ البَتْرَاءُ بِزُوَّارِهَا.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تُبْهِرُ البَتْرَاءُ لِزُوَّارِهَا.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يُبْهِرُ</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write a destination profile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Big picture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C77700"/>
                </a:solidFill>
                <a:latin typeface="Amiri" pitchFamily="34" charset="0"/>
                <a:ea typeface="Amiri" pitchFamily="34" charset="-122"/>
                <a:cs typeface="Amiri" pitchFamily="34" charset="-120"/>
              </a:rPr>
              <a:t>تُعَدُّ</a:t>
            </a:r>
            <a:pPr rtl="1" algn="ctr" indent="0" marL="0">
              <a:buNone/>
            </a:pPr>
            <a:r>
              <a:rPr lang="ar-SA" altLang="en-US" sz="2100" b="1" dirty="0">
                <a:solidFill>
                  <a:srgbClr val="1B3B6F"/>
                </a:solidFill>
                <a:latin typeface="Amiri" pitchFamily="34" charset="0"/>
                <a:ea typeface="Amiri" pitchFamily="34" charset="-122"/>
                <a:cs typeface="Amiri" pitchFamily="34" charset="-120"/>
              </a:rPr>
              <a:t> … </a:t>
            </a:r>
            <a:pPr rtl="1" algn="ctr" indent="0" marL="0">
              <a:buNone/>
            </a:pPr>
            <a:r>
              <a:rPr lang="ar-SA" altLang="en-US" sz="2100" b="1" dirty="0">
                <a:solidFill>
                  <a:srgbClr val="C77700"/>
                </a:solidFill>
                <a:latin typeface="Amiri" pitchFamily="34" charset="0"/>
                <a:ea typeface="Amiri" pitchFamily="34" charset="-122"/>
                <a:cs typeface="Amiri" pitchFamily="34" charset="-120"/>
              </a:rPr>
              <a:t>مِنْ أَعْرَقِ</a:t>
            </a:r>
            <a:pPr rtl="1" algn="ctr" indent="0" marL="0">
              <a:buNone/>
            </a:pPr>
            <a:r>
              <a:rPr lang="ar-SA" altLang="en-US" sz="2100" b="1" dirty="0">
                <a:solidFill>
                  <a:srgbClr val="1B3B6F"/>
                </a:solidFill>
                <a:latin typeface="Amiri" pitchFamily="34" charset="0"/>
                <a:ea typeface="Amiri" pitchFamily="34" charset="-122"/>
                <a:cs typeface="Amiri" pitchFamily="34" charset="-120"/>
              </a:rPr>
              <a:t> … </a:t>
            </a:r>
            <a:pPr rtl="1" algn="ctr" indent="0" marL="0">
              <a:buNone/>
            </a:pPr>
            <a:r>
              <a:rPr lang="ar-SA" altLang="en-US" sz="2100" b="1" dirty="0">
                <a:solidFill>
                  <a:srgbClr val="1D5FBF"/>
                </a:solidFill>
                <a:latin typeface="Amiri" pitchFamily="34" charset="0"/>
                <a:ea typeface="Amiri" pitchFamily="34" charset="-122"/>
                <a:cs typeface="Amiri" pitchFamily="34" charset="-120"/>
              </a:rPr>
              <a:t>وَتَسْتَقْطِبُ</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Features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تَتَمَيَّزُ بِـ</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وَتَشْتَهِرُ بِـ</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My visit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D6336C"/>
                </a:solidFill>
                <a:latin typeface="Amiri" pitchFamily="34" charset="0"/>
                <a:ea typeface="Amiri" pitchFamily="34" charset="-122"/>
                <a:cs typeface="Amiri" pitchFamily="34" charset="-120"/>
              </a:rPr>
              <a:t>زُرْتُ</a:t>
            </a:r>
            <a:pPr rtl="1" algn="ctr" indent="0" marL="0">
              <a:buNone/>
            </a:pPr>
            <a:r>
              <a:rPr lang="ar-SA" altLang="en-US" sz="2700" b="1" dirty="0">
                <a:solidFill>
                  <a:srgbClr val="1B3B6F"/>
                </a:solidFill>
                <a:latin typeface="Amiri" pitchFamily="34" charset="0"/>
                <a:ea typeface="Amiri" pitchFamily="34" charset="-122"/>
                <a:cs typeface="Amiri" pitchFamily="34" charset="-120"/>
              </a:rPr>
              <a:t> … </a:t>
            </a:r>
            <a:pPr rtl="1" algn="ctr" indent="0" marL="0">
              <a:buNone/>
            </a:pPr>
            <a:r>
              <a:rPr lang="ar-SA" altLang="en-US" sz="2700" b="1" dirty="0">
                <a:solidFill>
                  <a:srgbClr val="D6336C"/>
                </a:solidFill>
                <a:latin typeface="Amiri" pitchFamily="34" charset="0"/>
                <a:ea typeface="Amiri" pitchFamily="34" charset="-122"/>
                <a:cs typeface="Amiri" pitchFamily="34" charset="-120"/>
              </a:rPr>
              <a:t>وَأَدْرَكْتُ أَنَّهُ</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Recommend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7B3FA0"/>
                </a:solidFill>
                <a:latin typeface="Amiri" pitchFamily="34" charset="0"/>
                <a:ea typeface="Amiri" pitchFamily="34" charset="-122"/>
                <a:cs typeface="Amiri" pitchFamily="34" charset="-120"/>
              </a:rPr>
              <a:t>إِذَا زُرْتَ</a:t>
            </a:r>
            <a:pPr rtl="1" algn="ctr" indent="0" marL="0">
              <a:buNone/>
            </a:pPr>
            <a:r>
              <a:rPr lang="ar-SA" altLang="en-US" sz="2300" b="1" dirty="0">
                <a:solidFill>
                  <a:srgbClr val="1B3B6F"/>
                </a:solidFill>
                <a:latin typeface="Amiri" pitchFamily="34" charset="0"/>
                <a:ea typeface="Amiri" pitchFamily="34" charset="-122"/>
                <a:cs typeface="Amiri" pitchFamily="34" charset="-120"/>
              </a:rPr>
              <a:t> … </a:t>
            </a:r>
            <a:pPr rtl="1" algn="ctr" indent="0" marL="0">
              <a:buNone/>
            </a:pPr>
            <a:r>
              <a:rPr lang="ar-SA" altLang="en-US" sz="2300" b="1" dirty="0">
                <a:solidFill>
                  <a:srgbClr val="7B3FA0"/>
                </a:solidFill>
                <a:latin typeface="Amiri" pitchFamily="34" charset="0"/>
                <a:ea typeface="Amiri" pitchFamily="34" charset="-122"/>
                <a:cs typeface="Amiri" pitchFamily="34" charset="-120"/>
              </a:rPr>
              <a:t>فَلَا بُدَّ مِنْ</a:t>
            </a:r>
            <a:pPr rtl="1" algn="ctr" indent="0" marL="0">
              <a:buNone/>
            </a:pPr>
            <a:r>
              <a:rPr lang="ar-SA" altLang="en-US" sz="2300" b="1" dirty="0">
                <a:solidFill>
                  <a:srgbClr val="1B3B6F"/>
                </a:solidFill>
                <a:latin typeface="Amiri" pitchFamily="34" charset="0"/>
                <a:ea typeface="Amiri" pitchFamily="34" charset="-122"/>
                <a:cs typeface="Amiri" pitchFamily="34" charset="-120"/>
              </a:rPr>
              <a:t> …</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MAGAZINE REGISTER</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DIRECT OBJECT</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BI-</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VISIT</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RECOMMENDATION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تُعَدُّ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مَدِينَةُ فَاسَ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مِنْ أَعْرَقِ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المُدُنِ العَرَبِيَّةِ،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وَتَسْتَقْطِبُ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آلَافَ السُّيَّاحِ سَنَوِيًّا.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تَتَمَيَّزُ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مَدِينَتُهَا القَدِيمَةُ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بِأَزِقَّتِهَا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الضَّيِّقَةِ،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وَتَشْتَهِرُ بِأَقْدَمِ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جَامِعَةٍ فِي العَالَمِ.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زُرْتُ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فَاسَ قَبْلَ عَامَيْنِ،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وَأَدْرَكْتُ أَنَّهُ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لَا شَيْءَ يُعَوِّضُ تَجْرِبَةَ التَّجَوُّلِ فِي أَزِقَّتِهَا.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إِذَا زُرْتَ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المَغْرِبَ،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فَلَا بُدَّ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زِيَارَةِ فَاسَ.</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ea typeface="Calibri" pitchFamily="34" charset="-122"/>
                <a:cs typeface="Calibri" pitchFamily="34" charset="-120"/>
              </a:rPr>
              <a:t>The city of Fez is considered one of the most ancient Arab cities, and it attracts thousands of tourists every year. Its old city is distinguished by its narrow alleys, and it is famous for the oldest university in the world. I visited Fez two years ago and realised that nothing replaces the experience of wandering its alleys. If you visit Morocco, you must visit Fez.</a:t>
            </a:r>
            <a:endParaRPr lang="en-US" sz="95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تَسْتَقْطِبُ مَرَّاكُشُ مَلَايِينَ السُّيَّاحِ سَنَوِيًّا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Marrakesh attracts millions of tourists every year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yastaqṭib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تَتَمَيَّزُ فَاسُ بِأَزِقَّتِهَا وَتَشْتَهِرُ بِأَقْدَمِ 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Fez stands out for its alleys and is famous for the oldest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bi- with yatamayyaz and yashtahir.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زُرْتَ المَغْرِبَ، فَلَا بُدَّ مِنْ زِيَارَةِ فَاسَ</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visit Morocco, you must visit Fez</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1 recommendation.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ARABIC-SPEAKING DESTINATIONS — CULTURE, GEOGRAPHY AND TOURISM”</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What do tourists do? Match the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historical landmarks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famous beaches</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local food</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يُجَرِّبُ السَّائِحُ الطَّعَامَ المَحَلِّيَّ.</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يَزُورُ السُّيَّاحُ المَعَالِمَ التَّارِيخِيَّةَ.</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تَشْتَهِرُ المِنْطَقَةُ بِالشَّوَاطِئِ.</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historical landmarks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يَزُورُ السُّيَّاحُ المَعَالِمَ التَّارِيخِيَّةَ.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Tourists visit the historical landmarks.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famous beaches</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تَشْتَهِرُ المِنْطَقَةُ بِالشَّوَاطِئِ.</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region is famous for its beaches.</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local food</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يُجَرِّبُ السَّائِحُ الطَّعَامَ المَحَلِّيَّ.</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tourist tries the local food.</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DESTINATION PROFILE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Attraction + feature + recommendation</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مَلَفًّا سِيَاحِيًّا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Attraction</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Distinguishing feature</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Visit / recommendation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تَسْتَقْطِبُ المَدِينَةُ مَلَايِينَ السُّيَّاحِ سَنَوِيًّا</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وَتَتَمَيَّزُ بِأَزِقَّتِهَا الضَّيِّقَةِ وَأَسْوَاقِهَا الحَيَّةِ</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وَزُرْتُهَا فَأَدْرَكْتُ أَنَّ الصُّوَرَ لَا تُنْصِفُهَا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تُبْهِرُ المَدِينَةُ القَدِيمَةُ زُوَّارَهَا بِعِمَارَتِهَا</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وَتَشْتَهِرُ بِأَقْدَمِ جَامِعَةٍ فِي العَالَمِ</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زُرْتَ البَلَدَ فَلَا بُدَّ مِنْ زِيَارَتِهَا</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تُعَدُّ المَدِينَةُ مِنْ أَعْرَقِ الوِجْهَاتِ العَرَبِيَّةِ</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وَتَزْخَرُ بِالمَعَالِمِ التُّرَاثِيَّةِ وَالمَتَاحِفِ</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وَأَشَارَ الدَّلِيلُ إِلَى أَنَّ الرَّبِيعَ أَفْضَلُ مَوْسِمٍ</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replace </a:t>
            </a:r>
            <a:pPr algn="l" indent="0" marL="0">
              <a:buNone/>
            </a:pPr>
            <a:r>
              <a:rPr lang="ar-SA" altLang="en-US" sz="1500" b="1" dirty="0">
                <a:solidFill>
                  <a:srgbClr val="1B3B6F"/>
                </a:solidFill>
                <a:latin typeface="Amiri" pitchFamily="34" charset="0"/>
                <a:ea typeface="Amiri" pitchFamily="34" charset="-122"/>
                <a:cs typeface="Amiri" pitchFamily="34" charset="-120"/>
              </a:rPr>
              <a:t>المَدِينَة</a:t>
            </a:r>
            <a:pPr algn="l" indent="0" marL="0">
              <a:buNone/>
            </a:pPr>
            <a:r>
              <a:rPr lang="en-US" sz="1150" b="1" dirty="0">
                <a:solidFill>
                  <a:srgbClr val="1B3B6F"/>
                </a:solidFill>
                <a:latin typeface="Calibri" pitchFamily="34" charset="0"/>
                <a:ea typeface="Calibri" pitchFamily="34" charset="-122"/>
                <a:cs typeface="Calibri" pitchFamily="34" charset="-120"/>
              </a:rPr>
              <a:t> with a real place name.</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A direct object, bi- — or recommendation / register?</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يَسْتَقْطِبُ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يُبْهِرُ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يَسْتَحِقُّ</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يَشْتَهِرُ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يَزْخَرُ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بُدَّ مِنْ زِيَارَةِ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زُرْتَ فَـ…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 مِنْ أَجْمَلِ…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bi-</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recommend / register</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يَسْتَقْطِبُ</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يُبْهِرُ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يَسْتَحِقُّ</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bi-</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يَشْتَهِرُ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يَزْخَرُ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recommend / register</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بُدَّ مِنْ زِيَارَةِ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زُرْتَ فَـ…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 مِنْ أَجْمَلِ…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fits a general description?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فَاسَ العَامَ المَاضِيَ.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سَأَزُورُ فَاسَ غَدًا.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تُعَدُّ فَاسُ مِنْ أَعْرَقِ المُدُنِ.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fits your own visit?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تُعَدُّ فَاسُ عَرِيقَةً.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فَاسَ وَأَدْرَكْتُ سِحْرَهَا.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تَسْتَقْطِبُ فَاسُ السُّيَّاحَ.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closes a profile with a recommendation?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فَاسُ مَدِينَةٌ قَدِيمَةٌ.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المَغْرِبَ، فَلَا بُدَّ مِنْ زِيَارَةِ فَاسَ.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فَاسَ.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is Form X (“attracts”)?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يُبْهِرُ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يَشْتَهِرُ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يَسْتَقْطِبُ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fits a general description?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فَاسَ العَامَ المَاضِيَ.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سَأَزُورُ فَاسَ غَدًا.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تُعَدُّ فَاسُ مِنْ أَعْرَقِ المُدُنِ.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states a general truth.</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fits your own visit?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تُعَدُّ فَاسُ عَرِيقَةً.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 فَاسَ وَأَدْرَكْتُ سِحْرَهَا.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تَسْتَقْطِبُ فَاسُ السُّيَّاحَ.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narrates a personal visit.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closes a profile with a recommendation?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فَاسُ مَدِينَةٌ قَدِيمَةٌ.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زُرْتَ المَغْرِبَ، فَلَا بُدَّ مِنْ زِيَارَةِ فَاسَ.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فَاسَ.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conditional recommends.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is Form X (“attracts”)?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يُبْهِرُ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يَشْتَهِرُ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يَسْتَقْطِبُ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يَسْتَقْطِبُ</a:t>
            </a:r>
            <a:pPr algn="l" indent="0" marL="0">
              <a:buNone/>
            </a:pPr>
            <a:r>
              <a:rPr lang="en-US" sz="1050" i="1" dirty="0">
                <a:solidFill>
                  <a:srgbClr val="8A6D1E"/>
                </a:solidFill>
                <a:latin typeface="Calibri" pitchFamily="34" charset="0"/>
                <a:ea typeface="Calibri" pitchFamily="34" charset="-122"/>
                <a:cs typeface="Calibri" pitchFamily="34" charset="-120"/>
              </a:rPr>
              <a:t> is the Form X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تَسْتَقْطِبُ الأَهْرَامُ بِمَلَايِينِ السُّيَّاحِ.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yastaqṭib + bi-?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تَتَمَيَّزُ المَدِينَةُ أَزِقَّتَهَا الضَّيِّقَةَ.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yatamayyaz + object?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تُبْهِرُ البَتْرَاءُ بِزُوَّارِهَا.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yubhir + bi- for the person?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تَسْتَقْطِبُ الأَهْرَامُ بِمَلَايِينِ السُّيَّاحِ.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تَسْتَقْطِبُ الأَهْرَامُ مَلَايِينَ السُّيَّاحِ.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يَسْتَقْطِبُ</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تَتَمَيَّزُ المَدِينَةُ أَزِقَّتَهَا الضَّيِّقَةَ.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تَتَمَيَّزُ المَدِينَةُ بِأَزِقَّتِهَا الضَّيِّقَةِ.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يَتَمَيَّزُ</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تُبْهِرُ البَتْرَاءُ بِزُوَّارِهَا.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تُبْهِرُ البَتْرَاءُ زُوَّارَهَا.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يُبْهِرُ</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profile of Fez</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Fez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Among the most ancient Arab cities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modern city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village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old city stand out for?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skyscrapers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beaches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narrow alleys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Fez famous for?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tallest tower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largest airport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oldest university in the world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writer realise on their visit?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replaces the experience of wandering 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is ordinary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Photos were enough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recommendation?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 Fez</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you visit Morocco, Fez is a must-visit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 only in winter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tuʿaddu min · tatamayyazu bi- · tashtahiru bi-.</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تُعَدُّ مَدِينَةُ فَاسَ المَغْرِبِيَّةُ مِنْ أَعْرَقِ المُدُنِ العَرَبِيَّةِ. تَسْتَقْطِبُ آلَافَ السُّيَّاحِ سَنَوِيًّا بِتُرَاثِهَا المِعْمَارِيِّ الأَصِيلِ وَأَسْوَاقِهَا الحَيَّةِ.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Moroccan city of Fez is considered one of the most ancient Arab cities. It attracts thousands of tourists every year with its authentic architectural heritage and lively souks.</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تَتَمَيَّزُ المَدِينَةُ القَدِيمَةُ بِأَزِقَّتِهَا الضَّيِّقَةِ، وَتَشْتَهِرُ بِأَقْدَمِ جَامِعَةٍ فِي العَالَمِ، جَامِعَةِ القَرَوِيِّينَ.</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old city is distinguished by its narrow alleys, and it is famous for the oldest university in the world, al-Qarawiyyīn.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تُبْهِرُ زُوَّارَهَا بِأَلْوَانِ المَدَابِغِ الشَّهِيرَةِ. زُرْتُ فَاسَ قَبْلَ عَامَيْنِ، وَأَدْرَكْتُ أَنَّهُ لَا شَيْءَ يُمْكِنُهُ أَنْ يُعَوِّضَ تَجْرِبَةَ التَّجَوُّلِ فِيهَا.</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It dazzles its visitors with the colours of its famous tanneries. I visited Fez two years ago, and I realised that nothing can replace the experience of wandering through it.</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وَأَشَارَ الدَّلِيلُ السِّيَاحِيُّ إِلَى أَنَّ أَفْضَلَ مَوْسِمٍ لِلزِّيَارَةِ هُوَ الرَّبِيعُ.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tourist guide pointed out that the best season to visit is spring.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زُرْتَ المَغْرِبَ، فَلَا بُدَّ مِنْ زِيَارَةِ فَاسَ.</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you visit Morocco, you must visit Fez.</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Fez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Among the most ancient Arab cities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modern city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small village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مَدِينَةُ فَاسَ … مِنْ أَعْرَقِ المُدُنِ العَرَبِيَّةِ.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old city stand out for?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Its skyscrapers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Its beaches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Its narrow alleys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تَتَمَيَّزُ المَدِينَةُ القَدِيمَةُ بِأَزِقَّتِهَا الضَّيِّقَةِ.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Fez famous for?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tallest tower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largest airport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oldest university in the world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تَشْتَهِرُ بِأَقْدَمِ جَامِعَةٍ فِي العَالَمِ.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writer realise on their visit?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Nothing replaces the experience of wandering it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is ordinary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Photos were enough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أَدْرَكْتُ أَنَّهُ لَا شَيْءَ يُمْكِنُهُ أَنْ يُعَوِّضَ تَجْرِبَةَ التَّجَوُّلِ فِيهَا.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recommendation?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 Fez</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If you visit Morocco, Fez is a must-visit</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 only in winter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زُرْتَ المَغْرِبَ، فَلَا بُدَّ مِنْ زِيَارَةِ فَاسَ.</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tuʿaddu min · tatamayyazu bi- · tashtahiru bi-.</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profile a destination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وِجْهَةً عَرَبِيَّةً مُسْتَعْمِلًا «يَسْتَقْطِبُ» وَ«يَتَمَيَّزُ بِـ».</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احْكِ عَنْ زِيَارَةٍ قُمْتَ بِهَا فِي المَاضِي.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انْصَحْ زَائِرًا بِشَرْطٍ مِنَ النَّوْعِ الأَوَّلِ.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D5FBF"/>
                </a:solidFill>
                <a:latin typeface="Amiri" pitchFamily="34" charset="0"/>
                <a:ea typeface="Amiri" pitchFamily="34" charset="-122"/>
                <a:cs typeface="Amiri" pitchFamily="34" charset="-120"/>
              </a:rPr>
              <a:t>تَسْتَقْطِبُ ___ آلَافَ السُّيَّاحِ، وَتَشْتَهِرُ بِمَعَالِمِهَا مِثْلِ ___ .</a:t>
            </a:r>
            <a:endParaRPr lang="ar-SA" sz="10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زُرْتُ ___ قَبْلَ ___ ، وَأَبْهَرَنِي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زُرْتَ ___ ، فَلَا بُدَّ مِنْ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وِجْهَةً عَرَبِيَّةً.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an Arab destination.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تَسْتَقْطِبُ فَاسُ آلَافَ السُّيَّاحِ، وَتَتَمَيَّزُ بِأَزِقَّتِهَا وَتَشْتَهِرُ بِجَامِعَتِهَا العَرِيقَةِ.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Fez attracts thousands of tourists; it stands out for its alleys and is famous for its ancient university.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destination sentences using the tourism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six destination sentences with the tourism verbs and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 visit sentence and a present general description.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present general description and a past visit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magazine profile with a reported recommendation and a Type 1 close.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magazine profile with the four tourism verbs, a past visit, a reported recommendation and a Type 1 close.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______ مِنْ أَعْرَقِ المُدُنِ العَرَبِيَّةِ.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considered one of the most ancient Arab cities.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 ______ ، وَأَدْرَكْتُ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visited … and realised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أَشَارَ الدَّلِيلُ إِلَى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guide pointed out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إِذَا زُرْتَ ______ ، فَلَا بُدَّ مِنْ زِيَارَةِ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visit …, you must visit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تَسْتَقْطِبُ ______ آلَافَ السُّيَّاحِ سَنَوِيًّا.</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attracts thousands of tourists every year.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تَتَمَيَّزُ المَدِينَةُ القَدِيمَةُ بِأَزِقَّتِهَا وَ ______ .</a:t>
            </a:r>
            <a:endParaRPr lang="ar-SA" sz="16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old city is distinguished by its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تَشْتَهِرُ بِمَعَالِمِهَا مِثْلِ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famous for landmarks such as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تُبْهِرُ المَدِينَةُ زُوَّارَهَا بِجَمَالِ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city dazzles its visitors with the beauty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فَاسُ  ·  مَرَّاكُشُ  ·  البَتْرَاءُ  ·  الأَهْرَامُ  ·  أَسْوَاقِهَا الحَيَّةِ  ·  جَامِعَةِ القَرَوِيِّينَ  ·  الخَزْنَةِ  ·  المَدَابِغِ الشَّهِيرَةِ  ·  الرَّبِيعَ أَفْضَلُ مَوْسِمٍ  ·  الصُّوَرَ لَا تُنْصِفُهَا  ·  تَجْرِبَةٌ فَرِيدَةٌ  ·  مَوْقِعٌ لِلتُّرَاثِ العَالَمِيِّ</a:t>
            </a:r>
            <a:endParaRPr lang="ar-SA" sz="13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Write a travel-magazine destination profile of one hundred to one hundred and ten words for an Arab city or site. Use </a:t>
            </a:r>
            <a:pPr algn="l" indent="0" marL="0">
              <a:buNone/>
            </a:pPr>
            <a:r>
              <a:rPr lang="ar-SA" altLang="en-US" sz="1650" b="1" dirty="0">
                <a:solidFill>
                  <a:srgbClr val="1F2A37"/>
                </a:solidFill>
                <a:latin typeface="Amiri" pitchFamily="34" charset="0"/>
                <a:ea typeface="Amiri" pitchFamily="34" charset="-122"/>
                <a:cs typeface="Amiri" pitchFamily="34" charset="-120"/>
              </a:rPr>
              <a:t>يَسْتَقْطِبُ، يَتَمَيَّزُ بِـ، يَشْتَهِرُ بِـ</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يُبْهِرُ</a:t>
            </a:r>
            <a:pPr algn="l" indent="0" marL="0">
              <a:buNone/>
            </a:pPr>
            <a:r>
              <a:rPr lang="en-US" sz="1250" b="1" dirty="0">
                <a:solidFill>
                  <a:srgbClr val="1F2A37"/>
                </a:solidFill>
                <a:latin typeface="Calibri" pitchFamily="34" charset="0"/>
                <a:ea typeface="Calibri" pitchFamily="34" charset="-122"/>
                <a:cs typeface="Calibri" pitchFamily="34" charset="-120"/>
              </a:rPr>
              <a:t>, move from a present description to a past visit, and close with a Type 1 recommendation.</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يَسْتَقْطِبُ</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يُبْهِرُ</a:t>
            </a:r>
            <a:pPr algn="l" indent="0" marL="0">
              <a:buNone/>
            </a:pPr>
            <a:r>
              <a:rPr lang="en-US" sz="1200" dirty="0">
                <a:solidFill>
                  <a:srgbClr val="1F2A37"/>
                </a:solidFill>
                <a:latin typeface="Calibri" pitchFamily="34" charset="0"/>
                <a:ea typeface="Calibri" pitchFamily="34" charset="-122"/>
                <a:cs typeface="Calibri" pitchFamily="34" charset="-120"/>
              </a:rPr>
              <a:t> with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يَتَمَيَّزُ بِـ</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يَشْتَهِرُ بِـ</a:t>
            </a:r>
            <a:pPr algn="l" indent="0" marL="0">
              <a:buNone/>
            </a:pPr>
            <a:r>
              <a:rPr lang="en-US" sz="1200" dirty="0">
                <a:solidFill>
                  <a:srgbClr val="1F2A37"/>
                </a:solidFill>
                <a:latin typeface="Calibri" pitchFamily="34" charset="0"/>
                <a:ea typeface="Calibri" pitchFamily="34" charset="-122"/>
                <a:cs typeface="Calibri" pitchFamily="34" charset="-120"/>
              </a:rPr>
              <a:t> with correct prepositions.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present general description and a past visit sentence.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closing Type 1 recommendation.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بِتُرَاثِهَا المِعْمَارِيِّ الأَصِيلِ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its authentic architectural heritage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وَمَبَانِيهَا الحَجَرِيَّةِ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its stone buildings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بِأَلْوَانِ المَدَابِغِ الشَّهِيرَةِ وَرَوَائِحِ التَّوَابِلِ</a:t>
            </a:r>
            <a:endParaRPr lang="ar-SA" sz="165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the colours of the famous tanneries and the scents of spices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شَيْءَ يُعَوِّضُ تَجْرِبَةَ التَّجَوُّلِ فِي أَزِقَّتِهَا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nothing replaces the experience of wandering its alleys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فَهِيَ تَجْرِبَةٌ فَرِيدَةٌ لَا تُنْسَى</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it is a unique, unforgettable experience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تُعَدُّ مَدِينَةُ فَاسَ المَغْرِبِيَّةُ مِنْ أَعْرَقِ المُدُنِ العَرَبِيَّةِ، وَتَسْتَقْطِبُ آلَافَ السُّيَّاحِ سَنَوِيًّا بِتُرَاثِهَا المِعْمَارِيِّ الأَصِيلِ. تَتَمَيَّزُ مَدِينَتُهَا القَدِيمَةُ بِأَزِقَّتِهَا الضَّيِّقَةِ وَمَبَانِيهَا الحَجَرِيَّةِ، وَتَشْتَهِرُ بِأَقْدَمِ جَامِعَةٍ فِي العَالَمِ، جَامِعَةِ القَرَوِيِّينَ. تُبْهِرُ زُوَّارَهَا بِأَلْوَانِ المَدَابِغِ الشَّهِيرَةِ وَرَوَائِحِ التَّوَابِلِ فِي أَسْوَاقِهَا. زُرْتُ فَاسَ قَبْلَ عَامَيْنِ، وَأَدْرَكْتُ أَنَّهُ لَا شَيْءَ يُعَوِّضُ تَجْرِبَةَ التَّجَوُّلِ فِي أَزِقَّتِهَا. وَأَشَارَ الدَّلِيلُ إِلَى أَنَّ الرَّبِيعَ أَفْضَلُ مَوْسِمٍ لِلزِّيَارَةِ. لِذٰلِكَ، إِذَا زُرْتَ المَغْرِبَ، فَلَا بُدَّ مِنْ زِيَارَةِ فَاسَ، فَهِيَ تَجْرِبَةٌ فَرِيدَةٌ لَا تُنْسَى.</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Moroccan city of Fez is considered one of the most ancient Arab cities, and it attracts thousands of tourists every year with its authentic architectural heritage. Its old city is distinguished by its narrow alleys and stone buildings, and it is famous for the oldest university in the world, al-Qarawiyyīn. It dazzles its visitors with the colours of its famous tanneries and the scents of spices in its souks. I visited Fez two years ago, and I realised that nothing replaces the experience of wandering its alleys. The guide pointed out that spring is the best season to visit. So if you visit Morocco, you must visit Fez — it is a unique, unforgettable experience.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tastaqṭibu + object · tubhiru +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tatamayyazu bi- · tashtahiru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visit (zurtu · adraktu)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reported tip + idhā … fa-lā budda min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yastaqṭib / yubhir have a direct object (no bi-).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yatamayyaz / yashtahir have bi-.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verbs agree with the place (tastaqṭibu fāsu · yastaqṭibu l-maghribu).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Present for description, past for my visit.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recommendation uses idhā … fa-lā budda min + a verbal noun.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يَسْتَقْطِبُ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تَسْتَقْطِبُ الأَهْرَامُ مَلَايِينَ السُّيَّاحِ.</a:t>
            </a:r>
            <a:endParaRPr lang="ar-SA" sz="19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تَسْتَقْطِبُ الأَهْرَامُ بِمَلَايِينِ السُّيَّاحِ.</a:t>
            </a:r>
            <a:endParaRPr lang="ar-SA" sz="19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تَسْتَقْطِبُ الأَهْرَامُ لِمَلَايِينِ السُّيَّاحِ.</a:t>
            </a:r>
            <a:endParaRPr lang="ar-SA" sz="19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تَشْتَهِرُ المَدِينَةُ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أَسْوَاقِهَا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closes a profile with a recommendation?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إِذَا زُرْتَ المَغْرِبَ، فَلَا بُدَّ مِنْ زِيَارَةِ فَاسَ.</a:t>
            </a:r>
            <a:endParaRPr lang="ar-SA" sz="16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فَاسُ قَدِيمَةٌ.</a:t>
            </a:r>
            <a:endParaRPr lang="ar-SA" sz="16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زُرْتُ فَاسَ.</a:t>
            </a:r>
            <a:endParaRPr lang="ar-SA" sz="16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يَسْتَقْطِبُ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b="1" dirty="0">
                <a:solidFill>
                  <a:srgbClr val="1F2A37"/>
                </a:solidFill>
                <a:latin typeface="Amiri" pitchFamily="34" charset="0"/>
                <a:ea typeface="Amiri" pitchFamily="34" charset="-122"/>
                <a:cs typeface="Amiri" pitchFamily="34" charset="-120"/>
              </a:rPr>
              <a:t>تَسْتَقْطِبُ الأَهْرَامُ مَلَايِينَ السُّيَّاحِ.</a:t>
            </a:r>
            <a:endParaRPr lang="ar-SA" sz="19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34" charset="0"/>
                <a:ea typeface="Amiri" pitchFamily="34" charset="-122"/>
                <a:cs typeface="Amiri" pitchFamily="34" charset="-120"/>
              </a:rPr>
              <a:t>تَسْتَقْطِبُ الأَهْرَامُ بِمَلَايِينِ السُّيَّاحِ.</a:t>
            </a:r>
            <a:endParaRPr lang="ar-SA" sz="19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34" charset="0"/>
                <a:ea typeface="Amiri" pitchFamily="34" charset="-122"/>
                <a:cs typeface="Amiri" pitchFamily="34" charset="-120"/>
              </a:rPr>
              <a:t>تَسْتَقْطِبُ الأَهْرَامُ لِمَلَايِينِ السُّيَّاحِ.</a:t>
            </a:r>
            <a:endParaRPr lang="ar-SA" sz="19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يَسْتَقْطِبُ</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تَشْتَهِرُ المَدِينَةُ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أَسْوَاقِهَا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يَشْتَهِرُ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closes a profile with a recommendation?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زُرْتَ المَغْرِبَ، فَلَا بُدَّ مِنْ زِيَارَةِ فَاسَ.</a:t>
            </a:r>
            <a:endParaRPr lang="ar-SA" sz="16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فَاسُ قَدِيمَةٌ.</a:t>
            </a:r>
            <a:endParaRPr lang="ar-SA" sz="16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زُرْتُ فَاسَ.</a:t>
            </a:r>
            <a:endParaRPr lang="ar-SA" sz="16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conditional recommends.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the wonders of Petra</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تُعَدُّ مَدِينَةُ البَتْرَاءِ الأُرْدُنِّيَّةُ مِنْ أَشْهَرِ الوِجْهَاتِ السِّيَاحِيَّةِ فِي العَالَمِ العَرَبِيِّ. تَسْتَقْطِبُ زُوَّارًا مِنْ كُلِّ القَارَّاتِ، وَتُبْهِرُهُمْ بِمَبَانِيهَا المَنْحُوتَةِ فِي الصَّخْرِ الوَرْدِيِّ. تَتَمَيَّزُ بِتَارِيخِهَا النَّبَطِيِّ العَرِيقِ، وَتَشْتَهِرُ بِالخَزْنَةِ الَّتِي تَظْهَرُ فَجْأَةً فِي نِهَايَةِ المَمَرِّ الضَّيِّقِ. وَقَدِ اخْتِيرَتْ وَاحِدَةً مِنْ عَجَائِبِ الدُّنْيَا الجَدِيدَةِ. زُرْتُهَا فِي الرَّبِيعِ، وَكَانَ الطَّقْسُ مِثَالِيًّا لِلْمَشْيِ. وَأَشَارَ دَلِيلٌ مَحَلِّيٌّ إِلَى أَنَّ الزِّيَارَةَ لَيْلًا تَجْرِبَةٌ سَاحِرَةٌ. لِذٰلِكَ، إِذَا خَطَّطْتَ لِرِحْلَةٍ إِلَى الأُرْدُنِّ، فَلَا بُدَّ مِنْ قَضَاءِ يَوْمٍ كَامِلٍ فِي البَتْرَاءِ.</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القَارَّاتِ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continents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المَنْحُوتَةِ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carved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الصَّخْرِ الوَرْدِيِّ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pink rock</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النَّبَطِيِّ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Nabataean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اخْتِيرَتْ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was chosen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عَجَائِبِ الدُّنْيَا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wonders of the world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مِثَالِيًّا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ideal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لَيْلًا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night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سَاحِرَةٌ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enchanting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خَطَّطْتَ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 planned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Petra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hidden village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Among the most famous destinations in the Arab world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modern resort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Petra amaze visitors with?</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beaches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shopping malls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Buildings carved into the pink rock</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Petra famous for?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Treasury that appears suddenly at the end of the passage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tall tower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 stadium</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local guide indicate?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Night visits are banned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night visit is an enchanting experience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nothing to see at night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recommendation?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Spend a full day in Petra if you plan a trip to Jordan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Skip Petra</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 only briefly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Petra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hidden village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Among the most famous destinations in the Arab world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modern resort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 مِنْ أَشْهَرِ الوِجْهَاتِ السِّيَاحِيَّةِ فِي العَالَمِ العَرَبِيِّ.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Petra amaze visitors with?</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Its beaches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Its shopping malls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Buildings carved into the pink rock</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تُبْهِرُهُمْ بِمَبَانِيهَا المَنْحُوتَةِ فِي الصَّخْرِ الوَرْدِيِّ.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Petra famous for?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Treasury that appears suddenly at the end of the passage</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tall tower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large stadium</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تَشْتَهِرُ بِالخَزْنَةِ الَّتِي تَظْهَرُ فَجْأَةً فِي نِهَايَةِ المَمَرِّ.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local guide indicate?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Night visits are banned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 night visit is an enchanting experience</a:t>
            </a:r>
            <a:endParaRPr lang="en-US" sz="12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nothing to see at night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أَشَارَ دَلِيلٌ مَحَلِّيٌّ إِلَى أَنَّ الزِّيَارَةَ لَيْلًا تَجْرِبَةٌ سَاحِرَةٌ.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recommendation?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Spend a full day in Petra if you plan a trip to Jordan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Skip Petra</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 only briefly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إِذَا خَطَّطْتَ لِرِحْلَةٍ إِلَى الأُرْدُنِّ، فَلَا بُدَّ مِنْ قَضَاءِ يَوْمٍ كَامِلٍ فِي البَتْرَاءِ.</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Destinations Mission — Verbs, Complements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تَسْتَقْطِبُ مَرَّاكُشُ</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السُّيَّاحِ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بِمَلَايِينِ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مَلَايِينَ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لِمَلَايِينِ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تَتَمَيَّزُ المَدِينَةُ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أَزِقَّتِهَا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تَشْتَهِرُ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جَامِعَتِهَا العَرِيقَةِ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تُبْهِرُ البَتْرَاءُ</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بِزُوَّارِهَا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لِزُوَّارِهَا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زُوَّارَهَا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Form: which is Form X (“attracts”)?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يَسْتَقْطِبُ</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يُبْهِرُ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يَشْتَهِرُ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Register: which is a general present description?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فَاسَ أَمْسِ.</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تُعَدُّ فَاسُ مِنْ أَعْرَقِ المُدُنِ.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سَأَزُورُ فَاسَ.</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تَسْتَقْطِبُ مَرَّاكُشُ</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السُّيَّاحِ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بِمَلَايِينِ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مَلَايِينَ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لِمَلَايِينِ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يَسْتَقْطِبُ</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تَتَمَيَّزُ المَدِينَةُ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أَزِقَّتِهَا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يَتَمَيَّزُ</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تَشْتَهِرُ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جَامِعَتِهَا العَرِيقَةِ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يَشْتَهِرُ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تُبْهِرُ البَتْرَاءُ</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بِزُوَّارِهَا</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لِزُوَّارِهَا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زُوَّارَهَا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يُبْهِرُ</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Form: which is Form X (“attracts”)?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يَسْتَقْطِبُ</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يُبْهِرُ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يَشْتَهِرُ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يَسْتَقْطِبُ</a:t>
            </a:r>
            <a:pPr algn="l" indent="0" marL="0">
              <a:buNone/>
            </a:pPr>
            <a:r>
              <a:rPr lang="en-US" sz="1050" i="1" dirty="0">
                <a:solidFill>
                  <a:srgbClr val="8A6D1E"/>
                </a:solidFill>
                <a:latin typeface="Calibri" pitchFamily="34" charset="0"/>
                <a:ea typeface="Calibri" pitchFamily="34" charset="-122"/>
                <a:cs typeface="Calibri" pitchFamily="34" charset="-120"/>
              </a:rPr>
              <a:t> is the Form X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Register: which is a general present description?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فَاسَ أَمْسِ.</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تُعَدُّ فَاسُ مِنْ أَعْرَقِ المُدُنِ.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سَأَزُورُ فَاسَ.</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states a general truth.</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P3-L05: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P3-L05 · Sustainable Tourism — The Ethics and Impact of Travel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السِّيَاحَةُ المُسْتَدَامَةُ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sustainable tourism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الاكْتِظَاظُ السِّيَاحِيُّ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over-tourism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بَصْمَةٌ كَرْبُونِيَّةٌ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carbon footprint</a:t>
            </a:r>
            <a:pPr indent="0" marL="0">
              <a:buNone/>
            </a:pPr>
            <a:r>
              <a:rPr lang="en-US" sz="1000" i="1" dirty="0">
                <a:solidFill>
                  <a:srgbClr val="5A6472"/>
                </a:solidFill>
                <a:latin typeface="Calibri" pitchFamily="34" charset="0"/>
                <a:ea typeface="Calibri" pitchFamily="34" charset="-122"/>
                <a:cs typeface="Calibri" pitchFamily="34" charset="-120"/>
              </a:rPr>
              <a:t>  pl. بَصَمَاتٌ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يُلْحِقُ الضَّرَرَ بِـ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 it causes harm to</a:t>
            </a:r>
            <a:pPr indent="0" marL="0">
              <a:buNone/>
            </a:pPr>
            <a:r>
              <a:rPr lang="en-US" sz="1000" i="1" dirty="0">
                <a:solidFill>
                  <a:srgbClr val="5A6472"/>
                </a:solidFill>
                <a:latin typeface="Calibri" pitchFamily="34" charset="0"/>
                <a:ea typeface="Calibri" pitchFamily="34" charset="-122"/>
                <a:cs typeface="Calibri" pitchFamily="34" charset="-120"/>
              </a:rPr>
              <a:t>  تُلْحِقُ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يَحْمِي التُّرَاثَ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 it protects heritage</a:t>
            </a:r>
            <a:pPr indent="0" marL="0">
              <a:buNone/>
            </a:pPr>
            <a:r>
              <a:rPr lang="en-US" sz="1000" i="1" dirty="0">
                <a:solidFill>
                  <a:srgbClr val="5A6472"/>
                </a:solidFill>
                <a:latin typeface="Calibri" pitchFamily="34" charset="0"/>
                <a:ea typeface="Calibri" pitchFamily="34" charset="-122"/>
                <a:cs typeface="Calibri" pitchFamily="34" charset="-120"/>
              </a:rPr>
              <a:t>  تَحْمِي she / it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Does tourism help a place, harm it — or both?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أَعْتَقِدُ أَنَّ السِّيَاحَةَ ______ ، لٰكِنَّ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destination sentences with yastaqṭib, yubhir, yatamayyaz bi- and yashtahir bi-.</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present description and a past visit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travel-magazine profile of an Arab city or site.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P3-L04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P3-L05 · Sustainable Tourism — The Ethics and Impact of Travel</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السِّيَاحَةُ المُسْتَدَامَةُ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tastaqṭibu / tubhiru + an OBJECT · tatamayyazu / tashtahiru + BI- — cities are “she” — present to describe, past for your visit — and recommend with idhā zurta … fa-lā budda min.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P3-L04 · Arabic-Speaking Destinations — Culture, Geography and Tourism</dc:title>
  <dc:subject>PptxGenJS Presentation</dc:subject>
  <dc:creator>Al Madina Online School · Arabic Department</dc:creator>
  <cp:lastModifiedBy>Al Madina Online School · Arabic Department</cp:lastModifiedBy>
  <cp:revision>1</cp:revision>
  <dcterms:created xsi:type="dcterms:W3CDTF">2026-10-10T15:14:17Z</dcterms:created>
  <dcterms:modified xsi:type="dcterms:W3CDTF">2026-10-10T15:14:17Z</dcterms:modified>
</cp:coreProperties>
</file>