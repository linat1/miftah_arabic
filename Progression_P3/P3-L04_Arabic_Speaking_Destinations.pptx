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P3 Travel, Holidays and Transport › P3-L04. The website lesson “Arabic-Speaking Destinations — Culture, Geography and Tourism”: vocabulary, grammar rules and quiz, patterns, common mistakes, sorter, listening, reading, speaking prompts and model, writing task and model, differentiation, final check and the lesson mission. Picture match: website visual game “Arabic-Speaking Destinations — Culture, Geography and Tourism”.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six destination sentences with the tourism verbs and correct complements (website Core). Develop: add a present general description and a past visit. Stretch: a full magazine profile with a reported recommendation and a Type 1 close (website 100–110 words).
• Choose places with care and pride: Fez (al-Qarawiyyīn, founded by Fāṭima al-Fihriyya in 859 CE), Petra (one of the New Seven Wonders, 2007), Marrakesh, Cairo’s pyramids. Invite students to profile a place linked to their own family heritage.
• Agreement trap: city names are feminine (تَسْتَقْطِبُ مَرَّاكُشُ · تَتَمَيَّزُ فَاسُ), and many are diptotes — no tanwīn (زُرْتُ فَاسَ · فِي مَرَّاكُشَ).
• Grammar links: superlatives min afʿal (P3-L01) · past narrative (P3-L03) · Type 1 (P1-L03) · reported speech (P2-L02).
• TEACHER-WRITTEN ITEMS: waṣl alif shown without a kasra; one grammar fix (أَدْرَكْتُ أَنَّ لَا شَيْءَ → أَنَّهُ لَا شَيْءَ); rule headings and formulas in English and transliteration; sorter headings in transliteration; the agreement and register tables are teacher-built from the website texts. All other website items, including the visual game,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P3-L03. Questions 4–5 retrieve the negative Type 2 and fāqa + object (P3-L03) — today’s profiles end with a visit and a reaction.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Two verbs take a direct object, two take bi-. Learn each with its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سیاح، سیاحت، مشہور، ممتاز، آثار and عجائب are all shared — the travel-magazine words are already familiar. Fun fact: Urdu عجائب گھر (“house of wonders”) means a museum; Arabic says مَتْحَفٌ.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Destinations and heritage (website vocabulary (1 of 2)). Hear → Say → See → Use. Transliteration is printed for Core students (cover it for Develop/Stretch).
Destinations and heritage: the nouns of a travel profile. مَوْقِعٌ لِلتُّرَاثِ العَالَمِيِّ = a UNESCO World Heritage Site (Fez’s medina and Petra are both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Destinations and heritage (website vocabulary (2 of 2)). Hear → Say → See → Use. Transliteration is printed for Core students (cover it for Develop/Stretch).
Destinations and heritage: the nouns of a travel profile. مَوْقِعٌ لِلتُّرَاثِ العَالَمِيِّ = a UNESCO World Heritage Site (Fez’s medina and Petra are both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Tourism verbs (website vocabulary (1 of 2)). Hear → Say → See → Use. Transliteration is printed for Core students (cover it for Develop/Stretch).
Tourism verbs: يَسْتَقْطِبُ (Form X) and يُبْهِرُ (Form IV) take a DIRECT object; يَتَمَيَّزُ and يَشْتَهِرُ are fixed with بِـ. With a city as subject, use ta-: تَسْتَقْطِبُ مَرَّاكُشُ.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Tourism verbs (website vocabulary (2 of 2)). Hear → Say → See → Use. Transliteration is printed for Core students (cover it for Develop/Stretch).
FLEX: teach if time allows; otherwise these are on the website vocabulary tab for homework.
Tourism verbs: يَسْتَقْطِبُ (Form X) and يُبْهِرُ (Form IV) take a DIRECT object; يَتَمَيَّزُ and يَشْتَهِرُ are fixed with بِـ. With a city as subject, use ta-: تَسْتَقْطِبُ مَرَّاكُشُ.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tourism industry (website vocabulary (1 of 2)). Hear → Say → See → Use. Transliteration is printed for Core students (cover it for Develop/Stretch).
FLEX: teach if time allows; otherwise these are on the website vocabulary tab for homework.
The tourism industry: words for the economics of travel — useful for the next lesson on sustainable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tourism industry (website vocabulary (2 of 2)). Hear → Say → See → Use. Transliteration is printed for Core students (cover it for Develop/Stretch).
FLEX: teach if time allows; otherwise these are on the website vocabulary tab for homework.
The tourism industry: words for the economics of travel — useful for the next lesson on sustainable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“Attracting and dazzling” and “Distinguished by, famous for”, the website table and teaching point 1. Row 5 (يَزْخَرُ بِـ = is rich in, teems with) is from the website sorter and live builder.
Website mistakes 1–3: تَسْتَقْطِبُ … بِمَلَايِينِ ✗ · تَتَمَيَّزُ … أَزِقَّتَهَا ✗ · تُبْهِرُ … بِزُوَّارِهَا ✗.
Careful: يُبْهِرُ CAN be followed by bi- for the MEANS (تُبْهِرُ زُوَّارَهَا بِأَلْوَانِ المَدَابِغِ = dazzles its visitors WITH the colours) — the person dazzled is always the direct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agreement drawn from the website texts: تَسْتَقْطِبُ مَرَّاكُشُ (pattern 1) · تُبْهِرُ البَتْرَاءُ (rule 1) · تَسْتَقْطِبُ الأَهْرَامُ (mistake 1) · المَغْرِبُ / الأُرْدُنُّ.
Most city names are feminine. Countries with al- are usually masculine (المَغْرِبُ · الأُرْدُنُّ · العِرَاقُ); مِصْرُ is feminine.
Diptote place names (مَمْنُوعٌ مِنَ الصَّرْفِ): فَاسُ · مَرَّاكُشُ · مِصْرُ · مَكَّةُ — no tanwīn; after a preposition they take -a: فِي مَرَّاكُشَ · مِنْ مِصْرَ.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rules “General vs experience” and “Recommend with a conditional”, teaching point “Match the tense to the purpose”.
Card 3: when the result of idhā is NOT a sa- verb (لَا بُدَّ مِنْ · a command · a nominal sentence), it takes fa-: فَلَا بُدَّ مِنْ زِيَارَةِ … · فَزُرْ … · فَهِيَ تَجْرِبَةٌ فَرِيدَةٌ.
لَا بُدَّ مِنْ + verbal noun in the genitive: لَا بُدَّ مِنْ زِيَارَةِ / قَضَاءِ / تَجْرِبَةِ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register tools from the website reading (Petra) and writing model (Fez): min + afʿal + plural (مِنْ أَعْرَقِ المُدُنِ · مِنْ أَشْهَرِ الوِجْهَاتِ — P3-L01), the passive اخْتِيرَتْ (was chosen), a relative clause, sensory detail and a memorable close.
Accuracy: Petra was named one of the New Seven Wonders of the World in 2007; al-Qarawiyyīn (Fez, 859 CE) is often described as the oldest university still operating.
Stretch: write one sentence with each tool about a destination of your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tourism verbs with their complements, and how the register shifts between present, past and a conditional recommendation.”
• Attracting and dazzling: Both take a direct object.
• Distinguished by, famous for: Both are fixed with بِـ.
• General vs experience: Describe generally in the present, your visit in the past.
• Recommend with a conditional: Close a profile with a Type 1 recommendation.
Website common error: Adding بِـ after يَسْتَقْطِبُ / يُبْهِرُ (they take a direct object) or dropping بِـ after يَتَمَيَّزُ / يَشْتَهِرُ.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“Big picture in the present: tuʿaddu … min aʿraqi. Fez is a city → ta-: tastaqṭibu. Features need BI-. Now my visit — switch to the past: zurtu, adraktu anna-hu. Close with a recommendation: idhā zurta … FA-lā budda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Arabic-Speaking Destinations — Culture, Geography and Tourism”)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to magazine register: يَزُورُ السُّيَّاحُ المَعَالِمَ → تَسْتَقْطِبُ المَعَالِمُ التَّارِيخِيَّةُ آلَافَ الزُّوَّارِ · تَشْتَهِرُ المِنْطَقَةُ بِالشَّوَاطِئِ → تَتَمَيَّزُ المِنْطَقَةُ بِشَوَاطِئِهَا الذَّهَبِيَّةِ · يُجَرِّبُ السَّائِحُ الطَّعَامَ → لَا بُدَّ مِنْ تَجْرِبَةِ الطَّعَامِ المَحَلِّيِّ.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Arabic-Speaking Destinations — Culture, Geography and Tourism”)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to magazine register: يَزُورُ السُّيَّاحُ المَعَالِمَ → تَسْتَقْطِبُ المَعَالِمُ التَّارِيخِيَّةُ آلَافَ الزُّوَّارِ · تَشْتَهِرُ المِنْطَقَةُ بِالشَّوَاطِئِ → تَتَمَيَّزُ المِنْطَقَةُ بِشَوَاطِئِهَا الذَّهَبِيَّةِ · يُجَرِّبُ السَّائِحُ الطَّعَامَ → لَا بُدَّ مِنْ تَجْرِبَةِ الطَّعَامِ المَحَلِّيِّ.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live builder: “Build a destination profile from an attraction, a distinguishing feature and a recommendation.” Website feedback: any three different combinations work.
Core: read row 1 across. Develop: replace المَدِينَةُ with فَاسُ / مَرَّاكُشُ / البَتْرَاءُ and check the agreement. Stretch: change column 3 row 2 to a real country (إِذَا زُرْتَ الأُرْدُنَّ، فَلَا بُدَّ مِنْ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use one card from each column in a sentence about a real destination: تَسْتَقْطِبُ … · تَشْتَهِرُ بِـ … · إِذَا زُرْتَ …، فَلَا بُدَّ مِنْ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use one card from each column in a sentence about a real destination: تَسْتَقْطِبُ … · تَشْتَهِرُ بِـ … · إِذَا زُرْتَ …، فَلَا بُدَّ مِنْ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note which sentences are present (description) and which are past (the visit).
Listen 1: just listen. Listen 2: note answers. Then chat the letters.
Support: after the second listening, show the read-along slide (Arabic + English, line by line) for Core students.
SCRIPT (read aloud):
تُعَدُّ مَدِينَةُ فَاسَ المَغْرِبِيَّةُ مِنْ أَعْرَقِ المُدُنِ العَرَبِيَّةِ. تَسْتَقْطِبُ آلَافَ السُّيَّاحِ سَنَوِيًّا بِتُرَاثِهَا المِعْمَارِيِّ الأَصِيلِ وَأَسْوَاقِهَا الحَيَّةِ. تَتَمَيَّزُ المَدِينَةُ القَدِيمَةُ بِأَزِقَّتِهَا الضَّيِّقَةِ، وَتَشْتَهِرُ بِأَقْدَمِ جَامِعَةٍ فِي العَالَمِ، جَامِعَةِ القَرَوِيِّينَ. تُبْهِرُ زُوَّارَهَا بِأَلْوَانِ المَدَابِغِ الشَّهِيرَةِ. زُرْتُ فَاسَ قَبْلَ عَامَيْنِ، وَأَدْرَكْتُ أَنَّهُ لَا شَيْءَ يُمْكِنُهُ أَنْ يُعَوِّضَ تَجْرِبَةَ التَّجَوُّلِ فِيهَا. وَأَشَارَ الدَّلِيلُ السِّيَاحِيُّ إِلَى أَنَّ أَفْضَلَ مَوْسِمٍ لِلزِّيَارَةِ هُوَ الرَّبِيعُ. إِذَا زُرْتَ المَغْرِبَ، فَلَا بُدَّ مِنْ زِيَارَةِ فَاسَ.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وَبِمَ تَنْصَحُ الزَّائِرَ؟ (Recommendation)
B: زُرْتُهَا وَأَبْهَرَتْنِي، وَإِذَا زُرْتَ المَغْرِبَ، فَلَا بُدَّ مِنْ زِيَارَةِ فَاسَ. (Past visit plus Type 1 recommendation)
Website prompts and model. Pair task: “tourism ambassador” — each student promotes a destination for 30 seconds; the partner checks yastaqṭib + object and yashtahir + bi-. To a girl: صِفِي · مُسْتَعْمِلَةً · احْكِي · قُمْتِ · انْصَحِي.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six destination sentences using the tourism verbs with correct complements. · Develop — Add a past visit sentence and a present general description. · Stretch — Write a full magazine profile with a reported recommendation and a Type 1 close.
Website writing task (Stretch): Write a travel-magazine destination profile of one hundred to one hundred and ten words for an Arab city or site. Use يَسْتَقْطِبُ، يَتَمَيَّزُ بِـ، يَشْتَهِرُ بِـ and يُبْهِرُ, move from a present description to a past visit, and close with a Type 1 recommendation.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تُعَدُّ … مِنْ أَعْرَقِ · تَسْتَقْطِبُ آلَافَ السُّيَّاحِ · تَتَمَيَّزُ … بِأَزِقَّتِهَا · تَشْتَهِرُ بِأَقْدَمِ · تُبْهِرُ زُوَّارَهَا · زُرْتُ … وَأَدْرَكْتُ أَنَّهُ · أَشَارَ الدَّلِيلُ إِلَى أَنَّ · إِذَا زُرْتَ …، فَلَا بُدَّ مِنْ.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(P3-L05 · Sustainable Tourism — The Ethics and Impact of Travel) will spend class time USING this language, so students prepare it tonight — short, simple, easy to access (school guidance: “Simple, Short, Interesting, Relevant, Easy to access”). The five words come from the website P3-L05 vocabulary (sustainable tourism).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P3  ·  P3-L04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P3-L04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Arabic-Speaking Destinations — Culture, Geography and Tourism</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وِجْهَاتُ النَّاطِقِينَ بِالعَرَبِيَّةِ — الثَّقَافَةُ وَالسِّيَاحَةُ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Write about Arab destinations in travel-magazine register: yastaqṭib and yubhir with a direct object, yatamayyaz bi- and yashtahir bi-, the present for description and the past for your visit — then recommend with idhā zurta … fa-lā budda min.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P3-L04 · Progression P3 · Travel, Holidays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P3 › P3-L04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150" dirty="0">
                <a:solidFill>
                  <a:srgbClr val="1F2A37"/>
                </a:solidFill>
                <a:latin typeface="Calibri" pitchFamily="34" charset="0"/>
                <a:cs typeface="Amiri" pitchFamily="2" charset="-78"/>
              </a:rPr>
              <a:t>Tourism verbs + complements, place-name agreement, tense by purpose, magazine register.</a:t>
            </a:r>
            <a:endParaRPr lang="en-US" sz="11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tourism pictures, build a destination profile, sort the complements.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P3-L05.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وِجْهَةٌ سِيَاحِيَّةٌ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tourist guide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tourist destination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souvenir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مَعْلَمٌ تُرَاثِيٌّ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heritage landmark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museum guide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hotel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يَسْتَقْطِبُ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famous for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amazes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attracts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2: </a:t>
            </a:r>
            <a:pPr algn="l" indent="0" marL="0">
              <a:buNone/>
            </a:pPr>
            <a:r>
              <a:rPr lang="ar-SA" altLang="en-US" sz="1650" b="1" dirty="0">
                <a:solidFill>
                  <a:srgbClr val="1B3B6F"/>
                </a:solidFill>
                <a:latin typeface="Amiri" pitchFamily="2" charset="-78"/>
                <a:ea typeface="Amiri" pitchFamily="2" charset="-78"/>
                <a:cs typeface="Amiri" pitchFamily="2" charset="-78"/>
              </a:rPr>
              <a:t>لَوْ لَمْ أُسَافِرْ،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فَهِمْتُ الثَّقَافَةَ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سَمَا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reaction.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فَاقَ المَكَانُ تَوَقُّعَاتِي.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فَاقَ المَكَانُ عَلَى تَوَقُّعَاتِي.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فَاقَ المَكَانُ بِتَوَقُّعَاتِي.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وِجْهَةٌ سِيَاحِيَّةٌ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tourist guide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tourist destination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souvenir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مَعْلَمٌ تُرَاثِيٌّ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heritage landmark</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museum guide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hotel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يَسْتَقْطِبُ</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famous for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amazes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attracts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(P3-L03).</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2: </a:t>
            </a:r>
            <a:pPr algn="l" indent="0" marL="0">
              <a:buNone/>
            </a:pPr>
            <a:r>
              <a:rPr lang="ar-SA" altLang="en-US" sz="1650" b="1" dirty="0">
                <a:solidFill>
                  <a:srgbClr val="1B3B6F"/>
                </a:solidFill>
                <a:latin typeface="Amiri" pitchFamily="2" charset="-78"/>
                <a:ea typeface="Amiri" pitchFamily="2" charset="-78"/>
                <a:cs typeface="Amiri" pitchFamily="2" charset="-78"/>
              </a:rPr>
              <a:t>لَوْ لَمْ أُسَافِرْ،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فَهِمْتُ الثَّقَافَةَ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سَمَا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لَمَا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P3-L03: law lam … lamā.</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reaction.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فَاقَ المَكَانُ تَوَقُّعَاتِي.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فَاقَ المَكَانُ عَلَى تَوَقُّعَاتِي.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فَاقَ المَكَانُ بِتَوَقُّعَاتِي.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P3-L03: fāqa + direct object.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Two verbs take a direct object, two take bi-. Learn each with its partner.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تَسْتَقْطِبُ السُّيَّاحَ</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تُبْهِرُ زُوَّارَهَا</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تَتَمَيَّزُ بِـ</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تَشْتَهِرُ بِـ</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destination, heritage and tourism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yastaqṭib, yubhir and yastaḥiqq al-ziyāra to say what makes a place special.</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Move between the present (description), the past (a visit) and a Type 1 recommendation.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travel-magazine destination profile.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destination and heritage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yastaqṭib / yubhir with an object.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yatamayyaz bi- and yashtahir bi-.</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describe in the present and narrate a visit in the past.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recommend with idhā … fa-lā budda min.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magazine profile.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Destinations and heritage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Tourism verbs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 tourism industry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سَائِحٌ · سِيَاحَةٌ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‎سیاح · سیاحت‎ </a:t>
            </a:r>
            <a:pPr indent="0" marL="0">
              <a:buNone/>
            </a:pPr>
            <a:r>
              <a:rPr lang="en-US" sz="950" b="1" dirty="0">
                <a:solidFill>
                  <a:srgbClr val="2E8B57"/>
                </a:solidFill>
                <a:latin typeface="Calibri" pitchFamily="34" charset="0"/>
                <a:cs typeface="Amiri" pitchFamily="2" charset="-78"/>
              </a:rPr>
              <a:t> sayyāh · siyāhat · a tourist · tourism</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يَشْتَهِرُ · مَشْهُورٌ</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‎مشہور‎ </a:t>
            </a:r>
            <a:pPr indent="0" marL="0">
              <a:buNone/>
            </a:pPr>
            <a:r>
              <a:rPr lang="en-US" sz="950" b="1" dirty="0">
                <a:solidFill>
                  <a:srgbClr val="2E8B57"/>
                </a:solidFill>
                <a:latin typeface="Calibri" pitchFamily="34" charset="0"/>
                <a:cs typeface="Amiri" pitchFamily="2" charset="-78"/>
              </a:rPr>
              <a:t> mashhūr · is famous · famous</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يَتَمَيَّزُ · مُمْتَازٌ</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‎ممتاز‎ </a:t>
            </a:r>
            <a:pPr indent="0" marL="0">
              <a:buNone/>
            </a:pPr>
            <a:r>
              <a:rPr lang="en-US" sz="950" b="1" dirty="0">
                <a:solidFill>
                  <a:srgbClr val="2E8B57"/>
                </a:solidFill>
                <a:latin typeface="Calibri" pitchFamily="34" charset="0"/>
                <a:cs typeface="Amiri" pitchFamily="2" charset="-78"/>
              </a:rPr>
              <a:t> mumtāz · stands out · distinguished</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آثَارٌ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‎آثار‎ </a:t>
            </a:r>
            <a:pPr indent="0" marL="0">
              <a:buNone/>
            </a:pPr>
            <a:r>
              <a:rPr lang="ar-SA" sz="950" b="1" dirty="0">
                <a:solidFill>
                  <a:srgbClr val="2E8B57"/>
                </a:solidFill>
                <a:latin typeface="Calibri" pitchFamily="34" charset="0"/>
                <a:ea typeface="Amiri" pitchFamily="2" charset="-78"/>
                <a:cs typeface="Amiri" pitchFamily="2" charset="-78"/>
              </a:rPr>
              <a:t> āsār · remains, ruins (آثارِ قدیمہ)</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عَجَائِبُ</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‎عجائب‎ </a:t>
            </a:r>
            <a:pPr indent="0" marL="0">
              <a:buNone/>
            </a:pPr>
            <a:r>
              <a:rPr lang="ar-SA" sz="950" b="1" dirty="0">
                <a:solidFill>
                  <a:srgbClr val="2E8B57"/>
                </a:solidFill>
                <a:latin typeface="Calibri" pitchFamily="34" charset="0"/>
                <a:ea typeface="Amiri" pitchFamily="2" charset="-78"/>
                <a:cs typeface="Amiri" pitchFamily="2" charset="-78"/>
              </a:rPr>
              <a:t> ajāib · wonders (عجائب گھر = museum!)</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Destinations and heritage (1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وِجْهَةٌ سِيَاحِيَّةٌ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tourist destination</a:t>
            </a:r>
            <a:endParaRPr lang="en-US" sz="1350" dirty="0"/>
          </a:p>
          <a:p>
            <a:pPr indent="0" marL="0">
              <a:buNone/>
            </a:pPr>
            <a:r>
              <a:rPr lang="en-US" sz="1100" i="1" dirty="0">
                <a:solidFill>
                  <a:srgbClr val="5A6472"/>
                </a:solidFill>
                <a:latin typeface="Calibri" pitchFamily="34" charset="0"/>
                <a:cs typeface="Amiri" pitchFamily="2" charset="-78"/>
              </a:rPr>
              <a:t>wij-ha-tun si-yā-ḥiy-ya-tun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وِجْهَاتٌ سِيَاحِيَّةٌ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مَعْلَمٌ تُرَاثِيٌّ</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heritage landmark</a:t>
            </a:r>
            <a:endParaRPr lang="en-US" sz="1350" dirty="0"/>
          </a:p>
          <a:p>
            <a:pPr indent="0" marL="0">
              <a:buNone/>
            </a:pPr>
            <a:r>
              <a:rPr lang="en-US" sz="1100" i="1" dirty="0">
                <a:solidFill>
                  <a:srgbClr val="5A6472"/>
                </a:solidFill>
                <a:latin typeface="Calibri" pitchFamily="34" charset="0"/>
                <a:cs typeface="Amiri" pitchFamily="2" charset="-78"/>
              </a:rPr>
              <a:t>maʿ-la-mun tu-rā-thiy-yun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مَعَالِمُ تُرَاثِيَّةٌ</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مَوْقِعٌ لِلتُّرَاثِ العَالَمِيِّ</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world heritage site</a:t>
            </a:r>
            <a:endParaRPr lang="en-US" sz="1350" dirty="0"/>
          </a:p>
          <a:p>
            <a:pPr indent="0" marL="0">
              <a:buNone/>
            </a:pPr>
            <a:r>
              <a:rPr lang="en-US" sz="1100" i="1" dirty="0">
                <a:solidFill>
                  <a:srgbClr val="5A6472"/>
                </a:solidFill>
                <a:latin typeface="Calibri" pitchFamily="34" charset="0"/>
                <a:cs typeface="Amiri" pitchFamily="2" charset="-78"/>
              </a:rPr>
              <a:t>maw-qi-ʿun lilt-tu-rā-thi al-ʿā-la-miy-yi</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مَوَاقِعُ لِلتُّرَاثِ العَالَمِيِّ</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مَدِينَةٌ قَدِيمَةٌ</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old city, a medina</a:t>
            </a:r>
            <a:endParaRPr lang="en-US" sz="1350" dirty="0"/>
          </a:p>
          <a:p>
            <a:pPr indent="0" marL="0">
              <a:buNone/>
            </a:pPr>
            <a:r>
              <a:rPr lang="en-US" sz="1100" i="1" dirty="0">
                <a:solidFill>
                  <a:srgbClr val="5A6472"/>
                </a:solidFill>
                <a:latin typeface="Calibri" pitchFamily="34" charset="0"/>
                <a:cs typeface="Amiri" pitchFamily="2" charset="-78"/>
              </a:rPr>
              <a:t>ma-dī-na-tun qa-dī-ma-tun</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مُدُنٌ قَدِيمَةٌ</a:t>
            </a:r>
            <a:endParaRPr lang="ar-SA" sz="15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Destinations and heritage (2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سُوقٌ شَعْبِيٌّ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traditional souk</a:t>
            </a:r>
            <a:endParaRPr lang="en-US" sz="1350" dirty="0"/>
          </a:p>
          <a:p>
            <a:pPr indent="0" marL="0">
              <a:buNone/>
            </a:pPr>
            <a:r>
              <a:rPr lang="en-US" sz="1100" i="1" dirty="0">
                <a:solidFill>
                  <a:srgbClr val="5A6472"/>
                </a:solidFill>
                <a:latin typeface="Calibri" pitchFamily="34" charset="0"/>
                <a:cs typeface="Amiri" pitchFamily="2" charset="-78"/>
              </a:rPr>
              <a:t>sū-qun shaʿ-biy-yun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أَسْوَاقٌ شَعْبِيَّةٌ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آثَارٌ</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archaeological sites</a:t>
            </a:r>
            <a:endParaRPr lang="en-US" sz="1350" dirty="0"/>
          </a:p>
          <a:p>
            <a:pPr indent="0" marL="0">
              <a:buNone/>
            </a:pPr>
            <a:r>
              <a:rPr lang="en-US" sz="1100" i="1" dirty="0">
                <a:solidFill>
                  <a:srgbClr val="5A6472"/>
                </a:solidFill>
                <a:latin typeface="Calibri" pitchFamily="34" charset="0"/>
                <a:cs typeface="Amiri" pitchFamily="2" charset="-78"/>
              </a:rPr>
              <a:t>ā-thā-run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أَثَرٌ</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مَنْطِقَةٌ طَبِيعِيَّةٌ مَحْمِيَّةٌ</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nature reserve</a:t>
            </a:r>
            <a:endParaRPr lang="en-US" sz="1350" dirty="0"/>
          </a:p>
          <a:p>
            <a:pPr indent="0" marL="0">
              <a:buNone/>
            </a:pPr>
            <a:r>
              <a:rPr lang="en-US" sz="1100" i="1" dirty="0">
                <a:solidFill>
                  <a:srgbClr val="5A6472"/>
                </a:solidFill>
                <a:latin typeface="Calibri" pitchFamily="34" charset="0"/>
                <a:cs typeface="Amiri" pitchFamily="2" charset="-78"/>
              </a:rPr>
              <a:t>man-ṭi-qa-tun ṭa-bī-ʿiy-ya-tun maḥ-miy-ya-tun</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مَنَاطِقُ طَبِيعِيَّةٌ مَحْمِيَّةٌ</a:t>
            </a:r>
            <a:endParaRPr lang="ar-SA" sz="150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52" name="Shape 4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مَتْحَفٌ وَطَنِيٌّ</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national museum</a:t>
            </a:r>
            <a:endParaRPr lang="en-US" sz="1350" dirty="0"/>
          </a:p>
          <a:p>
            <a:pPr indent="0" marL="0">
              <a:buNone/>
            </a:pPr>
            <a:r>
              <a:rPr lang="en-US" sz="1100" i="1" dirty="0">
                <a:solidFill>
                  <a:srgbClr val="5A6472"/>
                </a:solidFill>
                <a:latin typeface="Calibri" pitchFamily="34" charset="0"/>
                <a:cs typeface="Amiri" pitchFamily="2" charset="-78"/>
              </a:rPr>
              <a:t>mat-ḥa-fun wa-ṭa-niy-yun</a:t>
            </a:r>
            <a:endParaRPr lang="en-US" sz="1350" dirty="0"/>
          </a:p>
        </p:txBody>
      </p:sp>
      <p:sp>
        <p:nvSpPr>
          <p:cNvPr id="56" name="Shape 5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مَتَاحِفُ وَطَنِيَّةٌ</a:t>
            </a:r>
            <a:endParaRPr lang="ar-SA" sz="150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Tourism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يَسْتَقْطِبُ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attracts</a:t>
            </a:r>
            <a:endParaRPr lang="en-US" sz="1350" dirty="0"/>
          </a:p>
          <a:p>
            <a:pPr indent="0" marL="0">
              <a:buNone/>
            </a:pPr>
            <a:r>
              <a:rPr lang="en-US" sz="1100" i="1" dirty="0">
                <a:solidFill>
                  <a:srgbClr val="5A6472"/>
                </a:solidFill>
                <a:latin typeface="Calibri" pitchFamily="34" charset="0"/>
                <a:cs typeface="Amiri" pitchFamily="2" charset="-78"/>
              </a:rPr>
              <a:t>yas-taq-ṭi-bu</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تَسْتَقْطِبُ</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0" name="Shape 27"/>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يُبْهِرُ</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amazes, dazzles</a:t>
            </a:r>
            <a:endParaRPr lang="en-US" sz="1350" dirty="0"/>
          </a:p>
          <a:p>
            <a:pPr indent="0" marL="0">
              <a:buNone/>
            </a:pPr>
            <a:r>
              <a:rPr lang="en-US" sz="1100" i="1" dirty="0">
                <a:solidFill>
                  <a:srgbClr val="5A6472"/>
                </a:solidFill>
                <a:latin typeface="Calibri" pitchFamily="34" charset="0"/>
                <a:cs typeface="Amiri" pitchFamily="2" charset="-78"/>
              </a:rPr>
              <a:t>yub-hi-ru</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تُبْهِرُ</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يَسْتَحِقُّ الزِّيَارَةَ</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worth visiting</a:t>
            </a:r>
            <a:endParaRPr lang="en-US" sz="1350" dirty="0"/>
          </a:p>
          <a:p>
            <a:pPr indent="0" marL="0">
              <a:buNone/>
            </a:pPr>
            <a:r>
              <a:rPr lang="en-US" sz="1100" i="1" dirty="0">
                <a:solidFill>
                  <a:srgbClr val="5A6472"/>
                </a:solidFill>
                <a:latin typeface="Calibri" pitchFamily="34" charset="0"/>
                <a:cs typeface="Amiri" pitchFamily="2" charset="-78"/>
              </a:rPr>
              <a:t>yas-ta-ḥiq-qu az-zi-yā-ra-ta</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7" name="Shape 44"/>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يَتَمَيَّزُ بِـ</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distinguished by</a:t>
            </a:r>
            <a:endParaRPr lang="en-US" sz="1350" dirty="0"/>
          </a:p>
          <a:p>
            <a:pPr indent="0" marL="0">
              <a:buNone/>
            </a:pPr>
            <a:r>
              <a:rPr lang="en-US" sz="1100" i="1" dirty="0">
                <a:solidFill>
                  <a:srgbClr val="5A6472"/>
                </a:solidFill>
                <a:latin typeface="Calibri" pitchFamily="34" charset="0"/>
                <a:cs typeface="Amiri" pitchFamily="2" charset="-78"/>
              </a:rPr>
              <a:t>ya-ta-may-ya-zu bi</a:t>
            </a:r>
            <a:endParaRPr lang="en-US" sz="1350" dirty="0"/>
          </a:p>
        </p:txBody>
      </p:sp>
      <p:sp>
        <p:nvSpPr>
          <p:cNvPr id="53" name="Shape 50"/>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5" name="Text 52"/>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تَتَمَيَّزُ بِـ</a:t>
            </a:r>
            <a:endParaRPr lang="ar-SA" sz="13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Tourism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يَشْتَهِرُ بِـ</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famous for</a:t>
            </a:r>
            <a:endParaRPr lang="en-US" sz="1350" dirty="0"/>
          </a:p>
          <a:p>
            <a:pPr indent="0" marL="0">
              <a:buNone/>
            </a:pPr>
            <a:r>
              <a:rPr lang="en-US" sz="1100" i="1" dirty="0">
                <a:solidFill>
                  <a:srgbClr val="5A6472"/>
                </a:solidFill>
                <a:latin typeface="Calibri" pitchFamily="34" charset="0"/>
                <a:cs typeface="Amiri" pitchFamily="2" charset="-78"/>
              </a:rPr>
              <a:t>yash-ta-hi-ru bi</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8" name="Text 25"/>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تَشْتَهِرُ بِـ</a:t>
            </a:r>
            <a:endParaRPr lang="ar-SA" sz="135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2" name="Shape 29"/>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4" name="Shape 31"/>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يُعَدُّ مِنْ</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considered among</a:t>
            </a:r>
            <a:endParaRPr lang="en-US" sz="1350" dirty="0"/>
          </a:p>
          <a:p>
            <a:pPr indent="0" marL="0">
              <a:buNone/>
            </a:pPr>
            <a:r>
              <a:rPr lang="en-US" sz="1100" i="1" dirty="0">
                <a:solidFill>
                  <a:srgbClr val="5A6472"/>
                </a:solidFill>
                <a:latin typeface="Calibri" pitchFamily="34" charset="0"/>
                <a:cs typeface="Amiri" pitchFamily="2" charset="-78"/>
              </a:rPr>
              <a:t>yu-ʿad-du min</a:t>
            </a:r>
            <a:endParaRPr lang="en-US" sz="1350" dirty="0"/>
          </a:p>
        </p:txBody>
      </p:sp>
      <p:sp>
        <p:nvSpPr>
          <p:cNvPr id="38" name="Shape 35"/>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40" name="Text 37"/>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تُعَدُّ مِنْ</a:t>
            </a:r>
            <a:endParaRPr lang="ar-SA" sz="1350" dirty="0"/>
          </a:p>
        </p:txBody>
      </p:sp>
      <p:sp>
        <p:nvSpPr>
          <p:cNvPr id="41" name="Shape 3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66928" y="1920240"/>
            <a:ext cx="310896" cy="310896"/>
          </a:xfrm>
          <a:prstGeom prst="ellipse">
            <a:avLst/>
          </a:prstGeom>
          <a:solidFill>
            <a:srgbClr val="F4F1EA"/>
          </a:solidFill>
          <a:ln w="12700">
            <a:solidFill>
              <a:srgbClr val="F4F1EA"/>
            </a:solidFill>
            <a:prstDash val="solid"/>
          </a:ln>
        </p:spPr>
      </p:sp>
      <p:sp>
        <p:nvSpPr>
          <p:cNvPr id="43" name="Text 4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بُدَّ مِنْ زِيَارَةِ</a:t>
            </a:r>
            <a:endParaRPr lang="ar-SA" sz="3000" dirty="0"/>
          </a:p>
        </p:txBody>
      </p:sp>
      <p:sp>
        <p:nvSpPr>
          <p:cNvPr id="47" name="Text 4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must-visit</a:t>
            </a:r>
            <a:endParaRPr lang="en-US" sz="1350" dirty="0"/>
          </a:p>
          <a:p>
            <a:pPr indent="0" marL="0">
              <a:buNone/>
            </a:pPr>
            <a:r>
              <a:rPr lang="en-US" sz="1100" i="1" dirty="0">
                <a:solidFill>
                  <a:srgbClr val="5A6472"/>
                </a:solidFill>
                <a:latin typeface="Calibri" pitchFamily="34" charset="0"/>
                <a:cs typeface="Amiri" pitchFamily="2" charset="-78"/>
              </a:rPr>
              <a:t>lā bud-da min zi-yā-ra-ti</a:t>
            </a:r>
            <a:endParaRPr lang="en-US"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تَجْرِبَةٌ فَرِيدَةٌ</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unique experience</a:t>
            </a:r>
            <a:endParaRPr lang="en-US" sz="1350" dirty="0"/>
          </a:p>
          <a:p>
            <a:pPr indent="0" marL="0">
              <a:buNone/>
            </a:pPr>
            <a:r>
              <a:rPr lang="en-US" sz="1100" i="1" dirty="0">
                <a:solidFill>
                  <a:srgbClr val="5A6472"/>
                </a:solidFill>
                <a:latin typeface="Calibri" pitchFamily="34" charset="0"/>
                <a:cs typeface="Amiri" pitchFamily="2" charset="-78"/>
              </a:rPr>
              <a:t>taj-ri-ba-tun fa-rī-da-tun</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tourism industry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مَوْسِمُ السِّيَاحَةِ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tourist season</a:t>
            </a:r>
            <a:endParaRPr lang="en-US" sz="1350" dirty="0"/>
          </a:p>
          <a:p>
            <a:pPr indent="0" marL="0">
              <a:buNone/>
            </a:pPr>
            <a:r>
              <a:rPr lang="en-US" sz="1100" i="1" dirty="0">
                <a:solidFill>
                  <a:srgbClr val="5A6472"/>
                </a:solidFill>
                <a:latin typeface="Calibri" pitchFamily="34" charset="0"/>
                <a:cs typeface="Amiri" pitchFamily="2" charset="-78"/>
              </a:rPr>
              <a:t>maw-si-mu as-si-yā-ḥa-ti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 سِيَاحِيٌّ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tourist guide</a:t>
            </a:r>
            <a:endParaRPr lang="en-US" sz="1350" dirty="0"/>
          </a:p>
          <a:p>
            <a:pPr indent="0" marL="0">
              <a:buNone/>
            </a:pPr>
            <a:r>
              <a:rPr lang="en-US" sz="1100" i="1" dirty="0">
                <a:solidFill>
                  <a:srgbClr val="5A6472"/>
                </a:solidFill>
                <a:latin typeface="Calibri" pitchFamily="34" charset="0"/>
                <a:cs typeface="Amiri" pitchFamily="2" charset="-78"/>
              </a:rPr>
              <a:t>da-lī-lun si-yā-ḥiy-yun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مُنْشَآتُ إِيوَاءٍ</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accommodation facilities</a:t>
            </a:r>
            <a:endParaRPr lang="en-US" sz="1350" dirty="0"/>
          </a:p>
          <a:p>
            <a:pPr indent="0" marL="0">
              <a:buNone/>
            </a:pPr>
            <a:r>
              <a:rPr lang="en-US" sz="1100" i="1" dirty="0">
                <a:solidFill>
                  <a:srgbClr val="5A6472"/>
                </a:solidFill>
                <a:latin typeface="Calibri" pitchFamily="34" charset="0"/>
                <a:cs typeface="Amiri" pitchFamily="2" charset="-78"/>
              </a:rPr>
              <a:t>mun-sha-ʾā-tu ī-wā-ʾin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بُنْيَةُ الضِّيَافَةِ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hospitality infrastructure</a:t>
            </a:r>
            <a:endParaRPr lang="en-US" sz="1350" dirty="0"/>
          </a:p>
          <a:p>
            <a:pPr indent="0" marL="0">
              <a:buNone/>
            </a:pPr>
            <a:r>
              <a:rPr lang="en-US" sz="1100" i="1" dirty="0">
                <a:solidFill>
                  <a:srgbClr val="5A6472"/>
                </a:solidFill>
                <a:latin typeface="Calibri" pitchFamily="34" charset="0"/>
                <a:cs typeface="Amiri" pitchFamily="2" charset="-78"/>
              </a:rPr>
              <a:t>bun-ya-tu aḍ-ḍi-yā-fa-ti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tourism industry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السِّيَاحَةُ المُسْتَدَامَةُ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sustainable tourism</a:t>
            </a:r>
            <a:endParaRPr lang="en-US" sz="1350" dirty="0"/>
          </a:p>
          <a:p>
            <a:pPr indent="0" marL="0">
              <a:buNone/>
            </a:pPr>
            <a:r>
              <a:rPr lang="en-US" sz="1100" i="1" dirty="0">
                <a:solidFill>
                  <a:srgbClr val="5A6472"/>
                </a:solidFill>
                <a:latin typeface="Calibri" pitchFamily="34" charset="0"/>
                <a:cs typeface="Amiri" pitchFamily="2" charset="-78"/>
              </a:rPr>
              <a:t>as-si-yā-ḥa-tu al-mus-ta-dā-ma-tu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تَكَالِيفُ المَعِيشَةِ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cost of living</a:t>
            </a:r>
            <a:endParaRPr lang="en-US" sz="1350" dirty="0"/>
          </a:p>
          <a:p>
            <a:pPr indent="0" marL="0">
              <a:buNone/>
            </a:pPr>
            <a:r>
              <a:rPr lang="en-US" sz="1100" i="1" dirty="0">
                <a:solidFill>
                  <a:srgbClr val="5A6472"/>
                </a:solidFill>
                <a:latin typeface="Calibri" pitchFamily="34" charset="0"/>
                <a:cs typeface="Amiri" pitchFamily="2" charset="-78"/>
              </a:rPr>
              <a:t>ta-kā-lī-fu al-ma-ʿī-sha-ti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نِدَاءُ المُغَامَرَةِ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call of adventure</a:t>
            </a:r>
            <a:endParaRPr lang="en-US" sz="1350" dirty="0"/>
          </a:p>
          <a:p>
            <a:pPr indent="0" marL="0">
              <a:buNone/>
            </a:pPr>
            <a:r>
              <a:rPr lang="en-US" sz="1100" i="1" dirty="0">
                <a:solidFill>
                  <a:srgbClr val="5A6472"/>
                </a:solidFill>
                <a:latin typeface="Calibri" pitchFamily="34" charset="0"/>
                <a:cs typeface="Amiri" pitchFamily="2" charset="-78"/>
              </a:rPr>
              <a:t>ni-dā-ʾu al-mu-ghā-ma-ra-ti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5" name="Shape 32"/>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7" name="Text 3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زُوَّارٌ</a:t>
            </a:r>
            <a:endParaRPr lang="ar-SA" sz="3000" dirty="0"/>
          </a:p>
        </p:txBody>
      </p:sp>
      <p:sp>
        <p:nvSpPr>
          <p:cNvPr id="38" name="Text 3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visitors</a:t>
            </a:r>
            <a:endParaRPr lang="en-US" sz="1350" dirty="0"/>
          </a:p>
          <a:p>
            <a:pPr indent="0" marL="0">
              <a:buNone/>
            </a:pPr>
            <a:r>
              <a:rPr lang="en-US" sz="1100" i="1" dirty="0">
                <a:solidFill>
                  <a:srgbClr val="5A6472"/>
                </a:solidFill>
                <a:latin typeface="Calibri" pitchFamily="34" charset="0"/>
                <a:cs typeface="Amiri" pitchFamily="2" charset="-78"/>
              </a:rPr>
              <a:t>zuw-wā-run</a:t>
            </a:r>
            <a:endParaRPr lang="en-US" sz="1350" dirty="0"/>
          </a:p>
        </p:txBody>
      </p:sp>
      <p:sp>
        <p:nvSpPr>
          <p:cNvPr id="39" name="Shape 3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زَائِرَةٌ</a:t>
            </a:r>
            <a:endParaRPr lang="ar-SA" sz="1500" dirty="0"/>
          </a:p>
        </p:txBody>
      </p:sp>
      <p:sp>
        <p:nvSpPr>
          <p:cNvPr id="42" name="Shape 3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 sg.</a:t>
            </a:r>
            <a:endParaRPr lang="en-US" sz="700" dirty="0"/>
          </a:p>
        </p:txBody>
      </p:sp>
      <p:sp>
        <p:nvSpPr>
          <p:cNvPr id="44" name="Text 4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زَائِرٌ</a:t>
            </a:r>
            <a:endParaRPr lang="ar-SA"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TOURISM VERBS AND THEIR COMPLEMENTS (WEBSITE RULES 1–2 + TABLE)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 — or bi-?</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الفِعْلُ وَمُتَمِّمُهُ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559552" y="1810512"/>
            <a:ext cx="6099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37307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a:t>
            </a:r>
            <a:endParaRPr lang="en-US" sz="1100" dirty="0"/>
          </a:p>
        </p:txBody>
      </p:sp>
      <p:sp>
        <p:nvSpPr>
          <p:cNvPr id="18" name="Text 15"/>
          <p:cNvSpPr txBox="1"/>
          <p:nvPr/>
        </p:nvSpPr>
        <p:spPr>
          <a:xfrm>
            <a:off x="2542032" y="1810512"/>
            <a:ext cx="1042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9" name="Text 16"/>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5577840" y="2267712"/>
            <a:ext cx="606247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تَسْتَقْطِبُ مَرَّاكُشُ </a:t>
            </a:r>
            <a:pPr rtl="1" algn="ctr" indent="0" marL="0">
              <a:buNone/>
            </a:pPr>
            <a:r>
              <a:rPr lang="ar-SA" altLang="en-US" sz="1900" b="1" dirty="0">
                <a:solidFill>
                  <a:srgbClr val="1D5FBF"/>
                </a:solidFill>
                <a:latin typeface="Amiri" pitchFamily="2" charset="-78"/>
                <a:ea typeface="Amiri" pitchFamily="2" charset="-78"/>
                <a:cs typeface="Amiri" pitchFamily="2" charset="-78"/>
              </a:rPr>
              <a:t>مَلَايِينَ</a:t>
            </a:r>
            <a:pPr rtl="1" algn="ctr" indent="0" marL="0">
              <a:buNone/>
            </a:pPr>
            <a:r>
              <a:rPr lang="ar-SA" altLang="en-US" sz="1900" b="1" dirty="0">
                <a:solidFill>
                  <a:srgbClr val="1B3B6F"/>
                </a:solidFill>
                <a:latin typeface="Amiri" pitchFamily="2" charset="-78"/>
                <a:ea typeface="Amiri" pitchFamily="2" charset="-78"/>
                <a:cs typeface="Amiri" pitchFamily="2" charset="-78"/>
              </a:rPr>
              <a:t> السُّيَّاحِ سَنَوِيًّا.</a:t>
            </a:r>
            <a:endParaRPr lang="ar-SA" sz="1900" dirty="0"/>
          </a:p>
        </p:txBody>
      </p:sp>
      <p:sp>
        <p:nvSpPr>
          <p:cNvPr id="22" name="Text 19"/>
          <p:cNvSpPr txBox="1"/>
          <p:nvPr/>
        </p:nvSpPr>
        <p:spPr>
          <a:xfrm>
            <a:off x="376732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 object</a:t>
            </a:r>
            <a:endParaRPr lang="en-US" sz="1100" dirty="0"/>
          </a:p>
        </p:txBody>
      </p:sp>
      <p:sp>
        <p:nvSpPr>
          <p:cNvPr id="23" name="Text 20"/>
          <p:cNvSpPr txBox="1"/>
          <p:nvPr/>
        </p:nvSpPr>
        <p:spPr>
          <a:xfrm>
            <a:off x="2578608" y="2267712"/>
            <a:ext cx="1005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X</a:t>
            </a:r>
            <a:endParaRPr lang="en-US" sz="1100" dirty="0"/>
          </a:p>
        </p:txBody>
      </p:sp>
      <p:sp>
        <p:nvSpPr>
          <p:cNvPr id="24" name="Text 21"/>
          <p:cNvSpPr txBox="1"/>
          <p:nvPr/>
        </p:nvSpPr>
        <p:spPr>
          <a:xfrm>
            <a:off x="548640" y="2267712"/>
            <a:ext cx="182880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يَسْتَقْطِبُ</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5577840" y="3004718"/>
            <a:ext cx="606247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تُبْهِرُ البَتْرَاءُ </a:t>
            </a:r>
            <a:pPr rtl="1" algn="ctr" indent="0" marL="0">
              <a:buNone/>
            </a:pPr>
            <a:r>
              <a:rPr lang="ar-SA" altLang="en-US" sz="1900" b="1" dirty="0">
                <a:solidFill>
                  <a:srgbClr val="1D5FBF"/>
                </a:solidFill>
                <a:latin typeface="Amiri" pitchFamily="2" charset="-78"/>
                <a:ea typeface="Amiri" pitchFamily="2" charset="-78"/>
                <a:cs typeface="Amiri" pitchFamily="2" charset="-78"/>
              </a:rPr>
              <a:t>زُوَّارَهَا</a:t>
            </a:r>
            <a:pPr rtl="1" algn="ctr" indent="0" marL="0">
              <a:buNone/>
            </a:pPr>
            <a:r>
              <a:rPr lang="ar-SA" altLang="en-US" sz="1900" b="1" dirty="0">
                <a:solidFill>
                  <a:srgbClr val="1B3B6F"/>
                </a:solidFill>
                <a:latin typeface="Amiri" pitchFamily="2" charset="-78"/>
                <a:cs typeface="Amiri" pitchFamily="2" charset="-78"/>
              </a:rPr>
              <a:t>.</a:t>
            </a:r>
            <a:endParaRPr lang="ar-SA" sz="1900" dirty="0"/>
          </a:p>
        </p:txBody>
      </p:sp>
      <p:sp>
        <p:nvSpPr>
          <p:cNvPr id="29" name="Text 26"/>
          <p:cNvSpPr txBox="1"/>
          <p:nvPr/>
        </p:nvSpPr>
        <p:spPr>
          <a:xfrm>
            <a:off x="376732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direct object</a:t>
            </a:r>
            <a:endParaRPr lang="en-US" sz="1100" dirty="0"/>
          </a:p>
        </p:txBody>
      </p:sp>
      <p:sp>
        <p:nvSpPr>
          <p:cNvPr id="30" name="Text 27"/>
          <p:cNvSpPr txBox="1"/>
          <p:nvPr/>
        </p:nvSpPr>
        <p:spPr>
          <a:xfrm>
            <a:off x="2578608" y="3004718"/>
            <a:ext cx="1005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IV</a:t>
            </a:r>
            <a:endParaRPr lang="en-US" sz="1100" dirty="0"/>
          </a:p>
        </p:txBody>
      </p:sp>
      <p:sp>
        <p:nvSpPr>
          <p:cNvPr id="31" name="Text 28"/>
          <p:cNvSpPr txBox="1"/>
          <p:nvPr/>
        </p:nvSpPr>
        <p:spPr>
          <a:xfrm>
            <a:off x="548640" y="3004718"/>
            <a:ext cx="182880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يُبْهِرُ</a:t>
            </a:r>
            <a:endParaRPr lang="ar-SA" sz="22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5577840" y="3741725"/>
            <a:ext cx="606247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تَتَمَيَّزُ فَاسُ </a:t>
            </a:r>
            <a:pPr rtl="1" algn="ctr" indent="0" marL="0">
              <a:buNone/>
            </a:pPr>
            <a:r>
              <a:rPr lang="ar-SA" altLang="en-US" sz="1900" b="1" dirty="0">
                <a:solidFill>
                  <a:srgbClr val="0E7C86"/>
                </a:solidFill>
                <a:latin typeface="Amiri" pitchFamily="2" charset="-78"/>
                <a:ea typeface="Amiri" pitchFamily="2" charset="-78"/>
                <a:cs typeface="Amiri" pitchFamily="2" charset="-78"/>
              </a:rPr>
              <a:t>بِأَزِقَّتِهَا</a:t>
            </a:r>
            <a:pPr rtl="1" algn="ctr" indent="0" marL="0">
              <a:buNone/>
            </a:pPr>
            <a:r>
              <a:rPr lang="ar-SA" altLang="en-US" sz="1900" b="1" dirty="0">
                <a:solidFill>
                  <a:srgbClr val="1B3B6F"/>
                </a:solidFill>
                <a:latin typeface="Amiri" pitchFamily="2" charset="-78"/>
                <a:ea typeface="Amiri" pitchFamily="2" charset="-78"/>
                <a:cs typeface="Amiri" pitchFamily="2" charset="-78"/>
              </a:rPr>
              <a:t> الضَّيِّقَةِ.</a:t>
            </a:r>
            <a:endParaRPr lang="ar-SA" sz="1900" dirty="0"/>
          </a:p>
        </p:txBody>
      </p:sp>
      <p:sp>
        <p:nvSpPr>
          <p:cNvPr id="36" name="Text 33"/>
          <p:cNvSpPr txBox="1"/>
          <p:nvPr/>
        </p:nvSpPr>
        <p:spPr>
          <a:xfrm>
            <a:off x="376732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a:t>
            </a:r>
            <a:endParaRPr lang="en-US" sz="1100" dirty="0"/>
          </a:p>
        </p:txBody>
      </p:sp>
      <p:sp>
        <p:nvSpPr>
          <p:cNvPr id="37" name="Text 34"/>
          <p:cNvSpPr txBox="1"/>
          <p:nvPr/>
        </p:nvSpPr>
        <p:spPr>
          <a:xfrm>
            <a:off x="2578608" y="3741725"/>
            <a:ext cx="1005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a:t>
            </a:r>
            <a:endParaRPr lang="en-US" sz="1100" dirty="0"/>
          </a:p>
        </p:txBody>
      </p:sp>
      <p:sp>
        <p:nvSpPr>
          <p:cNvPr id="38" name="Text 35"/>
          <p:cNvSpPr txBox="1"/>
          <p:nvPr/>
        </p:nvSpPr>
        <p:spPr>
          <a:xfrm>
            <a:off x="548640" y="3741725"/>
            <a:ext cx="182880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يَتَمَيَّزُ</a:t>
            </a:r>
            <a:endParaRPr lang="ar-SA" sz="22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5577840" y="4478731"/>
            <a:ext cx="606247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تَشْتَهِرُ </a:t>
            </a:r>
            <a:pPr rtl="1" algn="ctr" indent="0" marL="0">
              <a:buNone/>
            </a:pPr>
            <a:r>
              <a:rPr lang="ar-SA" altLang="en-US" sz="1900" b="1" dirty="0">
                <a:solidFill>
                  <a:srgbClr val="0E7C86"/>
                </a:solidFill>
                <a:latin typeface="Amiri" pitchFamily="2" charset="-78"/>
                <a:ea typeface="Amiri" pitchFamily="2" charset="-78"/>
                <a:cs typeface="Amiri" pitchFamily="2" charset="-78"/>
              </a:rPr>
              <a:t>بِأَقْدَمِ</a:t>
            </a:r>
            <a:pPr rtl="1" algn="ctr" indent="0" marL="0">
              <a:buNone/>
            </a:pPr>
            <a:r>
              <a:rPr lang="ar-SA" altLang="en-US" sz="1900" b="1" dirty="0">
                <a:solidFill>
                  <a:srgbClr val="1B3B6F"/>
                </a:solidFill>
                <a:latin typeface="Amiri" pitchFamily="2" charset="-78"/>
                <a:ea typeface="Amiri" pitchFamily="2" charset="-78"/>
                <a:cs typeface="Amiri" pitchFamily="2" charset="-78"/>
              </a:rPr>
              <a:t> جَامِعَةٍ فِي العَالَمِ.</a:t>
            </a:r>
            <a:endParaRPr lang="ar-SA" sz="1900" dirty="0"/>
          </a:p>
        </p:txBody>
      </p:sp>
      <p:sp>
        <p:nvSpPr>
          <p:cNvPr id="43" name="Text 40"/>
          <p:cNvSpPr txBox="1"/>
          <p:nvPr/>
        </p:nvSpPr>
        <p:spPr>
          <a:xfrm>
            <a:off x="376732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a:t>
            </a:r>
            <a:endParaRPr lang="en-US" sz="1100" dirty="0"/>
          </a:p>
        </p:txBody>
      </p:sp>
      <p:sp>
        <p:nvSpPr>
          <p:cNvPr id="44" name="Text 41"/>
          <p:cNvSpPr txBox="1"/>
          <p:nvPr/>
        </p:nvSpPr>
        <p:spPr>
          <a:xfrm>
            <a:off x="2578608" y="4478731"/>
            <a:ext cx="1005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VIII</a:t>
            </a:r>
            <a:endParaRPr lang="en-US" sz="1100" dirty="0"/>
          </a:p>
        </p:txBody>
      </p:sp>
      <p:sp>
        <p:nvSpPr>
          <p:cNvPr id="45" name="Text 42"/>
          <p:cNvSpPr txBox="1"/>
          <p:nvPr/>
        </p:nvSpPr>
        <p:spPr>
          <a:xfrm>
            <a:off x="548640" y="4478731"/>
            <a:ext cx="182880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يَشْتَهِرُ</a:t>
            </a:r>
            <a:endParaRPr lang="ar-SA" sz="22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5577840" y="5215738"/>
            <a:ext cx="6062472"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تَزْخَرُ المَدِينَةُ </a:t>
            </a:r>
            <a:pPr rtl="1" algn="ctr" indent="0" marL="0">
              <a:buNone/>
            </a:pPr>
            <a:r>
              <a:rPr lang="ar-SA" altLang="en-US" sz="1900" b="1" dirty="0">
                <a:solidFill>
                  <a:srgbClr val="7B3FA0"/>
                </a:solidFill>
                <a:latin typeface="Amiri" pitchFamily="2" charset="-78"/>
                <a:ea typeface="Amiri" pitchFamily="2" charset="-78"/>
                <a:cs typeface="Amiri" pitchFamily="2" charset="-78"/>
              </a:rPr>
              <a:t>بِالمَعَالِمِ</a:t>
            </a:r>
            <a:pPr rtl="1" algn="ctr" indent="0" marL="0">
              <a:buNone/>
            </a:pPr>
            <a:r>
              <a:rPr lang="ar-SA" altLang="en-US" sz="1900" b="1" dirty="0">
                <a:solidFill>
                  <a:srgbClr val="1B3B6F"/>
                </a:solidFill>
                <a:latin typeface="Amiri" pitchFamily="2" charset="-78"/>
                <a:ea typeface="Amiri" pitchFamily="2" charset="-78"/>
                <a:cs typeface="Amiri" pitchFamily="2" charset="-78"/>
              </a:rPr>
              <a:t> التُّرَاثِيَّةِ.</a:t>
            </a:r>
            <a:endParaRPr lang="ar-SA" sz="1900" dirty="0"/>
          </a:p>
        </p:txBody>
      </p:sp>
      <p:sp>
        <p:nvSpPr>
          <p:cNvPr id="50" name="Text 47"/>
          <p:cNvSpPr txBox="1"/>
          <p:nvPr/>
        </p:nvSpPr>
        <p:spPr>
          <a:xfrm>
            <a:off x="376732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a:t>
            </a:r>
            <a:endParaRPr lang="en-US" sz="1100" dirty="0"/>
          </a:p>
        </p:txBody>
      </p:sp>
      <p:sp>
        <p:nvSpPr>
          <p:cNvPr id="51" name="Text 48"/>
          <p:cNvSpPr txBox="1"/>
          <p:nvPr/>
        </p:nvSpPr>
        <p:spPr>
          <a:xfrm>
            <a:off x="2578608" y="5215738"/>
            <a:ext cx="1005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52" name="Text 49"/>
          <p:cNvSpPr txBox="1"/>
          <p:nvPr/>
        </p:nvSpPr>
        <p:spPr>
          <a:xfrm>
            <a:off x="548640" y="5215738"/>
            <a:ext cx="1828800" cy="682142"/>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ea typeface="Amiri" pitchFamily="2" charset="-78"/>
                <a:cs typeface="Amiri" pitchFamily="2" charset="-78"/>
              </a:rPr>
              <a:t>يَزْخَرُ</a:t>
            </a:r>
            <a:endParaRPr lang="ar-SA" sz="2200" dirty="0"/>
          </a:p>
        </p:txBody>
      </p:sp>
      <p:sp>
        <p:nvSpPr>
          <p:cNvPr id="53" name="Text 5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common error: bi- after yastaqṭib / yubhir ✗ — or no bi- after yatamayyaz / yashtahir ✗.</a:t>
            </a:r>
            <a:endParaRPr lang="en-US" sz="11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AGREEMENT WITH PLACE NAMES (WEBSITE LISTENING, READING AND PATTERNS)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Fez attracts — she attracts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مُطَابَقَةُ أَسْمَاءِ الأَمَاكِنِ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040112" y="1810512"/>
            <a:ext cx="1618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7" name="Text 14"/>
          <p:cNvSpPr txBox="1"/>
          <p:nvPr/>
        </p:nvSpPr>
        <p:spPr>
          <a:xfrm>
            <a:off x="49194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8" name="Text 15"/>
          <p:cNvSpPr txBox="1"/>
          <p:nvPr/>
        </p:nvSpPr>
        <p:spPr>
          <a:xfrm>
            <a:off x="27249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Treated as</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Place</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10076688" y="2267712"/>
            <a:ext cx="1581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tanwīn</a:t>
            </a:r>
            <a:endParaRPr lang="en-US" sz="1100" dirty="0"/>
          </a:p>
        </p:txBody>
      </p:sp>
      <p:sp>
        <p:nvSpPr>
          <p:cNvPr id="22" name="Text 19"/>
          <p:cNvSpPr txBox="1"/>
          <p:nvPr/>
        </p:nvSpPr>
        <p:spPr>
          <a:xfrm>
            <a:off x="4937760" y="2267712"/>
            <a:ext cx="493776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تَسْتَقْطِبُ</a:t>
            </a:r>
            <a:pPr rtl="1" algn="ctr" indent="0" marL="0">
              <a:buNone/>
            </a:pPr>
            <a:r>
              <a:rPr lang="ar-SA" altLang="en-US" sz="1900" b="1" dirty="0">
                <a:solidFill>
                  <a:srgbClr val="1B3B6F"/>
                </a:solidFill>
                <a:latin typeface="Amiri" pitchFamily="2" charset="-78"/>
                <a:ea typeface="Amiri" pitchFamily="2" charset="-78"/>
                <a:cs typeface="Amiri" pitchFamily="2" charset="-78"/>
              </a:rPr>
              <a:t> مَرَّاكُشُ مَلَايِينَ السُّيَّاحِ.</a:t>
            </a:r>
            <a:endParaRPr lang="ar-SA" sz="1900" dirty="0"/>
          </a:p>
        </p:txBody>
      </p:sp>
      <p:sp>
        <p:nvSpPr>
          <p:cNvPr id="23" name="Text 20"/>
          <p:cNvSpPr txBox="1"/>
          <p:nvPr/>
        </p:nvSpPr>
        <p:spPr>
          <a:xfrm>
            <a:off x="276148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24" name="Text 21"/>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Fez · Marrakesh (cities)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10076688" y="3004718"/>
            <a:ext cx="1581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 f.</a:t>
            </a:r>
            <a:endParaRPr lang="en-US" sz="1100" dirty="0"/>
          </a:p>
        </p:txBody>
      </p:sp>
      <p:sp>
        <p:nvSpPr>
          <p:cNvPr id="29" name="Text 26"/>
          <p:cNvSpPr txBox="1"/>
          <p:nvPr/>
        </p:nvSpPr>
        <p:spPr>
          <a:xfrm>
            <a:off x="4937760" y="3004718"/>
            <a:ext cx="493776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تُبْهِرُ</a:t>
            </a:r>
            <a:pPr rtl="1" algn="ctr" indent="0" marL="0">
              <a:buNone/>
            </a:pPr>
            <a:r>
              <a:rPr lang="ar-SA" altLang="en-US" sz="1900" b="1" dirty="0">
                <a:solidFill>
                  <a:srgbClr val="1B3B6F"/>
                </a:solidFill>
                <a:latin typeface="Amiri" pitchFamily="2" charset="-78"/>
                <a:ea typeface="Amiri" pitchFamily="2" charset="-78"/>
                <a:cs typeface="Amiri" pitchFamily="2" charset="-78"/>
              </a:rPr>
              <a:t> البَتْرَاءُ زُوَّارَهَا.</a:t>
            </a:r>
            <a:endParaRPr lang="ar-SA" sz="1900" dirty="0"/>
          </a:p>
        </p:txBody>
      </p:sp>
      <p:sp>
        <p:nvSpPr>
          <p:cNvPr id="30" name="Text 27"/>
          <p:cNvSpPr txBox="1"/>
          <p:nvPr/>
        </p:nvSpPr>
        <p:spPr>
          <a:xfrm>
            <a:off x="276148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31" name="Text 28"/>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Petra</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10076688" y="3741725"/>
            <a:ext cx="1581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non-human pl.</a:t>
            </a:r>
            <a:endParaRPr lang="en-US" sz="1100" dirty="0"/>
          </a:p>
        </p:txBody>
      </p:sp>
      <p:sp>
        <p:nvSpPr>
          <p:cNvPr id="36" name="Text 33"/>
          <p:cNvSpPr txBox="1"/>
          <p:nvPr/>
        </p:nvSpPr>
        <p:spPr>
          <a:xfrm>
            <a:off x="4937760" y="3741725"/>
            <a:ext cx="493776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تَسْتَقْطِبُ</a:t>
            </a:r>
            <a:pPr rtl="1" algn="ctr" indent="0" marL="0">
              <a:buNone/>
            </a:pPr>
            <a:r>
              <a:rPr lang="ar-SA" altLang="en-US" sz="1900" b="1" dirty="0">
                <a:solidFill>
                  <a:srgbClr val="1B3B6F"/>
                </a:solidFill>
                <a:latin typeface="Amiri" pitchFamily="2" charset="-78"/>
                <a:ea typeface="Amiri" pitchFamily="2" charset="-78"/>
                <a:cs typeface="Amiri" pitchFamily="2" charset="-78"/>
              </a:rPr>
              <a:t> الأَهْرَامُ مَلَايِينَ السُّيَّاحِ.</a:t>
            </a:r>
            <a:endParaRPr lang="ar-SA" sz="1900" dirty="0"/>
          </a:p>
        </p:txBody>
      </p:sp>
      <p:sp>
        <p:nvSpPr>
          <p:cNvPr id="37" name="Text 34"/>
          <p:cNvSpPr txBox="1"/>
          <p:nvPr/>
        </p:nvSpPr>
        <p:spPr>
          <a:xfrm>
            <a:off x="276148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38" name="Text 35"/>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pyramids (pl.)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10076688" y="4478731"/>
            <a:ext cx="1581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countries with al-</a:t>
            </a:r>
            <a:endParaRPr lang="en-US" sz="1100" dirty="0"/>
          </a:p>
        </p:txBody>
      </p:sp>
      <p:sp>
        <p:nvSpPr>
          <p:cNvPr id="41" name="Text 38"/>
          <p:cNvSpPr txBox="1"/>
          <p:nvPr/>
        </p:nvSpPr>
        <p:spPr>
          <a:xfrm>
            <a:off x="4937760" y="4478731"/>
            <a:ext cx="4937760" cy="682142"/>
          </a:xfrm>
          <a:prstGeom prst="rect">
            <a:avLst/>
          </a:prstGeom>
          <a:noFill/>
          <a:ln/>
        </p:spPr>
        <p:txBody>
          <a:bodyPr wrap="square" lIns="0" tIns="0" rIns="0" bIns="0" rtlCol="0" anchor="ctr"/>
          <a:lstStyle/>
          <a:p>
            <a:pPr rtl="1" algn="ctr" indent="0" marL="0">
              <a:buNone/>
            </a:pPr>
            <a:r>
              <a:rPr lang="ar-SA" altLang="en-US" sz="1900" b="1" dirty="0">
                <a:solidFill>
                  <a:srgbClr val="1D5FBF"/>
                </a:solidFill>
                <a:latin typeface="Amiri" pitchFamily="2" charset="-78"/>
                <a:ea typeface="Amiri" pitchFamily="2" charset="-78"/>
                <a:cs typeface="Amiri" pitchFamily="2" charset="-78"/>
              </a:rPr>
              <a:t>يَسْتَقْطِبُ</a:t>
            </a:r>
            <a:pPr rtl="1" algn="ctr" indent="0" marL="0">
              <a:buNone/>
            </a:pPr>
            <a:r>
              <a:rPr lang="ar-SA" altLang="en-US" sz="1900" b="1" dirty="0">
                <a:solidFill>
                  <a:srgbClr val="1B3B6F"/>
                </a:solidFill>
                <a:latin typeface="Amiri" pitchFamily="2" charset="-78"/>
                <a:ea typeface="Amiri" pitchFamily="2" charset="-78"/>
                <a:cs typeface="Amiri" pitchFamily="2" charset="-78"/>
              </a:rPr>
              <a:t> المَغْرِبُ السُّيَّاحَ.</a:t>
            </a:r>
            <a:endParaRPr lang="ar-SA" sz="1900" dirty="0"/>
          </a:p>
        </p:txBody>
      </p:sp>
      <p:sp>
        <p:nvSpPr>
          <p:cNvPr id="42" name="Text 39"/>
          <p:cNvSpPr txBox="1"/>
          <p:nvPr/>
        </p:nvSpPr>
        <p:spPr>
          <a:xfrm>
            <a:off x="276148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t>
            </a:r>
            <a:endParaRPr lang="en-US" sz="1100" dirty="0"/>
          </a:p>
        </p:txBody>
      </p:sp>
      <p:sp>
        <p:nvSpPr>
          <p:cNvPr id="43" name="Text 40"/>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Morocco · Jordan</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10076688" y="5215738"/>
            <a:ext cx="1581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tanwīn</a:t>
            </a:r>
            <a:endParaRPr lang="en-US" sz="1100" dirty="0"/>
          </a:p>
        </p:txBody>
      </p:sp>
      <p:sp>
        <p:nvSpPr>
          <p:cNvPr id="46" name="Text 43"/>
          <p:cNvSpPr txBox="1"/>
          <p:nvPr/>
        </p:nvSpPr>
        <p:spPr>
          <a:xfrm>
            <a:off x="4937760" y="5215738"/>
            <a:ext cx="493776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ea typeface="Amiri" pitchFamily="2" charset="-78"/>
                <a:cs typeface="Amiri" pitchFamily="2" charset="-78"/>
              </a:rPr>
              <a:t>تَتَمَيَّزُ</a:t>
            </a:r>
            <a:pPr rtl="1" algn="ctr" indent="0" marL="0">
              <a:buNone/>
            </a:pPr>
            <a:r>
              <a:rPr lang="ar-SA" altLang="en-US" sz="1900" b="1" dirty="0">
                <a:solidFill>
                  <a:srgbClr val="1B3B6F"/>
                </a:solidFill>
                <a:latin typeface="Amiri" pitchFamily="2" charset="-78"/>
                <a:ea typeface="Amiri" pitchFamily="2" charset="-78"/>
                <a:cs typeface="Amiri" pitchFamily="2" charset="-78"/>
              </a:rPr>
              <a:t> مِصْرُ بِآثَارِهَا.</a:t>
            </a:r>
            <a:endParaRPr lang="ar-SA" sz="1900" dirty="0"/>
          </a:p>
        </p:txBody>
      </p:sp>
      <p:sp>
        <p:nvSpPr>
          <p:cNvPr id="47" name="Text 44"/>
          <p:cNvSpPr txBox="1"/>
          <p:nvPr/>
        </p:nvSpPr>
        <p:spPr>
          <a:xfrm>
            <a:off x="276148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48" name="Text 45"/>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Egypt</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Diptotes: zurtu fāsa · fī marrākusha · min miṣra — no tanwīn, and -a for the genitive.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MATCH THE TENSE TO THE PURPOSE (WEBSITE RULES 3–4 + TEACHING POINT 2)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Describe · remember · recommend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الوَصْفُ · التَّجْرِبَةُ · التَّوْصِيَةُ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9888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PRESENT · DESCRIBE · CORE</a:t>
            </a:r>
            <a:endParaRPr lang="en-US" sz="850" dirty="0"/>
          </a:p>
        </p:txBody>
      </p:sp>
      <p:sp>
        <p:nvSpPr>
          <p:cNvPr id="18" name="Text 15"/>
          <p:cNvSpPr txBox="1"/>
          <p:nvPr/>
        </p:nvSpPr>
        <p:spPr>
          <a:xfrm>
            <a:off x="10267188"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تُعَدُّ … 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تُعَدُّ فَاسُ مِنْ أَعْرَقِ المُدُنِ العَرَبِيَّةِ.</a:t>
            </a:r>
            <a:endParaRPr lang="ar-SA" sz="2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Fez is considered one of the most ancient Arab cities.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General truth.</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212598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21259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PAST · YOUR VISIT · DEVELOP</a:t>
            </a:r>
            <a:endParaRPr lang="en-US" sz="850" dirty="0"/>
          </a:p>
        </p:txBody>
      </p:sp>
      <p:sp>
        <p:nvSpPr>
          <p:cNvPr id="26" name="Text 23"/>
          <p:cNvSpPr txBox="1"/>
          <p:nvPr/>
        </p:nvSpPr>
        <p:spPr>
          <a:xfrm>
            <a:off x="6585204" y="1874520"/>
            <a:ext cx="11902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زُرْتُ … أَدْرَكْتُ</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زُرْتُ فَاسَ قَبْلَ عَامَيْنِ، وَأَدْرَكْتُ سِحْرَهَا.</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visited Fez two years ago and realised its magic.</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Your experience.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2181758"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2181758"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1 · RECOMMEND · STRETCH</a:t>
            </a:r>
            <a:endParaRPr lang="en-US" sz="850" dirty="0"/>
          </a:p>
        </p:txBody>
      </p:sp>
      <p:sp>
        <p:nvSpPr>
          <p:cNvPr id="34" name="Text 31"/>
          <p:cNvSpPr txBox="1"/>
          <p:nvPr/>
        </p:nvSpPr>
        <p:spPr>
          <a:xfrm>
            <a:off x="2821838" y="1874520"/>
            <a:ext cx="1134466" cy="365760"/>
          </a:xfrm>
          <a:prstGeom prst="rect">
            <a:avLst/>
          </a:prstGeom>
          <a:noFill/>
          <a:ln/>
        </p:spPr>
        <p:txBody>
          <a:bodyPr wrap="square" lIns="0" tIns="0" rIns="0" bIns="0" rtlCol="0" anchor="ctr"/>
          <a:lstStyle/>
          <a:p>
            <a:pPr rtl="1" algn="r" indent="0" marL="0">
              <a:buNone/>
            </a:pPr>
            <a:r>
              <a:rPr lang="ar-SA" altLang="en-US" sz="1400" b="1" dirty="0">
                <a:solidFill>
                  <a:srgbClr val="8A6D1E"/>
                </a:solidFill>
                <a:latin typeface="Amiri" pitchFamily="2" charset="-78"/>
                <a:ea typeface="Amiri" pitchFamily="2" charset="-78"/>
                <a:cs typeface="Amiri" pitchFamily="2" charset="-78"/>
              </a:rPr>
              <a:t>إِذَا زُرْتَ … فَلَا بُدَّ</a:t>
            </a:r>
            <a:endParaRPr lang="ar-SA" sz="14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زُرْتَ المَغْرِبَ، فَلَا بُدَّ مِنْ زِيَارَةِ فَاسَ.</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you visit Morocco, you must visit Fez.</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fa- before lā budda.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1: yastaqṭib takes a direct object.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تَسْتَقْطِبُ الأَهْرَامُ مَلَايِينَ السُّيَّاحِ</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تَسْتَقْطِبُ الأَهْرَامُ بِمَلَايِينِ السُّيَّاحِ</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TRAVEL-MAGAZINE REGISTER (WEBSITE READING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Sound like a travel magazine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أُسْلُوبُ المَجَلَّةِ السِّيَاحِيَّةِ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290779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min + afʿal + pl.</a:t>
            </a:r>
            <a:endParaRPr lang="en-US" sz="1100" dirty="0"/>
          </a:p>
        </p:txBody>
      </p:sp>
      <p:sp>
        <p:nvSpPr>
          <p:cNvPr id="21" name="Text 18"/>
          <p:cNvSpPr txBox="1"/>
          <p:nvPr/>
        </p:nvSpPr>
        <p:spPr>
          <a:xfrm>
            <a:off x="2926080" y="2267712"/>
            <a:ext cx="62179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تُعَدُّ البَتْرَاءُ </a:t>
            </a:r>
            <a:pPr rtl="1" algn="ctr" indent="0" marL="0">
              <a:buNone/>
            </a:pPr>
            <a:r>
              <a:rPr lang="ar-SA" altLang="en-US" sz="1900" b="1" dirty="0">
                <a:solidFill>
                  <a:srgbClr val="C77700"/>
                </a:solidFill>
                <a:latin typeface="Amiri" pitchFamily="2" charset="-78"/>
                <a:ea typeface="Amiri" pitchFamily="2" charset="-78"/>
                <a:cs typeface="Amiri" pitchFamily="2" charset="-78"/>
              </a:rPr>
              <a:t>مِنْ أَشْهَرِ</a:t>
            </a:r>
            <a:pPr rtl="1" algn="ctr" indent="0" marL="0">
              <a:buNone/>
            </a:pPr>
            <a:r>
              <a:rPr lang="ar-SA" altLang="en-US" sz="1900" b="1" dirty="0">
                <a:solidFill>
                  <a:srgbClr val="1B3B6F"/>
                </a:solidFill>
                <a:latin typeface="Amiri" pitchFamily="2" charset="-78"/>
                <a:ea typeface="Amiri" pitchFamily="2" charset="-78"/>
                <a:cs typeface="Amiri" pitchFamily="2" charset="-78"/>
              </a:rPr>
              <a:t> الوِجْهَاتِ السِّيَاحِيَّةِ.</a:t>
            </a:r>
            <a:endParaRPr lang="ar-SA" sz="1900" dirty="0"/>
          </a:p>
        </p:txBody>
      </p:sp>
      <p:sp>
        <p:nvSpPr>
          <p:cNvPr id="22" name="Text 19"/>
          <p:cNvSpPr txBox="1"/>
          <p:nvPr/>
        </p:nvSpPr>
        <p:spPr>
          <a:xfrm>
            <a:off x="56692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of the most …</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past</a:t>
            </a:r>
            <a:endParaRPr lang="en-US" sz="1100" dirty="0"/>
          </a:p>
        </p:txBody>
      </p:sp>
      <p:sp>
        <p:nvSpPr>
          <p:cNvPr id="27" name="Text 24"/>
          <p:cNvSpPr txBox="1"/>
          <p:nvPr/>
        </p:nvSpPr>
        <p:spPr>
          <a:xfrm>
            <a:off x="2926080" y="3004718"/>
            <a:ext cx="62179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وَقَدِ </a:t>
            </a:r>
            <a:pPr rtl="1" algn="ctr" indent="0" marL="0">
              <a:buNone/>
            </a:pPr>
            <a:r>
              <a:rPr lang="ar-SA" altLang="en-US" sz="1900" b="1" dirty="0">
                <a:solidFill>
                  <a:srgbClr val="D6336C"/>
                </a:solidFill>
                <a:latin typeface="Amiri" pitchFamily="2" charset="-78"/>
                <a:ea typeface="Amiri" pitchFamily="2" charset="-78"/>
                <a:cs typeface="Amiri" pitchFamily="2" charset="-78"/>
              </a:rPr>
              <a:t>اخْتِيرَتْ</a:t>
            </a:r>
            <a:pPr rtl="1" algn="ctr" indent="0" marL="0">
              <a:buNone/>
            </a:pPr>
            <a:r>
              <a:rPr lang="ar-SA" altLang="en-US" sz="1900" b="1" dirty="0">
                <a:solidFill>
                  <a:srgbClr val="1B3B6F"/>
                </a:solidFill>
                <a:latin typeface="Amiri" pitchFamily="2" charset="-78"/>
                <a:ea typeface="Amiri" pitchFamily="2" charset="-78"/>
                <a:cs typeface="Amiri" pitchFamily="2" charset="-78"/>
              </a:rPr>
              <a:t> وَاحِدَةً مِنْ عَجَائِبِ الدُّنْيَا الجَدِيدَةِ.</a:t>
            </a:r>
            <a:endParaRPr lang="ar-SA" sz="1900" dirty="0"/>
          </a:p>
        </p:txBody>
      </p:sp>
      <p:sp>
        <p:nvSpPr>
          <p:cNvPr id="28" name="Text 25"/>
          <p:cNvSpPr txBox="1"/>
          <p:nvPr/>
        </p:nvSpPr>
        <p:spPr>
          <a:xfrm>
            <a:off x="56692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allatī</a:t>
            </a:r>
            <a:endParaRPr lang="en-US" sz="1100" dirty="0"/>
          </a:p>
        </p:txBody>
      </p:sp>
      <p:sp>
        <p:nvSpPr>
          <p:cNvPr id="31" name="Text 28"/>
          <p:cNvSpPr txBox="1"/>
          <p:nvPr/>
        </p:nvSpPr>
        <p:spPr>
          <a:xfrm>
            <a:off x="2926080" y="3741725"/>
            <a:ext cx="62179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تَشْتَهِرُ بِالخَزْنَةِ </a:t>
            </a:r>
            <a:pPr rtl="1" algn="ctr" indent="0" marL="0">
              <a:buNone/>
            </a:pPr>
            <a:r>
              <a:rPr lang="ar-SA" altLang="en-US" sz="1900" b="1" dirty="0">
                <a:solidFill>
                  <a:srgbClr val="7B3FA0"/>
                </a:solidFill>
                <a:latin typeface="Amiri" pitchFamily="2" charset="-78"/>
                <a:ea typeface="Amiri" pitchFamily="2" charset="-78"/>
                <a:cs typeface="Amiri" pitchFamily="2" charset="-78"/>
              </a:rPr>
              <a:t>الَّتِي</a:t>
            </a:r>
            <a:pPr rtl="1" algn="ctr" indent="0" marL="0">
              <a:buNone/>
            </a:pPr>
            <a:r>
              <a:rPr lang="ar-SA" altLang="en-US" sz="1900" b="1" dirty="0">
                <a:solidFill>
                  <a:srgbClr val="1B3B6F"/>
                </a:solidFill>
                <a:latin typeface="Amiri" pitchFamily="2" charset="-78"/>
                <a:ea typeface="Amiri" pitchFamily="2" charset="-78"/>
                <a:cs typeface="Amiri" pitchFamily="2" charset="-78"/>
              </a:rPr>
              <a:t> تَظْهَرُ فَجْأَةً.</a:t>
            </a:r>
            <a:endParaRPr lang="ar-SA" sz="1900" dirty="0"/>
          </a:p>
        </p:txBody>
      </p:sp>
      <p:sp>
        <p:nvSpPr>
          <p:cNvPr id="32" name="Text 29"/>
          <p:cNvSpPr txBox="1"/>
          <p:nvPr/>
        </p:nvSpPr>
        <p:spPr>
          <a:xfrm>
            <a:off x="56692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relative clause</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 + iḍāfa</a:t>
            </a:r>
            <a:endParaRPr lang="en-US" sz="1100" dirty="0"/>
          </a:p>
        </p:txBody>
      </p:sp>
      <p:sp>
        <p:nvSpPr>
          <p:cNvPr id="35" name="Text 32"/>
          <p:cNvSpPr txBox="1"/>
          <p:nvPr/>
        </p:nvSpPr>
        <p:spPr>
          <a:xfrm>
            <a:off x="2926080" y="4478731"/>
            <a:ext cx="62179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تُبْهِرُ زُوَّارَهَا </a:t>
            </a:r>
            <a:pPr rtl="1" algn="ctr" indent="0" marL="0">
              <a:buNone/>
            </a:pPr>
            <a:r>
              <a:rPr lang="ar-SA" altLang="en-US" sz="1900" b="1" dirty="0">
                <a:solidFill>
                  <a:srgbClr val="1D5FBF"/>
                </a:solidFill>
                <a:latin typeface="Amiri" pitchFamily="2" charset="-78"/>
                <a:ea typeface="Amiri" pitchFamily="2" charset="-78"/>
                <a:cs typeface="Amiri" pitchFamily="2" charset="-78"/>
              </a:rPr>
              <a:t>بِأَلْوَانِ</a:t>
            </a:r>
            <a:pPr rtl="1" algn="ctr" indent="0" marL="0">
              <a:buNone/>
            </a:pPr>
            <a:r>
              <a:rPr lang="ar-SA" altLang="en-US" sz="1900" b="1" dirty="0">
                <a:solidFill>
                  <a:srgbClr val="1B3B6F"/>
                </a:solidFill>
                <a:latin typeface="Amiri" pitchFamily="2" charset="-78"/>
                <a:ea typeface="Amiri" pitchFamily="2" charset="-78"/>
                <a:cs typeface="Amiri" pitchFamily="2" charset="-78"/>
              </a:rPr>
              <a:t> المَدَابِغِ </a:t>
            </a:r>
            <a:pPr rtl="1" algn="ctr" indent="0" marL="0">
              <a:buNone/>
            </a:pPr>
            <a:r>
              <a:rPr lang="ar-SA" altLang="en-US" sz="1900" b="1" dirty="0">
                <a:solidFill>
                  <a:srgbClr val="1D5FBF"/>
                </a:solidFill>
                <a:latin typeface="Amiri" pitchFamily="2" charset="-78"/>
                <a:ea typeface="Amiri" pitchFamily="2" charset="-78"/>
                <a:cs typeface="Amiri" pitchFamily="2" charset="-78"/>
              </a:rPr>
              <a:t>وَرَوَائِحِ</a:t>
            </a:r>
            <a:pPr rtl="1" algn="ctr" indent="0" marL="0">
              <a:buNone/>
            </a:pPr>
            <a:r>
              <a:rPr lang="ar-SA" altLang="en-US" sz="1900" b="1" dirty="0">
                <a:solidFill>
                  <a:srgbClr val="1B3B6F"/>
                </a:solidFill>
                <a:latin typeface="Amiri" pitchFamily="2" charset="-78"/>
                <a:ea typeface="Amiri" pitchFamily="2" charset="-78"/>
                <a:cs typeface="Amiri" pitchFamily="2" charset="-78"/>
              </a:rPr>
              <a:t> التَّوَابِلِ.</a:t>
            </a:r>
            <a:endParaRPr lang="ar-SA" sz="1900" dirty="0"/>
          </a:p>
        </p:txBody>
      </p:sp>
      <p:sp>
        <p:nvSpPr>
          <p:cNvPr id="36" name="Text 33"/>
          <p:cNvSpPr txBox="1"/>
          <p:nvPr/>
        </p:nvSpPr>
        <p:spPr>
          <a:xfrm>
            <a:off x="56692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senses</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fa-hiya + noun</a:t>
            </a:r>
            <a:endParaRPr lang="en-US" sz="1100" dirty="0"/>
          </a:p>
        </p:txBody>
      </p:sp>
      <p:sp>
        <p:nvSpPr>
          <p:cNvPr id="39" name="Text 36"/>
          <p:cNvSpPr txBox="1"/>
          <p:nvPr/>
        </p:nvSpPr>
        <p:spPr>
          <a:xfrm>
            <a:off x="2926080" y="5215738"/>
            <a:ext cx="621792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فَهِيَ </a:t>
            </a:r>
            <a:pPr rtl="1" algn="ctr" indent="0" marL="0">
              <a:buNone/>
            </a:pPr>
            <a:r>
              <a:rPr lang="ar-SA" altLang="en-US" sz="1900" b="1" dirty="0">
                <a:solidFill>
                  <a:srgbClr val="0E7C86"/>
                </a:solidFill>
                <a:latin typeface="Amiri" pitchFamily="2" charset="-78"/>
                <a:ea typeface="Amiri" pitchFamily="2" charset="-78"/>
                <a:cs typeface="Amiri" pitchFamily="2" charset="-78"/>
              </a:rPr>
              <a:t>تَجْرِبَةٌ فَرِيدَةٌ لَا تُنْسَى</a:t>
            </a:r>
            <a:pPr rtl="1" algn="ctr" indent="0" marL="0">
              <a:buNone/>
            </a:pPr>
            <a:r>
              <a:rPr lang="ar-SA" altLang="en-US" sz="1900" b="1" dirty="0">
                <a:solidFill>
                  <a:srgbClr val="1B3B6F"/>
                </a:solidFill>
                <a:latin typeface="Amiri" pitchFamily="2" charset="-78"/>
                <a:cs typeface="Amiri" pitchFamily="2" charset="-78"/>
              </a:rPr>
              <a:t>.</a:t>
            </a:r>
            <a:endParaRPr lang="ar-SA" sz="1900" dirty="0"/>
          </a:p>
        </p:txBody>
      </p:sp>
      <p:sp>
        <p:nvSpPr>
          <p:cNvPr id="40" name="Text 37"/>
          <p:cNvSpPr txBox="1"/>
          <p:nvPr/>
        </p:nvSpPr>
        <p:spPr>
          <a:xfrm>
            <a:off x="56692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close</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magazine profile moves from the big picture (yuʿaddu min ashhar …) to the senses (colours, smells) to a personal close.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Tourism verbs and travel-magazine register</a:t>
            </a:r>
            <a:endParaRPr lang="en-US" sz="21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السِّيَاحَةِ وَأُسْلُوبُ المَجَلَّةِ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Attracting and dazzling</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yastaqṭib / yubhir + object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تَسْتَقْطِبُ الأَهْرَامُ مَلَايِينَ السُّيَّاحِ   ·   تُبْهِرُ البَتْرَاءُ زُوَّارَهَا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Distinguished by, famous for</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yatamayyaz bi- · yashtahir bi-</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تَتَمَيَّزُ فَاسُ بِأَزِقَّتِهَا الضَّيِّقَةِ   ·   تَشْتَهِرُ بِأَقْدَمِ جَامِعَةٍ فِي العَالَمِ</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General vs experience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present (truth) · past (visit)</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تُعَدُّ فَاسُ مِنْ أَعْرَقِ المُدُنِ   ·   زُرْتُ فَاسَ وَأَدْرَكْتُ سِحْرَهَا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Recommend with a conditional</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zurta … fa-lā budda min</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زُرْتَ المَغْرِبَ، فَلَا بُدَّ مِنْ زِيَارَةِ فَاسَ</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يَسْتَقْطِبُ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تَسْتَقْطِبُ مَرَّاكُشُ بِمَلَايِينِ السُّيَّاحِ.</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تَسْتَقْطِبُ مَرَّاكُشُ لِمَلَايِينِ السُّيَّاحِ.</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تَسْتَقْطِبُ مَرَّاكُشُ مَلَايِينَ السُّيَّاحِ.</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تَتَمَيَّزُ المَدِينَةُ ___ أَزِقَّتِهَا الضَّيِّقَةِ.</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تَشْتَهِرُ فَاسُ ___ أَقْدَمِ جَامِعَةٍ فِي العَالَمِ.</a:t>
            </a:r>
            <a:endParaRPr lang="ar-SA" sz="14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يُبْهِرُ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تُبْهِرُ البَتْرَاءُ زُوَّارَهَا.</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تُبْهِرُ البَتْرَاءُ بِزُوَّارِهَا.</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تُبْهِرُ البَتْرَاءُ لِزُوَّارِهَا.</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يَسْتَقْطِبُ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تَسْتَقْطِبُ مَرَّاكُشُ بِمَلَايِينِ السُّيَّاحِ.</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تَسْتَقْطِبُ مَرَّاكُشُ لِمَلَايِينِ السُّيَّاحِ.</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تَسْتَقْطِبُ مَرَّاكُشُ مَلَايِينَ السُّيَّاحِ.</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يَسْتَقْطِبُ</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تَتَمَيَّزُ المَدِينَةُ ___ أَزِقَّتِهَا الضَّيِّقَةِ.</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يَتَمَيَّزُ</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تَشْتَهِرُ فَاسُ ___ أَقْدَمِ جَامِعَةٍ فِي العَالَمِ.</a:t>
            </a:r>
            <a:endParaRPr lang="ar-SA" sz="14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يَشْتَهِرُ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يُبْهِرُ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تُبْهِرُ البَتْرَاءُ زُوَّارَهَا.</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تُبْهِرُ البَتْرَاءُ بِزُوَّارِهَا.</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تُبْهِرُ البَتْرَاءُ لِزُوَّارِهَا.</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يُبْهِرُ</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write a destination profile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Big picture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C77700"/>
                </a:solidFill>
                <a:latin typeface="Amiri" pitchFamily="2" charset="-78"/>
                <a:ea typeface="Amiri" pitchFamily="2" charset="-78"/>
                <a:cs typeface="Amiri" pitchFamily="2" charset="-78"/>
              </a:rPr>
              <a:t>تُعَدُّ</a:t>
            </a:r>
            <a:pPr rtl="1" algn="ctr" indent="0" marL="0">
              <a:buNone/>
            </a:pPr>
            <a:r>
              <a:rPr lang="ar-SA" altLang="en-US" sz="2100" b="1" dirty="0">
                <a:solidFill>
                  <a:srgbClr val="1B3B6F"/>
                </a:solidFill>
                <a:latin typeface="Amiri" pitchFamily="2" charset="-78"/>
                <a:cs typeface="Amiri" pitchFamily="2" charset="-78"/>
              </a:rPr>
              <a:t> … </a:t>
            </a:r>
            <a:pPr rtl="1" algn="ctr" indent="0" marL="0">
              <a:buNone/>
            </a:pPr>
            <a:r>
              <a:rPr lang="ar-SA" altLang="en-US" sz="2100" b="1" dirty="0">
                <a:solidFill>
                  <a:srgbClr val="C77700"/>
                </a:solidFill>
                <a:latin typeface="Amiri" pitchFamily="2" charset="-78"/>
                <a:ea typeface="Amiri" pitchFamily="2" charset="-78"/>
                <a:cs typeface="Amiri" pitchFamily="2" charset="-78"/>
              </a:rPr>
              <a:t>مِنْ أَعْرَقِ</a:t>
            </a:r>
            <a:pPr rtl="1" algn="ctr" indent="0" marL="0">
              <a:buNone/>
            </a:pPr>
            <a:r>
              <a:rPr lang="ar-SA" altLang="en-US" sz="2100" b="1" dirty="0">
                <a:solidFill>
                  <a:srgbClr val="1B3B6F"/>
                </a:solidFill>
                <a:latin typeface="Amiri" pitchFamily="2" charset="-78"/>
                <a:cs typeface="Amiri" pitchFamily="2" charset="-78"/>
              </a:rPr>
              <a:t> … </a:t>
            </a:r>
            <a:pPr rtl="1" algn="ctr" indent="0" marL="0">
              <a:buNone/>
            </a:pPr>
            <a:r>
              <a:rPr lang="ar-SA" altLang="en-US" sz="2100" b="1" dirty="0">
                <a:solidFill>
                  <a:srgbClr val="1D5FBF"/>
                </a:solidFill>
                <a:latin typeface="Amiri" pitchFamily="2" charset="-78"/>
                <a:ea typeface="Amiri" pitchFamily="2" charset="-78"/>
                <a:cs typeface="Amiri" pitchFamily="2" charset="-78"/>
              </a:rPr>
              <a:t>وَتَسْتَقْطِبُ</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Present.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Features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تَتَمَيَّزُ بِـ</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ea typeface="Amiri" pitchFamily="2" charset="-78"/>
                <a:cs typeface="Amiri" pitchFamily="2" charset="-78"/>
              </a:rPr>
              <a:t>وَتَشْتَهِرُ بِـ</a:t>
            </a:r>
            <a:pPr rtl="1" algn="ctr" indent="0" marL="0">
              <a:buNone/>
            </a:pPr>
            <a:r>
              <a:rPr lang="ar-SA" altLang="en-US" sz="2400" b="1" dirty="0">
                <a:solidFill>
                  <a:srgbClr val="1B3B6F"/>
                </a:solidFill>
                <a:latin typeface="Amiri" pitchFamily="2" charset="-78"/>
                <a:cs typeface="Amiri" pitchFamily="2" charset="-78"/>
              </a:rPr>
              <a:t> …</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My visit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D6336C"/>
                </a:solidFill>
                <a:latin typeface="Amiri" pitchFamily="2" charset="-78"/>
                <a:ea typeface="Amiri" pitchFamily="2" charset="-78"/>
                <a:cs typeface="Amiri" pitchFamily="2" charset="-78"/>
              </a:rPr>
              <a:t>زُرْتُ</a:t>
            </a:r>
            <a:pPr rtl="1" algn="ctr" indent="0" marL="0">
              <a:buNone/>
            </a:pPr>
            <a:r>
              <a:rPr lang="ar-SA" altLang="en-US" sz="2700" b="1" dirty="0">
                <a:solidFill>
                  <a:srgbClr val="1B3B6F"/>
                </a:solidFill>
                <a:latin typeface="Amiri" pitchFamily="2" charset="-78"/>
                <a:cs typeface="Amiri" pitchFamily="2" charset="-78"/>
              </a:rPr>
              <a:t> … </a:t>
            </a:r>
            <a:pPr rtl="1" algn="ctr" indent="0" marL="0">
              <a:buNone/>
            </a:pPr>
            <a:r>
              <a:rPr lang="ar-SA" altLang="en-US" sz="2700" b="1" dirty="0">
                <a:solidFill>
                  <a:srgbClr val="D6336C"/>
                </a:solidFill>
                <a:latin typeface="Amiri" pitchFamily="2" charset="-78"/>
                <a:ea typeface="Amiri" pitchFamily="2" charset="-78"/>
                <a:cs typeface="Amiri" pitchFamily="2" charset="-78"/>
              </a:rPr>
              <a:t>وَأَدْرَكْتُ أَنَّهُ</a:t>
            </a:r>
            <a:pPr rtl="1" algn="ctr" indent="0" marL="0">
              <a:buNone/>
            </a:pPr>
            <a:r>
              <a:rPr lang="ar-SA" altLang="en-US" sz="2700" b="1" dirty="0">
                <a:solidFill>
                  <a:srgbClr val="1B3B6F"/>
                </a:solidFill>
                <a:latin typeface="Amiri" pitchFamily="2" charset="-78"/>
                <a:cs typeface="Amiri" pitchFamily="2" charset="-78"/>
              </a:rPr>
              <a:t> …</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Recommend</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7B3FA0"/>
                </a:solidFill>
                <a:latin typeface="Amiri" pitchFamily="2" charset="-78"/>
                <a:ea typeface="Amiri" pitchFamily="2" charset="-78"/>
                <a:cs typeface="Amiri" pitchFamily="2" charset="-78"/>
              </a:rPr>
              <a:t>إِذَا زُرْتَ</a:t>
            </a:r>
            <a:pPr rtl="1" algn="ctr" indent="0" marL="0">
              <a:buNone/>
            </a:pPr>
            <a:r>
              <a:rPr lang="ar-SA" altLang="en-US" sz="2300" b="1" dirty="0">
                <a:solidFill>
                  <a:srgbClr val="1B3B6F"/>
                </a:solidFill>
                <a:latin typeface="Amiri" pitchFamily="2" charset="-78"/>
                <a:cs typeface="Amiri" pitchFamily="2" charset="-78"/>
              </a:rPr>
              <a:t> … </a:t>
            </a:r>
            <a:pPr rtl="1" algn="ctr" indent="0" marL="0">
              <a:buNone/>
            </a:pPr>
            <a:r>
              <a:rPr lang="ar-SA" altLang="en-US" sz="2300" b="1" dirty="0">
                <a:solidFill>
                  <a:srgbClr val="7B3FA0"/>
                </a:solidFill>
                <a:latin typeface="Amiri" pitchFamily="2" charset="-78"/>
                <a:ea typeface="Amiri" pitchFamily="2" charset="-78"/>
                <a:cs typeface="Amiri" pitchFamily="2" charset="-78"/>
              </a:rPr>
              <a:t>فَلَا بُدَّ مِنْ</a:t>
            </a:r>
            <a:pPr rtl="1" algn="ctr" indent="0" marL="0">
              <a:buNone/>
            </a:pPr>
            <a:r>
              <a:rPr lang="ar-SA" altLang="en-US" sz="2300" b="1" dirty="0">
                <a:solidFill>
                  <a:srgbClr val="1B3B6F"/>
                </a:solidFill>
                <a:latin typeface="Amiri" pitchFamily="2" charset="-78"/>
                <a:cs typeface="Amiri" pitchFamily="2" charset="-78"/>
              </a:rPr>
              <a:t> …</a:t>
            </a:r>
            <a:endParaRPr lang="ar-SA" sz="23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MAGAZINE REGISTER</a:t>
            </a:r>
            <a:endParaRPr lang="en-US" sz="800" dirty="0"/>
          </a:p>
        </p:txBody>
      </p:sp>
      <p:sp>
        <p:nvSpPr>
          <p:cNvPr id="47" name="Shape 43"/>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DIRECT OBJECT</a:t>
            </a:r>
            <a:endParaRPr lang="en-US" sz="800" dirty="0"/>
          </a:p>
        </p:txBody>
      </p:sp>
      <p:sp>
        <p:nvSpPr>
          <p:cNvPr id="49" name="Shape 45"/>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BI-</a:t>
            </a:r>
            <a:endParaRPr lang="en-US" sz="800" dirty="0"/>
          </a:p>
        </p:txBody>
      </p:sp>
      <p:sp>
        <p:nvSpPr>
          <p:cNvPr id="51" name="Shape 47"/>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VISIT</a:t>
            </a:r>
            <a:endParaRPr lang="en-US" sz="800" dirty="0"/>
          </a:p>
        </p:txBody>
      </p:sp>
      <p:sp>
        <p:nvSpPr>
          <p:cNvPr id="53" name="Shape 49"/>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RECOMMENDATION</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تُعَدُّ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مَدِينَةُ فَاسَ </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مِنْ أَعْرَقِ</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المُدُنِ العَرَبِيَّةِ،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وَتَسْتَقْطِبُ</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آلَافَ السُّيَّاحِ سَنَوِيًّا.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تَتَمَيَّزُ</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مَدِينَتُهَا القَدِيمَةُ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بِأَزِقَّتِهَا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الضَّيِّقَةِ،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وَتَشْتَهِرُ بِأَقْدَمِ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جَامِعَةٍ فِي العَالَمِ.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زُرْتُ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فَاسَ قَبْلَ عَامَيْنِ،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وَأَدْرَكْتُ أَنَّهُ</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لَا شَيْءَ يُعَوِّضُ تَجْرِبَةَ التَّجَوُّلِ فِي أَزِقَّتِهَا.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إِذَا زُرْتَ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المَغْرِبَ،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فَلَا بُدَّ مِنْ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زِيَارَةِ فَاسَ.</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50" i="1" dirty="0">
                <a:solidFill>
                  <a:srgbClr val="5A6472"/>
                </a:solidFill>
                <a:latin typeface="Calibri" pitchFamily="34" charset="0"/>
                <a:cs typeface="Amiri" pitchFamily="2" charset="-78"/>
              </a:rPr>
              <a:t>The city of Fez is considered one of the most ancient Arab cities, and it attracts thousands of tourists every year. Its old city is distinguished by its narrow alleys, and it is famous for the oldest university in the world. I visited Fez two years ago and realised that nothing replaces the experience of wandering its alleys. If you visit Morocco, you must visit Fez.</a:t>
            </a:r>
            <a:endParaRPr lang="en-US" sz="95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تَسْتَقْطِبُ مَرَّاكُشُ مَلَايِينَ السُّيَّاحِ سَنَوِيًّا</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Marrakesh attracts millions of tourists every year</a:t>
            </a:r>
            <a:endParaRPr lang="en-US" sz="1250" dirty="0"/>
          </a:p>
          <a:p>
            <a:pPr indent="0" marL="0">
              <a:buNone/>
            </a:pPr>
            <a:r>
              <a:rPr lang="en-US" sz="1050" i="1" dirty="0">
                <a:solidFill>
                  <a:srgbClr val="8A6D1E"/>
                </a:solidFill>
                <a:latin typeface="Calibri" pitchFamily="34" charset="0"/>
                <a:cs typeface="Amiri" pitchFamily="2" charset="-78"/>
              </a:rPr>
              <a:t>yastaqṭib takes a direct object.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تَتَمَيَّزُ فَاسُ بِأَزِقَّتِهَا وَتَشْتَهِرُ بِأَقْدَمِ جَامِعَةٍ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Fez stands out for its alleys and is famous for the oldest university</a:t>
            </a:r>
            <a:endParaRPr lang="en-US" sz="1250" dirty="0"/>
          </a:p>
          <a:p>
            <a:pPr indent="0" marL="0">
              <a:buNone/>
            </a:pPr>
            <a:r>
              <a:rPr lang="en-US" sz="1050" i="1" dirty="0">
                <a:solidFill>
                  <a:srgbClr val="8A6D1E"/>
                </a:solidFill>
                <a:latin typeface="Calibri" pitchFamily="34" charset="0"/>
                <a:cs typeface="Amiri" pitchFamily="2" charset="-78"/>
              </a:rPr>
              <a:t>bi- with yatamayyaz and yashtahir.</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إِذَا زُرْتَ المَغْرِبَ، فَلَا بُدَّ مِنْ زِيَارَةِ فَاسَ</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you visit Morocco, you must visit Fez</a:t>
            </a:r>
            <a:endParaRPr lang="en-US" sz="1250" dirty="0"/>
          </a:p>
          <a:p>
            <a:pPr indent="0" marL="0">
              <a:buNone/>
            </a:pPr>
            <a:r>
              <a:rPr lang="en-US" sz="1050" i="1" dirty="0">
                <a:solidFill>
                  <a:srgbClr val="8A6D1E"/>
                </a:solidFill>
                <a:latin typeface="Calibri" pitchFamily="34" charset="0"/>
                <a:cs typeface="Amiri" pitchFamily="2" charset="-78"/>
              </a:rPr>
              <a:t>Type 1 recommendation.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ARABIC-SPEAKING DESTINATIONS — CULTURE, GEOGRAPHY AND TOURISM”</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What do tourists do? Match the picture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السِّيَاحَةُ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historical landmarks</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558698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28" name="Text 2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famous beaches</a:t>
            </a:r>
            <a:endParaRPr lang="en-US" sz="1100" dirty="0"/>
          </a:p>
        </p:txBody>
      </p:sp>
      <p:sp>
        <p:nvSpPr>
          <p:cNvPr id="29" name="Shape 2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4"/>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6"/>
          <p:cNvSpPr/>
          <p:nvPr/>
        </p:nvSpPr>
        <p:spPr>
          <a:xfrm>
            <a:off x="176784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34" name="Text 2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local food</a:t>
            </a:r>
            <a:endParaRPr lang="en-US" sz="1100" dirty="0"/>
          </a:p>
        </p:txBody>
      </p:sp>
      <p:sp>
        <p:nvSpPr>
          <p:cNvPr id="35" name="Shape 28"/>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6" name="Shape 29"/>
          <p:cNvSpPr/>
          <p:nvPr/>
        </p:nvSpPr>
        <p:spPr>
          <a:xfrm>
            <a:off x="11247120" y="3831336"/>
            <a:ext cx="292608" cy="292608"/>
          </a:xfrm>
          <a:prstGeom prst="ellipse">
            <a:avLst/>
          </a:prstGeom>
          <a:solidFill>
            <a:srgbClr val="2F6FB0"/>
          </a:solidFill>
          <a:ln w="12700">
            <a:solidFill>
              <a:srgbClr val="2F6FB0"/>
            </a:solidFill>
            <a:prstDash val="solid"/>
          </a:ln>
        </p:spPr>
      </p:sp>
      <p:sp>
        <p:nvSpPr>
          <p:cNvPr id="37" name="Text 30"/>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8" name="Text 31"/>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يُجَرِّبُ السَّائِحُ الطَّعَامَ المَحَلِّيَّ.</a:t>
            </a:r>
            <a:endParaRPr lang="ar-SA" sz="2000" dirty="0"/>
          </a:p>
        </p:txBody>
      </p:sp>
      <p:sp>
        <p:nvSpPr>
          <p:cNvPr id="39" name="Shape 32"/>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0" name="Shape 33"/>
          <p:cNvSpPr/>
          <p:nvPr/>
        </p:nvSpPr>
        <p:spPr>
          <a:xfrm>
            <a:off x="11247120" y="4398264"/>
            <a:ext cx="292608" cy="292608"/>
          </a:xfrm>
          <a:prstGeom prst="ellipse">
            <a:avLst/>
          </a:prstGeom>
          <a:solidFill>
            <a:srgbClr val="2F6FB0"/>
          </a:solidFill>
          <a:ln w="12700">
            <a:solidFill>
              <a:srgbClr val="2F6FB0"/>
            </a:solidFill>
            <a:prstDash val="solid"/>
          </a:ln>
        </p:spPr>
      </p:sp>
      <p:sp>
        <p:nvSpPr>
          <p:cNvPr id="41" name="Text 34"/>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2" name="Text 35"/>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يَزُورُ السُّيَّاحُ المَعَالِمَ التَّارِيخِيَّةَ.</a:t>
            </a:r>
            <a:endParaRPr lang="ar-SA" sz="2000" dirty="0"/>
          </a:p>
        </p:txBody>
      </p:sp>
      <p:sp>
        <p:nvSpPr>
          <p:cNvPr id="43" name="Shape 36"/>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4" name="Shape 37"/>
          <p:cNvSpPr/>
          <p:nvPr/>
        </p:nvSpPr>
        <p:spPr>
          <a:xfrm>
            <a:off x="11247120" y="4965192"/>
            <a:ext cx="292608" cy="292608"/>
          </a:xfrm>
          <a:prstGeom prst="ellipse">
            <a:avLst/>
          </a:prstGeom>
          <a:solidFill>
            <a:srgbClr val="2F6FB0"/>
          </a:solidFill>
          <a:ln w="12700">
            <a:solidFill>
              <a:srgbClr val="2F6FB0"/>
            </a:solidFill>
            <a:prstDash val="solid"/>
          </a:ln>
        </p:spPr>
      </p:sp>
      <p:sp>
        <p:nvSpPr>
          <p:cNvPr id="45" name="Text 38"/>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6" name="Text 39"/>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تَشْتَهِرُ المِنْطَقَةُ بِالشَّوَاطِئِ.</a:t>
            </a:r>
            <a:endParaRPr lang="ar-SA" sz="2000" dirty="0"/>
          </a:p>
        </p:txBody>
      </p:sp>
      <p:sp>
        <p:nvSpPr>
          <p:cNvPr id="47" name="Text 40"/>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8" name="Text 41"/>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9"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السِّيَاحَةُ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historical landmarks</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يَزُورُ السُّيَّاحُ المَعَالِمَ التَّارِيخِيَّةَ.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Tourists visit the historical landmarks.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558698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33"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famous beaches</a:t>
            </a:r>
            <a:endParaRPr lang="en-US" sz="1100" dirty="0"/>
          </a:p>
        </p:txBody>
      </p:sp>
      <p:sp>
        <p:nvSpPr>
          <p:cNvPr id="34" name="Shape 28"/>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9"/>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0"/>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7" name="Text 31"/>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تَشْتَهِرُ المِنْطَقَةُ بِالشَّوَاطِئِ.</a:t>
            </a:r>
            <a:endParaRPr lang="ar-SA" sz="2200" dirty="0"/>
          </a:p>
        </p:txBody>
      </p:sp>
      <p:sp>
        <p:nvSpPr>
          <p:cNvPr id="38" name="Text 32"/>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region is famous for its beaches.</a:t>
            </a:r>
            <a:endParaRPr lang="en-US" sz="1200" dirty="0"/>
          </a:p>
        </p:txBody>
      </p:sp>
      <p:sp>
        <p:nvSpPr>
          <p:cNvPr id="39" name="Shape 3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4"/>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6"/>
          <p:cNvSpPr/>
          <p:nvPr/>
        </p:nvSpPr>
        <p:spPr>
          <a:xfrm>
            <a:off x="176784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44" name="Text 3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local food</a:t>
            </a:r>
            <a:endParaRPr lang="en-US" sz="1100" dirty="0"/>
          </a:p>
        </p:txBody>
      </p:sp>
      <p:sp>
        <p:nvSpPr>
          <p:cNvPr id="45" name="Shape 38"/>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39"/>
          <p:cNvSpPr/>
          <p:nvPr/>
        </p:nvSpPr>
        <p:spPr>
          <a:xfrm>
            <a:off x="3617976" y="3785616"/>
            <a:ext cx="329184" cy="329184"/>
          </a:xfrm>
          <a:prstGeom prst="ellipse">
            <a:avLst/>
          </a:prstGeom>
          <a:solidFill>
            <a:srgbClr val="2E8B57"/>
          </a:solidFill>
          <a:ln w="12700">
            <a:solidFill>
              <a:srgbClr val="2E8B57"/>
            </a:solidFill>
            <a:prstDash val="solid"/>
          </a:ln>
        </p:spPr>
      </p:sp>
      <p:sp>
        <p:nvSpPr>
          <p:cNvPr id="47" name="Text 40"/>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8" name="Text 41"/>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يُجَرِّبُ السَّائِحُ الطَّعَامَ المَحَلِّيَّ.</a:t>
            </a:r>
            <a:endParaRPr lang="ar-SA" sz="2200" dirty="0"/>
          </a:p>
        </p:txBody>
      </p:sp>
      <p:sp>
        <p:nvSpPr>
          <p:cNvPr id="49" name="Text 42"/>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tourist tries the local food.</a:t>
            </a:r>
            <a:endParaRPr lang="en-US" sz="1200" dirty="0"/>
          </a:p>
        </p:txBody>
      </p:sp>
      <p:sp>
        <p:nvSpPr>
          <p:cNvPr id="50"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DESTINATION PROFILE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Attraction + feature + recommendation</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مَلَفًّا سِيَاحِيًّا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Attraction</a:t>
            </a:r>
            <a:endParaRPr lang="en-US" sz="1100" dirty="0"/>
          </a:p>
        </p:txBody>
      </p:sp>
      <p:sp>
        <p:nvSpPr>
          <p:cNvPr id="17" name="Text 14"/>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Distinguishing feature</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Visit / recommendation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تَسْتَقْطِبُ المَدِينَةُ مَلَايِينَ السُّيَّاحِ سَنَوِيًّا</a:t>
            </a:r>
            <a:endParaRPr lang="ar-SA" sz="1600" dirty="0"/>
          </a:p>
        </p:txBody>
      </p:sp>
      <p:sp>
        <p:nvSpPr>
          <p:cNvPr id="21" name="Text 18"/>
          <p:cNvSpPr txBox="1"/>
          <p:nvPr/>
        </p:nvSpPr>
        <p:spPr>
          <a:xfrm>
            <a:off x="4416552"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وَتَتَمَيَّزُ بِأَزِقَّتِهَا الضَّيِّقَةِ وَأَسْوَاقِهَا الحَيَّةِ</a:t>
            </a:r>
            <a:endParaRPr lang="ar-SA" sz="16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وَزُرْتُهَا فَأَدْرَكْتُ أَنَّ الصُّوَرَ لَا تُنْصِفُهَا</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تُبْهِرُ المَدِينَةُ القَدِيمَةُ زُوَّارَهَا بِعِمَارَتِهَا</a:t>
            </a:r>
            <a:endParaRPr lang="ar-SA" sz="1600" dirty="0"/>
          </a:p>
        </p:txBody>
      </p:sp>
      <p:sp>
        <p:nvSpPr>
          <p:cNvPr id="27" name="Text 24"/>
          <p:cNvSpPr txBox="1"/>
          <p:nvPr/>
        </p:nvSpPr>
        <p:spPr>
          <a:xfrm>
            <a:off x="44165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وَتَشْتَهِرُ بِأَقْدَمِ جَامِعَةٍ فِي العَالَمِ</a:t>
            </a:r>
            <a:endParaRPr lang="ar-SA" sz="16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وَإِذَا زُرْتَ البَلَدَ فَلَا بُدَّ مِنْ زِيَارَتِهَا</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تُعَدُّ المَدِينَةُ مِنْ أَعْرَقِ الوِجْهَاتِ العَرَبِيَّةِ</a:t>
            </a:r>
            <a:endParaRPr lang="ar-SA" sz="1600" dirty="0"/>
          </a:p>
        </p:txBody>
      </p:sp>
      <p:sp>
        <p:nvSpPr>
          <p:cNvPr id="31" name="Text 28"/>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وَتَزْخَرُ بِالمَعَالِمِ التُّرَاثِيَّةِ وَالمَتَاحِفِ</a:t>
            </a:r>
            <a:endParaRPr lang="ar-SA" sz="16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وَأَشَارَ الدَّلِيلُ إِلَى أَنَّ الرَّبِيعَ أَفْضَلُ مَوْسِمٍ</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replace </a:t>
            </a:r>
            <a:pPr algn="l" indent="0" marL="0">
              <a:buNone/>
            </a:pPr>
            <a:r>
              <a:rPr lang="ar-SA" altLang="en-US" sz="1500" b="1" dirty="0">
                <a:solidFill>
                  <a:srgbClr val="1B3B6F"/>
                </a:solidFill>
                <a:latin typeface="Amiri" pitchFamily="2" charset="-78"/>
                <a:ea typeface="Amiri" pitchFamily="2" charset="-78"/>
                <a:cs typeface="Amiri" pitchFamily="2" charset="-78"/>
              </a:rPr>
              <a:t>المَدِينَة</a:t>
            </a:r>
            <a:pPr algn="l" indent="0" marL="0">
              <a:buNone/>
            </a:pPr>
            <a:r>
              <a:rPr lang="en-US" sz="1150" b="1" dirty="0">
                <a:solidFill>
                  <a:srgbClr val="1B3B6F"/>
                </a:solidFill>
                <a:latin typeface="Calibri" pitchFamily="34" charset="0"/>
                <a:cs typeface="Amiri" pitchFamily="2" charset="-78"/>
              </a:rPr>
              <a:t> with a real place name.</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A direct object, bi- — or recommendation / register?</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يَسْتَقْطِبُ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يُبْهِرُ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يَسْتَحِقُّ</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يَتَمَيَّزُ</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يَشْتَهِرُ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يَزْخَرُ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بُدَّ مِنْ زِيَارَةِ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زُرْتَ فَـ…</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يُعَدُّ مِنْ أَجْمَلِ…</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direct object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bi-</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recommend / register</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direct object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يَسْتَقْطِبُ</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يُبْهِرُ</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يَسْتَحِقُّ</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bi-</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يَتَمَيَّزُ</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يَشْتَهِرُ</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يَزْخَرُ</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recommend / register</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بُدَّ مِنْ زِيَارَةِ</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زُرْتَ فَـ…</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يُعَدُّ مِنْ أَجْمَلِ…</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tense fits a general description?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فَاسَ العَامَ المَاضِيَ.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سَأَزُورُ فَاسَ غَدًا.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تُعَدُّ فَاسُ مِنْ أَعْرَقِ المُدُنِ.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tense fits your own visit?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تُعَدُّ فَاسُ عَرِيقَةً.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فَاسَ وَأَدْرَكْتُ سِحْرَهَا.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تَسْتَقْطِبُ فَاسُ السُّيَّاحَ.</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closes a profile with a recommendation?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فَاسُ مَدِينَةٌ قَدِيمَةٌ.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زُرْتَ المَغْرِبَ، فَلَا بُدَّ مِنْ زِيَارَةِ فَاسَ.</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فَاسَ.</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is Form X (“attracts”)?</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يُبْهِرُ</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يَشْتَهِرُ</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يَسْتَقْطِبُ</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tense fits a general description?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زُرْتُ فَاسَ العَامَ المَاضِيَ.</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سَأَزُورُ فَاسَ غَدًا.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تُعَدُّ فَاسُ مِنْ أَعْرَقِ المُدُنِ.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states a general truth.</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tense fits your own visit?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تُعَدُّ فَاسُ عَرِيقَةً.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 فَاسَ وَأَدْرَكْتُ سِحْرَهَا.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تَسْتَقْطِبُ فَاسُ السُّيَّاحَ.</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narrates a personal visit.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closes a profile with a recommendation?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فَاسُ مَدِينَةٌ قَدِيمَةٌ.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زُرْتَ المَغْرِبَ، فَلَا بُدَّ مِنْ زِيَارَةِ فَاسَ.</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زُرْتُ فَاسَ.</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1 conditional recommends.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form is Form X (“attracts”)?</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يُبْهِرُ</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يَشْتَهِرُ</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يَسْتَقْطِبُ</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يَسْتَقْطِبُ</a:t>
            </a:r>
            <a:pPr algn="l" indent="0" marL="0">
              <a:buNone/>
            </a:pPr>
            <a:r>
              <a:rPr lang="en-US" sz="1050" i="1" dirty="0">
                <a:solidFill>
                  <a:srgbClr val="8A6D1E"/>
                </a:solidFill>
                <a:latin typeface="Calibri" pitchFamily="34" charset="0"/>
                <a:cs typeface="Amiri" pitchFamily="2" charset="-78"/>
              </a:rPr>
              <a:t> is the Form X verb.</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تَسْتَقْطِبُ الأَهْرَامُ بِمَلَايِينِ السُّيَّاحِ.</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yastaqṭib + bi-?</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تَتَمَيَّزُ المَدِينَةُ أَزِقَّتَهَا الضَّيِّقَةَ.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yatamayyaz + object?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تُبْهِرُ البَتْرَاءُ بِزُوَّارِهَا.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yubhir + bi- for the person?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تَسْتَقْطِبُ الأَهْرَامُ بِمَلَايِينِ السُّيَّاحِ.</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تَسْتَقْطِبُ الأَهْرَامُ مَلَايِينَ السُّيَّاحِ.</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يَسْتَقْطِبُ</a:t>
            </a:r>
            <a:pPr algn="l" indent="0" marL="0">
              <a:buNone/>
            </a:pPr>
            <a:r>
              <a:rPr lang="en-US" sz="1150" b="1" dirty="0">
                <a:solidFill>
                  <a:srgbClr val="1B3B6F"/>
                </a:solidFill>
                <a:latin typeface="Calibri" pitchFamily="34" charset="0"/>
                <a:cs typeface="Amiri" pitchFamily="2" charset="-78"/>
              </a:rPr>
              <a:t> takes a direct object.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تَتَمَيَّزُ المَدِينَةُ أَزِقَّتَهَا الضَّيِّقَةَ.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تَتَمَيَّزُ المَدِينَةُ بِأَزِقَّتِهَا الضَّيِّقَةِ.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يَتَمَيَّزُ</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تُبْهِرُ البَتْرَاءُ بِزُوَّارِهَا.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تُبْهِرُ البَتْرَاءُ زُوَّارَهَا.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يُبْهِرُ</a:t>
            </a:r>
            <a:pPr algn="l" indent="0" marL="0">
              <a:buNone/>
            </a:pPr>
            <a:r>
              <a:rPr lang="en-US" sz="1150" b="1" dirty="0">
                <a:solidFill>
                  <a:srgbClr val="1B3B6F"/>
                </a:solidFill>
                <a:latin typeface="Calibri" pitchFamily="34" charset="0"/>
                <a:cs typeface="Amiri" pitchFamily="2" charset="-78"/>
              </a:rPr>
              <a:t> takes a direct object.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 profile of Fez</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Fez described?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Among the most ancient Arab cities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modern city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 village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old city stand out for?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skyscrapers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beaches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narrow alleys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Fez famous for?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tallest tower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largest airport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oldest university in the world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writer realise on their visit?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replaces the experience of wandering it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city is ordinary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Photos were enough</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recommendation?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 Fez</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you visit Morocco, Fez is a must-visit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 only in winter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tuʿaddu min · tatamayyazu bi- · tashtahiru bi-.</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تُعَدُّ مَدِينَةُ فَاسَ المَغْرِبِيَّةُ مِنْ أَعْرَقِ المُدُنِ العَرَبِيَّةِ. تَسْتَقْطِبُ آلَافَ السُّيَّاحِ سَنَوِيًّا بِتُرَاثِهَا المِعْمَارِيِّ الأَصِيلِ وَأَسْوَاقِهَا الحَيَّةِ.</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Moroccan city of Fez is considered one of the most ancient Arab cities. It attracts thousands of tourists every year with its authentic architectural heritage and lively souks.</a:t>
            </a:r>
            <a:endParaRPr lang="en-US" sz="120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تَتَمَيَّزُ المَدِينَةُ القَدِيمَةُ بِأَزِقَّتِهَا الضَّيِّقَةِ، وَتَشْتَهِرُ بِأَقْدَمِ جَامِعَةٍ فِي العَالَمِ، جَامِعَةِ القَرَوِيِّينَ.</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old city is distinguished by its narrow alleys, and it is famous for the oldest university in the world, al-Qarawiyyīn.</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تُبْهِرُ زُوَّارَهَا بِأَلْوَانِ المَدَابِغِ الشَّهِيرَةِ. زُرْتُ فَاسَ قَبْلَ عَامَيْنِ، وَأَدْرَكْتُ أَنَّهُ لَا شَيْءَ يُمْكِنُهُ أَنْ يُعَوِّضَ تَجْرِبَةَ التَّجَوُّلِ فِيهَا.</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It dazzles its visitors with the colours of its famous tanneries. I visited Fez two years ago, and I realised that nothing can replace the experience of wandering through it.</a:t>
            </a:r>
            <a:endParaRPr lang="en-US" sz="120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وَأَشَارَ الدَّلِيلُ السِّيَاحِيُّ إِلَى أَنَّ أَفْضَلَ مَوْسِمٍ لِلزِّيَارَةِ هُوَ الرَّبِيعُ.</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tourist guide pointed out that the best season to visit is spring.</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إِذَا زُرْتَ المَغْرِبَ، فَلَا بُدَّ مِنْ زِيَارَةِ فَاسَ.</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you visit Morocco, you must visit Fez.</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Fez described?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Among the most ancient Arab cities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modern city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small village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تُعَدُّ مَدِينَةُ فَاسَ … مِنْ أَعْرَقِ المُدُنِ العَرَبِيَّةِ.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old city stand out for?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Its skyscrapers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Its beaches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Its narrow alleys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تَتَمَيَّزُ المَدِينَةُ القَدِيمَةُ بِأَزِقَّتِهَا الضَّيِّقَةِ.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Fez famous for?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tallest tower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largest airport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oldest university in the world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تَشْتَهِرُ بِأَقْدَمِ جَامِعَةٍ فِي العَالَمِ.</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writer realise on their visit?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Nothing replaces the experience of wandering it</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city is ordinary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Photos were enough</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أَدْرَكْتُ أَنَّهُ لَا شَيْءَ يُمْكِنُهُ أَنْ يُعَوِّضَ تَجْرِبَةَ التَّجَوُّلِ فِيهَا.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recommendation?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 Fez</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If you visit Morocco, Fez is a must-visit</a:t>
            </a:r>
            <a:endParaRPr lang="en-US" sz="12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 only in winter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زُرْتَ المَغْرِبَ، فَلَا بُدَّ مِنْ زِيَارَةِ فَاسَ.</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tuʿaddu min · tatamayyazu bi- · tashtahiru bi-.</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profile a destination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وِجْهَةً عَرَبِيَّةً مُسْتَعْمِلًا «يَسْتَقْطِبُ» وَ«يَتَمَيَّزُ بِـ».</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احْكِ عَنْ زِيَارَةٍ قُمْتَ بِهَا فِي المَاضِي.</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انْصَحْ زَائِرًا بِشَرْطٍ مِنَ النَّوْعِ الأَوَّلِ.</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D5FBF"/>
                </a:solidFill>
                <a:latin typeface="Amiri" pitchFamily="2" charset="-78"/>
                <a:ea typeface="Amiri" pitchFamily="2" charset="-78"/>
                <a:cs typeface="Amiri" pitchFamily="2" charset="-78"/>
              </a:rPr>
              <a:t>تَسْتَقْطِبُ ___ آلَافَ السُّيَّاحِ، وَتَشْتَهِرُ بِمَعَالِمِهَا مِثْلِ ___ .</a:t>
            </a:r>
            <a:endParaRPr lang="ar-SA" sz="105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زُرْتُ ___ قَبْلَ ___ ، وَأَبْهَرَنِي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زُرْتَ ___ ، فَلَا بُدَّ مِنْ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وِجْهَةً عَرَبِيَّةً.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an Arab destination.</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تَسْتَقْطِبُ فَاسُ آلَافَ السُّيَّاحِ، وَتَتَمَيَّزُ بِأَزِقَّتِهَا وَتَشْتَهِرُ بِجَامِعَتِهَا العَرِيقَةِ.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Fez attracts thousands of tourists; it stands out for its alleys and is famous for its ancient university.</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six destination sentences using the tourism verbs with correct complements.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six destination sentences with the tourism verbs and correct complements.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past visit sentence and a present general description.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present general description and a past visit sentence.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full magazine profile with a reported recommendation and a Type 1 close.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magazine profile with the four tourism verbs, a past visit, a reported recommendation and a Type 1 close.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تُعَدُّ ______ مِنْ أَعْرَقِ المُدُنِ العَرَبِيَّةِ.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considered one of the most ancient Arab cities.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زُرْتُ ______ ، وَأَدْرَكْتُ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visited … and realised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أَشَارَ الدَّلِيلُ إِلَى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guide pointed out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إِذَا زُرْتَ ______ ، فَلَا بُدَّ مِنْ زِيَارَةِ ______ .</a:t>
            </a:r>
            <a:endParaRPr lang="ar-SA" sz="16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you visit …, you must visit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تَسْتَقْطِبُ ______ آلَافَ السُّيَّاحِ سَنَوِيًّا.</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attracts thousands of tourists every year.</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تَتَمَيَّزُ المَدِينَةُ القَدِيمَةُ بِأَزِقَّتِهَا وَ ______ .</a:t>
            </a:r>
            <a:endParaRPr lang="ar-SA" sz="165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old city is distinguished by its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تَشْتَهِرُ بِمَعَالِمِهَا مِثْلِ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famous for landmarks such as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تُبْهِرُ المَدِينَةُ زُوَّارَهَا بِجَمَالِ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city dazzles its visitors with the beauty of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فَاسُ  ·  مَرَّاكُشُ  ·  البَتْرَاءُ  ·  الأَهْرَامُ  ·  أَسْوَاقِهَا الحَيَّةِ  ·  جَامِعَةِ القَرَوِيِّينَ  ·  الخَزْنَةِ  ·  المَدَابِغِ الشَّهِيرَةِ  ·  الرَّبِيعَ أَفْضَلُ مَوْسِمٍ  ·  الصُّوَرَ لَا تُنْصِفُهَا  ·  تَجْرِبَةٌ فَرِيدَةٌ  ·  مَوْقِعٌ لِلتُّرَاثِ العَالَمِيِّ</a:t>
            </a:r>
            <a:endParaRPr lang="ar-SA" sz="13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 travel-magazine destination profile of one hundred to one hundred and ten words for an Arab city or site. Use </a:t>
            </a:r>
            <a:pPr algn="l" indent="0" marL="0">
              <a:buNone/>
            </a:pPr>
            <a:r>
              <a:rPr lang="ar-SA" altLang="en-US" sz="1650" b="1" dirty="0">
                <a:solidFill>
                  <a:srgbClr val="1F2A37"/>
                </a:solidFill>
                <a:latin typeface="Amiri" pitchFamily="2" charset="-78"/>
                <a:ea typeface="Amiri" pitchFamily="2" charset="-78"/>
                <a:cs typeface="Amiri" pitchFamily="2" charset="-78"/>
              </a:rPr>
              <a:t>يَسْتَقْطِبُ، يَتَمَيَّزُ بِـ، يَشْتَهِرُ بِـ</a:t>
            </a:r>
            <a:pPr algn="l" indent="0" marL="0">
              <a:buNone/>
            </a:pPr>
            <a:r>
              <a:rPr lang="en-US" sz="1250" b="1" dirty="0">
                <a:solidFill>
                  <a:srgbClr val="1F2A37"/>
                </a:solidFill>
                <a:latin typeface="Calibri" pitchFamily="34" charset="0"/>
                <a:cs typeface="Amiri" pitchFamily="2" charset="-78"/>
              </a:rPr>
              <a:t> and </a:t>
            </a:r>
            <a:pPr algn="l" indent="0" marL="0">
              <a:buNone/>
            </a:pPr>
            <a:r>
              <a:rPr lang="ar-SA" altLang="en-US" sz="1650" b="1" dirty="0">
                <a:solidFill>
                  <a:srgbClr val="1F2A37"/>
                </a:solidFill>
                <a:latin typeface="Amiri" pitchFamily="2" charset="-78"/>
                <a:ea typeface="Amiri" pitchFamily="2" charset="-78"/>
                <a:cs typeface="Amiri" pitchFamily="2" charset="-78"/>
              </a:rPr>
              <a:t>يُبْهِرُ</a:t>
            </a:r>
            <a:pPr algn="l" indent="0" marL="0">
              <a:buNone/>
            </a:pPr>
            <a:r>
              <a:rPr lang="en-US" sz="1250" b="1" dirty="0">
                <a:solidFill>
                  <a:srgbClr val="1F2A37"/>
                </a:solidFill>
                <a:latin typeface="Calibri" pitchFamily="34" charset="0"/>
                <a:cs typeface="Amiri" pitchFamily="2" charset="-78"/>
              </a:rPr>
              <a:t>, move from a present description to a past visit, and close with a Type 1 recommendation.</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يَسْتَقْطِبُ</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يُبْهِرُ</a:t>
            </a:r>
            <a:pPr algn="l" indent="0" marL="0">
              <a:buNone/>
            </a:pPr>
            <a:r>
              <a:rPr lang="en-US" sz="1200" dirty="0">
                <a:solidFill>
                  <a:srgbClr val="1F2A37"/>
                </a:solidFill>
                <a:latin typeface="Calibri" pitchFamily="34" charset="0"/>
                <a:cs typeface="Amiri" pitchFamily="2" charset="-78"/>
              </a:rPr>
              <a:t> with direct objects.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يَتَمَيَّزُ بِـ</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يَشْتَهِرُ بِـ</a:t>
            </a:r>
            <a:pPr algn="l" indent="0" marL="0">
              <a:buNone/>
            </a:pPr>
            <a:r>
              <a:rPr lang="en-US" sz="1200" dirty="0">
                <a:solidFill>
                  <a:srgbClr val="1F2A37"/>
                </a:solidFill>
                <a:latin typeface="Calibri" pitchFamily="34" charset="0"/>
                <a:cs typeface="Amiri" pitchFamily="2" charset="-78"/>
              </a:rPr>
              <a:t> with correct prepositions.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present general description and a past visit sentence.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closing Type 1 recommendation.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بِتُرَاثِهَا المِعْمَارِيِّ الأَصِيلِ</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its authentic architectural heritage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وَمَبَانِيهَا الحَجَرِيَّةِ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its stone buildings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بِأَلْوَانِ المَدَابِغِ الشَّهِيرَةِ وَرَوَائِحِ التَّوَابِلِ</a:t>
            </a:r>
            <a:endParaRPr lang="ar-SA" sz="165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the colours of the famous tanneries and the scents of spices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شَيْءَ يُعَوِّضُ تَجْرِبَةَ التَّجَوُّلِ فِي أَزِقَّتِهَا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nothing replaces the experience of wandering its alleys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فَهِيَ تَجْرِبَةٌ فَرِيدَةٌ لَا تُنْسَى</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it is a unique, unforgettable experience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تُعَدُّ مَدِينَةُ فَاسَ المَغْرِبِيَّةُ مِنْ أَعْرَقِ المُدُنِ العَرَبِيَّةِ، وَتَسْتَقْطِبُ آلَافَ السُّيَّاحِ سَنَوِيًّا بِتُرَاثِهَا المِعْمَارِيِّ الأَصِيلِ. تَتَمَيَّزُ مَدِينَتُهَا القَدِيمَةُ بِأَزِقَّتِهَا الضَّيِّقَةِ وَمَبَانِيهَا الحَجَرِيَّةِ، وَتَشْتَهِرُ بِأَقْدَمِ جَامِعَةٍ فِي العَالَمِ، جَامِعَةِ القَرَوِيِّينَ. تُبْهِرُ زُوَّارَهَا بِأَلْوَانِ المَدَابِغِ الشَّهِيرَةِ وَرَوَائِحِ التَّوَابِلِ فِي أَسْوَاقِهَا. زُرْتُ فَاسَ قَبْلَ عَامَيْنِ، وَأَدْرَكْتُ أَنَّهُ لَا شَيْءَ يُعَوِّضُ تَجْرِبَةَ التَّجَوُّلِ فِي أَزِقَّتِهَا. وَأَشَارَ الدَّلِيلُ إِلَى أَنَّ الرَّبِيعَ أَفْضَلُ مَوْسِمٍ لِلزِّيَارَةِ. لِذٰلِكَ، إِذَا زُرْتَ المَغْرِبَ، فَلَا بُدَّ مِنْ زِيَارَةِ فَاسَ، فَهِيَ تَجْرِبَةٌ فَرِيدَةٌ لَا تُنْسَى.</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Moroccan city of Fez is considered one of the most ancient Arab cities, and it attracts thousands of tourists every year with its authentic architectural heritage. Its old city is distinguished by its narrow alleys and stone buildings, and it is famous for the oldest university in the world, al-Qarawiyyīn. It dazzles its visitors with the colours of its famous tanneries and the scents of spices in its souks. I visited Fez two years ago, and I realised that nothing replaces the experience of wandering its alleys. The guide pointed out that spring is the best season to visit. So if you visit Morocco, you must visit Fez — it is a unique, unforgettable experience.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tastaqṭibu + object · tubhiru + object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tatamayyazu bi- · tashtahiru bi-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past visit (zurtu · adraktu)</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reported tip + idhā … fa-lā budda min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yastaqṭib / yubhir have a direct object (no bi-).</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yatamayyaz / yashtahir have bi-.</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verbs agree with the place (tastaqṭibu fāsu · yastaqṭibu l-maghribu).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Present for description, past for my visit.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recommendation uses idhā … fa-lā budda min + a verbal noun.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يَسْتَقْطِبُ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تَسْتَقْطِبُ الأَهْرَامُ مَلَايِينَ السُّيَّاحِ.</a:t>
            </a:r>
            <a:endParaRPr lang="ar-SA" sz="19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تَسْتَقْطِبُ الأَهْرَامُ بِمَلَايِينِ السُّيَّاحِ.</a:t>
            </a:r>
            <a:endParaRPr lang="ar-SA" sz="19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تَسْتَقْطِبُ الأَهْرَامُ لِمَلَايِينِ السُّيَّاحِ.</a:t>
            </a:r>
            <a:endParaRPr lang="ar-SA" sz="19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تَشْتَهِرُ المَدِينَةُ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أَسْوَاقِهَا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closes a profile with a recommendation?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إِذَا زُرْتَ المَغْرِبَ، فَلَا بُدَّ مِنْ زِيَارَةِ فَاسَ.</a:t>
            </a:r>
            <a:endParaRPr lang="ar-SA" sz="16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فَاسُ قَدِيمَةٌ.</a:t>
            </a:r>
            <a:endParaRPr lang="ar-SA" sz="16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زُرْتُ فَاسَ.</a:t>
            </a:r>
            <a:endParaRPr lang="ar-SA" sz="16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يَسْتَقْطِبُ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1950" b="1" dirty="0">
                <a:solidFill>
                  <a:srgbClr val="1F2A37"/>
                </a:solidFill>
                <a:latin typeface="Amiri" pitchFamily="2" charset="-78"/>
                <a:ea typeface="Amiri" pitchFamily="2" charset="-78"/>
                <a:cs typeface="Amiri" pitchFamily="2" charset="-78"/>
              </a:rPr>
              <a:t>تَسْتَقْطِبُ الأَهْرَامُ مَلَايِينَ السُّيَّاحِ.</a:t>
            </a:r>
            <a:endParaRPr lang="ar-SA" sz="19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1950" dirty="0">
                <a:solidFill>
                  <a:srgbClr val="9AA1AB"/>
                </a:solidFill>
                <a:latin typeface="Amiri" pitchFamily="2" charset="-78"/>
                <a:ea typeface="Amiri" pitchFamily="2" charset="-78"/>
                <a:cs typeface="Amiri" pitchFamily="2" charset="-78"/>
              </a:rPr>
              <a:t>تَسْتَقْطِبُ الأَهْرَامُ بِمَلَايِينِ السُّيَّاحِ.</a:t>
            </a:r>
            <a:endParaRPr lang="ar-SA" sz="19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1950" dirty="0">
                <a:solidFill>
                  <a:srgbClr val="9AA1AB"/>
                </a:solidFill>
                <a:latin typeface="Amiri" pitchFamily="2" charset="-78"/>
                <a:ea typeface="Amiri" pitchFamily="2" charset="-78"/>
                <a:cs typeface="Amiri" pitchFamily="2" charset="-78"/>
              </a:rPr>
              <a:t>تَسْتَقْطِبُ الأَهْرَامُ لِمَلَايِينِ السُّيَّاحِ.</a:t>
            </a:r>
            <a:endParaRPr lang="ar-SA" sz="19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يَسْتَقْطِبُ</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تَشْتَهِرُ المَدِينَةُ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أَسْوَاقِهَا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يَشْتَهِرُ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closes a profile with a recommendation?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إِذَا زُرْتَ المَغْرِبَ، فَلَا بُدَّ مِنْ زِيَارَةِ فَاسَ.</a:t>
            </a:r>
            <a:endParaRPr lang="ar-SA" sz="16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فَاسُ قَدِيمَةٌ.</a:t>
            </a:r>
            <a:endParaRPr lang="ar-SA" sz="16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زُرْتُ فَاسَ.</a:t>
            </a:r>
            <a:endParaRPr lang="ar-SA" sz="16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Type 1 conditional recommends.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the wonders of Petra</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تُعَدُّ مَدِينَةُ البَتْرَاءِ الأُرْدُنِّيَّةُ مِنْ أَشْهَرِ الوِجْهَاتِ السِّيَاحِيَّةِ فِي العَالَمِ العَرَبِيِّ. تَسْتَقْطِبُ زُوَّارًا مِنْ كُلِّ القَارَّاتِ، وَتُبْهِرُهُمْ بِمَبَانِيهَا المَنْحُوتَةِ فِي الصَّخْرِ الوَرْدِيِّ. تَتَمَيَّزُ بِتَارِيخِهَا النَّبَطِيِّ العَرِيقِ، وَتَشْتَهِرُ بِالخَزْنَةِ الَّتِي تَظْهَرُ فَجْأَةً فِي نِهَايَةِ المَمَرِّ الضَّيِّقِ. وَقَدِ اخْتِيرَتْ وَاحِدَةً مِنْ عَجَائِبِ الدُّنْيَا الجَدِيدَةِ. زُرْتُهَا فِي الرَّبِيعِ، وَكَانَ الطَّقْسُ مِثَالِيًّا لِلْمَشْيِ. وَأَشَارَ دَلِيلٌ مَحَلِّيٌّ إِلَى أَنَّ الزِّيَارَةَ لَيْلًا تَجْرِبَةٌ سَاحِرَةٌ. لِذٰلِكَ، إِذَا خَطَّطْتَ لِرِحْلَةٍ إِلَى الأُرْدُنِّ، فَلَا بُدَّ مِنْ قَضَاءِ يَوْمٍ كَامِلٍ فِي البَتْرَاءِ.</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القَارَّاتِ</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continents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المَنْحُوتَةِ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carved</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الصَّخْرِ الوَرْدِيِّ</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pink rock</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النَّبَطِيِّ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Nabataean</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اخْتِيرَتْ</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 was chosen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عَجَائِبِ الدُّنْيَا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wonders of the world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مِثَالِيًّا</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ideal</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لَيْلًا</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at night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سَاحِرَةٌ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enchanting</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خَطَّطْتَ</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 planned</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Petra described?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hidden village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Among the most famous destinations in the Arab world</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modern resort</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Petra amaze visitors with?</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beaches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shopping malls</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Buildings carved into the pink rock</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Petra famous for?</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Treasury that appears suddenly at the end of the passage</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tall tower</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large stadium</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local guide indicate?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Night visits are banned</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night visit is an enchanting experience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nothing to see at night</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recommendation?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Spend a full day in Petra if you plan a trip to Jordan</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Skip Petra</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 only briefly</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Petra described?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hidden village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Among the most famous destinations in the Arab world</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modern resort</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تُعَدُّ … مِنْ أَشْهَرِ الوِجْهَاتِ السِّيَاحِيَّةِ فِي العَالَمِ العَرَبِيِّ.</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Petra amaze visitors with?</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Its beaches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Its shopping malls</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Buildings carved into the pink rock</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تُبْهِرُهُمْ بِمَبَانِيهَا المَنْحُوتَةِ فِي الصَّخْرِ الوَرْدِيِّ.</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Petra famous for?</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Treasury that appears suddenly at the end of the passage</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tall tower</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large stadium</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تَشْتَهِرُ بِالخَزْنَةِ الَّتِي تَظْهَرُ فَجْأَةً فِي نِهَايَةِ المَمَرِّ.</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local guide indicate?</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Night visits are banned</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 night visit is an enchanting experience</a:t>
            </a:r>
            <a:endParaRPr lang="en-US" sz="12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nothing to see at night</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أَشَارَ دَلِيلٌ مَحَلِّيٌّ إِلَى أَنَّ الزِّيَارَةَ لَيْلًا تَجْرِبَةٌ سَاحِرَةٌ.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recommendation?</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Spend a full day in Petra if you plan a trip to Jordan</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Skip Petra</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 only briefly</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إِذَا خَطَّطْتَ لِرِحْلَةٍ إِلَى الأُرْدُنِّ، فَلَا بُدَّ مِنْ قَضَاءِ يَوْمٍ كَامِلٍ فِي البَتْرَاءِ.</a:t>
            </a:r>
            <a:endParaRPr lang="ar-SA"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Destinations Mission — Verbs, Complements and Register</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complete — </a:t>
            </a:r>
            <a:pPr algn="l" indent="0" marL="0">
              <a:buNone/>
            </a:pPr>
            <a:r>
              <a:rPr lang="ar-SA" altLang="en-US" sz="1650" b="1" dirty="0">
                <a:solidFill>
                  <a:srgbClr val="1B3B6F"/>
                </a:solidFill>
                <a:latin typeface="Amiri" pitchFamily="2" charset="-78"/>
                <a:ea typeface="Amiri" pitchFamily="2" charset="-78"/>
                <a:cs typeface="Amiri" pitchFamily="2" charset="-78"/>
              </a:rPr>
              <a:t>تَسْتَقْطِبُ مَرَّاكُشُ</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السُّيَّاحِ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بِمَلَايِينِ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مَلَايِينَ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لِمَلَايِينِ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تَتَمَيَّزُ المَدِينَةُ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أَزِقَّتِهَا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تَشْتَهِرُ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جَامِعَتِهَا العَرِيقَةِ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complete — </a:t>
            </a:r>
            <a:pPr algn="l" indent="0" marL="0">
              <a:buNone/>
            </a:pPr>
            <a:r>
              <a:rPr lang="ar-SA" altLang="en-US" sz="1650" b="1" dirty="0">
                <a:solidFill>
                  <a:srgbClr val="1B3B6F"/>
                </a:solidFill>
                <a:latin typeface="Amiri" pitchFamily="2" charset="-78"/>
                <a:ea typeface="Amiri" pitchFamily="2" charset="-78"/>
                <a:cs typeface="Amiri" pitchFamily="2" charset="-78"/>
              </a:rPr>
              <a:t>تُبْهِرُ البَتْرَاءُ</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بِزُوَّارِهَا</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لِزُوَّارِهَا</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زُوَّارَهَا</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Form: which is Form X (“attracts”)?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يَسْتَقْطِبُ</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يُبْهِرُ</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يَشْتَهِرُ</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Register: which is a general present description?</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فَاسَ أَمْسِ.</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تُعَدُّ فَاسُ مِنْ أَعْرَقِ المُدُنِ.</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سَأَزُورُ فَاسَ.</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complete — </a:t>
            </a:r>
            <a:pPr algn="l" indent="0" marL="0">
              <a:buNone/>
            </a:pPr>
            <a:r>
              <a:rPr lang="ar-SA" altLang="en-US" sz="1650" b="1" dirty="0">
                <a:solidFill>
                  <a:srgbClr val="1B3B6F"/>
                </a:solidFill>
                <a:latin typeface="Amiri" pitchFamily="2" charset="-78"/>
                <a:ea typeface="Amiri" pitchFamily="2" charset="-78"/>
                <a:cs typeface="Amiri" pitchFamily="2" charset="-78"/>
              </a:rPr>
              <a:t>تَسْتَقْطِبُ مَرَّاكُشُ</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السُّيَّاحِ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بِمَلَايِينِ</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مَلَايِينَ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لِمَلَايِينِ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يَسْتَقْطِبُ</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تَتَمَيَّزُ المَدِينَةُ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أَزِقَّتِهَا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يَتَمَيَّزُ</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تَشْتَهِرُ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جَامِعَتِهَا العَرِيقَةِ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يَشْتَهِرُ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Object: complete — </a:t>
            </a:r>
            <a:pPr algn="l" indent="0" marL="0">
              <a:buNone/>
            </a:pPr>
            <a:r>
              <a:rPr lang="ar-SA" altLang="en-US" sz="1650" b="1" dirty="0">
                <a:solidFill>
                  <a:srgbClr val="1B3B6F"/>
                </a:solidFill>
                <a:latin typeface="Amiri" pitchFamily="2" charset="-78"/>
                <a:ea typeface="Amiri" pitchFamily="2" charset="-78"/>
                <a:cs typeface="Amiri" pitchFamily="2" charset="-78"/>
              </a:rPr>
              <a:t>تُبْهِرُ البَتْرَاءُ</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بِزُوَّارِهَا</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لِزُوَّارِهَا</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زُوَّارَهَا</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يُبْهِرُ</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Form: which is Form X (“attracts”)?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يَسْتَقْطِبُ</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يُبْهِرُ</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يَشْتَهِرُ</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يَسْتَقْطِبُ</a:t>
            </a:r>
            <a:pPr algn="l" indent="0" marL="0">
              <a:buNone/>
            </a:pPr>
            <a:r>
              <a:rPr lang="en-US" sz="1050" i="1" dirty="0">
                <a:solidFill>
                  <a:srgbClr val="8A6D1E"/>
                </a:solidFill>
                <a:latin typeface="Calibri" pitchFamily="34" charset="0"/>
                <a:cs typeface="Amiri" pitchFamily="2" charset="-78"/>
              </a:rPr>
              <a:t> is the Form X verb.</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Register: which is a general present description?</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زُرْتُ فَاسَ أَمْسِ.</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تُعَدُّ فَاسُ مِنْ أَعْرَقِ المُدُنِ.</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سَأَزُورُ فَاسَ.</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states a general truth.</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P3-L04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P3-L05: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P3-L05 · Sustainable Tourism — The Ethics and Impact of Travel</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السِّيَاحَةُ المُسْتَدَامَةُ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sustainable tourism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الاكْتِظَاظُ السِّيَاحِيُّ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over-tourism</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بَصْمَةٌ كَرْبُونِيَّةٌ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carbon footprint</a:t>
            </a:r>
            <a:pPr indent="0" marL="0">
              <a:buNone/>
            </a:pPr>
            <a:r>
              <a:rPr lang="ar-SA" sz="1000" i="1" dirty="0">
                <a:solidFill>
                  <a:srgbClr val="5A6472"/>
                </a:solidFill>
                <a:latin typeface="Calibri" pitchFamily="34" charset="0"/>
                <a:ea typeface="Amiri" pitchFamily="2" charset="-78"/>
                <a:cs typeface="Amiri" pitchFamily="2" charset="-78"/>
              </a:rPr>
              <a:t>  pl. بَصَمَاتٌ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يُلْحِقُ الضَّرَرَ بِـ</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 it causes harm to</a:t>
            </a:r>
            <a:pPr indent="0" marL="0">
              <a:buNone/>
            </a:pPr>
            <a:r>
              <a:rPr lang="ar-SA" sz="1000" i="1" dirty="0">
                <a:solidFill>
                  <a:srgbClr val="5A6472"/>
                </a:solidFill>
                <a:latin typeface="Calibri" pitchFamily="34" charset="0"/>
                <a:ea typeface="Amiri" pitchFamily="2" charset="-78"/>
                <a:cs typeface="Amiri" pitchFamily="2" charset="-78"/>
              </a:rPr>
              <a:t>  تُلْحِقُ she / it (f.)</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يَحْمِي التُّرَاثَ</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 it protects heritage</a:t>
            </a:r>
            <a:pPr indent="0" marL="0">
              <a:buNone/>
            </a:pPr>
            <a:r>
              <a:rPr lang="ar-SA" sz="1000" i="1" dirty="0">
                <a:solidFill>
                  <a:srgbClr val="5A6472"/>
                </a:solidFill>
                <a:latin typeface="Calibri" pitchFamily="34" charset="0"/>
                <a:ea typeface="Amiri" pitchFamily="2" charset="-78"/>
                <a:cs typeface="Amiri" pitchFamily="2" charset="-78"/>
              </a:rPr>
              <a:t>  تَحْمِي she / it (f.)</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Does tourism help a place, harm it — or both?</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أَعْتَقِدُ أَنَّ السِّيَاحَةَ ______ ، لٰكِنَّ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destination sentences with yastaqṭib, yubhir, yatamayyaz bi- and yashtahir bi-.</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present description and a past visit (60–80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travel-magazine profile of an Arab city or site.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P3-L04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P3-L05 · Sustainable Tourism — The Ethics and Impact of Travel</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السِّيَاحَةُ المُسْتَدَامَةُ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tastaqṭibu / tubhiru + an OBJECT · tatamayyazu / tashtahiru + BI- — cities are “she” — present to describe, past for your visit — and recommend with idhā zurta … fa-lā budda min.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P3-L04 · Arabic-Speaking Destinations — Culture, Geography and Tourism</dc:title>
  <dc:subject>PptxGenJS Presentation</dc:subject>
  <dc:creator>Al Madina Online School · Arabic Department</dc:creator>
  <cp:lastModifiedBy>Al Madina Online School · Arabic Department</cp:lastModifiedBy>
  <cp:revision>1</cp:revision>
  <dcterms:created xsi:type="dcterms:W3CDTF">2026-10-11T06:43:09Z</dcterms:created>
  <dcterms:modified xsi:type="dcterms:W3CDTF">2026-10-11T06:43:09Z</dcterms:modified>
</cp:coreProperties>
</file>