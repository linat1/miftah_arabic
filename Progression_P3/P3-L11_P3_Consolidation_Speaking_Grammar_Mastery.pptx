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P3-L11. The website lesson “Consolidation — Speaking Preparation and Grammar Mastery”: vocabulary, grammar rules and quiz, patterns, common mistakes, sorter, listening, reading, speaking prompts and model, writing task and model, differentiation, final check and the lesson mission. Picture match: website visual game “Consolidation — Speaking Preparation and Grammar Mastery”.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CONSOLIDATION + SPEAKING REHEARSAL for the P3-L12 assessment (topic conversation on travel and tourism + a travel-agency role play). The website names the three highest-frequency slips: a Type 2 result without la- · a present verb after law · -u instead of -a after an.
• Core: correct six P3 errors and write three sentences from memory (website Core). Develop: add a past perfect, a Type 1 and a Type 2. Stretch: answer the three required-structure questions fluently and spontaneously.
• Praise the journey: students now control two conditional types, the past perfect, reported speech and the subjunctive — real B1 grammar. Keep the rehearsal light and encouraging.
• Course rule: after law use the past (لَوْ زُرْتُ). Classical Arabic sometimes has law + present (e.g. in the Qurʾān), so if a student quotes one, praise the observation — for the exam, keep law + past.
• TEACHER-WRITTEN ITEMS: waṣl alif shown without a kasra; rule headings and formulas in English and transliteration (rule examples without their English glosses); the required-structure questions follow the P3-L12 assessment (topic Q1–Q3 + role-play task 2); the repair table adds three earlier P3 mistakes; the website visual game repeats the P3-L04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P3-L10. Questions 4–5 retrieve the result marker and ashāra ilā anna (P3-L10) — today students produce every marker accurately in speech.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P3 structure has ONE small marker — get the marker right and the structure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مطابقت and صیغہ (the Urdu grammar word for a verb form) are shared. Watch the shifts: Urdu زمانہ = the times, Arabic زَمَنُ الفِعْلِ = the tense; Urdu تشکیل = formation, Arabic التَّشْكِيلُ = adding the vowels — today’s “precise vowelling”.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error zones (website vocabulary (1 of 2)). Hear → Say → See → Use. Transliteration is printed for Core students (cover it for Develop/Stretch).
The P3 error zones — the labels for today’s repair work. Each card’s note gives the rule in one line: la- in the Type 2 result · a past verb after law · -a after an · tubhiru for a feminine subject · Form X yastaqṭib · qāla → inna.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error zones (website vocabulary (2 of 2)). Hear → Say → See → Use. Transliteration is printed for Core students (cover it for Develop/Stretch).
The P3 error zones — the labels for today’s repair work. Each card’s note gives the rule in one line: la- in the Type 2 result · a past verb after law · -a after an · tubhiru for a feminine subject · Form X yastaqṭib · qāla → inna.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grammar spine (website vocabulary (1 of 2)). Hear → Say → See → Use. Transliteration is printed for Core students (cover it for Develop/Stretch).
The P3 grammar spine: both conditional types, the past perfect, reported speech, the booking verbs, yustaḥsan an and the tourism verbs — everything the assessment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P3 grammar spine (website vocabulary (2 of 2)). Hear → Say → See → Use. Transliteration is printed for Core students (cover it for Develop/Stretch).
The P3 grammar spine: both conditional types, the past perfect, reported speech, the booking verbs, yustaḥsan an and the tourism verbs — everything the assessment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fluency (website vocabulary (1 of 2)). Hear → Say → See → Use. Transliteration is printed for Core students (cover it for Develop/Stretch).
FLEX: teach if time allows; otherwise these are on the website vocabulary tab for homework.
Speaking fluency (FLEX): words to talk ABOUT speaking. تَجَنُّبُ الشَّرْطِ = conditional avoidance — answering a law question with idhā, or with no conditional at all, loses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fluency (website vocabulary (2 of 2)). Hear → Say → See → Use. Transliteration is printed for Core students (cover it for Develop/Stretch).
FLEX: teach if time allows; otherwise these are on the website vocabulary tab for homework.
Speaking fluency (FLEX): words to talk ABOUT speaking. تَجَنُّبُ الشَّرْطِ = conditional avoidance — answering a law question with idhā, or with no conditional at all, loses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common error and the reading “twelve sentences to repair” (rows 1–5), plus website quiz 6 (row 6).
Website teaching point “The three highest-frequency P3 slips”: a Type 2 result without la- (row 1) · a present verb after law (row 2) · -u after an (row 3).
Core: rows 1–4. Drill: cover the Right column; students fix each one and NAME the zone. Then reverse — the teacher says a zone, students give a correct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group “The P3 grammar spine” (both conditionals · past perfect · reported speech · yaḥjiz / yuqīm · yustaḥsan an · yastaqṭib / yubhir · the four-layer narrative) with examples from the website listening and writing model.
Website challenge: “Write one accurate sentence for each of the four P3 error zones” — then cover the Example column here and write one for each structure.
Link the spine to the assessment parts: listening (sa- / la-) · reading (idhā recommends, law criticises) · writing (both types for Range) · speaking (required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three P3-L12 topic-conversation questions (past perfect required · Type 1 expected · Type 2 required) and role-play task 2 (ask about booking and accommodation with يَحْجِزُ / يُقِيمُ).
Turn the question round: the examiner says كُنْتَ قَدْ تَوَقَّعْتَهُ (you) → the student answers كُنْتُ قَدْ تَوَقَّعْتُ (I) · لَدَيْكَ → لَدَيَّ.
Row 4: after أُرِيدُ أَنْ / يُمْكِنُ أَنْ the booking verbs end in -a: أَحْجِزَ · أُقِيمَ (P3-L06/L07).
The examiner’s «أَيْنَ سَتَذْهَبُ؟» is everyday phrasing; the answer still needs the full Type 2: لَوْ كَانَ لَدَيَّ … لَزُرْتُ / لَذَهَبْتُ.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teaching point “Answer the لَوْ question with a Type 2”, website quiz 8 and the writing model (لَزُرْتُ كُلَّ المَوَاقِعِ التُّرَاثِيَّةِ فِي العَالَمِ العَرَبِيِّ، وَلَتَعَلَّمْتُ عَنْ كُلِّ حَضَارَةٍ). Card 2 is a teacher-added reason.
The routine: required structure → a reason → one extra P3 structure. The mock conversation ends with the teacher’s praise «اسْتَعْمَلْتَ فِيهَا النَّوْعَيْنِ مِنَ الشَّرْطِ تِلْقَائِيًّا».
Time-buying phrases if a student freezes: سُؤَالٌ جَمِيلٌ · دَعْنِي أُفَكِّرُ · بِصَرَاحَةٍ … Repair phrase: عَفْوًا، أَقْصِدُ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“Targeted error correction across the spine: the Type 2 لَـ result, the past verb after لَوْ, the subjunctive after أَنْ, and tourism-verb agreement.”
• Type 2 result: The result verb carries a لَـ prefix.
• Past verb after law: لَوْ is followed by a past-tense verb.
• Subjunctive after an: The verb after أَنْ takes a fatḥa.
• Tourism-verb agreement: يُبْهِرُ agrees with its subject; يَسْتَقْطِبُ keeps the Form X shape.
Website common error: Dropping the لَـ in a Type 2 result, a present verb after لَوْ, an indicative after أَنْ, or masculine agreement with a feminine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spoken aloud as an exam answer. Think aloud: “Q1 wants the past perfect — kuntu qad, both -tu. Q2 expects idhā — and the result with SA-. Q3 is a law question, so I answer with law — and the result MUST start with LA-. Extra: yustaḥsanu an yataʿallamA.” Do it twice — the second time faster, as fluent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rows 1–3 are the website mistakes; rows 4–6 recycle mistakes from P3-L05, P3-L06 and P3-L08. Cover columns 2–3; pairs fix each slip and NAME the zone.
Core: rows 1–3. Develop: all six. Stretch: write two new slips of their own for a partner to repair.
Then each student writes their ONE priority error zone in the chat — collect for 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assessment answer from a past-perfect background, a Type 1 view and a Type 2 hypothesis.). Website feedback: Each background, Type 1 view and Type 2 hypothesis is accurate on its own, so any three different combinations work.
Use it as oral rehearsal: one student reads a combination as an exam answer; the partner names each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full sentence for each card as fast as possible: إِذَا … سَـ … · لَوْ … لَـ … · كُنْتُ قَدْ … · قَالَ الدَّلِيلُ إِنَّ … · يُسْتَحْسَنُ أَنْ يَـ…َ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full sentence for each card as fast as possible: إِذَا … سَـ … · لَوْ … لَـ … · كُنْتُ قَدْ … · قَالَ الدَّلِيلُ إِنَّ … · يُسْتَحْسَنُ أَنْ يَـ…َ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student’s Type 2 sentence word for word.
Listen 1: just listen. Listen 2: note answers. Then chat the letters.
Support: after the second listening, show the read-along slide (Arabic + English, line by line) for Core students.
SCRIPT (read aloud):
المُعَلِّمُ: صِفْ إِجَازَةً مَاضِيَةً؛ مَا الَّذِي كُنْتَ قَدْ تَوَقَّعْتَهُ؟ الطَّالِبُ: كُنْتُ قَدْ تَوَقَّعْتُ مَكَانًا عَادِيًّا، لٰكِنَّ البَتْرَاءَ فَاقَتْ تَوَقُّعَاتِي. المُعَلِّمُ: مَا رَأْيُكَ فِي السِّيَاحَةِ المُسْتَدَامَةِ؟ الطَّالِبُ: إِذَا احْتَرَمَ السُّيَّاحُ القَوَاعِدَ، سَتَبْقَى المَوَاقِعُ لِلْأَجْيَالِ القَادِمَةِ. المُعَلِّمُ: لَوْ كَانَ لَدَيْكَ مِيزَانِيَّةٌ غَيْرُ مَحْدُودَةٍ، أَيْنَ سَتَذْهَبُ؟ الطَّالِبُ: لَوْ كَانَ لَدَيَّ مِيزَانِيَّةٌ غَيْرُ مَحْدُودَةٍ، لَزُرْتُ كُلَّ المَوَاقِعِ التُّرَاثِيَّةِ فِي العَالَمِ العَرَبِيِّ. المُعَلِّمُ: وَنَصِيحَةٌ ثَقَافِيَّةٌ؟ الطَّالِبُ: يُسْتَحْسَنُ أَنْ يَتَعَلَّمَ الزَّائِرُ بَعْضَ العِبَارَاتِ العَرَبِيَّةِ. المُعَلِّمُ: أَجْوِبَةٌ مُتَوَازِنَةٌ اسْتَعْمَلْتَ فِيهَا النَّوْعَيْنِ مِنَ الشَّرْطِ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كَانَ لَدَيْكَ مِيزَانِيَّةٌ غَيْرُ مَحْدُودَةٍ؟ (Q — Type 2)
B: لَوْ كَانَ لَدَيَّ مِيزَانِيَّةٌ غَيْرُ مَحْدُودَةٍ، لَزُرْتُ كُلَّ المَوَاقِعِ التُّرَاثِيَّةِ فِي العَالَمِ العَرَبِيِّ. (Type 2 conditional)
Website prompts and model — the three P3-L12 topic questions. Pairs: examiner / candidate, 30–40 seconds per answer, then swap. The examiner ticks Structure · Reason · Extra. Then a 2-minute travel-agency role play (P3-L12 tasks): ask about a destination, booking and accommodation, a past problem, and a recommendation. To a girl: كُنْتِ قَدْ تَوَقَّعْتِهِ · وَجَدْتِهِ · رَأْيُكِ · لَدَيْكِ · سَتَذْهَبِينَ.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Correct six P3 errors and write three sentences from memory. · Develop — Add a past perfect, a Type 1 and a Type 2 conditional. · Stretch — Deliver fluent answers to the past-perfect, Type 1 and Type 2 questions spontaneously.
Website writing task (Stretch): Write eighty to ninety words preparing for the P3 topic conversation. Answer two of the assessment questions, using the past perfect, both conditional types and يُسْتَحْسَنُ أَنْ, with every marker accurate.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تَوَقَّعْتُ · فَإِذَا احْتَرَمَ … سَتَبْقَى · وَلَوْ كَانَ لَدَيَّ … لَزُرْتُ … وَلَتَعَلَّمْتُ · يُسْتَحْسَنُ أَنْ يَتَعَلَّمَ … وَأَنْ يَحْتَرِمَ.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(P3-L12 · P3 Review and Unit Assessment) will spend class time USING this language, so students prepare it tonight — short, simple, easy to access (school guidance: “Simple, Short, Interesting, Relevant, Easy to access”). The five words prepare students for the P3-L12 assessment (its parts, the role play and checking).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Consolidation — Speaking Preparation and Grammar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00" b="1" dirty="0">
                <a:solidFill>
                  <a:srgbClr val="D4AF37"/>
                </a:solidFill>
                <a:latin typeface="Amiri" pitchFamily="2" charset="-78"/>
                <a:ea typeface="Amiri" pitchFamily="2" charset="-78"/>
                <a:cs typeface="Amiri" pitchFamily="2" charset="-78"/>
              </a:rPr>
              <a:t>تَرْسِيخُ الوَحْدَةِ — إِعْدَادُ التَّحَدُّثِ وَالتَّكَامُلُ الكَامِلُ لِلْقَوَاعِدِ</a:t>
            </a:r>
            <a:endParaRPr lang="ar-SA" sz="31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Repair the P3 error zones (la- in the Type 2 result · a past verb after law · an + a verb in -a · tubhiru for a feminine subject · yastaqṭib in Form X), revise the whole P3 spine, and rehearse the topic conversation and the travel-agency role play.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P3-L11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 zones, revise the spine, answer each question with its required structure.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Repair the slips, build an assessment answer, sort the structures, hear a mock conversation.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لَامُ الجَوَابِ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letter lām in a name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 of the result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answer key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لَعِبُ الأَدْوَارِ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board game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role play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la- result. The conditional is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أَشَارَ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لَامُ الجَوَابِ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letter lām in a name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la- of the result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answer key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confidence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لَعِبُ الأَدْوَارِ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board game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role play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la- result. The conditional is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P3-L10: la- = unreal.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أَشَارَ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P3-L10: ashāra ilā anna.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P3 structure has ONE small marker — get the marker right and the structure is right.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لَوْ</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زُرْتُ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رَأَيْتُ · أَنْ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يَتَعَلَّمَ</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تُبْهِرُ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المَدِينَةُ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قَالَ إِنَّ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most common P3 errors.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both conditionals, the past perfect, reported speech and yustaḥsan an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a law question with a law answer.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Prepare the topic conversation and role play to assessment standard.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fix six P3 errors and name the zone.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three spine sentences from memory.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a past perfect, a Type 1 and a Type 2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a law question with law, unprompted.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error.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P3 error zones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P3 grammar spine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fluency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مُطَابَقَةٌ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‎مطابقت‎ </a:t>
            </a:r>
            <a:pPr indent="0" marL="0">
              <a:buNone/>
            </a:pPr>
            <a:r>
              <a:rPr lang="en-US" sz="950" b="1" dirty="0">
                <a:solidFill>
                  <a:srgbClr val="2E8B57"/>
                </a:solidFill>
                <a:latin typeface="Calibri" pitchFamily="34" charset="0"/>
                <a:cs typeface="Amiri" pitchFamily="2" charset="-78"/>
              </a:rPr>
              <a:t> mutābiqat · agreement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صِيغَةٌ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‎صیغہ‎ </a:t>
            </a:r>
            <a:pPr indent="0" marL="0">
              <a:buNone/>
            </a:pPr>
            <a:r>
              <a:rPr lang="en-US" sz="950" b="1" dirty="0">
                <a:solidFill>
                  <a:srgbClr val="2E8B57"/>
                </a:solidFill>
                <a:latin typeface="Calibri" pitchFamily="34" charset="0"/>
                <a:cs typeface="Amiri" pitchFamily="2" charset="-78"/>
              </a:rPr>
              <a:t> sīgha · a (verb) form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زَمَنٌ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‎زمانہ‎ </a:t>
            </a:r>
            <a:pPr indent="0" marL="0">
              <a:buNone/>
            </a:pPr>
            <a:r>
              <a:rPr lang="en-US" sz="950" b="1" dirty="0">
                <a:solidFill>
                  <a:srgbClr val="2E8B57"/>
                </a:solidFill>
                <a:latin typeface="Calibri" pitchFamily="34" charset="0"/>
                <a:cs typeface="Amiri" pitchFamily="2" charset="-78"/>
              </a:rPr>
              <a:t> zamāna · Arabic: a tense · Urdu: an era, the times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تَشْكِيلٌ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‎تشکیل‎ </a:t>
            </a:r>
            <a:pPr indent="0" marL="0">
              <a:buNone/>
            </a:pPr>
            <a:r>
              <a:rPr lang="en-US" sz="950" b="1" dirty="0">
                <a:solidFill>
                  <a:srgbClr val="2E8B57"/>
                </a:solidFill>
                <a:latin typeface="Calibri" pitchFamily="34" charset="0"/>
                <a:cs typeface="Amiri" pitchFamily="2" charset="-78"/>
              </a:rPr>
              <a:t> tashkīl · Arabic: vowelling · Urdu: formation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‎ثقہ / اعتماد‎ </a:t>
            </a:r>
            <a:pPr indent="0" marL="0">
              <a:buNone/>
            </a:pPr>
            <a:r>
              <a:rPr lang="ar-SA" sz="950" b="1" dirty="0">
                <a:solidFill>
                  <a:srgbClr val="2E8B57"/>
                </a:solidFill>
                <a:latin typeface="Calibri" pitchFamily="34" charset="0"/>
                <a:ea typeface="Amiri" pitchFamily="2" charset="-78"/>
                <a:cs typeface="Amiri" pitchFamily="2" charset="-78"/>
              </a:rPr>
              <a:t> iʿtimād · confidence (Urdu ثقہ = trustworthy)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error zones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 a Type 2 result.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لَامُ الجَوَابِ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لَـ of the result</a:t>
            </a:r>
            <a:endParaRPr lang="en-US" sz="1350" dirty="0"/>
          </a:p>
          <a:p>
            <a:pPr indent="0" marL="0">
              <a:buNone/>
            </a:pPr>
            <a:r>
              <a:rPr lang="en-US" sz="1100" i="1" dirty="0">
                <a:solidFill>
                  <a:srgbClr val="5A6472"/>
                </a:solidFill>
                <a:latin typeface="Calibri" pitchFamily="34" charset="0"/>
                <a:cs typeface="Amiri" pitchFamily="2" charset="-78"/>
              </a:rPr>
              <a:t>lā-mu al-ja-wā-bi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زَمَنُ فِعْلِ لَوْ</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verb tense after لَوْ</a:t>
            </a:r>
            <a:endParaRPr lang="en-US" sz="1350" dirty="0"/>
          </a:p>
          <a:p>
            <a:pPr indent="0" marL="0">
              <a:buNone/>
            </a:pPr>
            <a:r>
              <a:rPr lang="en-US" sz="1100" i="1" dirty="0">
                <a:solidFill>
                  <a:srgbClr val="5A6472"/>
                </a:solidFill>
                <a:latin typeface="Calibri" pitchFamily="34" charset="0"/>
                <a:cs typeface="Amiri" pitchFamily="2" charset="-78"/>
              </a:rPr>
              <a:t>za-ma-nu fiʿ-li law</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المَنْصُوبُ بَعْدَ أَنْ</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subjunctive after أَنْ</a:t>
            </a:r>
            <a:endParaRPr lang="en-US" sz="1350" dirty="0"/>
          </a:p>
          <a:p>
            <a:pPr indent="0" marL="0">
              <a:buNone/>
            </a:pPr>
            <a:r>
              <a:rPr lang="en-US" sz="1100" i="1" dirty="0">
                <a:solidFill>
                  <a:srgbClr val="5A6472"/>
                </a:solidFill>
                <a:latin typeface="Calibri" pitchFamily="34" charset="0"/>
                <a:cs typeface="Amiri" pitchFamily="2" charset="-78"/>
              </a:rPr>
              <a:t>al-fiʿ-lu al-man-ṣū-bu baʿ-da an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مُطَابَقَةُ يُبْهِرُ</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agreement of يُبْهِرُ</a:t>
            </a:r>
            <a:endParaRPr lang="en-US" sz="1350" dirty="0"/>
          </a:p>
          <a:p>
            <a:pPr indent="0" marL="0">
              <a:buNone/>
            </a:pPr>
            <a:r>
              <a:rPr lang="en-US" sz="1100" i="1" dirty="0">
                <a:solidFill>
                  <a:srgbClr val="5A6472"/>
                </a:solidFill>
                <a:latin typeface="Calibri" pitchFamily="34" charset="0"/>
                <a:cs typeface="Amiri" pitchFamily="2" charset="-78"/>
              </a:rPr>
              <a:t>mu-ṭā-ba-qa-tu yub-hi-ru</a:t>
            </a:r>
            <a:endParaRPr lang="en-US" sz="1350" dirty="0"/>
          </a:p>
        </p:txBody>
      </p:sp>
      <p:sp>
        <p:nvSpPr>
          <p:cNvPr id="49" name="Shape 4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1" name="Text 48"/>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تُبْهِرُ</a:t>
            </a:r>
            <a:endParaRPr lang="ar-SA"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error zones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Not يَقْطِبُ.</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صِيغَةُ يَسْتَقْطِبُ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Form X يَسْتَقْطِبُ</a:t>
            </a:r>
            <a:endParaRPr lang="en-US" sz="1350" dirty="0"/>
          </a:p>
          <a:p>
            <a:pPr indent="0" marL="0">
              <a:buNone/>
            </a:pPr>
            <a:r>
              <a:rPr lang="en-US" sz="1100" i="1" dirty="0">
                <a:solidFill>
                  <a:srgbClr val="5A6472"/>
                </a:solidFill>
                <a:latin typeface="Calibri" pitchFamily="34" charset="0"/>
                <a:cs typeface="Amiri" pitchFamily="2" charset="-78"/>
              </a:rPr>
              <a:t>ṣī-gha-tu yas-taq-ṭi-bu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1455725"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they</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مُطَابَقَةُ كَانَ</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agreement of كَانَ</a:t>
            </a:r>
            <a:endParaRPr lang="en-US" sz="1350" dirty="0"/>
          </a:p>
          <a:p>
            <a:pPr indent="0" marL="0">
              <a:buNone/>
            </a:pPr>
            <a:r>
              <a:rPr lang="en-US" sz="1100" i="1" dirty="0">
                <a:solidFill>
                  <a:srgbClr val="5A6472"/>
                </a:solidFill>
                <a:latin typeface="Calibri" pitchFamily="34" charset="0"/>
                <a:cs typeface="Amiri" pitchFamily="2" charset="-78"/>
              </a:rPr>
              <a:t>mu-ṭā-ba-qa-tu kā-na</a:t>
            </a:r>
            <a:endParaRPr lang="en-US" sz="1350" dirty="0"/>
          </a:p>
        </p:txBody>
      </p:sp>
      <p:sp>
        <p:nvSpPr>
          <p:cNvPr id="33" name="Shape 30"/>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they</a:t>
            </a:r>
            <a:endParaRPr lang="en-US" sz="700" dirty="0"/>
          </a:p>
        </p:txBody>
      </p:sp>
      <p:sp>
        <p:nvSpPr>
          <p:cNvPr id="35" name="Text 32"/>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كَانَتْ · كَانُوا</a:t>
            </a:r>
            <a:endParaRPr lang="ar-SA" sz="1350" dirty="0"/>
          </a:p>
        </p:txBody>
      </p:sp>
      <p:sp>
        <p:nvSpPr>
          <p:cNvPr id="36" name="Shape 33"/>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 he</a:t>
            </a:r>
            <a:endParaRPr lang="en-US" sz="700" dirty="0"/>
          </a:p>
        </p:txBody>
      </p:sp>
      <p:sp>
        <p:nvSpPr>
          <p:cNvPr id="38" name="Text 35"/>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كُنْتُ · كَانَ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2" name="Shape 39"/>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قَالَ takes إِنَّ.</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إِنَّ أَمْ أَنَّ</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إِنَّ or أَنَّ</a:t>
            </a:r>
            <a:endParaRPr lang="en-US" sz="1350" dirty="0"/>
          </a:p>
          <a:p>
            <a:pPr indent="0" marL="0">
              <a:buNone/>
            </a:pPr>
            <a:r>
              <a:rPr lang="en-US" sz="1100" i="1" dirty="0">
                <a:solidFill>
                  <a:srgbClr val="5A6472"/>
                </a:solidFill>
                <a:latin typeface="Calibri" pitchFamily="34" charset="0"/>
                <a:cs typeface="Amiri" pitchFamily="2" charset="-78"/>
              </a:rPr>
              <a:t>in-na am an-na</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التَّشْكِيلُ الدَّقِيقُ</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vowelling</a:t>
            </a:r>
            <a:endParaRPr lang="en-US" sz="1350" dirty="0"/>
          </a:p>
          <a:p>
            <a:pPr indent="0" marL="0">
              <a:buNone/>
            </a:pPr>
            <a:r>
              <a:rPr lang="en-US" sz="1100" i="1" dirty="0">
                <a:solidFill>
                  <a:srgbClr val="5A6472"/>
                </a:solidFill>
                <a:latin typeface="Calibri" pitchFamily="34" charset="0"/>
                <a:cs typeface="Amiri" pitchFamily="2" charset="-78"/>
              </a:rPr>
              <a:t>at-tash-kī-lu ad-da-qī-qu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grammar spine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الأَوَّلِ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1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al-aw-wa-li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مِنَ النَّوْعِ الثَّانِي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ath-thā-nī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 التَّامُّ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المَنْقُولُ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grammar spine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يَحْجِزُ / يُقِيمُ</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books / stays</a:t>
            </a:r>
            <a:endParaRPr lang="en-US" sz="1350" dirty="0"/>
          </a:p>
          <a:p>
            <a:pPr indent="0" marL="0">
              <a:buNone/>
            </a:pPr>
            <a:r>
              <a:rPr lang="en-US" sz="1100" i="1" dirty="0">
                <a:solidFill>
                  <a:srgbClr val="5A6472"/>
                </a:solidFill>
                <a:latin typeface="Calibri" pitchFamily="34" charset="0"/>
                <a:cs typeface="Amiri" pitchFamily="2" charset="-78"/>
              </a:rPr>
              <a:t>yaḥ-ji-zu / yu-qī-mu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تَحْجِزُ / تُقِيمُ</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أَحْجِزُ / أُقِيمُ</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1" name="Shape 28"/>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يُسْتَحْسَنُ أَنْ</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preferable that</a:t>
            </a:r>
            <a:endParaRPr lang="en-US" sz="1350" dirty="0"/>
          </a:p>
          <a:p>
            <a:pPr indent="0" marL="0">
              <a:buNone/>
            </a:pPr>
            <a:r>
              <a:rPr lang="en-US" sz="1100" i="1" dirty="0">
                <a:solidFill>
                  <a:srgbClr val="5A6472"/>
                </a:solidFill>
                <a:latin typeface="Calibri" pitchFamily="34" charset="0"/>
                <a:cs typeface="Amiri" pitchFamily="2" charset="-78"/>
              </a:rPr>
              <a:t>yus-taḥ-sa-nu an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Shape 3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يَسْتَقْطِبُ / يُبْهِرُ</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attracts / amazes</a:t>
            </a:r>
            <a:endParaRPr lang="en-US" sz="1350" dirty="0"/>
          </a:p>
          <a:p>
            <a:pPr indent="0" marL="0">
              <a:buNone/>
            </a:pPr>
            <a:r>
              <a:rPr lang="en-US" sz="1100" i="1" dirty="0">
                <a:solidFill>
                  <a:srgbClr val="5A6472"/>
                </a:solidFill>
                <a:latin typeface="Calibri" pitchFamily="34" charset="0"/>
                <a:cs typeface="Amiri" pitchFamily="2" charset="-78"/>
              </a:rPr>
              <a:t>yas-taq-ṭi-bu / yub-hi-ru</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تَسْتَقْطِبُ / تُبْهِرُ</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السَّرْدُ الرُّبَاعِيُّ</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four-layer narrative</a:t>
            </a:r>
            <a:endParaRPr lang="en-US" sz="1350" dirty="0"/>
          </a:p>
          <a:p>
            <a:pPr indent="0" marL="0">
              <a:buNone/>
            </a:pPr>
            <a:r>
              <a:rPr lang="en-US" sz="1100" i="1" dirty="0">
                <a:solidFill>
                  <a:srgbClr val="5A6472"/>
                </a:solidFill>
                <a:latin typeface="Calibri" pitchFamily="34" charset="0"/>
                <a:cs typeface="Amiri" pitchFamily="2" charset="-78"/>
              </a:rPr>
              <a:t>as-sar-du ar-ru-bā-ʿiy-yu</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التِّلْقَائِيَّةُ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spontaneity</a:t>
            </a:r>
            <a:endParaRPr lang="en-US" sz="1350" dirty="0"/>
          </a:p>
          <a:p>
            <a:pPr indent="0" marL="0">
              <a:buNone/>
            </a:pPr>
            <a:r>
              <a:rPr lang="en-US" sz="1100" i="1" dirty="0">
                <a:solidFill>
                  <a:srgbClr val="5A6472"/>
                </a:solidFill>
                <a:latin typeface="Calibri" pitchFamily="34" charset="0"/>
                <a:cs typeface="Amiri" pitchFamily="2" charset="-78"/>
              </a:rPr>
              <a:t>at-til-qā-ʾiy-ya-tu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مُحَادَثَةٌ حَوْلَ مَوْضُوعٍ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topic conversation</a:t>
            </a:r>
            <a:endParaRPr lang="en-US" sz="1350" dirty="0"/>
          </a:p>
          <a:p>
            <a:pPr indent="0" marL="0">
              <a:buNone/>
            </a:pPr>
            <a:r>
              <a:rPr lang="en-US" sz="1100" i="1" dirty="0">
                <a:solidFill>
                  <a:srgbClr val="5A6472"/>
                </a:solidFill>
                <a:latin typeface="Calibri" pitchFamily="34" charset="0"/>
                <a:cs typeface="Amiri" pitchFamily="2" charset="-78"/>
              </a:rPr>
              <a:t>mu-ḥā-da-tha-tun ḥaw-la maw-ḍū-ʿin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 الأَدْوَارِ</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role play</a:t>
            </a:r>
            <a:endParaRPr lang="en-US" sz="1350" dirty="0"/>
          </a:p>
          <a:p>
            <a:pPr indent="0" marL="0">
              <a:buNone/>
            </a:pPr>
            <a:r>
              <a:rPr lang="en-US" sz="1100" i="1" dirty="0">
                <a:solidFill>
                  <a:srgbClr val="5A6472"/>
                </a:solidFill>
                <a:latin typeface="Calibri" pitchFamily="34" charset="0"/>
                <a:cs typeface="Amiri" pitchFamily="2" charset="-78"/>
              </a:rPr>
              <a:t>la-ʿi-bu al-ad-wā-ri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اسْتِشَارَةُ وَكَالَةِ سَفَرٍ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travel-agency consultation</a:t>
            </a:r>
            <a:endParaRPr lang="en-US" sz="1350" dirty="0"/>
          </a:p>
          <a:p>
            <a:pPr indent="0" marL="0">
              <a:buNone/>
            </a:pPr>
            <a:r>
              <a:rPr lang="en-US" sz="1100" i="1" dirty="0">
                <a:solidFill>
                  <a:srgbClr val="5A6472"/>
                </a:solidFill>
                <a:latin typeface="Calibri" pitchFamily="34" charset="0"/>
                <a:cs typeface="Amiri" pitchFamily="2" charset="-78"/>
              </a:rPr>
              <a:t>as-ti-shā-ra-tu wa-kā-la-ti sa-fa-rin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common error.</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تَجَنُّبُ الشَّرْطِ</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conditional avoidance</a:t>
            </a:r>
            <a:endParaRPr lang="en-US" sz="1350" dirty="0"/>
          </a:p>
          <a:p>
            <a:pPr indent="0" marL="0">
              <a:buNone/>
            </a:pPr>
            <a:r>
              <a:rPr lang="en-US" sz="1100" i="1" dirty="0">
                <a:solidFill>
                  <a:srgbClr val="5A6472"/>
                </a:solidFill>
                <a:latin typeface="Calibri" pitchFamily="34" charset="0"/>
                <a:cs typeface="Amiri" pitchFamily="2" charset="-78"/>
              </a:rPr>
              <a:t>ta-jan-nu-bu ash-shar-ṭi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الأَدَاءُ تَحْتَ الضَّغْطِ</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performance under pressure</a:t>
            </a:r>
            <a:endParaRPr lang="en-US" sz="1350" dirty="0"/>
          </a:p>
          <a:p>
            <a:pPr indent="0" marL="0">
              <a:buNone/>
            </a:pPr>
            <a:r>
              <a:rPr lang="en-US" sz="1100" i="1" dirty="0">
                <a:solidFill>
                  <a:srgbClr val="5A6472"/>
                </a:solidFill>
                <a:latin typeface="Calibri" pitchFamily="34" charset="0"/>
                <a:cs typeface="Amiri" pitchFamily="2" charset="-78"/>
              </a:rPr>
              <a:t>al-a-dā-ʾu taḥ-ta aḍ-ḍagh-ṭi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الثِّقَةُ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confidence</a:t>
            </a:r>
            <a:endParaRPr lang="en-US" sz="1350" dirty="0"/>
          </a:p>
          <a:p>
            <a:pPr indent="0" marL="0">
              <a:buNone/>
            </a:pPr>
            <a:r>
              <a:rPr lang="en-US" sz="1100" i="1" dirty="0">
                <a:solidFill>
                  <a:srgbClr val="5A6472"/>
                </a:solidFill>
                <a:latin typeface="Calibri" pitchFamily="34" charset="0"/>
                <a:cs typeface="Amiri" pitchFamily="2" charset="-78"/>
              </a:rPr>
              <a:t>ath-thi-qa-tu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P3 ERROR ZONES (WEBSITE TABLE + READING: THE REPAIR LIST)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Wrong → right, zone by zone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مَنَاطِقُ الأَخْطَاءِ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903427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8" name="Text 15"/>
          <p:cNvSpPr txBox="1"/>
          <p:nvPr/>
        </p:nvSpPr>
        <p:spPr>
          <a:xfrm>
            <a:off x="5742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Right</a:t>
            </a:r>
            <a:endParaRPr lang="en-US" sz="1100" dirty="0"/>
          </a:p>
        </p:txBody>
      </p:sp>
      <p:sp>
        <p:nvSpPr>
          <p:cNvPr id="19" name="Text 16"/>
          <p:cNvSpPr txBox="1"/>
          <p:nvPr/>
        </p:nvSpPr>
        <p:spPr>
          <a:xfrm>
            <a:off x="2542032"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Wrong</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10259568" y="226771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a:t>
            </a:r>
            <a:endParaRPr lang="en-US" sz="1100" dirty="0"/>
          </a:p>
        </p:txBody>
      </p:sp>
      <p:sp>
        <p:nvSpPr>
          <p:cNvPr id="23" name="Text 20"/>
          <p:cNvSpPr txBox="1"/>
          <p:nvPr/>
        </p:nvSpPr>
        <p:spPr>
          <a:xfrm>
            <a:off x="9070848" y="226771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24" name="Text 21"/>
          <p:cNvSpPr txBox="1"/>
          <p:nvPr/>
        </p:nvSpPr>
        <p:spPr>
          <a:xfrm>
            <a:off x="5760720" y="226771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حَجَزْتُ، </a:t>
            </a:r>
            <a:pPr rtl="1" algn="ctr" indent="0" marL="0">
              <a:buNone/>
            </a:pPr>
            <a:r>
              <a:rPr lang="ar-SA" altLang="en-US" sz="2000" b="1" dirty="0">
                <a:solidFill>
                  <a:srgbClr val="C77700"/>
                </a:solidFill>
                <a:latin typeface="Amiri" pitchFamily="2" charset="-78"/>
                <a:ea typeface="Amiri" pitchFamily="2" charset="-78"/>
                <a:cs typeface="Amiri" pitchFamily="2" charset="-78"/>
              </a:rPr>
              <a:t>لَحَصَلْتُ</a:t>
            </a:r>
            <a:endParaRPr lang="ar-SA" sz="2000" dirty="0"/>
          </a:p>
        </p:txBody>
      </p:sp>
      <p:sp>
        <p:nvSpPr>
          <p:cNvPr id="25" name="Text 22"/>
          <p:cNvSpPr txBox="1"/>
          <p:nvPr/>
        </p:nvSpPr>
        <p:spPr>
          <a:xfrm>
            <a:off x="2560320" y="2267712"/>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حَجَزْتُ، حَصَلْتُ</a:t>
            </a:r>
            <a:endParaRPr lang="ar-SA" sz="2000" dirty="0"/>
          </a:p>
        </p:txBody>
      </p:sp>
      <p:sp>
        <p:nvSpPr>
          <p:cNvPr id="26" name="Text 23"/>
          <p:cNvSpPr txBox="1"/>
          <p:nvPr/>
        </p:nvSpPr>
        <p:spPr>
          <a:xfrm>
            <a:off x="566928" y="226771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259568" y="2881884"/>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9" name="Text 26"/>
          <p:cNvSpPr txBox="1"/>
          <p:nvPr/>
        </p:nvSpPr>
        <p:spPr>
          <a:xfrm>
            <a:off x="9070848" y="2881884"/>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30" name="Text 27"/>
          <p:cNvSpPr txBox="1"/>
          <p:nvPr/>
        </p:nvSpPr>
        <p:spPr>
          <a:xfrm>
            <a:off x="5760720" y="2881884"/>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a:t>
            </a:r>
            <a:pPr rtl="1" algn="ctr" indent="0" marL="0">
              <a:buNone/>
            </a:pPr>
            <a:r>
              <a:rPr lang="ar-SA" altLang="en-US" sz="2000" b="1" dirty="0">
                <a:solidFill>
                  <a:srgbClr val="C77700"/>
                </a:solidFill>
                <a:latin typeface="Amiri" pitchFamily="2" charset="-78"/>
                <a:ea typeface="Amiri" pitchFamily="2" charset="-78"/>
                <a:cs typeface="Amiri" pitchFamily="2" charset="-78"/>
              </a:rPr>
              <a:t>حَجَزْتُ</a:t>
            </a:r>
            <a:pPr rtl="1" algn="ctr" indent="0" marL="0">
              <a:buNone/>
            </a:pPr>
            <a:r>
              <a:rPr lang="ar-SA" altLang="en-US" sz="2000" b="1" dirty="0">
                <a:solidFill>
                  <a:srgbClr val="1B3B6F"/>
                </a:solidFill>
                <a:latin typeface="Amiri" pitchFamily="2" charset="-78"/>
                <a:ea typeface="Amiri" pitchFamily="2" charset="-78"/>
                <a:cs typeface="Amiri" pitchFamily="2" charset="-78"/>
              </a:rPr>
              <a:t> مُبَكِّرًا</a:t>
            </a:r>
            <a:endParaRPr lang="ar-SA" sz="2000" dirty="0"/>
          </a:p>
        </p:txBody>
      </p:sp>
      <p:sp>
        <p:nvSpPr>
          <p:cNvPr id="31" name="Text 28"/>
          <p:cNvSpPr txBox="1"/>
          <p:nvPr/>
        </p:nvSpPr>
        <p:spPr>
          <a:xfrm>
            <a:off x="2560320" y="2881884"/>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أَحْجِزُ مُبَكِّرًا</a:t>
            </a:r>
            <a:endParaRPr lang="ar-SA" sz="2000" dirty="0"/>
          </a:p>
        </p:txBody>
      </p:sp>
      <p:sp>
        <p:nvSpPr>
          <p:cNvPr id="32" name="Text 29"/>
          <p:cNvSpPr txBox="1"/>
          <p:nvPr/>
        </p:nvSpPr>
        <p:spPr>
          <a:xfrm>
            <a:off x="566928" y="2881884"/>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after law</a:t>
            </a:r>
            <a:endParaRPr lang="en-US" sz="1100" dirty="0"/>
          </a:p>
        </p:txBody>
      </p:sp>
      <p:sp>
        <p:nvSpPr>
          <p:cNvPr id="33" name="Shape 30"/>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4" name="Text 31"/>
          <p:cNvSpPr txBox="1"/>
          <p:nvPr/>
        </p:nvSpPr>
        <p:spPr>
          <a:xfrm>
            <a:off x="10259568" y="3496056"/>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5" name="Text 32"/>
          <p:cNvSpPr txBox="1"/>
          <p:nvPr/>
        </p:nvSpPr>
        <p:spPr>
          <a:xfrm>
            <a:off x="9070848" y="3496056"/>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P3-L07</a:t>
            </a:r>
            <a:endParaRPr lang="en-US" sz="1100" dirty="0"/>
          </a:p>
        </p:txBody>
      </p:sp>
      <p:sp>
        <p:nvSpPr>
          <p:cNvPr id="36" name="Text 33"/>
          <p:cNvSpPr txBox="1"/>
          <p:nvPr/>
        </p:nvSpPr>
        <p:spPr>
          <a:xfrm>
            <a:off x="5760720" y="3496056"/>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a:t>
            </a:r>
            <a:pPr rtl="1" algn="ctr" indent="0" marL="0">
              <a:buNone/>
            </a:pPr>
            <a:r>
              <a:rPr lang="ar-SA" altLang="en-US" sz="2000" b="1" dirty="0">
                <a:solidFill>
                  <a:srgbClr val="0E7C86"/>
                </a:solidFill>
                <a:latin typeface="Amiri" pitchFamily="2" charset="-78"/>
                <a:ea typeface="Amiri" pitchFamily="2" charset="-78"/>
                <a:cs typeface="Amiri" pitchFamily="2" charset="-78"/>
              </a:rPr>
              <a:t>يَتَعَلَّمَ</a:t>
            </a:r>
            <a:pPr rtl="1" algn="ctr" indent="0" marL="0">
              <a:buNone/>
            </a:pPr>
            <a:r>
              <a:rPr lang="ar-SA" altLang="en-US" sz="2000" b="1" dirty="0">
                <a:solidFill>
                  <a:srgbClr val="1B3B6F"/>
                </a:solidFill>
                <a:latin typeface="Amiri" pitchFamily="2" charset="-78"/>
                <a:ea typeface="Amiri" pitchFamily="2" charset="-78"/>
                <a:cs typeface="Amiri" pitchFamily="2" charset="-78"/>
              </a:rPr>
              <a:t> الزَّائِرُ</a:t>
            </a:r>
            <a:endParaRPr lang="ar-SA" sz="2000" dirty="0"/>
          </a:p>
        </p:txBody>
      </p:sp>
      <p:sp>
        <p:nvSpPr>
          <p:cNvPr id="37" name="Text 34"/>
          <p:cNvSpPr txBox="1"/>
          <p:nvPr/>
        </p:nvSpPr>
        <p:spPr>
          <a:xfrm>
            <a:off x="2560320" y="3496056"/>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 يَتَعَلَّمُ الزَّائِرُ</a:t>
            </a:r>
            <a:endParaRPr lang="ar-SA" sz="2000" dirty="0"/>
          </a:p>
        </p:txBody>
      </p:sp>
      <p:sp>
        <p:nvSpPr>
          <p:cNvPr id="38" name="Text 35"/>
          <p:cNvSpPr txBox="1"/>
          <p:nvPr/>
        </p:nvSpPr>
        <p:spPr>
          <a:xfrm>
            <a:off x="566928" y="3496056"/>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an</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259568" y="4110228"/>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 = she</a:t>
            </a:r>
            <a:endParaRPr lang="en-US" sz="1100" dirty="0"/>
          </a:p>
        </p:txBody>
      </p:sp>
      <p:sp>
        <p:nvSpPr>
          <p:cNvPr id="41" name="Text 38"/>
          <p:cNvSpPr txBox="1"/>
          <p:nvPr/>
        </p:nvSpPr>
        <p:spPr>
          <a:xfrm>
            <a:off x="9070848" y="4110228"/>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P3-L04</a:t>
            </a:r>
            <a:endParaRPr lang="en-US" sz="1100" dirty="0"/>
          </a:p>
        </p:txBody>
      </p:sp>
      <p:sp>
        <p:nvSpPr>
          <p:cNvPr id="42" name="Text 39"/>
          <p:cNvSpPr txBox="1"/>
          <p:nvPr/>
        </p:nvSpPr>
        <p:spPr>
          <a:xfrm>
            <a:off x="5760720" y="4110228"/>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تُبْهِرُ</a:t>
            </a:r>
            <a:pPr rtl="1" algn="ctr" indent="0" marL="0">
              <a:buNone/>
            </a:pPr>
            <a:r>
              <a:rPr lang="ar-SA" altLang="en-US" sz="2000" b="1" dirty="0">
                <a:solidFill>
                  <a:srgbClr val="1B3B6F"/>
                </a:solidFill>
                <a:latin typeface="Amiri" pitchFamily="2" charset="-78"/>
                <a:ea typeface="Amiri" pitchFamily="2" charset="-78"/>
                <a:cs typeface="Amiri" pitchFamily="2" charset="-78"/>
              </a:rPr>
              <a:t> المَدِينَةُ زُوَّارَهَا</a:t>
            </a:r>
            <a:endParaRPr lang="ar-SA" sz="2000" dirty="0"/>
          </a:p>
        </p:txBody>
      </p:sp>
      <p:sp>
        <p:nvSpPr>
          <p:cNvPr id="43" name="Text 40"/>
          <p:cNvSpPr txBox="1"/>
          <p:nvPr/>
        </p:nvSpPr>
        <p:spPr>
          <a:xfrm>
            <a:off x="2560320" y="4110228"/>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يُبْهِرُ المَدِينَةُ زُوَّارَهَا</a:t>
            </a:r>
            <a:endParaRPr lang="ar-SA" sz="2000" dirty="0"/>
          </a:p>
        </p:txBody>
      </p:sp>
      <p:sp>
        <p:nvSpPr>
          <p:cNvPr id="44" name="Text 41"/>
          <p:cNvSpPr txBox="1"/>
          <p:nvPr/>
        </p:nvSpPr>
        <p:spPr>
          <a:xfrm>
            <a:off x="566928" y="4110228"/>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a:t>
            </a:r>
            <a:endParaRPr lang="en-US" sz="1100" dirty="0"/>
          </a:p>
        </p:txBody>
      </p:sp>
      <p:sp>
        <p:nvSpPr>
          <p:cNvPr id="45" name="Shape 4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6" name="Text 43"/>
          <p:cNvSpPr txBox="1"/>
          <p:nvPr/>
        </p:nvSpPr>
        <p:spPr>
          <a:xfrm>
            <a:off x="10259568" y="4724400"/>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yasta-</a:t>
            </a:r>
            <a:endParaRPr lang="en-US" sz="1100" dirty="0"/>
          </a:p>
        </p:txBody>
      </p:sp>
      <p:sp>
        <p:nvSpPr>
          <p:cNvPr id="47" name="Text 44"/>
          <p:cNvSpPr txBox="1"/>
          <p:nvPr/>
        </p:nvSpPr>
        <p:spPr>
          <a:xfrm>
            <a:off x="9070848" y="4724400"/>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P3-L04</a:t>
            </a:r>
            <a:endParaRPr lang="en-US" sz="1100" dirty="0"/>
          </a:p>
        </p:txBody>
      </p:sp>
      <p:sp>
        <p:nvSpPr>
          <p:cNvPr id="48" name="Text 45"/>
          <p:cNvSpPr txBox="1"/>
          <p:nvPr/>
        </p:nvSpPr>
        <p:spPr>
          <a:xfrm>
            <a:off x="5760720" y="4724400"/>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يَسْتَقْطِبُ</a:t>
            </a:r>
            <a:pPr rtl="1" algn="ctr" indent="0" marL="0">
              <a:buNone/>
            </a:pPr>
            <a:r>
              <a:rPr lang="ar-SA" altLang="en-US" sz="2000" b="1" dirty="0">
                <a:solidFill>
                  <a:srgbClr val="1B3B6F"/>
                </a:solidFill>
                <a:latin typeface="Amiri" pitchFamily="2" charset="-78"/>
                <a:ea typeface="Amiri" pitchFamily="2" charset="-78"/>
                <a:cs typeface="Amiri" pitchFamily="2" charset="-78"/>
              </a:rPr>
              <a:t> المَعْلَمُ السُّيَّاحَ</a:t>
            </a:r>
            <a:endParaRPr lang="ar-SA" sz="2000" dirty="0"/>
          </a:p>
        </p:txBody>
      </p:sp>
      <p:sp>
        <p:nvSpPr>
          <p:cNvPr id="49" name="Text 46"/>
          <p:cNvSpPr txBox="1"/>
          <p:nvPr/>
        </p:nvSpPr>
        <p:spPr>
          <a:xfrm>
            <a:off x="2560320" y="4724400"/>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يَقْطِبُ المَعْلَمُ السُّيَّاحَ</a:t>
            </a:r>
            <a:endParaRPr lang="ar-SA" sz="2000" dirty="0"/>
          </a:p>
        </p:txBody>
      </p:sp>
      <p:sp>
        <p:nvSpPr>
          <p:cNvPr id="50" name="Text 47"/>
          <p:cNvSpPr txBox="1"/>
          <p:nvPr/>
        </p:nvSpPr>
        <p:spPr>
          <a:xfrm>
            <a:off x="566928" y="4724400"/>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X</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259568" y="533857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qāla → inna</a:t>
            </a:r>
            <a:endParaRPr lang="en-US" sz="1100" dirty="0"/>
          </a:p>
        </p:txBody>
      </p:sp>
      <p:sp>
        <p:nvSpPr>
          <p:cNvPr id="53" name="Text 50"/>
          <p:cNvSpPr txBox="1"/>
          <p:nvPr/>
        </p:nvSpPr>
        <p:spPr>
          <a:xfrm>
            <a:off x="9070848" y="533857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P3-L06</a:t>
            </a:r>
            <a:endParaRPr lang="en-US" sz="1100" dirty="0"/>
          </a:p>
        </p:txBody>
      </p:sp>
      <p:sp>
        <p:nvSpPr>
          <p:cNvPr id="54" name="Text 51"/>
          <p:cNvSpPr txBox="1"/>
          <p:nvPr/>
        </p:nvSpPr>
        <p:spPr>
          <a:xfrm>
            <a:off x="5760720" y="533857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الدَّلِيلُ </a:t>
            </a:r>
            <a:pPr rtl="1" algn="ctr" indent="0" marL="0">
              <a:buNone/>
            </a:pPr>
            <a:r>
              <a:rPr lang="ar-SA" altLang="en-US" sz="2000" b="1" dirty="0">
                <a:solidFill>
                  <a:srgbClr val="7B3FA0"/>
                </a:solidFill>
                <a:latin typeface="Amiri" pitchFamily="2" charset="-78"/>
                <a:ea typeface="Amiri" pitchFamily="2" charset="-78"/>
                <a:cs typeface="Amiri" pitchFamily="2" charset="-78"/>
              </a:rPr>
              <a:t>إِنَّ</a:t>
            </a:r>
            <a:pPr rtl="1" algn="ctr" indent="0" marL="0">
              <a:buNone/>
            </a:pPr>
            <a:r>
              <a:rPr lang="ar-SA" altLang="en-US" sz="2000" b="1" dirty="0">
                <a:solidFill>
                  <a:srgbClr val="1B3B6F"/>
                </a:solidFill>
                <a:latin typeface="Amiri" pitchFamily="2" charset="-78"/>
                <a:cs typeface="Amiri" pitchFamily="2" charset="-78"/>
              </a:rPr>
              <a:t> …</a:t>
            </a:r>
            <a:endParaRPr lang="ar-SA" sz="2000" dirty="0"/>
          </a:p>
        </p:txBody>
      </p:sp>
      <p:sp>
        <p:nvSpPr>
          <p:cNvPr id="55" name="Text 52"/>
          <p:cNvSpPr txBox="1"/>
          <p:nvPr/>
        </p:nvSpPr>
        <p:spPr>
          <a:xfrm>
            <a:off x="2560320" y="5338572"/>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الدَّلِيلُ أَنَّ …</a:t>
            </a:r>
            <a:endParaRPr lang="ar-SA" sz="2000" dirty="0"/>
          </a:p>
        </p:txBody>
      </p:sp>
      <p:sp>
        <p:nvSpPr>
          <p:cNvPr id="56" name="Text 53"/>
          <p:cNvSpPr txBox="1"/>
          <p:nvPr/>
        </p:nvSpPr>
        <p:spPr>
          <a:xfrm>
            <a:off x="566928" y="533857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 anna</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“every structure has a precise marker that must be controlled.”</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WHOLE P3 GRAMMAR SPINE (VOCABULARY GROUP 2 + WEBSITE MODEL TEXTS)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structures — one unit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العَمُودُ الفِقْرِيُّ لِقَوَاعِدِ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3913632" y="1810512"/>
            <a:ext cx="5797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263347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893808" y="226771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 -tu</a:t>
            </a:r>
            <a:endParaRPr lang="en-US" sz="1100" dirty="0"/>
          </a:p>
        </p:txBody>
      </p:sp>
      <p:sp>
        <p:nvSpPr>
          <p:cNvPr id="22" name="Text 19"/>
          <p:cNvSpPr txBox="1"/>
          <p:nvPr/>
        </p:nvSpPr>
        <p:spPr>
          <a:xfrm>
            <a:off x="3931920" y="2267712"/>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كُنْتُ قَدْ تَوَقَّعْتُ</a:t>
            </a:r>
            <a:pPr rtl="1" algn="ctr" indent="0" marL="0">
              <a:buNone/>
            </a:pPr>
            <a:r>
              <a:rPr lang="ar-SA" altLang="en-US" sz="1800" b="1" dirty="0">
                <a:solidFill>
                  <a:srgbClr val="1B3B6F"/>
                </a:solidFill>
                <a:latin typeface="Amiri" pitchFamily="2" charset="-78"/>
                <a:ea typeface="Amiri" pitchFamily="2" charset="-78"/>
                <a:cs typeface="Amiri" pitchFamily="2" charset="-78"/>
              </a:rPr>
              <a:t> مَكَانًا عَادِيًّا، لٰكِنَّهُ فَاقَ تَوَقُّعَاتِي.</a:t>
            </a:r>
            <a:endParaRPr lang="ar-SA" sz="1800" dirty="0"/>
          </a:p>
        </p:txBody>
      </p:sp>
      <p:sp>
        <p:nvSpPr>
          <p:cNvPr id="23" name="Text 20"/>
          <p:cNvSpPr txBox="1"/>
          <p:nvPr/>
        </p:nvSpPr>
        <p:spPr>
          <a:xfrm>
            <a:off x="267004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P3-L02/03</a:t>
            </a:r>
            <a:endParaRPr lang="en-US" sz="11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893808" y="2881884"/>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sa-</a:t>
            </a:r>
            <a:endParaRPr lang="en-US" sz="1100" dirty="0"/>
          </a:p>
        </p:txBody>
      </p:sp>
      <p:sp>
        <p:nvSpPr>
          <p:cNvPr id="29" name="Text 26"/>
          <p:cNvSpPr txBox="1"/>
          <p:nvPr/>
        </p:nvSpPr>
        <p:spPr>
          <a:xfrm>
            <a:off x="3931920" y="2881884"/>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احْتَرَمَ السُّيَّاحُ القَوَاعِدَ، </a:t>
            </a:r>
            <a:pPr rtl="1" algn="ctr" indent="0" marL="0">
              <a:buNone/>
            </a:pPr>
            <a:r>
              <a:rPr lang="ar-SA" altLang="en-US" sz="1800" b="1" dirty="0">
                <a:solidFill>
                  <a:srgbClr val="0E7C86"/>
                </a:solidFill>
                <a:latin typeface="Amiri" pitchFamily="2" charset="-78"/>
                <a:ea typeface="Amiri" pitchFamily="2" charset="-78"/>
                <a:cs typeface="Amiri" pitchFamily="2" charset="-78"/>
              </a:rPr>
              <a:t>سَتَبْقَى</a:t>
            </a:r>
            <a:pPr rtl="1" algn="ctr" indent="0" marL="0">
              <a:buNone/>
            </a:pPr>
            <a:r>
              <a:rPr lang="ar-SA" altLang="en-US" sz="1800" b="1" dirty="0">
                <a:solidFill>
                  <a:srgbClr val="1B3B6F"/>
                </a:solidFill>
                <a:latin typeface="Amiri" pitchFamily="2" charset="-78"/>
                <a:ea typeface="Amiri" pitchFamily="2" charset="-78"/>
                <a:cs typeface="Amiri" pitchFamily="2" charset="-78"/>
              </a:rPr>
              <a:t> المَوَاقِعُ.</a:t>
            </a:r>
            <a:endParaRPr lang="ar-SA" sz="1800" dirty="0"/>
          </a:p>
        </p:txBody>
      </p:sp>
      <p:sp>
        <p:nvSpPr>
          <p:cNvPr id="30" name="Text 27"/>
          <p:cNvSpPr txBox="1"/>
          <p:nvPr/>
        </p:nvSpPr>
        <p:spPr>
          <a:xfrm>
            <a:off x="267004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893808" y="3496056"/>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la-</a:t>
            </a:r>
            <a:endParaRPr lang="en-US" sz="1100" dirty="0"/>
          </a:p>
        </p:txBody>
      </p:sp>
      <p:sp>
        <p:nvSpPr>
          <p:cNvPr id="36" name="Text 33"/>
          <p:cNvSpPr txBox="1"/>
          <p:nvPr/>
        </p:nvSpPr>
        <p:spPr>
          <a:xfrm>
            <a:off x="3931920" y="3496056"/>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كَانَ لَدَيَّ مِيزَانِيَّةٌ غَيْرُ مَحْدُودَةٍ، </a:t>
            </a:r>
            <a:pPr rtl="1" algn="ctr" indent="0" marL="0">
              <a:buNone/>
            </a:pPr>
            <a:r>
              <a:rPr lang="ar-SA" altLang="en-US" sz="1800" b="1" dirty="0">
                <a:solidFill>
                  <a:srgbClr val="C77700"/>
                </a:solidFill>
                <a:latin typeface="Amiri" pitchFamily="2" charset="-78"/>
                <a:ea typeface="Amiri" pitchFamily="2" charset="-78"/>
                <a:cs typeface="Amiri" pitchFamily="2" charset="-78"/>
              </a:rPr>
              <a:t>لَزُرْتُ</a:t>
            </a:r>
            <a:pPr rtl="1" algn="ctr" indent="0" marL="0">
              <a:buNone/>
            </a:pPr>
            <a:r>
              <a:rPr lang="ar-SA" altLang="en-US" sz="1800" b="1" dirty="0">
                <a:solidFill>
                  <a:srgbClr val="1B3B6F"/>
                </a:solidFill>
                <a:latin typeface="Amiri" pitchFamily="2" charset="-78"/>
                <a:ea typeface="Amiri" pitchFamily="2" charset="-78"/>
                <a:cs typeface="Amiri" pitchFamily="2" charset="-78"/>
              </a:rPr>
              <a:t> كُلَّ المَوَاقِعِ.</a:t>
            </a:r>
            <a:endParaRPr lang="ar-SA" sz="1800" dirty="0"/>
          </a:p>
        </p:txBody>
      </p:sp>
      <p:sp>
        <p:nvSpPr>
          <p:cNvPr id="37" name="Text 34"/>
          <p:cNvSpPr txBox="1"/>
          <p:nvPr/>
        </p:nvSpPr>
        <p:spPr>
          <a:xfrm>
            <a:off x="267004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893808" y="4110228"/>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qāla inna</a:t>
            </a:r>
            <a:endParaRPr lang="en-US" sz="1100" dirty="0"/>
          </a:p>
        </p:txBody>
      </p:sp>
      <p:sp>
        <p:nvSpPr>
          <p:cNvPr id="43" name="Text 40"/>
          <p:cNvSpPr txBox="1"/>
          <p:nvPr/>
        </p:nvSpPr>
        <p:spPr>
          <a:xfrm>
            <a:off x="3931920" y="4110228"/>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قَالَ</a:t>
            </a:r>
            <a:pPr rtl="1" algn="ctr" indent="0" marL="0">
              <a:buNone/>
            </a:pPr>
            <a:r>
              <a:rPr lang="ar-SA" altLang="en-US" sz="1800" b="1" dirty="0">
                <a:solidFill>
                  <a:srgbClr val="1B3B6F"/>
                </a:solidFill>
                <a:latin typeface="Amiri" pitchFamily="2" charset="-78"/>
                <a:ea typeface="Amiri" pitchFamily="2" charset="-78"/>
                <a:cs typeface="Amiri" pitchFamily="2" charset="-78"/>
              </a:rPr>
              <a:t> الدَّلِيلُ </a:t>
            </a:r>
            <a:pPr rtl="1" algn="ctr" indent="0" marL="0">
              <a:buNone/>
            </a:pPr>
            <a:r>
              <a:rPr lang="ar-SA" altLang="en-US" sz="1800" b="1" dirty="0">
                <a:solidFill>
                  <a:srgbClr val="7B3FA0"/>
                </a:solidFill>
                <a:latin typeface="Amiri" pitchFamily="2" charset="-78"/>
                <a:ea typeface="Amiri" pitchFamily="2" charset="-78"/>
                <a:cs typeface="Amiri" pitchFamily="2" charset="-78"/>
              </a:rPr>
              <a:t>إِنَّ</a:t>
            </a:r>
            <a:pPr rtl="1" algn="ctr" indent="0" marL="0">
              <a:buNone/>
            </a:pPr>
            <a:r>
              <a:rPr lang="ar-SA" altLang="en-US" sz="1800" b="1" dirty="0">
                <a:solidFill>
                  <a:srgbClr val="1B3B6F"/>
                </a:solidFill>
                <a:latin typeface="Amiri" pitchFamily="2" charset="-78"/>
                <a:ea typeface="Amiri" pitchFamily="2" charset="-78"/>
                <a:cs typeface="Amiri" pitchFamily="2" charset="-78"/>
              </a:rPr>
              <a:t> الرَّبِيعَ أَفْضَلُ مَوْسِمٍ.</a:t>
            </a:r>
            <a:endParaRPr lang="ar-SA" sz="1800" dirty="0"/>
          </a:p>
        </p:txBody>
      </p:sp>
      <p:sp>
        <p:nvSpPr>
          <p:cNvPr id="44" name="Text 41"/>
          <p:cNvSpPr txBox="1"/>
          <p:nvPr/>
        </p:nvSpPr>
        <p:spPr>
          <a:xfrm>
            <a:off x="267004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P3-L06</a:t>
            </a:r>
            <a:endParaRPr lang="en-US" sz="1100" dirty="0"/>
          </a:p>
        </p:txBody>
      </p:sp>
      <p:sp>
        <p:nvSpPr>
          <p:cNvPr id="45" name="Text 42"/>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893808" y="4724400"/>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48" name="Text 45"/>
          <p:cNvSpPr txBox="1"/>
          <p:nvPr/>
        </p:nvSpPr>
        <p:spPr>
          <a:xfrm>
            <a:off x="3931920" y="4724400"/>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1800" b="1" dirty="0">
                <a:solidFill>
                  <a:srgbClr val="0E7C86"/>
                </a:solidFill>
                <a:latin typeface="Amiri" pitchFamily="2" charset="-78"/>
                <a:ea typeface="Amiri" pitchFamily="2" charset="-78"/>
                <a:cs typeface="Amiri" pitchFamily="2" charset="-78"/>
              </a:rPr>
              <a:t>يَتَعَلَّمَ</a:t>
            </a:r>
            <a:pPr rtl="1" algn="ctr" indent="0" marL="0">
              <a:buNone/>
            </a:pPr>
            <a:r>
              <a:rPr lang="ar-SA" altLang="en-US" sz="1800" b="1" dirty="0">
                <a:solidFill>
                  <a:srgbClr val="1B3B6F"/>
                </a:solidFill>
                <a:latin typeface="Amiri" pitchFamily="2" charset="-78"/>
                <a:ea typeface="Amiri" pitchFamily="2" charset="-78"/>
                <a:cs typeface="Amiri" pitchFamily="2" charset="-78"/>
              </a:rPr>
              <a:t> الزَّائِرُ بَعْضَ العِبَارَاتِ.</a:t>
            </a:r>
            <a:endParaRPr lang="ar-SA" sz="1800" dirty="0"/>
          </a:p>
        </p:txBody>
      </p:sp>
      <p:sp>
        <p:nvSpPr>
          <p:cNvPr id="49" name="Text 46"/>
          <p:cNvSpPr txBox="1"/>
          <p:nvPr/>
        </p:nvSpPr>
        <p:spPr>
          <a:xfrm>
            <a:off x="267004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P3-L07</a:t>
            </a:r>
            <a:endParaRPr lang="en-US" sz="1100" dirty="0"/>
          </a:p>
        </p:txBody>
      </p:sp>
      <p:sp>
        <p:nvSpPr>
          <p:cNvPr id="50" name="Text 47"/>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893808" y="533857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 fī</a:t>
            </a:r>
            <a:endParaRPr lang="en-US" sz="1100" dirty="0"/>
          </a:p>
        </p:txBody>
      </p:sp>
      <p:sp>
        <p:nvSpPr>
          <p:cNvPr id="53" name="Text 50"/>
          <p:cNvSpPr txBox="1"/>
          <p:nvPr/>
        </p:nvSpPr>
        <p:spPr>
          <a:xfrm>
            <a:off x="3931920" y="5338572"/>
            <a:ext cx="5760720" cy="559308"/>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تَسْتَقْطِبُ</a:t>
            </a:r>
            <a:pPr rtl="1" algn="ctr" indent="0" marL="0">
              <a:buNone/>
            </a:pPr>
            <a:r>
              <a:rPr lang="ar-SA" altLang="en-US" sz="1800" b="1" dirty="0">
                <a:solidFill>
                  <a:srgbClr val="1B3B6F"/>
                </a:solidFill>
                <a:latin typeface="Amiri" pitchFamily="2" charset="-78"/>
                <a:ea typeface="Amiri" pitchFamily="2" charset="-78"/>
                <a:cs typeface="Amiri" pitchFamily="2" charset="-78"/>
              </a:rPr>
              <a:t> المَدِينَةُ السُّيَّاحَ · </a:t>
            </a:r>
            <a:pPr rtl="1" algn="ctr" indent="0" marL="0">
              <a:buNone/>
            </a:pPr>
            <a:r>
              <a:rPr lang="ar-SA" altLang="en-US" sz="1800" b="1" dirty="0">
                <a:solidFill>
                  <a:srgbClr val="1D5FBF"/>
                </a:solidFill>
                <a:latin typeface="Amiri" pitchFamily="2" charset="-78"/>
                <a:ea typeface="Amiri" pitchFamily="2" charset="-78"/>
                <a:cs typeface="Amiri" pitchFamily="2" charset="-78"/>
              </a:rPr>
              <a:t>أَقَمْتُ</a:t>
            </a:r>
            <a:pPr rtl="1" algn="ctr" indent="0" marL="0">
              <a:buNone/>
            </a:pPr>
            <a:r>
              <a:rPr lang="ar-SA" altLang="en-US" sz="1800" b="1" dirty="0">
                <a:solidFill>
                  <a:srgbClr val="1B3B6F"/>
                </a:solidFill>
                <a:latin typeface="Amiri" pitchFamily="2" charset="-78"/>
                <a:ea typeface="Amiri" pitchFamily="2" charset="-78"/>
                <a:cs typeface="Amiri" pitchFamily="2" charset="-78"/>
              </a:rPr>
              <a:t> فِي رِيَاضٍ</a:t>
            </a:r>
            <a:endParaRPr lang="ar-SA" sz="1800" dirty="0"/>
          </a:p>
        </p:txBody>
      </p:sp>
      <p:sp>
        <p:nvSpPr>
          <p:cNvPr id="54" name="Text 51"/>
          <p:cNvSpPr txBox="1"/>
          <p:nvPr/>
        </p:nvSpPr>
        <p:spPr>
          <a:xfrm>
            <a:off x="267004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P3-L02/04</a:t>
            </a:r>
            <a:endParaRPr lang="en-US" sz="11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verbs</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row is one P3 lesson — the assessment tests them all.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REQUIRED STRUCTURE, UNPROMPTED (P3-L12 TOPIC QUESTIONS + ROLE PLAY)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 required structure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البِنْيَةُ المَطْلُوبَةُ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9582912" y="1810512"/>
            <a:ext cx="676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a:t>
            </a:r>
            <a:endParaRPr lang="en-US" sz="1100" dirty="0"/>
          </a:p>
        </p:txBody>
      </p:sp>
      <p:sp>
        <p:nvSpPr>
          <p:cNvPr id="18" name="Text 15"/>
          <p:cNvSpPr txBox="1"/>
          <p:nvPr/>
        </p:nvSpPr>
        <p:spPr>
          <a:xfrm>
            <a:off x="4553712" y="1810512"/>
            <a:ext cx="4882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with …</a:t>
            </a:r>
            <a:endParaRPr lang="en-US" sz="1100" dirty="0"/>
          </a:p>
        </p:txBody>
      </p:sp>
      <p:sp>
        <p:nvSpPr>
          <p:cNvPr id="19" name="Text 16"/>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 …</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442448" y="2267712"/>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2" name="Text 19"/>
          <p:cNvSpPr txBox="1"/>
          <p:nvPr/>
        </p:nvSpPr>
        <p:spPr>
          <a:xfrm>
            <a:off x="9619488" y="2267712"/>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a:t>
            </a:r>
            <a:endParaRPr lang="en-US" sz="1100" dirty="0"/>
          </a:p>
        </p:txBody>
      </p:sp>
      <p:sp>
        <p:nvSpPr>
          <p:cNvPr id="23" name="Text 20"/>
          <p:cNvSpPr txBox="1"/>
          <p:nvPr/>
        </p:nvSpPr>
        <p:spPr>
          <a:xfrm>
            <a:off x="4572000" y="2267712"/>
            <a:ext cx="484632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كُنْتُ قَدْ تَوَقَّعْتُ</a:t>
            </a:r>
            <a:pPr rtl="1" algn="ctr" indent="0" marL="0">
              <a:buNone/>
            </a:pPr>
            <a:r>
              <a:rPr lang="ar-SA" altLang="en-US" sz="1800" b="1" dirty="0">
                <a:solidFill>
                  <a:srgbClr val="1B3B6F"/>
                </a:solidFill>
                <a:latin typeface="Amiri" pitchFamily="2" charset="-78"/>
                <a:ea typeface="Amiri" pitchFamily="2" charset="-78"/>
                <a:cs typeface="Amiri" pitchFamily="2" charset="-78"/>
              </a:rPr>
              <a:t> … ، لٰكِنَّهُ فَاقَ تَوَقُّعَاتِي.</a:t>
            </a:r>
            <a:endParaRPr lang="ar-SA" sz="1800" dirty="0"/>
          </a:p>
        </p:txBody>
      </p:sp>
      <p:sp>
        <p:nvSpPr>
          <p:cNvPr id="24" name="Text 21"/>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إِجَازَةً مَاضِيَةً — مَا الَّذِي كُنْتَ قَدْ تَوَقَّعْتَهُ؟</a:t>
            </a:r>
            <a:endParaRPr lang="ar-SA" sz="17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442448" y="3054096"/>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29" name="Text 26"/>
          <p:cNvSpPr txBox="1"/>
          <p:nvPr/>
        </p:nvSpPr>
        <p:spPr>
          <a:xfrm>
            <a:off x="9619488" y="3054096"/>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Q2</a:t>
            </a:r>
            <a:endParaRPr lang="en-US" sz="1100" dirty="0"/>
          </a:p>
        </p:txBody>
      </p:sp>
      <p:sp>
        <p:nvSpPr>
          <p:cNvPr id="30" name="Text 27"/>
          <p:cNvSpPr txBox="1"/>
          <p:nvPr/>
        </p:nvSpPr>
        <p:spPr>
          <a:xfrm>
            <a:off x="4572000" y="3054096"/>
            <a:ext cx="484632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أَرَى أَنَّهَا ضَرُورَةٌ؛ فَـ</a:t>
            </a:r>
            <a:pPr rtl="1" algn="ctr" indent="0" marL="0">
              <a:buNone/>
            </a:pPr>
            <a:r>
              <a:rPr lang="ar-SA" altLang="en-US" sz="1800" b="1" dirty="0">
                <a:solidFill>
                  <a:srgbClr val="0E7C86"/>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احْتَرَمَ السُّيَّاحُ القَوَاعِدَ، </a:t>
            </a:r>
            <a:pPr rtl="1" algn="ctr" indent="0" marL="0">
              <a:buNone/>
            </a:pPr>
            <a:r>
              <a:rPr lang="ar-SA" altLang="en-US" sz="1800" b="1" dirty="0">
                <a:solidFill>
                  <a:srgbClr val="0E7C86"/>
                </a:solidFill>
                <a:latin typeface="Amiri" pitchFamily="2" charset="-78"/>
                <a:ea typeface="Amiri" pitchFamily="2" charset="-78"/>
                <a:cs typeface="Amiri" pitchFamily="2" charset="-78"/>
              </a:rPr>
              <a:t>سَتَبْقَى</a:t>
            </a:r>
            <a:pPr rtl="1" algn="ctr" indent="0" marL="0">
              <a:buNone/>
            </a:pPr>
            <a:r>
              <a:rPr lang="ar-SA" altLang="en-US" sz="1800" b="1" dirty="0">
                <a:solidFill>
                  <a:srgbClr val="1B3B6F"/>
                </a:solidFill>
                <a:latin typeface="Amiri" pitchFamily="2" charset="-78"/>
                <a:cs typeface="Amiri" pitchFamily="2" charset="-78"/>
              </a:rPr>
              <a:t> …</a:t>
            </a:r>
            <a:endParaRPr lang="ar-SA" sz="1800" dirty="0"/>
          </a:p>
        </p:txBody>
      </p:sp>
      <p:sp>
        <p:nvSpPr>
          <p:cNvPr id="31" name="Text 28"/>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السِّيَاحَةِ المُسْتَدَامَةِ؟</a:t>
            </a:r>
            <a:endParaRPr lang="ar-SA" sz="17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442448" y="3840480"/>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6" name="Text 33"/>
          <p:cNvSpPr txBox="1"/>
          <p:nvPr/>
        </p:nvSpPr>
        <p:spPr>
          <a:xfrm>
            <a:off x="9619488" y="3840480"/>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Q3</a:t>
            </a:r>
            <a:endParaRPr lang="en-US" sz="1100" dirty="0"/>
          </a:p>
        </p:txBody>
      </p:sp>
      <p:sp>
        <p:nvSpPr>
          <p:cNvPr id="37" name="Text 34"/>
          <p:cNvSpPr txBox="1"/>
          <p:nvPr/>
        </p:nvSpPr>
        <p:spPr>
          <a:xfrm>
            <a:off x="4572000" y="3840480"/>
            <a:ext cx="4846320" cy="731520"/>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لَوْ كَانَ لَدَيَّ</a:t>
            </a:r>
            <a:pPr rtl="1" algn="ctr" indent="0" marL="0">
              <a:buNone/>
            </a:pPr>
            <a:r>
              <a:rPr lang="ar-SA" altLang="en-US" sz="1800" b="1" dirty="0">
                <a:solidFill>
                  <a:srgbClr val="1B3B6F"/>
                </a:solidFill>
                <a:latin typeface="Amiri" pitchFamily="2" charset="-78"/>
                <a:ea typeface="Amiri" pitchFamily="2" charset="-78"/>
                <a:cs typeface="Amiri" pitchFamily="2" charset="-78"/>
              </a:rPr>
              <a:t> مِيزَانِيَّةٌ غَيْرُ مَحْدُودَةٍ، </a:t>
            </a:r>
            <a:pPr rtl="1" algn="ctr" indent="0" marL="0">
              <a:buNone/>
            </a:pPr>
            <a:r>
              <a:rPr lang="ar-SA" altLang="en-US" sz="1800" b="1" dirty="0">
                <a:solidFill>
                  <a:srgbClr val="C77700"/>
                </a:solidFill>
                <a:latin typeface="Amiri" pitchFamily="2" charset="-78"/>
                <a:ea typeface="Amiri" pitchFamily="2" charset="-78"/>
                <a:cs typeface="Amiri" pitchFamily="2" charset="-78"/>
              </a:rPr>
              <a:t>لَزُرْتُ</a:t>
            </a:r>
            <a:pPr rtl="1" algn="ctr" indent="0" marL="0">
              <a:buNone/>
            </a:pPr>
            <a:r>
              <a:rPr lang="ar-SA" altLang="en-US" sz="1800" b="1" dirty="0">
                <a:solidFill>
                  <a:srgbClr val="1B3B6F"/>
                </a:solidFill>
                <a:latin typeface="Amiri" pitchFamily="2" charset="-78"/>
                <a:cs typeface="Amiri" pitchFamily="2" charset="-78"/>
              </a:rPr>
              <a:t> …</a:t>
            </a:r>
            <a:endParaRPr lang="ar-SA" sz="1800" dirty="0"/>
          </a:p>
        </p:txBody>
      </p:sp>
      <p:sp>
        <p:nvSpPr>
          <p:cNvPr id="38" name="Text 35"/>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كَانَ لَدَيْكَ مِيزَانِيَّةٌ غَيْرُ مَحْدُودَةٍ، أَيْنَ سَتَذْهَبُ؟</a:t>
            </a:r>
            <a:endParaRPr lang="ar-SA" sz="17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10442448" y="4626864"/>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yaḥjiz · yuqīm</a:t>
            </a:r>
            <a:endParaRPr lang="en-US" sz="1100" dirty="0"/>
          </a:p>
        </p:txBody>
      </p:sp>
      <p:sp>
        <p:nvSpPr>
          <p:cNvPr id="43" name="Text 40"/>
          <p:cNvSpPr txBox="1"/>
          <p:nvPr/>
        </p:nvSpPr>
        <p:spPr>
          <a:xfrm>
            <a:off x="9619488" y="4626864"/>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RP</a:t>
            </a:r>
            <a:endParaRPr lang="en-US" sz="1100" dirty="0"/>
          </a:p>
        </p:txBody>
      </p:sp>
      <p:sp>
        <p:nvSpPr>
          <p:cNvPr id="44" name="Text 41"/>
          <p:cNvSpPr txBox="1"/>
          <p:nvPr/>
        </p:nvSpPr>
        <p:spPr>
          <a:xfrm>
            <a:off x="4572000" y="4626864"/>
            <a:ext cx="484632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a:t>
            </a:r>
            <a:pPr rtl="1" algn="ctr" indent="0" marL="0">
              <a:buNone/>
            </a:pPr>
            <a:r>
              <a:rPr lang="ar-SA" altLang="en-US" sz="1800" b="1" dirty="0">
                <a:solidFill>
                  <a:srgbClr val="1D5FBF"/>
                </a:solidFill>
                <a:latin typeface="Amiri" pitchFamily="2" charset="-78"/>
                <a:ea typeface="Amiri" pitchFamily="2" charset="-78"/>
                <a:cs typeface="Amiri" pitchFamily="2" charset="-78"/>
              </a:rPr>
              <a:t>أَحْجِزَ</a:t>
            </a:r>
            <a:pPr rtl="1" algn="ctr" indent="0" marL="0">
              <a:buNone/>
            </a:pPr>
            <a:r>
              <a:rPr lang="ar-SA" altLang="en-US" sz="1800" b="1" dirty="0">
                <a:solidFill>
                  <a:srgbClr val="1B3B6F"/>
                </a:solidFill>
                <a:latin typeface="Amiri" pitchFamily="2" charset="-78"/>
                <a:ea typeface="Amiri" pitchFamily="2" charset="-78"/>
                <a:cs typeface="Amiri" pitchFamily="2" charset="-78"/>
              </a:rPr>
              <a:t> غُرْفَةً؛ أَيْنَ يُمْكِنُ أَنْ </a:t>
            </a:r>
            <a:pPr rtl="1" algn="ctr" indent="0" marL="0">
              <a:buNone/>
            </a:pPr>
            <a:r>
              <a:rPr lang="ar-SA" altLang="en-US" sz="1800" b="1" dirty="0">
                <a:solidFill>
                  <a:srgbClr val="1D5FBF"/>
                </a:solidFill>
                <a:latin typeface="Amiri" pitchFamily="2" charset="-78"/>
                <a:ea typeface="Amiri" pitchFamily="2" charset="-78"/>
                <a:cs typeface="Amiri" pitchFamily="2" charset="-78"/>
              </a:rPr>
              <a:t>أُقِيمَ</a:t>
            </a:r>
            <a:pPr rtl="1" algn="ctr" indent="0" marL="0">
              <a:buNone/>
            </a:pPr>
            <a:r>
              <a:rPr lang="ar-SA" altLang="en-US" sz="1800" b="1" dirty="0">
                <a:solidFill>
                  <a:srgbClr val="1B3B6F"/>
                </a:solidFill>
                <a:latin typeface="Amiri" pitchFamily="2" charset="-78"/>
                <a:ea typeface="Amiri" pitchFamily="2" charset="-78"/>
                <a:cs typeface="Amiri" pitchFamily="2" charset="-78"/>
              </a:rPr>
              <a:t>؟</a:t>
            </a:r>
            <a:endParaRPr lang="ar-SA" sz="1800" dirty="0"/>
          </a:p>
        </p:txBody>
      </p:sp>
      <p:sp>
        <p:nvSpPr>
          <p:cNvPr id="45" name="Text 42"/>
          <p:cNvSpPr txBox="1"/>
          <p:nvPr/>
        </p:nvSpPr>
        <p:spPr>
          <a:xfrm>
            <a:off x="56692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booking and accommodation</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a law question answered with idhā is conditional avoidance — and loses the mark.</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ANSWER LAW WITH LAW (WEBSITE TEACHING POINT 2 + SPEAKING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 · reason · extra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بِنْيَةٌ · سَبَبٌ · 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STRUCTURE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كَانَ لَدَيَّ مِيزَانِيَّةٌ غَيْرُ مَحْدُودَةٍ، لَزُرْتُ كُلَّ المَوَاقِعِ التُّرَاثِيَّةِ.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had an unlimited budget, I would visit every heritage site.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required one.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REASON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لِأَنَّ كُلَّ مَوْقِعٍ يَحْكِي قِصَّةَ حَضَارَةٍ.</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every site tells the story of a civilisation.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EXTRA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وَلَـ … · يُسْتَحْسَنُ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وَلَتَعَلَّمْتُ عَنْ كُلِّ حَضَارَةٍ.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And I would learn about every civilisation.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second la-.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teaching point: answering a law question with idhā is conditional avoidance.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لَوْ كَانَ لَدَيَّ مِيزَانِيَّةٌ، لَذَهَبْتُ إِلَى اليَابَانِ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B83227"/>
                </a:solidFill>
                <a:latin typeface="Amiri" pitchFamily="2" charset="-78"/>
                <a:ea typeface="Amiri" pitchFamily="2" charset="-78"/>
                <a:cs typeface="Amiri" pitchFamily="2" charset="-78"/>
              </a:rPr>
              <a:t>إِذَا كَانَ لَدَيَّ مِيزَانِيَّةٌ، سَأَذْهَبُ إِلَى اليَابَانِ</a:t>
            </a:r>
            <a:endParaRPr lang="ar-SA" sz="1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Repairing the P3 error zones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إِصْلَاحُ الأَخْطَاءِ الشَّائِعَةِ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Type 2 result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حَجَزْتُ مُبَكِّرًا، لَحَصَلْتُ عَلَى سِعْرٍ أَرْخَصَ</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Past verb after law</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(not present)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زُرْتُ المَغْرِبَ …</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Subjunctive after an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yustaḥsan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يُسْتَحْسَنُ أَنْ يَتَعَلَّمَ الزَّائِرُ التَّحِيَّةَ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Tourism-verb agreement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tubhiru (f.) · yastaqṭib (Form X)</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تُبْهِرُ المَدِينَةُ زُوَّارَهَا   ·   تَسْتَقْطِبُ المَدِينَةُ السُّيَّاحَ</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حَجَزْتُ مُبَكِّرًا، حَصَلْتُ عَلَى سِعْرٍ أَرْخَصَ.</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حَجَزْتُ مُبَكِّرًا، سَأَحْصُلُ عَلَى سِعْرٍ أَرْخَصَ.</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حَجَزْتُ مُبَكِّرًا، لَحَصَلْتُ عَلَى سِعْرٍ أَرْخَصَ.</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يَتَعَلَّمُ الزَّائِرُ.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يَتَعَلَّمَ الزَّائِرُ.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تَعَلَّمَ الزَّائِرُ.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question well?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لَوْ كَانَ لَدَيَّ مِيزَانِيَّةٌ غَيْرُ مَحْدُودَةٍ، لَذَهَبْتُ إِلَى اليَابَانِ.</a:t>
            </a:r>
            <a:endParaRPr lang="ar-SA" sz="19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إِذَا كَانَ لَدَيَّ مِيزَانِيَّةٌ، سَأَذْهَبُ إِلَى اليَابَانِ.</a:t>
            </a:r>
            <a:endParaRPr lang="ar-SA" sz="19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أَذْهَبُ إِلَى اليَابَانِ.</a:t>
            </a:r>
            <a:endParaRPr lang="ar-SA" sz="19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حَجَزْتُ مُبَكِّرًا، حَصَلْتُ عَلَى سِعْرٍ أَرْخَصَ.</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حَجَزْتُ مُبَكِّرًا، سَأَحْصُلُ عَلَى سِعْرٍ أَرْخَصَ.</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حَجَزْتُ مُبَكِّرًا، لَحَصَلْتُ عَلَى سِعْرٍ أَرْخَصَ.</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يُسْتَحْسَنُ أَنْ يَتَعَلَّمُ الزَّائِرُ.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يُسْتَحْسَنُ أَنْ يَتَعَلَّمَ الزَّائِرُ.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يُسْتَحْسَنُ أَنْ تَعَلَّمَ الزَّائِرُ.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is subjunctive: </a:t>
            </a:r>
            <a:pPr algn="l" indent="0" marL="0">
              <a:buNone/>
            </a:pPr>
            <a:r>
              <a:rPr lang="ar-SA" altLang="en-US" sz="1350" dirty="0">
                <a:solidFill>
                  <a:srgbClr val="8A6D1E"/>
                </a:solidFill>
                <a:latin typeface="Amiri" pitchFamily="2" charset="-78"/>
                <a:ea typeface="Amiri" pitchFamily="2" charset="-78"/>
                <a:cs typeface="Amiri" pitchFamily="2" charset="-78"/>
              </a:rPr>
              <a:t>يَتَعَلَّمَ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question well?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 لَدَيَّ مِيزَانِيَّةٌ غَيْرُ مَحْدُودَةٍ، لَذَهَبْتُ إِلَى اليَابَانِ.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كَانَ لَدَيَّ مِيزَانِيَّةٌ، سَأَذْهَبُ إِلَى اليَابَانِ.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إِلَى اليَابَانِ.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question is answered with a Type 2 conditional.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answer the three questions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Q1</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 قَدْ تَوَقَّعْتُ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kuntu … -tu.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Q2</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0E7C86"/>
                </a:solidFill>
                <a:latin typeface="Amiri" pitchFamily="2" charset="-78"/>
                <a:ea typeface="Amiri" pitchFamily="2" charset="-78"/>
                <a:cs typeface="Amiri" pitchFamily="2" charset="-78"/>
              </a:rPr>
              <a:t>إِذَا</a:t>
            </a:r>
            <a:pPr rtl="1" algn="ctr" indent="0" marL="0">
              <a:buNone/>
            </a:pPr>
            <a:r>
              <a:rPr lang="ar-SA" altLang="en-US" sz="2550" b="1" dirty="0">
                <a:solidFill>
                  <a:srgbClr val="1B3B6F"/>
                </a:solidFill>
                <a:latin typeface="Amiri" pitchFamily="2" charset="-78"/>
                <a:ea typeface="Amiri" pitchFamily="2" charset="-78"/>
                <a:cs typeface="Amiri" pitchFamily="2" charset="-78"/>
              </a:rPr>
              <a:t> احْتَرَمَ … </a:t>
            </a:r>
            <a:pPr rtl="1" algn="ctr" indent="0" marL="0">
              <a:buNone/>
            </a:pPr>
            <a:r>
              <a:rPr lang="ar-SA" altLang="en-US" sz="2550" b="1" dirty="0">
                <a:solidFill>
                  <a:srgbClr val="0E7C86"/>
                </a:solidFill>
                <a:latin typeface="Amiri" pitchFamily="2" charset="-78"/>
                <a:ea typeface="Amiri" pitchFamily="2" charset="-78"/>
                <a:cs typeface="Amiri" pitchFamily="2" charset="-78"/>
              </a:rPr>
              <a:t>سَتَبْقَى</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Q3</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C77700"/>
                </a:solidFill>
                <a:latin typeface="Amiri" pitchFamily="2" charset="-78"/>
                <a:ea typeface="Amiri" pitchFamily="2" charset="-78"/>
                <a:cs typeface="Amiri" pitchFamily="2" charset="-78"/>
              </a:rPr>
              <a:t>لَوْ كَانَ لَدَيَّ</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C77700"/>
                </a:solidFill>
                <a:latin typeface="Amiri" pitchFamily="2" charset="-78"/>
                <a:ea typeface="Amiri" pitchFamily="2" charset="-78"/>
                <a:cs typeface="Amiri" pitchFamily="2" charset="-78"/>
              </a:rPr>
              <a:t>لَزُرْتُ</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2800" b="1" dirty="0">
                <a:solidFill>
                  <a:srgbClr val="7B3FA0"/>
                </a:solidFill>
                <a:latin typeface="Amiri" pitchFamily="2" charset="-78"/>
                <a:ea typeface="Amiri" pitchFamily="2" charset="-78"/>
                <a:cs typeface="Amiri" pitchFamily="2" charset="-78"/>
              </a:rPr>
              <a:t>يَتَعَلَّمَ</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after 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49" name="Shape 45"/>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 + -A</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تَوَقَّعْتُ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 البَتْرَاءَ مُجَرَّدُ آثَارٍ، لٰكِنَّهَا فَاقَتْ كُلَّ تَوَقُّعَاتِي. أَرَى أَنَّ السِّيَاحَةَ المُسْتَدَامَةَ ضَرُورَةٌ؛ فَـ</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احْتَرَمَ السُّيَّاحُ القَوَاعِدَ،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سَتَبْقَى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المَوَاقِعُ لِلْأَجْيَالِ القَادِمَةِ.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 كَانَ لَدَيَّ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مِيزَانِيَّةٌ غَيْرُ مَحْدُودَةٍ،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لَزُرْتُ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كُلَّ المَوَاقِعِ التُّرَاثِيَّةِ فِي العَالَمِ العَرَبِيِّ. يُسْتَحْسَنُ أَنْ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يَتَعَلَّمَ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الزَّائِرُ بَعْضَ العِبَارَاتِ العَرَبِيَّةِ.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had expected Petra to be just ruins, but it exceeded all my expectations. I think sustainable tourism is a necessity: if tourists respect the rules, the sites will remain for future generations. And if I had an unlimited budget, I would visit every heritage site in the Arab world. It is preferable for a visitor to learn some Arabic phrases.</a:t>
            </a:r>
            <a:endParaRPr lang="en-US" sz="105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حَجَزْتُ مُبَكِّرًا، لَحَصَلْتُ عَلَى سِعْرٍ أَرْخَصَ</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booked early, I would have got a cheaper price</a:t>
            </a:r>
            <a:endParaRPr lang="en-US" sz="1250" dirty="0"/>
          </a:p>
          <a:p>
            <a:pPr indent="0" marL="0">
              <a:buNone/>
            </a:pPr>
            <a:r>
              <a:rPr lang="en-US" sz="1050" i="1" dirty="0">
                <a:solidFill>
                  <a:srgbClr val="8A6D1E"/>
                </a:solidFill>
                <a:latin typeface="Calibri" pitchFamily="34" charset="0"/>
                <a:cs typeface="Amiri" pitchFamily="2" charset="-78"/>
              </a:rPr>
              <a:t>Type 2: law + past → la-.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يُسْتَحْسَنُ أَنْ يَتَعَلَّمَ الزَّائِرُ التَّحِيَّةَ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preferable for the visitor to learn the greeting</a:t>
            </a:r>
            <a:endParaRPr lang="en-US" sz="1250" dirty="0"/>
          </a:p>
          <a:p>
            <a:pPr indent="0" marL="0">
              <a:buNone/>
            </a:pPr>
            <a:r>
              <a:rPr lang="en-US" sz="1050" i="1" dirty="0">
                <a:solidFill>
                  <a:srgbClr val="8A6D1E"/>
                </a:solidFill>
                <a:latin typeface="Calibri" pitchFamily="34" charset="0"/>
                <a:cs typeface="Amiri" pitchFamily="2" charset="-78"/>
              </a:rPr>
              <a:t>A verb in -a after an.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تُبْهِرُ المَدِينَةُ زُوَّارَهَا وَتَسْتَقْطِبُ آلَافَ السُّيَّاحِ</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city dazzles its visitors and attracts thousands of tourists</a:t>
            </a:r>
            <a:endParaRPr lang="en-US" sz="1250" dirty="0"/>
          </a:p>
          <a:p>
            <a:pPr indent="0" marL="0">
              <a:buNone/>
            </a:pPr>
            <a:r>
              <a:rPr lang="en-US" sz="1050" i="1" dirty="0">
                <a:solidFill>
                  <a:srgbClr val="8A6D1E"/>
                </a:solidFill>
                <a:latin typeface="Calibri" pitchFamily="34" charset="0"/>
                <a:cs typeface="Amiri" pitchFamily="2" charset="-78"/>
              </a:rPr>
              <a:t>Agreement and Form X.</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REPAIR THE SLIPS (WEBSITE MISTAKES + EARLIER P3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fix it, name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وَسَمِّ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حَجَزْتُ مُبَكِّرًا، لَحَصَلْتُ عَلَى تَعْوِيضٍ.</a:t>
            </a:r>
            <a:endParaRPr lang="ar-SA" sz="19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حَجَزْتُ مُبَكِّرًا، حَصَلْتُ عَلَى تَعْوِيضٍ.</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يُسْتَحْسَنُ أَنْ يَتَعَلَّمَ الزَّائِرُ.</a:t>
            </a:r>
            <a:endParaRPr lang="ar-SA" sz="19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يُسْتَحْسَنُ أَنْ يَتَعَلَّمُ الزَّائِرُ.</a:t>
            </a:r>
            <a:endParaRPr lang="ar-SA" sz="19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تُبْهِرُ المَدِينَةُ زُوَّارَهَا.</a:t>
            </a:r>
            <a:endParaRPr lang="ar-SA" sz="19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يُبْهِرُ المَدِينَةُ زُوَّارَهَا.</a:t>
            </a:r>
            <a:endParaRPr lang="ar-SA" sz="19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complement (P3-L05)</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تُسْهِمُ السِّيَاحَةُ فِي الاقْتِصَادِ.</a:t>
            </a:r>
            <a:endParaRPr lang="ar-SA" sz="19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تُسْهِمُ السِّيَاحَةُ بِالاقْتِصَادِ.</a:t>
            </a:r>
            <a:endParaRPr lang="ar-SA" sz="19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 (P3-L06)</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قَرَّرْتُ أَنْ أَلْجَأَ إِلَى السَّفَارَةِ.</a:t>
            </a:r>
            <a:endParaRPr lang="ar-SA" sz="19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قَرَّرْتُ أَنْ أَلْجَأُ إِلَى السَّفَارَةِ.</a:t>
            </a:r>
            <a:endParaRPr lang="ar-SA" sz="19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result (P3-L08)</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حَجَزْتَ مُبَكِّرًا، سَتُوَفِّرُ المَالَ.</a:t>
            </a:r>
            <a:endParaRPr lang="ar-SA" sz="19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حَجَزْتَ مُبَكِّرًا، لَوَفَّرْتَ المَالَ.</a:t>
            </a:r>
            <a:endParaRPr lang="ar-SA" sz="19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“the shared lesson is that every structure has a precise marker that must be controlled.”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ASSESSMENT ANSWER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Background + Type 1 + Type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جَوَابَكَ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Background (kuntu qad)</a:t>
            </a:r>
            <a:endParaRPr lang="en-US" sz="1100" dirty="0"/>
          </a:p>
        </p:txBody>
      </p:sp>
      <p:sp>
        <p:nvSpPr>
          <p:cNvPr id="19" name="Text 16"/>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View (idhā … sa-)</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Hypothesis (law … la-)</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تَوَقَّعْتُ مَكَانًا عَادِيًّا لٰكِنَّهُ فَاقَ تَوَقُّعَاتِي</a:t>
            </a:r>
            <a:endParaRPr lang="ar-SA" sz="1600" dirty="0"/>
          </a:p>
        </p:txBody>
      </p:sp>
      <p:sp>
        <p:nvSpPr>
          <p:cNvPr id="23" name="Text 20"/>
          <p:cNvSpPr txBox="1"/>
          <p:nvPr/>
        </p:nvSpPr>
        <p:spPr>
          <a:xfrm>
            <a:off x="44165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وَإِذَا احْتَرَمَ السُّيَّاحُ القَوَاعِدَ سَتَبْقَى المَوَاقِعُ لِلْأَجْيَالِ</a:t>
            </a:r>
            <a:endParaRPr lang="ar-SA" sz="150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وَلَوْ كَانَ لَدَيَّ مِيزَانِيَّةٌ غَيْرُ مَحْدُودَةٍ لَزُرْتُ كُلَّ المَوَاقِعِ التُّرَاثِيَّةِ</a:t>
            </a:r>
            <a:endParaRPr lang="ar-SA" sz="1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قَرَأْتُ عَنِ الوِجْهَةِ قَبْلَ الرِّحْلَةِ</a:t>
            </a:r>
            <a:endParaRPr lang="ar-SA" sz="1600" dirty="0"/>
          </a:p>
        </p:txBody>
      </p:sp>
      <p:sp>
        <p:nvSpPr>
          <p:cNvPr id="29" name="Text 26"/>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زُرْتُهَا ثَانِيَةً سَأَبْقَى أَطْوَلَ</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تَعَلَّمْتُ العَرَبِيَّةَ لَكَانَتِ التَّجْرِبَةُ أَعْمَقَ</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حَجَزْتُ رِحْلَتِي قَبْلَ شَهْرٍ</a:t>
            </a:r>
            <a:endParaRPr lang="ar-SA" sz="1600" dirty="0"/>
          </a:p>
        </p:txBody>
      </p:sp>
      <p:sp>
        <p:nvSpPr>
          <p:cNvPr id="33" name="Text 30"/>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وَصَلْتُ مُبَكِّرًا سَأَتَجَنَّبُ الزِّحَامَ</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بَقِيتُ أَطْوَلَ لَرَأَيْتُ المَزِيدَ</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aloud as one fluent answer.</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Conditional, past perfect / reported — or tourism / modal verb?</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فَاسَ، سَتَنْبَهِرُ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بَقِيتُ أَطْوَلَ، لَرَأَيْتُ المَزِيدَ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مُبَكِّرًا، لَوَفَّرْتُ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 الرِّحْلَةَ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الدَّلِيلُ إِنَّ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 أَقَامَتْ فِي فُنْدُقٍ</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تَسْتَقْطِبُ المَدِينَةُ السُّيَّاحَ</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تُبْهِرُ زُوَّارَهَا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يَتَعَلَّمَ</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Conditional (Type 1/2)</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perfect / reported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Tourism / modal verbs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Conditional (Type 1/2)</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فَاسَ، سَتَنْبَهِرُ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بَقِيتُ أَطْوَلَ، لَرَأَيْتُ المَزِيدَ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مُبَكِّرًا، لَوَفَّرْتُ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perfect / reported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 الرِّحْلَةَ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الدَّلِيلُ إِنَّ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 أَقَامَتْ فِي فُنْدُقٍ</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Tourism / modal verbs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تَسْتَقْطِبُ المَدِينَةُ السُّيَّاحَ</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تُبْهِرُ زُوَّارَهَا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يَتَعَلَّمَ</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agreement is correct?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يُبْهِرُ المَدِينَةُ زُوَّارَهَا.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المَدِينَةُ بِزُوَّارِهَا.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المَدِينَةُ زُوَّارَهَا.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Form X verb?</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يَسْتَقْطِبُ</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clause is correct?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الدَّلِيلُ أَنَّ الرَّبِيعَ أَفْضَلُ.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الدَّلِيلُ إِنَّ الرَّبِيعَ أَفْضَلُ.</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الدَّلِيلُ بِأَنَّ الرَّبِيعَ أَفْضَلُ.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(for a girl)?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حَجَزَ.</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حَجَزَتْ.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حَجَزَتْ.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agreement is correct?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يُبْهِرُ المَدِينَةُ زُوَّارَهَا.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تُبْهِرُ المَدِينَةُ بِزُوَّارِهَا.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تُبْهِرُ المَدِينَةُ زُوَّارَهَا.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المَدِينَة</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تُبْهِرُ</a:t>
            </a:r>
            <a:pPr algn="l" indent="0" marL="0">
              <a:buNone/>
            </a:pPr>
            <a:r>
              <a:rPr lang="en-US" sz="1050" i="1" dirty="0">
                <a:solidFill>
                  <a:srgbClr val="8A6D1E"/>
                </a:solidFill>
                <a:latin typeface="Calibri" pitchFamily="34" charset="0"/>
                <a:cs typeface="Amiri" pitchFamily="2" charset="-78"/>
              </a:rPr>
              <a:t>, with a direct object.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Form X verb?</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يَسْتَقْطِبُ</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 X verb is </a:t>
            </a:r>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clause is correct?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الدَّلِيلُ أَنَّ الرَّبِيعَ أَفْضَلُ.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الدَّلِيلُ إِنَّ الرَّبِيعَ أَفْضَلُ.</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الدَّلِيلُ بِأَنَّ الرَّبِيعَ أَفْضَلُ.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(for a girl)?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قَدْ حَجَزَ.</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حَجَزَتْ.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قَدْ حَجَزَتْ.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حَجَزَتْ</a:t>
            </a:r>
            <a:pPr algn="l" indent="0" marL="0">
              <a:buNone/>
            </a:pPr>
            <a:r>
              <a:rPr lang="en-US" sz="1050" i="1" dirty="0">
                <a:solidFill>
                  <a:srgbClr val="8A6D1E"/>
                </a:solidFill>
                <a:latin typeface="Calibri" pitchFamily="34" charset="0"/>
                <a:cs typeface="Amiri" pitchFamily="2" charset="-78"/>
              </a:rPr>
              <a:t> both agree with the feminine subject.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مُبَكِّرًا، حَصَلْتُ عَلَى تَعْوِيضٍ.</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ḥaṣaltu?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يُسْتَحْسَنُ أَنْ يَتَعَلَّمُ الزَّائِرُ.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yataʿallamu?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يُبْهِرُ المَدِينَةُ زُوَّارَهَا.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yubhiru l-madīnatu?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حَجَزْتُ مُبَكِّرًا، حَصَلْتُ عَلَى تَعْوِيضٍ.</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مُبَكِّرًا، لَحَصَلْتُ عَلَى تَعْوِيضٍ.</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يُسْتَحْسَنُ أَنْ يَتَعَلَّمُ الزَّائِرُ.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يُسْتَحْسَنُ أَنْ يَتَعَلَّمَ الزَّائِرُ.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يَتَعَلَّمَ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يُبْهِرُ المَدِينَةُ زُوَّارَهَا.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تُبْهِرُ المَدِينَةُ زُوَّارَهَا.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المَدِينَة</a:t>
            </a:r>
            <a:pPr algn="l" indent="0" marL="0">
              <a:buNone/>
            </a:pPr>
            <a:r>
              <a:rPr lang="en-US" sz="1150" b="1" dirty="0">
                <a:solidFill>
                  <a:srgbClr val="1B3B6F"/>
                </a:solidFill>
                <a:latin typeface="Calibri" pitchFamily="34" charset="0"/>
                <a:cs typeface="Amiri" pitchFamily="2" charset="-78"/>
              </a:rPr>
              <a:t> is feminine, so the verb is </a:t>
            </a:r>
            <a:pPr algn="l" indent="0" marL="0">
              <a:buNone/>
            </a:pPr>
            <a:r>
              <a:rPr lang="ar-SA" altLang="en-US" sz="1500" b="1" dirty="0">
                <a:solidFill>
                  <a:srgbClr val="1B3B6F"/>
                </a:solidFill>
                <a:latin typeface="Amiri" pitchFamily="2" charset="-78"/>
                <a:ea typeface="Amiri" pitchFamily="2" charset="-78"/>
                <a:cs typeface="Amiri" pitchFamily="2" charset="-78"/>
              </a:rPr>
              <a:t>تُبْهِرُ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a mock travel-agency conversation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expected of the holiday?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ordinary place, but Petra exceeded expectations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disappointment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view on sustainable tourism?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 are useless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Sites cannot be saved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tourists respect the rules, the sites will remain for future generations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an unlimited budget?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Budget makes no difference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refuses to travel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would visit every heritage site in the Arab world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cultural advice does the student give?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some Arabic phrases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speaking Arabic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photos everywhere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answers using both conditional types spontaneously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list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idhā … sa- · law … 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صِفْ إِجَازَةً مَاضِيَةً؛ مَا الَّذِي كُنْتَ قَدْ تَوَقَّعْتَهُ؟ الطَّالِبُ: كُنْتُ قَدْ تَوَقَّعْتُ مَكَانًا عَادِيًّا، لٰكِنَّ البَتْرَاءَ فَاقَتْ تَوَقُّعَاتِي.</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Describe a past holiday — what had you expected? Student: I had expected an ordinary place, but Petra exceeded my expectations.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مَا رَأْيُكَ فِي السِّيَاحَةِ المُسْتَدَامَةِ؟ الطَّالِبُ: إِذَا احْتَرَمَ السُّيَّاحُ القَوَاعِدَ، سَتَبْقَى المَوَاقِعُ لِلْأَجْيَالِ القَادِمَةِ.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What is your view on sustainable tourism? Student: If tourists respect the rules, the sites will remain for future generations.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لَوْ كَانَ لَدَيْكَ مِيزَانِيَّةٌ غَيْرُ مَحْدُودَةٍ، أَيْنَ سَتَذْهَبُ؟ الطَّالِبُ: لَوْ كَانَ لَدَيَّ مِيزَانِيَّةٌ غَيْرُ مَحْدُودَةٍ، لَزُرْتُ كُلَّ المَوَاقِعِ التُّرَاثِيَّةِ فِي العَالَمِ العَرَبِيِّ.</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If you had an unlimited budget, where would you go? Student: If I had an unlimited budget, I would visit every heritage site in the Arab world.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المُعَلِّمُ: وَنَصِيحَةٌ ثَقَافِيَّةٌ؟ الطَّالِبُ: يُسْتَحْسَنُ أَنْ يَتَعَلَّمَ الزَّائِرُ بَعْضَ العِبَارَاتِ العَرَبِيَّةِ.</a:t>
            </a:r>
            <a:endParaRPr lang="ar-SA" sz="17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And a cultural tip? Student: It is preferable for a visitor to learn some Arabic phrases.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 أَجْوِبَةٌ مُتَوَازِنَةٌ اسْتَعْمَلْتَ فِيهَا النَّوْعَيْنِ مِنَ الشَّرْطِ تِلْقَائِيًّا.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Balanced answers in which you used both types of conditional spontaneously.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expected of the holiday?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ordinary place, but Petra exceeded expectations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disappointment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كُنْتُ قَدْ تَوَقَّعْتُ مَكَانًا عَادِيًّا، لٰكِنَّ البَتْرَاءَ فَاقَتْ تَوَقُّعَاتِي.</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view on sustainable tourism?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Rules are useless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Sites cannot be saved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tourists respect the rules, the sites will remain for future generations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إِذَا احْتَرَمَ السُّيَّاحُ القَوَاعِدَ، سَتَبْقَى المَوَاقِعُ لِلْأَجْيَالِ القَادِمَةِ.</a:t>
            </a:r>
            <a:endParaRPr lang="ar-SA" sz="11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an unlimited budget?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Budget makes no difference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refuses to travel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student would visit every heritage site in the Arab world</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لَوْ كَانَ لَدَيَّ مِيزَانِيَّةٌ غَيْرُ مَحْدُودَةٍ، لَزُرْتُ كُلَّ المَوَاقِعِ التُّرَاثِيَّةِ.</a:t>
            </a:r>
            <a:endParaRPr lang="ar-SA" sz="11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cultural advice does the student give?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Learn some Arabic phrases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speaking Arabic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 photos everywhere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يُسْتَحْسَنُ أَنْ يَتَعَلَّمَ الزَّائِرُ بَعْضَ العِبَارَاتِ العَرَبِيَّةِ.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Balanced answers using both conditional types spontaneously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list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اسْتَعْمَلْتَ فِيهَا النَّوْعَيْنِ مِنَ الشَّرْطِ تِلْقَائِيًّا.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idhā … sa- · law … 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the five assessment questions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إِجَازَةً مَاضِيَةً — مَا الَّذِي كُنْتَ قَدْ تَوَقَّعْتَهُ، وَمَا الَّذِي وَجَدْتَهُ؟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فِي السِّيَاحَةِ المُسْتَدَامَةِ؟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 لَدَيْكَ مِيزَانِيَّةٌ غَيْرُ مَحْدُودَةٍ لِلسَّفَرِ، أَيْنَ سَتَذْهَبُ؟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كُنْتُ قَدْ تَوَقَّعْتُ ___ ، لٰكِنَّهُ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أَرَى أَنَّهَا ضَرُورَةٌ؛ فَإِذَا ___ ، سَتَبْقَى ___ .</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لَوْ كَانَ لَدَيَّ مِيزَانِيَّةٌ غَيْرُ مَحْدُودَةٍ، لَزُرْتُ ___ ، لِأَنَّ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الَّذِي كُنْتَ قَدْ تَوَقَّعْتَهُ؟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you expected?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تَوَقَّعْتُ مَكَانًا عَادِيًّا، لٰكِنَّهُ فَاقَ تَوَقُّعَاتِي.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expected an ordinary place, but it exceeded my expectations.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+ 3</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Correct six P3 errors and write three sentences from memory.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correct six P3 errors and write three sentences from memory.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structures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perfect, a Type 1 and a Type 2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 perfect, a Type 1 and a Type 2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fluent answers to the past-perfect, Type 1 and Type 2 questions spontaneously.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answer two assessment questions with the past perfect, both conditional types and yustaḥsan an — every marker accurate.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لَوْ كَانَ لَدَيَّ مِيزَانِيَّةٌ غَيْرُ مَحْدُودَةٍ، لَزُرْتُ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an unlimited budget, I would visit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وَلَتَعَلَّمْتُ عَنْ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would learn about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الدَّلِيلُ إِنَّ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guide said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فَهٰذِهِ بَادِرَةٌ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gesture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كُنْتُ قَدْ تَوَقَّعْتُ ______ ، لٰكِنَّهُ فَاقَ تَوَقُّعَاتِي.</a:t>
            </a:r>
            <a:endParaRPr lang="ar-SA" sz="17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expected …, but it exceeded my expectations.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أَرَى أَنَّ السِّيَاحَةَ المُسْتَدَامَةَ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think sustainable tourism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إِذَا احْتَرَمَ السُّيَّاحُ القَوَاعِدَ، سَتَبْقَى ______ .</a:t>
            </a:r>
            <a:endParaRPr lang="ar-SA" sz="16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tourists respect the rules,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يُسْتَحْسَنُ أَنْ يَتَعَلَّمَ الزَّائِرُ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preferable for the visitor to learn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مَكَانًا عَادِيًّا  ·  مُجَرَّدُ آثَارٍ  ·  فَاقَتْ كُلَّ تَوَقُّعَاتِي  ·  ضَرُورَةٌ  ·  المَوَاقِعُ لِلْأَجْيَالِ القَادِمَةِ  ·  كُلَّ المَوَاقِعِ التُّرَاثِيَّةِ  ·  كُلِّ حَضَارَةٍ  ·  بَعْضَ العِبَارَاتِ العَرَبِيَّةِ  ·  التَّقَالِيدَ المَحَلِّيَّةَ  ·  تَفْتَحُ القُلُوبَ  ·  غَيَّرَتْ نَظْرَتِي  ·  أَفْضَلُ مَوْسِمٍ</a:t>
            </a:r>
            <a:endParaRPr lang="ar-SA"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preparing for the P3 topic conversation. Answer two of the assessment questions, using the past perfect, both conditional types and </a:t>
            </a:r>
            <a:pPr algn="l" indent="0" marL="0">
              <a:buNone/>
            </a:pPr>
            <a:r>
              <a:rPr lang="ar-SA" altLang="en-US" sz="1750" b="1" dirty="0">
                <a:solidFill>
                  <a:srgbClr val="1F2A37"/>
                </a:solidFill>
                <a:latin typeface="Amiri" pitchFamily="2" charset="-78"/>
                <a:ea typeface="Amiri" pitchFamily="2" charset="-78"/>
                <a:cs typeface="Amiri" pitchFamily="2" charset="-78"/>
              </a:rPr>
              <a:t>يُسْتَحْسَنُ أَنْ</a:t>
            </a:r>
            <a:pPr algn="l" indent="0" marL="0">
              <a:buNone/>
            </a:pPr>
            <a:r>
              <a:rPr lang="en-US" sz="1350" b="1" dirty="0">
                <a:solidFill>
                  <a:srgbClr val="1F2A37"/>
                </a:solidFill>
                <a:latin typeface="Calibri" pitchFamily="34" charset="0"/>
                <a:cs typeface="Amiri" pitchFamily="2" charset="-78"/>
              </a:rPr>
              <a:t>, with every marker accurate.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perfect (</a:t>
            </a:r>
            <a:pPr algn="l" indent="0" marL="0">
              <a:buNone/>
            </a:pPr>
            <a:r>
              <a:rPr lang="ar-SA" altLang="en-US" sz="1550" dirty="0">
                <a:solidFill>
                  <a:srgbClr val="1F2A37"/>
                </a:solidFill>
                <a:latin typeface="Amiri" pitchFamily="2" charset="-78"/>
                <a:ea typeface="Amiri" pitchFamily="2" charset="-78"/>
                <a:cs typeface="Amiri" pitchFamily="2" charset="-78"/>
              </a:rPr>
              <a:t>كُنْتُ قَدْ</a:t>
            </a:r>
            <a:pPr algn="l" indent="0" marL="0">
              <a:buNone/>
            </a:pPr>
            <a:r>
              <a:rPr lang="en-US" sz="1200" dirty="0">
                <a:solidFill>
                  <a:srgbClr val="1F2A37"/>
                </a:solidFill>
                <a:latin typeface="Calibri" pitchFamily="34" charset="0"/>
                <a:cs typeface="Amiri" pitchFamily="2" charset="-78"/>
              </a:rPr>
              <a:t> …) with correct agreement.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1 and one Type 2 conditional (with the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result).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يُسْتَحْسَنُ أَنْ</a:t>
            </a:r>
            <a:pPr algn="l" indent="0" marL="0">
              <a:buNone/>
            </a:pPr>
            <a:r>
              <a:rPr lang="en-US" sz="1200" dirty="0">
                <a:solidFill>
                  <a:srgbClr val="1F2A37"/>
                </a:solidFill>
                <a:latin typeface="Calibri" pitchFamily="34" charset="0"/>
                <a:cs typeface="Amiri" pitchFamily="2" charset="-78"/>
              </a:rPr>
              <a:t> + subjunctive.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spontaneous-sounding answer.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 البَتْرَاءَ مُجَرَّدُ آثَارٍ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Petra was just ruins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وَغَيَّرَتْ نَظْرَتِي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changed my view</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وَلَتَعَلَّمْتُ عَنْ كُلِّ حَضَارَةٍ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would learn about every civilisation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 يَحْتَرِمَ التَّقَالِيدَ المَحَلِّيَّةَ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to respect local traditions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فَهٰذِهِ بَادِرَةٌ تَفْتَحُ القُلُوبَ</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this is a gesture that opens hearts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كُنْتُ قَدْ تَوَقَّعْتُ أَنَّ البَتْرَاءَ مُجَرَّدُ آثَارٍ، لٰكِنَّهَا فَاقَتْ كُلَّ تَوَقُّعَاتِي وَغَيَّرَتْ نَظْرَتِي. أَرَى أَنَّ السِّيَاحَةَ المُسْتَدَامَةَ ضَرُورَةٌ؛ فَإِذَا احْتَرَمَ السُّيَّاحُ القَوَاعِدَ، سَتَبْقَى المَوَاقِعُ لِلْأَجْيَالِ القَادِمَةِ. وَلَوْ كَانَ لَدَيَّ مِيزَانِيَّةٌ غَيْرُ مَحْدُودَةٍ، لَزُرْتُ كُلَّ المَوَاقِعِ التُّرَاثِيَّةِ فِي العَالَمِ العَرَبِيِّ، وَلَتَعَلَّمْتُ عَنْ كُلِّ حَضَارَةٍ. وَأَنْصَحُ كُلَّ زَائِرٍ: يُسْتَحْسَنُ أَنْ يَتَعَلَّمَ بَعْضَ العِبَارَاتِ العَرَبِيَّةِ وَأَنْ يَحْتَرِمَ التَّقَالِيدَ المَحَلِّيَّةَ، فَهٰذِهِ بَادِرَةٌ تَفْتَحُ القُلُوبَ.</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expected Petra to be just ruins, but it exceeded all my expectations and changed my view. I think sustainable tourism is a necessity: if tourists respect the rules, the sites will remain for future generations. And if I had an unlimited budget, I would visit every heritage site in the Arab world, and I would learn about every civilisation. I advise every visitor: it is preferable to learn some Arabic phrases and to respect local traditions, for this is a gesture that opens hearts.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perfect (kuntu qad tawaqqaʿtu)</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(idhā … sa-)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2 with two la- results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yustaḥsan an + two verbs in -a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has la-; the verb after law is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after an end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kāna agrees; city subjects take ta- (tubhiru · tastaqṭibu).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1 result has sa-; qāla takes inna.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law question with law, and named my priority error.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لَوْ حَجَزْتُ مُبَكِّرًا، لَحَصَلْتُ عَلَى سِعْرٍ أَرْخَصَ.</a:t>
            </a:r>
            <a:endParaRPr lang="ar-SA" sz="17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لَوْ حَجَزْتُ مُبَكِّرًا، حَصَلْتُ عَلَى سِعْرٍ أَرْخَصَ.</a:t>
            </a:r>
            <a:endParaRPr lang="ar-SA" sz="17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لَوْ حَجَزْتُ مُبَكِّرًا، سَأَحْصُلُ.</a:t>
            </a:r>
            <a:endParaRPr lang="ar-SA" sz="17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يَتَعَلَّمُ الزَّائِرُ.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يَتَعَلَّمَ الزَّائِرُ.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تَعَلَّمَ الزَّائِرُ.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question best?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لَوْ كَانَ لَدَيَّ مِيزَانِيَّةٌ غَيْرُ مَحْدُودَةٍ، لَذَهَبْتُ إِلَى اليَابَانِ.</a:t>
            </a:r>
            <a:endParaRPr lang="ar-SA" sz="12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إِذَا كَانَ لَدَيَّ مِيزَانِيَّةٌ، سَأَذْهَبُ.</a:t>
            </a:r>
            <a:endParaRPr lang="ar-SA" sz="12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أَذْهَبُ إِلَى اليَابَانِ.</a:t>
            </a:r>
            <a:endParaRPr lang="ar-SA" sz="12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حَجَزْتُ مُبَكِّرًا، لَحَصَلْتُ عَلَى سِعْرٍ أَرْخَصَ.</a:t>
            </a:r>
            <a:endParaRPr lang="ar-SA" sz="17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حَجَزْتُ مُبَكِّرًا، حَصَلْتُ عَلَى سِعْرٍ أَرْخَصَ.</a:t>
            </a:r>
            <a:endParaRPr lang="ar-SA" sz="17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حَجَزْتُ مُبَكِّرًا، سَأَحْصُلُ.</a:t>
            </a:r>
            <a:endParaRPr lang="ar-SA" sz="17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يُسْتَحْسَنُ أَنْ يَتَعَلَّمُ الزَّائِرُ.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يُسْتَحْسَنُ أَنْ يَتَعَلَّمَ الزَّائِرُ.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يُسْتَحْسَنُ أَنْ تَعَلَّمَ الزَّائِرُ.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is subjunctive: </a:t>
            </a:r>
            <a:pPr algn="l" indent="0" marL="0">
              <a:buNone/>
            </a:pPr>
            <a:r>
              <a:rPr lang="ar-SA" altLang="en-US" sz="1350" dirty="0">
                <a:solidFill>
                  <a:srgbClr val="8A6D1E"/>
                </a:solidFill>
                <a:latin typeface="Amiri" pitchFamily="2" charset="-78"/>
                <a:ea typeface="Amiri" pitchFamily="2" charset="-78"/>
                <a:cs typeface="Amiri" pitchFamily="2" charset="-78"/>
              </a:rPr>
              <a:t>يَتَعَلَّمَ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question best?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كَانَ لَدَيَّ مِيزَانِيَّةٌ غَيْرُ مَحْدُودَةٍ، لَذَهَبْتُ إِلَى اليَابَانِ.</a:t>
            </a:r>
            <a:endParaRPr lang="ar-SA" sz="12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إِذَا كَانَ لَدَيَّ مِيزَانِيَّةٌ، سَأَذْهَبُ.</a:t>
            </a:r>
            <a:endParaRPr lang="ar-SA" sz="12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أَذْهَبُ إِلَى اليَابَانِ.</a:t>
            </a:r>
            <a:endParaRPr lang="ar-SA" sz="12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question is answered with a Type 2 conditional.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twelve sentences to repair</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تَحْتَوِي هٰذِهِ القَائِمَةُ عَلَى أَخْطَاءٍ شَائِعَةٍ فِي السَّنَةِ التَّاسِعَةِ. الأَوَّلُ فِي جَوَابِ لَوْ: «لَوْ حَجَزْتُ مُبَكِّرًا، حَصَلْتُ عَلَى تَعْوِيضٍ» — وَالصَّوَابُ «لَحَصَلْتُ». الثَّانِي فِي زَمَنِ فِعْلِ لَوْ: «لَوْ أَحْجِزُ مُبَكِّرًا» — وَالصَّوَابُ «لَوْ حَجَزْتُ». الثَّالِثُ فِي النَّصْبِ بَعْدَ أَنْ: «يُسْتَحْسَنُ أَنْ يَتَعَلَّمُ» — وَالصَّوَابُ «أَنْ يَتَعَلَّمَ». الرَّابِعُ فِي المُطَابَقَةِ: «يُبْهِرُ المَدِينَةُ زُوَّارَهَا» — وَالصَّوَابُ «تُبْهِرُ». الخَامِسُ فِي صِيغَةِ الفِعْلِ: «يَقْطِبُ المَعْلَمُ السُّيَّاحَ» — وَالصَّوَابُ «يَسْتَقْطِبُ». وَالدَّرْسُ المُشْتَرَكُ أَنَّ لِكُلِّ بِنْيَةٍ عَلَامَةً دَقِيقَةً يَجِبُ ضَبْطُهَا.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تَحْتَوِي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contains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القَائِمَةُ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أَخْطَاءٍ شَائِعَةٍ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common errors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وَالصَّوَابُ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the correct form is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جَوَابِ لَوْ</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result of law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زَمَنِ فِعْلِ لَوْ</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tense after law</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النَّصْبِ</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subjunctive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المُطَابَقَةِ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agreement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صِيغَةِ الفِعْلِ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verb form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ضَبْطُهَا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controlling it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 … عَلَى تَعْوِيضٍ</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حَصَلْتُ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لَحَصَلْتُ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سَأَحْصُلُ</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أَحْجِزُ</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سَأَحْجِزُ</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حَجَزْتُ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يَتَعَلَّمَ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يَتَعَلَّمُ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تَعَلَّمَ</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agreement corrected?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يُبْهِرُ المَدِينَةُ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المَدِينَةُ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بِالمَدِينَةِ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form corrected?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يَسْتَقْطِبُ</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 … عَلَى تَعْوِيضٍ</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حَصَلْتُ</a:t>
            </a:r>
            <a:endParaRPr lang="ar-SA" sz="170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لَحَصَلْتُ</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سَأَحْصُلُ</a:t>
            </a:r>
            <a:endParaRPr lang="ar-SA" sz="170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أَحْجِزُ</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سَأَحْجِزُ</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حَجَزْتُ</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 يَتَعَلَّمَ</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يَتَعَلَّمُ</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تَعَلَّمَ</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يَتَعَلَّمَ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agreement corrected?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يُبْهِرُ المَدِينَةُ</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تُبْهِرُ المَدِينَةُ</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تُبْهِرُ بِالمَدِينَةِ</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المَدِينَة</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تُبْهِرُ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form corrected?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يَسْتَقْطِبُ</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 X verb is </a:t>
            </a:r>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Mastery Mission — The P3 Error Zones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سَأُوَفِّرُ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المَغْرِبَ، لَرَأَيْتُ فَاسَ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المَدِينَةُ زُوَّارَهَا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يُبْهِرُ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بِـ</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which is Form X (“attracts”)?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يَسْتَقْطِبُ</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يُقْطِبُ</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حَجَزْتُ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سَأُوَفِّرُ</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المَغْرِبَ، لَرَأَيْتُ فَاسَ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المَدِينَةُ زُوَّارَهَا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يُبْهِرُ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تُبْهِرُ بِـ</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تُبْهِرُ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المَدِينَة</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تُبْهِرُ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which is Form X (“attracts”)?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يَسْتَقْطِبُ</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يُقْطِبُ</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is the Form X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P3-L12 · P3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وَكِيلُ سَفَرٍ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travel agent</a:t>
            </a:r>
            <a:pPr indent="0" marL="0">
              <a:buNone/>
            </a:pPr>
            <a:r>
              <a:rPr lang="ar-SA" sz="1000" i="1" dirty="0">
                <a:solidFill>
                  <a:srgbClr val="5A6472"/>
                </a:solidFill>
                <a:latin typeface="Calibri" pitchFamily="34" charset="0"/>
                <a:ea typeface="Amiri" pitchFamily="2" charset="-78"/>
                <a:cs typeface="Amiri" pitchFamily="2" charset="-78"/>
              </a:rPr>
              <a:t>  pl. وُكَلَاءُ سَفَرٍ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المُرَاجَعَةُ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checking, revision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answers to the three topic-conversation questions — each with its required structure and a reason.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كُنْتُ قَدْ تَوَقَّعْتُ … · إِذَا … سَـ … · لَوْ كَانَ لَدَيَّ … لَـ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six P3 errors and write three spine sentences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past perfect, a Type 1 and a Type 2 conditional; check each against the spine table.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answer to two assessment questions; record it aloud.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P3-L12 · P3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law + PAST → LA- · an + verb in -A · a city is “she” (tubhiru · tastaqṭibu) · qāla INNA — and answer a law question with law, before you are asked.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P3-L11 · Consolidation — Speaking Preparation and Grammar Mastery</dc:title>
  <dc:subject>PptxGenJS Presentation</dc:subject>
  <dc:creator>Al Madina Online School · Arabic Department</dc:creator>
  <cp:lastModifiedBy>Al Madina Online School · Arabic Department</cp:lastModifiedBy>
  <cp:revision>1</cp:revision>
  <dcterms:created xsi:type="dcterms:W3CDTF">2026-10-11T06:43:14Z</dcterms:created>
  <dcterms:modified xsi:type="dcterms:W3CDTF">2026-10-11T06:43:14Z</dcterms:modified>
</cp:coreProperties>
</file>