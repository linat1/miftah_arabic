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P3 Travel, Holidays and Transport › P3-L11. The website lesson “Consolidation — Speaking Preparation and Grammar Mastery”: vocabulary, grammar rules and quiz, patterns, common mistakes, sorter, listening, reading, speaking prompts and model, writing task and model, differentiation, final check and the lesson mission. Picture match: website visual game “Consolidation — Speaking Preparation and Grammar Mastery”.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CONSOLIDATION + SPEAKING REHEARSAL for the P3-L12 assessment (topic conversation on travel and tourism + a travel-agency role play). The website names the three highest-frequency slips: a Type 2 result without la- · a present verb after law · -u instead of -a after an.
• Core: correct six P3 errors and write three sentences from memory (website Core). Develop: add a past perfect, a Type 1 and a Type 2. Stretch: answer the three required-structure questions fluently and spontaneously.
• Praise the journey: students now control two conditional types, the past perfect, reported speech and the subjunctive — real B1 grammar. Keep the rehearsal light and encouraging.
• Course rule: after law use the past (لَوْ زُرْتُ). Classical Arabic sometimes has law + present (e.g. in the Qurʾān), so if a student quotes one, praise the observation — for the exam, keep law + past.
• TEACHER-WRITTEN ITEMS: waṣl alif shown without a kasra; rule headings and formulas in English and transliteration (rule examples without their English glosses); the required-structure questions follow the P3-L12 assessment (topic Q1–Q3 + role-play task 2); the repair table adds three earlier P3 mistakes; the website visual game repeats the P3-L04 cards and is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P3-L10. Questions 4–5 retrieve the result marker and ashāra ilā anna (P3-L10) — today students produce every marker accurately in speech.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Each P3 structure has ONE small marker — get the marker right and the structure is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مطابقت and صیغہ (the Urdu grammar word for a verb form) are shared. Watch the shifts: Urdu زمانہ = the times, Arabic زَمَنُ الفِعْلِ = the tense; Urdu تشکیل = formation, Arabic التَّشْكِيلُ = adding the vowels — today’s “precise vowelling”.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P3 error zones (website vocabulary (1 of 2)). Hear → Say → See → Use. Transliteration is printed for Core students (cover it for Develop/Stretch).
The P3 error zones — the labels for today’s repair work. Each card’s note gives the rule in one line: la- in the Type 2 result · a past verb after law · -a after an · tubhiru for a feminine subject · Form X yastaqṭib · qāla → inna.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P3 error zones (website vocabulary (2 of 2)). Hear → Say → See → Use. Transliteration is printed for Core students (cover it for Develop/Stretch).
The P3 error zones — the labels for today’s repair work. Each card’s note gives the rule in one line: la- in the Type 2 result · a past verb after law · -a after an · tubhiru for a feminine subject · Form X yastaqṭib · qāla → inna.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P3 grammar spine (website vocabulary (1 of 2)). Hear → Say → See → Use. Transliteration is printed for Core students (cover it for Develop/Stretch).
The P3 grammar spine: both conditional types, the past perfect, reported speech, the booking verbs, yustaḥsan an and the tourism verbs — everything the assessment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P3 grammar spine (website vocabulary (2 of 2)). Hear → Say → See → Use. Transliteration is printed for Core students (cover it for Develop/Stretch).
The P3 grammar spine: both conditional types, the past perfect, reported speech, the booking verbs, yustaḥsan an and the tourism verbs — everything the assessment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fluency (website vocabulary (1 of 2)). Hear → Say → See → Use. Transliteration is printed for Core students (cover it for Develop/Stretch).
FLEX: teach if time allows; otherwise these are on the website vocabulary tab for homework.
Speaking fluency (FLEX): words to talk ABOUT speaking. تَجَنُّبُ الشَّرْطِ = conditional avoidance — answering a law question with idhā, or with no conditional at all, loses the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fluency (website vocabulary (2 of 2)). Hear → Say → See → Use. Transliteration is printed for Core students (cover it for Develop/Stretch).
FLEX: teach if time allows; otherwise these are on the website vocabulary tab for homework.
Speaking fluency (FLEX): words to talk ABOUT speaking. تَجَنُّبُ الشَّرْطِ = conditional avoidance — answering a law question with idhā, or with no conditional at all, loses the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the website table, common error and the reading “twelve sentences to repair” (rows 1–5), plus website quiz 6 (row 6).
Website teaching point “The three highest-frequency P3 slips”: a Type 2 result without la- (row 1) · a present verb after law (row 2) · -u after an (row 3).
Core: rows 1–4. Drill: cover the Right column; students fix each one and NAME the zone. Then reverse — the teacher says a zone, students give a correct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website vocabulary group “The P3 grammar spine” (both conditionals · past perfect · reported speech · yaḥjiz / yuqīm · yustaḥsan an · yastaqṭib / yubhir · the four-layer narrative) with examples from the website listening and writing model.
Website challenge: “Write one accurate sentence for each of the four P3 error zones” — then cover the Example column here and write one for each structure.
Link the spine to the assessment parts: listening (sa- / la-) · reading (idhā recommends, law criticises) · writing (both types for Range) · speaking (required structures).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the three P3-L12 topic-conversation questions (past perfect required · Type 1 expected · Type 2 required) and role-play task 2 (ask about booking and accommodation with يَحْجِزُ / يُقِيمُ).
Turn the question round: the examiner says كُنْتَ قَدْ تَوَقَّعْتَهُ (you) → the student answers كُنْتُ قَدْ تَوَقَّعْتُ (I) · لَدَيْكَ → لَدَيَّ.
Row 4: after أُرِيدُ أَنْ / يُمْكِنُ أَنْ the booking verbs end in -a: أَحْجِزَ · أُقِيمَ (P3-L06/L07).
The examiner’s «أَيْنَ سَتَذْهَبُ؟» is everyday phrasing; the answer still needs the full Type 2: لَوْ كَانَ لَدَيَّ … لَزُرْتُ / لَذَهَبْتُ.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teaching point “Answer the لَوْ question with a Type 2”, website quiz 8 and the writing model (لَزُرْتُ كُلَّ المَوَاقِعِ التُّرَاثِيَّةِ فِي العَالَمِ العَرَبِيِّ، وَلَتَعَلَّمْتُ عَنْ كُلِّ حَضَارَةٍ). Card 2 is a teacher-added reason.
The routine: required structure → a reason → one extra P3 structure. The mock conversation ends with the teacher’s praise «اسْتَعْمَلْتَ فِيهَا النَّوْعَيْنِ مِنَ الشَّرْطِ تِلْقَائِيًّا».
Time-buying phrases if a student freezes: سُؤَالٌ جَمِيلٌ · دَعْنِي أُفَكِّرُ · بِصَرَاحَةٍ … Repair phrase: عَفْوًا، أَقْصِدُ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“Targeted error correction across the spine: the Type 2 لَـ result, the past verb after لَوْ, the subjunctive after أَنْ, and tourism-verb agreement.”
• Type 2 result: The result verb carries a لَـ prefix.
• Past verb after law: لَوْ is followed by a past-tense verb.
• Subjunctive after an: The verb after أَنْ takes a fatḥa.
• Tourism-verb agreement: يُبْهِرُ agrees with its subject; يَسْتَقْطِبُ keeps the Form X shape.
Website common error: Dropping the لَـ in a Type 2 result, a present verb after لَوْ, an indicative after أَنْ, or masculine agreement with a feminine subject.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spoken aloud as an exam answer. Think aloud: “Q1 wants the past perfect — kuntu qad, both -tu. Q2 expects idhā — and the result with SA-. Q3 is a law question, so I answer with law — and the result MUST start with LA-. Extra: yustaḥsanu an yataʿallamA.” Do it twice — the second time faster, as fluent speech.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rows 1–3 are the website mistakes; rows 4–6 recycle mistakes from P3-L05, P3-L06 and P3-L08. Cover columns 2–3; pairs fix each slip and NAME the zone.
Core: rows 1–3. Develop: all six. Stretch: write two new slips of their own for a partner to repair.
Then each student writes their ONE priority error zone in the chat — collect for L12.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(flex) — the website live builder (Build an assessment answer from a past-perfect background, a Type 1 view and a Type 2 hypothesis.). Website feedback: Each background, Type 1 view and Type 2 hypothesis is accurate on its own, so any three different combinations work.
Use it as oral rehearsal: one student reads a combination as an exam answer; the partner names each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full sentence for each card as fast as possible: إِذَا … سَـ … · لَوْ … لَـ … · كُنْتُ قَدْ … · قَالَ الدَّلِيلُ إِنَّ … · يُسْتَحْسَنُ أَنْ يَـ…َ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full sentence for each card as fast as possible: إِذَا … سَـ … · لَوْ … لَـ … · كُنْتُ قَدْ … · قَالَ الدَّلِيلُ إِنَّ … · يُسْتَحْسَنُ أَنْ يَـ…َ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5,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down the student’s Type 2 sentence word for word.
Listen 1: just listen. Listen 2: note answers. Then chat the letters.
Support: after the second listening, show the read-along slide (Arabic + English, line by line) for Core students.
SCRIPT (read aloud):
المُعَلِّمُ: صِفْ إِجَازَةً مَاضِيَةً؛ مَا الَّذِي كُنْتَ قَدْ تَوَقَّعْتَهُ؟ الطَّالِبُ: كُنْتُ قَدْ تَوَقَّعْتُ مَكَانًا عَادِيًّا، لٰكِنَّ البَتْرَاءَ فَاقَتْ تَوَقُّعَاتِي. المُعَلِّمُ: مَا رَأْيُكَ فِي السِّيَاحَةِ المُسْتَدَامَةِ؟ الطَّالِبُ: إِذَا احْتَرَمَ السُّيَّاحُ القَوَاعِدَ، سَتَبْقَى المَوَاقِعُ لِلْأَجْيَالِ القَادِمَةِ. المُعَلِّمُ: لَوْ كَانَ لَدَيْكَ مِيزَانِيَّةٌ غَيْرُ مَحْدُودَةٍ، أَيْنَ سَتَذْهَبُ؟ الطَّالِبُ: لَوْ كَانَ لَدَيَّ مِيزَانِيَّةٌ غَيْرُ مَحْدُودَةٍ، لَزُرْتُ كُلَّ المَوَاقِعِ التُّرَاثِيَّةِ فِي العَالَمِ العَرَبِيِّ. المُعَلِّمُ: وَنَصِيحَةٌ ثَقَافِيَّةٌ؟ الطَّالِبُ: يُسْتَحْسَنُ أَنْ يَتَعَلَّمَ الزَّائِرُ بَعْضَ العِبَارَاتِ العَرَبِيَّةِ. المُعَلِّمُ: أَجْوِبَةٌ مُتَوَازِنَةٌ اسْتَعْمَلْتَ فِيهَا النَّوْعَيْنِ مِنَ الشَّرْطِ تِلْقَائِيًّا.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وَلَوْ كَانَ لَدَيْكَ مِيزَانِيَّةٌ غَيْرُ مَحْدُودَةٍ؟ (Q — Type 2)
B: لَوْ كَانَ لَدَيَّ مِيزَانِيَّةٌ غَيْرُ مَحْدُودَةٍ، لَزُرْتُ كُلَّ المَوَاقِعِ التُّرَاثِيَّةِ فِي العَالَمِ العَرَبِيِّ. (Type 2 conditional)
Website prompts and model — the three P3-L12 topic questions. Pairs: examiner / candidate, 30–40 seconds per answer, then swap. The examiner ticks Structure · Reason · Extra. Then a 2-minute travel-agency role play (P3-L12 tasks): ask about a destination, booking and accommodation, a past problem, and a recommendation. To a girl: كُنْتِ قَدْ تَوَقَّعْتِهِ · وَجَدْتِهِ · رَأْيُكِ · لَدَيْكِ · سَتَذْهَبِينَ.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Correct six P3 errors and write three sentences from memory. · Develop — Add a past perfect, a Type 1 and a Type 2 conditional. · Stretch — Deliver fluent answers to the past-perfect, Type 1 and Type 2 questions spontaneously.
Website writing task (Stretch): Write eighty to ninety words preparing for the P3 topic conversation. Answer two of the assessment questions, using the past perfect, both conditional types and يُسْتَحْسَنُ أَنْ, with every marker accurate.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كُنْتُ قَدْ تَوَقَّعْتُ · فَإِذَا احْتَرَمَ … سَتَبْقَى · وَلَوْ كَانَ لَدَيَّ … لَزُرْتُ … وَلَتَعَلَّمْتُ · يُسْتَحْسَنُ أَنْ يَتَعَلَّمَ … وَأَنْ يَحْتَرِمَ.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(P3-L12 · P3 Review and Unit Assessment) will spend class time USING this language, so students prepare it tonight — short, simple, easy to access (school guidance: “Simple, Short, Interesting, Relevant, Easy to access”). The five words prepare students for the P3-L12 assessment (its parts, the role play and checking).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P3  ·  P3-L11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P3-L11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Consolidation — Speaking Preparation and Grammar Mastery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100" b="1" dirty="0">
                <a:solidFill>
                  <a:srgbClr val="D4AF37"/>
                </a:solidFill>
                <a:latin typeface="Amiri" pitchFamily="34" charset="0"/>
                <a:ea typeface="Amiri" pitchFamily="34" charset="-122"/>
                <a:cs typeface="Amiri" pitchFamily="34" charset="-120"/>
              </a:rPr>
              <a:t>تَرْسِيخُ الوَحْدَةِ — إِعْدَادُ التَّحَدُّثِ وَالتَّكَامُلُ الكَامِلُ لِلْقَوَاعِدِ</a:t>
            </a:r>
            <a:endParaRPr lang="ar-SA" sz="31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Repair the P3 error zones (la- in the Type 2 result · a past verb after law · an + a verb in -a · tubhiru for a feminine subject · yastaqṭib in Form X), revise the whole P3 spine, and rehearse the topic conversation and the travel-agency role play.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P3-L11 · Progression P3 · Travel, Holidays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P3 › P3-L11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Fix the error zones, revise the spine, answer each question with its required structure.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Repair the slips, build an assessment answer, sort the structures, hear a mock conversation.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P3-L12.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لَامُ الجَوَابِ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letter lām in a name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la- of the result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answer key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الطَّلَاقَةُ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fluency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confidence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accuracy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لَعِبُ الأَدْوَارِ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board game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timetable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role play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 la- result. The conditional is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real (Type 1)</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command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hypothetical (Type 2)</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أَشَارَ الدَّلِيلُ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أَنَّ الرَّبِيعَ أَفْضَلُ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لَامُ الجَوَابِ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letter lām in a name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la- of the result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answer key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(P3-L10).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الطَّلَاقَةُ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fluency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confidence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accuracy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(P3-L10).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لَعِبُ الأَدْوَارِ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board game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timetable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role play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(P3-L10).</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 la- result. The conditional is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real (Type 1)</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command</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hypothetical (Type 2)</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P3-L10: la- = unreal.</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أَشَارَ الدَّلِيلُ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أَنَّ الرَّبِيعَ أَفْضَلُ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P3-L10: ashāra ilā anna.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Each P3 structure has ONE small marker — get the marker right and the structure is right.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C77700"/>
                </a:solidFill>
                <a:latin typeface="Amiri" pitchFamily="34" charset="0"/>
                <a:ea typeface="Amiri" pitchFamily="34" charset="-122"/>
                <a:cs typeface="Amiri" pitchFamily="34" charset="-120"/>
              </a:rPr>
              <a:t>لَوْ</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زُرْتُ … </a:t>
            </a:r>
            <a:pPr rtl="1" algn="ctr" indent="0" marL="0">
              <a:lnSpc>
                <a:spcPct val="120000"/>
              </a:lnSpc>
              <a:buNone/>
            </a:pPr>
            <a:r>
              <a:rPr lang="ar-SA" altLang="en-US" sz="1950" b="1" dirty="0">
                <a:solidFill>
                  <a:srgbClr val="C77700"/>
                </a:solidFill>
                <a:latin typeface="Amiri" pitchFamily="34" charset="0"/>
                <a:ea typeface="Amiri" pitchFamily="34" charset="-122"/>
                <a:cs typeface="Amiri" pitchFamily="34" charset="-120"/>
              </a:rPr>
              <a:t>لَـ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رَأَيْتُ · أَنْ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يَتَعَلَّمَ</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تُبْهِرُ</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المَدِينَةُ · </a:t>
            </a:r>
            <a:pPr rtl="1" algn="ctr" indent="0" marL="0">
              <a:lnSpc>
                <a:spcPct val="120000"/>
              </a:lnSpc>
              <a:buNone/>
            </a:pPr>
            <a:r>
              <a:rPr lang="ar-SA" altLang="en-US" sz="1950" b="1" dirty="0">
                <a:solidFill>
                  <a:srgbClr val="7B3FA0"/>
                </a:solidFill>
                <a:latin typeface="Amiri" pitchFamily="34" charset="0"/>
                <a:ea typeface="Amiri" pitchFamily="34" charset="-122"/>
                <a:cs typeface="Amiri" pitchFamily="34" charset="-120"/>
              </a:rPr>
              <a:t>قَالَ إِنَّ</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Correct the most common P3 errors.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Retrieve both conditionals, the past perfect, reported speech and yustaḥsan an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Answer a law question with a law answer.</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Prepare the topic conversation and role play to assessment standard.</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fix six P3 errors and name the zone.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write three spine sentences from memory.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write a past perfect, a Type 1 and a Type 2 accurately.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answer with a reason.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answer a law question with law, unprompted.</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name my own priority error.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P3 error zones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P3 grammar spine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Speaking fluency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مُطَابَقَةٌ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‎مطابقت‎ </a:t>
            </a:r>
            <a:pPr indent="0" marL="0">
              <a:buNone/>
            </a:pPr>
            <a:r>
              <a:rPr lang="en-US" sz="950" b="1" dirty="0">
                <a:solidFill>
                  <a:srgbClr val="2E8B57"/>
                </a:solidFill>
                <a:latin typeface="Calibri" pitchFamily="34" charset="0"/>
                <a:ea typeface="Calibri" pitchFamily="34" charset="-122"/>
                <a:cs typeface="Calibri" pitchFamily="34" charset="-120"/>
              </a:rPr>
              <a:t> mutābiqat · agreement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صِيغَةٌ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‎صیغہ‎ </a:t>
            </a:r>
            <a:pPr indent="0" marL="0">
              <a:buNone/>
            </a:pPr>
            <a:r>
              <a:rPr lang="en-US" sz="950" b="1" dirty="0">
                <a:solidFill>
                  <a:srgbClr val="2E8B57"/>
                </a:solidFill>
                <a:latin typeface="Calibri" pitchFamily="34" charset="0"/>
                <a:ea typeface="Calibri" pitchFamily="34" charset="-122"/>
                <a:cs typeface="Calibri" pitchFamily="34" charset="-120"/>
              </a:rPr>
              <a:t> sīgha · a (verb) form</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زَمَنٌ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‎زمانہ‎ </a:t>
            </a:r>
            <a:pPr indent="0" marL="0">
              <a:buNone/>
            </a:pPr>
            <a:r>
              <a:rPr lang="en-US" sz="950" b="1" dirty="0">
                <a:solidFill>
                  <a:srgbClr val="2E8B57"/>
                </a:solidFill>
                <a:latin typeface="Calibri" pitchFamily="34" charset="0"/>
                <a:ea typeface="Calibri" pitchFamily="34" charset="-122"/>
                <a:cs typeface="Calibri" pitchFamily="34" charset="-120"/>
              </a:rPr>
              <a:t> zamāna · Arabic: a tense · Urdu: an era, the times</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تَشْكِيلٌ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‎تشکیل‎ </a:t>
            </a:r>
            <a:pPr indent="0" marL="0">
              <a:buNone/>
            </a:pPr>
            <a:r>
              <a:rPr lang="en-US" sz="950" b="1" dirty="0">
                <a:solidFill>
                  <a:srgbClr val="2E8B57"/>
                </a:solidFill>
                <a:latin typeface="Calibri" pitchFamily="34" charset="0"/>
                <a:ea typeface="Calibri" pitchFamily="34" charset="-122"/>
                <a:cs typeface="Calibri" pitchFamily="34" charset="-120"/>
              </a:rPr>
              <a:t> tashkīl · Arabic: vowelling · Urdu: formation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ثِقَةٌ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‎ثقہ / اعتماد‎ </a:t>
            </a:r>
            <a:pPr indent="0" marL="0">
              <a:buNone/>
            </a:pPr>
            <a:r>
              <a:rPr lang="en-US" sz="950" b="1" dirty="0">
                <a:solidFill>
                  <a:srgbClr val="2E8B57"/>
                </a:solidFill>
                <a:latin typeface="Calibri" pitchFamily="34" charset="0"/>
                <a:ea typeface="Calibri" pitchFamily="34" charset="-122"/>
                <a:cs typeface="Calibri" pitchFamily="34" charset="-120"/>
              </a:rPr>
              <a:t> iʿtimād · confidence (Urdu ثقہ = trustworthy)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P3 error zones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455725"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In a Type 2 result.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لَامُ الجَوَابِ</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لَـ of the result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lā-mu al-ja-wā-bi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Shape 24"/>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Past.</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زَمَنُ فِعْلِ لَوْ</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verb tense after لَوْ</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za-ma-nu fiʿ-li law</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الفِعْلُ المَنْصُوبُ بَعْدَ أَنْ</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subjunctive after أَنْ</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al-fiʿ-lu al-man-ṣū-bu baʿ-da an</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3" name="Shape 40"/>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45" name="Shape 4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7" name="Text 4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مُطَابَقَةُ يُبْهِرُ</a:t>
            </a:r>
            <a:endParaRPr lang="ar-SA" sz="3000" dirty="0"/>
          </a:p>
        </p:txBody>
      </p:sp>
      <p:sp>
        <p:nvSpPr>
          <p:cNvPr id="48" name="Text 4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agreement of يُبْهِرُ</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mu-ṭā-ba-qa-tu yub-hi-ru</a:t>
            </a:r>
            <a:endParaRPr lang="en-US" sz="1350" dirty="0"/>
          </a:p>
        </p:txBody>
      </p:sp>
      <p:sp>
        <p:nvSpPr>
          <p:cNvPr id="49" name="Shape 46"/>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51" name="Text 48"/>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تُبْهِرُ</a:t>
            </a:r>
            <a:endParaRPr lang="ar-SA" sz="13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P3 error zones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Not يَقْطِبُ.</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صِيغَةُ يَسْتَقْطِبُ</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Form X يَسْتَقْطِبُ</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ṣī-gha-tu yas-taq-ṭi-bu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7" name="Shape 24"/>
          <p:cNvSpPr/>
          <p:nvPr/>
        </p:nvSpPr>
        <p:spPr>
          <a:xfrm>
            <a:off x="4782312" y="1938528"/>
            <a:ext cx="1455725"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 · they</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مُطَابَقَةُ كَانَ</a:t>
            </a:r>
            <a:endParaRPr lang="ar-SA" sz="3000" dirty="0"/>
          </a:p>
        </p:txBody>
      </p:sp>
      <p:sp>
        <p:nvSpPr>
          <p:cNvPr id="32" name="Text 29"/>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agreement of كَانَ</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mu-ṭā-ba-qa-tu kā-na</a:t>
            </a:r>
            <a:endParaRPr lang="en-US" sz="1350" dirty="0"/>
          </a:p>
        </p:txBody>
      </p:sp>
      <p:sp>
        <p:nvSpPr>
          <p:cNvPr id="33" name="Shape 30"/>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4" name="Text 31"/>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they</a:t>
            </a:r>
            <a:endParaRPr lang="en-US" sz="700" dirty="0"/>
          </a:p>
        </p:txBody>
      </p:sp>
      <p:sp>
        <p:nvSpPr>
          <p:cNvPr id="35" name="Text 32"/>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كَانَتْ · كَانُوا</a:t>
            </a:r>
            <a:endParaRPr lang="ar-SA" sz="1350" dirty="0"/>
          </a:p>
        </p:txBody>
      </p:sp>
      <p:sp>
        <p:nvSpPr>
          <p:cNvPr id="36" name="Shape 33"/>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I · he</a:t>
            </a:r>
            <a:endParaRPr lang="en-US" sz="700" dirty="0"/>
          </a:p>
        </p:txBody>
      </p:sp>
      <p:sp>
        <p:nvSpPr>
          <p:cNvPr id="38" name="Text 35"/>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كُنْتُ · كَانَ</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42" name="Shape 39"/>
          <p:cNvSpPr/>
          <p:nvPr/>
        </p:nvSpPr>
        <p:spPr>
          <a:xfrm>
            <a:off x="960120" y="1938528"/>
            <a:ext cx="1393546"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قَالَ takes إِنَّ.</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إِنَّ أَمْ أَنَّ</a:t>
            </a:r>
            <a:endParaRPr lang="ar-SA" sz="3000" dirty="0"/>
          </a:p>
        </p:txBody>
      </p:sp>
      <p:sp>
        <p:nvSpPr>
          <p:cNvPr id="47" name="Text 4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إِنَّ or أَنَّ</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in-na am an-na</a:t>
            </a:r>
            <a:endParaRPr lang="en-US" sz="135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التَّشْكِيلُ الدَّقِيقُ</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precise vowelling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at-tash-kī-lu ad-da-qī-qu</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P3 grammar spine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شَرْطٌ مِنَ النَّوْعِ الأَوَّلِ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Type 1 conditional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shar-ṭun mi-na an-naw-ʿi al-aw-wa-li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شَرْطٌ مِنَ النَّوْعِ الثَّانِي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Type 2 conditional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shar-ṭun mi-na an-naw-ʿi ath-thā-nī</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المَاضِي التَّامُّ</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past perfect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al-mā-ḍī at-tām-mu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الكَلَامُ المَنْقُولُ</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reported speech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al-ka-lā-mu al-man-qū-lu</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P3 grammar spine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يَحْجِزُ / يُقِيمُ</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books / stays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yaḥ-ji-zu / yu-qī-mu</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تَحْجِزُ / تُقِيمُ</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أَحْجِزُ / أُقِيمُ</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1" name="Shape 28"/>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subjunctive.</a:t>
            </a:r>
            <a:endParaRPr lang="en-US" sz="8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يُسْتَحْسَنُ أَنْ</a:t>
            </a:r>
            <a:endParaRPr lang="ar-SA" sz="3000" dirty="0"/>
          </a:p>
        </p:txBody>
      </p:sp>
      <p:sp>
        <p:nvSpPr>
          <p:cNvPr id="36" name="Text 3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preferable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yus-taḥ-sa-nu an</a:t>
            </a:r>
            <a:endParaRPr lang="en-US"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0" name="Shape 37"/>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يَسْتَقْطِبُ / يُبْهِرُ</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attracts / amazes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yas-taq-ṭi-bu / yub-hi-ru</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48" name="Text 45"/>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تَسْتَقْطِبُ / تُبْهِرُ</a:t>
            </a:r>
            <a:endParaRPr lang="ar-SA" sz="135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السَّرْدُ الرُّبَاعِيُّ</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four-layer narrative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as-sar-du ar-ru-bā-ʿiy-yu</a:t>
            </a:r>
            <a:endParaRPr lang="en-US"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fluency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التِّلْقَائِيَّةُ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spontaneity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at-til-qā-ʾiy-ya-tu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الطَّلَاقَةُ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fluency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aṭ-ṭa-lā-qa-tu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مُحَادَثَةٌ حَوْلَ مَوْضُوعٍ</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topic conversation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mu-ḥā-da-tha-tun ḥaw-la maw-ḍū-ʿin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لَعِبُ الأَدْوَارِ</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role play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la-ʿi-bu al-ad-wā-ri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fluency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اسْتِشَارَةُ وَكَالَةِ سَفَرٍ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travel-agency consultation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as-ti-shā-ra-tu wa-kā-la-ti sa-fa-rin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5" name="Shape 22"/>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 common error.</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تَجَنُّبُ الشَّرْطِ</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conditional avoidance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ta-jan-nu-bu ash-shar-ṭi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الأَدَاءُ تَحْتَ الضَّغْطِ</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performance under pressure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al-a-dā-ʾu taḥ-ta aḍ-ḍagh-ṭi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الثِّقَةُ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confidence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ath-thi-qa-tu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THE P3 ERROR ZONES (WEBSITE TABLE + READING: THE REPAIR LIST)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Wrong → right, zone by zone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مَنَاطِقُ الأَخْطَاءِ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222992" y="1810512"/>
            <a:ext cx="1435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Rule</a:t>
            </a:r>
            <a:endParaRPr lang="en-US" sz="1100" dirty="0"/>
          </a:p>
        </p:txBody>
      </p:sp>
      <p:sp>
        <p:nvSpPr>
          <p:cNvPr id="17" name="Text 14"/>
          <p:cNvSpPr txBox="1"/>
          <p:nvPr/>
        </p:nvSpPr>
        <p:spPr>
          <a:xfrm>
            <a:off x="9034272" y="1810512"/>
            <a:ext cx="1042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Lesson</a:t>
            </a:r>
            <a:endParaRPr lang="en-US" sz="1100" dirty="0"/>
          </a:p>
        </p:txBody>
      </p:sp>
      <p:sp>
        <p:nvSpPr>
          <p:cNvPr id="18" name="Text 15"/>
          <p:cNvSpPr txBox="1"/>
          <p:nvPr/>
        </p:nvSpPr>
        <p:spPr>
          <a:xfrm>
            <a:off x="574243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Right</a:t>
            </a:r>
            <a:endParaRPr lang="en-US" sz="1100" dirty="0"/>
          </a:p>
        </p:txBody>
      </p:sp>
      <p:sp>
        <p:nvSpPr>
          <p:cNvPr id="19" name="Text 16"/>
          <p:cNvSpPr txBox="1"/>
          <p:nvPr/>
        </p:nvSpPr>
        <p:spPr>
          <a:xfrm>
            <a:off x="2542032" y="1810512"/>
            <a:ext cx="3054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Wrong</a:t>
            </a:r>
            <a:endParaRPr lang="en-US" sz="1100" dirty="0"/>
          </a:p>
        </p:txBody>
      </p:sp>
      <p:sp>
        <p:nvSpPr>
          <p:cNvPr id="20" name="Text 17"/>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Zone</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10259568" y="2267712"/>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a:t>
            </a:r>
            <a:endParaRPr lang="en-US" sz="1100" dirty="0"/>
          </a:p>
        </p:txBody>
      </p:sp>
      <p:sp>
        <p:nvSpPr>
          <p:cNvPr id="23" name="Text 20"/>
          <p:cNvSpPr txBox="1"/>
          <p:nvPr/>
        </p:nvSpPr>
        <p:spPr>
          <a:xfrm>
            <a:off x="9070848" y="2267712"/>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P3-L05</a:t>
            </a:r>
            <a:endParaRPr lang="en-US" sz="1100" dirty="0"/>
          </a:p>
        </p:txBody>
      </p:sp>
      <p:sp>
        <p:nvSpPr>
          <p:cNvPr id="24" name="Text 21"/>
          <p:cNvSpPr txBox="1"/>
          <p:nvPr/>
        </p:nvSpPr>
        <p:spPr>
          <a:xfrm>
            <a:off x="5760720" y="2267712"/>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لَوْ حَجَزْتُ، </a:t>
            </a:r>
            <a:pPr rtl="1" algn="ctr" indent="0" marL="0">
              <a:buNone/>
            </a:pPr>
            <a:r>
              <a:rPr lang="ar-SA" altLang="en-US" sz="2000" b="1" dirty="0">
                <a:solidFill>
                  <a:srgbClr val="C77700"/>
                </a:solidFill>
                <a:latin typeface="Amiri" pitchFamily="34" charset="0"/>
                <a:ea typeface="Amiri" pitchFamily="34" charset="-122"/>
                <a:cs typeface="Amiri" pitchFamily="34" charset="-120"/>
              </a:rPr>
              <a:t>لَحَصَلْتُ</a:t>
            </a:r>
            <a:endParaRPr lang="ar-SA" sz="2000" dirty="0"/>
          </a:p>
        </p:txBody>
      </p:sp>
      <p:sp>
        <p:nvSpPr>
          <p:cNvPr id="25" name="Text 22"/>
          <p:cNvSpPr txBox="1"/>
          <p:nvPr/>
        </p:nvSpPr>
        <p:spPr>
          <a:xfrm>
            <a:off x="2560320" y="2267712"/>
            <a:ext cx="301752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لَوْ حَجَزْتُ، حَصَلْتُ</a:t>
            </a:r>
            <a:endParaRPr lang="ar-SA" sz="2000" dirty="0"/>
          </a:p>
        </p:txBody>
      </p:sp>
      <p:sp>
        <p:nvSpPr>
          <p:cNvPr id="26" name="Text 23"/>
          <p:cNvSpPr txBox="1"/>
          <p:nvPr/>
        </p:nvSpPr>
        <p:spPr>
          <a:xfrm>
            <a:off x="566928" y="2267712"/>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2 result</a:t>
            </a:r>
            <a:endParaRPr lang="en-US" sz="110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10259568" y="2881884"/>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a:t>
            </a:r>
            <a:endParaRPr lang="en-US" sz="1100" dirty="0"/>
          </a:p>
        </p:txBody>
      </p:sp>
      <p:sp>
        <p:nvSpPr>
          <p:cNvPr id="29" name="Text 26"/>
          <p:cNvSpPr txBox="1"/>
          <p:nvPr/>
        </p:nvSpPr>
        <p:spPr>
          <a:xfrm>
            <a:off x="9070848" y="2881884"/>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P3-L05</a:t>
            </a:r>
            <a:endParaRPr lang="en-US" sz="1100" dirty="0"/>
          </a:p>
        </p:txBody>
      </p:sp>
      <p:sp>
        <p:nvSpPr>
          <p:cNvPr id="30" name="Text 27"/>
          <p:cNvSpPr txBox="1"/>
          <p:nvPr/>
        </p:nvSpPr>
        <p:spPr>
          <a:xfrm>
            <a:off x="5760720" y="2881884"/>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لَوْ </a:t>
            </a:r>
            <a:pPr rtl="1" algn="ctr" indent="0" marL="0">
              <a:buNone/>
            </a:pPr>
            <a:r>
              <a:rPr lang="ar-SA" altLang="en-US" sz="2000" b="1" dirty="0">
                <a:solidFill>
                  <a:srgbClr val="C77700"/>
                </a:solidFill>
                <a:latin typeface="Amiri" pitchFamily="34" charset="0"/>
                <a:ea typeface="Amiri" pitchFamily="34" charset="-122"/>
                <a:cs typeface="Amiri" pitchFamily="34" charset="-120"/>
              </a:rPr>
              <a:t>حَجَزْتُ</a:t>
            </a:r>
            <a:pPr rtl="1" algn="ctr" indent="0" marL="0">
              <a:buNone/>
            </a:pPr>
            <a:r>
              <a:rPr lang="ar-SA" altLang="en-US" sz="2000" b="1" dirty="0">
                <a:solidFill>
                  <a:srgbClr val="1B3B6F"/>
                </a:solidFill>
                <a:latin typeface="Amiri" pitchFamily="34" charset="0"/>
                <a:ea typeface="Amiri" pitchFamily="34" charset="-122"/>
                <a:cs typeface="Amiri" pitchFamily="34" charset="-120"/>
              </a:rPr>
              <a:t> مُبَكِّرًا</a:t>
            </a:r>
            <a:endParaRPr lang="ar-SA" sz="2000" dirty="0"/>
          </a:p>
        </p:txBody>
      </p:sp>
      <p:sp>
        <p:nvSpPr>
          <p:cNvPr id="31" name="Text 28"/>
          <p:cNvSpPr txBox="1"/>
          <p:nvPr/>
        </p:nvSpPr>
        <p:spPr>
          <a:xfrm>
            <a:off x="2560320" y="2881884"/>
            <a:ext cx="301752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لَوْ أَحْجِزُ مُبَكِّرًا</a:t>
            </a:r>
            <a:endParaRPr lang="ar-SA" sz="2000" dirty="0"/>
          </a:p>
        </p:txBody>
      </p:sp>
      <p:sp>
        <p:nvSpPr>
          <p:cNvPr id="32" name="Text 29"/>
          <p:cNvSpPr txBox="1"/>
          <p:nvPr/>
        </p:nvSpPr>
        <p:spPr>
          <a:xfrm>
            <a:off x="566928" y="2881884"/>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verb after law</a:t>
            </a:r>
            <a:endParaRPr lang="en-US" sz="1100" dirty="0"/>
          </a:p>
        </p:txBody>
      </p:sp>
      <p:sp>
        <p:nvSpPr>
          <p:cNvPr id="33" name="Shape 30"/>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4" name="Text 31"/>
          <p:cNvSpPr txBox="1"/>
          <p:nvPr/>
        </p:nvSpPr>
        <p:spPr>
          <a:xfrm>
            <a:off x="10259568" y="3496056"/>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a:t>
            </a:r>
            <a:endParaRPr lang="en-US" sz="1100" dirty="0"/>
          </a:p>
        </p:txBody>
      </p:sp>
      <p:sp>
        <p:nvSpPr>
          <p:cNvPr id="35" name="Text 32"/>
          <p:cNvSpPr txBox="1"/>
          <p:nvPr/>
        </p:nvSpPr>
        <p:spPr>
          <a:xfrm>
            <a:off x="9070848" y="3496056"/>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P3-L07</a:t>
            </a:r>
            <a:endParaRPr lang="en-US" sz="1100" dirty="0"/>
          </a:p>
        </p:txBody>
      </p:sp>
      <p:sp>
        <p:nvSpPr>
          <p:cNvPr id="36" name="Text 33"/>
          <p:cNvSpPr txBox="1"/>
          <p:nvPr/>
        </p:nvSpPr>
        <p:spPr>
          <a:xfrm>
            <a:off x="5760720" y="3496056"/>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أَنْ </a:t>
            </a:r>
            <a:pPr rtl="1" algn="ctr" indent="0" marL="0">
              <a:buNone/>
            </a:pPr>
            <a:r>
              <a:rPr lang="ar-SA" altLang="en-US" sz="2000" b="1" dirty="0">
                <a:solidFill>
                  <a:srgbClr val="0E7C86"/>
                </a:solidFill>
                <a:latin typeface="Amiri" pitchFamily="34" charset="0"/>
                <a:ea typeface="Amiri" pitchFamily="34" charset="-122"/>
                <a:cs typeface="Amiri" pitchFamily="34" charset="-120"/>
              </a:rPr>
              <a:t>يَتَعَلَّمَ</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الزَّائِرُ</a:t>
            </a:r>
            <a:endParaRPr lang="ar-SA" sz="2000" dirty="0"/>
          </a:p>
        </p:txBody>
      </p:sp>
      <p:sp>
        <p:nvSpPr>
          <p:cNvPr id="37" name="Text 34"/>
          <p:cNvSpPr txBox="1"/>
          <p:nvPr/>
        </p:nvSpPr>
        <p:spPr>
          <a:xfrm>
            <a:off x="2560320" y="3496056"/>
            <a:ext cx="301752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أَنْ يَتَعَلَّمُ الزَّائِرُ</a:t>
            </a:r>
            <a:endParaRPr lang="ar-SA" sz="2000" dirty="0"/>
          </a:p>
        </p:txBody>
      </p:sp>
      <p:sp>
        <p:nvSpPr>
          <p:cNvPr id="38" name="Text 35"/>
          <p:cNvSpPr txBox="1"/>
          <p:nvPr/>
        </p:nvSpPr>
        <p:spPr>
          <a:xfrm>
            <a:off x="566928" y="3496056"/>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after an</a:t>
            </a:r>
            <a:endParaRPr lang="en-US" sz="11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10259568" y="4110228"/>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city = she</a:t>
            </a:r>
            <a:endParaRPr lang="en-US" sz="1100" dirty="0"/>
          </a:p>
        </p:txBody>
      </p:sp>
      <p:sp>
        <p:nvSpPr>
          <p:cNvPr id="41" name="Text 38"/>
          <p:cNvSpPr txBox="1"/>
          <p:nvPr/>
        </p:nvSpPr>
        <p:spPr>
          <a:xfrm>
            <a:off x="9070848" y="4110228"/>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P3-L04</a:t>
            </a:r>
            <a:endParaRPr lang="en-US" sz="1100" dirty="0"/>
          </a:p>
        </p:txBody>
      </p:sp>
      <p:sp>
        <p:nvSpPr>
          <p:cNvPr id="42" name="Text 39"/>
          <p:cNvSpPr txBox="1"/>
          <p:nvPr/>
        </p:nvSpPr>
        <p:spPr>
          <a:xfrm>
            <a:off x="5760720" y="4110228"/>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تُبْهِرُ</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المَدِينَةُ زُوَّارَهَا</a:t>
            </a:r>
            <a:endParaRPr lang="ar-SA" sz="2000" dirty="0"/>
          </a:p>
        </p:txBody>
      </p:sp>
      <p:sp>
        <p:nvSpPr>
          <p:cNvPr id="43" name="Text 40"/>
          <p:cNvSpPr txBox="1"/>
          <p:nvPr/>
        </p:nvSpPr>
        <p:spPr>
          <a:xfrm>
            <a:off x="2560320" y="4110228"/>
            <a:ext cx="301752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يُبْهِرُ المَدِينَةُ زُوَّارَهَا</a:t>
            </a:r>
            <a:endParaRPr lang="ar-SA" sz="2000" dirty="0"/>
          </a:p>
        </p:txBody>
      </p:sp>
      <p:sp>
        <p:nvSpPr>
          <p:cNvPr id="44" name="Text 41"/>
          <p:cNvSpPr txBox="1"/>
          <p:nvPr/>
        </p:nvSpPr>
        <p:spPr>
          <a:xfrm>
            <a:off x="566928" y="4110228"/>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agreement</a:t>
            </a:r>
            <a:endParaRPr lang="en-US" sz="1100" dirty="0"/>
          </a:p>
        </p:txBody>
      </p:sp>
      <p:sp>
        <p:nvSpPr>
          <p:cNvPr id="45" name="Shape 4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6" name="Text 43"/>
          <p:cNvSpPr txBox="1"/>
          <p:nvPr/>
        </p:nvSpPr>
        <p:spPr>
          <a:xfrm>
            <a:off x="10259568" y="4724400"/>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yasta-</a:t>
            </a:r>
            <a:endParaRPr lang="en-US" sz="1100" dirty="0"/>
          </a:p>
        </p:txBody>
      </p:sp>
      <p:sp>
        <p:nvSpPr>
          <p:cNvPr id="47" name="Text 44"/>
          <p:cNvSpPr txBox="1"/>
          <p:nvPr/>
        </p:nvSpPr>
        <p:spPr>
          <a:xfrm>
            <a:off x="9070848" y="4724400"/>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P3-L04</a:t>
            </a:r>
            <a:endParaRPr lang="en-US" sz="1100" dirty="0"/>
          </a:p>
        </p:txBody>
      </p:sp>
      <p:sp>
        <p:nvSpPr>
          <p:cNvPr id="48" name="Text 45"/>
          <p:cNvSpPr txBox="1"/>
          <p:nvPr/>
        </p:nvSpPr>
        <p:spPr>
          <a:xfrm>
            <a:off x="5760720" y="4724400"/>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يَسْتَقْطِبُ</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المَعْلَمُ السُّيَّاحَ</a:t>
            </a:r>
            <a:endParaRPr lang="ar-SA" sz="2000" dirty="0"/>
          </a:p>
        </p:txBody>
      </p:sp>
      <p:sp>
        <p:nvSpPr>
          <p:cNvPr id="49" name="Text 46"/>
          <p:cNvSpPr txBox="1"/>
          <p:nvPr/>
        </p:nvSpPr>
        <p:spPr>
          <a:xfrm>
            <a:off x="2560320" y="4724400"/>
            <a:ext cx="301752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يَقْطِبُ المَعْلَمُ السُّيَّاحَ</a:t>
            </a:r>
            <a:endParaRPr lang="ar-SA" sz="2000" dirty="0"/>
          </a:p>
        </p:txBody>
      </p:sp>
      <p:sp>
        <p:nvSpPr>
          <p:cNvPr id="50" name="Text 47"/>
          <p:cNvSpPr txBox="1"/>
          <p:nvPr/>
        </p:nvSpPr>
        <p:spPr>
          <a:xfrm>
            <a:off x="566928" y="4724400"/>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 X</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10259568" y="5338572"/>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qāla → inna</a:t>
            </a:r>
            <a:endParaRPr lang="en-US" sz="1100" dirty="0"/>
          </a:p>
        </p:txBody>
      </p:sp>
      <p:sp>
        <p:nvSpPr>
          <p:cNvPr id="53" name="Text 50"/>
          <p:cNvSpPr txBox="1"/>
          <p:nvPr/>
        </p:nvSpPr>
        <p:spPr>
          <a:xfrm>
            <a:off x="9070848" y="5338572"/>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P3-L06</a:t>
            </a:r>
            <a:endParaRPr lang="en-US" sz="1100" dirty="0"/>
          </a:p>
        </p:txBody>
      </p:sp>
      <p:sp>
        <p:nvSpPr>
          <p:cNvPr id="54" name="Text 51"/>
          <p:cNvSpPr txBox="1"/>
          <p:nvPr/>
        </p:nvSpPr>
        <p:spPr>
          <a:xfrm>
            <a:off x="5760720" y="5338572"/>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قَالَ الدَّلِيلُ </a:t>
            </a:r>
            <a:pPr rtl="1" algn="ctr" indent="0" marL="0">
              <a:buNone/>
            </a:pPr>
            <a:r>
              <a:rPr lang="ar-SA" altLang="en-US" sz="2000" b="1" dirty="0">
                <a:solidFill>
                  <a:srgbClr val="7B3FA0"/>
                </a:solidFill>
                <a:latin typeface="Amiri" pitchFamily="34" charset="0"/>
                <a:ea typeface="Amiri" pitchFamily="34" charset="-122"/>
                <a:cs typeface="Amiri" pitchFamily="34" charset="-120"/>
              </a:rPr>
              <a:t>إِنَّ</a:t>
            </a:r>
            <a:pPr rtl="1" algn="ctr" indent="0" marL="0">
              <a:buNone/>
            </a:pPr>
            <a:r>
              <a:rPr lang="ar-SA" altLang="en-US" sz="2000" b="1" dirty="0">
                <a:solidFill>
                  <a:srgbClr val="1B3B6F"/>
                </a:solidFill>
                <a:latin typeface="Amiri" pitchFamily="34" charset="0"/>
                <a:ea typeface="Amiri" pitchFamily="34" charset="-122"/>
                <a:cs typeface="Amiri" pitchFamily="34" charset="-120"/>
              </a:rPr>
              <a:t> …</a:t>
            </a:r>
            <a:endParaRPr lang="ar-SA" sz="2000" dirty="0"/>
          </a:p>
        </p:txBody>
      </p:sp>
      <p:sp>
        <p:nvSpPr>
          <p:cNvPr id="55" name="Text 52"/>
          <p:cNvSpPr txBox="1"/>
          <p:nvPr/>
        </p:nvSpPr>
        <p:spPr>
          <a:xfrm>
            <a:off x="2560320" y="5338572"/>
            <a:ext cx="301752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قَالَ الدَّلِيلُ أَنَّ …</a:t>
            </a:r>
            <a:endParaRPr lang="ar-SA" sz="2000" dirty="0"/>
          </a:p>
        </p:txBody>
      </p:sp>
      <p:sp>
        <p:nvSpPr>
          <p:cNvPr id="56" name="Text 53"/>
          <p:cNvSpPr txBox="1"/>
          <p:nvPr/>
        </p:nvSpPr>
        <p:spPr>
          <a:xfrm>
            <a:off x="566928" y="5338572"/>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inna / anna</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reading: “every structure has a precise marker that must be controlled.”</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THE WHOLE P3 GRAMMAR SPINE (VOCABULARY GROUP 2 + WEBSITE MODEL TEXTS)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Six structures — one unit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العَمُودُ الفِقْرِيُّ لِقَوَاعِدِ الوَحْدَةِ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Check</a:t>
            </a:r>
            <a:endParaRPr lang="en-US" sz="1100" dirty="0"/>
          </a:p>
        </p:txBody>
      </p:sp>
      <p:sp>
        <p:nvSpPr>
          <p:cNvPr id="17" name="Text 14"/>
          <p:cNvSpPr txBox="1"/>
          <p:nvPr/>
        </p:nvSpPr>
        <p:spPr>
          <a:xfrm>
            <a:off x="3913632" y="1810512"/>
            <a:ext cx="5797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texts)</a:t>
            </a:r>
            <a:endParaRPr lang="en-US" sz="1100" dirty="0"/>
          </a:p>
        </p:txBody>
      </p:sp>
      <p:sp>
        <p:nvSpPr>
          <p:cNvPr id="18" name="Text 15"/>
          <p:cNvSpPr txBox="1"/>
          <p:nvPr/>
        </p:nvSpPr>
        <p:spPr>
          <a:xfrm>
            <a:off x="263347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Lesson</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893808" y="2267712"/>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kuntu … -tu</a:t>
            </a:r>
            <a:endParaRPr lang="en-US" sz="1100" dirty="0"/>
          </a:p>
        </p:txBody>
      </p:sp>
      <p:sp>
        <p:nvSpPr>
          <p:cNvPr id="22" name="Text 19"/>
          <p:cNvSpPr txBox="1"/>
          <p:nvPr/>
        </p:nvSpPr>
        <p:spPr>
          <a:xfrm>
            <a:off x="3931920" y="2267712"/>
            <a:ext cx="5760720" cy="559308"/>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34" charset="0"/>
                <a:ea typeface="Amiri" pitchFamily="34" charset="-122"/>
                <a:cs typeface="Amiri" pitchFamily="34" charset="-120"/>
              </a:rPr>
              <a:t>كُنْتُ قَدْ تَوَقَّعْتُ</a:t>
            </a:r>
            <a:pPr rtl="1" algn="ctr" indent="0" marL="0">
              <a:buNone/>
            </a:pPr>
            <a:r>
              <a:rPr lang="ar-SA" altLang="en-US" sz="1800" b="1" dirty="0">
                <a:solidFill>
                  <a:srgbClr val="1B3B6F"/>
                </a:solidFill>
                <a:latin typeface="Amiri" pitchFamily="34" charset="0"/>
                <a:ea typeface="Amiri" pitchFamily="34" charset="-122"/>
                <a:cs typeface="Amiri" pitchFamily="34" charset="-120"/>
              </a:rPr>
              <a:t> مَكَانًا عَادِيًّا، لٰكِنَّهُ فَاقَ تَوَقُّعَاتِي.</a:t>
            </a:r>
            <a:endParaRPr lang="ar-SA" sz="1800" dirty="0"/>
          </a:p>
        </p:txBody>
      </p:sp>
      <p:sp>
        <p:nvSpPr>
          <p:cNvPr id="23" name="Text 20"/>
          <p:cNvSpPr txBox="1"/>
          <p:nvPr/>
        </p:nvSpPr>
        <p:spPr>
          <a:xfrm>
            <a:off x="2670048" y="226771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P3-L02/03</a:t>
            </a:r>
            <a:endParaRPr lang="en-US" sz="1100" dirty="0"/>
          </a:p>
        </p:txBody>
      </p:sp>
      <p:sp>
        <p:nvSpPr>
          <p:cNvPr id="24" name="Text 21"/>
          <p:cNvSpPr txBox="1"/>
          <p:nvPr/>
        </p:nvSpPr>
        <p:spPr>
          <a:xfrm>
            <a:off x="566928" y="226771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perfect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893808" y="2881884"/>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 sa-</a:t>
            </a:r>
            <a:endParaRPr lang="en-US" sz="1100" dirty="0"/>
          </a:p>
        </p:txBody>
      </p:sp>
      <p:sp>
        <p:nvSpPr>
          <p:cNvPr id="29" name="Text 26"/>
          <p:cNvSpPr txBox="1"/>
          <p:nvPr/>
        </p:nvSpPr>
        <p:spPr>
          <a:xfrm>
            <a:off x="3931920" y="2881884"/>
            <a:ext cx="5760720" cy="559308"/>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34" charset="0"/>
                <a:ea typeface="Amiri" pitchFamily="34" charset="-122"/>
                <a:cs typeface="Amiri" pitchFamily="34" charset="-120"/>
              </a:rPr>
              <a:t>إِذَا</a:t>
            </a:r>
            <a:pPr rtl="1" algn="ctr" indent="0" marL="0">
              <a:buNone/>
            </a:pPr>
            <a:r>
              <a:rPr lang="ar-SA" altLang="en-US" sz="1800" b="1" dirty="0">
                <a:solidFill>
                  <a:srgbClr val="1B3B6F"/>
                </a:solidFill>
                <a:latin typeface="Amiri" pitchFamily="34" charset="0"/>
                <a:ea typeface="Amiri" pitchFamily="34" charset="-122"/>
                <a:cs typeface="Amiri" pitchFamily="34" charset="-120"/>
              </a:rPr>
              <a:t> احْتَرَمَ السُّيَّاحُ القَوَاعِدَ، </a:t>
            </a:r>
            <a:pPr rtl="1" algn="ctr" indent="0" marL="0">
              <a:buNone/>
            </a:pPr>
            <a:r>
              <a:rPr lang="ar-SA" altLang="en-US" sz="1800" b="1" dirty="0">
                <a:solidFill>
                  <a:srgbClr val="0E7C86"/>
                </a:solidFill>
                <a:latin typeface="Amiri" pitchFamily="34" charset="0"/>
                <a:ea typeface="Amiri" pitchFamily="34" charset="-122"/>
                <a:cs typeface="Amiri" pitchFamily="34" charset="-120"/>
              </a:rPr>
              <a:t>سَتَبْقَى</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المَوَاقِعُ.</a:t>
            </a:r>
            <a:endParaRPr lang="ar-SA" sz="1800" dirty="0"/>
          </a:p>
        </p:txBody>
      </p:sp>
      <p:sp>
        <p:nvSpPr>
          <p:cNvPr id="30" name="Text 27"/>
          <p:cNvSpPr txBox="1"/>
          <p:nvPr/>
        </p:nvSpPr>
        <p:spPr>
          <a:xfrm>
            <a:off x="2670048" y="2881884"/>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P3-L05</a:t>
            </a:r>
            <a:endParaRPr lang="en-US" sz="1100" dirty="0"/>
          </a:p>
        </p:txBody>
      </p:sp>
      <p:sp>
        <p:nvSpPr>
          <p:cNvPr id="31" name="Text 28"/>
          <p:cNvSpPr txBox="1"/>
          <p:nvPr/>
        </p:nvSpPr>
        <p:spPr>
          <a:xfrm>
            <a:off x="566928" y="2881884"/>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1</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893808" y="3496056"/>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 la-</a:t>
            </a:r>
            <a:endParaRPr lang="en-US" sz="1100" dirty="0"/>
          </a:p>
        </p:txBody>
      </p:sp>
      <p:sp>
        <p:nvSpPr>
          <p:cNvPr id="36" name="Text 33"/>
          <p:cNvSpPr txBox="1"/>
          <p:nvPr/>
        </p:nvSpPr>
        <p:spPr>
          <a:xfrm>
            <a:off x="3931920" y="3496056"/>
            <a:ext cx="5760720" cy="559308"/>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34" charset="0"/>
                <a:ea typeface="Amiri" pitchFamily="34" charset="-122"/>
                <a:cs typeface="Amiri" pitchFamily="34" charset="-120"/>
              </a:rPr>
              <a:t>لَوْ</a:t>
            </a:r>
            <a:pPr rtl="1" algn="ctr" indent="0" marL="0">
              <a:buNone/>
            </a:pPr>
            <a:r>
              <a:rPr lang="ar-SA" altLang="en-US" sz="1800" b="1" dirty="0">
                <a:solidFill>
                  <a:srgbClr val="1B3B6F"/>
                </a:solidFill>
                <a:latin typeface="Amiri" pitchFamily="34" charset="0"/>
                <a:ea typeface="Amiri" pitchFamily="34" charset="-122"/>
                <a:cs typeface="Amiri" pitchFamily="34" charset="-120"/>
              </a:rPr>
              <a:t> كَانَ لَدَيَّ مِيزَانِيَّةٌ غَيْرُ مَحْدُودَةٍ، </a:t>
            </a:r>
            <a:pPr rtl="1" algn="ctr" indent="0" marL="0">
              <a:buNone/>
            </a:pPr>
            <a:r>
              <a:rPr lang="ar-SA" altLang="en-US" sz="1800" b="1" dirty="0">
                <a:solidFill>
                  <a:srgbClr val="C77700"/>
                </a:solidFill>
                <a:latin typeface="Amiri" pitchFamily="34" charset="0"/>
                <a:ea typeface="Amiri" pitchFamily="34" charset="-122"/>
                <a:cs typeface="Amiri" pitchFamily="34" charset="-120"/>
              </a:rPr>
              <a:t>لَزُرْتُ</a:t>
            </a:r>
            <a:pPr rtl="1" algn="ctr" indent="0" marL="0">
              <a:buNone/>
            </a:pPr>
            <a:r>
              <a:rPr lang="ar-SA" altLang="en-US" sz="1800" b="1" dirty="0">
                <a:solidFill>
                  <a:srgbClr val="1B3B6F"/>
                </a:solidFill>
                <a:latin typeface="Amiri" pitchFamily="34" charset="0"/>
                <a:ea typeface="Amiri" pitchFamily="34" charset="-122"/>
                <a:cs typeface="Amiri" pitchFamily="34" charset="-120"/>
              </a:rPr>
              <a:t> كُلَّ المَوَاقِعِ.</a:t>
            </a:r>
            <a:endParaRPr lang="ar-SA" sz="1800" dirty="0"/>
          </a:p>
        </p:txBody>
      </p:sp>
      <p:sp>
        <p:nvSpPr>
          <p:cNvPr id="37" name="Text 34"/>
          <p:cNvSpPr txBox="1"/>
          <p:nvPr/>
        </p:nvSpPr>
        <p:spPr>
          <a:xfrm>
            <a:off x="2670048" y="3496056"/>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P3-L05</a:t>
            </a:r>
            <a:endParaRPr lang="en-US" sz="1100" dirty="0"/>
          </a:p>
        </p:txBody>
      </p:sp>
      <p:sp>
        <p:nvSpPr>
          <p:cNvPr id="38" name="Text 35"/>
          <p:cNvSpPr txBox="1"/>
          <p:nvPr/>
        </p:nvSpPr>
        <p:spPr>
          <a:xfrm>
            <a:off x="566928" y="3496056"/>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2</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9893808" y="4110228"/>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qāla inna</a:t>
            </a:r>
            <a:endParaRPr lang="en-US" sz="1100" dirty="0"/>
          </a:p>
        </p:txBody>
      </p:sp>
      <p:sp>
        <p:nvSpPr>
          <p:cNvPr id="43" name="Text 40"/>
          <p:cNvSpPr txBox="1"/>
          <p:nvPr/>
        </p:nvSpPr>
        <p:spPr>
          <a:xfrm>
            <a:off x="3931920" y="4110228"/>
            <a:ext cx="5760720" cy="559308"/>
          </a:xfrm>
          <a:prstGeom prst="rect">
            <a:avLst/>
          </a:prstGeom>
          <a:noFill/>
          <a:ln/>
        </p:spPr>
        <p:txBody>
          <a:bodyPr wrap="square" lIns="0" tIns="0" rIns="0" bIns="0" rtlCol="0" anchor="ctr"/>
          <a:lstStyle/>
          <a:p>
            <a:pPr rtl="1" algn="ctr" indent="0" marL="0">
              <a:buNone/>
            </a:pPr>
            <a:r>
              <a:rPr lang="ar-SA" altLang="en-US" sz="1800" b="1" dirty="0">
                <a:solidFill>
                  <a:srgbClr val="7B3FA0"/>
                </a:solidFill>
                <a:latin typeface="Amiri" pitchFamily="34" charset="0"/>
                <a:ea typeface="Amiri" pitchFamily="34" charset="-122"/>
                <a:cs typeface="Amiri" pitchFamily="34" charset="-120"/>
              </a:rPr>
              <a:t>قَالَ</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الدَّلِيلُ </a:t>
            </a:r>
            <a:pPr rtl="1" algn="ctr" indent="0" marL="0">
              <a:buNone/>
            </a:pPr>
            <a:r>
              <a:rPr lang="ar-SA" altLang="en-US" sz="1800" b="1" dirty="0">
                <a:solidFill>
                  <a:srgbClr val="7B3FA0"/>
                </a:solidFill>
                <a:latin typeface="Amiri" pitchFamily="34" charset="0"/>
                <a:ea typeface="Amiri" pitchFamily="34" charset="-122"/>
                <a:cs typeface="Amiri" pitchFamily="34" charset="-120"/>
              </a:rPr>
              <a:t>إِنَّ</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الرَّبِيعَ أَفْضَلُ مَوْسِمٍ.</a:t>
            </a:r>
            <a:endParaRPr lang="ar-SA" sz="1800" dirty="0"/>
          </a:p>
        </p:txBody>
      </p:sp>
      <p:sp>
        <p:nvSpPr>
          <p:cNvPr id="44" name="Text 41"/>
          <p:cNvSpPr txBox="1"/>
          <p:nvPr/>
        </p:nvSpPr>
        <p:spPr>
          <a:xfrm>
            <a:off x="2670048" y="4110228"/>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P3-L06</a:t>
            </a:r>
            <a:endParaRPr lang="en-US" sz="1100" dirty="0"/>
          </a:p>
        </p:txBody>
      </p:sp>
      <p:sp>
        <p:nvSpPr>
          <p:cNvPr id="45" name="Text 42"/>
          <p:cNvSpPr txBox="1"/>
          <p:nvPr/>
        </p:nvSpPr>
        <p:spPr>
          <a:xfrm>
            <a:off x="566928" y="4110228"/>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reported speech</a:t>
            </a:r>
            <a:endParaRPr lang="en-US" sz="11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9893808" y="4724400"/>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 -a</a:t>
            </a:r>
            <a:endParaRPr lang="en-US" sz="1100" dirty="0"/>
          </a:p>
        </p:txBody>
      </p:sp>
      <p:sp>
        <p:nvSpPr>
          <p:cNvPr id="48" name="Text 45"/>
          <p:cNvSpPr txBox="1"/>
          <p:nvPr/>
        </p:nvSpPr>
        <p:spPr>
          <a:xfrm>
            <a:off x="3931920" y="4724400"/>
            <a:ext cx="57607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يُسْتَحْسَنُ أَنْ </a:t>
            </a:r>
            <a:pPr rtl="1" algn="ctr" indent="0" marL="0">
              <a:buNone/>
            </a:pPr>
            <a:r>
              <a:rPr lang="ar-SA" altLang="en-US" sz="1800" b="1" dirty="0">
                <a:solidFill>
                  <a:srgbClr val="0E7C86"/>
                </a:solidFill>
                <a:latin typeface="Amiri" pitchFamily="34" charset="0"/>
                <a:ea typeface="Amiri" pitchFamily="34" charset="-122"/>
                <a:cs typeface="Amiri" pitchFamily="34" charset="-120"/>
              </a:rPr>
              <a:t>يَتَعَلَّمَ</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الزَّائِرُ بَعْضَ العِبَارَاتِ.</a:t>
            </a:r>
            <a:endParaRPr lang="ar-SA" sz="1800" dirty="0"/>
          </a:p>
        </p:txBody>
      </p:sp>
      <p:sp>
        <p:nvSpPr>
          <p:cNvPr id="49" name="Text 46"/>
          <p:cNvSpPr txBox="1"/>
          <p:nvPr/>
        </p:nvSpPr>
        <p:spPr>
          <a:xfrm>
            <a:off x="2670048" y="4724400"/>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P3-L07</a:t>
            </a:r>
            <a:endParaRPr lang="en-US" sz="1100" dirty="0"/>
          </a:p>
        </p:txBody>
      </p:sp>
      <p:sp>
        <p:nvSpPr>
          <p:cNvPr id="50" name="Text 47"/>
          <p:cNvSpPr txBox="1"/>
          <p:nvPr/>
        </p:nvSpPr>
        <p:spPr>
          <a:xfrm>
            <a:off x="566928" y="4724400"/>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advice</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9893808" y="5338572"/>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object · fī</a:t>
            </a:r>
            <a:endParaRPr lang="en-US" sz="1100" dirty="0"/>
          </a:p>
        </p:txBody>
      </p:sp>
      <p:sp>
        <p:nvSpPr>
          <p:cNvPr id="53" name="Text 50"/>
          <p:cNvSpPr txBox="1"/>
          <p:nvPr/>
        </p:nvSpPr>
        <p:spPr>
          <a:xfrm>
            <a:off x="3931920" y="5338572"/>
            <a:ext cx="5760720" cy="559308"/>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34" charset="0"/>
                <a:ea typeface="Amiri" pitchFamily="34" charset="-122"/>
                <a:cs typeface="Amiri" pitchFamily="34" charset="-120"/>
              </a:rPr>
              <a:t>تَسْتَقْطِبُ</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المَدِينَةُ السُّيَّاحَ · </a:t>
            </a:r>
            <a:pPr rtl="1" algn="ctr" indent="0" marL="0">
              <a:buNone/>
            </a:pPr>
            <a:r>
              <a:rPr lang="ar-SA" altLang="en-US" sz="1800" b="1" dirty="0">
                <a:solidFill>
                  <a:srgbClr val="1D5FBF"/>
                </a:solidFill>
                <a:latin typeface="Amiri" pitchFamily="34" charset="0"/>
                <a:ea typeface="Amiri" pitchFamily="34" charset="-122"/>
                <a:cs typeface="Amiri" pitchFamily="34" charset="-120"/>
              </a:rPr>
              <a:t>أَقَمْتُ</a:t>
            </a:r>
            <a:pPr rtl="1" algn="ctr" indent="0" marL="0">
              <a:buNone/>
            </a:pPr>
            <a:r>
              <a:rPr lang="ar-SA" altLang="en-US" sz="1800" b="1" dirty="0">
                <a:solidFill>
                  <a:srgbClr val="1B3B6F"/>
                </a:solidFill>
                <a:latin typeface="Amiri" pitchFamily="34" charset="0"/>
                <a:ea typeface="Amiri" pitchFamily="34" charset="-122"/>
                <a:cs typeface="Amiri" pitchFamily="34" charset="-120"/>
              </a:rPr>
              <a:t> فِي رِيَاضٍ</a:t>
            </a:r>
            <a:endParaRPr lang="ar-SA" sz="1800" dirty="0"/>
          </a:p>
        </p:txBody>
      </p:sp>
      <p:sp>
        <p:nvSpPr>
          <p:cNvPr id="54" name="Text 51"/>
          <p:cNvSpPr txBox="1"/>
          <p:nvPr/>
        </p:nvSpPr>
        <p:spPr>
          <a:xfrm>
            <a:off x="2670048" y="533857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P3-L02/04</a:t>
            </a:r>
            <a:endParaRPr lang="en-US" sz="1100" dirty="0"/>
          </a:p>
        </p:txBody>
      </p:sp>
      <p:sp>
        <p:nvSpPr>
          <p:cNvPr id="55" name="Text 52"/>
          <p:cNvSpPr txBox="1"/>
          <p:nvPr/>
        </p:nvSpPr>
        <p:spPr>
          <a:xfrm>
            <a:off x="566928" y="533857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travel verbs</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Every row is one P3 lesson — the assessment tests them all.</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THE REQUIRED STRUCTURE, UNPROMPTED (P3-L12 TOPIC QUESTIONS + ROLE PLAY)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 → required structure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البِنْيَةُ المَطْلُوبَةُ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405872" y="1810512"/>
            <a:ext cx="1252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Required</a:t>
            </a:r>
            <a:endParaRPr lang="en-US" sz="1100" dirty="0"/>
          </a:p>
        </p:txBody>
      </p:sp>
      <p:sp>
        <p:nvSpPr>
          <p:cNvPr id="17" name="Text 14"/>
          <p:cNvSpPr txBox="1"/>
          <p:nvPr/>
        </p:nvSpPr>
        <p:spPr>
          <a:xfrm>
            <a:off x="9582912" y="1810512"/>
            <a:ext cx="676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a:t>
            </a:r>
            <a:endParaRPr lang="en-US" sz="1100" dirty="0"/>
          </a:p>
        </p:txBody>
      </p:sp>
      <p:sp>
        <p:nvSpPr>
          <p:cNvPr id="18" name="Text 15"/>
          <p:cNvSpPr txBox="1"/>
          <p:nvPr/>
        </p:nvSpPr>
        <p:spPr>
          <a:xfrm>
            <a:off x="4553712" y="1810512"/>
            <a:ext cx="4882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Start your answer with …</a:t>
            </a:r>
            <a:endParaRPr lang="en-US" sz="1100" dirty="0"/>
          </a:p>
        </p:txBody>
      </p:sp>
      <p:sp>
        <p:nvSpPr>
          <p:cNvPr id="19" name="Text 16"/>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 examiner asks …</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10442448" y="2267712"/>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perfect</a:t>
            </a:r>
            <a:endParaRPr lang="en-US" sz="1100" dirty="0"/>
          </a:p>
        </p:txBody>
      </p:sp>
      <p:sp>
        <p:nvSpPr>
          <p:cNvPr id="22" name="Text 19"/>
          <p:cNvSpPr txBox="1"/>
          <p:nvPr/>
        </p:nvSpPr>
        <p:spPr>
          <a:xfrm>
            <a:off x="9619488" y="2267712"/>
            <a:ext cx="640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Q1</a:t>
            </a:r>
            <a:endParaRPr lang="en-US" sz="1100" dirty="0"/>
          </a:p>
        </p:txBody>
      </p:sp>
      <p:sp>
        <p:nvSpPr>
          <p:cNvPr id="23" name="Text 20"/>
          <p:cNvSpPr txBox="1"/>
          <p:nvPr/>
        </p:nvSpPr>
        <p:spPr>
          <a:xfrm>
            <a:off x="4572000" y="2267712"/>
            <a:ext cx="484632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34" charset="0"/>
                <a:ea typeface="Amiri" pitchFamily="34" charset="-122"/>
                <a:cs typeface="Amiri" pitchFamily="34" charset="-120"/>
              </a:rPr>
              <a:t>كُنْتُ قَدْ تَوَقَّعْتُ</a:t>
            </a:r>
            <a:pPr rtl="1" algn="ctr" indent="0" marL="0">
              <a:buNone/>
            </a:pPr>
            <a:r>
              <a:rPr lang="ar-SA" altLang="en-US" sz="1800" b="1" dirty="0">
                <a:solidFill>
                  <a:srgbClr val="1B3B6F"/>
                </a:solidFill>
                <a:latin typeface="Amiri" pitchFamily="34" charset="0"/>
                <a:ea typeface="Amiri" pitchFamily="34" charset="-122"/>
                <a:cs typeface="Amiri" pitchFamily="34" charset="-120"/>
              </a:rPr>
              <a:t> … ، لٰكِنَّهُ فَاقَ تَوَقُّعَاتِي.</a:t>
            </a:r>
            <a:endParaRPr lang="ar-SA" sz="1800" dirty="0"/>
          </a:p>
        </p:txBody>
      </p:sp>
      <p:sp>
        <p:nvSpPr>
          <p:cNvPr id="24" name="Text 21"/>
          <p:cNvSpPr txBox="1"/>
          <p:nvPr/>
        </p:nvSpPr>
        <p:spPr>
          <a:xfrm>
            <a:off x="548640" y="2267712"/>
            <a:ext cx="384048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صِفْ إِجَازَةً مَاضِيَةً — مَا الَّذِي كُنْتَ قَدْ تَوَقَّعْتَهُ؟</a:t>
            </a:r>
            <a:endParaRPr lang="ar-SA" sz="17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10442448" y="3054096"/>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1</a:t>
            </a:r>
            <a:endParaRPr lang="en-US" sz="1100" dirty="0"/>
          </a:p>
        </p:txBody>
      </p:sp>
      <p:sp>
        <p:nvSpPr>
          <p:cNvPr id="29" name="Text 26"/>
          <p:cNvSpPr txBox="1"/>
          <p:nvPr/>
        </p:nvSpPr>
        <p:spPr>
          <a:xfrm>
            <a:off x="9619488" y="3054096"/>
            <a:ext cx="640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Q2</a:t>
            </a:r>
            <a:endParaRPr lang="en-US" sz="1100" dirty="0"/>
          </a:p>
        </p:txBody>
      </p:sp>
      <p:sp>
        <p:nvSpPr>
          <p:cNvPr id="30" name="Text 27"/>
          <p:cNvSpPr txBox="1"/>
          <p:nvPr/>
        </p:nvSpPr>
        <p:spPr>
          <a:xfrm>
            <a:off x="4572000" y="3054096"/>
            <a:ext cx="484632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أَرَى أَنَّهَا ضَرُورَةٌ؛ فَـ</a:t>
            </a:r>
            <a:pPr rtl="1" algn="ctr" indent="0" marL="0">
              <a:buNone/>
            </a:pPr>
            <a:r>
              <a:rPr lang="ar-SA" altLang="en-US" sz="1800" b="1" dirty="0">
                <a:solidFill>
                  <a:srgbClr val="0E7C86"/>
                </a:solidFill>
                <a:latin typeface="Amiri" pitchFamily="34" charset="0"/>
                <a:ea typeface="Amiri" pitchFamily="34" charset="-122"/>
                <a:cs typeface="Amiri" pitchFamily="34" charset="-120"/>
              </a:rPr>
              <a:t>إِذَا</a:t>
            </a:r>
            <a:pPr rtl="1" algn="ctr" indent="0" marL="0">
              <a:buNone/>
            </a:pPr>
            <a:r>
              <a:rPr lang="ar-SA" altLang="en-US" sz="1800" b="1" dirty="0">
                <a:solidFill>
                  <a:srgbClr val="1B3B6F"/>
                </a:solidFill>
                <a:latin typeface="Amiri" pitchFamily="34" charset="0"/>
                <a:ea typeface="Amiri" pitchFamily="34" charset="-122"/>
                <a:cs typeface="Amiri" pitchFamily="34" charset="-120"/>
              </a:rPr>
              <a:t> احْتَرَمَ السُّيَّاحُ القَوَاعِدَ، </a:t>
            </a:r>
            <a:pPr rtl="1" algn="ctr" indent="0" marL="0">
              <a:buNone/>
            </a:pPr>
            <a:r>
              <a:rPr lang="ar-SA" altLang="en-US" sz="1800" b="1" dirty="0">
                <a:solidFill>
                  <a:srgbClr val="0E7C86"/>
                </a:solidFill>
                <a:latin typeface="Amiri" pitchFamily="34" charset="0"/>
                <a:ea typeface="Amiri" pitchFamily="34" charset="-122"/>
                <a:cs typeface="Amiri" pitchFamily="34" charset="-120"/>
              </a:rPr>
              <a:t>سَتَبْقَى</a:t>
            </a:r>
            <a:pPr rtl="1" algn="ctr" indent="0" marL="0">
              <a:buNone/>
            </a:pPr>
            <a:r>
              <a:rPr lang="ar-SA" altLang="en-US" sz="1800" b="1" dirty="0">
                <a:solidFill>
                  <a:srgbClr val="1B3B6F"/>
                </a:solidFill>
                <a:latin typeface="Amiri" pitchFamily="34" charset="0"/>
                <a:ea typeface="Amiri" pitchFamily="34" charset="-122"/>
                <a:cs typeface="Amiri" pitchFamily="34" charset="-120"/>
              </a:rPr>
              <a:t> …</a:t>
            </a:r>
            <a:endParaRPr lang="ar-SA" sz="1800" dirty="0"/>
          </a:p>
        </p:txBody>
      </p:sp>
      <p:sp>
        <p:nvSpPr>
          <p:cNvPr id="31" name="Text 28"/>
          <p:cNvSpPr txBox="1"/>
          <p:nvPr/>
        </p:nvSpPr>
        <p:spPr>
          <a:xfrm>
            <a:off x="548640" y="3054096"/>
            <a:ext cx="384048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مَا رَأْيُكَ فِي السِّيَاحَةِ المُسْتَدَامَةِ؟</a:t>
            </a:r>
            <a:endParaRPr lang="ar-SA" sz="17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10442448" y="3840480"/>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2</a:t>
            </a:r>
            <a:endParaRPr lang="en-US" sz="1100" dirty="0"/>
          </a:p>
        </p:txBody>
      </p:sp>
      <p:sp>
        <p:nvSpPr>
          <p:cNvPr id="36" name="Text 33"/>
          <p:cNvSpPr txBox="1"/>
          <p:nvPr/>
        </p:nvSpPr>
        <p:spPr>
          <a:xfrm>
            <a:off x="9619488" y="3840480"/>
            <a:ext cx="640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Q3</a:t>
            </a:r>
            <a:endParaRPr lang="en-US" sz="1100" dirty="0"/>
          </a:p>
        </p:txBody>
      </p:sp>
      <p:sp>
        <p:nvSpPr>
          <p:cNvPr id="37" name="Text 34"/>
          <p:cNvSpPr txBox="1"/>
          <p:nvPr/>
        </p:nvSpPr>
        <p:spPr>
          <a:xfrm>
            <a:off x="4572000" y="3840480"/>
            <a:ext cx="4846320" cy="731520"/>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34" charset="0"/>
                <a:ea typeface="Amiri" pitchFamily="34" charset="-122"/>
                <a:cs typeface="Amiri" pitchFamily="34" charset="-120"/>
              </a:rPr>
              <a:t>لَوْ كَانَ لَدَيَّ</a:t>
            </a:r>
            <a:pPr rtl="1" algn="ctr" indent="0" marL="0">
              <a:buNone/>
            </a:pPr>
            <a:r>
              <a:rPr lang="ar-SA" altLang="en-US" sz="1800" b="1" dirty="0">
                <a:solidFill>
                  <a:srgbClr val="1B3B6F"/>
                </a:solidFill>
                <a:latin typeface="Amiri" pitchFamily="34" charset="0"/>
                <a:ea typeface="Amiri" pitchFamily="34" charset="-122"/>
                <a:cs typeface="Amiri" pitchFamily="34" charset="-120"/>
              </a:rPr>
              <a:t> مِيزَانِيَّةٌ غَيْرُ مَحْدُودَةٍ، </a:t>
            </a:r>
            <a:pPr rtl="1" algn="ctr" indent="0" marL="0">
              <a:buNone/>
            </a:pPr>
            <a:r>
              <a:rPr lang="ar-SA" altLang="en-US" sz="1800" b="1" dirty="0">
                <a:solidFill>
                  <a:srgbClr val="C77700"/>
                </a:solidFill>
                <a:latin typeface="Amiri" pitchFamily="34" charset="0"/>
                <a:ea typeface="Amiri" pitchFamily="34" charset="-122"/>
                <a:cs typeface="Amiri" pitchFamily="34" charset="-120"/>
              </a:rPr>
              <a:t>لَزُرْتُ</a:t>
            </a:r>
            <a:pPr rtl="1" algn="ctr" indent="0" marL="0">
              <a:buNone/>
            </a:pPr>
            <a:r>
              <a:rPr lang="ar-SA" altLang="en-US" sz="1800" b="1" dirty="0">
                <a:solidFill>
                  <a:srgbClr val="1B3B6F"/>
                </a:solidFill>
                <a:latin typeface="Amiri" pitchFamily="34" charset="0"/>
                <a:ea typeface="Amiri" pitchFamily="34" charset="-122"/>
                <a:cs typeface="Amiri" pitchFamily="34" charset="-120"/>
              </a:rPr>
              <a:t> …</a:t>
            </a:r>
            <a:endParaRPr lang="ar-SA" sz="1800" dirty="0"/>
          </a:p>
        </p:txBody>
      </p:sp>
      <p:sp>
        <p:nvSpPr>
          <p:cNvPr id="38" name="Text 35"/>
          <p:cNvSpPr txBox="1"/>
          <p:nvPr/>
        </p:nvSpPr>
        <p:spPr>
          <a:xfrm>
            <a:off x="548640" y="3840480"/>
            <a:ext cx="384048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لَوْ كَانَ لَدَيْكَ مِيزَانِيَّةٌ غَيْرُ مَحْدُودَةٍ، أَيْنَ سَتَذْهَبُ؟</a:t>
            </a:r>
            <a:endParaRPr lang="ar-SA" sz="17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10442448" y="4626864"/>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yaḥjiz · yuqīm</a:t>
            </a:r>
            <a:endParaRPr lang="en-US" sz="1100" dirty="0"/>
          </a:p>
        </p:txBody>
      </p:sp>
      <p:sp>
        <p:nvSpPr>
          <p:cNvPr id="43" name="Text 40"/>
          <p:cNvSpPr txBox="1"/>
          <p:nvPr/>
        </p:nvSpPr>
        <p:spPr>
          <a:xfrm>
            <a:off x="9619488" y="4626864"/>
            <a:ext cx="640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RP</a:t>
            </a:r>
            <a:endParaRPr lang="en-US" sz="1100" dirty="0"/>
          </a:p>
        </p:txBody>
      </p:sp>
      <p:sp>
        <p:nvSpPr>
          <p:cNvPr id="44" name="Text 41"/>
          <p:cNvSpPr txBox="1"/>
          <p:nvPr/>
        </p:nvSpPr>
        <p:spPr>
          <a:xfrm>
            <a:off x="4572000" y="4626864"/>
            <a:ext cx="484632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أُرِيدُ أَنْ </a:t>
            </a:r>
            <a:pPr rtl="1" algn="ctr" indent="0" marL="0">
              <a:buNone/>
            </a:pPr>
            <a:r>
              <a:rPr lang="ar-SA" altLang="en-US" sz="1800" b="1" dirty="0">
                <a:solidFill>
                  <a:srgbClr val="1D5FBF"/>
                </a:solidFill>
                <a:latin typeface="Amiri" pitchFamily="34" charset="0"/>
                <a:ea typeface="Amiri" pitchFamily="34" charset="-122"/>
                <a:cs typeface="Amiri" pitchFamily="34" charset="-120"/>
              </a:rPr>
              <a:t>أَحْجِزَ</a:t>
            </a:r>
            <a:pPr rtl="1" algn="ctr" indent="0" marL="0">
              <a:buNone/>
            </a:pPr>
            <a:r>
              <a:rPr lang="ar-SA" altLang="en-US" sz="1800" b="1" dirty="0">
                <a:solidFill>
                  <a:srgbClr val="1B3B6F"/>
                </a:solidFill>
                <a:latin typeface="Amiri" pitchFamily="34" charset="0"/>
                <a:ea typeface="Amiri" pitchFamily="34" charset="-122"/>
                <a:cs typeface="Amiri" pitchFamily="34" charset="-120"/>
              </a:rPr>
              <a:t> غُرْفَةً؛ أَيْنَ يُمْكِنُ أَنْ </a:t>
            </a:r>
            <a:pPr rtl="1" algn="ctr" indent="0" marL="0">
              <a:buNone/>
            </a:pPr>
            <a:r>
              <a:rPr lang="ar-SA" altLang="en-US" sz="1800" b="1" dirty="0">
                <a:solidFill>
                  <a:srgbClr val="1D5FBF"/>
                </a:solidFill>
                <a:latin typeface="Amiri" pitchFamily="34" charset="0"/>
                <a:ea typeface="Amiri" pitchFamily="34" charset="-122"/>
                <a:cs typeface="Amiri" pitchFamily="34" charset="-120"/>
              </a:rPr>
              <a:t>أُقِيمَ</a:t>
            </a:r>
            <a:pPr rtl="1" algn="ctr" indent="0" marL="0">
              <a:buNone/>
            </a:pPr>
            <a:r>
              <a:rPr lang="ar-SA" altLang="en-US" sz="1800" b="1" dirty="0">
                <a:solidFill>
                  <a:srgbClr val="1B3B6F"/>
                </a:solidFill>
                <a:latin typeface="Amiri" pitchFamily="34" charset="0"/>
                <a:ea typeface="Amiri" pitchFamily="34" charset="-122"/>
                <a:cs typeface="Amiri" pitchFamily="34" charset="-120"/>
              </a:rPr>
              <a:t>؟</a:t>
            </a:r>
            <a:endParaRPr lang="ar-SA" sz="1800" dirty="0"/>
          </a:p>
        </p:txBody>
      </p:sp>
      <p:sp>
        <p:nvSpPr>
          <p:cNvPr id="45" name="Text 42"/>
          <p:cNvSpPr txBox="1"/>
          <p:nvPr/>
        </p:nvSpPr>
        <p:spPr>
          <a:xfrm>
            <a:off x="566928" y="4626864"/>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role play: booking and accommodation</a:t>
            </a:r>
            <a:endParaRPr lang="en-US" sz="1100" dirty="0"/>
          </a:p>
        </p:txBody>
      </p:sp>
      <p:sp>
        <p:nvSpPr>
          <p:cNvPr id="46" name="Text 4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teaching point: a law question answered with idhā is conditional avoidance — and loses the mark.</a:t>
            </a:r>
            <a:endParaRPr lang="en-US" sz="11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ANSWER LAW WITH LAW (WEBSITE TEACHING POINT 2 + SPEAKING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Structure · reason · extra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بِنْيَةٌ · سَبَبٌ · إِضَافَةٌ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1 · STRUCTURE · CORE</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لَوْ … لَـ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لَوْ كَانَ لَدَيَّ مِيزَانِيَّةٌ غَيْرُ مَحْدُودَةٍ، لَزُرْتُ كُلَّ المَوَاقِعِ التُّرَاثِيَّةِ.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I had an unlimited budget, I would visit every heritage site.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required one.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2 · REASON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34" charset="0"/>
                <a:ea typeface="Amiri" pitchFamily="34" charset="-122"/>
                <a:cs typeface="Amiri" pitchFamily="34" charset="-120"/>
              </a:rPr>
              <a:t>لِأَنَّ كُلَّ مَوْقِعٍ يَحْكِي قِصَّةَ حَضَارَةٍ.</a:t>
            </a:r>
            <a:endParaRPr lang="ar-SA" sz="24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Because every site tells the story of a civilisation.</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Say WHY.</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3 · EXTRA · STRETCH</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وَلَـ … · يُسْتَحْسَنُ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وَلَتَعَلَّمْتُ عَنْ كُلِّ حَضَارَةٍ.</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And I would learn about every civilisation.</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 second la-.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teaching point: answering a law question with idhā is conditional avoidance.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لَوْ كَانَ لَدَيَّ مِيزَانِيَّةٌ، لَذَهَبْتُ إِلَى اليَابَانِ</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00" b="1" dirty="0">
                <a:solidFill>
                  <a:srgbClr val="B83227"/>
                </a:solidFill>
                <a:latin typeface="Amiri" pitchFamily="34" charset="0"/>
                <a:ea typeface="Amiri" pitchFamily="34" charset="-122"/>
                <a:cs typeface="Amiri" pitchFamily="34" charset="-120"/>
              </a:rPr>
              <a:t>إِذَا كَانَ لَدَيَّ مِيزَانِيَّةٌ، سَأَذْهَبُ إِلَى اليَابَانِ</a:t>
            </a:r>
            <a:endParaRPr lang="ar-SA" sz="1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Repairing the P3 error zones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إِصْلَاحُ الأَخْطَاءِ الشَّائِعَةِ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Type 2 result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law + past → la- + past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لَوْ حَجَزْتُ مُبَكِّرًا، لَحَصَلْتُ عَلَى سِعْرٍ أَرْخَصَ</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Past verb after law</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law + past (not present)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لَوْ زُرْتُ المَغْرِبَ …</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Subjunctive after an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yustaḥsan an + verb in -a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يُسْتَحْسَنُ أَنْ يَتَعَلَّمَ الزَّائِرُ التَّحِيَّةَ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Tourism-verb agreement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tubhiru (f.) · yastaqṭib (Form X)</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تُبْهِرُ المَدِينَةُ زُوَّارَهَا   ·   تَسْتَقْطِبُ المَدِينَةُ السُّيَّاحَ</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Type 2 conditional is correct?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حَجَزْتُ مُبَكِّرًا، حَصَلْتُ عَلَى سِعْرٍ أَرْخَصَ.</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حَجَزْتُ مُبَكِّرًا، سَأَحْصُلُ عَلَى سِعْرٍ أَرْخَصَ.</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حَجَزْتُ مُبَكِّرًا، لَحَصَلْتُ عَلَى سِعْرٍ أَرْخَصَ.</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form follows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أَزُورُ</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سَأَزُورُ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correct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يُسْتَحْسَنُ أَنْ يَتَعَلَّمُ الزَّائِرُ.</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يُسْتَحْسَنُ أَنْ يَتَعَلَّمَ الزَّائِرُ.</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يُسْتَحْسَنُ أَنْ تَعَلَّمَ الزَّائِرُ.</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answers a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question well?</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لَوْ كَانَ لَدَيَّ مِيزَانِيَّةٌ غَيْرُ مَحْدُودَةٍ، لَذَهَبْتُ إِلَى اليَابَانِ.</a:t>
            </a:r>
            <a:endParaRPr lang="ar-SA" sz="19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إِذَا كَانَ لَدَيَّ مِيزَانِيَّةٌ، سَأَذْهَبُ إِلَى اليَابَانِ.</a:t>
            </a:r>
            <a:endParaRPr lang="ar-SA" sz="19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أَذْهَبُ إِلَى اليَابَانِ.</a:t>
            </a:r>
            <a:endParaRPr lang="ar-SA" sz="19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Type 2 conditional is correct?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حَجَزْتُ مُبَكِّرًا، حَصَلْتُ عَلَى سِعْرٍ أَرْخَصَ.</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حَجَزْتُ مُبَكِّرًا، سَأَحْصُلُ عَلَى سِعْرٍ أَرْخَصَ.</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حَجَزْتُ مُبَكِّرًا، لَحَصَلْتُ عَلَى سِعْرٍ أَرْخَصَ.</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2 result takes the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prefix.</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form follows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زُرْتُ</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أَزُورُ</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سَأَزُورُ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a:t>
            </a:r>
            <a:pPr algn="l" indent="0" marL="0">
              <a:buNone/>
            </a:pPr>
            <a:r>
              <a:rPr lang="en-US" sz="1050" i="1" dirty="0">
                <a:solidFill>
                  <a:srgbClr val="8A6D1E"/>
                </a:solidFill>
                <a:latin typeface="Calibri" pitchFamily="34" charset="0"/>
                <a:ea typeface="Calibri" pitchFamily="34" charset="-122"/>
                <a:cs typeface="Calibri" pitchFamily="34" charset="-120"/>
              </a:rPr>
              <a:t> is followed by a past-tense verb.</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correct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يُسْتَحْسَنُ أَنْ يَتَعَلَّمُ الزَّائِرُ.</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يُسْتَحْسَنُ أَنْ يَتَعَلَّمَ الزَّائِرُ.</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يُسْتَحْسَنُ أَنْ تَعَلَّمَ الزَّائِرُ.</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verb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يَتَعَلَّمَ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answers a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question well?</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كَانَ لَدَيَّ مِيزَانِيَّةٌ غَيْرُ مَحْدُودَةٍ، لَذَهَبْتُ إِلَى اليَابَانِ.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كَانَ لَدَيَّ مِيزَانِيَّةٌ، سَأَذْهَبُ إِلَى اليَابَانِ.</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أَذْهَبُ إِلَى اليَابَانِ.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a:t>
            </a:r>
            <a:pPr algn="l" indent="0" marL="0">
              <a:buNone/>
            </a:pPr>
            <a:r>
              <a:rPr lang="ar-SA" altLang="en-US" sz="1350" dirty="0">
                <a:solidFill>
                  <a:srgbClr val="8A6D1E"/>
                </a:solidFill>
                <a:latin typeface="Amiri" pitchFamily="34" charset="0"/>
                <a:ea typeface="Amiri" pitchFamily="34" charset="-122"/>
                <a:cs typeface="Amiri" pitchFamily="34" charset="-120"/>
              </a:rPr>
              <a:t>لَوْ</a:t>
            </a:r>
            <a:pPr algn="l" indent="0" marL="0">
              <a:buNone/>
            </a:pPr>
            <a:r>
              <a:rPr lang="en-US" sz="1050" i="1" dirty="0">
                <a:solidFill>
                  <a:srgbClr val="8A6D1E"/>
                </a:solidFill>
                <a:latin typeface="Calibri" pitchFamily="34" charset="0"/>
                <a:ea typeface="Calibri" pitchFamily="34" charset="-122"/>
                <a:cs typeface="Calibri" pitchFamily="34" charset="-120"/>
              </a:rPr>
              <a:t> question is answered with a Type 2 conditional.</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Watch me answer the three questions</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Q1</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كُنْتُ قَدْ تَوَقَّعْتُ</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kuntu … -tu.</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Q2</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0E7C86"/>
                </a:solidFill>
                <a:latin typeface="Amiri" pitchFamily="34" charset="0"/>
                <a:ea typeface="Amiri" pitchFamily="34" charset="-122"/>
                <a:cs typeface="Amiri" pitchFamily="34" charset="-120"/>
              </a:rPr>
              <a:t>إِذَا</a:t>
            </a:r>
            <a:pPr rtl="1" algn="ctr" indent="0" marL="0">
              <a:buNone/>
            </a:pPr>
            <a:r>
              <a:rPr lang="ar-SA" altLang="en-US" sz="2550" b="1" dirty="0">
                <a:solidFill>
                  <a:srgbClr val="1B3B6F"/>
                </a:solidFill>
                <a:latin typeface="Amiri" pitchFamily="34" charset="0"/>
                <a:ea typeface="Amiri" pitchFamily="34" charset="-122"/>
                <a:cs typeface="Amiri" pitchFamily="34" charset="-120"/>
              </a:rPr>
              <a:t> احْتَرَمَ … </a:t>
            </a:r>
            <a:pPr rtl="1" algn="ctr" indent="0" marL="0">
              <a:buNone/>
            </a:pPr>
            <a:r>
              <a:rPr lang="ar-SA" altLang="en-US" sz="2550" b="1" dirty="0">
                <a:solidFill>
                  <a:srgbClr val="0E7C86"/>
                </a:solidFill>
                <a:latin typeface="Amiri" pitchFamily="34" charset="0"/>
                <a:ea typeface="Amiri" pitchFamily="34" charset="-122"/>
                <a:cs typeface="Amiri" pitchFamily="34" charset="-120"/>
              </a:rPr>
              <a:t>سَتَبْقَى</a:t>
            </a:r>
            <a:pPr rtl="1" algn="ctr" indent="0" marL="0">
              <a:buNone/>
            </a:pPr>
            <a:r>
              <a:rPr lang="ar-SA" altLang="en-US" sz="2550" b="1" dirty="0">
                <a:solidFill>
                  <a:srgbClr val="1B3B6F"/>
                </a:solidFill>
                <a:latin typeface="Amiri" pitchFamily="34" charset="0"/>
                <a:ea typeface="Amiri" pitchFamily="34" charset="-122"/>
                <a:cs typeface="Amiri" pitchFamily="34" charset="-120"/>
              </a:rPr>
              <a:t> …</a:t>
            </a:r>
            <a:endParaRPr lang="ar-SA" sz="25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Q3</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C77700"/>
                </a:solidFill>
                <a:latin typeface="Amiri" pitchFamily="34" charset="0"/>
                <a:ea typeface="Amiri" pitchFamily="34" charset="-122"/>
                <a:cs typeface="Amiri" pitchFamily="34" charset="-120"/>
              </a:rPr>
              <a:t>لَوْ كَانَ لَدَيَّ</a:t>
            </a:r>
            <a:pPr rtl="1" algn="ctr" indent="0" marL="0">
              <a:buNone/>
            </a:pPr>
            <a:r>
              <a:rPr lang="ar-SA" altLang="en-US" sz="2550" b="1" dirty="0">
                <a:solidFill>
                  <a:srgbClr val="1B3B6F"/>
                </a:solidFill>
                <a:latin typeface="Amiri" pitchFamily="34" charset="0"/>
                <a:ea typeface="Amiri" pitchFamily="34" charset="-122"/>
                <a:cs typeface="Amiri" pitchFamily="34" charset="-120"/>
              </a:rPr>
              <a:t> … </a:t>
            </a:r>
            <a:pPr rtl="1" algn="ctr" indent="0" marL="0">
              <a:buNone/>
            </a:pPr>
            <a:r>
              <a:rPr lang="ar-SA" altLang="en-US" sz="2550" b="1" dirty="0">
                <a:solidFill>
                  <a:srgbClr val="C77700"/>
                </a:solidFill>
                <a:latin typeface="Amiri" pitchFamily="34" charset="0"/>
                <a:ea typeface="Amiri" pitchFamily="34" charset="-122"/>
                <a:cs typeface="Amiri" pitchFamily="34" charset="-120"/>
              </a:rPr>
              <a:t>لَزُرْتُ</a:t>
            </a:r>
            <a:pPr rtl="1" algn="ctr" indent="0" marL="0">
              <a:buNone/>
            </a:pPr>
            <a:r>
              <a:rPr lang="ar-SA" altLang="en-US" sz="2550" b="1" dirty="0">
                <a:solidFill>
                  <a:srgbClr val="1B3B6F"/>
                </a:solidFill>
                <a:latin typeface="Amiri" pitchFamily="34" charset="0"/>
                <a:ea typeface="Amiri" pitchFamily="34" charset="-122"/>
                <a:cs typeface="Amiri" pitchFamily="34" charset="-120"/>
              </a:rPr>
              <a:t> …</a:t>
            </a:r>
            <a:endParaRPr lang="ar-SA" sz="25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Extra</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يُسْتَحْسَنُ أَنْ </a:t>
            </a:r>
            <a:pPr rtl="1" algn="ctr" indent="0" marL="0">
              <a:buNone/>
            </a:pPr>
            <a:r>
              <a:rPr lang="ar-SA" altLang="en-US" sz="2800" b="1" dirty="0">
                <a:solidFill>
                  <a:srgbClr val="7B3FA0"/>
                </a:solidFill>
                <a:latin typeface="Amiri" pitchFamily="34" charset="0"/>
                <a:ea typeface="Amiri" pitchFamily="34" charset="-122"/>
                <a:cs typeface="Amiri" pitchFamily="34" charset="-120"/>
              </a:rPr>
              <a:t>يَتَعَلَّمَ</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after an.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PAST PERFECT</a:t>
            </a:r>
            <a:endParaRPr lang="en-US" sz="800" dirty="0"/>
          </a:p>
        </p:txBody>
      </p:sp>
      <p:sp>
        <p:nvSpPr>
          <p:cNvPr id="47" name="Shape 43"/>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TYPE 1</a:t>
            </a:r>
            <a:endParaRPr lang="en-US" sz="800" dirty="0"/>
          </a:p>
        </p:txBody>
      </p:sp>
      <p:sp>
        <p:nvSpPr>
          <p:cNvPr id="49" name="Shape 45"/>
          <p:cNvSpPr/>
          <p:nvPr/>
        </p:nvSpPr>
        <p:spPr>
          <a:xfrm>
            <a:off x="9528048" y="4736592"/>
            <a:ext cx="914400" cy="237744"/>
          </a:xfrm>
          <a:prstGeom prst="roundRect">
            <a:avLst>
              <a:gd name="adj" fmla="val 50000"/>
            </a:avLst>
          </a:prstGeom>
          <a:solidFill>
            <a:srgbClr val="C77700"/>
          </a:solidFill>
          <a:ln w="12700">
            <a:solidFill>
              <a:srgbClr val="C77700"/>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TYPE 2</a:t>
            </a:r>
            <a:endParaRPr lang="en-US" sz="800" dirty="0"/>
          </a:p>
        </p:txBody>
      </p:sp>
      <p:sp>
        <p:nvSpPr>
          <p:cNvPr id="51" name="Shape 47"/>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AN + -A</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كُنْتُ قَدْ تَوَقَّعْتُ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أَنَّ البَتْرَاءَ مُجَرَّدُ آثَارٍ، لٰكِنَّهَا فَاقَتْ كُلَّ تَوَقُّعَاتِي. أَرَى أَنَّ السِّيَاحَةَ المُسْتَدَامَةَ ضَرُورَةٌ؛ فَـ</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إِذَا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احْتَرَمَ السُّيَّاحُ القَوَاعِدَ،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سَتَبْقَى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المَوَاقِعُ لِلْأَجْيَالِ القَادِمَةِ.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وَلَوْ كَانَ لَدَيَّ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مِيزَانِيَّةٌ غَيْرُ مَحْدُودَةٍ،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لَزُرْتُ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كُلَّ المَوَاقِعِ التُّرَاثِيَّةِ فِي العَالَمِ العَرَبِيِّ. يُسْتَحْسَنُ أَنْ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يَتَعَلَّمَ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الزَّائِرُ بَعْضَ العِبَارَاتِ العَرَبِيَّةِ.</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had expected Petra to be just ruins, but it exceeded all my expectations. I think sustainable tourism is a necessity: if tourists respect the rules, the sites will remain for future generations. And if I had an unlimited budget, I would visit every heritage site in the Arab world. It is preferable for a visitor to learn some Arabic phrases.</a:t>
            </a:r>
            <a:endParaRPr lang="en-US" sz="105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لَوْ حَجَزْتُ مُبَكِّرًا، لَحَصَلْتُ عَلَى سِعْرٍ أَرْخَصَ</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had I booked early, I would have got a cheaper price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Type 2: law + past → la-.</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يُسْتَحْسَنُ أَنْ يَتَعَلَّمَ الزَّائِرُ التَّحِيَّةَ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is preferable for the visitor to learn the greeting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verb in -a after an.</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تُبْهِرُ المَدِينَةُ زُوَّارَهَا وَتَسْتَقْطِبُ آلَافَ السُّيَّاحِ</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city dazzles its visitors and attracts thousands of tourists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Agreement and Form X.</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REPAIR THE SLIPS (WEBSITE MISTAKES + EARLIER P3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Find it, fix it, name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وَسَمِّ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6851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Zone</a:t>
            </a:r>
            <a:endParaRPr lang="en-US" sz="1100" dirty="0"/>
          </a:p>
        </p:txBody>
      </p:sp>
      <p:sp>
        <p:nvSpPr>
          <p:cNvPr id="17" name="Text 14"/>
          <p:cNvSpPr txBox="1"/>
          <p:nvPr/>
        </p:nvSpPr>
        <p:spPr>
          <a:xfrm>
            <a:off x="446227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Correct</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Slip</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705088" y="2267712"/>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2 result</a:t>
            </a:r>
            <a:endParaRPr lang="en-US" sz="1100" dirty="0"/>
          </a:p>
        </p:txBody>
      </p:sp>
      <p:sp>
        <p:nvSpPr>
          <p:cNvPr id="21" name="Text 18"/>
          <p:cNvSpPr txBox="1"/>
          <p:nvPr/>
        </p:nvSpPr>
        <p:spPr>
          <a:xfrm>
            <a:off x="4480560" y="2267712"/>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لَوْ حَجَزْتُ مُبَكِّرًا، لَحَصَلْتُ عَلَى تَعْوِيضٍ.</a:t>
            </a:r>
            <a:endParaRPr lang="ar-SA" sz="1900" dirty="0"/>
          </a:p>
        </p:txBody>
      </p:sp>
      <p:sp>
        <p:nvSpPr>
          <p:cNvPr id="22" name="Text 19"/>
          <p:cNvSpPr txBox="1"/>
          <p:nvPr/>
        </p:nvSpPr>
        <p:spPr>
          <a:xfrm>
            <a:off x="548640" y="2267712"/>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لَوْ حَجَزْتُ مُبَكِّرًا، حَصَلْتُ عَلَى تَعْوِيضٍ.</a:t>
            </a:r>
            <a:endParaRPr lang="ar-SA" sz="19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705088" y="2881884"/>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 -a</a:t>
            </a:r>
            <a:endParaRPr lang="en-US" sz="1100" dirty="0"/>
          </a:p>
        </p:txBody>
      </p:sp>
      <p:sp>
        <p:nvSpPr>
          <p:cNvPr id="27" name="Text 24"/>
          <p:cNvSpPr txBox="1"/>
          <p:nvPr/>
        </p:nvSpPr>
        <p:spPr>
          <a:xfrm>
            <a:off x="4480560" y="2881884"/>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يُسْتَحْسَنُ أَنْ يَتَعَلَّمَ الزَّائِرُ.</a:t>
            </a:r>
            <a:endParaRPr lang="ar-SA" sz="1900" dirty="0"/>
          </a:p>
        </p:txBody>
      </p:sp>
      <p:sp>
        <p:nvSpPr>
          <p:cNvPr id="28" name="Text 25"/>
          <p:cNvSpPr txBox="1"/>
          <p:nvPr/>
        </p:nvSpPr>
        <p:spPr>
          <a:xfrm>
            <a:off x="548640" y="2881884"/>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يُسْتَحْسَنُ أَنْ يَتَعَلَّمُ الزَّائِرُ.</a:t>
            </a:r>
            <a:endParaRPr lang="ar-SA" sz="19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705088" y="3496056"/>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agreement</a:t>
            </a:r>
            <a:endParaRPr lang="en-US" sz="1100" dirty="0"/>
          </a:p>
        </p:txBody>
      </p:sp>
      <p:sp>
        <p:nvSpPr>
          <p:cNvPr id="33" name="Text 30"/>
          <p:cNvSpPr txBox="1"/>
          <p:nvPr/>
        </p:nvSpPr>
        <p:spPr>
          <a:xfrm>
            <a:off x="4480560" y="3496056"/>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تُبْهِرُ المَدِينَةُ زُوَّارَهَا.</a:t>
            </a:r>
            <a:endParaRPr lang="ar-SA" sz="1900" dirty="0"/>
          </a:p>
        </p:txBody>
      </p:sp>
      <p:sp>
        <p:nvSpPr>
          <p:cNvPr id="34" name="Text 31"/>
          <p:cNvSpPr txBox="1"/>
          <p:nvPr/>
        </p:nvSpPr>
        <p:spPr>
          <a:xfrm>
            <a:off x="548640" y="3496056"/>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يُبْهِرُ المَدِينَةُ زُوَّارَهَا.</a:t>
            </a:r>
            <a:endParaRPr lang="ar-SA" sz="19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705088" y="4110228"/>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complement (P3-L05)</a:t>
            </a:r>
            <a:endParaRPr lang="en-US" sz="1100" dirty="0"/>
          </a:p>
        </p:txBody>
      </p:sp>
      <p:sp>
        <p:nvSpPr>
          <p:cNvPr id="39" name="Text 36"/>
          <p:cNvSpPr txBox="1"/>
          <p:nvPr/>
        </p:nvSpPr>
        <p:spPr>
          <a:xfrm>
            <a:off x="4480560" y="4110228"/>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تُسْهِمُ السِّيَاحَةُ فِي الاقْتِصَادِ.</a:t>
            </a:r>
            <a:endParaRPr lang="ar-SA" sz="1900" dirty="0"/>
          </a:p>
        </p:txBody>
      </p:sp>
      <p:sp>
        <p:nvSpPr>
          <p:cNvPr id="40" name="Text 37"/>
          <p:cNvSpPr txBox="1"/>
          <p:nvPr/>
        </p:nvSpPr>
        <p:spPr>
          <a:xfrm>
            <a:off x="548640" y="4110228"/>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تُسْهِمُ السِّيَاحَةُ بِالاقْتِصَادِ.</a:t>
            </a:r>
            <a:endParaRPr lang="ar-SA" sz="19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705088" y="4724400"/>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 -a (P3-L06)</a:t>
            </a:r>
            <a:endParaRPr lang="en-US" sz="1100" dirty="0"/>
          </a:p>
        </p:txBody>
      </p:sp>
      <p:sp>
        <p:nvSpPr>
          <p:cNvPr id="43" name="Text 40"/>
          <p:cNvSpPr txBox="1"/>
          <p:nvPr/>
        </p:nvSpPr>
        <p:spPr>
          <a:xfrm>
            <a:off x="4480560" y="4724400"/>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قَرَّرْتُ أَنْ أَلْجَأَ إِلَى السَّفَارَةِ.</a:t>
            </a:r>
            <a:endParaRPr lang="ar-SA" sz="1900" dirty="0"/>
          </a:p>
        </p:txBody>
      </p:sp>
      <p:sp>
        <p:nvSpPr>
          <p:cNvPr id="44" name="Text 41"/>
          <p:cNvSpPr txBox="1"/>
          <p:nvPr/>
        </p:nvSpPr>
        <p:spPr>
          <a:xfrm>
            <a:off x="548640" y="4724400"/>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قَرَّرْتُ أَنْ أَلْجَأُ إِلَى السَّفَارَةِ.</a:t>
            </a:r>
            <a:endParaRPr lang="ar-SA" sz="19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705088" y="5338572"/>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1 result (P3-L08)</a:t>
            </a:r>
            <a:endParaRPr lang="en-US" sz="1100" dirty="0"/>
          </a:p>
        </p:txBody>
      </p:sp>
      <p:sp>
        <p:nvSpPr>
          <p:cNvPr id="47" name="Text 44"/>
          <p:cNvSpPr txBox="1"/>
          <p:nvPr/>
        </p:nvSpPr>
        <p:spPr>
          <a:xfrm>
            <a:off x="4480560" y="5338572"/>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إِذَا حَجَزْتَ مُبَكِّرًا، سَتُوَفِّرُ المَالَ.</a:t>
            </a:r>
            <a:endParaRPr lang="ar-SA" sz="1900" dirty="0"/>
          </a:p>
        </p:txBody>
      </p:sp>
      <p:sp>
        <p:nvSpPr>
          <p:cNvPr id="48" name="Text 45"/>
          <p:cNvSpPr txBox="1"/>
          <p:nvPr/>
        </p:nvSpPr>
        <p:spPr>
          <a:xfrm>
            <a:off x="548640" y="5338572"/>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إِذَا حَجَزْتَ مُبَكِّرًا، لَوَفَّرْتَ المَالَ.</a:t>
            </a:r>
            <a:endParaRPr lang="ar-SA" sz="19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reading: “the shared lesson is that every structure has a precise marker that must be controlled.”</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AN ASSESSMENT ANSWER (WEBSITE LIVE BUILDER)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Background + Type 1 + Type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جَوَابَكَ</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Background (kuntu qad)</a:t>
            </a:r>
            <a:endParaRPr lang="en-US" sz="1100" dirty="0"/>
          </a:p>
        </p:txBody>
      </p:sp>
      <p:sp>
        <p:nvSpPr>
          <p:cNvPr id="19" name="Text 16"/>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View (idhā … sa-)</a:t>
            </a:r>
            <a:endParaRPr lang="en-US" sz="1100" dirty="0"/>
          </a:p>
        </p:txBody>
      </p:sp>
      <p:sp>
        <p:nvSpPr>
          <p:cNvPr id="20" name="Text 17"/>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Hypothesis (law … la-)</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كُنْتُ قَدْ تَوَقَّعْتُ مَكَانًا عَادِيًّا لٰكِنَّهُ فَاقَ تَوَقُّعَاتِي</a:t>
            </a:r>
            <a:endParaRPr lang="ar-SA" sz="1600" dirty="0"/>
          </a:p>
        </p:txBody>
      </p:sp>
      <p:sp>
        <p:nvSpPr>
          <p:cNvPr id="23" name="Text 20"/>
          <p:cNvSpPr txBox="1"/>
          <p:nvPr/>
        </p:nvSpPr>
        <p:spPr>
          <a:xfrm>
            <a:off x="4416552" y="2267712"/>
            <a:ext cx="356616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وَإِذَا احْتَرَمَ السُّيَّاحُ القَوَاعِدَ سَتَبْقَى المَوَاقِعُ لِلْأَجْيَالِ</a:t>
            </a:r>
            <a:endParaRPr lang="ar-SA" sz="1500" dirty="0"/>
          </a:p>
        </p:txBody>
      </p:sp>
      <p:sp>
        <p:nvSpPr>
          <p:cNvPr id="24" name="Text 21"/>
          <p:cNvSpPr txBox="1"/>
          <p:nvPr/>
        </p:nvSpPr>
        <p:spPr>
          <a:xfrm>
            <a:off x="548640" y="2267712"/>
            <a:ext cx="3685032"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وَلَوْ كَانَ لَدَيَّ مِيزَانِيَّةٌ غَيْرُ مَحْدُودَةٍ لَزُرْتُ كُلَّ المَوَاقِعِ التُّرَاثِيَّةِ</a:t>
            </a:r>
            <a:endParaRPr lang="ar-SA" sz="1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كُنْتُ قَدْ قَرَأْتُ عَنِ الوِجْهَةِ قَبْلَ الرِّحْلَةِ</a:t>
            </a:r>
            <a:endParaRPr lang="ar-SA" sz="1600" dirty="0"/>
          </a:p>
        </p:txBody>
      </p:sp>
      <p:sp>
        <p:nvSpPr>
          <p:cNvPr id="29" name="Text 26"/>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وَإِذَا زُرْتُهَا ثَانِيَةً سَأَبْقَى أَطْوَلَ</a:t>
            </a:r>
            <a:endParaRPr lang="ar-SA" sz="1600" dirty="0"/>
          </a:p>
        </p:txBody>
      </p:sp>
      <p:sp>
        <p:nvSpPr>
          <p:cNvPr id="30" name="Text 27"/>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وَلَوْ تَعَلَّمْتُ العَرَبِيَّةَ لَكَانَتِ التَّجْرِبَةُ أَعْمَقَ</a:t>
            </a:r>
            <a:endParaRPr lang="ar-SA" sz="16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كُنْتُ قَدْ حَجَزْتُ رِحْلَتِي قَبْلَ شَهْرٍ</a:t>
            </a:r>
            <a:endParaRPr lang="ar-SA" sz="1600" dirty="0"/>
          </a:p>
        </p:txBody>
      </p:sp>
      <p:sp>
        <p:nvSpPr>
          <p:cNvPr id="33" name="Text 30"/>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وَإِذَا وَصَلْتُ مُبَكِّرًا سَأَتَجَنَّبُ الزِّحَامَ</a:t>
            </a:r>
            <a:endParaRPr lang="ar-SA" sz="1600" dirty="0"/>
          </a:p>
        </p:txBody>
      </p:sp>
      <p:sp>
        <p:nvSpPr>
          <p:cNvPr id="34" name="Text 31"/>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وَلَوْ بَقِيتُ أَطْوَلَ لَرَأَيْتُ المَزِيدَ</a:t>
            </a:r>
            <a:endParaRPr lang="ar-SA" sz="16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Say it aloud as one fluent answer.</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Conditional, past perfect / reported — or tourism / modal verb?</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زُرْتَ فَاسَ، سَتَنْبَهِرُ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بَقِيتُ أَطْوَلَ، لَرَأَيْتُ المَزِيدَ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حَجَزْتُ مُبَكِّرًا، لَوَفَّرْتُ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قَدْ حَجَزْتُ الرِّحْلَةَ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قَالَ الدَّلِيلُ إِنَّ</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كَانَتْ قَدْ أَقَامَتْ فِي فُنْدُقٍ</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تَسْتَقْطِبُ المَدِينَةُ السُّيَّاحَ</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تُبْهِرُ زُوَّارَهَا</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يُسْتَحْسَنُ أَنْ يَتَعَلَّمَ</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Conditional (Type 1/2)</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Past perfect / reported</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Tourism / modal verbs</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Conditional (Type 1/2)</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زُرْتَ فَاسَ، سَتَنْبَهِرُ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بَقِيتُ أَطْوَلَ، لَرَأَيْتُ المَزِيدَ</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حَجَزْتُ مُبَكِّرًا، لَوَفَّرْتُ</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Past perfect / reported</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قَدْ حَجَزْتُ الرِّحْلَةَ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قَالَ الدَّلِيلُ إِنَّ</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كَانَتْ قَدْ أَقَامَتْ فِي فُنْدُقٍ</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Tourism / modal verbs</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تَسْتَقْطِبُ المَدِينَةُ السُّيَّاحَ</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تُبْهِرُ زُوَّارَهَا</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يُسْتَحْسَنُ أَنْ يَتَعَلَّمَ</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5,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agreement is correct?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يُبْهِرُ المَدِينَةُ زُوَّارَهَا.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تُبْهِرُ المَدِينَةُ بِزُوَّارِهَا.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تُبْهِرُ المَدِينَةُ زُوَّارَهَا.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correct Form X verb?</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يَقْطِبُ</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يَسْتَقْطِبُ</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يُقْطِبُ</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reported clause is correct?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الدَّلِيلُ أَنَّ الرَّبِيعَ أَفْضَلُ.</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الدَّلِيلُ إِنَّ الرَّبِيعَ أَفْضَلُ.</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الدَّلِيلُ بِأَنَّ الرَّبِيعَ أَفْضَلُ.</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past perfect agrees (for a girl)?</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 قَدْ حَجَزَ.</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قَدْ حَجَزَتْ.</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 قَدْ حَجَزَتْ.</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agreement is correct?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يُبْهِرُ المَدِينَةُ زُوَّارَهَا.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تُبْهِرُ المَدِينَةُ بِزُوَّارِهَا.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تُبْهِرُ المَدِينَةُ زُوَّارَهَا.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المَدِينَة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a:t>
            </a:r>
            <a:pPr algn="l" indent="0" marL="0">
              <a:buNone/>
            </a:pPr>
            <a:r>
              <a:rPr lang="ar-SA" altLang="en-US" sz="1350" dirty="0">
                <a:solidFill>
                  <a:srgbClr val="8A6D1E"/>
                </a:solidFill>
                <a:latin typeface="Amiri" pitchFamily="34" charset="0"/>
                <a:ea typeface="Amiri" pitchFamily="34" charset="-122"/>
                <a:cs typeface="Amiri" pitchFamily="34" charset="-120"/>
              </a:rPr>
              <a:t>تُبْهِرُ</a:t>
            </a:r>
            <a:pPr algn="l" indent="0" marL="0">
              <a:buNone/>
            </a:pPr>
            <a:r>
              <a:rPr lang="en-US" sz="1050" i="1" dirty="0">
                <a:solidFill>
                  <a:srgbClr val="8A6D1E"/>
                </a:solidFill>
                <a:latin typeface="Calibri" pitchFamily="34" charset="0"/>
                <a:ea typeface="Calibri" pitchFamily="34" charset="-122"/>
                <a:cs typeface="Calibri" pitchFamily="34" charset="-120"/>
              </a:rPr>
              <a:t>, with a direct object.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correct Form X verb?</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يَقْطِبُ</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يَسْتَقْطِبُ</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يُقْطِبُ</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Form X verb is </a:t>
            </a:r>
            <a:pPr algn="l" indent="0" marL="0">
              <a:buNone/>
            </a:pPr>
            <a:r>
              <a:rPr lang="ar-SA" altLang="en-US" sz="1350" dirty="0">
                <a:solidFill>
                  <a:srgbClr val="8A6D1E"/>
                </a:solidFill>
                <a:latin typeface="Amiri" pitchFamily="34" charset="0"/>
                <a:ea typeface="Amiri" pitchFamily="34" charset="-122"/>
                <a:cs typeface="Amiri" pitchFamily="34" charset="-120"/>
              </a:rPr>
              <a:t>يَسْتَقْطِبُ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reported clause is correct?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 الدَّلِيلُ أَنَّ الرَّبِيعَ أَفْضَلُ.</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قَالَ الدَّلِيلُ إِنَّ الرَّبِيعَ أَفْضَلُ.</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 الدَّلِيلُ بِأَنَّ الرَّبِيعَ أَفْضَلُ.</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قَالَ</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past perfect agrees (for a girl)?</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كَانَتْ قَدْ حَجَزَ.</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 قَدْ حَجَزَتْ.</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كَانَتْ قَدْ حَجَزَتْ.</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كَانَتْ</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حَجَزَتْ</a:t>
            </a:r>
            <a:pPr algn="l" indent="0" marL="0">
              <a:buNone/>
            </a:pPr>
            <a:r>
              <a:rPr lang="en-US" sz="1050" i="1" dirty="0">
                <a:solidFill>
                  <a:srgbClr val="8A6D1E"/>
                </a:solidFill>
                <a:latin typeface="Calibri" pitchFamily="34" charset="0"/>
                <a:ea typeface="Calibri" pitchFamily="34" charset="-122"/>
                <a:cs typeface="Calibri" pitchFamily="34" charset="-120"/>
              </a:rPr>
              <a:t> both agree with the feminine subject.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لَوْ حَجَزْتُ مُبَكِّرًا، حَصَلْتُ عَلَى تَعْوِيضٍ.</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law … ḥaṣaltu?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يُسْتَحْسَنُ أَنْ يَتَعَلَّمُ الزَّائِرُ.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an yataʿallamu?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يُبْهِرُ المَدِينَةُ زُوَّارَهَا.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yubhiru l-madīnatu?</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لَوْ حَجَزْتُ مُبَكِّرًا، حَصَلْتُ عَلَى تَعْوِيضٍ.</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لَوْ حَجَزْتُ مُبَكِّرًا، لَحَصَلْتُ عَلَى تَعْوِيضٍ.</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Type 2 result takes the </a:t>
            </a:r>
            <a:pPr algn="l" indent="0" marL="0">
              <a:buNone/>
            </a:pPr>
            <a:r>
              <a:rPr lang="ar-SA" altLang="en-US" sz="1500" b="1" dirty="0">
                <a:solidFill>
                  <a:srgbClr val="1B3B6F"/>
                </a:solidFill>
                <a:latin typeface="Amiri" pitchFamily="34" charset="0"/>
                <a:ea typeface="Amiri" pitchFamily="34" charset="-122"/>
                <a:cs typeface="Amiri" pitchFamily="34" charset="-120"/>
              </a:rPr>
              <a:t>لَـ</a:t>
            </a:r>
            <a:pPr algn="l" indent="0" marL="0">
              <a:buNone/>
            </a:pPr>
            <a:r>
              <a:rPr lang="en-US" sz="1150" b="1" dirty="0">
                <a:solidFill>
                  <a:srgbClr val="1B3B6F"/>
                </a:solidFill>
                <a:latin typeface="Calibri" pitchFamily="34" charset="0"/>
                <a:ea typeface="Calibri" pitchFamily="34" charset="-122"/>
                <a:cs typeface="Calibri" pitchFamily="34" charset="-120"/>
              </a:rPr>
              <a:t> prefix.</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يُسْتَحْسَنُ أَنْ يَتَعَلَّمُ الزَّائِرُ.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يُسْتَحْسَنُ أَنْ يَتَعَلَّمَ الزَّائِرُ.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verb 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is subjunctive: </a:t>
            </a:r>
            <a:pPr algn="l" indent="0" marL="0">
              <a:buNone/>
            </a:pPr>
            <a:r>
              <a:rPr lang="ar-SA" altLang="en-US" sz="1500" b="1" dirty="0">
                <a:solidFill>
                  <a:srgbClr val="1B3B6F"/>
                </a:solidFill>
                <a:latin typeface="Amiri" pitchFamily="34" charset="0"/>
                <a:ea typeface="Amiri" pitchFamily="34" charset="-122"/>
                <a:cs typeface="Amiri" pitchFamily="34" charset="-120"/>
              </a:rPr>
              <a:t>يَتَعَلَّمَ</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يُبْهِرُ المَدِينَةُ زُوَّارَهَا.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تُبْهِرُ المَدِينَةُ زُوَّارَهَا.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المَدِينَة</a:t>
            </a:r>
            <a:pPr algn="l" indent="0" marL="0">
              <a:buNone/>
            </a:pPr>
            <a:r>
              <a:rPr lang="en-US" sz="1150" b="1" dirty="0">
                <a:solidFill>
                  <a:srgbClr val="1B3B6F"/>
                </a:solidFill>
                <a:latin typeface="Calibri" pitchFamily="34" charset="0"/>
                <a:ea typeface="Calibri" pitchFamily="34" charset="-122"/>
                <a:cs typeface="Calibri" pitchFamily="34" charset="-120"/>
              </a:rPr>
              <a:t> is feminine, so the verb is </a:t>
            </a:r>
            <a:pPr algn="l" indent="0" marL="0">
              <a:buNone/>
            </a:pPr>
            <a:r>
              <a:rPr lang="ar-SA" altLang="en-US" sz="1500" b="1" dirty="0">
                <a:solidFill>
                  <a:srgbClr val="1B3B6F"/>
                </a:solidFill>
                <a:latin typeface="Amiri" pitchFamily="34" charset="0"/>
                <a:ea typeface="Amiri" pitchFamily="34" charset="-122"/>
                <a:cs typeface="Amiri" pitchFamily="34" charset="-120"/>
              </a:rPr>
              <a:t>تُبْهِرُ</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Listening: a mock travel-agency conversation</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the student expected of the holiday?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ordinary place, but Petra exceeded expectations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disappointment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1 view on sustainable tourism?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Rules are useless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Sites cannot be saved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tourists respect the rules, the sites will remain for future generations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answer about an unlimited budget?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Budget makes no difference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student refuses to travel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student would visit every heritage site in the Arab world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cultural advice does the student give?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Learn some Arabic phrases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Avoid speaking Arabic</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Take photos everywhere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teacher praise?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short answer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Balanced answers using both conditional types spontaneously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memorised list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kuntu qad · idhā … sa- · law … la-.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المُعَلِّمُ: صِفْ إِجَازَةً مَاضِيَةً؛ مَا الَّذِي كُنْتَ قَدْ تَوَقَّعْتَهُ؟ الطَّالِبُ: كُنْتُ قَدْ تَوَقَّعْتُ مَكَانًا عَادِيًّا، لٰكِنَّ البَتْرَاءَ فَاقَتْ تَوَقُّعَاتِي.</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Teacher: Describe a past holiday — what had you expected? Student: I had expected an ordinary place, but Petra exceeded my expectations.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المُعَلِّمُ: مَا رَأْيُكَ فِي السِّيَاحَةِ المُسْتَدَامَةِ؟ الطَّالِبُ: إِذَا احْتَرَمَ السُّيَّاحُ القَوَاعِدَ، سَتَبْقَى المَوَاقِعُ لِلْأَجْيَالِ القَادِمَةِ.</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Teacher: What is your view on sustainable tourism? Student: If tourists respect the rules, the sites will remain for future generations.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المُعَلِّمُ: لَوْ كَانَ لَدَيْكَ مِيزَانِيَّةٌ غَيْرُ مَحْدُودَةٍ، أَيْنَ سَتَذْهَبُ؟ الطَّالِبُ: لَوْ كَانَ لَدَيَّ مِيزَانِيَّةٌ غَيْرُ مَحْدُودَةٍ، لَزُرْتُ كُلَّ المَوَاقِعِ التُّرَاثِيَّةِ فِي العَالَمِ العَرَبِيِّ.</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Teacher: If you had an unlimited budget, where would you go? Student: If I had an unlimited budget, I would visit every heritage site in the Arab world.</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المُعَلِّمُ: وَنَصِيحَةٌ ثَقَافِيَّةٌ؟ الطَّالِبُ: يُسْتَحْسَنُ أَنْ يَتَعَلَّمَ الزَّائِرُ بَعْضَ العِبَارَاتِ العَرَبِيَّةِ.</a:t>
            </a:r>
            <a:endParaRPr lang="ar-SA" sz="17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Teacher: And a cultural tip? Student: It is preferable for a visitor to learn some Arabic phrases.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المُعَلِّمُ: أَجْوِبَةٌ مُتَوَازِنَةٌ اسْتَعْمَلْتَ فِيهَا النَّوْعَيْنِ مِنَ الشَّرْطِ تِلْقَائِيًّا.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Teacher: Balanced answers in which you used both types of conditional spontaneously.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the student expected of the holiday?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An ordinary place, but Petra exceeded expectations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disappointment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كُنْتُ قَدْ تَوَقَّعْتُ مَكَانًا عَادِيًّا، لٰكِنَّ البَتْرَاءَ فَاقَتْ تَوَقُّعَاتِي.</a:t>
            </a:r>
            <a:endParaRPr lang="ar-SA" sz="13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1 view on sustainable tourism?</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Rules are useless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Sites cannot be saved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If tourists respect the rules, the sites will remain for future generations</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إِذَا احْتَرَمَ السُّيَّاحُ القَوَاعِدَ، سَتَبْقَى المَوَاقِعُ لِلْأَجْيَالِ القَادِمَةِ.</a:t>
            </a:r>
            <a:endParaRPr lang="ar-SA" sz="11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answer about an unlimited budget?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Budget makes no difference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student refuses to travel</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student would visit every heritage site in the Arab world</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لَوْ كَانَ لَدَيَّ مِيزَانِيَّةٌ غَيْرُ مَحْدُودَةٍ، لَزُرْتُ كُلَّ المَوَاقِعِ التُّرَاثِيَّةِ.</a:t>
            </a:r>
            <a:endParaRPr lang="ar-SA" sz="11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cultural advice does the student give?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Learn some Arabic phrases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Avoid speaking Arabic</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Take photos everywhere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يُسْتَحْسَنُ أَنْ يَتَعَلَّمَ الزَّائِرُ بَعْضَ العِبَارَاتِ العَرَبِيَّةِ.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teacher praise?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short answer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Balanced answers using both conditional types spontaneously</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memorised list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اسْتَعْمَلْتَ فِيهَا النَّوْعَيْنِ مِنَ الشَّرْطِ تِلْقَائِيًّا.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kuntu qad · idhā … sa- · law … la-.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Speaking: the five assessment questions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إِجَازَةً مَاضِيَةً — مَا الَّذِي كُنْتَ قَدْ تَوَقَّعْتَهُ، وَمَا الَّذِي وَجَدْتَهُ؟</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رَأْيُكَ فِي السِّيَاحَةِ المُسْتَدَامَةِ؟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كَانَ لَدَيْكَ مِيزَانِيَّةٌ غَيْرُ مَحْدُودَةٍ لِلسَّفَرِ، أَيْنَ سَتَذْهَبُ؟</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كُنْتُ قَدْ تَوَقَّعْتُ ___ ، لٰكِنَّهُ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أَرَى أَنَّهَا ضَرُورَةٌ؛ فَإِذَا ___ ، سَتَبْقَى ___ .</a:t>
            </a:r>
            <a:endParaRPr lang="ar-SA" sz="14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34" charset="0"/>
                <a:ea typeface="Amiri" pitchFamily="34" charset="-122"/>
                <a:cs typeface="Amiri" pitchFamily="34" charset="-120"/>
              </a:rPr>
              <a:t>لَوْ كَانَ لَدَيَّ مِيزَانِيَّةٌ غَيْرُ مَحْدُودَةٍ، لَزُرْتُ ___ ، لِأَنَّ ___ .</a:t>
            </a:r>
            <a:endParaRPr lang="ar-SA" sz="10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الَّذِي كُنْتَ قَدْ تَوَقَّعْتَهُ؟</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had you expected?</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كُنْتُ قَدْ تَوَقَّعْتُ مَكَانًا عَادِيًّا، لٰكِنَّهُ فَاقَ تَوَقُّعَاتِي.</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had expected an ordinary place, but it exceeded my expectations.</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+ 3</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Correct six P3 errors and write three sentences from memory.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correct six P3 errors and write three sentences from memory.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3 structures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past perfect, a Type 1 and a Type 2 conditional.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a past perfect, a Type 1 and a Type 2 conditional.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Deliver fluent answers to the past-perfect, Type 1 and Type 2 questions spontaneously.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answer two assessment questions with the past perfect, both conditional types and yustaḥsan an — every marker accurate.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34" charset="0"/>
                <a:ea typeface="Amiri" pitchFamily="34" charset="-122"/>
                <a:cs typeface="Amiri" pitchFamily="34" charset="-120"/>
              </a:rPr>
              <a:t>لَوْ كَانَ لَدَيَّ مِيزَانِيَّةٌ غَيْرُ مَحْدُودَةٍ، لَزُرْتُ ______ .</a:t>
            </a:r>
            <a:endParaRPr lang="ar-SA" sz="15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I had an unlimited budget, I would visit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وَلَتَعَلَّمْتُ عَنْ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And I would learn about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قَالَ الدَّلِيلُ إِنَّ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guide said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فَهٰذِهِ بَادِرَةٌ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a gesture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كُنْتُ قَدْ تَوَقَّعْتُ ______ ، لٰكِنَّهُ فَاقَ تَوَقُّعَاتِي.</a:t>
            </a:r>
            <a:endParaRPr lang="ar-SA" sz="17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had expected …, but it exceeded my expectations.</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أَرَى أَنَّ السِّيَاحَةَ المُسْتَدَامَةَ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think sustainable tourism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34" charset="0"/>
                <a:ea typeface="Amiri" pitchFamily="34" charset="-122"/>
                <a:cs typeface="Amiri" pitchFamily="34" charset="-120"/>
              </a:rPr>
              <a:t>إِذَا احْتَرَمَ السُّيَّاحُ القَوَاعِدَ، سَتَبْقَى ______ .</a:t>
            </a:r>
            <a:endParaRPr lang="ar-SA" sz="165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tourists respect the rules,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يُسْتَحْسَنُ أَنْ يَتَعَلَّمَ الزَّائِرُ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preferable for the visitor to learn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lnSpc>
                <a:spcPct val="120000"/>
              </a:lnSpc>
              <a:buNone/>
            </a:pPr>
            <a:r>
              <a:rPr lang="ar-SA" altLang="en-US" sz="1100" b="1" dirty="0">
                <a:solidFill>
                  <a:srgbClr val="1B3B6F"/>
                </a:solidFill>
                <a:latin typeface="Amiri" pitchFamily="34" charset="0"/>
                <a:ea typeface="Amiri" pitchFamily="34" charset="-122"/>
                <a:cs typeface="Amiri" pitchFamily="34" charset="-120"/>
              </a:rPr>
              <a:t>مَكَانًا عَادِيًّا  ·  مُجَرَّدُ آثَارٍ  ·  فَاقَتْ كُلَّ تَوَقُّعَاتِي  ·  ضَرُورَةٌ  ·  المَوَاقِعُ لِلْأَجْيَالِ القَادِمَةِ  ·  كُلَّ المَوَاقِعِ التُّرَاثِيَّةِ  ·  كُلِّ حَضَارَةٍ  ·  بَعْضَ العِبَارَاتِ العَرَبِيَّةِ  ·  التَّقَالِيدَ المَحَلِّيَّةَ  ·  تَفْتَحُ القُلُوبَ  ·  غَيَّرَتْ نَظْرَتِي  ·  أَفْضَلُ مَوْسِمٍ</a:t>
            </a:r>
            <a:endParaRPr lang="ar-SA"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eighty to ninety words preparing for the P3 topic conversation. Answer two of the assessment questions, using the past perfect, both conditional types and </a:t>
            </a:r>
            <a:pPr algn="l" indent="0" marL="0">
              <a:buNone/>
            </a:pPr>
            <a:r>
              <a:rPr lang="ar-SA" altLang="en-US" sz="1750" b="1" dirty="0">
                <a:solidFill>
                  <a:srgbClr val="1F2A37"/>
                </a:solidFill>
                <a:latin typeface="Amiri" pitchFamily="34" charset="0"/>
                <a:ea typeface="Amiri" pitchFamily="34" charset="-122"/>
                <a:cs typeface="Amiri" pitchFamily="34" charset="-120"/>
              </a:rPr>
              <a:t>يُسْتَحْسَنُ أَنْ</a:t>
            </a:r>
            <a:pPr algn="l" indent="0" marL="0">
              <a:buNone/>
            </a:pPr>
            <a:r>
              <a:rPr lang="en-US" sz="1350" b="1" dirty="0">
                <a:solidFill>
                  <a:srgbClr val="1F2A37"/>
                </a:solidFill>
                <a:latin typeface="Calibri" pitchFamily="34" charset="0"/>
                <a:ea typeface="Calibri" pitchFamily="34" charset="-122"/>
                <a:cs typeface="Calibri" pitchFamily="34" charset="-120"/>
              </a:rPr>
              <a:t>, with every marker accurate.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past perfect (</a:t>
            </a:r>
            <a:pPr algn="l" indent="0" marL="0">
              <a:buNone/>
            </a:pPr>
            <a:r>
              <a:rPr lang="ar-SA" altLang="en-US" sz="1550" dirty="0">
                <a:solidFill>
                  <a:srgbClr val="1F2A37"/>
                </a:solidFill>
                <a:latin typeface="Amiri" pitchFamily="34" charset="0"/>
                <a:ea typeface="Amiri" pitchFamily="34" charset="-122"/>
                <a:cs typeface="Amiri" pitchFamily="34" charset="-120"/>
              </a:rPr>
              <a:t>كُنْتُ قَدْ</a:t>
            </a:r>
            <a:pPr algn="l" indent="0" marL="0">
              <a:buNone/>
            </a:pPr>
            <a:r>
              <a:rPr lang="en-US" sz="1200" dirty="0">
                <a:solidFill>
                  <a:srgbClr val="1F2A37"/>
                </a:solidFill>
                <a:latin typeface="Calibri" pitchFamily="34" charset="0"/>
                <a:ea typeface="Calibri" pitchFamily="34" charset="-122"/>
                <a:cs typeface="Calibri" pitchFamily="34" charset="-120"/>
              </a:rPr>
              <a:t> …) with correct agreement.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Type 1 and one Type 2 conditional (with the </a:t>
            </a:r>
            <a:pPr algn="l" indent="0" marL="0">
              <a:buNone/>
            </a:pPr>
            <a:r>
              <a:rPr lang="ar-SA" altLang="en-US" sz="1550" dirty="0">
                <a:solidFill>
                  <a:srgbClr val="1F2A37"/>
                </a:solidFill>
                <a:latin typeface="Amiri" pitchFamily="34" charset="0"/>
                <a:ea typeface="Amiri" pitchFamily="34" charset="-122"/>
                <a:cs typeface="Amiri" pitchFamily="34" charset="-120"/>
              </a:rPr>
              <a:t>لَـ</a:t>
            </a:r>
            <a:pPr algn="l" indent="0" marL="0">
              <a:buNone/>
            </a:pPr>
            <a:r>
              <a:rPr lang="en-US" sz="1200" dirty="0">
                <a:solidFill>
                  <a:srgbClr val="1F2A37"/>
                </a:solidFill>
                <a:latin typeface="Calibri" pitchFamily="34" charset="0"/>
                <a:ea typeface="Calibri" pitchFamily="34" charset="-122"/>
                <a:cs typeface="Calibri" pitchFamily="34" charset="-120"/>
              </a:rPr>
              <a:t> result).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a:t>
            </a:r>
            <a:pPr algn="l" indent="0" marL="0">
              <a:buNone/>
            </a:pPr>
            <a:r>
              <a:rPr lang="ar-SA" altLang="en-US" sz="1550" dirty="0">
                <a:solidFill>
                  <a:srgbClr val="1F2A37"/>
                </a:solidFill>
                <a:latin typeface="Amiri" pitchFamily="34" charset="0"/>
                <a:ea typeface="Amiri" pitchFamily="34" charset="-122"/>
                <a:cs typeface="Amiri" pitchFamily="34" charset="-120"/>
              </a:rPr>
              <a:t>يُسْتَحْسَنُ أَنْ</a:t>
            </a:r>
            <a:pPr algn="l" indent="0" marL="0">
              <a:buNone/>
            </a:pPr>
            <a:r>
              <a:rPr lang="en-US" sz="1200" dirty="0">
                <a:solidFill>
                  <a:srgbClr val="1F2A37"/>
                </a:solidFill>
                <a:latin typeface="Calibri" pitchFamily="34" charset="0"/>
                <a:ea typeface="Calibri" pitchFamily="34" charset="-122"/>
                <a:cs typeface="Calibri" pitchFamily="34" charset="-120"/>
              </a:rPr>
              <a:t> + subjunctive.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balanced, spontaneous-sounding answer.</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 البَتْرَاءَ مُجَرَّدُ آثَارٍ</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that Petra was just ruins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وَغَيَّرَتْ نَظْرَتِي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it changed my view</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وَلَتَعَلَّمْتُ عَنْ كُلِّ حَضَارَةٍ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 would learn about every civilisation</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وَأَنْ يَحْتَرِمَ التَّقَالِيدَ المَحَلِّيَّةَ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to respect local traditions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فَهٰذِهِ بَادِرَةٌ تَفْتَحُ القُلُوبَ</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for this is a gesture that opens hearts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كُنْتُ قَدْ تَوَقَّعْتُ أَنَّ البَتْرَاءَ مُجَرَّدُ آثَارٍ، لٰكِنَّهَا فَاقَتْ كُلَّ تَوَقُّعَاتِي وَغَيَّرَتْ نَظْرَتِي. أَرَى أَنَّ السِّيَاحَةَ المُسْتَدَامَةَ ضَرُورَةٌ؛ فَإِذَا احْتَرَمَ السُّيَّاحُ القَوَاعِدَ، سَتَبْقَى المَوَاقِعُ لِلْأَجْيَالِ القَادِمَةِ. وَلَوْ كَانَ لَدَيَّ مِيزَانِيَّةٌ غَيْرُ مَحْدُودَةٍ، لَزُرْتُ كُلَّ المَوَاقِعِ التُّرَاثِيَّةِ فِي العَالَمِ العَرَبِيِّ، وَلَتَعَلَّمْتُ عَنْ كُلِّ حَضَارَةٍ. وَأَنْصَحُ كُلَّ زَائِرٍ: يُسْتَحْسَنُ أَنْ يَتَعَلَّمَ بَعْضَ العِبَارَاتِ العَرَبِيَّةِ وَأَنْ يَحْتَرِمَ التَّقَالِيدَ المَحَلِّيَّةَ، فَهٰذِهِ بَادِرَةٌ تَفْتَحُ القُلُوبَ.</a:t>
            </a:r>
            <a:endParaRPr lang="ar-SA" sz="2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had expected Petra to be just ruins, but it exceeded all my expectations and changed my view. I think sustainable tourism is a necessity: if tourists respect the rules, the sites will remain for future generations. And if I had an unlimited budget, I would visit every heritage site in the Arab world, and I would learn about every civilisation. I advise every visitor: it is preferable to learn some Arabic phrases and to respect local traditions, for this is a gesture that opens hearts.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past perfect (kuntu qad tawaqqaʿtu)</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Type 1 (idhā … sa-)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Type 2 with two la- results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yustaḥsan an + two verbs in -a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Type 2 result has la-; the verb after law is past.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verbs after an end in -a.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kāna agrees; city subjects take ta- (tubhiru · tastaqṭibu).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Type 1 result has sa-; qāla takes inna.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answered the law question with law, and named my priority error.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Type 2 conditional is correct?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لَوْ حَجَزْتُ مُبَكِّرًا، لَحَصَلْتُ عَلَى سِعْرٍ أَرْخَصَ.</a:t>
            </a:r>
            <a:endParaRPr lang="ar-SA" sz="170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لَوْ حَجَزْتُ مُبَكِّرًا، حَصَلْتُ عَلَى سِعْرٍ أَرْخَصَ.</a:t>
            </a:r>
            <a:endParaRPr lang="ar-SA" sz="170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لَوْ حَجَزْتُ مُبَكِّرًا، سَأَحْصُلُ.</a:t>
            </a:r>
            <a:endParaRPr lang="ar-SA" sz="170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correct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يُسْتَحْسَنُ أَنْ يَتَعَلَّمُ الزَّائِرُ.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يُسْتَحْسَنُ أَنْ يَتَعَلَّمَ الزَّائِرُ.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يُسْتَحْسَنُ أَنْ تَعَلَّمَ الزَّائِرُ.</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answers a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question best?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34" charset="0"/>
                <a:ea typeface="Amiri" pitchFamily="34" charset="-122"/>
                <a:cs typeface="Amiri" pitchFamily="34" charset="-120"/>
              </a:rPr>
              <a:t>لَوْ كَانَ لَدَيَّ مِيزَانِيَّةٌ غَيْرُ مَحْدُودَةٍ، لَذَهَبْتُ إِلَى اليَابَانِ.</a:t>
            </a:r>
            <a:endParaRPr lang="ar-SA" sz="12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34" charset="0"/>
                <a:ea typeface="Amiri" pitchFamily="34" charset="-122"/>
                <a:cs typeface="Amiri" pitchFamily="34" charset="-120"/>
              </a:rPr>
              <a:t>إِذَا كَانَ لَدَيَّ مِيزَانِيَّةٌ، سَأَذْهَبُ.</a:t>
            </a:r>
            <a:endParaRPr lang="ar-SA" sz="12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34" charset="0"/>
                <a:ea typeface="Amiri" pitchFamily="34" charset="-122"/>
                <a:cs typeface="Amiri" pitchFamily="34" charset="-120"/>
              </a:rPr>
              <a:t>أَذْهَبُ إِلَى اليَابَانِ.</a:t>
            </a:r>
            <a:endParaRPr lang="ar-SA" sz="12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Type 2 conditional is correct?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حَجَزْتُ مُبَكِّرًا، لَحَصَلْتُ عَلَى سِعْرٍ أَرْخَصَ.</a:t>
            </a:r>
            <a:endParaRPr lang="ar-SA" sz="170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حَجَزْتُ مُبَكِّرًا، حَصَلْتُ عَلَى سِعْرٍ أَرْخَصَ.</a:t>
            </a:r>
            <a:endParaRPr lang="ar-SA" sz="170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حَجَزْتُ مُبَكِّرًا، سَأَحْصُلُ.</a:t>
            </a:r>
            <a:endParaRPr lang="ar-SA" sz="170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2 result takes the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prefix.</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correct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يُسْتَحْسَنُ أَنْ يَتَعَلَّمُ الزَّائِرُ.</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يُسْتَحْسَنُ أَنْ يَتَعَلَّمَ الزَّائِرُ.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يُسْتَحْسَنُ أَنْ تَعَلَّمَ الزَّائِرُ.</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verb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يَتَعَلَّمَ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answers a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question best?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لَوْ كَانَ لَدَيَّ مِيزَانِيَّةٌ غَيْرُ مَحْدُودَةٍ، لَذَهَبْتُ إِلَى اليَابَانِ.</a:t>
            </a:r>
            <a:endParaRPr lang="ar-SA" sz="12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34" charset="0"/>
                <a:ea typeface="Amiri" pitchFamily="34" charset="-122"/>
                <a:cs typeface="Amiri" pitchFamily="34" charset="-120"/>
              </a:rPr>
              <a:t>إِذَا كَانَ لَدَيَّ مِيزَانِيَّةٌ، سَأَذْهَبُ.</a:t>
            </a:r>
            <a:endParaRPr lang="ar-SA" sz="12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34" charset="0"/>
                <a:ea typeface="Amiri" pitchFamily="34" charset="-122"/>
                <a:cs typeface="Amiri" pitchFamily="34" charset="-120"/>
              </a:rPr>
              <a:t>أَذْهَبُ إِلَى اليَابَانِ.</a:t>
            </a:r>
            <a:endParaRPr lang="ar-SA" sz="12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a:t>
            </a:r>
            <a:pPr algn="l" indent="0" marL="0">
              <a:buNone/>
            </a:pPr>
            <a:r>
              <a:rPr lang="ar-SA" altLang="en-US" sz="1350" dirty="0">
                <a:solidFill>
                  <a:srgbClr val="8A6D1E"/>
                </a:solidFill>
                <a:latin typeface="Amiri" pitchFamily="34" charset="0"/>
                <a:ea typeface="Amiri" pitchFamily="34" charset="-122"/>
                <a:cs typeface="Amiri" pitchFamily="34" charset="-120"/>
              </a:rPr>
              <a:t>لَوْ</a:t>
            </a:r>
            <a:pPr algn="l" indent="0" marL="0">
              <a:buNone/>
            </a:pPr>
            <a:r>
              <a:rPr lang="en-US" sz="1050" i="1" dirty="0">
                <a:solidFill>
                  <a:srgbClr val="8A6D1E"/>
                </a:solidFill>
                <a:latin typeface="Calibri" pitchFamily="34" charset="0"/>
                <a:ea typeface="Calibri" pitchFamily="34" charset="-122"/>
                <a:cs typeface="Calibri" pitchFamily="34" charset="-120"/>
              </a:rPr>
              <a:t> question is answered with a Type 2 conditional.</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Reading: twelve sentences to repair</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تَحْتَوِي هٰذِهِ القَائِمَةُ عَلَى أَخْطَاءٍ شَائِعَةٍ فِي السَّنَةِ التَّاسِعَةِ. الأَوَّلُ فِي جَوَابِ لَوْ: «لَوْ حَجَزْتُ مُبَكِّرًا، حَصَلْتُ عَلَى تَعْوِيضٍ» — وَالصَّوَابُ «لَحَصَلْتُ». الثَّانِي فِي زَمَنِ فِعْلِ لَوْ: «لَوْ أَحْجِزُ مُبَكِّرًا» — وَالصَّوَابُ «لَوْ حَجَزْتُ». الثَّالِثُ فِي النَّصْبِ بَعْدَ أَنْ: «يُسْتَحْسَنُ أَنْ يَتَعَلَّمُ» — وَالصَّوَابُ «أَنْ يَتَعَلَّمَ». الرَّابِعُ فِي المُطَابَقَةِ: «يُبْهِرُ المَدِينَةُ زُوَّارَهَا» — وَالصَّوَابُ «تُبْهِرُ». الخَامِسُ فِي صِيغَةِ الفِعْلِ: «يَقْطِبُ المَعْلَمُ السُّيَّاحَ» — وَالصَّوَابُ «يَسْتَقْطِبُ». وَالدَّرْسُ المُشْتَرَكُ أَنَّ لِكُلِّ بِنْيَةٍ عَلَامَةً دَقِيقَةً يَجِبُ ضَبْطُهَا.</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تَحْتَوِي عَلَى</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 contains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القَائِمَةُ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list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أَخْطَاءٍ شَائِعَةٍ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common errors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وَالصَّوَابُ</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and the correct form is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جَوَابِ لَوْ</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result of law</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زَمَنِ فِعْلِ لَوْ</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tense after law</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النَّصْبِ</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subjunctive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المُطَابَقَةِ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agreement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صِيغَةِ الفِعْلِ</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verb form</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ضَبْطُهَا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controlling it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t>
            </a:r>
            <a:pPr algn="l" indent="0" marL="0">
              <a:buNone/>
            </a:pPr>
            <a:r>
              <a:rPr lang="ar-SA" altLang="en-US" sz="1650" b="1" dirty="0">
                <a:solidFill>
                  <a:srgbClr val="1B3B6F"/>
                </a:solidFill>
                <a:latin typeface="Amiri" pitchFamily="34" charset="0"/>
                <a:ea typeface="Amiri" pitchFamily="34" charset="-122"/>
                <a:cs typeface="Amiri" pitchFamily="34" charset="-120"/>
              </a:rPr>
              <a:t>لَوْ حَجَزْتُ مُبَكِّرًا، … عَلَى تَعْوِيضٍ</a:t>
            </a:r>
            <a:pPr algn="l" indent="0" marL="0">
              <a:buNone/>
            </a:pPr>
            <a:r>
              <a:rPr lang="en-US" sz="1250" b="1" dirty="0">
                <a:solidFill>
                  <a:srgbClr val="1B3B6F"/>
                </a:solidFill>
                <a:latin typeface="Calibri" pitchFamily="34" charset="0"/>
                <a:ea typeface="Calibri" pitchFamily="34" charset="-122"/>
                <a:cs typeface="Calibri" pitchFamily="34" charset="-120"/>
              </a:rPr>
              <a:t>» corrected?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حَصَلْتُ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لَحَصَلْتُ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سَأَحْصُلُ</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verb after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corrected?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أَحْجِزُ</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سَأَحْجِزُ</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حَجَزْتُ</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verb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 corrected?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 يَتَعَلَّمَ</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 يَتَعَلَّمُ</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 تَعَلَّمَ</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agreement corrected?</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يُبْهِرُ المَدِينَةُ</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تُبْهِرُ المَدِينَةُ</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تُبْهِرُ بِالمَدِينَةِ</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verb form corrected?</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يَسْتَقْطِبُ</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يَقْطِبُ</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يُقْطِبُ</a:t>
            </a:r>
            <a:endParaRPr lang="ar-SA" sz="20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t>
            </a:r>
            <a:pPr algn="l" indent="0" marL="0">
              <a:buNone/>
            </a:pPr>
            <a:r>
              <a:rPr lang="ar-SA" altLang="en-US" sz="1650" b="1" dirty="0">
                <a:solidFill>
                  <a:srgbClr val="1B3B6F"/>
                </a:solidFill>
                <a:latin typeface="Amiri" pitchFamily="34" charset="0"/>
                <a:ea typeface="Amiri" pitchFamily="34" charset="-122"/>
                <a:cs typeface="Amiri" pitchFamily="34" charset="-120"/>
              </a:rPr>
              <a:t>لَوْ حَجَزْتُ مُبَكِّرًا، … عَلَى تَعْوِيضٍ</a:t>
            </a:r>
            <a:pPr algn="l" indent="0" marL="0">
              <a:buNone/>
            </a:pPr>
            <a:r>
              <a:rPr lang="en-US" sz="1250" b="1" dirty="0">
                <a:solidFill>
                  <a:srgbClr val="1B3B6F"/>
                </a:solidFill>
                <a:latin typeface="Calibri" pitchFamily="34" charset="0"/>
                <a:ea typeface="Calibri" pitchFamily="34" charset="-122"/>
                <a:cs typeface="Calibri" pitchFamily="34" charset="-120"/>
              </a:rPr>
              <a:t>» corrected?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حَصَلْتُ</a:t>
            </a:r>
            <a:endParaRPr lang="ar-SA" sz="170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لَحَصَلْتُ</a:t>
            </a:r>
            <a:endParaRPr lang="ar-SA" sz="17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سَأَحْصُلُ</a:t>
            </a:r>
            <a:endParaRPr lang="ar-SA" sz="170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2 result takes the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prefix.</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verb after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corrected?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أَحْجِزُ</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سَأَحْجِزُ</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حَجَزْتُ</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a:t>
            </a:r>
            <a:pPr algn="l" indent="0" marL="0">
              <a:buNone/>
            </a:pPr>
            <a:r>
              <a:rPr lang="en-US" sz="1050" i="1" dirty="0">
                <a:solidFill>
                  <a:srgbClr val="8A6D1E"/>
                </a:solidFill>
                <a:latin typeface="Calibri" pitchFamily="34" charset="0"/>
                <a:ea typeface="Calibri" pitchFamily="34" charset="-122"/>
                <a:cs typeface="Calibri" pitchFamily="34" charset="-120"/>
              </a:rPr>
              <a:t> is followed by a past-tense verb.</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verb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 corrected?</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 يَتَعَلَّمَ</a:t>
            </a:r>
            <a:endParaRPr lang="ar-SA" sz="170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 يَتَعَلَّمُ</a:t>
            </a:r>
            <a:endParaRPr lang="ar-SA" sz="17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 تَعَلَّمَ</a:t>
            </a:r>
            <a:endParaRPr lang="ar-SA" sz="17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يَتَعَلَّمَ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agreement corrected?</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يُبْهِرُ المَدِينَةُ</a:t>
            </a:r>
            <a:endParaRPr lang="ar-SA" sz="170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تُبْهِرُ المَدِينَةُ</a:t>
            </a:r>
            <a:endParaRPr lang="ar-SA" sz="17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تُبْهِرُ بِالمَدِينَةِ</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المَدِينَة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a:t>
            </a:r>
            <a:pPr algn="l" indent="0" marL="0">
              <a:buNone/>
            </a:pPr>
            <a:r>
              <a:rPr lang="ar-SA" altLang="en-US" sz="1350" dirty="0">
                <a:solidFill>
                  <a:srgbClr val="8A6D1E"/>
                </a:solidFill>
                <a:latin typeface="Amiri" pitchFamily="34" charset="0"/>
                <a:ea typeface="Amiri" pitchFamily="34" charset="-122"/>
                <a:cs typeface="Amiri" pitchFamily="34" charset="-120"/>
              </a:rPr>
              <a:t>تُبْهِرُ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verb form corrected?</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يَسْتَقْطِبُ</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يَقْطِبُ</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يُقْطِبُ</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Form X verb is </a:t>
            </a:r>
            <a:pPr algn="l" indent="0" marL="0">
              <a:buNone/>
            </a:pPr>
            <a:r>
              <a:rPr lang="ar-SA" altLang="en-US" sz="1350" dirty="0">
                <a:solidFill>
                  <a:srgbClr val="8A6D1E"/>
                </a:solidFill>
                <a:latin typeface="Amiri" pitchFamily="34" charset="0"/>
                <a:ea typeface="Amiri" pitchFamily="34" charset="-122"/>
                <a:cs typeface="Amiri" pitchFamily="34" charset="-120"/>
              </a:rPr>
              <a:t>يَسْتَقْطِبُ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Mastery Mission — The P3 Error Zones</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Type 2: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لَوْ حَجَزْتُ مُبَكِّرًا،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المَالَ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سَأُوَفِّرُ</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لَوَفَّرْتُ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وَفَّرْتُ</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Verb after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المَغْرِبَ، لَرَأَيْتُ فَاسَ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أَزُورُ</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سَأَزُورُ</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Subjunctive: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يُسْتَحْسَنُ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الزَّائِرُ التَّحِيَّةَ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يَتَعَلَّمُ</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تَعَلَّمَ</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يَتَعَلَّمَ</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Agreement: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المَدِينَةُ زُوَّارَهَا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يُبْهِرُ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تُبْهِرُ بِـ</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تُبْهِرُ</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Form: which is Form X (“attracts”)?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يَسْتَقْطِبُ</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يَقْطِبُ</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يُقْطِبُ</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Particle: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قَالَ الدَّلِيلُ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الرَّبِيعَ أَفْضَلُ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بِأَنَّ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Type 2: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لَوْ حَجَزْتُ مُبَكِّرًا،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المَالَ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سَأُوَفِّرُ</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لَوَفَّرْتُ</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وَفَّرْتُ</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2 result takes the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prefix.</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Verb after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المَغْرِبَ، لَرَأَيْتُ فَاسَ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زُرْتُ</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أَزُورُ</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سَأَزُورُ</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a:t>
            </a:r>
            <a:pPr algn="l" indent="0" marL="0">
              <a:buNone/>
            </a:pPr>
            <a:r>
              <a:rPr lang="en-US" sz="1050" i="1" dirty="0">
                <a:solidFill>
                  <a:srgbClr val="8A6D1E"/>
                </a:solidFill>
                <a:latin typeface="Calibri" pitchFamily="34" charset="0"/>
                <a:ea typeface="Calibri" pitchFamily="34" charset="-122"/>
                <a:cs typeface="Calibri" pitchFamily="34" charset="-120"/>
              </a:rPr>
              <a:t> is followed by a past-tense verb.</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Subjunctive: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يُسْتَحْسَنُ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الزَّائِرُ التَّحِيَّةَ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يَتَعَلَّمُ</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تَعَلَّمَ</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يَتَعَلَّمَ</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Agreement: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المَدِينَةُ زُوَّارَهَا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يُبْهِرُ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تُبْهِرُ بِـ</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تُبْهِرُ</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المَدِينَة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a:t>
            </a:r>
            <a:pPr algn="l" indent="0" marL="0">
              <a:buNone/>
            </a:pPr>
            <a:r>
              <a:rPr lang="ar-SA" altLang="en-US" sz="1350" dirty="0">
                <a:solidFill>
                  <a:srgbClr val="8A6D1E"/>
                </a:solidFill>
                <a:latin typeface="Amiri" pitchFamily="34" charset="0"/>
                <a:ea typeface="Amiri" pitchFamily="34" charset="-122"/>
                <a:cs typeface="Amiri" pitchFamily="34" charset="-120"/>
              </a:rPr>
              <a:t>تُبْهِرُ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Form: which is Form X (“attracts”)?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يَسْتَقْطِبُ</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يَقْطِبُ</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يُقْطِبُ</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يَسْتَقْطِبُ</a:t>
            </a:r>
            <a:pPr algn="l" indent="0" marL="0">
              <a:buNone/>
            </a:pPr>
            <a:r>
              <a:rPr lang="en-US" sz="1050" i="1" dirty="0">
                <a:solidFill>
                  <a:srgbClr val="8A6D1E"/>
                </a:solidFill>
                <a:latin typeface="Calibri" pitchFamily="34" charset="0"/>
                <a:ea typeface="Calibri" pitchFamily="34" charset="-122"/>
                <a:cs typeface="Calibri" pitchFamily="34" charset="-120"/>
              </a:rPr>
              <a:t> is the Form X verb.</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Particle: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قَالَ الدَّلِيلُ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الرَّبِيعَ أَفْضَلُ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إِنَّ</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بِأَنَّ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قَالَ</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P3-L12: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P3-L12 · P3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assessment</a:t>
            </a:r>
            <a:pPr indent="0" marL="0">
              <a:buNone/>
            </a:pPr>
            <a:r>
              <a:rPr lang="en-US" sz="1000" i="1" dirty="0">
                <a:solidFill>
                  <a:srgbClr val="5A6472"/>
                </a:solidFill>
                <a:latin typeface="Calibri" pitchFamily="34" charset="0"/>
                <a:ea typeface="Calibri" pitchFamily="34" charset="-122"/>
                <a:cs typeface="Calibri" pitchFamily="34" charset="-120"/>
              </a:rPr>
              <a:t>  pl. تَقْيِيمَاتٌ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فَهْمُ المَسْمُوعِ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listening comprehension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فَهْمُ المَقْرُوءِ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reading comprehension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وَكِيلُ سَفَرٍ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travel agent</a:t>
            </a:r>
            <a:pPr indent="0" marL="0">
              <a:buNone/>
            </a:pPr>
            <a:r>
              <a:rPr lang="en-US" sz="1000" i="1" dirty="0">
                <a:solidFill>
                  <a:srgbClr val="5A6472"/>
                </a:solidFill>
                <a:latin typeface="Calibri" pitchFamily="34" charset="0"/>
                <a:ea typeface="Calibri" pitchFamily="34" charset="-122"/>
                <a:cs typeface="Calibri" pitchFamily="34" charset="-120"/>
              </a:rPr>
              <a:t>  pl. وُكَلَاءُ سَفَرٍ</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المُرَاجَعَةُ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checking, revision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Prepare answers to the three topic-conversation questions — each with its required structure and a reason.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كُنْتُ قَدْ تَوَقَّعْتُ … · إِذَا … سَـ … · لَوْ كَانَ لَدَيَّ … لَـ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Correct six P3 errors and write three spine sentences from memory.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past perfect, a Type 1 and a Type 2 conditional; check each against the spine table.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an 80–90-word answer to two assessment questions; record it aloud.</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P3-L11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P3-L12 · P3 Review and Unit Assessment</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المُرَاجَعَةُ وَتَقْيِيمُ الوَحْدَةِ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law + PAST → LA- · an + verb in -A · a city is “she” (tubhiru · tastaqṭibu) · qāla INNA — and answer a law question with law, before you are asked.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P3-L11 · Consolidation — Speaking Preparation and Grammar Mastery</dc:title>
  <dc:subject>PptxGenJS Presentation</dc:subject>
  <dc:creator>Al Madina Online School · Arabic Department</dc:creator>
  <cp:lastModifiedBy>Al Madina Online School · Arabic Department</cp:lastModifiedBy>
  <cp:revision>1</cp:revision>
  <dcterms:created xsi:type="dcterms:W3CDTF">2026-10-10T15:38:07Z</dcterms:created>
  <dcterms:modified xsi:type="dcterms:W3CDTF">2026-10-10T15:38:07Z</dcterms:modified>
</cp:coreProperties>
</file>