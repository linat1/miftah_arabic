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P3-L09. The website lesson “Writing — Travel and Tourism (Paper 4 Extended Writing)”: vocabulary, grammar rules and quiz, patterns, common mistakes, sorter, listening, reading, speaking prompts and model, writing task and model, differentiation, final check and the lesson mission. Picture match: website visual game “Writing — Travel and Tourism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WRITING-SKILLS LESSON (IGCSE Paper 4, Q3 style): the website task is a 145–160-word travel article — the longest text of the programme. It brings together P3-L01 to P3-L08 and rehearses the P3 writing assessment.
• Core: the four-paragraph plan with one sentence per paragraph (website Core). Develop: expand to 145 words with both conditional types labelled. Stretch: reach 160 words with eight Range markers and a reported tip.
• The website’s Range checklist gives a mark for EACH conditional type — so one idhā and one law, never two idhā. (This is the course’s own Range checklist; Cambridge rewards range and accuracy in general.)
• Accuracy first: a long article with three wrong particles scores less than a shorter, accurate one. Students should check every law result for la-.
• Grammar links: kuntu qad (P3-L02/L03) · tourism verbs (P3-L04) · Type 1 and Type 2 (P3-L05) · qāla inna (P3-L06) · superlatives (P3-L01).
• TEACHER-WRITTEN ITEMS: the connector spelt عِلَاوَةً (website: عَلَاوَةً); waṣl alif shown without a kasra; rule headings and formulas in English and transliteration; the Range, sensory-detail and upgrade tables are teacher-built from the website model; the website visual game repeats the P3-L04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P3-L08. Questions 4–5 retrieve the result marker and the attitude of law (P3-L08) — today students write both types themselves.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forward with idhā, look back with law — one of each earns two Range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تجربہ، تفصیل and خاتمہ are shared. Two false friends: Urdu منزل = a destination, but Arabic مَنْزِلٌ = a house (destination = الوِجْهَةُ); Urdu تامل = hesitation, but Arabic تَأَمُّلٌ = a reflection — today’s Type 2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Range criteria (website vocabulary (1 of 2)). Hear → Say → See → Use. Transliteration is printed for Core students (cover it for Develop/Stretch).
The P3 Range checklist — today’s self-assessment: past perfect · reported speech · Type 1 · Type 2 · sensory detail · the travel voice · a formal connector · a superlative.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Range criteria (website vocabulary (2 of 2)). Hear → Say → See → Use. Transliteration is printed for Core students (cover it for Develop/Stretch).
The P3 Range checklist — today’s self-assessment: past perfect · reported speech · Type 1 · Type 2 · sensory detail · the travel voice · a formal connector · a superlative.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Travel-writing register (website vocabulary (1 of 2)). Hear → Say → See → Use. Transliteration is printed for Core students (cover it for Develop/Stretch).
Travel-writing register: every article has a purpose — إِخْبَارٌ (informing), إِقْنَاعٌ (persuading) or سَرْدٌ (narrating). Today’s article does all three: narrate the trip, persuade the reader to go, inform with a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Travel-writing register (website vocabulary (2 of 2)). Hear → Say → See → Use. Transliteration is printed for Core students (cover it for Develop/Stretch).
FLEX: teach if time allows; otherwise these are on the website vocabulary tab for homework.
Travel-writing register: every article has a purpose — إِخْبَارٌ (informing), إِقْنَاعٌ (persuading) or سَرْدٌ (narrating). Today’s article does all three: narrate the trip, persuade the reader to go, inform with a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Structuring the article (website vocabulary (1 of 2)). Hear → Say → See → Use. Transliteration is printed for Core students (cover it for Develop/Stretch).
FLEX: teach if time allows; otherwise these are on the website vocabulary tab for homework.
Structuring the article: خَلْفِيَّةٌ سَرْدِيَّةٌ (narrative opening) → تَوْصِيَةٌ (Type 1) → تَأَمُّلٌ (Type 2) → وَخِتَامًا (conclusion). Connectors sit at the START of a sentence, followed by a comma.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Structuring the article (website vocabulary (2 of 2)). Hear → Say → See → Use. Transliteration is printed for Core students (cover it for Develop/Stretch).
FLEX: teach if time allows; otherwise these are on the website vocabulary tab for homework.
Structuring the article: خَلْفِيَّةٌ سَرْدِيَّةٌ (narrative opening) → تَوْصِيَةٌ (Type 1) → تَأَمُّلٌ (Type 2) → وَخِتَامًا (conclusion). Connectors sit at the START of a sentence, followed by a comma.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teaching point “Map a structure to each paragraph” and the website table (narrative looks back · recommendation looks forward · reflection looks back · conclusion looks forward).
Row 2: the website model recommends with إِذَا … فَلَا بُدَّ مِنْ (P3-L04) — a Type 1 with fa-, because the result is not a sa- verb.
Row 4: the website table asks for “future + connector”; the model ends in the past (لَقَدْ غَيَّرَتْ). Stretch writers can add a future: وَسَأَعُودُ إِلَيْهَا يَوْمًا مَا إِنْ شَاءَ اللّٰهُ.
Core students write ONLY these four sentences — one per paragraph — and still have a complete, organised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“Type 1 recommendation” and “Type 2 reflection”, teaching point 1 and mistake 1. Card 3 is from the website speaking model.
A useful habit: Type 1 talks to YOU (the reader: زُرْتَ · خَطَّطْتَ); Type 2 talks about ME (the writer: بَقِيتُ · خَصَّصْتُ).
Website mistake 2: لَوْ حَجَزْتُ مُبَكِّرًا، سَحَصَلْتُ ✗ → لَحَصَلْتُ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“Narrative and citation” and “Lift register”, the vocabulary group “The P3 Range criteria” and the website writing model.
Website mistake 3: قَالَ الدَّلِيلُ أَنَّ ✗ → إِنَّ ✓ (أَشَارَ إِلَى takes أَنَّ).
Spelling: عِلَاوَةً (ʿilāwatan) — the website writes عَلَاوَةً; the kasra is correct (cf. Urdu علاوہ).
Self-assessment: students tick each row in their own draft with a coloured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website vocabulary “التَّفْصِيلُ الحِسِّيُّ” and “الصَّوْتُ السِّيَاحِيُّ”, with every example from the website writing model.
حَتَّى + past = “until (finally)”: مَشَيْتُ حَتَّى ظَهَرَتِ الخَزْنَةُ. فَـ + past = “and so”: فَحَبَسْتُ أَنْفَاسِي.
Stretch: add one detail for each sense in your own article — sight, sound (أَذَانُ الفَجْرِ), smell (رَائِحَةُ التَّوَابِلِ), taste,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synthesis: place a Type 1 recommendation and a Type 2 reflection, and weave in the past perfect, reported speech and tourism verbs.”
• Type 1 recommendation: A forward-looking recommendation to the reader.
• Type 2 reflection: A backward-looking reflection or regret.
• Narrative and citation: Open with a past-perfect background and cite a guide.
• Lift register: Use a formal connector and a tourism verb.
Website common error: Using two Type 1 conditionals, or dropping the لَـ in the Type 2. Range rewards one of each type, and the Type 2 must carry the لَـ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skeleton of the website model. Build it paragraph by paragraph, counting Range aloud: past perfect (1) · sensory detail (2) · reported speech (3) · Type 1 (4) · Type 2 (5) · connector (6). Then point to the full model (Feedback) for the tourism verb and two more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an upgrade drill built from the website model. The left-hand sentences are accurate but show almost no Range — that is the point.
Core: rows 1–2. Develop: rows 1–4. Stretch: all five, then add a connector to the front of rows 3 and 5 (عِلَاوَةً عَلَى ذٰلِكَ · وَعَلَى الرَّغْمِ مِنْ ذٰلِكَ).
Row 5: the plain fact (I stayed only one day) is exactly what the law sentence imagines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range-rich article line from a narrative opening, a recommendation and a reflection.” Website feedback: any three different combinations work.
Ask: which combination has the MOST Range? (e.g. row 1 + row 3 + row 2: past perfect + reported + superlative + connector +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write down the order of the four paragraphs.
Listen 1: just listen. Listen 2: note answers. Then chat the letters.
Support: after the second listening, show the read-along slide (Arabic + English, line by line) for Core students.
SCRIPT (read aloud):
فِي الوَرَقَةِ الرَّابِعَةِ، يَبْلُغُ النَّصُّ فِي هٰذِهِ الوَحْدَةِ مِئَةً وَخَمْسًا وَأَرْبَعِينَ إِلَى مِئَةٍ وَسِتِّينَ كَلِمَةً، وَهُوَ أَطْوَلُ نَصٍّ فِي البَرْنَامَجِ. النِّطَاقُ يُكَافِئُ نَوْعَيِ الشَّرْطِ بِعَلَامَتَيْنِ مُنْفَصِلَتَيْنِ: عَلَامَةٌ لِلنَّوْعِ الأَوَّلِ، وَعَلَامَةٌ لِلنَّوْعِ الثَّانِي. النَّوْعُ الأَوَّلُ يَنْظُرُ إِلَى الأَمَامِ وَيُوصِي القَارِئَ، أَمَّا النَّوْعُ الثَّانِي فَيَنْظُرُ إِلَى الوَرَاءِ وَيَتَأَمَّلُ. النَّصُّ الَّذِي يَحْمِلُ نَوْعًا وَاحِدًا فَقَطْ لَا يَنَالُ النِّطَاقَ الكَامِلَ. افْتَحْ بِخَلْفِيَّةٍ سَرْدِيَّةٍ فِي المَاضِي التَّامِّ، ثُمَّ أَوْصِ بِالنَّوْعِ الأَوَّلِ، ثُمَّ تَأَمَّلْ بِالنَّوْعِ الثَّانِي، وَاخْتِمْ بِرَابِطٍ رَسْمِيٍّ.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تَأَمُّلُكَ؟ (Type 2 reflection)
B: لَوْ كُنْتُ قَدْ بَقِيتُ لَيْلَةً إِضَافِيَّةً، لَرَأَيْتُ المَزِيدَ، لٰكِنْ إِذَا عُدْتُ سَأَبْقَى أَطْوَلَ. (Type 2 plus a Type 1)
Website prompts and model: students TALK THROUGH their plan with a partner before writing (2 min each). The partner counts the Range markers on their fingers. To a girl: خَلْفِيَّتُكِ · تَوْصِيَتُكِ · تَأَمُّلُكِ. Develop stem: سَتَنْبَهِرُ بِجَمَالِهَا / بِأَسْوَاقِهَا.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the four-paragraph plan with one sentence per paragraph. · Develop — Expand to 145 words with both conditional types labelled. · Stretch — Reach 160 words with eight Range markers and a reported cultural tip.
Website writing task (Stretch): Write a 145-160 word travel article. Open with a past-perfect narrative, use a Type 1 conditional to recommend and a Type 2 conditional to reflect, cite a guide with reported speech, use a tourism verb, and close with a formal connector.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 150 words). Range: كُنْتُ قَدْ حَلِمْتُ · كُنْتُ قَدْ قَرَأْتُ (past perfect) · فَحَبَسْتُ أَنْفَاسِي مِنَ الدَّهْشَةِ (sensory detail) · قَالَ … إِنَّ · أَشَارَ إِلَى أَنَّ (reported) · أَفْضَلُ مَوْسِمٍ (superlative) · تَسْتَقْطِبُ (tourism verb) · إِذَا خَطَّطْتَ … فَلَا بُدَّ (Type 1) · لَوْ كُنْتُ قَدْ بَقِيتُ … لَرَأَيْتُ (Type 2) · عِلَاوَةً عَلَى ذٰلِكَ · عَلَى الرَّغْمِ مِنْ ذٰلِكَ · وَخِتَامًا (connectors).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(P3-L10 · Listening — Travel, Tourism and Transport Texts) will spend class time USING this language, so students prepare it tonight — short, simple, easy to access (school guidance: “Simple, Short, Interesting, Relevant, Easy to access”). The five words come from the website P3-L10 vocabulary (listening for conditionals).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Travel and Tourism (Paper 4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 السَّفَرُ وَالسِّيَاحَةُ (كِتَابَةٌ مُوَسَّعَةٌ)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the longest article of the programme (145–160 words): a kuntu qad opening with sensory detail, an idhā recommendation AND a law reflection, a reported tip, a tourism verb and formal connectors.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P3-L09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four-paragraph plan, idhā forward / law back, the Range checklist, the travel voice.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plain sentences, build an article line, sort by paragraph.</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الصَّوْتُ السِّيَاحِيُّ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tourist’s phone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travel-writing voice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podcast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التَّفْصِيلُ الحِسِّيُّ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sensory detail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summary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plan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ذِكْرَى لَا تُنْسَى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forgotten souvenir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journey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unforgettable memory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travel text, a law sentence often reveals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recommendation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الصَّوْتُ السِّيَاحِيُّ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tourist’s phone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travel-writing voice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podcast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التَّفْصِيلُ الحِسِّيُّ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sensory detail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summary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plan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ذِكْرَى لَا تُنْسَى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forgotten souvenir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journey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unforgettable memory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لَوَفَّرْتَ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سَتُوَفِّرُ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P3-L08: idhā … sa-.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travel text, a law sentence often reveals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recommendation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P3-L08: law = what did not happen.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Look forward with idhā, look back with law — one of each earns two Range marks.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0E7C86"/>
                </a:solidFill>
                <a:latin typeface="Amiri" pitchFamily="2" charset="-78"/>
                <a:ea typeface="Amiri" pitchFamily="2" charset="-78"/>
                <a:cs typeface="Amiri" pitchFamily="2" charset="-78"/>
              </a:rPr>
              <a:t>إِذَا</a:t>
            </a:r>
            <a:pPr rtl="1" algn="ctr" indent="0" marL="0">
              <a:buNone/>
            </a:pPr>
            <a:r>
              <a:rPr lang="ar-SA" altLang="en-US" sz="2350" b="1" dirty="0">
                <a:solidFill>
                  <a:srgbClr val="1B3B6F"/>
                </a:solidFill>
                <a:latin typeface="Amiri" pitchFamily="2" charset="-78"/>
                <a:ea typeface="Amiri" pitchFamily="2" charset="-78"/>
                <a:cs typeface="Amiri" pitchFamily="2" charset="-78"/>
              </a:rPr>
              <a:t> زُرْتَ … </a:t>
            </a:r>
            <a:pPr rtl="1" algn="ctr" indent="0" marL="0">
              <a:buNone/>
            </a:pPr>
            <a:r>
              <a:rPr lang="ar-SA" altLang="en-US" sz="2350" b="1" dirty="0">
                <a:solidFill>
                  <a:srgbClr val="0E7C86"/>
                </a:solidFill>
                <a:latin typeface="Amiri" pitchFamily="2" charset="-78"/>
                <a:ea typeface="Amiri" pitchFamily="2" charset="-78"/>
                <a:cs typeface="Amiri" pitchFamily="2" charset="-78"/>
              </a:rPr>
              <a:t>سَـ</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C77700"/>
                </a:solidFill>
                <a:latin typeface="Amiri" pitchFamily="2" charset="-78"/>
                <a:ea typeface="Amiri" pitchFamily="2" charset="-78"/>
                <a:cs typeface="Amiri" pitchFamily="2" charset="-78"/>
              </a:rPr>
              <a:t>لَوْ</a:t>
            </a:r>
            <a:pPr rtl="1" algn="ctr" indent="0" marL="0">
              <a:buNone/>
            </a:pPr>
            <a:r>
              <a:rPr lang="ar-SA" altLang="en-US" sz="2350" b="1" dirty="0">
                <a:solidFill>
                  <a:srgbClr val="1B3B6F"/>
                </a:solidFill>
                <a:latin typeface="Amiri" pitchFamily="2" charset="-78"/>
                <a:ea typeface="Amiri" pitchFamily="2" charset="-78"/>
                <a:cs typeface="Amiri" pitchFamily="2" charset="-78"/>
              </a:rPr>
              <a:t> بَقِيتُ … </a:t>
            </a:r>
            <a:pPr rtl="1" algn="ctr" indent="0" marL="0">
              <a:buNone/>
            </a:pPr>
            <a:r>
              <a:rPr lang="ar-SA" altLang="en-US" sz="2350" b="1" dirty="0">
                <a:solidFill>
                  <a:srgbClr val="C77700"/>
                </a:solidFill>
                <a:latin typeface="Amiri" pitchFamily="2" charset="-78"/>
                <a:ea typeface="Amiri" pitchFamily="2" charset="-78"/>
                <a:cs typeface="Amiri" pitchFamily="2" charset="-78"/>
              </a:rPr>
              <a:t>لَـ</a:t>
            </a:r>
            <a:pPr rtl="1" algn="ctr" indent="0" marL="0">
              <a:buNone/>
            </a:pPr>
            <a:r>
              <a:rPr lang="ar-SA" altLang="en-US" sz="2350" b="1" dirty="0">
                <a:solidFill>
                  <a:srgbClr val="1B3B6F"/>
                </a:solidFill>
                <a:latin typeface="Amiri" pitchFamily="2" charset="-78"/>
                <a:cs typeface="Amiri" pitchFamily="2" charset="-78"/>
              </a:rPr>
              <a:t>…</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travel article.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Type 1 recommendation AND a Type 2 reflection.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a past-perfect opening, a reported tip and a tourism verb.</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Self-assess against the P3 Range checklist.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four paragraphs, one structure each.</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with kuntu qad.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one idhā AND one law conditional.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reported tip and a tourism verb.</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sensory detail and two formal connectors.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145–160 accurate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P3 Range criteria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Travel-writing register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Structuring the article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تَجْرِبَةٌ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an experience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tafsīl · a detail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خِتَامٌ · وَخِتَامًا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an ending · in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مَنْزِلٌ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‎منزل‎ </a:t>
            </a:r>
            <a:pPr indent="0" marL="0">
              <a:buNone/>
            </a:pPr>
            <a:r>
              <a:rPr lang="en-US" sz="950" b="1" dirty="0">
                <a:solidFill>
                  <a:srgbClr val="2E8B57"/>
                </a:solidFill>
                <a:latin typeface="Calibri" pitchFamily="34" charset="0"/>
                <a:cs typeface="Amiri" pitchFamily="2" charset="-78"/>
              </a:rPr>
              <a:t> manzil · false friend! Urdu = destination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تَأَمُّلٌ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‎تامل‎ </a:t>
            </a:r>
            <a:pPr indent="0" marL="0">
              <a:buNone/>
            </a:pPr>
            <a:r>
              <a:rPr lang="en-US" sz="950" b="1" dirty="0">
                <a:solidFill>
                  <a:srgbClr val="2E8B57"/>
                </a:solidFill>
                <a:latin typeface="Calibri" pitchFamily="34" charset="0"/>
                <a:cs typeface="Amiri" pitchFamily="2" charset="-78"/>
              </a:rPr>
              <a:t> taammul · false friend! Urdu = hesitation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Range criteria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الكِتَابَةُ السِّيَاحِيَّةُ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 writing</a:t>
            </a:r>
            <a:endParaRPr lang="en-US" sz="1350" dirty="0"/>
          </a:p>
          <a:p>
            <a:pPr indent="0" marL="0">
              <a:buNone/>
            </a:pPr>
            <a:r>
              <a:rPr lang="en-US" sz="1100" i="1" dirty="0">
                <a:solidFill>
                  <a:srgbClr val="5A6472"/>
                </a:solidFill>
                <a:latin typeface="Calibri" pitchFamily="34" charset="0"/>
                <a:cs typeface="Amiri" pitchFamily="2" charset="-78"/>
              </a:rPr>
              <a:t>al-ki-tā-ba-tu as-si-yā-ḥiy-ya-tu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إِذَا … سَـ.</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الأَوَّلِ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1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al-aw-wa-li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لَوْ … لَـ.</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الثَّانِي</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2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ath-thā-nī</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كَانَ قَدْ.</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 التَّامُّ</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المَنْقُولُ</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Range criteria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التَّفْصِيلُ الحِسِّيُّ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sensory detail</a:t>
            </a:r>
            <a:endParaRPr lang="en-US" sz="1350" dirty="0"/>
          </a:p>
          <a:p>
            <a:pPr indent="0" marL="0">
              <a:buNone/>
            </a:pPr>
            <a:r>
              <a:rPr lang="en-US" sz="1100" i="1" dirty="0">
                <a:solidFill>
                  <a:srgbClr val="5A6472"/>
                </a:solidFill>
                <a:latin typeface="Calibri" pitchFamily="34" charset="0"/>
                <a:cs typeface="Amiri" pitchFamily="2" charset="-78"/>
              </a:rPr>
              <a:t>at-taf-ṣī-lu al-ḥis-siy-yu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الصَّوْتُ السِّيَاحِيُّ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travel-writing voice</a:t>
            </a:r>
            <a:endParaRPr lang="en-US" sz="1350" dirty="0"/>
          </a:p>
          <a:p>
            <a:pPr indent="0" marL="0">
              <a:buNone/>
            </a:pPr>
            <a:r>
              <a:rPr lang="en-US" sz="1100" i="1" dirty="0">
                <a:solidFill>
                  <a:srgbClr val="5A6472"/>
                </a:solidFill>
                <a:latin typeface="Calibri" pitchFamily="34" charset="0"/>
                <a:cs typeface="Amiri" pitchFamily="2" charset="-78"/>
              </a:rPr>
              <a:t>aṣ-ṣaw-tu as-si-yā-ḥiy-yu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رَابِطٌ رَسْمِيٌّ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formal connector</a:t>
            </a:r>
            <a:endParaRPr lang="en-US" sz="1350" dirty="0"/>
          </a:p>
          <a:p>
            <a:pPr indent="0" marL="0">
              <a:buNone/>
            </a:pPr>
            <a:r>
              <a:rPr lang="en-US" sz="1100" i="1" dirty="0">
                <a:solidFill>
                  <a:srgbClr val="5A6472"/>
                </a:solidFill>
                <a:latin typeface="Calibri" pitchFamily="34" charset="0"/>
                <a:cs typeface="Amiri" pitchFamily="2" charset="-78"/>
              </a:rPr>
              <a:t>rā-bi-ṭun ras-miy-yun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رَوَابِطُ رَسْمِيَّةٌ</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صِيغَةُ التَّفْضِيلِ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superlative</a:t>
            </a:r>
            <a:endParaRPr lang="en-US" sz="1350" dirty="0"/>
          </a:p>
          <a:p>
            <a:pPr indent="0" marL="0">
              <a:buNone/>
            </a:pPr>
            <a:r>
              <a:rPr lang="en-US" sz="1100" i="1" dirty="0">
                <a:solidFill>
                  <a:srgbClr val="5A6472"/>
                </a:solidFill>
                <a:latin typeface="Calibri" pitchFamily="34" charset="0"/>
                <a:cs typeface="Amiri" pitchFamily="2" charset="-78"/>
              </a:rPr>
              <a:t>ṣī-gha-tu at-taf-ḍī-li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Travel-writing register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الوِجْهَةُ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destination</a:t>
            </a:r>
            <a:endParaRPr lang="en-US" sz="1350" dirty="0"/>
          </a:p>
          <a:p>
            <a:pPr indent="0" marL="0">
              <a:buNone/>
            </a:pPr>
            <a:r>
              <a:rPr lang="en-US" sz="1100" i="1" dirty="0">
                <a:solidFill>
                  <a:srgbClr val="5A6472"/>
                </a:solidFill>
                <a:latin typeface="Calibri" pitchFamily="34" charset="0"/>
                <a:cs typeface="Amiri" pitchFamily="2" charset="-78"/>
              </a:rPr>
              <a:t>al-wij-ha-tu</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الوِجْهَاتُ</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الرِّحْلَةُ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journey</a:t>
            </a:r>
            <a:endParaRPr lang="en-US" sz="1350" dirty="0"/>
          </a:p>
          <a:p>
            <a:pPr indent="0" marL="0">
              <a:buNone/>
            </a:pPr>
            <a:r>
              <a:rPr lang="en-US" sz="1100" i="1" dirty="0">
                <a:solidFill>
                  <a:srgbClr val="5A6472"/>
                </a:solidFill>
                <a:latin typeface="Calibri" pitchFamily="34" charset="0"/>
                <a:cs typeface="Amiri" pitchFamily="2" charset="-78"/>
              </a:rPr>
              <a:t>ar-riḥ-la-tu</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الرِّحْلَاتُ</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التَّجْرِبَةُ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experience</a:t>
            </a:r>
            <a:endParaRPr lang="en-US" sz="1350" dirty="0"/>
          </a:p>
          <a:p>
            <a:pPr indent="0" marL="0">
              <a:buNone/>
            </a:pPr>
            <a:r>
              <a:rPr lang="en-US" sz="1100" i="1" dirty="0">
                <a:solidFill>
                  <a:srgbClr val="5A6472"/>
                </a:solidFill>
                <a:latin typeface="Calibri" pitchFamily="34" charset="0"/>
                <a:cs typeface="Amiri" pitchFamily="2" charset="-78"/>
              </a:rPr>
              <a:t>at-taj-ri-ba-tu</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التَّجَارِبُ</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إِخْبَارٌ</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informing</a:t>
            </a:r>
            <a:endParaRPr lang="en-US" sz="1350" dirty="0"/>
          </a:p>
          <a:p>
            <a:pPr indent="0" marL="0">
              <a:buNone/>
            </a:pPr>
            <a:r>
              <a:rPr lang="en-US" sz="1100" i="1" dirty="0">
                <a:solidFill>
                  <a:srgbClr val="5A6472"/>
                </a:solidFill>
                <a:latin typeface="Calibri" pitchFamily="34" charset="0"/>
                <a:cs typeface="Amiri" pitchFamily="2" charset="-78"/>
              </a:rPr>
              <a:t>ikh-bā-run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Travel-writing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إِقْنَاعٌ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persuading</a:t>
            </a:r>
            <a:endParaRPr lang="en-US" sz="1350" dirty="0"/>
          </a:p>
          <a:p>
            <a:pPr indent="0" marL="0">
              <a:buNone/>
            </a:pPr>
            <a:r>
              <a:rPr lang="en-US" sz="1100" i="1" dirty="0">
                <a:solidFill>
                  <a:srgbClr val="5A6472"/>
                </a:solidFill>
                <a:latin typeface="Calibri" pitchFamily="34" charset="0"/>
                <a:cs typeface="Amiri" pitchFamily="2" charset="-78"/>
              </a:rPr>
              <a:t>iq-nā-ʿun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سَرْدٌ</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narrating</a:t>
            </a:r>
            <a:endParaRPr lang="en-US" sz="1350" dirty="0"/>
          </a:p>
          <a:p>
            <a:pPr indent="0" marL="0">
              <a:buNone/>
            </a:pPr>
            <a:r>
              <a:rPr lang="en-US" sz="1100" i="1" dirty="0">
                <a:solidFill>
                  <a:srgbClr val="5A6472"/>
                </a:solidFill>
                <a:latin typeface="Calibri" pitchFamily="34" charset="0"/>
                <a:cs typeface="Amiri" pitchFamily="2" charset="-78"/>
              </a:rPr>
              <a:t>sar-dun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ذِكْرَى لَا تُنْسَى</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memory</a:t>
            </a:r>
            <a:endParaRPr lang="en-US" sz="1350" dirty="0"/>
          </a:p>
          <a:p>
            <a:pPr indent="0" marL="0">
              <a:buNone/>
            </a:pPr>
            <a:r>
              <a:rPr lang="en-US" sz="1100" i="1" dirty="0">
                <a:solidFill>
                  <a:srgbClr val="5A6472"/>
                </a:solidFill>
                <a:latin typeface="Calibri" pitchFamily="34" charset="0"/>
                <a:cs typeface="Amiri" pitchFamily="2" charset="-78"/>
              </a:rPr>
              <a:t>dhik-rā lā tun-sā</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ذِكْرَيَاتٌ لَا تُنْسَى</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Shape 37"/>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يَسْتَقْطِبُ</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attracts</a:t>
            </a:r>
            <a:endParaRPr lang="en-US" sz="1350" dirty="0"/>
          </a:p>
          <a:p>
            <a:pPr indent="0" marL="0">
              <a:buNone/>
            </a:pPr>
            <a:r>
              <a:rPr lang="en-US" sz="1100" i="1" dirty="0">
                <a:solidFill>
                  <a:srgbClr val="5A6472"/>
                </a:solidFill>
                <a:latin typeface="Calibri" pitchFamily="34" charset="0"/>
                <a:cs typeface="Amiri" pitchFamily="2" charset="-78"/>
              </a:rPr>
              <a:t>yas-taq-ṭi-bu</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6" name="Text 43"/>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تَسْتَقْطِبُ</a:t>
            </a:r>
            <a:endParaRPr lang="ar-SA"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Structuring the article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تَوْصِيَةٌ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recommendation</a:t>
            </a:r>
            <a:endParaRPr lang="en-US" sz="1350" dirty="0"/>
          </a:p>
          <a:p>
            <a:pPr indent="0" marL="0">
              <a:buNone/>
            </a:pPr>
            <a:r>
              <a:rPr lang="en-US" sz="1100" i="1" dirty="0">
                <a:solidFill>
                  <a:srgbClr val="5A6472"/>
                </a:solidFill>
                <a:latin typeface="Calibri" pitchFamily="34" charset="0"/>
                <a:cs typeface="Amiri" pitchFamily="2" charset="-78"/>
              </a:rPr>
              <a:t>taw-ṣi-ya-tun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تَوْصِيَاتٌ</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تَأَمُّلٌ</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reflection</a:t>
            </a:r>
            <a:endParaRPr lang="en-US" sz="1350" dirty="0"/>
          </a:p>
          <a:p>
            <a:pPr indent="0" marL="0">
              <a:buNone/>
            </a:pPr>
            <a:r>
              <a:rPr lang="en-US" sz="1100" i="1" dirty="0">
                <a:solidFill>
                  <a:srgbClr val="5A6472"/>
                </a:solidFill>
                <a:latin typeface="Calibri" pitchFamily="34" charset="0"/>
                <a:cs typeface="Amiri" pitchFamily="2" charset="-78"/>
              </a:rPr>
              <a:t>ta-ʾam-mu-lun</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تَأَمُّلَاتٌ</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Shape 4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خَلْفِيَّةٌ سَرْدِيَّةٌ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narrative background</a:t>
            </a:r>
            <a:endParaRPr lang="en-US" sz="1350" dirty="0"/>
          </a:p>
          <a:p>
            <a:pPr indent="0" marL="0">
              <a:buNone/>
            </a:pPr>
            <a:r>
              <a:rPr lang="en-US" sz="1100" i="1" dirty="0">
                <a:solidFill>
                  <a:srgbClr val="5A6472"/>
                </a:solidFill>
                <a:latin typeface="Calibri" pitchFamily="34" charset="0"/>
                <a:cs typeface="Amiri" pitchFamily="2" charset="-78"/>
              </a:rPr>
              <a:t>khal-fiy-ya-tun sar-diy-ya-tun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خَلْفِيَّاتٌ سَرْدِيَّةٌ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ʿi-lā-wa-tan ʿa-lā dhā-li-ka</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Structuring the article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ʿa-lā ar-ragh-mi min 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بِنَاءً عَلَى 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 that</a:t>
            </a:r>
            <a:endParaRPr lang="en-US" sz="1350" dirty="0"/>
          </a:p>
          <a:p>
            <a:pPr indent="0" marL="0">
              <a:buNone/>
            </a:pPr>
            <a:r>
              <a:rPr lang="en-US" sz="1100" i="1" dirty="0">
                <a:solidFill>
                  <a:srgbClr val="5A6472"/>
                </a:solidFill>
                <a:latin typeface="Calibri" pitchFamily="34" charset="0"/>
                <a:cs typeface="Amiri" pitchFamily="2" charset="-78"/>
              </a:rPr>
              <a:t>bi-nā-ʾan ʿa-lā 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وَخِتَامًا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wa-khi-tā-man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7" name="Shape 34"/>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يَدْمُجُ</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integrates</a:t>
            </a:r>
            <a:endParaRPr lang="en-US" sz="1350" dirty="0"/>
          </a:p>
          <a:p>
            <a:pPr indent="0" marL="0">
              <a:buNone/>
            </a:pPr>
            <a:r>
              <a:rPr lang="en-US" sz="1100" i="1" dirty="0">
                <a:solidFill>
                  <a:srgbClr val="5A6472"/>
                </a:solidFill>
                <a:latin typeface="Calibri" pitchFamily="34" charset="0"/>
                <a:cs typeface="Amiri" pitchFamily="2" charset="-78"/>
              </a:rPr>
              <a:t>yad-mu-ju</a:t>
            </a:r>
            <a:endParaRPr lang="en-US" sz="1350" dirty="0"/>
          </a:p>
        </p:txBody>
      </p:sp>
      <p:sp>
        <p:nvSpPr>
          <p:cNvPr id="41" name="Shape 3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تَدْمُجُ</a:t>
            </a:r>
            <a:endParaRPr lang="ar-SA" sz="1500" dirty="0"/>
          </a:p>
        </p:txBody>
      </p:sp>
      <p:sp>
        <p:nvSpPr>
          <p:cNvPr id="44" name="Shape 4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أَدْمُجُ</a:t>
            </a:r>
            <a:endParaRPr lang="ar-SA" sz="15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FOUR-PARAGRAPH PLAN (WEBSITE TABLE + TEACHING POINT 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Four paragraphs, back and forward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553712" y="1810512"/>
            <a:ext cx="7104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 model)</a:t>
            </a:r>
            <a:endParaRPr lang="en-US" sz="1100" dirty="0"/>
          </a:p>
        </p:txBody>
      </p:sp>
      <p:sp>
        <p:nvSpPr>
          <p:cNvPr id="17" name="Text 14"/>
          <p:cNvSpPr txBox="1"/>
          <p:nvPr/>
        </p:nvSpPr>
        <p:spPr>
          <a:xfrm>
            <a:off x="23591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572000" y="2267712"/>
            <a:ext cx="7068312"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كُنْتُ قَدْ حَلِمْتُ</a:t>
            </a:r>
            <a:pPr rtl="1" algn="ctr" indent="0" marL="0">
              <a:buNone/>
            </a:pPr>
            <a:r>
              <a:rPr lang="ar-SA" altLang="en-US" sz="1800" b="1" dirty="0">
                <a:solidFill>
                  <a:srgbClr val="1B3B6F"/>
                </a:solidFill>
                <a:latin typeface="Amiri" pitchFamily="2" charset="-78"/>
                <a:ea typeface="Amiri" pitchFamily="2" charset="-78"/>
                <a:cs typeface="Amiri" pitchFamily="2" charset="-78"/>
              </a:rPr>
              <a:t> بِزِيَارَةِ البَتْرَاءِ مُنْذُ الطُّفُولَةِ … فَحَبَسْتُ أَنْفَاسِي مِنَ الدَّهْشَةِ.</a:t>
            </a:r>
            <a:endParaRPr lang="ar-SA" sz="1800" dirty="0"/>
          </a:p>
        </p:txBody>
      </p:sp>
      <p:sp>
        <p:nvSpPr>
          <p:cNvPr id="21" name="Text 18"/>
          <p:cNvSpPr txBox="1"/>
          <p:nvPr/>
        </p:nvSpPr>
        <p:spPr>
          <a:xfrm>
            <a:off x="23957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 + detail</a:t>
            </a:r>
            <a:endParaRPr lang="en-US" sz="1100" dirty="0"/>
          </a:p>
        </p:txBody>
      </p:sp>
      <p:sp>
        <p:nvSpPr>
          <p:cNvPr id="22" name="Text 19"/>
          <p:cNvSpPr txBox="1"/>
          <p:nvPr/>
        </p:nvSpPr>
        <p:spPr>
          <a:xfrm>
            <a:off x="56692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narrative ←</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572000" y="3054096"/>
            <a:ext cx="706831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خَطَّطْتَ لِرِحْلَةٍ إِلَى الأُرْدُنِّ، </a:t>
            </a:r>
            <a:pPr rtl="1" algn="ctr" indent="0" marL="0">
              <a:buNone/>
            </a:pPr>
            <a:r>
              <a:rPr lang="ar-SA" altLang="en-US" sz="1800" b="1" dirty="0">
                <a:solidFill>
                  <a:srgbClr val="0E7C86"/>
                </a:solidFill>
                <a:latin typeface="Amiri" pitchFamily="2" charset="-78"/>
                <a:ea typeface="Amiri" pitchFamily="2" charset="-78"/>
                <a:cs typeface="Amiri" pitchFamily="2" charset="-78"/>
              </a:rPr>
              <a:t>فَلَا بُدَّ</a:t>
            </a:r>
            <a:pPr rtl="1" algn="ctr" indent="0" marL="0">
              <a:buNone/>
            </a:pPr>
            <a:r>
              <a:rPr lang="ar-SA" altLang="en-US" sz="1800" b="1" dirty="0">
                <a:solidFill>
                  <a:srgbClr val="1B3B6F"/>
                </a:solidFill>
                <a:latin typeface="Amiri" pitchFamily="2" charset="-78"/>
                <a:ea typeface="Amiri" pitchFamily="2" charset="-78"/>
                <a:cs typeface="Amiri" pitchFamily="2" charset="-78"/>
              </a:rPr>
              <a:t> مِنْ قَضَاءِ يَوْمٍ كَامِلٍ فِيهَا.</a:t>
            </a:r>
            <a:endParaRPr lang="ar-SA" sz="1800" dirty="0"/>
          </a:p>
        </p:txBody>
      </p:sp>
      <p:sp>
        <p:nvSpPr>
          <p:cNvPr id="27" name="Text 24"/>
          <p:cNvSpPr txBox="1"/>
          <p:nvPr/>
        </p:nvSpPr>
        <p:spPr>
          <a:xfrm>
            <a:off x="23957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28" name="Text 25"/>
          <p:cNvSpPr txBox="1"/>
          <p:nvPr/>
        </p:nvSpPr>
        <p:spPr>
          <a:xfrm>
            <a:off x="56692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recommend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4572000" y="3840480"/>
            <a:ext cx="7068312" cy="731520"/>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كُنْتُ قَدْ بَقِيتُ لَيْلَةً إِضَافِيَّةً، </a:t>
            </a:r>
            <a:pPr rtl="1" algn="ctr" indent="0" marL="0">
              <a:buNone/>
            </a:pPr>
            <a:r>
              <a:rPr lang="ar-SA" altLang="en-US" sz="1800" b="1" dirty="0">
                <a:solidFill>
                  <a:srgbClr val="C77700"/>
                </a:solidFill>
                <a:latin typeface="Amiri" pitchFamily="2" charset="-78"/>
                <a:ea typeface="Amiri" pitchFamily="2" charset="-78"/>
                <a:cs typeface="Amiri" pitchFamily="2" charset="-78"/>
              </a:rPr>
              <a:t>لَرَأَيْتُ</a:t>
            </a:r>
            <a:pPr rtl="1" algn="ctr" indent="0" marL="0">
              <a:buNone/>
            </a:pPr>
            <a:r>
              <a:rPr lang="ar-SA" altLang="en-US" sz="1800" b="1" dirty="0">
                <a:solidFill>
                  <a:srgbClr val="1B3B6F"/>
                </a:solidFill>
                <a:latin typeface="Amiri" pitchFamily="2" charset="-78"/>
                <a:ea typeface="Amiri" pitchFamily="2" charset="-78"/>
                <a:cs typeface="Amiri" pitchFamily="2" charset="-78"/>
              </a:rPr>
              <a:t> الخَزْنَةَ تَحْتَ ضَوْءِ الشُّمُوعِ.</a:t>
            </a:r>
            <a:endParaRPr lang="ar-SA" sz="1800" dirty="0"/>
          </a:p>
        </p:txBody>
      </p:sp>
      <p:sp>
        <p:nvSpPr>
          <p:cNvPr id="33" name="Text 30"/>
          <p:cNvSpPr txBox="1"/>
          <p:nvPr/>
        </p:nvSpPr>
        <p:spPr>
          <a:xfrm>
            <a:off x="23957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4" name="Text 31"/>
          <p:cNvSpPr txBox="1"/>
          <p:nvPr/>
        </p:nvSpPr>
        <p:spPr>
          <a:xfrm>
            <a:off x="56692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reflect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4572000" y="4626864"/>
            <a:ext cx="7068312" cy="731520"/>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وَخِتَامًا</a:t>
            </a:r>
            <a:pPr rtl="1" algn="ctr" indent="0" marL="0">
              <a:buNone/>
            </a:pPr>
            <a:r>
              <a:rPr lang="ar-SA" altLang="en-US" sz="1800" b="1" dirty="0">
                <a:solidFill>
                  <a:srgbClr val="1B3B6F"/>
                </a:solidFill>
                <a:latin typeface="Amiri" pitchFamily="2" charset="-78"/>
                <a:ea typeface="Amiri" pitchFamily="2" charset="-78"/>
                <a:cs typeface="Amiri" pitchFamily="2" charset="-78"/>
              </a:rPr>
              <a:t>، لَقَدْ غَيَّرَتْ هٰذِهِ الرِّحْلَةُ نَظْرَتِي إِلَى التَّارِيخِ.</a:t>
            </a:r>
            <a:endParaRPr lang="ar-SA" sz="1800" dirty="0"/>
          </a:p>
        </p:txBody>
      </p:sp>
      <p:sp>
        <p:nvSpPr>
          <p:cNvPr id="39" name="Text 36"/>
          <p:cNvSpPr txBox="1"/>
          <p:nvPr/>
        </p:nvSpPr>
        <p:spPr>
          <a:xfrm>
            <a:off x="23957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 + outcome</a:t>
            </a:r>
            <a:endParaRPr lang="en-US" sz="1100" dirty="0"/>
          </a:p>
        </p:txBody>
      </p:sp>
      <p:sp>
        <p:nvSpPr>
          <p:cNvPr id="40" name="Text 37"/>
          <p:cNvSpPr txBox="1"/>
          <p:nvPr/>
        </p:nvSpPr>
        <p:spPr>
          <a:xfrm>
            <a:off x="56692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conclude →</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Back · forward · back · forward: the article swings between memory and advice.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ONE IDHĀ AND ONE LAW (WEBSITE RULES 1–2 + TEACHING POINT 1)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Forward with idhā, back with law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إِذَا إِلَى الأَمَامِ · لَوْ إِلَى الوَرَاءِ</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FORWARD · CORE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إِذَا زُرْتَ فَاسَ، سَتَنْبَهِرُ بِأَزِقَّتِهَا.</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visit Fez, you will be amazed by its alleys.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Advice to “you”.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8516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BACK · DEVELOP</a:t>
            </a:r>
            <a:endParaRPr lang="en-US" sz="850" dirty="0"/>
          </a:p>
        </p:txBody>
      </p:sp>
      <p:sp>
        <p:nvSpPr>
          <p:cNvPr id="26" name="Text 23"/>
          <p:cNvSpPr txBox="1"/>
          <p:nvPr/>
        </p:nvSpPr>
        <p:spPr>
          <a:xfrm>
            <a:off x="6310884"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خَصَّصْتُ وَقْتًا أَطْوَلَ، لَرَأَيْتُ المَزِيدَ.</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I set aside more time, I would have seen more.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Regret about “I”.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BOTH IN ONE · STRETCH</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550" b="1" dirty="0">
                <a:solidFill>
                  <a:srgbClr val="8A6D1E"/>
                </a:solidFill>
                <a:latin typeface="Amiri" pitchFamily="2" charset="-78"/>
                <a:ea typeface="Amiri" pitchFamily="2" charset="-78"/>
                <a:cs typeface="Amiri" pitchFamily="2" charset="-78"/>
              </a:rPr>
              <a:t>لَوْ … لَـ ، لٰكِنْ إِذَا … سَـ</a:t>
            </a:r>
            <a:endParaRPr lang="ar-SA" sz="15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بَقِيتُ أَطْوَلَ لَرَأَيْتُ المَزِيدَ، لٰكِنْ إِذَا عُدْتُ سَأَبْقَى أَطْوَلَ.</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I stayed longer I would have seen more, but if I return I will stay longer.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marks, 1 sentence.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two Type 1 conditionals earn only one Range mark.</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إِذَا زُرْتَ فَاسَ، سَتَنْبَهِرُ؛ وَلَوْ بَقِيتُ أَطْوَلَ، لَرَأَيْتُ المَزِيدَ</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B83227"/>
                </a:solidFill>
                <a:latin typeface="Amiri" pitchFamily="2" charset="-78"/>
                <a:ea typeface="Amiri" pitchFamily="2" charset="-78"/>
                <a:cs typeface="Amiri" pitchFamily="2" charset="-78"/>
              </a:rPr>
              <a:t>إِذَا زُرْتَ فَاسَ، سَتَنْبَهِرُ؛ وَإِذَا بَقِيتَ أَطْوَلَ، سَتَرَى المَزِيدَ</a:t>
            </a:r>
            <a:endParaRPr lang="ar-SA" sz="14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P3 RANGE CHECKLIST IN THE WEBSITE MODEL (WEBSITE RULES 3–4 + VOCABULARY)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Range in the model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مَعَايِيرُ النِّطَاقِ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290779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 in the website model</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 marker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P3-L02 / L03</a:t>
            </a:r>
            <a:endParaRPr lang="en-US" sz="1100" dirty="0"/>
          </a:p>
        </p:txBody>
      </p:sp>
      <p:sp>
        <p:nvSpPr>
          <p:cNvPr id="21" name="Text 18"/>
          <p:cNvSpPr txBox="1"/>
          <p:nvPr/>
        </p:nvSpPr>
        <p:spPr>
          <a:xfrm>
            <a:off x="292608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كُنْتُ قَدْ حَلِمْتُ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D6336C"/>
                </a:solidFill>
                <a:latin typeface="Amiri" pitchFamily="2" charset="-78"/>
                <a:ea typeface="Amiri" pitchFamily="2" charset="-78"/>
                <a:cs typeface="Amiri" pitchFamily="2" charset="-78"/>
              </a:rPr>
              <a:t>كُنْتُ قَدْ قَرَأْتُ</a:t>
            </a:r>
            <a:pPr rtl="1" algn="ctr" indent="0" marL="0">
              <a:buNone/>
            </a:pPr>
            <a:r>
              <a:rPr lang="ar-SA" altLang="en-US" sz="1800" b="1" dirty="0">
                <a:solidFill>
                  <a:srgbClr val="1B3B6F"/>
                </a:solidFill>
                <a:latin typeface="Amiri" pitchFamily="2" charset="-78"/>
                <a:ea typeface="Amiri" pitchFamily="2" charset="-78"/>
                <a:cs typeface="Amiri" pitchFamily="2" charset="-78"/>
              </a:rPr>
              <a:t> عَنْهَا كَثِيرًا</a:t>
            </a:r>
            <a:endParaRPr lang="ar-SA" sz="18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P3-L06</a:t>
            </a:r>
            <a:endParaRPr lang="en-US" sz="1100" dirty="0"/>
          </a:p>
        </p:txBody>
      </p:sp>
      <p:sp>
        <p:nvSpPr>
          <p:cNvPr id="27" name="Text 24"/>
          <p:cNvSpPr txBox="1"/>
          <p:nvPr/>
        </p:nvSpPr>
        <p:spPr>
          <a:xfrm>
            <a:off x="292608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قَالَ</a:t>
            </a:r>
            <a:pPr rtl="1" algn="ctr" indent="0" marL="0">
              <a:buNone/>
            </a:pPr>
            <a:r>
              <a:rPr lang="ar-SA" altLang="en-US" sz="1800" b="1" dirty="0">
                <a:solidFill>
                  <a:srgbClr val="1B3B6F"/>
                </a:solidFill>
                <a:latin typeface="Amiri" pitchFamily="2" charset="-78"/>
                <a:ea typeface="Amiri" pitchFamily="2" charset="-78"/>
                <a:cs typeface="Amiri" pitchFamily="2" charset="-78"/>
              </a:rPr>
              <a:t> الدَّلِيلُ المَحَلِّيُّ </a:t>
            </a:r>
            <a:pPr rtl="1" algn="ctr" indent="0" marL="0">
              <a:buNone/>
            </a:pPr>
            <a:r>
              <a:rPr lang="ar-SA" altLang="en-US" sz="1800" b="1" dirty="0">
                <a:solidFill>
                  <a:srgbClr val="7B3FA0"/>
                </a:solidFill>
                <a:latin typeface="Amiri" pitchFamily="2" charset="-78"/>
                <a:ea typeface="Amiri" pitchFamily="2" charset="-78"/>
                <a:cs typeface="Amiri" pitchFamily="2" charset="-78"/>
              </a:rPr>
              <a:t>إِنَّ</a:t>
            </a:r>
            <a:pPr rtl="1" algn="ctr" indent="0" marL="0">
              <a:buNone/>
            </a:pPr>
            <a:r>
              <a:rPr lang="ar-SA" altLang="en-US" sz="1800" b="1" dirty="0">
                <a:solidFill>
                  <a:srgbClr val="1B3B6F"/>
                </a:solidFill>
                <a:latin typeface="Amiri" pitchFamily="2" charset="-78"/>
                <a:ea typeface="Amiri" pitchFamily="2" charset="-78"/>
                <a:cs typeface="Amiri" pitchFamily="2" charset="-78"/>
              </a:rPr>
              <a:t> الزِّيَارَةَ لَيْلًا تَجْرِبَةٌ سَاحِرَةٌ</a:t>
            </a:r>
            <a:endParaRPr lang="ar-SA" sz="18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P3-L04</a:t>
            </a:r>
            <a:endParaRPr lang="en-US" sz="1100" dirty="0"/>
          </a:p>
        </p:txBody>
      </p:sp>
      <p:sp>
        <p:nvSpPr>
          <p:cNvPr id="33" name="Text 30"/>
          <p:cNvSpPr txBox="1"/>
          <p:nvPr/>
        </p:nvSpPr>
        <p:spPr>
          <a:xfrm>
            <a:off x="292608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تَسْتَقْطِبُ</a:t>
            </a:r>
            <a:pPr rtl="1" algn="ctr" indent="0" marL="0">
              <a:buNone/>
            </a:pPr>
            <a:r>
              <a:rPr lang="ar-SA" altLang="en-US" sz="1800" b="1" dirty="0">
                <a:solidFill>
                  <a:srgbClr val="1B3B6F"/>
                </a:solidFill>
                <a:latin typeface="Amiri" pitchFamily="2" charset="-78"/>
                <a:ea typeface="Amiri" pitchFamily="2" charset="-78"/>
                <a:cs typeface="Amiri" pitchFamily="2" charset="-78"/>
              </a:rPr>
              <a:t> البَتْرَاءُ </a:t>
            </a:r>
            <a:pPr rtl="1" algn="ctr" indent="0" marL="0">
              <a:buNone/>
            </a:pPr>
            <a:r>
              <a:rPr lang="ar-SA" altLang="en-US" sz="1800" b="1" dirty="0">
                <a:solidFill>
                  <a:srgbClr val="1D5FBF"/>
                </a:solidFill>
                <a:latin typeface="Amiri" pitchFamily="2" charset="-78"/>
                <a:ea typeface="Amiri" pitchFamily="2" charset="-78"/>
                <a:cs typeface="Amiri" pitchFamily="2" charset="-78"/>
              </a:rPr>
              <a:t>زُوَّارًا</a:t>
            </a:r>
            <a:pPr rtl="1" algn="ctr" indent="0" marL="0">
              <a:buNone/>
            </a:pPr>
            <a:r>
              <a:rPr lang="ar-SA" altLang="en-US" sz="1800" b="1" dirty="0">
                <a:solidFill>
                  <a:srgbClr val="1B3B6F"/>
                </a:solidFill>
                <a:latin typeface="Amiri" pitchFamily="2" charset="-78"/>
                <a:ea typeface="Amiri" pitchFamily="2" charset="-78"/>
                <a:cs typeface="Amiri" pitchFamily="2" charset="-78"/>
              </a:rPr>
              <a:t> مِنْ كُلِّ القَارَّاتِ</a:t>
            </a:r>
            <a:endParaRPr lang="ar-SA" sz="18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tourism verb</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P3-L01</a:t>
            </a:r>
            <a:endParaRPr lang="en-US" sz="1100" dirty="0"/>
          </a:p>
        </p:txBody>
      </p:sp>
      <p:sp>
        <p:nvSpPr>
          <p:cNvPr id="37" name="Text 34"/>
          <p:cNvSpPr txBox="1"/>
          <p:nvPr/>
        </p:nvSpPr>
        <p:spPr>
          <a:xfrm>
            <a:off x="292608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 الرَّبِيعَ </a:t>
            </a:r>
            <a:pPr rtl="1" algn="ctr" indent="0" marL="0">
              <a:buNone/>
            </a:pPr>
            <a:r>
              <a:rPr lang="ar-SA" altLang="en-US" sz="1800" b="1" dirty="0">
                <a:solidFill>
                  <a:srgbClr val="1D5FBF"/>
                </a:solidFill>
                <a:latin typeface="Amiri" pitchFamily="2" charset="-78"/>
                <a:ea typeface="Amiri" pitchFamily="2" charset="-78"/>
                <a:cs typeface="Amiri" pitchFamily="2" charset="-78"/>
              </a:rPr>
              <a:t>أَفْضَلُ مَوْسِمٍ</a:t>
            </a:r>
            <a:endParaRPr lang="ar-SA" sz="18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41" name="Text 38"/>
          <p:cNvSpPr txBox="1"/>
          <p:nvPr/>
        </p:nvSpPr>
        <p:spPr>
          <a:xfrm>
            <a:off x="292608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عِلَاوَةً عَلَى ذٰلِكَ</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1D5FBF"/>
                </a:solidFill>
                <a:latin typeface="Amiri" pitchFamily="2" charset="-78"/>
                <a:ea typeface="Amiri" pitchFamily="2" charset="-78"/>
                <a:cs typeface="Amiri" pitchFamily="2" charset="-78"/>
              </a:rPr>
              <a:t>وَعَلَى الرَّغْمِ مِنْ ذٰلِكَ</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1D5FBF"/>
                </a:solidFill>
                <a:latin typeface="Amiri" pitchFamily="2" charset="-78"/>
                <a:ea typeface="Amiri" pitchFamily="2" charset="-78"/>
                <a:cs typeface="Amiri" pitchFamily="2" charset="-78"/>
              </a:rPr>
              <a:t>وَخِتَامًا</a:t>
            </a:r>
            <a:endParaRPr lang="ar-SA" sz="18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connectors</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the Type 1 and Type 2 from Part 2, that is eight Range markers — the website Stretch target.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TRAVEL VOICE: SENSORY DETAIL (WEBSITE MODEL + VOCABULARY)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the reader see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التَّفْصِيلُ الحِسِّيُّ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Effect</a:t>
            </a:r>
            <a:endParaRPr lang="en-US" sz="1100" dirty="0"/>
          </a:p>
        </p:txBody>
      </p:sp>
      <p:sp>
        <p:nvSpPr>
          <p:cNvPr id="17" name="Text 14"/>
          <p:cNvSpPr txBox="1"/>
          <p:nvPr/>
        </p:nvSpPr>
        <p:spPr>
          <a:xfrm>
            <a:off x="2633472" y="1810512"/>
            <a:ext cx="6711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model)</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walk with you</a:t>
            </a:r>
            <a:endParaRPr lang="en-US" sz="1100" dirty="0"/>
          </a:p>
        </p:txBody>
      </p:sp>
      <p:sp>
        <p:nvSpPr>
          <p:cNvPr id="21" name="Text 18"/>
          <p:cNvSpPr txBox="1"/>
          <p:nvPr/>
        </p:nvSpPr>
        <p:spPr>
          <a:xfrm>
            <a:off x="2651760" y="2267712"/>
            <a:ext cx="6675120" cy="682142"/>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وَصَلْتُ فَجْرًا</a:t>
            </a:r>
            <a:pPr rtl="1" algn="ctr" indent="0" marL="0">
              <a:buNone/>
            </a:pPr>
            <a:r>
              <a:rPr lang="ar-SA" altLang="en-US" sz="1900" b="1" dirty="0">
                <a:solidFill>
                  <a:srgbClr val="1B3B6F"/>
                </a:solidFill>
                <a:latin typeface="Amiri" pitchFamily="2" charset="-78"/>
                <a:ea typeface="Amiri" pitchFamily="2" charset="-78"/>
                <a:cs typeface="Amiri" pitchFamily="2" charset="-78"/>
              </a:rPr>
              <a:t>، وَمَشَيْتُ عَبْرَ المَمَرِّ الضَّيِّقِ</a:t>
            </a:r>
            <a:endParaRPr lang="ar-SA" sz="19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 movement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surprise</a:t>
            </a:r>
            <a:endParaRPr lang="en-US" sz="1100" dirty="0"/>
          </a:p>
        </p:txBody>
      </p:sp>
      <p:sp>
        <p:nvSpPr>
          <p:cNvPr id="27" name="Text 24"/>
          <p:cNvSpPr txBox="1"/>
          <p:nvPr/>
        </p:nvSpPr>
        <p:spPr>
          <a:xfrm>
            <a:off x="2651760" y="3004718"/>
            <a:ext cx="66751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حَتَّى </a:t>
            </a:r>
            <a:pPr rtl="1" algn="ctr" indent="0" marL="0">
              <a:buNone/>
            </a:pPr>
            <a:r>
              <a:rPr lang="ar-SA" altLang="en-US" sz="1900" b="1" dirty="0">
                <a:solidFill>
                  <a:srgbClr val="D6336C"/>
                </a:solidFill>
                <a:latin typeface="Amiri" pitchFamily="2" charset="-78"/>
                <a:ea typeface="Amiri" pitchFamily="2" charset="-78"/>
                <a:cs typeface="Amiri" pitchFamily="2" charset="-78"/>
              </a:rPr>
              <a:t>ظَهَرَتِ</a:t>
            </a:r>
            <a:pPr rtl="1" algn="ctr" indent="0" marL="0">
              <a:buNone/>
            </a:pPr>
            <a:r>
              <a:rPr lang="ar-SA" altLang="en-US" sz="1900" b="1" dirty="0">
                <a:solidFill>
                  <a:srgbClr val="1B3B6F"/>
                </a:solidFill>
                <a:latin typeface="Amiri" pitchFamily="2" charset="-78"/>
                <a:ea typeface="Amiri" pitchFamily="2" charset="-78"/>
                <a:cs typeface="Amiri" pitchFamily="2" charset="-78"/>
              </a:rPr>
              <a:t> الخَزْنَةُ </a:t>
            </a:r>
            <a:pPr rtl="1" algn="ctr" indent="0" marL="0">
              <a:buNone/>
            </a:pPr>
            <a:r>
              <a:rPr lang="ar-SA" altLang="en-US" sz="1900" b="1" dirty="0">
                <a:solidFill>
                  <a:srgbClr val="D6336C"/>
                </a:solidFill>
                <a:latin typeface="Amiri" pitchFamily="2" charset="-78"/>
                <a:ea typeface="Amiri" pitchFamily="2" charset="-78"/>
                <a:cs typeface="Amiri" pitchFamily="2" charset="-78"/>
              </a:rPr>
              <a:t>فَجْأَةً</a:t>
            </a:r>
            <a:endParaRPr lang="ar-SA" sz="19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sudden reveal</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emotion</a:t>
            </a:r>
            <a:endParaRPr lang="en-US" sz="1100" dirty="0"/>
          </a:p>
        </p:txBody>
      </p:sp>
      <p:sp>
        <p:nvSpPr>
          <p:cNvPr id="31" name="Text 28"/>
          <p:cNvSpPr txBox="1"/>
          <p:nvPr/>
        </p:nvSpPr>
        <p:spPr>
          <a:xfrm>
            <a:off x="2651760" y="3741725"/>
            <a:ext cx="667512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فَحَبَسْتُ أَنْفَاسِي</a:t>
            </a:r>
            <a:pPr rtl="1" algn="ctr" indent="0" marL="0">
              <a:buNone/>
            </a:pPr>
            <a:r>
              <a:rPr lang="ar-SA" altLang="en-US" sz="1900" b="1" dirty="0">
                <a:solidFill>
                  <a:srgbClr val="1B3B6F"/>
                </a:solidFill>
                <a:latin typeface="Amiri" pitchFamily="2" charset="-78"/>
                <a:ea typeface="Amiri" pitchFamily="2" charset="-78"/>
                <a:cs typeface="Amiri" pitchFamily="2" charset="-78"/>
              </a:rPr>
              <a:t> مِنَ الدَّهْشَةِ</a:t>
            </a:r>
            <a:endParaRPr lang="ar-SA" sz="1900" dirty="0"/>
          </a:p>
        </p:txBody>
      </p:sp>
      <p:sp>
        <p:nvSpPr>
          <p:cNvPr id="32" name="Text 29"/>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body reaction</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picture</a:t>
            </a:r>
            <a:endParaRPr lang="en-US" sz="1100" dirty="0"/>
          </a:p>
        </p:txBody>
      </p:sp>
      <p:sp>
        <p:nvSpPr>
          <p:cNvPr id="37" name="Text 34"/>
          <p:cNvSpPr txBox="1"/>
          <p:nvPr/>
        </p:nvSpPr>
        <p:spPr>
          <a:xfrm>
            <a:off x="2651760" y="4478731"/>
            <a:ext cx="66751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بِعِمَارَتِهَا المَنْحُوتَةِ فِي </a:t>
            </a:r>
            <a:pPr rtl="1" algn="ctr" indent="0" marL="0">
              <a:buNone/>
            </a:pPr>
            <a:r>
              <a:rPr lang="ar-SA" altLang="en-US" sz="1900" b="1" dirty="0">
                <a:solidFill>
                  <a:srgbClr val="7B3FA0"/>
                </a:solidFill>
                <a:latin typeface="Amiri" pitchFamily="2" charset="-78"/>
                <a:ea typeface="Amiri" pitchFamily="2" charset="-78"/>
                <a:cs typeface="Amiri" pitchFamily="2" charset="-78"/>
              </a:rPr>
              <a:t>الصَّخْرِ الوَرْدِيِّ</a:t>
            </a:r>
            <a:endParaRPr lang="ar-SA" sz="1900" dirty="0"/>
          </a:p>
        </p:txBody>
      </p:sp>
      <p:sp>
        <p:nvSpPr>
          <p:cNvPr id="38" name="Text 35"/>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 + material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atmosphere</a:t>
            </a:r>
            <a:endParaRPr lang="en-US" sz="1100" dirty="0"/>
          </a:p>
        </p:txBody>
      </p:sp>
      <p:sp>
        <p:nvSpPr>
          <p:cNvPr id="41" name="Text 38"/>
          <p:cNvSpPr txBox="1"/>
          <p:nvPr/>
        </p:nvSpPr>
        <p:spPr>
          <a:xfrm>
            <a:off x="2651760" y="5215738"/>
            <a:ext cx="66751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لَرَأَيْتُ الخَزْنَةَ </a:t>
            </a:r>
            <a:pPr rtl="1" algn="ctr" indent="0" marL="0">
              <a:buNone/>
            </a:pPr>
            <a:r>
              <a:rPr lang="ar-SA" altLang="en-US" sz="1900" b="1" dirty="0">
                <a:solidFill>
                  <a:srgbClr val="7B3FA0"/>
                </a:solidFill>
                <a:latin typeface="Amiri" pitchFamily="2" charset="-78"/>
                <a:ea typeface="Amiri" pitchFamily="2" charset="-78"/>
                <a:cs typeface="Amiri" pitchFamily="2" charset="-78"/>
              </a:rPr>
              <a:t>تَحْتَ ضَوْءِ الشُّمُوعِ</a:t>
            </a:r>
            <a:endParaRPr lang="ar-SA" sz="19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light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sensory detail per paragraph turns a list of facts into a travel article.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Assembling the P3 range with both conditionals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تَرْكِيبُ النِّطَاقِ مَعَ نَوْعَيِ الشَّرْطِ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Type 1 recommendation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زُرْتَ فَاسَ، سَتَنْبَهِرُ بِأَزِقَّتِهَا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Type 2 reflection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خَصَّصْتُ وَقْتًا أَطْوَلَ، لَرَأَيْتُ المَزِيدَ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Narrative and citation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 past · qāla … inna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قَرَأْتُ عَنِ المَدِينَةِ   ·   قَالَ الدَّلِيلُ إِنَّ الرَّبِيعَ أَفْضَلُ مَوْسِمٍ</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Lift register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ʿilāwatan ʿalā dhālika · yastaqṭib</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عِلَاوَةً عَلَى ذٰلِكَ، تَسْتَقْطِبُ المَدِينَةُ آلَافَ الزُّوَّارِ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recommends to the reader (Type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زُرْتُ فَاسَ، لَانْبَهَرْتُ.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فَاسَ، سَتَنْبَهِرُ بِأَزِقَّتِهَا.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reflects on the past (Type 2)?</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خَصَّصْتُ وَقْتًا أَطْوَلَ، لَرَأَيْتُ المَزِيدَ.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خَصَّصْتُ وَقْتًا، سَأَرَى المَزِيدَ.</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أُخَصِّصُ وَقْتًا.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guide accurately?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الدَّلِيلُ أَنَّ الرَّبِيعَ أَفْضَلُ مَوْسِمٍ.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الدَّلِيلُ إِنَّ الرَّبِيعَ أَفْضَلُ مَوْسِمٍ.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الدَّلِيلُ إِنَّ الرَّبِيعَ أَفْضَلُ.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 result:</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عَلَى سِعْرٍ أَرْخَصَ.</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لَحَصَلْتُ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سَأَحْصُلُ</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أَحْصُلُ</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recommends to the reader (Type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زُرْتُ فَاسَ، لَانْبَهَرْتُ.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فَاسَ.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زُرْتَ فَاسَ، سَتَنْبَهِرُ بِأَزِقَّتِهَا.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forward-looking recommendation.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reflects on the past (Type 2)?</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خَصَّصْتُ وَقْتًا أَطْوَلَ، لَرَأَيْتُ المَزِيدَ.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خَصَّصْتُ وَقْتًا، سَأَرَى المَزِيدَ.</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أُخَصِّصُ وَقْتًا.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backward-looking reflection.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guide accurately?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الدَّلِيلُ أَنَّ الرَّبِيعَ أَفْضَلُ مَوْسِمٍ.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الدَّلِيلُ إِنَّ الرَّبِيعَ أَفْضَلُ مَوْسِمٍ.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الدَّلِيلُ إِنَّ الرَّبِيعَ أَفْضَلُ.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 result:</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عَلَى سِعْرٍ أَرْخَصَ.</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لَحَصَلْتُ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سَأَحْصُلُ</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أَحْصُلُ</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the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Narrative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كُنْتُ قَدْ حَلِمْتُ</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 فَحَبَسْتُ أَنْفَاسِي</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Back + detail.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Reported tip</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قَالَ</a:t>
            </a:r>
            <a:pPr rtl="1" algn="ctr" indent="0" marL="0">
              <a:buNone/>
            </a:pPr>
            <a:r>
              <a:rPr lang="ar-SA" altLang="en-US" sz="2800" b="1" dirty="0">
                <a:solidFill>
                  <a:srgbClr val="1B3B6F"/>
                </a:solidFill>
                <a:latin typeface="Amiri" pitchFamily="2" charset="-78"/>
                <a:ea typeface="Amiri" pitchFamily="2" charset="-78"/>
                <a:cs typeface="Amiri" pitchFamily="2" charset="-78"/>
              </a:rPr>
              <a:t> الدَّلِيلُ </a:t>
            </a:r>
            <a:pPr rtl="1" algn="ctr" indent="0" marL="0">
              <a:buNone/>
            </a:pPr>
            <a:r>
              <a:rPr lang="ar-SA" altLang="en-US" sz="2800" b="1" dirty="0">
                <a:solidFill>
                  <a:srgbClr val="7B3FA0"/>
                </a:solidFill>
                <a:latin typeface="Amiri" pitchFamily="2" charset="-78"/>
                <a:ea typeface="Amiri" pitchFamily="2" charset="-78"/>
                <a:cs typeface="Amiri" pitchFamily="2" charset="-78"/>
              </a:rPr>
              <a:t>إِنَّ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qāla + inna.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Recommend</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ea typeface="Amiri" pitchFamily="2" charset="-78"/>
                <a:cs typeface="Amiri" pitchFamily="2" charset="-78"/>
              </a:rPr>
              <a:t> خَطَّطْتَ … </a:t>
            </a:r>
            <a:pPr rtl="1" algn="ctr" indent="0" marL="0">
              <a:buNone/>
            </a:pPr>
            <a:r>
              <a:rPr lang="ar-SA" altLang="en-US" sz="2800" b="1" dirty="0">
                <a:solidFill>
                  <a:srgbClr val="0E7C86"/>
                </a:solidFill>
                <a:latin typeface="Amiri" pitchFamily="2" charset="-78"/>
                <a:ea typeface="Amiri" pitchFamily="2" charset="-78"/>
                <a:cs typeface="Amiri" pitchFamily="2" charset="-78"/>
              </a:rPr>
              <a:t>فَلَا بُدَّ</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Forward.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Reflect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C77700"/>
                </a:solidFill>
                <a:latin typeface="Amiri" pitchFamily="2" charset="-78"/>
                <a:ea typeface="Amiri" pitchFamily="2" charset="-78"/>
                <a:cs typeface="Amiri" pitchFamily="2" charset="-78"/>
              </a:rPr>
              <a:t>لَوْ</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C77700"/>
                </a:solidFill>
                <a:latin typeface="Amiri" pitchFamily="2" charset="-78"/>
                <a:ea typeface="Amiri" pitchFamily="2" charset="-78"/>
                <a:cs typeface="Amiri" pitchFamily="2" charset="-78"/>
              </a:rPr>
              <a:t>لَرَأَيْتُ</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1D5FBF"/>
                </a:solidFill>
                <a:latin typeface="Amiri" pitchFamily="2" charset="-78"/>
                <a:ea typeface="Amiri" pitchFamily="2" charset="-78"/>
                <a:cs typeface="Amiri" pitchFamily="2" charset="-78"/>
              </a:rPr>
              <a:t>وَخِتَامًا</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Back, then close.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3" name="Shape 49"/>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حَلِمْتُ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بِزِيَارَةِ البَتْرَاءِ مُنْذُ الطُّفُولَةِ. وَصَلْتُ فَجْرًا، فَظَهَرَتِ الخَزْنَةُ فَجْأَةً، فَحَبَسْتُ أَنْفَاسِي مِنَ الدَّهْشَةِ.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قَالَ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الدَّلِيلُ المَحَلِّيُّ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الزِّيَارَةَ لَيْلًا تَجْرِبَةٌ سَاحِرَةٌ.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خَطَّطْتَ لِرِحْلَةٍ إِلَى الأُرْدُنِّ،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فَلَا بُدَّ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قَضَاءِ يَوْمٍ كَامِلٍ فِيهَا.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كُنْتُ قَدْ بَقِيتُ لَيْلَةً إِضَافِيَّةً،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لَرَأَيْتُ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الخَزْنَةَ تَحْتَ ضَوْءِ الشُّمُوعِ.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وَخِتَامًا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لَقَدْ غَيَّرَتْ هٰذِهِ الرِّحْلَةُ نَظْرَتِي إِلَى التَّارِيخِ.</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 had dreamed of visiting Petra since childhood. I arrived at dawn, the Treasury suddenly appeared, and I held my breath in amazement. The local guide said that a night visit is an enchanting experience. If you plan a trip to Jordan, you must spend a whole day there. And had I stayed an extra night, I would have seen the Treasury by candlelight. In conclusion, this trip changed my view of history.</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قَرَأْتُ عَنِ المَدِينَةِ، لٰكِنَّ الوَاقِعَ فَاقَ خَيَالِي</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read about the city, but the reality surpassed my imagination</a:t>
            </a:r>
            <a:endParaRPr lang="en-US" sz="1250" dirty="0"/>
          </a:p>
          <a:p>
            <a:pPr indent="0" marL="0">
              <a:buNone/>
            </a:pPr>
            <a:r>
              <a:rPr lang="en-US" sz="1050" i="1" dirty="0">
                <a:solidFill>
                  <a:srgbClr val="8A6D1E"/>
                </a:solidFill>
                <a:latin typeface="Calibri" pitchFamily="34" charset="0"/>
                <a:cs typeface="Amiri" pitchFamily="2" charset="-78"/>
              </a:rPr>
              <a:t>Past-perfect narrative opening.</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فَاسَ، سَتَنْبَهِرُ بِأَزِقَّتِهَا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visit Fez, you will be amazed by its alleys</a:t>
            </a:r>
            <a:endParaRPr lang="en-US" sz="1250" dirty="0"/>
          </a:p>
          <a:p>
            <a:pPr indent="0" marL="0">
              <a:buNone/>
            </a:pPr>
            <a:r>
              <a:rPr lang="en-US" sz="1050" i="1" dirty="0">
                <a:solidFill>
                  <a:srgbClr val="8A6D1E"/>
                </a:solidFill>
                <a:latin typeface="Calibri" pitchFamily="34" charset="0"/>
                <a:cs typeface="Amiri" pitchFamily="2" charset="-78"/>
              </a:rPr>
              <a:t>Type 1 recommendation.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خَصَّصْتُ وَقْتًا أَطْوَلَ، لَرَأَيْتُ المَزِيدَ</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set aside more time, I would have seen more</a:t>
            </a:r>
            <a:endParaRPr lang="en-US" sz="1250" dirty="0"/>
          </a:p>
          <a:p>
            <a:pPr indent="0" marL="0">
              <a:buNone/>
            </a:pPr>
            <a:r>
              <a:rPr lang="en-US" sz="1050" i="1" dirty="0">
                <a:solidFill>
                  <a:srgbClr val="8A6D1E"/>
                </a:solidFill>
                <a:latin typeface="Calibri" pitchFamily="34" charset="0"/>
                <a:cs typeface="Amiri" pitchFamily="2" charset="-78"/>
              </a:rPr>
              <a:t>Type 2 reflection.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SENTENCE (WEBSITE MODEL AND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plain to Paper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34564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 4 sentence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1" name="Text 18"/>
          <p:cNvSpPr txBox="1"/>
          <p:nvPr/>
        </p:nvSpPr>
        <p:spPr>
          <a:xfrm>
            <a:off x="34747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حَلِمْتُ بِزِيَارَةِ البَتْرَاءِ مُنْذُ الطُّفُولَةِ.</a:t>
            </a:r>
            <a:endParaRPr lang="ar-SA" sz="1800" dirty="0"/>
          </a:p>
        </p:txBody>
      </p:sp>
      <p:sp>
        <p:nvSpPr>
          <p:cNvPr id="22" name="Text 19"/>
          <p:cNvSpPr txBox="1"/>
          <p:nvPr/>
        </p:nvSpPr>
        <p:spPr>
          <a:xfrm>
            <a:off x="548640" y="2267712"/>
            <a:ext cx="27432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أَرَدْتُ زِيَارَةَ البَتْرَاءِ.</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sensory detail</a:t>
            </a:r>
            <a:endParaRPr lang="en-US" sz="1100" dirty="0"/>
          </a:p>
        </p:txBody>
      </p:sp>
      <p:sp>
        <p:nvSpPr>
          <p:cNvPr id="27" name="Text 24"/>
          <p:cNvSpPr txBox="1"/>
          <p:nvPr/>
        </p:nvSpPr>
        <p:spPr>
          <a:xfrm>
            <a:off x="34747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ظَهَرَتِ الخَزْنَةُ فَجْأَةً، فَحَبَسْتُ أَنْفَاسِي مِنَ الدَّهْشَةِ.</a:t>
            </a:r>
            <a:endParaRPr lang="ar-SA" sz="1800" dirty="0"/>
          </a:p>
        </p:txBody>
      </p:sp>
      <p:sp>
        <p:nvSpPr>
          <p:cNvPr id="28" name="Text 25"/>
          <p:cNvSpPr txBox="1"/>
          <p:nvPr/>
        </p:nvSpPr>
        <p:spPr>
          <a:xfrm>
            <a:off x="548640" y="3004718"/>
            <a:ext cx="27432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رَأَيْتُ الخَزْنَةَ.</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33" name="Text 30"/>
          <p:cNvSpPr txBox="1"/>
          <p:nvPr/>
        </p:nvSpPr>
        <p:spPr>
          <a:xfrm>
            <a:off x="34747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الدَّلِيلُ المَحَلِّيُّ إِنَّ الزِّيَارَةَ لَيْلًا تَجْرِبَةٌ سَاحِرَةٌ.</a:t>
            </a:r>
            <a:endParaRPr lang="ar-SA" sz="1800" dirty="0"/>
          </a:p>
        </p:txBody>
      </p:sp>
      <p:sp>
        <p:nvSpPr>
          <p:cNvPr id="34" name="Text 31"/>
          <p:cNvSpPr txBox="1"/>
          <p:nvPr/>
        </p:nvSpPr>
        <p:spPr>
          <a:xfrm>
            <a:off x="548640" y="3741725"/>
            <a:ext cx="27432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الدَّلِيلُ قَالَ: اللَّيْلُ جَمِيلٌ.</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37" name="Text 34"/>
          <p:cNvSpPr txBox="1"/>
          <p:nvPr/>
        </p:nvSpPr>
        <p:spPr>
          <a:xfrm>
            <a:off x="34747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خَطَّطْتَ لِرِحْلَةٍ إِلَى الأُرْدُنِّ، فَلَا بُدَّ مِنْ قَضَاءِ يَوْمٍ كَامِلٍ فِيهَا.</a:t>
            </a:r>
            <a:endParaRPr lang="ar-SA" sz="1800" dirty="0"/>
          </a:p>
        </p:txBody>
      </p:sp>
      <p:sp>
        <p:nvSpPr>
          <p:cNvPr id="38" name="Text 35"/>
          <p:cNvSpPr txBox="1"/>
          <p:nvPr/>
        </p:nvSpPr>
        <p:spPr>
          <a:xfrm>
            <a:off x="548640" y="4478731"/>
            <a:ext cx="27432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زُرِ الأُرْدُنَّ.</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41" name="Text 38"/>
          <p:cNvSpPr txBox="1"/>
          <p:nvPr/>
        </p:nvSpPr>
        <p:spPr>
          <a:xfrm>
            <a:off x="34747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كُنْتُ قَدْ بَقِيتُ لَيْلَةً إِضَافِيَّةً، لَرَأَيْتُ الخَزْنَةَ تَحْتَ ضَوْءِ الشُّمُوعِ.</a:t>
            </a:r>
            <a:endParaRPr lang="ar-SA" sz="1800" dirty="0"/>
          </a:p>
        </p:txBody>
      </p:sp>
      <p:sp>
        <p:nvSpPr>
          <p:cNvPr id="42" name="Text 39"/>
          <p:cNvSpPr txBox="1"/>
          <p:nvPr/>
        </p:nvSpPr>
        <p:spPr>
          <a:xfrm>
            <a:off x="548640" y="5215738"/>
            <a:ext cx="27432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بَقِيتُ يَوْمًا وَاحِدًا فَقَطْ.</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middle column: upgrade each plain sentence, then compare with the website model.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ARTICLE LINE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Narrative + recommendation + reflection</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سَطْرًا غَنِيًّا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23874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Narrative opening</a:t>
            </a:r>
            <a:endParaRPr lang="en-US" sz="1100" dirty="0"/>
          </a:p>
        </p:txBody>
      </p:sp>
      <p:sp>
        <p:nvSpPr>
          <p:cNvPr id="19" name="Text 16"/>
          <p:cNvSpPr txBox="1"/>
          <p:nvPr/>
        </p:nvSpPr>
        <p:spPr>
          <a:xfrm>
            <a:off x="43982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Recommendation / tip</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Reflection / close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257032" y="2267712"/>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حَلِمْتُ بِزِيَارَةِ المَدِينَةِ مُنْذُ الطُّفُولَةِ</a:t>
            </a:r>
            <a:endParaRPr lang="ar-SA" sz="1600" dirty="0"/>
          </a:p>
        </p:txBody>
      </p:sp>
      <p:sp>
        <p:nvSpPr>
          <p:cNvPr id="23" name="Text 20"/>
          <p:cNvSpPr txBox="1"/>
          <p:nvPr/>
        </p:nvSpPr>
        <p:spPr>
          <a:xfrm>
            <a:off x="4416552" y="2267712"/>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زُرْتَهَا فَلَا بُدَّ مِنْ قَضَاءِ يَوْمٍ كَامِلٍ فِيهَا</a:t>
            </a:r>
            <a:endParaRPr lang="ar-SA" sz="160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بَقِيتُ لَيْلَةً إِضَافِيَّةً لَرَأَيْتُ المَزِيدَ</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57032" y="3054096"/>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قَرَأْتُ عَنْهَا كَثِيرًا قَبْلَ الرِّحْلَةِ</a:t>
            </a:r>
            <a:endParaRPr lang="ar-SA" sz="1600" dirty="0"/>
          </a:p>
        </p:txBody>
      </p:sp>
      <p:sp>
        <p:nvSpPr>
          <p:cNvPr id="29" name="Text 26"/>
          <p:cNvSpPr txBox="1"/>
          <p:nvPr/>
        </p:nvSpPr>
        <p:spPr>
          <a:xfrm>
            <a:off x="4416552" y="3054096"/>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وَصَلْتَ صَبَاحًا سَتَتَجَنَّبُ الزِّحَامَ</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وَعَلَى الرَّغْمِ مِنْ ذٰلِكَ لَوْ خَصَّصْتُ وَقْتًا أَطْوَلَ لَتَعَمَّقَتْ تَجْرِبَتِي</a:t>
            </a:r>
            <a:endParaRPr lang="ar-SA" sz="14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57032" y="3840480"/>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حَجَزْتُ رِحْلَتِي قَبْلَ شَهْرٍ</a:t>
            </a:r>
            <a:endParaRPr lang="ar-SA" sz="1600" dirty="0"/>
          </a:p>
        </p:txBody>
      </p:sp>
      <p:sp>
        <p:nvSpPr>
          <p:cNvPr id="33" name="Text 30"/>
          <p:cNvSpPr txBox="1"/>
          <p:nvPr/>
        </p:nvSpPr>
        <p:spPr>
          <a:xfrm>
            <a:off x="4416552" y="3840480"/>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وَقَالَ الدَّلِيلُ إِنَّ الرَّبِيعَ أَفْضَلُ مَوْسِمٍ لِلزِّيَارَةِ</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وَخِتَامًا لَقَدْ غَيَّرَتْ هٰذِهِ الرِّحْلَةُ نَظْرَتِي إِلَى العَالَمِ</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Narrative, recommendation or reflection?</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قَرَأْتُ عَنِ المَدِينَةِ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 رِحْلَتِي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سَمِعْتُ أَنَّ أَهْلَهَا كِرَامٌ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فَاسَ، سَتَنْبَهِرُ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وَصَلْتَ صَبَاحًا، سَتَتَجَنَّبُ الزِّحَامَ</a:t>
            </a:r>
            <a:endParaRPr lang="ar-SA" sz="17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احْتَرَمْتَ العَادَاتِ، سَتُقَابَلُ بِتَرْحِيبٍ</a:t>
            </a:r>
            <a:endParaRPr lang="ar-SA" sz="15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خَصَّصْتُ وَقْتًا أَطْوَلَ، لَرَأَيْتُ المَزِيدَ</a:t>
            </a:r>
            <a:endParaRPr lang="ar-SA" sz="16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تَعَلَّمْتُ العَرَبِيَّةَ، لَكَانَتِ التَّجْرِبَةُ أَعْمَقَ</a:t>
            </a:r>
            <a:endParaRPr lang="ar-SA" sz="13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مُبَكِّرًا، لَوَفَّرْتُ المَالَ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Narrative (past perfect)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Recommendation (Type 1)</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Reflection (Type 2)</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Narrative (past perfect)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قَرَأْتُ عَنِ المَدِينَةِ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 رِحْلَتِي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سَمِعْتُ أَنَّ أَهْلَهَا كِرَامٌ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Recommendation (Type 1)</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فَاسَ، سَتَنْبَهِرُ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وَصَلْتَ صَبَاحًا، سَتَتَجَنَّبُ الزِّحَامَ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احْتَرَمْتَ العَادَاتِ، سَتُقَابَلُ بِتَرْحِيبٍ</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Reflection (Type 2)</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خَصَّصْتُ وَقْتًا أَطْوَلَ، لَرَأَيْتُ المَزِيدَ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تَعَلَّمْتُ العَرَبِيَّةَ، لَكَانَتِ التَّجْرِبَةُ أَعْمَقَ</a:t>
            </a:r>
            <a:endParaRPr lang="ar-SA" sz="17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مُبَكِّرًا، لَوَفَّرْتُ المَالَ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a Paper 4 text use both types?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 enough for full Range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earns a separate Range mark</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opens the narrative paragraph?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زُرْتُهَا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قَرَأْتُ عَنِ المَدِينَةِ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أَزُورُهَا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raises the register?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tourism verb correctly?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المَدِينَةُ بِآلَافِ الزُّوَّارِ.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المَدِينَةُ لِآلَافِ الزُّوَّارِ.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المَدِينَةُ آلَافَ الزُّوَّارِ.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a Paper 4 text use both types?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 enough for full Range</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earns a separate Range mark</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conditional types are two separate Range marks.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opens the narrative paragraph?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زُرْتُهَا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قَرَأْتُ عَنِ المَدِينَةِ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أَزُورُهَا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past-perfect background opens the narrative.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raises the register?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عِلَاوَةً عَلَى ذٰلِكَ</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عِلَاوَةً عَلَى ذٰلِكَ</a:t>
            </a:r>
            <a:pPr algn="l" indent="0" marL="0">
              <a:buNone/>
            </a:pPr>
            <a:r>
              <a:rPr lang="en-US" sz="1050" i="1" dirty="0">
                <a:solidFill>
                  <a:srgbClr val="8A6D1E"/>
                </a:solidFill>
                <a:latin typeface="Calibri" pitchFamily="34" charset="0"/>
                <a:cs typeface="Amiri" pitchFamily="2" charset="-78"/>
              </a:rPr>
              <a:t> is a formal connector.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tourism verb correctly?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المَدِينَةُ بِآلَافِ الزُّوَّارِ.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المَدِينَةُ لِآلَافِ الزُّوَّارِ.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تَسْتَقْطِبُ المَدِينَةُ آلَافَ الزُّوَّارِ.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800" b="1" dirty="0">
                <a:solidFill>
                  <a:srgbClr val="B83227"/>
                </a:solidFill>
                <a:latin typeface="Amiri" pitchFamily="2" charset="-78"/>
                <a:ea typeface="Amiri" pitchFamily="2" charset="-78"/>
                <a:cs typeface="Amiri" pitchFamily="2" charset="-78"/>
              </a:rPr>
              <a:t>إِذَا زُرْتَ فَاسَ، سَتَنْبَهِرُ؛ وَإِذَا بَقِيتَ أَطْوَلَ، سَتَرَى المَزِيدَ.</a:t>
            </a:r>
            <a:endParaRPr lang="ar-SA" sz="28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idhā = Range?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مُبَكِّرًا، سَحَصَلْتُ عَلَى سِعْرٍ أَرْخَصَ.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الدَّلِيلُ أَنَّ الرَّبِيعَ أَفْضَلُ مَوْسِمٍ.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زُرْتَ فَاسَ، سَتَنْبَهِرُ؛ وَإِذَا بَقِيتَ أَطْوَلَ، سَتَرَى المَزِيدَ.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إِذَا زُرْتَ فَاسَ، سَتَنْبَهِرُ؛ وَلَوْ بَقِيتُ أَطْوَلَ، لَرَأَيْتُ المَزِيدَ.</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Range rewards one Type 1 and one Type 2, not two Type 1 conditionals.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حَجَزْتُ مُبَكِّرًا، سَحَصَلْتُ عَلَى سِعْرٍ أَرْخَصَ.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مُبَكِّرًا، لَحَصَلْتُ عَلَى سِعْرٍ أَرْخَصَ.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الدَّلِيلُ أَنَّ الرَّبِيعَ أَفْضَلُ مَوْسِمٍ.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الدَّلِيلُ إِنَّ الرَّبِيعَ أَفْضَلُ مَوْسِمٍ.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قَالَ</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an examiner on the two conditionals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P3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145 to 160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 words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200 words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two conditional types marked?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share one mark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counts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earns a separate Range mark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Type 1 conditional do?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back and reflects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forward and recommends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Type 2 conditional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back and reflects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Recommends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future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past-perfect narrative background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greeting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word count and the two marks.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الوَرَقَةِ الرَّابِعَةِ، يَبْلُغُ النَّصُّ فِي هٰذِهِ الوَحْدَةِ مِئَةً وَخَمْسًا وَأَرْبَعِينَ إِلَى مِئَةٍ وَسِتِّينَ كَلِمَةً، وَهُوَ أَطْوَلُ نَصٍّ فِي البَرْنَامَجِ.</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Paper 4, the text in this unit is 145 to 160 words — the longest text in the programme.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النِّطَاقُ يُكَافِئُ نَوْعَيِ الشَّرْطِ بِعَلَامَتَيْنِ مُنْفَصِلَتَيْنِ: عَلَامَةٌ لِلنَّوْعِ الأَوَّلِ، وَعَلَامَةٌ لِلنَّوْعِ الثَّانِي.</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Range rewards the two conditional types with two separate marks: one for Type 1 and one for Type 2.</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النَّوْعُ الأَوَّلُ يَنْظُرُ إِلَى الأَمَامِ وَيُوصِي القَارِئَ، أَمَّا النَّوْعُ الثَّانِي فَيَنْظُرُ إِلَى الوَرَاءِ وَيَتَأَمَّلُ.</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1 looks forward and recommends to the reader, while Type 2 looks back and reflects.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النَّصُّ الَّذِي يَحْمِلُ نَوْعًا وَاحِدًا فَقَطْ لَا يَنَالُ النِّطَاقَ الكَامِلَ.</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text that carries only one type does not get full Range.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افْتَحْ بِخَلْفِيَّةٍ سَرْدِيَّةٍ فِي المَاضِي التَّامِّ، ثُمَّ أَوْصِ بِالنَّوْعِ الأَوَّلِ، ثُمَّ تَأَمَّلْ بِالنَّوْعِ الثَّانِي، وَاخْتِمْ بِرَابِطٍ رَسْمِيٍّ.</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with a narrative background in the past perfect, then recommend with Type 1, then reflect with Type 2, and close with a formal connector.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P3 text?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145 to 160 words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 words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200 words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مِئَةً وَخَمْسًا وَأَرْبَعِينَ إِلَى مِئَةٍ وَسِتِّينَ كَلِمَةً.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two conditional types marked?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share one mark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counts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earns a separate Range mark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يُكَافِئُ نَوْعَيِ الشَّرْطِ بِعَلَامَتَيْنِ مُنْفَصِلَتَيْنِ.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Type 1 conditional do?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Looks back and reflects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Looks forward and recommends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النَّوْعُ الأَوَّلُ يَنْظُرُ إِلَى الأَمَامِ وَيُوصِي القَارِئَ.</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Type 2 conditional do?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Looks back and reflects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Recommends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Reports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النَّوْعُ الثَّانِي فَيَنْظُرُ إِلَى الوَرَاءِ وَيَتَأَمَّلُ.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the future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past-perfect narrative background</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greeting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اِفْتَحْ بِخَلْفِيَّةٍ سَرْدِيَّةٍ فِي المَاضِي التَّامِّ.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word count and the two marks.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talk through your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خَلْفِيَّتُكَ السَّرْدِيَّةُ فِي المَاضِي التَّامِّ؟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تَوْصِيَتُكَ لِلْقَارِئِ بِشَرْطٍ مِنَ النَّوْعِ الأَوَّلِ؟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تَأَمُّلُكَ بِشَرْطٍ مِنَ النَّوْعِ الثَّانِي؟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كُنْتُ قَدْ حَلِمْتُ بِزِيَارَةِ ___ مُنْذُ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زُرْتَ ___ ، سَتَنْبَهِرُ بِـ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بَقِيتُ ___ ، لَرَأَيْتُ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خَلْفِيَّتُكَ؟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background?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حَلِمْتُ بِزِيَارَةِ البَتْرَاءِ، وَكُنْتُ قَدْ قَرَأْتُ عَنْهَا كَثِيرًا.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dreamed of visiting Petra, and I had read a lot about it.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paragraphs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four-paragraph plan with one sentence per paragraph.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four-paragraph plan with one sentence per paragraph.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145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to 145 words with both conditional types labelled.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to 145 words with both conditional types labelled.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145–160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160 words with eight Range markers and a reported cultural tip.</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travel article with eight Range markers, a reported tip and two formal connectors.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وَصَلْتُ ______ ، وَمَشَيْتُ ______ حَتَّى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arrived at … and walked … until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الدَّلِيلُ المَحَلِّيُّ 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local guide said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عِلَاوَةً عَلَى ذٰلِكَ، تَسْتَقْطِبُ ______ زُوَّارًا مِنْ ______ .</a:t>
            </a:r>
            <a:endParaRPr lang="ar-SA" sz="14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 attracts visitors from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وَعَلَى الرَّغْمِ مِنْ ذٰلِكَ،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كُنْتُ قَدْ حَلِمْتُ بِزِيَارَةِ ______ مُنْذُ ______ .</a:t>
            </a:r>
            <a:endParaRPr lang="ar-SA" sz="17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dreamed of visiting … since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إِذَا خَطَّطْتَ لِرِحْلَةٍ إِلَى ______ ، فَلَا بُدَّ مِنْ ______ .</a:t>
            </a:r>
            <a:endParaRPr lang="ar-SA" sz="14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plan a trip to …, you must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بَقِيتُ أَطْوَلَ، لَرَأَيْتُ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I stayed longer, I would have seen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وَخِتَامًا، لَقَدْ غَيَّرَتْ هٰذِهِ الرِّحْلَةُ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this trip changed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ea typeface="Amiri" pitchFamily="2" charset="-78"/>
                <a:cs typeface="Amiri" pitchFamily="2" charset="-78"/>
              </a:rPr>
              <a:t>مُنْذُ الطُّفُولَةِ  ·  فَجْرًا  ·  فَحَبَسْتُ أَنْفَاسِي  ·  مِنَ الدَّهْشَةِ  ·  تَجْرِبَةٌ سَاحِرَةٌ  ·  أَفْضَلُ مَوْسِمٍ  ·  مِنْ كُلِّ القَارَّاتِ  ·  قَضَاءِ يَوْمٍ كَامِلٍ  ·  لَيْلَةً إِضَافِيَّةً  ·  تَحْتَ ضَوْءِ الشُّمُوعِ  ·  نَظْرَتِي إِلَى التَّارِيخِ  ·  فَاقَ الوَاقِعُ خَيَالِي</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145-160 word travel article. Open with a past-perfect narrative, use a Type 1 conditional to recommend and a Type 2 conditional to reflect, cite a guide with reported speech, use a tourism verb, and close with a formal connector.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narrative opening with sensory detail.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recommendation and a Type 2 reflection (with the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result).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 cultural tip (</a:t>
            </a:r>
            <a:pPr algn="l" indent="0" marL="0">
              <a:buNone/>
            </a:pPr>
            <a:r>
              <a:rPr lang="ar-SA" altLang="en-US" sz="1550" dirty="0">
                <a:solidFill>
                  <a:srgbClr val="1F2A37"/>
                </a:solidFill>
                <a:latin typeface="Amiri" pitchFamily="2" charset="-78"/>
                <a:ea typeface="Amiri" pitchFamily="2" charset="-78"/>
                <a:cs typeface="Amiri" pitchFamily="2" charset="-78"/>
              </a:rPr>
              <a:t>قَالَ … إِنَّ</a:t>
            </a:r>
            <a:pPr algn="l" indent="0" marL="0">
              <a:buNone/>
            </a:pPr>
            <a:r>
              <a:rPr lang="en-US" sz="1200" dirty="0">
                <a:solidFill>
                  <a:srgbClr val="1F2A37"/>
                </a:solidFill>
                <a:latin typeface="Calibri" pitchFamily="34" charset="0"/>
                <a:cs typeface="Amiri" pitchFamily="2" charset="-78"/>
              </a:rPr>
              <a:t>) and a tourism verb.</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formal connectors and 145-160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وَكُنْتُ قَدْ قَرَأْتُ عَنْهَا كَثِيرًا قَبْلَ الرِّحْلَةِ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had read a lot about it before the trip</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وَأَشَارَ إِلَى أَنَّ الرَّبِيعَ أَفْضَلُ مَوْسِمٍ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he pointed out that spring is the best season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بِعِمَارَتِهَا المَنْحُوتَةِ فِي الصَّخْرِ الوَرْدِيِّ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its architecture carved into the pink rock</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وَلَتَعَمَّقَتْ تَجْرِبَتِي أَكْثَرَ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my experience would have been deeper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نَظْرَتِي إِلَى التَّارِيخِ وَالجَمَالِ مَعًا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view of history and beauty together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كُنْتُ قَدْ حَلِمْتُ بِزِيَارَةِ البَتْرَاءِ مُنْذُ الطُّفُولَةِ، وَكُنْتُ قَدْ قَرَأْتُ عَنْهَا كَثِيرًا قَبْلَ الرِّحْلَةِ. وَصَلْتُ فَجْرًا، وَمَشَيْتُ عَبْرَ المَمَرِّ الضَّيِّقِ حَتَّى ظَهَرَتِ الخَزْنَةُ فَجْأَةً، فَحَبَسْتُ أَنْفَاسِي مِنَ الدَّهْشَةِ. قَالَ الدَّلِيلُ المَحَلِّيُّ إِنَّ الزِّيَارَةَ لَيْلًا تَجْرِبَةٌ سَاحِرَةٌ، وَأَشَارَ إِلَى أَنَّ الرَّبِيعَ أَفْضَلُ مَوْسِمٍ. عِلَاوَةً عَلَى ذٰلِكَ، تَسْتَقْطِبُ البَتْرَاءُ زُوَّارًا مِنْ كُلِّ القَارَّاتِ بِعِمَارَتِهَا المَنْحُوتَةِ فِي الصَّخْرِ الوَرْدِيِّ. إِذَا خَطَّطْتَ لِرِحْلَةٍ إِلَى الأُرْدُنِّ، فَلَا بُدَّ مِنْ قَضَاءِ يَوْمٍ كَامِلٍ فِيهَا. وَعَلَى الرَّغْمِ مِنْ ذٰلِكَ، لَوْ كُنْتُ قَدْ بَقِيتُ لَيْلَةً إِضَافِيَّةً، لَرَأَيْتُ الخَزْنَةَ تَحْتَ ضَوْءِ الشُّمُوعِ، وَلَتَعَمَّقَتْ تَجْرِبَتِي أَكْثَرَ. وَخِتَامًا، لَقَدْ غَيَّرَتْ هٰذِهِ الرِّحْلَةُ نَظْرَتِي إِلَى التَّارِيخِ وَالجَمَالِ مَعًا.</a:t>
            </a:r>
            <a:endParaRPr lang="ar-SA" sz="21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dreamed of visiting Petra since childhood, and I had read a lot about it before the trip. I arrived at dawn and walked through the narrow passage until the Treasury suddenly appeared, and I held my breath in amazement. The local guide said that a night visit is an enchanting experience, and pointed out that spring is the best season. Moreover, Petra attracts visitors from every continent with its architecture carved into the pink rock. If you plan a trip to Jordan, you must spend a whole day there. Despite that, had I stayed an extra night, I would have seen the Treasury by candlelight, and my experience would have been deeper. In conclusion, this trip changed my view of history and beauty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 perfects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reported speech (qāla … inna · ashāra ilā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idhā AND one law conditional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tourism verb, a superlative and three connectors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Four paragraphs: narrative · recommendation · reflection · conclusion.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opening uses kuntu qad (kāna agrees with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idhā … sa- / fa- AND one law … la- (not two idhā).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reported tip with qāla … inna and a tourism verb with its object.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Sensory detail, two formal connectors, 145–160 accurate words.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recommends to the reader (Type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فَاسَ، سَتَنْبَهِرُ.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زُرْتُ فَاسَ، لَانْبَهَرْتُ.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reflects on the past (Type 2)?</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خَصَّصْتُ وَقْتًا، سَأَرَى المَزِيدَ.</a:t>
            </a:r>
            <a:endParaRPr lang="ar-SA" sz="18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خَصَّصْتُ وَقْتًا أَطْوَلَ، لَرَأَيْتُ المَزِيدَ.</a:t>
            </a:r>
            <a:endParaRPr lang="ar-SA" sz="18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أُخَصِّصُ وَقْتًا.</a:t>
            </a:r>
            <a:endParaRPr lang="ar-SA" sz="18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guide accurately?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قَالَ الدَّلِيلُ إِنَّ الرَّبِيعَ أَفْضَلُ مَوْسِمٍ.</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قَالَ الدَّلِيلُ أَنَّ الرَّبِيعَ أَفْضَلُ.</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أَشَارَ الدَّلِيلُ إِنَّ الرَّبِيعَ أَفْضَلُ.</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recommends to the reader (Type 1)?</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إِذَا زُرْتَ فَاسَ، سَتَنْبَهِرُ.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لَوْ زُرْتُ فَاسَ، لَانْبَهَرْتُ.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زُرْتُ فَاسَ.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recommendation.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reflects on the past (Type 2)?</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إِذَا خَصَّصْتُ وَقْتًا، سَأَرَى المَزِيدَ.</a:t>
            </a:r>
            <a:endParaRPr lang="ar-SA" sz="18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لَوْ خَصَّصْتُ وَقْتًا أَطْوَلَ، لَرَأَيْتُ المَزِيدَ.</a:t>
            </a:r>
            <a:endParaRPr lang="ar-SA" sz="18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أُخَصِّصُ وَقْتًا.</a:t>
            </a:r>
            <a:endParaRPr lang="ar-SA" sz="18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reflection.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guide accurately?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قَالَ الدَّلِيلُ إِنَّ الرَّبِيعَ أَفْضَلُ مَوْسِمٍ.</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قَالَ الدَّلِيلُ أَنَّ الرَّبِيعَ أَفْضَلُ.</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أَشَارَ الدَّلِيلُ إِنَّ الرَّبِيعَ أَفْضَلُ.</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an annotated model (extract)</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كُنْتُ قَدْ حَلِمْتُ بِزِيَارَةِ البَتْرَاءِ مُنْذُ الطُّفُولَةِ، وَكُنْتُ قَدْ قَرَأْتُ عَنْهَا كَثِيرًا. وَصَلْتُ فَجْرًا، وَمَشَيْتُ عَبْرَ المَمَرِّ الضَّيِّقِ حَتَّى ظَهَرَتِ الخَزْنَةُ أَمَامِي، فَحَبَسْتُ أَنْفَاسِي مِنَ الدَّهْشَةِ. قَالَ الدَّلِيلُ المَحَلِّيُّ إِنَّ الزِّيَارَةَ لَيْلًا تَجْرِبَةٌ سَاحِرَةٌ. عِلَاوَةً عَلَى ذٰلِكَ، تَسْتَقْطِبُ البَتْرَاءُ زُوَّارًا مِنْ كُلِّ القَارَّاتِ. إِذَا خَطَّطْتَ لِرِحْلَةٍ إِلَى الأُرْدُنِّ، فَلَا بُدَّ مِنْ قَضَاءِ يَوْمٍ كَامِلٍ فِيهَا. وَلَوْ كُنْتُ قَدْ بَقِيتُ لَيْلَةً إِضَافِيَّةً، لَرَأَيْتُ الخَزْنَةَ تَحْتَ ضَوْءِ الشُّمُوعِ. وَخِتَامًا، لَقَدْ غَيَّرَتْ هٰذِهِ الرِّحْلَةُ نَظْرَتِي إِلَى التَّارِيخِ العَرَبِيِّ.</a:t>
            </a:r>
            <a:endParaRPr lang="ar-SA" sz="24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حَلِمْتُ بِـ</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dreamed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الطُّفُولَةِ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childhood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فَجْرًا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dawn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المَمَرِّ الضَّيِّقِ</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narrow passage (the Siq)</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الخَزْنَةُ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Treasury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فَحَبَسْتُ أَنْفَاسِي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held my breath</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الدَّهْشَةِ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amazement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سَاحِرَةٌ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enchanting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ضَوْءِ الشُّمُوعِ</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candlelight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نَظْرَتِي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view</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structure opens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future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 perfect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rhetorical question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guide's view presented?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the writer's own view</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statistic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Through reported speech (</a:t>
            </a:r>
            <a:pPr algn="l" indent="0" marL="0">
              <a:buNone/>
            </a:pPr>
            <a:r>
              <a:rPr lang="ar-SA" altLang="en-US" sz="1650" dirty="0">
                <a:solidFill>
                  <a:srgbClr val="1F2A37"/>
                </a:solidFill>
                <a:latin typeface="Amiri" pitchFamily="2" charset="-78"/>
                <a:ea typeface="Amiri" pitchFamily="2" charset="-78"/>
                <a:cs typeface="Amiri" pitchFamily="2" charset="-78"/>
              </a:rPr>
              <a:t>قَالَ … إِنَّ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recommendation?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إِذَا خَطَّطْتَ لِرِحْلَةٍ إِلَى الأُرْدُنِّ، فَلَا بُدَّ مِنْ قَضَاءِ يَوْمٍ فِيهَا</a:t>
            </a:r>
            <a:endParaRPr lang="ar-SA" sz="11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لَوْ كُنْتُ قَدْ بَقِيتُ لَيْلَةً، لَرَأَيْتُ</a:t>
            </a:r>
            <a:endParaRPr lang="ar-SA" sz="11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كُنْتُ قَدْ حَلِمْتُ بِزِيَارَتِهَا</a:t>
            </a:r>
            <a:endParaRPr lang="ar-SA" sz="11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إِذَا خَطَّطْتَ، فَلَا بُدَّ مِنْ زِيَارَتِهَا</a:t>
            </a:r>
            <a:endParaRPr lang="ar-SA" sz="1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لَوْ كُنْتُ قَدْ بَقِيتُ لَيْلَةً إِضَافِيَّةً، لَرَأَيْتُ الخَزْنَةَ تَحْتَ ضَوْءِ الشُّمُوعِ</a:t>
            </a:r>
            <a:endParaRPr lang="ar-SA" sz="1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تَسْتَقْطِبُ البَتْرَاءُ زُوَّارًا</a:t>
            </a:r>
            <a:endParaRPr lang="ar-SA"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conclusion on how the trip changed the writer's view</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statistic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structure opens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future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past perfect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rhetorical question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 قَدْ حَلِمْتُ</a:t>
            </a:r>
            <a:pPr algn="l" indent="0" marL="0">
              <a:buNone/>
            </a:pPr>
            <a:r>
              <a:rPr lang="en-US" sz="1050" i="1" dirty="0">
                <a:solidFill>
                  <a:srgbClr val="8A6D1E"/>
                </a:solidFill>
                <a:latin typeface="Calibri" pitchFamily="34" charset="0"/>
                <a:cs typeface="Amiri" pitchFamily="2" charset="-78"/>
              </a:rPr>
              <a:t> … is the past perfect.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guide's view presented?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the writer's own view</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statistic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Through reported speech (</a:t>
            </a:r>
            <a:pPr algn="l" indent="0" marL="0">
              <a:buNone/>
            </a:pPr>
            <a:r>
              <a:rPr lang="ar-SA" altLang="en-US" sz="1650" b="1" dirty="0">
                <a:solidFill>
                  <a:srgbClr val="1F2A37"/>
                </a:solidFill>
                <a:latin typeface="Amiri" pitchFamily="2" charset="-78"/>
                <a:ea typeface="Amiri" pitchFamily="2" charset="-78"/>
                <a:cs typeface="Amiri" pitchFamily="2" charset="-78"/>
              </a:rPr>
              <a:t>قَالَ … إِنَّ</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الدَّلِيلُ المَحَلِّيُّ إِنَّ الزِّيَارَةَ لَيْلًا تَجْرِبَةٌ سَاحِرَةٌ.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recommendation?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إِذَا خَطَّطْتَ لِرِحْلَةٍ إِلَى الأُرْدُنِّ، فَلَا بُدَّ مِنْ قَضَاءِ يَوْمٍ فِيهَا</a:t>
            </a:r>
            <a:endParaRPr lang="ar-SA"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لَوْ كُنْتُ قَدْ بَقِيتُ لَيْلَةً، لَرَأَيْتُ</a:t>
            </a:r>
            <a:endParaRPr lang="ar-SA" sz="11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كُنْتُ قَدْ حَلِمْتُ بِزِيَارَتِهَا</a:t>
            </a:r>
            <a:endParaRPr lang="ar-SA" sz="11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 recommends to the reader.</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إِذَا خَطَّطْتَ، فَلَا بُدَّ مِنْ زِيَارَتِهَا</a:t>
            </a:r>
            <a:endParaRPr lang="ar-SA" sz="10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لَوْ كُنْتُ قَدْ بَقِيتُ لَيْلَةً إِضَافِيَّةً، لَرَأَيْتُ الخَزْنَةَ تَحْتَ ضَوْءِ الشُّمُوعِ</a:t>
            </a:r>
            <a:endParaRPr lang="ar-SA" sz="10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تَسْتَقْطِبُ البَتْرَاءُ زُوَّارًا</a:t>
            </a:r>
            <a:endParaRPr lang="ar-SA" sz="10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reflection.</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conclusion on how the trip changed the writer's view</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statistic</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وَخِتَامًا، لَقَدْ غَيَّرَتْ هٰذِهِ الرِّحْلَةُ نَظْرَتِي.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Range Mission — Two Conditionals, One Article</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Direction: a Type 1 conditional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back and reflects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forward and recommends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reports a fact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Direction: a Type 2 conditional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looks back and reflects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recommends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زُرْتَ فَاسَ،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بِأَزِقَّتِهَا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لَانْبَهَرْتَ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تَنْبَهِرُ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سَتَنْبَهِرُ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خَصَّصْتُ وَقْتًا أَطْوَلَ،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المَزِيدَ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سَأَرَى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لَرَأَيْتُ</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Narrative: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حَلِمْتُ بِزِيَارَتِهَا مُنْذُ الطُّفُولَةِ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 مَوْسِمٍ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Direction: a Type 1 conditional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looks back and reflects</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looks forward and recommends</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reports a fact</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Type 1 recommends to the reader.</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Direction: a Type 2 conditional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looks back and reflects</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recommends</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reports</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Type 2 reflects on the past.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زُرْتَ فَاسَ،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بِأَزِقَّتِهَا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لَانْبَهَرْتَ</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تَنْبَهِرُ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سَتَنْبَهِرُ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خَصَّصْتُ وَقْتًا أَطْوَلَ،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المَزِيدَ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سَأَرَى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لَرَأَيْتُ</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Narrative: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حَلِمْتُ بِزِيَارَتِهَا مُنْذُ الطُّفُولَةِ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past-perfect background uses </a:t>
            </a:r>
            <a:pPr algn="l" indent="0" marL="0">
              <a:buNone/>
            </a:pPr>
            <a:r>
              <a:rPr lang="ar-SA" altLang="en-US" sz="1350" dirty="0">
                <a:solidFill>
                  <a:srgbClr val="8A6D1E"/>
                </a:solidFill>
                <a:latin typeface="Amiri" pitchFamily="2" charset="-78"/>
                <a:ea typeface="Amiri" pitchFamily="2" charset="-78"/>
                <a:cs typeface="Amiri" pitchFamily="2" charset="-78"/>
              </a:rPr>
              <a:t>كُنْتُ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 مَوْسِمٍ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P3-L10 · Listening — Travel, Tourism and Transport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التَّمْيِيزُ الصَّوْتِيُّ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auditory distinction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الفِعْلُ التَّالِي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following 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الجَزْمُ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certainty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التَّشْكِيكُ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doubt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بُنْيَةٌ تَحْتِيَّةٌ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infrastructure</a:t>
            </a:r>
            <a:pPr indent="0" marL="0">
              <a:buNone/>
            </a:pPr>
            <a:r>
              <a:rPr lang="ar-SA" sz="1000" i="1" dirty="0">
                <a:solidFill>
                  <a:srgbClr val="5A6472"/>
                </a:solidFill>
                <a:latin typeface="Calibri" pitchFamily="34" charset="0"/>
                <a:ea typeface="Amiri" pitchFamily="2" charset="-78"/>
                <a:cs typeface="Amiri" pitchFamily="2" charset="-78"/>
              </a:rPr>
              <a:t>  pl. بُنًى تَحْتِيَّةٌ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hear law or idhā, which word in the result helps you check the type?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بَعْدَ «لَوْ» أَسْمَعُ « ______ » فِي الجَوَابِ، وَبَعْدَ «إِذَا» أَسْمَعُ « ______ ».</a:t>
            </a:r>
            <a:endParaRPr lang="ar-SA" sz="15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four-paragraph plan with one sentence per paragraph.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145-word version and label both conditionals in colour.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the full 145–160-word travel article with eight Range markers.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P3-L10 · Listening — Travel, Tourism and Transport Texts</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نُصُوصُ السَّفَرِ وَالسِّيَاحَةِ وَالنَّقْلِ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paragraphs — back (kuntu qad + a detail) · forward (idhā … sa- / fa-) · back (law … la-) · close (wa-khitāman) — one idhā AND one law, a reported tip, a tourism verb and two formal connectors.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P3-L09 · Writing — Travel and Tourism (Paper 4 Extended Writing)</dc:title>
  <dc:subject>PptxGenJS Presentation</dc:subject>
  <dc:creator>Al Madina Online School · Arabic Department</dc:creator>
  <cp:lastModifiedBy>Al Madina Online School · Arabic Department</cp:lastModifiedBy>
  <cp:revision>1</cp:revision>
  <dcterms:created xsi:type="dcterms:W3CDTF">2026-10-11T06:43:13Z</dcterms:created>
  <dcterms:modified xsi:type="dcterms:W3CDTF">2026-10-11T06:43:13Z</dcterms:modified>
</cp:coreProperties>
</file>