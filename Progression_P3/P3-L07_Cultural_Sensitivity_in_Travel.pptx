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Lst>
  <p:notesMasterIdLst>
    <p:notesMasterId r:id="rId51"/>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notesMaster" Target="notesMasters/notesMaster1.xml"/><Relationship Id="rId52" Type="http://schemas.openxmlformats.org/officeDocument/2006/relationships/presProps" Target="presProps.xml"/><Relationship Id="rId53" Type="http://schemas.openxmlformats.org/officeDocument/2006/relationships/viewProps" Target="viewProps.xml"/><Relationship Id="rId54" Type="http://schemas.openxmlformats.org/officeDocument/2006/relationships/theme" Target="theme/theme1.xml"/><Relationship Id="rId55"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LESSON AT A GLANCE — planned for 56 minutes, leaving about 4 minutes for Teams delays.
0–1 Welcome · 1–2 Lesson map · 2–9 Do Now + answers · 9–10 Objectives · 10–17 Key words · 17–23 Grammar · 23–25 Quick check · 25–28 I Do · 28–37 We Do · 37–49 You Do (speaking 3 + writing 9, with live feedback) · 49–54 Feedback (model, self-check, exit ticket) · 54–56 Preparation for next lesson.
FLEX slides are optional. Use them if the class is moving quickly; otherwise the same activities are on the website for homework.
Content source: Miftah Arabic website, Pathways › Progression › P3 Travel, Holidays and Transport › P3-L07. The website lesson “Cultural Sensitivity in Travel — Being a Respectful Visitor”: vocabulary, grammar rules and quiz, patterns, common mistakes, sorter, listening, reading, speaking prompts and model, writing task and model, differentiation, final check and the lesson mission. Picture match: website visual game “Cultural Sensitivity in Travel — Being a Respectful Visitor”.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Core: four advice sentences with yustaḥsan an and yajib an (website Core). Develop: add a yaḥẓur rule and a yasmaḥ bi- permission. Stretch: a full 100–110-word cultural guide with a reported tip and a Type 2 reflection.
• Our students are often the experts here: many know mosque etiquette, Ramadan courtesy and hospitality customs from home. Invite them to advise “a visitor to our community” — it builds pride and confidence.
• Mosque etiquette in the texts: taking off shoes is for everyone; covering the head (تُغَطِّيَ رَأْسَكِ) is expected of women visitors. Clarify gently if asked.
• Grammar link: the subjunctive after an was introduced in P3-L06 (qarrartu an aljaʾa). Today adds yustaḥsan an and weak verbs: يَرْتَدِي → أَنْ يَرْتَدِيَ.
• TEACHER-WRITTEN ITEMS: waṣl alif shown without a kasra; rule headings and formulas in English and transliteration; sorter headings in transliteration; game card 1 not used (its waṣl alif carries a kasra); the modal, subjunctive, rules and guide tables are teacher-built from the website texts. All other website items are used as published.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Questions 1–3 test three of the five words prepared at the end of P3-L06. Questions 4–5 retrieve the subjunctive after an and yuballigh ʿan (P3-L06) — today the subjunctive becomes polite advice.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Polite advice: yustaḥsan an + a verb in -a. Rules: yaḥẓur + object · yasmaḥ bi-.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The route statements turn the website objectives into this lesson’s concrete targets.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احترام، ثقافت، لباس and عادت are shared. Careful with تقلید: in Urdu (and in fiqh) it means following / imitating; Arabic تَقَالِيدُ (sg. تَقْلِيدٌ) means traditions, customs.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Cultural sensitivity (website vocabulary (1 of 2)). Hear → Say → See → Use. Transliteration is printed for Core students (cover it for Develop/Stretch).
Cultural sensitivity: the nouns of a visitor’s guide. احْتِرَامُ المُقَدَّسَاتِ = respect for sacred places (mosques, shrines, holy sites); زَلَّةٌ ثَقَافِيَّةٌ = a cultural slip, a faux pas.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Cultural sensitivity (website vocabulary (2 of 2)). Hear → Say → See → Use. Transliteration is printed for Core students (cover it for Develop/Stretch).
Cultural sensitivity: the nouns of a visitor’s guide. احْتِرَامُ المُقَدَّسَاتِ = respect for sacred places (mosques, shrines, holy sites); زَلَّةٌ ثَقَافِيَّةٌ = a cultural slip, a faux pas.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Modal advice verbs (website vocabulary (1 of 2)). Hear → Say → See → Use. Transliteration is printed for Core students (cover it for Develop/Stretch).
Modal advice verbs: يُسْتَحْسَنُ أَنْ (polite) and يَجِبُ أَنْ (strong) + a verb in -a. Rules: يَحْظُرُ + object (prohibits), يَسْمَحُ بِـ (permits), يُفْضِي إِلَى (leads 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Modal advice verbs (website vocabulary (2 of 2)). Hear → Say → See → Use. Transliteration is printed for Core students (cover it for Develop/Stretch).
FLEX: teach if time allows; otherwise these are on the website vocabulary tab for homework.
Modal advice verbs: يُسْتَحْسَنُ أَنْ (polite) and يَجِبُ أَنْ (strong) + a verb in -a. Rules: يَحْظُرُ + object (prohibits), يَسْمَحُ بِـ (permits), يُفْضِي إِلَى (leads 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The subjunctive after أَنْ (website vocabulary (1 of 2)). Hear → Say → See → Use. Transliteration is printed for Core students (cover it for Develop/Stretch).
FLEX: teach if time allows; otherwise these are on the website vocabulary tab for homework.
The subjunctive after أَنْ: the verb ends in -a, even weak verbs — يَرْتَدِي → أَنْ يَرْتَدِيَ. Change the person to speak to the visitor: أَنْ تَتَعَلَّمَ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The subjunctive after أَنْ (website vocabulary (2 of 2)). Hear → Say → See → Use. Transliteration is printed for Core students (cover it for Develop/Stretch).
FLEX: teach if time allows; otherwise these are on the website vocabulary tab for homework.
The subjunctive after أَنْ: the verb ends in -a, even weak verbs — يَرْتَدِي → أَنْ يَرْتَدِيَ. Change the person to speak to the visitor: أَنْ تَتَعَلَّمَ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1 — website rules 1–3, teaching points 1–2 and the website table.
يُسْتَحْسَنُ is passive (“it is considered good”) — so it never changes: يُسْتَحْسَنُ أَنْ يَتَعَلَّمَ / أَنْ تَتَعَلَّمِي / أَنْ نَتَعَلَّمَ.
Softer → stronger: يُسْتَحْسَنُ أَنْ (it is preferable) → يَنْبَغِي أَنْ (one should, P3-L05 game) → يَجِبُ أَنْ (you must).
Islamic link for students who want it: مَكْرُوهٌ / مُسْتَحَبٌّ / وَاجِبٌ / حَرَامٌ share the same idea of graded advice.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2 — website quiz questions 1–3, vocabulary group 3 (يَتَعَلَّمَ · يَحْتَرِمَ · يَرْتَدِيَ) and the listening and reading texts.
Weak verbs: ending in ـِي (يَرْتَدِي · يُغَطِّي · يَمْشِي) → add fatḥa: يَرْتَدِيَ. Ending in ـُو (يَدْعُو) → يَدْعُوَ. Ending in ـَى (يَسْعَى · يَنْسَى) → no visible change.
Row 4: a second verb joined with وَ is also subjunctive (أَنْ تَخْلَعَ … وَتُغَطِّيَ). To a woman: رَأْسَكِ (the website says رَأْسَكَ, addressing “you” in general).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3 — website rule “Rules: يَحْظُرُ / يَسْمَحُ بِـ”, teaching point 2 and mistakes 2–3. Card 3 uses the website vocabulary item يُفْضِي إِلَى.
On real signs you will see the noun forms: مَمْنُوعٌ التَّصْوِيرُ / يُمْنَعُ التَّصْوِيرُ (photography forbidden) · يُسْمَحُ بِالتَّصْوِيرِ (photography allowed). Note: with يَسْمَحُ, the thing permitted takes بِـ and the person takes لِـ: يَسْمَحُ لِلزُّوَّارِ بِالتَّصْوِيرِ.
Card 2: مَوَاقِعُ (non-human plural) → feminine verb تَسْمَحُ.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4 — website rule “Advice scenario and reflection” plus register tools from the listening, reading and writing model.
Row 1: دُعِيتَ = “you were invited” (passive of دَعَا). Row 2: يُعْتَبَرُ = “is considered” (passive). Row 4: احْتِرَامًا لِـ = “out of respect for” — an accusative maṣdar giving the reason (المَفْعُولُ لِأَجْلِهِ).
Row 5: قَلَّ (to become few) → لَقَلَّتِ الزَّلَّاتُ (faux pas would have been fewer) — feminine because الزَّلَّاتُ is a non-human plural.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WEBSITE GRAMMAR RULES AND EXAMPLES (FLEX — revision or homework). Website overview: “يُسْتَحْسَنُ أَنْ and يَجِبُ أَنْ take a subjunctive verb (fatḥa); يَحْظُرُ and يَسْمَحُ بِـ state rules; both conditional types frame scenarios and reflections.”
• yustaḥsan an + subjunctive: Polite, impersonal advice; the verb takes a fatḥa.
• yajib an + subjunctive: A stronger obligation; still a subjunctive.
• Rules: yaḥẓur / yasmaḥ bi-: Prohibits (with an object) and permits (with بِـ).
• Advice scenario and reflection: Advise for a case, then reflect on a missed chance.
Website common error: Leaving the verb after أَنْ in the indicative (يَتَعَلَّمُ) instead of the subjunctive (يَتَعَلَّمَ), or adding بِـ after يَحْظُرُ.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grammar quiz questions 1, 2, 3, 4.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from the website writing model. Think aloud: “Start general: yuʿtabaru. Polite advice: yustaḥsanu AN — so yataʿallamA, yartadiyA. A scenario: idhā zurta masjidan, yajibu an takhlaʿA. A rule: yaḥẓuru + object — no bi-. A reported tip: akhbaranī … anna. Close with law … la-qallat.”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 website patterns. Students copy TWO that are useful for them.
• Core: copy one and change one word. • Develop: copy two and change the subject. • Stretch: combine two into one longer sentence with a connector.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the website’s interactive lesson game (“Visual game — Cultural Sensitivity in Travel — Being a Respectful Visitor”)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visual game (3 of 6; card 1 not used). Then turn each into advice: يُسْتَحْسَنُ أَنْ يَتَعَلَّمَ الزَّائِرُ التَّحِيَّةَ المَحَلِّيَّةَ · يُسْتَحْسَنُ أَنْ يَحْتَرِمَ اللِّبَاسَ التَّقْلِيدِيَّ · يُسْتَحْسَنُ أَنْ يُجَرِّبَ الأَطْبَاقَ التَّقْلِيدِيَّةَ.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the website’s interactive lesson game (“Visual game — Cultural Sensitivity in Travel — Being a Respectful Visitor”)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visual game (3 of 6; card 1 not used). Then turn each into advice: يُسْتَحْسَنُ أَنْ يَتَعَلَّمَ الزَّائِرُ التَّحِيَّةَ المَحَلِّيَّةَ · يُسْتَحْسَنُ أَنْ يَحْتَرِمَ اللِّبَاسَ التَّقْلِيدِيَّ · يُسْتَحْسَنُ أَنْ يُجَرِّبَ الأَطْبَاقَ التَّقْلِيدِيَّةَ.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(3 min) — the website live builder: “Build a cultural guide from a piece of advice, a rule and a reflection.” Website feedback: any three different combinations work.
Core: read row 1 across. Develop: change column 1 to “you”: يُسْتَحْسَنُ أَنْ تَتَعَلَّمَ / تَرْتَدِيَ / تَتَجَنَّبَ. Stretch: write your own column-3 reflection about our school: لَوْ عَرَفَ الزُّوَّارُ … ، لَـ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website sorter (2 min). Website instruction: sort each item into the right group.
Then put the right verb in front of each card: يُسْتَحْسَنُ / يَجِبُ + أَنْ … · يَحْظُرُ المَوْقِعُ … · يَسْمَحُ المَتْحَفُ …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website sorter (2 min). Website instruction: sort each item into the right group.
Then put the right verb in front of each card: يُسْتَحْسَنُ / يَجِبُ + أَنْ … · يَحْظُرُ المَوْقِعُ … · يَسْمَحُ المَتْحَفُ …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quiz questions 5, 6, 7, 8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LISTENING (4 min) — website script. Read it aloud yourself, twice, at natural speed with pauses.
Before listening: students read the questions (● 30s). Core: questions 1, 2 and 3. Develop / Stretch: all 5 — and write down every verb after an.
Listen 1: just listen. Listen 2: note answers. Then chat the letters.
Support: after the second listening, show the read-along slide (Arabic + English, line by line) for Core students.
SCRIPT (read aloud):
يُعْتَبَرُ الاحْتِرَامُ الثَّقَافِيُّ رَكِيزَةً أَسَاسِيَّةً لِأَيِّ رِحْلَةٍ نَاجِحَةٍ إِلَى العَالَمِ العَرَبِيِّ. يُشَارُ إِلَى أَنَّ الزُّوَّارَ الَّذِينَ يَحْتَرِمُونَ العَادَاتِ المَحَلِّيَّةَ يَحْظَوْنَ بِاسْتِقْبَالٍ أَدْفَأَ. يُسْتَحْسَنُ أَنْ يَرْتَدِيَ الزَّائِرُ مَلَابِسَ مُحْتَشِمَةً فِي الأَمَاكِنِ العَامَّةِ. وَإِذَا زُرْتَ مَسْجِدًا، يَجِبُ أَنْ تَخْلَعَ حِذَاءَكَ وَتُغَطِّيَ رَأْسَكَ. كَمَا يَحْظُرُ بَعْضُ المَوَاقِعِ التَّصْوِيرَ، بَيْنَمَا تَسْمَحُ مَوَاقِعُ أُخْرَى بِهِ دُونَ فَلَاشٍ. وَأَخْبَرَنِي مُرْشِدٌ مَحَلِّيٌّ أَنَّهُ مِنَ المُسْتَحْسَنِ تَعَلُّمُ التَّحِيَّةِ العَرَبِيَّةِ، وَقَالَ إِنَّ هٰذِهِ البَادِرَةَ تُعَبِّرُ عَنِ احْتِرَامٍ عَمِيقٍ. وَلَوْ تَعَلَّمَ كُلُّ سَائِحٍ شَيْئًا مِنْ لُغَةِ البَلَدِ، لَكَانَ التَّبَادُلُ الثَّقَافِيُّ أَعْمَقَ وَأَغْنَى.</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(Core support) — show AFTER the second listening. The Arabic is the website script, line by line; the English is a teacher translation.
Read it once more while Core students follow. Annotate the words that gave each answer.
Stretch: cover the English column and translate one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answers. For each, ask “Which Arabic words gave you the answer?” — the evidence line is under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SPEAKING REHEARSAL (3 min) — website speaking prompts.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A: وَلَوْ تَعَلَّمَ لُغَةَ البَلَدِ؟ (Reflection)
B: لَوْ تَعَلَّمَ شَيْئًا مِنَ العَرَبِيَّةِ، لَكَانَ التَّبَادُلُ الثَّقَافِيُّ أَعْمَقَ بِكَثِيرٍ. (Type 2 reflection)
Website prompts and model. Pair task: “welcome to our community” — A is a visitor to your mosque or home; B gives three pieces of advice (يُسْتَحْسَنُ أَنْ · يَجِبُ أَنْ · يَحْظُرُ / يَسْمَحُ بِـ). To a girl: اسْتَعْمِلِي · تَنْصَحِينَ.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YOU DO (9 min writing). Steer routes using the Do Now and quick-check results.
Website differentiation tasks: Core — Write four advice sentences with يُسْتَحْسَنُ أَنْ and يَجِبُ أَنْ. · Develop — Add a يَحْظُرُ rule and a يَسْمَحُ بِـ permission. · Stretch — Write a full guide with a reported tip and a Type 2 reflection.
Website writing task (Stretch): Write a cultural guide of one hundred to one hundred and ten words for visitors to an Arab country. Use يُسْتَحْسَنُ أَنْ + subjunctive twice, يَجِبُ أَنْ and يَحْظُرُ, a Type 1 scenario, a reported cultural tip and a Type 2 reflection.
LIVE FEEDBACK: students post their first two sentences in the chat (or OneNote) after 3 minutes. Scan and correct misconceptions immediately — use private chat for individual corrections (Behaviour: quiet, individual).
Work with the less able: stay with Core students for the first 3 minutes; Develop/Stretch continue independently. SEND: chunk the Core task — “two sentences, then show me”.
Extension (fast finishers): the reading on the Extension slides. Pastoral: Self-Management point for students who work without prompting.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from the website model, reading text and listening script. Live feedback for Stretch: check the target structures appear and are accurate.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FEEDBACK (1 min) — website model answer, with an English translation for Core students.
Students find in the model (● 20s → ◎) the four items on the chips. Website writing model. Evidence: يُسْتَحْسَنُ أَنْ يَتَعَلَّمَ · يُسْتَحْسَنُ أَنْ يَرْتَدِيَ · إِذَا زُرْتَ مَسْجِدًا، يَجِبُ أَنْ تَخْلَعَ … وَتُغَطِّيَ · يَحْظُرُ … التَّصْوِيرَ · أَخْبَرَنِي … أَنَّهُ · قَالَ إِنَّ · لَوْ عَرَفَ … لَقَلَّتِ … وَلَكَانَ.
Then each student chooses ONE thing from the model to add to their own writing (specific, actionable feedback on the success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4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EXTENSION — website reading text. For fast finishers during You Do, or Stretch homework. “You don’t need every word; find the words the question asks about.”
The green key-words panel is a teacher-made glossary so Develop students can also attempt it.
SEND reading strategy (Toolkit 1): cover the text with a piece of paper and uncover one sentence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from the website. The detective steps follow the SEND “modular reading” strategy: read one part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from the website, with the evidence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LESSON MISSION (FLEX) — fast finishers or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(P3-L08 · Reading — Travel and Tourism Texts) will spend class time USING this language, so students prepare it tonight — short, simple, easy to access (school guidance: “Simple, Short, Interesting, Relevant, Easy to access”). The five words come from the website P3-L08 vocabulary (reading travel texts).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image" Target="../media/image-23-5.png"/><Relationship Id="rId6" Type="http://schemas.openxmlformats.org/officeDocument/2006/relationships/image" Target="../media/image-23-6.png"/><Relationship Id="rId7" Type="http://schemas.openxmlformats.org/officeDocument/2006/relationships/slideLayout" Target="../slideLayouts/slideLayout1.xml"/><Relationship Id="rId8"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image" Target="../media/image-24-5.png"/><Relationship Id="rId6" Type="http://schemas.openxmlformats.org/officeDocument/2006/relationships/image" Target="../media/image-24-6.png"/><Relationship Id="rId7" Type="http://schemas.openxmlformats.org/officeDocument/2006/relationships/slideLayout" Target="../slideLayouts/slideLayout1.xml"/><Relationship Id="rId8"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1.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1.xml"/><Relationship Id="rId3" Type="http://schemas.openxmlformats.org/officeDocument/2006/relationships/notesSlide" Target="../notesSlides/notesSlide4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9  ·  PROGRESSION P3  ·  P3-L07</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P3-L07</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Cultural Sensitivity in Travel — Being a Respectful Visitor</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150" b="1" dirty="0">
                <a:solidFill>
                  <a:srgbClr val="D4AF37"/>
                </a:solidFill>
                <a:latin typeface="Amiri" pitchFamily="2" charset="-78"/>
                <a:ea typeface="Amiri" pitchFamily="2" charset="-78"/>
                <a:cs typeface="Amiri" pitchFamily="2" charset="-78"/>
              </a:rPr>
              <a:t>الحَسَاسِيَّةُ الثَّقَافِيَّةُ فِي السَّفَرِ — كَيْفَ تَكُونُ زَائِرًا مُحْتَرَمًا</a:t>
            </a:r>
            <a:endParaRPr lang="ar-SA" sz="315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Advise a visitor politely: yustaḥsan an and yajib an + a verb in -a (an yartadiya), rules with yaḥẓur + object and yasmaḥ bi-, a Type 1 scenario and a Type 2 reflection.</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P3-L07 · Progression P3 · Travel, Holidays and Transport</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Progression · B1 → B2</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Progression › P3 › P3-L07</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P3-L07 · Culture</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P3-L07</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49</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P3-L07 · Culture</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P3-L07</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ea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Four modals, the subjunctive with weak verbs, rules with yaḥẓur / yasmaḥ bi-, guide register.</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ea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Match cultural pictures, build a cultural guide, sort advice / prohibition / permission.</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P3-L08.</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ea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49</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P3-L07 · Culture</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P3-L07</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حَسَاسِيَّةٌ ثَقَافِيَّةٌ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cultural heritage</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cultural sensitivity</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cultural festival</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قَوَاعِدُ اللِّبَاسِ</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dress code</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house rules</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clothes shop</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يُسْتَحْسَنُ أَنْ</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forbidden that</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possible that</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preferable that</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قَرَّرْتُ أَنْ</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إِلَى السَّفَارَةِ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أَلْجَأُ</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لَجَأْتُ</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أَلْجَأَ</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يُبَلِّغُ المُسَافِرُ</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سَرِقَةِ حَقِيبَتِهِ</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عَنْ</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بِـ</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إِلَى</a:t>
            </a:r>
            <a:endParaRPr lang="ar-SA" sz="20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49</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P3-L07 · Culture</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P3-L07</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حَسَاسِيَّةٌ ثَقَافِيَّةٌ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cultural heritage</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cultural sensitivity</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cultural festival</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(P3-L06).</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قَوَاعِدُ اللِّبَاسِ</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dress code</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house rules</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clothes shop</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(P3-L06).</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يُسْتَحْسَنُ أَنْ</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is forbidden that</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is possible that</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it is preferable that</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(P3-L06).</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قَرَّرْتُ أَنْ</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إِلَى السَّفَارَةِ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أَلْجَأُ</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لَجَأْتُ</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أَلْجَأَ</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P3-L06: after an, the verb ends in -a.</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يُبَلِّغُ المُسَافِرُ</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سَرِقَةِ حَقِيبَتِهِ</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عَنْ</a:t>
            </a:r>
            <a:endParaRPr lang="ar-SA" sz="170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بِـ</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إِلَى</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P3-L06: yuballigh is fixed with ʿan.</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Polite advice: yustaḥsan an + a verb in -a. Rules: yaḥẓur + object · yasmaḥ bi-.</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lnSpc>
                <a:spcPct val="120000"/>
              </a:lnSpc>
              <a:buNone/>
            </a:pPr>
            <a:r>
              <a:rPr lang="ar-SA" altLang="en-US" sz="1950" b="1" dirty="0">
                <a:solidFill>
                  <a:srgbClr val="1B3B6F"/>
                </a:solidFill>
                <a:latin typeface="Amiri" pitchFamily="2" charset="-78"/>
                <a:ea typeface="Amiri" pitchFamily="2" charset="-78"/>
                <a:cs typeface="Amiri" pitchFamily="2" charset="-78"/>
              </a:rPr>
              <a:t>يُسْتَحْسَنُ أَنْ </a:t>
            </a:r>
            <a:pPr rtl="1" algn="ctr" indent="0" marL="0">
              <a:lnSpc>
                <a:spcPct val="120000"/>
              </a:lnSpc>
              <a:buNone/>
            </a:pPr>
            <a:r>
              <a:rPr lang="ar-SA" altLang="en-US" sz="1950" b="1" dirty="0">
                <a:solidFill>
                  <a:srgbClr val="0E7C86"/>
                </a:solidFill>
                <a:latin typeface="Amiri" pitchFamily="2" charset="-78"/>
                <a:ea typeface="Amiri" pitchFamily="2" charset="-78"/>
                <a:cs typeface="Amiri" pitchFamily="2" charset="-78"/>
              </a:rPr>
              <a:t>يَتَعَلَّمَ</a:t>
            </a:r>
            <a:pPr rtl="1" algn="ctr" indent="0" marL="0">
              <a:lnSpc>
                <a:spcPct val="120000"/>
              </a:lnSpc>
              <a:buNone/>
            </a:pPr>
            <a:r>
              <a:rPr lang="ar-SA" altLang="en-US" sz="1950" b="1" dirty="0">
                <a:solidFill>
                  <a:srgbClr val="1B3B6F"/>
                </a:solidFill>
                <a:latin typeface="Amiri" pitchFamily="2" charset="-78"/>
                <a:ea typeface="Amiri" pitchFamily="2" charset="-78"/>
                <a:cs typeface="Amiri" pitchFamily="2" charset="-78"/>
              </a:rPr>
              <a:t> · يَحْظُرُ </a:t>
            </a:r>
            <a:pPr rtl="1" algn="ctr" indent="0" marL="0">
              <a:lnSpc>
                <a:spcPct val="120000"/>
              </a:lnSpc>
              <a:buNone/>
            </a:pPr>
            <a:r>
              <a:rPr lang="ar-SA" altLang="en-US" sz="1950" b="1" dirty="0">
                <a:solidFill>
                  <a:srgbClr val="1D5FBF"/>
                </a:solidFill>
                <a:latin typeface="Amiri" pitchFamily="2" charset="-78"/>
                <a:ea typeface="Amiri" pitchFamily="2" charset="-78"/>
                <a:cs typeface="Amiri" pitchFamily="2" charset="-78"/>
              </a:rPr>
              <a:t>التَّصْوِيرَ</a:t>
            </a:r>
            <a:pPr rtl="1" algn="ctr" indent="0" marL="0">
              <a:lnSpc>
                <a:spcPct val="120000"/>
              </a:lnSpc>
              <a:buNone/>
            </a:pPr>
            <a:r>
              <a:rPr lang="ar-SA" altLang="en-US" sz="1950" b="1" dirty="0">
                <a:solidFill>
                  <a:srgbClr val="1B3B6F"/>
                </a:solidFill>
                <a:latin typeface="Amiri" pitchFamily="2" charset="-78"/>
                <a:ea typeface="Amiri" pitchFamily="2" charset="-78"/>
                <a:cs typeface="Amiri" pitchFamily="2" charset="-78"/>
              </a:rPr>
              <a:t> · يَسْمَحُ </a:t>
            </a:r>
            <a:pPr rtl="1" algn="ctr" indent="0" marL="0">
              <a:lnSpc>
                <a:spcPct val="120000"/>
              </a:lnSpc>
              <a:buNone/>
            </a:pPr>
            <a:r>
              <a:rPr lang="ar-SA" altLang="en-US" sz="1950" b="1" dirty="0">
                <a:solidFill>
                  <a:srgbClr val="7B3FA0"/>
                </a:solidFill>
                <a:latin typeface="Amiri" pitchFamily="2" charset="-78"/>
                <a:ea typeface="Amiri" pitchFamily="2" charset="-78"/>
                <a:cs typeface="Amiri" pitchFamily="2" charset="-78"/>
              </a:rPr>
              <a:t>بِالتَّصْوِيرِ</a:t>
            </a:r>
            <a:endParaRPr lang="ar-SA" sz="19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49</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P3-L07 · Culture</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P3-L07</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ea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Use cultural-sensitivity vocabulary.</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Give polite advice with yustaḥsan an + a verb in -a.</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State rules with yaḥẓur + object and yasmaḥ bi-.</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Write a cultural guide for visitors.</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name 8 cultural-sensitivity words.</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advise with yustaḥsan an + a verb in -a.</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state a rule with yaḥẓur and yasmaḥ bi-.</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use weak verbs after an (yartadiya).</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add a reported tip and a Type 2 reflection.</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write a cultural guide.</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49</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cs typeface="Amiri" pitchFamily="2" charset="-78"/>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2" charset="-78"/>
                <a:ea typeface="Amiri" pitchFamily="2" charset="-78"/>
                <a:cs typeface="Amiri" pitchFamily="2" charset="-78"/>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cs typeface="Amiri" pitchFamily="2" charset="-78"/>
              </a:rPr>
              <a:t>24 words from the website in 3 groups. Learn the CORE words first. Hear it → say it → see it → use it.</a:t>
            </a:r>
            <a:endParaRPr lang="en-US" sz="1600" dirty="0"/>
          </a:p>
        </p:txBody>
      </p:sp>
      <p:sp>
        <p:nvSpPr>
          <p:cNvPr id="8" name="Shape 6"/>
          <p:cNvSpPr/>
          <p:nvPr/>
        </p:nvSpPr>
        <p:spPr>
          <a:xfrm>
            <a:off x="457200" y="4572000"/>
            <a:ext cx="252984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1</a:t>
            </a:r>
            <a:endParaRPr lang="en-US" sz="900" dirty="0"/>
          </a:p>
          <a:p>
            <a:pPr indent="0" marL="0">
              <a:buNone/>
            </a:pPr>
            <a:r>
              <a:rPr lang="en-US" sz="1200" b="1" dirty="0">
                <a:solidFill>
                  <a:srgbClr val="FFFFFF"/>
                </a:solidFill>
                <a:latin typeface="Calibri" pitchFamily="34" charset="0"/>
                <a:cs typeface="Amiri" pitchFamily="2" charset="-78"/>
              </a:rPr>
              <a:t>Cultural sensitivity · 8</a:t>
            </a:r>
            <a:endParaRPr lang="en-US" sz="900" dirty="0"/>
          </a:p>
        </p:txBody>
      </p:sp>
      <p:sp>
        <p:nvSpPr>
          <p:cNvPr id="10" name="Shape 8"/>
          <p:cNvSpPr/>
          <p:nvPr/>
        </p:nvSpPr>
        <p:spPr>
          <a:xfrm>
            <a:off x="3124200" y="4572000"/>
            <a:ext cx="252984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3261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2</a:t>
            </a:r>
            <a:endParaRPr lang="en-US" sz="900" dirty="0"/>
          </a:p>
          <a:p>
            <a:pPr indent="0" marL="0">
              <a:buNone/>
            </a:pPr>
            <a:r>
              <a:rPr lang="en-US" sz="1200" b="1" dirty="0">
                <a:solidFill>
                  <a:srgbClr val="FFFFFF"/>
                </a:solidFill>
                <a:latin typeface="Calibri" pitchFamily="34" charset="0"/>
                <a:cs typeface="Amiri" pitchFamily="2" charset="-78"/>
              </a:rPr>
              <a:t>Modal advice verbs · 8</a:t>
            </a:r>
            <a:endParaRPr lang="en-US" sz="900" dirty="0"/>
          </a:p>
        </p:txBody>
      </p:sp>
      <p:sp>
        <p:nvSpPr>
          <p:cNvPr id="12" name="Shape 10"/>
          <p:cNvSpPr/>
          <p:nvPr/>
        </p:nvSpPr>
        <p:spPr>
          <a:xfrm>
            <a:off x="5791200" y="4572000"/>
            <a:ext cx="2529840" cy="960120"/>
          </a:xfrm>
          <a:prstGeom prst="roundRect">
            <a:avLst>
              <a:gd name="adj" fmla="val 7619"/>
            </a:avLst>
          </a:prstGeom>
          <a:solidFill>
            <a:srgbClr val="16335F"/>
          </a:solidFill>
          <a:ln w="12700">
            <a:solidFill>
              <a:srgbClr val="2A4B7C"/>
            </a:solidFill>
            <a:prstDash val="solid"/>
          </a:ln>
        </p:spPr>
      </p:sp>
      <p:sp>
        <p:nvSpPr>
          <p:cNvPr id="13" name="Text 11"/>
          <p:cNvSpPr txBox="1"/>
          <p:nvPr/>
        </p:nvSpPr>
        <p:spPr>
          <a:xfrm>
            <a:off x="5928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3</a:t>
            </a:r>
            <a:endParaRPr lang="en-US" sz="900" dirty="0"/>
          </a:p>
          <a:p>
            <a:pPr indent="0" marL="0">
              <a:buNone/>
            </a:pPr>
            <a:r>
              <a:rPr lang="ar-SA" sz="1200" b="1" dirty="0">
                <a:solidFill>
                  <a:srgbClr val="FFFFFF"/>
                </a:solidFill>
                <a:latin typeface="Calibri" pitchFamily="34" charset="0"/>
                <a:ea typeface="Amiri" pitchFamily="2" charset="-78"/>
                <a:cs typeface="Amiri" pitchFamily="2" charset="-78"/>
              </a:rPr>
              <a:t>The subjunctive after أَنْ · 8</a:t>
            </a:r>
            <a:endParaRPr lang="en-US" sz="900" dirty="0"/>
          </a:p>
        </p:txBody>
      </p:sp>
      <p:sp>
        <p:nvSpPr>
          <p:cNvPr id="14" name="Shape 12"/>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15" name="Text 13"/>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cs typeface="Amiri" pitchFamily="2" charset="-78"/>
              </a:rPr>
              <a:t>BRIDGE FROM URDU</a:t>
            </a:r>
            <a:endParaRPr lang="en-US" sz="1000" dirty="0"/>
          </a:p>
        </p:txBody>
      </p:sp>
      <p:sp>
        <p:nvSpPr>
          <p:cNvPr id="16" name="Text 14"/>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احْتِرَامٌ</a:t>
            </a:r>
            <a:endParaRPr lang="ar-SA" sz="1900" dirty="0"/>
          </a:p>
        </p:txBody>
      </p:sp>
      <p:sp>
        <p:nvSpPr>
          <p:cNvPr id="17" name="Text 15"/>
          <p:cNvSpPr txBox="1"/>
          <p:nvPr/>
        </p:nvSpPr>
        <p:spPr>
          <a:xfrm>
            <a:off x="8842248" y="1810512"/>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‎احترام‎ </a:t>
            </a:r>
            <a:pPr indent="0" marL="0">
              <a:buNone/>
            </a:pPr>
            <a:r>
              <a:rPr lang="en-US" sz="950" b="1" dirty="0">
                <a:solidFill>
                  <a:srgbClr val="2E8B57"/>
                </a:solidFill>
                <a:latin typeface="Calibri" pitchFamily="34" charset="0"/>
                <a:cs typeface="Amiri" pitchFamily="2" charset="-78"/>
              </a:rPr>
              <a:t> ehtirām · respect</a:t>
            </a:r>
            <a:endParaRPr lang="en-US" sz="1400" dirty="0"/>
          </a:p>
        </p:txBody>
      </p:sp>
      <p:sp>
        <p:nvSpPr>
          <p:cNvPr id="18" name="Text 16"/>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ثَقَافَةٌ</a:t>
            </a:r>
            <a:endParaRPr lang="ar-SA" sz="1900" dirty="0"/>
          </a:p>
        </p:txBody>
      </p:sp>
      <p:sp>
        <p:nvSpPr>
          <p:cNvPr id="19" name="Text 17"/>
          <p:cNvSpPr txBox="1"/>
          <p:nvPr/>
        </p:nvSpPr>
        <p:spPr>
          <a:xfrm>
            <a:off x="8842248" y="2377440"/>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‎ثقافت‎ </a:t>
            </a:r>
            <a:pPr indent="0" marL="0">
              <a:buNone/>
            </a:pPr>
            <a:r>
              <a:rPr lang="en-US" sz="950" b="1" dirty="0">
                <a:solidFill>
                  <a:srgbClr val="2E8B57"/>
                </a:solidFill>
                <a:latin typeface="Calibri" pitchFamily="34" charset="0"/>
                <a:cs typeface="Amiri" pitchFamily="2" charset="-78"/>
              </a:rPr>
              <a:t> saqāfat · culture</a:t>
            </a:r>
            <a:endParaRPr lang="en-US" sz="1400" dirty="0"/>
          </a:p>
        </p:txBody>
      </p:sp>
      <p:sp>
        <p:nvSpPr>
          <p:cNvPr id="20" name="Text 18"/>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لِبَاسٌ</a:t>
            </a:r>
            <a:endParaRPr lang="ar-SA" sz="1900" dirty="0"/>
          </a:p>
        </p:txBody>
      </p:sp>
      <p:sp>
        <p:nvSpPr>
          <p:cNvPr id="21" name="Text 19"/>
          <p:cNvSpPr txBox="1"/>
          <p:nvPr/>
        </p:nvSpPr>
        <p:spPr>
          <a:xfrm>
            <a:off x="8842248" y="2944368"/>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‎لباس‎ </a:t>
            </a:r>
            <a:pPr indent="0" marL="0">
              <a:buNone/>
            </a:pPr>
            <a:r>
              <a:rPr lang="en-US" sz="950" b="1" dirty="0">
                <a:solidFill>
                  <a:srgbClr val="2E8B57"/>
                </a:solidFill>
                <a:latin typeface="Calibri" pitchFamily="34" charset="0"/>
                <a:cs typeface="Amiri" pitchFamily="2" charset="-78"/>
              </a:rPr>
              <a:t> libās · clothing, dress</a:t>
            </a:r>
            <a:endParaRPr lang="en-US" sz="1400" dirty="0"/>
          </a:p>
        </p:txBody>
      </p:sp>
      <p:sp>
        <p:nvSpPr>
          <p:cNvPr id="22" name="Text 20"/>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عَادَاتٌ</a:t>
            </a:r>
            <a:endParaRPr lang="ar-SA" sz="1900" dirty="0"/>
          </a:p>
        </p:txBody>
      </p:sp>
      <p:sp>
        <p:nvSpPr>
          <p:cNvPr id="23" name="Text 21"/>
          <p:cNvSpPr txBox="1"/>
          <p:nvPr/>
        </p:nvSpPr>
        <p:spPr>
          <a:xfrm>
            <a:off x="8842248" y="3511296"/>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‎عادت · عادات‎ </a:t>
            </a:r>
            <a:pPr indent="0" marL="0">
              <a:buNone/>
            </a:pPr>
            <a:r>
              <a:rPr lang="en-US" sz="950" b="1" dirty="0">
                <a:solidFill>
                  <a:srgbClr val="2E8B57"/>
                </a:solidFill>
                <a:latin typeface="Calibri" pitchFamily="34" charset="0"/>
                <a:cs typeface="Amiri" pitchFamily="2" charset="-78"/>
              </a:rPr>
              <a:t> ādat · a habit · customs</a:t>
            </a:r>
            <a:endParaRPr lang="en-US" sz="1400" dirty="0"/>
          </a:p>
        </p:txBody>
      </p:sp>
      <p:sp>
        <p:nvSpPr>
          <p:cNvPr id="24" name="Text 22"/>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تَقَالِيدُ</a:t>
            </a:r>
            <a:endParaRPr lang="ar-SA" sz="1900" dirty="0"/>
          </a:p>
        </p:txBody>
      </p:sp>
      <p:sp>
        <p:nvSpPr>
          <p:cNvPr id="25" name="Text 23"/>
          <p:cNvSpPr txBox="1"/>
          <p:nvPr/>
        </p:nvSpPr>
        <p:spPr>
          <a:xfrm>
            <a:off x="8842248" y="4078224"/>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‎تقلید‎ </a:t>
            </a:r>
            <a:pPr indent="0" marL="0">
              <a:buNone/>
            </a:pPr>
            <a:r>
              <a:rPr lang="en-US" sz="950" b="1" dirty="0">
                <a:solidFill>
                  <a:srgbClr val="2E8B57"/>
                </a:solidFill>
                <a:latin typeface="Calibri" pitchFamily="34" charset="0"/>
                <a:cs typeface="Amiri" pitchFamily="2" charset="-78"/>
              </a:rPr>
              <a:t> taqlīd · false friend! Urdu = imitation</a:t>
            </a:r>
            <a:endParaRPr lang="en-US" sz="140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49</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P3-L07 · Culture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Cultural sensitivity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P3-L07</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حَسَاسِيَّةٌ ثَقَافِيَّةٌ</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cultural sensitivity</a:t>
            </a:r>
            <a:endParaRPr lang="en-US" sz="1350" dirty="0"/>
          </a:p>
          <a:p>
            <a:pPr indent="0" marL="0">
              <a:buNone/>
            </a:pPr>
            <a:r>
              <a:rPr lang="en-US" sz="1100" i="1" dirty="0">
                <a:solidFill>
                  <a:srgbClr val="5A6472"/>
                </a:solidFill>
                <a:latin typeface="Calibri" pitchFamily="34" charset="0"/>
                <a:cs typeface="Amiri" pitchFamily="2" charset="-78"/>
              </a:rPr>
              <a:t>ḥa-sā-siy-ya-tun tha-qā-fiy-ya-tun</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5" name="Shape 22"/>
          <p:cNvSpPr/>
          <p:nvPr/>
        </p:nvSpPr>
        <p:spPr>
          <a:xfrm>
            <a:off x="4782312" y="1938528"/>
            <a:ext cx="709574" cy="256032"/>
          </a:xfrm>
          <a:prstGeom prst="roundRect">
            <a:avLst>
              <a:gd name="adj" fmla="val 50000"/>
            </a:avLst>
          </a:prstGeom>
          <a:solidFill>
            <a:srgbClr val="EFE7D2"/>
          </a:solidFill>
          <a:ln w="12700">
            <a:solidFill>
              <a:srgbClr val="EFE7D2"/>
            </a:solidFill>
            <a:prstDash val="solid"/>
          </a:ln>
        </p:spPr>
      </p:sp>
      <p:sp>
        <p:nvSpPr>
          <p:cNvPr id="26" name="Text 23"/>
          <p:cNvSpPr txBox="1"/>
          <p:nvPr/>
        </p:nvSpPr>
        <p:spPr>
          <a:xfrm>
            <a:off x="4782312"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27" name="Shape 24"/>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9" name="Text 26"/>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تَقَالِيدُ مَحَلِّيَّةٌ</a:t>
            </a:r>
            <a:endParaRPr lang="ar-SA" sz="3000" dirty="0"/>
          </a:p>
        </p:txBody>
      </p:sp>
      <p:sp>
        <p:nvSpPr>
          <p:cNvPr id="30" name="Text 27"/>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local customs</a:t>
            </a:r>
            <a:endParaRPr lang="en-US" sz="1350" dirty="0"/>
          </a:p>
          <a:p>
            <a:pPr indent="0" marL="0">
              <a:buNone/>
            </a:pPr>
            <a:r>
              <a:rPr lang="en-US" sz="1100" i="1" dirty="0">
                <a:solidFill>
                  <a:srgbClr val="5A6472"/>
                </a:solidFill>
                <a:latin typeface="Calibri" pitchFamily="34" charset="0"/>
                <a:cs typeface="Amiri" pitchFamily="2" charset="-78"/>
              </a:rPr>
              <a:t>ta-qā-lī-du ma-ḥal-liy-ya-tun</a:t>
            </a:r>
            <a:endParaRPr lang="en-US" sz="1350" dirty="0"/>
          </a:p>
        </p:txBody>
      </p:sp>
      <p:sp>
        <p:nvSpPr>
          <p:cNvPr id="31" name="Shape 28"/>
          <p:cNvSpPr/>
          <p:nvPr/>
        </p:nvSpPr>
        <p:spPr>
          <a:xfrm>
            <a:off x="4416552" y="3438144"/>
            <a:ext cx="3364992" cy="438912"/>
          </a:xfrm>
          <a:prstGeom prst="roundRect">
            <a:avLst>
              <a:gd name="adj" fmla="val 10417"/>
            </a:avLst>
          </a:prstGeom>
          <a:solidFill>
            <a:srgbClr val="F4F1EA"/>
          </a:solidFill>
          <a:ln w="9525">
            <a:solidFill>
              <a:srgbClr val="F4F1EA"/>
            </a:solidFill>
            <a:prstDash val="solid"/>
          </a:ln>
        </p:spPr>
      </p:sp>
      <p:sp>
        <p:nvSpPr>
          <p:cNvPr id="32" name="Text 29"/>
          <p:cNvSpPr txBox="1"/>
          <p:nvPr/>
        </p:nvSpPr>
        <p:spPr>
          <a:xfrm>
            <a:off x="4471416"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sg.</a:t>
            </a:r>
            <a:endParaRPr lang="en-US" sz="750" dirty="0"/>
          </a:p>
        </p:txBody>
      </p:sp>
      <p:sp>
        <p:nvSpPr>
          <p:cNvPr id="33" name="Text 30"/>
          <p:cNvSpPr txBox="1"/>
          <p:nvPr/>
        </p:nvSpPr>
        <p:spPr>
          <a:xfrm>
            <a:off x="4462272"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تَقْلِيدٌ مَحَلِّيٌّ</a:t>
            </a:r>
            <a:endParaRPr lang="ar-SA" sz="1500" dirty="0"/>
          </a:p>
        </p:txBody>
      </p:sp>
      <p:sp>
        <p:nvSpPr>
          <p:cNvPr id="34" name="Shape 31"/>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566928" y="1920240"/>
            <a:ext cx="310896" cy="310896"/>
          </a:xfrm>
          <a:prstGeom prst="ellipse">
            <a:avLst/>
          </a:prstGeom>
          <a:solidFill>
            <a:srgbClr val="F4F1EA"/>
          </a:solidFill>
          <a:ln w="12700">
            <a:solidFill>
              <a:srgbClr val="F4F1EA"/>
            </a:solidFill>
            <a:prstDash val="solid"/>
          </a:ln>
        </p:spPr>
      </p:sp>
      <p:sp>
        <p:nvSpPr>
          <p:cNvPr id="36" name="Text 33"/>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7" name="Shape 34"/>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8" name="Text 35"/>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9" name="Text 36"/>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قَوَاعِدُ اللِّبَاسِ</a:t>
            </a:r>
            <a:endParaRPr lang="ar-SA" sz="3000" dirty="0"/>
          </a:p>
        </p:txBody>
      </p:sp>
      <p:sp>
        <p:nvSpPr>
          <p:cNvPr id="40" name="Text 37"/>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dress code</a:t>
            </a:r>
            <a:endParaRPr lang="en-US" sz="1350" dirty="0"/>
          </a:p>
          <a:p>
            <a:pPr indent="0" marL="0">
              <a:buNone/>
            </a:pPr>
            <a:r>
              <a:rPr lang="en-US" sz="1100" i="1" dirty="0">
                <a:solidFill>
                  <a:srgbClr val="5A6472"/>
                </a:solidFill>
                <a:latin typeface="Calibri" pitchFamily="34" charset="0"/>
                <a:cs typeface="Amiri" pitchFamily="2" charset="-78"/>
              </a:rPr>
              <a:t>qa-wā-ʿi-du all-li-bā-si</a:t>
            </a:r>
            <a:endParaRPr lang="en-US" sz="1350" dirty="0"/>
          </a:p>
        </p:txBody>
      </p:sp>
      <p:sp>
        <p:nvSpPr>
          <p:cNvPr id="41" name="Shape 38"/>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11312" y="4261104"/>
            <a:ext cx="310896" cy="310896"/>
          </a:xfrm>
          <a:prstGeom prst="ellipse">
            <a:avLst/>
          </a:prstGeom>
          <a:solidFill>
            <a:srgbClr val="F4F1EA"/>
          </a:solidFill>
          <a:ln w="12700">
            <a:solidFill>
              <a:srgbClr val="F4F1EA"/>
            </a:solidFill>
            <a:prstDash val="solid"/>
          </a:ln>
        </p:spPr>
      </p:sp>
      <p:sp>
        <p:nvSpPr>
          <p:cNvPr id="43" name="Text 40"/>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44" name="Shape 41"/>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6" name="Text 43"/>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احْتِرَامُ المُقَدَّسَاتِ</a:t>
            </a:r>
            <a:endParaRPr lang="ar-SA" sz="3000" dirty="0"/>
          </a:p>
        </p:txBody>
      </p:sp>
      <p:sp>
        <p:nvSpPr>
          <p:cNvPr id="47" name="Text 44"/>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respect for sacred sites</a:t>
            </a:r>
            <a:endParaRPr lang="en-US" sz="1350" dirty="0"/>
          </a:p>
          <a:p>
            <a:pPr indent="0" marL="0">
              <a:buNone/>
            </a:pPr>
            <a:r>
              <a:rPr lang="en-US" sz="1100" i="1" dirty="0">
                <a:solidFill>
                  <a:srgbClr val="5A6472"/>
                </a:solidFill>
                <a:latin typeface="Calibri" pitchFamily="34" charset="0"/>
                <a:cs typeface="Amiri" pitchFamily="2" charset="-78"/>
              </a:rPr>
              <a:t>aḥ-ti-rā-mu al-mu-qad-da-sā-ti</a:t>
            </a:r>
            <a:endParaRPr lang="en-US" sz="135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49</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P3-L07 · Culture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Cultural sensitivity (2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P3-L07</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18" name="Shape 15"/>
          <p:cNvSpPr/>
          <p:nvPr/>
        </p:nvSpPr>
        <p:spPr>
          <a:xfrm>
            <a:off x="8604504" y="1938528"/>
            <a:ext cx="709574"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زَلَّةٌ ثَقَافِيَّةٌ</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cultural faux pas</a:t>
            </a:r>
            <a:endParaRPr lang="en-US" sz="1350" dirty="0"/>
          </a:p>
          <a:p>
            <a:pPr indent="0" marL="0">
              <a:buNone/>
            </a:pPr>
            <a:r>
              <a:rPr lang="en-US" sz="1100" i="1" dirty="0">
                <a:solidFill>
                  <a:srgbClr val="5A6472"/>
                </a:solidFill>
                <a:latin typeface="Calibri" pitchFamily="34" charset="0"/>
                <a:cs typeface="Amiri" pitchFamily="2" charset="-78"/>
              </a:rPr>
              <a:t>zal-la-tun tha-qā-fiy-ya-tun</a:t>
            </a:r>
            <a:endParaRPr lang="en-US" sz="1350" dirty="0"/>
          </a:p>
        </p:txBody>
      </p:sp>
      <p:sp>
        <p:nvSpPr>
          <p:cNvPr id="24" name="Shape 21"/>
          <p:cNvSpPr/>
          <p:nvPr/>
        </p:nvSpPr>
        <p:spPr>
          <a:xfrm>
            <a:off x="8238744" y="3438144"/>
            <a:ext cx="3364992"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8293608"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26" name="Text 23"/>
          <p:cNvSpPr txBox="1"/>
          <p:nvPr/>
        </p:nvSpPr>
        <p:spPr>
          <a:xfrm>
            <a:off x="8284464"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زَلَّاتٌ ثَقَافِيَّةٌ</a:t>
            </a:r>
            <a:endParaRPr lang="ar-SA" sz="1500" dirty="0"/>
          </a:p>
        </p:txBody>
      </p:sp>
      <p:sp>
        <p:nvSpPr>
          <p:cNvPr id="27" name="Shape 24"/>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4389120"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30" name="Text 27"/>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تَفَاهُمٌ ثَقَافِيٌّ</a:t>
            </a:r>
            <a:endParaRPr lang="ar-SA" sz="3000" dirty="0"/>
          </a:p>
        </p:txBody>
      </p:sp>
      <p:sp>
        <p:nvSpPr>
          <p:cNvPr id="31" name="Text 28"/>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cultural understanding</a:t>
            </a:r>
            <a:endParaRPr lang="en-US" sz="1350" dirty="0"/>
          </a:p>
          <a:p>
            <a:pPr indent="0" marL="0">
              <a:buNone/>
            </a:pPr>
            <a:r>
              <a:rPr lang="en-US" sz="1100" i="1" dirty="0">
                <a:solidFill>
                  <a:srgbClr val="5A6472"/>
                </a:solidFill>
                <a:latin typeface="Calibri" pitchFamily="34" charset="0"/>
                <a:cs typeface="Amiri" pitchFamily="2" charset="-78"/>
              </a:rPr>
              <a:t>ta-fā-hu-mun tha-qā-fiy-yun</a:t>
            </a:r>
            <a:endParaRPr lang="en-US" sz="1350" dirty="0"/>
          </a:p>
        </p:txBody>
      </p:sp>
      <p:sp>
        <p:nvSpPr>
          <p:cNvPr id="32" name="Shape 29"/>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566928" y="1920240"/>
            <a:ext cx="310896" cy="310896"/>
          </a:xfrm>
          <a:prstGeom prst="ellipse">
            <a:avLst/>
          </a:prstGeom>
          <a:solidFill>
            <a:srgbClr val="F4F1EA"/>
          </a:solidFill>
          <a:ln w="12700">
            <a:solidFill>
              <a:srgbClr val="F4F1EA"/>
            </a:solidFill>
            <a:prstDash val="solid"/>
          </a:ln>
        </p:spPr>
      </p:sp>
      <p:sp>
        <p:nvSpPr>
          <p:cNvPr id="34" name="Text 31"/>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35" name="Shape 32"/>
          <p:cNvSpPr/>
          <p:nvPr/>
        </p:nvSpPr>
        <p:spPr>
          <a:xfrm>
            <a:off x="960120" y="1938528"/>
            <a:ext cx="709574" cy="256032"/>
          </a:xfrm>
          <a:prstGeom prst="roundRect">
            <a:avLst>
              <a:gd name="adj" fmla="val 50000"/>
            </a:avLst>
          </a:prstGeom>
          <a:solidFill>
            <a:srgbClr val="EFE7D2"/>
          </a:solidFill>
          <a:ln w="12700">
            <a:solidFill>
              <a:srgbClr val="EFE7D2"/>
            </a:solidFill>
            <a:prstDash val="solid"/>
          </a:ln>
        </p:spPr>
      </p:sp>
      <p:sp>
        <p:nvSpPr>
          <p:cNvPr id="36" name="Text 33"/>
          <p:cNvSpPr txBox="1"/>
          <p:nvPr/>
        </p:nvSpPr>
        <p:spPr>
          <a:xfrm>
            <a:off x="960120"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37" name="Shape 34"/>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8" name="Text 35"/>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9" name="Text 36"/>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مُجْتَمَعٌ مُضِيفٌ</a:t>
            </a:r>
            <a:endParaRPr lang="ar-SA" sz="3000" dirty="0"/>
          </a:p>
        </p:txBody>
      </p:sp>
      <p:sp>
        <p:nvSpPr>
          <p:cNvPr id="40" name="Text 37"/>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host community</a:t>
            </a:r>
            <a:endParaRPr lang="en-US" sz="1350" dirty="0"/>
          </a:p>
          <a:p>
            <a:pPr indent="0" marL="0">
              <a:buNone/>
            </a:pPr>
            <a:r>
              <a:rPr lang="en-US" sz="1100" i="1" dirty="0">
                <a:solidFill>
                  <a:srgbClr val="5A6472"/>
                </a:solidFill>
                <a:latin typeface="Calibri" pitchFamily="34" charset="0"/>
                <a:cs typeface="Amiri" pitchFamily="2" charset="-78"/>
              </a:rPr>
              <a:t>muj-ta-ma-ʿun mu-ḍī-fun</a:t>
            </a:r>
            <a:endParaRPr lang="en-US" sz="1350" dirty="0"/>
          </a:p>
        </p:txBody>
      </p:sp>
      <p:sp>
        <p:nvSpPr>
          <p:cNvPr id="41" name="Shape 38"/>
          <p:cNvSpPr/>
          <p:nvPr/>
        </p:nvSpPr>
        <p:spPr>
          <a:xfrm>
            <a:off x="594360" y="3438144"/>
            <a:ext cx="3364992" cy="438912"/>
          </a:xfrm>
          <a:prstGeom prst="roundRect">
            <a:avLst>
              <a:gd name="adj" fmla="val 10417"/>
            </a:avLst>
          </a:prstGeom>
          <a:solidFill>
            <a:srgbClr val="F4F1EA"/>
          </a:solidFill>
          <a:ln w="9525">
            <a:solidFill>
              <a:srgbClr val="F4F1EA"/>
            </a:solidFill>
            <a:prstDash val="solid"/>
          </a:ln>
        </p:spPr>
      </p:sp>
      <p:sp>
        <p:nvSpPr>
          <p:cNvPr id="42" name="Text 39"/>
          <p:cNvSpPr txBox="1"/>
          <p:nvPr/>
        </p:nvSpPr>
        <p:spPr>
          <a:xfrm>
            <a:off x="649224"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43" name="Text 40"/>
          <p:cNvSpPr txBox="1"/>
          <p:nvPr/>
        </p:nvSpPr>
        <p:spPr>
          <a:xfrm>
            <a:off x="640080"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مُجْتَمَعَاتٌ مُضِيفَةٌ</a:t>
            </a:r>
            <a:endParaRPr lang="ar-SA" sz="1500" dirty="0"/>
          </a:p>
        </p:txBody>
      </p:sp>
      <p:sp>
        <p:nvSpPr>
          <p:cNvPr id="44" name="Shape 41"/>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5" name="Shape 42"/>
          <p:cNvSpPr/>
          <p:nvPr/>
        </p:nvSpPr>
        <p:spPr>
          <a:xfrm>
            <a:off x="8211312" y="4261104"/>
            <a:ext cx="310896" cy="310896"/>
          </a:xfrm>
          <a:prstGeom prst="ellipse">
            <a:avLst/>
          </a:prstGeom>
          <a:solidFill>
            <a:srgbClr val="F4F1EA"/>
          </a:solidFill>
          <a:ln w="12700">
            <a:solidFill>
              <a:srgbClr val="F4F1EA"/>
            </a:solidFill>
            <a:prstDash val="solid"/>
          </a:ln>
        </p:spPr>
      </p:sp>
      <p:sp>
        <p:nvSpPr>
          <p:cNvPr id="46" name="Text 43"/>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47" name="Shape 44"/>
          <p:cNvSpPr/>
          <p:nvPr/>
        </p:nvSpPr>
        <p:spPr>
          <a:xfrm>
            <a:off x="8604504" y="4279392"/>
            <a:ext cx="709574" cy="256032"/>
          </a:xfrm>
          <a:prstGeom prst="roundRect">
            <a:avLst>
              <a:gd name="adj" fmla="val 50000"/>
            </a:avLst>
          </a:prstGeom>
          <a:solidFill>
            <a:srgbClr val="EFE7D2"/>
          </a:solidFill>
          <a:ln w="12700">
            <a:solidFill>
              <a:srgbClr val="EFE7D2"/>
            </a:solidFill>
            <a:prstDash val="solid"/>
          </a:ln>
        </p:spPr>
      </p:sp>
      <p:sp>
        <p:nvSpPr>
          <p:cNvPr id="48" name="Text 45"/>
          <p:cNvSpPr txBox="1"/>
          <p:nvPr/>
        </p:nvSpPr>
        <p:spPr>
          <a:xfrm>
            <a:off x="8604504" y="4279392"/>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49" name="Text 46"/>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جِسْرٌ ثَقَافِيٌّ</a:t>
            </a:r>
            <a:endParaRPr lang="ar-SA" sz="3000" dirty="0"/>
          </a:p>
        </p:txBody>
      </p:sp>
      <p:sp>
        <p:nvSpPr>
          <p:cNvPr id="50" name="Text 47"/>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cultural bridge</a:t>
            </a:r>
            <a:endParaRPr lang="en-US" sz="1350" dirty="0"/>
          </a:p>
          <a:p>
            <a:pPr indent="0" marL="0">
              <a:buNone/>
            </a:pPr>
            <a:r>
              <a:rPr lang="en-US" sz="1100" i="1" dirty="0">
                <a:solidFill>
                  <a:srgbClr val="5A6472"/>
                </a:solidFill>
                <a:latin typeface="Calibri" pitchFamily="34" charset="0"/>
                <a:cs typeface="Amiri" pitchFamily="2" charset="-78"/>
              </a:rPr>
              <a:t>jis-run tha-qā-fiy-yun</a:t>
            </a:r>
            <a:endParaRPr lang="en-US" sz="1350" dirty="0"/>
          </a:p>
        </p:txBody>
      </p:sp>
      <p:sp>
        <p:nvSpPr>
          <p:cNvPr id="51" name="Shape 48"/>
          <p:cNvSpPr/>
          <p:nvPr/>
        </p:nvSpPr>
        <p:spPr>
          <a:xfrm>
            <a:off x="8238744" y="5779008"/>
            <a:ext cx="3364992" cy="438912"/>
          </a:xfrm>
          <a:prstGeom prst="roundRect">
            <a:avLst>
              <a:gd name="adj" fmla="val 10417"/>
            </a:avLst>
          </a:prstGeom>
          <a:solidFill>
            <a:srgbClr val="F4F1EA"/>
          </a:solidFill>
          <a:ln w="9525">
            <a:solidFill>
              <a:srgbClr val="F4F1EA"/>
            </a:solidFill>
            <a:prstDash val="solid"/>
          </a:ln>
        </p:spPr>
      </p:sp>
      <p:sp>
        <p:nvSpPr>
          <p:cNvPr id="52" name="Text 49"/>
          <p:cNvSpPr txBox="1"/>
          <p:nvPr/>
        </p:nvSpPr>
        <p:spPr>
          <a:xfrm>
            <a:off x="8293608" y="5788152"/>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53" name="Text 50"/>
          <p:cNvSpPr txBox="1"/>
          <p:nvPr/>
        </p:nvSpPr>
        <p:spPr>
          <a:xfrm>
            <a:off x="8284464" y="5824728"/>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جُسُورٌ ثَقَافِيَّةٌ</a:t>
            </a:r>
            <a:endParaRPr lang="ar-SA" sz="1500" dirty="0"/>
          </a:p>
        </p:txBody>
      </p:sp>
      <p:sp>
        <p:nvSpPr>
          <p:cNvPr id="54" name="Text 5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49</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P3-L07 · Culture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Modal advice verbs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P3-L07</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يُسْتَحْسَنُ أَنْ</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it is preferable that</a:t>
            </a:r>
            <a:endParaRPr lang="en-US" sz="1350" dirty="0"/>
          </a:p>
          <a:p>
            <a:pPr indent="0" marL="0">
              <a:buNone/>
            </a:pPr>
            <a:r>
              <a:rPr lang="en-US" sz="1100" i="1" dirty="0">
                <a:solidFill>
                  <a:srgbClr val="5A6472"/>
                </a:solidFill>
                <a:latin typeface="Calibri" pitchFamily="34" charset="0"/>
                <a:cs typeface="Amiri" pitchFamily="2" charset="-78"/>
              </a:rPr>
              <a:t>yus-taḥ-sa-nu an</a:t>
            </a:r>
            <a:endParaRPr lang="en-US" sz="1350" dirty="0"/>
          </a:p>
        </p:txBody>
      </p:sp>
      <p:sp>
        <p:nvSpPr>
          <p:cNvPr id="22" name="Text 19"/>
          <p:cNvSpPr txBox="1"/>
          <p:nvPr/>
        </p:nvSpPr>
        <p:spPr>
          <a:xfrm>
            <a:off x="8238744"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Impersonal + subjunctive.</a:t>
            </a:r>
            <a:endParaRPr lang="en-US" sz="1000" dirty="0"/>
          </a:p>
        </p:txBody>
      </p:sp>
      <p:sp>
        <p:nvSpPr>
          <p:cNvPr id="23" name="Shape 2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389120" y="1920240"/>
            <a:ext cx="310896" cy="310896"/>
          </a:xfrm>
          <a:prstGeom prst="ellipse">
            <a:avLst/>
          </a:prstGeom>
          <a:solidFill>
            <a:srgbClr val="F4F1EA"/>
          </a:solidFill>
          <a:ln w="12700">
            <a:solidFill>
              <a:srgbClr val="F4F1EA"/>
            </a:solidFill>
            <a:prstDash val="solid"/>
          </a:ln>
        </p:spPr>
      </p:sp>
      <p:sp>
        <p:nvSpPr>
          <p:cNvPr id="25" name="Text 2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26" name="Shape 23"/>
          <p:cNvSpPr/>
          <p:nvPr/>
        </p:nvSpPr>
        <p:spPr>
          <a:xfrm>
            <a:off x="4782312" y="1938528"/>
            <a:ext cx="1144829" cy="256032"/>
          </a:xfrm>
          <a:prstGeom prst="roundRect">
            <a:avLst>
              <a:gd name="adj" fmla="val 50000"/>
            </a:avLst>
          </a:prstGeom>
          <a:solidFill>
            <a:srgbClr val="EFE7D2"/>
          </a:solidFill>
          <a:ln w="12700">
            <a:solidFill>
              <a:srgbClr val="EFE7D2"/>
            </a:solidFill>
            <a:prstDash val="solid"/>
          </a:ln>
        </p:spPr>
      </p:sp>
      <p:sp>
        <p:nvSpPr>
          <p:cNvPr id="27" name="Text 24"/>
          <p:cNvSpPr txBox="1"/>
          <p:nvPr/>
        </p:nvSpPr>
        <p:spPr>
          <a:xfrm>
            <a:off x="4782312" y="1938528"/>
            <a:ext cx="1144829"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 subjunctive.</a:t>
            </a:r>
            <a:endParaRPr lang="en-US" sz="800" dirty="0"/>
          </a:p>
        </p:txBody>
      </p:sp>
      <p:sp>
        <p:nvSpPr>
          <p:cNvPr id="28" name="Shape 25"/>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9" name="Text 26"/>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0" name="Text 27"/>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يَجِبُ أَنْ</a:t>
            </a:r>
            <a:endParaRPr lang="ar-SA" sz="3000" dirty="0"/>
          </a:p>
        </p:txBody>
      </p:sp>
      <p:sp>
        <p:nvSpPr>
          <p:cNvPr id="31" name="Text 28"/>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it is necessary that</a:t>
            </a:r>
            <a:endParaRPr lang="en-US" sz="1350" dirty="0"/>
          </a:p>
          <a:p>
            <a:pPr indent="0" marL="0">
              <a:buNone/>
            </a:pPr>
            <a:r>
              <a:rPr lang="en-US" sz="1100" i="1" dirty="0">
                <a:solidFill>
                  <a:srgbClr val="5A6472"/>
                </a:solidFill>
                <a:latin typeface="Calibri" pitchFamily="34" charset="0"/>
                <a:cs typeface="Amiri" pitchFamily="2" charset="-78"/>
              </a:rPr>
              <a:t>ya-ji-bu an</a:t>
            </a:r>
            <a:endParaRPr lang="en-US" sz="1350" dirty="0"/>
          </a:p>
        </p:txBody>
      </p:sp>
      <p:sp>
        <p:nvSpPr>
          <p:cNvPr id="32" name="Shape 29"/>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566928" y="1920240"/>
            <a:ext cx="310896" cy="310896"/>
          </a:xfrm>
          <a:prstGeom prst="ellipse">
            <a:avLst/>
          </a:prstGeom>
          <a:solidFill>
            <a:srgbClr val="F4F1EA"/>
          </a:solidFill>
          <a:ln w="12700">
            <a:solidFill>
              <a:srgbClr val="F4F1EA"/>
            </a:solidFill>
            <a:prstDash val="solid"/>
          </a:ln>
        </p:spPr>
      </p:sp>
      <p:sp>
        <p:nvSpPr>
          <p:cNvPr id="34" name="Text 31"/>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35" name="Shape 32"/>
          <p:cNvSpPr/>
          <p:nvPr/>
        </p:nvSpPr>
        <p:spPr>
          <a:xfrm>
            <a:off x="960120" y="1938528"/>
            <a:ext cx="1082650" cy="256032"/>
          </a:xfrm>
          <a:prstGeom prst="roundRect">
            <a:avLst>
              <a:gd name="adj" fmla="val 50000"/>
            </a:avLst>
          </a:prstGeom>
          <a:solidFill>
            <a:srgbClr val="EFE7D2"/>
          </a:solidFill>
          <a:ln w="12700">
            <a:solidFill>
              <a:srgbClr val="EFE7D2"/>
            </a:solidFill>
            <a:prstDash val="solid"/>
          </a:ln>
        </p:spPr>
      </p:sp>
      <p:sp>
        <p:nvSpPr>
          <p:cNvPr id="36" name="Text 33"/>
          <p:cNvSpPr txBox="1"/>
          <p:nvPr/>
        </p:nvSpPr>
        <p:spPr>
          <a:xfrm>
            <a:off x="960120" y="1938528"/>
            <a:ext cx="108265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he · she (it)</a:t>
            </a:r>
            <a:endParaRPr lang="en-US" sz="800" dirty="0"/>
          </a:p>
        </p:txBody>
      </p:sp>
      <p:sp>
        <p:nvSpPr>
          <p:cNvPr id="37" name="Shape 34"/>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8" name="Text 35"/>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9" name="Text 36"/>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يَحْظُرُ</a:t>
            </a:r>
            <a:endParaRPr lang="ar-SA" sz="3000" dirty="0"/>
          </a:p>
        </p:txBody>
      </p:sp>
      <p:sp>
        <p:nvSpPr>
          <p:cNvPr id="40" name="Text 37"/>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prohibits</a:t>
            </a:r>
            <a:endParaRPr lang="en-US" sz="1350" dirty="0"/>
          </a:p>
          <a:p>
            <a:pPr indent="0" marL="0">
              <a:buNone/>
            </a:pPr>
            <a:r>
              <a:rPr lang="en-US" sz="1100" i="1" dirty="0">
                <a:solidFill>
                  <a:srgbClr val="5A6472"/>
                </a:solidFill>
                <a:latin typeface="Calibri" pitchFamily="34" charset="0"/>
                <a:cs typeface="Amiri" pitchFamily="2" charset="-78"/>
              </a:rPr>
              <a:t>yaḥ-ẓu-ru</a:t>
            </a:r>
            <a:endParaRPr lang="en-US" sz="1350" dirty="0"/>
          </a:p>
        </p:txBody>
      </p:sp>
      <p:sp>
        <p:nvSpPr>
          <p:cNvPr id="41" name="Shape 38"/>
          <p:cNvSpPr/>
          <p:nvPr/>
        </p:nvSpPr>
        <p:spPr>
          <a:xfrm>
            <a:off x="594360" y="3438144"/>
            <a:ext cx="3364992" cy="438912"/>
          </a:xfrm>
          <a:prstGeom prst="roundRect">
            <a:avLst>
              <a:gd name="adj" fmla="val 10417"/>
            </a:avLst>
          </a:prstGeom>
          <a:solidFill>
            <a:srgbClr val="F4F1EA"/>
          </a:solidFill>
          <a:ln w="9525">
            <a:solidFill>
              <a:srgbClr val="F4F1EA"/>
            </a:solidFill>
            <a:prstDash val="solid"/>
          </a:ln>
        </p:spPr>
      </p:sp>
      <p:sp>
        <p:nvSpPr>
          <p:cNvPr id="42" name="Text 39"/>
          <p:cNvSpPr txBox="1"/>
          <p:nvPr/>
        </p:nvSpPr>
        <p:spPr>
          <a:xfrm>
            <a:off x="649224" y="3447288"/>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she / it (f.)</a:t>
            </a:r>
            <a:endParaRPr lang="en-US" sz="700" dirty="0"/>
          </a:p>
        </p:txBody>
      </p:sp>
      <p:sp>
        <p:nvSpPr>
          <p:cNvPr id="43" name="Text 40"/>
          <p:cNvSpPr txBox="1"/>
          <p:nvPr/>
        </p:nvSpPr>
        <p:spPr>
          <a:xfrm>
            <a:off x="640080" y="3575304"/>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تَحْظُرُ</a:t>
            </a:r>
            <a:endParaRPr lang="ar-SA" sz="1350" dirty="0"/>
          </a:p>
        </p:txBody>
      </p:sp>
      <p:sp>
        <p:nvSpPr>
          <p:cNvPr id="44" name="Shape 41"/>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5" name="Shape 42"/>
          <p:cNvSpPr/>
          <p:nvPr/>
        </p:nvSpPr>
        <p:spPr>
          <a:xfrm>
            <a:off x="8211312" y="4261104"/>
            <a:ext cx="310896" cy="310896"/>
          </a:xfrm>
          <a:prstGeom prst="ellipse">
            <a:avLst/>
          </a:prstGeom>
          <a:solidFill>
            <a:srgbClr val="F4F1EA"/>
          </a:solidFill>
          <a:ln w="12700">
            <a:solidFill>
              <a:srgbClr val="F4F1EA"/>
            </a:solidFill>
            <a:prstDash val="solid"/>
          </a:ln>
        </p:spPr>
      </p:sp>
      <p:sp>
        <p:nvSpPr>
          <p:cNvPr id="46" name="Text 43"/>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47" name="Shape 44"/>
          <p:cNvSpPr/>
          <p:nvPr/>
        </p:nvSpPr>
        <p:spPr>
          <a:xfrm>
            <a:off x="8604504" y="4279392"/>
            <a:ext cx="1082650" cy="256032"/>
          </a:xfrm>
          <a:prstGeom prst="roundRect">
            <a:avLst>
              <a:gd name="adj" fmla="val 50000"/>
            </a:avLst>
          </a:prstGeom>
          <a:solidFill>
            <a:srgbClr val="EFE7D2"/>
          </a:solidFill>
          <a:ln w="12700">
            <a:solidFill>
              <a:srgbClr val="EFE7D2"/>
            </a:solidFill>
            <a:prstDash val="solid"/>
          </a:ln>
        </p:spPr>
      </p:sp>
      <p:sp>
        <p:nvSpPr>
          <p:cNvPr id="48" name="Text 45"/>
          <p:cNvSpPr txBox="1"/>
          <p:nvPr/>
        </p:nvSpPr>
        <p:spPr>
          <a:xfrm>
            <a:off x="8604504" y="4279392"/>
            <a:ext cx="108265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he · she (it)</a:t>
            </a:r>
            <a:endParaRPr lang="en-US" sz="800" dirty="0"/>
          </a:p>
        </p:txBody>
      </p:sp>
      <p:sp>
        <p:nvSpPr>
          <p:cNvPr id="49" name="Shape 46"/>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50" name="Text 47"/>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1" name="Text 48"/>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يَسْمَحُ بِـ</a:t>
            </a:r>
            <a:endParaRPr lang="ar-SA" sz="3000" dirty="0"/>
          </a:p>
        </p:txBody>
      </p:sp>
      <p:sp>
        <p:nvSpPr>
          <p:cNvPr id="52" name="Text 49"/>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permits</a:t>
            </a:r>
            <a:endParaRPr lang="en-US" sz="1350" dirty="0"/>
          </a:p>
          <a:p>
            <a:pPr indent="0" marL="0">
              <a:buNone/>
            </a:pPr>
            <a:r>
              <a:rPr lang="en-US" sz="1100" i="1" dirty="0">
                <a:solidFill>
                  <a:srgbClr val="5A6472"/>
                </a:solidFill>
                <a:latin typeface="Calibri" pitchFamily="34" charset="0"/>
                <a:cs typeface="Amiri" pitchFamily="2" charset="-78"/>
              </a:rPr>
              <a:t>yas-ma-ḥu bi</a:t>
            </a:r>
            <a:endParaRPr lang="en-US" sz="1350" dirty="0"/>
          </a:p>
        </p:txBody>
      </p:sp>
      <p:sp>
        <p:nvSpPr>
          <p:cNvPr id="53" name="Shape 50"/>
          <p:cNvSpPr/>
          <p:nvPr/>
        </p:nvSpPr>
        <p:spPr>
          <a:xfrm>
            <a:off x="8238744" y="5779008"/>
            <a:ext cx="3364992" cy="438912"/>
          </a:xfrm>
          <a:prstGeom prst="roundRect">
            <a:avLst>
              <a:gd name="adj" fmla="val 10417"/>
            </a:avLst>
          </a:prstGeom>
          <a:solidFill>
            <a:srgbClr val="F4F1EA"/>
          </a:solidFill>
          <a:ln w="9525">
            <a:solidFill>
              <a:srgbClr val="F4F1EA"/>
            </a:solidFill>
            <a:prstDash val="solid"/>
          </a:ln>
        </p:spPr>
      </p:sp>
      <p:sp>
        <p:nvSpPr>
          <p:cNvPr id="54" name="Text 51"/>
          <p:cNvSpPr txBox="1"/>
          <p:nvPr/>
        </p:nvSpPr>
        <p:spPr>
          <a:xfrm>
            <a:off x="8293608" y="5788152"/>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she / it (f.)</a:t>
            </a:r>
            <a:endParaRPr lang="en-US" sz="700" dirty="0"/>
          </a:p>
        </p:txBody>
      </p:sp>
      <p:sp>
        <p:nvSpPr>
          <p:cNvPr id="55" name="Text 52"/>
          <p:cNvSpPr txBox="1"/>
          <p:nvPr/>
        </p:nvSpPr>
        <p:spPr>
          <a:xfrm>
            <a:off x="8284464" y="5916168"/>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تَسْمَحُ بِـ</a:t>
            </a:r>
            <a:endParaRPr lang="ar-SA" sz="1350" dirty="0"/>
          </a:p>
        </p:txBody>
      </p:sp>
      <p:sp>
        <p:nvSpPr>
          <p:cNvPr id="56" name="Text 5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49</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P3-L07 · Culture</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Modal advice verbs (2 of 2)</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P3-L07</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13</a:t>
            </a:r>
            <a:endParaRPr lang="en-US" sz="1000" dirty="0"/>
          </a:p>
        </p:txBody>
      </p:sp>
      <p:sp>
        <p:nvSpPr>
          <p:cNvPr id="20" name="Shape 17"/>
          <p:cNvSpPr/>
          <p:nvPr/>
        </p:nvSpPr>
        <p:spPr>
          <a:xfrm>
            <a:off x="8604504" y="1938528"/>
            <a:ext cx="1082650" cy="256032"/>
          </a:xfrm>
          <a:prstGeom prst="roundRect">
            <a:avLst>
              <a:gd name="adj" fmla="val 50000"/>
            </a:avLst>
          </a:prstGeom>
          <a:solidFill>
            <a:srgbClr val="EFE7D2"/>
          </a:solidFill>
          <a:ln w="12700">
            <a:solidFill>
              <a:srgbClr val="EFE7D2"/>
            </a:solidFill>
            <a:prstDash val="solid"/>
          </a:ln>
        </p:spPr>
      </p:sp>
      <p:sp>
        <p:nvSpPr>
          <p:cNvPr id="21" name="Text 18"/>
          <p:cNvSpPr txBox="1"/>
          <p:nvPr/>
        </p:nvSpPr>
        <p:spPr>
          <a:xfrm>
            <a:off x="8604504" y="1938528"/>
            <a:ext cx="108265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he · she (it)</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يُفْضِي إِلَى</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leads to</a:t>
            </a:r>
            <a:endParaRPr lang="en-US" sz="1350" dirty="0"/>
          </a:p>
          <a:p>
            <a:pPr indent="0" marL="0">
              <a:buNone/>
            </a:pPr>
            <a:r>
              <a:rPr lang="en-US" sz="1100" i="1" dirty="0">
                <a:solidFill>
                  <a:srgbClr val="5A6472"/>
                </a:solidFill>
                <a:latin typeface="Calibri" pitchFamily="34" charset="0"/>
                <a:cs typeface="Amiri" pitchFamily="2" charset="-78"/>
              </a:rPr>
              <a:t>yuf-ḍī i-lā</a:t>
            </a:r>
            <a:endParaRPr lang="en-US" sz="1350" dirty="0"/>
          </a:p>
        </p:txBody>
      </p:sp>
      <p:sp>
        <p:nvSpPr>
          <p:cNvPr id="24" name="Shape 21"/>
          <p:cNvSpPr/>
          <p:nvPr/>
        </p:nvSpPr>
        <p:spPr>
          <a:xfrm>
            <a:off x="8238744" y="3438144"/>
            <a:ext cx="3364992"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8293608" y="3447288"/>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she / it (f.)</a:t>
            </a:r>
            <a:endParaRPr lang="en-US" sz="700" dirty="0"/>
          </a:p>
        </p:txBody>
      </p:sp>
      <p:sp>
        <p:nvSpPr>
          <p:cNvPr id="26" name="Text 23"/>
          <p:cNvSpPr txBox="1"/>
          <p:nvPr/>
        </p:nvSpPr>
        <p:spPr>
          <a:xfrm>
            <a:off x="8284464" y="3575304"/>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تُفْضِي إِلَى</a:t>
            </a:r>
            <a:endParaRPr lang="ar-SA" sz="1350" dirty="0"/>
          </a:p>
        </p:txBody>
      </p:sp>
      <p:sp>
        <p:nvSpPr>
          <p:cNvPr id="27" name="Shape 24"/>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4389120"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14</a:t>
            </a:r>
            <a:endParaRPr lang="en-US" sz="1000" dirty="0"/>
          </a:p>
        </p:txBody>
      </p:sp>
      <p:sp>
        <p:nvSpPr>
          <p:cNvPr id="30" name="Shape 27"/>
          <p:cNvSpPr/>
          <p:nvPr/>
        </p:nvSpPr>
        <p:spPr>
          <a:xfrm>
            <a:off x="4782312" y="1938528"/>
            <a:ext cx="704088" cy="256032"/>
          </a:xfrm>
          <a:prstGeom prst="roundRect">
            <a:avLst>
              <a:gd name="adj" fmla="val 50000"/>
            </a:avLst>
          </a:prstGeom>
          <a:solidFill>
            <a:srgbClr val="EFE7D2"/>
          </a:solidFill>
          <a:ln w="12700">
            <a:solidFill>
              <a:srgbClr val="EFE7D2"/>
            </a:solidFill>
            <a:prstDash val="solid"/>
          </a:ln>
        </p:spPr>
      </p:sp>
      <p:sp>
        <p:nvSpPr>
          <p:cNvPr id="31" name="Text 28"/>
          <p:cNvSpPr txBox="1"/>
          <p:nvPr/>
        </p:nvSpPr>
        <p:spPr>
          <a:xfrm>
            <a:off x="4782312"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pl.</a:t>
            </a:r>
            <a:endParaRPr lang="en-US" sz="800" dirty="0"/>
          </a:p>
        </p:txBody>
      </p:sp>
      <p:sp>
        <p:nvSpPr>
          <p:cNvPr id="32" name="Shape 29"/>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مَلَابِسُ مُحْتَشِمَةٌ</a:t>
            </a:r>
            <a:endParaRPr lang="ar-SA" sz="3000" dirty="0"/>
          </a:p>
        </p:txBody>
      </p:sp>
      <p:sp>
        <p:nvSpPr>
          <p:cNvPr id="35" name="Text 32"/>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modest clothing</a:t>
            </a:r>
            <a:endParaRPr lang="en-US" sz="1350" dirty="0"/>
          </a:p>
          <a:p>
            <a:pPr indent="0" marL="0">
              <a:buNone/>
            </a:pPr>
            <a:r>
              <a:rPr lang="en-US" sz="1100" i="1" dirty="0">
                <a:solidFill>
                  <a:srgbClr val="5A6472"/>
                </a:solidFill>
                <a:latin typeface="Calibri" pitchFamily="34" charset="0"/>
                <a:cs typeface="Amiri" pitchFamily="2" charset="-78"/>
              </a:rPr>
              <a:t>ma-lā-bi-su muḥ-ta-shi-ma-tun</a:t>
            </a:r>
            <a:endParaRPr lang="en-US" sz="1350" dirty="0"/>
          </a:p>
        </p:txBody>
      </p:sp>
      <p:sp>
        <p:nvSpPr>
          <p:cNvPr id="36" name="Shape 33"/>
          <p:cNvSpPr/>
          <p:nvPr/>
        </p:nvSpPr>
        <p:spPr>
          <a:xfrm>
            <a:off x="4416552" y="3438144"/>
            <a:ext cx="3364992" cy="438912"/>
          </a:xfrm>
          <a:prstGeom prst="roundRect">
            <a:avLst>
              <a:gd name="adj" fmla="val 10417"/>
            </a:avLst>
          </a:prstGeom>
          <a:solidFill>
            <a:srgbClr val="F4F1EA"/>
          </a:solidFill>
          <a:ln w="9525">
            <a:solidFill>
              <a:srgbClr val="F4F1EA"/>
            </a:solidFill>
            <a:prstDash val="solid"/>
          </a:ln>
        </p:spPr>
      </p:sp>
      <p:sp>
        <p:nvSpPr>
          <p:cNvPr id="37" name="Text 34"/>
          <p:cNvSpPr txBox="1"/>
          <p:nvPr/>
        </p:nvSpPr>
        <p:spPr>
          <a:xfrm>
            <a:off x="4471416" y="3447288"/>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sg. (garment)</a:t>
            </a:r>
            <a:endParaRPr lang="en-US" sz="700" dirty="0"/>
          </a:p>
        </p:txBody>
      </p:sp>
      <p:sp>
        <p:nvSpPr>
          <p:cNvPr id="38" name="Text 35"/>
          <p:cNvSpPr txBox="1"/>
          <p:nvPr/>
        </p:nvSpPr>
        <p:spPr>
          <a:xfrm>
            <a:off x="4462272" y="3575304"/>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مَلْبَسٌ</a:t>
            </a:r>
            <a:endParaRPr lang="ar-SA" sz="1350" dirty="0"/>
          </a:p>
        </p:txBody>
      </p:sp>
      <p:sp>
        <p:nvSpPr>
          <p:cNvPr id="39" name="Shape 3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66928" y="1920240"/>
            <a:ext cx="310896" cy="310896"/>
          </a:xfrm>
          <a:prstGeom prst="ellipse">
            <a:avLst/>
          </a:prstGeom>
          <a:solidFill>
            <a:srgbClr val="F4F1EA"/>
          </a:solidFill>
          <a:ln w="12700">
            <a:solidFill>
              <a:srgbClr val="F4F1EA"/>
            </a:solidFill>
            <a:prstDash val="solid"/>
          </a:ln>
        </p:spPr>
      </p:sp>
      <p:sp>
        <p:nvSpPr>
          <p:cNvPr id="41" name="Text 3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15</a:t>
            </a:r>
            <a:endParaRPr lang="en-US" sz="1000" dirty="0"/>
          </a:p>
        </p:txBody>
      </p:sp>
      <p:sp>
        <p:nvSpPr>
          <p:cNvPr id="42" name="Shape 39"/>
          <p:cNvSpPr/>
          <p:nvPr/>
        </p:nvSpPr>
        <p:spPr>
          <a:xfrm>
            <a:off x="960120" y="1938528"/>
            <a:ext cx="709574" cy="256032"/>
          </a:xfrm>
          <a:prstGeom prst="roundRect">
            <a:avLst>
              <a:gd name="adj" fmla="val 50000"/>
            </a:avLst>
          </a:prstGeom>
          <a:solidFill>
            <a:srgbClr val="EFE7D2"/>
          </a:solidFill>
          <a:ln w="12700">
            <a:solidFill>
              <a:srgbClr val="EFE7D2"/>
            </a:solidFill>
            <a:prstDash val="solid"/>
          </a:ln>
        </p:spPr>
      </p:sp>
      <p:sp>
        <p:nvSpPr>
          <p:cNvPr id="43" name="Text 40"/>
          <p:cNvSpPr txBox="1"/>
          <p:nvPr/>
        </p:nvSpPr>
        <p:spPr>
          <a:xfrm>
            <a:off x="960120"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44" name="Shape 41"/>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6" name="Text 43"/>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تَحِيَّةٌ مُنَاسِبَةٌ</a:t>
            </a:r>
            <a:endParaRPr lang="ar-SA" sz="3000" dirty="0"/>
          </a:p>
        </p:txBody>
      </p:sp>
      <p:sp>
        <p:nvSpPr>
          <p:cNvPr id="47" name="Text 44"/>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an appropriate greeting</a:t>
            </a:r>
            <a:endParaRPr lang="en-US" sz="1350" dirty="0"/>
          </a:p>
          <a:p>
            <a:pPr indent="0" marL="0">
              <a:buNone/>
            </a:pPr>
            <a:r>
              <a:rPr lang="en-US" sz="1100" i="1" dirty="0">
                <a:solidFill>
                  <a:srgbClr val="5A6472"/>
                </a:solidFill>
                <a:latin typeface="Calibri" pitchFamily="34" charset="0"/>
                <a:cs typeface="Amiri" pitchFamily="2" charset="-78"/>
              </a:rPr>
              <a:t>ta-ḥiy-ya-tun mu-nā-si-ba-tun</a:t>
            </a:r>
            <a:endParaRPr lang="en-US" sz="1350" dirty="0"/>
          </a:p>
        </p:txBody>
      </p:sp>
      <p:sp>
        <p:nvSpPr>
          <p:cNvPr id="48" name="Shape 45"/>
          <p:cNvSpPr/>
          <p:nvPr/>
        </p:nvSpPr>
        <p:spPr>
          <a:xfrm>
            <a:off x="594360" y="3438144"/>
            <a:ext cx="3364992" cy="438912"/>
          </a:xfrm>
          <a:prstGeom prst="roundRect">
            <a:avLst>
              <a:gd name="adj" fmla="val 10417"/>
            </a:avLst>
          </a:prstGeom>
          <a:solidFill>
            <a:srgbClr val="F4F1EA"/>
          </a:solidFill>
          <a:ln w="9525">
            <a:solidFill>
              <a:srgbClr val="F4F1EA"/>
            </a:solidFill>
            <a:prstDash val="solid"/>
          </a:ln>
        </p:spPr>
      </p:sp>
      <p:sp>
        <p:nvSpPr>
          <p:cNvPr id="49" name="Text 46"/>
          <p:cNvSpPr txBox="1"/>
          <p:nvPr/>
        </p:nvSpPr>
        <p:spPr>
          <a:xfrm>
            <a:off x="649224"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50" name="Text 47"/>
          <p:cNvSpPr txBox="1"/>
          <p:nvPr/>
        </p:nvSpPr>
        <p:spPr>
          <a:xfrm>
            <a:off x="640080"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تَحِيَّاتٌ مُنَاسِبَةٌ</a:t>
            </a:r>
            <a:endParaRPr lang="ar-SA" sz="1500" dirty="0"/>
          </a:p>
        </p:txBody>
      </p:sp>
      <p:sp>
        <p:nvSpPr>
          <p:cNvPr id="51" name="Shape 48"/>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2" name="Shape 49"/>
          <p:cNvSpPr/>
          <p:nvPr/>
        </p:nvSpPr>
        <p:spPr>
          <a:xfrm>
            <a:off x="8211312" y="4261104"/>
            <a:ext cx="310896" cy="310896"/>
          </a:xfrm>
          <a:prstGeom prst="ellipse">
            <a:avLst/>
          </a:prstGeom>
          <a:solidFill>
            <a:srgbClr val="F4F1EA"/>
          </a:solidFill>
          <a:ln w="12700">
            <a:solidFill>
              <a:srgbClr val="F4F1EA"/>
            </a:solidFill>
            <a:prstDash val="solid"/>
          </a:ln>
        </p:spPr>
      </p:sp>
      <p:sp>
        <p:nvSpPr>
          <p:cNvPr id="53" name="Text 50"/>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16</a:t>
            </a:r>
            <a:endParaRPr lang="en-US" sz="1000" dirty="0"/>
          </a:p>
        </p:txBody>
      </p:sp>
      <p:sp>
        <p:nvSpPr>
          <p:cNvPr id="54" name="Text 51"/>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التَّصْوِيرُ</a:t>
            </a:r>
            <a:endParaRPr lang="ar-SA" sz="3000" dirty="0"/>
          </a:p>
        </p:txBody>
      </p:sp>
      <p:sp>
        <p:nvSpPr>
          <p:cNvPr id="55" name="Text 52"/>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photography</a:t>
            </a:r>
            <a:endParaRPr lang="en-US" sz="1350" dirty="0"/>
          </a:p>
          <a:p>
            <a:pPr indent="0" marL="0">
              <a:buNone/>
            </a:pPr>
            <a:r>
              <a:rPr lang="en-US" sz="1100" i="1" dirty="0">
                <a:solidFill>
                  <a:srgbClr val="5A6472"/>
                </a:solidFill>
                <a:latin typeface="Calibri" pitchFamily="34" charset="0"/>
                <a:cs typeface="Amiri" pitchFamily="2" charset="-78"/>
              </a:rPr>
              <a:t>at-taṣ-wī-ru</a:t>
            </a:r>
            <a:endParaRPr lang="en-US" sz="1350" dirty="0"/>
          </a:p>
        </p:txBody>
      </p:sp>
      <p:sp>
        <p:nvSpPr>
          <p:cNvPr id="56" name="Text 5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49</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P3-L07 · Culture</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00" b="1" dirty="0">
                <a:solidFill>
                  <a:srgbClr val="1B3B6F"/>
                </a:solidFill>
                <a:latin typeface="Cambria" pitchFamily="34" charset="0"/>
                <a:cs typeface="Amiri" pitchFamily="2" charset="-78"/>
              </a:rPr>
              <a:t>The subjunctive after </a:t>
            </a:r>
            <a:pPr algn="l" indent="0" marL="0">
              <a:buNone/>
            </a:pPr>
            <a:r>
              <a:rPr lang="ar-SA" altLang="en-US" sz="3500" b="1" dirty="0">
                <a:solidFill>
                  <a:srgbClr val="1B3B6F"/>
                </a:solidFill>
                <a:latin typeface="Amiri" pitchFamily="2" charset="-78"/>
                <a:ea typeface="Amiri" pitchFamily="2" charset="-78"/>
                <a:cs typeface="Amiri" pitchFamily="2" charset="-78"/>
              </a:rPr>
              <a:t>أَنْ</a:t>
            </a:r>
            <a:pPr algn="l" indent="0" marL="0">
              <a:buNone/>
            </a:pPr>
            <a:r>
              <a:rPr lang="en-US" sz="2700" b="1" dirty="0">
                <a:solidFill>
                  <a:srgbClr val="1B3B6F"/>
                </a:solidFill>
                <a:latin typeface="Cambria" pitchFamily="34" charset="0"/>
                <a:cs typeface="Amiri" pitchFamily="2" charset="-78"/>
              </a:rPr>
              <a:t> (1 of 2)</a:t>
            </a:r>
            <a:endParaRPr lang="en-US" sz="27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P3-L07</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17</a:t>
            </a:r>
            <a:endParaRPr lang="en-US" sz="1000" dirty="0"/>
          </a:p>
        </p:txBody>
      </p:sp>
      <p:sp>
        <p:nvSpPr>
          <p:cNvPr id="20" name="Shape 17"/>
          <p:cNvSpPr/>
          <p:nvPr/>
        </p:nvSpPr>
        <p:spPr>
          <a:xfrm>
            <a:off x="8604504" y="1938528"/>
            <a:ext cx="771754" cy="256032"/>
          </a:xfrm>
          <a:prstGeom prst="roundRect">
            <a:avLst>
              <a:gd name="adj" fmla="val 50000"/>
            </a:avLst>
          </a:prstGeom>
          <a:solidFill>
            <a:srgbClr val="EFE7D2"/>
          </a:solidFill>
          <a:ln w="12700">
            <a:solidFill>
              <a:srgbClr val="EFE7D2"/>
            </a:solidFill>
            <a:prstDash val="solid"/>
          </a:ln>
        </p:spPr>
      </p:sp>
      <p:sp>
        <p:nvSpPr>
          <p:cNvPr id="21" name="Text 18"/>
          <p:cNvSpPr txBox="1"/>
          <p:nvPr/>
        </p:nvSpPr>
        <p:spPr>
          <a:xfrm>
            <a:off x="8604504" y="1938528"/>
            <a:ext cx="77175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he · you</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يُسْتَحْسَنُ أَنْ يَتَعَلَّمَ</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it is preferable he learns</a:t>
            </a:r>
            <a:endParaRPr lang="en-US" sz="1350" dirty="0"/>
          </a:p>
          <a:p>
            <a:pPr indent="0" marL="0">
              <a:buNone/>
            </a:pPr>
            <a:r>
              <a:rPr lang="en-US" sz="1100" i="1" dirty="0">
                <a:solidFill>
                  <a:srgbClr val="5A6472"/>
                </a:solidFill>
                <a:latin typeface="Calibri" pitchFamily="34" charset="0"/>
                <a:cs typeface="Amiri" pitchFamily="2" charset="-78"/>
              </a:rPr>
              <a:t>yus-taḥ-sa-nu an ya-ta-ʿal-la-ma</a:t>
            </a:r>
            <a:endParaRPr lang="en-US" sz="1350" dirty="0"/>
          </a:p>
        </p:txBody>
      </p:sp>
      <p:sp>
        <p:nvSpPr>
          <p:cNvPr id="24" name="Shape 21"/>
          <p:cNvSpPr/>
          <p:nvPr/>
        </p:nvSpPr>
        <p:spPr>
          <a:xfrm>
            <a:off x="8238744" y="3438144"/>
            <a:ext cx="3364992"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8293608" y="3447288"/>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you (m.)</a:t>
            </a:r>
            <a:endParaRPr lang="en-US" sz="700" dirty="0"/>
          </a:p>
        </p:txBody>
      </p:sp>
      <p:sp>
        <p:nvSpPr>
          <p:cNvPr id="26" name="Text 23"/>
          <p:cNvSpPr txBox="1"/>
          <p:nvPr/>
        </p:nvSpPr>
        <p:spPr>
          <a:xfrm>
            <a:off x="8284464" y="3575304"/>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يُسْتَحْسَنُ أَنْ تَتَعَلَّمَ</a:t>
            </a:r>
            <a:endParaRPr lang="ar-SA" sz="1350" dirty="0"/>
          </a:p>
        </p:txBody>
      </p:sp>
      <p:sp>
        <p:nvSpPr>
          <p:cNvPr id="27" name="Shape 24"/>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4389120"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18</a:t>
            </a:r>
            <a:endParaRPr lang="en-US" sz="1000" dirty="0"/>
          </a:p>
        </p:txBody>
      </p:sp>
      <p:sp>
        <p:nvSpPr>
          <p:cNvPr id="30" name="Shape 27"/>
          <p:cNvSpPr/>
          <p:nvPr/>
        </p:nvSpPr>
        <p:spPr>
          <a:xfrm>
            <a:off x="4782312" y="1938528"/>
            <a:ext cx="771754" cy="256032"/>
          </a:xfrm>
          <a:prstGeom prst="roundRect">
            <a:avLst>
              <a:gd name="adj" fmla="val 50000"/>
            </a:avLst>
          </a:prstGeom>
          <a:solidFill>
            <a:srgbClr val="EFE7D2"/>
          </a:solidFill>
          <a:ln w="12700">
            <a:solidFill>
              <a:srgbClr val="EFE7D2"/>
            </a:solidFill>
            <a:prstDash val="solid"/>
          </a:ln>
        </p:spPr>
      </p:sp>
      <p:sp>
        <p:nvSpPr>
          <p:cNvPr id="31" name="Text 28"/>
          <p:cNvSpPr txBox="1"/>
          <p:nvPr/>
        </p:nvSpPr>
        <p:spPr>
          <a:xfrm>
            <a:off x="4782312" y="1938528"/>
            <a:ext cx="77175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he · you</a:t>
            </a:r>
            <a:endParaRPr lang="en-US" sz="800" dirty="0"/>
          </a:p>
        </p:txBody>
      </p:sp>
      <p:sp>
        <p:nvSpPr>
          <p:cNvPr id="32" name="Text 29"/>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يُسْتَحْسَنُ أَنْ يَحْتَرِمَ</a:t>
            </a:r>
            <a:endParaRPr lang="ar-SA" sz="3000" dirty="0"/>
          </a:p>
        </p:txBody>
      </p:sp>
      <p:sp>
        <p:nvSpPr>
          <p:cNvPr id="33" name="Text 30"/>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it is preferable he respects</a:t>
            </a:r>
            <a:endParaRPr lang="en-US" sz="1350" dirty="0"/>
          </a:p>
          <a:p>
            <a:pPr indent="0" marL="0">
              <a:buNone/>
            </a:pPr>
            <a:r>
              <a:rPr lang="en-US" sz="1100" i="1" dirty="0">
                <a:solidFill>
                  <a:srgbClr val="5A6472"/>
                </a:solidFill>
                <a:latin typeface="Calibri" pitchFamily="34" charset="0"/>
                <a:cs typeface="Amiri" pitchFamily="2" charset="-78"/>
              </a:rPr>
              <a:t>yus-taḥ-sa-nu an yaḥ-ta-ri-ma</a:t>
            </a:r>
            <a:endParaRPr lang="en-US" sz="1350" dirty="0"/>
          </a:p>
        </p:txBody>
      </p:sp>
      <p:sp>
        <p:nvSpPr>
          <p:cNvPr id="34" name="Shape 31"/>
          <p:cNvSpPr/>
          <p:nvPr/>
        </p:nvSpPr>
        <p:spPr>
          <a:xfrm>
            <a:off x="4416552" y="3438144"/>
            <a:ext cx="3364992" cy="438912"/>
          </a:xfrm>
          <a:prstGeom prst="roundRect">
            <a:avLst>
              <a:gd name="adj" fmla="val 10417"/>
            </a:avLst>
          </a:prstGeom>
          <a:solidFill>
            <a:srgbClr val="F4F1EA"/>
          </a:solidFill>
          <a:ln w="9525">
            <a:solidFill>
              <a:srgbClr val="F4F1EA"/>
            </a:solidFill>
            <a:prstDash val="solid"/>
          </a:ln>
        </p:spPr>
      </p:sp>
      <p:sp>
        <p:nvSpPr>
          <p:cNvPr id="35" name="Text 32"/>
          <p:cNvSpPr txBox="1"/>
          <p:nvPr/>
        </p:nvSpPr>
        <p:spPr>
          <a:xfrm>
            <a:off x="4471416" y="3447288"/>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you (m.)</a:t>
            </a:r>
            <a:endParaRPr lang="en-US" sz="700" dirty="0"/>
          </a:p>
        </p:txBody>
      </p:sp>
      <p:sp>
        <p:nvSpPr>
          <p:cNvPr id="36" name="Text 33"/>
          <p:cNvSpPr txBox="1"/>
          <p:nvPr/>
        </p:nvSpPr>
        <p:spPr>
          <a:xfrm>
            <a:off x="4462272" y="3575304"/>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يُسْتَحْسَنُ أَنْ تَحْتَرِمَ</a:t>
            </a:r>
            <a:endParaRPr lang="ar-SA" sz="1350" dirty="0"/>
          </a:p>
        </p:txBody>
      </p:sp>
      <p:sp>
        <p:nvSpPr>
          <p:cNvPr id="37" name="Shape 3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566928" y="1920240"/>
            <a:ext cx="310896" cy="310896"/>
          </a:xfrm>
          <a:prstGeom prst="ellipse">
            <a:avLst/>
          </a:prstGeom>
          <a:solidFill>
            <a:srgbClr val="F4F1EA"/>
          </a:solidFill>
          <a:ln w="12700">
            <a:solidFill>
              <a:srgbClr val="F4F1EA"/>
            </a:solidFill>
            <a:prstDash val="solid"/>
          </a:ln>
        </p:spPr>
      </p:sp>
      <p:sp>
        <p:nvSpPr>
          <p:cNvPr id="39" name="Text 3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19</a:t>
            </a:r>
            <a:endParaRPr lang="en-US" sz="1000" dirty="0"/>
          </a:p>
        </p:txBody>
      </p:sp>
      <p:sp>
        <p:nvSpPr>
          <p:cNvPr id="40" name="Shape 37"/>
          <p:cNvSpPr/>
          <p:nvPr/>
        </p:nvSpPr>
        <p:spPr>
          <a:xfrm>
            <a:off x="960120" y="1938528"/>
            <a:ext cx="771754" cy="256032"/>
          </a:xfrm>
          <a:prstGeom prst="roundRect">
            <a:avLst>
              <a:gd name="adj" fmla="val 50000"/>
            </a:avLst>
          </a:prstGeom>
          <a:solidFill>
            <a:srgbClr val="EFE7D2"/>
          </a:solidFill>
          <a:ln w="12700">
            <a:solidFill>
              <a:srgbClr val="EFE7D2"/>
            </a:solidFill>
            <a:prstDash val="solid"/>
          </a:ln>
        </p:spPr>
      </p:sp>
      <p:sp>
        <p:nvSpPr>
          <p:cNvPr id="41" name="Text 38"/>
          <p:cNvSpPr txBox="1"/>
          <p:nvPr/>
        </p:nvSpPr>
        <p:spPr>
          <a:xfrm>
            <a:off x="960120" y="1938528"/>
            <a:ext cx="77175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he · you</a:t>
            </a:r>
            <a:endParaRPr lang="en-US" sz="800" dirty="0"/>
          </a:p>
        </p:txBody>
      </p:sp>
      <p:sp>
        <p:nvSpPr>
          <p:cNvPr id="42" name="Text 39"/>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يُسْتَحْسَنُ أَنْ يَرْتَدِيَ</a:t>
            </a:r>
            <a:endParaRPr lang="ar-SA" sz="3000" dirty="0"/>
          </a:p>
        </p:txBody>
      </p:sp>
      <p:sp>
        <p:nvSpPr>
          <p:cNvPr id="43" name="Text 40"/>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it is preferable he wears</a:t>
            </a:r>
            <a:endParaRPr lang="en-US" sz="1350" dirty="0"/>
          </a:p>
          <a:p>
            <a:pPr indent="0" marL="0">
              <a:buNone/>
            </a:pPr>
            <a:r>
              <a:rPr lang="en-US" sz="1100" i="1" dirty="0">
                <a:solidFill>
                  <a:srgbClr val="5A6472"/>
                </a:solidFill>
                <a:latin typeface="Calibri" pitchFamily="34" charset="0"/>
                <a:cs typeface="Amiri" pitchFamily="2" charset="-78"/>
              </a:rPr>
              <a:t>yus-taḥ-sa-nu an yar-ta-di-ya</a:t>
            </a:r>
            <a:endParaRPr lang="en-US" sz="1350" dirty="0"/>
          </a:p>
        </p:txBody>
      </p:sp>
      <p:sp>
        <p:nvSpPr>
          <p:cNvPr id="44" name="Shape 41"/>
          <p:cNvSpPr/>
          <p:nvPr/>
        </p:nvSpPr>
        <p:spPr>
          <a:xfrm>
            <a:off x="594360" y="3438144"/>
            <a:ext cx="3364992" cy="438912"/>
          </a:xfrm>
          <a:prstGeom prst="roundRect">
            <a:avLst>
              <a:gd name="adj" fmla="val 10417"/>
            </a:avLst>
          </a:prstGeom>
          <a:solidFill>
            <a:srgbClr val="F4F1EA"/>
          </a:solidFill>
          <a:ln w="9525">
            <a:solidFill>
              <a:srgbClr val="F4F1EA"/>
            </a:solidFill>
            <a:prstDash val="solid"/>
          </a:ln>
        </p:spPr>
      </p:sp>
      <p:sp>
        <p:nvSpPr>
          <p:cNvPr id="45" name="Text 42"/>
          <p:cNvSpPr txBox="1"/>
          <p:nvPr/>
        </p:nvSpPr>
        <p:spPr>
          <a:xfrm>
            <a:off x="649224" y="3447288"/>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you (m.)</a:t>
            </a:r>
            <a:endParaRPr lang="en-US" sz="700" dirty="0"/>
          </a:p>
        </p:txBody>
      </p:sp>
      <p:sp>
        <p:nvSpPr>
          <p:cNvPr id="46" name="Text 43"/>
          <p:cNvSpPr txBox="1"/>
          <p:nvPr/>
        </p:nvSpPr>
        <p:spPr>
          <a:xfrm>
            <a:off x="640080" y="3575304"/>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يُسْتَحْسَنُ أَنْ تَرْتَدِيَ</a:t>
            </a:r>
            <a:endParaRPr lang="ar-SA" sz="1350" dirty="0"/>
          </a:p>
        </p:txBody>
      </p:sp>
      <p:sp>
        <p:nvSpPr>
          <p:cNvPr id="47" name="Shape 44"/>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8211312" y="4261104"/>
            <a:ext cx="310896" cy="310896"/>
          </a:xfrm>
          <a:prstGeom prst="ellipse">
            <a:avLst/>
          </a:prstGeom>
          <a:solidFill>
            <a:srgbClr val="F4F1EA"/>
          </a:solidFill>
          <a:ln w="12700">
            <a:solidFill>
              <a:srgbClr val="F4F1EA"/>
            </a:solidFill>
            <a:prstDash val="solid"/>
          </a:ln>
        </p:spPr>
      </p:sp>
      <p:sp>
        <p:nvSpPr>
          <p:cNvPr id="49" name="Text 46"/>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20</a:t>
            </a:r>
            <a:endParaRPr lang="en-US" sz="1000" dirty="0"/>
          </a:p>
        </p:txBody>
      </p:sp>
      <p:sp>
        <p:nvSpPr>
          <p:cNvPr id="50" name="Text 47"/>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الفِعْلُ المَنْصُوبُ</a:t>
            </a:r>
            <a:endParaRPr lang="ar-SA" sz="3000" dirty="0"/>
          </a:p>
        </p:txBody>
      </p:sp>
      <p:sp>
        <p:nvSpPr>
          <p:cNvPr id="51" name="Text 48"/>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subjunctive verb</a:t>
            </a:r>
            <a:endParaRPr lang="en-US" sz="1350" dirty="0"/>
          </a:p>
          <a:p>
            <a:pPr indent="0" marL="0">
              <a:buNone/>
            </a:pPr>
            <a:r>
              <a:rPr lang="en-US" sz="1100" i="1" dirty="0">
                <a:solidFill>
                  <a:srgbClr val="5A6472"/>
                </a:solidFill>
                <a:latin typeface="Calibri" pitchFamily="34" charset="0"/>
                <a:cs typeface="Amiri" pitchFamily="2" charset="-78"/>
              </a:rPr>
              <a:t>al-fiʿ-lu al-man-ṣū-bu</a:t>
            </a:r>
            <a:endParaRPr lang="en-US" sz="1350" dirty="0"/>
          </a:p>
        </p:txBody>
      </p:sp>
      <p:sp>
        <p:nvSpPr>
          <p:cNvPr id="52" name="Text 4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49</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P3-L07 · Culture</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00" b="1" dirty="0">
                <a:solidFill>
                  <a:srgbClr val="1B3B6F"/>
                </a:solidFill>
                <a:latin typeface="Cambria" pitchFamily="34" charset="0"/>
                <a:cs typeface="Amiri" pitchFamily="2" charset="-78"/>
              </a:rPr>
              <a:t>The subjunctive after </a:t>
            </a:r>
            <a:pPr algn="l" indent="0" marL="0">
              <a:buNone/>
            </a:pPr>
            <a:r>
              <a:rPr lang="ar-SA" altLang="en-US" sz="3500" b="1" dirty="0">
                <a:solidFill>
                  <a:srgbClr val="1B3B6F"/>
                </a:solidFill>
                <a:latin typeface="Amiri" pitchFamily="2" charset="-78"/>
                <a:ea typeface="Amiri" pitchFamily="2" charset="-78"/>
                <a:cs typeface="Amiri" pitchFamily="2" charset="-78"/>
              </a:rPr>
              <a:t>أَنْ</a:t>
            </a:r>
            <a:pPr algn="l" indent="0" marL="0">
              <a:buNone/>
            </a:pPr>
            <a:r>
              <a:rPr lang="en-US" sz="2700" b="1" dirty="0">
                <a:solidFill>
                  <a:srgbClr val="1B3B6F"/>
                </a:solidFill>
                <a:latin typeface="Cambria" pitchFamily="34" charset="0"/>
                <a:cs typeface="Amiri" pitchFamily="2" charset="-78"/>
              </a:rPr>
              <a:t> (2 of 2)</a:t>
            </a:r>
            <a:endParaRPr lang="en-US" sz="27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P3-L07</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21</a:t>
            </a:r>
            <a:endParaRPr lang="en-US" sz="10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أَنْ</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subjunctive trigger</a:t>
            </a:r>
            <a:endParaRPr lang="en-US" sz="1350" dirty="0"/>
          </a:p>
          <a:p>
            <a:pPr indent="0" marL="0">
              <a:buNone/>
            </a:pPr>
            <a:r>
              <a:rPr lang="en-US" sz="1100" i="1" dirty="0">
                <a:solidFill>
                  <a:srgbClr val="5A6472"/>
                </a:solidFill>
                <a:latin typeface="Calibri" pitchFamily="34" charset="0"/>
                <a:cs typeface="Amiri" pitchFamily="2" charset="-78"/>
              </a:rPr>
              <a:t>an</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22</a:t>
            </a:r>
            <a:endParaRPr lang="en-US" sz="10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فَتْحَةُ النَّصْبِ</a:t>
            </a:r>
            <a:endParaRPr lang="ar-SA" sz="300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subjunctive fatḥa</a:t>
            </a:r>
            <a:endParaRPr lang="en-US" sz="1350" dirty="0"/>
          </a:p>
          <a:p>
            <a:pPr indent="0" marL="0">
              <a:buNone/>
            </a:pPr>
            <a:r>
              <a:rPr lang="en-US" sz="1100" i="1" dirty="0">
                <a:solidFill>
                  <a:srgbClr val="5A6472"/>
                </a:solidFill>
                <a:latin typeface="Calibri" pitchFamily="34" charset="0"/>
                <a:cs typeface="Amiri" pitchFamily="2" charset="-78"/>
              </a:rPr>
              <a:t>fat-ḥa-tu an-naṣ-bi</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23</a:t>
            </a:r>
            <a:endParaRPr lang="en-US" sz="1000" dirty="0"/>
          </a:p>
        </p:txBody>
      </p:sp>
      <p:sp>
        <p:nvSpPr>
          <p:cNvPr id="30" name="Text 27"/>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التَّبَادُلُ الثَّقَافِيُّ</a:t>
            </a:r>
            <a:endParaRPr lang="ar-SA" sz="3000" dirty="0"/>
          </a:p>
        </p:txBody>
      </p:sp>
      <p:sp>
        <p:nvSpPr>
          <p:cNvPr id="31" name="Text 28"/>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cultural exchange</a:t>
            </a:r>
            <a:endParaRPr lang="en-US" sz="1350" dirty="0"/>
          </a:p>
          <a:p>
            <a:pPr indent="0" marL="0">
              <a:buNone/>
            </a:pPr>
            <a:r>
              <a:rPr lang="en-US" sz="1100" i="1" dirty="0">
                <a:solidFill>
                  <a:srgbClr val="5A6472"/>
                </a:solidFill>
                <a:latin typeface="Calibri" pitchFamily="34" charset="0"/>
                <a:cs typeface="Amiri" pitchFamily="2" charset="-78"/>
              </a:rPr>
              <a:t>at-ta-bā-du-lu ath-tha-qā-fiy-yu</a:t>
            </a:r>
            <a:endParaRPr lang="en-US" sz="1350" dirty="0"/>
          </a:p>
        </p:txBody>
      </p:sp>
      <p:sp>
        <p:nvSpPr>
          <p:cNvPr id="32" name="Shape 2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8211312" y="4261104"/>
            <a:ext cx="310896" cy="310896"/>
          </a:xfrm>
          <a:prstGeom prst="ellipse">
            <a:avLst/>
          </a:prstGeom>
          <a:solidFill>
            <a:srgbClr val="F4F1EA"/>
          </a:solidFill>
          <a:ln w="12700">
            <a:solidFill>
              <a:srgbClr val="F4F1EA"/>
            </a:solidFill>
            <a:prstDash val="solid"/>
          </a:ln>
        </p:spPr>
      </p:sp>
      <p:sp>
        <p:nvSpPr>
          <p:cNvPr id="34" name="Text 3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24</a:t>
            </a:r>
            <a:endParaRPr lang="en-US" sz="1000" dirty="0"/>
          </a:p>
        </p:txBody>
      </p:sp>
      <p:sp>
        <p:nvSpPr>
          <p:cNvPr id="35" name="Shape 32"/>
          <p:cNvSpPr/>
          <p:nvPr/>
        </p:nvSpPr>
        <p:spPr>
          <a:xfrm>
            <a:off x="8604504" y="4279392"/>
            <a:ext cx="709574" cy="256032"/>
          </a:xfrm>
          <a:prstGeom prst="roundRect">
            <a:avLst>
              <a:gd name="adj" fmla="val 50000"/>
            </a:avLst>
          </a:prstGeom>
          <a:solidFill>
            <a:srgbClr val="EFE7D2"/>
          </a:solidFill>
          <a:ln w="12700">
            <a:solidFill>
              <a:srgbClr val="EFE7D2"/>
            </a:solidFill>
            <a:prstDash val="solid"/>
          </a:ln>
        </p:spPr>
      </p:sp>
      <p:sp>
        <p:nvSpPr>
          <p:cNvPr id="36" name="Text 33"/>
          <p:cNvSpPr txBox="1"/>
          <p:nvPr/>
        </p:nvSpPr>
        <p:spPr>
          <a:xfrm>
            <a:off x="8604504" y="4279392"/>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37" name="Text 34"/>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بَادِرَةُ احْتِرَامٍ</a:t>
            </a:r>
            <a:endParaRPr lang="ar-SA" sz="3000" dirty="0"/>
          </a:p>
        </p:txBody>
      </p:sp>
      <p:sp>
        <p:nvSpPr>
          <p:cNvPr id="38" name="Text 35"/>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gesture of respect</a:t>
            </a:r>
            <a:endParaRPr lang="en-US" sz="1350" dirty="0"/>
          </a:p>
          <a:p>
            <a:pPr indent="0" marL="0">
              <a:buNone/>
            </a:pPr>
            <a:r>
              <a:rPr lang="en-US" sz="1100" i="1" dirty="0">
                <a:solidFill>
                  <a:srgbClr val="5A6472"/>
                </a:solidFill>
                <a:latin typeface="Calibri" pitchFamily="34" charset="0"/>
                <a:cs typeface="Amiri" pitchFamily="2" charset="-78"/>
              </a:rPr>
              <a:t>bā-di-ra-tu aḥ-ti-rā-min</a:t>
            </a:r>
            <a:endParaRPr lang="en-US" sz="1350" dirty="0"/>
          </a:p>
        </p:txBody>
      </p:sp>
      <p:sp>
        <p:nvSpPr>
          <p:cNvPr id="39" name="Shape 36"/>
          <p:cNvSpPr/>
          <p:nvPr/>
        </p:nvSpPr>
        <p:spPr>
          <a:xfrm>
            <a:off x="8238744" y="5779008"/>
            <a:ext cx="3364992" cy="438912"/>
          </a:xfrm>
          <a:prstGeom prst="roundRect">
            <a:avLst>
              <a:gd name="adj" fmla="val 10417"/>
            </a:avLst>
          </a:prstGeom>
          <a:solidFill>
            <a:srgbClr val="F4F1EA"/>
          </a:solidFill>
          <a:ln w="9525">
            <a:solidFill>
              <a:srgbClr val="F4F1EA"/>
            </a:solidFill>
            <a:prstDash val="solid"/>
          </a:ln>
        </p:spPr>
      </p:sp>
      <p:sp>
        <p:nvSpPr>
          <p:cNvPr id="40" name="Text 37"/>
          <p:cNvSpPr txBox="1"/>
          <p:nvPr/>
        </p:nvSpPr>
        <p:spPr>
          <a:xfrm>
            <a:off x="8293608" y="5788152"/>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41" name="Text 38"/>
          <p:cNvSpPr txBox="1"/>
          <p:nvPr/>
        </p:nvSpPr>
        <p:spPr>
          <a:xfrm>
            <a:off x="8284464" y="5824728"/>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بَوَادِرُ احْتِرَامٍ</a:t>
            </a:r>
            <a:endParaRPr lang="ar-SA" sz="150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49</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P3-L07 · Culture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1B3B6F"/>
                </a:solidFill>
                <a:latin typeface="Calibri" pitchFamily="34" charset="0"/>
                <a:cs typeface="Amiri" pitchFamily="2" charset="-78"/>
              </a:rPr>
              <a:t>GRAMMAR FOCUS · PART 1 · FOUR WAYS TO GUIDE A VISITOR (WEBSITE RULES 1–3 + TABLE) · CORE</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Advise, require, forbid, allow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650" b="1" dirty="0">
                <a:solidFill>
                  <a:srgbClr val="8A6D1E"/>
                </a:solidFill>
                <a:latin typeface="Amiri" pitchFamily="2" charset="-78"/>
                <a:ea typeface="Amiri" pitchFamily="2" charset="-78"/>
                <a:cs typeface="Amiri" pitchFamily="2" charset="-78"/>
              </a:rPr>
              <a:t>النُّصْحُ · الوُجُوبُ · الحَظْرُ · السَّمَاحُ</a:t>
            </a:r>
            <a:endParaRPr lang="ar-SA" sz="265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P3-L07</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6291072" y="1810512"/>
            <a:ext cx="53675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Example (website)</a:t>
            </a:r>
            <a:endParaRPr lang="en-US" sz="1100" dirty="0"/>
          </a:p>
        </p:txBody>
      </p:sp>
      <p:sp>
        <p:nvSpPr>
          <p:cNvPr id="17" name="Text 14"/>
          <p:cNvSpPr txBox="1"/>
          <p:nvPr/>
        </p:nvSpPr>
        <p:spPr>
          <a:xfrm>
            <a:off x="4462272" y="1810512"/>
            <a:ext cx="16824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What follows</a:t>
            </a:r>
            <a:endParaRPr lang="en-US" sz="1100" dirty="0"/>
          </a:p>
        </p:txBody>
      </p:sp>
      <p:sp>
        <p:nvSpPr>
          <p:cNvPr id="18" name="Text 15"/>
          <p:cNvSpPr txBox="1"/>
          <p:nvPr/>
        </p:nvSpPr>
        <p:spPr>
          <a:xfrm>
            <a:off x="2724912" y="1810512"/>
            <a:ext cx="1591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Force</a:t>
            </a:r>
            <a:endParaRPr lang="en-US" sz="1100" dirty="0"/>
          </a:p>
        </p:txBody>
      </p:sp>
      <p:sp>
        <p:nvSpPr>
          <p:cNvPr id="19" name="Text 16"/>
          <p:cNvSpPr txBox="1"/>
          <p:nvPr/>
        </p:nvSpPr>
        <p:spPr>
          <a:xfrm>
            <a:off x="530352" y="1810512"/>
            <a:ext cx="20482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Verb</a:t>
            </a:r>
            <a:endParaRPr lang="en-US" sz="1100" dirty="0"/>
          </a:p>
        </p:txBody>
      </p:sp>
      <p:sp>
        <p:nvSpPr>
          <p:cNvPr id="20" name="Shape 17"/>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1" name="Text 18"/>
          <p:cNvSpPr txBox="1"/>
          <p:nvPr/>
        </p:nvSpPr>
        <p:spPr>
          <a:xfrm>
            <a:off x="6309360" y="2267712"/>
            <a:ext cx="5330952" cy="731520"/>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يُسْتَحْسَنُ أَنْ </a:t>
            </a:r>
            <a:pPr rtl="1" algn="ctr" indent="0" marL="0">
              <a:buNone/>
            </a:pPr>
            <a:r>
              <a:rPr lang="ar-SA" altLang="en-US" sz="1900" b="1" dirty="0">
                <a:solidFill>
                  <a:srgbClr val="0E7C86"/>
                </a:solidFill>
                <a:latin typeface="Amiri" pitchFamily="2" charset="-78"/>
                <a:ea typeface="Amiri" pitchFamily="2" charset="-78"/>
                <a:cs typeface="Amiri" pitchFamily="2" charset="-78"/>
              </a:rPr>
              <a:t>يَتَعَلَّمَ</a:t>
            </a:r>
            <a:pPr rtl="1" algn="ctr" indent="0" marL="0">
              <a:buNone/>
            </a:pPr>
            <a:r>
              <a:rPr lang="ar-SA" altLang="en-US" sz="1900" b="1" dirty="0">
                <a:solidFill>
                  <a:srgbClr val="1B3B6F"/>
                </a:solidFill>
                <a:latin typeface="Amiri" pitchFamily="2" charset="-78"/>
                <a:ea typeface="Amiri" pitchFamily="2" charset="-78"/>
                <a:cs typeface="Amiri" pitchFamily="2" charset="-78"/>
              </a:rPr>
              <a:t> الزَّائِرُ تَحِيَّةً عَرَبِيَّةً.</a:t>
            </a:r>
            <a:endParaRPr lang="ar-SA" sz="1900" dirty="0"/>
          </a:p>
        </p:txBody>
      </p:sp>
      <p:sp>
        <p:nvSpPr>
          <p:cNvPr id="22" name="Text 19"/>
          <p:cNvSpPr txBox="1"/>
          <p:nvPr/>
        </p:nvSpPr>
        <p:spPr>
          <a:xfrm>
            <a:off x="4498848" y="2267712"/>
            <a:ext cx="164592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verb in -a</a:t>
            </a:r>
            <a:endParaRPr lang="en-US" sz="1100" dirty="0"/>
          </a:p>
        </p:txBody>
      </p:sp>
      <p:sp>
        <p:nvSpPr>
          <p:cNvPr id="23" name="Text 20"/>
          <p:cNvSpPr txBox="1"/>
          <p:nvPr/>
        </p:nvSpPr>
        <p:spPr>
          <a:xfrm>
            <a:off x="2761488" y="2267712"/>
            <a:ext cx="15544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polite advice</a:t>
            </a:r>
            <a:endParaRPr lang="en-US" sz="1100" dirty="0"/>
          </a:p>
        </p:txBody>
      </p:sp>
      <p:sp>
        <p:nvSpPr>
          <p:cNvPr id="24" name="Text 21"/>
          <p:cNvSpPr txBox="1"/>
          <p:nvPr/>
        </p:nvSpPr>
        <p:spPr>
          <a:xfrm>
            <a:off x="548640" y="2267712"/>
            <a:ext cx="2011680" cy="731520"/>
          </a:xfrm>
          <a:prstGeom prst="rect">
            <a:avLst/>
          </a:prstGeom>
          <a:noFill/>
          <a:ln/>
        </p:spPr>
        <p:txBody>
          <a:bodyPr wrap="square" lIns="0" tIns="0" rIns="0" bIns="0" rtlCol="0" anchor="ctr"/>
          <a:lstStyle/>
          <a:p>
            <a:pPr rtl="1" algn="ctr" indent="0" marL="0">
              <a:buNone/>
            </a:pPr>
            <a:r>
              <a:rPr lang="ar-SA" altLang="en-US" sz="2000" b="1" dirty="0">
                <a:solidFill>
                  <a:srgbClr val="0E7C86"/>
                </a:solidFill>
                <a:latin typeface="Amiri" pitchFamily="2" charset="-78"/>
                <a:ea typeface="Amiri" pitchFamily="2" charset="-78"/>
                <a:cs typeface="Amiri" pitchFamily="2" charset="-78"/>
              </a:rPr>
              <a:t>يُسْتَحْسَنُ أَنْ</a:t>
            </a:r>
            <a:endParaRPr lang="ar-SA" sz="20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8" name="Text 25"/>
          <p:cNvSpPr txBox="1"/>
          <p:nvPr/>
        </p:nvSpPr>
        <p:spPr>
          <a:xfrm>
            <a:off x="6309360" y="3054096"/>
            <a:ext cx="5330952" cy="731520"/>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يَجِبُ أَنْ </a:t>
            </a:r>
            <a:pPr rtl="1" algn="ctr" indent="0" marL="0">
              <a:buNone/>
            </a:pPr>
            <a:r>
              <a:rPr lang="ar-SA" altLang="en-US" sz="1900" b="1" dirty="0">
                <a:solidFill>
                  <a:srgbClr val="0E7C86"/>
                </a:solidFill>
                <a:latin typeface="Amiri" pitchFamily="2" charset="-78"/>
                <a:ea typeface="Amiri" pitchFamily="2" charset="-78"/>
                <a:cs typeface="Amiri" pitchFamily="2" charset="-78"/>
              </a:rPr>
              <a:t>تَخْلَعَ</a:t>
            </a:r>
            <a:pPr rtl="1" algn="ctr" indent="0" marL="0">
              <a:buNone/>
            </a:pPr>
            <a:r>
              <a:rPr lang="ar-SA" altLang="en-US" sz="1900" b="1" dirty="0">
                <a:solidFill>
                  <a:srgbClr val="1B3B6F"/>
                </a:solidFill>
                <a:latin typeface="Amiri" pitchFamily="2" charset="-78"/>
                <a:ea typeface="Amiri" pitchFamily="2" charset="-78"/>
                <a:cs typeface="Amiri" pitchFamily="2" charset="-78"/>
              </a:rPr>
              <a:t> حِذَاءَكَ.</a:t>
            </a:r>
            <a:endParaRPr lang="ar-SA" sz="1900" dirty="0"/>
          </a:p>
        </p:txBody>
      </p:sp>
      <p:sp>
        <p:nvSpPr>
          <p:cNvPr id="29" name="Text 26"/>
          <p:cNvSpPr txBox="1"/>
          <p:nvPr/>
        </p:nvSpPr>
        <p:spPr>
          <a:xfrm>
            <a:off x="4498848" y="3054096"/>
            <a:ext cx="164592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verb in -a</a:t>
            </a:r>
            <a:endParaRPr lang="en-US" sz="1100" dirty="0"/>
          </a:p>
        </p:txBody>
      </p:sp>
      <p:sp>
        <p:nvSpPr>
          <p:cNvPr id="30" name="Text 27"/>
          <p:cNvSpPr txBox="1"/>
          <p:nvPr/>
        </p:nvSpPr>
        <p:spPr>
          <a:xfrm>
            <a:off x="2761488" y="3054096"/>
            <a:ext cx="15544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obligation</a:t>
            </a:r>
            <a:endParaRPr lang="en-US" sz="1100" dirty="0"/>
          </a:p>
        </p:txBody>
      </p:sp>
      <p:sp>
        <p:nvSpPr>
          <p:cNvPr id="31" name="Text 28"/>
          <p:cNvSpPr txBox="1"/>
          <p:nvPr/>
        </p:nvSpPr>
        <p:spPr>
          <a:xfrm>
            <a:off x="548640" y="3054096"/>
            <a:ext cx="2011680" cy="731520"/>
          </a:xfrm>
          <a:prstGeom prst="rect">
            <a:avLst/>
          </a:prstGeom>
          <a:noFill/>
          <a:ln/>
        </p:spPr>
        <p:txBody>
          <a:bodyPr wrap="square" lIns="0" tIns="0" rIns="0" bIns="0" rtlCol="0" anchor="ctr"/>
          <a:lstStyle/>
          <a:p>
            <a:pPr rtl="1" algn="ctr" indent="0" marL="0">
              <a:buNone/>
            </a:pPr>
            <a:r>
              <a:rPr lang="ar-SA" altLang="en-US" sz="2000" b="1" dirty="0">
                <a:solidFill>
                  <a:srgbClr val="0E7C86"/>
                </a:solidFill>
                <a:latin typeface="Amiri" pitchFamily="2" charset="-78"/>
                <a:ea typeface="Amiri" pitchFamily="2" charset="-78"/>
                <a:cs typeface="Amiri" pitchFamily="2" charset="-78"/>
              </a:rPr>
              <a:t>يَجِبُ أَنْ</a:t>
            </a:r>
            <a:endParaRPr lang="ar-SA" sz="2000" dirty="0"/>
          </a:p>
        </p:txBody>
      </p:sp>
      <p:sp>
        <p:nvSpPr>
          <p:cNvPr id="32" name="Shape 29"/>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5" name="Text 32"/>
          <p:cNvSpPr txBox="1"/>
          <p:nvPr/>
        </p:nvSpPr>
        <p:spPr>
          <a:xfrm>
            <a:off x="6309360" y="3840480"/>
            <a:ext cx="5330952" cy="731520"/>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يَحْظُرُ القَانُونُ </a:t>
            </a:r>
            <a:pPr rtl="1" algn="ctr" indent="0" marL="0">
              <a:buNone/>
            </a:pPr>
            <a:r>
              <a:rPr lang="ar-SA" altLang="en-US" sz="1900" b="1" dirty="0">
                <a:solidFill>
                  <a:srgbClr val="1D5FBF"/>
                </a:solidFill>
                <a:latin typeface="Amiri" pitchFamily="2" charset="-78"/>
                <a:ea typeface="Amiri" pitchFamily="2" charset="-78"/>
                <a:cs typeface="Amiri" pitchFamily="2" charset="-78"/>
              </a:rPr>
              <a:t>التَّصْوِيرَ</a:t>
            </a:r>
            <a:pPr rtl="1" algn="ctr" indent="0" marL="0">
              <a:buNone/>
            </a:pPr>
            <a:r>
              <a:rPr lang="ar-SA" altLang="en-US" sz="1900" b="1" dirty="0">
                <a:solidFill>
                  <a:srgbClr val="1B3B6F"/>
                </a:solidFill>
                <a:latin typeface="Amiri" pitchFamily="2" charset="-78"/>
                <a:ea typeface="Amiri" pitchFamily="2" charset="-78"/>
                <a:cs typeface="Amiri" pitchFamily="2" charset="-78"/>
              </a:rPr>
              <a:t> هُنَا.</a:t>
            </a:r>
            <a:endParaRPr lang="ar-SA" sz="1900" dirty="0"/>
          </a:p>
        </p:txBody>
      </p:sp>
      <p:sp>
        <p:nvSpPr>
          <p:cNvPr id="36" name="Text 33"/>
          <p:cNvSpPr txBox="1"/>
          <p:nvPr/>
        </p:nvSpPr>
        <p:spPr>
          <a:xfrm>
            <a:off x="4498848" y="3840480"/>
            <a:ext cx="164592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direct object</a:t>
            </a:r>
            <a:endParaRPr lang="en-US" sz="1100" dirty="0"/>
          </a:p>
        </p:txBody>
      </p:sp>
      <p:sp>
        <p:nvSpPr>
          <p:cNvPr id="37" name="Text 34"/>
          <p:cNvSpPr txBox="1"/>
          <p:nvPr/>
        </p:nvSpPr>
        <p:spPr>
          <a:xfrm>
            <a:off x="2761488" y="3840480"/>
            <a:ext cx="15544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prohibition</a:t>
            </a:r>
            <a:endParaRPr lang="en-US" sz="1100" dirty="0"/>
          </a:p>
        </p:txBody>
      </p:sp>
      <p:sp>
        <p:nvSpPr>
          <p:cNvPr id="38" name="Text 35"/>
          <p:cNvSpPr txBox="1"/>
          <p:nvPr/>
        </p:nvSpPr>
        <p:spPr>
          <a:xfrm>
            <a:off x="548640" y="3840480"/>
            <a:ext cx="2011680" cy="731520"/>
          </a:xfrm>
          <a:prstGeom prst="rect">
            <a:avLst/>
          </a:prstGeom>
          <a:noFill/>
          <a:ln/>
        </p:spPr>
        <p:txBody>
          <a:bodyPr wrap="square" lIns="0" tIns="0" rIns="0" bIns="0" rtlCol="0" anchor="ctr"/>
          <a:lstStyle/>
          <a:p>
            <a:pPr rtl="1" algn="ctr" indent="0" marL="0">
              <a:buNone/>
            </a:pPr>
            <a:r>
              <a:rPr lang="ar-SA" altLang="en-US" sz="2000" b="1" dirty="0">
                <a:solidFill>
                  <a:srgbClr val="1D5FBF"/>
                </a:solidFill>
                <a:latin typeface="Amiri" pitchFamily="2" charset="-78"/>
                <a:ea typeface="Amiri" pitchFamily="2" charset="-78"/>
                <a:cs typeface="Amiri" pitchFamily="2" charset="-78"/>
              </a:rPr>
              <a:t>يَحْظُرُ</a:t>
            </a:r>
            <a:endParaRPr lang="ar-SA" sz="2000" dirty="0"/>
          </a:p>
        </p:txBody>
      </p:sp>
      <p:sp>
        <p:nvSpPr>
          <p:cNvPr id="39" name="Shape 36"/>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40" name="Text 37"/>
          <p:cNvSpPr txBox="1"/>
          <p:nvPr/>
        </p:nvSpPr>
        <p:spPr>
          <a:xfrm>
            <a:off x="6309360" y="4626864"/>
            <a:ext cx="5330952" cy="731520"/>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يَسْمَحُ المَتْحَفُ </a:t>
            </a:r>
            <a:pPr rtl="1" algn="ctr" indent="0" marL="0">
              <a:buNone/>
            </a:pPr>
            <a:r>
              <a:rPr lang="ar-SA" altLang="en-US" sz="1900" b="1" dirty="0">
                <a:solidFill>
                  <a:srgbClr val="7B3FA0"/>
                </a:solidFill>
                <a:latin typeface="Amiri" pitchFamily="2" charset="-78"/>
                <a:ea typeface="Amiri" pitchFamily="2" charset="-78"/>
                <a:cs typeface="Amiri" pitchFamily="2" charset="-78"/>
              </a:rPr>
              <a:t>بِالتَّصْوِيرِ</a:t>
            </a:r>
            <a:pPr rtl="1" algn="ctr" indent="0" marL="0">
              <a:buNone/>
            </a:pPr>
            <a:r>
              <a:rPr lang="ar-SA" altLang="en-US" sz="1900" b="1" dirty="0">
                <a:solidFill>
                  <a:srgbClr val="1B3B6F"/>
                </a:solidFill>
                <a:latin typeface="Amiri" pitchFamily="2" charset="-78"/>
                <a:ea typeface="Amiri" pitchFamily="2" charset="-78"/>
                <a:cs typeface="Amiri" pitchFamily="2" charset="-78"/>
              </a:rPr>
              <a:t> دُونَ فَلَاشٍ.</a:t>
            </a:r>
            <a:endParaRPr lang="ar-SA" sz="1900" dirty="0"/>
          </a:p>
        </p:txBody>
      </p:sp>
      <p:sp>
        <p:nvSpPr>
          <p:cNvPr id="41" name="Text 38"/>
          <p:cNvSpPr txBox="1"/>
          <p:nvPr/>
        </p:nvSpPr>
        <p:spPr>
          <a:xfrm>
            <a:off x="4498848" y="4626864"/>
            <a:ext cx="164592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bi- + noun</a:t>
            </a:r>
            <a:endParaRPr lang="en-US" sz="1100" dirty="0"/>
          </a:p>
        </p:txBody>
      </p:sp>
      <p:sp>
        <p:nvSpPr>
          <p:cNvPr id="42" name="Text 39"/>
          <p:cNvSpPr txBox="1"/>
          <p:nvPr/>
        </p:nvSpPr>
        <p:spPr>
          <a:xfrm>
            <a:off x="2761488" y="4626864"/>
            <a:ext cx="15544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permission</a:t>
            </a:r>
            <a:endParaRPr lang="en-US" sz="1100" dirty="0"/>
          </a:p>
        </p:txBody>
      </p:sp>
      <p:sp>
        <p:nvSpPr>
          <p:cNvPr id="43" name="Text 40"/>
          <p:cNvSpPr txBox="1"/>
          <p:nvPr/>
        </p:nvSpPr>
        <p:spPr>
          <a:xfrm>
            <a:off x="548640" y="4626864"/>
            <a:ext cx="2011680" cy="731520"/>
          </a:xfrm>
          <a:prstGeom prst="rect">
            <a:avLst/>
          </a:prstGeom>
          <a:noFill/>
          <a:ln/>
        </p:spPr>
        <p:txBody>
          <a:bodyPr wrap="square" lIns="0" tIns="0" rIns="0" bIns="0" rtlCol="0" anchor="ctr"/>
          <a:lstStyle/>
          <a:p>
            <a:pPr rtl="1" algn="ctr" indent="0" marL="0">
              <a:buNone/>
            </a:pPr>
            <a:r>
              <a:rPr lang="ar-SA" altLang="en-US" sz="2000" b="1" dirty="0">
                <a:solidFill>
                  <a:srgbClr val="7B3FA0"/>
                </a:solidFill>
                <a:latin typeface="Amiri" pitchFamily="2" charset="-78"/>
                <a:ea typeface="Amiri" pitchFamily="2" charset="-78"/>
                <a:cs typeface="Amiri" pitchFamily="2" charset="-78"/>
              </a:rPr>
              <a:t>يَسْمَحُ بِـ</a:t>
            </a:r>
            <a:endParaRPr lang="ar-SA" sz="2000" dirty="0"/>
          </a:p>
        </p:txBody>
      </p:sp>
      <p:sp>
        <p:nvSpPr>
          <p:cNvPr id="44" name="Text 41"/>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mistakes 2–3: yaḥẓur bi-l-taṣwīr ✗ → yaḥẓur al-taṣwīra ✓ · yasmaḥ al-taṣwīra ✗ → yasmaḥ bi-l-taṣwīr ✓.</a:t>
            </a:r>
            <a:endParaRPr lang="en-US" sz="1150" dirty="0"/>
          </a:p>
        </p:txBody>
      </p:sp>
      <p:sp>
        <p:nvSpPr>
          <p:cNvPr id="45"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49</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P3-L07 · Culture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1B3B6F"/>
                </a:solidFill>
                <a:latin typeface="Calibri" pitchFamily="34" charset="0"/>
                <a:cs typeface="Amiri" pitchFamily="2" charset="-78"/>
              </a:rPr>
              <a:t>GRAMMAR FOCUS · PART 2 · THE SUBJUNCTIVE WITH SOUND AND WEAK VERBS (WEBSITE QUIZ, VOCABULARY AND TEXTS) · DEVELOP</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After an: -u becomes -a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المُضَارِعُ المَنْصُوبُ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P3-L07</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6473952" y="1810512"/>
            <a:ext cx="5184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Example (website texts)</a:t>
            </a:r>
            <a:endParaRPr lang="en-US" sz="1100" dirty="0"/>
          </a:p>
        </p:txBody>
      </p:sp>
      <p:sp>
        <p:nvSpPr>
          <p:cNvPr id="17" name="Text 14"/>
          <p:cNvSpPr txBox="1"/>
          <p:nvPr/>
        </p:nvSpPr>
        <p:spPr>
          <a:xfrm>
            <a:off x="4736592" y="1810512"/>
            <a:ext cx="1591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Note</a:t>
            </a:r>
            <a:endParaRPr lang="en-US" sz="1100" dirty="0"/>
          </a:p>
        </p:txBody>
      </p:sp>
      <p:sp>
        <p:nvSpPr>
          <p:cNvPr id="18" name="Text 15"/>
          <p:cNvSpPr txBox="1"/>
          <p:nvPr/>
        </p:nvSpPr>
        <p:spPr>
          <a:xfrm>
            <a:off x="2542032" y="1810512"/>
            <a:ext cx="20482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After an</a:t>
            </a:r>
            <a:endParaRPr lang="en-US" sz="1100" dirty="0"/>
          </a:p>
        </p:txBody>
      </p:sp>
      <p:sp>
        <p:nvSpPr>
          <p:cNvPr id="19" name="Text 16"/>
          <p:cNvSpPr txBox="1"/>
          <p:nvPr/>
        </p:nvSpPr>
        <p:spPr>
          <a:xfrm>
            <a:off x="530352" y="1810512"/>
            <a:ext cx="18653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Normal</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6492240" y="2267712"/>
            <a:ext cx="5148072"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يُسْتَحْسَنُ أَنْ </a:t>
            </a:r>
            <a:pPr rtl="1" algn="ctr" indent="0" marL="0">
              <a:buNone/>
            </a:pPr>
            <a:r>
              <a:rPr lang="ar-SA" altLang="en-US" sz="1800" b="1" dirty="0">
                <a:solidFill>
                  <a:srgbClr val="0E7C86"/>
                </a:solidFill>
                <a:latin typeface="Amiri" pitchFamily="2" charset="-78"/>
                <a:ea typeface="Amiri" pitchFamily="2" charset="-78"/>
                <a:cs typeface="Amiri" pitchFamily="2" charset="-78"/>
              </a:rPr>
              <a:t>يَتَعَلَّمَ</a:t>
            </a:r>
            <a:pPr rtl="1" algn="ctr" indent="0" marL="0">
              <a:buNone/>
            </a:pPr>
            <a:r>
              <a:rPr lang="ar-SA" altLang="en-US" sz="1800" b="1" dirty="0">
                <a:solidFill>
                  <a:srgbClr val="1B3B6F"/>
                </a:solidFill>
                <a:latin typeface="Amiri" pitchFamily="2" charset="-78"/>
                <a:ea typeface="Amiri" pitchFamily="2" charset="-78"/>
                <a:cs typeface="Amiri" pitchFamily="2" charset="-78"/>
              </a:rPr>
              <a:t> الزَّائِرُ بَعْضَ العِبَارَاتِ.</a:t>
            </a:r>
            <a:endParaRPr lang="ar-SA" sz="1800" dirty="0"/>
          </a:p>
        </p:txBody>
      </p:sp>
      <p:sp>
        <p:nvSpPr>
          <p:cNvPr id="22" name="Text 19"/>
          <p:cNvSpPr txBox="1"/>
          <p:nvPr/>
        </p:nvSpPr>
        <p:spPr>
          <a:xfrm>
            <a:off x="4773168" y="2267712"/>
            <a:ext cx="15544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sound</a:t>
            </a:r>
            <a:endParaRPr lang="en-US" sz="1100" dirty="0"/>
          </a:p>
        </p:txBody>
      </p:sp>
      <p:sp>
        <p:nvSpPr>
          <p:cNvPr id="23" name="Text 20"/>
          <p:cNvSpPr txBox="1"/>
          <p:nvPr/>
        </p:nvSpPr>
        <p:spPr>
          <a:xfrm>
            <a:off x="2560320" y="2267712"/>
            <a:ext cx="2011680" cy="682142"/>
          </a:xfrm>
          <a:prstGeom prst="rect">
            <a:avLst/>
          </a:prstGeom>
          <a:noFill/>
          <a:ln/>
        </p:spPr>
        <p:txBody>
          <a:bodyPr wrap="square" lIns="0" tIns="0" rIns="0" bIns="0" rtlCol="0" anchor="ctr"/>
          <a:lstStyle/>
          <a:p>
            <a:pPr rtl="1" algn="ctr" indent="0" marL="0">
              <a:buNone/>
            </a:pPr>
            <a:r>
              <a:rPr lang="ar-SA" altLang="en-US" sz="2000" b="1" dirty="0">
                <a:solidFill>
                  <a:srgbClr val="0E7C86"/>
                </a:solidFill>
                <a:latin typeface="Amiri" pitchFamily="2" charset="-78"/>
                <a:ea typeface="Amiri" pitchFamily="2" charset="-78"/>
                <a:cs typeface="Amiri" pitchFamily="2" charset="-78"/>
              </a:rPr>
              <a:t>يَتَعَلَّمَ</a:t>
            </a:r>
            <a:endParaRPr lang="ar-SA" sz="2000" dirty="0"/>
          </a:p>
        </p:txBody>
      </p:sp>
      <p:sp>
        <p:nvSpPr>
          <p:cNvPr id="24" name="Text 21"/>
          <p:cNvSpPr txBox="1"/>
          <p:nvPr/>
        </p:nvSpPr>
        <p:spPr>
          <a:xfrm>
            <a:off x="548640" y="2267712"/>
            <a:ext cx="182880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يَتَعَلَّمُ</a:t>
            </a:r>
            <a:endParaRPr lang="ar-SA" sz="20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6492240" y="3004718"/>
            <a:ext cx="5148072"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يَجِبُ أَنْ </a:t>
            </a:r>
            <a:pPr rtl="1" algn="ctr" indent="0" marL="0">
              <a:buNone/>
            </a:pPr>
            <a:r>
              <a:rPr lang="ar-SA" altLang="en-US" sz="1800" b="1" dirty="0">
                <a:solidFill>
                  <a:srgbClr val="0E7C86"/>
                </a:solidFill>
                <a:latin typeface="Amiri" pitchFamily="2" charset="-78"/>
                <a:ea typeface="Amiri" pitchFamily="2" charset="-78"/>
                <a:cs typeface="Amiri" pitchFamily="2" charset="-78"/>
              </a:rPr>
              <a:t>تَخْلَعَ</a:t>
            </a:r>
            <a:pPr rtl="1" algn="ctr" indent="0" marL="0">
              <a:buNone/>
            </a:pPr>
            <a:r>
              <a:rPr lang="ar-SA" altLang="en-US" sz="1800" b="1" dirty="0">
                <a:solidFill>
                  <a:srgbClr val="1B3B6F"/>
                </a:solidFill>
                <a:latin typeface="Amiri" pitchFamily="2" charset="-78"/>
                <a:ea typeface="Amiri" pitchFamily="2" charset="-78"/>
                <a:cs typeface="Amiri" pitchFamily="2" charset="-78"/>
              </a:rPr>
              <a:t> حِذَاءَكَ.</a:t>
            </a:r>
            <a:endParaRPr lang="ar-SA" sz="1800" dirty="0"/>
          </a:p>
        </p:txBody>
      </p:sp>
      <p:sp>
        <p:nvSpPr>
          <p:cNvPr id="29" name="Text 26"/>
          <p:cNvSpPr txBox="1"/>
          <p:nvPr/>
        </p:nvSpPr>
        <p:spPr>
          <a:xfrm>
            <a:off x="4773168" y="3004718"/>
            <a:ext cx="15544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sound · you</a:t>
            </a:r>
            <a:endParaRPr lang="en-US" sz="1100" dirty="0"/>
          </a:p>
        </p:txBody>
      </p:sp>
      <p:sp>
        <p:nvSpPr>
          <p:cNvPr id="30" name="Text 27"/>
          <p:cNvSpPr txBox="1"/>
          <p:nvPr/>
        </p:nvSpPr>
        <p:spPr>
          <a:xfrm>
            <a:off x="2560320" y="3004718"/>
            <a:ext cx="2011680" cy="682142"/>
          </a:xfrm>
          <a:prstGeom prst="rect">
            <a:avLst/>
          </a:prstGeom>
          <a:noFill/>
          <a:ln/>
        </p:spPr>
        <p:txBody>
          <a:bodyPr wrap="square" lIns="0" tIns="0" rIns="0" bIns="0" rtlCol="0" anchor="ctr"/>
          <a:lstStyle/>
          <a:p>
            <a:pPr rtl="1" algn="ctr" indent="0" marL="0">
              <a:buNone/>
            </a:pPr>
            <a:r>
              <a:rPr lang="ar-SA" altLang="en-US" sz="2000" b="1" dirty="0">
                <a:solidFill>
                  <a:srgbClr val="0E7C86"/>
                </a:solidFill>
                <a:latin typeface="Amiri" pitchFamily="2" charset="-78"/>
                <a:ea typeface="Amiri" pitchFamily="2" charset="-78"/>
                <a:cs typeface="Amiri" pitchFamily="2" charset="-78"/>
              </a:rPr>
              <a:t>تَخْلَعَ</a:t>
            </a:r>
            <a:endParaRPr lang="ar-SA" sz="2000" dirty="0"/>
          </a:p>
        </p:txBody>
      </p:sp>
      <p:sp>
        <p:nvSpPr>
          <p:cNvPr id="31" name="Text 28"/>
          <p:cNvSpPr txBox="1"/>
          <p:nvPr/>
        </p:nvSpPr>
        <p:spPr>
          <a:xfrm>
            <a:off x="548640" y="3004718"/>
            <a:ext cx="182880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تَخْلَعُ</a:t>
            </a:r>
            <a:endParaRPr lang="ar-SA" sz="20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6492240" y="3741725"/>
            <a:ext cx="5148072"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يُسْتَحْسَنُ أَنْ </a:t>
            </a:r>
            <a:pPr rtl="1" algn="ctr" indent="0" marL="0">
              <a:buNone/>
            </a:pPr>
            <a:r>
              <a:rPr lang="ar-SA" altLang="en-US" sz="1800" b="1" dirty="0">
                <a:solidFill>
                  <a:srgbClr val="0E7C86"/>
                </a:solidFill>
                <a:latin typeface="Amiri" pitchFamily="2" charset="-78"/>
                <a:ea typeface="Amiri" pitchFamily="2" charset="-78"/>
                <a:cs typeface="Amiri" pitchFamily="2" charset="-78"/>
              </a:rPr>
              <a:t>يَرْتَدِيَ</a:t>
            </a:r>
            <a:pPr rtl="1" algn="ctr" indent="0" marL="0">
              <a:buNone/>
            </a:pPr>
            <a:r>
              <a:rPr lang="ar-SA" altLang="en-US" sz="1800" b="1" dirty="0">
                <a:solidFill>
                  <a:srgbClr val="1B3B6F"/>
                </a:solidFill>
                <a:latin typeface="Amiri" pitchFamily="2" charset="-78"/>
                <a:ea typeface="Amiri" pitchFamily="2" charset="-78"/>
                <a:cs typeface="Amiri" pitchFamily="2" charset="-78"/>
              </a:rPr>
              <a:t> مَلَابِسَ مُحْتَشِمَةً.</a:t>
            </a:r>
            <a:endParaRPr lang="ar-SA" sz="1800" dirty="0"/>
          </a:p>
        </p:txBody>
      </p:sp>
      <p:sp>
        <p:nvSpPr>
          <p:cNvPr id="36" name="Text 33"/>
          <p:cNvSpPr txBox="1"/>
          <p:nvPr/>
        </p:nvSpPr>
        <p:spPr>
          <a:xfrm>
            <a:off x="4773168" y="3741725"/>
            <a:ext cx="15544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weak: -ī → -iya</a:t>
            </a:r>
            <a:endParaRPr lang="en-US" sz="1100" dirty="0"/>
          </a:p>
        </p:txBody>
      </p:sp>
      <p:sp>
        <p:nvSpPr>
          <p:cNvPr id="37" name="Text 34"/>
          <p:cNvSpPr txBox="1"/>
          <p:nvPr/>
        </p:nvSpPr>
        <p:spPr>
          <a:xfrm>
            <a:off x="2560320" y="3741725"/>
            <a:ext cx="2011680" cy="682142"/>
          </a:xfrm>
          <a:prstGeom prst="rect">
            <a:avLst/>
          </a:prstGeom>
          <a:noFill/>
          <a:ln/>
        </p:spPr>
        <p:txBody>
          <a:bodyPr wrap="square" lIns="0" tIns="0" rIns="0" bIns="0" rtlCol="0" anchor="ctr"/>
          <a:lstStyle/>
          <a:p>
            <a:pPr rtl="1" algn="ctr" indent="0" marL="0">
              <a:buNone/>
            </a:pPr>
            <a:r>
              <a:rPr lang="ar-SA" altLang="en-US" sz="2000" b="1" dirty="0">
                <a:solidFill>
                  <a:srgbClr val="0E7C86"/>
                </a:solidFill>
                <a:latin typeface="Amiri" pitchFamily="2" charset="-78"/>
                <a:ea typeface="Amiri" pitchFamily="2" charset="-78"/>
                <a:cs typeface="Amiri" pitchFamily="2" charset="-78"/>
              </a:rPr>
              <a:t>يَرْتَدِيَ</a:t>
            </a:r>
            <a:endParaRPr lang="ar-SA" sz="2000" dirty="0"/>
          </a:p>
        </p:txBody>
      </p:sp>
      <p:sp>
        <p:nvSpPr>
          <p:cNvPr id="38" name="Text 35"/>
          <p:cNvSpPr txBox="1"/>
          <p:nvPr/>
        </p:nvSpPr>
        <p:spPr>
          <a:xfrm>
            <a:off x="548640" y="3741725"/>
            <a:ext cx="182880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يَرْتَدِي</a:t>
            </a:r>
            <a:endParaRPr lang="ar-SA" sz="20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6492240" y="4478731"/>
            <a:ext cx="5148072"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يَجِبُ أَنْ تَخْلَعَ حِذَاءَكَ </a:t>
            </a:r>
            <a:pPr rtl="1" algn="ctr" indent="0" marL="0">
              <a:buNone/>
            </a:pPr>
            <a:r>
              <a:rPr lang="ar-SA" altLang="en-US" sz="1800" b="1" dirty="0">
                <a:solidFill>
                  <a:srgbClr val="0E7C86"/>
                </a:solidFill>
                <a:latin typeface="Amiri" pitchFamily="2" charset="-78"/>
                <a:ea typeface="Amiri" pitchFamily="2" charset="-78"/>
                <a:cs typeface="Amiri" pitchFamily="2" charset="-78"/>
              </a:rPr>
              <a:t>وَتُغَطِّيَ</a:t>
            </a:r>
            <a:pPr rtl="1" algn="ctr" indent="0" marL="0">
              <a:buNone/>
            </a:pPr>
            <a:r>
              <a:rPr lang="ar-SA" altLang="en-US" sz="1800" b="1" dirty="0">
                <a:solidFill>
                  <a:srgbClr val="1B3B6F"/>
                </a:solidFill>
                <a:latin typeface="Amiri" pitchFamily="2" charset="-78"/>
                <a:ea typeface="Amiri" pitchFamily="2" charset="-78"/>
                <a:cs typeface="Amiri" pitchFamily="2" charset="-78"/>
              </a:rPr>
              <a:t> رَأْسَكِ.</a:t>
            </a:r>
            <a:endParaRPr lang="ar-SA" sz="1800" dirty="0"/>
          </a:p>
        </p:txBody>
      </p:sp>
      <p:sp>
        <p:nvSpPr>
          <p:cNvPr id="41" name="Text 38"/>
          <p:cNvSpPr txBox="1"/>
          <p:nvPr/>
        </p:nvSpPr>
        <p:spPr>
          <a:xfrm>
            <a:off x="4773168" y="4478731"/>
            <a:ext cx="15544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weak: -ī → -iya</a:t>
            </a:r>
            <a:endParaRPr lang="en-US" sz="1100" dirty="0"/>
          </a:p>
        </p:txBody>
      </p:sp>
      <p:sp>
        <p:nvSpPr>
          <p:cNvPr id="42" name="Text 39"/>
          <p:cNvSpPr txBox="1"/>
          <p:nvPr/>
        </p:nvSpPr>
        <p:spPr>
          <a:xfrm>
            <a:off x="2560320" y="4478731"/>
            <a:ext cx="2011680" cy="682142"/>
          </a:xfrm>
          <a:prstGeom prst="rect">
            <a:avLst/>
          </a:prstGeom>
          <a:noFill/>
          <a:ln/>
        </p:spPr>
        <p:txBody>
          <a:bodyPr wrap="square" lIns="0" tIns="0" rIns="0" bIns="0" rtlCol="0" anchor="ctr"/>
          <a:lstStyle/>
          <a:p>
            <a:pPr rtl="1" algn="ctr" indent="0" marL="0">
              <a:buNone/>
            </a:pPr>
            <a:r>
              <a:rPr lang="ar-SA" altLang="en-US" sz="2000" b="1" dirty="0">
                <a:solidFill>
                  <a:srgbClr val="0E7C86"/>
                </a:solidFill>
                <a:latin typeface="Amiri" pitchFamily="2" charset="-78"/>
                <a:ea typeface="Amiri" pitchFamily="2" charset="-78"/>
                <a:cs typeface="Amiri" pitchFamily="2" charset="-78"/>
              </a:rPr>
              <a:t>تُغَطِّيَ</a:t>
            </a:r>
            <a:endParaRPr lang="ar-SA" sz="2000" dirty="0"/>
          </a:p>
        </p:txBody>
      </p:sp>
      <p:sp>
        <p:nvSpPr>
          <p:cNvPr id="43" name="Text 40"/>
          <p:cNvSpPr txBox="1"/>
          <p:nvPr/>
        </p:nvSpPr>
        <p:spPr>
          <a:xfrm>
            <a:off x="548640" y="4478731"/>
            <a:ext cx="182880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تُغَطِّي</a:t>
            </a:r>
            <a:endParaRPr lang="ar-SA" sz="20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6492240" y="5215738"/>
            <a:ext cx="5148072"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يُسْتَحْسَنُ أَنْ </a:t>
            </a:r>
            <a:pPr rtl="1" algn="ctr" indent="0" marL="0">
              <a:buNone/>
            </a:pPr>
            <a:r>
              <a:rPr lang="ar-SA" altLang="en-US" sz="1800" b="1" dirty="0">
                <a:solidFill>
                  <a:srgbClr val="0E7C86"/>
                </a:solidFill>
                <a:latin typeface="Amiri" pitchFamily="2" charset="-78"/>
                <a:ea typeface="Amiri" pitchFamily="2" charset="-78"/>
                <a:cs typeface="Amiri" pitchFamily="2" charset="-78"/>
              </a:rPr>
              <a:t>يَتَجَنَّبَ</a:t>
            </a:r>
            <a:pPr rtl="1" algn="ctr" indent="0" marL="0">
              <a:buNone/>
            </a:pPr>
            <a:r>
              <a:rPr lang="ar-SA" altLang="en-US" sz="1800" b="1" dirty="0">
                <a:solidFill>
                  <a:srgbClr val="1B3B6F"/>
                </a:solidFill>
                <a:latin typeface="Amiri" pitchFamily="2" charset="-78"/>
                <a:ea typeface="Amiri" pitchFamily="2" charset="-78"/>
                <a:cs typeface="Amiri" pitchFamily="2" charset="-78"/>
              </a:rPr>
              <a:t> الأَكْلَ عَلَنًا فِي رَمَضَانَ.</a:t>
            </a:r>
            <a:endParaRPr lang="ar-SA" sz="1800" dirty="0"/>
          </a:p>
        </p:txBody>
      </p:sp>
      <p:sp>
        <p:nvSpPr>
          <p:cNvPr id="46" name="Text 43"/>
          <p:cNvSpPr txBox="1"/>
          <p:nvPr/>
        </p:nvSpPr>
        <p:spPr>
          <a:xfrm>
            <a:off x="4773168" y="5215738"/>
            <a:ext cx="15544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sound</a:t>
            </a:r>
            <a:endParaRPr lang="en-US" sz="1100" dirty="0"/>
          </a:p>
        </p:txBody>
      </p:sp>
      <p:sp>
        <p:nvSpPr>
          <p:cNvPr id="47" name="Text 44"/>
          <p:cNvSpPr txBox="1"/>
          <p:nvPr/>
        </p:nvSpPr>
        <p:spPr>
          <a:xfrm>
            <a:off x="2560320" y="5215738"/>
            <a:ext cx="2011680" cy="682142"/>
          </a:xfrm>
          <a:prstGeom prst="rect">
            <a:avLst/>
          </a:prstGeom>
          <a:noFill/>
          <a:ln/>
        </p:spPr>
        <p:txBody>
          <a:bodyPr wrap="square" lIns="0" tIns="0" rIns="0" bIns="0" rtlCol="0" anchor="ctr"/>
          <a:lstStyle/>
          <a:p>
            <a:pPr rtl="1" algn="ctr" indent="0" marL="0">
              <a:buNone/>
            </a:pPr>
            <a:r>
              <a:rPr lang="ar-SA" altLang="en-US" sz="2000" b="1" dirty="0">
                <a:solidFill>
                  <a:srgbClr val="0E7C86"/>
                </a:solidFill>
                <a:latin typeface="Amiri" pitchFamily="2" charset="-78"/>
                <a:ea typeface="Amiri" pitchFamily="2" charset="-78"/>
                <a:cs typeface="Amiri" pitchFamily="2" charset="-78"/>
              </a:rPr>
              <a:t>يَتَجَنَّبَ</a:t>
            </a:r>
            <a:endParaRPr lang="ar-SA" sz="2000" dirty="0"/>
          </a:p>
        </p:txBody>
      </p:sp>
      <p:sp>
        <p:nvSpPr>
          <p:cNvPr id="48" name="Text 45"/>
          <p:cNvSpPr txBox="1"/>
          <p:nvPr/>
        </p:nvSpPr>
        <p:spPr>
          <a:xfrm>
            <a:off x="548640" y="5215738"/>
            <a:ext cx="182880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يَتَجَنَّبُ</a:t>
            </a:r>
            <a:endParaRPr lang="ar-SA" sz="20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mistake 1: an yataʿallamu ✗ → an yataʿallama ✓. Weak verbs in -ī keep the yāʾ and add -a: yartadiya.</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49</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P3-L07 · Culture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1B3B6F"/>
                </a:solidFill>
                <a:latin typeface="Calibri" pitchFamily="34" charset="0"/>
                <a:cs typeface="Amiri" pitchFamily="2" charset="-78"/>
              </a:rPr>
              <a:t>GRAMMAR FOCUS · PART 3 · RULES ON SIGNS AND IN GUIDES (WEBSITE RULE 3 + TEACHING POINT 2) · DEVELOP</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 the sign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لُغَةُ اللَّافِتَاتِ وَالقَوَاعِدِ</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P3-L07</a:t>
            </a:r>
            <a:endParaRPr lang="en-US" sz="850" dirty="0"/>
          </a:p>
        </p:txBody>
      </p:sp>
      <p:sp>
        <p:nvSpPr>
          <p:cNvPr id="15" name="Shape 12"/>
          <p:cNvSpPr/>
          <p:nvPr/>
        </p:nvSpPr>
        <p:spPr>
          <a:xfrm>
            <a:off x="8095488"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32648" y="1920240"/>
            <a:ext cx="1371600" cy="274320"/>
          </a:xfrm>
          <a:prstGeom prst="roundRect">
            <a:avLst>
              <a:gd name="adj" fmla="val 50000"/>
            </a:avLst>
          </a:prstGeom>
          <a:solidFill>
            <a:srgbClr val="C0386B"/>
          </a:solidFill>
          <a:ln w="12700">
            <a:solidFill>
              <a:srgbClr val="C0386B"/>
            </a:solidFill>
            <a:prstDash val="solid"/>
          </a:ln>
        </p:spPr>
      </p:sp>
      <p:sp>
        <p:nvSpPr>
          <p:cNvPr id="17" name="Text 14"/>
          <p:cNvSpPr txBox="1"/>
          <p:nvPr/>
        </p:nvSpPr>
        <p:spPr>
          <a:xfrm>
            <a:off x="8232648" y="1920240"/>
            <a:ext cx="13716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PROHIBITS · CORE</a:t>
            </a:r>
            <a:endParaRPr lang="en-US" sz="850" dirty="0"/>
          </a:p>
        </p:txBody>
      </p:sp>
      <p:sp>
        <p:nvSpPr>
          <p:cNvPr id="18" name="Text 15"/>
          <p:cNvSpPr txBox="1"/>
          <p:nvPr/>
        </p:nvSpPr>
        <p:spPr>
          <a:xfrm>
            <a:off x="9649968" y="1874520"/>
            <a:ext cx="1944624" cy="365760"/>
          </a:xfrm>
          <a:prstGeom prst="rect">
            <a:avLst/>
          </a:prstGeom>
          <a:noFill/>
          <a:ln/>
        </p:spPr>
        <p:txBody>
          <a:bodyPr wrap="square" lIns="0" tIns="0" rIns="0" bIns="0" rtlCol="0" anchor="ctr"/>
          <a:lstStyle/>
          <a:p>
            <a:pPr algn="l" indent="0" marL="0">
              <a:buNone/>
            </a:pPr>
            <a:r>
              <a:rPr lang="ar-SA" altLang="en-US" sz="2100" b="1" dirty="0">
                <a:solidFill>
                  <a:srgbClr val="8A6D1E"/>
                </a:solidFill>
                <a:latin typeface="Amiri" pitchFamily="2" charset="-78"/>
                <a:ea typeface="Amiri" pitchFamily="2" charset="-78"/>
                <a:cs typeface="Amiri" pitchFamily="2" charset="-78"/>
              </a:rPr>
              <a:t>يَحْظُرُ</a:t>
            </a:r>
            <a:pPr algn="l" indent="0" marL="0">
              <a:buNone/>
            </a:pPr>
            <a:r>
              <a:rPr lang="en-US" sz="1600" b="1" dirty="0">
                <a:solidFill>
                  <a:srgbClr val="8A6D1E"/>
                </a:solidFill>
                <a:latin typeface="Calibri" pitchFamily="34" charset="0"/>
                <a:cs typeface="Amiri" pitchFamily="2" charset="-78"/>
              </a:rPr>
              <a:t> + object</a:t>
            </a:r>
            <a:endParaRPr lang="en-US" sz="1600" dirty="0"/>
          </a:p>
        </p:txBody>
      </p:sp>
      <p:sp>
        <p:nvSpPr>
          <p:cNvPr id="19" name="Text 16"/>
          <p:cNvSpPr txBox="1"/>
          <p:nvPr/>
        </p:nvSpPr>
        <p:spPr>
          <a:xfrm>
            <a:off x="8232648" y="2286000"/>
            <a:ext cx="3361944" cy="1097280"/>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ea typeface="Amiri" pitchFamily="2" charset="-78"/>
                <a:cs typeface="Amiri" pitchFamily="2" charset="-78"/>
              </a:rPr>
              <a:t>يَحْظُرُ بَعْضُ المَوَاقِعِ التَّصْوِيرَ.</a:t>
            </a:r>
            <a:endParaRPr lang="ar-SA" sz="2650" dirty="0"/>
          </a:p>
        </p:txBody>
      </p:sp>
      <p:sp>
        <p:nvSpPr>
          <p:cNvPr id="20" name="Text 17"/>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Some sites prohibit photography.</a:t>
            </a:r>
            <a:endParaRPr lang="en-US" sz="1200" dirty="0"/>
          </a:p>
        </p:txBody>
      </p:sp>
      <p:sp>
        <p:nvSpPr>
          <p:cNvPr id="21" name="Shape 18"/>
          <p:cNvSpPr/>
          <p:nvPr/>
        </p:nvSpPr>
        <p:spPr>
          <a:xfrm>
            <a:off x="8205216" y="3913632"/>
            <a:ext cx="3416808" cy="804672"/>
          </a:xfrm>
          <a:prstGeom prst="roundRect">
            <a:avLst>
              <a:gd name="adj" fmla="val 5682"/>
            </a:avLst>
          </a:prstGeom>
          <a:solidFill>
            <a:srgbClr val="FFF4E0"/>
          </a:solidFill>
          <a:ln w="9525">
            <a:solidFill>
              <a:srgbClr val="FFF4E0"/>
            </a:solidFill>
            <a:prstDash val="solid"/>
          </a:ln>
        </p:spPr>
      </p:sp>
      <p:sp>
        <p:nvSpPr>
          <p:cNvPr id="22" name="Text 19"/>
          <p:cNvSpPr txBox="1"/>
          <p:nvPr/>
        </p:nvSpPr>
        <p:spPr>
          <a:xfrm>
            <a:off x="8296656"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No preposition.</a:t>
            </a:r>
            <a:endParaRPr lang="en-US" sz="1100" dirty="0"/>
          </a:p>
        </p:txBody>
      </p:sp>
      <p:sp>
        <p:nvSpPr>
          <p:cNvPr id="23" name="Shape 20"/>
          <p:cNvSpPr/>
          <p:nvPr/>
        </p:nvSpPr>
        <p:spPr>
          <a:xfrm>
            <a:off x="4276344"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13504" y="1920240"/>
            <a:ext cx="1234440" cy="274320"/>
          </a:xfrm>
          <a:prstGeom prst="roundRect">
            <a:avLst>
              <a:gd name="adj" fmla="val 50000"/>
            </a:avLst>
          </a:prstGeom>
          <a:solidFill>
            <a:srgbClr val="1E6B52"/>
          </a:solidFill>
          <a:ln w="12700">
            <a:solidFill>
              <a:srgbClr val="1E6B52"/>
            </a:solidFill>
            <a:prstDash val="solid"/>
          </a:ln>
        </p:spPr>
      </p:sp>
      <p:sp>
        <p:nvSpPr>
          <p:cNvPr id="25" name="Text 22"/>
          <p:cNvSpPr txBox="1"/>
          <p:nvPr/>
        </p:nvSpPr>
        <p:spPr>
          <a:xfrm>
            <a:off x="4413504" y="1920240"/>
            <a:ext cx="123444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PERMITS · CORE</a:t>
            </a:r>
            <a:endParaRPr lang="en-US" sz="850" dirty="0"/>
          </a:p>
        </p:txBody>
      </p:sp>
      <p:sp>
        <p:nvSpPr>
          <p:cNvPr id="26" name="Text 23"/>
          <p:cNvSpPr txBox="1"/>
          <p:nvPr/>
        </p:nvSpPr>
        <p:spPr>
          <a:xfrm>
            <a:off x="5693664" y="1874520"/>
            <a:ext cx="208178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يَسْمَحُ بِـ</a:t>
            </a:r>
            <a:endParaRPr lang="ar-SA" sz="1600" dirty="0"/>
          </a:p>
        </p:txBody>
      </p:sp>
      <p:sp>
        <p:nvSpPr>
          <p:cNvPr id="27" name="Text 24"/>
          <p:cNvSpPr txBox="1"/>
          <p:nvPr/>
        </p:nvSpPr>
        <p:spPr>
          <a:xfrm>
            <a:off x="4413504" y="2286000"/>
            <a:ext cx="3361944" cy="1097280"/>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ea typeface="Amiri" pitchFamily="2" charset="-78"/>
                <a:cs typeface="Amiri" pitchFamily="2" charset="-78"/>
              </a:rPr>
              <a:t>تَسْمَحُ مَوَاقِعُ أُخْرَى بِالتَّصْوِيرِ.</a:t>
            </a:r>
            <a:endParaRPr lang="ar-SA" sz="2650" dirty="0"/>
          </a:p>
        </p:txBody>
      </p:sp>
      <p:sp>
        <p:nvSpPr>
          <p:cNvPr id="28" name="Text 25"/>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Other sites permit photography.</a:t>
            </a:r>
            <a:endParaRPr lang="en-US" sz="1200" dirty="0"/>
          </a:p>
        </p:txBody>
      </p:sp>
      <p:sp>
        <p:nvSpPr>
          <p:cNvPr id="29" name="Shape 26"/>
          <p:cNvSpPr/>
          <p:nvPr/>
        </p:nvSpPr>
        <p:spPr>
          <a:xfrm>
            <a:off x="4386072" y="3913632"/>
            <a:ext cx="3416808" cy="804672"/>
          </a:xfrm>
          <a:prstGeom prst="roundRect">
            <a:avLst>
              <a:gd name="adj" fmla="val 5682"/>
            </a:avLst>
          </a:prstGeom>
          <a:solidFill>
            <a:srgbClr val="FFF4E0"/>
          </a:solidFill>
          <a:ln w="9525">
            <a:solidFill>
              <a:srgbClr val="FFF4E0"/>
            </a:solidFill>
            <a:prstDash val="solid"/>
          </a:ln>
        </p:spPr>
      </p:sp>
      <p:sp>
        <p:nvSpPr>
          <p:cNvPr id="30" name="Text 27"/>
          <p:cNvSpPr txBox="1"/>
          <p:nvPr/>
        </p:nvSpPr>
        <p:spPr>
          <a:xfrm>
            <a:off x="4477512"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Always bi-.</a:t>
            </a:r>
            <a:endParaRPr lang="en-US" sz="1100" dirty="0"/>
          </a:p>
        </p:txBody>
      </p:sp>
      <p:sp>
        <p:nvSpPr>
          <p:cNvPr id="31" name="Shape 28"/>
          <p:cNvSpPr/>
          <p:nvPr/>
        </p:nvSpPr>
        <p:spPr>
          <a:xfrm>
            <a:off x="457200"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94360" y="1920240"/>
            <a:ext cx="1508760" cy="274320"/>
          </a:xfrm>
          <a:prstGeom prst="roundRect">
            <a:avLst>
              <a:gd name="adj" fmla="val 50000"/>
            </a:avLst>
          </a:prstGeom>
          <a:solidFill>
            <a:srgbClr val="1D5FBF"/>
          </a:solidFill>
          <a:ln w="12700">
            <a:solidFill>
              <a:srgbClr val="1D5FBF"/>
            </a:solidFill>
            <a:prstDash val="solid"/>
          </a:ln>
        </p:spPr>
      </p:sp>
      <p:sp>
        <p:nvSpPr>
          <p:cNvPr id="33" name="Text 30"/>
          <p:cNvSpPr txBox="1"/>
          <p:nvPr/>
        </p:nvSpPr>
        <p:spPr>
          <a:xfrm>
            <a:off x="594360" y="1920240"/>
            <a:ext cx="15087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LEADS TO · STRETCH</a:t>
            </a:r>
            <a:endParaRPr lang="en-US" sz="850" dirty="0"/>
          </a:p>
        </p:txBody>
      </p:sp>
      <p:sp>
        <p:nvSpPr>
          <p:cNvPr id="34" name="Text 31"/>
          <p:cNvSpPr txBox="1"/>
          <p:nvPr/>
        </p:nvSpPr>
        <p:spPr>
          <a:xfrm>
            <a:off x="2148840" y="1874520"/>
            <a:ext cx="180746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يُفْضِي إِلَى</a:t>
            </a:r>
            <a:endParaRPr lang="ar-SA" sz="1600" dirty="0"/>
          </a:p>
        </p:txBody>
      </p:sp>
      <p:sp>
        <p:nvSpPr>
          <p:cNvPr id="35" name="Text 32"/>
          <p:cNvSpPr txBox="1"/>
          <p:nvPr/>
        </p:nvSpPr>
        <p:spPr>
          <a:xfrm>
            <a:off x="594360" y="2286000"/>
            <a:ext cx="3361944" cy="1097280"/>
          </a:xfrm>
          <a:prstGeom prst="rect">
            <a:avLst/>
          </a:prstGeom>
          <a:noFill/>
          <a:ln/>
        </p:spPr>
        <p:txBody>
          <a:bodyPr wrap="square" lIns="0" tIns="0" rIns="0" bIns="0" rtlCol="0" anchor="ctr"/>
          <a:lstStyle/>
          <a:p>
            <a:pPr rtl="1" algn="ctr" indent="0" marL="0">
              <a:buNone/>
            </a:pPr>
            <a:r>
              <a:rPr lang="ar-SA" altLang="en-US" sz="2550" b="1" dirty="0">
                <a:solidFill>
                  <a:srgbClr val="1B3B6F"/>
                </a:solidFill>
                <a:latin typeface="Amiri" pitchFamily="2" charset="-78"/>
                <a:ea typeface="Amiri" pitchFamily="2" charset="-78"/>
                <a:cs typeface="Amiri" pitchFamily="2" charset="-78"/>
              </a:rPr>
              <a:t>الاحْتِرَامُ يُفْضِي إِلَى التَّفَاهُمِ.</a:t>
            </a:r>
            <a:endParaRPr lang="ar-SA" sz="2550" dirty="0"/>
          </a:p>
        </p:txBody>
      </p:sp>
      <p:sp>
        <p:nvSpPr>
          <p:cNvPr id="36" name="Text 33"/>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Respect leads to understanding.</a:t>
            </a:r>
            <a:endParaRPr lang="en-US" sz="1200" dirty="0"/>
          </a:p>
        </p:txBody>
      </p:sp>
      <p:sp>
        <p:nvSpPr>
          <p:cNvPr id="37" name="Shape 34"/>
          <p:cNvSpPr/>
          <p:nvPr/>
        </p:nvSpPr>
        <p:spPr>
          <a:xfrm>
            <a:off x="566928" y="3913632"/>
            <a:ext cx="3416808" cy="804672"/>
          </a:xfrm>
          <a:prstGeom prst="roundRect">
            <a:avLst>
              <a:gd name="adj" fmla="val 5682"/>
            </a:avLst>
          </a:prstGeom>
          <a:solidFill>
            <a:srgbClr val="FFF4E0"/>
          </a:solidFill>
          <a:ln w="9525">
            <a:solidFill>
              <a:srgbClr val="FFF4E0"/>
            </a:solidFill>
            <a:prstDash val="solid"/>
          </a:ln>
        </p:spPr>
      </p:sp>
      <p:sp>
        <p:nvSpPr>
          <p:cNvPr id="38" name="Text 35"/>
          <p:cNvSpPr txBox="1"/>
          <p:nvPr/>
        </p:nvSpPr>
        <p:spPr>
          <a:xfrm>
            <a:off x="658368"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Always ilā.</a:t>
            </a:r>
            <a:endParaRPr lang="en-US" sz="1100" dirty="0"/>
          </a:p>
        </p:txBody>
      </p:sp>
      <p:sp>
        <p:nvSpPr>
          <p:cNvPr id="39" name="Shape 36"/>
          <p:cNvSpPr/>
          <p:nvPr/>
        </p:nvSpPr>
        <p:spPr>
          <a:xfrm>
            <a:off x="457200" y="50109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85800" y="5102352"/>
            <a:ext cx="2743200" cy="274320"/>
          </a:xfrm>
          <a:prstGeom prst="rect">
            <a:avLst/>
          </a:prstGeom>
          <a:noFill/>
          <a:ln/>
        </p:spPr>
        <p:txBody>
          <a:bodyPr wrap="square" lIns="0" tIns="0" rIns="0" bIns="0" rtlCol="0" anchor="ctr"/>
          <a:lstStyle/>
          <a:p>
            <a:pPr algn="l" indent="0" marL="0">
              <a:buNone/>
            </a:pPr>
            <a:r>
              <a:rPr lang="en-US" sz="1000" b="1" spc="200" kern="0" dirty="0">
                <a:solidFill>
                  <a:srgbClr val="B83227"/>
                </a:solidFill>
                <a:latin typeface="Calibri" pitchFamily="34" charset="0"/>
                <a:cs typeface="Amiri" pitchFamily="2" charset="-78"/>
              </a:rPr>
              <a:t>COMMON ERROR</a:t>
            </a:r>
            <a:endParaRPr lang="en-US" sz="1000" dirty="0"/>
          </a:p>
        </p:txBody>
      </p:sp>
      <p:sp>
        <p:nvSpPr>
          <p:cNvPr id="41" name="Text 38"/>
          <p:cNvSpPr txBox="1"/>
          <p:nvPr/>
        </p:nvSpPr>
        <p:spPr>
          <a:xfrm>
            <a:off x="685800" y="5394960"/>
            <a:ext cx="3291840" cy="822960"/>
          </a:xfrm>
          <a:prstGeom prst="rect">
            <a:avLst/>
          </a:prstGeom>
          <a:noFill/>
          <a:ln/>
        </p:spPr>
        <p:txBody>
          <a:bodyPr wrap="square" lIns="0" tIns="0" rIns="0" bIns="0" rtlCol="0" anchor="t"/>
          <a:lstStyle/>
          <a:p>
            <a:pPr algn="l" indent="0" marL="0">
              <a:buNone/>
            </a:pPr>
            <a:r>
              <a:rPr lang="en-US" sz="1150" dirty="0">
                <a:solidFill>
                  <a:srgbClr val="1F2A37"/>
                </a:solidFill>
                <a:latin typeface="Calibri" pitchFamily="34" charset="0"/>
                <a:cs typeface="Amiri" pitchFamily="2" charset="-78"/>
              </a:rPr>
              <a:t>Website mistake 2: yaḥẓur takes a direct object.</a:t>
            </a:r>
            <a:endParaRPr lang="en-US" sz="1150" dirty="0"/>
          </a:p>
        </p:txBody>
      </p:sp>
      <p:sp>
        <p:nvSpPr>
          <p:cNvPr id="42" name="Text 39"/>
          <p:cNvSpPr txBox="1"/>
          <p:nvPr/>
        </p:nvSpPr>
        <p:spPr>
          <a:xfrm>
            <a:off x="996696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650" b="1" dirty="0">
                <a:solidFill>
                  <a:srgbClr val="1B3B6F"/>
                </a:solidFill>
                <a:latin typeface="Amiri" pitchFamily="2" charset="-78"/>
                <a:ea typeface="Amiri" pitchFamily="2" charset="-78"/>
                <a:cs typeface="Amiri" pitchFamily="2" charset="-78"/>
              </a:rPr>
              <a:t>يَحْظُرُ القَانُونُ التَّصْوِيرَ</a:t>
            </a:r>
            <a:endParaRPr lang="ar-SA" sz="1650" dirty="0"/>
          </a:p>
        </p:txBody>
      </p:sp>
      <p:sp>
        <p:nvSpPr>
          <p:cNvPr id="43" name="Text 40"/>
          <p:cNvSpPr txBox="1"/>
          <p:nvPr/>
        </p:nvSpPr>
        <p:spPr>
          <a:xfrm>
            <a:off x="960120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44" name="Text 41"/>
          <p:cNvSpPr txBox="1"/>
          <p:nvPr/>
        </p:nvSpPr>
        <p:spPr>
          <a:xfrm>
            <a:off x="800100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650" b="1" dirty="0">
                <a:solidFill>
                  <a:srgbClr val="B83227"/>
                </a:solidFill>
                <a:latin typeface="Amiri" pitchFamily="2" charset="-78"/>
                <a:ea typeface="Amiri" pitchFamily="2" charset="-78"/>
                <a:cs typeface="Amiri" pitchFamily="2" charset="-78"/>
              </a:rPr>
              <a:t>يَحْظُرُ القَانُونُ بِالتَّصْوِيرِ</a:t>
            </a:r>
            <a:endParaRPr lang="ar-SA" sz="1650" dirty="0"/>
          </a:p>
        </p:txBody>
      </p:sp>
      <p:sp>
        <p:nvSpPr>
          <p:cNvPr id="45" name="Shape 42"/>
          <p:cNvSpPr/>
          <p:nvPr/>
        </p:nvSpPr>
        <p:spPr>
          <a:xfrm>
            <a:off x="8138160" y="5669280"/>
            <a:ext cx="1371600" cy="0"/>
          </a:xfrm>
          <a:prstGeom prst="line">
            <a:avLst/>
          </a:prstGeom>
          <a:noFill/>
          <a:ln w="25400">
            <a:solidFill>
              <a:srgbClr val="B83227"/>
            </a:solidFill>
            <a:prstDash val="solid"/>
          </a:ln>
        </p:spPr>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49</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P3-L07 · Culture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1B3B6F"/>
                </a:solidFill>
                <a:latin typeface="Calibri" pitchFamily="34" charset="0"/>
                <a:cs typeface="Amiri" pitchFamily="2" charset="-78"/>
              </a:rPr>
              <a:t>GRAMMAR FOCUS · PART 4 · THE VOICE OF A CULTURAL GUIDE (WEBSITE RULE 4, LISTENING AND WRITING MODEL) · STRETCH</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Scenario, tip and reflection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أُسْلُوبُ الدَّلِيلِ الثَّقَافِيِّ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P3-L07</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400032" y="1810512"/>
            <a:ext cx="22585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Structure</a:t>
            </a:r>
            <a:endParaRPr lang="en-US" sz="1100" dirty="0"/>
          </a:p>
        </p:txBody>
      </p:sp>
      <p:sp>
        <p:nvSpPr>
          <p:cNvPr id="17" name="Text 14"/>
          <p:cNvSpPr txBox="1"/>
          <p:nvPr/>
        </p:nvSpPr>
        <p:spPr>
          <a:xfrm>
            <a:off x="2724912" y="1810512"/>
            <a:ext cx="65288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Example (website texts)</a:t>
            </a:r>
            <a:endParaRPr lang="en-US" sz="1100" dirty="0"/>
          </a:p>
        </p:txBody>
      </p:sp>
      <p:sp>
        <p:nvSpPr>
          <p:cNvPr id="18" name="Text 15"/>
          <p:cNvSpPr txBox="1"/>
          <p:nvPr/>
        </p:nvSpPr>
        <p:spPr>
          <a:xfrm>
            <a:off x="530352" y="1810512"/>
            <a:ext cx="20482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Tool</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9436608" y="2267712"/>
            <a:ext cx="22219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idhā + modal</a:t>
            </a:r>
            <a:endParaRPr lang="en-US" sz="1100" dirty="0"/>
          </a:p>
        </p:txBody>
      </p:sp>
      <p:sp>
        <p:nvSpPr>
          <p:cNvPr id="21" name="Text 18"/>
          <p:cNvSpPr txBox="1"/>
          <p:nvPr/>
        </p:nvSpPr>
        <p:spPr>
          <a:xfrm>
            <a:off x="2743200" y="2267712"/>
            <a:ext cx="6492240" cy="682142"/>
          </a:xfrm>
          <a:prstGeom prst="rect">
            <a:avLst/>
          </a:prstGeom>
          <a:noFill/>
          <a:ln/>
        </p:spPr>
        <p:txBody>
          <a:bodyPr wrap="square" lIns="0" tIns="0" rIns="0" bIns="0" rtlCol="0" anchor="ctr"/>
          <a:lstStyle/>
          <a:p>
            <a:pPr rtl="1" algn="ctr" indent="0" marL="0">
              <a:buNone/>
            </a:pPr>
            <a:r>
              <a:rPr lang="ar-SA" altLang="en-US" sz="1900" b="1" dirty="0">
                <a:solidFill>
                  <a:srgbClr val="1D5FBF"/>
                </a:solidFill>
                <a:latin typeface="Amiri" pitchFamily="2" charset="-78"/>
                <a:ea typeface="Amiri" pitchFamily="2" charset="-78"/>
                <a:cs typeface="Amiri" pitchFamily="2" charset="-78"/>
              </a:rPr>
              <a:t>إِذَا</a:t>
            </a:r>
            <a:pPr rtl="1" algn="ctr" indent="0" marL="0">
              <a:buNone/>
            </a:pPr>
            <a:r>
              <a:rPr lang="ar-SA" altLang="en-US" sz="1900" b="1" dirty="0">
                <a:solidFill>
                  <a:srgbClr val="1B3B6F"/>
                </a:solidFill>
                <a:latin typeface="Amiri" pitchFamily="2" charset="-78"/>
                <a:ea typeface="Amiri" pitchFamily="2" charset="-78"/>
                <a:cs typeface="Amiri" pitchFamily="2" charset="-78"/>
              </a:rPr>
              <a:t> دُعِيتَ إِلَى مَنْزِلٍ، يُسْتَحْسَنُ أَنْ </a:t>
            </a:r>
            <a:pPr rtl="1" algn="ctr" indent="0" marL="0">
              <a:buNone/>
            </a:pPr>
            <a:r>
              <a:rPr lang="ar-SA" altLang="en-US" sz="1900" b="1" dirty="0">
                <a:solidFill>
                  <a:srgbClr val="0E7C86"/>
                </a:solidFill>
                <a:latin typeface="Amiri" pitchFamily="2" charset="-78"/>
                <a:ea typeface="Amiri" pitchFamily="2" charset="-78"/>
                <a:cs typeface="Amiri" pitchFamily="2" charset="-78"/>
              </a:rPr>
              <a:t>تُحْضِرَ</a:t>
            </a:r>
            <a:pPr rtl="1" algn="ctr" indent="0" marL="0">
              <a:buNone/>
            </a:pPr>
            <a:r>
              <a:rPr lang="ar-SA" altLang="en-US" sz="1900" b="1" dirty="0">
                <a:solidFill>
                  <a:srgbClr val="1B3B6F"/>
                </a:solidFill>
                <a:latin typeface="Amiri" pitchFamily="2" charset="-78"/>
                <a:ea typeface="Amiri" pitchFamily="2" charset="-78"/>
                <a:cs typeface="Amiri" pitchFamily="2" charset="-78"/>
              </a:rPr>
              <a:t> هَدِيَّةً.</a:t>
            </a:r>
            <a:endParaRPr lang="ar-SA" sz="1900" dirty="0"/>
          </a:p>
        </p:txBody>
      </p:sp>
      <p:sp>
        <p:nvSpPr>
          <p:cNvPr id="22" name="Text 19"/>
          <p:cNvSpPr txBox="1"/>
          <p:nvPr/>
        </p:nvSpPr>
        <p:spPr>
          <a:xfrm>
            <a:off x="566928" y="2267712"/>
            <a:ext cx="20116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scenario</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6" name="Text 23"/>
          <p:cNvSpPr txBox="1"/>
          <p:nvPr/>
        </p:nvSpPr>
        <p:spPr>
          <a:xfrm>
            <a:off x="9436608" y="3004718"/>
            <a:ext cx="22219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passive</a:t>
            </a:r>
            <a:endParaRPr lang="en-US" sz="1100" dirty="0"/>
          </a:p>
        </p:txBody>
      </p:sp>
      <p:sp>
        <p:nvSpPr>
          <p:cNvPr id="27" name="Text 24"/>
          <p:cNvSpPr txBox="1"/>
          <p:nvPr/>
        </p:nvSpPr>
        <p:spPr>
          <a:xfrm>
            <a:off x="2743200" y="3004718"/>
            <a:ext cx="6492240" cy="682142"/>
          </a:xfrm>
          <a:prstGeom prst="rect">
            <a:avLst/>
          </a:prstGeom>
          <a:noFill/>
          <a:ln/>
        </p:spPr>
        <p:txBody>
          <a:bodyPr wrap="square" lIns="0" tIns="0" rIns="0" bIns="0" rtlCol="0" anchor="ctr"/>
          <a:lstStyle/>
          <a:p>
            <a:pPr rtl="1" algn="ctr" indent="0" marL="0">
              <a:buNone/>
            </a:pPr>
            <a:r>
              <a:rPr lang="ar-SA" altLang="en-US" sz="1900" b="1" dirty="0">
                <a:solidFill>
                  <a:srgbClr val="C77700"/>
                </a:solidFill>
                <a:latin typeface="Amiri" pitchFamily="2" charset="-78"/>
                <a:ea typeface="Amiri" pitchFamily="2" charset="-78"/>
                <a:cs typeface="Amiri" pitchFamily="2" charset="-78"/>
              </a:rPr>
              <a:t>يُعْتَبَرُ</a:t>
            </a:r>
            <a:pPr rtl="1" algn="ctr" indent="0" marL="0">
              <a:buNone/>
            </a:pPr>
            <a:r>
              <a:rPr lang="ar-SA" altLang="en-US" sz="1900" b="1" dirty="0">
                <a:solidFill>
                  <a:srgbClr val="1B3B6F"/>
                </a:solidFill>
                <a:latin typeface="Amiri" pitchFamily="2" charset="-78"/>
                <a:ea typeface="Amiri" pitchFamily="2" charset="-78"/>
                <a:cs typeface="Amiri" pitchFamily="2" charset="-78"/>
              </a:rPr>
              <a:t> الاحْتِرَامُ الثَّقَافِيُّ رَكِيزَةً أَسَاسِيَّةً.</a:t>
            </a:r>
            <a:endParaRPr lang="ar-SA" sz="1900" dirty="0"/>
          </a:p>
        </p:txBody>
      </p:sp>
      <p:sp>
        <p:nvSpPr>
          <p:cNvPr id="28" name="Text 25"/>
          <p:cNvSpPr txBox="1"/>
          <p:nvPr/>
        </p:nvSpPr>
        <p:spPr>
          <a:xfrm>
            <a:off x="566928" y="3004718"/>
            <a:ext cx="20116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impersonal</a:t>
            </a:r>
            <a:endParaRPr lang="en-US" sz="1100" dirty="0"/>
          </a:p>
        </p:txBody>
      </p:sp>
      <p:sp>
        <p:nvSpPr>
          <p:cNvPr id="29" name="Shape 26"/>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0" name="Text 27"/>
          <p:cNvSpPr txBox="1"/>
          <p:nvPr/>
        </p:nvSpPr>
        <p:spPr>
          <a:xfrm>
            <a:off x="9436608" y="3741725"/>
            <a:ext cx="22219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akhbaranī anna</a:t>
            </a:r>
            <a:endParaRPr lang="en-US" sz="1100" dirty="0"/>
          </a:p>
        </p:txBody>
      </p:sp>
      <p:sp>
        <p:nvSpPr>
          <p:cNvPr id="31" name="Text 28"/>
          <p:cNvSpPr txBox="1"/>
          <p:nvPr/>
        </p:nvSpPr>
        <p:spPr>
          <a:xfrm>
            <a:off x="2743200" y="3741725"/>
            <a:ext cx="6492240" cy="682142"/>
          </a:xfrm>
          <a:prstGeom prst="rect">
            <a:avLst/>
          </a:prstGeom>
          <a:noFill/>
          <a:ln/>
        </p:spPr>
        <p:txBody>
          <a:bodyPr wrap="square" lIns="0" tIns="0" rIns="0" bIns="0" rtlCol="0" anchor="ctr"/>
          <a:lstStyle/>
          <a:p>
            <a:pPr rtl="1" algn="ctr" indent="0" marL="0">
              <a:buNone/>
            </a:pPr>
            <a:r>
              <a:rPr lang="ar-SA" altLang="en-US" sz="1900" b="1" dirty="0">
                <a:solidFill>
                  <a:srgbClr val="7B3FA0"/>
                </a:solidFill>
                <a:latin typeface="Amiri" pitchFamily="2" charset="-78"/>
                <a:ea typeface="Amiri" pitchFamily="2" charset="-78"/>
                <a:cs typeface="Amiri" pitchFamily="2" charset="-78"/>
              </a:rPr>
              <a:t>أَخْبَرَنِي</a:t>
            </a:r>
            <a:pPr rtl="1" algn="ctr" indent="0" marL="0">
              <a:buNone/>
            </a:pPr>
            <a:r>
              <a:rPr lang="ar-SA" altLang="en-US" sz="1900" b="1" dirty="0">
                <a:solidFill>
                  <a:srgbClr val="1B3B6F"/>
                </a:solidFill>
                <a:latin typeface="Amiri" pitchFamily="2" charset="-78"/>
                <a:ea typeface="Amiri" pitchFamily="2" charset="-78"/>
                <a:cs typeface="Amiri" pitchFamily="2" charset="-78"/>
              </a:rPr>
              <a:t> مُضِيفٌ عَرَبِيٌّ </a:t>
            </a:r>
            <a:pPr rtl="1" algn="ctr" indent="0" marL="0">
              <a:buNone/>
            </a:pPr>
            <a:r>
              <a:rPr lang="ar-SA" altLang="en-US" sz="1900" b="1" dirty="0">
                <a:solidFill>
                  <a:srgbClr val="7B3FA0"/>
                </a:solidFill>
                <a:latin typeface="Amiri" pitchFamily="2" charset="-78"/>
                <a:ea typeface="Amiri" pitchFamily="2" charset="-78"/>
                <a:cs typeface="Amiri" pitchFamily="2" charset="-78"/>
              </a:rPr>
              <a:t>أَنَّ</a:t>
            </a:r>
            <a:pPr rtl="1" algn="ctr" indent="0" marL="0">
              <a:buNone/>
            </a:pPr>
            <a:r>
              <a:rPr lang="ar-SA" altLang="en-US" sz="1900" b="1" dirty="0">
                <a:solidFill>
                  <a:srgbClr val="1B3B6F"/>
                </a:solidFill>
                <a:latin typeface="Amiri" pitchFamily="2" charset="-78"/>
                <a:ea typeface="Amiri" pitchFamily="2" charset="-78"/>
                <a:cs typeface="Amiri" pitchFamily="2" charset="-78"/>
              </a:rPr>
              <a:t> بَادِرَةً صَغِيرَةً تَفْتَحُ القُلُوبَ.</a:t>
            </a:r>
            <a:endParaRPr lang="ar-SA" sz="1900" dirty="0"/>
          </a:p>
        </p:txBody>
      </p:sp>
      <p:sp>
        <p:nvSpPr>
          <p:cNvPr id="32" name="Text 29"/>
          <p:cNvSpPr txBox="1"/>
          <p:nvPr/>
        </p:nvSpPr>
        <p:spPr>
          <a:xfrm>
            <a:off x="566928" y="3741725"/>
            <a:ext cx="20116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reported tip</a:t>
            </a:r>
            <a:endParaRPr lang="en-US" sz="1100" dirty="0"/>
          </a:p>
        </p:txBody>
      </p:sp>
      <p:sp>
        <p:nvSpPr>
          <p:cNvPr id="33" name="Shape 30"/>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4" name="Text 31"/>
          <p:cNvSpPr txBox="1"/>
          <p:nvPr/>
        </p:nvSpPr>
        <p:spPr>
          <a:xfrm>
            <a:off x="9436608" y="4478731"/>
            <a:ext cx="22219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maṣdar + li-</a:t>
            </a:r>
            <a:endParaRPr lang="en-US" sz="1100" dirty="0"/>
          </a:p>
        </p:txBody>
      </p:sp>
      <p:sp>
        <p:nvSpPr>
          <p:cNvPr id="35" name="Text 32"/>
          <p:cNvSpPr txBox="1"/>
          <p:nvPr/>
        </p:nvSpPr>
        <p:spPr>
          <a:xfrm>
            <a:off x="2743200" y="4478731"/>
            <a:ext cx="6492240" cy="682142"/>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يَتَجَنَّبُ الأَكْلَ عَلَنًا </a:t>
            </a:r>
            <a:pPr rtl="1" algn="ctr" indent="0" marL="0">
              <a:buNone/>
            </a:pPr>
            <a:r>
              <a:rPr lang="ar-SA" altLang="en-US" sz="1900" b="1" dirty="0">
                <a:solidFill>
                  <a:srgbClr val="C77700"/>
                </a:solidFill>
                <a:latin typeface="Amiri" pitchFamily="2" charset="-78"/>
                <a:ea typeface="Amiri" pitchFamily="2" charset="-78"/>
                <a:cs typeface="Amiri" pitchFamily="2" charset="-78"/>
              </a:rPr>
              <a:t>احْتِرَامًا لِلصَّائِمِينَ</a:t>
            </a:r>
            <a:pPr rtl="1" algn="ctr" indent="0" marL="0">
              <a:buNone/>
            </a:pPr>
            <a:r>
              <a:rPr lang="ar-SA" altLang="en-US" sz="1900" b="1" dirty="0">
                <a:solidFill>
                  <a:srgbClr val="1B3B6F"/>
                </a:solidFill>
                <a:latin typeface="Amiri" pitchFamily="2" charset="-78"/>
                <a:cs typeface="Amiri" pitchFamily="2" charset="-78"/>
              </a:rPr>
              <a:t>.</a:t>
            </a:r>
            <a:endParaRPr lang="ar-SA" sz="1900" dirty="0"/>
          </a:p>
        </p:txBody>
      </p:sp>
      <p:sp>
        <p:nvSpPr>
          <p:cNvPr id="36" name="Text 33"/>
          <p:cNvSpPr txBox="1"/>
          <p:nvPr/>
        </p:nvSpPr>
        <p:spPr>
          <a:xfrm>
            <a:off x="566928" y="4478731"/>
            <a:ext cx="20116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reason</a:t>
            </a:r>
            <a:endParaRPr lang="en-US" sz="1100" dirty="0"/>
          </a:p>
        </p:txBody>
      </p:sp>
      <p:sp>
        <p:nvSpPr>
          <p:cNvPr id="37" name="Shape 34"/>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38" name="Text 35"/>
          <p:cNvSpPr txBox="1"/>
          <p:nvPr/>
        </p:nvSpPr>
        <p:spPr>
          <a:xfrm>
            <a:off x="9436608" y="5215738"/>
            <a:ext cx="22219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law … la-</a:t>
            </a:r>
            <a:endParaRPr lang="en-US" sz="1100" dirty="0"/>
          </a:p>
        </p:txBody>
      </p:sp>
      <p:sp>
        <p:nvSpPr>
          <p:cNvPr id="39" name="Text 36"/>
          <p:cNvSpPr txBox="1"/>
          <p:nvPr/>
        </p:nvSpPr>
        <p:spPr>
          <a:xfrm>
            <a:off x="2743200" y="5215738"/>
            <a:ext cx="6492240" cy="682142"/>
          </a:xfrm>
          <a:prstGeom prst="rect">
            <a:avLst/>
          </a:prstGeom>
          <a:noFill/>
          <a:ln/>
        </p:spPr>
        <p:txBody>
          <a:bodyPr wrap="square" lIns="0" tIns="0" rIns="0" bIns="0" rtlCol="0" anchor="ctr"/>
          <a:lstStyle/>
          <a:p>
            <a:pPr rtl="1" algn="ctr" indent="0" marL="0">
              <a:buNone/>
            </a:pPr>
            <a:r>
              <a:rPr lang="ar-SA" altLang="en-US" sz="1900" b="1" dirty="0">
                <a:solidFill>
                  <a:srgbClr val="D6336C"/>
                </a:solidFill>
                <a:latin typeface="Amiri" pitchFamily="2" charset="-78"/>
                <a:ea typeface="Amiri" pitchFamily="2" charset="-78"/>
                <a:cs typeface="Amiri" pitchFamily="2" charset="-78"/>
              </a:rPr>
              <a:t>لَوْ</a:t>
            </a:r>
            <a:pPr rtl="1" algn="ctr" indent="0" marL="0">
              <a:buNone/>
            </a:pPr>
            <a:r>
              <a:rPr lang="ar-SA" altLang="en-US" sz="1900" b="1" dirty="0">
                <a:solidFill>
                  <a:srgbClr val="1B3B6F"/>
                </a:solidFill>
                <a:latin typeface="Amiri" pitchFamily="2" charset="-78"/>
                <a:ea typeface="Amiri" pitchFamily="2" charset="-78"/>
                <a:cs typeface="Amiri" pitchFamily="2" charset="-78"/>
              </a:rPr>
              <a:t> عَرَفَ كُلُّ زَائِرٍ عَادَاتِ البَلَدِ، </a:t>
            </a:r>
            <a:pPr rtl="1" algn="ctr" indent="0" marL="0">
              <a:buNone/>
            </a:pPr>
            <a:r>
              <a:rPr lang="ar-SA" altLang="en-US" sz="1900" b="1" dirty="0">
                <a:solidFill>
                  <a:srgbClr val="D6336C"/>
                </a:solidFill>
                <a:latin typeface="Amiri" pitchFamily="2" charset="-78"/>
                <a:ea typeface="Amiri" pitchFamily="2" charset="-78"/>
                <a:cs typeface="Amiri" pitchFamily="2" charset="-78"/>
              </a:rPr>
              <a:t>لَقَلَّتِ</a:t>
            </a:r>
            <a:pPr rtl="1" algn="ctr" indent="0" marL="0">
              <a:buNone/>
            </a:pPr>
            <a:r>
              <a:rPr lang="ar-SA" altLang="en-US" sz="1900" b="1" dirty="0">
                <a:solidFill>
                  <a:srgbClr val="1B3B6F"/>
                </a:solidFill>
                <a:latin typeface="Amiri" pitchFamily="2" charset="-78"/>
                <a:ea typeface="Amiri" pitchFamily="2" charset="-78"/>
                <a:cs typeface="Amiri" pitchFamily="2" charset="-78"/>
              </a:rPr>
              <a:t> الزَّلَّاتُ الثَّقَافِيَّةُ.</a:t>
            </a:r>
            <a:endParaRPr lang="ar-SA" sz="1900" dirty="0"/>
          </a:p>
        </p:txBody>
      </p:sp>
      <p:sp>
        <p:nvSpPr>
          <p:cNvPr id="40" name="Text 37"/>
          <p:cNvSpPr txBox="1"/>
          <p:nvPr/>
        </p:nvSpPr>
        <p:spPr>
          <a:xfrm>
            <a:off x="566928" y="5215738"/>
            <a:ext cx="20116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reflection</a:t>
            </a:r>
            <a:endParaRPr lang="en-US" sz="1100" dirty="0"/>
          </a:p>
        </p:txBody>
      </p:sp>
      <p:sp>
        <p:nvSpPr>
          <p:cNvPr id="41" name="Shape 38"/>
          <p:cNvSpPr/>
          <p:nvPr/>
        </p:nvSpPr>
        <p:spPr>
          <a:xfrm>
            <a:off x="11091672" y="5261458"/>
            <a:ext cx="548640" cy="182880"/>
          </a:xfrm>
          <a:prstGeom prst="roundRect">
            <a:avLst>
              <a:gd name="adj" fmla="val 50000"/>
            </a:avLst>
          </a:prstGeom>
          <a:solidFill>
            <a:srgbClr val="2E8B57"/>
          </a:solidFill>
          <a:ln w="12700">
            <a:solidFill>
              <a:srgbClr val="2E8B57"/>
            </a:solidFill>
            <a:prstDash val="solid"/>
          </a:ln>
        </p:spPr>
      </p:sp>
      <p:sp>
        <p:nvSpPr>
          <p:cNvPr id="42" name="Text 39"/>
          <p:cNvSpPr txBox="1"/>
          <p:nvPr/>
        </p:nvSpPr>
        <p:spPr>
          <a:xfrm>
            <a:off x="11091672" y="526145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 guide moves from the general (yuʿtabar) to the scenario (idhā) to the personal (akhbaranī) to the reflection (law).</a:t>
            </a:r>
            <a:endParaRPr lang="en-US" sz="11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49</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P3-L07 · Culture</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FOCUS · THE WEBSITE RULES WITH EXAMPLES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The website grammar rules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650" b="1" dirty="0">
                <a:solidFill>
                  <a:srgbClr val="8A6D1E"/>
                </a:solidFill>
                <a:latin typeface="Amiri" pitchFamily="2" charset="-78"/>
                <a:ea typeface="Amiri" pitchFamily="2" charset="-78"/>
                <a:cs typeface="Amiri" pitchFamily="2" charset="-78"/>
              </a:rPr>
              <a:t>صِيَغُ النُّصْحِ وَالفِعْلُ المَنْصُوبُ بَعْدَ أَنْ</a:t>
            </a:r>
            <a:endParaRPr lang="ar-SA" sz="265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P3-L07</a:t>
            </a:r>
            <a:endParaRPr lang="en-US" sz="850" dirty="0"/>
          </a:p>
        </p:txBody>
      </p:sp>
      <p:sp>
        <p:nvSpPr>
          <p:cNvPr id="17" name="Shape 14"/>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40080" y="1883664"/>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1. yustaḥsan an + subjunctive</a:t>
            </a:r>
            <a:endParaRPr lang="en-US" sz="1250" dirty="0"/>
          </a:p>
        </p:txBody>
      </p:sp>
      <p:sp>
        <p:nvSpPr>
          <p:cNvPr id="19" name="Text 16"/>
          <p:cNvSpPr txBox="1"/>
          <p:nvPr/>
        </p:nvSpPr>
        <p:spPr>
          <a:xfrm>
            <a:off x="640080" y="2345436"/>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yustaḥsan an + verb in -a</a:t>
            </a:r>
            <a:endParaRPr lang="en-US" sz="1050" dirty="0"/>
          </a:p>
        </p:txBody>
      </p:sp>
      <p:sp>
        <p:nvSpPr>
          <p:cNvPr id="20" name="Text 17"/>
          <p:cNvSpPr txBox="1"/>
          <p:nvPr/>
        </p:nvSpPr>
        <p:spPr>
          <a:xfrm>
            <a:off x="4297680" y="1847088"/>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يُسْتَحْسَنُ أَنْ يَتَعَلَّمَ الزَّائِرُ تَحِيَّةً عَرَبِيَّةً   ·   يُسْتَحْسَنُ أَنْ يَرْتَدِيَ مَلَابِسَ مُحْتَشِمَةً</a:t>
            </a:r>
            <a:endParaRPr lang="ar-SA" sz="2000" dirty="0"/>
          </a:p>
        </p:txBody>
      </p:sp>
      <p:sp>
        <p:nvSpPr>
          <p:cNvPr id="21" name="Shape 18"/>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640080" y="3040380"/>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2. yajib an + subjunctive</a:t>
            </a:r>
            <a:endParaRPr lang="en-US" sz="1250" dirty="0"/>
          </a:p>
        </p:txBody>
      </p:sp>
      <p:sp>
        <p:nvSpPr>
          <p:cNvPr id="23" name="Text 20"/>
          <p:cNvSpPr txBox="1"/>
          <p:nvPr/>
        </p:nvSpPr>
        <p:spPr>
          <a:xfrm>
            <a:off x="640080" y="3502152"/>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yajib an + verb in -a</a:t>
            </a:r>
            <a:endParaRPr lang="en-US" sz="1050" dirty="0"/>
          </a:p>
        </p:txBody>
      </p:sp>
      <p:sp>
        <p:nvSpPr>
          <p:cNvPr id="24" name="Text 21"/>
          <p:cNvSpPr txBox="1"/>
          <p:nvPr/>
        </p:nvSpPr>
        <p:spPr>
          <a:xfrm>
            <a:off x="4297680" y="3003804"/>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إِذَا زُرْتَ مَسْجِدًا، يَجِبُ أَنْ تَخْلَعَ حِذَاءَكَ</a:t>
            </a:r>
            <a:endParaRPr lang="ar-SA" sz="200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40080" y="4197096"/>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3. Rules: yaḥẓur / yasmaḥ bi-</a:t>
            </a:r>
            <a:endParaRPr lang="en-US" sz="1250" dirty="0"/>
          </a:p>
        </p:txBody>
      </p:sp>
      <p:sp>
        <p:nvSpPr>
          <p:cNvPr id="27" name="Text 24"/>
          <p:cNvSpPr txBox="1"/>
          <p:nvPr/>
        </p:nvSpPr>
        <p:spPr>
          <a:xfrm>
            <a:off x="640080" y="4658868"/>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yaḥẓur + object · yasmaḥ bi-</a:t>
            </a:r>
            <a:endParaRPr lang="en-US" sz="1050" dirty="0"/>
          </a:p>
        </p:txBody>
      </p:sp>
      <p:sp>
        <p:nvSpPr>
          <p:cNvPr id="28" name="Text 25"/>
          <p:cNvSpPr txBox="1"/>
          <p:nvPr/>
        </p:nvSpPr>
        <p:spPr>
          <a:xfrm>
            <a:off x="4297680" y="4160520"/>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يَحْظُرُ القَانُونُ التَّصْوِيرَ هُنَا   ·   يَسْمَحُ المَتْحَفُ بِالتَّصْوِيرِ</a:t>
            </a:r>
            <a:endParaRPr lang="ar-SA" sz="2000" dirty="0"/>
          </a:p>
        </p:txBody>
      </p:sp>
      <p:sp>
        <p:nvSpPr>
          <p:cNvPr id="29" name="Shape 26"/>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40080" y="5353812"/>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4. Advice scenario and reflection</a:t>
            </a:r>
            <a:endParaRPr lang="en-US" sz="1250" dirty="0"/>
          </a:p>
        </p:txBody>
      </p:sp>
      <p:sp>
        <p:nvSpPr>
          <p:cNvPr id="31" name="Text 28"/>
          <p:cNvSpPr txBox="1"/>
          <p:nvPr/>
        </p:nvSpPr>
        <p:spPr>
          <a:xfrm>
            <a:off x="640080" y="5815584"/>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idhā … yustaḥsan an · law … la-</a:t>
            </a:r>
            <a:endParaRPr lang="en-US" sz="1050" dirty="0"/>
          </a:p>
        </p:txBody>
      </p:sp>
      <p:sp>
        <p:nvSpPr>
          <p:cNvPr id="32" name="Text 29"/>
          <p:cNvSpPr txBox="1"/>
          <p:nvPr/>
        </p:nvSpPr>
        <p:spPr>
          <a:xfrm>
            <a:off x="4297680" y="5317236"/>
            <a:ext cx="7269480" cy="955548"/>
          </a:xfrm>
          <a:prstGeom prst="rect">
            <a:avLst/>
          </a:prstGeom>
          <a:noFill/>
          <a:ln/>
        </p:spPr>
        <p:txBody>
          <a:bodyPr wrap="square" lIns="0" tIns="0" rIns="0" bIns="0" rtlCol="0" anchor="ctr"/>
          <a:lstStyle/>
          <a:p>
            <a:pPr rtl="1" algn="r" indent="0" marL="0">
              <a:lnSpc>
                <a:spcPct val="120000"/>
              </a:lnSpc>
              <a:buNone/>
            </a:pPr>
            <a:r>
              <a:rPr lang="ar-SA" altLang="en-US" sz="1850" b="1" dirty="0">
                <a:solidFill>
                  <a:srgbClr val="1F2A37"/>
                </a:solidFill>
                <a:latin typeface="Amiri" pitchFamily="2" charset="-78"/>
                <a:ea typeface="Amiri" pitchFamily="2" charset="-78"/>
                <a:cs typeface="Amiri" pitchFamily="2" charset="-78"/>
              </a:rPr>
              <a:t>إِذَا دُعِيتَ إِلَى مَنْزِلٍ، يُسْتَحْسَنُ أَنْ تُحْضِرَ هَدِيَّةً   ·   لَوْ تَعَلَّمْتُ العَرَبِيَّةَ قَبْلَ الرِّحْلَةِ، لَكَانَتِ التَّجْرِبَةُ أَعْمَقَ</a:t>
            </a:r>
            <a:endParaRPr lang="ar-SA" sz="18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49</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P3-L07 · Culture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P3-L07</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19" name="Text 16"/>
          <p:cNvSpPr txBox="1"/>
          <p:nvPr/>
        </p:nvSpPr>
        <p:spPr>
          <a:xfrm>
            <a:off x="3323295" y="1883664"/>
            <a:ext cx="2570013" cy="475488"/>
          </a:xfrm>
          <a:prstGeom prst="rect">
            <a:avLst/>
          </a:prstGeom>
          <a:noFill/>
          <a:ln/>
        </p:spPr>
        <p:txBody>
          <a:bodyPr wrap="square" lIns="0" tIns="0" rIns="0" bIns="0" rtlCol="0" anchor="ctr"/>
          <a:lstStyle/>
          <a:p>
            <a:pPr rtl="1" algn="r" indent="0" marL="0">
              <a:buNone/>
            </a:pPr>
            <a:r>
              <a:rPr lang="ar-SA" altLang="en-US" sz="1200" b="1" dirty="0">
                <a:solidFill>
                  <a:srgbClr val="1F2A37"/>
                </a:solidFill>
                <a:latin typeface="Amiri" pitchFamily="2" charset="-78"/>
                <a:ea typeface="Amiri" pitchFamily="2" charset="-78"/>
                <a:cs typeface="Amiri" pitchFamily="2" charset="-78"/>
              </a:rPr>
              <a:t>يُسْتَحْسَنُ أَنْ ___ الزَّائِرُ بَعْضَ الكَلِمَاتِ العَرَبِيَّةِ.</a:t>
            </a:r>
            <a:endParaRPr lang="ar-SA" sz="1200" dirty="0"/>
          </a:p>
        </p:txBody>
      </p:sp>
      <p:sp>
        <p:nvSpPr>
          <p:cNvPr id="20" name="Shape 17"/>
          <p:cNvSpPr/>
          <p:nvPr/>
        </p:nvSpPr>
        <p:spPr>
          <a:xfrm>
            <a:off x="640080" y="2532888"/>
            <a:ext cx="256032" cy="256032"/>
          </a:xfrm>
          <a:prstGeom prst="ellipse">
            <a:avLst/>
          </a:prstGeom>
          <a:solidFill>
            <a:srgbClr val="F4F1EA"/>
          </a:solidFill>
          <a:ln w="12700">
            <a:solidFill>
              <a:srgbClr val="F4F1EA"/>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19"/>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يَتَعَلَّمُ</a:t>
            </a:r>
            <a:endParaRPr lang="ar-SA" sz="2050" dirty="0"/>
          </a:p>
        </p:txBody>
      </p:sp>
      <p:sp>
        <p:nvSpPr>
          <p:cNvPr id="23" name="Shape 20"/>
          <p:cNvSpPr/>
          <p:nvPr/>
        </p:nvSpPr>
        <p:spPr>
          <a:xfrm>
            <a:off x="640080" y="2990088"/>
            <a:ext cx="256032" cy="256032"/>
          </a:xfrm>
          <a:prstGeom prst="ellipse">
            <a:avLst/>
          </a:prstGeom>
          <a:solidFill>
            <a:srgbClr val="F4F1EA"/>
          </a:solidFill>
          <a:ln w="12700">
            <a:solidFill>
              <a:srgbClr val="F4F1EA"/>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تَعَلَّمَ</a:t>
            </a:r>
            <a:endParaRPr lang="ar-SA" sz="2050" dirty="0"/>
          </a:p>
        </p:txBody>
      </p:sp>
      <p:sp>
        <p:nvSpPr>
          <p:cNvPr id="26" name="Shape 23"/>
          <p:cNvSpPr/>
          <p:nvPr/>
        </p:nvSpPr>
        <p:spPr>
          <a:xfrm>
            <a:off x="640080" y="3447288"/>
            <a:ext cx="256032" cy="256032"/>
          </a:xfrm>
          <a:prstGeom prst="ellipse">
            <a:avLst/>
          </a:prstGeom>
          <a:solidFill>
            <a:srgbClr val="F4F1EA"/>
          </a:solidFill>
          <a:ln w="12700">
            <a:solidFill>
              <a:srgbClr val="F4F1EA"/>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يَتَعَلَّمَ</a:t>
            </a:r>
            <a:endParaRPr lang="ar-SA" sz="2050" dirty="0"/>
          </a:p>
        </p:txBody>
      </p:sp>
      <p:sp>
        <p:nvSpPr>
          <p:cNvPr id="29" name="Shape 26"/>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313932" y="1947672"/>
            <a:ext cx="310896" cy="310896"/>
          </a:xfrm>
          <a:prstGeom prst="ellipse">
            <a:avLst/>
          </a:prstGeom>
          <a:solidFill>
            <a:srgbClr val="1B3B6F"/>
          </a:solidFill>
          <a:ln w="12700">
            <a:solidFill>
              <a:srgbClr val="1B3B6F"/>
            </a:solidFill>
            <a:prstDash val="solid"/>
          </a:ln>
        </p:spPr>
      </p:sp>
      <p:sp>
        <p:nvSpPr>
          <p:cNvPr id="31" name="Text 28"/>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2" name="Text 29"/>
          <p:cNvSpPr txBox="1"/>
          <p:nvPr/>
        </p:nvSpPr>
        <p:spPr>
          <a:xfrm>
            <a:off x="6679692"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33" name="Text 30"/>
          <p:cNvSpPr txBox="1"/>
          <p:nvPr/>
        </p:nvSpPr>
        <p:spPr>
          <a:xfrm>
            <a:off x="9052011" y="1883664"/>
            <a:ext cx="2570013" cy="475488"/>
          </a:xfrm>
          <a:prstGeom prst="rect">
            <a:avLst/>
          </a:prstGeom>
          <a:noFill/>
          <a:ln/>
        </p:spPr>
        <p:txBody>
          <a:bodyPr wrap="square" lIns="0" tIns="0" rIns="0" bIns="0" rtlCol="0" anchor="ctr"/>
          <a:lstStyle/>
          <a:p>
            <a:pPr rtl="1" algn="r" indent="0" marL="0">
              <a:buNone/>
            </a:pPr>
            <a:r>
              <a:rPr lang="ar-SA" altLang="en-US" sz="1450" b="1" dirty="0">
                <a:solidFill>
                  <a:srgbClr val="1F2A37"/>
                </a:solidFill>
                <a:latin typeface="Amiri" pitchFamily="2" charset="-78"/>
                <a:ea typeface="Amiri" pitchFamily="2" charset="-78"/>
                <a:cs typeface="Amiri" pitchFamily="2" charset="-78"/>
              </a:rPr>
              <a:t>يُسْتَحْسَنُ أَنْ ___ الزَّائِرُ مَلَابِسَ مُحْتَشِمَةً.</a:t>
            </a:r>
            <a:endParaRPr lang="ar-SA" sz="1450" dirty="0"/>
          </a:p>
        </p:txBody>
      </p:sp>
      <p:sp>
        <p:nvSpPr>
          <p:cNvPr id="34" name="Shape 31"/>
          <p:cNvSpPr/>
          <p:nvPr/>
        </p:nvSpPr>
        <p:spPr>
          <a:xfrm>
            <a:off x="6368796"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يَرْتَدِيَ</a:t>
            </a:r>
            <a:endParaRPr lang="ar-SA" sz="2050" dirty="0"/>
          </a:p>
        </p:txBody>
      </p:sp>
      <p:sp>
        <p:nvSpPr>
          <p:cNvPr id="37" name="Shape 34"/>
          <p:cNvSpPr/>
          <p:nvPr/>
        </p:nvSpPr>
        <p:spPr>
          <a:xfrm>
            <a:off x="6368796"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يَرْتَدِي</a:t>
            </a:r>
            <a:endParaRPr lang="ar-SA" sz="2050" dirty="0"/>
          </a:p>
        </p:txBody>
      </p:sp>
      <p:sp>
        <p:nvSpPr>
          <p:cNvPr id="40" name="Shape 37"/>
          <p:cNvSpPr/>
          <p:nvPr/>
        </p:nvSpPr>
        <p:spPr>
          <a:xfrm>
            <a:off x="6368796"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يَرْتَدِيَةً</a:t>
            </a:r>
            <a:endParaRPr lang="ar-SA" sz="2050" dirty="0"/>
          </a:p>
        </p:txBody>
      </p:sp>
      <p:sp>
        <p:nvSpPr>
          <p:cNvPr id="43" name="Shape 40"/>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585216" y="4288536"/>
            <a:ext cx="310896" cy="310896"/>
          </a:xfrm>
          <a:prstGeom prst="ellipse">
            <a:avLst/>
          </a:prstGeom>
          <a:solidFill>
            <a:srgbClr val="1B3B6F"/>
          </a:solidFill>
          <a:ln w="12700">
            <a:solidFill>
              <a:srgbClr val="1B3B6F"/>
            </a:solidFill>
            <a:prstDash val="solid"/>
          </a:ln>
        </p:spPr>
      </p:sp>
      <p:sp>
        <p:nvSpPr>
          <p:cNvPr id="45" name="Text 4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950976"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47" name="Text 44"/>
          <p:cNvSpPr txBox="1"/>
          <p:nvPr/>
        </p:nvSpPr>
        <p:spPr>
          <a:xfrm>
            <a:off x="3323295" y="4224528"/>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إِذَا زُرْتَ مَسْجِدًا، يَجِبُ أَنْ ___ حِذَاءَكَ.</a:t>
            </a:r>
            <a:endParaRPr lang="ar-SA" sz="1500" dirty="0"/>
          </a:p>
        </p:txBody>
      </p:sp>
      <p:sp>
        <p:nvSpPr>
          <p:cNvPr id="48" name="Shape 45"/>
          <p:cNvSpPr/>
          <p:nvPr/>
        </p:nvSpPr>
        <p:spPr>
          <a:xfrm>
            <a:off x="640080" y="48737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0" name="Text 47"/>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تَخْلَعُ</a:t>
            </a:r>
            <a:endParaRPr lang="ar-SA" sz="2050" dirty="0"/>
          </a:p>
        </p:txBody>
      </p:sp>
      <p:sp>
        <p:nvSpPr>
          <p:cNvPr id="51" name="Shape 48"/>
          <p:cNvSpPr/>
          <p:nvPr/>
        </p:nvSpPr>
        <p:spPr>
          <a:xfrm>
            <a:off x="640080" y="53309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3" name="Text 50"/>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تَخْلَعَ</a:t>
            </a:r>
            <a:endParaRPr lang="ar-SA" sz="2050" dirty="0"/>
          </a:p>
        </p:txBody>
      </p:sp>
      <p:sp>
        <p:nvSpPr>
          <p:cNvPr id="54" name="Shape 51"/>
          <p:cNvSpPr/>
          <p:nvPr/>
        </p:nvSpPr>
        <p:spPr>
          <a:xfrm>
            <a:off x="640080" y="5788152"/>
            <a:ext cx="256032" cy="256032"/>
          </a:xfrm>
          <a:prstGeom prst="ellipse">
            <a:avLst/>
          </a:prstGeom>
          <a:solidFill>
            <a:srgbClr val="F4F1EA"/>
          </a:solidFill>
          <a:ln w="12700">
            <a:solidFill>
              <a:srgbClr val="F4F1EA"/>
            </a:solidFill>
            <a:prstDash val="solid"/>
          </a:ln>
        </p:spPr>
      </p:sp>
      <p:sp>
        <p:nvSpPr>
          <p:cNvPr id="55" name="Text 5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6" name="Text 53"/>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خَلَعْتَ</a:t>
            </a:r>
            <a:endParaRPr lang="ar-SA" sz="2050" dirty="0"/>
          </a:p>
        </p:txBody>
      </p:sp>
      <p:sp>
        <p:nvSpPr>
          <p:cNvPr id="57" name="Shape 54"/>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8" name="Shape 55"/>
          <p:cNvSpPr/>
          <p:nvPr/>
        </p:nvSpPr>
        <p:spPr>
          <a:xfrm>
            <a:off x="6313932" y="4288536"/>
            <a:ext cx="310896" cy="310896"/>
          </a:xfrm>
          <a:prstGeom prst="ellipse">
            <a:avLst/>
          </a:prstGeom>
          <a:solidFill>
            <a:srgbClr val="1B3B6F"/>
          </a:solidFill>
          <a:ln w="12700">
            <a:solidFill>
              <a:srgbClr val="1B3B6F"/>
            </a:solidFill>
            <a:prstDash val="solid"/>
          </a:ln>
        </p:spPr>
      </p:sp>
      <p:sp>
        <p:nvSpPr>
          <p:cNvPr id="59" name="Text 56"/>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0" name="Text 57"/>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uses </a:t>
            </a:r>
            <a:pPr algn="l" indent="0" marL="0">
              <a:buNone/>
            </a:pPr>
            <a:r>
              <a:rPr lang="ar-SA" altLang="en-US" sz="1650" b="1" dirty="0">
                <a:solidFill>
                  <a:srgbClr val="1B3B6F"/>
                </a:solidFill>
                <a:latin typeface="Amiri" pitchFamily="2" charset="-78"/>
                <a:ea typeface="Amiri" pitchFamily="2" charset="-78"/>
                <a:cs typeface="Amiri" pitchFamily="2" charset="-78"/>
              </a:rPr>
              <a:t>يَحْظُرُ</a:t>
            </a:r>
            <a:pPr algn="l" indent="0" marL="0">
              <a:buNone/>
            </a:pPr>
            <a:r>
              <a:rPr lang="en-US" sz="1250" b="1" dirty="0">
                <a:solidFill>
                  <a:srgbClr val="1B3B6F"/>
                </a:solidFill>
                <a:latin typeface="Calibri" pitchFamily="34" charset="0"/>
                <a:cs typeface="Amiri" pitchFamily="2" charset="-78"/>
              </a:rPr>
              <a:t> correctly?</a:t>
            </a:r>
            <a:endParaRPr lang="en-US" sz="1250" dirty="0"/>
          </a:p>
        </p:txBody>
      </p:sp>
      <p:sp>
        <p:nvSpPr>
          <p:cNvPr id="61" name="Shape 58"/>
          <p:cNvSpPr/>
          <p:nvPr/>
        </p:nvSpPr>
        <p:spPr>
          <a:xfrm>
            <a:off x="6368796" y="48737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3" name="Text 60"/>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يَحْظُرُ القَانُونُ التَّصْوِيرَ هُنَا.</a:t>
            </a:r>
            <a:endParaRPr lang="ar-SA" sz="2050" dirty="0"/>
          </a:p>
        </p:txBody>
      </p:sp>
      <p:sp>
        <p:nvSpPr>
          <p:cNvPr id="64" name="Shape 61"/>
          <p:cNvSpPr/>
          <p:nvPr/>
        </p:nvSpPr>
        <p:spPr>
          <a:xfrm>
            <a:off x="6368796" y="53309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6" name="Text 63"/>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يَحْظُرُ القَانُونُ بِالتَّصْوِيرِ هُنَا.</a:t>
            </a:r>
            <a:endParaRPr lang="ar-SA" sz="2050" dirty="0"/>
          </a:p>
        </p:txBody>
      </p:sp>
      <p:sp>
        <p:nvSpPr>
          <p:cNvPr id="67" name="Shape 64"/>
          <p:cNvSpPr/>
          <p:nvPr/>
        </p:nvSpPr>
        <p:spPr>
          <a:xfrm>
            <a:off x="6368796" y="5788152"/>
            <a:ext cx="256032" cy="256032"/>
          </a:xfrm>
          <a:prstGeom prst="ellipse">
            <a:avLst/>
          </a:prstGeom>
          <a:solidFill>
            <a:srgbClr val="F4F1EA"/>
          </a:solidFill>
          <a:ln w="12700">
            <a:solidFill>
              <a:srgbClr val="F4F1EA"/>
            </a:solidFill>
            <a:prstDash val="solid"/>
          </a:ln>
        </p:spPr>
      </p:sp>
      <p:sp>
        <p:nvSpPr>
          <p:cNvPr id="68" name="Text 65"/>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9" name="Text 66"/>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يَحْظُرُ القَانُونُ عَلَى التَّصْوِيرِ هُنَا.</a:t>
            </a:r>
            <a:endParaRPr lang="ar-SA" sz="20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49</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P3-L07 · Culture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P3-L07</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19" name="Text 16"/>
          <p:cNvSpPr txBox="1"/>
          <p:nvPr/>
        </p:nvSpPr>
        <p:spPr>
          <a:xfrm>
            <a:off x="3323295" y="1883664"/>
            <a:ext cx="2570013" cy="475488"/>
          </a:xfrm>
          <a:prstGeom prst="rect">
            <a:avLst/>
          </a:prstGeom>
          <a:noFill/>
          <a:ln/>
        </p:spPr>
        <p:txBody>
          <a:bodyPr wrap="square" lIns="0" tIns="0" rIns="0" bIns="0" rtlCol="0" anchor="ctr"/>
          <a:lstStyle/>
          <a:p>
            <a:pPr rtl="1" algn="r" indent="0" marL="0">
              <a:buNone/>
            </a:pPr>
            <a:r>
              <a:rPr lang="ar-SA" altLang="en-US" sz="1200" b="1" dirty="0">
                <a:solidFill>
                  <a:srgbClr val="1F2A37"/>
                </a:solidFill>
                <a:latin typeface="Amiri" pitchFamily="2" charset="-78"/>
                <a:ea typeface="Amiri" pitchFamily="2" charset="-78"/>
                <a:cs typeface="Amiri" pitchFamily="2" charset="-78"/>
              </a:rPr>
              <a:t>يُسْتَحْسَنُ أَنْ ___ الزَّائِرُ بَعْضَ الكَلِمَاتِ العَرَبِيَّةِ.</a:t>
            </a:r>
            <a:endParaRPr lang="ar-SA" sz="1200" dirty="0"/>
          </a:p>
        </p:txBody>
      </p:sp>
      <p:sp>
        <p:nvSpPr>
          <p:cNvPr id="20" name="Shape 17"/>
          <p:cNvSpPr/>
          <p:nvPr/>
        </p:nvSpPr>
        <p:spPr>
          <a:xfrm>
            <a:off x="640080" y="2490216"/>
            <a:ext cx="256032" cy="256032"/>
          </a:xfrm>
          <a:prstGeom prst="ellipse">
            <a:avLst/>
          </a:prstGeom>
          <a:solidFill>
            <a:srgbClr val="C9CED6"/>
          </a:solidFill>
          <a:ln w="12700">
            <a:solidFill>
              <a:srgbClr val="C9CED6"/>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19"/>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يَتَعَلَّمُ</a:t>
            </a:r>
            <a:endParaRPr lang="ar-SA" sz="170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تَعَلَّمَ</a:t>
            </a:r>
            <a:endParaRPr lang="ar-SA" sz="1700" dirty="0"/>
          </a:p>
        </p:txBody>
      </p:sp>
      <p:sp>
        <p:nvSpPr>
          <p:cNvPr id="26" name="Shape 23"/>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7" name="Shape 24"/>
          <p:cNvSpPr/>
          <p:nvPr/>
        </p:nvSpPr>
        <p:spPr>
          <a:xfrm>
            <a:off x="640080" y="3233928"/>
            <a:ext cx="256032" cy="256032"/>
          </a:xfrm>
          <a:prstGeom prst="ellipse">
            <a:avLst/>
          </a:prstGeom>
          <a:solidFill>
            <a:srgbClr val="2E8B57"/>
          </a:solidFill>
          <a:ln w="12700">
            <a:solidFill>
              <a:srgbClr val="2E8B57"/>
            </a:solidFill>
            <a:prstDash val="solid"/>
          </a:ln>
        </p:spPr>
      </p:sp>
      <p:sp>
        <p:nvSpPr>
          <p:cNvPr id="28" name="Text 25"/>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9" name="Text 26"/>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يَتَعَلَّمَ</a:t>
            </a:r>
            <a:endParaRPr lang="ar-SA" sz="1700" dirty="0"/>
          </a:p>
        </p:txBody>
      </p:sp>
      <p:sp>
        <p:nvSpPr>
          <p:cNvPr id="30" name="Text 27"/>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After </a:t>
            </a:r>
            <a:pPr algn="l" indent="0" marL="0">
              <a:buNone/>
            </a:pPr>
            <a:r>
              <a:rPr lang="ar-SA" altLang="en-US" sz="1350" dirty="0">
                <a:solidFill>
                  <a:srgbClr val="8A6D1E"/>
                </a:solidFill>
                <a:latin typeface="Amiri" pitchFamily="2" charset="-78"/>
                <a:ea typeface="Amiri" pitchFamily="2" charset="-78"/>
                <a:cs typeface="Amiri" pitchFamily="2" charset="-78"/>
              </a:rPr>
              <a:t>أَنْ</a:t>
            </a:r>
            <a:pPr algn="l" indent="0" marL="0">
              <a:buNone/>
            </a:pPr>
            <a:r>
              <a:rPr lang="en-US" sz="1050" i="1" dirty="0">
                <a:solidFill>
                  <a:srgbClr val="8A6D1E"/>
                </a:solidFill>
                <a:latin typeface="Calibri" pitchFamily="34" charset="0"/>
                <a:cs typeface="Amiri" pitchFamily="2" charset="-78"/>
              </a:rPr>
              <a:t> the verb is subjunctive: </a:t>
            </a:r>
            <a:pPr algn="l" indent="0" marL="0">
              <a:buNone/>
            </a:pPr>
            <a:r>
              <a:rPr lang="ar-SA" altLang="en-US" sz="1350" dirty="0">
                <a:solidFill>
                  <a:srgbClr val="8A6D1E"/>
                </a:solidFill>
                <a:latin typeface="Amiri" pitchFamily="2" charset="-78"/>
                <a:ea typeface="Amiri" pitchFamily="2" charset="-78"/>
                <a:cs typeface="Amiri" pitchFamily="2" charset="-78"/>
              </a:rPr>
              <a:t>يَتَعَلَّمَ</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1" name="Shape 28"/>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6313932" y="1947672"/>
            <a:ext cx="310896" cy="310896"/>
          </a:xfrm>
          <a:prstGeom prst="ellipse">
            <a:avLst/>
          </a:prstGeom>
          <a:solidFill>
            <a:srgbClr val="1B3B6F"/>
          </a:solidFill>
          <a:ln w="12700">
            <a:solidFill>
              <a:srgbClr val="1B3B6F"/>
            </a:solidFill>
            <a:prstDash val="solid"/>
          </a:ln>
        </p:spPr>
      </p:sp>
      <p:sp>
        <p:nvSpPr>
          <p:cNvPr id="33" name="Text 30"/>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4" name="Text 31"/>
          <p:cNvSpPr txBox="1"/>
          <p:nvPr/>
        </p:nvSpPr>
        <p:spPr>
          <a:xfrm>
            <a:off x="6679692"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35" name="Text 32"/>
          <p:cNvSpPr txBox="1"/>
          <p:nvPr/>
        </p:nvSpPr>
        <p:spPr>
          <a:xfrm>
            <a:off x="9052011" y="1883664"/>
            <a:ext cx="2570013" cy="475488"/>
          </a:xfrm>
          <a:prstGeom prst="rect">
            <a:avLst/>
          </a:prstGeom>
          <a:noFill/>
          <a:ln/>
        </p:spPr>
        <p:txBody>
          <a:bodyPr wrap="square" lIns="0" tIns="0" rIns="0" bIns="0" rtlCol="0" anchor="ctr"/>
          <a:lstStyle/>
          <a:p>
            <a:pPr rtl="1" algn="r" indent="0" marL="0">
              <a:buNone/>
            </a:pPr>
            <a:r>
              <a:rPr lang="ar-SA" altLang="en-US" sz="1450" b="1" dirty="0">
                <a:solidFill>
                  <a:srgbClr val="1F2A37"/>
                </a:solidFill>
                <a:latin typeface="Amiri" pitchFamily="2" charset="-78"/>
                <a:ea typeface="Amiri" pitchFamily="2" charset="-78"/>
                <a:cs typeface="Amiri" pitchFamily="2" charset="-78"/>
              </a:rPr>
              <a:t>يُسْتَحْسَنُ أَنْ ___ الزَّائِرُ مَلَابِسَ مُحْتَشِمَةً.</a:t>
            </a:r>
            <a:endParaRPr lang="ar-SA" sz="1450" dirty="0"/>
          </a:p>
        </p:txBody>
      </p:sp>
      <p:sp>
        <p:nvSpPr>
          <p:cNvPr id="36" name="Shape 33"/>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7" name="Shape 34"/>
          <p:cNvSpPr/>
          <p:nvPr/>
        </p:nvSpPr>
        <p:spPr>
          <a:xfrm>
            <a:off x="6368796" y="2490216"/>
            <a:ext cx="256032" cy="256032"/>
          </a:xfrm>
          <a:prstGeom prst="ellipse">
            <a:avLst/>
          </a:prstGeom>
          <a:solidFill>
            <a:srgbClr val="2E8B57"/>
          </a:solidFill>
          <a:ln w="12700">
            <a:solidFill>
              <a:srgbClr val="2E8B57"/>
            </a:solidFill>
            <a:prstDash val="solid"/>
          </a:ln>
        </p:spPr>
      </p:sp>
      <p:sp>
        <p:nvSpPr>
          <p:cNvPr id="38" name="Text 35"/>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9" name="Text 36"/>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يَرْتَدِيَ</a:t>
            </a:r>
            <a:endParaRPr lang="ar-SA" sz="1700" dirty="0"/>
          </a:p>
        </p:txBody>
      </p:sp>
      <p:sp>
        <p:nvSpPr>
          <p:cNvPr id="40" name="Shape 37"/>
          <p:cNvSpPr/>
          <p:nvPr/>
        </p:nvSpPr>
        <p:spPr>
          <a:xfrm>
            <a:off x="6368796" y="2862072"/>
            <a:ext cx="256032" cy="256032"/>
          </a:xfrm>
          <a:prstGeom prst="ellipse">
            <a:avLst/>
          </a:prstGeom>
          <a:solidFill>
            <a:srgbClr val="C9CED6"/>
          </a:solidFill>
          <a:ln w="12700">
            <a:solidFill>
              <a:srgbClr val="C9CED6"/>
            </a:solidFill>
            <a:prstDash val="solid"/>
          </a:ln>
        </p:spPr>
      </p:sp>
      <p:sp>
        <p:nvSpPr>
          <p:cNvPr id="41" name="Text 38"/>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2" name="Text 39"/>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يَرْتَدِي</a:t>
            </a:r>
            <a:endParaRPr lang="ar-SA" sz="1700" dirty="0"/>
          </a:p>
        </p:txBody>
      </p:sp>
      <p:sp>
        <p:nvSpPr>
          <p:cNvPr id="43" name="Shape 40"/>
          <p:cNvSpPr/>
          <p:nvPr/>
        </p:nvSpPr>
        <p:spPr>
          <a:xfrm>
            <a:off x="6368796" y="3233928"/>
            <a:ext cx="256032" cy="256032"/>
          </a:xfrm>
          <a:prstGeom prst="ellipse">
            <a:avLst/>
          </a:prstGeom>
          <a:solidFill>
            <a:srgbClr val="C9CED6"/>
          </a:solidFill>
          <a:ln w="12700">
            <a:solidFill>
              <a:srgbClr val="C9CED6"/>
            </a:solidFill>
            <a:prstDash val="solid"/>
          </a:ln>
        </p:spPr>
      </p:sp>
      <p:sp>
        <p:nvSpPr>
          <p:cNvPr id="44" name="Text 41"/>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5" name="Text 42"/>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يَرْتَدِيَةً</a:t>
            </a:r>
            <a:endParaRPr lang="ar-SA" sz="1700" dirty="0"/>
          </a:p>
        </p:txBody>
      </p:sp>
      <p:sp>
        <p:nvSpPr>
          <p:cNvPr id="46" name="Text 43"/>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defective verb in the subjunctive is </a:t>
            </a:r>
            <a:pPr algn="l" indent="0" marL="0">
              <a:buNone/>
            </a:pPr>
            <a:r>
              <a:rPr lang="ar-SA" altLang="en-US" sz="1350" dirty="0">
                <a:solidFill>
                  <a:srgbClr val="8A6D1E"/>
                </a:solidFill>
                <a:latin typeface="Amiri" pitchFamily="2" charset="-78"/>
                <a:ea typeface="Amiri" pitchFamily="2" charset="-78"/>
                <a:cs typeface="Amiri" pitchFamily="2" charset="-78"/>
              </a:rPr>
              <a:t>يَرْتَدِيَ</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7" name="Shape 44"/>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585216" y="4288536"/>
            <a:ext cx="310896" cy="310896"/>
          </a:xfrm>
          <a:prstGeom prst="ellipse">
            <a:avLst/>
          </a:prstGeom>
          <a:solidFill>
            <a:srgbClr val="1B3B6F"/>
          </a:solidFill>
          <a:ln w="12700">
            <a:solidFill>
              <a:srgbClr val="1B3B6F"/>
            </a:solidFill>
            <a:prstDash val="solid"/>
          </a:ln>
        </p:spPr>
      </p:sp>
      <p:sp>
        <p:nvSpPr>
          <p:cNvPr id="49" name="Text 4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950976"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51" name="Text 48"/>
          <p:cNvSpPr txBox="1"/>
          <p:nvPr/>
        </p:nvSpPr>
        <p:spPr>
          <a:xfrm>
            <a:off x="3323295" y="4224528"/>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إِذَا زُرْتَ مَسْجِدًا، يَجِبُ أَنْ ___ حِذَاءَكَ.</a:t>
            </a:r>
            <a:endParaRPr lang="ar-SA" sz="1500" dirty="0"/>
          </a:p>
        </p:txBody>
      </p:sp>
      <p:sp>
        <p:nvSpPr>
          <p:cNvPr id="52" name="Shape 49"/>
          <p:cNvSpPr/>
          <p:nvPr/>
        </p:nvSpPr>
        <p:spPr>
          <a:xfrm>
            <a:off x="640080" y="4831080"/>
            <a:ext cx="256032" cy="256032"/>
          </a:xfrm>
          <a:prstGeom prst="ellipse">
            <a:avLst/>
          </a:prstGeom>
          <a:solidFill>
            <a:srgbClr val="C9CED6"/>
          </a:solidFill>
          <a:ln w="12700">
            <a:solidFill>
              <a:srgbClr val="C9CED6"/>
            </a:solidFill>
            <a:prstDash val="solid"/>
          </a:ln>
        </p:spPr>
      </p:sp>
      <p:sp>
        <p:nvSpPr>
          <p:cNvPr id="53" name="Text 50"/>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4" name="Text 51"/>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تَخْلَعُ</a:t>
            </a:r>
            <a:endParaRPr lang="ar-SA" sz="1700" dirty="0"/>
          </a:p>
        </p:txBody>
      </p:sp>
      <p:sp>
        <p:nvSpPr>
          <p:cNvPr id="55" name="Shape 52"/>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640080" y="5202936"/>
            <a:ext cx="256032" cy="256032"/>
          </a:xfrm>
          <a:prstGeom prst="ellipse">
            <a:avLst/>
          </a:prstGeom>
          <a:solidFill>
            <a:srgbClr val="2E8B57"/>
          </a:solidFill>
          <a:ln w="12700">
            <a:solidFill>
              <a:srgbClr val="2E8B57"/>
            </a:solidFill>
            <a:prstDash val="solid"/>
          </a:ln>
        </p:spPr>
      </p:sp>
      <p:sp>
        <p:nvSpPr>
          <p:cNvPr id="57" name="Text 54"/>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8" name="Text 55"/>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تَخْلَعَ</a:t>
            </a:r>
            <a:endParaRPr lang="ar-SA" sz="1700" dirty="0"/>
          </a:p>
        </p:txBody>
      </p:sp>
      <p:sp>
        <p:nvSpPr>
          <p:cNvPr id="59" name="Shape 56"/>
          <p:cNvSpPr/>
          <p:nvPr/>
        </p:nvSpPr>
        <p:spPr>
          <a:xfrm>
            <a:off x="640080" y="5574792"/>
            <a:ext cx="256032" cy="256032"/>
          </a:xfrm>
          <a:prstGeom prst="ellipse">
            <a:avLst/>
          </a:prstGeom>
          <a:solidFill>
            <a:srgbClr val="C9CED6"/>
          </a:solidFill>
          <a:ln w="12700">
            <a:solidFill>
              <a:srgbClr val="C9CED6"/>
            </a:solidFill>
            <a:prstDash val="solid"/>
          </a:ln>
        </p:spPr>
      </p:sp>
      <p:sp>
        <p:nvSpPr>
          <p:cNvPr id="60" name="Text 57"/>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1" name="Text 58"/>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خَلَعْتَ</a:t>
            </a:r>
            <a:endParaRPr lang="ar-SA" sz="1700" dirty="0"/>
          </a:p>
        </p:txBody>
      </p:sp>
      <p:sp>
        <p:nvSpPr>
          <p:cNvPr id="62" name="Text 59"/>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After </a:t>
            </a:r>
            <a:pPr algn="l" indent="0" marL="0">
              <a:buNone/>
            </a:pPr>
            <a:r>
              <a:rPr lang="ar-SA" altLang="en-US" sz="1350" dirty="0">
                <a:solidFill>
                  <a:srgbClr val="8A6D1E"/>
                </a:solidFill>
                <a:latin typeface="Amiri" pitchFamily="2" charset="-78"/>
                <a:ea typeface="Amiri" pitchFamily="2" charset="-78"/>
                <a:cs typeface="Amiri" pitchFamily="2" charset="-78"/>
              </a:rPr>
              <a:t>أَنْ</a:t>
            </a:r>
            <a:pPr algn="l" indent="0" marL="0">
              <a:buNone/>
            </a:pPr>
            <a:r>
              <a:rPr lang="en-US" sz="1050" i="1" dirty="0">
                <a:solidFill>
                  <a:srgbClr val="8A6D1E"/>
                </a:solidFill>
                <a:latin typeface="Calibri" pitchFamily="34" charset="0"/>
                <a:cs typeface="Amiri" pitchFamily="2" charset="-78"/>
              </a:rPr>
              <a:t> the verb takes a fatḥa: </a:t>
            </a:r>
            <a:pPr algn="l" indent="0" marL="0">
              <a:buNone/>
            </a:pPr>
            <a:r>
              <a:rPr lang="ar-SA" altLang="en-US" sz="1350" dirty="0">
                <a:solidFill>
                  <a:srgbClr val="8A6D1E"/>
                </a:solidFill>
                <a:latin typeface="Amiri" pitchFamily="2" charset="-78"/>
                <a:ea typeface="Amiri" pitchFamily="2" charset="-78"/>
                <a:cs typeface="Amiri" pitchFamily="2" charset="-78"/>
              </a:rPr>
              <a:t>تَخْلَعَ</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3" name="Shape 60"/>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6313932" y="4288536"/>
            <a:ext cx="310896" cy="310896"/>
          </a:xfrm>
          <a:prstGeom prst="ellipse">
            <a:avLst/>
          </a:prstGeom>
          <a:solidFill>
            <a:srgbClr val="1B3B6F"/>
          </a:solidFill>
          <a:ln w="12700">
            <a:solidFill>
              <a:srgbClr val="1B3B6F"/>
            </a:solidFill>
            <a:prstDash val="solid"/>
          </a:ln>
        </p:spPr>
      </p:sp>
      <p:sp>
        <p:nvSpPr>
          <p:cNvPr id="65" name="Text 62"/>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6" name="Text 63"/>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uses </a:t>
            </a:r>
            <a:pPr algn="l" indent="0" marL="0">
              <a:buNone/>
            </a:pPr>
            <a:r>
              <a:rPr lang="ar-SA" altLang="en-US" sz="1650" b="1" dirty="0">
                <a:solidFill>
                  <a:srgbClr val="1B3B6F"/>
                </a:solidFill>
                <a:latin typeface="Amiri" pitchFamily="2" charset="-78"/>
                <a:ea typeface="Amiri" pitchFamily="2" charset="-78"/>
                <a:cs typeface="Amiri" pitchFamily="2" charset="-78"/>
              </a:rPr>
              <a:t>يَحْظُرُ</a:t>
            </a:r>
            <a:pPr algn="l" indent="0" marL="0">
              <a:buNone/>
            </a:pPr>
            <a:r>
              <a:rPr lang="en-US" sz="1250" b="1" dirty="0">
                <a:solidFill>
                  <a:srgbClr val="1B3B6F"/>
                </a:solidFill>
                <a:latin typeface="Calibri" pitchFamily="34" charset="0"/>
                <a:cs typeface="Amiri" pitchFamily="2" charset="-78"/>
              </a:rPr>
              <a:t> correctly?</a:t>
            </a:r>
            <a:endParaRPr lang="en-US" sz="1250" dirty="0"/>
          </a:p>
        </p:txBody>
      </p:sp>
      <p:sp>
        <p:nvSpPr>
          <p:cNvPr id="67" name="Shape 64"/>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8" name="Shape 65"/>
          <p:cNvSpPr/>
          <p:nvPr/>
        </p:nvSpPr>
        <p:spPr>
          <a:xfrm>
            <a:off x="6368796" y="4831080"/>
            <a:ext cx="256032" cy="256032"/>
          </a:xfrm>
          <a:prstGeom prst="ellipse">
            <a:avLst/>
          </a:prstGeom>
          <a:solidFill>
            <a:srgbClr val="2E8B57"/>
          </a:solidFill>
          <a:ln w="12700">
            <a:solidFill>
              <a:srgbClr val="2E8B57"/>
            </a:solidFill>
            <a:prstDash val="solid"/>
          </a:ln>
        </p:spPr>
      </p:sp>
      <p:sp>
        <p:nvSpPr>
          <p:cNvPr id="69" name="Text 66"/>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70" name="Text 67"/>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يَحْظُرُ القَانُونُ التَّصْوِيرَ هُنَا.</a:t>
            </a:r>
            <a:endParaRPr lang="ar-SA" sz="1700" dirty="0"/>
          </a:p>
        </p:txBody>
      </p:sp>
      <p:sp>
        <p:nvSpPr>
          <p:cNvPr id="71" name="Shape 68"/>
          <p:cNvSpPr/>
          <p:nvPr/>
        </p:nvSpPr>
        <p:spPr>
          <a:xfrm>
            <a:off x="6368796" y="5202936"/>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3" name="Text 70"/>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يَحْظُرُ القَانُونُ بِالتَّصْوِيرِ هُنَا.</a:t>
            </a:r>
            <a:endParaRPr lang="ar-SA" sz="1700" dirty="0"/>
          </a:p>
        </p:txBody>
      </p:sp>
      <p:sp>
        <p:nvSpPr>
          <p:cNvPr id="74" name="Shape 71"/>
          <p:cNvSpPr/>
          <p:nvPr/>
        </p:nvSpPr>
        <p:spPr>
          <a:xfrm>
            <a:off x="6368796" y="5574792"/>
            <a:ext cx="256032" cy="256032"/>
          </a:xfrm>
          <a:prstGeom prst="ellipse">
            <a:avLst/>
          </a:prstGeom>
          <a:solidFill>
            <a:srgbClr val="C9CED6"/>
          </a:solidFill>
          <a:ln w="12700">
            <a:solidFill>
              <a:srgbClr val="C9CED6"/>
            </a:solidFill>
            <a:prstDash val="solid"/>
          </a:ln>
        </p:spPr>
      </p:sp>
      <p:sp>
        <p:nvSpPr>
          <p:cNvPr id="75" name="Text 72"/>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6" name="Text 73"/>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يَحْظُرُ القَانُونُ عَلَى التَّصْوِيرِ هُنَا.</a:t>
            </a:r>
            <a:endParaRPr lang="ar-SA" sz="1700" dirty="0"/>
          </a:p>
        </p:txBody>
      </p:sp>
      <p:sp>
        <p:nvSpPr>
          <p:cNvPr id="77" name="Text 74"/>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يَحْظُرُ</a:t>
            </a:r>
            <a:pPr algn="l" indent="0" marL="0">
              <a:buNone/>
            </a:pPr>
            <a:r>
              <a:rPr lang="en-US" sz="1050" i="1" dirty="0">
                <a:solidFill>
                  <a:srgbClr val="8A6D1E"/>
                </a:solidFill>
                <a:latin typeface="Calibri" pitchFamily="34" charset="0"/>
                <a:cs typeface="Amiri" pitchFamily="2" charset="-78"/>
              </a:rPr>
              <a:t> takes a direct object.</a:t>
            </a:r>
            <a:endParaRPr lang="en-US" sz="1050" dirty="0"/>
          </a:p>
        </p:txBody>
      </p:sp>
      <p:sp>
        <p:nvSpPr>
          <p:cNvPr id="78" name="Text 7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49</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P3-L07 · Culture</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Watch me write a cultural guide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P3-L07</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Big idea</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C77700"/>
                </a:solidFill>
                <a:latin typeface="Amiri" pitchFamily="2" charset="-78"/>
                <a:ea typeface="Amiri" pitchFamily="2" charset="-78"/>
                <a:cs typeface="Amiri" pitchFamily="2" charset="-78"/>
              </a:rPr>
              <a:t>يُعْتَبَرُ</a:t>
            </a:r>
            <a:pPr rtl="1" algn="ctr" indent="0" marL="0">
              <a:buNone/>
            </a:pPr>
            <a:r>
              <a:rPr lang="ar-SA" altLang="en-US" sz="2800" b="1" dirty="0">
                <a:solidFill>
                  <a:srgbClr val="1B3B6F"/>
                </a:solidFill>
                <a:latin typeface="Amiri" pitchFamily="2" charset="-78"/>
                <a:ea typeface="Amiri" pitchFamily="2" charset="-78"/>
                <a:cs typeface="Amiri" pitchFamily="2" charset="-78"/>
              </a:rPr>
              <a:t> الاحْتِرَامُ …</a:t>
            </a:r>
            <a:endParaRPr lang="ar-SA" sz="280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General.</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Polite advice</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يُسْتَحْسَنُ أَنْ </a:t>
            </a:r>
            <a:pPr rtl="1" algn="ctr" indent="0" marL="0">
              <a:buNone/>
            </a:pPr>
            <a:r>
              <a:rPr lang="ar-SA" altLang="en-US" sz="2800" b="1" dirty="0">
                <a:solidFill>
                  <a:srgbClr val="0E7C86"/>
                </a:solidFill>
                <a:latin typeface="Amiri" pitchFamily="2" charset="-78"/>
                <a:ea typeface="Amiri" pitchFamily="2" charset="-78"/>
                <a:cs typeface="Amiri" pitchFamily="2" charset="-78"/>
              </a:rPr>
              <a:t>يَتَعَلَّمَ</a:t>
            </a:r>
            <a:pPr rtl="1" algn="ctr" indent="0" marL="0">
              <a:buNone/>
            </a:pPr>
            <a:r>
              <a:rPr lang="ar-SA" altLang="en-US" sz="2800" b="1" dirty="0">
                <a:solidFill>
                  <a:srgbClr val="1B3B6F"/>
                </a:solidFill>
                <a:latin typeface="Amiri" pitchFamily="2" charset="-78"/>
                <a:cs typeface="Amiri" pitchFamily="2" charset="-78"/>
              </a:rPr>
              <a:t> …</a:t>
            </a:r>
            <a:endParaRPr lang="ar-SA" sz="280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 after an.</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Scenario + rule</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900" b="1" dirty="0">
                <a:solidFill>
                  <a:srgbClr val="1D5FBF"/>
                </a:solidFill>
                <a:latin typeface="Amiri" pitchFamily="2" charset="-78"/>
                <a:ea typeface="Amiri" pitchFamily="2" charset="-78"/>
                <a:cs typeface="Amiri" pitchFamily="2" charset="-78"/>
              </a:rPr>
              <a:t>إِذَا</a:t>
            </a:r>
            <a:pPr rtl="1" algn="ctr" indent="0" marL="0">
              <a:lnSpc>
                <a:spcPct val="120000"/>
              </a:lnSpc>
              <a:buNone/>
            </a:pPr>
            <a:r>
              <a:rPr lang="ar-SA" altLang="en-US" sz="1900" b="1" dirty="0">
                <a:solidFill>
                  <a:srgbClr val="1B3B6F"/>
                </a:solidFill>
                <a:latin typeface="Amiri" pitchFamily="2" charset="-78"/>
                <a:ea typeface="Amiri" pitchFamily="2" charset="-78"/>
                <a:cs typeface="Amiri" pitchFamily="2" charset="-78"/>
              </a:rPr>
              <a:t> زُرْتَ … يَجِبُ أَنْ · </a:t>
            </a:r>
            <a:pPr rtl="1" algn="ctr" indent="0" marL="0">
              <a:lnSpc>
                <a:spcPct val="120000"/>
              </a:lnSpc>
              <a:buNone/>
            </a:pPr>
            <a:r>
              <a:rPr lang="ar-SA" altLang="en-US" sz="1900" b="1" dirty="0">
                <a:solidFill>
                  <a:srgbClr val="7B3FA0"/>
                </a:solidFill>
                <a:latin typeface="Amiri" pitchFamily="2" charset="-78"/>
                <a:ea typeface="Amiri" pitchFamily="2" charset="-78"/>
                <a:cs typeface="Amiri" pitchFamily="2" charset="-78"/>
              </a:rPr>
              <a:t>يَحْظُرُ</a:t>
            </a:r>
            <a:pPr rtl="1" algn="ctr" indent="0" marL="0">
              <a:lnSpc>
                <a:spcPct val="120000"/>
              </a:lnSpc>
              <a:buNone/>
            </a:pPr>
            <a:r>
              <a:rPr lang="ar-SA" altLang="en-US" sz="1900" b="1" dirty="0">
                <a:solidFill>
                  <a:srgbClr val="1B3B6F"/>
                </a:solidFill>
                <a:latin typeface="Amiri" pitchFamily="2" charset="-78"/>
                <a:cs typeface="Amiri" pitchFamily="2" charset="-78"/>
              </a:rPr>
              <a:t> …</a:t>
            </a:r>
            <a:endParaRPr lang="ar-SA" sz="190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Object!</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Tip + reflection</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buNone/>
            </a:pPr>
            <a:r>
              <a:rPr lang="ar-SA" altLang="en-US" sz="2400" b="1" dirty="0">
                <a:solidFill>
                  <a:srgbClr val="7B3FA0"/>
                </a:solidFill>
                <a:latin typeface="Amiri" pitchFamily="2" charset="-78"/>
                <a:ea typeface="Amiri" pitchFamily="2" charset="-78"/>
                <a:cs typeface="Amiri" pitchFamily="2" charset="-78"/>
              </a:rPr>
              <a:t>أَخْبَرَنِي … أَنَّ</a:t>
            </a:r>
            <a:pPr rtl="1" algn="ctr" indent="0" marL="0">
              <a:buNone/>
            </a:pPr>
            <a:r>
              <a:rPr lang="ar-SA" altLang="en-US" sz="2400" b="1" dirty="0">
                <a:solidFill>
                  <a:srgbClr val="1B3B6F"/>
                </a:solidFill>
                <a:latin typeface="Amiri" pitchFamily="2" charset="-78"/>
                <a:cs typeface="Amiri" pitchFamily="2" charset="-78"/>
              </a:rPr>
              <a:t> · </a:t>
            </a:r>
            <a:pPr rtl="1" algn="ctr" indent="0" marL="0">
              <a:buNone/>
            </a:pPr>
            <a:r>
              <a:rPr lang="ar-SA" altLang="en-US" sz="2400" b="1" dirty="0">
                <a:solidFill>
                  <a:srgbClr val="D6336C"/>
                </a:solidFill>
                <a:latin typeface="Amiri" pitchFamily="2" charset="-78"/>
                <a:ea typeface="Amiri" pitchFamily="2" charset="-78"/>
                <a:cs typeface="Amiri" pitchFamily="2" charset="-78"/>
              </a:rPr>
              <a:t>لَوْ … لَـ</a:t>
            </a:r>
            <a:endParaRPr lang="ar-SA" sz="240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Type 2.</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6565392" y="4736592"/>
            <a:ext cx="914400" cy="237744"/>
          </a:xfrm>
          <a:prstGeom prst="roundRect">
            <a:avLst>
              <a:gd name="adj" fmla="val 50000"/>
            </a:avLst>
          </a:prstGeom>
          <a:solidFill>
            <a:srgbClr val="C77700"/>
          </a:solidFill>
          <a:ln w="12700">
            <a:solidFill>
              <a:srgbClr val="C77700"/>
            </a:solidFill>
            <a:prstDash val="solid"/>
          </a:ln>
        </p:spPr>
      </p:sp>
      <p:sp>
        <p:nvSpPr>
          <p:cNvPr id="46" name="Text 42"/>
          <p:cNvSpPr txBox="1"/>
          <p:nvPr/>
        </p:nvSpPr>
        <p:spPr>
          <a:xfrm>
            <a:off x="6565392"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GENERAL</a:t>
            </a:r>
            <a:endParaRPr lang="en-US" sz="800" dirty="0"/>
          </a:p>
        </p:txBody>
      </p:sp>
      <p:sp>
        <p:nvSpPr>
          <p:cNvPr id="47" name="Shape 43"/>
          <p:cNvSpPr/>
          <p:nvPr/>
        </p:nvSpPr>
        <p:spPr>
          <a:xfrm>
            <a:off x="7552944" y="4736592"/>
            <a:ext cx="914400" cy="237744"/>
          </a:xfrm>
          <a:prstGeom prst="roundRect">
            <a:avLst>
              <a:gd name="adj" fmla="val 50000"/>
            </a:avLst>
          </a:prstGeom>
          <a:solidFill>
            <a:srgbClr val="0E7C86"/>
          </a:solidFill>
          <a:ln w="12700">
            <a:solidFill>
              <a:srgbClr val="0E7C86"/>
            </a:solidFill>
            <a:prstDash val="solid"/>
          </a:ln>
        </p:spPr>
      </p:sp>
      <p:sp>
        <p:nvSpPr>
          <p:cNvPr id="48" name="Text 44"/>
          <p:cNvSpPr txBox="1"/>
          <p:nvPr/>
        </p:nvSpPr>
        <p:spPr>
          <a:xfrm>
            <a:off x="7552944"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VERB IN -A</a:t>
            </a:r>
            <a:endParaRPr lang="en-US" sz="800" dirty="0"/>
          </a:p>
        </p:txBody>
      </p:sp>
      <p:sp>
        <p:nvSpPr>
          <p:cNvPr id="49" name="Shape 45"/>
          <p:cNvSpPr/>
          <p:nvPr/>
        </p:nvSpPr>
        <p:spPr>
          <a:xfrm>
            <a:off x="8540496" y="4736592"/>
            <a:ext cx="914400" cy="237744"/>
          </a:xfrm>
          <a:prstGeom prst="roundRect">
            <a:avLst>
              <a:gd name="adj" fmla="val 50000"/>
            </a:avLst>
          </a:prstGeom>
          <a:solidFill>
            <a:srgbClr val="1D5FBF"/>
          </a:solidFill>
          <a:ln w="12700">
            <a:solidFill>
              <a:srgbClr val="1D5FBF"/>
            </a:solidFill>
            <a:prstDash val="solid"/>
          </a:ln>
        </p:spPr>
      </p:sp>
      <p:sp>
        <p:nvSpPr>
          <p:cNvPr id="50" name="Text 46"/>
          <p:cNvSpPr txBox="1"/>
          <p:nvPr/>
        </p:nvSpPr>
        <p:spPr>
          <a:xfrm>
            <a:off x="8540496"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SCENARIO</a:t>
            </a:r>
            <a:endParaRPr lang="en-US" sz="800" dirty="0"/>
          </a:p>
        </p:txBody>
      </p:sp>
      <p:sp>
        <p:nvSpPr>
          <p:cNvPr id="51" name="Shape 47"/>
          <p:cNvSpPr/>
          <p:nvPr/>
        </p:nvSpPr>
        <p:spPr>
          <a:xfrm>
            <a:off x="9528048" y="4736592"/>
            <a:ext cx="914400" cy="237744"/>
          </a:xfrm>
          <a:prstGeom prst="roundRect">
            <a:avLst>
              <a:gd name="adj" fmla="val 50000"/>
            </a:avLst>
          </a:prstGeom>
          <a:solidFill>
            <a:srgbClr val="7B3FA0"/>
          </a:solidFill>
          <a:ln w="12700">
            <a:solidFill>
              <a:srgbClr val="7B3FA0"/>
            </a:solidFill>
            <a:prstDash val="solid"/>
          </a:ln>
        </p:spPr>
      </p:sp>
      <p:sp>
        <p:nvSpPr>
          <p:cNvPr id="52" name="Text 48"/>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RULE / TIP</a:t>
            </a:r>
            <a:endParaRPr lang="en-US" sz="800" dirty="0"/>
          </a:p>
        </p:txBody>
      </p:sp>
      <p:sp>
        <p:nvSpPr>
          <p:cNvPr id="53" name="Shape 49"/>
          <p:cNvSpPr/>
          <p:nvPr/>
        </p:nvSpPr>
        <p:spPr>
          <a:xfrm>
            <a:off x="10515600" y="4736592"/>
            <a:ext cx="914400" cy="237744"/>
          </a:xfrm>
          <a:prstGeom prst="roundRect">
            <a:avLst>
              <a:gd name="adj" fmla="val 50000"/>
            </a:avLst>
          </a:prstGeom>
          <a:solidFill>
            <a:srgbClr val="D6336C"/>
          </a:solidFill>
          <a:ln w="12700">
            <a:solidFill>
              <a:srgbClr val="D6336C"/>
            </a:solidFill>
            <a:prstDash val="solid"/>
          </a:ln>
        </p:spPr>
      </p:sp>
      <p:sp>
        <p:nvSpPr>
          <p:cNvPr id="54" name="Text 50"/>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REFLECTION</a:t>
            </a:r>
            <a:endParaRPr lang="en-US" sz="800" dirty="0"/>
          </a:p>
        </p:txBody>
      </p:sp>
      <p:sp>
        <p:nvSpPr>
          <p:cNvPr id="55" name="Text 51"/>
          <p:cNvSpPr txBox="1"/>
          <p:nvPr/>
        </p:nvSpPr>
        <p:spPr>
          <a:xfrm>
            <a:off x="685800" y="5029200"/>
            <a:ext cx="10817352" cy="731520"/>
          </a:xfrm>
          <a:prstGeom prst="rect">
            <a:avLst/>
          </a:prstGeom>
          <a:noFill/>
          <a:ln/>
        </p:spPr>
        <p:txBody>
          <a:bodyPr wrap="square" lIns="0" tIns="0" rIns="0" bIns="0" rtlCol="0" anchor="ctr"/>
          <a:lstStyle/>
          <a:p>
            <a:pPr rtl="1" algn="r" indent="0" marL="0">
              <a:lnSpc>
                <a:spcPct val="120000"/>
              </a:lnSpc>
              <a:buNone/>
            </a:pPr>
            <a:r>
              <a:rPr lang="ar-SA" altLang="en-US" sz="1400" b="1" dirty="0">
                <a:solidFill>
                  <a:srgbClr val="C77700"/>
                </a:solidFill>
                <a:latin typeface="Amiri" pitchFamily="2" charset="-78"/>
                <a:ea typeface="Amiri" pitchFamily="2" charset="-78"/>
                <a:cs typeface="Amiri" pitchFamily="2" charset="-78"/>
              </a:rPr>
              <a:t>يُعْتَبَرُ</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الاحْتِرَامُ الثَّقَافِيُّ رَكِيزَةً أَسَاسِيَّةً لِأَيِّ رِحْلَةٍ نَاجِحَةٍ. يُسْتَحْسَنُ أَنْ </a:t>
            </a:r>
            <a:pPr rtl="1" algn="r" indent="0" marL="0">
              <a:lnSpc>
                <a:spcPct val="120000"/>
              </a:lnSpc>
              <a:buNone/>
            </a:pPr>
            <a:r>
              <a:rPr lang="ar-SA" altLang="en-US" sz="1400" b="1" dirty="0">
                <a:solidFill>
                  <a:srgbClr val="0E7C86"/>
                </a:solidFill>
                <a:latin typeface="Amiri" pitchFamily="2" charset="-78"/>
                <a:ea typeface="Amiri" pitchFamily="2" charset="-78"/>
                <a:cs typeface="Amiri" pitchFamily="2" charset="-78"/>
              </a:rPr>
              <a:t>يَتَعَلَّمَ</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الزَّائِرُ بَعْضَ العِبَارَاتِ العَرَبِيَّةِ، وَيُسْتَحْسَنُ أَنْ </a:t>
            </a:r>
            <a:pPr rtl="1" algn="r" indent="0" marL="0">
              <a:lnSpc>
                <a:spcPct val="120000"/>
              </a:lnSpc>
              <a:buNone/>
            </a:pPr>
            <a:r>
              <a:rPr lang="ar-SA" altLang="en-US" sz="1400" b="1" dirty="0">
                <a:solidFill>
                  <a:srgbClr val="0E7C86"/>
                </a:solidFill>
                <a:latin typeface="Amiri" pitchFamily="2" charset="-78"/>
                <a:ea typeface="Amiri" pitchFamily="2" charset="-78"/>
                <a:cs typeface="Amiri" pitchFamily="2" charset="-78"/>
              </a:rPr>
              <a:t>يَرْتَدِيَ</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مَلَابِسَ مُحْتَشِمَةً. </a:t>
            </a:r>
            <a:pPr rtl="1" algn="r" indent="0" marL="0">
              <a:lnSpc>
                <a:spcPct val="120000"/>
              </a:lnSpc>
              <a:buNone/>
            </a:pPr>
            <a:r>
              <a:rPr lang="ar-SA" altLang="en-US" sz="1400" b="1" dirty="0">
                <a:solidFill>
                  <a:srgbClr val="1D5FBF"/>
                </a:solidFill>
                <a:latin typeface="Amiri" pitchFamily="2" charset="-78"/>
                <a:ea typeface="Amiri" pitchFamily="2" charset="-78"/>
                <a:cs typeface="Amiri" pitchFamily="2" charset="-78"/>
              </a:rPr>
              <a:t>وَإِذَا</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زُرْتَ مَسْجِدًا، يَجِبُ أَنْ </a:t>
            </a:r>
            <a:pPr rtl="1" algn="r" indent="0" marL="0">
              <a:lnSpc>
                <a:spcPct val="120000"/>
              </a:lnSpc>
              <a:buNone/>
            </a:pPr>
            <a:r>
              <a:rPr lang="ar-SA" altLang="en-US" sz="1400" b="1" dirty="0">
                <a:solidFill>
                  <a:srgbClr val="0E7C86"/>
                </a:solidFill>
                <a:latin typeface="Amiri" pitchFamily="2" charset="-78"/>
                <a:ea typeface="Amiri" pitchFamily="2" charset="-78"/>
                <a:cs typeface="Amiri" pitchFamily="2" charset="-78"/>
              </a:rPr>
              <a:t>تَخْلَعَ</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حِذَاءَكَ. كَمَا </a:t>
            </a:r>
            <a:pPr rtl="1" algn="r" indent="0" marL="0">
              <a:lnSpc>
                <a:spcPct val="120000"/>
              </a:lnSpc>
              <a:buNone/>
            </a:pPr>
            <a:r>
              <a:rPr lang="ar-SA" altLang="en-US" sz="1400" b="1" dirty="0">
                <a:solidFill>
                  <a:srgbClr val="7B3FA0"/>
                </a:solidFill>
                <a:latin typeface="Amiri" pitchFamily="2" charset="-78"/>
                <a:ea typeface="Amiri" pitchFamily="2" charset="-78"/>
                <a:cs typeface="Amiri" pitchFamily="2" charset="-78"/>
              </a:rPr>
              <a:t>يَحْظُرُ</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بَعْضُ المُقَدَّسَاتِ </a:t>
            </a:r>
            <a:pPr rtl="1" algn="r" indent="0" marL="0">
              <a:lnSpc>
                <a:spcPct val="120000"/>
              </a:lnSpc>
              <a:buNone/>
            </a:pPr>
            <a:r>
              <a:rPr lang="ar-SA" altLang="en-US" sz="1400" b="1" dirty="0">
                <a:solidFill>
                  <a:srgbClr val="7B3FA0"/>
                </a:solidFill>
                <a:latin typeface="Amiri" pitchFamily="2" charset="-78"/>
                <a:ea typeface="Amiri" pitchFamily="2" charset="-78"/>
                <a:cs typeface="Amiri" pitchFamily="2" charset="-78"/>
              </a:rPr>
              <a:t>التَّصْوِيرَ</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فَاسْأَلْ أَوَّلًا. </a:t>
            </a:r>
            <a:pPr rtl="1" algn="r" indent="0" marL="0">
              <a:lnSpc>
                <a:spcPct val="120000"/>
              </a:lnSpc>
              <a:buNone/>
            </a:pPr>
            <a:r>
              <a:rPr lang="ar-SA" altLang="en-US" sz="1400" b="1" dirty="0">
                <a:solidFill>
                  <a:srgbClr val="7B3FA0"/>
                </a:solidFill>
                <a:latin typeface="Amiri" pitchFamily="2" charset="-78"/>
                <a:ea typeface="Amiri" pitchFamily="2" charset="-78"/>
                <a:cs typeface="Amiri" pitchFamily="2" charset="-78"/>
              </a:rPr>
              <a:t>أَخْبَرَنِي</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مُرْشِدٌ مَحَلِّيٌّ </a:t>
            </a:r>
            <a:pPr rtl="1" algn="r" indent="0" marL="0">
              <a:lnSpc>
                <a:spcPct val="120000"/>
              </a:lnSpc>
              <a:buNone/>
            </a:pPr>
            <a:r>
              <a:rPr lang="ar-SA" altLang="en-US" sz="1400" b="1" dirty="0">
                <a:solidFill>
                  <a:srgbClr val="7B3FA0"/>
                </a:solidFill>
                <a:latin typeface="Amiri" pitchFamily="2" charset="-78"/>
                <a:ea typeface="Amiri" pitchFamily="2" charset="-78"/>
                <a:cs typeface="Amiri" pitchFamily="2" charset="-78"/>
              </a:rPr>
              <a:t>أَنَّ</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التَّحِيَّةَ تُعَبِّرُ عَنِ احْتِرَامٍ عَمِيقٍ. </a:t>
            </a:r>
            <a:pPr rtl="1" algn="r" indent="0" marL="0">
              <a:lnSpc>
                <a:spcPct val="120000"/>
              </a:lnSpc>
              <a:buNone/>
            </a:pPr>
            <a:r>
              <a:rPr lang="ar-SA" altLang="en-US" sz="1400" b="1" dirty="0">
                <a:solidFill>
                  <a:srgbClr val="D6336C"/>
                </a:solidFill>
                <a:latin typeface="Amiri" pitchFamily="2" charset="-78"/>
                <a:ea typeface="Amiri" pitchFamily="2" charset="-78"/>
                <a:cs typeface="Amiri" pitchFamily="2" charset="-78"/>
              </a:rPr>
              <a:t>وَلَوْ</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عَرَفَ كُلُّ زَائِرٍ عَادَاتِ البَلَدِ، </a:t>
            </a:r>
            <a:pPr rtl="1" algn="r" indent="0" marL="0">
              <a:lnSpc>
                <a:spcPct val="120000"/>
              </a:lnSpc>
              <a:buNone/>
            </a:pPr>
            <a:r>
              <a:rPr lang="ar-SA" altLang="en-US" sz="1400" b="1" dirty="0">
                <a:solidFill>
                  <a:srgbClr val="D6336C"/>
                </a:solidFill>
                <a:latin typeface="Amiri" pitchFamily="2" charset="-78"/>
                <a:ea typeface="Amiri" pitchFamily="2" charset="-78"/>
                <a:cs typeface="Amiri" pitchFamily="2" charset="-78"/>
              </a:rPr>
              <a:t>لَقَلَّتِ</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الزَّلَّاتُ الثَّقَافِيَّةُ.</a:t>
            </a:r>
            <a:endParaRPr lang="ar-SA" sz="1400" dirty="0"/>
          </a:p>
        </p:txBody>
      </p:sp>
      <p:sp>
        <p:nvSpPr>
          <p:cNvPr id="56" name="Text 52"/>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900" i="1" dirty="0">
                <a:solidFill>
                  <a:srgbClr val="5A6472"/>
                </a:solidFill>
                <a:latin typeface="Calibri" pitchFamily="34" charset="0"/>
                <a:cs typeface="Amiri" pitchFamily="2" charset="-78"/>
              </a:rPr>
              <a:t>Cultural respect is considered a cornerstone of any successful trip. It is preferable for the visitor to learn some Arabic phrases, and to wear modest clothing. If you visit a mosque, you must take off your shoes. Some sacred places also prohibit photography, so ask first. A local guide told me that the greeting expresses deep respect. And had every visitor known the country’s customs, cultural faux pas would have been fewer.</a:t>
            </a:r>
            <a:endParaRPr lang="en-US" sz="900" dirty="0"/>
          </a:p>
        </p:txBody>
      </p:sp>
      <p:sp>
        <p:nvSpPr>
          <p:cNvPr id="57" name="Text 5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49</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P3-L07 · Culture</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MODEL SENTENCES FROM THE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P3-L07</a:t>
            </a:r>
            <a:endParaRPr lang="en-US" sz="850" dirty="0"/>
          </a:p>
        </p:txBody>
      </p:sp>
      <p:sp>
        <p:nvSpPr>
          <p:cNvPr id="15" name="Shape 12"/>
          <p:cNvSpPr/>
          <p:nvPr/>
        </p:nvSpPr>
        <p:spPr>
          <a:xfrm>
            <a:off x="457200" y="1810512"/>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316480"/>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31648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13411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يُسْتَحْسَنُ أَنْ يَتَعَلَّمَ الزَّائِرُ بَعْضَ العِبَارَاتِ العَرَبِيَّةِ</a:t>
            </a:r>
            <a:endParaRPr lang="ar-SA" sz="2600" dirty="0"/>
          </a:p>
        </p:txBody>
      </p:sp>
      <p:sp>
        <p:nvSpPr>
          <p:cNvPr id="19" name="Text 16"/>
          <p:cNvSpPr txBox="1"/>
          <p:nvPr/>
        </p:nvSpPr>
        <p:spPr>
          <a:xfrm>
            <a:off x="685800" y="1856232"/>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it is preferable for the visitor to learn some Arabic phrases</a:t>
            </a:r>
            <a:endParaRPr lang="en-US" sz="1250" dirty="0"/>
          </a:p>
          <a:p>
            <a:pPr indent="0" marL="0">
              <a:buNone/>
            </a:pPr>
            <a:r>
              <a:rPr lang="en-US" sz="1050" i="1" dirty="0">
                <a:solidFill>
                  <a:srgbClr val="8A6D1E"/>
                </a:solidFill>
                <a:latin typeface="Calibri" pitchFamily="34" charset="0"/>
                <a:cs typeface="Amiri" pitchFamily="2" charset="-78"/>
              </a:rPr>
              <a:t>A verb in -a after an.</a:t>
            </a:r>
            <a:endParaRPr lang="en-US" sz="1250" dirty="0"/>
          </a:p>
        </p:txBody>
      </p:sp>
      <p:sp>
        <p:nvSpPr>
          <p:cNvPr id="20" name="Shape 17"/>
          <p:cNvSpPr/>
          <p:nvPr/>
        </p:nvSpPr>
        <p:spPr>
          <a:xfrm>
            <a:off x="457200" y="3352800"/>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858768"/>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85876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389376"/>
            <a:ext cx="6492240" cy="13411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إِذَا زُرْتَ مَسْجِدًا، يَجِبُ أَنْ تَخْلَعَ حِذَاءَكَ</a:t>
            </a:r>
            <a:endParaRPr lang="ar-SA" sz="2600" dirty="0"/>
          </a:p>
        </p:txBody>
      </p:sp>
      <p:sp>
        <p:nvSpPr>
          <p:cNvPr id="24" name="Text 21"/>
          <p:cNvSpPr txBox="1"/>
          <p:nvPr/>
        </p:nvSpPr>
        <p:spPr>
          <a:xfrm>
            <a:off x="685800" y="3398520"/>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if you visit a mosque, you must take off your shoes</a:t>
            </a:r>
            <a:endParaRPr lang="en-US" sz="1250" dirty="0"/>
          </a:p>
          <a:p>
            <a:pPr indent="0" marL="0">
              <a:buNone/>
            </a:pPr>
            <a:r>
              <a:rPr lang="en-US" sz="1050" i="1" dirty="0">
                <a:solidFill>
                  <a:srgbClr val="8A6D1E"/>
                </a:solidFill>
                <a:latin typeface="Calibri" pitchFamily="34" charset="0"/>
                <a:cs typeface="Amiri" pitchFamily="2" charset="-78"/>
              </a:rPr>
              <a:t>Type 1 scenario plus subjunctive.</a:t>
            </a:r>
            <a:endParaRPr lang="en-US" sz="1250" dirty="0"/>
          </a:p>
        </p:txBody>
      </p:sp>
      <p:sp>
        <p:nvSpPr>
          <p:cNvPr id="25" name="Shape 22"/>
          <p:cNvSpPr/>
          <p:nvPr/>
        </p:nvSpPr>
        <p:spPr>
          <a:xfrm>
            <a:off x="457200" y="4895088"/>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540105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540105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931664"/>
            <a:ext cx="6492240" cy="13411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لَوْ تَعَلَّمْتُ شَيْئًا مِنَ العَرَبِيَّةِ، لَكَانَتِ التَّجْرِبَةُ أَعْمَقَ</a:t>
            </a:r>
            <a:endParaRPr lang="ar-SA" sz="2600" dirty="0"/>
          </a:p>
        </p:txBody>
      </p:sp>
      <p:sp>
        <p:nvSpPr>
          <p:cNvPr id="29" name="Text 26"/>
          <p:cNvSpPr txBox="1"/>
          <p:nvPr/>
        </p:nvSpPr>
        <p:spPr>
          <a:xfrm>
            <a:off x="685800" y="4940808"/>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had I learned some Arabic, the experience would have been deeper</a:t>
            </a:r>
            <a:endParaRPr lang="en-US" sz="1250" dirty="0"/>
          </a:p>
          <a:p>
            <a:pPr indent="0" marL="0">
              <a:buNone/>
            </a:pPr>
            <a:r>
              <a:rPr lang="en-US" sz="1050" i="1" dirty="0">
                <a:solidFill>
                  <a:srgbClr val="8A6D1E"/>
                </a:solidFill>
                <a:latin typeface="Calibri" pitchFamily="34" charset="0"/>
                <a:cs typeface="Amiri" pitchFamily="2" charset="-78"/>
              </a:rPr>
              <a:t>Type 2 cultural reflection.</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49</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P3-L07 · Culture</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2F6FB0"/>
                </a:solidFill>
                <a:latin typeface="Calibri" pitchFamily="34" charset="0"/>
                <a:cs typeface="Amiri" pitchFamily="2" charset="-78"/>
              </a:rPr>
              <a:t>WE DO · PICTURE MATCH · WEBSITE GAME “VISUAL GAME — CULTURAL SENSITIVITY IN TRAVEL — BEING A RESPECTFUL VISITOR”</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50" b="1" dirty="0">
                <a:solidFill>
                  <a:srgbClr val="1B3B6F"/>
                </a:solidFill>
                <a:latin typeface="Cambria" pitchFamily="34" charset="0"/>
                <a:cs typeface="Amiri" pitchFamily="2" charset="-78"/>
              </a:rPr>
              <a:t>Culture around us: match the picture</a:t>
            </a:r>
            <a:endParaRPr lang="en-US" sz="25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الثَّقَافَةُ وَالعَادَاتُ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P3-L07</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Shape 16"/>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2" name="Text 17"/>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greetings</a:t>
            </a:r>
            <a:endParaRPr lang="en-US" sz="1100" dirty="0"/>
          </a:p>
        </p:txBody>
      </p:sp>
      <p:sp>
        <p:nvSpPr>
          <p:cNvPr id="23" name="Shape 18"/>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4404360" y="1938528"/>
            <a:ext cx="365760" cy="365760"/>
          </a:xfrm>
          <a:prstGeom prst="ellipse">
            <a:avLst/>
          </a:prstGeom>
          <a:solidFill>
            <a:srgbClr val="1B3B6F"/>
          </a:solidFill>
          <a:ln w="12700">
            <a:solidFill>
              <a:srgbClr val="1B3B6F"/>
            </a:solidFill>
            <a:prstDash val="solid"/>
          </a:ln>
        </p:spPr>
      </p:sp>
      <p:sp>
        <p:nvSpPr>
          <p:cNvPr id="25" name="Text 20"/>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6" name="Shape 21"/>
          <p:cNvSpPr/>
          <p:nvPr/>
        </p:nvSpPr>
        <p:spPr>
          <a:xfrm>
            <a:off x="4992624" y="2066544"/>
            <a:ext cx="1014984" cy="1014984"/>
          </a:xfrm>
          <a:prstGeom prst="ellipse">
            <a:avLst/>
          </a:prstGeom>
          <a:solidFill>
            <a:srgbClr val="F4F1EA"/>
          </a:solidFill>
          <a:ln w="12700">
            <a:solidFill>
              <a:srgbClr val="F4F1EA"/>
            </a:solidFill>
            <a:prstDash val="solid"/>
          </a:ln>
        </p:spPr>
      </p:sp>
      <p:pic>
        <p:nvPicPr>
          <p:cNvPr id="27"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28" name="Shape 22"/>
          <p:cNvSpPr/>
          <p:nvPr/>
        </p:nvSpPr>
        <p:spPr>
          <a:xfrm>
            <a:off x="6181344" y="2066544"/>
            <a:ext cx="1014984" cy="1014984"/>
          </a:xfrm>
          <a:prstGeom prst="ellipse">
            <a:avLst/>
          </a:prstGeom>
          <a:solidFill>
            <a:srgbClr val="F4F1EA"/>
          </a:solidFill>
          <a:ln w="12700">
            <a:solidFill>
              <a:srgbClr val="F4F1EA"/>
            </a:solidFill>
            <a:prstDash val="solid"/>
          </a:ln>
        </p:spPr>
      </p:sp>
      <p:pic>
        <p:nvPicPr>
          <p:cNvPr id="29"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0" name="Text 23"/>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traditional dress</a:t>
            </a:r>
            <a:endParaRPr lang="en-US" sz="1100" dirty="0"/>
          </a:p>
        </p:txBody>
      </p:sp>
      <p:sp>
        <p:nvSpPr>
          <p:cNvPr id="31" name="Shape 24"/>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5"/>
          <p:cNvSpPr/>
          <p:nvPr/>
        </p:nvSpPr>
        <p:spPr>
          <a:xfrm>
            <a:off x="585216" y="1938528"/>
            <a:ext cx="365760" cy="365760"/>
          </a:xfrm>
          <a:prstGeom prst="ellipse">
            <a:avLst/>
          </a:prstGeom>
          <a:solidFill>
            <a:srgbClr val="1B3B6F"/>
          </a:solidFill>
          <a:ln w="12700">
            <a:solidFill>
              <a:srgbClr val="1B3B6F"/>
            </a:solidFill>
            <a:prstDash val="solid"/>
          </a:ln>
        </p:spPr>
      </p:sp>
      <p:sp>
        <p:nvSpPr>
          <p:cNvPr id="33" name="Text 26"/>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4" name="Shape 27"/>
          <p:cNvSpPr/>
          <p:nvPr/>
        </p:nvSpPr>
        <p:spPr>
          <a:xfrm>
            <a:off x="1173480" y="2066544"/>
            <a:ext cx="1014984" cy="1014984"/>
          </a:xfrm>
          <a:prstGeom prst="ellipse">
            <a:avLst/>
          </a:prstGeom>
          <a:solidFill>
            <a:srgbClr val="F4F1EA"/>
          </a:solidFill>
          <a:ln w="12700">
            <a:solidFill>
              <a:srgbClr val="F4F1EA"/>
            </a:solidFill>
            <a:prstDash val="solid"/>
          </a:ln>
        </p:spPr>
      </p:sp>
      <p:pic>
        <p:nvPicPr>
          <p:cNvPr id="35" name="Image 4" descr="preencoded.png">    </p:cNvPr>
          <p:cNvPicPr>
            <a:picLocks noChangeAspect="1"/>
          </p:cNvPicPr>
          <p:nvPr/>
        </p:nvPicPr>
        <p:blipFill>
          <a:blip r:embed="rId5"/>
          <a:stretch>
            <a:fillRect/>
          </a:stretch>
        </p:blipFill>
        <p:spPr>
          <a:xfrm>
            <a:off x="1356360" y="2249424"/>
            <a:ext cx="649224" cy="649224"/>
          </a:xfrm>
          <a:prstGeom prst="rect">
            <a:avLst/>
          </a:prstGeom>
        </p:spPr>
      </p:pic>
      <p:sp>
        <p:nvSpPr>
          <p:cNvPr id="36" name="Shape 28"/>
          <p:cNvSpPr/>
          <p:nvPr/>
        </p:nvSpPr>
        <p:spPr>
          <a:xfrm>
            <a:off x="2362200" y="2066544"/>
            <a:ext cx="1014984" cy="1014984"/>
          </a:xfrm>
          <a:prstGeom prst="ellipse">
            <a:avLst/>
          </a:prstGeom>
          <a:solidFill>
            <a:srgbClr val="F4F1EA"/>
          </a:solidFill>
          <a:ln w="12700">
            <a:solidFill>
              <a:srgbClr val="F4F1EA"/>
            </a:solidFill>
            <a:prstDash val="solid"/>
          </a:ln>
        </p:spPr>
      </p:sp>
      <p:pic>
        <p:nvPicPr>
          <p:cNvPr id="37" name="Image 5" descr="preencoded.png">    </p:cNvPr>
          <p:cNvPicPr>
            <a:picLocks noChangeAspect="1"/>
          </p:cNvPicPr>
          <p:nvPr/>
        </p:nvPicPr>
        <p:blipFill>
          <a:blip r:embed="rId6"/>
          <a:stretch>
            <a:fillRect/>
          </a:stretch>
        </p:blipFill>
        <p:spPr>
          <a:xfrm>
            <a:off x="2545080" y="2249424"/>
            <a:ext cx="649224" cy="649224"/>
          </a:xfrm>
          <a:prstGeom prst="rect">
            <a:avLst/>
          </a:prstGeom>
        </p:spPr>
      </p:pic>
      <p:sp>
        <p:nvSpPr>
          <p:cNvPr id="38" name="Text 29"/>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traditional dishes</a:t>
            </a:r>
            <a:endParaRPr lang="en-US" sz="1100" dirty="0"/>
          </a:p>
        </p:txBody>
      </p:sp>
      <p:sp>
        <p:nvSpPr>
          <p:cNvPr id="39" name="Shape 30"/>
          <p:cNvSpPr/>
          <p:nvPr/>
        </p:nvSpPr>
        <p:spPr>
          <a:xfrm>
            <a:off x="457200" y="3730752"/>
            <a:ext cx="11274552" cy="493776"/>
          </a:xfrm>
          <a:prstGeom prst="roundRect">
            <a:avLst>
              <a:gd name="adj" fmla="val 11111"/>
            </a:avLst>
          </a:prstGeom>
          <a:solidFill>
            <a:srgbClr val="EEF3FA"/>
          </a:solidFill>
          <a:ln w="9525">
            <a:solidFill>
              <a:srgbClr val="C9D6EA"/>
            </a:solidFill>
            <a:prstDash val="solid"/>
          </a:ln>
        </p:spPr>
      </p:sp>
      <p:sp>
        <p:nvSpPr>
          <p:cNvPr id="40" name="Shape 31"/>
          <p:cNvSpPr/>
          <p:nvPr/>
        </p:nvSpPr>
        <p:spPr>
          <a:xfrm>
            <a:off x="11247120" y="3831336"/>
            <a:ext cx="292608" cy="292608"/>
          </a:xfrm>
          <a:prstGeom prst="ellipse">
            <a:avLst/>
          </a:prstGeom>
          <a:solidFill>
            <a:srgbClr val="2F6FB0"/>
          </a:solidFill>
          <a:ln w="12700">
            <a:solidFill>
              <a:srgbClr val="2F6FB0"/>
            </a:solidFill>
            <a:prstDash val="solid"/>
          </a:ln>
        </p:spPr>
      </p:sp>
      <p:sp>
        <p:nvSpPr>
          <p:cNvPr id="41" name="Text 32"/>
          <p:cNvSpPr txBox="1"/>
          <p:nvPr/>
        </p:nvSpPr>
        <p:spPr>
          <a:xfrm>
            <a:off x="11247120" y="383133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42" name="Text 33"/>
          <p:cNvSpPr txBox="1"/>
          <p:nvPr/>
        </p:nvSpPr>
        <p:spPr>
          <a:xfrm>
            <a:off x="731520" y="3730752"/>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تَخْتَلِفُ المَلَابِسُ التَّقْلِيدِيَّةُ بَيْنَ المَنَاطِقِ.</a:t>
            </a:r>
            <a:endParaRPr lang="ar-SA" sz="2000" dirty="0"/>
          </a:p>
        </p:txBody>
      </p:sp>
      <p:sp>
        <p:nvSpPr>
          <p:cNvPr id="43" name="Shape 34"/>
          <p:cNvSpPr/>
          <p:nvPr/>
        </p:nvSpPr>
        <p:spPr>
          <a:xfrm>
            <a:off x="457200" y="4297680"/>
            <a:ext cx="11274552" cy="493776"/>
          </a:xfrm>
          <a:prstGeom prst="roundRect">
            <a:avLst>
              <a:gd name="adj" fmla="val 11111"/>
            </a:avLst>
          </a:prstGeom>
          <a:solidFill>
            <a:srgbClr val="EEF3FA"/>
          </a:solidFill>
          <a:ln w="9525">
            <a:solidFill>
              <a:srgbClr val="C9D6EA"/>
            </a:solidFill>
            <a:prstDash val="solid"/>
          </a:ln>
        </p:spPr>
      </p:sp>
      <p:sp>
        <p:nvSpPr>
          <p:cNvPr id="44" name="Shape 35"/>
          <p:cNvSpPr/>
          <p:nvPr/>
        </p:nvSpPr>
        <p:spPr>
          <a:xfrm>
            <a:off x="11247120" y="4398264"/>
            <a:ext cx="292608" cy="292608"/>
          </a:xfrm>
          <a:prstGeom prst="ellipse">
            <a:avLst/>
          </a:prstGeom>
          <a:solidFill>
            <a:srgbClr val="2F6FB0"/>
          </a:solidFill>
          <a:ln w="12700">
            <a:solidFill>
              <a:srgbClr val="2F6FB0"/>
            </a:solidFill>
            <a:prstDash val="solid"/>
          </a:ln>
        </p:spPr>
      </p:sp>
      <p:sp>
        <p:nvSpPr>
          <p:cNvPr id="45" name="Text 36"/>
          <p:cNvSpPr txBox="1"/>
          <p:nvPr/>
        </p:nvSpPr>
        <p:spPr>
          <a:xfrm>
            <a:off x="11247120" y="4398264"/>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46" name="Text 37"/>
          <p:cNvSpPr txBox="1"/>
          <p:nvPr/>
        </p:nvSpPr>
        <p:spPr>
          <a:xfrm>
            <a:off x="731520" y="4297680"/>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لِكُلِّ بَلَدٍ أَطْبَاقٌ تَقْلِيدِيَّةٌ.</a:t>
            </a:r>
            <a:endParaRPr lang="ar-SA" sz="2000" dirty="0"/>
          </a:p>
        </p:txBody>
      </p:sp>
      <p:sp>
        <p:nvSpPr>
          <p:cNvPr id="47" name="Shape 38"/>
          <p:cNvSpPr/>
          <p:nvPr/>
        </p:nvSpPr>
        <p:spPr>
          <a:xfrm>
            <a:off x="457200" y="4864608"/>
            <a:ext cx="11274552" cy="493776"/>
          </a:xfrm>
          <a:prstGeom prst="roundRect">
            <a:avLst>
              <a:gd name="adj" fmla="val 11111"/>
            </a:avLst>
          </a:prstGeom>
          <a:solidFill>
            <a:srgbClr val="EEF3FA"/>
          </a:solidFill>
          <a:ln w="9525">
            <a:solidFill>
              <a:srgbClr val="C9D6EA"/>
            </a:solidFill>
            <a:prstDash val="solid"/>
          </a:ln>
        </p:spPr>
      </p:sp>
      <p:sp>
        <p:nvSpPr>
          <p:cNvPr id="48" name="Shape 39"/>
          <p:cNvSpPr/>
          <p:nvPr/>
        </p:nvSpPr>
        <p:spPr>
          <a:xfrm>
            <a:off x="11247120" y="4965192"/>
            <a:ext cx="292608" cy="292608"/>
          </a:xfrm>
          <a:prstGeom prst="ellipse">
            <a:avLst/>
          </a:prstGeom>
          <a:solidFill>
            <a:srgbClr val="2F6FB0"/>
          </a:solidFill>
          <a:ln w="12700">
            <a:solidFill>
              <a:srgbClr val="2F6FB0"/>
            </a:solidFill>
            <a:prstDash val="solid"/>
          </a:ln>
        </p:spPr>
      </p:sp>
      <p:sp>
        <p:nvSpPr>
          <p:cNvPr id="49" name="Text 40"/>
          <p:cNvSpPr txBox="1"/>
          <p:nvPr/>
        </p:nvSpPr>
        <p:spPr>
          <a:xfrm>
            <a:off x="11247120" y="496519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C</a:t>
            </a:r>
            <a:endParaRPr lang="en-US" sz="1000" dirty="0"/>
          </a:p>
        </p:txBody>
      </p:sp>
      <p:sp>
        <p:nvSpPr>
          <p:cNvPr id="50" name="Text 41"/>
          <p:cNvSpPr txBox="1"/>
          <p:nvPr/>
        </p:nvSpPr>
        <p:spPr>
          <a:xfrm>
            <a:off x="731520" y="4864608"/>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تَخْتَلِفُ طُرُقُ التَّحِيَّةِ مِنْ مَكَانٍ إِلَى آخَرَ.</a:t>
            </a:r>
            <a:endParaRPr lang="ar-SA" sz="2000" dirty="0"/>
          </a:p>
        </p:txBody>
      </p:sp>
      <p:sp>
        <p:nvSpPr>
          <p:cNvPr id="51" name="Text 42"/>
          <p:cNvSpPr txBox="1"/>
          <p:nvPr/>
        </p:nvSpPr>
        <p:spPr>
          <a:xfrm>
            <a:off x="457200" y="5468112"/>
            <a:ext cx="11274552" cy="365760"/>
          </a:xfrm>
          <a:prstGeom prst="rect">
            <a:avLst/>
          </a:prstGeom>
          <a:noFill/>
          <a:ln/>
        </p:spPr>
        <p:txBody>
          <a:bodyPr wrap="square" lIns="0" tIns="0" rIns="0" bIns="0" rtlCol="0" anchor="ctr"/>
          <a:lstStyle/>
          <a:p>
            <a:pPr algn="l" indent="0" marL="0">
              <a:buNone/>
            </a:pPr>
            <a:r>
              <a:rPr lang="en-US" sz="1250" b="1" dirty="0">
                <a:solidFill>
                  <a:srgbClr val="2F6FB0"/>
                </a:solidFill>
                <a:latin typeface="Calibri" pitchFamily="34" charset="0"/>
                <a:cs typeface="Amiri" pitchFamily="2" charset="-78"/>
              </a:rPr>
              <a:t>Match each picture to a sentence. Type in the chat: 1_  2_  3_</a:t>
            </a:r>
            <a:endParaRPr lang="en-US" sz="1250" dirty="0"/>
          </a:p>
        </p:txBody>
      </p:sp>
      <p:sp>
        <p:nvSpPr>
          <p:cNvPr id="52" name="Text 43"/>
          <p:cNvSpPr txBox="1"/>
          <p:nvPr/>
        </p:nvSpPr>
        <p:spPr>
          <a:xfrm>
            <a:off x="457200" y="5852160"/>
            <a:ext cx="11274552" cy="36576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cs typeface="Amiri" pitchFamily="2" charset="-78"/>
              </a:rPr>
              <a:t>Core: find ONE key word you know in each sentence first.</a:t>
            </a:r>
            <a:endParaRPr lang="en-US" sz="1150" dirty="0"/>
          </a:p>
        </p:txBody>
      </p:sp>
      <p:sp>
        <p:nvSpPr>
          <p:cNvPr id="53" name="Text 4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49</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P3-L07 · Culture</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PICTURE MATCH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Picture match: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الثَّقَافَةُ وَالعَادَاتُ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P3-L07</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Shape 16"/>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2" name="Text 17"/>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greetings</a:t>
            </a:r>
            <a:endParaRPr lang="en-US" sz="1100" dirty="0"/>
          </a:p>
        </p:txBody>
      </p:sp>
      <p:sp>
        <p:nvSpPr>
          <p:cNvPr id="23" name="Shape 18"/>
          <p:cNvSpPr/>
          <p:nvPr/>
        </p:nvSpPr>
        <p:spPr>
          <a:xfrm>
            <a:off x="8095488"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11256264" y="3785616"/>
            <a:ext cx="329184" cy="329184"/>
          </a:xfrm>
          <a:prstGeom prst="ellipse">
            <a:avLst/>
          </a:prstGeom>
          <a:solidFill>
            <a:srgbClr val="2E8B57"/>
          </a:solidFill>
          <a:ln w="12700">
            <a:solidFill>
              <a:srgbClr val="2E8B57"/>
            </a:solidFill>
            <a:prstDash val="solid"/>
          </a:ln>
        </p:spPr>
      </p:sp>
      <p:sp>
        <p:nvSpPr>
          <p:cNvPr id="25" name="Text 20"/>
          <p:cNvSpPr txBox="1"/>
          <p:nvPr/>
        </p:nvSpPr>
        <p:spPr>
          <a:xfrm>
            <a:off x="11256264"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a:t>
            </a:r>
            <a:endParaRPr lang="en-US" sz="1100" dirty="0"/>
          </a:p>
        </p:txBody>
      </p:sp>
      <p:sp>
        <p:nvSpPr>
          <p:cNvPr id="26" name="Text 21"/>
          <p:cNvSpPr txBox="1"/>
          <p:nvPr/>
        </p:nvSpPr>
        <p:spPr>
          <a:xfrm>
            <a:off x="8232648" y="4160520"/>
            <a:ext cx="3361944" cy="1143000"/>
          </a:xfrm>
          <a:prstGeom prst="rect">
            <a:avLst/>
          </a:prstGeom>
          <a:noFill/>
          <a:ln/>
        </p:spPr>
        <p:txBody>
          <a:bodyPr wrap="square" lIns="0" tIns="0" rIns="0" bIns="0" rtlCol="0" anchor="ctr"/>
          <a:lstStyle/>
          <a:p>
            <a:pPr rtl="1" algn="ctr" indent="0" marL="0">
              <a:lnSpc>
                <a:spcPct val="120000"/>
              </a:lnSpc>
              <a:buNone/>
            </a:pPr>
            <a:r>
              <a:rPr lang="ar-SA" altLang="en-US" sz="2200" b="1" dirty="0">
                <a:solidFill>
                  <a:srgbClr val="1B3B6F"/>
                </a:solidFill>
                <a:latin typeface="Amiri" pitchFamily="2" charset="-78"/>
                <a:ea typeface="Amiri" pitchFamily="2" charset="-78"/>
                <a:cs typeface="Amiri" pitchFamily="2" charset="-78"/>
              </a:rPr>
              <a:t>تَخْتَلِفُ طُرُقُ التَّحِيَّةِ مِنْ مَكَانٍ إِلَى آخَرَ.</a:t>
            </a:r>
            <a:endParaRPr lang="ar-SA" sz="2200" dirty="0"/>
          </a:p>
        </p:txBody>
      </p:sp>
      <p:sp>
        <p:nvSpPr>
          <p:cNvPr id="27" name="Text 22"/>
          <p:cNvSpPr txBox="1"/>
          <p:nvPr/>
        </p:nvSpPr>
        <p:spPr>
          <a:xfrm>
            <a:off x="8232648"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Ways of greeting differ from place to place.</a:t>
            </a:r>
            <a:endParaRPr lang="en-US" sz="1200" dirty="0"/>
          </a:p>
        </p:txBody>
      </p:sp>
      <p:sp>
        <p:nvSpPr>
          <p:cNvPr id="28" name="Shape 23"/>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4"/>
          <p:cNvSpPr/>
          <p:nvPr/>
        </p:nvSpPr>
        <p:spPr>
          <a:xfrm>
            <a:off x="4404360" y="1938528"/>
            <a:ext cx="365760" cy="365760"/>
          </a:xfrm>
          <a:prstGeom prst="ellipse">
            <a:avLst/>
          </a:prstGeom>
          <a:solidFill>
            <a:srgbClr val="1B3B6F"/>
          </a:solidFill>
          <a:ln w="12700">
            <a:solidFill>
              <a:srgbClr val="1B3B6F"/>
            </a:solidFill>
            <a:prstDash val="solid"/>
          </a:ln>
        </p:spPr>
      </p:sp>
      <p:sp>
        <p:nvSpPr>
          <p:cNvPr id="30" name="Text 25"/>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31" name="Shape 26"/>
          <p:cNvSpPr/>
          <p:nvPr/>
        </p:nvSpPr>
        <p:spPr>
          <a:xfrm>
            <a:off x="4992624" y="2066544"/>
            <a:ext cx="1014984" cy="1014984"/>
          </a:xfrm>
          <a:prstGeom prst="ellipse">
            <a:avLst/>
          </a:prstGeom>
          <a:solidFill>
            <a:srgbClr val="F4F1EA"/>
          </a:solidFill>
          <a:ln w="12700">
            <a:solidFill>
              <a:srgbClr val="F4F1EA"/>
            </a:solidFill>
            <a:prstDash val="solid"/>
          </a:ln>
        </p:spPr>
      </p:sp>
      <p:pic>
        <p:nvPicPr>
          <p:cNvPr id="32"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33" name="Shape 27"/>
          <p:cNvSpPr/>
          <p:nvPr/>
        </p:nvSpPr>
        <p:spPr>
          <a:xfrm>
            <a:off x="6181344" y="2066544"/>
            <a:ext cx="1014984" cy="1014984"/>
          </a:xfrm>
          <a:prstGeom prst="ellipse">
            <a:avLst/>
          </a:prstGeom>
          <a:solidFill>
            <a:srgbClr val="F4F1EA"/>
          </a:solidFill>
          <a:ln w="12700">
            <a:solidFill>
              <a:srgbClr val="F4F1EA"/>
            </a:solidFill>
            <a:prstDash val="solid"/>
          </a:ln>
        </p:spPr>
      </p:sp>
      <p:pic>
        <p:nvPicPr>
          <p:cNvPr id="34"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5" name="Text 28"/>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traditional dress</a:t>
            </a:r>
            <a:endParaRPr lang="en-US" sz="1100" dirty="0"/>
          </a:p>
        </p:txBody>
      </p:sp>
      <p:sp>
        <p:nvSpPr>
          <p:cNvPr id="36" name="Shape 29"/>
          <p:cNvSpPr/>
          <p:nvPr/>
        </p:nvSpPr>
        <p:spPr>
          <a:xfrm>
            <a:off x="4276344"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7" name="Shape 30"/>
          <p:cNvSpPr/>
          <p:nvPr/>
        </p:nvSpPr>
        <p:spPr>
          <a:xfrm>
            <a:off x="7437120" y="3785616"/>
            <a:ext cx="329184" cy="329184"/>
          </a:xfrm>
          <a:prstGeom prst="ellipse">
            <a:avLst/>
          </a:prstGeom>
          <a:solidFill>
            <a:srgbClr val="2E8B57"/>
          </a:solidFill>
          <a:ln w="12700">
            <a:solidFill>
              <a:srgbClr val="2E8B57"/>
            </a:solidFill>
            <a:prstDash val="solid"/>
          </a:ln>
        </p:spPr>
      </p:sp>
      <p:sp>
        <p:nvSpPr>
          <p:cNvPr id="38" name="Text 31"/>
          <p:cNvSpPr txBox="1"/>
          <p:nvPr/>
        </p:nvSpPr>
        <p:spPr>
          <a:xfrm>
            <a:off x="7437120"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a:t>
            </a:r>
            <a:endParaRPr lang="en-US" sz="1100" dirty="0"/>
          </a:p>
        </p:txBody>
      </p:sp>
      <p:sp>
        <p:nvSpPr>
          <p:cNvPr id="39" name="Text 32"/>
          <p:cNvSpPr txBox="1"/>
          <p:nvPr/>
        </p:nvSpPr>
        <p:spPr>
          <a:xfrm>
            <a:off x="4413504" y="4160520"/>
            <a:ext cx="3361944" cy="1143000"/>
          </a:xfrm>
          <a:prstGeom prst="rect">
            <a:avLst/>
          </a:prstGeom>
          <a:noFill/>
          <a:ln/>
        </p:spPr>
        <p:txBody>
          <a:bodyPr wrap="square" lIns="0" tIns="0" rIns="0" bIns="0" rtlCol="0" anchor="ctr"/>
          <a:lstStyle/>
          <a:p>
            <a:pPr rtl="1" algn="ctr" indent="0" marL="0">
              <a:lnSpc>
                <a:spcPct val="120000"/>
              </a:lnSpc>
              <a:buNone/>
            </a:pPr>
            <a:r>
              <a:rPr lang="ar-SA" altLang="en-US" sz="2200" b="1" dirty="0">
                <a:solidFill>
                  <a:srgbClr val="1B3B6F"/>
                </a:solidFill>
                <a:latin typeface="Amiri" pitchFamily="2" charset="-78"/>
                <a:ea typeface="Amiri" pitchFamily="2" charset="-78"/>
                <a:cs typeface="Amiri" pitchFamily="2" charset="-78"/>
              </a:rPr>
              <a:t>تَخْتَلِفُ المَلَابِسُ التَّقْلِيدِيَّةُ بَيْنَ المَنَاطِقِ.</a:t>
            </a:r>
            <a:endParaRPr lang="ar-SA" sz="2200" dirty="0"/>
          </a:p>
        </p:txBody>
      </p:sp>
      <p:sp>
        <p:nvSpPr>
          <p:cNvPr id="40" name="Text 33"/>
          <p:cNvSpPr txBox="1"/>
          <p:nvPr/>
        </p:nvSpPr>
        <p:spPr>
          <a:xfrm>
            <a:off x="4413504"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Traditional clothes differ between regions.</a:t>
            </a:r>
            <a:endParaRPr lang="en-US" sz="1200" dirty="0"/>
          </a:p>
        </p:txBody>
      </p:sp>
      <p:sp>
        <p:nvSpPr>
          <p:cNvPr id="41" name="Shape 34"/>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5"/>
          <p:cNvSpPr/>
          <p:nvPr/>
        </p:nvSpPr>
        <p:spPr>
          <a:xfrm>
            <a:off x="585216" y="1938528"/>
            <a:ext cx="365760" cy="365760"/>
          </a:xfrm>
          <a:prstGeom prst="ellipse">
            <a:avLst/>
          </a:prstGeom>
          <a:solidFill>
            <a:srgbClr val="1B3B6F"/>
          </a:solidFill>
          <a:ln w="12700">
            <a:solidFill>
              <a:srgbClr val="1B3B6F"/>
            </a:solidFill>
            <a:prstDash val="solid"/>
          </a:ln>
        </p:spPr>
      </p:sp>
      <p:sp>
        <p:nvSpPr>
          <p:cNvPr id="43" name="Text 36"/>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44" name="Shape 37"/>
          <p:cNvSpPr/>
          <p:nvPr/>
        </p:nvSpPr>
        <p:spPr>
          <a:xfrm>
            <a:off x="1173480" y="2066544"/>
            <a:ext cx="1014984" cy="1014984"/>
          </a:xfrm>
          <a:prstGeom prst="ellipse">
            <a:avLst/>
          </a:prstGeom>
          <a:solidFill>
            <a:srgbClr val="F4F1EA"/>
          </a:solidFill>
          <a:ln w="12700">
            <a:solidFill>
              <a:srgbClr val="F4F1EA"/>
            </a:solidFill>
            <a:prstDash val="solid"/>
          </a:ln>
        </p:spPr>
      </p:sp>
      <p:pic>
        <p:nvPicPr>
          <p:cNvPr id="45" name="Image 4" descr="preencoded.png">    </p:cNvPr>
          <p:cNvPicPr>
            <a:picLocks noChangeAspect="1"/>
          </p:cNvPicPr>
          <p:nvPr/>
        </p:nvPicPr>
        <p:blipFill>
          <a:blip r:embed="rId5"/>
          <a:stretch>
            <a:fillRect/>
          </a:stretch>
        </p:blipFill>
        <p:spPr>
          <a:xfrm>
            <a:off x="1356360" y="2249424"/>
            <a:ext cx="649224" cy="649224"/>
          </a:xfrm>
          <a:prstGeom prst="rect">
            <a:avLst/>
          </a:prstGeom>
        </p:spPr>
      </p:pic>
      <p:sp>
        <p:nvSpPr>
          <p:cNvPr id="46" name="Shape 38"/>
          <p:cNvSpPr/>
          <p:nvPr/>
        </p:nvSpPr>
        <p:spPr>
          <a:xfrm>
            <a:off x="2362200" y="2066544"/>
            <a:ext cx="1014984" cy="1014984"/>
          </a:xfrm>
          <a:prstGeom prst="ellipse">
            <a:avLst/>
          </a:prstGeom>
          <a:solidFill>
            <a:srgbClr val="F4F1EA"/>
          </a:solidFill>
          <a:ln w="12700">
            <a:solidFill>
              <a:srgbClr val="F4F1EA"/>
            </a:solidFill>
            <a:prstDash val="solid"/>
          </a:ln>
        </p:spPr>
      </p:sp>
      <p:pic>
        <p:nvPicPr>
          <p:cNvPr id="47" name="Image 5" descr="preencoded.png">    </p:cNvPr>
          <p:cNvPicPr>
            <a:picLocks noChangeAspect="1"/>
          </p:cNvPicPr>
          <p:nvPr/>
        </p:nvPicPr>
        <p:blipFill>
          <a:blip r:embed="rId6"/>
          <a:stretch>
            <a:fillRect/>
          </a:stretch>
        </p:blipFill>
        <p:spPr>
          <a:xfrm>
            <a:off x="2545080" y="2249424"/>
            <a:ext cx="649224" cy="649224"/>
          </a:xfrm>
          <a:prstGeom prst="rect">
            <a:avLst/>
          </a:prstGeom>
        </p:spPr>
      </p:pic>
      <p:sp>
        <p:nvSpPr>
          <p:cNvPr id="48" name="Text 39"/>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traditional dishes</a:t>
            </a:r>
            <a:endParaRPr lang="en-US" sz="1100" dirty="0"/>
          </a:p>
        </p:txBody>
      </p:sp>
      <p:sp>
        <p:nvSpPr>
          <p:cNvPr id="49" name="Shape 40"/>
          <p:cNvSpPr/>
          <p:nvPr/>
        </p:nvSpPr>
        <p:spPr>
          <a:xfrm>
            <a:off x="457200"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0" name="Shape 41"/>
          <p:cNvSpPr/>
          <p:nvPr/>
        </p:nvSpPr>
        <p:spPr>
          <a:xfrm>
            <a:off x="3617976" y="3785616"/>
            <a:ext cx="329184" cy="329184"/>
          </a:xfrm>
          <a:prstGeom prst="ellipse">
            <a:avLst/>
          </a:prstGeom>
          <a:solidFill>
            <a:srgbClr val="2E8B57"/>
          </a:solidFill>
          <a:ln w="12700">
            <a:solidFill>
              <a:srgbClr val="2E8B57"/>
            </a:solidFill>
            <a:prstDash val="solid"/>
          </a:ln>
        </p:spPr>
      </p:sp>
      <p:sp>
        <p:nvSpPr>
          <p:cNvPr id="51" name="Text 42"/>
          <p:cNvSpPr txBox="1"/>
          <p:nvPr/>
        </p:nvSpPr>
        <p:spPr>
          <a:xfrm>
            <a:off x="3617976"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a:t>
            </a:r>
            <a:endParaRPr lang="en-US" sz="1100" dirty="0"/>
          </a:p>
        </p:txBody>
      </p:sp>
      <p:sp>
        <p:nvSpPr>
          <p:cNvPr id="52" name="Text 43"/>
          <p:cNvSpPr txBox="1"/>
          <p:nvPr/>
        </p:nvSpPr>
        <p:spPr>
          <a:xfrm>
            <a:off x="594360"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لِكُلِّ بَلَدٍ أَطْبَاقٌ تَقْلِيدِيَّةٌ.</a:t>
            </a:r>
            <a:endParaRPr lang="ar-SA" sz="2200" dirty="0"/>
          </a:p>
        </p:txBody>
      </p:sp>
      <p:sp>
        <p:nvSpPr>
          <p:cNvPr id="53" name="Text 44"/>
          <p:cNvSpPr txBox="1"/>
          <p:nvPr/>
        </p:nvSpPr>
        <p:spPr>
          <a:xfrm>
            <a:off x="594360"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Every country has traditional dishes.</a:t>
            </a:r>
            <a:endParaRPr lang="en-US" sz="1200" dirty="0"/>
          </a:p>
        </p:txBody>
      </p:sp>
      <p:sp>
        <p:nvSpPr>
          <p:cNvPr id="54"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49</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P3-L07 · Culture</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BUILD A CULTURAL GUIDE (WEBSITE LIVE BUILDER)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Advice + rule + reflection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دَلِيلًا ثَقَافِيًّا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P3-L07</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147304" y="1810512"/>
            <a:ext cx="35112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 · Polite advice</a:t>
            </a:r>
            <a:endParaRPr lang="en-US" sz="1100" dirty="0"/>
          </a:p>
        </p:txBody>
      </p:sp>
      <p:sp>
        <p:nvSpPr>
          <p:cNvPr id="17" name="Text 14"/>
          <p:cNvSpPr txBox="1"/>
          <p:nvPr/>
        </p:nvSpPr>
        <p:spPr>
          <a:xfrm>
            <a:off x="4398264" y="1810512"/>
            <a:ext cx="3602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 · Scenario / rule</a:t>
            </a:r>
            <a:endParaRPr lang="en-US" sz="1100" dirty="0"/>
          </a:p>
        </p:txBody>
      </p:sp>
      <p:sp>
        <p:nvSpPr>
          <p:cNvPr id="18" name="Text 15"/>
          <p:cNvSpPr txBox="1"/>
          <p:nvPr/>
        </p:nvSpPr>
        <p:spPr>
          <a:xfrm>
            <a:off x="530352" y="1810512"/>
            <a:ext cx="37216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 · Tip / reflection</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8165592" y="2267712"/>
            <a:ext cx="3474720" cy="731520"/>
          </a:xfrm>
          <a:prstGeom prst="rect">
            <a:avLst/>
          </a:prstGeom>
          <a:noFill/>
          <a:ln/>
        </p:spPr>
        <p:txBody>
          <a:bodyPr wrap="square" lIns="0" tIns="0" rIns="0" bIns="0" rtlCol="0" anchor="ctr"/>
          <a:lstStyle/>
          <a:p>
            <a:pPr rtl="1" algn="ctr" indent="0" marL="0">
              <a:lnSpc>
                <a:spcPct val="120000"/>
              </a:lnSpc>
              <a:buNone/>
            </a:pPr>
            <a:r>
              <a:rPr lang="ar-SA" altLang="en-US" sz="1550" b="1" dirty="0">
                <a:solidFill>
                  <a:srgbClr val="1B3B6F"/>
                </a:solidFill>
                <a:latin typeface="Amiri" pitchFamily="2" charset="-78"/>
                <a:ea typeface="Amiri" pitchFamily="2" charset="-78"/>
                <a:cs typeface="Amiri" pitchFamily="2" charset="-78"/>
              </a:rPr>
              <a:t>يُسْتَحْسَنُ أَنْ يَتَعَلَّمَ الزَّائِرُ بَعْضَ العِبَارَاتِ العَرَبِيَّةِ</a:t>
            </a:r>
            <a:endParaRPr lang="ar-SA" sz="1550" dirty="0"/>
          </a:p>
        </p:txBody>
      </p:sp>
      <p:sp>
        <p:nvSpPr>
          <p:cNvPr id="21" name="Text 18"/>
          <p:cNvSpPr txBox="1"/>
          <p:nvPr/>
        </p:nvSpPr>
        <p:spPr>
          <a:xfrm>
            <a:off x="4416552" y="2267712"/>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وَإِذَا زَارَ مَسْجِدًا يَجِبُ أَنْ يَخْلَعَ حِذَاءَهُ</a:t>
            </a:r>
            <a:endParaRPr lang="ar-SA" sz="1600" dirty="0"/>
          </a:p>
        </p:txBody>
      </p:sp>
      <p:sp>
        <p:nvSpPr>
          <p:cNvPr id="22" name="Text 19"/>
          <p:cNvSpPr txBox="1"/>
          <p:nvPr/>
        </p:nvSpPr>
        <p:spPr>
          <a:xfrm>
            <a:off x="548640" y="2267712"/>
            <a:ext cx="368503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وَلَوْ عَرَفَ كُلُّ زَائِرٍ العَادَاتِ لَقَلَّتِ الزَّلَّاتُ الثَّقَافِيَّةُ</a:t>
            </a:r>
            <a:endParaRPr lang="ar-SA" sz="16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6" name="Text 23"/>
          <p:cNvSpPr txBox="1"/>
          <p:nvPr/>
        </p:nvSpPr>
        <p:spPr>
          <a:xfrm>
            <a:off x="8165592" y="3054096"/>
            <a:ext cx="347472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يُسْتَحْسَنُ أَنْ يَرْتَدِيَ مَلَابِسَ مُحْتَشِمَةً</a:t>
            </a:r>
            <a:endParaRPr lang="ar-SA" sz="1600" dirty="0"/>
          </a:p>
        </p:txBody>
      </p:sp>
      <p:sp>
        <p:nvSpPr>
          <p:cNvPr id="27" name="Text 24"/>
          <p:cNvSpPr txBox="1"/>
          <p:nvPr/>
        </p:nvSpPr>
        <p:spPr>
          <a:xfrm>
            <a:off x="4416552" y="3054096"/>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وَيَحْظُرُ بَعْضُ المُقَدَّسَاتِ التَّصْوِيرَ</a:t>
            </a:r>
            <a:endParaRPr lang="ar-SA" sz="1600" dirty="0"/>
          </a:p>
        </p:txBody>
      </p:sp>
      <p:sp>
        <p:nvSpPr>
          <p:cNvPr id="28" name="Text 25"/>
          <p:cNvSpPr txBox="1"/>
          <p:nvPr/>
        </p:nvSpPr>
        <p:spPr>
          <a:xfrm>
            <a:off x="548640" y="3054096"/>
            <a:ext cx="368503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وَأَخْبَرَنِي مُضِيفٌ أَنَّ بَادِرَةَ احْتِرَامٍ تَفْتَحُ القُلُوبَ</a:t>
            </a:r>
            <a:endParaRPr lang="ar-SA" sz="1600" dirty="0"/>
          </a:p>
        </p:txBody>
      </p:sp>
      <p:sp>
        <p:nvSpPr>
          <p:cNvPr id="29" name="Shape 26"/>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0" name="Text 27"/>
          <p:cNvSpPr txBox="1"/>
          <p:nvPr/>
        </p:nvSpPr>
        <p:spPr>
          <a:xfrm>
            <a:off x="8165592" y="3840480"/>
            <a:ext cx="347472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يُسْتَحْسَنُ أَنْ يَتَجَنَّبَ الأَكْلَ عَلَنًا فِي رَمَضَانَ</a:t>
            </a:r>
            <a:endParaRPr lang="ar-SA" sz="1600" dirty="0"/>
          </a:p>
        </p:txBody>
      </p:sp>
      <p:sp>
        <p:nvSpPr>
          <p:cNvPr id="31" name="Text 28"/>
          <p:cNvSpPr txBox="1"/>
          <p:nvPr/>
        </p:nvSpPr>
        <p:spPr>
          <a:xfrm>
            <a:off x="4416552" y="3840480"/>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وَتَسْمَحُ مَوَاقِعُ أُخْرَى بِالتَّصْوِيرِ دُونَ فَلَاشٍ</a:t>
            </a:r>
            <a:endParaRPr lang="ar-SA" sz="1600" dirty="0"/>
          </a:p>
        </p:txBody>
      </p:sp>
      <p:sp>
        <p:nvSpPr>
          <p:cNvPr id="32" name="Text 29"/>
          <p:cNvSpPr txBox="1"/>
          <p:nvPr/>
        </p:nvSpPr>
        <p:spPr>
          <a:xfrm>
            <a:off x="548640" y="3840480"/>
            <a:ext cx="368503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وَلَكَانَ التَّبَادُلُ الثَّقَافِيُّ أَعْمَقَ وَأَغْنَى</a:t>
            </a:r>
            <a:endParaRPr lang="ar-SA" sz="1600" dirty="0"/>
          </a:p>
        </p:txBody>
      </p:sp>
      <p:sp>
        <p:nvSpPr>
          <p:cNvPr id="33" name="Text 3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Pick one from each column — any combination is accurate. Then find every verb after an: does it end in -a?</a:t>
            </a:r>
            <a:endParaRPr lang="en-US" sz="11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49</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P3-L07 · Culture</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WEBSITE SORTER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750" b="1" dirty="0">
                <a:solidFill>
                  <a:srgbClr val="1B3B6F"/>
                </a:solidFill>
                <a:latin typeface="Cambria" pitchFamily="34" charset="0"/>
                <a:cs typeface="Amiri" pitchFamily="2" charset="-78"/>
              </a:rPr>
              <a:t>Advice (an + -a), prohibition (+ object) — or permission (bi-)?</a:t>
            </a:r>
            <a:endParaRPr lang="en-US" sz="1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صَنِّفْ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P3-L07</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أَنْ يَتَعَلَّمَ الزَّائِرُ</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أَنْ يَرْتَدِيَ مَلَابِسَ مُحْتَشِمَةً</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أَنْ تَخْلَعَ حِذَاءَكَ</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التَّصْوِيرَ فِي المُقَدَّسَاتِ</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الدُّخُولَ بِالأَحْذِيَةِ</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اللَّمْسَ فِي بَعْضِ الأَمَاكِنِ</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بِالتَّصْوِيرِ دُونَ فَلَاشٍ</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بِالزِّيَارَةِ صَبَاحًا</a:t>
            </a:r>
            <a:endParaRPr lang="ar-SA" sz="1800" dirty="0"/>
          </a:p>
        </p:txBody>
      </p:sp>
      <p:sp>
        <p:nvSpPr>
          <p:cNvPr id="31" name="Shape 28"/>
          <p:cNvSpPr/>
          <p:nvPr/>
        </p:nvSpPr>
        <p:spPr>
          <a:xfrm>
            <a:off x="9015984" y="2834640"/>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2" name="Text 29"/>
          <p:cNvSpPr txBox="1"/>
          <p:nvPr/>
        </p:nvSpPr>
        <p:spPr>
          <a:xfrm>
            <a:off x="9107424" y="2834640"/>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بِالدُّخُولِ مَجَّانًا</a:t>
            </a:r>
            <a:endParaRPr lang="ar-SA" sz="1800" dirty="0"/>
          </a:p>
        </p:txBody>
      </p:sp>
      <p:sp>
        <p:nvSpPr>
          <p:cNvPr id="33" name="Shape 30"/>
          <p:cNvSpPr/>
          <p:nvPr/>
        </p:nvSpPr>
        <p:spPr>
          <a:xfrm>
            <a:off x="8095488" y="3529584"/>
            <a:ext cx="3636264" cy="2779776"/>
          </a:xfrm>
          <a:prstGeom prst="roundRect">
            <a:avLst>
              <a:gd name="adj" fmla="val 2632"/>
            </a:avLst>
          </a:prstGeom>
          <a:solidFill>
            <a:srgbClr val="EEF3FA"/>
          </a:solidFill>
          <a:ln w="9525">
            <a:solidFill>
              <a:srgbClr val="C9D6EA"/>
            </a:solidFill>
            <a:prstDash val="solid"/>
          </a:ln>
        </p:spPr>
      </p:sp>
      <p:sp>
        <p:nvSpPr>
          <p:cNvPr id="34" name="Shape 31"/>
          <p:cNvSpPr/>
          <p:nvPr/>
        </p:nvSpPr>
        <p:spPr>
          <a:xfrm>
            <a:off x="8232648" y="3639312"/>
            <a:ext cx="3361944" cy="310896"/>
          </a:xfrm>
          <a:prstGeom prst="roundRect">
            <a:avLst>
              <a:gd name="adj" fmla="val 50000"/>
            </a:avLst>
          </a:prstGeom>
          <a:solidFill>
            <a:srgbClr val="2F6FB0"/>
          </a:solidFill>
          <a:ln w="12700">
            <a:solidFill>
              <a:srgbClr val="2F6FB0"/>
            </a:solidFill>
            <a:prstDash val="solid"/>
          </a:ln>
        </p:spPr>
      </p:sp>
      <p:sp>
        <p:nvSpPr>
          <p:cNvPr id="35" name="Text 32"/>
          <p:cNvSpPr txBox="1"/>
          <p:nvPr/>
        </p:nvSpPr>
        <p:spPr>
          <a:xfrm>
            <a:off x="8232648"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an + verb in -a</a:t>
            </a:r>
            <a:endParaRPr lang="en-US" sz="950" dirty="0"/>
          </a:p>
        </p:txBody>
      </p:sp>
      <p:sp>
        <p:nvSpPr>
          <p:cNvPr id="36" name="Shape 33"/>
          <p:cNvSpPr/>
          <p:nvPr/>
        </p:nvSpPr>
        <p:spPr>
          <a:xfrm>
            <a:off x="4276344" y="3529584"/>
            <a:ext cx="3636264" cy="2779776"/>
          </a:xfrm>
          <a:prstGeom prst="roundRect">
            <a:avLst>
              <a:gd name="adj" fmla="val 2632"/>
            </a:avLst>
          </a:prstGeom>
          <a:solidFill>
            <a:srgbClr val="EEF3FA"/>
          </a:solidFill>
          <a:ln w="9525">
            <a:solidFill>
              <a:srgbClr val="C9D6EA"/>
            </a:solidFill>
            <a:prstDash val="solid"/>
          </a:ln>
        </p:spPr>
      </p:sp>
      <p:sp>
        <p:nvSpPr>
          <p:cNvPr id="37" name="Shape 34"/>
          <p:cNvSpPr/>
          <p:nvPr/>
        </p:nvSpPr>
        <p:spPr>
          <a:xfrm>
            <a:off x="4413504" y="3639312"/>
            <a:ext cx="3361944" cy="310896"/>
          </a:xfrm>
          <a:prstGeom prst="roundRect">
            <a:avLst>
              <a:gd name="adj" fmla="val 50000"/>
            </a:avLst>
          </a:prstGeom>
          <a:solidFill>
            <a:srgbClr val="2F6FB0"/>
          </a:solidFill>
          <a:ln w="12700">
            <a:solidFill>
              <a:srgbClr val="2F6FB0"/>
            </a:solidFill>
            <a:prstDash val="solid"/>
          </a:ln>
        </p:spPr>
      </p:sp>
      <p:sp>
        <p:nvSpPr>
          <p:cNvPr id="38" name="Text 35"/>
          <p:cNvSpPr txBox="1"/>
          <p:nvPr/>
        </p:nvSpPr>
        <p:spPr>
          <a:xfrm>
            <a:off x="4413504"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yaḥẓur + object</a:t>
            </a:r>
            <a:endParaRPr lang="en-US" sz="950" dirty="0"/>
          </a:p>
        </p:txBody>
      </p:sp>
      <p:sp>
        <p:nvSpPr>
          <p:cNvPr id="39" name="Shape 36"/>
          <p:cNvSpPr/>
          <p:nvPr/>
        </p:nvSpPr>
        <p:spPr>
          <a:xfrm>
            <a:off x="457200" y="3529584"/>
            <a:ext cx="3636264" cy="2779776"/>
          </a:xfrm>
          <a:prstGeom prst="roundRect">
            <a:avLst>
              <a:gd name="adj" fmla="val 2632"/>
            </a:avLst>
          </a:prstGeom>
          <a:solidFill>
            <a:srgbClr val="EEF3FA"/>
          </a:solidFill>
          <a:ln w="9525">
            <a:solidFill>
              <a:srgbClr val="C9D6EA"/>
            </a:solidFill>
            <a:prstDash val="solid"/>
          </a:ln>
        </p:spPr>
      </p:sp>
      <p:sp>
        <p:nvSpPr>
          <p:cNvPr id="40" name="Shape 37"/>
          <p:cNvSpPr/>
          <p:nvPr/>
        </p:nvSpPr>
        <p:spPr>
          <a:xfrm>
            <a:off x="594360" y="3639312"/>
            <a:ext cx="3361944" cy="310896"/>
          </a:xfrm>
          <a:prstGeom prst="roundRect">
            <a:avLst>
              <a:gd name="adj" fmla="val 50000"/>
            </a:avLst>
          </a:prstGeom>
          <a:solidFill>
            <a:srgbClr val="2F6FB0"/>
          </a:solidFill>
          <a:ln w="12700">
            <a:solidFill>
              <a:srgbClr val="2F6FB0"/>
            </a:solidFill>
            <a:prstDash val="solid"/>
          </a:ln>
        </p:spPr>
      </p:sp>
      <p:sp>
        <p:nvSpPr>
          <p:cNvPr id="41" name="Text 38"/>
          <p:cNvSpPr txBox="1"/>
          <p:nvPr/>
        </p:nvSpPr>
        <p:spPr>
          <a:xfrm>
            <a:off x="594360"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yasmaḥ bi-</a:t>
            </a:r>
            <a:endParaRPr lang="en-US" sz="95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49</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P3-L07 · Culture</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P3-L07</a:t>
            </a:r>
            <a:endParaRPr lang="en-US" sz="850" dirty="0"/>
          </a:p>
        </p:txBody>
      </p:sp>
      <p:sp>
        <p:nvSpPr>
          <p:cNvPr id="15" name="Shape 12"/>
          <p:cNvSpPr/>
          <p:nvPr/>
        </p:nvSpPr>
        <p:spPr>
          <a:xfrm>
            <a:off x="8095488" y="1810512"/>
            <a:ext cx="3636264" cy="4498848"/>
          </a:xfrm>
          <a:prstGeom prst="roundRect">
            <a:avLst>
              <a:gd name="adj" fmla="val 2012"/>
            </a:avLst>
          </a:prstGeom>
          <a:solidFill>
            <a:srgbClr val="EEF3FA"/>
          </a:solidFill>
          <a:ln w="9525">
            <a:solidFill>
              <a:srgbClr val="C9D6EA"/>
            </a:solidFill>
            <a:prstDash val="solid"/>
          </a:ln>
        </p:spPr>
      </p:sp>
      <p:sp>
        <p:nvSpPr>
          <p:cNvPr id="16" name="Shape 13"/>
          <p:cNvSpPr/>
          <p:nvPr/>
        </p:nvSpPr>
        <p:spPr>
          <a:xfrm>
            <a:off x="8232648" y="1920240"/>
            <a:ext cx="3361944"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8232648"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an + verb in -a</a:t>
            </a:r>
            <a:endParaRPr lang="en-US" sz="950" dirty="0"/>
          </a:p>
        </p:txBody>
      </p:sp>
      <p:sp>
        <p:nvSpPr>
          <p:cNvPr id="18" name="Shape 15"/>
          <p:cNvSpPr/>
          <p:nvPr/>
        </p:nvSpPr>
        <p:spPr>
          <a:xfrm>
            <a:off x="8232648" y="2377440"/>
            <a:ext cx="3361944"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8324088"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أَنْ يَتَعَلَّمَ الزَّائِرُ</a:t>
            </a:r>
            <a:endParaRPr lang="ar-SA" sz="1800" dirty="0"/>
          </a:p>
        </p:txBody>
      </p:sp>
      <p:sp>
        <p:nvSpPr>
          <p:cNvPr id="20" name="Shape 17"/>
          <p:cNvSpPr/>
          <p:nvPr/>
        </p:nvSpPr>
        <p:spPr>
          <a:xfrm>
            <a:off x="8232648" y="2889504"/>
            <a:ext cx="3361944"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8324088"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أَنْ يَرْتَدِيَ مَلَابِسَ مُحْتَشِمَةً</a:t>
            </a:r>
            <a:endParaRPr lang="ar-SA" sz="1800" dirty="0"/>
          </a:p>
        </p:txBody>
      </p:sp>
      <p:sp>
        <p:nvSpPr>
          <p:cNvPr id="22" name="Shape 19"/>
          <p:cNvSpPr/>
          <p:nvPr/>
        </p:nvSpPr>
        <p:spPr>
          <a:xfrm>
            <a:off x="8232648" y="3401568"/>
            <a:ext cx="3361944"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8324088"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أَنْ تَخْلَعَ حِذَاءَكَ</a:t>
            </a:r>
            <a:endParaRPr lang="ar-SA" sz="1800" dirty="0"/>
          </a:p>
        </p:txBody>
      </p:sp>
      <p:sp>
        <p:nvSpPr>
          <p:cNvPr id="24" name="Shape 21"/>
          <p:cNvSpPr/>
          <p:nvPr/>
        </p:nvSpPr>
        <p:spPr>
          <a:xfrm>
            <a:off x="4276344" y="1810512"/>
            <a:ext cx="3636264" cy="4498848"/>
          </a:xfrm>
          <a:prstGeom prst="roundRect">
            <a:avLst>
              <a:gd name="adj" fmla="val 2012"/>
            </a:avLst>
          </a:prstGeom>
          <a:solidFill>
            <a:srgbClr val="EEF3FA"/>
          </a:solidFill>
          <a:ln w="9525">
            <a:solidFill>
              <a:srgbClr val="C9D6EA"/>
            </a:solidFill>
            <a:prstDash val="solid"/>
          </a:ln>
        </p:spPr>
      </p:sp>
      <p:sp>
        <p:nvSpPr>
          <p:cNvPr id="25" name="Shape 22"/>
          <p:cNvSpPr/>
          <p:nvPr/>
        </p:nvSpPr>
        <p:spPr>
          <a:xfrm>
            <a:off x="4413504" y="1920240"/>
            <a:ext cx="3361944" cy="310896"/>
          </a:xfrm>
          <a:prstGeom prst="roundRect">
            <a:avLst>
              <a:gd name="adj" fmla="val 50000"/>
            </a:avLst>
          </a:prstGeom>
          <a:solidFill>
            <a:srgbClr val="2F6FB0"/>
          </a:solidFill>
          <a:ln w="12700">
            <a:solidFill>
              <a:srgbClr val="2F6FB0"/>
            </a:solidFill>
            <a:prstDash val="solid"/>
          </a:ln>
        </p:spPr>
      </p:sp>
      <p:sp>
        <p:nvSpPr>
          <p:cNvPr id="26" name="Text 23"/>
          <p:cNvSpPr txBox="1"/>
          <p:nvPr/>
        </p:nvSpPr>
        <p:spPr>
          <a:xfrm>
            <a:off x="4413504"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yaḥẓur + object</a:t>
            </a:r>
            <a:endParaRPr lang="en-US" sz="950" dirty="0"/>
          </a:p>
        </p:txBody>
      </p:sp>
      <p:sp>
        <p:nvSpPr>
          <p:cNvPr id="27" name="Shape 24"/>
          <p:cNvSpPr/>
          <p:nvPr/>
        </p:nvSpPr>
        <p:spPr>
          <a:xfrm>
            <a:off x="4413504" y="2377440"/>
            <a:ext cx="3361944" cy="438912"/>
          </a:xfrm>
          <a:prstGeom prst="roundRect">
            <a:avLst>
              <a:gd name="adj" fmla="val 12500"/>
            </a:avLst>
          </a:prstGeom>
          <a:solidFill>
            <a:srgbClr val="FFF4DC"/>
          </a:solidFill>
          <a:ln w="9525">
            <a:solidFill>
              <a:srgbClr val="E6C98A"/>
            </a:solidFill>
            <a:prstDash val="solid"/>
          </a:ln>
        </p:spPr>
      </p:sp>
      <p:sp>
        <p:nvSpPr>
          <p:cNvPr id="28" name="Text 25"/>
          <p:cNvSpPr txBox="1"/>
          <p:nvPr/>
        </p:nvSpPr>
        <p:spPr>
          <a:xfrm>
            <a:off x="4504944"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التَّصْوِيرَ فِي المُقَدَّسَاتِ</a:t>
            </a:r>
            <a:endParaRPr lang="ar-SA" sz="1800" dirty="0"/>
          </a:p>
        </p:txBody>
      </p:sp>
      <p:sp>
        <p:nvSpPr>
          <p:cNvPr id="29" name="Shape 26"/>
          <p:cNvSpPr/>
          <p:nvPr/>
        </p:nvSpPr>
        <p:spPr>
          <a:xfrm>
            <a:off x="4413504" y="2889504"/>
            <a:ext cx="3361944"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4504944"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الدُّخُولَ بِالأَحْذِيَةِ</a:t>
            </a:r>
            <a:endParaRPr lang="ar-SA" sz="1800" dirty="0"/>
          </a:p>
        </p:txBody>
      </p:sp>
      <p:sp>
        <p:nvSpPr>
          <p:cNvPr id="31" name="Shape 28"/>
          <p:cNvSpPr/>
          <p:nvPr/>
        </p:nvSpPr>
        <p:spPr>
          <a:xfrm>
            <a:off x="4413504" y="3401568"/>
            <a:ext cx="3361944"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4504944"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اللَّمْسَ فِي بَعْضِ الأَمَاكِنِ</a:t>
            </a:r>
            <a:endParaRPr lang="ar-SA" sz="1800" dirty="0"/>
          </a:p>
        </p:txBody>
      </p:sp>
      <p:sp>
        <p:nvSpPr>
          <p:cNvPr id="33" name="Shape 30"/>
          <p:cNvSpPr/>
          <p:nvPr/>
        </p:nvSpPr>
        <p:spPr>
          <a:xfrm>
            <a:off x="457200" y="1810512"/>
            <a:ext cx="3636264" cy="4498848"/>
          </a:xfrm>
          <a:prstGeom prst="roundRect">
            <a:avLst>
              <a:gd name="adj" fmla="val 2012"/>
            </a:avLst>
          </a:prstGeom>
          <a:solidFill>
            <a:srgbClr val="EEF3FA"/>
          </a:solidFill>
          <a:ln w="9525">
            <a:solidFill>
              <a:srgbClr val="C9D6EA"/>
            </a:solidFill>
            <a:prstDash val="solid"/>
          </a:ln>
        </p:spPr>
      </p:sp>
      <p:sp>
        <p:nvSpPr>
          <p:cNvPr id="34" name="Shape 31"/>
          <p:cNvSpPr/>
          <p:nvPr/>
        </p:nvSpPr>
        <p:spPr>
          <a:xfrm>
            <a:off x="594360" y="1920240"/>
            <a:ext cx="3361944" cy="310896"/>
          </a:xfrm>
          <a:prstGeom prst="roundRect">
            <a:avLst>
              <a:gd name="adj" fmla="val 50000"/>
            </a:avLst>
          </a:prstGeom>
          <a:solidFill>
            <a:srgbClr val="2F6FB0"/>
          </a:solidFill>
          <a:ln w="12700">
            <a:solidFill>
              <a:srgbClr val="2F6FB0"/>
            </a:solidFill>
            <a:prstDash val="solid"/>
          </a:ln>
        </p:spPr>
      </p:sp>
      <p:sp>
        <p:nvSpPr>
          <p:cNvPr id="35" name="Text 32"/>
          <p:cNvSpPr txBox="1"/>
          <p:nvPr/>
        </p:nvSpPr>
        <p:spPr>
          <a:xfrm>
            <a:off x="594360"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yasmaḥ bi-</a:t>
            </a:r>
            <a:endParaRPr lang="en-US" sz="950" dirty="0"/>
          </a:p>
        </p:txBody>
      </p:sp>
      <p:sp>
        <p:nvSpPr>
          <p:cNvPr id="36" name="Shape 33"/>
          <p:cNvSpPr/>
          <p:nvPr/>
        </p:nvSpPr>
        <p:spPr>
          <a:xfrm>
            <a:off x="594360" y="2377440"/>
            <a:ext cx="3361944" cy="438912"/>
          </a:xfrm>
          <a:prstGeom prst="roundRect">
            <a:avLst>
              <a:gd name="adj" fmla="val 12500"/>
            </a:avLst>
          </a:prstGeom>
          <a:solidFill>
            <a:srgbClr val="FFF4DC"/>
          </a:solidFill>
          <a:ln w="9525">
            <a:solidFill>
              <a:srgbClr val="E6C98A"/>
            </a:solidFill>
            <a:prstDash val="solid"/>
          </a:ln>
        </p:spPr>
      </p:sp>
      <p:sp>
        <p:nvSpPr>
          <p:cNvPr id="37" name="Text 34"/>
          <p:cNvSpPr txBox="1"/>
          <p:nvPr/>
        </p:nvSpPr>
        <p:spPr>
          <a:xfrm>
            <a:off x="685800"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بِالتَّصْوِيرِ دُونَ فَلَاشٍ</a:t>
            </a:r>
            <a:endParaRPr lang="ar-SA" sz="1800" dirty="0"/>
          </a:p>
        </p:txBody>
      </p:sp>
      <p:sp>
        <p:nvSpPr>
          <p:cNvPr id="38" name="Shape 35"/>
          <p:cNvSpPr/>
          <p:nvPr/>
        </p:nvSpPr>
        <p:spPr>
          <a:xfrm>
            <a:off x="594360" y="2889504"/>
            <a:ext cx="3361944" cy="438912"/>
          </a:xfrm>
          <a:prstGeom prst="roundRect">
            <a:avLst>
              <a:gd name="adj" fmla="val 12500"/>
            </a:avLst>
          </a:prstGeom>
          <a:solidFill>
            <a:srgbClr val="FFF4DC"/>
          </a:solidFill>
          <a:ln w="9525">
            <a:solidFill>
              <a:srgbClr val="E6C98A"/>
            </a:solidFill>
            <a:prstDash val="solid"/>
          </a:ln>
        </p:spPr>
      </p:sp>
      <p:sp>
        <p:nvSpPr>
          <p:cNvPr id="39" name="Text 36"/>
          <p:cNvSpPr txBox="1"/>
          <p:nvPr/>
        </p:nvSpPr>
        <p:spPr>
          <a:xfrm>
            <a:off x="685800"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بِالزِّيَارَةِ صَبَاحًا</a:t>
            </a:r>
            <a:endParaRPr lang="ar-SA" sz="1800" dirty="0"/>
          </a:p>
        </p:txBody>
      </p:sp>
      <p:sp>
        <p:nvSpPr>
          <p:cNvPr id="40" name="Shape 37"/>
          <p:cNvSpPr/>
          <p:nvPr/>
        </p:nvSpPr>
        <p:spPr>
          <a:xfrm>
            <a:off x="594360" y="3401568"/>
            <a:ext cx="3361944" cy="438912"/>
          </a:xfrm>
          <a:prstGeom prst="roundRect">
            <a:avLst>
              <a:gd name="adj" fmla="val 12500"/>
            </a:avLst>
          </a:prstGeom>
          <a:solidFill>
            <a:srgbClr val="FFF4DC"/>
          </a:solidFill>
          <a:ln w="9525">
            <a:solidFill>
              <a:srgbClr val="E6C98A"/>
            </a:solidFill>
            <a:prstDash val="solid"/>
          </a:ln>
        </p:spPr>
      </p:sp>
      <p:sp>
        <p:nvSpPr>
          <p:cNvPr id="41" name="Text 38"/>
          <p:cNvSpPr txBox="1"/>
          <p:nvPr/>
        </p:nvSpPr>
        <p:spPr>
          <a:xfrm>
            <a:off x="685800"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بِالدُّخُولِ مَجَّانًا</a:t>
            </a:r>
            <a:endParaRPr lang="ar-SA" sz="180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49</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P3-L07 · Culture</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GUIDED PRACTICE · WEBSITE QUIZ QUESTIONS 5, 6, 7, 8</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P3-L07</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21" name="Text 18"/>
          <p:cNvSpPr txBox="1"/>
          <p:nvPr/>
        </p:nvSpPr>
        <p:spPr>
          <a:xfrm>
            <a:off x="3323295"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يَسْمَحُ المَتْحَفُ ___ التَّصْوِيرِ دُونَ فَلَاشٍ.</a:t>
            </a:r>
            <a:endParaRPr lang="ar-SA" sz="1500" dirty="0"/>
          </a:p>
        </p:txBody>
      </p:sp>
      <p:sp>
        <p:nvSpPr>
          <p:cNvPr id="22" name="Shape 19"/>
          <p:cNvSpPr/>
          <p:nvPr/>
        </p:nvSpPr>
        <p:spPr>
          <a:xfrm>
            <a:off x="640080" y="25328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4" name="Text 21"/>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عَنْ</a:t>
            </a:r>
            <a:endParaRPr lang="ar-SA" sz="2050" dirty="0"/>
          </a:p>
        </p:txBody>
      </p:sp>
      <p:sp>
        <p:nvSpPr>
          <p:cNvPr id="25" name="Shape 22"/>
          <p:cNvSpPr/>
          <p:nvPr/>
        </p:nvSpPr>
        <p:spPr>
          <a:xfrm>
            <a:off x="640080" y="29900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7" name="Text 24"/>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إِلَى</a:t>
            </a:r>
            <a:endParaRPr lang="ar-SA" sz="2050" dirty="0"/>
          </a:p>
        </p:txBody>
      </p:sp>
      <p:sp>
        <p:nvSpPr>
          <p:cNvPr id="28" name="Shape 25"/>
          <p:cNvSpPr/>
          <p:nvPr/>
        </p:nvSpPr>
        <p:spPr>
          <a:xfrm>
            <a:off x="640080" y="3447288"/>
            <a:ext cx="256032" cy="256032"/>
          </a:xfrm>
          <a:prstGeom prst="ellipse">
            <a:avLst/>
          </a:prstGeom>
          <a:solidFill>
            <a:srgbClr val="F4F1EA"/>
          </a:solidFill>
          <a:ln w="12700">
            <a:solidFill>
              <a:srgbClr val="F4F1EA"/>
            </a:solidFill>
            <a:prstDash val="solid"/>
          </a:ln>
        </p:spPr>
      </p:sp>
      <p:sp>
        <p:nvSpPr>
          <p:cNvPr id="29" name="Text 26"/>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30" name="Text 27"/>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بِـ</a:t>
            </a:r>
            <a:endParaRPr lang="ar-SA" sz="2050" dirty="0"/>
          </a:p>
        </p:txBody>
      </p:sp>
      <p:sp>
        <p:nvSpPr>
          <p:cNvPr id="31" name="Shape 28"/>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6313932" y="1947672"/>
            <a:ext cx="310896" cy="310896"/>
          </a:xfrm>
          <a:prstGeom prst="ellipse">
            <a:avLst/>
          </a:prstGeom>
          <a:solidFill>
            <a:srgbClr val="1B3B6F"/>
          </a:solidFill>
          <a:ln w="12700">
            <a:solidFill>
              <a:srgbClr val="1B3B6F"/>
            </a:solidFill>
            <a:prstDash val="solid"/>
          </a:ln>
        </p:spPr>
      </p:sp>
      <p:sp>
        <p:nvSpPr>
          <p:cNvPr id="33" name="Text 30"/>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4" name="Text 31"/>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polite advice for a scenario (Type 1 + modal)?</a:t>
            </a:r>
            <a:endParaRPr lang="en-US" sz="1250" dirty="0"/>
          </a:p>
        </p:txBody>
      </p:sp>
      <p:sp>
        <p:nvSpPr>
          <p:cNvPr id="35" name="Shape 32"/>
          <p:cNvSpPr/>
          <p:nvPr/>
        </p:nvSpPr>
        <p:spPr>
          <a:xfrm>
            <a:off x="6368796" y="25328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إِذَا دُعِيتَ إِلَى مَنْزِلٍ، تُحْضِرُ هَدِيَّةً.</a:t>
            </a:r>
            <a:endParaRPr lang="ar-SA" sz="2050" dirty="0"/>
          </a:p>
        </p:txBody>
      </p:sp>
      <p:sp>
        <p:nvSpPr>
          <p:cNvPr id="38" name="Shape 35"/>
          <p:cNvSpPr/>
          <p:nvPr/>
        </p:nvSpPr>
        <p:spPr>
          <a:xfrm>
            <a:off x="6368796" y="29900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إِذَا دُعِيتَ إِلَى مَنْزِلٍ، يُسْتَحْسَنُ أَنْ تُحْضِرَ هَدِيَّةً.</a:t>
            </a:r>
            <a:endParaRPr lang="ar-SA" sz="2050" dirty="0"/>
          </a:p>
        </p:txBody>
      </p:sp>
      <p:sp>
        <p:nvSpPr>
          <p:cNvPr id="41" name="Shape 38"/>
          <p:cNvSpPr/>
          <p:nvPr/>
        </p:nvSpPr>
        <p:spPr>
          <a:xfrm>
            <a:off x="6368796" y="3447288"/>
            <a:ext cx="256032" cy="256032"/>
          </a:xfrm>
          <a:prstGeom prst="ellipse">
            <a:avLst/>
          </a:prstGeom>
          <a:solidFill>
            <a:srgbClr val="F4F1EA"/>
          </a:solidFill>
          <a:ln w="12700">
            <a:solidFill>
              <a:srgbClr val="F4F1EA"/>
            </a:solidFill>
            <a:prstDash val="solid"/>
          </a:ln>
        </p:spPr>
      </p:sp>
      <p:sp>
        <p:nvSpPr>
          <p:cNvPr id="42" name="Text 39"/>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دُعِيتَ إِلَى مَنْزِلٍ.</a:t>
            </a:r>
            <a:endParaRPr lang="ar-SA" sz="2050" dirty="0"/>
          </a:p>
        </p:txBody>
      </p:sp>
      <p:sp>
        <p:nvSpPr>
          <p:cNvPr id="44" name="Shape 41"/>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5" name="Shape 42"/>
          <p:cNvSpPr/>
          <p:nvPr/>
        </p:nvSpPr>
        <p:spPr>
          <a:xfrm>
            <a:off x="585216" y="4288536"/>
            <a:ext cx="310896" cy="310896"/>
          </a:xfrm>
          <a:prstGeom prst="ellipse">
            <a:avLst/>
          </a:prstGeom>
          <a:solidFill>
            <a:srgbClr val="1B3B6F"/>
          </a:solidFill>
          <a:ln w="12700">
            <a:solidFill>
              <a:srgbClr val="1B3B6F"/>
            </a:solidFill>
            <a:prstDash val="solid"/>
          </a:ln>
        </p:spPr>
      </p:sp>
      <p:sp>
        <p:nvSpPr>
          <p:cNvPr id="46" name="Text 4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47" name="Text 44"/>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the Type 2 reflection?</a:t>
            </a:r>
            <a:endParaRPr lang="en-US" sz="1250" dirty="0"/>
          </a:p>
        </p:txBody>
      </p:sp>
      <p:sp>
        <p:nvSpPr>
          <p:cNvPr id="48" name="Shape 45"/>
          <p:cNvSpPr/>
          <p:nvPr/>
        </p:nvSpPr>
        <p:spPr>
          <a:xfrm>
            <a:off x="640080" y="48737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0" name="Text 47"/>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2" charset="-78"/>
                <a:ea typeface="Amiri" pitchFamily="2" charset="-78"/>
                <a:cs typeface="Amiri" pitchFamily="2" charset="-78"/>
              </a:rPr>
              <a:t>إِذَا تَعَلَّمْتُ العَرَبِيَّةَ، سَتَكُونُ التَّجْرِبَةُ أَعْمَقَ.</a:t>
            </a:r>
            <a:endParaRPr lang="ar-SA" sz="2000" dirty="0"/>
          </a:p>
        </p:txBody>
      </p:sp>
      <p:sp>
        <p:nvSpPr>
          <p:cNvPr id="51" name="Shape 48"/>
          <p:cNvSpPr/>
          <p:nvPr/>
        </p:nvSpPr>
        <p:spPr>
          <a:xfrm>
            <a:off x="640080" y="53309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3" name="Text 50"/>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2" charset="-78"/>
                <a:ea typeface="Amiri" pitchFamily="2" charset="-78"/>
                <a:cs typeface="Amiri" pitchFamily="2" charset="-78"/>
              </a:rPr>
              <a:t>لَوْ تَعَلَّمْتُ العَرَبِيَّةَ قَبْلَ الرِّحْلَةِ، لَكَانَتِ التَّجْرِبَةُ أَعْمَقَ.</a:t>
            </a:r>
            <a:endParaRPr lang="ar-SA" sz="2000" dirty="0"/>
          </a:p>
        </p:txBody>
      </p:sp>
      <p:sp>
        <p:nvSpPr>
          <p:cNvPr id="54" name="Shape 51"/>
          <p:cNvSpPr/>
          <p:nvPr/>
        </p:nvSpPr>
        <p:spPr>
          <a:xfrm>
            <a:off x="640080" y="5788152"/>
            <a:ext cx="256032" cy="256032"/>
          </a:xfrm>
          <a:prstGeom prst="ellipse">
            <a:avLst/>
          </a:prstGeom>
          <a:solidFill>
            <a:srgbClr val="F4F1EA"/>
          </a:solidFill>
          <a:ln w="12700">
            <a:solidFill>
              <a:srgbClr val="F4F1EA"/>
            </a:solidFill>
            <a:prstDash val="solid"/>
          </a:ln>
        </p:spPr>
      </p:sp>
      <p:sp>
        <p:nvSpPr>
          <p:cNvPr id="55" name="Text 5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6" name="Text 53"/>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2" charset="-78"/>
                <a:ea typeface="Amiri" pitchFamily="2" charset="-78"/>
                <a:cs typeface="Amiri" pitchFamily="2" charset="-78"/>
              </a:rPr>
              <a:t>أَتَعَلَّمُ العَرَبِيَّةَ.</a:t>
            </a:r>
            <a:endParaRPr lang="ar-SA" sz="2000" dirty="0"/>
          </a:p>
        </p:txBody>
      </p:sp>
      <p:sp>
        <p:nvSpPr>
          <p:cNvPr id="57" name="Shape 54"/>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8" name="Shape 55"/>
          <p:cNvSpPr/>
          <p:nvPr/>
        </p:nvSpPr>
        <p:spPr>
          <a:xfrm>
            <a:off x="6313932" y="4288536"/>
            <a:ext cx="310896" cy="310896"/>
          </a:xfrm>
          <a:prstGeom prst="ellipse">
            <a:avLst/>
          </a:prstGeom>
          <a:solidFill>
            <a:srgbClr val="1B3B6F"/>
          </a:solidFill>
          <a:ln w="12700">
            <a:solidFill>
              <a:srgbClr val="1B3B6F"/>
            </a:solidFill>
            <a:prstDash val="solid"/>
          </a:ln>
        </p:spPr>
      </p:sp>
      <p:sp>
        <p:nvSpPr>
          <p:cNvPr id="59" name="Text 56"/>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60" name="Text 57"/>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is </a:t>
            </a:r>
            <a:pPr algn="l" indent="0" marL="0">
              <a:buNone/>
            </a:pPr>
            <a:r>
              <a:rPr lang="ar-SA" altLang="en-US" sz="1650" b="1" dirty="0">
                <a:solidFill>
                  <a:srgbClr val="1B3B6F"/>
                </a:solidFill>
                <a:latin typeface="Amiri" pitchFamily="2" charset="-78"/>
                <a:ea typeface="Amiri" pitchFamily="2" charset="-78"/>
                <a:cs typeface="Amiri" pitchFamily="2" charset="-78"/>
              </a:rPr>
              <a:t>يُسْتَحْسَنُ أَنْ</a:t>
            </a:r>
            <a:pPr algn="l" indent="0" marL="0">
              <a:buNone/>
            </a:pPr>
            <a:r>
              <a:rPr lang="en-US" sz="1250" b="1" dirty="0">
                <a:solidFill>
                  <a:srgbClr val="1B3B6F"/>
                </a:solidFill>
                <a:latin typeface="Calibri" pitchFamily="34" charset="0"/>
                <a:cs typeface="Amiri" pitchFamily="2" charset="-78"/>
              </a:rPr>
              <a:t> different from </a:t>
            </a:r>
            <a:pPr algn="l" indent="0" marL="0">
              <a:buNone/>
            </a:pPr>
            <a:r>
              <a:rPr lang="ar-SA" altLang="en-US" sz="1650" b="1" dirty="0">
                <a:solidFill>
                  <a:srgbClr val="1B3B6F"/>
                </a:solidFill>
                <a:latin typeface="Amiri" pitchFamily="2" charset="-78"/>
                <a:ea typeface="Amiri" pitchFamily="2" charset="-78"/>
                <a:cs typeface="Amiri" pitchFamily="2" charset="-78"/>
              </a:rPr>
              <a:t>يَجِبُ أَنْ</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61" name="Shape 58"/>
          <p:cNvSpPr/>
          <p:nvPr/>
        </p:nvSpPr>
        <p:spPr>
          <a:xfrm>
            <a:off x="6368796" y="48737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3" name="Text 60"/>
          <p:cNvSpPr txBox="1"/>
          <p:nvPr/>
        </p:nvSpPr>
        <p:spPr>
          <a:xfrm>
            <a:off x="6697980" y="47731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a command</a:t>
            </a:r>
            <a:endParaRPr lang="en-US" sz="1250" dirty="0"/>
          </a:p>
        </p:txBody>
      </p:sp>
      <p:sp>
        <p:nvSpPr>
          <p:cNvPr id="64" name="Shape 61"/>
          <p:cNvSpPr/>
          <p:nvPr/>
        </p:nvSpPr>
        <p:spPr>
          <a:xfrm>
            <a:off x="6368796" y="53309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6" name="Text 63"/>
          <p:cNvSpPr txBox="1"/>
          <p:nvPr/>
        </p:nvSpPr>
        <p:spPr>
          <a:xfrm>
            <a:off x="6697980" y="52303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a prohibition</a:t>
            </a:r>
            <a:endParaRPr lang="en-US" sz="1250" dirty="0"/>
          </a:p>
        </p:txBody>
      </p:sp>
      <p:sp>
        <p:nvSpPr>
          <p:cNvPr id="67" name="Shape 64"/>
          <p:cNvSpPr/>
          <p:nvPr/>
        </p:nvSpPr>
        <p:spPr>
          <a:xfrm>
            <a:off x="6368796" y="5788152"/>
            <a:ext cx="256032" cy="256032"/>
          </a:xfrm>
          <a:prstGeom prst="ellipse">
            <a:avLst/>
          </a:prstGeom>
          <a:solidFill>
            <a:srgbClr val="F4F1EA"/>
          </a:solidFill>
          <a:ln w="12700">
            <a:solidFill>
              <a:srgbClr val="F4F1EA"/>
            </a:solidFill>
            <a:prstDash val="solid"/>
          </a:ln>
        </p:spPr>
      </p:sp>
      <p:sp>
        <p:nvSpPr>
          <p:cNvPr id="68" name="Text 65"/>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9" name="Text 66"/>
          <p:cNvSpPr txBox="1"/>
          <p:nvPr/>
        </p:nvSpPr>
        <p:spPr>
          <a:xfrm>
            <a:off x="6697980" y="56875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softer, more polite advice</a:t>
            </a:r>
            <a:endParaRPr lang="en-US" sz="12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49</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P3-L07 · Culture</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P3-L07</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21" name="Text 18"/>
          <p:cNvSpPr txBox="1"/>
          <p:nvPr/>
        </p:nvSpPr>
        <p:spPr>
          <a:xfrm>
            <a:off x="3323295"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يَسْمَحُ المَتْحَفُ ___ التَّصْوِيرِ دُونَ فَلَاشٍ.</a:t>
            </a:r>
            <a:endParaRPr lang="ar-SA" sz="1500" dirty="0"/>
          </a:p>
        </p:txBody>
      </p:sp>
      <p:sp>
        <p:nvSpPr>
          <p:cNvPr id="22" name="Shape 19"/>
          <p:cNvSpPr/>
          <p:nvPr/>
        </p:nvSpPr>
        <p:spPr>
          <a:xfrm>
            <a:off x="640080" y="2490216"/>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4" name="Text 21"/>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عَنْ</a:t>
            </a:r>
            <a:endParaRPr lang="ar-SA" sz="1700" dirty="0"/>
          </a:p>
        </p:txBody>
      </p:sp>
      <p:sp>
        <p:nvSpPr>
          <p:cNvPr id="25" name="Shape 22"/>
          <p:cNvSpPr/>
          <p:nvPr/>
        </p:nvSpPr>
        <p:spPr>
          <a:xfrm>
            <a:off x="640080" y="2862072"/>
            <a:ext cx="256032" cy="256032"/>
          </a:xfrm>
          <a:prstGeom prst="ellipse">
            <a:avLst/>
          </a:prstGeom>
          <a:solidFill>
            <a:srgbClr val="C9CED6"/>
          </a:solidFill>
          <a:ln w="12700">
            <a:solidFill>
              <a:srgbClr val="C9CED6"/>
            </a:solidFill>
            <a:prstDash val="solid"/>
          </a:ln>
        </p:spPr>
      </p:sp>
      <p:sp>
        <p:nvSpPr>
          <p:cNvPr id="26"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7" name="Text 24"/>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إِلَى</a:t>
            </a:r>
            <a:endParaRPr lang="ar-SA" sz="1700" dirty="0"/>
          </a:p>
        </p:txBody>
      </p:sp>
      <p:sp>
        <p:nvSpPr>
          <p:cNvPr id="28" name="Shape 25"/>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9" name="Shape 26"/>
          <p:cNvSpPr/>
          <p:nvPr/>
        </p:nvSpPr>
        <p:spPr>
          <a:xfrm>
            <a:off x="640080" y="3233928"/>
            <a:ext cx="256032" cy="256032"/>
          </a:xfrm>
          <a:prstGeom prst="ellipse">
            <a:avLst/>
          </a:prstGeom>
          <a:solidFill>
            <a:srgbClr val="2E8B57"/>
          </a:solidFill>
          <a:ln w="12700">
            <a:solidFill>
              <a:srgbClr val="2E8B57"/>
            </a:solidFill>
            <a:prstDash val="solid"/>
          </a:ln>
        </p:spPr>
      </p:sp>
      <p:sp>
        <p:nvSpPr>
          <p:cNvPr id="30" name="Text 27"/>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31" name="Text 28"/>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بِـ</a:t>
            </a:r>
            <a:endParaRPr lang="ar-SA" sz="1700" dirty="0"/>
          </a:p>
        </p:txBody>
      </p:sp>
      <p:sp>
        <p:nvSpPr>
          <p:cNvPr id="32" name="Text 29"/>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يَسْمَحُ</a:t>
            </a:r>
            <a:pPr algn="l" indent="0" marL="0">
              <a:buNone/>
            </a:pPr>
            <a:r>
              <a:rPr lang="en-US" sz="1050" i="1" dirty="0">
                <a:solidFill>
                  <a:srgbClr val="8A6D1E"/>
                </a:solidFill>
                <a:latin typeface="Calibri" pitchFamily="34" charset="0"/>
                <a:cs typeface="Amiri" pitchFamily="2" charset="-78"/>
              </a:rPr>
              <a:t> is fixed with </a:t>
            </a:r>
            <a:pPr algn="l" indent="0" marL="0">
              <a:buNone/>
            </a:pPr>
            <a:r>
              <a:rPr lang="ar-SA" altLang="en-US" sz="1350" dirty="0">
                <a:solidFill>
                  <a:srgbClr val="8A6D1E"/>
                </a:solidFill>
                <a:latin typeface="Amiri" pitchFamily="2" charset="-78"/>
                <a:ea typeface="Amiri" pitchFamily="2" charset="-78"/>
                <a:cs typeface="Amiri" pitchFamily="2" charset="-78"/>
              </a:rPr>
              <a:t>بِـ</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3" name="Shape 30"/>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313932" y="1947672"/>
            <a:ext cx="310896" cy="310896"/>
          </a:xfrm>
          <a:prstGeom prst="ellipse">
            <a:avLst/>
          </a:prstGeom>
          <a:solidFill>
            <a:srgbClr val="1B3B6F"/>
          </a:solidFill>
          <a:ln w="12700">
            <a:solidFill>
              <a:srgbClr val="1B3B6F"/>
            </a:solidFill>
            <a:prstDash val="solid"/>
          </a:ln>
        </p:spPr>
      </p:sp>
      <p:sp>
        <p:nvSpPr>
          <p:cNvPr id="35" name="Text 32"/>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6" name="Text 33"/>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polite advice for a scenario (Type 1 + modal)?</a:t>
            </a:r>
            <a:endParaRPr lang="en-US" sz="1250" dirty="0"/>
          </a:p>
        </p:txBody>
      </p:sp>
      <p:sp>
        <p:nvSpPr>
          <p:cNvPr id="37" name="Shape 34"/>
          <p:cNvSpPr/>
          <p:nvPr/>
        </p:nvSpPr>
        <p:spPr>
          <a:xfrm>
            <a:off x="6368796" y="2490216"/>
            <a:ext cx="256032" cy="256032"/>
          </a:xfrm>
          <a:prstGeom prst="ellipse">
            <a:avLst/>
          </a:prstGeom>
          <a:solidFill>
            <a:srgbClr val="C9CED6"/>
          </a:solidFill>
          <a:ln w="12700">
            <a:solidFill>
              <a:srgbClr val="C9CED6"/>
            </a:solidFill>
            <a:prstDash val="solid"/>
          </a:ln>
        </p:spPr>
      </p:sp>
      <p:sp>
        <p:nvSpPr>
          <p:cNvPr id="38" name="Text 35"/>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9" name="Text 36"/>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إِذَا دُعِيتَ إِلَى مَنْزِلٍ، تُحْضِرُ هَدِيَّةً.</a:t>
            </a:r>
            <a:endParaRPr lang="ar-SA" sz="1700" dirty="0"/>
          </a:p>
        </p:txBody>
      </p:sp>
      <p:sp>
        <p:nvSpPr>
          <p:cNvPr id="40" name="Shape 37"/>
          <p:cNvSpPr/>
          <p:nvPr/>
        </p:nvSpPr>
        <p:spPr>
          <a:xfrm>
            <a:off x="6277356" y="2825496"/>
            <a:ext cx="5362956"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6368796" y="2862072"/>
            <a:ext cx="256032" cy="256032"/>
          </a:xfrm>
          <a:prstGeom prst="ellipse">
            <a:avLst/>
          </a:prstGeom>
          <a:solidFill>
            <a:srgbClr val="2E8B57"/>
          </a:solidFill>
          <a:ln w="12700">
            <a:solidFill>
              <a:srgbClr val="2E8B57"/>
            </a:solidFill>
            <a:prstDash val="solid"/>
          </a:ln>
        </p:spPr>
      </p:sp>
      <p:sp>
        <p:nvSpPr>
          <p:cNvPr id="42" name="Text 39"/>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3" name="Text 40"/>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إِذَا دُعِيتَ إِلَى مَنْزِلٍ، يُسْتَحْسَنُ أَنْ تُحْضِرَ هَدِيَّةً.</a:t>
            </a:r>
            <a:endParaRPr lang="ar-SA" sz="1700" dirty="0"/>
          </a:p>
        </p:txBody>
      </p:sp>
      <p:sp>
        <p:nvSpPr>
          <p:cNvPr id="44" name="Shape 41"/>
          <p:cNvSpPr/>
          <p:nvPr/>
        </p:nvSpPr>
        <p:spPr>
          <a:xfrm>
            <a:off x="6368796" y="3233928"/>
            <a:ext cx="256032" cy="256032"/>
          </a:xfrm>
          <a:prstGeom prst="ellipse">
            <a:avLst/>
          </a:prstGeom>
          <a:solidFill>
            <a:srgbClr val="C9CED6"/>
          </a:solidFill>
          <a:ln w="12700">
            <a:solidFill>
              <a:srgbClr val="C9CED6"/>
            </a:solidFill>
            <a:prstDash val="solid"/>
          </a:ln>
        </p:spPr>
      </p:sp>
      <p:sp>
        <p:nvSpPr>
          <p:cNvPr id="45" name="Text 42"/>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6" name="Text 43"/>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دُعِيتَ إِلَى مَنْزِلٍ.</a:t>
            </a:r>
            <a:endParaRPr lang="ar-SA" sz="1700" dirty="0"/>
          </a:p>
        </p:txBody>
      </p:sp>
      <p:sp>
        <p:nvSpPr>
          <p:cNvPr id="47" name="Text 44"/>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It combines a Type 1 scenario with </a:t>
            </a:r>
            <a:pPr algn="l" indent="0" marL="0">
              <a:buNone/>
            </a:pPr>
            <a:r>
              <a:rPr lang="ar-SA" altLang="en-US" sz="1350" dirty="0">
                <a:solidFill>
                  <a:srgbClr val="8A6D1E"/>
                </a:solidFill>
                <a:latin typeface="Amiri" pitchFamily="2" charset="-78"/>
                <a:ea typeface="Amiri" pitchFamily="2" charset="-78"/>
                <a:cs typeface="Amiri" pitchFamily="2" charset="-78"/>
              </a:rPr>
              <a:t>يُسْتَحْسَنُ أَنْ</a:t>
            </a:r>
            <a:pPr algn="l" indent="0" marL="0">
              <a:buNone/>
            </a:pPr>
            <a:r>
              <a:rPr lang="en-US" sz="1050" i="1" dirty="0">
                <a:solidFill>
                  <a:srgbClr val="8A6D1E"/>
                </a:solidFill>
                <a:latin typeface="Calibri" pitchFamily="34" charset="0"/>
                <a:cs typeface="Amiri" pitchFamily="2" charset="-78"/>
              </a:rPr>
              <a:t> + subjunctive.</a:t>
            </a:r>
            <a:endParaRPr lang="en-US" sz="1050" dirty="0"/>
          </a:p>
        </p:txBody>
      </p:sp>
      <p:sp>
        <p:nvSpPr>
          <p:cNvPr id="48" name="Shape 45"/>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9" name="Shape 46"/>
          <p:cNvSpPr/>
          <p:nvPr/>
        </p:nvSpPr>
        <p:spPr>
          <a:xfrm>
            <a:off x="585216" y="4288536"/>
            <a:ext cx="310896" cy="310896"/>
          </a:xfrm>
          <a:prstGeom prst="ellipse">
            <a:avLst/>
          </a:prstGeom>
          <a:solidFill>
            <a:srgbClr val="1B3B6F"/>
          </a:solidFill>
          <a:ln w="12700">
            <a:solidFill>
              <a:srgbClr val="1B3B6F"/>
            </a:solidFill>
            <a:prstDash val="solid"/>
          </a:ln>
        </p:spPr>
      </p:sp>
      <p:sp>
        <p:nvSpPr>
          <p:cNvPr id="50" name="Text 47"/>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51" name="Text 48"/>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the Type 2 reflection?</a:t>
            </a:r>
            <a:endParaRPr lang="en-US" sz="1250" dirty="0"/>
          </a:p>
        </p:txBody>
      </p:sp>
      <p:sp>
        <p:nvSpPr>
          <p:cNvPr id="52" name="Shape 49"/>
          <p:cNvSpPr/>
          <p:nvPr/>
        </p:nvSpPr>
        <p:spPr>
          <a:xfrm>
            <a:off x="640080" y="4831080"/>
            <a:ext cx="256032" cy="256032"/>
          </a:xfrm>
          <a:prstGeom prst="ellipse">
            <a:avLst/>
          </a:prstGeom>
          <a:solidFill>
            <a:srgbClr val="C9CED6"/>
          </a:solidFill>
          <a:ln w="12700">
            <a:solidFill>
              <a:srgbClr val="C9CED6"/>
            </a:solidFill>
            <a:prstDash val="solid"/>
          </a:ln>
        </p:spPr>
      </p:sp>
      <p:sp>
        <p:nvSpPr>
          <p:cNvPr id="53" name="Text 50"/>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4" name="Text 51"/>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إِذَا تَعَلَّمْتُ العَرَبِيَّةَ، سَتَكُونُ التَّجْرِبَةُ أَعْمَقَ.</a:t>
            </a:r>
            <a:endParaRPr lang="ar-SA" sz="1700" dirty="0"/>
          </a:p>
        </p:txBody>
      </p:sp>
      <p:sp>
        <p:nvSpPr>
          <p:cNvPr id="55" name="Shape 52"/>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640080" y="5202936"/>
            <a:ext cx="256032" cy="256032"/>
          </a:xfrm>
          <a:prstGeom prst="ellipse">
            <a:avLst/>
          </a:prstGeom>
          <a:solidFill>
            <a:srgbClr val="2E8B57"/>
          </a:solidFill>
          <a:ln w="12700">
            <a:solidFill>
              <a:srgbClr val="2E8B57"/>
            </a:solidFill>
            <a:prstDash val="solid"/>
          </a:ln>
        </p:spPr>
      </p:sp>
      <p:sp>
        <p:nvSpPr>
          <p:cNvPr id="57" name="Text 54"/>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8" name="Text 55"/>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لَوْ تَعَلَّمْتُ العَرَبِيَّةَ قَبْلَ الرِّحْلَةِ، لَكَانَتِ التَّجْرِبَةُ أَعْمَقَ.</a:t>
            </a:r>
            <a:endParaRPr lang="ar-SA" sz="1700" dirty="0"/>
          </a:p>
        </p:txBody>
      </p:sp>
      <p:sp>
        <p:nvSpPr>
          <p:cNvPr id="59" name="Shape 56"/>
          <p:cNvSpPr/>
          <p:nvPr/>
        </p:nvSpPr>
        <p:spPr>
          <a:xfrm>
            <a:off x="640080" y="5574792"/>
            <a:ext cx="256032" cy="256032"/>
          </a:xfrm>
          <a:prstGeom prst="ellipse">
            <a:avLst/>
          </a:prstGeom>
          <a:solidFill>
            <a:srgbClr val="C9CED6"/>
          </a:solidFill>
          <a:ln w="12700">
            <a:solidFill>
              <a:srgbClr val="C9CED6"/>
            </a:solidFill>
            <a:prstDash val="solid"/>
          </a:ln>
        </p:spPr>
      </p:sp>
      <p:sp>
        <p:nvSpPr>
          <p:cNvPr id="60" name="Text 57"/>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1" name="Text 58"/>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أَتَعَلَّمُ العَرَبِيَّةَ.</a:t>
            </a:r>
            <a:endParaRPr lang="ar-SA" sz="1700" dirty="0"/>
          </a:p>
        </p:txBody>
      </p:sp>
      <p:sp>
        <p:nvSpPr>
          <p:cNvPr id="62" name="Text 59"/>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لَوْ … لَـ</a:t>
            </a:r>
            <a:pPr algn="l" indent="0" marL="0">
              <a:buNone/>
            </a:pPr>
            <a:r>
              <a:rPr lang="en-US" sz="1050" i="1" dirty="0">
                <a:solidFill>
                  <a:srgbClr val="8A6D1E"/>
                </a:solidFill>
                <a:latin typeface="Calibri" pitchFamily="34" charset="0"/>
                <a:cs typeface="Amiri" pitchFamily="2" charset="-78"/>
              </a:rPr>
              <a:t> is the counterfactual reflection.</a:t>
            </a:r>
            <a:endParaRPr lang="en-US" sz="1050" dirty="0"/>
          </a:p>
        </p:txBody>
      </p:sp>
      <p:sp>
        <p:nvSpPr>
          <p:cNvPr id="63" name="Shape 60"/>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6313932" y="4288536"/>
            <a:ext cx="310896" cy="310896"/>
          </a:xfrm>
          <a:prstGeom prst="ellipse">
            <a:avLst/>
          </a:prstGeom>
          <a:solidFill>
            <a:srgbClr val="1B3B6F"/>
          </a:solidFill>
          <a:ln w="12700">
            <a:solidFill>
              <a:srgbClr val="1B3B6F"/>
            </a:solidFill>
            <a:prstDash val="solid"/>
          </a:ln>
        </p:spPr>
      </p:sp>
      <p:sp>
        <p:nvSpPr>
          <p:cNvPr id="65" name="Text 62"/>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66" name="Text 63"/>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is </a:t>
            </a:r>
            <a:pPr algn="l" indent="0" marL="0">
              <a:buNone/>
            </a:pPr>
            <a:r>
              <a:rPr lang="ar-SA" altLang="en-US" sz="1650" b="1" dirty="0">
                <a:solidFill>
                  <a:srgbClr val="1B3B6F"/>
                </a:solidFill>
                <a:latin typeface="Amiri" pitchFamily="2" charset="-78"/>
                <a:ea typeface="Amiri" pitchFamily="2" charset="-78"/>
                <a:cs typeface="Amiri" pitchFamily="2" charset="-78"/>
              </a:rPr>
              <a:t>يُسْتَحْسَنُ أَنْ</a:t>
            </a:r>
            <a:pPr algn="l" indent="0" marL="0">
              <a:buNone/>
            </a:pPr>
            <a:r>
              <a:rPr lang="en-US" sz="1250" b="1" dirty="0">
                <a:solidFill>
                  <a:srgbClr val="1B3B6F"/>
                </a:solidFill>
                <a:latin typeface="Calibri" pitchFamily="34" charset="0"/>
                <a:cs typeface="Amiri" pitchFamily="2" charset="-78"/>
              </a:rPr>
              <a:t> different from </a:t>
            </a:r>
            <a:pPr algn="l" indent="0" marL="0">
              <a:buNone/>
            </a:pPr>
            <a:r>
              <a:rPr lang="ar-SA" altLang="en-US" sz="1650" b="1" dirty="0">
                <a:solidFill>
                  <a:srgbClr val="1B3B6F"/>
                </a:solidFill>
                <a:latin typeface="Amiri" pitchFamily="2" charset="-78"/>
                <a:ea typeface="Amiri" pitchFamily="2" charset="-78"/>
                <a:cs typeface="Amiri" pitchFamily="2" charset="-78"/>
              </a:rPr>
              <a:t>يَجِبُ أَنْ</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67" name="Shape 64"/>
          <p:cNvSpPr/>
          <p:nvPr/>
        </p:nvSpPr>
        <p:spPr>
          <a:xfrm>
            <a:off x="6368796" y="4831080"/>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9" name="Text 66"/>
          <p:cNvSpPr txBox="1"/>
          <p:nvPr/>
        </p:nvSpPr>
        <p:spPr>
          <a:xfrm>
            <a:off x="6697980" y="4773168"/>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is a command</a:t>
            </a:r>
            <a:endParaRPr lang="en-US" sz="1250" dirty="0"/>
          </a:p>
        </p:txBody>
      </p:sp>
      <p:sp>
        <p:nvSpPr>
          <p:cNvPr id="70" name="Shape 67"/>
          <p:cNvSpPr/>
          <p:nvPr/>
        </p:nvSpPr>
        <p:spPr>
          <a:xfrm>
            <a:off x="6368796" y="5202936"/>
            <a:ext cx="256032" cy="256032"/>
          </a:xfrm>
          <a:prstGeom prst="ellipse">
            <a:avLst/>
          </a:prstGeom>
          <a:solidFill>
            <a:srgbClr val="C9CED6"/>
          </a:solidFill>
          <a:ln w="12700">
            <a:solidFill>
              <a:srgbClr val="C9CED6"/>
            </a:solidFill>
            <a:prstDash val="solid"/>
          </a:ln>
        </p:spPr>
      </p:sp>
      <p:sp>
        <p:nvSpPr>
          <p:cNvPr id="71" name="Text 68"/>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2" name="Text 69"/>
          <p:cNvSpPr txBox="1"/>
          <p:nvPr/>
        </p:nvSpPr>
        <p:spPr>
          <a:xfrm>
            <a:off x="6697980" y="5145024"/>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is a prohibition</a:t>
            </a:r>
            <a:endParaRPr lang="en-US" sz="1250" dirty="0"/>
          </a:p>
        </p:txBody>
      </p:sp>
      <p:sp>
        <p:nvSpPr>
          <p:cNvPr id="73" name="Shape 70"/>
          <p:cNvSpPr/>
          <p:nvPr/>
        </p:nvSpPr>
        <p:spPr>
          <a:xfrm>
            <a:off x="6277356" y="5538216"/>
            <a:ext cx="5362956" cy="347472"/>
          </a:xfrm>
          <a:prstGeom prst="roundRect">
            <a:avLst>
              <a:gd name="adj" fmla="val 15789"/>
            </a:avLst>
          </a:prstGeom>
          <a:solidFill>
            <a:srgbClr val="E6F4EC"/>
          </a:solidFill>
          <a:ln w="9525">
            <a:solidFill>
              <a:srgbClr val="2E8B57"/>
            </a:solidFill>
            <a:prstDash val="solid"/>
          </a:ln>
        </p:spPr>
      </p:sp>
      <p:sp>
        <p:nvSpPr>
          <p:cNvPr id="74" name="Shape 71"/>
          <p:cNvSpPr/>
          <p:nvPr/>
        </p:nvSpPr>
        <p:spPr>
          <a:xfrm>
            <a:off x="6368796" y="5574792"/>
            <a:ext cx="256032" cy="256032"/>
          </a:xfrm>
          <a:prstGeom prst="ellipse">
            <a:avLst/>
          </a:prstGeom>
          <a:solidFill>
            <a:srgbClr val="2E8B57"/>
          </a:solidFill>
          <a:ln w="12700">
            <a:solidFill>
              <a:srgbClr val="2E8B57"/>
            </a:solidFill>
            <a:prstDash val="solid"/>
          </a:ln>
        </p:spPr>
      </p:sp>
      <p:sp>
        <p:nvSpPr>
          <p:cNvPr id="75" name="Text 72"/>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6" name="Text 73"/>
          <p:cNvSpPr txBox="1"/>
          <p:nvPr/>
        </p:nvSpPr>
        <p:spPr>
          <a:xfrm>
            <a:off x="6697980" y="5516880"/>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It is softer, more polite advice</a:t>
            </a:r>
            <a:endParaRPr lang="en-US" sz="1250" dirty="0"/>
          </a:p>
        </p:txBody>
      </p:sp>
      <p:sp>
        <p:nvSpPr>
          <p:cNvPr id="77" name="Text 74"/>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يُسْتَحْسَنُ أَنْ</a:t>
            </a:r>
            <a:pPr algn="l" indent="0" marL="0">
              <a:buNone/>
            </a:pPr>
            <a:r>
              <a:rPr lang="en-US" sz="1050" i="1" dirty="0">
                <a:solidFill>
                  <a:srgbClr val="8A6D1E"/>
                </a:solidFill>
                <a:latin typeface="Calibri" pitchFamily="34" charset="0"/>
                <a:cs typeface="Amiri" pitchFamily="2" charset="-78"/>
              </a:rPr>
              <a:t> is gentler advice than the obligation </a:t>
            </a:r>
            <a:pPr algn="l" indent="0" marL="0">
              <a:buNone/>
            </a:pPr>
            <a:r>
              <a:rPr lang="ar-SA" altLang="en-US" sz="1350" dirty="0">
                <a:solidFill>
                  <a:srgbClr val="8A6D1E"/>
                </a:solidFill>
                <a:latin typeface="Amiri" pitchFamily="2" charset="-78"/>
                <a:ea typeface="Amiri" pitchFamily="2" charset="-78"/>
                <a:cs typeface="Amiri" pitchFamily="2" charset="-78"/>
              </a:rPr>
              <a:t>يَجِبُ أَنْ</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78" name="Text 7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49</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P3-L07 · Culture</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P3-L07</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يُسْتَحْسَنُ أَنْ يَتَعَلَّمُ الزَّائِرُ التَّحِيَّةَ.</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an + -u?</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يَحْظُرُ القَانُونُ بِالتَّصْوِيرِ.</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yaḥẓur + bi-?</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يَسْمَحُ المَتْحَفُ التَّصْوِيرَ.</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yasmaḥ + no bi-?</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49</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P3-L07 · Culture</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P3-L07</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يُسْتَحْسَنُ أَنْ يَتَعَلَّمُ الزَّائِرُ التَّحِيَّةَ.</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يُسْتَحْسَنُ أَنْ يَتَعَلَّمَ الزَّائِرُ التَّحِيَّةَ.</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The verb after </a:t>
            </a:r>
            <a:pPr algn="l" indent="0" marL="0">
              <a:buNone/>
            </a:pPr>
            <a:r>
              <a:rPr lang="ar-SA" altLang="en-US" sz="1500" b="1" dirty="0">
                <a:solidFill>
                  <a:srgbClr val="1B3B6F"/>
                </a:solidFill>
                <a:latin typeface="Amiri" pitchFamily="2" charset="-78"/>
                <a:ea typeface="Amiri" pitchFamily="2" charset="-78"/>
                <a:cs typeface="Amiri" pitchFamily="2" charset="-78"/>
              </a:rPr>
              <a:t>أَنْ</a:t>
            </a:r>
            <a:pPr algn="l" indent="0" marL="0">
              <a:buNone/>
            </a:pPr>
            <a:r>
              <a:rPr lang="en-US" sz="1150" b="1" dirty="0">
                <a:solidFill>
                  <a:srgbClr val="1B3B6F"/>
                </a:solidFill>
                <a:latin typeface="Calibri" pitchFamily="34" charset="0"/>
                <a:cs typeface="Amiri" pitchFamily="2" charset="-78"/>
              </a:rPr>
              <a:t> is subjunctive: </a:t>
            </a:r>
            <a:pPr algn="l" indent="0" marL="0">
              <a:buNone/>
            </a:pPr>
            <a:r>
              <a:rPr lang="ar-SA" altLang="en-US" sz="1500" b="1" dirty="0">
                <a:solidFill>
                  <a:srgbClr val="1B3B6F"/>
                </a:solidFill>
                <a:latin typeface="Amiri" pitchFamily="2" charset="-78"/>
                <a:ea typeface="Amiri" pitchFamily="2" charset="-78"/>
                <a:cs typeface="Amiri" pitchFamily="2" charset="-78"/>
              </a:rPr>
              <a:t>يَتَعَلَّمَ</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يَحْظُرُ القَانُونُ بِالتَّصْوِيرِ.</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يَحْظُرُ القَانُونُ التَّصْوِيرَ.</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يَحْظُرُ</a:t>
            </a:r>
            <a:pPr algn="l" indent="0" marL="0">
              <a:buNone/>
            </a:pPr>
            <a:r>
              <a:rPr lang="en-US" sz="1150" b="1" dirty="0">
                <a:solidFill>
                  <a:srgbClr val="1B3B6F"/>
                </a:solidFill>
                <a:latin typeface="Calibri" pitchFamily="34" charset="0"/>
                <a:cs typeface="Amiri" pitchFamily="2" charset="-78"/>
              </a:rPr>
              <a:t> takes a direct object.</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يَسْمَحُ المَتْحَفُ التَّصْوِيرَ.</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يَسْمَحُ المَتْحَفُ بِالتَّصْوِيرِ.</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يَسْمَحُ</a:t>
            </a:r>
            <a:pPr algn="l" indent="0" marL="0">
              <a:buNone/>
            </a:pPr>
            <a:r>
              <a:rPr lang="en-US" sz="1150" b="1" dirty="0">
                <a:solidFill>
                  <a:srgbClr val="1B3B6F"/>
                </a:solidFill>
                <a:latin typeface="Calibri" pitchFamily="34" charset="0"/>
                <a:cs typeface="Amiri" pitchFamily="2" charset="-78"/>
              </a:rPr>
              <a:t> is fixed with </a:t>
            </a:r>
            <a:pPr algn="l" indent="0" marL="0">
              <a:buNone/>
            </a:pPr>
            <a:r>
              <a:rPr lang="ar-SA" altLang="en-US" sz="1500" b="1" dirty="0">
                <a:solidFill>
                  <a:srgbClr val="1B3B6F"/>
                </a:solidFill>
                <a:latin typeface="Amiri" pitchFamily="2" charset="-78"/>
                <a:ea typeface="Amiri" pitchFamily="2" charset="-78"/>
                <a:cs typeface="Amiri" pitchFamily="2" charset="-78"/>
              </a:rPr>
              <a:t>بِـ</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49</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P3-L07 · Culture</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 TEACHER READS ALOUD TWICE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00" b="1" dirty="0">
                <a:solidFill>
                  <a:srgbClr val="1B3B6F"/>
                </a:solidFill>
                <a:latin typeface="Cambria" pitchFamily="34" charset="0"/>
                <a:cs typeface="Amiri" pitchFamily="2" charset="-78"/>
              </a:rPr>
              <a:t>Listening: advice for a respectful visitor</a:t>
            </a:r>
            <a:endParaRPr lang="en-US" sz="23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P3-L07</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described as a pillar of a successful trip?</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Cultural respect</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Cheap flights</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Fast transport</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it preferable for a visitor to wear?</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Bright colours</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uniform</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Modest clothing in public places</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must you do if you visit a mosque?</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Take photos</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Speak loudly</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Take off your shoes and cover your head</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did the local guide say about greetings?</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Learning the Arabic greeting expresses deep respect</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Greetings are unimportant</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Greetings are forbidden</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Type 2 reflection?</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Language does not matter</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000" dirty="0">
                <a:solidFill>
                  <a:srgbClr val="1F2A37"/>
                </a:solidFill>
                <a:latin typeface="Calibri" pitchFamily="34" charset="0"/>
                <a:cs typeface="Amiri" pitchFamily="2" charset="-78"/>
              </a:rPr>
              <a:t>Had every tourist learned some of the language, cultural exchange would have been deeper</a:t>
            </a:r>
            <a:endParaRPr lang="en-US" sz="100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Tourists refuse to learn</a:t>
            </a:r>
            <a:endParaRPr lang="en-US" sz="1250" dirty="0"/>
          </a:p>
        </p:txBody>
      </p:sp>
      <p:sp>
        <p:nvSpPr>
          <p:cNvPr id="80" name="Shape 7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2" name="Text 7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83" name="Text 8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Listen twice. Core: questions 1, 2 and 3.</a:t>
            </a:r>
            <a:endParaRPr lang="en-US" sz="1250" dirty="0"/>
          </a:p>
          <a:p>
            <a:pPr algn="l" indent="0" marL="0">
              <a:buNone/>
            </a:pPr>
            <a:r>
              <a:rPr lang="en-US" sz="1250" dirty="0">
                <a:solidFill>
                  <a:srgbClr val="1E6B52"/>
                </a:solidFill>
                <a:latin typeface="Calibri" pitchFamily="34" charset="0"/>
                <a:cs typeface="Amiri" pitchFamily="2" charset="-78"/>
              </a:rPr>
              <a:t>Listen for: yustaḥsan an · yajib an · yaḥẓur.</a:t>
            </a:r>
            <a:endParaRPr lang="en-US" sz="125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49</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P3-L07 · Culture</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SUPPORT · READ ALONG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The script — read along with English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P3-L07</a:t>
            </a:r>
            <a:endParaRPr lang="en-US" sz="850" dirty="0"/>
          </a:p>
        </p:txBody>
      </p:sp>
      <p:sp>
        <p:nvSpPr>
          <p:cNvPr id="15" name="Shape 12"/>
          <p:cNvSpPr/>
          <p:nvPr/>
        </p:nvSpPr>
        <p:spPr>
          <a:xfrm>
            <a:off x="457200" y="1810512"/>
            <a:ext cx="11274552" cy="841248"/>
          </a:xfrm>
          <a:prstGeom prst="roundRect">
            <a:avLst>
              <a:gd name="adj" fmla="val 5435"/>
            </a:avLst>
          </a:prstGeom>
          <a:solidFill>
            <a:srgbClr val="FFFFFF"/>
          </a:solidFill>
          <a:ln w="9525">
            <a:solidFill>
              <a:srgbClr val="D8D0BF"/>
            </a:solidFill>
            <a:prstDash val="solid"/>
          </a:ln>
        </p:spPr>
      </p:sp>
      <p:sp>
        <p:nvSpPr>
          <p:cNvPr id="16" name="Text 13"/>
          <p:cNvSpPr txBox="1"/>
          <p:nvPr/>
        </p:nvSpPr>
        <p:spPr>
          <a:xfrm>
            <a:off x="4937760" y="1828800"/>
            <a:ext cx="6675120" cy="804672"/>
          </a:xfrm>
          <a:prstGeom prst="rect">
            <a:avLst/>
          </a:prstGeom>
          <a:noFill/>
          <a:ln/>
        </p:spPr>
        <p:txBody>
          <a:bodyPr wrap="square" lIns="0" tIns="0" rIns="0" bIns="0" rtlCol="0" anchor="ctr"/>
          <a:lstStyle/>
          <a:p>
            <a:pPr rtl="1" algn="r" indent="0" marL="0">
              <a:lnSpc>
                <a:spcPct val="120000"/>
              </a:lnSpc>
              <a:buNone/>
            </a:pPr>
            <a:r>
              <a:rPr lang="ar-SA" altLang="en-US" sz="1550" b="1" dirty="0">
                <a:solidFill>
                  <a:srgbClr val="1B3B6F"/>
                </a:solidFill>
                <a:latin typeface="Amiri" pitchFamily="2" charset="-78"/>
                <a:ea typeface="Amiri" pitchFamily="2" charset="-78"/>
                <a:cs typeface="Amiri" pitchFamily="2" charset="-78"/>
              </a:rPr>
              <a:t>يُعْتَبَرُ الاحْتِرَامُ الثَّقَافِيُّ رَكِيزَةً أَسَاسِيَّةً لِأَيِّ رِحْلَةٍ نَاجِحَةٍ إِلَى العَالَمِ العَرَبِيِّ. يُشَارُ إِلَى أَنَّ الزُّوَّارَ الَّذِينَ يَحْتَرِمُونَ العَادَاتِ المَحَلِّيَّةَ يَحْظَوْنَ بِاسْتِقْبَالٍ أَدْفَأَ.</a:t>
            </a:r>
            <a:endParaRPr lang="ar-SA" sz="1550" dirty="0"/>
          </a:p>
        </p:txBody>
      </p:sp>
      <p:sp>
        <p:nvSpPr>
          <p:cNvPr id="17" name="Text 14"/>
          <p:cNvSpPr txBox="1"/>
          <p:nvPr/>
        </p:nvSpPr>
        <p:spPr>
          <a:xfrm>
            <a:off x="640080" y="1828800"/>
            <a:ext cx="4160520" cy="80467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Cultural respect is considered a cornerstone of any successful trip to the Arab world. It is noted that visitors who respect local customs receive a warmer welcome.</a:t>
            </a:r>
            <a:endParaRPr lang="en-US" sz="1200" dirty="0"/>
          </a:p>
        </p:txBody>
      </p:sp>
      <p:sp>
        <p:nvSpPr>
          <p:cNvPr id="18" name="Shape 15"/>
          <p:cNvSpPr/>
          <p:nvPr/>
        </p:nvSpPr>
        <p:spPr>
          <a:xfrm>
            <a:off x="457200" y="2724912"/>
            <a:ext cx="11274552" cy="841248"/>
          </a:xfrm>
          <a:prstGeom prst="roundRect">
            <a:avLst>
              <a:gd name="adj" fmla="val 5435"/>
            </a:avLst>
          </a:prstGeom>
          <a:solidFill>
            <a:srgbClr val="F4F1EA"/>
          </a:solidFill>
          <a:ln w="9525">
            <a:solidFill>
              <a:srgbClr val="D8D0BF"/>
            </a:solidFill>
            <a:prstDash val="solid"/>
          </a:ln>
        </p:spPr>
      </p:sp>
      <p:sp>
        <p:nvSpPr>
          <p:cNvPr id="19" name="Text 16"/>
          <p:cNvSpPr txBox="1"/>
          <p:nvPr/>
        </p:nvSpPr>
        <p:spPr>
          <a:xfrm>
            <a:off x="4937760" y="2743200"/>
            <a:ext cx="6675120" cy="804672"/>
          </a:xfrm>
          <a:prstGeom prst="rect">
            <a:avLst/>
          </a:prstGeom>
          <a:noFill/>
          <a:ln/>
        </p:spPr>
        <p:txBody>
          <a:bodyPr wrap="square" lIns="0" tIns="0" rIns="0" bIns="0" rtlCol="0" anchor="ctr"/>
          <a:lstStyle/>
          <a:p>
            <a:pPr rtl="1" algn="r" indent="0" marL="0">
              <a:lnSpc>
                <a:spcPct val="120000"/>
              </a:lnSpc>
              <a:buNone/>
            </a:pPr>
            <a:r>
              <a:rPr lang="ar-SA" altLang="en-US" sz="1550" b="1" dirty="0">
                <a:solidFill>
                  <a:srgbClr val="1B3B6F"/>
                </a:solidFill>
                <a:latin typeface="Amiri" pitchFamily="2" charset="-78"/>
                <a:ea typeface="Amiri" pitchFamily="2" charset="-78"/>
                <a:cs typeface="Amiri" pitchFamily="2" charset="-78"/>
              </a:rPr>
              <a:t>يُسْتَحْسَنُ أَنْ يَرْتَدِيَ الزَّائِرُ مَلَابِسَ مُحْتَشِمَةً فِي الأَمَاكِنِ العَامَّةِ. وَإِذَا زُرْتَ مَسْجِدًا، يَجِبُ أَنْ تَخْلَعَ حِذَاءَكَ وَتُغَطِّيَ رَأْسَكَ.</a:t>
            </a:r>
            <a:endParaRPr lang="ar-SA" sz="1550" dirty="0"/>
          </a:p>
        </p:txBody>
      </p:sp>
      <p:sp>
        <p:nvSpPr>
          <p:cNvPr id="20" name="Text 17"/>
          <p:cNvSpPr txBox="1"/>
          <p:nvPr/>
        </p:nvSpPr>
        <p:spPr>
          <a:xfrm>
            <a:off x="640080" y="27432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preferable for the visitor to wear modest clothing in public places. And if you visit a mosque, you must take off your shoes and cover your head.</a:t>
            </a:r>
            <a:endParaRPr lang="en-US" sz="1250" dirty="0"/>
          </a:p>
        </p:txBody>
      </p:sp>
      <p:sp>
        <p:nvSpPr>
          <p:cNvPr id="21" name="Shape 18"/>
          <p:cNvSpPr/>
          <p:nvPr/>
        </p:nvSpPr>
        <p:spPr>
          <a:xfrm>
            <a:off x="457200" y="3639312"/>
            <a:ext cx="11274552" cy="841248"/>
          </a:xfrm>
          <a:prstGeom prst="roundRect">
            <a:avLst>
              <a:gd name="adj" fmla="val 5435"/>
            </a:avLst>
          </a:prstGeom>
          <a:solidFill>
            <a:srgbClr val="FFFFFF"/>
          </a:solidFill>
          <a:ln w="9525">
            <a:solidFill>
              <a:srgbClr val="D8D0BF"/>
            </a:solidFill>
            <a:prstDash val="solid"/>
          </a:ln>
        </p:spPr>
      </p:sp>
      <p:sp>
        <p:nvSpPr>
          <p:cNvPr id="22" name="Text 19"/>
          <p:cNvSpPr txBox="1"/>
          <p:nvPr/>
        </p:nvSpPr>
        <p:spPr>
          <a:xfrm>
            <a:off x="4937760" y="36576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كَمَا يَحْظُرُ بَعْضُ المَوَاقِعِ التَّصْوِيرَ، بَيْنَمَا تَسْمَحُ مَوَاقِعُ أُخْرَى بِهِ دُونَ فَلَاشٍ.</a:t>
            </a:r>
            <a:endParaRPr lang="ar-SA" sz="2000" dirty="0"/>
          </a:p>
        </p:txBody>
      </p:sp>
      <p:sp>
        <p:nvSpPr>
          <p:cNvPr id="23" name="Text 20"/>
          <p:cNvSpPr txBox="1"/>
          <p:nvPr/>
        </p:nvSpPr>
        <p:spPr>
          <a:xfrm>
            <a:off x="640080" y="36576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Some sites also prohibit photography, while other sites allow it without flash.</a:t>
            </a:r>
            <a:endParaRPr lang="en-US" sz="1250" dirty="0"/>
          </a:p>
        </p:txBody>
      </p:sp>
      <p:sp>
        <p:nvSpPr>
          <p:cNvPr id="24" name="Shape 21"/>
          <p:cNvSpPr/>
          <p:nvPr/>
        </p:nvSpPr>
        <p:spPr>
          <a:xfrm>
            <a:off x="457200" y="4553712"/>
            <a:ext cx="11274552" cy="841248"/>
          </a:xfrm>
          <a:prstGeom prst="roundRect">
            <a:avLst>
              <a:gd name="adj" fmla="val 5435"/>
            </a:avLst>
          </a:prstGeom>
          <a:solidFill>
            <a:srgbClr val="F4F1EA"/>
          </a:solidFill>
          <a:ln w="9525">
            <a:solidFill>
              <a:srgbClr val="D8D0BF"/>
            </a:solidFill>
            <a:prstDash val="solid"/>
          </a:ln>
        </p:spPr>
      </p:sp>
      <p:sp>
        <p:nvSpPr>
          <p:cNvPr id="25" name="Text 22"/>
          <p:cNvSpPr txBox="1"/>
          <p:nvPr/>
        </p:nvSpPr>
        <p:spPr>
          <a:xfrm>
            <a:off x="4937760" y="4572000"/>
            <a:ext cx="6675120" cy="804672"/>
          </a:xfrm>
          <a:prstGeom prst="rect">
            <a:avLst/>
          </a:prstGeom>
          <a:noFill/>
          <a:ln/>
        </p:spPr>
        <p:txBody>
          <a:bodyPr wrap="square" lIns="0" tIns="0" rIns="0" bIns="0" rtlCol="0" anchor="ctr"/>
          <a:lstStyle/>
          <a:p>
            <a:pPr rtl="1" algn="r" indent="0" marL="0">
              <a:lnSpc>
                <a:spcPct val="120000"/>
              </a:lnSpc>
              <a:buNone/>
            </a:pPr>
            <a:r>
              <a:rPr lang="ar-SA" altLang="en-US" sz="1550" b="1" dirty="0">
                <a:solidFill>
                  <a:srgbClr val="1B3B6F"/>
                </a:solidFill>
                <a:latin typeface="Amiri" pitchFamily="2" charset="-78"/>
                <a:ea typeface="Amiri" pitchFamily="2" charset="-78"/>
                <a:cs typeface="Amiri" pitchFamily="2" charset="-78"/>
              </a:rPr>
              <a:t>وَأَخْبَرَنِي مُرْشِدٌ مَحَلِّيٌّ أَنَّهُ مِنَ المُسْتَحْسَنِ تَعَلُّمُ التَّحِيَّةِ العَرَبِيَّةِ، وَقَالَ إِنَّ هٰذِهِ البَادِرَةَ تُعَبِّرُ عَنِ احْتِرَامٍ عَمِيقٍ.</a:t>
            </a:r>
            <a:endParaRPr lang="ar-SA" sz="1550" dirty="0"/>
          </a:p>
        </p:txBody>
      </p:sp>
      <p:sp>
        <p:nvSpPr>
          <p:cNvPr id="26" name="Text 23"/>
          <p:cNvSpPr txBox="1"/>
          <p:nvPr/>
        </p:nvSpPr>
        <p:spPr>
          <a:xfrm>
            <a:off x="640080" y="45720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local guide told me that it is good to learn the Arabic greeting, and said that this gesture expresses deep respect.</a:t>
            </a:r>
            <a:endParaRPr lang="en-US" sz="1250" dirty="0"/>
          </a:p>
        </p:txBody>
      </p:sp>
      <p:sp>
        <p:nvSpPr>
          <p:cNvPr id="27" name="Shape 24"/>
          <p:cNvSpPr/>
          <p:nvPr/>
        </p:nvSpPr>
        <p:spPr>
          <a:xfrm>
            <a:off x="457200" y="5468112"/>
            <a:ext cx="11274552" cy="841248"/>
          </a:xfrm>
          <a:prstGeom prst="roundRect">
            <a:avLst>
              <a:gd name="adj" fmla="val 5435"/>
            </a:avLst>
          </a:prstGeom>
          <a:solidFill>
            <a:srgbClr val="FFFFFF"/>
          </a:solidFill>
          <a:ln w="9525">
            <a:solidFill>
              <a:srgbClr val="D8D0BF"/>
            </a:solidFill>
            <a:prstDash val="solid"/>
          </a:ln>
        </p:spPr>
      </p:sp>
      <p:sp>
        <p:nvSpPr>
          <p:cNvPr id="28" name="Text 25"/>
          <p:cNvSpPr txBox="1"/>
          <p:nvPr/>
        </p:nvSpPr>
        <p:spPr>
          <a:xfrm>
            <a:off x="4937760" y="5486400"/>
            <a:ext cx="6675120" cy="804672"/>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وَلَوْ تَعَلَّمَ كُلُّ سَائِحٍ شَيْئًا مِنْ لُغَةِ البَلَدِ، لَكَانَ التَّبَادُلُ الثَّقَافِيُّ أَعْمَقَ وَأَغْنَى.</a:t>
            </a:r>
            <a:endParaRPr lang="ar-SA" sz="1900" dirty="0"/>
          </a:p>
        </p:txBody>
      </p:sp>
      <p:sp>
        <p:nvSpPr>
          <p:cNvPr id="29" name="Text 26"/>
          <p:cNvSpPr txBox="1"/>
          <p:nvPr/>
        </p:nvSpPr>
        <p:spPr>
          <a:xfrm>
            <a:off x="640080" y="54864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And had every tourist learned some of the country’s language, cultural exchange would have been deeper and richer.</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49</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P3-L07 · Culture</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P3-L07</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described as a pillar of a successful trip?</a:t>
            </a:r>
            <a:endParaRPr lang="en-US" sz="1250" dirty="0"/>
          </a:p>
        </p:txBody>
      </p:sp>
      <p:sp>
        <p:nvSpPr>
          <p:cNvPr id="19" name="Shape 16"/>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Cultural respect</a:t>
            </a:r>
            <a:endParaRPr lang="en-US" sz="12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Cheap flights</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Fast transport</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يُعْتَبَرُ الاحْتِرَامُ الثَّقَافِيُّ رَكِيزَةً أَسَاسِيَّةً.</a:t>
            </a:r>
            <a:endParaRPr lang="ar-SA" sz="13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it preferable for a visitor to wear?</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Bright colours</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uniform</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Modest clothing in public places</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يُسْتَحْسَنُ أَنْ يَرْتَدِيَ الزَّائِرُ مَلَابِسَ مُحْتَشِمَةً.</a:t>
            </a:r>
            <a:endParaRPr lang="ar-SA" sz="13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must you do if you visit a mosque?</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Take photos</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Speak loudly</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00" b="1" dirty="0">
                <a:solidFill>
                  <a:srgbClr val="1F2A37"/>
                </a:solidFill>
                <a:latin typeface="Calibri" pitchFamily="34" charset="0"/>
                <a:cs typeface="Amiri" pitchFamily="2" charset="-78"/>
              </a:rPr>
              <a:t>Take off your shoes and cover your head</a:t>
            </a:r>
            <a:endParaRPr lang="en-US" sz="12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يَجِبُ أَنْ تَخْلَعَ حِذَاءَكَ وَتُغَطِّيَ رَأْسَكَ.</a:t>
            </a:r>
            <a:endParaRPr lang="ar-SA" sz="13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did the local guide say about greetings?</a:t>
            </a:r>
            <a:endParaRPr lang="en-US" sz="1250" dirty="0"/>
          </a:p>
        </p:txBody>
      </p:sp>
      <p:sp>
        <p:nvSpPr>
          <p:cNvPr id="64" name="Shape 61"/>
          <p:cNvSpPr/>
          <p:nvPr/>
        </p:nvSpPr>
        <p:spPr>
          <a:xfrm>
            <a:off x="548640" y="4794504"/>
            <a:ext cx="3453384"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40080"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Learning the Arabic greeting expresses deep respect</a:t>
            </a:r>
            <a:endParaRPr lang="en-US" sz="115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Greetings are unimportant</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Greetings are forbidden</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قَالَ إِنَّ هٰذِهِ البَادِرَةَ تُعَبِّرُ عَنِ احْتِرَامٍ عَمِيقٍ.</a:t>
            </a:r>
            <a:endParaRPr lang="ar-SA" sz="13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Type 2 reflection?</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Language does not matter</a:t>
            </a:r>
            <a:endParaRPr lang="en-US" sz="1250" dirty="0"/>
          </a:p>
        </p:txBody>
      </p:sp>
      <p:sp>
        <p:nvSpPr>
          <p:cNvPr id="82" name="Shape 79"/>
          <p:cNvSpPr/>
          <p:nvPr/>
        </p:nvSpPr>
        <p:spPr>
          <a:xfrm>
            <a:off x="4367784" y="5166360"/>
            <a:ext cx="3453384"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4459224"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000" b="1" dirty="0">
                <a:solidFill>
                  <a:srgbClr val="1F2A37"/>
                </a:solidFill>
                <a:latin typeface="Calibri" pitchFamily="34" charset="0"/>
                <a:cs typeface="Amiri" pitchFamily="2" charset="-78"/>
              </a:rPr>
              <a:t>Had every tourist learned some of the language, cultural exchange would have been deeper</a:t>
            </a:r>
            <a:endParaRPr lang="en-US" sz="10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Tourists refuse to learn</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050" dirty="0">
                <a:solidFill>
                  <a:srgbClr val="8A6D1E"/>
                </a:solidFill>
                <a:latin typeface="Amiri" pitchFamily="2" charset="-78"/>
                <a:ea typeface="Amiri" pitchFamily="2" charset="-78"/>
                <a:cs typeface="Amiri" pitchFamily="2" charset="-78"/>
              </a:rPr>
              <a:t>لَوْ تَعَلَّمَ كُلُّ سَائِحٍ شَيْئًا مِنْ لُغَةِ البَلَدِ، لَكَانَ التَّبَادُلُ الثَّقَافِيُّ أَعْمَقَ.</a:t>
            </a:r>
            <a:endParaRPr lang="ar-SA" sz="1050" dirty="0"/>
          </a:p>
        </p:txBody>
      </p:sp>
      <p:sp>
        <p:nvSpPr>
          <p:cNvPr id="90" name="Shape 8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92" name="Text 8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93" name="Text 9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Listen twice. Core: questions 1, 2 and 3.</a:t>
            </a:r>
            <a:endParaRPr lang="en-US" sz="1250" dirty="0"/>
          </a:p>
          <a:p>
            <a:pPr algn="l" indent="0" marL="0">
              <a:buNone/>
            </a:pPr>
            <a:r>
              <a:rPr lang="en-US" sz="1250" dirty="0">
                <a:solidFill>
                  <a:srgbClr val="1E6B52"/>
                </a:solidFill>
                <a:latin typeface="Calibri" pitchFamily="34" charset="0"/>
                <a:cs typeface="Amiri" pitchFamily="2" charset="-78"/>
              </a:rPr>
              <a:t>Listen for: yustaḥsan an · yajib an · yaḥẓur.</a:t>
            </a:r>
            <a:endParaRPr lang="en-US" sz="12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34 / 49</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P3-L07 · Culture</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Speaking: advise a visitor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P3-L07</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بِمَ تَنْصَحُ زَائِرًا؟ اسْتَعْمِلْ «يُسْتَحْسَنُ أَنْ».</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 الَّذِي يَجِبُ أَنْ يَفْعَلَهُ فِي مَكَانٍ دِينِيٍّ؟</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B83227"/>
          </a:solidFill>
          <a:ln w="12700">
            <a:solidFill>
              <a:srgbClr val="B83227"/>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لَوْ تَعَلَّمَ الزَّائِرُ لُغَةَ البَلَدِ، مَاذَا كَانَ سَيَخْتَلِفُ؟</a:t>
            </a:r>
            <a:endParaRPr lang="ar-SA" sz="1800" dirty="0"/>
          </a:p>
        </p:txBody>
      </p:sp>
      <p:sp>
        <p:nvSpPr>
          <p:cNvPr id="42" name="Shape 39"/>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4" name="Shape 41"/>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6" name="Text 43"/>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2" charset="-78"/>
                <a:ea typeface="Amiri" pitchFamily="2" charset="-78"/>
                <a:cs typeface="Amiri" pitchFamily="2" charset="-78"/>
              </a:rPr>
              <a:t>يُسْتَحْسَنُ أَنْ يَتَعَلَّمَ الزَّائِرُ ___ .</a:t>
            </a:r>
            <a:endParaRPr lang="ar-SA" sz="1600" dirty="0"/>
          </a:p>
        </p:txBody>
      </p:sp>
      <p:sp>
        <p:nvSpPr>
          <p:cNvPr id="47" name="Shape 44"/>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48" name="Text 45"/>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9" name="Text 46"/>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إِذَا زُرْتَ مَسْجِدًا، يَجِبُ أَنْ تَخْلَعَ ___ .</a:t>
            </a:r>
            <a:endParaRPr lang="ar-SA" sz="1600" dirty="0"/>
          </a:p>
        </p:txBody>
      </p:sp>
      <p:sp>
        <p:nvSpPr>
          <p:cNvPr id="50" name="Shape 47"/>
          <p:cNvSpPr/>
          <p:nvPr/>
        </p:nvSpPr>
        <p:spPr>
          <a:xfrm>
            <a:off x="640080" y="4123944"/>
            <a:ext cx="1051560" cy="256032"/>
          </a:xfrm>
          <a:prstGeom prst="roundRect">
            <a:avLst>
              <a:gd name="adj" fmla="val 50000"/>
            </a:avLst>
          </a:prstGeom>
          <a:solidFill>
            <a:srgbClr val="B83227"/>
          </a:solidFill>
          <a:ln w="12700">
            <a:solidFill>
              <a:srgbClr val="B83227"/>
            </a:solidFill>
            <a:prstDash val="solid"/>
          </a:ln>
        </p:spPr>
      </p:sp>
      <p:sp>
        <p:nvSpPr>
          <p:cNvPr id="51" name="Text 48"/>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2" name="Text 49"/>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لَوْ تَعَلَّمَ الزَّائِرُ ___ ، لَكَانَ ___ أَعْمَقَ.</a:t>
            </a:r>
            <a:endParaRPr lang="ar-SA" sz="1500" dirty="0"/>
          </a:p>
        </p:txBody>
      </p:sp>
      <p:sp>
        <p:nvSpPr>
          <p:cNvPr id="53" name="Shape 50"/>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54" name="Text 51"/>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55" name="Shape 52"/>
          <p:cNvSpPr/>
          <p:nvPr/>
        </p:nvSpPr>
        <p:spPr>
          <a:xfrm>
            <a:off x="11274552" y="5559552"/>
            <a:ext cx="292608" cy="292608"/>
          </a:xfrm>
          <a:prstGeom prst="ellipse">
            <a:avLst/>
          </a:prstGeom>
          <a:solidFill>
            <a:srgbClr val="1E6B52"/>
          </a:solidFill>
          <a:ln w="12700">
            <a:solidFill>
              <a:srgbClr val="1E6B52"/>
            </a:solidFill>
            <a:prstDash val="solid"/>
          </a:ln>
        </p:spPr>
      </p:sp>
      <p:sp>
        <p:nvSpPr>
          <p:cNvPr id="56" name="Text 53"/>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57" name="Text 54"/>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بِمَ تَنْصَحُ زَائِرًا؟</a:t>
            </a:r>
            <a:endParaRPr lang="ar-SA" sz="1550" dirty="0"/>
          </a:p>
        </p:txBody>
      </p:sp>
      <p:sp>
        <p:nvSpPr>
          <p:cNvPr id="58" name="Text 55"/>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What do you advise a visitor?</a:t>
            </a:r>
            <a:endParaRPr lang="en-US" sz="950" dirty="0"/>
          </a:p>
        </p:txBody>
      </p:sp>
      <p:sp>
        <p:nvSpPr>
          <p:cNvPr id="59" name="Shape 56"/>
          <p:cNvSpPr/>
          <p:nvPr/>
        </p:nvSpPr>
        <p:spPr>
          <a:xfrm>
            <a:off x="11274552" y="5925312"/>
            <a:ext cx="292608" cy="292608"/>
          </a:xfrm>
          <a:prstGeom prst="ellipse">
            <a:avLst/>
          </a:prstGeom>
          <a:solidFill>
            <a:srgbClr val="1E6B52"/>
          </a:solidFill>
          <a:ln w="12700">
            <a:solidFill>
              <a:srgbClr val="1E6B52"/>
            </a:solidFill>
            <a:prstDash val="solid"/>
          </a:ln>
        </p:spPr>
      </p:sp>
      <p:sp>
        <p:nvSpPr>
          <p:cNvPr id="60" name="Text 57"/>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61" name="Text 58"/>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يُسْتَحْسَنُ أَنْ يَتَعَلَّمَ الزَّائِرُ تَحِيَّةً عَرَبِيَّةً وَأَنْ يَرْتَدِيَ مَلَابِسَ مُحْتَشِمَةً.</a:t>
            </a:r>
            <a:endParaRPr lang="ar-SA" sz="1550" dirty="0"/>
          </a:p>
        </p:txBody>
      </p:sp>
      <p:sp>
        <p:nvSpPr>
          <p:cNvPr id="62" name="Text 59"/>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750" i="1" dirty="0">
                <a:solidFill>
                  <a:srgbClr val="5A6472"/>
                </a:solidFill>
                <a:latin typeface="Calibri" pitchFamily="34" charset="0"/>
                <a:cs typeface="Amiri" pitchFamily="2" charset="-78"/>
              </a:rPr>
              <a:t>It is preferable for the visitor to learn an Arabic greeting and to wear modest clothing.</a:t>
            </a:r>
            <a:endParaRPr lang="en-US" sz="7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35 / 49</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P3-L07 · Culture</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P3-L07</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ea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4 sentences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Write four advice sentences with </a:t>
            </a:r>
            <a:pPr algn="l" indent="0" marL="0">
              <a:buNone/>
            </a:pPr>
            <a:r>
              <a:rPr lang="ar-SA" altLang="en-US" sz="1800" b="1" dirty="0">
                <a:solidFill>
                  <a:srgbClr val="1F2A37"/>
                </a:solidFill>
                <a:latin typeface="Amiri" pitchFamily="2" charset="-78"/>
                <a:ea typeface="Amiri" pitchFamily="2" charset="-78"/>
                <a:cs typeface="Amiri" pitchFamily="2" charset="-78"/>
              </a:rPr>
              <a:t>يُسْتَحْسَنُ أَنْ</a:t>
            </a:r>
            <a:pPr algn="l" indent="0" marL="0">
              <a:buNone/>
            </a:pPr>
            <a:r>
              <a:rPr lang="en-US" sz="1400" b="1" dirty="0">
                <a:solidFill>
                  <a:srgbClr val="1F2A37"/>
                </a:solidFill>
                <a:latin typeface="Calibri" pitchFamily="34" charset="0"/>
                <a:cs typeface="Amiri" pitchFamily="2" charset="-78"/>
              </a:rPr>
              <a:t> and </a:t>
            </a:r>
            <a:pPr algn="l" indent="0" marL="0">
              <a:buNone/>
            </a:pPr>
            <a:r>
              <a:rPr lang="ar-SA" altLang="en-US" sz="1800" b="1" dirty="0">
                <a:solidFill>
                  <a:srgbClr val="1F2A37"/>
                </a:solidFill>
                <a:latin typeface="Amiri" pitchFamily="2" charset="-78"/>
                <a:ea typeface="Amiri" pitchFamily="2" charset="-78"/>
                <a:cs typeface="Amiri" pitchFamily="2" charset="-78"/>
              </a:rPr>
              <a:t>يَجِبُ أَنْ</a:t>
            </a:r>
            <a:pPr algn="l" indent="0" marL="0">
              <a:buNone/>
            </a:pPr>
            <a:r>
              <a:rPr lang="en-US" sz="1400" b="1" dirty="0">
                <a:solidFill>
                  <a:srgbClr val="1F2A37"/>
                </a:solidFill>
                <a:latin typeface="Calibri" pitchFamily="34" charset="0"/>
                <a:cs typeface="Amiri" pitchFamily="2" charset="-78"/>
              </a:rPr>
              <a:t>.</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Website Core: four advice sentences with yustaḥsan an and yajib an.</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ea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60–80 words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Add a </a:t>
            </a:r>
            <a:pPr algn="l" indent="0" marL="0">
              <a:buNone/>
            </a:pPr>
            <a:r>
              <a:rPr lang="ar-SA" altLang="en-US" sz="1800" b="1" dirty="0">
                <a:solidFill>
                  <a:srgbClr val="1F2A37"/>
                </a:solidFill>
                <a:latin typeface="Amiri" pitchFamily="2" charset="-78"/>
                <a:ea typeface="Amiri" pitchFamily="2" charset="-78"/>
                <a:cs typeface="Amiri" pitchFamily="2" charset="-78"/>
              </a:rPr>
              <a:t>يَحْظُرُ</a:t>
            </a:r>
            <a:pPr algn="l" indent="0" marL="0">
              <a:buNone/>
            </a:pPr>
            <a:r>
              <a:rPr lang="en-US" sz="1400" b="1" dirty="0">
                <a:solidFill>
                  <a:srgbClr val="1F2A37"/>
                </a:solidFill>
                <a:latin typeface="Calibri" pitchFamily="34" charset="0"/>
                <a:cs typeface="Amiri" pitchFamily="2" charset="-78"/>
              </a:rPr>
              <a:t> rule and a </a:t>
            </a:r>
            <a:pPr algn="l" indent="0" marL="0">
              <a:buNone/>
            </a:pPr>
            <a:r>
              <a:rPr lang="ar-SA" altLang="en-US" sz="1800" b="1" dirty="0">
                <a:solidFill>
                  <a:srgbClr val="1F2A37"/>
                </a:solidFill>
                <a:latin typeface="Amiri" pitchFamily="2" charset="-78"/>
                <a:ea typeface="Amiri" pitchFamily="2" charset="-78"/>
                <a:cs typeface="Amiri" pitchFamily="2" charset="-78"/>
              </a:rPr>
              <a:t>يَسْمَحُ بِـ</a:t>
            </a:r>
            <a:pPr algn="l" indent="0" marL="0">
              <a:buNone/>
            </a:pPr>
            <a:r>
              <a:rPr lang="en-US" sz="1400" b="1" dirty="0">
                <a:solidFill>
                  <a:srgbClr val="1F2A37"/>
                </a:solidFill>
                <a:latin typeface="Calibri" pitchFamily="34" charset="0"/>
                <a:cs typeface="Amiri" pitchFamily="2" charset="-78"/>
              </a:rPr>
              <a:t> permission.</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Website Develop: add a yaḥẓur rule and a yasmaḥ bi- permission.</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100–110 words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Write a full guide with a reported tip and a Type 2 reflection.</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Website task: a cultural guide with yustaḥsan an twice, yajib an, yaḥẓur, a Type 1 scenario, a reported tip and a Type 2 reflection.</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36 / 49</a:t>
            </a:r>
            <a:endParaRPr lang="en-US" sz="8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P3-L07 · Culture</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P3-L07</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يَحْظُرُ بَعْضُ المَوَاقِعِ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Some sites prohibit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يَسْمَحُ المَتْحَفُ بِالتَّصْوِيرِ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museum permits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أَخْبَرَنِي مُرْشِدٌ مَحَلِّيٌّ أَنَّ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 local guide told me that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لَوْ عَرَفَ كُلُّ زَائِرٍ ______ ، لَكَانَ ______ .</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Had every visitor known …, … would have …</a:t>
            </a:r>
            <a:endParaRPr lang="en-US" sz="1050" dirty="0"/>
          </a:p>
        </p:txBody>
      </p:sp>
      <p:sp>
        <p:nvSpPr>
          <p:cNvPr id="26" name="Shape 23"/>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7" name="Shape 24"/>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9" name="Text 26"/>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يُسْتَحْسَنُ أَنْ يَتَعَلَّمَ الزَّائِرُ ______ .</a:t>
            </a:r>
            <a:endParaRPr lang="ar-SA" sz="1800" dirty="0"/>
          </a:p>
        </p:txBody>
      </p:sp>
      <p:sp>
        <p:nvSpPr>
          <p:cNvPr id="30" name="Text 27"/>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It is preferable for the visitor to learn …</a:t>
            </a:r>
            <a:endParaRPr lang="en-US" sz="1050" dirty="0"/>
          </a:p>
        </p:txBody>
      </p:sp>
      <p:sp>
        <p:nvSpPr>
          <p:cNvPr id="31" name="Text 28"/>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يُسْتَحْسَنُ أَنْ يَرْتَدِيَ ______ .</a:t>
            </a:r>
            <a:endParaRPr lang="ar-SA" sz="1800" dirty="0"/>
          </a:p>
        </p:txBody>
      </p:sp>
      <p:sp>
        <p:nvSpPr>
          <p:cNvPr id="32" name="Text 29"/>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It is preferable for him to wear …</a:t>
            </a:r>
            <a:endParaRPr lang="en-US" sz="1050" dirty="0"/>
          </a:p>
        </p:txBody>
      </p:sp>
      <p:sp>
        <p:nvSpPr>
          <p:cNvPr id="33" name="Text 30"/>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إِذَا زُرْتَ مَسْجِدًا، يَجِبُ أَنْ ______ .</a:t>
            </a:r>
            <a:endParaRPr lang="ar-SA" sz="1800" dirty="0"/>
          </a:p>
        </p:txBody>
      </p:sp>
      <p:sp>
        <p:nvSpPr>
          <p:cNvPr id="34" name="Text 31"/>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If you visit a mosque, you must …</a:t>
            </a:r>
            <a:endParaRPr lang="en-US" sz="1050" dirty="0"/>
          </a:p>
        </p:txBody>
      </p:sp>
      <p:sp>
        <p:nvSpPr>
          <p:cNvPr id="35" name="Text 32"/>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رَمَضَانَ، يُسْتَحْسَنُ أَنْ يَتَجَنَّبَ ______ .</a:t>
            </a:r>
            <a:endParaRPr lang="ar-SA" sz="1800" dirty="0"/>
          </a:p>
        </p:txBody>
      </p:sp>
      <p:sp>
        <p:nvSpPr>
          <p:cNvPr id="36" name="Text 33"/>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In Ramadan, it is preferable to avoid …</a:t>
            </a:r>
            <a:endParaRPr lang="en-US" sz="1050" dirty="0"/>
          </a:p>
        </p:txBody>
      </p:sp>
      <p:sp>
        <p:nvSpPr>
          <p:cNvPr id="37" name="Shape 34"/>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Text 35"/>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9" name="Text 36"/>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150" b="1" dirty="0">
                <a:solidFill>
                  <a:srgbClr val="1B3B6F"/>
                </a:solidFill>
                <a:latin typeface="Amiri" pitchFamily="2" charset="-78"/>
                <a:ea typeface="Amiri" pitchFamily="2" charset="-78"/>
                <a:cs typeface="Amiri" pitchFamily="2" charset="-78"/>
              </a:rPr>
              <a:t>بَعْضَ العِبَارَاتِ العَرَبِيَّةِ  ·  التَّحِيَّةَ المَحَلِّيَّةَ  ·  مَلَابِسَ مُحْتَشِمَةً  ·  حِذَاءَكَ  ·  الأَكْلَ عَلَنًا نَهَارًا  ·  التَّصْوِيرَ  ·  الدُّخُولَ بِالأَحْذِيَةِ  ·  دُونَ فَلَاشٍ  ·  عَادَاتِ البَلَدِ  ·  الزَّلَّاتُ الثَّقَافِيَّةُ  ·  التَّبَادُلُ الثَّقَافِيُّ  ·  بَادِرَةً صَغِيرَةً</a:t>
            </a:r>
            <a:endParaRPr lang="ar-SA" sz="11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37 / 49</a:t>
            </a:r>
            <a:endParaRPr lang="en-US" sz="8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P3-L07 · Culture</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P3-L07</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Write a cultural guide of one hundred to one hundred and ten words for visitors to an Arab country. Use </a:t>
            </a:r>
            <a:pPr algn="l" indent="0" marL="0">
              <a:buNone/>
            </a:pPr>
            <a:r>
              <a:rPr lang="ar-SA" altLang="en-US" sz="1750" b="1" dirty="0">
                <a:solidFill>
                  <a:srgbClr val="1F2A37"/>
                </a:solidFill>
                <a:latin typeface="Amiri" pitchFamily="2" charset="-78"/>
                <a:ea typeface="Amiri" pitchFamily="2" charset="-78"/>
                <a:cs typeface="Amiri" pitchFamily="2" charset="-78"/>
              </a:rPr>
              <a:t>يُسْتَحْسَنُ أَنْ</a:t>
            </a:r>
            <a:pPr algn="l" indent="0" marL="0">
              <a:buNone/>
            </a:pPr>
            <a:r>
              <a:rPr lang="en-US" sz="1350" b="1" dirty="0">
                <a:solidFill>
                  <a:srgbClr val="1F2A37"/>
                </a:solidFill>
                <a:latin typeface="Calibri" pitchFamily="34" charset="0"/>
                <a:cs typeface="Amiri" pitchFamily="2" charset="-78"/>
              </a:rPr>
              <a:t> + subjunctive twice, </a:t>
            </a:r>
            <a:pPr algn="l" indent="0" marL="0">
              <a:buNone/>
            </a:pPr>
            <a:r>
              <a:rPr lang="ar-SA" altLang="en-US" sz="1750" b="1" dirty="0">
                <a:solidFill>
                  <a:srgbClr val="1F2A37"/>
                </a:solidFill>
                <a:latin typeface="Amiri" pitchFamily="2" charset="-78"/>
                <a:ea typeface="Amiri" pitchFamily="2" charset="-78"/>
                <a:cs typeface="Amiri" pitchFamily="2" charset="-78"/>
              </a:rPr>
              <a:t>يَجِبُ أَنْ</a:t>
            </a:r>
            <a:pPr algn="l" indent="0" marL="0">
              <a:buNone/>
            </a:pPr>
            <a:r>
              <a:rPr lang="en-US" sz="1350" b="1" dirty="0">
                <a:solidFill>
                  <a:srgbClr val="1F2A37"/>
                </a:solidFill>
                <a:latin typeface="Calibri" pitchFamily="34" charset="0"/>
                <a:cs typeface="Amiri" pitchFamily="2" charset="-78"/>
              </a:rPr>
              <a:t> and </a:t>
            </a:r>
            <a:pPr algn="l" indent="0" marL="0">
              <a:buNone/>
            </a:pPr>
            <a:r>
              <a:rPr lang="ar-SA" altLang="en-US" sz="1750" b="1" dirty="0">
                <a:solidFill>
                  <a:srgbClr val="1F2A37"/>
                </a:solidFill>
                <a:latin typeface="Amiri" pitchFamily="2" charset="-78"/>
                <a:ea typeface="Amiri" pitchFamily="2" charset="-78"/>
                <a:cs typeface="Amiri" pitchFamily="2" charset="-78"/>
              </a:rPr>
              <a:t>يَحْظُرُ</a:t>
            </a:r>
            <a:pPr algn="l" indent="0" marL="0">
              <a:buNone/>
            </a:pPr>
            <a:r>
              <a:rPr lang="en-US" sz="1350" b="1" dirty="0">
                <a:solidFill>
                  <a:srgbClr val="1F2A37"/>
                </a:solidFill>
                <a:latin typeface="Calibri" pitchFamily="34" charset="0"/>
                <a:cs typeface="Amiri" pitchFamily="2" charset="-78"/>
              </a:rPr>
              <a:t>, a Type 1 scenario, a reported cultural tip and a Type 2 reflection.</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Two </a:t>
            </a:r>
            <a:pPr algn="l" indent="0" marL="0">
              <a:buNone/>
            </a:pPr>
            <a:r>
              <a:rPr lang="ar-SA" altLang="en-US" sz="1550" dirty="0">
                <a:solidFill>
                  <a:srgbClr val="1F2A37"/>
                </a:solidFill>
                <a:latin typeface="Amiri" pitchFamily="2" charset="-78"/>
                <a:ea typeface="Amiri" pitchFamily="2" charset="-78"/>
                <a:cs typeface="Amiri" pitchFamily="2" charset="-78"/>
              </a:rPr>
              <a:t>يُسْتَحْسَنُ أَنْ</a:t>
            </a:r>
            <a:pPr algn="l" indent="0" marL="0">
              <a:buNone/>
            </a:pPr>
            <a:r>
              <a:rPr lang="en-US" sz="1200" dirty="0">
                <a:solidFill>
                  <a:srgbClr val="1F2A37"/>
                </a:solidFill>
                <a:latin typeface="Calibri" pitchFamily="34" charset="0"/>
                <a:cs typeface="Amiri" pitchFamily="2" charset="-78"/>
              </a:rPr>
              <a:t> + subjunctive advice sentences.</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a:t>
            </a:r>
            <a:pPr algn="l" indent="0" marL="0">
              <a:buNone/>
            </a:pPr>
            <a:r>
              <a:rPr lang="ar-SA" altLang="en-US" sz="1550" dirty="0">
                <a:solidFill>
                  <a:srgbClr val="1F2A37"/>
                </a:solidFill>
                <a:latin typeface="Amiri" pitchFamily="2" charset="-78"/>
                <a:ea typeface="Amiri" pitchFamily="2" charset="-78"/>
                <a:cs typeface="Amiri" pitchFamily="2" charset="-78"/>
              </a:rPr>
              <a:t>يَجِبُ أَنْ</a:t>
            </a:r>
            <a:pPr algn="l" indent="0" marL="0">
              <a:buNone/>
            </a:pPr>
            <a:r>
              <a:rPr lang="en-US" sz="1200" dirty="0">
                <a:solidFill>
                  <a:srgbClr val="1F2A37"/>
                </a:solidFill>
                <a:latin typeface="Calibri" pitchFamily="34" charset="0"/>
                <a:cs typeface="Amiri" pitchFamily="2" charset="-78"/>
              </a:rPr>
              <a:t> scenario and one </a:t>
            </a:r>
            <a:pPr algn="l" indent="0" marL="0">
              <a:buNone/>
            </a:pPr>
            <a:r>
              <a:rPr lang="ar-SA" altLang="en-US" sz="1550" dirty="0">
                <a:solidFill>
                  <a:srgbClr val="1F2A37"/>
                </a:solidFill>
                <a:latin typeface="Amiri" pitchFamily="2" charset="-78"/>
                <a:ea typeface="Amiri" pitchFamily="2" charset="-78"/>
                <a:cs typeface="Amiri" pitchFamily="2" charset="-78"/>
              </a:rPr>
              <a:t>يَحْظُرُ</a:t>
            </a:r>
            <a:pPr algn="l" indent="0" marL="0">
              <a:buNone/>
            </a:pPr>
            <a:r>
              <a:rPr lang="en-US" sz="1200" dirty="0">
                <a:solidFill>
                  <a:srgbClr val="1F2A37"/>
                </a:solidFill>
                <a:latin typeface="Calibri" pitchFamily="34" charset="0"/>
                <a:cs typeface="Amiri" pitchFamily="2" charset="-78"/>
              </a:rPr>
              <a:t> rule.</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reported cultural tip (</a:t>
            </a:r>
            <a:pPr algn="l" indent="0" marL="0">
              <a:buNone/>
            </a:pPr>
            <a:r>
              <a:rPr lang="ar-SA" altLang="en-US" sz="1550" dirty="0">
                <a:solidFill>
                  <a:srgbClr val="1F2A37"/>
                </a:solidFill>
                <a:latin typeface="Amiri" pitchFamily="2" charset="-78"/>
                <a:ea typeface="Amiri" pitchFamily="2" charset="-78"/>
                <a:cs typeface="Amiri" pitchFamily="2" charset="-78"/>
              </a:rPr>
              <a:t>قَالَ / أَخْبَرَنِي … أَنَّ</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Type 2 reflection with the </a:t>
            </a:r>
            <a:pPr algn="l" indent="0" marL="0">
              <a:buNone/>
            </a:pPr>
            <a:r>
              <a:rPr lang="ar-SA" altLang="en-US" sz="1550" dirty="0">
                <a:solidFill>
                  <a:srgbClr val="1F2A37"/>
                </a:solidFill>
                <a:latin typeface="Amiri" pitchFamily="2" charset="-78"/>
                <a:ea typeface="Amiri" pitchFamily="2" charset="-78"/>
                <a:cs typeface="Amiri" pitchFamily="2" charset="-78"/>
              </a:rPr>
              <a:t>لَـ</a:t>
            </a:r>
            <a:pPr algn="l" indent="0" marL="0">
              <a:buNone/>
            </a:pPr>
            <a:r>
              <a:rPr lang="en-US" sz="1200" dirty="0">
                <a:solidFill>
                  <a:srgbClr val="1F2A37"/>
                </a:solidFill>
                <a:latin typeface="Calibri" pitchFamily="34" charset="0"/>
                <a:cs typeface="Amiri" pitchFamily="2" charset="-78"/>
              </a:rPr>
              <a:t> result.</a:t>
            </a:r>
            <a:endParaRPr lang="en-US" sz="1200" dirty="0"/>
          </a:p>
        </p:txBody>
      </p:sp>
      <p:sp>
        <p:nvSpPr>
          <p:cNvPr id="23" name="Shape 20"/>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PHRASE BANK — FROM THE WEBSITE TEXTS</a:t>
            </a:r>
            <a:endParaRPr lang="en-US" sz="950" dirty="0"/>
          </a:p>
        </p:txBody>
      </p:sp>
      <p:sp>
        <p:nvSpPr>
          <p:cNvPr id="25" name="Text 22"/>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750" b="1" dirty="0">
                <a:solidFill>
                  <a:srgbClr val="1B3B6F"/>
                </a:solidFill>
                <a:latin typeface="Amiri" pitchFamily="2" charset="-78"/>
                <a:ea typeface="Amiri" pitchFamily="2" charset="-78"/>
                <a:cs typeface="Amiri" pitchFamily="2" charset="-78"/>
              </a:rPr>
              <a:t>يُعْتَبَرُ الاحْتِرَامُ الثَّقَافِيُّ رَكِيزَةً أَسَاسِيَّةً</a:t>
            </a:r>
            <a:endParaRPr lang="ar-SA" sz="1750" dirty="0"/>
          </a:p>
        </p:txBody>
      </p:sp>
      <p:sp>
        <p:nvSpPr>
          <p:cNvPr id="26" name="Text 23"/>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cultural respect is considered a cornerstone</a:t>
            </a:r>
            <a:endParaRPr lang="en-US" sz="1050" dirty="0"/>
          </a:p>
        </p:txBody>
      </p:sp>
      <p:sp>
        <p:nvSpPr>
          <p:cNvPr id="27" name="Text 24"/>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الأَمَاكِنِ العَامَّةِ</a:t>
            </a:r>
            <a:endParaRPr lang="ar-SA" sz="1800" dirty="0"/>
          </a:p>
        </p:txBody>
      </p:sp>
      <p:sp>
        <p:nvSpPr>
          <p:cNvPr id="28" name="Text 25"/>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in public places</a:t>
            </a:r>
            <a:endParaRPr lang="en-US" sz="1050" dirty="0"/>
          </a:p>
        </p:txBody>
      </p:sp>
      <p:sp>
        <p:nvSpPr>
          <p:cNvPr id="29" name="Text 26"/>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فَاسْأَلْ أَوَّلًا</a:t>
            </a:r>
            <a:endParaRPr lang="ar-SA" sz="1800" dirty="0"/>
          </a:p>
        </p:txBody>
      </p:sp>
      <p:sp>
        <p:nvSpPr>
          <p:cNvPr id="30" name="Text 27"/>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so ask first</a:t>
            </a:r>
            <a:endParaRPr lang="en-US" sz="1050" dirty="0"/>
          </a:p>
        </p:txBody>
      </p:sp>
      <p:sp>
        <p:nvSpPr>
          <p:cNvPr id="31" name="Text 28"/>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أَنَّهُ مِنَ المُسْتَحْسَنِ تَعَلُّمُ التَّحِيَّةِ</a:t>
            </a:r>
            <a:endParaRPr lang="ar-SA" sz="1800" dirty="0"/>
          </a:p>
        </p:txBody>
      </p:sp>
      <p:sp>
        <p:nvSpPr>
          <p:cNvPr id="32" name="Text 29"/>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that it is good to learn the greeting</a:t>
            </a:r>
            <a:endParaRPr lang="en-US" sz="1050" dirty="0"/>
          </a:p>
        </p:txBody>
      </p:sp>
      <p:sp>
        <p:nvSpPr>
          <p:cNvPr id="33" name="Text 30"/>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لَكَانَ التَّبَادُلُ الثَّقَافِيُّ أَعْمَقَ وَأَغْنَى</a:t>
            </a:r>
            <a:endParaRPr lang="ar-SA" sz="1800" dirty="0"/>
          </a:p>
        </p:txBody>
      </p:sp>
      <p:sp>
        <p:nvSpPr>
          <p:cNvPr id="34" name="Text 31"/>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cultural exchange would have been deeper and richer</a:t>
            </a:r>
            <a:endParaRPr lang="en-US" sz="10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38 / 49</a:t>
            </a:r>
            <a:endParaRPr lang="en-US" sz="8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P3-L07 · Culture</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P3-L07</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300" dirty="0">
                <a:solidFill>
                  <a:srgbClr val="1F2A37"/>
                </a:solidFill>
                <a:latin typeface="Amiri" pitchFamily="2" charset="-78"/>
                <a:ea typeface="Amiri" pitchFamily="2" charset="-78"/>
                <a:cs typeface="Amiri" pitchFamily="2" charset="-78"/>
              </a:rPr>
              <a:t>يُعْتَبَرُ الاحْتِرَامُ الثَّقَافِيُّ رَكِيزَةً أَسَاسِيَّةً لِأَيِّ رِحْلَةٍ نَاجِحَةٍ إِلَى العَالَمِ العَرَبِيِّ. يُسْتَحْسَنُ أَنْ يَتَعَلَّمَ الزَّائِرُ بَعْضَ العِبَارَاتِ العَرَبِيَّةِ قَبْلَ سَفَرِهِ، وَيُسْتَحْسَنُ أَنْ يَرْتَدِيَ مَلَابِسَ مُحْتَشِمَةً فِي الأَمَاكِنِ العَامَّةِ. وَإِذَا زُرْتَ مَسْجِدًا، يَجِبُ أَنْ تَخْلَعَ حِذَاءَكَ وَتُغَطِّيَ رَأْسَكَ. كَمَا يَحْظُرُ بَعْضُ المُقَدَّسَاتِ التَّصْوِيرَ، فَاسْأَلْ أَوَّلًا. فِي إِحْدَى رِحْلَاتِي، أَخْبَرَنِي مُرْشِدٌ مَحَلِّيٌّ أَنَّهُ مِنَ المُسْتَحْسَنِ تَعَلُّمُ التَّحِيَّةِ، وَقَالَ إِنَّ هٰذِهِ البَادِرَةَ تُعَبِّرُ عَنِ احْتِرَامٍ عَمِيقٍ. وَلَوْ عَرَفَ كُلُّ زَائِرٍ عَادَاتِ البَلَدِ، لَقَلَّتِ الزَّلَّاتُ الثَّقَافِيَّةُ، وَلَكَانَ التَّبَادُلُ الثَّقَافِيُّ أَعْمَقَ وَأَغْنَى.</a:t>
            </a:r>
            <a:endParaRPr lang="ar-SA" sz="23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Cultural respect is considered a cornerstone of any successful trip to the Arab world. It is preferable for the visitor to learn some Arabic phrases before travelling, and it is preferable to wear modest clothing in public places. If you visit a mosque, you must take off your shoes and cover your head. Some sacred places also prohibit photography, so ask first. On one of my trips, a local guide told me that it is good to learn the greeting, and said that this gesture expresses deep respect. And had every visitor known the country’s customs, cultural faux pas would have been fewer, and cultural exchange deeper and richer.</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yustaḥsan an + -a (twice)</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yajib an · yaḥẓur + object</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akhbaranī … anna · qāla inna</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law … la-qallat · la-kāna</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39 / 49</a:t>
            </a:r>
            <a:endParaRPr lang="en-US" sz="8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P3-L07 · Culture</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P3-L07</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verbs after an end in -a (yataʿallama · yartadiya).</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yustaḥsan an for polite advice and yajib an for a must.</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yaḥẓur has a direct object; yasmaḥ has bi-.</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have a Type 1 scenario (idhā zurta …).</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report a tip (akhbaranī … anna) and reflect with law … la-.</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40 / 49</a:t>
            </a:r>
            <a:endParaRPr lang="en-US" sz="8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P3-L07 · Culture</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P3-L07</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يُسْتَحْسَنُ أَنْ</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الزَّائِرُ التَّحِيَّةَ العَرَبِيَّةَ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يَتَعَلَّمَ</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يَتَعَلَّمُ</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تَعَلَّمَ</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uses </a:t>
            </a:r>
            <a:pPr algn="l" indent="0" marL="0">
              <a:buNone/>
            </a:pPr>
            <a:r>
              <a:rPr lang="ar-SA" altLang="en-US" sz="1650" b="1" dirty="0">
                <a:solidFill>
                  <a:srgbClr val="1B3B6F"/>
                </a:solidFill>
                <a:latin typeface="Amiri" pitchFamily="2" charset="-78"/>
                <a:ea typeface="Amiri" pitchFamily="2" charset="-78"/>
                <a:cs typeface="Amiri" pitchFamily="2" charset="-78"/>
              </a:rPr>
              <a:t>يَحْظُرُ</a:t>
            </a:r>
            <a:pPr algn="l" indent="0" marL="0">
              <a:buNone/>
            </a:pPr>
            <a:r>
              <a:rPr lang="en-US" sz="1250" b="1" dirty="0">
                <a:solidFill>
                  <a:srgbClr val="1B3B6F"/>
                </a:solidFill>
                <a:latin typeface="Calibri" pitchFamily="34" charset="0"/>
                <a:cs typeface="Amiri" pitchFamily="2" charset="-78"/>
              </a:rPr>
              <a:t> correctly?</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يَحْظُرُ المَوْقِعُ بِالتَّصْوِيرِ.</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يَحْظُرُ المَوْقِعُ التَّصْوِيرَ.</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يَحْظُرُ المَوْقِعُ عَلَى التَّصْوِيرِ.</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يَسْمَحُ المَتْحَفُ</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التَّصْوِيرِ</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بِـ</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عَنْ</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إِلَى</a:t>
            </a:r>
            <a:endParaRPr lang="ar-SA" sz="20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41 / 49</a:t>
            </a:r>
            <a:endParaRPr lang="en-US" sz="8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P3-L07 · Culture</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P3-L07</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يُسْتَحْسَنُ أَنْ</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الزَّائِرُ التَّحِيَّةَ العَرَبِيَّةَ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يَتَعَلَّمَ</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يَتَعَلَّمُ</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تَعَلَّمَ</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After </a:t>
            </a:r>
            <a:pPr algn="l" indent="0" marL="0">
              <a:buNone/>
            </a:pPr>
            <a:r>
              <a:rPr lang="ar-SA" altLang="en-US" sz="1350" dirty="0">
                <a:solidFill>
                  <a:srgbClr val="8A6D1E"/>
                </a:solidFill>
                <a:latin typeface="Amiri" pitchFamily="2" charset="-78"/>
                <a:ea typeface="Amiri" pitchFamily="2" charset="-78"/>
                <a:cs typeface="Amiri" pitchFamily="2" charset="-78"/>
              </a:rPr>
              <a:t>أَنْ</a:t>
            </a:r>
            <a:pPr algn="l" indent="0" marL="0">
              <a:buNone/>
            </a:pPr>
            <a:r>
              <a:rPr lang="en-US" sz="1050" i="1" dirty="0">
                <a:solidFill>
                  <a:srgbClr val="8A6D1E"/>
                </a:solidFill>
                <a:latin typeface="Calibri" pitchFamily="34" charset="0"/>
                <a:cs typeface="Amiri" pitchFamily="2" charset="-78"/>
              </a:rPr>
              <a:t> the verb is subjunctive: </a:t>
            </a:r>
            <a:pPr algn="l" indent="0" marL="0">
              <a:buNone/>
            </a:pPr>
            <a:r>
              <a:rPr lang="ar-SA" altLang="en-US" sz="1350" dirty="0">
                <a:solidFill>
                  <a:srgbClr val="8A6D1E"/>
                </a:solidFill>
                <a:latin typeface="Amiri" pitchFamily="2" charset="-78"/>
                <a:ea typeface="Amiri" pitchFamily="2" charset="-78"/>
                <a:cs typeface="Amiri" pitchFamily="2" charset="-78"/>
              </a:rPr>
              <a:t>يَتَعَلَّمَ</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uses </a:t>
            </a:r>
            <a:pPr algn="l" indent="0" marL="0">
              <a:buNone/>
            </a:pPr>
            <a:r>
              <a:rPr lang="ar-SA" altLang="en-US" sz="1650" b="1" dirty="0">
                <a:solidFill>
                  <a:srgbClr val="1B3B6F"/>
                </a:solidFill>
                <a:latin typeface="Amiri" pitchFamily="2" charset="-78"/>
                <a:ea typeface="Amiri" pitchFamily="2" charset="-78"/>
                <a:cs typeface="Amiri" pitchFamily="2" charset="-78"/>
              </a:rPr>
              <a:t>يَحْظُرُ</a:t>
            </a:r>
            <a:pPr algn="l" indent="0" marL="0">
              <a:buNone/>
            </a:pPr>
            <a:r>
              <a:rPr lang="en-US" sz="1250" b="1" dirty="0">
                <a:solidFill>
                  <a:srgbClr val="1B3B6F"/>
                </a:solidFill>
                <a:latin typeface="Calibri" pitchFamily="34" charset="0"/>
                <a:cs typeface="Amiri" pitchFamily="2" charset="-78"/>
              </a:rPr>
              <a:t> correctly?</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يَحْظُرُ المَوْقِعُ بِالتَّصْوِيرِ.</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يَحْظُرُ المَوْقِعُ التَّصْوِيرَ.</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يَحْظُرُ المَوْقِعُ عَلَى التَّصْوِيرِ.</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يَحْظُرُ</a:t>
            </a:r>
            <a:pPr algn="l" indent="0" marL="0">
              <a:buNone/>
            </a:pPr>
            <a:r>
              <a:rPr lang="en-US" sz="1050" i="1" dirty="0">
                <a:solidFill>
                  <a:srgbClr val="8A6D1E"/>
                </a:solidFill>
                <a:latin typeface="Calibri" pitchFamily="34" charset="0"/>
                <a:cs typeface="Amiri" pitchFamily="2" charset="-78"/>
              </a:rPr>
              <a:t> takes a direct object.</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يَسْمَحُ المَتْحَفُ</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التَّصْوِيرِ</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بِـ</a:t>
            </a:r>
            <a:endParaRPr lang="ar-SA" sz="20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عَنْ</a:t>
            </a:r>
            <a:endParaRPr lang="ar-SA" sz="20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إِلَى</a:t>
            </a:r>
            <a:endParaRPr lang="ar-SA" sz="20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يَسْمَحُ</a:t>
            </a:r>
            <a:pPr algn="l" indent="0" marL="0">
              <a:buNone/>
            </a:pPr>
            <a:r>
              <a:rPr lang="en-US" sz="1050" i="1" dirty="0">
                <a:solidFill>
                  <a:srgbClr val="8A6D1E"/>
                </a:solidFill>
                <a:latin typeface="Calibri" pitchFamily="34" charset="0"/>
                <a:cs typeface="Amiri" pitchFamily="2" charset="-78"/>
              </a:rPr>
              <a:t> is fixed with </a:t>
            </a:r>
            <a:pPr algn="l" indent="0" marL="0">
              <a:buNone/>
            </a:pPr>
            <a:r>
              <a:rPr lang="ar-SA" altLang="en-US" sz="1350" dirty="0">
                <a:solidFill>
                  <a:srgbClr val="8A6D1E"/>
                </a:solidFill>
                <a:latin typeface="Amiri" pitchFamily="2" charset="-78"/>
                <a:ea typeface="Amiri" pitchFamily="2" charset="-78"/>
                <a:cs typeface="Amiri" pitchFamily="2" charset="-78"/>
              </a:rPr>
              <a:t>بِـ</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42 / 49</a:t>
            </a:r>
            <a:endParaRPr lang="en-US" sz="8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P3-L07 · Culture</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FAST FINISHERS OR HOMEWORK (STRETCH)</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 guide for visitors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P3-L07</a:t>
            </a:r>
            <a:endParaRPr lang="en-US" sz="850" dirty="0"/>
          </a:p>
        </p:txBody>
      </p:sp>
      <p:sp>
        <p:nvSpPr>
          <p:cNvPr id="17" name="Shape 14"/>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300" dirty="0">
                <a:solidFill>
                  <a:srgbClr val="1F2A37"/>
                </a:solidFill>
                <a:latin typeface="Amiri" pitchFamily="2" charset="-78"/>
                <a:ea typeface="Amiri" pitchFamily="2" charset="-78"/>
                <a:cs typeface="Amiri" pitchFamily="2" charset="-78"/>
              </a:rPr>
              <a:t>يُشَكِّلُ الاحْتِرَامُ الثَّقَافِيُّ جِسْرًا بَيْنَ الزَّائِرِ وَالمُجْتَمَعِ المُضِيفِ. يُسْتَحْسَنُ أَنْ يَتَعَلَّمَ الزَّائِرُ بَعْضَ العِبَارَاتِ العَرَبِيَّةِ قَبْلَ رِحْلَتِهِ، وَأَنْ يَحْتَرِمَ قَوَاعِدَ اللِّبَاسِ فِي الأَمَاكِنِ الدِّينِيَّةِ. وَفِي شَهْرِ رَمَضَانَ، يُسْتَحْسَنُ أَنْ يَتَجَنَّبَ الأَكْلَ عَلَنًا نَهَارًا احْتِرَامًا لِلصَّائِمِينَ. كَمَا يَحْظُرُ بَعْضُ المُقَدَّسَاتِ التَّصْوِيرَ، فَمِنَ المُهِمِّ السُّؤَالُ أَوَّلًا. وَقَدْ أَخْبَرَنِي مُضِيفٌ عَرَبِيٌّ أَنَّ بَادِرَةً صَغِيرَةً مِنَ الاحْتِرَامِ تَفْتَحُ القُلُوبَ. وَلَوْ عَرَفَ كُلُّ زَائِرٍ عَادَاتِ البَلَدِ قَبْلَ وُصُولِهِ، لَقَلَّتِ الزَّلَّاتُ الثَّقَافِيَّةُ كَثِيرًا. فَالتَّفَاهُمُ يَبْدَأُ بِخُطْوَةٍ بَسِيطَةٍ مِنَ الفَهْمِ.</a:t>
            </a:r>
            <a:endParaRPr lang="ar-SA" sz="2300" dirty="0"/>
          </a:p>
        </p:txBody>
      </p:sp>
      <p:sp>
        <p:nvSpPr>
          <p:cNvPr id="19" name="Shape 16"/>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KEY WORDS</a:t>
            </a:r>
            <a:endParaRPr lang="en-US" sz="1000" dirty="0"/>
          </a:p>
        </p:txBody>
      </p:sp>
      <p:sp>
        <p:nvSpPr>
          <p:cNvPr id="21" name="Text 18"/>
          <p:cNvSpPr txBox="1"/>
          <p:nvPr/>
        </p:nvSpPr>
        <p:spPr>
          <a:xfrm>
            <a:off x="10102291" y="221284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يُشَكِّلُ</a:t>
            </a:r>
            <a:endParaRPr lang="ar-SA" sz="1600" dirty="0"/>
          </a:p>
        </p:txBody>
      </p:sp>
      <p:sp>
        <p:nvSpPr>
          <p:cNvPr id="22" name="Text 19"/>
          <p:cNvSpPr txBox="1"/>
          <p:nvPr/>
        </p:nvSpPr>
        <p:spPr>
          <a:xfrm>
            <a:off x="8851392" y="221284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it forms</a:t>
            </a:r>
            <a:endParaRPr lang="en-US" sz="1050" dirty="0"/>
          </a:p>
        </p:txBody>
      </p:sp>
      <p:sp>
        <p:nvSpPr>
          <p:cNvPr id="23" name="Text 20"/>
          <p:cNvSpPr txBox="1"/>
          <p:nvPr/>
        </p:nvSpPr>
        <p:spPr>
          <a:xfrm>
            <a:off x="10102291" y="261518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جِسْرًا</a:t>
            </a:r>
            <a:endParaRPr lang="ar-SA" sz="1600" dirty="0"/>
          </a:p>
        </p:txBody>
      </p:sp>
      <p:sp>
        <p:nvSpPr>
          <p:cNvPr id="24" name="Text 21"/>
          <p:cNvSpPr txBox="1"/>
          <p:nvPr/>
        </p:nvSpPr>
        <p:spPr>
          <a:xfrm>
            <a:off x="8851392" y="261518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 bridge</a:t>
            </a:r>
            <a:endParaRPr lang="en-US" sz="1050" dirty="0"/>
          </a:p>
        </p:txBody>
      </p:sp>
      <p:sp>
        <p:nvSpPr>
          <p:cNvPr id="25" name="Text 22"/>
          <p:cNvSpPr txBox="1"/>
          <p:nvPr/>
        </p:nvSpPr>
        <p:spPr>
          <a:xfrm>
            <a:off x="10102291" y="301752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العِبَارَاتِ</a:t>
            </a:r>
            <a:endParaRPr lang="ar-SA" sz="1600" dirty="0"/>
          </a:p>
        </p:txBody>
      </p:sp>
      <p:sp>
        <p:nvSpPr>
          <p:cNvPr id="26" name="Text 23"/>
          <p:cNvSpPr txBox="1"/>
          <p:nvPr/>
        </p:nvSpPr>
        <p:spPr>
          <a:xfrm>
            <a:off x="8851392" y="301752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phrases</a:t>
            </a:r>
            <a:endParaRPr lang="en-US" sz="1050" dirty="0"/>
          </a:p>
        </p:txBody>
      </p:sp>
      <p:sp>
        <p:nvSpPr>
          <p:cNvPr id="27" name="Text 24"/>
          <p:cNvSpPr txBox="1"/>
          <p:nvPr/>
        </p:nvSpPr>
        <p:spPr>
          <a:xfrm>
            <a:off x="10102291" y="341985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الدِّينِيَّةِ</a:t>
            </a:r>
            <a:endParaRPr lang="ar-SA" sz="1600" dirty="0"/>
          </a:p>
        </p:txBody>
      </p:sp>
      <p:sp>
        <p:nvSpPr>
          <p:cNvPr id="28" name="Text 25"/>
          <p:cNvSpPr txBox="1"/>
          <p:nvPr/>
        </p:nvSpPr>
        <p:spPr>
          <a:xfrm>
            <a:off x="8851392" y="341985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religious</a:t>
            </a:r>
            <a:endParaRPr lang="en-US" sz="1050" dirty="0"/>
          </a:p>
        </p:txBody>
      </p:sp>
      <p:sp>
        <p:nvSpPr>
          <p:cNvPr id="29" name="Text 26"/>
          <p:cNvSpPr txBox="1"/>
          <p:nvPr/>
        </p:nvSpPr>
        <p:spPr>
          <a:xfrm>
            <a:off x="10102291" y="382219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يَتَجَنَّبَ</a:t>
            </a:r>
            <a:endParaRPr lang="ar-SA" sz="1600" dirty="0"/>
          </a:p>
        </p:txBody>
      </p:sp>
      <p:sp>
        <p:nvSpPr>
          <p:cNvPr id="30" name="Text 27"/>
          <p:cNvSpPr txBox="1"/>
          <p:nvPr/>
        </p:nvSpPr>
        <p:spPr>
          <a:xfrm>
            <a:off x="8851392" y="382219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(to) avoid</a:t>
            </a:r>
            <a:endParaRPr lang="en-US" sz="1050" dirty="0"/>
          </a:p>
        </p:txBody>
      </p:sp>
      <p:sp>
        <p:nvSpPr>
          <p:cNvPr id="31" name="Text 28"/>
          <p:cNvSpPr txBox="1"/>
          <p:nvPr/>
        </p:nvSpPr>
        <p:spPr>
          <a:xfrm>
            <a:off x="10102291" y="422452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عَلَنًا</a:t>
            </a:r>
            <a:endParaRPr lang="ar-SA" sz="1600" dirty="0"/>
          </a:p>
        </p:txBody>
      </p:sp>
      <p:sp>
        <p:nvSpPr>
          <p:cNvPr id="32" name="Text 29"/>
          <p:cNvSpPr txBox="1"/>
          <p:nvPr/>
        </p:nvSpPr>
        <p:spPr>
          <a:xfrm>
            <a:off x="8851392" y="422452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in public</a:t>
            </a:r>
            <a:endParaRPr lang="en-US" sz="1050" dirty="0"/>
          </a:p>
        </p:txBody>
      </p:sp>
      <p:sp>
        <p:nvSpPr>
          <p:cNvPr id="33" name="Text 30"/>
          <p:cNvSpPr txBox="1"/>
          <p:nvPr/>
        </p:nvSpPr>
        <p:spPr>
          <a:xfrm>
            <a:off x="10102291" y="462686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نَهَارًا</a:t>
            </a:r>
            <a:endParaRPr lang="ar-SA" sz="1600" dirty="0"/>
          </a:p>
        </p:txBody>
      </p:sp>
      <p:sp>
        <p:nvSpPr>
          <p:cNvPr id="34" name="Text 31"/>
          <p:cNvSpPr txBox="1"/>
          <p:nvPr/>
        </p:nvSpPr>
        <p:spPr>
          <a:xfrm>
            <a:off x="8851392" y="462686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during the day</a:t>
            </a:r>
            <a:endParaRPr lang="en-US" sz="1050" dirty="0"/>
          </a:p>
        </p:txBody>
      </p:sp>
      <p:sp>
        <p:nvSpPr>
          <p:cNvPr id="35" name="Text 32"/>
          <p:cNvSpPr txBox="1"/>
          <p:nvPr/>
        </p:nvSpPr>
        <p:spPr>
          <a:xfrm>
            <a:off x="10102291" y="502920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لِلصَّائِمِينَ</a:t>
            </a:r>
            <a:endParaRPr lang="ar-SA" sz="1600" dirty="0"/>
          </a:p>
        </p:txBody>
      </p:sp>
      <p:sp>
        <p:nvSpPr>
          <p:cNvPr id="36" name="Text 33"/>
          <p:cNvSpPr txBox="1"/>
          <p:nvPr/>
        </p:nvSpPr>
        <p:spPr>
          <a:xfrm>
            <a:off x="8851392" y="502920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for those fasting</a:t>
            </a:r>
            <a:endParaRPr lang="en-US" sz="1050" dirty="0"/>
          </a:p>
        </p:txBody>
      </p:sp>
      <p:sp>
        <p:nvSpPr>
          <p:cNvPr id="37" name="Text 34"/>
          <p:cNvSpPr txBox="1"/>
          <p:nvPr/>
        </p:nvSpPr>
        <p:spPr>
          <a:xfrm>
            <a:off x="10102291" y="543153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مُضِيفٌ</a:t>
            </a:r>
            <a:endParaRPr lang="ar-SA" sz="1600" dirty="0"/>
          </a:p>
        </p:txBody>
      </p:sp>
      <p:sp>
        <p:nvSpPr>
          <p:cNvPr id="38" name="Text 35"/>
          <p:cNvSpPr txBox="1"/>
          <p:nvPr/>
        </p:nvSpPr>
        <p:spPr>
          <a:xfrm>
            <a:off x="8851392" y="543153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 host</a:t>
            </a:r>
            <a:endParaRPr lang="en-US" sz="1050" dirty="0"/>
          </a:p>
        </p:txBody>
      </p:sp>
      <p:sp>
        <p:nvSpPr>
          <p:cNvPr id="39" name="Text 36"/>
          <p:cNvSpPr txBox="1"/>
          <p:nvPr/>
        </p:nvSpPr>
        <p:spPr>
          <a:xfrm>
            <a:off x="10102291" y="583387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تَفْتَحُ القُلُوبَ</a:t>
            </a:r>
            <a:endParaRPr lang="ar-SA" sz="1600" dirty="0"/>
          </a:p>
        </p:txBody>
      </p:sp>
      <p:sp>
        <p:nvSpPr>
          <p:cNvPr id="40" name="Text 37"/>
          <p:cNvSpPr txBox="1"/>
          <p:nvPr/>
        </p:nvSpPr>
        <p:spPr>
          <a:xfrm>
            <a:off x="8851392" y="583387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it opens hearts</a:t>
            </a:r>
            <a:endParaRPr lang="en-US" sz="1050" dirty="0"/>
          </a:p>
        </p:txBody>
      </p:sp>
      <p:sp>
        <p:nvSpPr>
          <p:cNvPr id="41" name="Text 3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43 / 49</a:t>
            </a:r>
            <a:endParaRPr lang="en-US" sz="8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P3-L07 · Culture</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QUESTIONS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questions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P3-L07</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cultural respect form?</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barrier</a:t>
            </a:r>
            <a:endParaRPr lang="en-US" sz="12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bridge between the visitor and the host community</a:t>
            </a:r>
            <a:endParaRPr lang="en-US" sz="12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cost</a:t>
            </a:r>
            <a:endParaRPr lang="en-US" sz="12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it preferable to do before the trip?</a:t>
            </a:r>
            <a:endParaRPr lang="en-US" sz="125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Pack lightly only</a:t>
            </a:r>
            <a:endParaRPr lang="en-US" sz="12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Nothing</a:t>
            </a:r>
            <a:endParaRPr lang="en-US" sz="12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Learn some Arabic phrases and respect dress codes</a:t>
            </a:r>
            <a:endParaRPr lang="en-US" sz="1250" dirty="0"/>
          </a:p>
        </p:txBody>
      </p:sp>
      <p:sp>
        <p:nvSpPr>
          <p:cNvPr id="43" name="Shape 40"/>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advised during Ramadan?</a:t>
            </a:r>
            <a:endParaRPr lang="en-US" sz="1250" dirty="0"/>
          </a:p>
        </p:txBody>
      </p:sp>
      <p:sp>
        <p:nvSpPr>
          <p:cNvPr id="47" name="Shape 44"/>
          <p:cNvSpPr/>
          <p:nvPr/>
        </p:nvSpPr>
        <p:spPr>
          <a:xfrm>
            <a:off x="8278368"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Avoid eating in public during the day out of respect</a:t>
            </a:r>
            <a:endParaRPr lang="en-US" sz="1250" dirty="0"/>
          </a:p>
        </p:txBody>
      </p:sp>
      <p:sp>
        <p:nvSpPr>
          <p:cNvPr id="50" name="Shape 47"/>
          <p:cNvSpPr/>
          <p:nvPr/>
        </p:nvSpPr>
        <p:spPr>
          <a:xfrm>
            <a:off x="8278368"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Eat publicly</a:t>
            </a:r>
            <a:endParaRPr lang="en-US" sz="1250" dirty="0"/>
          </a:p>
        </p:txBody>
      </p:sp>
      <p:sp>
        <p:nvSpPr>
          <p:cNvPr id="53" name="Shape 50"/>
          <p:cNvSpPr/>
          <p:nvPr/>
        </p:nvSpPr>
        <p:spPr>
          <a:xfrm>
            <a:off x="8278368"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Fast for others</a:t>
            </a:r>
            <a:endParaRPr lang="en-US" sz="1250" dirty="0"/>
          </a:p>
        </p:txBody>
      </p:sp>
      <p:sp>
        <p:nvSpPr>
          <p:cNvPr id="56" name="Shape 53"/>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585216"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did an Arab host say?</a:t>
            </a:r>
            <a:endParaRPr lang="en-US" sz="1250" dirty="0"/>
          </a:p>
        </p:txBody>
      </p:sp>
      <p:sp>
        <p:nvSpPr>
          <p:cNvPr id="60" name="Shape 57"/>
          <p:cNvSpPr/>
          <p:nvPr/>
        </p:nvSpPr>
        <p:spPr>
          <a:xfrm>
            <a:off x="640080"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Respect is unnecessary</a:t>
            </a:r>
            <a:endParaRPr lang="en-US" sz="1250" dirty="0"/>
          </a:p>
        </p:txBody>
      </p:sp>
      <p:sp>
        <p:nvSpPr>
          <p:cNvPr id="63" name="Shape 60"/>
          <p:cNvSpPr/>
          <p:nvPr/>
        </p:nvSpPr>
        <p:spPr>
          <a:xfrm>
            <a:off x="640080"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small gesture of respect opens hearts</a:t>
            </a:r>
            <a:endParaRPr lang="en-US" sz="1250" dirty="0"/>
          </a:p>
        </p:txBody>
      </p:sp>
      <p:sp>
        <p:nvSpPr>
          <p:cNvPr id="66" name="Shape 63"/>
          <p:cNvSpPr/>
          <p:nvPr/>
        </p:nvSpPr>
        <p:spPr>
          <a:xfrm>
            <a:off x="640080"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Hosts dislike visitors</a:t>
            </a:r>
            <a:endParaRPr lang="en-US" sz="1250" dirty="0"/>
          </a:p>
        </p:txBody>
      </p:sp>
      <p:sp>
        <p:nvSpPr>
          <p:cNvPr id="69" name="Shape 6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4404360"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Type 2 reflection?</a:t>
            </a:r>
            <a:endParaRPr lang="en-US" sz="1250" dirty="0"/>
          </a:p>
        </p:txBody>
      </p:sp>
      <p:sp>
        <p:nvSpPr>
          <p:cNvPr id="73" name="Shape 70"/>
          <p:cNvSpPr/>
          <p:nvPr/>
        </p:nvSpPr>
        <p:spPr>
          <a:xfrm>
            <a:off x="4459224"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000" dirty="0">
                <a:solidFill>
                  <a:srgbClr val="1F2A37"/>
                </a:solidFill>
                <a:latin typeface="Calibri" pitchFamily="34" charset="0"/>
                <a:cs typeface="Amiri" pitchFamily="2" charset="-78"/>
              </a:rPr>
              <a:t>Had every visitor known the country's customs first, faux pas would have been much fewer</a:t>
            </a:r>
            <a:endParaRPr lang="en-US" sz="1000" dirty="0"/>
          </a:p>
        </p:txBody>
      </p:sp>
      <p:sp>
        <p:nvSpPr>
          <p:cNvPr id="76" name="Shape 73"/>
          <p:cNvSpPr/>
          <p:nvPr/>
        </p:nvSpPr>
        <p:spPr>
          <a:xfrm>
            <a:off x="4459224"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8" name="Text 75"/>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Customs do not matter</a:t>
            </a:r>
            <a:endParaRPr lang="en-US" sz="1250" dirty="0"/>
          </a:p>
        </p:txBody>
      </p:sp>
      <p:sp>
        <p:nvSpPr>
          <p:cNvPr id="79" name="Shape 76"/>
          <p:cNvSpPr/>
          <p:nvPr/>
        </p:nvSpPr>
        <p:spPr>
          <a:xfrm>
            <a:off x="4459224"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1" name="Text 78"/>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Visitors cannot learn customs</a:t>
            </a:r>
            <a:endParaRPr lang="en-US" sz="1250" dirty="0"/>
          </a:p>
        </p:txBody>
      </p:sp>
      <p:sp>
        <p:nvSpPr>
          <p:cNvPr id="82" name="Shape 79"/>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3" name="Text 80"/>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84" name="Text 81"/>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44 / 49</a:t>
            </a:r>
            <a:endParaRPr lang="en-US" sz="8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P3-L07 · Culture</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P3-L07</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cultural respect form?</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barrier</a:t>
            </a:r>
            <a:endParaRPr lang="en-US" sz="1250" dirty="0"/>
          </a:p>
        </p:txBody>
      </p:sp>
      <p:sp>
        <p:nvSpPr>
          <p:cNvPr id="24" name="Shape 21"/>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5"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6"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7" name="Text 24"/>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A bridge between the visitor and the host community</a:t>
            </a:r>
            <a:endParaRPr lang="en-US" sz="1150" dirty="0"/>
          </a:p>
        </p:txBody>
      </p:sp>
      <p:sp>
        <p:nvSpPr>
          <p:cNvPr id="28"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30" name="Text 27"/>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cost</a:t>
            </a:r>
            <a:endParaRPr lang="en-US" sz="1250" dirty="0"/>
          </a:p>
        </p:txBody>
      </p:sp>
      <p:sp>
        <p:nvSpPr>
          <p:cNvPr id="31" name="Text 28"/>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200" dirty="0">
                <a:solidFill>
                  <a:srgbClr val="8A6D1E"/>
                </a:solidFill>
                <a:latin typeface="Amiri" pitchFamily="2" charset="-78"/>
                <a:ea typeface="Amiri" pitchFamily="2" charset="-78"/>
                <a:cs typeface="Amiri" pitchFamily="2" charset="-78"/>
              </a:rPr>
              <a:t>يُشَكِّلُ الاحْتِرَامُ الثَّقَافِيُّ جِسْرًا بَيْنَ الزَّائِرِ وَالمُجْتَمَعِ المُضِيفِ.</a:t>
            </a:r>
            <a:endParaRPr lang="ar-SA" sz="1200" dirty="0"/>
          </a:p>
        </p:txBody>
      </p:sp>
      <p:sp>
        <p:nvSpPr>
          <p:cNvPr id="32" name="Shape 29"/>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4404360"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5" name="Text 32"/>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it preferable to do before the trip?</a:t>
            </a:r>
            <a:endParaRPr lang="en-US" sz="1250" dirty="0"/>
          </a:p>
        </p:txBody>
      </p:sp>
      <p:sp>
        <p:nvSpPr>
          <p:cNvPr id="36" name="Shape 33"/>
          <p:cNvSpPr/>
          <p:nvPr/>
        </p:nvSpPr>
        <p:spPr>
          <a:xfrm>
            <a:off x="4459224"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Pack lightly only</a:t>
            </a:r>
            <a:endParaRPr lang="en-US" sz="1250" dirty="0"/>
          </a:p>
        </p:txBody>
      </p:sp>
      <p:sp>
        <p:nvSpPr>
          <p:cNvPr id="39" name="Shape 36"/>
          <p:cNvSpPr/>
          <p:nvPr/>
        </p:nvSpPr>
        <p:spPr>
          <a:xfrm>
            <a:off x="4459224"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8"/>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Nothing</a:t>
            </a:r>
            <a:endParaRPr lang="en-US" sz="1250" dirty="0"/>
          </a:p>
        </p:txBody>
      </p:sp>
      <p:sp>
        <p:nvSpPr>
          <p:cNvPr id="42" name="Shape 39"/>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3" name="Shape 40"/>
          <p:cNvSpPr/>
          <p:nvPr/>
        </p:nvSpPr>
        <p:spPr>
          <a:xfrm>
            <a:off x="4459224" y="3233928"/>
            <a:ext cx="256032" cy="256032"/>
          </a:xfrm>
          <a:prstGeom prst="ellipse">
            <a:avLst/>
          </a:prstGeom>
          <a:solidFill>
            <a:srgbClr val="2E8B57"/>
          </a:solidFill>
          <a:ln w="12700">
            <a:solidFill>
              <a:srgbClr val="2E8B57"/>
            </a:solidFill>
            <a:prstDash val="solid"/>
          </a:ln>
        </p:spPr>
      </p:sp>
      <p:sp>
        <p:nvSpPr>
          <p:cNvPr id="44" name="Text 41"/>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5" name="Text 42"/>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Learn some Arabic phrases and respect dress codes</a:t>
            </a:r>
            <a:endParaRPr lang="en-US" sz="1150" dirty="0"/>
          </a:p>
        </p:txBody>
      </p:sp>
      <p:sp>
        <p:nvSpPr>
          <p:cNvPr id="46" name="Text 43"/>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050" dirty="0">
                <a:solidFill>
                  <a:srgbClr val="8A6D1E"/>
                </a:solidFill>
                <a:latin typeface="Amiri" pitchFamily="2" charset="-78"/>
                <a:ea typeface="Amiri" pitchFamily="2" charset="-78"/>
                <a:cs typeface="Amiri" pitchFamily="2" charset="-78"/>
              </a:rPr>
              <a:t>يُسْتَحْسَنُ أَنْ يَتَعَلَّمَ الزَّائِرُ بَعْضَ العِبَارَاتِ … وَأَنْ يَحْتَرِمَ قَوَاعِدَ اللِّبَاسِ.</a:t>
            </a:r>
            <a:endParaRPr lang="ar-SA" sz="1050" dirty="0"/>
          </a:p>
        </p:txBody>
      </p:sp>
      <p:sp>
        <p:nvSpPr>
          <p:cNvPr id="47" name="Shape 44"/>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9"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advised during Ramadan?</a:t>
            </a:r>
            <a:endParaRPr lang="en-US" sz="1250" dirty="0"/>
          </a:p>
        </p:txBody>
      </p:sp>
      <p:sp>
        <p:nvSpPr>
          <p:cNvPr id="51" name="Shape 48"/>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2" name="Shape 49"/>
          <p:cNvSpPr/>
          <p:nvPr/>
        </p:nvSpPr>
        <p:spPr>
          <a:xfrm>
            <a:off x="8278368" y="2490216"/>
            <a:ext cx="256032" cy="256032"/>
          </a:xfrm>
          <a:prstGeom prst="ellipse">
            <a:avLst/>
          </a:prstGeom>
          <a:solidFill>
            <a:srgbClr val="2E8B57"/>
          </a:solidFill>
          <a:ln w="12700">
            <a:solidFill>
              <a:srgbClr val="2E8B57"/>
            </a:solidFill>
            <a:prstDash val="solid"/>
          </a:ln>
        </p:spPr>
      </p:sp>
      <p:sp>
        <p:nvSpPr>
          <p:cNvPr id="53" name="Text 50"/>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4" name="Text 51"/>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Avoid eating in public during the day out of respect</a:t>
            </a:r>
            <a:endParaRPr lang="en-US" sz="1150" dirty="0"/>
          </a:p>
        </p:txBody>
      </p:sp>
      <p:sp>
        <p:nvSpPr>
          <p:cNvPr id="55" name="Shape 52"/>
          <p:cNvSpPr/>
          <p:nvPr/>
        </p:nvSpPr>
        <p:spPr>
          <a:xfrm>
            <a:off x="8278368" y="2862072"/>
            <a:ext cx="256032" cy="256032"/>
          </a:xfrm>
          <a:prstGeom prst="ellipse">
            <a:avLst/>
          </a:prstGeom>
          <a:solidFill>
            <a:srgbClr val="C9CED6"/>
          </a:solidFill>
          <a:ln w="12700">
            <a:solidFill>
              <a:srgbClr val="C9CED6"/>
            </a:solidFill>
            <a:prstDash val="solid"/>
          </a:ln>
        </p:spPr>
      </p:sp>
      <p:sp>
        <p:nvSpPr>
          <p:cNvPr id="56" name="Text 53"/>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7" name="Text 54"/>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Eat publicly</a:t>
            </a:r>
            <a:endParaRPr lang="en-US" sz="1250" dirty="0"/>
          </a:p>
        </p:txBody>
      </p:sp>
      <p:sp>
        <p:nvSpPr>
          <p:cNvPr id="58" name="Shape 55"/>
          <p:cNvSpPr/>
          <p:nvPr/>
        </p:nvSpPr>
        <p:spPr>
          <a:xfrm>
            <a:off x="8278368" y="3233928"/>
            <a:ext cx="256032" cy="256032"/>
          </a:xfrm>
          <a:prstGeom prst="ellipse">
            <a:avLst/>
          </a:prstGeom>
          <a:solidFill>
            <a:srgbClr val="C9CED6"/>
          </a:solidFill>
          <a:ln w="12700">
            <a:solidFill>
              <a:srgbClr val="C9CED6"/>
            </a:solidFill>
            <a:prstDash val="solid"/>
          </a:ln>
        </p:spPr>
      </p:sp>
      <p:sp>
        <p:nvSpPr>
          <p:cNvPr id="59" name="Text 56"/>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Fast for others</a:t>
            </a:r>
            <a:endParaRPr lang="en-US" sz="1250" dirty="0"/>
          </a:p>
        </p:txBody>
      </p:sp>
      <p:sp>
        <p:nvSpPr>
          <p:cNvPr id="61" name="Text 58"/>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يُسْتَحْسَنُ أَنْ يَتَجَنَّبَ الأَكْلَ عَلَنًا نَهَارًا احْتِرَامًا لِلصَّائِمِينَ.</a:t>
            </a:r>
            <a:endParaRPr lang="ar-SA" sz="1300" dirty="0"/>
          </a:p>
        </p:txBody>
      </p:sp>
      <p:sp>
        <p:nvSpPr>
          <p:cNvPr id="62" name="Shape 59"/>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85216"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did an Arab host say?</a:t>
            </a:r>
            <a:endParaRPr lang="en-US" sz="1250" dirty="0"/>
          </a:p>
        </p:txBody>
      </p:sp>
      <p:sp>
        <p:nvSpPr>
          <p:cNvPr id="66" name="Shape 63"/>
          <p:cNvSpPr/>
          <p:nvPr/>
        </p:nvSpPr>
        <p:spPr>
          <a:xfrm>
            <a:off x="640080" y="4831080"/>
            <a:ext cx="256032" cy="256032"/>
          </a:xfrm>
          <a:prstGeom prst="ellipse">
            <a:avLst/>
          </a:prstGeom>
          <a:solidFill>
            <a:srgbClr val="C9CED6"/>
          </a:solidFill>
          <a:ln w="12700">
            <a:solidFill>
              <a:srgbClr val="C9CED6"/>
            </a:solidFill>
            <a:prstDash val="solid"/>
          </a:ln>
        </p:spPr>
      </p:sp>
      <p:sp>
        <p:nvSpPr>
          <p:cNvPr id="67" name="Text 64"/>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Respect is unnecessary</a:t>
            </a:r>
            <a:endParaRPr lang="en-US" sz="1250" dirty="0"/>
          </a:p>
        </p:txBody>
      </p:sp>
      <p:sp>
        <p:nvSpPr>
          <p:cNvPr id="69" name="Shape 66"/>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70" name="Shape 67"/>
          <p:cNvSpPr/>
          <p:nvPr/>
        </p:nvSpPr>
        <p:spPr>
          <a:xfrm>
            <a:off x="640080" y="5202936"/>
            <a:ext cx="256032" cy="256032"/>
          </a:xfrm>
          <a:prstGeom prst="ellipse">
            <a:avLst/>
          </a:prstGeom>
          <a:solidFill>
            <a:srgbClr val="2E8B57"/>
          </a:solidFill>
          <a:ln w="12700">
            <a:solidFill>
              <a:srgbClr val="2E8B57"/>
            </a:solidFill>
            <a:prstDash val="solid"/>
          </a:ln>
        </p:spPr>
      </p:sp>
      <p:sp>
        <p:nvSpPr>
          <p:cNvPr id="71" name="Text 68"/>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2" name="Text 69"/>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00" b="1" dirty="0">
                <a:solidFill>
                  <a:srgbClr val="1F2A37"/>
                </a:solidFill>
                <a:latin typeface="Calibri" pitchFamily="34" charset="0"/>
                <a:cs typeface="Amiri" pitchFamily="2" charset="-78"/>
              </a:rPr>
              <a:t>A small gesture of respect opens hearts</a:t>
            </a:r>
            <a:endParaRPr lang="en-US" sz="1200" dirty="0"/>
          </a:p>
        </p:txBody>
      </p:sp>
      <p:sp>
        <p:nvSpPr>
          <p:cNvPr id="73" name="Shape 70"/>
          <p:cNvSpPr/>
          <p:nvPr/>
        </p:nvSpPr>
        <p:spPr>
          <a:xfrm>
            <a:off x="640080" y="5574792"/>
            <a:ext cx="256032" cy="256032"/>
          </a:xfrm>
          <a:prstGeom prst="ellipse">
            <a:avLst/>
          </a:prstGeom>
          <a:solidFill>
            <a:srgbClr val="C9CED6"/>
          </a:solidFill>
          <a:ln w="12700">
            <a:solidFill>
              <a:srgbClr val="C9CED6"/>
            </a:solidFill>
            <a:prstDash val="solid"/>
          </a:ln>
        </p:spPr>
      </p:sp>
      <p:sp>
        <p:nvSpPr>
          <p:cNvPr id="74" name="Text 71"/>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5" name="Text 72"/>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Hosts dislike visitors</a:t>
            </a:r>
            <a:endParaRPr lang="en-US" sz="1250" dirty="0"/>
          </a:p>
        </p:txBody>
      </p:sp>
      <p:sp>
        <p:nvSpPr>
          <p:cNvPr id="76" name="Text 73"/>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150" dirty="0">
                <a:solidFill>
                  <a:srgbClr val="8A6D1E"/>
                </a:solidFill>
                <a:latin typeface="Amiri" pitchFamily="2" charset="-78"/>
                <a:ea typeface="Amiri" pitchFamily="2" charset="-78"/>
                <a:cs typeface="Amiri" pitchFamily="2" charset="-78"/>
              </a:rPr>
              <a:t>أَخْبَرَنِي مُضِيفٌ عَرَبِيٌّ أَنَّ بَادِرَةً صَغِيرَةً مِنَ الاحْتِرَامِ تَفْتَحُ القُلُوبَ.</a:t>
            </a:r>
            <a:endParaRPr lang="ar-SA" sz="1150" dirty="0"/>
          </a:p>
        </p:txBody>
      </p:sp>
      <p:sp>
        <p:nvSpPr>
          <p:cNvPr id="77" name="Shape 7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8" name="Shape 75"/>
          <p:cNvSpPr/>
          <p:nvPr/>
        </p:nvSpPr>
        <p:spPr>
          <a:xfrm>
            <a:off x="4404360" y="4288536"/>
            <a:ext cx="310896" cy="310896"/>
          </a:xfrm>
          <a:prstGeom prst="ellipse">
            <a:avLst/>
          </a:prstGeom>
          <a:solidFill>
            <a:srgbClr val="1B3B6F"/>
          </a:solidFill>
          <a:ln w="12700">
            <a:solidFill>
              <a:srgbClr val="1B3B6F"/>
            </a:solidFill>
            <a:prstDash val="solid"/>
          </a:ln>
        </p:spPr>
      </p:sp>
      <p:sp>
        <p:nvSpPr>
          <p:cNvPr id="79" name="Text 7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80" name="Text 7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Type 2 reflection?</a:t>
            </a:r>
            <a:endParaRPr lang="en-US" sz="1250" dirty="0"/>
          </a:p>
        </p:txBody>
      </p:sp>
      <p:sp>
        <p:nvSpPr>
          <p:cNvPr id="81" name="Shape 78"/>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2" name="Shape 79"/>
          <p:cNvSpPr/>
          <p:nvPr/>
        </p:nvSpPr>
        <p:spPr>
          <a:xfrm>
            <a:off x="4459224" y="4831080"/>
            <a:ext cx="256032" cy="256032"/>
          </a:xfrm>
          <a:prstGeom prst="ellipse">
            <a:avLst/>
          </a:prstGeom>
          <a:solidFill>
            <a:srgbClr val="2E8B57"/>
          </a:solidFill>
          <a:ln w="12700">
            <a:solidFill>
              <a:srgbClr val="2E8B57"/>
            </a:solidFill>
            <a:prstDash val="solid"/>
          </a:ln>
        </p:spPr>
      </p:sp>
      <p:sp>
        <p:nvSpPr>
          <p:cNvPr id="83" name="Text 80"/>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4" name="Text 81"/>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000" b="1" dirty="0">
                <a:solidFill>
                  <a:srgbClr val="1F2A37"/>
                </a:solidFill>
                <a:latin typeface="Calibri" pitchFamily="34" charset="0"/>
                <a:cs typeface="Amiri" pitchFamily="2" charset="-78"/>
              </a:rPr>
              <a:t>Had every visitor known the country's customs first, faux pas would have been much fewer</a:t>
            </a:r>
            <a:endParaRPr lang="en-US" sz="1000" dirty="0"/>
          </a:p>
        </p:txBody>
      </p:sp>
      <p:sp>
        <p:nvSpPr>
          <p:cNvPr id="85" name="Shape 82"/>
          <p:cNvSpPr/>
          <p:nvPr/>
        </p:nvSpPr>
        <p:spPr>
          <a:xfrm>
            <a:off x="4459224" y="5202936"/>
            <a:ext cx="256032" cy="256032"/>
          </a:xfrm>
          <a:prstGeom prst="ellipse">
            <a:avLst/>
          </a:prstGeom>
          <a:solidFill>
            <a:srgbClr val="C9CED6"/>
          </a:solidFill>
          <a:ln w="12700">
            <a:solidFill>
              <a:srgbClr val="C9CED6"/>
            </a:solidFill>
            <a:prstDash val="solid"/>
          </a:ln>
        </p:spPr>
      </p:sp>
      <p:sp>
        <p:nvSpPr>
          <p:cNvPr id="86" name="Text 83"/>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7" name="Text 84"/>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Customs do not matter</a:t>
            </a:r>
            <a:endParaRPr lang="en-US" sz="1250" dirty="0"/>
          </a:p>
        </p:txBody>
      </p:sp>
      <p:sp>
        <p:nvSpPr>
          <p:cNvPr id="88" name="Shape 85"/>
          <p:cNvSpPr/>
          <p:nvPr/>
        </p:nvSpPr>
        <p:spPr>
          <a:xfrm>
            <a:off x="4459224" y="5574792"/>
            <a:ext cx="256032" cy="256032"/>
          </a:xfrm>
          <a:prstGeom prst="ellipse">
            <a:avLst/>
          </a:prstGeom>
          <a:solidFill>
            <a:srgbClr val="C9CED6"/>
          </a:solidFill>
          <a:ln w="12700">
            <a:solidFill>
              <a:srgbClr val="C9CED6"/>
            </a:solidFill>
            <a:prstDash val="solid"/>
          </a:ln>
        </p:spPr>
      </p:sp>
      <p:sp>
        <p:nvSpPr>
          <p:cNvPr id="89" name="Text 86"/>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0" name="Text 87"/>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Visitors cannot learn customs</a:t>
            </a:r>
            <a:endParaRPr lang="en-US" sz="1250" dirty="0"/>
          </a:p>
        </p:txBody>
      </p:sp>
      <p:sp>
        <p:nvSpPr>
          <p:cNvPr id="91" name="Text 88"/>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100" dirty="0">
                <a:solidFill>
                  <a:srgbClr val="8A6D1E"/>
                </a:solidFill>
                <a:latin typeface="Amiri" pitchFamily="2" charset="-78"/>
                <a:ea typeface="Amiri" pitchFamily="2" charset="-78"/>
                <a:cs typeface="Amiri" pitchFamily="2" charset="-78"/>
              </a:rPr>
              <a:t>لَوْ عَرَفَ كُلُّ زَائِرٍ عَادَاتِ البَلَدِ قَبْلَ وُصُولِهِ، لَقَلَّتِ الزَّلَّاتُ الثَّقَافِيَّةُ.</a:t>
            </a:r>
            <a:endParaRPr lang="ar-SA" sz="1100" dirty="0"/>
          </a:p>
        </p:txBody>
      </p:sp>
      <p:sp>
        <p:nvSpPr>
          <p:cNvPr id="92" name="Shape 89"/>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3" name="Text 90"/>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94" name="Text 91"/>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95" name="Text 9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45 / 49</a:t>
            </a:r>
            <a:endParaRPr lang="en-US" sz="8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P3-L07 · Culture</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WEBSITE MISSION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850" b="1" dirty="0">
                <a:solidFill>
                  <a:srgbClr val="1B3B6F"/>
                </a:solidFill>
                <a:latin typeface="Cambria" pitchFamily="34" charset="0"/>
                <a:cs typeface="Amiri" pitchFamily="2" charset="-78"/>
              </a:rPr>
              <a:t>Advice Mission — Subjunctive, Rules and Reflection</a:t>
            </a:r>
            <a:endParaRPr lang="en-US" sz="185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المُهِمَّةُ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P3-L07</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Subjunctive: complete — </a:t>
            </a:r>
            <a:pPr algn="l" indent="0" marL="0">
              <a:buNone/>
            </a:pPr>
            <a:r>
              <a:rPr lang="ar-SA" altLang="en-US" sz="1650" b="1" dirty="0">
                <a:solidFill>
                  <a:srgbClr val="1B3B6F"/>
                </a:solidFill>
                <a:latin typeface="Amiri" pitchFamily="2" charset="-78"/>
                <a:ea typeface="Amiri" pitchFamily="2" charset="-78"/>
                <a:cs typeface="Amiri" pitchFamily="2" charset="-78"/>
              </a:rPr>
              <a:t>يُسْتَحْسَنُ أَنْ</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الزَّائِرُ التَّحِيَّةَ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يَتَعَلَّمُ</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يَتَعَلَّمَ</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تَعَلَّمَ</a:t>
            </a:r>
            <a:endParaRPr lang="ar-SA" sz="2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Subjunctive: complete — </a:t>
            </a:r>
            <a:pPr algn="l" indent="0" marL="0">
              <a:buNone/>
            </a:pPr>
            <a:r>
              <a:rPr lang="ar-SA" altLang="en-US" sz="1650" b="1" dirty="0">
                <a:solidFill>
                  <a:srgbClr val="1B3B6F"/>
                </a:solidFill>
                <a:latin typeface="Amiri" pitchFamily="2" charset="-78"/>
                <a:ea typeface="Amiri" pitchFamily="2" charset="-78"/>
                <a:cs typeface="Amiri" pitchFamily="2" charset="-78"/>
              </a:rPr>
              <a:t>يُسْتَحْسَنُ أَنْ</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مَلَابِسَ مُحْتَشِمَةً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يَرْتَدِيَ</a:t>
            </a:r>
            <a:endParaRPr lang="ar-SA" sz="20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يَرْتَدِي</a:t>
            </a:r>
            <a:endParaRPr lang="ar-SA" sz="20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ارْتَدَى</a:t>
            </a:r>
            <a:endParaRPr lang="ar-SA" sz="2050" dirty="0"/>
          </a:p>
        </p:txBody>
      </p:sp>
      <p:sp>
        <p:nvSpPr>
          <p:cNvPr id="43" name="Shape 40"/>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Subjunctive: complete — </a:t>
            </a:r>
            <a:pPr algn="l" indent="0" marL="0">
              <a:buNone/>
            </a:pPr>
            <a:r>
              <a:rPr lang="ar-SA" altLang="en-US" sz="1650" b="1" dirty="0">
                <a:solidFill>
                  <a:srgbClr val="1B3B6F"/>
                </a:solidFill>
                <a:latin typeface="Amiri" pitchFamily="2" charset="-78"/>
                <a:ea typeface="Amiri" pitchFamily="2" charset="-78"/>
                <a:cs typeface="Amiri" pitchFamily="2" charset="-78"/>
              </a:rPr>
              <a:t>يَجِبُ أَنْ</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حِذَاءَكَ</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7" name="Shape 44"/>
          <p:cNvSpPr/>
          <p:nvPr/>
        </p:nvSpPr>
        <p:spPr>
          <a:xfrm>
            <a:off x="8278368"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تَخْلَعُ</a:t>
            </a:r>
            <a:endParaRPr lang="ar-SA" sz="2050" dirty="0"/>
          </a:p>
        </p:txBody>
      </p:sp>
      <p:sp>
        <p:nvSpPr>
          <p:cNvPr id="50" name="Shape 47"/>
          <p:cNvSpPr/>
          <p:nvPr/>
        </p:nvSpPr>
        <p:spPr>
          <a:xfrm>
            <a:off x="8278368"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خَلَعْتَ</a:t>
            </a:r>
            <a:endParaRPr lang="ar-SA" sz="2050" dirty="0"/>
          </a:p>
        </p:txBody>
      </p:sp>
      <p:sp>
        <p:nvSpPr>
          <p:cNvPr id="53" name="Shape 50"/>
          <p:cNvSpPr/>
          <p:nvPr/>
        </p:nvSpPr>
        <p:spPr>
          <a:xfrm>
            <a:off x="8278368"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تَخْلَعَ</a:t>
            </a:r>
            <a:endParaRPr lang="ar-SA" sz="2050" dirty="0"/>
          </a:p>
        </p:txBody>
      </p:sp>
      <p:sp>
        <p:nvSpPr>
          <p:cNvPr id="56" name="Shape 53"/>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585216"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Object: which uses </a:t>
            </a:r>
            <a:pPr algn="l" indent="0" marL="0">
              <a:buNone/>
            </a:pPr>
            <a:r>
              <a:rPr lang="ar-SA" altLang="en-US" sz="1650" b="1" dirty="0">
                <a:solidFill>
                  <a:srgbClr val="1B3B6F"/>
                </a:solidFill>
                <a:latin typeface="Amiri" pitchFamily="2" charset="-78"/>
                <a:ea typeface="Amiri" pitchFamily="2" charset="-78"/>
                <a:cs typeface="Amiri" pitchFamily="2" charset="-78"/>
              </a:rPr>
              <a:t>يَحْظُرُ</a:t>
            </a:r>
            <a:pPr algn="l" indent="0" marL="0">
              <a:buNone/>
            </a:pPr>
            <a:r>
              <a:rPr lang="en-US" sz="1250" b="1" dirty="0">
                <a:solidFill>
                  <a:srgbClr val="1B3B6F"/>
                </a:solidFill>
                <a:latin typeface="Calibri" pitchFamily="34" charset="0"/>
                <a:cs typeface="Amiri" pitchFamily="2" charset="-78"/>
              </a:rPr>
              <a:t> correctly?</a:t>
            </a:r>
            <a:endParaRPr lang="en-US" sz="1250" dirty="0"/>
          </a:p>
        </p:txBody>
      </p:sp>
      <p:sp>
        <p:nvSpPr>
          <p:cNvPr id="60" name="Shape 57"/>
          <p:cNvSpPr/>
          <p:nvPr/>
        </p:nvSpPr>
        <p:spPr>
          <a:xfrm>
            <a:off x="640080"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يَحْظُرُ المَوْقِعُ بِالتَّصْوِيرِ.</a:t>
            </a:r>
            <a:endParaRPr lang="ar-SA" sz="2050" dirty="0"/>
          </a:p>
        </p:txBody>
      </p:sp>
      <p:sp>
        <p:nvSpPr>
          <p:cNvPr id="63" name="Shape 60"/>
          <p:cNvSpPr/>
          <p:nvPr/>
        </p:nvSpPr>
        <p:spPr>
          <a:xfrm>
            <a:off x="640080"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يَحْظُرُ المَوْقِعُ عَنِ التَّصْوِيرِ.</a:t>
            </a:r>
            <a:endParaRPr lang="ar-SA" sz="2050" dirty="0"/>
          </a:p>
        </p:txBody>
      </p:sp>
      <p:sp>
        <p:nvSpPr>
          <p:cNvPr id="66" name="Shape 63"/>
          <p:cNvSpPr/>
          <p:nvPr/>
        </p:nvSpPr>
        <p:spPr>
          <a:xfrm>
            <a:off x="640080"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يَحْظُرُ المَوْقِعُ التَّصْوِيرَ.</a:t>
            </a:r>
            <a:endParaRPr lang="ar-SA" sz="2050" dirty="0"/>
          </a:p>
        </p:txBody>
      </p:sp>
      <p:sp>
        <p:nvSpPr>
          <p:cNvPr id="69" name="Shape 6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4404360"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Preposition: complete — </a:t>
            </a:r>
            <a:pPr algn="l" indent="0" marL="0">
              <a:buNone/>
            </a:pPr>
            <a:r>
              <a:rPr lang="ar-SA" altLang="en-US" sz="1650" b="1" dirty="0">
                <a:solidFill>
                  <a:srgbClr val="1B3B6F"/>
                </a:solidFill>
                <a:latin typeface="Amiri" pitchFamily="2" charset="-78"/>
                <a:ea typeface="Amiri" pitchFamily="2" charset="-78"/>
                <a:cs typeface="Amiri" pitchFamily="2" charset="-78"/>
              </a:rPr>
              <a:t>يَسْمَحُ المَتْحَفُ</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التَّصْوِيرِ</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73" name="Shape 70"/>
          <p:cNvSpPr/>
          <p:nvPr/>
        </p:nvSpPr>
        <p:spPr>
          <a:xfrm>
            <a:off x="4459224"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بِـ</a:t>
            </a:r>
            <a:endParaRPr lang="ar-SA" sz="2050" dirty="0"/>
          </a:p>
        </p:txBody>
      </p:sp>
      <p:sp>
        <p:nvSpPr>
          <p:cNvPr id="76" name="Shape 73"/>
          <p:cNvSpPr/>
          <p:nvPr/>
        </p:nvSpPr>
        <p:spPr>
          <a:xfrm>
            <a:off x="4459224"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8" name="Text 75"/>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عَنْ</a:t>
            </a:r>
            <a:endParaRPr lang="ar-SA" sz="2050" dirty="0"/>
          </a:p>
        </p:txBody>
      </p:sp>
      <p:sp>
        <p:nvSpPr>
          <p:cNvPr id="79" name="Shape 76"/>
          <p:cNvSpPr/>
          <p:nvPr/>
        </p:nvSpPr>
        <p:spPr>
          <a:xfrm>
            <a:off x="4459224"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1" name="Text 78"/>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إِلَى</a:t>
            </a:r>
            <a:endParaRPr lang="ar-SA" sz="2050" dirty="0"/>
          </a:p>
        </p:txBody>
      </p:sp>
      <p:sp>
        <p:nvSpPr>
          <p:cNvPr id="82" name="Shape 79"/>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3" name="Shape 80"/>
          <p:cNvSpPr/>
          <p:nvPr/>
        </p:nvSpPr>
        <p:spPr>
          <a:xfrm>
            <a:off x="8223504" y="4288536"/>
            <a:ext cx="310896" cy="310896"/>
          </a:xfrm>
          <a:prstGeom prst="ellipse">
            <a:avLst/>
          </a:prstGeom>
          <a:solidFill>
            <a:srgbClr val="1B3B6F"/>
          </a:solidFill>
          <a:ln w="12700">
            <a:solidFill>
              <a:srgbClr val="1B3B6F"/>
            </a:solidFill>
            <a:prstDash val="solid"/>
          </a:ln>
        </p:spPr>
      </p:sp>
      <p:sp>
        <p:nvSpPr>
          <p:cNvPr id="84" name="Text 81"/>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5" name="Text 82"/>
          <p:cNvSpPr txBox="1"/>
          <p:nvPr/>
        </p:nvSpPr>
        <p:spPr>
          <a:xfrm>
            <a:off x="8589264"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Force:</a:t>
            </a:r>
            <a:endParaRPr lang="en-US" sz="1200" dirty="0"/>
          </a:p>
        </p:txBody>
      </p:sp>
      <p:sp>
        <p:nvSpPr>
          <p:cNvPr id="86" name="Text 83"/>
          <p:cNvSpPr txBox="1"/>
          <p:nvPr/>
        </p:nvSpPr>
        <p:spPr>
          <a:xfrm>
            <a:off x="10044989" y="4224528"/>
            <a:ext cx="1577035" cy="475488"/>
          </a:xfrm>
          <a:prstGeom prst="rect">
            <a:avLst/>
          </a:prstGeom>
          <a:noFill/>
          <a:ln/>
        </p:spPr>
        <p:txBody>
          <a:bodyPr wrap="square" lIns="0" tIns="0" rIns="0" bIns="0" rtlCol="0" anchor="ctr"/>
          <a:lstStyle/>
          <a:p>
            <a:pPr algn="l" indent="0" marL="0">
              <a:buNone/>
            </a:pPr>
            <a:r>
              <a:rPr lang="ar-SA" altLang="en-US" sz="1900" b="1" dirty="0">
                <a:solidFill>
                  <a:srgbClr val="1F2A37"/>
                </a:solidFill>
                <a:latin typeface="Amiri" pitchFamily="2" charset="-78"/>
                <a:ea typeface="Amiri" pitchFamily="2" charset="-78"/>
                <a:cs typeface="Amiri" pitchFamily="2" charset="-78"/>
              </a:rPr>
              <a:t>يُسْتَحْسَنُ أَنْ</a:t>
            </a:r>
            <a:pPr algn="l" indent="0" marL="0">
              <a:buNone/>
            </a:pPr>
            <a:r>
              <a:rPr lang="en-US" sz="1450" b="1" dirty="0">
                <a:solidFill>
                  <a:srgbClr val="1F2A37"/>
                </a:solidFill>
                <a:latin typeface="Calibri" pitchFamily="34" charset="0"/>
                <a:cs typeface="Amiri" pitchFamily="2" charset="-78"/>
              </a:rPr>
              <a:t> is …</a:t>
            </a:r>
            <a:endParaRPr lang="en-US" sz="1450" dirty="0"/>
          </a:p>
        </p:txBody>
      </p:sp>
      <p:sp>
        <p:nvSpPr>
          <p:cNvPr id="87" name="Shape 84"/>
          <p:cNvSpPr/>
          <p:nvPr/>
        </p:nvSpPr>
        <p:spPr>
          <a:xfrm>
            <a:off x="8278368" y="4873752"/>
            <a:ext cx="256032" cy="256032"/>
          </a:xfrm>
          <a:prstGeom prst="ellipse">
            <a:avLst/>
          </a:prstGeom>
          <a:solidFill>
            <a:srgbClr val="F4F1EA"/>
          </a:solidFill>
          <a:ln w="12700">
            <a:solidFill>
              <a:srgbClr val="F4F1EA"/>
            </a:solidFill>
            <a:prstDash val="solid"/>
          </a:ln>
        </p:spPr>
      </p:sp>
      <p:sp>
        <p:nvSpPr>
          <p:cNvPr id="88" name="Text 85"/>
          <p:cNvSpPr txBox="1"/>
          <p:nvPr/>
        </p:nvSpPr>
        <p:spPr>
          <a:xfrm>
            <a:off x="827836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9" name="Text 86"/>
          <p:cNvSpPr txBox="1"/>
          <p:nvPr/>
        </p:nvSpPr>
        <p:spPr>
          <a:xfrm>
            <a:off x="8607552"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strict prohibition</a:t>
            </a:r>
            <a:endParaRPr lang="en-US" sz="1250" dirty="0"/>
          </a:p>
        </p:txBody>
      </p:sp>
      <p:sp>
        <p:nvSpPr>
          <p:cNvPr id="90" name="Shape 87"/>
          <p:cNvSpPr/>
          <p:nvPr/>
        </p:nvSpPr>
        <p:spPr>
          <a:xfrm>
            <a:off x="8278368" y="5330952"/>
            <a:ext cx="256032" cy="256032"/>
          </a:xfrm>
          <a:prstGeom prst="ellipse">
            <a:avLst/>
          </a:prstGeom>
          <a:solidFill>
            <a:srgbClr val="F4F1EA"/>
          </a:solidFill>
          <a:ln w="12700">
            <a:solidFill>
              <a:srgbClr val="F4F1EA"/>
            </a:solidFill>
            <a:prstDash val="solid"/>
          </a:ln>
        </p:spPr>
      </p:sp>
      <p:sp>
        <p:nvSpPr>
          <p:cNvPr id="91" name="Text 88"/>
          <p:cNvSpPr txBox="1"/>
          <p:nvPr/>
        </p:nvSpPr>
        <p:spPr>
          <a:xfrm>
            <a:off x="827836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92" name="Text 89"/>
          <p:cNvSpPr txBox="1"/>
          <p:nvPr/>
        </p:nvSpPr>
        <p:spPr>
          <a:xfrm>
            <a:off x="8607552"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polite advice</a:t>
            </a:r>
            <a:endParaRPr lang="en-US" sz="1250" dirty="0"/>
          </a:p>
        </p:txBody>
      </p:sp>
      <p:sp>
        <p:nvSpPr>
          <p:cNvPr id="93" name="Shape 90"/>
          <p:cNvSpPr/>
          <p:nvPr/>
        </p:nvSpPr>
        <p:spPr>
          <a:xfrm>
            <a:off x="8278368" y="5788152"/>
            <a:ext cx="256032" cy="256032"/>
          </a:xfrm>
          <a:prstGeom prst="ellipse">
            <a:avLst/>
          </a:prstGeom>
          <a:solidFill>
            <a:srgbClr val="F4F1EA"/>
          </a:solidFill>
          <a:ln w="12700">
            <a:solidFill>
              <a:srgbClr val="F4F1EA"/>
            </a:solidFill>
            <a:prstDash val="solid"/>
          </a:ln>
        </p:spPr>
      </p:sp>
      <p:sp>
        <p:nvSpPr>
          <p:cNvPr id="94" name="Text 91"/>
          <p:cNvSpPr txBox="1"/>
          <p:nvPr/>
        </p:nvSpPr>
        <p:spPr>
          <a:xfrm>
            <a:off x="827836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5" name="Text 92"/>
          <p:cNvSpPr txBox="1"/>
          <p:nvPr/>
        </p:nvSpPr>
        <p:spPr>
          <a:xfrm>
            <a:off x="8607552"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command</a:t>
            </a:r>
            <a:endParaRPr lang="en-US" sz="1250" dirty="0"/>
          </a:p>
        </p:txBody>
      </p:sp>
      <p:sp>
        <p:nvSpPr>
          <p:cNvPr id="96" name="Text 9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46 / 49</a:t>
            </a:r>
            <a:endParaRPr lang="en-US" sz="8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P3-L07 · Culture</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MISSION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Mission: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P3-L07</a:t>
            </a:r>
            <a:endParaRPr lang="en-US" sz="850" dirty="0"/>
          </a:p>
        </p:txBody>
      </p:sp>
      <p:sp>
        <p:nvSpPr>
          <p:cNvPr id="16"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7"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8"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9"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Subjunctive: complete — </a:t>
            </a:r>
            <a:pPr algn="l" indent="0" marL="0">
              <a:buNone/>
            </a:pPr>
            <a:r>
              <a:rPr lang="ar-SA" altLang="en-US" sz="1650" b="1" dirty="0">
                <a:solidFill>
                  <a:srgbClr val="1B3B6F"/>
                </a:solidFill>
                <a:latin typeface="Amiri" pitchFamily="2" charset="-78"/>
                <a:ea typeface="Amiri" pitchFamily="2" charset="-78"/>
                <a:cs typeface="Amiri" pitchFamily="2" charset="-78"/>
              </a:rPr>
              <a:t>يُسْتَحْسَنُ أَنْ</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الزَّائِرُ التَّحِيَّةَ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20"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1"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20"/>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يَتَعَلَّمُ</a:t>
            </a:r>
            <a:endParaRPr lang="ar-SA" sz="1700" dirty="0"/>
          </a:p>
        </p:txBody>
      </p:sp>
      <p:sp>
        <p:nvSpPr>
          <p:cNvPr id="23" name="Shape 21"/>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4"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5"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6" name="Text 24"/>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يَتَعَلَّمَ</a:t>
            </a:r>
            <a:endParaRPr lang="ar-SA" sz="1700" dirty="0"/>
          </a:p>
        </p:txBody>
      </p:sp>
      <p:sp>
        <p:nvSpPr>
          <p:cNvPr id="27"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8"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7"/>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تَعَلَّمَ</a:t>
            </a:r>
            <a:endParaRPr lang="ar-SA" sz="1700" dirty="0"/>
          </a:p>
        </p:txBody>
      </p:sp>
      <p:sp>
        <p:nvSpPr>
          <p:cNvPr id="30" name="Text 28"/>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After </a:t>
            </a:r>
            <a:pPr algn="l" indent="0" marL="0">
              <a:buNone/>
            </a:pPr>
            <a:r>
              <a:rPr lang="ar-SA" altLang="en-US" sz="1350" dirty="0">
                <a:solidFill>
                  <a:srgbClr val="8A6D1E"/>
                </a:solidFill>
                <a:latin typeface="Amiri" pitchFamily="2" charset="-78"/>
                <a:ea typeface="Amiri" pitchFamily="2" charset="-78"/>
                <a:cs typeface="Amiri" pitchFamily="2" charset="-78"/>
              </a:rPr>
              <a:t>أَنْ</a:t>
            </a:r>
            <a:pPr algn="l" indent="0" marL="0">
              <a:buNone/>
            </a:pPr>
            <a:r>
              <a:rPr lang="en-US" sz="1050" i="1" dirty="0">
                <a:solidFill>
                  <a:srgbClr val="8A6D1E"/>
                </a:solidFill>
                <a:latin typeface="Calibri" pitchFamily="34" charset="0"/>
                <a:cs typeface="Amiri" pitchFamily="2" charset="-78"/>
              </a:rPr>
              <a:t> the verb is subjunctive.</a:t>
            </a:r>
            <a:endParaRPr lang="en-US" sz="1050" dirty="0"/>
          </a:p>
        </p:txBody>
      </p:sp>
      <p:sp>
        <p:nvSpPr>
          <p:cNvPr id="31" name="Shape 29"/>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30"/>
          <p:cNvSpPr/>
          <p:nvPr/>
        </p:nvSpPr>
        <p:spPr>
          <a:xfrm>
            <a:off x="4404360" y="1947672"/>
            <a:ext cx="310896" cy="310896"/>
          </a:xfrm>
          <a:prstGeom prst="ellipse">
            <a:avLst/>
          </a:prstGeom>
          <a:solidFill>
            <a:srgbClr val="1B3B6F"/>
          </a:solidFill>
          <a:ln w="12700">
            <a:solidFill>
              <a:srgbClr val="1B3B6F"/>
            </a:solidFill>
            <a:prstDash val="solid"/>
          </a:ln>
        </p:spPr>
      </p:sp>
      <p:sp>
        <p:nvSpPr>
          <p:cNvPr id="33" name="Text 31"/>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4" name="Text 32"/>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Subjunctive: complete — </a:t>
            </a:r>
            <a:pPr algn="l" indent="0" marL="0">
              <a:buNone/>
            </a:pPr>
            <a:r>
              <a:rPr lang="ar-SA" altLang="en-US" sz="1650" b="1" dirty="0">
                <a:solidFill>
                  <a:srgbClr val="1B3B6F"/>
                </a:solidFill>
                <a:latin typeface="Amiri" pitchFamily="2" charset="-78"/>
                <a:ea typeface="Amiri" pitchFamily="2" charset="-78"/>
                <a:cs typeface="Amiri" pitchFamily="2" charset="-78"/>
              </a:rPr>
              <a:t>يُسْتَحْسَنُ أَنْ</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مَلَابِسَ مُحْتَشِمَةً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5" name="Shape 33"/>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6" name="Shape 34"/>
          <p:cNvSpPr/>
          <p:nvPr/>
        </p:nvSpPr>
        <p:spPr>
          <a:xfrm>
            <a:off x="4459224" y="2490216"/>
            <a:ext cx="256032" cy="256032"/>
          </a:xfrm>
          <a:prstGeom prst="ellipse">
            <a:avLst/>
          </a:prstGeom>
          <a:solidFill>
            <a:srgbClr val="2E8B57"/>
          </a:solidFill>
          <a:ln w="12700">
            <a:solidFill>
              <a:srgbClr val="2E8B57"/>
            </a:solidFill>
            <a:prstDash val="solid"/>
          </a:ln>
        </p:spPr>
      </p:sp>
      <p:sp>
        <p:nvSpPr>
          <p:cNvPr id="37" name="Text 35"/>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8" name="Text 36"/>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يَرْتَدِيَ</a:t>
            </a:r>
            <a:endParaRPr lang="ar-SA" sz="1700" dirty="0"/>
          </a:p>
        </p:txBody>
      </p:sp>
      <p:sp>
        <p:nvSpPr>
          <p:cNvPr id="39" name="Shape 37"/>
          <p:cNvSpPr/>
          <p:nvPr/>
        </p:nvSpPr>
        <p:spPr>
          <a:xfrm>
            <a:off x="4459224" y="2862072"/>
            <a:ext cx="256032" cy="256032"/>
          </a:xfrm>
          <a:prstGeom prst="ellipse">
            <a:avLst/>
          </a:prstGeom>
          <a:solidFill>
            <a:srgbClr val="C9CED6"/>
          </a:solidFill>
          <a:ln w="12700">
            <a:solidFill>
              <a:srgbClr val="C9CED6"/>
            </a:solidFill>
            <a:prstDash val="solid"/>
          </a:ln>
        </p:spPr>
      </p:sp>
      <p:sp>
        <p:nvSpPr>
          <p:cNvPr id="40" name="Text 38"/>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9"/>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يَرْتَدِي</a:t>
            </a:r>
            <a:endParaRPr lang="ar-SA" sz="1700" dirty="0"/>
          </a:p>
        </p:txBody>
      </p:sp>
      <p:sp>
        <p:nvSpPr>
          <p:cNvPr id="42" name="Shape 40"/>
          <p:cNvSpPr/>
          <p:nvPr/>
        </p:nvSpPr>
        <p:spPr>
          <a:xfrm>
            <a:off x="4459224" y="3233928"/>
            <a:ext cx="256032" cy="256032"/>
          </a:xfrm>
          <a:prstGeom prst="ellipse">
            <a:avLst/>
          </a:prstGeom>
          <a:solidFill>
            <a:srgbClr val="C9CED6"/>
          </a:solidFill>
          <a:ln w="12700">
            <a:solidFill>
              <a:srgbClr val="C9CED6"/>
            </a:solidFill>
            <a:prstDash val="solid"/>
          </a:ln>
        </p:spPr>
      </p:sp>
      <p:sp>
        <p:nvSpPr>
          <p:cNvPr id="43" name="Text 41"/>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4" name="Text 42"/>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ارْتَدَى</a:t>
            </a:r>
            <a:endParaRPr lang="ar-SA" sz="1700" dirty="0"/>
          </a:p>
        </p:txBody>
      </p:sp>
      <p:sp>
        <p:nvSpPr>
          <p:cNvPr id="45" name="Text 43"/>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defective verb's subjunctive is </a:t>
            </a:r>
            <a:pPr algn="l" indent="0" marL="0">
              <a:buNone/>
            </a:pPr>
            <a:r>
              <a:rPr lang="ar-SA" altLang="en-US" sz="1350" dirty="0">
                <a:solidFill>
                  <a:srgbClr val="8A6D1E"/>
                </a:solidFill>
                <a:latin typeface="Amiri" pitchFamily="2" charset="-78"/>
                <a:ea typeface="Amiri" pitchFamily="2" charset="-78"/>
                <a:cs typeface="Amiri" pitchFamily="2" charset="-78"/>
              </a:rPr>
              <a:t>يَرْتَدِيَ</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6" name="Shape 44"/>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8"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9" name="Text 47"/>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Subjunctive: complete — </a:t>
            </a:r>
            <a:pPr algn="l" indent="0" marL="0">
              <a:buNone/>
            </a:pPr>
            <a:r>
              <a:rPr lang="ar-SA" altLang="en-US" sz="1650" b="1" dirty="0">
                <a:solidFill>
                  <a:srgbClr val="1B3B6F"/>
                </a:solidFill>
                <a:latin typeface="Amiri" pitchFamily="2" charset="-78"/>
                <a:ea typeface="Amiri" pitchFamily="2" charset="-78"/>
                <a:cs typeface="Amiri" pitchFamily="2" charset="-78"/>
              </a:rPr>
              <a:t>يَجِبُ أَنْ</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حِذَاءَكَ</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50" name="Shape 48"/>
          <p:cNvSpPr/>
          <p:nvPr/>
        </p:nvSpPr>
        <p:spPr>
          <a:xfrm>
            <a:off x="8278368" y="2490216"/>
            <a:ext cx="256032" cy="256032"/>
          </a:xfrm>
          <a:prstGeom prst="ellipse">
            <a:avLst/>
          </a:prstGeom>
          <a:solidFill>
            <a:srgbClr val="C9CED6"/>
          </a:solidFill>
          <a:ln w="12700">
            <a:solidFill>
              <a:srgbClr val="C9CED6"/>
            </a:solidFill>
            <a:prstDash val="solid"/>
          </a:ln>
        </p:spPr>
      </p:sp>
      <p:sp>
        <p:nvSpPr>
          <p:cNvPr id="51" name="Text 49"/>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2" name="Text 50"/>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تَخْلَعُ</a:t>
            </a:r>
            <a:endParaRPr lang="ar-SA" sz="1700" dirty="0"/>
          </a:p>
        </p:txBody>
      </p:sp>
      <p:sp>
        <p:nvSpPr>
          <p:cNvPr id="53" name="Shape 51"/>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2"/>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3"/>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خَلَعْتَ</a:t>
            </a:r>
            <a:endParaRPr lang="ar-SA" sz="1700" dirty="0"/>
          </a:p>
        </p:txBody>
      </p:sp>
      <p:sp>
        <p:nvSpPr>
          <p:cNvPr id="56" name="Shape 54"/>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7" name="Shape 55"/>
          <p:cNvSpPr/>
          <p:nvPr/>
        </p:nvSpPr>
        <p:spPr>
          <a:xfrm>
            <a:off x="8278368" y="3233928"/>
            <a:ext cx="256032" cy="256032"/>
          </a:xfrm>
          <a:prstGeom prst="ellipse">
            <a:avLst/>
          </a:prstGeom>
          <a:solidFill>
            <a:srgbClr val="2E8B57"/>
          </a:solidFill>
          <a:ln w="12700">
            <a:solidFill>
              <a:srgbClr val="2E8B57"/>
            </a:solidFill>
            <a:prstDash val="solid"/>
          </a:ln>
        </p:spPr>
      </p:sp>
      <p:sp>
        <p:nvSpPr>
          <p:cNvPr id="58" name="Text 56"/>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9" name="Text 57"/>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تَخْلَعَ</a:t>
            </a:r>
            <a:endParaRPr lang="ar-SA" sz="1700" dirty="0"/>
          </a:p>
        </p:txBody>
      </p:sp>
      <p:sp>
        <p:nvSpPr>
          <p:cNvPr id="60" name="Text 58"/>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verb after </a:t>
            </a:r>
            <a:pPr algn="l" indent="0" marL="0">
              <a:buNone/>
            </a:pPr>
            <a:r>
              <a:rPr lang="ar-SA" altLang="en-US" sz="1350" dirty="0">
                <a:solidFill>
                  <a:srgbClr val="8A6D1E"/>
                </a:solidFill>
                <a:latin typeface="Amiri" pitchFamily="2" charset="-78"/>
                <a:ea typeface="Amiri" pitchFamily="2" charset="-78"/>
                <a:cs typeface="Amiri" pitchFamily="2" charset="-78"/>
              </a:rPr>
              <a:t>أَنْ</a:t>
            </a:r>
            <a:pPr algn="l" indent="0" marL="0">
              <a:buNone/>
            </a:pPr>
            <a:r>
              <a:rPr lang="en-US" sz="1050" i="1" dirty="0">
                <a:solidFill>
                  <a:srgbClr val="8A6D1E"/>
                </a:solidFill>
                <a:latin typeface="Calibri" pitchFamily="34" charset="0"/>
                <a:cs typeface="Amiri" pitchFamily="2" charset="-78"/>
              </a:rPr>
              <a:t> takes a fatḥa.</a:t>
            </a:r>
            <a:endParaRPr lang="en-US" sz="1050" dirty="0"/>
          </a:p>
        </p:txBody>
      </p:sp>
      <p:sp>
        <p:nvSpPr>
          <p:cNvPr id="61" name="Shape 59"/>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60"/>
          <p:cNvSpPr/>
          <p:nvPr/>
        </p:nvSpPr>
        <p:spPr>
          <a:xfrm>
            <a:off x="585216" y="4288536"/>
            <a:ext cx="310896" cy="310896"/>
          </a:xfrm>
          <a:prstGeom prst="ellipse">
            <a:avLst/>
          </a:prstGeom>
          <a:solidFill>
            <a:srgbClr val="1B3B6F"/>
          </a:solidFill>
          <a:ln w="12700">
            <a:solidFill>
              <a:srgbClr val="1B3B6F"/>
            </a:solidFill>
            <a:prstDash val="solid"/>
          </a:ln>
        </p:spPr>
      </p:sp>
      <p:sp>
        <p:nvSpPr>
          <p:cNvPr id="63" name="Text 6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4" name="Text 62"/>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Object: which uses </a:t>
            </a:r>
            <a:pPr algn="l" indent="0" marL="0">
              <a:buNone/>
            </a:pPr>
            <a:r>
              <a:rPr lang="ar-SA" altLang="en-US" sz="1650" b="1" dirty="0">
                <a:solidFill>
                  <a:srgbClr val="1B3B6F"/>
                </a:solidFill>
                <a:latin typeface="Amiri" pitchFamily="2" charset="-78"/>
                <a:ea typeface="Amiri" pitchFamily="2" charset="-78"/>
                <a:cs typeface="Amiri" pitchFamily="2" charset="-78"/>
              </a:rPr>
              <a:t>يَحْظُرُ</a:t>
            </a:r>
            <a:pPr algn="l" indent="0" marL="0">
              <a:buNone/>
            </a:pPr>
            <a:r>
              <a:rPr lang="en-US" sz="1250" b="1" dirty="0">
                <a:solidFill>
                  <a:srgbClr val="1B3B6F"/>
                </a:solidFill>
                <a:latin typeface="Calibri" pitchFamily="34" charset="0"/>
                <a:cs typeface="Amiri" pitchFamily="2" charset="-78"/>
              </a:rPr>
              <a:t> correctly?</a:t>
            </a:r>
            <a:endParaRPr lang="en-US" sz="1250" dirty="0"/>
          </a:p>
        </p:txBody>
      </p:sp>
      <p:sp>
        <p:nvSpPr>
          <p:cNvPr id="65" name="Shape 63"/>
          <p:cNvSpPr/>
          <p:nvPr/>
        </p:nvSpPr>
        <p:spPr>
          <a:xfrm>
            <a:off x="640080" y="4831080"/>
            <a:ext cx="256032" cy="256032"/>
          </a:xfrm>
          <a:prstGeom prst="ellipse">
            <a:avLst/>
          </a:prstGeom>
          <a:solidFill>
            <a:srgbClr val="C9CED6"/>
          </a:solidFill>
          <a:ln w="12700">
            <a:solidFill>
              <a:srgbClr val="C9CED6"/>
            </a:solidFill>
            <a:prstDash val="solid"/>
          </a:ln>
        </p:spPr>
      </p:sp>
      <p:sp>
        <p:nvSpPr>
          <p:cNvPr id="66" name="Text 64"/>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7" name="Text 65"/>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يَحْظُرُ المَوْقِعُ بِالتَّصْوِيرِ.</a:t>
            </a:r>
            <a:endParaRPr lang="ar-SA" sz="1700" dirty="0"/>
          </a:p>
        </p:txBody>
      </p:sp>
      <p:sp>
        <p:nvSpPr>
          <p:cNvPr id="68" name="Shape 66"/>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7"/>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8"/>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يَحْظُرُ المَوْقِعُ عَنِ التَّصْوِيرِ.</a:t>
            </a:r>
            <a:endParaRPr lang="ar-SA" sz="1700" dirty="0"/>
          </a:p>
        </p:txBody>
      </p:sp>
      <p:sp>
        <p:nvSpPr>
          <p:cNvPr id="71" name="Shape 69"/>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2" name="Shape 70"/>
          <p:cNvSpPr/>
          <p:nvPr/>
        </p:nvSpPr>
        <p:spPr>
          <a:xfrm>
            <a:off x="640080" y="5574792"/>
            <a:ext cx="256032" cy="256032"/>
          </a:xfrm>
          <a:prstGeom prst="ellipse">
            <a:avLst/>
          </a:prstGeom>
          <a:solidFill>
            <a:srgbClr val="2E8B57"/>
          </a:solidFill>
          <a:ln w="12700">
            <a:solidFill>
              <a:srgbClr val="2E8B57"/>
            </a:solidFill>
            <a:prstDash val="solid"/>
          </a:ln>
        </p:spPr>
      </p:sp>
      <p:sp>
        <p:nvSpPr>
          <p:cNvPr id="73" name="Text 71"/>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4" name="Text 72"/>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يَحْظُرُ المَوْقِعُ التَّصْوِيرَ.</a:t>
            </a:r>
            <a:endParaRPr lang="ar-SA" sz="1700" dirty="0"/>
          </a:p>
        </p:txBody>
      </p:sp>
      <p:sp>
        <p:nvSpPr>
          <p:cNvPr id="75" name="Text 73"/>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يَحْظُرُ</a:t>
            </a:r>
            <a:pPr algn="l" indent="0" marL="0">
              <a:buNone/>
            </a:pPr>
            <a:r>
              <a:rPr lang="en-US" sz="1050" i="1" dirty="0">
                <a:solidFill>
                  <a:srgbClr val="8A6D1E"/>
                </a:solidFill>
                <a:latin typeface="Calibri" pitchFamily="34" charset="0"/>
                <a:cs typeface="Amiri" pitchFamily="2" charset="-78"/>
              </a:rPr>
              <a:t> takes a direct object.</a:t>
            </a:r>
            <a:endParaRPr lang="en-US" sz="1050" dirty="0"/>
          </a:p>
        </p:txBody>
      </p:sp>
      <p:sp>
        <p:nvSpPr>
          <p:cNvPr id="76" name="Shape 7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7" name="Shape 75"/>
          <p:cNvSpPr/>
          <p:nvPr/>
        </p:nvSpPr>
        <p:spPr>
          <a:xfrm>
            <a:off x="4404360" y="4288536"/>
            <a:ext cx="310896" cy="310896"/>
          </a:xfrm>
          <a:prstGeom prst="ellipse">
            <a:avLst/>
          </a:prstGeom>
          <a:solidFill>
            <a:srgbClr val="1B3B6F"/>
          </a:solidFill>
          <a:ln w="12700">
            <a:solidFill>
              <a:srgbClr val="1B3B6F"/>
            </a:solidFill>
            <a:prstDash val="solid"/>
          </a:ln>
        </p:spPr>
      </p:sp>
      <p:sp>
        <p:nvSpPr>
          <p:cNvPr id="78" name="Text 7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9" name="Text 7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Preposition: complete — </a:t>
            </a:r>
            <a:pPr algn="l" indent="0" marL="0">
              <a:buNone/>
            </a:pPr>
            <a:r>
              <a:rPr lang="ar-SA" altLang="en-US" sz="1650" b="1" dirty="0">
                <a:solidFill>
                  <a:srgbClr val="1B3B6F"/>
                </a:solidFill>
                <a:latin typeface="Amiri" pitchFamily="2" charset="-78"/>
                <a:ea typeface="Amiri" pitchFamily="2" charset="-78"/>
                <a:cs typeface="Amiri" pitchFamily="2" charset="-78"/>
              </a:rPr>
              <a:t>يَسْمَحُ المَتْحَفُ</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التَّصْوِيرِ</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80" name="Shape 78"/>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1" name="Shape 79"/>
          <p:cNvSpPr/>
          <p:nvPr/>
        </p:nvSpPr>
        <p:spPr>
          <a:xfrm>
            <a:off x="4459224" y="4831080"/>
            <a:ext cx="256032" cy="256032"/>
          </a:xfrm>
          <a:prstGeom prst="ellipse">
            <a:avLst/>
          </a:prstGeom>
          <a:solidFill>
            <a:srgbClr val="2E8B57"/>
          </a:solidFill>
          <a:ln w="12700">
            <a:solidFill>
              <a:srgbClr val="2E8B57"/>
            </a:solidFill>
            <a:prstDash val="solid"/>
          </a:ln>
        </p:spPr>
      </p:sp>
      <p:sp>
        <p:nvSpPr>
          <p:cNvPr id="82" name="Text 80"/>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3" name="Text 81"/>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بِـ</a:t>
            </a:r>
            <a:endParaRPr lang="ar-SA" sz="1700" dirty="0"/>
          </a:p>
        </p:txBody>
      </p:sp>
      <p:sp>
        <p:nvSpPr>
          <p:cNvPr id="84" name="Shape 82"/>
          <p:cNvSpPr/>
          <p:nvPr/>
        </p:nvSpPr>
        <p:spPr>
          <a:xfrm>
            <a:off x="4459224" y="5202936"/>
            <a:ext cx="256032" cy="256032"/>
          </a:xfrm>
          <a:prstGeom prst="ellipse">
            <a:avLst/>
          </a:prstGeom>
          <a:solidFill>
            <a:srgbClr val="C9CED6"/>
          </a:solidFill>
          <a:ln w="12700">
            <a:solidFill>
              <a:srgbClr val="C9CED6"/>
            </a:solidFill>
            <a:prstDash val="solid"/>
          </a:ln>
        </p:spPr>
      </p:sp>
      <p:sp>
        <p:nvSpPr>
          <p:cNvPr id="85" name="Text 83"/>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6" name="Text 84"/>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عَنْ</a:t>
            </a:r>
            <a:endParaRPr lang="ar-SA" sz="1700" dirty="0"/>
          </a:p>
        </p:txBody>
      </p:sp>
      <p:sp>
        <p:nvSpPr>
          <p:cNvPr id="87" name="Shape 85"/>
          <p:cNvSpPr/>
          <p:nvPr/>
        </p:nvSpPr>
        <p:spPr>
          <a:xfrm>
            <a:off x="4459224" y="5574792"/>
            <a:ext cx="256032" cy="256032"/>
          </a:xfrm>
          <a:prstGeom prst="ellipse">
            <a:avLst/>
          </a:prstGeom>
          <a:solidFill>
            <a:srgbClr val="C9CED6"/>
          </a:solidFill>
          <a:ln w="12700">
            <a:solidFill>
              <a:srgbClr val="C9CED6"/>
            </a:solidFill>
            <a:prstDash val="solid"/>
          </a:ln>
        </p:spPr>
      </p:sp>
      <p:sp>
        <p:nvSpPr>
          <p:cNvPr id="88" name="Text 86"/>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9" name="Text 87"/>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إِلَى</a:t>
            </a:r>
            <a:endParaRPr lang="ar-SA" sz="1700" dirty="0"/>
          </a:p>
        </p:txBody>
      </p:sp>
      <p:sp>
        <p:nvSpPr>
          <p:cNvPr id="90" name="Text 88"/>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يَسْمَحُ</a:t>
            </a:r>
            <a:pPr algn="l" indent="0" marL="0">
              <a:buNone/>
            </a:pPr>
            <a:r>
              <a:rPr lang="en-US" sz="1050" i="1" dirty="0">
                <a:solidFill>
                  <a:srgbClr val="8A6D1E"/>
                </a:solidFill>
                <a:latin typeface="Calibri" pitchFamily="34" charset="0"/>
                <a:cs typeface="Amiri" pitchFamily="2" charset="-78"/>
              </a:rPr>
              <a:t> takes </a:t>
            </a:r>
            <a:pPr algn="l" indent="0" marL="0">
              <a:buNone/>
            </a:pPr>
            <a:r>
              <a:rPr lang="ar-SA" altLang="en-US" sz="1350" dirty="0">
                <a:solidFill>
                  <a:srgbClr val="8A6D1E"/>
                </a:solidFill>
                <a:latin typeface="Amiri" pitchFamily="2" charset="-78"/>
                <a:ea typeface="Amiri" pitchFamily="2" charset="-78"/>
                <a:cs typeface="Amiri" pitchFamily="2" charset="-78"/>
              </a:rPr>
              <a:t>بِـ</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91" name="Shape 89"/>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2" name="Shape 90"/>
          <p:cNvSpPr/>
          <p:nvPr/>
        </p:nvSpPr>
        <p:spPr>
          <a:xfrm>
            <a:off x="8223504" y="4288536"/>
            <a:ext cx="310896" cy="310896"/>
          </a:xfrm>
          <a:prstGeom prst="ellipse">
            <a:avLst/>
          </a:prstGeom>
          <a:solidFill>
            <a:srgbClr val="1B3B6F"/>
          </a:solidFill>
          <a:ln w="12700">
            <a:solidFill>
              <a:srgbClr val="1B3B6F"/>
            </a:solidFill>
            <a:prstDash val="solid"/>
          </a:ln>
        </p:spPr>
      </p:sp>
      <p:sp>
        <p:nvSpPr>
          <p:cNvPr id="93" name="Text 91"/>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4" name="Text 92"/>
          <p:cNvSpPr txBox="1"/>
          <p:nvPr/>
        </p:nvSpPr>
        <p:spPr>
          <a:xfrm>
            <a:off x="8589264"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Force:</a:t>
            </a:r>
            <a:endParaRPr lang="en-US" sz="1200" dirty="0"/>
          </a:p>
        </p:txBody>
      </p:sp>
      <p:sp>
        <p:nvSpPr>
          <p:cNvPr id="95" name="Text 93"/>
          <p:cNvSpPr txBox="1"/>
          <p:nvPr/>
        </p:nvSpPr>
        <p:spPr>
          <a:xfrm>
            <a:off x="10044989" y="4224528"/>
            <a:ext cx="1577035" cy="475488"/>
          </a:xfrm>
          <a:prstGeom prst="rect">
            <a:avLst/>
          </a:prstGeom>
          <a:noFill/>
          <a:ln/>
        </p:spPr>
        <p:txBody>
          <a:bodyPr wrap="square" lIns="0" tIns="0" rIns="0" bIns="0" rtlCol="0" anchor="ctr"/>
          <a:lstStyle/>
          <a:p>
            <a:pPr algn="l" indent="0" marL="0">
              <a:buNone/>
            </a:pPr>
            <a:r>
              <a:rPr lang="ar-SA" altLang="en-US" sz="1900" b="1" dirty="0">
                <a:solidFill>
                  <a:srgbClr val="1F2A37"/>
                </a:solidFill>
                <a:latin typeface="Amiri" pitchFamily="2" charset="-78"/>
                <a:ea typeface="Amiri" pitchFamily="2" charset="-78"/>
                <a:cs typeface="Amiri" pitchFamily="2" charset="-78"/>
              </a:rPr>
              <a:t>يُسْتَحْسَنُ أَنْ</a:t>
            </a:r>
            <a:pPr algn="l" indent="0" marL="0">
              <a:buNone/>
            </a:pPr>
            <a:r>
              <a:rPr lang="en-US" sz="1450" b="1" dirty="0">
                <a:solidFill>
                  <a:srgbClr val="1F2A37"/>
                </a:solidFill>
                <a:latin typeface="Calibri" pitchFamily="34" charset="0"/>
                <a:cs typeface="Amiri" pitchFamily="2" charset="-78"/>
              </a:rPr>
              <a:t> is …</a:t>
            </a:r>
            <a:endParaRPr lang="en-US" sz="1450" dirty="0"/>
          </a:p>
        </p:txBody>
      </p:sp>
      <p:sp>
        <p:nvSpPr>
          <p:cNvPr id="96" name="Shape 94"/>
          <p:cNvSpPr/>
          <p:nvPr/>
        </p:nvSpPr>
        <p:spPr>
          <a:xfrm>
            <a:off x="8278368" y="4831080"/>
            <a:ext cx="256032" cy="256032"/>
          </a:xfrm>
          <a:prstGeom prst="ellipse">
            <a:avLst/>
          </a:prstGeom>
          <a:solidFill>
            <a:srgbClr val="C9CED6"/>
          </a:solidFill>
          <a:ln w="12700">
            <a:solidFill>
              <a:srgbClr val="C9CED6"/>
            </a:solidFill>
            <a:prstDash val="solid"/>
          </a:ln>
        </p:spPr>
      </p:sp>
      <p:sp>
        <p:nvSpPr>
          <p:cNvPr id="97" name="Text 95"/>
          <p:cNvSpPr txBox="1"/>
          <p:nvPr/>
        </p:nvSpPr>
        <p:spPr>
          <a:xfrm>
            <a:off x="8278368"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98" name="Text 96"/>
          <p:cNvSpPr txBox="1"/>
          <p:nvPr/>
        </p:nvSpPr>
        <p:spPr>
          <a:xfrm>
            <a:off x="8607552"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strict prohibition</a:t>
            </a:r>
            <a:endParaRPr lang="en-US" sz="1250" dirty="0"/>
          </a:p>
        </p:txBody>
      </p:sp>
      <p:sp>
        <p:nvSpPr>
          <p:cNvPr id="99" name="Shape 97"/>
          <p:cNvSpPr/>
          <p:nvPr/>
        </p:nvSpPr>
        <p:spPr>
          <a:xfrm>
            <a:off x="8186928" y="5166360"/>
            <a:ext cx="3453384" cy="347472"/>
          </a:xfrm>
          <a:prstGeom prst="roundRect">
            <a:avLst>
              <a:gd name="adj" fmla="val 15789"/>
            </a:avLst>
          </a:prstGeom>
          <a:solidFill>
            <a:srgbClr val="E6F4EC"/>
          </a:solidFill>
          <a:ln w="9525">
            <a:solidFill>
              <a:srgbClr val="2E8B57"/>
            </a:solidFill>
            <a:prstDash val="solid"/>
          </a:ln>
        </p:spPr>
      </p:sp>
      <p:sp>
        <p:nvSpPr>
          <p:cNvPr id="100" name="Shape 98"/>
          <p:cNvSpPr/>
          <p:nvPr/>
        </p:nvSpPr>
        <p:spPr>
          <a:xfrm>
            <a:off x="8278368" y="5202936"/>
            <a:ext cx="256032" cy="256032"/>
          </a:xfrm>
          <a:prstGeom prst="ellipse">
            <a:avLst/>
          </a:prstGeom>
          <a:solidFill>
            <a:srgbClr val="2E8B57"/>
          </a:solidFill>
          <a:ln w="12700">
            <a:solidFill>
              <a:srgbClr val="2E8B57"/>
            </a:solidFill>
            <a:prstDash val="solid"/>
          </a:ln>
        </p:spPr>
      </p:sp>
      <p:sp>
        <p:nvSpPr>
          <p:cNvPr id="101" name="Text 99"/>
          <p:cNvSpPr txBox="1"/>
          <p:nvPr/>
        </p:nvSpPr>
        <p:spPr>
          <a:xfrm>
            <a:off x="8278368"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102" name="Text 100"/>
          <p:cNvSpPr txBox="1"/>
          <p:nvPr/>
        </p:nvSpPr>
        <p:spPr>
          <a:xfrm>
            <a:off x="8607552"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polite advice</a:t>
            </a:r>
            <a:endParaRPr lang="en-US" sz="1250" dirty="0"/>
          </a:p>
        </p:txBody>
      </p:sp>
      <p:sp>
        <p:nvSpPr>
          <p:cNvPr id="103" name="Shape 101"/>
          <p:cNvSpPr/>
          <p:nvPr/>
        </p:nvSpPr>
        <p:spPr>
          <a:xfrm>
            <a:off x="8278368" y="5574792"/>
            <a:ext cx="256032" cy="256032"/>
          </a:xfrm>
          <a:prstGeom prst="ellipse">
            <a:avLst/>
          </a:prstGeom>
          <a:solidFill>
            <a:srgbClr val="C9CED6"/>
          </a:solidFill>
          <a:ln w="12700">
            <a:solidFill>
              <a:srgbClr val="C9CED6"/>
            </a:solidFill>
            <a:prstDash val="solid"/>
          </a:ln>
        </p:spPr>
      </p:sp>
      <p:sp>
        <p:nvSpPr>
          <p:cNvPr id="104" name="Text 102"/>
          <p:cNvSpPr txBox="1"/>
          <p:nvPr/>
        </p:nvSpPr>
        <p:spPr>
          <a:xfrm>
            <a:off x="8278368"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105" name="Text 103"/>
          <p:cNvSpPr txBox="1"/>
          <p:nvPr/>
        </p:nvSpPr>
        <p:spPr>
          <a:xfrm>
            <a:off x="8607552"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command</a:t>
            </a:r>
            <a:endParaRPr lang="en-US" sz="1250" dirty="0"/>
          </a:p>
        </p:txBody>
      </p:sp>
      <p:sp>
        <p:nvSpPr>
          <p:cNvPr id="106" name="Text 104"/>
          <p:cNvSpPr txBox="1"/>
          <p:nvPr/>
        </p:nvSpPr>
        <p:spPr>
          <a:xfrm>
            <a:off x="8223504"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يُسْتَحْسَنُ أَنْ</a:t>
            </a:r>
            <a:pPr algn="l" indent="0" marL="0">
              <a:buNone/>
            </a:pPr>
            <a:r>
              <a:rPr lang="en-US" sz="1050" i="1" dirty="0">
                <a:solidFill>
                  <a:srgbClr val="8A6D1E"/>
                </a:solidFill>
                <a:latin typeface="Calibri" pitchFamily="34" charset="0"/>
                <a:cs typeface="Amiri" pitchFamily="2" charset="-78"/>
              </a:rPr>
              <a:t> is gentle, polite advice.</a:t>
            </a:r>
            <a:endParaRPr lang="en-US" sz="1050" dirty="0"/>
          </a:p>
        </p:txBody>
      </p:sp>
      <p:sp>
        <p:nvSpPr>
          <p:cNvPr id="107" name="Text 10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47 / 49</a:t>
            </a:r>
            <a:endParaRPr lang="en-US" sz="85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P3-L07 · Culture</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Before P3-L08: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P3-L07</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P3-L08 · Reading — Travel and Tourism Texts</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نَصٌّ سِيَاحِيٌّ</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tourism text</a:t>
            </a:r>
            <a:pPr indent="0" marL="0">
              <a:buNone/>
            </a:pPr>
            <a:r>
              <a:rPr lang="ar-SA" sz="1000" i="1" dirty="0">
                <a:solidFill>
                  <a:srgbClr val="5A6472"/>
                </a:solidFill>
                <a:latin typeface="Calibri" pitchFamily="34" charset="0"/>
                <a:ea typeface="Amiri" pitchFamily="2" charset="-78"/>
                <a:cs typeface="Amiri" pitchFamily="2" charset="-78"/>
              </a:rPr>
              <a:t>  pl. نُصُوصٌ</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مُرَاجَعَةُ فُنْدُقٍ</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hotel review</a:t>
            </a:r>
            <a:pPr indent="0" marL="0">
              <a:buNone/>
            </a:pPr>
            <a:r>
              <a:rPr lang="ar-SA" sz="1000" i="1" dirty="0">
                <a:solidFill>
                  <a:srgbClr val="5A6472"/>
                </a:solidFill>
                <a:latin typeface="Calibri" pitchFamily="34" charset="0"/>
                <a:ea typeface="Amiri" pitchFamily="2" charset="-78"/>
                <a:cs typeface="Amiri" pitchFamily="2" charset="-78"/>
              </a:rPr>
              <a:t>  pl. مُرَاجَعَاتٌ</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مَوْقِفُ الكَاتِبِ</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the writer’s attitude</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يَسْتَنْتِجُ</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he infers</a:t>
            </a:r>
            <a:pPr indent="0" marL="0">
              <a:buNone/>
            </a:pPr>
            <a:r>
              <a:rPr lang="ar-SA" sz="1000" i="1" dirty="0">
                <a:solidFill>
                  <a:srgbClr val="5A6472"/>
                </a:solidFill>
                <a:latin typeface="Calibri" pitchFamily="34" charset="0"/>
                <a:ea typeface="Amiri" pitchFamily="2" charset="-78"/>
                <a:cs typeface="Amiri" pitchFamily="2" charset="-78"/>
              </a:rPr>
              <a:t>  أَسْتَنْتِجُ I</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نَقْدٌ ضِمْنِيٌّ</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implicit criticism</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When you read a hotel review, how can you tell what the writer really thinks?</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ea typeface="Amiri" pitchFamily="2" charset="-78"/>
                <a:cs typeface="Amiri" pitchFamily="2" charset="-78"/>
              </a:rPr>
              <a:t>أَسْتَنْتِجُ مَوْقِفَ الكَاتِبِ مِنْ ______ .</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Write four advice sentences with yustaḥsan an and yajib an (verbs in -a).</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Add a yaḥẓur rule and a yasmaḥ bi- permission (60–80 words).</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writing task: a 100–110-word cultural guide for visitors to an Arab country.</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48 / 49</a:t>
            </a:r>
            <a:endParaRPr lang="en-US" sz="85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P3-L07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200" b="1" dirty="0">
                <a:solidFill>
                  <a:srgbClr val="FFFFFF"/>
                </a:solidFill>
                <a:latin typeface="Cambria" pitchFamily="34" charset="0"/>
                <a:cs typeface="Amiri" pitchFamily="2" charset="-78"/>
              </a:rPr>
              <a:t>P3-L08 · Reading — Travel and Tourism Texts</a:t>
            </a:r>
            <a:endParaRPr lang="en-US" sz="22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القِرَاءَةُ — نُصُوصُ السَّفَرِ وَالسِّيَاحَةِ</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yustaḥsan an / yajib an + a verb in -a (yataʿallama · yartadiya) — yaḥẓur + an object · yasmaḥ bi- — then a scenario with idhā and a reflection with law … la-.</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49</Slides>
  <Notes>49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49</vt:i4>
      </vt:variant>
    </vt:vector>
  </HeadingPairs>
  <TitlesOfParts>
    <vt:vector size="5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P3-L07 · Cultural Sensitivity in Travel — Being a Respectful Visitor</dc:title>
  <dc:subject>PptxGenJS Presentation</dc:subject>
  <dc:creator>Al Madina Online School · Arabic Department</dc:creator>
  <cp:lastModifiedBy>Al Madina Online School · Arabic Department</cp:lastModifiedBy>
  <cp:revision>1</cp:revision>
  <dcterms:created xsi:type="dcterms:W3CDTF">2026-10-11T06:43:11Z</dcterms:created>
  <dcterms:modified xsi:type="dcterms:W3CDTF">2026-10-11T06:43:11Z</dcterms:modified>
</cp:coreProperties>
</file>