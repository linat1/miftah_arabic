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P3-L03. The website lesson “Describing Past Holidays — Advanced Narrative”: vocabulary, grammar rules and quiz, patterns, common mistakes, sorter, listening, reading, speaking prompts and model, writing task and model, differentiation, final check and the lesson mission. Picture match: website visual game “Describing Past Holidays — Advanced Narrative”.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sentence for each of the four layers (website Core). Develop: expand Layer 2 to five past-tense sentences with connectors. Stretch: the website 110–120-word anecdote with both conditionals and a reported-speech clause.
• Draw the four layers as a timeline: BEFORE (kuntu qad) → DURING (past) → REACTION (past) → NOW (idhā / law). Students colour-code their own story.
• Not everyone travels: students may tell a story about a day trip, a visit to relatives, Umrah, or an imagined journey — the grammar is the same.
• Cultural link (optional): Ibn Baṭṭūṭa of Tangier wrote the most famous Arabic travel narrative (الرِّحْلَةُ, 14th century) — the four layers are exactly how he tells his stories.
• Grammar links: past perfect (P2-L03) · Type 1 (P1-L03) · Type 2 (P2-L06) · reported speech (P2-L02) · lam + jussive (D units).
• TEACHER-WRITTEN ITEMS: waṣl alif shown without a kasra (الارْتِبَاطِ); rule headings and formulas in English and transliteration; sorter headings in English; the I / she / we past table and the reaction table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P3-L02. Questions 4–5 retrieve yuqīm fī and the past perfect (P3-L02) — today kuntu qad becomes Layer 1 of every story.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story is not a list. Before → during → reaction → reflection: four layers, four tenses.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اثر and حسن (in حسنِ اتفاق) are shared. Urdu says سفرنامہ for a travelogue; the Arabic genre is الرِّحْلَةُ. CAREFUL: Urdu ذکر means “mention / remembrance of Allah”; Arabic ذِكْرَى is “a memory” (ذِكْرَى لَا تُنْسَى = an unforgettable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Narrative vocabulary (website vocabulary (1 of 2)). Hear → Say → See → Use. Transliteration is printed for Core students (cover it for Develop/Stretch).
Narrative vocabulary: the nouns of a holiday story. قَضَى إِجَازَتَهُ فِي (spent his holiday in) is a weak verb: قَضَيْتُ (I) · قَضَتْ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Narrative vocabulary (website vocabulary (2 of 2)). Hear → Say → See → Use. Transliteration is printed for Core students (cover it for Develop/Stretch).
Narrative vocabulary: the nouns of a holiday story. قَضَى إِجَازَتَهُ فِي (spent his holiday in) is a weak verb: قَضَيْتُ (I) · قَضَتْ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Reactions and reflection (website vocabulary (1 of 2)). Hear → Say → See → Use. Transliteration is printed for Core students (cover it for Develop/Stretch).
Reactions and reflection: Layer 3. Most are past verbs whose SUBJECT is the place: فَاقَ المَكَانُ تَوَقُّعَاتِي · فَاقَتِ البَتْرَاءُ … · أَعْجَبَتْنِي المَدِينَةُ.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Reactions and reflection (website vocabulary (2 of 2)). Hear → Say → See → Use. Transliteration is printed for Core students (cover it for Develop/Stretch).
FLEX: teach if time allows; otherwise these are on the website vocabulary tab for homework.
Reactions and reflection: Layer 3. Most are past verbs whose SUBJECT is the place: فَاقَ المَكَانُ تَوَقُّعَاتِي · فَاقَتِ البَتْرَاءُ … · أَعْجَبَتْنِي المَدِينَةُ.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Narrative connectors (website vocabulary (1 of 2)). Hear → Say → See → Use. Transliteration is printed for Core students (cover it for Develop/Stretch).
FLEX: teach if time allows; otherwise these are on the website vocabulary tab for homework.
Narrative connectors: they turn a list of events into a story. قِيلَ إِنَّ (it is said that) is the passive of قَالَ — still followed by إِنَّ.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Narrative connectors (website vocabulary (2 of 2)). Hear → Say → See → Use. Transliteration is printed for Core students (cover it for Develop/Stretch).
FLEX: teach if time allows; otherwise these are on the website vocabulary tab for homework.
Narrative connectors: they turn a list of events into a story. قِيلَ إِنَّ (it is said that) is the passive of قَالَ — still followed by إِنَّ.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“Layer 1–4”, the website table and teaching point “Four temporal layers build a rich narrative”. All four examples are from the website listening.
Website mistake 1: سَمِعْتُ أَنَّ البَاعَةَ يَتَفَاوَضُونَ قَبْلَ زِيَارَتِي ✗ → كُنْتُ قَدْ سَمِعْتُ … (an event BEFORE the holiday takes the past perfect).
Website challenge: “Write one sentence for each of the four layers about a real or imagined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Layer 2 verbs from the website listening and reading (وَصَلْتُ · زُرْتُ · مَشَيْتُ · قَضَيْتُ · تَذَوَّقْتُ · قَابَلْتُ) in the I / she / we forms students need for their own story.
Watch the weak verbs: زُرْتُ (zurtu, short u) · مَشَيْتُ → مَشَتْ (the y drops) · قَضَيْتُ → قَضَتْ.
Connectors for Layer 2 (website vocabulary): فِي البِدَايَةِ · بَعْدَ ذٰلِكَ · فَجْأَةً · فِي تِلْكَ اللَّحْظَةِ · لِحُسْنِ الحَظِّ · فِي النِّهَايَةِ.
Develop target (website): five past-tense sentences with at least three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“Layer 3 — reaction” and teaching point “Reaction verbs carry the emotion … Pair one with a contrast: كُنْتُ قَدْ تَوَقَّعْتُ … لٰكِنَّ الوَاقِعَ …”. Rows from the website listening, reading and quiz 8.
Feminine subjects: فَاقَتِ البَتْرَاءُ · غَيَّرَتِ الرِّحْلَةُ · أَعْجَبَتْنِي المَدِينَةُ (helping kasra before al-).
أَعْجَبَنِي works like Urdu “mujhe pasand āyā”: the thing liked is the subject, the person is the object pronoun -nī.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“Layer 4 — reflection” (real future intention + counterfactual) and website quiz 7 (قِيلَ إِنَّ is impersonal reported speech).
The negative Type 2 has two negatives: لَوْ + لَمْ + jussive (لَمْ أُسَافِرْ · لَمْ أَزُرْ — the hollow verb shortens: zur) → لَمَا + past (لَمَا فَهِمْتُ · لَمَا شَعَرْتُ).
Card 1: أُتِيحَتْ is passive past (“was made available”) — after إِذَا it means “if I get the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“Past perfect (before) → past narrative (during) → past reaction → conditional reflection, with a reported-speech thread.”
• Layer 1 — before: What you had done or heard before the holiday.
• Layer 2 — during: The main story in the simple past.
• Layer 3 — reaction: Your realisation or feeling.
• Layer 4 — reflection: A real future intention and a counterfactual.
Website common error: Telling the whole story in the simple past with no past perfect before it, or using a Type 1 where a counterfactual (لَوْ) is meant in the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layer by layer: “Before I went: kuntu qad tawaqqaʿtu. On the day: waṣaltu, mashaytu, and a drama connector — fajʾatan. My reaction: adraktu anna … fāqat — Petra is feminine. Now: law lam azur … lamā shaʿartu — two negatives.”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Past Holidays — Advanced Narrative”)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past-tense match). Then turn each card into a richer Layer 2 or Layer 1 sentence: سَافَرْتُ إِلَى مِصْرَ → كُنْتُ قَدْ حَلُمْتُ بِزِيَارَةِ مِصْرَ مُنْذُ صِغَرِي، وَفِي الصَّيْفِ المَاضِي سَافَرْتُ إِلَيْهَا أَخِيرًا · سَبَحْتُ فِي البَحْرِ → فَجْأَةً رَأَيْتُ سَمَكًا مُلَوَّنًا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Past Holidays — Advanced Narrative”)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past-tense match). Then turn each card into a richer Layer 2 or Layer 1 sentence: سَافَرْتُ إِلَى مِصْرَ → كُنْتُ قَدْ حَلُمْتُ بِزِيَارَةِ مِصْرَ مُنْذُ صِغَرِي، وَفِي الصَّيْفِ المَاضِي سَافَرْتُ إِلَيْهَا أَخِيرًا · سَبَحْتُ فِي البَحْرِ → فَجْأَةً رَأَيْتُ سَمَكًا مُلَوَّنًا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four-layer anecdote from a before-clause, a during-clause and a reflection.” Website feedback: any three different combinations work.
Core: read row 1 across. Develop: retell a combination as “she” (كَانَتْ قَدْ قَرَأَتْ … فَوَصَلَتْ …). Stretch: add a Layer 3 reaction between columns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order one card from each column into a mini-story and add a connector between each: فِي البِدَايَةِ … فَجْأَةً … فِي النِّهَايَةِ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order one card from each column into a mini-story and add a connector between each: فِي البِدَايَةِ … فَجْأَةً … فِي النِّهَايَةِ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label each sentence you hear with its layer (1–4).
Listen 1: just listen. Listen 2: note answers. Then chat the letters.
Support: after the second listening, show the read-along slide (Arabic + English, line by line) for Core students.
SCRIPT (read aloud):
يَرْوِي المُسَافِرُ: كُنْتُ قَدْ قَرَأْتُ الكَثِيرَ عَنْ مَرَّاكُشَ قَبْلَ زِيَارَتِي، وَكُنْتُ قَدْ سَمِعْتُ أَنَّ البَاعَةَ يَتَفَاوَضُونَ بِشِدَّةٍ. وَصَلْتُ إِلَى المَدِينَةِ القَدِيمَةِ وَانْبَهَرْتُ بِجَمَالِهَا. فِي تِلْكَ اللَّحْظَةِ، سَمِعْتُ الأَذَانَ يَمْلَأُ السَّمَاءَ، وَتَذَوَّقْتُ طَعَامًا لَمْ أُجَرِّبْهُ مِنْ قَبْلُ. أَدْرَكْتُ أَنَّ الصُّوَرَ لَا تُنْصِفُ هٰذَا المَكَانَ، وَفَاقَ سِحْرُ الأَزِقَّةِ تَوَقُّعَاتِي. لِحُسْنِ الحَظِّ، قَابَلْتُ دَلِيلًا مَحَلِّيًّا أَشَارَ إِلَى أَنَّ أَجْمَلَ الأَسْوَاقِ تَكُونُ صَبَاحًا. لَوْ لَمْ أُسَافِرْ إِلَى هٰذِهِ المَدِينَةِ، لَمَا فَهِمْتُ ثَقَافَتَهَا. وَإِذَا أُتِيحَتْ لِيَ الفُرْصَةُ، سَأَعُودُ حَتْمًا.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كَانَ رَدُّ فِعْلِكَ؟ (Layer 3)
B: فَاقَ المَكَانُ تَوَقُّعَاتِي وَغَيَّرَ نَظْرَتِي، وَلَوْ لَمْ أُسَافِرْ لَمَا فَهِمْتُ سِحْرَهُ. (Reaction plus Type 2 reflection)
Website prompts and model. Pairs: interviewer / traveller; the interviewer holds up 1–4 fingers to ask for a layer. To a girl: كُنْتِ قَدْ تَوَقَّعْتِ · وَصَلْتِ · رَدُّ فِعْلِكِ · لَمْ تُسَافِرِي · كُنْتِ سَتَفْقِدِينَ.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sentence for each of the four layers. · Develop — Expand Layer 2 to five past-tense sentences with connectors. · Stretch — Write a full anecdote with both conditional types in Layer 4 and a reported-speech clause.
Website writing task (Stretch): Write a holiday anecdote of one hundred and ten to one hundred and twenty words using the four layers. Layer 1: two past-perfect sentences. Layer 2: a past narrative with connectors. Layer 3: a reaction. Layer 4: one Type 1 and one Type 2 conditional. Include one reported-speech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حَجَزْتُ · كُنْتُ قَدْ تَوَقَّعْتُ (L1) · وَصَلْتُ · مَشَيْتُ · فَجْأَةً ظَهَرَتْ · لِحُسْنِ الحَظِّ، قَابَلْتُ … قَالَ إِنَّ (L2) · أَدْرَكْتُ أَنَّ · فَاقَتْ · غَيَّرَتْ نَظْرَتِي (L3) · لَوْ لَمْ أَزُرْ … لَمَا شَعَرْتُ · إِذَا أُتِيحَتْ … سَأَعُودُ (L4).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(P3-L04 · Arabic-Speaking Destinations — Culture, Geography and Tourism) will spend class time USING this language, so students prepare it tonight — short, simple, easy to access (school guidance: “Simple, Short, Interesting, Relevant, Easy to access”). The five words come from the website P3-L04 vocabulary (Arabic-speaking destinations).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Describing Past Holidays — Advanced Narrative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وَصْفُ الإِجَازَاتِ المَاضِيَةِ — السَّرْدُ المُتَقَدِّمُ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Tell a holiday story in four layers: what you had expected (kuntu qad), what happened (the past with connectors), how you reacted (fāqa tawaqquʿātī · adraktu anna) and what you think now (idhā … sa- and law lam … lamā).</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P3-L03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layers, past narrative with weak verbs, reaction verbs, law lam … lamā.</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past activities, build a four-layer anecdote, sort by layer.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ذِكْرَى لَا تُنْسَى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lost memory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unforgettable memory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visit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مُغَامَرَةٌ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adventure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surprise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discovery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صَدْمَةٌ ثَقَافِيَّةٌ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cultural festival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museum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culture shock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أَقَمْتُ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شَقَّةٍ مَفْرُوشَةٍ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past perfect.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حَجَزْتُ الفُنْدُقَ.</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 الفُنْدُقَ.</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 الفُنْدُقَ.</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ذِكْرَى لَا تُنْسَى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lost memory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unforgettable memory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visit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مُغَامَرَةٌ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adventure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surprise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discovery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صَدْمَةٌ ثَقَافِيَّةٌ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cultural festival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museum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culture shock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أَقَمْتُ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شَقَّةٍ مَفْرُوشَةٍ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P3-L02: yuqīm fī.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past perfect.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حَجَزْتُ الفُنْدُقَ.</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سَأَحْجِزُ الفُنْدُقَ.</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 الفُنْدُقَ.</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P3-L02: kuntu qad ḥajaztu.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story is not a list. Before → during → reaction → reflection: four layers, four tenses.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كُنْتُ قَدْ تَوَقَّعْتُ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وَصَلْتُ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فَاقَ تَوَقُّعَاتِي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لَوْ لَمْ أُسَافِرْ، لَمَا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past perfect for what happened before the holiday.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Narrate the holiday itself in the past with connectors.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a reaction with adraktu, fāqa tawaqquʿātī, ghayyara naẓratī.</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Close with a Type 1 and a Type 2 reflection.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sentence for each layer.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with kuntu qad + past.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narrate five past events with connectors.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react with fāqa tawaqquʿātī / adraktu 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reflect with law lam … lamā and idhā … 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an impersonal qīla inna.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Narrative vocabulary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Reactions and reflection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Narrative connectors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tajriba · an experience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رِحْلَةٌ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‎سفرنامہ‎ </a:t>
            </a:r>
            <a:pPr indent="0" marL="0">
              <a:buNone/>
            </a:pPr>
            <a:r>
              <a:rPr lang="en-US" sz="950" b="1" dirty="0">
                <a:solidFill>
                  <a:srgbClr val="2E8B57"/>
                </a:solidFill>
                <a:latin typeface="Calibri" pitchFamily="34" charset="0"/>
                <a:ea typeface="Calibri" pitchFamily="34" charset="-122"/>
                <a:cs typeface="Calibri" pitchFamily="34" charset="-120"/>
              </a:rPr>
              <a:t> safarnāma · a journey · a travelogue (Ibn Baṭṭūṭa’s Riḥla)</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لِحُسْنِ الحَظِّ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‎حسنِ اتفاق‎ </a:t>
            </a:r>
            <a:pPr indent="0" marL="0">
              <a:buNone/>
            </a:pPr>
            <a:r>
              <a:rPr lang="en-US" sz="950" b="1" dirty="0">
                <a:solidFill>
                  <a:srgbClr val="2E8B57"/>
                </a:solidFill>
                <a:latin typeface="Calibri" pitchFamily="34" charset="0"/>
                <a:ea typeface="Calibri" pitchFamily="34" charset="-122"/>
                <a:cs typeface="Calibri" pitchFamily="34" charset="-120"/>
              </a:rPr>
              <a:t> husn-e-ittifāq · fortunately · by good chance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أَثَّرَ فِي · أَثَرٌ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‎اثر‎ </a:t>
            </a:r>
            <a:pPr indent="0" marL="0">
              <a:buNone/>
            </a:pPr>
            <a:r>
              <a:rPr lang="en-US" sz="950" b="1" dirty="0">
                <a:solidFill>
                  <a:srgbClr val="2E8B57"/>
                </a:solidFill>
                <a:latin typeface="Calibri" pitchFamily="34" charset="0"/>
                <a:ea typeface="Calibri" pitchFamily="34" charset="-122"/>
                <a:cs typeface="Calibri" pitchFamily="34" charset="-120"/>
              </a:rPr>
              <a:t> asar · affected · an effect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ذِكْرَى</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‎یاد · ذکر‎ </a:t>
            </a:r>
            <a:pPr indent="0" marL="0">
              <a:buNone/>
            </a:pPr>
            <a:r>
              <a:rPr lang="en-US" sz="950" b="1" dirty="0">
                <a:solidFill>
                  <a:srgbClr val="2E8B57"/>
                </a:solidFill>
                <a:latin typeface="Calibri" pitchFamily="34" charset="0"/>
                <a:ea typeface="Calibri" pitchFamily="34" charset="-122"/>
                <a:cs typeface="Calibri" pitchFamily="34" charset="-120"/>
              </a:rPr>
              <a:t> zikr · a memory (Urdu ذکر = mention)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Narrative vocabulary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قَضَى إِجَازَتَهُ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spent his holiday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qa-ḍā i-jā-za-ta-hu fī</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قَضَتْ إِجَازَتَهَا</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قَضَيْتُ إِجَازَتِي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ذِكْرَى لَا تُنْسَى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unforgettable memory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dhik-rā lā tun-sā</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ذِكْرَيَاتٌ لَا تُنْسَى</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5" name="Shape 4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تَجْرِبَةٌ ثَرِيَّةٌ</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enriching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taj-ri-ba-tun tha-riy-ya-tun</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تَجَارِبُ ثَرِيَّةٌ</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صَدْمَةٌ ثَقَافِيَّةٌ</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culture shock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ṣad-ma-tun tha-qā-fiy-ya-tun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Narrative vocabulary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اكْتِشَافٌ</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discovery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ak-ti-shā-fun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اكْتِشَافَاتٌ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مُغَامَرَةٌ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adventure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mu-ghā-ma-ra-tun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مُغَامَرَاتٌ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مُفَاجَأَةٌ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surprise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mu-fā-ja-ʾa-tun</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مُفَاجَآتٌ</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0" name="Shape 4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I · she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يَرْوِي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narrates, tells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yar-wī</a:t>
            </a:r>
            <a:endParaRPr lang="en-US" sz="1350" dirty="0"/>
          </a:p>
        </p:txBody>
      </p:sp>
      <p:sp>
        <p:nvSpPr>
          <p:cNvPr id="54" name="Shape 5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تَرْوِي</a:t>
            </a:r>
            <a:endParaRPr lang="ar-SA" sz="1500" dirty="0"/>
          </a:p>
        </p:txBody>
      </p:sp>
      <p:sp>
        <p:nvSpPr>
          <p:cNvPr id="57" name="Shape 5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أَرْوِي</a:t>
            </a:r>
            <a:endParaRPr lang="ar-SA" sz="15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Reactions and reflection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أَدْرَكْتُ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realised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ad-rak-tu an-na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أَدْرَكَتْ أَنَّ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0" name="Shape 27"/>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IV, past.</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أَعْجَبَنِي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impressed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aʿ-ja-ba-nī</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7" name="Shape 34"/>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II, past.</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خَيَّبَ ظَنِّي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disappointed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khay-ya-ba ẓan-nī</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it (m · f)</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فَاقَ تَوَقُّعَاتِي</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exceeded my expectations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fā-qa ta-waq-qu-ʿā-tī</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subject</a:t>
            </a:r>
            <a:endParaRPr lang="en-US" sz="700" dirty="0"/>
          </a:p>
        </p:txBody>
      </p:sp>
      <p:sp>
        <p:nvSpPr>
          <p:cNvPr id="52" name="Text 4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فَاقَتْ تَوَقُّعَاتِي</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Reactions and reflection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it (m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نَظْرَتِي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changed my view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ghay-ya-ra naẓ-ra-tī i-lā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subject</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غَيَّرَتْ نَظْرَتِي</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أَثَّرَ فِيَّ بِعُمْقٍ</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affected me deeply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ath-tha-ra fiy-ya bi-ʿum-qin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 يَكُنْ كَمَا تَصَوَّرْتُ</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was not as I imagined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lam ya-kun ka-mā ta-ṣaw-war-tu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كُنْتُ قَدْ تَوَقَّعْتُ أَنَّ</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had expected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kun-tu qad ta-waq-qaʿ-tu an-na</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كَانَتْ قَدْ تَوَقَّعَتْ أَنَّ</a:t>
            </a:r>
            <a:endParaRPr lang="ar-SA" sz="15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Narrative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فَجْأَةً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suddenly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faj-ʾa-tan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تِلْكَ اللَّحْظَةِ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that moment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til-ka all-laḥ-ẓa-ti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لِحُسْنِ الحَظِّ</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fortunately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li-ḥus-ni al-ḥaẓ-ẓi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قِيلَ إِنَّ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said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qī-la in-na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Impersonal reported speech.</a:t>
            </a:r>
            <a:endParaRPr lang="en-US" sz="10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Narrative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رُبَّمَا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perhaps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rub-ba-mā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البِدَايَةِ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first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al-bi-dā-ya-ti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النِّهَايَةِ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an-ni-hā-ya-ti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FOUR LAYERS (WEBSITE RULES 1–4 + TABLE +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 during · reaction · reflection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أَرْبَعُ طَبَقَاتٍ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7" name="Text 14"/>
          <p:cNvSpPr txBox="1"/>
          <p:nvPr/>
        </p:nvSpPr>
        <p:spPr>
          <a:xfrm>
            <a:off x="43708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listening)</a:t>
            </a:r>
            <a:endParaRPr lang="en-US" sz="1100" dirty="0"/>
          </a:p>
        </p:txBody>
      </p:sp>
      <p:sp>
        <p:nvSpPr>
          <p:cNvPr id="18" name="Text 15"/>
          <p:cNvSpPr txBox="1"/>
          <p:nvPr/>
        </p:nvSpPr>
        <p:spPr>
          <a:xfrm>
            <a:off x="254203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Tense</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you knew</a:t>
            </a:r>
            <a:endParaRPr lang="en-US" sz="1100" dirty="0"/>
          </a:p>
        </p:txBody>
      </p:sp>
      <p:sp>
        <p:nvSpPr>
          <p:cNvPr id="22" name="Text 19"/>
          <p:cNvSpPr txBox="1"/>
          <p:nvPr/>
        </p:nvSpPr>
        <p:spPr>
          <a:xfrm>
            <a:off x="4389120" y="2267712"/>
            <a:ext cx="4937760"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كُنْتُ قَدْ قَرَأْتُ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الكَثِيرَ عَنْ مَرَّاكُشَ قَبْلَ زِيَارَتِي.</a:t>
            </a:r>
            <a:endParaRPr lang="ar-SA" sz="1900" dirty="0"/>
          </a:p>
        </p:txBody>
      </p:sp>
      <p:sp>
        <p:nvSpPr>
          <p:cNvPr id="23" name="Text 20"/>
          <p:cNvSpPr txBox="1"/>
          <p:nvPr/>
        </p:nvSpPr>
        <p:spPr>
          <a:xfrm>
            <a:off x="257860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happened</a:t>
            </a:r>
            <a:endParaRPr lang="en-US" sz="1100" dirty="0"/>
          </a:p>
        </p:txBody>
      </p:sp>
      <p:sp>
        <p:nvSpPr>
          <p:cNvPr id="29" name="Text 26"/>
          <p:cNvSpPr txBox="1"/>
          <p:nvPr/>
        </p:nvSpPr>
        <p:spPr>
          <a:xfrm>
            <a:off x="4389120" y="3054096"/>
            <a:ext cx="4937760" cy="731520"/>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وَصَلْتُ</a:t>
            </a:r>
            <a:pPr rtl="1" algn="ctr" indent="0" marL="0">
              <a:buNone/>
            </a:pPr>
            <a:r>
              <a:rPr lang="ar-SA" altLang="en-US" sz="1900" b="1" dirty="0">
                <a:solidFill>
                  <a:srgbClr val="1B3B6F"/>
                </a:solidFill>
                <a:latin typeface="Amiri" pitchFamily="34" charset="0"/>
                <a:ea typeface="Amiri" pitchFamily="34" charset="-122"/>
                <a:cs typeface="Amiri" pitchFamily="34" charset="-120"/>
              </a:rPr>
              <a:t> إِلَى المَدِينَةِ القَدِيمَةِ </a:t>
            </a:r>
            <a:pPr rtl="1" algn="ctr" indent="0" marL="0">
              <a:buNone/>
            </a:pPr>
            <a:r>
              <a:rPr lang="ar-SA" altLang="en-US" sz="1900" b="1" dirty="0">
                <a:solidFill>
                  <a:srgbClr val="1D5FBF"/>
                </a:solidFill>
                <a:latin typeface="Amiri" pitchFamily="34" charset="0"/>
                <a:ea typeface="Amiri" pitchFamily="34" charset="-122"/>
                <a:cs typeface="Amiri" pitchFamily="34" charset="-120"/>
              </a:rPr>
              <a:t>وَانْبَهَرْتُ</a:t>
            </a:r>
            <a:pPr rtl="1" algn="ctr" indent="0" marL="0">
              <a:buNone/>
            </a:pPr>
            <a:r>
              <a:rPr lang="ar-SA" altLang="en-US" sz="1900" b="1" dirty="0">
                <a:solidFill>
                  <a:srgbClr val="1B3B6F"/>
                </a:solidFill>
                <a:latin typeface="Amiri" pitchFamily="34" charset="0"/>
                <a:ea typeface="Amiri" pitchFamily="34" charset="-122"/>
                <a:cs typeface="Amiri" pitchFamily="34" charset="-120"/>
              </a:rPr>
              <a:t> بِجَمَالِهَا.</a:t>
            </a:r>
            <a:endParaRPr lang="ar-SA" sz="1900" dirty="0"/>
          </a:p>
        </p:txBody>
      </p:sp>
      <p:sp>
        <p:nvSpPr>
          <p:cNvPr id="30" name="Text 27"/>
          <p:cNvSpPr txBox="1"/>
          <p:nvPr/>
        </p:nvSpPr>
        <p:spPr>
          <a:xfrm>
            <a:off x="257860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simple past</a:t>
            </a:r>
            <a:endParaRPr lang="en-US" sz="11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during</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you felt</a:t>
            </a:r>
            <a:endParaRPr lang="en-US" sz="1100" dirty="0"/>
          </a:p>
        </p:txBody>
      </p:sp>
      <p:sp>
        <p:nvSpPr>
          <p:cNvPr id="36" name="Text 33"/>
          <p:cNvSpPr txBox="1"/>
          <p:nvPr/>
        </p:nvSpPr>
        <p:spPr>
          <a:xfrm>
            <a:off x="4389120" y="3840480"/>
            <a:ext cx="49377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أَدْرَكْتُ 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الصُّوَرَ لَا تُنْصِفُ هٰذَا المَكَانَ.</a:t>
            </a:r>
            <a:endParaRPr lang="ar-SA" sz="1900" dirty="0"/>
          </a:p>
        </p:txBody>
      </p:sp>
      <p:sp>
        <p:nvSpPr>
          <p:cNvPr id="37" name="Text 34"/>
          <p:cNvSpPr txBox="1"/>
          <p:nvPr/>
        </p:nvSpPr>
        <p:spPr>
          <a:xfrm>
            <a:off x="257860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reaction</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you think now</a:t>
            </a:r>
            <a:endParaRPr lang="en-US" sz="1100" dirty="0"/>
          </a:p>
        </p:txBody>
      </p:sp>
      <p:sp>
        <p:nvSpPr>
          <p:cNvPr id="43" name="Text 40"/>
          <p:cNvSpPr txBox="1"/>
          <p:nvPr/>
        </p:nvSpPr>
        <p:spPr>
          <a:xfrm>
            <a:off x="4389120" y="4626864"/>
            <a:ext cx="4937760" cy="731520"/>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34" charset="0"/>
                <a:ea typeface="Amiri" pitchFamily="34" charset="-122"/>
                <a:cs typeface="Amiri" pitchFamily="34" charset="-120"/>
              </a:rPr>
              <a:t>لَوْ لَمْ أُسَافِرْ</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C77700"/>
                </a:solidFill>
                <a:latin typeface="Amiri" pitchFamily="34" charset="0"/>
                <a:ea typeface="Amiri" pitchFamily="34" charset="-122"/>
                <a:cs typeface="Amiri" pitchFamily="34" charset="-120"/>
              </a:rPr>
              <a:t>لَمَا فَهِمْتُ</a:t>
            </a:r>
            <a:pPr rtl="1" algn="ctr" indent="0" marL="0">
              <a:buNone/>
            </a:pPr>
            <a:r>
              <a:rPr lang="ar-SA" altLang="en-US" sz="1900" b="1" dirty="0">
                <a:solidFill>
                  <a:srgbClr val="1B3B6F"/>
                </a:solidFill>
                <a:latin typeface="Amiri" pitchFamily="34" charset="0"/>
                <a:ea typeface="Amiri" pitchFamily="34" charset="-122"/>
                <a:cs typeface="Amiri" pitchFamily="34" charset="-120"/>
              </a:rPr>
              <a:t> ثَقَافَتَهَا.</a:t>
            </a:r>
            <a:endParaRPr lang="ar-SA" sz="1900" dirty="0"/>
          </a:p>
        </p:txBody>
      </p:sp>
      <p:sp>
        <p:nvSpPr>
          <p:cNvPr id="44" name="Text 41"/>
          <p:cNvSpPr txBox="1"/>
          <p:nvPr/>
        </p:nvSpPr>
        <p:spPr>
          <a:xfrm>
            <a:off x="257860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idhā</a:t>
            </a:r>
            <a:endParaRPr lang="en-US" sz="1100" dirty="0"/>
          </a:p>
        </p:txBody>
      </p:sp>
      <p:sp>
        <p:nvSpPr>
          <p:cNvPr id="45" name="Text 42"/>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reflection</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the whole story in the simple past, with no past perfect before it.</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LAYER 2 — NARRATING IN THE PAST, I · SHE · WE (WEBSITE RULE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I arrived · she arrived · we arrived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السَّرْدُ بِالمَاضِي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7" name="Text 14"/>
          <p:cNvSpPr txBox="1"/>
          <p:nvPr/>
        </p:nvSpPr>
        <p:spPr>
          <a:xfrm>
            <a:off x="7662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a:t>
            </a:r>
            <a:endParaRPr lang="en-US" sz="1100" dirty="0"/>
          </a:p>
        </p:txBody>
      </p:sp>
      <p:sp>
        <p:nvSpPr>
          <p:cNvPr id="18" name="Text 15"/>
          <p:cNvSpPr txBox="1"/>
          <p:nvPr/>
        </p:nvSpPr>
        <p:spPr>
          <a:xfrm>
            <a:off x="52852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9" name="Text 16"/>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20" name="Text 17"/>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076688" y="226771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a:t>
            </a:r>
            <a:endParaRPr lang="en-US" sz="1100" dirty="0"/>
          </a:p>
        </p:txBody>
      </p:sp>
      <p:sp>
        <p:nvSpPr>
          <p:cNvPr id="23" name="Text 20"/>
          <p:cNvSpPr txBox="1"/>
          <p:nvPr/>
        </p:nvSpPr>
        <p:spPr>
          <a:xfrm>
            <a:off x="7680960" y="226771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وَصَلْنَا</a:t>
            </a:r>
            <a:endParaRPr lang="ar-SA" sz="2200" dirty="0"/>
          </a:p>
        </p:txBody>
      </p:sp>
      <p:sp>
        <p:nvSpPr>
          <p:cNvPr id="24" name="Text 21"/>
          <p:cNvSpPr txBox="1"/>
          <p:nvPr/>
        </p:nvSpPr>
        <p:spPr>
          <a:xfrm>
            <a:off x="5303520" y="226771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وَصَلَتْ</a:t>
            </a:r>
            <a:endParaRPr lang="ar-SA" sz="2200" dirty="0"/>
          </a:p>
        </p:txBody>
      </p:sp>
      <p:sp>
        <p:nvSpPr>
          <p:cNvPr id="25" name="Text 22"/>
          <p:cNvSpPr txBox="1"/>
          <p:nvPr/>
        </p:nvSpPr>
        <p:spPr>
          <a:xfrm>
            <a:off x="2926080" y="226771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وَصَلْتُ</a:t>
            </a:r>
            <a:endParaRPr lang="ar-SA" sz="2200" dirty="0"/>
          </a:p>
        </p:txBody>
      </p:sp>
      <p:sp>
        <p:nvSpPr>
          <p:cNvPr id="26" name="Text 23"/>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arrive (waṣala)</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10076688" y="2881884"/>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a:t>
            </a:r>
            <a:endParaRPr lang="en-US" sz="1100" dirty="0"/>
          </a:p>
        </p:txBody>
      </p:sp>
      <p:sp>
        <p:nvSpPr>
          <p:cNvPr id="31" name="Text 28"/>
          <p:cNvSpPr txBox="1"/>
          <p:nvPr/>
        </p:nvSpPr>
        <p:spPr>
          <a:xfrm>
            <a:off x="7680960" y="2881884"/>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زُرْنَا</a:t>
            </a:r>
            <a:endParaRPr lang="ar-SA" sz="2200" dirty="0"/>
          </a:p>
        </p:txBody>
      </p:sp>
      <p:sp>
        <p:nvSpPr>
          <p:cNvPr id="32" name="Text 29"/>
          <p:cNvSpPr txBox="1"/>
          <p:nvPr/>
        </p:nvSpPr>
        <p:spPr>
          <a:xfrm>
            <a:off x="5303520" y="2881884"/>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زَارَتْ</a:t>
            </a:r>
            <a:endParaRPr lang="ar-SA" sz="2200" dirty="0"/>
          </a:p>
        </p:txBody>
      </p:sp>
      <p:sp>
        <p:nvSpPr>
          <p:cNvPr id="33" name="Text 30"/>
          <p:cNvSpPr txBox="1"/>
          <p:nvPr/>
        </p:nvSpPr>
        <p:spPr>
          <a:xfrm>
            <a:off x="2926080" y="2881884"/>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زُرْتُ</a:t>
            </a:r>
            <a:endParaRPr lang="ar-SA" sz="2200" dirty="0"/>
          </a:p>
        </p:txBody>
      </p:sp>
      <p:sp>
        <p:nvSpPr>
          <p:cNvPr id="34" name="Text 31"/>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visit (zāra)</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10076688" y="3496056"/>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end</a:t>
            </a:r>
            <a:endParaRPr lang="en-US" sz="1100" dirty="0"/>
          </a:p>
        </p:txBody>
      </p:sp>
      <p:sp>
        <p:nvSpPr>
          <p:cNvPr id="39" name="Text 36"/>
          <p:cNvSpPr txBox="1"/>
          <p:nvPr/>
        </p:nvSpPr>
        <p:spPr>
          <a:xfrm>
            <a:off x="7680960" y="3496056"/>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مَشَيْنَا</a:t>
            </a:r>
            <a:endParaRPr lang="ar-SA" sz="2200" dirty="0"/>
          </a:p>
        </p:txBody>
      </p:sp>
      <p:sp>
        <p:nvSpPr>
          <p:cNvPr id="40" name="Text 37"/>
          <p:cNvSpPr txBox="1"/>
          <p:nvPr/>
        </p:nvSpPr>
        <p:spPr>
          <a:xfrm>
            <a:off x="5303520" y="3496056"/>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مَشَتْ</a:t>
            </a:r>
            <a:endParaRPr lang="ar-SA" sz="2200" dirty="0"/>
          </a:p>
        </p:txBody>
      </p:sp>
      <p:sp>
        <p:nvSpPr>
          <p:cNvPr id="41" name="Text 38"/>
          <p:cNvSpPr txBox="1"/>
          <p:nvPr/>
        </p:nvSpPr>
        <p:spPr>
          <a:xfrm>
            <a:off x="2926080" y="3496056"/>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مَشَيْتُ</a:t>
            </a:r>
            <a:endParaRPr lang="ar-SA" sz="2200" dirty="0"/>
          </a:p>
        </p:txBody>
      </p:sp>
      <p:sp>
        <p:nvSpPr>
          <p:cNvPr id="42" name="Text 39"/>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walk (mashā)</a:t>
            </a:r>
            <a:endParaRPr lang="en-US" sz="1100" dirty="0"/>
          </a:p>
        </p:txBody>
      </p:sp>
      <p:sp>
        <p:nvSpPr>
          <p:cNvPr id="43" name="Shape 4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10076688" y="4110228"/>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end</a:t>
            </a:r>
            <a:endParaRPr lang="en-US" sz="1100" dirty="0"/>
          </a:p>
        </p:txBody>
      </p:sp>
      <p:sp>
        <p:nvSpPr>
          <p:cNvPr id="45" name="Text 42"/>
          <p:cNvSpPr txBox="1"/>
          <p:nvPr/>
        </p:nvSpPr>
        <p:spPr>
          <a:xfrm>
            <a:off x="7680960" y="4110228"/>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قَضَيْنَا</a:t>
            </a:r>
            <a:endParaRPr lang="ar-SA" sz="2200" dirty="0"/>
          </a:p>
        </p:txBody>
      </p:sp>
      <p:sp>
        <p:nvSpPr>
          <p:cNvPr id="46" name="Text 43"/>
          <p:cNvSpPr txBox="1"/>
          <p:nvPr/>
        </p:nvSpPr>
        <p:spPr>
          <a:xfrm>
            <a:off x="5303520" y="4110228"/>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قَضَتْ</a:t>
            </a:r>
            <a:endParaRPr lang="ar-SA" sz="2200" dirty="0"/>
          </a:p>
        </p:txBody>
      </p:sp>
      <p:sp>
        <p:nvSpPr>
          <p:cNvPr id="47" name="Text 44"/>
          <p:cNvSpPr txBox="1"/>
          <p:nvPr/>
        </p:nvSpPr>
        <p:spPr>
          <a:xfrm>
            <a:off x="2926080" y="4110228"/>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قَضَيْتُ</a:t>
            </a:r>
            <a:endParaRPr lang="ar-SA" sz="2200" dirty="0"/>
          </a:p>
        </p:txBody>
      </p:sp>
      <p:sp>
        <p:nvSpPr>
          <p:cNvPr id="48" name="Text 45"/>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spend (qaḍā)</a:t>
            </a:r>
            <a:endParaRPr lang="en-US" sz="1100" dirty="0"/>
          </a:p>
        </p:txBody>
      </p:sp>
      <p:sp>
        <p:nvSpPr>
          <p:cNvPr id="49" name="Shape 4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0" name="Text 47"/>
          <p:cNvSpPr txBox="1"/>
          <p:nvPr/>
        </p:nvSpPr>
        <p:spPr>
          <a:xfrm>
            <a:off x="10076688" y="4724400"/>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a:t>
            </a:r>
            <a:endParaRPr lang="en-US" sz="1100" dirty="0"/>
          </a:p>
        </p:txBody>
      </p:sp>
      <p:sp>
        <p:nvSpPr>
          <p:cNvPr id="51" name="Text 48"/>
          <p:cNvSpPr txBox="1"/>
          <p:nvPr/>
        </p:nvSpPr>
        <p:spPr>
          <a:xfrm>
            <a:off x="7680960" y="4724400"/>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تَذَوَّقْنَا</a:t>
            </a:r>
            <a:endParaRPr lang="ar-SA" sz="2200" dirty="0"/>
          </a:p>
        </p:txBody>
      </p:sp>
      <p:sp>
        <p:nvSpPr>
          <p:cNvPr id="52" name="Text 49"/>
          <p:cNvSpPr txBox="1"/>
          <p:nvPr/>
        </p:nvSpPr>
        <p:spPr>
          <a:xfrm>
            <a:off x="5303520" y="4724400"/>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تَذَوَّقَتْ</a:t>
            </a:r>
            <a:endParaRPr lang="ar-SA" sz="2200" dirty="0"/>
          </a:p>
        </p:txBody>
      </p:sp>
      <p:sp>
        <p:nvSpPr>
          <p:cNvPr id="53" name="Text 50"/>
          <p:cNvSpPr txBox="1"/>
          <p:nvPr/>
        </p:nvSpPr>
        <p:spPr>
          <a:xfrm>
            <a:off x="2926080" y="4724400"/>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تَذَوَّقْتُ</a:t>
            </a:r>
            <a:endParaRPr lang="ar-SA" sz="2200" dirty="0"/>
          </a:p>
        </p:txBody>
      </p:sp>
      <p:sp>
        <p:nvSpPr>
          <p:cNvPr id="54" name="Text 51"/>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taste (tadhawwaqa)</a:t>
            </a:r>
            <a:endParaRPr lang="en-US" sz="110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10076688" y="533857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III</a:t>
            </a:r>
            <a:endParaRPr lang="en-US" sz="1100" dirty="0"/>
          </a:p>
        </p:txBody>
      </p:sp>
      <p:sp>
        <p:nvSpPr>
          <p:cNvPr id="57" name="Text 54"/>
          <p:cNvSpPr txBox="1"/>
          <p:nvPr/>
        </p:nvSpPr>
        <p:spPr>
          <a:xfrm>
            <a:off x="7680960" y="533857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قَابَلْنَا</a:t>
            </a:r>
            <a:endParaRPr lang="ar-SA" sz="2200" dirty="0"/>
          </a:p>
        </p:txBody>
      </p:sp>
      <p:sp>
        <p:nvSpPr>
          <p:cNvPr id="58" name="Text 55"/>
          <p:cNvSpPr txBox="1"/>
          <p:nvPr/>
        </p:nvSpPr>
        <p:spPr>
          <a:xfrm>
            <a:off x="5303520" y="533857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قَابَلَتْ</a:t>
            </a:r>
            <a:endParaRPr lang="ar-SA" sz="2200" dirty="0"/>
          </a:p>
        </p:txBody>
      </p:sp>
      <p:sp>
        <p:nvSpPr>
          <p:cNvPr id="59" name="Text 56"/>
          <p:cNvSpPr txBox="1"/>
          <p:nvPr/>
        </p:nvSpPr>
        <p:spPr>
          <a:xfrm>
            <a:off x="2926080" y="5338572"/>
            <a:ext cx="21945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قَابَلْتُ</a:t>
            </a:r>
            <a:endParaRPr lang="ar-SA" sz="2200" dirty="0"/>
          </a:p>
        </p:txBody>
      </p:sp>
      <p:sp>
        <p:nvSpPr>
          <p:cNvPr id="60" name="Text 57"/>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meet (qābala)</a:t>
            </a:r>
            <a:endParaRPr lang="en-US" sz="110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Hollow and weak verbs shorten before -tu / -nā: zurtu (not zārtu) · mashaytu · qaḍaytu — but she: zārat · mashat · qaḍat.</a:t>
            </a:r>
            <a:endParaRPr lang="en-US" sz="11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LAYER 3 — REACTION VERBS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It exceeded my expectations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رَدِّ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Watch out</a:t>
            </a:r>
            <a:endParaRPr lang="en-US" sz="1100" dirty="0"/>
          </a:p>
        </p:txBody>
      </p:sp>
      <p:sp>
        <p:nvSpPr>
          <p:cNvPr id="17" name="Text 14"/>
          <p:cNvSpPr txBox="1"/>
          <p:nvPr/>
        </p:nvSpPr>
        <p:spPr>
          <a:xfrm>
            <a:off x="299923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07084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PLACE is the subject</a:t>
            </a:r>
            <a:endParaRPr lang="en-US" sz="1100" dirty="0"/>
          </a:p>
        </p:txBody>
      </p:sp>
      <p:sp>
        <p:nvSpPr>
          <p:cNvPr id="21" name="Text 18"/>
          <p:cNvSpPr txBox="1"/>
          <p:nvPr/>
        </p:nvSpPr>
        <p:spPr>
          <a:xfrm>
            <a:off x="3017520" y="2267712"/>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فَاقَتِ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البَتْرَاءُ كُلَّ </a:t>
            </a:r>
            <a:pPr rtl="1" algn="ctr" indent="0" marL="0">
              <a:buNone/>
            </a:pPr>
            <a:r>
              <a:rPr lang="ar-SA" altLang="en-US" sz="1900" b="1" dirty="0">
                <a:solidFill>
                  <a:srgbClr val="0E7C86"/>
                </a:solidFill>
                <a:latin typeface="Amiri" pitchFamily="34" charset="0"/>
                <a:ea typeface="Amiri" pitchFamily="34" charset="-122"/>
                <a:cs typeface="Amiri" pitchFamily="34" charset="-120"/>
              </a:rPr>
              <a:t>تَوَقُّعَاتِي</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22" name="Text 19"/>
          <p:cNvSpPr txBox="1"/>
          <p:nvPr/>
        </p:nvSpPr>
        <p:spPr>
          <a:xfrm>
            <a:off x="566928" y="2267712"/>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exceeded my expectations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07084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a:t>
            </a:r>
            <a:endParaRPr lang="en-US" sz="1100" dirty="0"/>
          </a:p>
        </p:txBody>
      </p:sp>
      <p:sp>
        <p:nvSpPr>
          <p:cNvPr id="27" name="Text 24"/>
          <p:cNvSpPr txBox="1"/>
          <p:nvPr/>
        </p:nvSpPr>
        <p:spPr>
          <a:xfrm>
            <a:off x="3017520" y="300471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غَيَّرَتِ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الرِّحْلَةُ </a:t>
            </a:r>
            <a:pPr rtl="1" algn="ctr" indent="0" marL="0">
              <a:buNone/>
            </a:pPr>
            <a:r>
              <a:rPr lang="ar-SA" altLang="en-US" sz="1900" b="1" dirty="0">
                <a:solidFill>
                  <a:srgbClr val="0E7C86"/>
                </a:solidFill>
                <a:latin typeface="Amiri" pitchFamily="34" charset="0"/>
                <a:ea typeface="Amiri" pitchFamily="34" charset="-122"/>
                <a:cs typeface="Amiri" pitchFamily="34" charset="-120"/>
              </a:rPr>
              <a:t>نَظْرَتِي إِلَى</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التَّارِيخِ.</a:t>
            </a:r>
            <a:endParaRPr lang="ar-SA" sz="1900" dirty="0"/>
          </a:p>
        </p:txBody>
      </p:sp>
      <p:sp>
        <p:nvSpPr>
          <p:cNvPr id="28" name="Text 25"/>
          <p:cNvSpPr txBox="1"/>
          <p:nvPr/>
        </p:nvSpPr>
        <p:spPr>
          <a:xfrm>
            <a:off x="566928" y="3004718"/>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changed my view of</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07084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 + -a</a:t>
            </a:r>
            <a:endParaRPr lang="en-US" sz="1100" dirty="0"/>
          </a:p>
        </p:txBody>
      </p:sp>
      <p:sp>
        <p:nvSpPr>
          <p:cNvPr id="33" name="Text 30"/>
          <p:cNvSpPr txBox="1"/>
          <p:nvPr/>
        </p:nvSpPr>
        <p:spPr>
          <a:xfrm>
            <a:off x="3017520" y="3741725"/>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أَدْرَكْتُ 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الصُّوَرَ لَا تُنْصِفُ المَكَانَ.</a:t>
            </a:r>
            <a:endParaRPr lang="ar-SA" sz="1900" dirty="0"/>
          </a:p>
        </p:txBody>
      </p:sp>
      <p:sp>
        <p:nvSpPr>
          <p:cNvPr id="34" name="Text 31"/>
          <p:cNvSpPr txBox="1"/>
          <p:nvPr/>
        </p:nvSpPr>
        <p:spPr>
          <a:xfrm>
            <a:off x="566928" y="3741725"/>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realised that</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07084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city is the subject</a:t>
            </a:r>
            <a:endParaRPr lang="en-US" sz="1100" dirty="0"/>
          </a:p>
        </p:txBody>
      </p:sp>
      <p:sp>
        <p:nvSpPr>
          <p:cNvPr id="39" name="Text 36"/>
          <p:cNvSpPr txBox="1"/>
          <p:nvPr/>
        </p:nvSpPr>
        <p:spPr>
          <a:xfrm>
            <a:off x="3017520" y="4478731"/>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أَعْجَبَتْنِي</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المَدِينَةُ كَثِيرًا.</a:t>
            </a:r>
            <a:endParaRPr lang="ar-SA" sz="1900" dirty="0"/>
          </a:p>
        </p:txBody>
      </p:sp>
      <p:sp>
        <p:nvSpPr>
          <p:cNvPr id="40" name="Text 37"/>
          <p:cNvSpPr txBox="1"/>
          <p:nvPr/>
        </p:nvSpPr>
        <p:spPr>
          <a:xfrm>
            <a:off x="566928" y="4478731"/>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liked it</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07084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kuntu qad … lākinna</a:t>
            </a:r>
            <a:endParaRPr lang="en-US" sz="1100" dirty="0"/>
          </a:p>
        </p:txBody>
      </p:sp>
      <p:sp>
        <p:nvSpPr>
          <p:cNvPr id="43" name="Text 40"/>
          <p:cNvSpPr txBox="1"/>
          <p:nvPr/>
        </p:nvSpPr>
        <p:spPr>
          <a:xfrm>
            <a:off x="3017520" y="521573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كُنْتُ قَدْ تَوَقَّعْتُ</a:t>
            </a:r>
            <a:pPr rtl="1" algn="ctr" indent="0" marL="0">
              <a:buNone/>
            </a:pPr>
            <a:r>
              <a:rPr lang="ar-SA" altLang="en-US" sz="1900" b="1" dirty="0">
                <a:solidFill>
                  <a:srgbClr val="1B3B6F"/>
                </a:solidFill>
                <a:latin typeface="Amiri" pitchFamily="34" charset="0"/>
                <a:ea typeface="Amiri" pitchFamily="34" charset="-122"/>
                <a:cs typeface="Amiri" pitchFamily="34" charset="-120"/>
              </a:rPr>
              <a:t> مَدِينَةً هَادِئَةً، </a:t>
            </a:r>
            <a:pPr rtl="1" algn="ctr" indent="0" marL="0">
              <a:buNone/>
            </a:pPr>
            <a:r>
              <a:rPr lang="ar-SA" altLang="en-US" sz="1900" b="1" dirty="0">
                <a:solidFill>
                  <a:srgbClr val="0E7C86"/>
                </a:solidFill>
                <a:latin typeface="Amiri" pitchFamily="34" charset="0"/>
                <a:ea typeface="Amiri" pitchFamily="34" charset="-122"/>
                <a:cs typeface="Amiri" pitchFamily="34" charset="-120"/>
              </a:rPr>
              <a:t>لٰكِنَّهَا فَاقَتْ تَوَقُّعَاتِي</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44" name="Text 41"/>
          <p:cNvSpPr txBox="1"/>
          <p:nvPr/>
        </p:nvSpPr>
        <p:spPr>
          <a:xfrm>
            <a:off x="566928" y="5215738"/>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expectation + contrast</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fāqa takes a direct object — no preposition after tawaqquʿātī.</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4 · LAYER 4 — REFLECTION (WEBSITE RULE 4)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What I will do — and what I would have missed</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سَـ · لَوْ لَمْ … لَمَا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888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INTENTION · CORE</a:t>
            </a:r>
            <a:endParaRPr lang="en-US" sz="850" dirty="0"/>
          </a:p>
        </p:txBody>
      </p:sp>
      <p:sp>
        <p:nvSpPr>
          <p:cNvPr id="18" name="Text 15"/>
          <p:cNvSpPr txBox="1"/>
          <p:nvPr/>
        </p:nvSpPr>
        <p:spPr>
          <a:xfrm>
            <a:off x="10267188"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أُتِيحَتْ لِيَ الفُرْصَةُ، سَأَعُودُ حَتْمًا.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get the chance, I will definitely return.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Real future.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NEGATIVE TYPE 2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لَمْ … لَمَا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لَمْ أُسَافِرْ إِلَى هٰذِهِ المَدِينَةِ، لَمَا فَهِمْتُ ثَقَافَتَهَا.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I not travelled to this city, I would not have understood its culture.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lam + jussive · lamā + past.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259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IMPERSONAL REPORT · STRETCH</a:t>
            </a:r>
            <a:endParaRPr lang="en-US" sz="850" dirty="0"/>
          </a:p>
        </p:txBody>
      </p:sp>
      <p:sp>
        <p:nvSpPr>
          <p:cNvPr id="34" name="Text 31"/>
          <p:cNvSpPr txBox="1"/>
          <p:nvPr/>
        </p:nvSpPr>
        <p:spPr>
          <a:xfrm>
            <a:off x="2766060" y="1874520"/>
            <a:ext cx="11902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قِيلَ 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قِيلَ إِنَّ المَدِينَةَ لَا تَنَامُ.</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said that the city never sleeps.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Passive of qāla.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a negative Type 2 result uses lamā,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لَوْ لَمْ أُسَافِرْ، لَمَا فَهِمْتُ الثَّقَافَةَ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لَوْ لَمْ أُسَافِرْ، سَمَا فَهِمْتُ الثَّقَافَةَ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four-layer holiday narrative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السَّرْدُ الرُّبَاعِيُّ الطَّبَقَاتِ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Layer 1 — before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kuntu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حَجَزْتُ رِحْلَتِي   ·   كُنْتُ قَدْ سَمِعْتُ أَنَّ البَاعَةَ يَتَفَاوَضُونَ بِشِدَّةٍ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Layer 2 — during</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 connectors</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وَصَلْتُ إِلَى المَدِينَةِ القَدِيمَةِ   ·   فَجْأَةً، سَمِعْتُ الأَذَانَ يَمْلَأُ السَّمَاءَ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Layer 3 — reaction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adraktu · fāqa tawaqquʿātī</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أَدْرَكْتُ أَنَّ الصُّوَرَ لَا تُنْصِفُ المَكَانَ   ·   فَاقَ المَكَانُ تَوَقُّعَاتِي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Layer 4 — reflection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أُتِيحَتِ الفُرْصَةُ، سَأَعُودُ   ·   لَوْ لَمْ أُسَافِرْ، لَمَا فَهِمْتُ هٰذِهِ الثَّقَافَةَ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belongs to Layer 1 (before)?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وَانْبَهَرْتُ بِجَمَالِهَا.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عُدْتُ، سَأَزُورُهَا ثَانِيَةً.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قَرَأْتُ عَنِ المَدِينَةِ قَبْلَ زِيَارَتِي.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to Layer 2 (during)?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السُّوقَ وَتَذَوَّقْتُ الطَّعَامَ المَحَلِّيَّ.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سَمِعْتُ عَنْهُ.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لَمْ أَذْهَبْ، لَمَا عَرَفْتُ.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Layer 3 reaction?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حَجَزْتُ الفُنْدُقَ.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فَاقَ المَكَانُ تَوَقُّعَاتِي.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سَأَعُودُ إِذَا اسْتَطَعْتُ.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 in Layer 4?</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لَمْ أُسَافِرْ، لَمَا فَهِمْتُ الثَّقَافَةَ.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أُتِيحَتِ الفُرْصَةُ، سَأَعُودُ.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مُتْعَبًا لٰكِنْ سَعِيدًا.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belongs to Layer 1 (before)?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 وَانْبَهَرْتُ بِجَمَالِهَا.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عُدْتُ، سَأَزُورُهَا ثَانِيَةً.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قَرَأْتُ عَنِ المَدِينَةِ قَبْلَ زِيَارَتِي.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 قَدْ</a:t>
            </a:r>
            <a:pPr algn="l" indent="0" marL="0">
              <a:buNone/>
            </a:pPr>
            <a:r>
              <a:rPr lang="en-US" sz="1050" i="1" dirty="0">
                <a:solidFill>
                  <a:srgbClr val="8A6D1E"/>
                </a:solidFill>
                <a:latin typeface="Calibri" pitchFamily="34" charset="0"/>
                <a:ea typeface="Calibri" pitchFamily="34" charset="-122"/>
                <a:cs typeface="Calibri" pitchFamily="34" charset="-120"/>
              </a:rPr>
              <a:t> + past states a prior event.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to Layer 2 (during)?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السُّوقَ وَتَذَوَّقْتُ الطَّعَامَ المَحَلِّيَّ.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قَدْ سَمِعْتُ عَنْهُ.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لَمْ أَذْهَبْ، لَمَا عَرَفْتُ.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simple past narrates the holiday itself.</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Layer 3 reaction?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قَدْ حَجَزْتُ الفُنْدُقَ.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فَاقَ المَكَانُ تَوَقُّعَاتِي.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سَأَعُودُ إِذَا اسْتَطَعْتُ.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فَاقَ تَوَقُّعَاتِي</a:t>
            </a:r>
            <a:pPr algn="l" indent="0" marL="0">
              <a:buNone/>
            </a:pPr>
            <a:r>
              <a:rPr lang="en-US" sz="1050" i="1" dirty="0">
                <a:solidFill>
                  <a:srgbClr val="8A6D1E"/>
                </a:solidFill>
                <a:latin typeface="Calibri" pitchFamily="34" charset="0"/>
                <a:ea typeface="Calibri" pitchFamily="34" charset="-122"/>
                <a:cs typeface="Calibri" pitchFamily="34" charset="-120"/>
              </a:rPr>
              <a:t> expresses a reaction.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 in Layer 4?</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لَمْ أُسَافِرْ، لَمَا فَهِمْتُ الثَّقَافَةَ.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أُتِيحَتِ الفُرْصَةُ، سَأَعُودُ.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 مُتْعَبًا لٰكِنْ سَعِيدًا.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 reflection.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tell it in four layers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كُنْتُ قَدْ تَوَقَّعْتُ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Layer 1.</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During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وَصَلْتُ</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1D5FBF"/>
                </a:solidFill>
                <a:latin typeface="Amiri" pitchFamily="34" charset="0"/>
                <a:ea typeface="Amiri" pitchFamily="34" charset="-122"/>
                <a:cs typeface="Amiri" pitchFamily="34" charset="-120"/>
              </a:rPr>
              <a:t>وَفَجْأَةً</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Layer 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Reaction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أَدْرَكْتُ 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0E7C86"/>
                </a:solidFill>
                <a:latin typeface="Amiri" pitchFamily="34" charset="0"/>
                <a:ea typeface="Amiri" pitchFamily="34" charset="-122"/>
                <a:cs typeface="Amiri" pitchFamily="34" charset="-120"/>
              </a:rPr>
              <a:t>فَاقَتْ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Layer 3.</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Reflection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لَوْ لَمْ أَزُرْ</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C77700"/>
                </a:solidFill>
                <a:latin typeface="Amiri" pitchFamily="34" charset="0"/>
                <a:ea typeface="Amiri" pitchFamily="34" charset="-122"/>
                <a:cs typeface="Amiri" pitchFamily="34" charset="-120"/>
              </a:rPr>
              <a:t>لَمَا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Layer 4.</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LAYER 1 · BEFORE</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LAYER 2 · DURING</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LAYER 3 · REACTION</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LAYER 4 · REFLECTION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قَضَيْتُ إِجَازَتِي العَامَ المَاضِيَ فِي الأُرْدُنِّ.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تَوَقَّعْتُ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 البَتْرَاءَ مُجَرَّدُ آثَارٍ قَدِيمَةٍ.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وَصَلْتُ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فَجْرًا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وَمَشَيْتُ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عَبْرَ المَمَرِّ الضَّيِّقِ،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وَفَجْأَةً ظَهَرَتِ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الخَزْنَةُ أَمَامِي.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أَدْرَكْتُ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الصُّوَرَ لَا تُنْصِفُهَا،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وَفَاقَتْ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تَوَقُّعَاتِي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لَوْ لَمْ أَزُرْ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المَكَانَ،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لَمَا شَعَرْتُ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بِهٰذَا الارْتِبَاطِ بِالمَاضِي.</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I spent my holiday last year in Jordan. I had expected Petra to be just old ruins. I arrived at dawn and walked through the narrow passage, and suddenly the Treasury appeared in front of me. I realised that photos do not do it justice, and it exceeded all my expectations. Had I not visited this place, I would not have felt this connection with the past.</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كُنْتُ قَدْ سَمِعْتُ أَنَّ البَاعَةَ يَتَفَاوَضُونَ بِشِدَّةٍ — وَكَانَ هٰذَا صَحِيحًا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heard that the traders bargain hard — and it was true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Layer 1 past perfect meets the reality.</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فَجْأَةً، سَمِعْتُ الأَذَانَ يَمْلَأُ سَمَاءَ المَدِينَةِ القَدِيمَةِ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suddenly I heard the call to prayer filling the sky of the old 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Layer 2 with a drama connector.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لَمْ أُسَافِرْ إِلَى هٰذِهِ المَدِينَةِ، لَمَا فَهِمْتُ ثَقَافَتَهَا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I not travelled to this city, I would not have understood its culture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Layer 4 counterfactual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DESCRIBING PAST HOLIDAYS — ADVANCED NARRATIVE”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What did they do?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trip to Egypt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swimming in the sea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dinner together</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سَبَحْتُ فِي البَحْرِ.</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تَنَاوَلْنَا العَشَاءَ مَعًا.</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سَافَرْتُ إِلَى مِصْرَ فِي الصَّيْفِ المَاضِي.</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trip to Egypt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سَافَرْتُ إِلَى مِصْرَ فِي الصَّيْفِ المَاضِي.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travelled to Egypt last summer.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swimming in the sea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سَبَحْتُ فِي البَحْرِ.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swam in the sea.</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dinner together</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تَنَاوَلْنَا العَشَاءَ مَعًا.</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had dinner together.</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FOUR-LAYER ANECDOTE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Before + during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حِكَايَتَكَ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Before (kuntu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During (past)</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Reaction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قَرَأْتُ الكَثِيرَ عَنِ المَدِينَةِ قَبْلَ زِيَارَتِي</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فَوَصَلْتُ وَانْبَهَرْتُ بِجَمَالِ المَدِينَةِ القَدِيمَةِ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وَأَدْرَكْتُ أَنَّ الصُّوَرَ لَا تُنْصِفُ المَكَانَ</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سَمِعْتُ أَنَّ أَهْلَهَا كِرَامٌ</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وَفَجْأَةً سَمِعْتُ الأَذَانَ يَمْلَأُ السَّمَاءَ</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لَمْ أُسَافِرْ لَمَا فَهِمْتُ هٰذِهِ الثَّقَافَةَ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تَوَقَّعْتُ مَكَانًا عَادِيًّا</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وَلِحُسْنِ الحَظِّ قَابَلْتُ دَلِيلًا مَحَلِّيًّا</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أُتِيحَتِ الفُرْصَةُ سَأَعُودُ حَتْمًا</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Before, during — or reaction / reflection?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 رِحْلَتِي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قَرَأْتُ عَنِ المَدِينَةِ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سَمِعْتُ أَنَّ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وَصَلْتُ إِلَى المَدِينَةِ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السُّوقَ وَتَذَوَّقْتُ الطَّعَامَ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فَجْأَةً سَمِعْتُ الأَذَانَ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فَاقَ المَكَانُ تَوَقُّعَاتِي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غَيَّرَتِ الرِّحْلَةُ نَظْرَتِي إِلَى العَالَمِ</a:t>
            </a:r>
            <a:endParaRPr lang="ar-SA" sz="17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لَمْ أُسَافِرْ، لَمَا فَهِمْتُ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layer 1 (before)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layer 2 (during)</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layers 3–4 (reaction / reflection)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layer 1 (before)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 رِحْلَتِي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قَرَأْتُ عَنِ المَدِينَةِ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سَمِعْتُ أَنَّ …</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layer 2 (during)</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وَصَلْتُ إِلَى المَدِينَةِ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السُّوقَ وَتَذَوَّقْتُ الطَّعَامَ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فَجْأَةً سَمِعْتُ الأَذَانَ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layers 3–4 (reaction / reflection)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فَاقَ المَكَانُ تَوَقُّعَاتِي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غَيَّرَتِ الرِّحْلَةُ نَظْرَتِي إِلَى العَالَمِ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لَمْ أُسَافِرْ، لَمَا فَهِمْتُ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تَوَقَّعْتُ أَنَّ المَدِينَةَ صَغِيرَةٌ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narrative drama?</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فَجْأَةً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حَيْثُ</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impersonally?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أَقُولُ إِنَّ المَدِينَةَ جَمِيلَةٌ.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قِيلَ إِنَّ المَدِينَةَ لَا تَنَامُ.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قُلْتُ إِنِّي مُتْعَبٌ.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combines a reaction with a contrast?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المَدِينَةُ كَبِيرَةٌ.</a:t>
            </a:r>
            <a:endParaRPr lang="ar-SA" sz="17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زُرْتُ المَدِينَةَ.</a:t>
            </a:r>
            <a:endParaRPr lang="ar-SA" sz="17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كُنْتُ قَدْ تَوَقَّعْتُ مَدِينَةً هَادِئَةً، لٰكِنَّهَا فَاقَتْ تَوَقُّعَاتِي بِحَيَوِيَّتِهَا.</a:t>
            </a:r>
            <a:endParaRPr lang="ar-SA" sz="17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تَوَقَّعْتُ أَنَّ المَدِينَةَ صَغِيرَةٌ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is </a:t>
            </a:r>
            <a:pPr algn="l" indent="0" marL="0">
              <a:buNone/>
            </a:pPr>
            <a:r>
              <a:rPr lang="ar-SA" altLang="en-US" sz="1350" dirty="0">
                <a:solidFill>
                  <a:srgbClr val="8A6D1E"/>
                </a:solidFill>
                <a:latin typeface="Amiri" pitchFamily="34" charset="0"/>
                <a:ea typeface="Amiri" pitchFamily="34" charset="-122"/>
                <a:cs typeface="Amiri" pitchFamily="34" charset="-120"/>
              </a:rPr>
              <a:t>كُنْتُ قَدْ تَوَقَّعْتُ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narrative drama?</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فَجْأَةً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حَيْثُ</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فَجْأَةً</a:t>
            </a:r>
            <a:pPr algn="l" indent="0" marL="0">
              <a:buNone/>
            </a:pPr>
            <a:r>
              <a:rPr lang="en-US" sz="1050" i="1" dirty="0">
                <a:solidFill>
                  <a:srgbClr val="8A6D1E"/>
                </a:solidFill>
                <a:latin typeface="Calibri" pitchFamily="34" charset="0"/>
                <a:ea typeface="Calibri" pitchFamily="34" charset="-122"/>
                <a:cs typeface="Calibri" pitchFamily="34" charset="-120"/>
              </a:rPr>
              <a:t> (suddenly) adds narrative drama.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impersonally?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أَقُولُ إِنَّ المَدِينَةَ جَمِيلَةٌ.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قِيلَ إِنَّ المَدِينَةَ لَا تَنَامُ.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قُلْتُ إِنِّي مُتْعَبٌ.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قِيلَ إِنَّ</a:t>
            </a:r>
            <a:pPr algn="l" indent="0" marL="0">
              <a:buNone/>
            </a:pPr>
            <a:r>
              <a:rPr lang="en-US" sz="1050" i="1" dirty="0">
                <a:solidFill>
                  <a:srgbClr val="8A6D1E"/>
                </a:solidFill>
                <a:latin typeface="Calibri" pitchFamily="34" charset="0"/>
                <a:ea typeface="Calibri" pitchFamily="34" charset="-122"/>
                <a:cs typeface="Calibri" pitchFamily="34" charset="-120"/>
              </a:rPr>
              <a:t> is impersonal reported speech.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combines a reaction with a contrast?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كَبِيرَةٌ.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المَدِينَةَ.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تَوَقَّعْتُ مَدِينَةً هَادِئَةً، لٰكِنَّهَا فَاقَتْ تَوَقُّعَاتِي بِحَيَوِيَّتِهَا.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pairs an expectation with a reaction and a contrast.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أَنَّ البَاعَةَ يَتَفَاوَضُونَ قَبْلَ زِيَارَتِي.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Before the trip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لَمْ أُسَافِرْ، سَمَا فَهِمْتُ الثَّقَافَةَ.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lam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المَكَانُ فَاقَ تَوَقُّعَاتِي عَلَى.</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fāqa … ʿalā?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سَمِعْتُ أَنَّ البَاعَةَ يَتَفَاوَضُونَ قَبْلَ زِيَارَتِي.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كُنْتُ قَدْ سَمِعْتُ أَنَّ البَاعَةَ يَتَفَاوَضُونَ قَبْلَ زِيَارَتِي.</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 event before the holiday takes the past perfect.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لَمْ أُسَافِرْ، سَمَا فَهِمْتُ الثَّقَافَةَ.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لَمْ أُسَافِرْ، لَمَا فَهِمْتُ الثَّقَافَةَ.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negative Type 2 result uses </a:t>
            </a:r>
            <a:pPr algn="l" indent="0" marL="0">
              <a:buNone/>
            </a:pPr>
            <a:r>
              <a:rPr lang="ar-SA" altLang="en-US" sz="1500" b="1" dirty="0">
                <a:solidFill>
                  <a:srgbClr val="1B3B6F"/>
                </a:solidFill>
                <a:latin typeface="Amiri" pitchFamily="34" charset="0"/>
                <a:ea typeface="Amiri" pitchFamily="34" charset="-122"/>
                <a:cs typeface="Amiri" pitchFamily="34" charset="-120"/>
              </a:rPr>
              <a:t>لَمَا</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المَكَانُ فَاقَ تَوَقُّعَاتِي عَلَى.</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فَاقَ المَكَانُ تَوَقُّعَاتِي.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فَاقَ</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no trailing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trip to Marrakesh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the visit?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about Marrakesh and heard that traders bargain hard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on arrival?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memorable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Amazement at the old city's beauty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traveller's realisation (Layer 3)?</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place is ordinary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photos were better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Photos do not do the place justice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local guide indicate?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finest souks are best in the morning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souks are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reflection (Layer 4)?</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regret the trip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they not travelled, they would not have understood the culture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waṣaltu · adraktu.</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يَرْوِي المُسَافِرُ: كُنْتُ قَدْ قَرَأْتُ الكَثِيرَ عَنْ مَرَّاكُشَ قَبْلَ زِيَارَتِي، وَكُنْتُ قَدْ سَمِعْتُ أَنَّ البَاعَةَ يَتَفَاوَضُونَ بِشِدَّةٍ.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traveller tells: I had read a lot about Marrakesh before my visit, and I had heard that the traders bargain hard.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وَصَلْتُ إِلَى المَدِينَةِ القَدِيمَةِ وَانْبَهَرْتُ بِجَمَالِهَا. فِي تِلْكَ اللَّحْظَةِ، سَمِعْتُ الأَذَانَ يَمْلَأُ السَّمَاءَ، وَتَذَوَّقْتُ طَعَامًا لَمْ أُجَرِّبْهُ مِنْ قَبْلُ.</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arrived in the old city and was dazzled by its beauty. At that moment I heard the call to prayer fill the sky, and I tasted food I had never tried before.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أَدْرَكْتُ أَنَّ الصُّوَرَ لَا تُنْصِفُ هٰذَا المَكَانَ، وَفَاقَ سِحْرُ الأَزِقَّةِ تَوَقُّعَاتِي.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realised that photos do not do this place justice, and the magic of the alleys exceeded my expectations.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لِحُسْنِ الحَظِّ، قَابَلْتُ دَلِيلًا مَحَلِّيًّا أَشَارَ إِلَى أَنَّ أَجْمَلَ الأَسْوَاقِ تَكُونُ صَبَاحًا.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Fortunately, I met a local guide who pointed out that the finest souks are in the morning.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لَوْ لَمْ أُسَافِرْ إِلَى هٰذِهِ المَدِينَةِ، لَمَا فَهِمْتُ ثَقَافَتَهَا. وَإِذَا أُتِيحَتْ لِيَ الفُرْصَةُ، سَأَعُودُ حَتْمًا.</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 not travelled to this city, I would not have understood its culture. And if I get the chance, I will definitely return.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the visit?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Read about Marrakesh and heard that traders bargain hard</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كُنْتُ قَدْ قَرَأْتُ … وَكُنْتُ قَدْ سَمِعْتُ أَنَّ البَاعَةَ يَتَفَاوَضُونَ بِشِدَّةٍ.</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on arrival?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Disappointment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memorable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Amazement at the old city's beauty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وَصَلْتُ إِلَى المَدِينَةِ القَدِيمَةِ وَانْبَهَرْتُ بِجَمَالِهَا.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traveller's realisation (Layer 3)?</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place is ordinary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photos were better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Photos do not do the place justice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أَدْرَكْتُ أَنَّ الصُّوَرَ لَا تُنْصِفُ هٰذَا المَكَانَ.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local guide indicate?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finest souks are best in the morning</a:t>
            </a:r>
            <a:endParaRPr lang="en-US" sz="12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souks are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أَشَارَ إِلَى أَنَّ أَجْمَلَ الأَسْوَاقِ تَكُونُ صَبَاحًا.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reflection (Layer 4)?</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regret the trip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they not travelled, they would not have understood the culture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لَمْ أُسَافِرْ … لَمَا فَهِمْتُ ثَقَافَتَهَا.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waṣaltu · adraktu.</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tell a holiday story in layers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كُنْتَ قَدْ تَوَقَّعْتَ قَبْلَ الرِّحْلَةِ؟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حَدَثَ حِينَ وَصَلْتَ؟ وَمَا كَانَ رَدُّ فِعْلِكَ؟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لَمْ تُسَافِرْ، مَاذَا كُنْتَ سَتَفْقِدُ؟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كُنْتُ قَدْ تَوَقَّعْتُ ___ ، وَكُنْتُ قَدْ قَرَأْتُ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عِنْدَمَا وَصَلْتُ ___ ، وَفَاقَ ___ تَوَقُّعَاتِي.</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لَمْ أُسَافِرْ إِلَى ___ ، لَمَا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كُنْتَ قَدْ تَوَقَّعْتَ قَبْلَ الرِّحْلَةِ؟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had you expected before the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تَوَقَّعْتُ مَكَانًا عَادِيًّا، وَكُنْتُ قَدْ قَرَأْتُ عَنْهُ قَلِيلًا.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had expected an ordinary place, and I had read a little about it.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one sentence for each of the four layers.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sentence for each of the four layers.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Expand Layer 2 to five past-tense sentences with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expand Layer 2 to five past-tense sentences with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anecdote with both conditional types in Layer 4 and a reported-speech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four-layer anecdote with two past perfects, connectors, a reaction, both conditionals and a reported-speech clause.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لِحُسْنِ الحَظِّ، قَابَلْتُ ______ قَالَ إِنَّ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Fortunately, I met … who said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أَدْرَكْتُ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realised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لَمْ أُسَافِرْ، لَمَا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I not travelled, I would not have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أُتِيحَتْ لِيَ الفُرْصَةُ،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get the chance,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قَضَيْتُ إِجَازَتِي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spent my holiday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تَوَقَّعْتُ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expected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 ______ ، وَفَجْأَةً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arrived … and suddenly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فَاقَ المَكَانُ تَوَقُّعَاتِي لِأَنَّ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place exceeded my expectations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الأُرْدُنِّ  ·  مَرَّاكُشَ  ·  مَكَانًا عَادِيًّا  ·  فَجْرًا  ·  ظَهَرَتِ الخَزْنَةُ أَمَامِي  ·  سَمِعْتُ الأَذَانَ  ·  دَلِيلًا مَحَلِّيًّا  ·  الصُّوَرَ لَا تُنْصِفُ المَكَانَ  ·  غَيَّرَ نَظْرَتِي إِلَى التَّارِيخِ  ·  فَهِمْتُ ثَقَافَتَهُ  ·  سَأَعُودُ حَتْمًا  ·  ذِكْرَى لَا تُنْسَى</a:t>
            </a:r>
            <a:endParaRPr lang="ar-SA" sz="12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Write a holiday anecdote of one hundred and ten to one hundred and twenty words using the four layers. Layer 1: two past-perfect sentences. Layer 2: a past narrative with connectors. Layer 3: a reaction. Layer 4: one Type 1 and one Type 2 conditional. Include one reported-speech sentence.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past-perfect sentences (</a:t>
            </a:r>
            <a:pPr algn="l" indent="0" marL="0">
              <a:buNone/>
            </a:pPr>
            <a:r>
              <a:rPr lang="ar-SA" altLang="en-US" sz="1550" dirty="0">
                <a:solidFill>
                  <a:srgbClr val="1F2A37"/>
                </a:solidFill>
                <a:latin typeface="Amiri" pitchFamily="34" charset="0"/>
                <a:ea typeface="Amiri" pitchFamily="34" charset="-122"/>
                <a:cs typeface="Amiri" pitchFamily="34" charset="-120"/>
              </a:rPr>
              <a:t>كُنْتُ قَدْ</a:t>
            </a:r>
            <a:pPr algn="l" indent="0" marL="0">
              <a:buNone/>
            </a:pPr>
            <a:r>
              <a:rPr lang="en-US" sz="1200" dirty="0">
                <a:solidFill>
                  <a:srgbClr val="1F2A37"/>
                </a:solidFill>
                <a:latin typeface="Calibri" pitchFamily="34" charset="0"/>
                <a:ea typeface="Calibri" pitchFamily="34" charset="-122"/>
                <a:cs typeface="Calibri" pitchFamily="34" charset="-120"/>
              </a:rPr>
              <a:t> …) in Layer 1.</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 narrative with connectors (</a:t>
            </a:r>
            <a:pPr algn="l" indent="0" marL="0">
              <a:buNone/>
            </a:pPr>
            <a:r>
              <a:rPr lang="ar-SA" altLang="en-US" sz="1550" dirty="0">
                <a:solidFill>
                  <a:srgbClr val="1F2A37"/>
                </a:solidFill>
                <a:latin typeface="Amiri" pitchFamily="34" charset="0"/>
                <a:ea typeface="Amiri" pitchFamily="34" charset="-122"/>
                <a:cs typeface="Amiri" pitchFamily="34" charset="-120"/>
              </a:rPr>
              <a:t>فَجْأَةً، لِحُسْنِ الحَظِّ</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reaction (</a:t>
            </a:r>
            <a:pPr algn="l" indent="0" marL="0">
              <a:buNone/>
            </a:pPr>
            <a:r>
              <a:rPr lang="ar-SA" altLang="en-US" sz="1550" dirty="0">
                <a:solidFill>
                  <a:srgbClr val="1F2A37"/>
                </a:solidFill>
                <a:latin typeface="Amiri" pitchFamily="34" charset="0"/>
                <a:ea typeface="Amiri" pitchFamily="34" charset="-122"/>
                <a:cs typeface="Amiri" pitchFamily="34" charset="-120"/>
              </a:rPr>
              <a:t>أَدْرَكْتُ / فَاقَ تَوَقُّعَاتِي / غَيَّرَ نَظْرَتِي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and a Type 2 conditional, plus one reported-speech clause.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مُجَرَّدُ آثَارٍ قَدِيمَةٍ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just old ruins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وَمَشَيْتُ عَبْرَ المَمَرِّ الضَّيِّقِ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walked through the narrow passage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يَسْتَحِقُّ يَوْمًا كَامِلًا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deserves a whole day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 شَعَرْتُ بِهٰذَا الارْتِبَاطِ بِالمَاضِي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would not have felt this connection with the past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سَأَعُودُ لِأَكْتَشِفَ المَزِيدَ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return to discover more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قَضَيْتُ إِجَازَتِي العَامَ المَاضِيَ فِي الأُرْدُنِّ. كُنْتُ قَدْ حَجَزْتُ رِحْلَتِي قَبْلَ شَهْرٍ، وَكُنْتُ قَدْ تَوَقَّعْتُ أَنَّ البَتْرَاءَ مُجَرَّدُ آثَارٍ قَدِيمَةٍ. وَصَلْتُ فَجْرًا وَمَشَيْتُ عَبْرَ المَمَرِّ الضَّيِّقِ، وَفَجْأَةً ظَهَرَتِ الخَزْنَةُ أَمَامِي. لِحُسْنِ الحَظِّ، قَابَلْتُ دَلِيلًا مَحَلِّيًّا قَالَ إِنَّ هٰذَا المَكَانَ يَسْتَحِقُّ يَوْمًا كَامِلًا. أَدْرَكْتُ أَنَّ الصُّوَرَ لَا تُنْصِفُهُ، وَفَاقَتِ البَتْرَاءُ كُلَّ تَوَقُّعَاتِي وَغَيَّرَتْ نَظْرَتِي إِلَى التَّارِيخِ. لَوْ لَمْ أَزُرْ هٰذَا المَكَانَ، لَمَا شَعَرْتُ بِهٰذَا الارْتِبَاطِ بِالمَاضِي. وَإِذَا أُتِيحَتْ لِيَ الفُرْصَةُ، سَأَعُودُ لِأَكْتَشِفَ المَزِيدَ.</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spent my holiday last year in Jordan. I had booked my trip a month earlier, and I had expected Petra to be just old ruins. I arrived at dawn and walked through the narrow passage, and suddenly the Treasury appeared in front of me. Fortunately, I met a local guide who said that this place deserves a whole day. I realised that photos do not do it justice; Petra exceeded all my expectations and changed my view of history. Had I not visited this place, I would not have felt this connection with the past. And if I get the chance, I will return to discover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past perfects (Layer 1)</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narrative with fajʾatan / li-ḥusni l-ḥaẓẓ (Layer 2)</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adraktu anna · fāqat · ghayyarat (Layer 3)</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lam … lamā and idhā … sa- (Layer 4) + qāla inna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Layer 1 uses kuntu qad +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Layer 2 is in the simple past, with connectors.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weak verbs are right (zurtu · mashaytu · qaḍaytu).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reaction verb agrees with the place (fāqat al-batrāʾ).</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law lam + jussive … lamā + past; idhā …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to Layer 1 (before)?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كُنْتُ قَدْ سَمِعْتُ أَنَّ المَدِينَةَ سَاحِرَةٌ.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وَصَلْتُ وَزُرْتُ السُّوقَ.</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عُدْتُ، سَأَبْقَى أَطْوَلَ.</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Layer 3 reaction?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حَجَزْتُ الفُنْدُقَ.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فَاقَ المَكَانُ تَوَقُّعَاتِي.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سَأَعُودُ إِذَا اسْتَطَعْتُ.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لَوْ لَمْ أُسَافِرْ، لَمَا فَهِمْتُ الثَّقَافَةَ.</a:t>
            </a:r>
            <a:endParaRPr lang="ar-SA" sz="19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إِذَا سَافَرْتُ، سَأَفْهَمُ الثَّقَافَةَ.</a:t>
            </a:r>
            <a:endParaRPr lang="ar-SA" sz="19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سَافَرْتُ وَفَهِمْتُ الثَّقَافَةَ.</a:t>
            </a:r>
            <a:endParaRPr lang="ar-SA" sz="19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belongs to Layer 1 (before)?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سَمِعْتُ أَنَّ المَدِينَةَ سَاحِرَةٌ.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وَصَلْتُ وَزُرْتُ السُّوقَ.</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إِذَا عُدْتُ، سَأَبْقَى أَطْوَلَ.</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 قَدْ</a:t>
            </a:r>
            <a:pPr algn="l" indent="0" marL="0">
              <a:buNone/>
            </a:pPr>
            <a:r>
              <a:rPr lang="en-US" sz="1050" i="1" dirty="0">
                <a:solidFill>
                  <a:srgbClr val="8A6D1E"/>
                </a:solidFill>
                <a:latin typeface="Calibri" pitchFamily="34" charset="0"/>
                <a:ea typeface="Calibri" pitchFamily="34" charset="-122"/>
                <a:cs typeface="Calibri" pitchFamily="34" charset="-120"/>
              </a:rPr>
              <a:t> + past states a prior event.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Layer 3 reaction?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كُنْتُ قَدْ حَجَزْتُ الفُنْدُقَ.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فَاقَ المَكَانُ تَوَقُّعَاتِي.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سَأَعُودُ إِذَا اسْتَطَعْتُ.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فَاقَ تَوَقُّعَاتِي</a:t>
            </a:r>
            <a:pPr algn="l" indent="0" marL="0">
              <a:buNone/>
            </a:pPr>
            <a:r>
              <a:rPr lang="en-US" sz="1050" i="1" dirty="0">
                <a:solidFill>
                  <a:srgbClr val="8A6D1E"/>
                </a:solidFill>
                <a:latin typeface="Calibri" pitchFamily="34" charset="0"/>
                <a:ea typeface="Calibri" pitchFamily="34" charset="-122"/>
                <a:cs typeface="Calibri" pitchFamily="34" charset="-120"/>
              </a:rPr>
              <a:t> is a reaction.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34" charset="0"/>
                <a:ea typeface="Amiri" pitchFamily="34" charset="-122"/>
                <a:cs typeface="Amiri" pitchFamily="34" charset="-120"/>
              </a:rPr>
              <a:t>لَوْ لَمْ أُسَافِرْ، لَمَا فَهِمْتُ الثَّقَافَةَ.</a:t>
            </a:r>
            <a:endParaRPr lang="ar-SA" sz="19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34" charset="0"/>
                <a:ea typeface="Amiri" pitchFamily="34" charset="-122"/>
                <a:cs typeface="Amiri" pitchFamily="34" charset="-120"/>
              </a:rPr>
              <a:t>إِذَا سَافَرْتُ، سَأَفْهَمُ الثَّقَافَةَ.</a:t>
            </a:r>
            <a:endParaRPr lang="ar-SA" sz="19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34" charset="0"/>
                <a:ea typeface="Amiri" pitchFamily="34" charset="-122"/>
                <a:cs typeface="Amiri" pitchFamily="34" charset="-120"/>
              </a:rPr>
              <a:t>سَافَرْتُ وَفَهِمْتُ الثَّقَافَةَ.</a:t>
            </a:r>
            <a:endParaRPr lang="ar-SA" sz="19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لَمَا</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 reflection.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Reading: a holiday that changed a view</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قَضَيْتُ إِجَازَتِي العَامَ المَاضِيَ فِي الأُرْدُنِّ. كُنْتُ قَدْ تَوَقَّعْتُ أَنَّ البَتْرَاءَ مُجَرَّدُ آثَارٍ قَدِيمَةٍ، وَكُنْتُ قَدْ قَرَأْتُ عَنْهَا قَلِيلًا. وَصَلْتُ فَجْرًا، وَمَشَيْتُ عَبْرَ المَمَرِّ الضَّيِّقِ حَتَّى ظَهَرَتِ الخَزْنَةُ فَجْأَةً أَمَامِي. فِي تِلْكَ اللَّحْظَةِ، أَدْرَكْتُ أَنَّ الصُّوَرَ لَا تَنْقُلُ عَظَمَةَ المَكَانِ. فَاقَتِ البَتْرَاءُ كُلَّ تَوَقُّعَاتِي، وَغَيَّرَتْ نَظْرَتِي إِلَى التَّارِيخِ العَرَبِيِّ. وَقَابَلْتُ بَدَوِيًّا قَالَ إِنَّ أَجْدَادَهُ عَاشُوا هُنَا مُنْذُ قُرُونٍ. لَوْ لَمْ أَزُرْ هٰذَا المَكَانَ، لَمَا شَعَرْتُ بِهٰذَا الارْتِبَاطِ بِالمَاضِي. وَإِذَا عُدْتُ يَوْمًا، سَأَقْضِي وَقْتًا أَطْوَلَ.</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مُجَرَّدُ آثَارٍ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just ruins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فَجْرًا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dawn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المَمَرِّ الضَّيِّقِ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narrow passage (the Siq)</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الخَزْنَةُ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Treasury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تَنْقُلُ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 not convey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عَظَمَةَ المَكَانِ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grandeur of the place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بَدَوِيًّا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Bedouin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أَجْدَادَهُ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ancestors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مُنْذُ قُرُونٍ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centuries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الارْتِبَاطِ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connection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writer expected about Petra?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was a modern city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was just old ruins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as they walked through the passage?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got lost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turned back</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Treasury appeared suddenly before them</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realise (Layer 3)?</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Photos do not convey the grandeur of the place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place was small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photos were better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Bedouin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site is new</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ancestors had lived there for centuries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 had lived there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reflection?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they not visited, they would not have felt this bond with the past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regret the visit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changed</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writer expected about Petra?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it was a modern city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it was just old ruins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تَوَقَّعْتُ أَنَّ البَتْرَاءَ مُجَرَّدُ آثَارٍ قَدِيمَةٍ.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as they walked through the passage?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got lost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turned back</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Treasury appeared suddenly before them</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ظَهَرَتِ الخَزْنَةُ فَجْأَةً أَمَامِي.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realise (Layer 3)?</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Photos do not convey the grandeur of the place</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place was small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photos were better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أَدْرَكْتُ أَنَّ الصُّوَرَ لَا تَنْقُلُ عَظَمَةَ المَكَانِ.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Bedouin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site is new</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His ancestors had lived there for centuries</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 had lived there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إِنَّ أَجْدَادَهُ عَاشُوا هُنَا مُنْذُ قُرُونٍ.</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reflection?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they not visited, they would not have felt this bond with the past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regret the visit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changed</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لَوْ لَمْ أَزُرْ هٰذَا المَكَانَ، لَمَا شَعَرْتُ بِهٰذَا الارْتِبَاطِ بِالمَاضِي.</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Narrative Mission — Layers, Reactions and Reflection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Layer: «</a:t>
            </a:r>
            <a:pPr algn="l" indent="0" marL="0">
              <a:buNone/>
            </a:pPr>
            <a:r>
              <a:rPr lang="ar-SA" altLang="en-US" sz="1650" b="1" dirty="0">
                <a:solidFill>
                  <a:srgbClr val="1B3B6F"/>
                </a:solidFill>
                <a:latin typeface="Amiri" pitchFamily="34" charset="0"/>
                <a:ea typeface="Amiri" pitchFamily="34" charset="-122"/>
                <a:cs typeface="Amiri" pitchFamily="34" charset="-120"/>
              </a:rPr>
              <a:t>كُنْتُ قَدْ قَرَأْتُ عَنِ المَدِينَةِ</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2 (during)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1 (before)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4 (reflection)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Layer: «</a:t>
            </a:r>
            <a:pPr algn="l" indent="0" marL="0">
              <a:buNone/>
            </a:pPr>
            <a:r>
              <a:rPr lang="ar-SA" altLang="en-US" sz="1650" b="1" dirty="0">
                <a:solidFill>
                  <a:srgbClr val="1B3B6F"/>
                </a:solidFill>
                <a:latin typeface="Amiri" pitchFamily="34" charset="0"/>
                <a:ea typeface="Amiri" pitchFamily="34" charset="-122"/>
                <a:cs typeface="Amiri" pitchFamily="34" charset="-120"/>
              </a:rPr>
              <a:t>وَصَلْتُ وَتَذَوَّقْتُ الطَّعَامَ</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2 (during)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1 (before)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3 (reaction)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Layer: «</a:t>
            </a:r>
            <a:pPr algn="l" indent="0" marL="0">
              <a:buNone/>
            </a:pPr>
            <a:r>
              <a:rPr lang="ar-SA" altLang="en-US" sz="1650" b="1" dirty="0">
                <a:solidFill>
                  <a:srgbClr val="1B3B6F"/>
                </a:solidFill>
                <a:latin typeface="Amiri" pitchFamily="34" charset="0"/>
                <a:ea typeface="Amiri" pitchFamily="34" charset="-122"/>
                <a:cs typeface="Amiri" pitchFamily="34" charset="-120"/>
              </a:rPr>
              <a:t>فَاقَ المَكَانُ تَوَقُّعَاتِي</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1 (before)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2 (during)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Layer 3 (reaction)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Reflection: which is a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سَافَرْتُ، سَأَفْهَمُ.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 فَفَهِمْتُ.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لَمْ أُسَافِرْ، لَمَا فَهِمْتُ.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سَمِعْتُ أَنَّ البَاعَةَ يَتَفَاوَضُونَ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Connector: which adds drama?</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فَجْأَةً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حَيْثُ</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Layer: «</a:t>
            </a:r>
            <a:pPr algn="l" indent="0" marL="0">
              <a:buNone/>
            </a:pPr>
            <a:r>
              <a:rPr lang="ar-SA" altLang="en-US" sz="1650" b="1" dirty="0">
                <a:solidFill>
                  <a:srgbClr val="1B3B6F"/>
                </a:solidFill>
                <a:latin typeface="Amiri" pitchFamily="34" charset="0"/>
                <a:ea typeface="Amiri" pitchFamily="34" charset="-122"/>
                <a:cs typeface="Amiri" pitchFamily="34" charset="-120"/>
              </a:rPr>
              <a:t>كُنْتُ قَدْ قَرَأْتُ عَنِ المَدِينَةِ</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Layer 2 (during)</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Layer 1 (before)</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Layer 4 (reflection)</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opens the before-layer.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Layer: «</a:t>
            </a:r>
            <a:pPr algn="l" indent="0" marL="0">
              <a:buNone/>
            </a:pPr>
            <a:r>
              <a:rPr lang="ar-SA" altLang="en-US" sz="1650" b="1" dirty="0">
                <a:solidFill>
                  <a:srgbClr val="1B3B6F"/>
                </a:solidFill>
                <a:latin typeface="Amiri" pitchFamily="34" charset="0"/>
                <a:ea typeface="Amiri" pitchFamily="34" charset="-122"/>
                <a:cs typeface="Amiri" pitchFamily="34" charset="-120"/>
              </a:rPr>
              <a:t>وَصَلْتُ وَتَذَوَّقْتُ الطَّعَامَ</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Layer 2 (during)</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Layer 1 (before)</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Layer 3 (reaction)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simple past narrates the holiday itself.</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Layer: «</a:t>
            </a:r>
            <a:pPr algn="l" indent="0" marL="0">
              <a:buNone/>
            </a:pPr>
            <a:r>
              <a:rPr lang="ar-SA" altLang="en-US" sz="1650" b="1" dirty="0">
                <a:solidFill>
                  <a:srgbClr val="1B3B6F"/>
                </a:solidFill>
                <a:latin typeface="Amiri" pitchFamily="34" charset="0"/>
                <a:ea typeface="Amiri" pitchFamily="34" charset="-122"/>
                <a:cs typeface="Amiri" pitchFamily="34" charset="-120"/>
              </a:rPr>
              <a:t>فَاقَ المَكَانُ تَوَقُّعَاتِي</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Layer 1 (before)</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Layer 2 (during)</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Layer 3 (reaction)</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reaction verb is Layer 3.</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Reflection: which is a Type 2 counterfactual?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سَافَرْتُ، سَأَفْهَمُ.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سَافَرْتُ فَفَهِمْتُ.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لَمْ أُسَافِرْ، لَمَا فَهِمْتُ.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لَمَا</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 reflection.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سَمِعْتُ أَنَّ البَاعَةَ يَتَفَاوَضُونَ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is </a:t>
            </a:r>
            <a:pPr algn="l" indent="0" marL="0">
              <a:buNone/>
            </a:pPr>
            <a:r>
              <a:rPr lang="ar-SA" altLang="en-US" sz="1350" dirty="0">
                <a:solidFill>
                  <a:srgbClr val="8A6D1E"/>
                </a:solidFill>
                <a:latin typeface="Amiri" pitchFamily="34" charset="0"/>
                <a:ea typeface="Amiri" pitchFamily="34" charset="-122"/>
                <a:cs typeface="Amiri" pitchFamily="34" charset="-120"/>
              </a:rPr>
              <a:t>كُنْتُ قَدْ سَمِعْتُ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Connector: which adds drama?</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فَجْأَةً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حَيْثُ</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فَجْأَةً</a:t>
            </a:r>
            <a:pPr algn="l" indent="0" marL="0">
              <a:buNone/>
            </a:pPr>
            <a:r>
              <a:rPr lang="en-US" sz="1050" i="1" dirty="0">
                <a:solidFill>
                  <a:srgbClr val="8A6D1E"/>
                </a:solidFill>
                <a:latin typeface="Calibri" pitchFamily="34" charset="0"/>
                <a:ea typeface="Calibri" pitchFamily="34" charset="-122"/>
                <a:cs typeface="Calibri" pitchFamily="34" charset="-120"/>
              </a:rPr>
              <a:t> adds narrative drama.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P3-L04 · Arabic-Speaking Destinations — Culture, Geography and Tourism</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وِجْهَةٌ سِيَاحِيَّةٌ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tourist destination</a:t>
            </a:r>
            <a:pPr indent="0" marL="0">
              <a:buNone/>
            </a:pPr>
            <a:r>
              <a:rPr lang="en-US" sz="1000" i="1" dirty="0">
                <a:solidFill>
                  <a:srgbClr val="5A6472"/>
                </a:solidFill>
                <a:latin typeface="Calibri" pitchFamily="34" charset="0"/>
                <a:ea typeface="Calibri" pitchFamily="34" charset="-122"/>
                <a:cs typeface="Calibri" pitchFamily="34" charset="-120"/>
              </a:rPr>
              <a:t>  pl. وِجْهَاتٌ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مَعْلَمٌ تُرَاثِيٌّ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heritage landmark</a:t>
            </a:r>
            <a:pPr indent="0" marL="0">
              <a:buNone/>
            </a:pPr>
            <a:r>
              <a:rPr lang="en-US" sz="1000" i="1" dirty="0">
                <a:solidFill>
                  <a:srgbClr val="5A6472"/>
                </a:solidFill>
                <a:latin typeface="Calibri" pitchFamily="34" charset="0"/>
                <a:ea typeface="Calibri" pitchFamily="34" charset="-122"/>
                <a:cs typeface="Calibri" pitchFamily="34" charset="-120"/>
              </a:rPr>
              <a:t>  pl. مَعَالِمُ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يَسْتَقْطِبُ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attracts</a:t>
            </a:r>
            <a:pPr indent="0" marL="0">
              <a:buNone/>
            </a:pPr>
            <a:r>
              <a:rPr lang="en-US" sz="1000" i="1" dirty="0">
                <a:solidFill>
                  <a:srgbClr val="5A6472"/>
                </a:solidFill>
                <a:latin typeface="Calibri" pitchFamily="34" charset="0"/>
                <a:ea typeface="Calibri" pitchFamily="34" charset="-122"/>
                <a:cs typeface="Calibri" pitchFamily="34" charset="-120"/>
              </a:rPr>
              <a:t>  تَسْتَقْطِبُ she / it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يَتَمَيَّزُ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distinguished by</a:t>
            </a:r>
            <a:pPr indent="0" marL="0">
              <a:buNone/>
            </a:pPr>
            <a:r>
              <a:rPr lang="en-US" sz="1000" i="1" dirty="0">
                <a:solidFill>
                  <a:srgbClr val="5A6472"/>
                </a:solidFill>
                <a:latin typeface="Calibri" pitchFamily="34" charset="0"/>
                <a:ea typeface="Calibri" pitchFamily="34" charset="-122"/>
                <a:cs typeface="Calibri" pitchFamily="34" charset="-120"/>
              </a:rPr>
              <a:t>  تَتَمَيَّزُ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يَشْتَهِرُ بِـ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famous for</a:t>
            </a:r>
            <a:pPr indent="0" marL="0">
              <a:buNone/>
            </a:pPr>
            <a:r>
              <a:rPr lang="en-US" sz="1000" i="1" dirty="0">
                <a:solidFill>
                  <a:srgbClr val="5A6472"/>
                </a:solidFill>
                <a:latin typeface="Calibri" pitchFamily="34" charset="0"/>
                <a:ea typeface="Calibri" pitchFamily="34" charset="-122"/>
                <a:cs typeface="Calibri" pitchFamily="34" charset="-120"/>
              </a:rPr>
              <a:t>  تَشْتَهِرُ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Arab city would you most like to visit, and what is it famous for?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أَوَدُّ أَنْ أَزُورَ ______ ، لِأَنَّهَا تَشْتَهِرُ بِمَعَالِمِهَا مِثْلِ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sentence for each of the four layers about a trip (real or imagined).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Expand Layer 2 to five past-tense sentences with connectors (70–90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110–120-word four-layer holiday anecdote.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P3-L04 · Arabic-Speaking Destinations — Culture, Geography and Tourism</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الوِجْهَاتُ النَّاطِقَةُ بِالعَرَبِيَّةِ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four layers — kuntu qad (before) · waṣaltu, zurtu (during) · adraktu anna, fāqa tawaqquʿātī (reaction) · idhā … sa- and law lam … lamā (reflection).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P3-L03 · Describing Past Holidays — Advanced Narrative</dc:title>
  <dc:subject>PptxGenJS Presentation</dc:subject>
  <dc:creator>Al Madina Online School · Arabic Department</dc:creator>
  <cp:lastModifiedBy>Al Madina Online School · Arabic Department</cp:lastModifiedBy>
  <cp:revision>1</cp:revision>
  <dcterms:created xsi:type="dcterms:W3CDTF">2026-10-10T15:09:51Z</dcterms:created>
  <dcterms:modified xsi:type="dcterms:W3CDTF">2026-10-10T15:09:51Z</dcterms:modified>
</cp:coreProperties>
</file>