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P3 Travel, Holidays and Transport › P3-L03. The website lesson “Describing Past Holidays — Advanced Narrative”: vocabulary, grammar rules and quiz, patterns, common mistakes, sorter, listening, reading, speaking prompts and model, writing task and model, differentiation, final check and the lesson mission. Picture match: website visual game “Describing Past Holidays — Advanced Narrative”.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one sentence for each of the four layers (website Core). Develop: expand Layer 2 to five past-tense sentences with connectors. Stretch: the website 110–120-word anecdote with both conditionals and a reported-speech clause.
• Draw the four layers as a timeline: BEFORE (kuntu qad) → DURING (past) → REACTION (past) → NOW (idhā / law). Students colour-code their own story.
• Not everyone travels: students may tell a story about a day trip, a visit to relatives, Umrah, or an imagined journey — the grammar is the same.
• Cultural link (optional): Ibn Baṭṭūṭa of Tangier wrote the most famous Arabic travel narrative (الرِّحْلَةُ, 14th century) — the four layers are exactly how he tells his stories.
• Grammar links: past perfect (P2-L03) · Type 1 (P1-L03) · Type 2 (P2-L06) · reported speech (P2-L02) · lam + jussive (D units).
• TEACHER-WRITTEN ITEMS: waṣl alif shown without a kasra (الارْتِبَاطِ); rule headings and formulas in English and transliteration; sorter headings in English; the I / she / we past table and the reaction table are teacher-built from the website texts. All other website items, including the visual game,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P3-L02. Questions 4–5 retrieve yuqīm fī and the past perfect (P3-L02) — today kuntu qad becomes Layer 1 of every story.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story is not a list. Before → during → reaction → reflection: four layers, four tenses.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تجربہ، اثر and حسن (in حسنِ اتفاق) are shared. Urdu says سفرنامہ for a travelogue; the Arabic genre is الرِّحْلَةُ. CAREFUL: Urdu ذکر means “mention / remembrance of Allah”; Arabic ذِكْرَى is “a memory” (ذِكْرَى لَا تُنْسَى = an unforgettable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Narrative vocabulary (website vocabulary (1 of 2)). Hear → Say → See → Use. Transliteration is printed for Core students (cover it for Develop/Stretch).
Narrative vocabulary: the nouns of a holiday story. قَضَى إِجَازَتَهُ فِي (spent his holiday in) is a weak verb: قَضَيْتُ (I) · قَضَتْ (she).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Narrative vocabulary (website vocabulary (2 of 2)). Hear → Say → See → Use. Transliteration is printed for Core students (cover it for Develop/Stretch).
Narrative vocabulary: the nouns of a holiday story. قَضَى إِجَازَتَهُ فِي (spent his holiday in) is a weak verb: قَضَيْتُ (I) · قَضَتْ (she).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Reactions and reflection (website vocabulary (1 of 2)). Hear → Say → See → Use. Transliteration is printed for Core students (cover it for Develop/Stretch).
Reactions and reflection: Layer 3. Most are past verbs whose SUBJECT is the place: فَاقَ المَكَانُ تَوَقُّعَاتِي · فَاقَتِ البَتْرَاءُ … · أَعْجَبَتْنِي المَدِينَةُ.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Reactions and reflection (website vocabulary (2 of 2)). Hear → Say → See → Use. Transliteration is printed for Core students (cover it for Develop/Stretch).
FLEX: teach if time allows; otherwise these are on the website vocabulary tab for homework.
Reactions and reflection: Layer 3. Most are past verbs whose SUBJECT is the place: فَاقَ المَكَانُ تَوَقُّعَاتِي · فَاقَتِ البَتْرَاءُ … · أَعْجَبَتْنِي المَدِينَةُ.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Narrative connectors (website vocabulary (1 of 2)). Hear → Say → See → Use. Transliteration is printed for Core students (cover it for Develop/Stretch).
FLEX: teach if time allows; otherwise these are on the website vocabulary tab for homework.
Narrative connectors: they turn a list of events into a story. قِيلَ إِنَّ (it is said that) is the passive of قَالَ — still followed by إِنَّ.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Narrative connectors (website vocabulary (2 of 2)). Hear → Say → See → Use. Transliteration is printed for Core students (cover it for Develop/Stretch).
FLEX: teach if time allows; otherwise these are on the website vocabulary tab for homework.
Narrative connectors: they turn a list of events into a story. قِيلَ إِنَّ (it is said that) is the passive of قَالَ — still followed by إِنَّ.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“Layer 1–4”, the website table and teaching point “Four temporal layers build a rich narrative”. All four examples are from the website listening.
Website mistake 1: سَمِعْتُ أَنَّ البَاعَةَ يَتَفَاوَضُونَ قَبْلَ زِيَارَتِي ✗ → كُنْتُ قَدْ سَمِعْتُ … (an event BEFORE the holiday takes the past perfect).
Website challenge: “Write one sentence for each of the four layers about a real or imagined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Layer 2 verbs from the website listening and reading (وَصَلْتُ · زُرْتُ · مَشَيْتُ · قَضَيْتُ · تَذَوَّقْتُ · قَابَلْتُ) in the I / she / we forms students need for their own story.
Watch the weak verbs: زُرْتُ (zurtu, short u) · مَشَيْتُ → مَشَتْ (the y drops) · قَضَيْتُ → قَضَتْ.
Connectors for Layer 2 (website vocabulary): فِي البِدَايَةِ · بَعْدَ ذٰلِكَ · فَجْأَةً · فِي تِلْكَ اللَّحْظَةِ · لِحُسْنِ الحَظِّ · فِي النِّهَايَةِ.
Develop target (website): five past-tense sentences with at least three connectors.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website rule “Layer 3 — reaction” and teaching point “Reaction verbs carry the emotion … Pair one with a contrast: كُنْتُ قَدْ تَوَقَّعْتُ … لٰكِنَّ الوَاقِعَ …”. Rows from the website listening, reading and quiz 8.
Feminine subjects: فَاقَتِ البَتْرَاءُ · غَيَّرَتِ الرِّحْلَةُ · أَعْجَبَتْنِي المَدِينَةُ (helping kasra before al-).
أَعْجَبَنِي works like Urdu “mujhe pasand āyā”: the thing liked is the subject, the person is the object pronoun -nī.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website rule “Layer 4 — reflection” (real future intention + counterfactual) and website quiz 7 (قِيلَ إِنَّ is impersonal reported speech).
The negative Type 2 has two negatives: لَوْ + لَمْ + jussive (لَمْ أُسَافِرْ · لَمْ أَزُرْ — the hollow verb shortens: zur) → لَمَا + past (لَمَا فَهِمْتُ · لَمَا شَعَرْتُ).
Card 1: أُتِيحَتْ is passive past (“was made available”) — after إِذَا it means “if I get the chance”.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“Past perfect (before) → past narrative (during) → past reaction → conditional reflection, with a reported-speech thread.”
• Layer 1 — before: What you had done or heard before the holiday.
• Layer 2 — during: The main story in the simple past.
• Layer 3 — reaction: Your realisation or feeling.
• Layer 4 — reflection: A real future intention and a counterfactual.
Website common error: Telling the whole story in the simple past with no past perfect before it, or using a Type 1 where a counterfactual (لَوْ) is meant in the reflection.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layer by layer: “Before I went: kuntu qad tawaqqaʿtu. On the day: waṣaltu, mashaytu, and a drama connector — fajʾatan. My reaction: adraktu anna … fāqat — Petra is feminine. Now: law lam azur … lamā shaʿartu — two negatives.”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Describing Past Holidays — Advanced Narrative”)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 Foundation past-tense match). Then turn each card into a richer Layer 2 or Layer 1 sentence: سَافَرْتُ إِلَى مِصْرَ → كُنْتُ قَدْ حَلُمْتُ بِزِيَارَةِ مِصْرَ مُنْذُ صِغَرِي، وَفِي الصَّيْفِ المَاضِي سَافَرْتُ إِلَيْهَا أَخِيرًا · سَبَحْتُ فِي البَحْرِ → فَجْأَةً رَأَيْتُ سَمَكًا مُلَوَّنًا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Describing Past Holidays — Advanced Narrative”)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 Foundation past-tense match). Then turn each card into a richer Layer 2 or Layer 1 sentence: سَافَرْتُ إِلَى مِصْرَ → كُنْتُ قَدْ حَلُمْتُ بِزِيَارَةِ مِصْرَ مُنْذُ صِغَرِي، وَفِي الصَّيْفِ المَاضِي سَافَرْتُ إِلَيْهَا أَخِيرًا · سَبَحْتُ فِي البَحْرِ → فَجْأَةً رَأَيْتُ سَمَكًا مُلَوَّنًا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the website live builder: “Build a four-layer anecdote from a before-clause, a during-clause and a reflection.” Website feedback: any three different combinations work.
Core: read row 1 across. Develop: retell a combination as “she” (كَانَتْ قَدْ قَرَأَتْ … فَوَصَلَتْ …). Stretch: add a Layer 3 reaction between columns 2 and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order one card from each column into a mini-story and add a connector between each: فِي البِدَايَةِ … فَجْأَةً … فِي النِّهَايَةِ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order one card from each column into a mini-story and add a connector between each: فِي البِدَايَةِ … فَجْأَةً … فِي النِّهَايَةِ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3. Develop / Stretch: all 5 — and label each sentence you hear with its layer (1–4).
Listen 1: just listen. Listen 2: note answers. Then chat the letters.
Support: after the second listening, show the read-along slide (Arabic + English, line by line) for Core students.
SCRIPT (read aloud):
يَرْوِي المُسَافِرُ: كُنْتُ قَدْ قَرَأْتُ الكَثِيرَ عَنْ مَرَّاكُشَ قَبْلَ زِيَارَتِي، وَكُنْتُ قَدْ سَمِعْتُ أَنَّ البَاعَةَ يَتَفَاوَضُونَ بِشِدَّةٍ. وَصَلْتُ إِلَى المَدِينَةِ القَدِيمَةِ وَانْبَهَرْتُ بِجَمَالِهَا. فِي تِلْكَ اللَّحْظَةِ، سَمِعْتُ الأَذَانَ يَمْلَأُ السَّمَاءَ، وَتَذَوَّقْتُ طَعَامًا لَمْ أُجَرِّبْهُ مِنْ قَبْلُ. أَدْرَكْتُ أَنَّ الصُّوَرَ لَا تُنْصِفُ هٰذَا المَكَانَ، وَفَاقَ سِحْرُ الأَزِقَّةِ تَوَقُّعَاتِي. لِحُسْنِ الحَظِّ، قَابَلْتُ دَلِيلًا مَحَلِّيًّا أَشَارَ إِلَى أَنَّ أَجْمَلَ الأَسْوَاقِ تَكُونُ صَبَاحًا. لَوْ لَمْ أُسَافِرْ إِلَى هٰذِهِ المَدِينَةِ، لَمَا فَهِمْتُ ثَقَافَتَهَا. وَإِذَا أُتِيحَتْ لِيَ الفُرْصَةُ، سَأَعُودُ حَتْمًا.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 كَانَ رَدُّ فِعْلِكَ؟ (Layer 3)
B: فَاقَ المَكَانُ تَوَقُّعَاتِي وَغَيَّرَ نَظْرَتِي، وَلَوْ لَمْ أُسَافِرْ لَمَا فَهِمْتُ سِحْرَهُ. (Reaction plus Type 2 reflection)
Website prompts and model. Pairs: interviewer / traveller; the interviewer holds up 1–4 fingers to ask for a layer. To a girl: كُنْتِ قَدْ تَوَقَّعْتِ · وَصَلْتِ · رَدُّ فِعْلِكِ · لَمْ تُسَافِرِي · كُنْتِ سَتَفْقِدِينَ.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one sentence for each of the four layers. · Develop — Expand Layer 2 to five past-tense sentences with connectors. · Stretch — Write a full anecdote with both conditional types in Layer 4 and a reported-speech clause.
Website writing task (Stretch): Write a holiday anecdote of one hundred and ten to one hundred and twenty words using the four layers. Layer 1: two past-perfect sentences. Layer 2: a past narrative with connectors. Layer 3: a reaction. Layer 4: one Type 1 and one Type 2 conditional. Include one reported-speech sentence.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Evidence: كُنْتُ قَدْ حَجَزْتُ · كُنْتُ قَدْ تَوَقَّعْتُ (L1) · وَصَلْتُ · مَشَيْتُ · فَجْأَةً ظَهَرَتْ · لِحُسْنِ الحَظِّ، قَابَلْتُ … قَالَ إِنَّ (L2) · أَدْرَكْتُ أَنَّ · فَاقَتْ · غَيَّرَتْ نَظْرَتِي (L3) · لَوْ لَمْ أَزُرْ … لَمَا شَعَرْتُ · إِذَا أُتِيحَتْ … سَأَعُودُ (L4).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(P3-L04 · Arabic-Speaking Destinations — Culture, Geography and Tourism) will spend class time USING this language, so students prepare it tonight — short, simple, easy to access (school guidance: “Simple, Short, Interesting, Relevant, Easy to access”). The five words come from the website P3-L04 vocabulary (Arabic-speaking destinations).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P3  ·  P3-L03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P3-L03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Describing Past Holidays — Advanced Narrative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وَصْفُ الإِجَازَاتِ المَاضِيَةِ — السَّرْدُ المُتَقَدِّمُ</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Tell a holiday story in four layers: what you had expected (kuntu qad), what happened (the past with connectors), how you reacted (fāqa tawaqquʿātī · adraktu anna) and what you think now (idhā … sa- and law lam … lamā).</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P3-L03 · Progression P3 · Travel, Holidays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P3 › P3-L03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Four layers, past narrative with weak verbs, reaction verbs, law lam … lamā.</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Match past activities, build a four-layer anecdote, sort by layer.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P3-L04.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ذِكْرَى لَا تُنْسَى</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lost memory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unforgettable memory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short visit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مُغَامَرَةٌ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adventure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surprise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discovery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صَدْمَةٌ ثَقَافِيَّةٌ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cultural festival</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museum</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culture shock</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أَقَمْتُ</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شَقَّةٍ مَفْرُوشَةٍ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past perfect.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كُنْتُ قَدْ حَجَزْتُ الفُنْدُقَ.</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سَأَحْجِزُ الفُنْدُقَ.</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أَحْجِزُ الفُنْدُقَ.</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ذِكْرَى لَا تُنْسَى</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lost memory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unforgettable memory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short visit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(P3-L02).</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مُغَامَرَةٌ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adventure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surprise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discovery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(P3-L02).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صَدْمَةٌ ثَقَافِيَّةٌ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cultural festival</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museum</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culture shock</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(P3-L02).</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أَقَمْتُ</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شَقَّةٍ مَفْرُوشَةٍ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P3-L02: yuqīm fī.</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past perfect.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كُنْتُ قَدْ حَجَزْتُ الفُنْدُقَ.</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سَأَحْجِزُ الفُنْدُقَ.</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أَحْجِزُ الفُنْدُقَ.</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P3-L02: kuntu qad ḥajaztu.</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story is not a list. Before → during → reaction → reflection: four layers, four tenses.</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D6336C"/>
                </a:solidFill>
                <a:latin typeface="Amiri" pitchFamily="2" charset="-78"/>
                <a:cs typeface="Amiri" pitchFamily="2" charset="-78"/>
              </a:rPr>
              <a:t>كُنْتُ قَدْ تَوَقَّعْتُ</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1D5FBF"/>
                </a:solidFill>
                <a:latin typeface="Amiri" pitchFamily="2" charset="-78"/>
                <a:cs typeface="Amiri" pitchFamily="2" charset="-78"/>
              </a:rPr>
              <a:t>وَصَلْتُ</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0E7C86"/>
                </a:solidFill>
                <a:latin typeface="Amiri" pitchFamily="2" charset="-78"/>
                <a:cs typeface="Amiri" pitchFamily="2" charset="-78"/>
              </a:rPr>
              <a:t>فَاقَ تَوَقُّعَاتِي</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C77700"/>
                </a:solidFill>
                <a:latin typeface="Amiri" pitchFamily="2" charset="-78"/>
                <a:cs typeface="Amiri" pitchFamily="2" charset="-78"/>
              </a:rPr>
              <a:t>لَوْ لَمْ أُسَافِرْ، لَمَا</a:t>
            </a:r>
            <a:pPr rtl="1" algn="ctr" indent="0" marL="0">
              <a:lnSpc>
                <a:spcPct val="120000"/>
              </a:lnSpc>
              <a:buNone/>
            </a:pPr>
            <a:r>
              <a:rPr lang="ar-SA" altLang="en-US" sz="1950" b="1" dirty="0">
                <a:solidFill>
                  <a:srgbClr val="1B3B6F"/>
                </a:solidFill>
                <a:latin typeface="Amiri" pitchFamily="2" charset="-78"/>
                <a:cs typeface="Amiri" pitchFamily="2" charset="-78"/>
              </a:rPr>
              <a:t> …</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past perfect for what happened before the holiday.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Narrate the holiday itself in the past with connectors.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Express a reaction with adraktu, fāqa tawaqquʿātī, ghayyara naẓratī.</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Close with a Type 1 and a Type 2 reflection.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one sentence for each layer.</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open with kuntu qad + past.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narrate five past events with connectors.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react with fāqa tawaqquʿātī / adraktu anna.</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reflect with law lam … lamā and idhā … sa-.</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add an impersonal qīla inna.</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Narrative vocabulary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Reactions and reflection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Narrative connectors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تَجْرِبَةٌ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‎تجربہ‎ </a:t>
            </a:r>
            <a:pPr indent="0" marL="0">
              <a:buNone/>
            </a:pPr>
            <a:r>
              <a:rPr lang="en-US" sz="950" b="1" dirty="0">
                <a:solidFill>
                  <a:srgbClr val="2E8B57"/>
                </a:solidFill>
                <a:latin typeface="Calibri" pitchFamily="34" charset="0"/>
                <a:cs typeface="Amiri" pitchFamily="2" charset="-78"/>
              </a:rPr>
              <a:t> tajriba · an experience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رِحْلَةٌ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‎سفرنامہ‎ </a:t>
            </a:r>
            <a:pPr indent="0" marL="0">
              <a:buNone/>
            </a:pPr>
            <a:r>
              <a:rPr lang="en-US" sz="950" b="1" dirty="0">
                <a:solidFill>
                  <a:srgbClr val="2E8B57"/>
                </a:solidFill>
                <a:latin typeface="Calibri" pitchFamily="34" charset="0"/>
                <a:cs typeface="Amiri" pitchFamily="2" charset="-78"/>
              </a:rPr>
              <a:t> safarnāma · a journey · a travelogue (Ibn Baṭṭūṭa’s Riḥla)</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لِحُسْنِ الحَظِّ</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‎حسنِ اتفاق‎ </a:t>
            </a:r>
            <a:pPr indent="0" marL="0">
              <a:buNone/>
            </a:pPr>
            <a:r>
              <a:rPr lang="en-US" sz="950" b="1" dirty="0">
                <a:solidFill>
                  <a:srgbClr val="2E8B57"/>
                </a:solidFill>
                <a:latin typeface="Calibri" pitchFamily="34" charset="0"/>
                <a:cs typeface="Amiri" pitchFamily="2" charset="-78"/>
              </a:rPr>
              <a:t> husn-e-ittifāq · fortunately · by good chance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أَثَّرَ فِي · أَثَرٌ</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‎اثر‎ </a:t>
            </a:r>
            <a:pPr indent="0" marL="0">
              <a:buNone/>
            </a:pPr>
            <a:r>
              <a:rPr lang="en-US" sz="950" b="1" dirty="0">
                <a:solidFill>
                  <a:srgbClr val="2E8B57"/>
                </a:solidFill>
                <a:latin typeface="Calibri" pitchFamily="34" charset="0"/>
                <a:cs typeface="Amiri" pitchFamily="2" charset="-78"/>
              </a:rPr>
              <a:t> asar · affected · an effect</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ذِكْرَى</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‎یاد · ذکر‎ </a:t>
            </a:r>
            <a:pPr indent="0" marL="0">
              <a:buNone/>
            </a:pPr>
            <a:r>
              <a:rPr lang="en-US" sz="950" b="1" dirty="0">
                <a:solidFill>
                  <a:srgbClr val="2E8B57"/>
                </a:solidFill>
                <a:latin typeface="Calibri" pitchFamily="34" charset="0"/>
                <a:cs typeface="Amiri" pitchFamily="2" charset="-78"/>
              </a:rPr>
              <a:t> zikr · a memory (Urdu ذکر = mention)</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Narrative vocabulary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I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قَضَى إِجَازَتَهُ فِي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spent his holiday in</a:t>
            </a:r>
            <a:endParaRPr lang="en-US" sz="1350" dirty="0"/>
          </a:p>
          <a:p>
            <a:pPr indent="0" marL="0">
              <a:buNone/>
            </a:pPr>
            <a:r>
              <a:rPr lang="en-US" sz="1100" i="1" dirty="0">
                <a:solidFill>
                  <a:srgbClr val="5A6472"/>
                </a:solidFill>
                <a:latin typeface="Calibri" pitchFamily="34" charset="0"/>
                <a:cs typeface="Amiri" pitchFamily="2" charset="-78"/>
              </a:rPr>
              <a:t>qa-ḍā i-jā-za-ta-hu fī</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قَضَتْ إِجَازَتَهَا</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قَضَيْتُ إِجَازَتِي</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ذِكْرَى لَا تُنْسَى</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unforgettable memory</a:t>
            </a:r>
            <a:endParaRPr lang="en-US" sz="1350" dirty="0"/>
          </a:p>
          <a:p>
            <a:pPr indent="0" marL="0">
              <a:buNone/>
            </a:pPr>
            <a:r>
              <a:rPr lang="en-US" sz="1100" i="1" dirty="0">
                <a:solidFill>
                  <a:srgbClr val="5A6472"/>
                </a:solidFill>
                <a:latin typeface="Calibri" pitchFamily="34" charset="0"/>
                <a:cs typeface="Amiri" pitchFamily="2" charset="-78"/>
              </a:rPr>
              <a:t>dhik-rā lā tun-sā</a:t>
            </a:r>
            <a:endParaRPr lang="en-US" sz="1350" dirty="0"/>
          </a:p>
        </p:txBody>
      </p:sp>
      <p:sp>
        <p:nvSpPr>
          <p:cNvPr id="39" name="Shape 36"/>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ذِكْرَيَاتٌ لَا تُنْسَى</a:t>
            </a:r>
            <a:endParaRPr lang="ar-SA" sz="1500" dirty="0"/>
          </a:p>
        </p:txBody>
      </p:sp>
      <p:sp>
        <p:nvSpPr>
          <p:cNvPr id="42" name="Shape 3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1920240"/>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5" name="Shape 42"/>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7" name="Shape 4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تَجْرِبَةٌ ثَرِيَّةٌ</a:t>
            </a:r>
            <a:endParaRPr lang="ar-SA" sz="3000" dirty="0"/>
          </a:p>
        </p:txBody>
      </p:sp>
      <p:sp>
        <p:nvSpPr>
          <p:cNvPr id="50" name="Text 4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enriching experience</a:t>
            </a:r>
            <a:endParaRPr lang="en-US" sz="1350" dirty="0"/>
          </a:p>
          <a:p>
            <a:pPr indent="0" marL="0">
              <a:buNone/>
            </a:pPr>
            <a:r>
              <a:rPr lang="en-US" sz="1100" i="1" dirty="0">
                <a:solidFill>
                  <a:srgbClr val="5A6472"/>
                </a:solidFill>
                <a:latin typeface="Calibri" pitchFamily="34" charset="0"/>
                <a:cs typeface="Amiri" pitchFamily="2" charset="-78"/>
              </a:rPr>
              <a:t>taj-ri-ba-tun tha-riy-ya-tun</a:t>
            </a:r>
            <a:endParaRPr lang="en-US" sz="1350" dirty="0"/>
          </a:p>
        </p:txBody>
      </p:sp>
      <p:sp>
        <p:nvSpPr>
          <p:cNvPr id="51" name="Shape 48"/>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3" name="Text 50"/>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تَجَارِبُ ثَرِيَّةٌ</a:t>
            </a:r>
            <a:endParaRPr lang="ar-SA" sz="1500" dirty="0"/>
          </a:p>
        </p:txBody>
      </p:sp>
      <p:sp>
        <p:nvSpPr>
          <p:cNvPr id="54" name="Shape 5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8211312"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7" name="Shape 5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8" name="Text 5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9" name="Text 5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صَدْمَةٌ ثَقَافِيَّةٌ</a:t>
            </a:r>
            <a:endParaRPr lang="ar-SA" sz="3000" dirty="0"/>
          </a:p>
        </p:txBody>
      </p:sp>
      <p:sp>
        <p:nvSpPr>
          <p:cNvPr id="60" name="Text 5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culture shock</a:t>
            </a:r>
            <a:endParaRPr lang="en-US" sz="1350" dirty="0"/>
          </a:p>
          <a:p>
            <a:pPr indent="0" marL="0">
              <a:buNone/>
            </a:pPr>
            <a:r>
              <a:rPr lang="en-US" sz="1100" i="1" dirty="0">
                <a:solidFill>
                  <a:srgbClr val="5A6472"/>
                </a:solidFill>
                <a:latin typeface="Calibri" pitchFamily="34" charset="0"/>
                <a:cs typeface="Amiri" pitchFamily="2" charset="-78"/>
              </a:rPr>
              <a:t>ṣad-ma-tun tha-qā-fiy-ya-tun</a:t>
            </a:r>
            <a:endParaRPr lang="en-US" sz="13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Narrative vocabulary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اكْتِشَافٌ</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discovery</a:t>
            </a:r>
            <a:endParaRPr lang="en-US" sz="1350" dirty="0"/>
          </a:p>
          <a:p>
            <a:pPr indent="0" marL="0">
              <a:buNone/>
            </a:pPr>
            <a:r>
              <a:rPr lang="en-US" sz="1100" i="1" dirty="0">
                <a:solidFill>
                  <a:srgbClr val="5A6472"/>
                </a:solidFill>
                <a:latin typeface="Calibri" pitchFamily="34" charset="0"/>
                <a:cs typeface="Amiri" pitchFamily="2" charset="-78"/>
              </a:rPr>
              <a:t>ak-ti-shā-fun</a:t>
            </a:r>
            <a:endParaRPr lang="en-US" sz="1350" dirty="0"/>
          </a:p>
        </p:txBody>
      </p:sp>
      <p:sp>
        <p:nvSpPr>
          <p:cNvPr id="22" name="Shape 19"/>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اكْتِشَافَاتٌ</a:t>
            </a:r>
            <a:endParaRPr lang="ar-SA" sz="15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8" name="Shape 25"/>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مُغَامَرَةٌ</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adventure</a:t>
            </a:r>
            <a:endParaRPr lang="en-US" sz="1350" dirty="0"/>
          </a:p>
          <a:p>
            <a:pPr indent="0" marL="0">
              <a:buNone/>
            </a:pPr>
            <a:r>
              <a:rPr lang="en-US" sz="1100" i="1" dirty="0">
                <a:solidFill>
                  <a:srgbClr val="5A6472"/>
                </a:solidFill>
                <a:latin typeface="Calibri" pitchFamily="34" charset="0"/>
                <a:cs typeface="Amiri" pitchFamily="2" charset="-78"/>
              </a:rPr>
              <a:t>mu-ghā-ma-ra-tun</a:t>
            </a:r>
            <a:endParaRPr lang="en-US" sz="1350" dirty="0"/>
          </a:p>
        </p:txBody>
      </p:sp>
      <p:sp>
        <p:nvSpPr>
          <p:cNvPr id="34" name="Shape 31"/>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6" name="Text 33"/>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مُغَامَرَاتٌ</a:t>
            </a:r>
            <a:endParaRPr lang="ar-SA" sz="150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40" name="Shape 37"/>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2" name="Text 3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مُفَاجَأَةٌ</a:t>
            </a:r>
            <a:endParaRPr lang="ar-SA" sz="3000" dirty="0"/>
          </a:p>
        </p:txBody>
      </p:sp>
      <p:sp>
        <p:nvSpPr>
          <p:cNvPr id="43" name="Text 4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surprise</a:t>
            </a:r>
            <a:endParaRPr lang="en-US" sz="1350" dirty="0"/>
          </a:p>
          <a:p>
            <a:pPr indent="0" marL="0">
              <a:buNone/>
            </a:pPr>
            <a:r>
              <a:rPr lang="en-US" sz="1100" i="1" dirty="0">
                <a:solidFill>
                  <a:srgbClr val="5A6472"/>
                </a:solidFill>
                <a:latin typeface="Calibri" pitchFamily="34" charset="0"/>
                <a:cs typeface="Amiri" pitchFamily="2" charset="-78"/>
              </a:rPr>
              <a:t>mu-fā-ja-ʾa-tun</a:t>
            </a:r>
            <a:endParaRPr lang="en-US" sz="1350" dirty="0"/>
          </a:p>
        </p:txBody>
      </p:sp>
      <p:sp>
        <p:nvSpPr>
          <p:cNvPr id="44" name="Shape 41"/>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6" name="Text 43"/>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مُفَاجَآتٌ</a:t>
            </a:r>
            <a:endParaRPr lang="ar-SA" sz="150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50" name="Shape 47"/>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I · she</a:t>
            </a:r>
            <a:endParaRPr lang="en-US" sz="800" dirty="0"/>
          </a:p>
        </p:txBody>
      </p:sp>
      <p:sp>
        <p:nvSpPr>
          <p:cNvPr id="52" name="Text 4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يَرْوِي</a:t>
            </a:r>
            <a:endParaRPr lang="ar-SA" sz="3000" dirty="0"/>
          </a:p>
        </p:txBody>
      </p:sp>
      <p:sp>
        <p:nvSpPr>
          <p:cNvPr id="53" name="Text 5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narrates, tells</a:t>
            </a:r>
            <a:endParaRPr lang="en-US" sz="1350" dirty="0"/>
          </a:p>
          <a:p>
            <a:pPr indent="0" marL="0">
              <a:buNone/>
            </a:pPr>
            <a:r>
              <a:rPr lang="en-US" sz="1100" i="1" dirty="0">
                <a:solidFill>
                  <a:srgbClr val="5A6472"/>
                </a:solidFill>
                <a:latin typeface="Calibri" pitchFamily="34" charset="0"/>
                <a:cs typeface="Amiri" pitchFamily="2" charset="-78"/>
              </a:rPr>
              <a:t>yar-wī</a:t>
            </a:r>
            <a:endParaRPr lang="en-US" sz="1350" dirty="0"/>
          </a:p>
        </p:txBody>
      </p:sp>
      <p:sp>
        <p:nvSpPr>
          <p:cNvPr id="54" name="Shape 51"/>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6" name="Text 53"/>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تَرْوِي</a:t>
            </a:r>
            <a:endParaRPr lang="ar-SA" sz="1500" dirty="0"/>
          </a:p>
        </p:txBody>
      </p:sp>
      <p:sp>
        <p:nvSpPr>
          <p:cNvPr id="57" name="Shape 54"/>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9" name="Text 56"/>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أَرْوِي</a:t>
            </a:r>
            <a:endParaRPr lang="ar-SA" sz="150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Reactions and reflection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أَدْرَكْتُ أَنَّ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realised that</a:t>
            </a:r>
            <a:endParaRPr lang="en-US" sz="1350" dirty="0"/>
          </a:p>
          <a:p>
            <a:pPr indent="0" marL="0">
              <a:buNone/>
            </a:pPr>
            <a:r>
              <a:rPr lang="en-US" sz="1100" i="1" dirty="0">
                <a:solidFill>
                  <a:srgbClr val="5A6472"/>
                </a:solidFill>
                <a:latin typeface="Calibri" pitchFamily="34" charset="0"/>
                <a:cs typeface="Amiri" pitchFamily="2" charset="-78"/>
              </a:rPr>
              <a:t>ad-rak-tu an-na</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أَدْرَكَتْ أَنَّ</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0" name="Shape 27"/>
          <p:cNvSpPr/>
          <p:nvPr/>
        </p:nvSpPr>
        <p:spPr>
          <a:xfrm>
            <a:off x="4782312" y="1938528"/>
            <a:ext cx="1144829"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IV, past.</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أَعْجَبَنِي</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impressed me</a:t>
            </a:r>
            <a:endParaRPr lang="en-US" sz="1350" dirty="0"/>
          </a:p>
          <a:p>
            <a:pPr indent="0" marL="0">
              <a:buNone/>
            </a:pPr>
            <a:r>
              <a:rPr lang="en-US" sz="1100" i="1" dirty="0">
                <a:solidFill>
                  <a:srgbClr val="5A6472"/>
                </a:solidFill>
                <a:latin typeface="Calibri" pitchFamily="34" charset="0"/>
                <a:cs typeface="Amiri" pitchFamily="2" charset="-78"/>
              </a:rPr>
              <a:t>aʿ-ja-ba-nī</a:t>
            </a:r>
            <a:endParaRPr lang="en-US" sz="135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7" name="Shape 34"/>
          <p:cNvSpPr/>
          <p:nvPr/>
        </p:nvSpPr>
        <p:spPr>
          <a:xfrm>
            <a:off x="960120" y="1938528"/>
            <a:ext cx="1144829"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960120"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II, past.</a:t>
            </a:r>
            <a:endParaRPr lang="en-US" sz="800" dirty="0"/>
          </a:p>
        </p:txBody>
      </p:sp>
      <p:sp>
        <p:nvSpPr>
          <p:cNvPr id="39" name="Text 3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خَيَّبَ ظَنِّي</a:t>
            </a:r>
            <a:endParaRPr lang="ar-SA" sz="3000" dirty="0"/>
          </a:p>
        </p:txBody>
      </p:sp>
      <p:sp>
        <p:nvSpPr>
          <p:cNvPr id="40" name="Text 3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disappointed me</a:t>
            </a:r>
            <a:endParaRPr lang="en-US" sz="1350" dirty="0"/>
          </a:p>
          <a:p>
            <a:pPr indent="0" marL="0">
              <a:buNone/>
            </a:pPr>
            <a:r>
              <a:rPr lang="en-US" sz="1100" i="1" dirty="0">
                <a:solidFill>
                  <a:srgbClr val="5A6472"/>
                </a:solidFill>
                <a:latin typeface="Calibri" pitchFamily="34" charset="0"/>
                <a:cs typeface="Amiri" pitchFamily="2" charset="-78"/>
              </a:rPr>
              <a:t>khay-ya-ba ẓan-nī</a:t>
            </a:r>
            <a:endParaRPr lang="en-US" sz="135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4" name="Shape 41"/>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it (m · f)</a:t>
            </a:r>
            <a:endParaRPr lang="en-US" sz="800" dirty="0"/>
          </a:p>
        </p:txBody>
      </p:sp>
      <p:sp>
        <p:nvSpPr>
          <p:cNvPr id="46" name="Shape 4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فَاقَ تَوَقُّعَاتِي</a:t>
            </a:r>
            <a:endParaRPr lang="ar-SA" sz="3000" dirty="0"/>
          </a:p>
        </p:txBody>
      </p:sp>
      <p:sp>
        <p:nvSpPr>
          <p:cNvPr id="49" name="Text 4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exceeded my expectations</a:t>
            </a:r>
            <a:endParaRPr lang="en-US" sz="1350" dirty="0"/>
          </a:p>
          <a:p>
            <a:pPr indent="0" marL="0">
              <a:buNone/>
            </a:pPr>
            <a:r>
              <a:rPr lang="en-US" sz="1100" i="1" dirty="0">
                <a:solidFill>
                  <a:srgbClr val="5A6472"/>
                </a:solidFill>
                <a:latin typeface="Calibri" pitchFamily="34" charset="0"/>
                <a:cs typeface="Amiri" pitchFamily="2" charset="-78"/>
              </a:rPr>
              <a:t>fā-qa ta-waq-qu-ʿā-tī</a:t>
            </a:r>
            <a:endParaRPr lang="en-US" sz="1350" dirty="0"/>
          </a:p>
        </p:txBody>
      </p:sp>
      <p:sp>
        <p:nvSpPr>
          <p:cNvPr id="50" name="Shape 4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 subject</a:t>
            </a:r>
            <a:endParaRPr lang="en-US" sz="700" dirty="0"/>
          </a:p>
        </p:txBody>
      </p:sp>
      <p:sp>
        <p:nvSpPr>
          <p:cNvPr id="52" name="Text 49"/>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فَاقَتْ تَوَقُّعَاتِي</a:t>
            </a:r>
            <a:endParaRPr lang="ar-SA"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Reactions and reflection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it (m · f)</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غَيَّرَ نَظْرَتِي إِلَى</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changed my view of</a:t>
            </a:r>
            <a:endParaRPr lang="en-US" sz="1350" dirty="0"/>
          </a:p>
          <a:p>
            <a:pPr indent="0" marL="0">
              <a:buNone/>
            </a:pPr>
            <a:r>
              <a:rPr lang="en-US" sz="1100" i="1" dirty="0">
                <a:solidFill>
                  <a:srgbClr val="5A6472"/>
                </a:solidFill>
                <a:latin typeface="Calibri" pitchFamily="34" charset="0"/>
                <a:cs typeface="Amiri" pitchFamily="2" charset="-78"/>
              </a:rPr>
              <a:t>ghay-ya-ra naẓ-ra-tī i-lā</a:t>
            </a:r>
            <a:endParaRPr lang="en-US" sz="1350" dirty="0"/>
          </a:p>
        </p:txBody>
      </p:sp>
      <p:sp>
        <p:nvSpPr>
          <p:cNvPr id="26" name="Shape 23"/>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 subject</a:t>
            </a:r>
            <a:endParaRPr lang="en-US" sz="700" dirty="0"/>
          </a:p>
        </p:txBody>
      </p:sp>
      <p:sp>
        <p:nvSpPr>
          <p:cNvPr id="28" name="Text 25"/>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غَيَّرَتْ نَظْرَتِي</a:t>
            </a:r>
            <a:endParaRPr lang="ar-SA" sz="1350" dirty="0"/>
          </a:p>
        </p:txBody>
      </p:sp>
      <p:sp>
        <p:nvSpPr>
          <p:cNvPr id="29" name="Shape 26"/>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389120"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أَثَّرَ فِيَّ بِعُمْقٍ</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affected me deeply</a:t>
            </a:r>
            <a:endParaRPr lang="en-US" sz="1350" dirty="0"/>
          </a:p>
          <a:p>
            <a:pPr indent="0" marL="0">
              <a:buNone/>
            </a:pPr>
            <a:r>
              <a:rPr lang="en-US" sz="1100" i="1" dirty="0">
                <a:solidFill>
                  <a:srgbClr val="5A6472"/>
                </a:solidFill>
                <a:latin typeface="Calibri" pitchFamily="34" charset="0"/>
                <a:cs typeface="Amiri" pitchFamily="2" charset="-78"/>
              </a:rPr>
              <a:t>ath-tha-ra fiy-ya bi-ʿum-qin</a:t>
            </a:r>
            <a:endParaRPr lang="en-US" sz="135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7" name="Text 34"/>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لَمْ يَكُنْ كَمَا تَصَوَّرْتُ</a:t>
            </a:r>
            <a:endParaRPr lang="ar-SA" sz="3000" dirty="0"/>
          </a:p>
        </p:txBody>
      </p:sp>
      <p:sp>
        <p:nvSpPr>
          <p:cNvPr id="38" name="Text 35"/>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was not as I imagined</a:t>
            </a:r>
            <a:endParaRPr lang="en-US" sz="1350" dirty="0"/>
          </a:p>
          <a:p>
            <a:pPr indent="0" marL="0">
              <a:buNone/>
            </a:pPr>
            <a:r>
              <a:rPr lang="en-US" sz="1100" i="1" dirty="0">
                <a:solidFill>
                  <a:srgbClr val="5A6472"/>
                </a:solidFill>
                <a:latin typeface="Calibri" pitchFamily="34" charset="0"/>
                <a:cs typeface="Amiri" pitchFamily="2" charset="-78"/>
              </a:rPr>
              <a:t>lam ya-kun ka-mā ta-ṣaw-war-tu</a:t>
            </a:r>
            <a:endParaRPr lang="en-US" sz="135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42" name="Shape 39"/>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44" name="Shape 4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كُنْتُ قَدْ تَوَقَّعْتُ أَنَّ</a:t>
            </a:r>
            <a:endParaRPr lang="ar-SA" sz="3000" dirty="0"/>
          </a:p>
        </p:txBody>
      </p:sp>
      <p:sp>
        <p:nvSpPr>
          <p:cNvPr id="47" name="Text 4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had expected that</a:t>
            </a:r>
            <a:endParaRPr lang="en-US" sz="1350" dirty="0"/>
          </a:p>
          <a:p>
            <a:pPr indent="0" marL="0">
              <a:buNone/>
            </a:pPr>
            <a:r>
              <a:rPr lang="en-US" sz="1100" i="1" dirty="0">
                <a:solidFill>
                  <a:srgbClr val="5A6472"/>
                </a:solidFill>
                <a:latin typeface="Calibri" pitchFamily="34" charset="0"/>
                <a:cs typeface="Amiri" pitchFamily="2" charset="-78"/>
              </a:rPr>
              <a:t>kun-tu qad ta-waq-qaʿ-tu an-na</a:t>
            </a:r>
            <a:endParaRPr lang="en-US" sz="1350" dirty="0"/>
          </a:p>
        </p:txBody>
      </p:sp>
      <p:sp>
        <p:nvSpPr>
          <p:cNvPr id="48" name="Shape 45"/>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0" name="Text 47"/>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كَانَتْ قَدْ تَوَقَّعَتْ أَنَّ</a:t>
            </a:r>
            <a:endParaRPr lang="ar-SA" sz="150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Narrative connectors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فَجْأَةً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suddenly</a:t>
            </a:r>
            <a:endParaRPr lang="en-US" sz="1350" dirty="0"/>
          </a:p>
          <a:p>
            <a:pPr indent="0" marL="0">
              <a:buNone/>
            </a:pPr>
            <a:r>
              <a:rPr lang="en-US" sz="1100" i="1" dirty="0">
                <a:solidFill>
                  <a:srgbClr val="5A6472"/>
                </a:solidFill>
                <a:latin typeface="Calibri" pitchFamily="34" charset="0"/>
                <a:cs typeface="Amiri" pitchFamily="2" charset="-78"/>
              </a:rPr>
              <a:t>faj-ʾa-tan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تِلْكَ اللَّحْظَةِ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that moment</a:t>
            </a:r>
            <a:endParaRPr lang="en-US" sz="1350" dirty="0"/>
          </a:p>
          <a:p>
            <a:pPr indent="0" marL="0">
              <a:buNone/>
            </a:pPr>
            <a:r>
              <a:rPr lang="en-US" sz="1100" i="1" dirty="0">
                <a:solidFill>
                  <a:srgbClr val="5A6472"/>
                </a:solidFill>
                <a:latin typeface="Calibri" pitchFamily="34" charset="0"/>
                <a:cs typeface="Amiri" pitchFamily="2" charset="-78"/>
              </a:rPr>
              <a:t>fī til-ka all-laḥ-ẓa-ti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لِحُسْنِ الحَظِّ</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fortunately</a:t>
            </a:r>
            <a:endParaRPr lang="en-US" sz="1350" dirty="0"/>
          </a:p>
          <a:p>
            <a:pPr indent="0" marL="0">
              <a:buNone/>
            </a:pPr>
            <a:r>
              <a:rPr lang="en-US" sz="1100" i="1" dirty="0">
                <a:solidFill>
                  <a:srgbClr val="5A6472"/>
                </a:solidFill>
                <a:latin typeface="Calibri" pitchFamily="34" charset="0"/>
                <a:cs typeface="Amiri" pitchFamily="2" charset="-78"/>
              </a:rPr>
              <a:t>li-ḥus-ni al-ḥaẓ-ẓi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قِيلَ إِنَّ</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said that</a:t>
            </a:r>
            <a:endParaRPr lang="en-US" sz="1350" dirty="0"/>
          </a:p>
          <a:p>
            <a:pPr indent="0" marL="0">
              <a:buNone/>
            </a:pPr>
            <a:r>
              <a:rPr lang="en-US" sz="1100" i="1" dirty="0">
                <a:solidFill>
                  <a:srgbClr val="5A6472"/>
                </a:solidFill>
                <a:latin typeface="Calibri" pitchFamily="34" charset="0"/>
                <a:cs typeface="Amiri" pitchFamily="2" charset="-78"/>
              </a:rPr>
              <a:t>qī-la in-na</a:t>
            </a:r>
            <a:endParaRPr lang="en-US" sz="1350" dirty="0"/>
          </a:p>
        </p:txBody>
      </p:sp>
      <p:sp>
        <p:nvSpPr>
          <p:cNvPr id="41" name="Text 38"/>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Impersonal reported speech.</a:t>
            </a:r>
            <a:endParaRPr lang="en-US" sz="10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Narrative connectors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رُبَّمَا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perhaps</a:t>
            </a:r>
            <a:endParaRPr lang="en-US" sz="1350" dirty="0"/>
          </a:p>
          <a:p>
            <a:pPr indent="0" marL="0">
              <a:buNone/>
            </a:pPr>
            <a:r>
              <a:rPr lang="en-US" sz="1100" i="1" dirty="0">
                <a:solidFill>
                  <a:srgbClr val="5A6472"/>
                </a:solidFill>
                <a:latin typeface="Calibri" pitchFamily="34" charset="0"/>
                <a:cs typeface="Amiri" pitchFamily="2" charset="-78"/>
              </a:rPr>
              <a:t>rub-ba-mā</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البِدَايَةِ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at first</a:t>
            </a:r>
            <a:endParaRPr lang="en-US" sz="1350" dirty="0"/>
          </a:p>
          <a:p>
            <a:pPr indent="0" marL="0">
              <a:buNone/>
            </a:pPr>
            <a:r>
              <a:rPr lang="en-US" sz="1100" i="1" dirty="0">
                <a:solidFill>
                  <a:srgbClr val="5A6472"/>
                </a:solidFill>
                <a:latin typeface="Calibri" pitchFamily="34" charset="0"/>
                <a:cs typeface="Amiri" pitchFamily="2" charset="-78"/>
              </a:rPr>
              <a:t>fī al-bi-dā-ya-ti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بَعْدَ ذٰلِكَ</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after that</a:t>
            </a:r>
            <a:endParaRPr lang="en-US" sz="1350" dirty="0"/>
          </a:p>
          <a:p>
            <a:pPr indent="0" marL="0">
              <a:buNone/>
            </a:pPr>
            <a:r>
              <a:rPr lang="en-US" sz="1100" i="1" dirty="0">
                <a:solidFill>
                  <a:srgbClr val="5A6472"/>
                </a:solidFill>
                <a:latin typeface="Calibri" pitchFamily="34" charset="0"/>
                <a:cs typeface="Amiri" pitchFamily="2" charset="-78"/>
              </a:rPr>
              <a:t>baʿ-da dhā-li-ka</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5" name="Shape 3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النِّهَايَةِ</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end</a:t>
            </a:r>
            <a:endParaRPr lang="en-US" sz="1350" dirty="0"/>
          </a:p>
          <a:p>
            <a:pPr indent="0" marL="0">
              <a:buNone/>
            </a:pPr>
            <a:r>
              <a:rPr lang="en-US" sz="1100" i="1" dirty="0">
                <a:solidFill>
                  <a:srgbClr val="5A6472"/>
                </a:solidFill>
                <a:latin typeface="Calibri" pitchFamily="34" charset="0"/>
                <a:cs typeface="Amiri" pitchFamily="2" charset="-78"/>
              </a:rPr>
              <a:t>fī an-ni-hā-ya-ti</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THE FOUR LAYERS (WEBSITE RULES 1–4 + TABLE + TEACHING POINT 1)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 during · reaction · reflection</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أَرْبَعُ طَبَقَاتٍ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9147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Job</a:t>
            </a:r>
            <a:endParaRPr lang="en-US" sz="1100" dirty="0"/>
          </a:p>
        </p:txBody>
      </p:sp>
      <p:sp>
        <p:nvSpPr>
          <p:cNvPr id="17" name="Text 14"/>
          <p:cNvSpPr txBox="1"/>
          <p:nvPr/>
        </p:nvSpPr>
        <p:spPr>
          <a:xfrm>
            <a:off x="437083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listening)</a:t>
            </a:r>
            <a:endParaRPr lang="en-US" sz="1100" dirty="0"/>
          </a:p>
        </p:txBody>
      </p:sp>
      <p:sp>
        <p:nvSpPr>
          <p:cNvPr id="18" name="Text 15"/>
          <p:cNvSpPr txBox="1"/>
          <p:nvPr/>
        </p:nvSpPr>
        <p:spPr>
          <a:xfrm>
            <a:off x="254203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Tense</a:t>
            </a:r>
            <a:endParaRPr lang="en-US" sz="1100" dirty="0"/>
          </a:p>
        </p:txBody>
      </p:sp>
      <p:sp>
        <p:nvSpPr>
          <p:cNvPr id="19" name="Text 16"/>
          <p:cNvSpPr txBox="1"/>
          <p:nvPr/>
        </p:nvSpPr>
        <p:spPr>
          <a:xfrm>
            <a:off x="5303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Layer</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528048" y="2267712"/>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knew</a:t>
            </a:r>
            <a:endParaRPr lang="en-US" sz="1100" dirty="0"/>
          </a:p>
        </p:txBody>
      </p:sp>
      <p:sp>
        <p:nvSpPr>
          <p:cNvPr id="22" name="Text 19"/>
          <p:cNvSpPr txBox="1"/>
          <p:nvPr/>
        </p:nvSpPr>
        <p:spPr>
          <a:xfrm>
            <a:off x="4389120" y="2267712"/>
            <a:ext cx="4937760" cy="731520"/>
          </a:xfrm>
          <a:prstGeom prst="rect">
            <a:avLst/>
          </a:prstGeom>
          <a:noFill/>
          <a:ln/>
        </p:spPr>
        <p:txBody>
          <a:bodyPr wrap="square" lIns="0" tIns="0" rIns="0" bIns="0" rtlCol="0" anchor="ctr"/>
          <a:lstStyle/>
          <a:p>
            <a:pPr rtl="1" algn="ctr" indent="0" marL="0">
              <a:buNone/>
            </a:pPr>
            <a:r>
              <a:rPr lang="ar-SA" altLang="en-US" sz="1900" b="1" dirty="0">
                <a:solidFill>
                  <a:srgbClr val="D6336C"/>
                </a:solidFill>
                <a:latin typeface="Amiri" pitchFamily="2" charset="-78"/>
                <a:cs typeface="Amiri" pitchFamily="2" charset="-78"/>
              </a:rPr>
              <a:t>كُنْتُ قَدْ قَرَأْتُ</a:t>
            </a:r>
            <a:pPr rtl="1" algn="ctr" indent="0" marL="0">
              <a:buNone/>
            </a:pPr>
            <a:r>
              <a:rPr lang="ar-SA" altLang="en-US" sz="1900" b="1" dirty="0">
                <a:solidFill>
                  <a:srgbClr val="1B3B6F"/>
                </a:solidFill>
                <a:latin typeface="Amiri" pitchFamily="2" charset="-78"/>
                <a:cs typeface="Amiri" pitchFamily="2" charset="-78"/>
              </a:rPr>
              <a:t> الكَثِيرَ عَنْ مَرَّاكُشَ قَبْلَ زِيَارَتِي.</a:t>
            </a:r>
            <a:endParaRPr lang="ar-SA" sz="1900" dirty="0"/>
          </a:p>
        </p:txBody>
      </p:sp>
      <p:sp>
        <p:nvSpPr>
          <p:cNvPr id="23" name="Text 20"/>
          <p:cNvSpPr txBox="1"/>
          <p:nvPr/>
        </p:nvSpPr>
        <p:spPr>
          <a:xfrm>
            <a:off x="2578608" y="2267712"/>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perfect</a:t>
            </a:r>
            <a:endParaRPr lang="en-US" sz="1100" dirty="0"/>
          </a:p>
        </p:txBody>
      </p:sp>
      <p:sp>
        <p:nvSpPr>
          <p:cNvPr id="24" name="Text 21"/>
          <p:cNvSpPr txBox="1"/>
          <p:nvPr/>
        </p:nvSpPr>
        <p:spPr>
          <a:xfrm>
            <a:off x="566928" y="2267712"/>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before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528048" y="3054096"/>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happened</a:t>
            </a:r>
            <a:endParaRPr lang="en-US" sz="1100" dirty="0"/>
          </a:p>
        </p:txBody>
      </p:sp>
      <p:sp>
        <p:nvSpPr>
          <p:cNvPr id="29" name="Text 26"/>
          <p:cNvSpPr txBox="1"/>
          <p:nvPr/>
        </p:nvSpPr>
        <p:spPr>
          <a:xfrm>
            <a:off x="4389120" y="3054096"/>
            <a:ext cx="4937760" cy="731520"/>
          </a:xfrm>
          <a:prstGeom prst="rect">
            <a:avLst/>
          </a:prstGeom>
          <a:noFill/>
          <a:ln/>
        </p:spPr>
        <p:txBody>
          <a:bodyPr wrap="square" lIns="0" tIns="0" rIns="0" bIns="0" rtlCol="0" anchor="ctr"/>
          <a:lstStyle/>
          <a:p>
            <a:pPr rtl="1" algn="ctr" indent="0" marL="0">
              <a:buNone/>
            </a:pPr>
            <a:r>
              <a:rPr lang="ar-SA" altLang="en-US" sz="1900" b="1" dirty="0">
                <a:solidFill>
                  <a:srgbClr val="1D5FBF"/>
                </a:solidFill>
                <a:latin typeface="Amiri" pitchFamily="2" charset="-78"/>
                <a:cs typeface="Amiri" pitchFamily="2" charset="-78"/>
              </a:rPr>
              <a:t>وَصَلْتُ</a:t>
            </a:r>
            <a:pPr rtl="1" algn="ctr" indent="0" marL="0">
              <a:buNone/>
            </a:pPr>
            <a:r>
              <a:rPr lang="ar-SA" altLang="en-US" sz="1900" b="1" dirty="0">
                <a:solidFill>
                  <a:srgbClr val="1B3B6F"/>
                </a:solidFill>
                <a:latin typeface="Amiri" pitchFamily="2" charset="-78"/>
                <a:cs typeface="Amiri" pitchFamily="2" charset="-78"/>
              </a:rPr>
              <a:t> إِلَى المَدِينَةِ القَدِيمَةِ </a:t>
            </a:r>
            <a:pPr rtl="1" algn="ctr" indent="0" marL="0">
              <a:buNone/>
            </a:pPr>
            <a:r>
              <a:rPr lang="ar-SA" altLang="en-US" sz="1900" b="1" dirty="0">
                <a:solidFill>
                  <a:srgbClr val="1D5FBF"/>
                </a:solidFill>
                <a:latin typeface="Amiri" pitchFamily="2" charset="-78"/>
                <a:cs typeface="Amiri" pitchFamily="2" charset="-78"/>
              </a:rPr>
              <a:t>وَانْبَهَرْتُ</a:t>
            </a:r>
            <a:pPr rtl="1" algn="ctr" indent="0" marL="0">
              <a:buNone/>
            </a:pPr>
            <a:r>
              <a:rPr lang="ar-SA" altLang="en-US" sz="1900" b="1" dirty="0">
                <a:solidFill>
                  <a:srgbClr val="1B3B6F"/>
                </a:solidFill>
                <a:latin typeface="Amiri" pitchFamily="2" charset="-78"/>
                <a:cs typeface="Amiri" pitchFamily="2" charset="-78"/>
              </a:rPr>
              <a:t> بِجَمَالِهَا.</a:t>
            </a:r>
            <a:endParaRPr lang="ar-SA" sz="1900" dirty="0"/>
          </a:p>
        </p:txBody>
      </p:sp>
      <p:sp>
        <p:nvSpPr>
          <p:cNvPr id="30" name="Text 27"/>
          <p:cNvSpPr txBox="1"/>
          <p:nvPr/>
        </p:nvSpPr>
        <p:spPr>
          <a:xfrm>
            <a:off x="2578608" y="3054096"/>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simple past</a:t>
            </a:r>
            <a:endParaRPr lang="en-US" sz="1100" dirty="0"/>
          </a:p>
        </p:txBody>
      </p:sp>
      <p:sp>
        <p:nvSpPr>
          <p:cNvPr id="31" name="Text 28"/>
          <p:cNvSpPr txBox="1"/>
          <p:nvPr/>
        </p:nvSpPr>
        <p:spPr>
          <a:xfrm>
            <a:off x="566928" y="3054096"/>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during</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9528048" y="3840480"/>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felt</a:t>
            </a:r>
            <a:endParaRPr lang="en-US" sz="1100" dirty="0"/>
          </a:p>
        </p:txBody>
      </p:sp>
      <p:sp>
        <p:nvSpPr>
          <p:cNvPr id="36" name="Text 33"/>
          <p:cNvSpPr txBox="1"/>
          <p:nvPr/>
        </p:nvSpPr>
        <p:spPr>
          <a:xfrm>
            <a:off x="4389120" y="3840480"/>
            <a:ext cx="4937760" cy="731520"/>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cs typeface="Amiri" pitchFamily="2" charset="-78"/>
              </a:rPr>
              <a:t>أَدْرَكْتُ أَنَّ</a:t>
            </a:r>
            <a:pPr rtl="1" algn="ctr" indent="0" marL="0">
              <a:buNone/>
            </a:pPr>
            <a:r>
              <a:rPr lang="ar-SA" altLang="en-US" sz="1900" b="1" dirty="0">
                <a:solidFill>
                  <a:srgbClr val="1B3B6F"/>
                </a:solidFill>
                <a:latin typeface="Amiri" pitchFamily="2" charset="-78"/>
                <a:cs typeface="Amiri" pitchFamily="2" charset="-78"/>
              </a:rPr>
              <a:t> الصُّوَرَ لَا تُنْصِفُ هٰذَا المَكَانَ.</a:t>
            </a:r>
            <a:endParaRPr lang="ar-SA" sz="1900" dirty="0"/>
          </a:p>
        </p:txBody>
      </p:sp>
      <p:sp>
        <p:nvSpPr>
          <p:cNvPr id="37" name="Text 34"/>
          <p:cNvSpPr txBox="1"/>
          <p:nvPr/>
        </p:nvSpPr>
        <p:spPr>
          <a:xfrm>
            <a:off x="2578608" y="3840480"/>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a:t>
            </a:r>
            <a:endParaRPr lang="en-US" sz="1100" dirty="0"/>
          </a:p>
        </p:txBody>
      </p:sp>
      <p:sp>
        <p:nvSpPr>
          <p:cNvPr id="38" name="Text 35"/>
          <p:cNvSpPr txBox="1"/>
          <p:nvPr/>
        </p:nvSpPr>
        <p:spPr>
          <a:xfrm>
            <a:off x="566928" y="3840480"/>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reaction</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9528048" y="4626864"/>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think now</a:t>
            </a:r>
            <a:endParaRPr lang="en-US" sz="1100" dirty="0"/>
          </a:p>
        </p:txBody>
      </p:sp>
      <p:sp>
        <p:nvSpPr>
          <p:cNvPr id="43" name="Text 40"/>
          <p:cNvSpPr txBox="1"/>
          <p:nvPr/>
        </p:nvSpPr>
        <p:spPr>
          <a:xfrm>
            <a:off x="4389120" y="4626864"/>
            <a:ext cx="4937760" cy="731520"/>
          </a:xfrm>
          <a:prstGeom prst="rect">
            <a:avLst/>
          </a:prstGeom>
          <a:noFill/>
          <a:ln/>
        </p:spPr>
        <p:txBody>
          <a:bodyPr wrap="square" lIns="0" tIns="0" rIns="0" bIns="0" rtlCol="0" anchor="ctr"/>
          <a:lstStyle/>
          <a:p>
            <a:pPr rtl="1" algn="ctr" indent="0" marL="0">
              <a:buNone/>
            </a:pPr>
            <a:r>
              <a:rPr lang="ar-SA" altLang="en-US" sz="1900" b="1" dirty="0">
                <a:solidFill>
                  <a:srgbClr val="C77700"/>
                </a:solidFill>
                <a:latin typeface="Amiri" pitchFamily="2" charset="-78"/>
                <a:cs typeface="Amiri" pitchFamily="2" charset="-78"/>
              </a:rPr>
              <a:t>لَوْ لَمْ أُسَافِرْ</a:t>
            </a:r>
            <a:pPr rtl="1" algn="ctr" indent="0" marL="0">
              <a:buNone/>
            </a:pPr>
            <a:r>
              <a:rPr lang="ar-SA" altLang="en-US" sz="1900" b="1" dirty="0">
                <a:solidFill>
                  <a:srgbClr val="1B3B6F"/>
                </a:solidFill>
                <a:latin typeface="Amiri" pitchFamily="2" charset="-78"/>
                <a:cs typeface="Amiri" pitchFamily="2" charset="-78"/>
              </a:rPr>
              <a:t>، </a:t>
            </a:r>
            <a:pPr rtl="1" algn="ctr" indent="0" marL="0">
              <a:buNone/>
            </a:pPr>
            <a:r>
              <a:rPr lang="ar-SA" altLang="en-US" sz="1900" b="1" dirty="0">
                <a:solidFill>
                  <a:srgbClr val="C77700"/>
                </a:solidFill>
                <a:latin typeface="Amiri" pitchFamily="2" charset="-78"/>
                <a:cs typeface="Amiri" pitchFamily="2" charset="-78"/>
              </a:rPr>
              <a:t>لَمَا فَهِمْتُ</a:t>
            </a:r>
            <a:pPr rtl="1" algn="ctr" indent="0" marL="0">
              <a:buNone/>
            </a:pPr>
            <a:r>
              <a:rPr lang="ar-SA" altLang="en-US" sz="1900" b="1" dirty="0">
                <a:solidFill>
                  <a:srgbClr val="1B3B6F"/>
                </a:solidFill>
                <a:latin typeface="Amiri" pitchFamily="2" charset="-78"/>
                <a:cs typeface="Amiri" pitchFamily="2" charset="-78"/>
              </a:rPr>
              <a:t> ثَقَافَتَهَا.</a:t>
            </a:r>
            <a:endParaRPr lang="ar-SA" sz="1900" dirty="0"/>
          </a:p>
        </p:txBody>
      </p:sp>
      <p:sp>
        <p:nvSpPr>
          <p:cNvPr id="44" name="Text 41"/>
          <p:cNvSpPr txBox="1"/>
          <p:nvPr/>
        </p:nvSpPr>
        <p:spPr>
          <a:xfrm>
            <a:off x="2578608" y="4626864"/>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law / idhā</a:t>
            </a:r>
            <a:endParaRPr lang="en-US" sz="1100" dirty="0"/>
          </a:p>
        </p:txBody>
      </p:sp>
      <p:sp>
        <p:nvSpPr>
          <p:cNvPr id="45" name="Text 42"/>
          <p:cNvSpPr txBox="1"/>
          <p:nvPr/>
        </p:nvSpPr>
        <p:spPr>
          <a:xfrm>
            <a:off x="566928" y="4626864"/>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reflection</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common error: the whole story in the simple past, with no past perfect before it.</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LAYER 2 — NARRATING IN THE PAST, I · SHE · WE (WEBSITE RULE 2)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I arrived · she arrived · we arrived</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السَّرْدُ بِالمَاضِي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040112" y="1810512"/>
            <a:ext cx="1618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Type</a:t>
            </a:r>
            <a:endParaRPr lang="en-US" sz="1100" dirty="0"/>
          </a:p>
        </p:txBody>
      </p:sp>
      <p:sp>
        <p:nvSpPr>
          <p:cNvPr id="17" name="Text 14"/>
          <p:cNvSpPr txBox="1"/>
          <p:nvPr/>
        </p:nvSpPr>
        <p:spPr>
          <a:xfrm>
            <a:off x="766267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a:t>
            </a:r>
            <a:endParaRPr lang="en-US" sz="1100" dirty="0"/>
          </a:p>
        </p:txBody>
      </p:sp>
      <p:sp>
        <p:nvSpPr>
          <p:cNvPr id="18" name="Text 15"/>
          <p:cNvSpPr txBox="1"/>
          <p:nvPr/>
        </p:nvSpPr>
        <p:spPr>
          <a:xfrm>
            <a:off x="52852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She</a:t>
            </a:r>
            <a:endParaRPr lang="en-US" sz="1100" dirty="0"/>
          </a:p>
        </p:txBody>
      </p:sp>
      <p:sp>
        <p:nvSpPr>
          <p:cNvPr id="19" name="Text 16"/>
          <p:cNvSpPr txBox="1"/>
          <p:nvPr/>
        </p:nvSpPr>
        <p:spPr>
          <a:xfrm>
            <a:off x="290779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a:t>
            </a:r>
            <a:endParaRPr lang="en-US" sz="1100" dirty="0"/>
          </a:p>
        </p:txBody>
      </p:sp>
      <p:sp>
        <p:nvSpPr>
          <p:cNvPr id="20" name="Text 17"/>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10076688" y="2267712"/>
            <a:ext cx="1581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regular</a:t>
            </a:r>
            <a:endParaRPr lang="en-US" sz="1100" dirty="0"/>
          </a:p>
        </p:txBody>
      </p:sp>
      <p:sp>
        <p:nvSpPr>
          <p:cNvPr id="23" name="Text 20"/>
          <p:cNvSpPr txBox="1"/>
          <p:nvPr/>
        </p:nvSpPr>
        <p:spPr>
          <a:xfrm>
            <a:off x="7680960" y="2267712"/>
            <a:ext cx="21945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وَصَلْنَا</a:t>
            </a:r>
            <a:endParaRPr lang="ar-SA" sz="2200" dirty="0"/>
          </a:p>
        </p:txBody>
      </p:sp>
      <p:sp>
        <p:nvSpPr>
          <p:cNvPr id="24" name="Text 21"/>
          <p:cNvSpPr txBox="1"/>
          <p:nvPr/>
        </p:nvSpPr>
        <p:spPr>
          <a:xfrm>
            <a:off x="5303520" y="2267712"/>
            <a:ext cx="21945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وَصَلَتْ</a:t>
            </a:r>
            <a:endParaRPr lang="ar-SA" sz="2200" dirty="0"/>
          </a:p>
        </p:txBody>
      </p:sp>
      <p:sp>
        <p:nvSpPr>
          <p:cNvPr id="25" name="Text 22"/>
          <p:cNvSpPr txBox="1"/>
          <p:nvPr/>
        </p:nvSpPr>
        <p:spPr>
          <a:xfrm>
            <a:off x="2926080" y="2267712"/>
            <a:ext cx="2194560" cy="559308"/>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cs typeface="Amiri" pitchFamily="2" charset="-78"/>
              </a:rPr>
              <a:t>وَصَلْتُ</a:t>
            </a:r>
            <a:endParaRPr lang="ar-SA" sz="2200" dirty="0"/>
          </a:p>
        </p:txBody>
      </p:sp>
      <p:sp>
        <p:nvSpPr>
          <p:cNvPr id="26" name="Text 23"/>
          <p:cNvSpPr txBox="1"/>
          <p:nvPr/>
        </p:nvSpPr>
        <p:spPr>
          <a:xfrm>
            <a:off x="56692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arrive (waṣala)</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10076688" y="2881884"/>
            <a:ext cx="1581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hollow</a:t>
            </a:r>
            <a:endParaRPr lang="en-US" sz="1100" dirty="0"/>
          </a:p>
        </p:txBody>
      </p:sp>
      <p:sp>
        <p:nvSpPr>
          <p:cNvPr id="31" name="Text 28"/>
          <p:cNvSpPr txBox="1"/>
          <p:nvPr/>
        </p:nvSpPr>
        <p:spPr>
          <a:xfrm>
            <a:off x="7680960" y="2881884"/>
            <a:ext cx="21945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زُرْنَا</a:t>
            </a:r>
            <a:endParaRPr lang="ar-SA" sz="2200" dirty="0"/>
          </a:p>
        </p:txBody>
      </p:sp>
      <p:sp>
        <p:nvSpPr>
          <p:cNvPr id="32" name="Text 29"/>
          <p:cNvSpPr txBox="1"/>
          <p:nvPr/>
        </p:nvSpPr>
        <p:spPr>
          <a:xfrm>
            <a:off x="5303520" y="2881884"/>
            <a:ext cx="21945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زَارَتْ</a:t>
            </a:r>
            <a:endParaRPr lang="ar-SA" sz="2200" dirty="0"/>
          </a:p>
        </p:txBody>
      </p:sp>
      <p:sp>
        <p:nvSpPr>
          <p:cNvPr id="33" name="Text 30"/>
          <p:cNvSpPr txBox="1"/>
          <p:nvPr/>
        </p:nvSpPr>
        <p:spPr>
          <a:xfrm>
            <a:off x="2926080" y="2881884"/>
            <a:ext cx="2194560" cy="559308"/>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cs typeface="Amiri" pitchFamily="2" charset="-78"/>
              </a:rPr>
              <a:t>زُرْتُ</a:t>
            </a:r>
            <a:endParaRPr lang="ar-SA" sz="2200" dirty="0"/>
          </a:p>
        </p:txBody>
      </p:sp>
      <p:sp>
        <p:nvSpPr>
          <p:cNvPr id="34" name="Text 31"/>
          <p:cNvSpPr txBox="1"/>
          <p:nvPr/>
        </p:nvSpPr>
        <p:spPr>
          <a:xfrm>
            <a:off x="56692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visit (zāra)</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10076688" y="3496056"/>
            <a:ext cx="1581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weak end</a:t>
            </a:r>
            <a:endParaRPr lang="en-US" sz="1100" dirty="0"/>
          </a:p>
        </p:txBody>
      </p:sp>
      <p:sp>
        <p:nvSpPr>
          <p:cNvPr id="39" name="Text 36"/>
          <p:cNvSpPr txBox="1"/>
          <p:nvPr/>
        </p:nvSpPr>
        <p:spPr>
          <a:xfrm>
            <a:off x="7680960" y="3496056"/>
            <a:ext cx="21945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مَشَيْنَا</a:t>
            </a:r>
            <a:endParaRPr lang="ar-SA" sz="2200" dirty="0"/>
          </a:p>
        </p:txBody>
      </p:sp>
      <p:sp>
        <p:nvSpPr>
          <p:cNvPr id="40" name="Text 37"/>
          <p:cNvSpPr txBox="1"/>
          <p:nvPr/>
        </p:nvSpPr>
        <p:spPr>
          <a:xfrm>
            <a:off x="5303520" y="3496056"/>
            <a:ext cx="21945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مَشَتْ</a:t>
            </a:r>
            <a:endParaRPr lang="ar-SA" sz="2200" dirty="0"/>
          </a:p>
        </p:txBody>
      </p:sp>
      <p:sp>
        <p:nvSpPr>
          <p:cNvPr id="41" name="Text 38"/>
          <p:cNvSpPr txBox="1"/>
          <p:nvPr/>
        </p:nvSpPr>
        <p:spPr>
          <a:xfrm>
            <a:off x="2926080" y="3496056"/>
            <a:ext cx="2194560" cy="559308"/>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cs typeface="Amiri" pitchFamily="2" charset="-78"/>
              </a:rPr>
              <a:t>مَشَيْتُ</a:t>
            </a:r>
            <a:endParaRPr lang="ar-SA" sz="2200" dirty="0"/>
          </a:p>
        </p:txBody>
      </p:sp>
      <p:sp>
        <p:nvSpPr>
          <p:cNvPr id="42" name="Text 39"/>
          <p:cNvSpPr txBox="1"/>
          <p:nvPr/>
        </p:nvSpPr>
        <p:spPr>
          <a:xfrm>
            <a:off x="56692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walk (mashā)</a:t>
            </a:r>
            <a:endParaRPr lang="en-US" sz="1100" dirty="0"/>
          </a:p>
        </p:txBody>
      </p:sp>
      <p:sp>
        <p:nvSpPr>
          <p:cNvPr id="43" name="Shape 40"/>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4" name="Text 41"/>
          <p:cNvSpPr txBox="1"/>
          <p:nvPr/>
        </p:nvSpPr>
        <p:spPr>
          <a:xfrm>
            <a:off x="10076688" y="4110228"/>
            <a:ext cx="1581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weak end</a:t>
            </a:r>
            <a:endParaRPr lang="en-US" sz="1100" dirty="0"/>
          </a:p>
        </p:txBody>
      </p:sp>
      <p:sp>
        <p:nvSpPr>
          <p:cNvPr id="45" name="Text 42"/>
          <p:cNvSpPr txBox="1"/>
          <p:nvPr/>
        </p:nvSpPr>
        <p:spPr>
          <a:xfrm>
            <a:off x="7680960" y="4110228"/>
            <a:ext cx="21945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قَضَيْنَا</a:t>
            </a:r>
            <a:endParaRPr lang="ar-SA" sz="2200" dirty="0"/>
          </a:p>
        </p:txBody>
      </p:sp>
      <p:sp>
        <p:nvSpPr>
          <p:cNvPr id="46" name="Text 43"/>
          <p:cNvSpPr txBox="1"/>
          <p:nvPr/>
        </p:nvSpPr>
        <p:spPr>
          <a:xfrm>
            <a:off x="5303520" y="4110228"/>
            <a:ext cx="21945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قَضَتْ</a:t>
            </a:r>
            <a:endParaRPr lang="ar-SA" sz="2200" dirty="0"/>
          </a:p>
        </p:txBody>
      </p:sp>
      <p:sp>
        <p:nvSpPr>
          <p:cNvPr id="47" name="Text 44"/>
          <p:cNvSpPr txBox="1"/>
          <p:nvPr/>
        </p:nvSpPr>
        <p:spPr>
          <a:xfrm>
            <a:off x="2926080" y="4110228"/>
            <a:ext cx="2194560" cy="559308"/>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cs typeface="Amiri" pitchFamily="2" charset="-78"/>
              </a:rPr>
              <a:t>قَضَيْتُ</a:t>
            </a:r>
            <a:endParaRPr lang="ar-SA" sz="2200" dirty="0"/>
          </a:p>
        </p:txBody>
      </p:sp>
      <p:sp>
        <p:nvSpPr>
          <p:cNvPr id="48" name="Text 45"/>
          <p:cNvSpPr txBox="1"/>
          <p:nvPr/>
        </p:nvSpPr>
        <p:spPr>
          <a:xfrm>
            <a:off x="56692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spend (qaḍā)</a:t>
            </a:r>
            <a:endParaRPr lang="en-US" sz="1100" dirty="0"/>
          </a:p>
        </p:txBody>
      </p:sp>
      <p:sp>
        <p:nvSpPr>
          <p:cNvPr id="49" name="Shape 46"/>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0" name="Text 47"/>
          <p:cNvSpPr txBox="1"/>
          <p:nvPr/>
        </p:nvSpPr>
        <p:spPr>
          <a:xfrm>
            <a:off x="10076688" y="4724400"/>
            <a:ext cx="1581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 V</a:t>
            </a:r>
            <a:endParaRPr lang="en-US" sz="1100" dirty="0"/>
          </a:p>
        </p:txBody>
      </p:sp>
      <p:sp>
        <p:nvSpPr>
          <p:cNvPr id="51" name="Text 48"/>
          <p:cNvSpPr txBox="1"/>
          <p:nvPr/>
        </p:nvSpPr>
        <p:spPr>
          <a:xfrm>
            <a:off x="7680960" y="4724400"/>
            <a:ext cx="21945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تَذَوَّقْنَا</a:t>
            </a:r>
            <a:endParaRPr lang="ar-SA" sz="2200" dirty="0"/>
          </a:p>
        </p:txBody>
      </p:sp>
      <p:sp>
        <p:nvSpPr>
          <p:cNvPr id="52" name="Text 49"/>
          <p:cNvSpPr txBox="1"/>
          <p:nvPr/>
        </p:nvSpPr>
        <p:spPr>
          <a:xfrm>
            <a:off x="5303520" y="4724400"/>
            <a:ext cx="21945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تَذَوَّقَتْ</a:t>
            </a:r>
            <a:endParaRPr lang="ar-SA" sz="2200" dirty="0"/>
          </a:p>
        </p:txBody>
      </p:sp>
      <p:sp>
        <p:nvSpPr>
          <p:cNvPr id="53" name="Text 50"/>
          <p:cNvSpPr txBox="1"/>
          <p:nvPr/>
        </p:nvSpPr>
        <p:spPr>
          <a:xfrm>
            <a:off x="2926080" y="4724400"/>
            <a:ext cx="2194560" cy="559308"/>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cs typeface="Amiri" pitchFamily="2" charset="-78"/>
              </a:rPr>
              <a:t>تَذَوَّقْتُ</a:t>
            </a:r>
            <a:endParaRPr lang="ar-SA" sz="2200" dirty="0"/>
          </a:p>
        </p:txBody>
      </p:sp>
      <p:sp>
        <p:nvSpPr>
          <p:cNvPr id="54" name="Text 51"/>
          <p:cNvSpPr txBox="1"/>
          <p:nvPr/>
        </p:nvSpPr>
        <p:spPr>
          <a:xfrm>
            <a:off x="56692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taste (tadhawwaqa)</a:t>
            </a:r>
            <a:endParaRPr lang="en-US" sz="110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10076688" y="5338572"/>
            <a:ext cx="1581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 III</a:t>
            </a:r>
            <a:endParaRPr lang="en-US" sz="1100" dirty="0"/>
          </a:p>
        </p:txBody>
      </p:sp>
      <p:sp>
        <p:nvSpPr>
          <p:cNvPr id="57" name="Text 54"/>
          <p:cNvSpPr txBox="1"/>
          <p:nvPr/>
        </p:nvSpPr>
        <p:spPr>
          <a:xfrm>
            <a:off x="7680960" y="5338572"/>
            <a:ext cx="21945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قَابَلْنَا</a:t>
            </a:r>
            <a:endParaRPr lang="ar-SA" sz="2200" dirty="0"/>
          </a:p>
        </p:txBody>
      </p:sp>
      <p:sp>
        <p:nvSpPr>
          <p:cNvPr id="58" name="Text 55"/>
          <p:cNvSpPr txBox="1"/>
          <p:nvPr/>
        </p:nvSpPr>
        <p:spPr>
          <a:xfrm>
            <a:off x="5303520" y="5338572"/>
            <a:ext cx="21945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قَابَلَتْ</a:t>
            </a:r>
            <a:endParaRPr lang="ar-SA" sz="2200" dirty="0"/>
          </a:p>
        </p:txBody>
      </p:sp>
      <p:sp>
        <p:nvSpPr>
          <p:cNvPr id="59" name="Text 56"/>
          <p:cNvSpPr txBox="1"/>
          <p:nvPr/>
        </p:nvSpPr>
        <p:spPr>
          <a:xfrm>
            <a:off x="2926080" y="5338572"/>
            <a:ext cx="2194560" cy="559308"/>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cs typeface="Amiri" pitchFamily="2" charset="-78"/>
              </a:rPr>
              <a:t>قَابَلْتُ</a:t>
            </a:r>
            <a:endParaRPr lang="ar-SA" sz="2200" dirty="0"/>
          </a:p>
        </p:txBody>
      </p:sp>
      <p:sp>
        <p:nvSpPr>
          <p:cNvPr id="60" name="Text 57"/>
          <p:cNvSpPr txBox="1"/>
          <p:nvPr/>
        </p:nvSpPr>
        <p:spPr>
          <a:xfrm>
            <a:off x="56692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meet (qābala)</a:t>
            </a:r>
            <a:endParaRPr lang="en-US" sz="1100" dirty="0"/>
          </a:p>
        </p:txBody>
      </p:sp>
      <p:sp>
        <p:nvSpPr>
          <p:cNvPr id="61" name="Text 5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Hollow and weak verbs shorten before -tu / -nā: zurtu (not zārtu) · mashaytu · qaḍaytu — but she: zārat · mashat · qaḍat.</a:t>
            </a:r>
            <a:endParaRPr lang="en-US" sz="11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LAYER 3 — REACTION VERBS (WEBSITE RULE 3 + TEACHING POINT 2)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It exceeded my expectations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أَفْعَالُ رَدِّ الفِعْلِ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034272" y="1810512"/>
            <a:ext cx="26243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Watch out</a:t>
            </a:r>
            <a:endParaRPr lang="en-US" sz="1100" dirty="0"/>
          </a:p>
        </p:txBody>
      </p:sp>
      <p:sp>
        <p:nvSpPr>
          <p:cNvPr id="17" name="Text 14"/>
          <p:cNvSpPr txBox="1"/>
          <p:nvPr/>
        </p:nvSpPr>
        <p:spPr>
          <a:xfrm>
            <a:off x="299923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8" name="Text 15"/>
          <p:cNvSpPr txBox="1"/>
          <p:nvPr/>
        </p:nvSpPr>
        <p:spPr>
          <a:xfrm>
            <a:off x="530352" y="1810512"/>
            <a:ext cx="2322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Reaction</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070848" y="2267712"/>
            <a:ext cx="25877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PLACE is the subject</a:t>
            </a:r>
            <a:endParaRPr lang="en-US" sz="1100" dirty="0"/>
          </a:p>
        </p:txBody>
      </p:sp>
      <p:sp>
        <p:nvSpPr>
          <p:cNvPr id="21" name="Text 18"/>
          <p:cNvSpPr txBox="1"/>
          <p:nvPr/>
        </p:nvSpPr>
        <p:spPr>
          <a:xfrm>
            <a:off x="3017520" y="2267712"/>
            <a:ext cx="5852160" cy="682142"/>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cs typeface="Amiri" pitchFamily="2" charset="-78"/>
              </a:rPr>
              <a:t>فَاقَتِ</a:t>
            </a:r>
            <a:pPr rtl="1" algn="ctr" indent="0" marL="0">
              <a:buNone/>
            </a:pPr>
            <a:r>
              <a:rPr lang="ar-SA" altLang="en-US" sz="1900" b="1" dirty="0">
                <a:solidFill>
                  <a:srgbClr val="1B3B6F"/>
                </a:solidFill>
                <a:latin typeface="Amiri" pitchFamily="2" charset="-78"/>
                <a:cs typeface="Amiri" pitchFamily="2" charset="-78"/>
              </a:rPr>
              <a:t> البَتْرَاءُ كُلَّ </a:t>
            </a:r>
            <a:pPr rtl="1" algn="ctr" indent="0" marL="0">
              <a:buNone/>
            </a:pPr>
            <a:r>
              <a:rPr lang="ar-SA" altLang="en-US" sz="1900" b="1" dirty="0">
                <a:solidFill>
                  <a:srgbClr val="0E7C86"/>
                </a:solidFill>
                <a:latin typeface="Amiri" pitchFamily="2" charset="-78"/>
                <a:cs typeface="Amiri" pitchFamily="2" charset="-78"/>
              </a:rPr>
              <a:t>تَوَقُّعَاتِي</a:t>
            </a:r>
            <a:pPr rtl="1" algn="ctr" indent="0" marL="0">
              <a:buNone/>
            </a:pPr>
            <a:r>
              <a:rPr lang="ar-SA" altLang="en-US" sz="1900" b="1" dirty="0">
                <a:solidFill>
                  <a:srgbClr val="1B3B6F"/>
                </a:solidFill>
                <a:latin typeface="Amiri" pitchFamily="2" charset="-78"/>
                <a:cs typeface="Amiri" pitchFamily="2" charset="-78"/>
              </a:rPr>
              <a:t>.</a:t>
            </a:r>
            <a:endParaRPr lang="ar-SA" sz="1900" dirty="0"/>
          </a:p>
        </p:txBody>
      </p:sp>
      <p:sp>
        <p:nvSpPr>
          <p:cNvPr id="22" name="Text 19"/>
          <p:cNvSpPr txBox="1"/>
          <p:nvPr/>
        </p:nvSpPr>
        <p:spPr>
          <a:xfrm>
            <a:off x="566928" y="2267712"/>
            <a:ext cx="22860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exceeded my expectations</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070848" y="3004718"/>
            <a:ext cx="25877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ilā</a:t>
            </a:r>
            <a:endParaRPr lang="en-US" sz="1100" dirty="0"/>
          </a:p>
        </p:txBody>
      </p:sp>
      <p:sp>
        <p:nvSpPr>
          <p:cNvPr id="27" name="Text 24"/>
          <p:cNvSpPr txBox="1"/>
          <p:nvPr/>
        </p:nvSpPr>
        <p:spPr>
          <a:xfrm>
            <a:off x="3017520" y="3004718"/>
            <a:ext cx="5852160" cy="682142"/>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cs typeface="Amiri" pitchFamily="2" charset="-78"/>
              </a:rPr>
              <a:t>غَيَّرَتِ</a:t>
            </a:r>
            <a:pPr rtl="1" algn="ctr" indent="0" marL="0">
              <a:buNone/>
            </a:pPr>
            <a:r>
              <a:rPr lang="ar-SA" altLang="en-US" sz="1900" b="1" dirty="0">
                <a:solidFill>
                  <a:srgbClr val="1B3B6F"/>
                </a:solidFill>
                <a:latin typeface="Amiri" pitchFamily="2" charset="-78"/>
                <a:cs typeface="Amiri" pitchFamily="2" charset="-78"/>
              </a:rPr>
              <a:t> الرِّحْلَةُ </a:t>
            </a:r>
            <a:pPr rtl="1" algn="ctr" indent="0" marL="0">
              <a:buNone/>
            </a:pPr>
            <a:r>
              <a:rPr lang="ar-SA" altLang="en-US" sz="1900" b="1" dirty="0">
                <a:solidFill>
                  <a:srgbClr val="0E7C86"/>
                </a:solidFill>
                <a:latin typeface="Amiri" pitchFamily="2" charset="-78"/>
                <a:cs typeface="Amiri" pitchFamily="2" charset="-78"/>
              </a:rPr>
              <a:t>نَظْرَتِي إِلَى</a:t>
            </a:r>
            <a:pPr rtl="1" algn="ctr" indent="0" marL="0">
              <a:buNone/>
            </a:pPr>
            <a:r>
              <a:rPr lang="ar-SA" altLang="en-US" sz="1900" b="1" dirty="0">
                <a:solidFill>
                  <a:srgbClr val="1B3B6F"/>
                </a:solidFill>
                <a:latin typeface="Amiri" pitchFamily="2" charset="-78"/>
                <a:cs typeface="Amiri" pitchFamily="2" charset="-78"/>
              </a:rPr>
              <a:t> التَّارِيخِ.</a:t>
            </a:r>
            <a:endParaRPr lang="ar-SA" sz="1900" dirty="0"/>
          </a:p>
        </p:txBody>
      </p:sp>
      <p:sp>
        <p:nvSpPr>
          <p:cNvPr id="28" name="Text 25"/>
          <p:cNvSpPr txBox="1"/>
          <p:nvPr/>
        </p:nvSpPr>
        <p:spPr>
          <a:xfrm>
            <a:off x="566928" y="3004718"/>
            <a:ext cx="22860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changed my view of</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9070848" y="3741725"/>
            <a:ext cx="25877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anna + -a</a:t>
            </a:r>
            <a:endParaRPr lang="en-US" sz="1100" dirty="0"/>
          </a:p>
        </p:txBody>
      </p:sp>
      <p:sp>
        <p:nvSpPr>
          <p:cNvPr id="33" name="Text 30"/>
          <p:cNvSpPr txBox="1"/>
          <p:nvPr/>
        </p:nvSpPr>
        <p:spPr>
          <a:xfrm>
            <a:off x="3017520" y="3741725"/>
            <a:ext cx="5852160" cy="682142"/>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cs typeface="Amiri" pitchFamily="2" charset="-78"/>
              </a:rPr>
              <a:t>أَدْرَكْتُ أَنَّ</a:t>
            </a:r>
            <a:pPr rtl="1" algn="ctr" indent="0" marL="0">
              <a:buNone/>
            </a:pPr>
            <a:r>
              <a:rPr lang="ar-SA" altLang="en-US" sz="1900" b="1" dirty="0">
                <a:solidFill>
                  <a:srgbClr val="1B3B6F"/>
                </a:solidFill>
                <a:latin typeface="Amiri" pitchFamily="2" charset="-78"/>
                <a:cs typeface="Amiri" pitchFamily="2" charset="-78"/>
              </a:rPr>
              <a:t> الصُّوَرَ لَا تُنْصِفُ المَكَانَ.</a:t>
            </a:r>
            <a:endParaRPr lang="ar-SA" sz="1900" dirty="0"/>
          </a:p>
        </p:txBody>
      </p:sp>
      <p:sp>
        <p:nvSpPr>
          <p:cNvPr id="34" name="Text 31"/>
          <p:cNvSpPr txBox="1"/>
          <p:nvPr/>
        </p:nvSpPr>
        <p:spPr>
          <a:xfrm>
            <a:off x="566928" y="3741725"/>
            <a:ext cx="22860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realised that</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9070848" y="4478731"/>
            <a:ext cx="25877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city is the subject</a:t>
            </a:r>
            <a:endParaRPr lang="en-US" sz="1100" dirty="0"/>
          </a:p>
        </p:txBody>
      </p:sp>
      <p:sp>
        <p:nvSpPr>
          <p:cNvPr id="39" name="Text 36"/>
          <p:cNvSpPr txBox="1"/>
          <p:nvPr/>
        </p:nvSpPr>
        <p:spPr>
          <a:xfrm>
            <a:off x="3017520" y="4478731"/>
            <a:ext cx="5852160" cy="682142"/>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cs typeface="Amiri" pitchFamily="2" charset="-78"/>
              </a:rPr>
              <a:t>أَعْجَبَتْنِي</a:t>
            </a:r>
            <a:pPr rtl="1" algn="ctr" indent="0" marL="0">
              <a:buNone/>
            </a:pPr>
            <a:r>
              <a:rPr lang="ar-SA" altLang="en-US" sz="1900" b="1" dirty="0">
                <a:solidFill>
                  <a:srgbClr val="1B3B6F"/>
                </a:solidFill>
                <a:latin typeface="Amiri" pitchFamily="2" charset="-78"/>
                <a:cs typeface="Amiri" pitchFamily="2" charset="-78"/>
              </a:rPr>
              <a:t> المَدِينَةُ كَثِيرًا.</a:t>
            </a:r>
            <a:endParaRPr lang="ar-SA" sz="1900" dirty="0"/>
          </a:p>
        </p:txBody>
      </p:sp>
      <p:sp>
        <p:nvSpPr>
          <p:cNvPr id="40" name="Text 37"/>
          <p:cNvSpPr txBox="1"/>
          <p:nvPr/>
        </p:nvSpPr>
        <p:spPr>
          <a:xfrm>
            <a:off x="566928" y="4478731"/>
            <a:ext cx="22860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liked it</a:t>
            </a:r>
            <a:endParaRPr lang="en-US" sz="11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9070848" y="5215738"/>
            <a:ext cx="25877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kuntu qad … lākinna</a:t>
            </a:r>
            <a:endParaRPr lang="en-US" sz="1100" dirty="0"/>
          </a:p>
        </p:txBody>
      </p:sp>
      <p:sp>
        <p:nvSpPr>
          <p:cNvPr id="43" name="Text 40"/>
          <p:cNvSpPr txBox="1"/>
          <p:nvPr/>
        </p:nvSpPr>
        <p:spPr>
          <a:xfrm>
            <a:off x="3017520" y="5215738"/>
            <a:ext cx="5852160" cy="682142"/>
          </a:xfrm>
          <a:prstGeom prst="rect">
            <a:avLst/>
          </a:prstGeom>
          <a:noFill/>
          <a:ln/>
        </p:spPr>
        <p:txBody>
          <a:bodyPr wrap="square" lIns="0" tIns="0" rIns="0" bIns="0" rtlCol="0" anchor="ctr"/>
          <a:lstStyle/>
          <a:p>
            <a:pPr rtl="1" algn="ctr" indent="0" marL="0">
              <a:buNone/>
            </a:pPr>
            <a:r>
              <a:rPr lang="ar-SA" altLang="en-US" sz="1900" b="1" dirty="0">
                <a:solidFill>
                  <a:srgbClr val="D6336C"/>
                </a:solidFill>
                <a:latin typeface="Amiri" pitchFamily="2" charset="-78"/>
                <a:cs typeface="Amiri" pitchFamily="2" charset="-78"/>
              </a:rPr>
              <a:t>كُنْتُ قَدْ تَوَقَّعْتُ</a:t>
            </a:r>
            <a:pPr rtl="1" algn="ctr" indent="0" marL="0">
              <a:buNone/>
            </a:pPr>
            <a:r>
              <a:rPr lang="ar-SA" altLang="en-US" sz="1900" b="1" dirty="0">
                <a:solidFill>
                  <a:srgbClr val="1B3B6F"/>
                </a:solidFill>
                <a:latin typeface="Amiri" pitchFamily="2" charset="-78"/>
                <a:cs typeface="Amiri" pitchFamily="2" charset="-78"/>
              </a:rPr>
              <a:t> مَدِينَةً هَادِئَةً، </a:t>
            </a:r>
            <a:pPr rtl="1" algn="ctr" indent="0" marL="0">
              <a:buNone/>
            </a:pPr>
            <a:r>
              <a:rPr lang="ar-SA" altLang="en-US" sz="1900" b="1" dirty="0">
                <a:solidFill>
                  <a:srgbClr val="0E7C86"/>
                </a:solidFill>
                <a:latin typeface="Amiri" pitchFamily="2" charset="-78"/>
                <a:cs typeface="Amiri" pitchFamily="2" charset="-78"/>
              </a:rPr>
              <a:t>لٰكِنَّهَا فَاقَتْ تَوَقُّعَاتِي</a:t>
            </a:r>
            <a:pPr rtl="1" algn="ctr" indent="0" marL="0">
              <a:buNone/>
            </a:pPr>
            <a:r>
              <a:rPr lang="ar-SA" altLang="en-US" sz="1900" b="1" dirty="0">
                <a:solidFill>
                  <a:srgbClr val="1B3B6F"/>
                </a:solidFill>
                <a:latin typeface="Amiri" pitchFamily="2" charset="-78"/>
                <a:cs typeface="Amiri" pitchFamily="2" charset="-78"/>
              </a:rPr>
              <a:t>.</a:t>
            </a:r>
            <a:endParaRPr lang="ar-SA" sz="1900" dirty="0"/>
          </a:p>
        </p:txBody>
      </p:sp>
      <p:sp>
        <p:nvSpPr>
          <p:cNvPr id="44" name="Text 41"/>
          <p:cNvSpPr txBox="1"/>
          <p:nvPr/>
        </p:nvSpPr>
        <p:spPr>
          <a:xfrm>
            <a:off x="566928" y="5215738"/>
            <a:ext cx="22860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expectation + contrast</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 3: fāqa takes a direct object — no preposition after tawaqquʿātī.</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B3B6F"/>
                </a:solidFill>
                <a:latin typeface="Calibri" pitchFamily="34" charset="0"/>
                <a:cs typeface="Amiri" pitchFamily="2" charset="-78"/>
              </a:rPr>
              <a:t>GRAMMAR FOCUS · PART 4 · LAYER 4 — REFLECTION (WEBSITE RULE 4) · STRETCH</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What I will do — and what I would have missed</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إِذَا … سَـ · لَوْ لَمْ … لَمَا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98882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9888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TYPE 1 · INTENTION · CORE</a:t>
            </a:r>
            <a:endParaRPr lang="en-US" sz="850" dirty="0"/>
          </a:p>
        </p:txBody>
      </p:sp>
      <p:sp>
        <p:nvSpPr>
          <p:cNvPr id="18" name="Text 15"/>
          <p:cNvSpPr txBox="1"/>
          <p:nvPr/>
        </p:nvSpPr>
        <p:spPr>
          <a:xfrm>
            <a:off x="10267188" y="1874520"/>
            <a:ext cx="13274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إِذَا … سَـ</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إِذَا أُتِيحَتْ لِيَ الفُرْصَةُ، سَأَعُودُ حَتْمًا.</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I get the chance, I will definitely return.</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Real future.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98882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9888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NEGATIVE TYPE 2 · DEVELOP</a:t>
            </a:r>
            <a:endParaRPr lang="en-US" sz="850" dirty="0"/>
          </a:p>
        </p:txBody>
      </p:sp>
      <p:sp>
        <p:nvSpPr>
          <p:cNvPr id="26" name="Text 23"/>
          <p:cNvSpPr txBox="1"/>
          <p:nvPr/>
        </p:nvSpPr>
        <p:spPr>
          <a:xfrm>
            <a:off x="6448044" y="1874520"/>
            <a:ext cx="13274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لَوْ لَمْ … لَمَا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لَوْ لَمْ أُسَافِرْ إِلَى هٰذِهِ المَدِينَةِ، لَمَا فَهِمْتُ ثَقَافَتَهَا.</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Had I not travelled to this city, I would not have understood its culture.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lam + jussive · lamā + past.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212598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21259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IMPERSONAL REPORT · STRETCH</a:t>
            </a:r>
            <a:endParaRPr lang="en-US" sz="850" dirty="0"/>
          </a:p>
        </p:txBody>
      </p:sp>
      <p:sp>
        <p:nvSpPr>
          <p:cNvPr id="34" name="Text 31"/>
          <p:cNvSpPr txBox="1"/>
          <p:nvPr/>
        </p:nvSpPr>
        <p:spPr>
          <a:xfrm>
            <a:off x="2766060" y="1874520"/>
            <a:ext cx="11902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قِيلَ إِنَّ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2" charset="-78"/>
                <a:cs typeface="Amiri" pitchFamily="2" charset="-78"/>
              </a:rPr>
              <a:t>قِيلَ إِنَّ المَدِينَةَ لَا تَنَامُ.</a:t>
            </a:r>
            <a:endParaRPr lang="ar-SA" sz="28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It is said that the city never sleeps.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Passive of qāla.</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2: a negative Type 2 result uses lamā, not sa-.</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cs typeface="Amiri" pitchFamily="2" charset="-78"/>
              </a:rPr>
              <a:t>لَوْ لَمْ أُسَافِرْ، لَمَا فَهِمْتُ الثَّقَافَةَ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cs typeface="Amiri" pitchFamily="2" charset="-78"/>
              </a:rPr>
              <a:t>لَوْ لَمْ أُسَافِرْ، سَمَا فَهِمْتُ الثَّقَافَةَ</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four-layer holiday narrative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السَّرْدُ الرُّبَاعِيُّ الطَّبَقَاتِ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Layer 1 — before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kuntu qad + past</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كُنْتُ قَدْ حَجَزْتُ رِحْلَتِي   ·   كُنْتُ قَدْ سَمِعْتُ أَنَّ البَاعَةَ يَتَفَاوَضُونَ بِشِدَّةٍ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Layer 2 — during</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past + connectors</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وَصَلْتُ إِلَى المَدِينَةِ القَدِيمَةِ   ·   فَجْأَةً، سَمِعْتُ الأَذَانَ يَمْلَأُ السَّمَاءَ</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Layer 3 — reaction</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adraktu · fāqa tawaqquʿātī</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أَدْرَكْتُ أَنَّ الصُّوَرَ لَا تُنْصِفُ المَكَانَ   ·   فَاقَ المَكَانُ تَوَقُّعَاتِي</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Layer 4 — reflection</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idhā … sa- · law … la-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إِذَا أُتِيحَتِ الفُرْصَةُ، سَأَعُودُ   ·   لَوْ لَمْ أُسَافِرْ، لَمَا فَهِمْتُ هٰذِهِ الثَّقَافَةَ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belongs to Layer 1 (before)?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وَصَلْتُ وَانْبَهَرْتُ بِجَمَالِهَا.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 عُدْتُ، سَأَزُورُهَا ثَانِيَةً.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كُنْتُ قَدْ قَرَأْتُ عَنِ المَدِينَةِ قَبْلَ زِيَارَتِي.</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belongs to Layer 2 (during)?</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زُرْتُ السُّوقَ وَتَذَوَّقْتُ الطَّعَامَ المَحَلِّيَّ.</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كُنْتُ قَدْ سَمِعْتُ عَنْهُ.</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لَوْ لَمْ أَذْهَبْ، لَمَا عَرَفْتُ.</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Layer 3 reaction?</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كُنْتُ قَدْ حَجَزْتُ الفُنْدُقَ.</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فَاقَ المَكَانُ تَوَقُّعَاتِي.</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سَأَعُودُ إِذَا اسْتَطَعْتُ.</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Type 2 reflection in Layer 4?</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لَوْ لَمْ أُسَافِرْ، لَمَا فَهِمْتُ الثَّقَافَةَ.</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 أُتِيحَتِ الفُرْصَةُ، سَأَعُودُ.</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وَصَلْتُ مُتْعَبًا لٰكِنْ سَعِيدًا.</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belongs to Layer 1 (before)?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وَصَلْتُ وَانْبَهَرْتُ بِجَمَالِهَا.</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إِذَا عُدْتُ، سَأَزُورُهَا ثَانِيَةً.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كُنْتُ قَدْ قَرَأْتُ عَنِ المَدِينَةِ قَبْلَ زِيَارَتِي.</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كُنْتُ قَدْ</a:t>
            </a:r>
            <a:pPr algn="l" indent="0" marL="0">
              <a:buNone/>
            </a:pPr>
            <a:r>
              <a:rPr lang="en-US" sz="1050" i="1" dirty="0">
                <a:solidFill>
                  <a:srgbClr val="8A6D1E"/>
                </a:solidFill>
                <a:latin typeface="Calibri" pitchFamily="34" charset="0"/>
                <a:cs typeface="Amiri" pitchFamily="2" charset="-78"/>
              </a:rPr>
              <a:t> + past states a prior event.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belongs to Layer 2 (during)?</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زُرْتُ السُّوقَ وَتَذَوَّقْتُ الطَّعَامَ المَحَلِّيَّ.</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كُنْتُ قَدْ سَمِعْتُ عَنْهُ.</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لَوْ لَمْ أَذْهَبْ، لَمَا عَرَفْتُ.</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simple past narrates the holiday itself.</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Layer 3 reaction?</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كُنْتُ قَدْ حَجَزْتُ الفُنْدُقَ.</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فَاقَ المَكَانُ تَوَقُّعَاتِي.</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سَأَعُودُ إِذَا اسْتَطَعْتُ.</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فَاقَ تَوَقُّعَاتِي</a:t>
            </a:r>
            <a:pPr algn="l" indent="0" marL="0">
              <a:buNone/>
            </a:pPr>
            <a:r>
              <a:rPr lang="en-US" sz="1050" i="1" dirty="0">
                <a:solidFill>
                  <a:srgbClr val="8A6D1E"/>
                </a:solidFill>
                <a:latin typeface="Calibri" pitchFamily="34" charset="0"/>
                <a:cs typeface="Amiri" pitchFamily="2" charset="-78"/>
              </a:rPr>
              <a:t> expresses a reaction.</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Type 2 reflection in Layer 4?</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لَوْ لَمْ أُسَافِرْ، لَمَا فَهِمْتُ الثَّقَافَةَ.</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إِذَا أُتِيحَتِ الفُرْصَةُ، سَأَعُودُ.</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وَصَلْتُ مُتْعَبًا لٰكِنْ سَعِيدًا.</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is the counterfactual reflection.</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tell it in four layers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Before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cs typeface="Amiri" pitchFamily="2" charset="-78"/>
              </a:rPr>
              <a:t>كُنْتُ قَدْ تَوَقَّعْتُ</a:t>
            </a:r>
            <a:pPr rtl="1" algn="ctr" indent="0" marL="0">
              <a:buNone/>
            </a:pPr>
            <a:r>
              <a:rPr lang="ar-SA" altLang="en-US" sz="2800" b="1" dirty="0">
                <a:solidFill>
                  <a:srgbClr val="1B3B6F"/>
                </a:solidFill>
                <a:latin typeface="Amiri" pitchFamily="2" charset="-78"/>
                <a:cs typeface="Amiri" pitchFamily="2" charset="-78"/>
              </a:rPr>
              <a:t> …</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Layer 1.</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During</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2" charset="-78"/>
                <a:cs typeface="Amiri" pitchFamily="2" charset="-78"/>
              </a:rPr>
              <a:t>وَصَلْتُ</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1D5FBF"/>
                </a:solidFill>
                <a:latin typeface="Amiri" pitchFamily="2" charset="-78"/>
                <a:cs typeface="Amiri" pitchFamily="2" charset="-78"/>
              </a:rPr>
              <a:t>وَفَجْأَةً</a:t>
            </a:r>
            <a:pPr rtl="1" algn="ctr" indent="0" marL="0">
              <a:buNone/>
            </a:pPr>
            <a:r>
              <a:rPr lang="ar-SA" altLang="en-US" sz="2800" b="1" dirty="0">
                <a:solidFill>
                  <a:srgbClr val="1B3B6F"/>
                </a:solidFill>
                <a:latin typeface="Amiri" pitchFamily="2" charset="-78"/>
                <a:cs typeface="Amiri" pitchFamily="2" charset="-78"/>
              </a:rPr>
              <a:t> …</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Layer 2.</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Reaction</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cs typeface="Amiri" pitchFamily="2" charset="-78"/>
              </a:rPr>
              <a:t>أَدْرَكْتُ أَنَّ</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0E7C86"/>
                </a:solidFill>
                <a:latin typeface="Amiri" pitchFamily="2" charset="-78"/>
                <a:cs typeface="Amiri" pitchFamily="2" charset="-78"/>
              </a:rPr>
              <a:t>فَاقَتْ</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Layer 3.</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Reflection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C77700"/>
                </a:solidFill>
                <a:latin typeface="Amiri" pitchFamily="2" charset="-78"/>
                <a:cs typeface="Amiri" pitchFamily="2" charset="-78"/>
              </a:rPr>
              <a:t>لَوْ لَمْ أَزُرْ</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C77700"/>
                </a:solidFill>
                <a:latin typeface="Amiri" pitchFamily="2" charset="-78"/>
                <a:cs typeface="Amiri" pitchFamily="2" charset="-78"/>
              </a:rPr>
              <a:t>لَمَا</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Layer 4.</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LAYER 1 · BEFORE</a:t>
            </a:r>
            <a:endParaRPr lang="en-US" sz="800" dirty="0"/>
          </a:p>
        </p:txBody>
      </p:sp>
      <p:sp>
        <p:nvSpPr>
          <p:cNvPr id="47" name="Shape 43"/>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LAYER 2 · DURING</a:t>
            </a:r>
            <a:endParaRPr lang="en-US" sz="800" dirty="0"/>
          </a:p>
        </p:txBody>
      </p:sp>
      <p:sp>
        <p:nvSpPr>
          <p:cNvPr id="49" name="Shape 45"/>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LAYER 3 · REACTION</a:t>
            </a:r>
            <a:endParaRPr lang="en-US" sz="800" dirty="0"/>
          </a:p>
        </p:txBody>
      </p:sp>
      <p:sp>
        <p:nvSpPr>
          <p:cNvPr id="51" name="Shape 47"/>
          <p:cNvSpPr/>
          <p:nvPr/>
        </p:nvSpPr>
        <p:spPr>
          <a:xfrm>
            <a:off x="10515600" y="4736592"/>
            <a:ext cx="914400" cy="237744"/>
          </a:xfrm>
          <a:prstGeom prst="roundRect">
            <a:avLst>
              <a:gd name="adj" fmla="val 50000"/>
            </a:avLst>
          </a:prstGeom>
          <a:solidFill>
            <a:srgbClr val="C77700"/>
          </a:solidFill>
          <a:ln w="12700">
            <a:solidFill>
              <a:srgbClr val="C77700"/>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LAYER 4 · REFLECTION</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قَضَيْتُ إِجَازَتِي العَامَ المَاضِيَ فِي الأُرْدُنِّ. </a:t>
            </a:r>
            <a:pPr rtl="1" algn="r" indent="0" marL="0">
              <a:lnSpc>
                <a:spcPct val="120000"/>
              </a:lnSpc>
              <a:buNone/>
            </a:pPr>
            <a:r>
              <a:rPr lang="ar-SA" altLang="en-US" sz="1400" b="1" dirty="0">
                <a:solidFill>
                  <a:srgbClr val="D6336C"/>
                </a:solidFill>
                <a:latin typeface="Amiri" pitchFamily="2" charset="-78"/>
                <a:cs typeface="Amiri" pitchFamily="2" charset="-78"/>
              </a:rPr>
              <a:t>كُنْتُ قَدْ تَوَقَّعْتُ</a:t>
            </a:r>
            <a:pPr rtl="1" algn="r" indent="0" marL="0">
              <a:lnSpc>
                <a:spcPct val="120000"/>
              </a:lnSpc>
              <a:buNone/>
            </a:pPr>
            <a:r>
              <a:rPr lang="ar-SA" altLang="en-US" sz="1400" b="1" dirty="0">
                <a:solidFill>
                  <a:srgbClr val="1B3B6F"/>
                </a:solidFill>
                <a:latin typeface="Amiri" pitchFamily="2" charset="-78"/>
                <a:cs typeface="Amiri" pitchFamily="2" charset="-78"/>
              </a:rPr>
              <a:t> أَنَّ البَتْرَاءَ مُجَرَّدُ آثَارٍ قَدِيمَةٍ. </a:t>
            </a:r>
            <a:pPr rtl="1" algn="r" indent="0" marL="0">
              <a:lnSpc>
                <a:spcPct val="120000"/>
              </a:lnSpc>
              <a:buNone/>
            </a:pPr>
            <a:r>
              <a:rPr lang="ar-SA" altLang="en-US" sz="1400" b="1" dirty="0">
                <a:solidFill>
                  <a:srgbClr val="1D5FBF"/>
                </a:solidFill>
                <a:latin typeface="Amiri" pitchFamily="2" charset="-78"/>
                <a:cs typeface="Amiri" pitchFamily="2" charset="-78"/>
              </a:rPr>
              <a:t>وَصَلْتُ</a:t>
            </a:r>
            <a:pPr rtl="1" algn="r" indent="0" marL="0">
              <a:lnSpc>
                <a:spcPct val="120000"/>
              </a:lnSpc>
              <a:buNone/>
            </a:pPr>
            <a:r>
              <a:rPr lang="ar-SA" altLang="en-US" sz="1400" b="1" dirty="0">
                <a:solidFill>
                  <a:srgbClr val="1B3B6F"/>
                </a:solidFill>
                <a:latin typeface="Amiri" pitchFamily="2" charset="-78"/>
                <a:cs typeface="Amiri" pitchFamily="2" charset="-78"/>
              </a:rPr>
              <a:t> فَجْرًا </a:t>
            </a:r>
            <a:pPr rtl="1" algn="r" indent="0" marL="0">
              <a:lnSpc>
                <a:spcPct val="120000"/>
              </a:lnSpc>
              <a:buNone/>
            </a:pPr>
            <a:r>
              <a:rPr lang="ar-SA" altLang="en-US" sz="1400" b="1" dirty="0">
                <a:solidFill>
                  <a:srgbClr val="1D5FBF"/>
                </a:solidFill>
                <a:latin typeface="Amiri" pitchFamily="2" charset="-78"/>
                <a:cs typeface="Amiri" pitchFamily="2" charset="-78"/>
              </a:rPr>
              <a:t>وَمَشَيْتُ</a:t>
            </a:r>
            <a:pPr rtl="1" algn="r" indent="0" marL="0">
              <a:lnSpc>
                <a:spcPct val="120000"/>
              </a:lnSpc>
              <a:buNone/>
            </a:pPr>
            <a:r>
              <a:rPr lang="ar-SA" altLang="en-US" sz="1400" b="1" dirty="0">
                <a:solidFill>
                  <a:srgbClr val="1B3B6F"/>
                </a:solidFill>
                <a:latin typeface="Amiri" pitchFamily="2" charset="-78"/>
                <a:cs typeface="Amiri" pitchFamily="2" charset="-78"/>
              </a:rPr>
              <a:t> عَبْرَ المَمَرِّ الضَّيِّقِ، </a:t>
            </a:r>
            <a:pPr rtl="1" algn="r" indent="0" marL="0">
              <a:lnSpc>
                <a:spcPct val="120000"/>
              </a:lnSpc>
              <a:buNone/>
            </a:pPr>
            <a:r>
              <a:rPr lang="ar-SA" altLang="en-US" sz="1400" b="1" dirty="0">
                <a:solidFill>
                  <a:srgbClr val="1D5FBF"/>
                </a:solidFill>
                <a:latin typeface="Amiri" pitchFamily="2" charset="-78"/>
                <a:cs typeface="Amiri" pitchFamily="2" charset="-78"/>
              </a:rPr>
              <a:t>وَفَجْأَةً ظَهَرَتِ</a:t>
            </a:r>
            <a:pPr rtl="1" algn="r" indent="0" marL="0">
              <a:lnSpc>
                <a:spcPct val="120000"/>
              </a:lnSpc>
              <a:buNone/>
            </a:pPr>
            <a:r>
              <a:rPr lang="ar-SA" altLang="en-US" sz="1400" b="1" dirty="0">
                <a:solidFill>
                  <a:srgbClr val="1B3B6F"/>
                </a:solidFill>
                <a:latin typeface="Amiri" pitchFamily="2" charset="-78"/>
                <a:cs typeface="Amiri" pitchFamily="2" charset="-78"/>
              </a:rPr>
              <a:t> الخَزْنَةُ أَمَامِي. </a:t>
            </a:r>
            <a:pPr rtl="1" algn="r" indent="0" marL="0">
              <a:lnSpc>
                <a:spcPct val="120000"/>
              </a:lnSpc>
              <a:buNone/>
            </a:pPr>
            <a:r>
              <a:rPr lang="ar-SA" altLang="en-US" sz="1400" b="1" dirty="0">
                <a:solidFill>
                  <a:srgbClr val="0E7C86"/>
                </a:solidFill>
                <a:latin typeface="Amiri" pitchFamily="2" charset="-78"/>
                <a:cs typeface="Amiri" pitchFamily="2" charset="-78"/>
              </a:rPr>
              <a:t>أَدْرَكْتُ أَنَّ</a:t>
            </a:r>
            <a:pPr rtl="1" algn="r" indent="0" marL="0">
              <a:lnSpc>
                <a:spcPct val="120000"/>
              </a:lnSpc>
              <a:buNone/>
            </a:pPr>
            <a:r>
              <a:rPr lang="ar-SA" altLang="en-US" sz="1400" b="1" dirty="0">
                <a:solidFill>
                  <a:srgbClr val="1B3B6F"/>
                </a:solidFill>
                <a:latin typeface="Amiri" pitchFamily="2" charset="-78"/>
                <a:cs typeface="Amiri" pitchFamily="2" charset="-78"/>
              </a:rPr>
              <a:t> الصُّوَرَ لَا تُنْصِفُهَا، </a:t>
            </a:r>
            <a:pPr rtl="1" algn="r" indent="0" marL="0">
              <a:lnSpc>
                <a:spcPct val="120000"/>
              </a:lnSpc>
              <a:buNone/>
            </a:pPr>
            <a:r>
              <a:rPr lang="ar-SA" altLang="en-US" sz="1400" b="1" dirty="0">
                <a:solidFill>
                  <a:srgbClr val="0E7C86"/>
                </a:solidFill>
                <a:latin typeface="Amiri" pitchFamily="2" charset="-78"/>
                <a:cs typeface="Amiri" pitchFamily="2" charset="-78"/>
              </a:rPr>
              <a:t>وَفَاقَتْ</a:t>
            </a:r>
            <a:pPr rtl="1" algn="r" indent="0" marL="0">
              <a:lnSpc>
                <a:spcPct val="120000"/>
              </a:lnSpc>
              <a:buNone/>
            </a:pPr>
            <a:r>
              <a:rPr lang="ar-SA" altLang="en-US" sz="1400" b="1" dirty="0">
                <a:solidFill>
                  <a:srgbClr val="1B3B6F"/>
                </a:solidFill>
                <a:latin typeface="Amiri" pitchFamily="2" charset="-78"/>
                <a:cs typeface="Amiri" pitchFamily="2" charset="-78"/>
              </a:rPr>
              <a:t> كُلَّ </a:t>
            </a:r>
            <a:pPr rtl="1" algn="r" indent="0" marL="0">
              <a:lnSpc>
                <a:spcPct val="120000"/>
              </a:lnSpc>
              <a:buNone/>
            </a:pPr>
            <a:r>
              <a:rPr lang="ar-SA" altLang="en-US" sz="1400" b="1" dirty="0">
                <a:solidFill>
                  <a:srgbClr val="0E7C86"/>
                </a:solidFill>
                <a:latin typeface="Amiri" pitchFamily="2" charset="-78"/>
                <a:cs typeface="Amiri" pitchFamily="2" charset="-78"/>
              </a:rPr>
              <a:t>تَوَقُّعَاتِي</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C77700"/>
                </a:solidFill>
                <a:latin typeface="Amiri" pitchFamily="2" charset="-78"/>
                <a:cs typeface="Amiri" pitchFamily="2" charset="-78"/>
              </a:rPr>
              <a:t>لَوْ لَمْ أَزُرْ</a:t>
            </a:r>
            <a:pPr rtl="1" algn="r" indent="0" marL="0">
              <a:lnSpc>
                <a:spcPct val="120000"/>
              </a:lnSpc>
              <a:buNone/>
            </a:pPr>
            <a:r>
              <a:rPr lang="ar-SA" altLang="en-US" sz="1400" b="1" dirty="0">
                <a:solidFill>
                  <a:srgbClr val="1B3B6F"/>
                </a:solidFill>
                <a:latin typeface="Amiri" pitchFamily="2" charset="-78"/>
                <a:cs typeface="Amiri" pitchFamily="2" charset="-78"/>
              </a:rPr>
              <a:t> هٰذَا المَكَانَ، </a:t>
            </a:r>
            <a:pPr rtl="1" algn="r" indent="0" marL="0">
              <a:lnSpc>
                <a:spcPct val="120000"/>
              </a:lnSpc>
              <a:buNone/>
            </a:pPr>
            <a:r>
              <a:rPr lang="ar-SA" altLang="en-US" sz="1400" b="1" dirty="0">
                <a:solidFill>
                  <a:srgbClr val="C77700"/>
                </a:solidFill>
                <a:latin typeface="Amiri" pitchFamily="2" charset="-78"/>
                <a:cs typeface="Amiri" pitchFamily="2" charset="-78"/>
              </a:rPr>
              <a:t>لَمَا شَعَرْتُ</a:t>
            </a:r>
            <a:pPr rtl="1" algn="r" indent="0" marL="0">
              <a:lnSpc>
                <a:spcPct val="120000"/>
              </a:lnSpc>
              <a:buNone/>
            </a:pPr>
            <a:r>
              <a:rPr lang="ar-SA" altLang="en-US" sz="1400" b="1" dirty="0">
                <a:solidFill>
                  <a:srgbClr val="1B3B6F"/>
                </a:solidFill>
                <a:latin typeface="Amiri" pitchFamily="2" charset="-78"/>
                <a:cs typeface="Amiri" pitchFamily="2" charset="-78"/>
              </a:rPr>
              <a:t> بِهٰذَا الارْتِبَاطِ بِالمَاضِي.</a:t>
            </a:r>
            <a:endParaRPr lang="ar-SA" sz="14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000" i="1" dirty="0">
                <a:solidFill>
                  <a:srgbClr val="5A6472"/>
                </a:solidFill>
                <a:latin typeface="Calibri" pitchFamily="34" charset="0"/>
                <a:cs typeface="Amiri" pitchFamily="2" charset="-78"/>
              </a:rPr>
              <a:t>I spent my holiday last year in Jordan. I had expected Petra to be just old ruins. I arrived at dawn and walked through the narrow passage, and suddenly the Treasury appeared in front of me. I realised that photos do not do it justice, and it exceeded all my expectations. Had I not visited this place, I would not have felt this connection with the past.</a:t>
            </a:r>
            <a:endParaRPr lang="en-US" sz="100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cs typeface="Amiri" pitchFamily="2" charset="-78"/>
              </a:rPr>
              <a:t>كُنْتُ قَدْ سَمِعْتُ أَنَّ البَاعَةَ يَتَفَاوَضُونَ بِشِدَّةٍ — وَكَانَ هٰذَا صَحِيحًا</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had heard that the traders bargain hard — and it was true</a:t>
            </a:r>
            <a:endParaRPr lang="en-US" sz="1250" dirty="0"/>
          </a:p>
          <a:p>
            <a:pPr indent="0" marL="0">
              <a:buNone/>
            </a:pPr>
            <a:r>
              <a:rPr lang="en-US" sz="1050" i="1" dirty="0">
                <a:solidFill>
                  <a:srgbClr val="8A6D1E"/>
                </a:solidFill>
                <a:latin typeface="Calibri" pitchFamily="34" charset="0"/>
                <a:cs typeface="Amiri" pitchFamily="2" charset="-78"/>
              </a:rPr>
              <a:t>Layer 1 past perfect meets the reality.</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فَجْأَةً، سَمِعْتُ الأَذَانَ يَمْلَأُ سَمَاءَ المَدِينَةِ القَدِيمَةِ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suddenly I heard the call to prayer filling the sky of the old city</a:t>
            </a:r>
            <a:endParaRPr lang="en-US" sz="1250" dirty="0"/>
          </a:p>
          <a:p>
            <a:pPr indent="0" marL="0">
              <a:buNone/>
            </a:pPr>
            <a:r>
              <a:rPr lang="en-US" sz="1050" i="1" dirty="0">
                <a:solidFill>
                  <a:srgbClr val="8A6D1E"/>
                </a:solidFill>
                <a:latin typeface="Calibri" pitchFamily="34" charset="0"/>
                <a:cs typeface="Amiri" pitchFamily="2" charset="-78"/>
              </a:rPr>
              <a:t>Layer 2 with a drama connector.</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لَوْ لَمْ أُسَافِرْ إِلَى هٰذِهِ المَدِينَةِ، لَمَا فَهِمْتُ ثَقَافَتَهَا</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had I not travelled to this city, I would not have understood its culture</a:t>
            </a:r>
            <a:endParaRPr lang="en-US" sz="1250" dirty="0"/>
          </a:p>
          <a:p>
            <a:pPr indent="0" marL="0">
              <a:buNone/>
            </a:pPr>
            <a:r>
              <a:rPr lang="en-US" sz="1050" i="1" dirty="0">
                <a:solidFill>
                  <a:srgbClr val="8A6D1E"/>
                </a:solidFill>
                <a:latin typeface="Calibri" pitchFamily="34" charset="0"/>
                <a:cs typeface="Amiri" pitchFamily="2" charset="-78"/>
              </a:rPr>
              <a:t>Layer 4 counterfactual reflection.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DESCRIBING PAST HOLIDAYS — ADVANCED NARRATIVE”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What did they do? Match the picture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مَاذَا 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trip to Egypt</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swimming in the sea</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76784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950720" y="2249424"/>
            <a:ext cx="649224" cy="649224"/>
          </a:xfrm>
          <a:prstGeom prst="rect">
            <a:avLst/>
          </a:prstGeom>
        </p:spPr>
      </p:pic>
      <p:sp>
        <p:nvSpPr>
          <p:cNvPr id="36" name="Text 28"/>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dinner together</a:t>
            </a:r>
            <a:endParaRPr lang="en-US" sz="1100" dirty="0"/>
          </a:p>
        </p:txBody>
      </p:sp>
      <p:sp>
        <p:nvSpPr>
          <p:cNvPr id="37" name="Shape 29"/>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8" name="Shape 30"/>
          <p:cNvSpPr/>
          <p:nvPr/>
        </p:nvSpPr>
        <p:spPr>
          <a:xfrm>
            <a:off x="11247120" y="3831336"/>
            <a:ext cx="292608" cy="292608"/>
          </a:xfrm>
          <a:prstGeom prst="ellipse">
            <a:avLst/>
          </a:prstGeom>
          <a:solidFill>
            <a:srgbClr val="2F6FB0"/>
          </a:solidFill>
          <a:ln w="12700">
            <a:solidFill>
              <a:srgbClr val="2F6FB0"/>
            </a:solidFill>
            <a:prstDash val="solid"/>
          </a:ln>
        </p:spPr>
      </p:sp>
      <p:sp>
        <p:nvSpPr>
          <p:cNvPr id="39" name="Text 31"/>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0" name="Text 32"/>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سَبَحْتُ فِي البَحْرِ.</a:t>
            </a:r>
            <a:endParaRPr lang="ar-SA" sz="2000" dirty="0"/>
          </a:p>
        </p:txBody>
      </p:sp>
      <p:sp>
        <p:nvSpPr>
          <p:cNvPr id="41" name="Shape 33"/>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2" name="Shape 34"/>
          <p:cNvSpPr/>
          <p:nvPr/>
        </p:nvSpPr>
        <p:spPr>
          <a:xfrm>
            <a:off x="11247120" y="4398264"/>
            <a:ext cx="292608" cy="292608"/>
          </a:xfrm>
          <a:prstGeom prst="ellipse">
            <a:avLst/>
          </a:prstGeom>
          <a:solidFill>
            <a:srgbClr val="2F6FB0"/>
          </a:solidFill>
          <a:ln w="12700">
            <a:solidFill>
              <a:srgbClr val="2F6FB0"/>
            </a:solidFill>
            <a:prstDash val="solid"/>
          </a:ln>
        </p:spPr>
      </p:sp>
      <p:sp>
        <p:nvSpPr>
          <p:cNvPr id="43" name="Text 35"/>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4" name="Text 36"/>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تَنَاوَلْنَا العَشَاءَ مَعًا.</a:t>
            </a:r>
            <a:endParaRPr lang="ar-SA" sz="2000" dirty="0"/>
          </a:p>
        </p:txBody>
      </p:sp>
      <p:sp>
        <p:nvSpPr>
          <p:cNvPr id="45" name="Shape 37"/>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6" name="Shape 38"/>
          <p:cNvSpPr/>
          <p:nvPr/>
        </p:nvSpPr>
        <p:spPr>
          <a:xfrm>
            <a:off x="11247120" y="4965192"/>
            <a:ext cx="292608" cy="292608"/>
          </a:xfrm>
          <a:prstGeom prst="ellipse">
            <a:avLst/>
          </a:prstGeom>
          <a:solidFill>
            <a:srgbClr val="2F6FB0"/>
          </a:solidFill>
          <a:ln w="12700">
            <a:solidFill>
              <a:srgbClr val="2F6FB0"/>
            </a:solidFill>
            <a:prstDash val="solid"/>
          </a:ln>
        </p:spPr>
      </p:sp>
      <p:sp>
        <p:nvSpPr>
          <p:cNvPr id="47" name="Text 39"/>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8" name="Text 40"/>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سَافَرْتُ إِلَى مِصْرَ فِي الصَّيْفِ المَاضِي.</a:t>
            </a:r>
            <a:endParaRPr lang="ar-SA" sz="2000" dirty="0"/>
          </a:p>
        </p:txBody>
      </p:sp>
      <p:sp>
        <p:nvSpPr>
          <p:cNvPr id="49" name="Text 41"/>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0" name="Text 42"/>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1"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مَاذَا 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trip to Egypt</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سَافَرْتُ إِلَى مِصْرَ فِي الصَّيْفِ المَاضِي.</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travelled to Egypt last summer.</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swimming in the sea</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سَبَحْتُ فِي البَحْرِ.</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swam in the sea.</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76784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950720" y="2249424"/>
            <a:ext cx="649224" cy="649224"/>
          </a:xfrm>
          <a:prstGeom prst="rect">
            <a:avLst/>
          </a:prstGeom>
        </p:spPr>
      </p:pic>
      <p:sp>
        <p:nvSpPr>
          <p:cNvPr id="46" name="Text 38"/>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dinner together</a:t>
            </a:r>
            <a:endParaRPr lang="en-US" sz="1100" dirty="0"/>
          </a:p>
        </p:txBody>
      </p:sp>
      <p:sp>
        <p:nvSpPr>
          <p:cNvPr id="47" name="Shape 39"/>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8" name="Shape 40"/>
          <p:cNvSpPr/>
          <p:nvPr/>
        </p:nvSpPr>
        <p:spPr>
          <a:xfrm>
            <a:off x="3617976" y="3785616"/>
            <a:ext cx="329184" cy="329184"/>
          </a:xfrm>
          <a:prstGeom prst="ellipse">
            <a:avLst/>
          </a:prstGeom>
          <a:solidFill>
            <a:srgbClr val="2E8B57"/>
          </a:solidFill>
          <a:ln w="12700">
            <a:solidFill>
              <a:srgbClr val="2E8B57"/>
            </a:solidFill>
            <a:prstDash val="solid"/>
          </a:ln>
        </p:spPr>
      </p:sp>
      <p:sp>
        <p:nvSpPr>
          <p:cNvPr id="49" name="Text 41"/>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0" name="Text 42"/>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تَنَاوَلْنَا العَشَاءَ مَعًا.</a:t>
            </a:r>
            <a:endParaRPr lang="ar-SA" sz="2200" dirty="0"/>
          </a:p>
        </p:txBody>
      </p:sp>
      <p:sp>
        <p:nvSpPr>
          <p:cNvPr id="51" name="Text 43"/>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We had dinner together.</a:t>
            </a:r>
            <a:endParaRPr lang="en-US" sz="1200" dirty="0"/>
          </a:p>
        </p:txBody>
      </p:sp>
      <p:sp>
        <p:nvSpPr>
          <p:cNvPr id="52"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 FOUR-LAYER ANECDOTE (WEBSITE LIVE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Before + during + reflection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ابْنِ حِكَايَتَكَ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1473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Before (kuntu qad)</a:t>
            </a:r>
            <a:endParaRPr lang="en-US" sz="1100" dirty="0"/>
          </a:p>
        </p:txBody>
      </p:sp>
      <p:sp>
        <p:nvSpPr>
          <p:cNvPr id="17" name="Text 14"/>
          <p:cNvSpPr txBox="1"/>
          <p:nvPr/>
        </p:nvSpPr>
        <p:spPr>
          <a:xfrm>
            <a:off x="439826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During (past)</a:t>
            </a:r>
            <a:endParaRPr lang="en-US" sz="1100" dirty="0"/>
          </a:p>
        </p:txBody>
      </p:sp>
      <p:sp>
        <p:nvSpPr>
          <p:cNvPr id="18" name="Text 15"/>
          <p:cNvSpPr txBox="1"/>
          <p:nvPr/>
        </p:nvSpPr>
        <p:spPr>
          <a:xfrm>
            <a:off x="530352" y="1810512"/>
            <a:ext cx="3721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Reaction / reflection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165592" y="2267712"/>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كُنْتُ قَدْ قَرَأْتُ الكَثِيرَ عَنِ المَدِينَةِ قَبْلَ زِيَارَتِي</a:t>
            </a:r>
            <a:endParaRPr lang="ar-SA" sz="1600" dirty="0"/>
          </a:p>
        </p:txBody>
      </p:sp>
      <p:sp>
        <p:nvSpPr>
          <p:cNvPr id="21" name="Text 18"/>
          <p:cNvSpPr txBox="1"/>
          <p:nvPr/>
        </p:nvSpPr>
        <p:spPr>
          <a:xfrm>
            <a:off x="4416552"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فَوَصَلْتُ وَانْبَهَرْتُ بِجَمَالِ المَدِينَةِ القَدِيمَةِ</a:t>
            </a:r>
            <a:endParaRPr lang="ar-SA" sz="1600" dirty="0"/>
          </a:p>
        </p:txBody>
      </p:sp>
      <p:sp>
        <p:nvSpPr>
          <p:cNvPr id="22" name="Text 19"/>
          <p:cNvSpPr txBox="1"/>
          <p:nvPr/>
        </p:nvSpPr>
        <p:spPr>
          <a:xfrm>
            <a:off x="548640" y="2267712"/>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وَأَدْرَكْتُ أَنَّ الصُّوَرَ لَا تُنْصِفُ المَكَانَ</a:t>
            </a:r>
            <a:endParaRPr lang="ar-SA" sz="1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165592" y="3054096"/>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كُنْتُ قَدْ سَمِعْتُ أَنَّ أَهْلَهَا كِرَامٌ</a:t>
            </a:r>
            <a:endParaRPr lang="ar-SA" sz="1600" dirty="0"/>
          </a:p>
        </p:txBody>
      </p:sp>
      <p:sp>
        <p:nvSpPr>
          <p:cNvPr id="27" name="Text 24"/>
          <p:cNvSpPr txBox="1"/>
          <p:nvPr/>
        </p:nvSpPr>
        <p:spPr>
          <a:xfrm>
            <a:off x="4416552"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وَفَجْأَةً سَمِعْتُ الأَذَانَ يَمْلَأُ السَّمَاءَ</a:t>
            </a:r>
            <a:endParaRPr lang="ar-SA" sz="1600" dirty="0"/>
          </a:p>
        </p:txBody>
      </p:sp>
      <p:sp>
        <p:nvSpPr>
          <p:cNvPr id="28" name="Text 25"/>
          <p:cNvSpPr txBox="1"/>
          <p:nvPr/>
        </p:nvSpPr>
        <p:spPr>
          <a:xfrm>
            <a:off x="548640" y="3054096"/>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وَلَوْ لَمْ أُسَافِرْ لَمَا فَهِمْتُ هٰذِهِ الثَّقَافَةَ</a:t>
            </a:r>
            <a:endParaRPr lang="ar-SA" sz="16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165592" y="3840480"/>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كُنْتُ قَدْ تَوَقَّعْتُ مَكَانًا عَادِيًّا</a:t>
            </a:r>
            <a:endParaRPr lang="ar-SA" sz="1600" dirty="0"/>
          </a:p>
        </p:txBody>
      </p:sp>
      <p:sp>
        <p:nvSpPr>
          <p:cNvPr id="31" name="Text 28"/>
          <p:cNvSpPr txBox="1"/>
          <p:nvPr/>
        </p:nvSpPr>
        <p:spPr>
          <a:xfrm>
            <a:off x="4416552"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وَلِحُسْنِ الحَظِّ قَابَلْتُ دَلِيلًا مَحَلِّيًّا</a:t>
            </a:r>
            <a:endParaRPr lang="ar-SA" sz="1600" dirty="0"/>
          </a:p>
        </p:txBody>
      </p:sp>
      <p:sp>
        <p:nvSpPr>
          <p:cNvPr id="32" name="Text 29"/>
          <p:cNvSpPr txBox="1"/>
          <p:nvPr/>
        </p:nvSpPr>
        <p:spPr>
          <a:xfrm>
            <a:off x="548640" y="3840480"/>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وَإِذَا أُتِيحَتِ الفُرْصَةُ سَأَعُودُ حَتْمًا</a:t>
            </a:r>
            <a:endParaRPr lang="ar-SA" sz="160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Say it, then write three different versions.</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Before, during — or reaction / reflection?</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كُنْتُ قَدْ حَجَزْتُ رِحْلَتِي</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كُنْتُ قَدْ قَرَأْتُ عَنِ المَدِينَةِ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كُنْتُ قَدْ سَمِعْتُ أَنَّ …</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وَصَلْتُ إِلَى المَدِينَةِ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زُرْتُ السُّوقَ وَتَذَوَّقْتُ الطَّعَامَ</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فَجْأَةً سَمِعْتُ الأَذَانَ</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فَاقَ المَكَانُ تَوَقُّعَاتِي</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cs typeface="Amiri" pitchFamily="2" charset="-78"/>
              </a:rPr>
              <a:t>غَيَّرَتِ الرِّحْلَةُ نَظْرَتِي إِلَى العَالَمِ</a:t>
            </a:r>
            <a:endParaRPr lang="ar-SA" sz="175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لَوْ لَمْ أُسَافِرْ، لَمَا فَهِمْتُ</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layer 1 (before)</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layer 2 (during)</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layers 3–4 (reaction / reflection)</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layer 1 (before)</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كُنْتُ قَدْ حَجَزْتُ رِحْلَتِي</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كُنْتُ قَدْ قَرَأْتُ عَنِ المَدِينَةِ</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كُنْتُ قَدْ سَمِعْتُ أَنَّ …</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layer 2 (during)</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وَصَلْتُ إِلَى المَدِينَةِ</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زُرْتُ السُّوقَ وَتَذَوَّقْتُ الطَّعَامَ</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فَجْأَةً سَمِعْتُ الأَذَانَ</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layers 3–4 (reaction / reflection)</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فَاقَ المَكَانُ تَوَقُّعَاتِي</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غَيَّرَتِ الرِّحْلَةُ نَظْرَتِي إِلَى العَالَمِ</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لَوْ لَمْ أُسَافِرْ، لَمَا فَهِمْتُ</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past perfect: ___ </a:t>
            </a:r>
            <a:pPr algn="l" indent="0" marL="0">
              <a:buNone/>
            </a:pPr>
            <a:r>
              <a:rPr lang="ar-SA" altLang="en-US" sz="1650" b="1" dirty="0">
                <a:solidFill>
                  <a:srgbClr val="1B3B6F"/>
                </a:solidFill>
                <a:latin typeface="Amiri" pitchFamily="2" charset="-78"/>
                <a:cs typeface="Amiri" pitchFamily="2" charset="-78"/>
              </a:rPr>
              <a:t>تَوَقَّعْتُ أَنَّ المَدِينَةَ صَغِيرَةٌ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سَـ</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كُنْتُ قَدْ</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adds narrative drama?</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فَجْأَةً</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حَيْثُ</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reports impersonally?</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أَقُولُ إِنَّ المَدِينَةَ جَمِيلَةٌ.</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قِيلَ إِنَّ المَدِينَةَ لَا تَنَامُ.</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قُلْتُ إِنِّي مُتْعَبٌ.</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combines a reaction with a contrast?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cs typeface="Amiri" pitchFamily="2" charset="-78"/>
              </a:rPr>
              <a:t>المَدِينَةُ كَبِيرَةٌ.</a:t>
            </a:r>
            <a:endParaRPr lang="ar-SA" sz="17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cs typeface="Amiri" pitchFamily="2" charset="-78"/>
              </a:rPr>
              <a:t>زُرْتُ المَدِينَةَ.</a:t>
            </a:r>
            <a:endParaRPr lang="ar-SA" sz="17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cs typeface="Amiri" pitchFamily="2" charset="-78"/>
              </a:rPr>
              <a:t>كُنْتُ قَدْ تَوَقَّعْتُ مَدِينَةً هَادِئَةً، لٰكِنَّهَا فَاقَتْ تَوَقُّعَاتِي بِحَيَوِيَّتِهَا.</a:t>
            </a:r>
            <a:endParaRPr lang="ar-SA" sz="17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past perfect: ___ </a:t>
            </a:r>
            <a:pPr algn="l" indent="0" marL="0">
              <a:buNone/>
            </a:pPr>
            <a:r>
              <a:rPr lang="ar-SA" altLang="en-US" sz="1650" b="1" dirty="0">
                <a:solidFill>
                  <a:srgbClr val="1B3B6F"/>
                </a:solidFill>
                <a:latin typeface="Amiri" pitchFamily="2" charset="-78"/>
                <a:cs typeface="Amiri" pitchFamily="2" charset="-78"/>
              </a:rPr>
              <a:t>تَوَقَّعْتُ أَنَّ المَدِينَةَ صَغِيرَةٌ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سَـ</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إِذَا</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كُنْتُ قَدْ</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past perfect is </a:t>
            </a:r>
            <a:pPr algn="l" indent="0" marL="0">
              <a:buNone/>
            </a:pPr>
            <a:r>
              <a:rPr lang="ar-SA" altLang="en-US" sz="1350" dirty="0">
                <a:solidFill>
                  <a:srgbClr val="8A6D1E"/>
                </a:solidFill>
                <a:latin typeface="Amiri" pitchFamily="2" charset="-78"/>
                <a:cs typeface="Amiri" pitchFamily="2" charset="-78"/>
              </a:rPr>
              <a:t>كُنْتُ قَدْ تَوَقَّعْتُ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adds narrative drama?</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فَجْأَةً</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حَيْثُ</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فَجْأَةً</a:t>
            </a:r>
            <a:pPr algn="l" indent="0" marL="0">
              <a:buNone/>
            </a:pPr>
            <a:r>
              <a:rPr lang="en-US" sz="1050" i="1" dirty="0">
                <a:solidFill>
                  <a:srgbClr val="8A6D1E"/>
                </a:solidFill>
                <a:latin typeface="Calibri" pitchFamily="34" charset="0"/>
                <a:cs typeface="Amiri" pitchFamily="2" charset="-78"/>
              </a:rPr>
              <a:t> (suddenly) adds narrative drama.</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reports impersonally?</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أَقُولُ إِنَّ المَدِينَةَ جَمِيلَةٌ.</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قِيلَ إِنَّ المَدِينَةَ لَا تَنَامُ.</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قُلْتُ إِنِّي مُتْعَبٌ.</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قِيلَ إِنَّ</a:t>
            </a:r>
            <a:pPr algn="l" indent="0" marL="0">
              <a:buNone/>
            </a:pPr>
            <a:r>
              <a:rPr lang="en-US" sz="1050" i="1" dirty="0">
                <a:solidFill>
                  <a:srgbClr val="8A6D1E"/>
                </a:solidFill>
                <a:latin typeface="Calibri" pitchFamily="34" charset="0"/>
                <a:cs typeface="Amiri" pitchFamily="2" charset="-78"/>
              </a:rPr>
              <a:t> is impersonal reported speech.</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combines a reaction with a contrast?</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المَدِينَةُ كَبِيرَةٌ.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زُرْتُ المَدِينَةَ.</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كُنْتُ قَدْ تَوَقَّعْتُ مَدِينَةً هَادِئَةً، لٰكِنَّهَا فَاقَتْ تَوَقُّعَاتِي بِحَيَوِيَّتِهَا.</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pairs an expectation with a reaction and a contrast.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سَمِعْتُ أَنَّ البَاعَةَ يَتَفَاوَضُونَ قَبْلَ زِيَارَتِي.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Before the trip → which tense?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لَوْ لَمْ أُسَافِرْ، سَمَا فَهِمْتُ الثَّقَافَةَ.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law lam … sa-?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المَكَانُ فَاقَ تَوَقُّعَاتِي عَلَى.</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fāqa … ʿalā?</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سَمِعْتُ أَنَّ البَاعَةَ يَتَفَاوَضُونَ قَبْلَ زِيَارَتِي.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cs typeface="Amiri" pitchFamily="2" charset="-78"/>
              </a:rPr>
              <a:t>كُنْتُ قَدْ سَمِعْتُ أَنَّ البَاعَةَ يَتَفَاوَضُونَ قَبْلَ زِيَارَتِي.</a:t>
            </a:r>
            <a:endParaRPr lang="ar-SA" sz="21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An event before the holiday takes the past perfect.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لَوْ لَمْ أُسَافِرْ، سَمَا فَهِمْتُ الثَّقَافَةَ.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لَوْ لَمْ أُسَافِرْ، لَمَا فَهِمْتُ الثَّقَافَةَ.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negative Type 2 result uses </a:t>
            </a:r>
            <a:pPr algn="l" indent="0" marL="0">
              <a:buNone/>
            </a:pPr>
            <a:r>
              <a:rPr lang="ar-SA" altLang="en-US" sz="1500" b="1" dirty="0">
                <a:solidFill>
                  <a:srgbClr val="1B3B6F"/>
                </a:solidFill>
                <a:latin typeface="Amiri" pitchFamily="2" charset="-78"/>
                <a:cs typeface="Amiri" pitchFamily="2" charset="-78"/>
              </a:rPr>
              <a:t>لَمَا</a:t>
            </a:r>
            <a:pPr algn="l" indent="0" marL="0">
              <a:buNone/>
            </a:pPr>
            <a:r>
              <a:rPr lang="en-US" sz="1150" b="1" dirty="0">
                <a:solidFill>
                  <a:srgbClr val="1B3B6F"/>
                </a:solidFill>
                <a:latin typeface="Calibri" pitchFamily="34" charset="0"/>
                <a:cs typeface="Amiri" pitchFamily="2" charset="-78"/>
              </a:rPr>
              <a:t>, not </a:t>
            </a:r>
            <a:pPr algn="l" indent="0" marL="0">
              <a:buNone/>
            </a:pPr>
            <a:r>
              <a:rPr lang="ar-SA" altLang="en-US" sz="1500" b="1" dirty="0">
                <a:solidFill>
                  <a:srgbClr val="1B3B6F"/>
                </a:solidFill>
                <a:latin typeface="Amiri" pitchFamily="2" charset="-78"/>
                <a:cs typeface="Amiri" pitchFamily="2" charset="-78"/>
              </a:rPr>
              <a:t>سَـ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المَكَانُ فَاقَ تَوَقُّعَاتِي عَلَى.</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فَاقَ المَكَانُ تَوَقُّعَاتِي.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فَاقَ</a:t>
            </a:r>
            <a:pPr algn="l" indent="0" marL="0">
              <a:buNone/>
            </a:pPr>
            <a:r>
              <a:rPr lang="en-US" sz="1150" b="1" dirty="0">
                <a:solidFill>
                  <a:srgbClr val="1B3B6F"/>
                </a:solidFill>
                <a:latin typeface="Calibri" pitchFamily="34" charset="0"/>
                <a:cs typeface="Amiri" pitchFamily="2" charset="-78"/>
              </a:rPr>
              <a:t> takes a direct object; no trailing preposition.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 trip to Marrakesh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traveller done before the visit?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 about Marrakesh and heard that traders bargain hard</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Cancelled the trip</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on arrival?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Disappointment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memorable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Amazement at the old city's beauty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the traveller's realisation (Layer 3)?</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place is ordinary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photos were better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Photos do not do the place justice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local guide indicate?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finest souks are best in the morning</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souks are closed</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Travel is unsafe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reflection (Layer 4)?</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regret the trip</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they not travelled, they would not have understood the culture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changed</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kuntu qad · waṣaltu · adraktu.</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يَرْوِي المُسَافِرُ: كُنْتُ قَدْ قَرَأْتُ الكَثِيرَ عَنْ مَرَّاكُشَ قَبْلَ زِيَارَتِي، وَكُنْتُ قَدْ سَمِعْتُ أَنَّ البَاعَةَ يَتَفَاوَضُونَ بِشِدَّةٍ.</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traveller tells: I had read a lot about Marrakesh before my visit, and I had heard that the traders bargain hard.</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وَصَلْتُ إِلَى المَدِينَةِ القَدِيمَةِ وَانْبَهَرْتُ بِجَمَالِهَا. فِي تِلْكَ اللَّحْظَةِ، سَمِعْتُ الأَذَانَ يَمْلَأُ السَّمَاءَ، وَتَذَوَّقْتُ طَعَامًا لَمْ أُجَرِّبْهُ مِنْ قَبْلُ.</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arrived in the old city and was dazzled by its beauty. At that moment I heard the call to prayer fill the sky, and I tasted food I had never tried before.</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أَدْرَكْتُ أَنَّ الصُّوَرَ لَا تُنْصِفُ هٰذَا المَكَانَ، وَفَاقَ سِحْرُ الأَزِقَّةِ تَوَقُّعَاتِي.</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realised that photos do not do this place justice, and the magic of the alleys exceeded my expectations.</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لِحُسْنِ الحَظِّ، قَابَلْتُ دَلِيلًا مَحَلِّيًّا أَشَارَ إِلَى أَنَّ أَجْمَلَ الأَسْوَاقِ تَكُونُ صَبَاحًا.</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Fortunately, I met a local guide who pointed out that the finest souks are in the morning.</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2" charset="-78"/>
                <a:cs typeface="Amiri" pitchFamily="2" charset="-78"/>
              </a:rPr>
              <a:t>لَوْ لَمْ أُسَافِرْ إِلَى هٰذِهِ المَدِينَةِ، لَمَا فَهِمْتُ ثَقَافَتَهَا. وَإِذَا أُتِيحَتْ لِيَ الفُرْصَةُ، سَأَعُودُ حَتْمًا.</a:t>
            </a:r>
            <a:endParaRPr lang="ar-SA" sz="16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I not travelled to this city, I would not have understood its culture. And if I get the chance, I will definitely return.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traveller done before the visit?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Read about Marrakesh and heard that traders bargain hard</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Cancelled the trip</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كُنْتُ قَدْ قَرَأْتُ … وَكُنْتُ قَدْ سَمِعْتُ أَنَّ البَاعَةَ يَتَفَاوَضُونَ بِشِدَّةٍ.</a:t>
            </a:r>
            <a:endParaRPr lang="ar-SA" sz="130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on arrival?</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Disappointment</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memorable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Amazement at the old city's beauty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وَصَلْتُ إِلَى المَدِينَةِ القَدِيمَةِ وَانْبَهَرْتُ بِجَمَالِهَا.</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the traveller's realisation (Layer 3)?</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place is ordinary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photos were better</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Photos do not do the place justice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أَدْرَكْتُ أَنَّ الصُّوَرَ لَا تُنْصِفُ هٰذَا المَكَانَ.</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local guide indicate?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The finest souks are best in the morning</a:t>
            </a:r>
            <a:endParaRPr lang="en-US" sz="12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souks are closed</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Travel is unsafe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أَشَارَ إِلَى أَنَّ أَجْمَلَ الأَسْوَاقِ تَكُونُ صَبَاحًا.</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reflection (Layer 4)?</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regret the trip</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they not travelled, they would not have understood the culture</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changed</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لَوْ لَمْ أُسَافِرْ … لَمَا فَهِمْتُ ثَقَافَتَهَا.</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kuntu qad · waṣaltu · adraktu.</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Speaking: tell a holiday story in layers</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كُنْتَ قَدْ تَوَقَّعْتَ قَبْلَ الرِّحْلَةِ؟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حَدَثَ حِينَ وَصَلْتَ؟ وَمَا كَانَ رَدُّ فِعْلِكَ؟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لَوْ لَمْ تُسَافِرْ، مَاذَا كُنْتَ سَتَفْقِدُ؟</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D5FBF"/>
                </a:solidFill>
                <a:latin typeface="Amiri" pitchFamily="2" charset="-78"/>
                <a:cs typeface="Amiri" pitchFamily="2" charset="-78"/>
              </a:rPr>
              <a:t>كُنْتُ قَدْ تَوَقَّعْتُ ___ ، وَكُنْتُ قَدْ قَرَأْتُ ___ .</a:t>
            </a:r>
            <a:endParaRPr lang="ar-SA" sz="14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cs typeface="Amiri" pitchFamily="2" charset="-78"/>
              </a:rPr>
              <a:t>عِنْدَمَا وَصَلْتُ ___ ، وَفَاقَ ___ تَوَقُّعَاتِي.</a:t>
            </a:r>
            <a:endParaRPr lang="ar-SA" sz="155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لَوْ لَمْ أُسَافِرْ إِلَى ___ ، لَمَا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مَاذَا كُنْتَ قَدْ تَوَقَّعْتَ قَبْلَ الرِّحْلَةِ؟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had you expected before the trip?</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كُنْتُ قَدْ تَوَقَّعْتُ مَكَانًا عَادِيًّا، وَكُنْتُ قَدْ قَرَأْتُ عَنْهُ قَلِيلًا.</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had expected an ordinary place, and I had read a little about it.</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one sentence for each of the four layers.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one sentence for each of the four layers.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70–90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Expand Layer 2 to five past-tense sentences with connectors.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expand Layer 2 to five past-tense sentences with connectors.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110–120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full anecdote with both conditional types in Layer 4 and a reported-speech clause.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 four-layer anecdote with two past perfects, connectors, a reaction, both conditionals and a reported-speech clause.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لِحُسْنِ الحَظِّ، قَابَلْتُ ______ قَالَ إِنَّ ______ .</a:t>
            </a:r>
            <a:endParaRPr lang="ar-SA" sz="17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Fortunately, I met … who said that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أَدْرَكْتُ 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realised that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لَوْ لَمْ أُسَافِرْ، لَمَا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Had I not travelled, I would not have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إِذَا أُتِيحَتْ لِيَ الفُرْصَةُ،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 get the chance,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قَضَيْتُ إِجَازَتِي فِي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spent my holiday in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كُنْتُ قَدْ تَوَقَّعْتُ أَنَّ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had expected that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وَصَلْتُ ______ ، وَفَجْأَةً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arrived … and suddenly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فَاقَ المَكَانُ تَوَقُّعَاتِي لِأَنَّ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place exceeded my expectations because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cs typeface="Amiri" pitchFamily="2" charset="-78"/>
              </a:rPr>
              <a:t>الأُرْدُنِّ  ·  مَرَّاكُشَ  ·  مَكَانًا عَادِيًّا  ·  فَجْرًا  ·  ظَهَرَتِ الخَزْنَةُ أَمَامِي  ·  سَمِعْتُ الأَذَانَ  ·  دَلِيلًا مَحَلِّيًّا  ·  الصُّوَرَ لَا تُنْصِفُ المَكَانَ  ·  غَيَّرَ نَظْرَتِي إِلَى التَّارِيخِ  ·  فَهِمْتُ ثَقَافَتَهُ  ·  سَأَعُودُ حَتْمًا  ·  ذِكْرَى لَا تُنْسَى</a:t>
            </a:r>
            <a:endParaRPr lang="ar-SA" sz="12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holiday anecdote of one hundred and ten to one hundred and twenty words using the four layers. Layer 1: two past-perfect sentences. Layer 2: a past narrative with connectors. Layer 3: a reaction. Layer 4: one Type 1 and one Type 2 conditional. Include one reported-speech sentence.</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past-perfect sentences (</a:t>
            </a:r>
            <a:pPr algn="l" indent="0" marL="0">
              <a:buNone/>
            </a:pPr>
            <a:r>
              <a:rPr lang="ar-SA" altLang="en-US" sz="1550" dirty="0">
                <a:solidFill>
                  <a:srgbClr val="1F2A37"/>
                </a:solidFill>
                <a:latin typeface="Amiri" pitchFamily="2" charset="-78"/>
                <a:cs typeface="Amiri" pitchFamily="2" charset="-78"/>
              </a:rPr>
              <a:t>كُنْتُ قَدْ</a:t>
            </a:r>
            <a:pPr algn="l" indent="0" marL="0">
              <a:buNone/>
            </a:pPr>
            <a:r>
              <a:rPr lang="en-US" sz="1200" dirty="0">
                <a:solidFill>
                  <a:srgbClr val="1F2A37"/>
                </a:solidFill>
                <a:latin typeface="Calibri" pitchFamily="34" charset="0"/>
                <a:cs typeface="Amiri" pitchFamily="2" charset="-78"/>
              </a:rPr>
              <a:t> …) in Layer 1.</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narrative with connectors (</a:t>
            </a:r>
            <a:pPr algn="l" indent="0" marL="0">
              <a:buNone/>
            </a:pPr>
            <a:r>
              <a:rPr lang="ar-SA" altLang="en-US" sz="1550" dirty="0">
                <a:solidFill>
                  <a:srgbClr val="1F2A37"/>
                </a:solidFill>
                <a:latin typeface="Amiri" pitchFamily="2" charset="-78"/>
                <a:cs typeface="Amiri" pitchFamily="2" charset="-78"/>
              </a:rPr>
              <a:t>فَجْأَةً، لِحُسْنِ الحَظِّ</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reaction (</a:t>
            </a:r>
            <a:pPr algn="l" indent="0" marL="0">
              <a:buNone/>
            </a:pPr>
            <a:r>
              <a:rPr lang="ar-SA" altLang="en-US" sz="1550" dirty="0">
                <a:solidFill>
                  <a:srgbClr val="1F2A37"/>
                </a:solidFill>
                <a:latin typeface="Amiri" pitchFamily="2" charset="-78"/>
                <a:cs typeface="Amiri" pitchFamily="2" charset="-78"/>
              </a:rPr>
              <a:t>أَدْرَكْتُ / فَاقَ تَوَقُّعَاتِي / غَيَّرَ نَظْرَتِي</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Type 1 and a Type 2 conditional, plus one reported-speech clause.</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مُجَرَّدُ آثَارٍ قَدِيمَةٍ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just old ruins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وَمَشَيْتُ عَبْرَ المَمَرِّ الضَّيِّقِ</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I walked through the narrow passage</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يَسْتَحِقُّ يَوْمًا كَامِلًا</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deserves a whole day</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لَمَا شَعَرْتُ بِهٰذَا الارْتِبَاطِ بِالمَاضِي</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would not have felt this connection with the past</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سَأَعُودُ لِأَكْتَشِفَ المَزِيدَ</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return to discover more</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cs typeface="Amiri" pitchFamily="2" charset="-78"/>
              </a:rPr>
              <a:t>قَضَيْتُ إِجَازَتِي العَامَ المَاضِيَ فِي الأُرْدُنِّ. كُنْتُ قَدْ حَجَزْتُ رِحْلَتِي قَبْلَ شَهْرٍ، وَكُنْتُ قَدْ تَوَقَّعْتُ أَنَّ البَتْرَاءَ مُجَرَّدُ آثَارٍ قَدِيمَةٍ. وَصَلْتُ فَجْرًا وَمَشَيْتُ عَبْرَ المَمَرِّ الضَّيِّقِ، وَفَجْأَةً ظَهَرَتِ الخَزْنَةُ أَمَامِي. لِحُسْنِ الحَظِّ، قَابَلْتُ دَلِيلًا مَحَلِّيًّا قَالَ إِنَّ هٰذَا المَكَانَ يَسْتَحِقُّ يَوْمًا كَامِلًا. أَدْرَكْتُ أَنَّ الصُّوَرَ لَا تُنْصِفُهُ، وَفَاقَتِ البَتْرَاءُ كُلَّ تَوَقُّعَاتِي وَغَيَّرَتْ نَظْرَتِي إِلَى التَّارِيخِ. لَوْ لَمْ أَزُرْ هٰذَا المَكَانَ، لَمَا شَعَرْتُ بِهٰذَا الارْتِبَاطِ بِالمَاضِي. وَإِذَا أُتِيحَتْ لِيَ الفُرْصَةُ، سَأَعُودُ لِأَكْتَشِفَ المَزِيدَ.</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spent my holiday last year in Jordan. I had booked my trip a month earlier, and I had expected Petra to be just old ruins. I arrived at dawn and walked through the narrow passage, and suddenly the Treasury appeared in front of me. Fortunately, I met a local guide who said that this place deserves a whole day. I realised that photos do not do it justice; Petra exceeded all my expectations and changed my view of history. Had I not visited this place, I would not have felt this connection with the past. And if I get the chance, I will return to discover more.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past perfects (Layer 1)</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past narrative with fajʾatan / li-ḥusni l-ḥaẓẓ (Layer 2)</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adraktu anna · fāqat · ghayyarat (Layer 3)</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law lam … lamā and idhā … sa- (Layer 4) + qāla inna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Layer 1 uses kuntu qad + past.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Layer 2 is in the simple past, with connectors.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weak verbs are right (zurtu · mashaytu · qaḍaytu).</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reaction verb agrees with the place (fāqat al-batrāʾ).</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law lam + jussive … lamā + past; idhā … sa-.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belongs to Layer 1 (before)?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كُنْتُ قَدْ سَمِعْتُ أَنَّ المَدِينَةَ سَاحِرَةٌ.</a:t>
            </a:r>
            <a:endParaRPr lang="ar-SA" sz="200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وَصَلْتُ وَزُرْتُ السُّوقَ.</a:t>
            </a:r>
            <a:endParaRPr lang="ar-SA" sz="200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إِذَا عُدْتُ، سَأَبْقَى أَطْوَلَ.</a:t>
            </a:r>
            <a:endParaRPr lang="ar-SA" sz="200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Layer 3 reaction?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كُنْتُ قَدْ حَجَزْتُ الفُنْدُقَ.</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فَاقَ المَكَانُ تَوَقُّعَاتِي.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سَأَعُودُ إِذَا اسْتَطَعْتُ.</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Type 2 reflection?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cs typeface="Amiri" pitchFamily="2" charset="-78"/>
              </a:rPr>
              <a:t>لَوْ لَمْ أُسَافِرْ، لَمَا فَهِمْتُ الثَّقَافَةَ.</a:t>
            </a:r>
            <a:endParaRPr lang="ar-SA" sz="19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cs typeface="Amiri" pitchFamily="2" charset="-78"/>
              </a:rPr>
              <a:t>إِذَا سَافَرْتُ، سَأَفْهَمُ الثَّقَافَةَ.</a:t>
            </a:r>
            <a:endParaRPr lang="ar-SA" sz="19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cs typeface="Amiri" pitchFamily="2" charset="-78"/>
              </a:rPr>
              <a:t>سَافَرْتُ وَفَهِمْتُ الثَّقَافَةَ.</a:t>
            </a:r>
            <a:endParaRPr lang="ar-SA" sz="19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belongs to Layer 1 (before)?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كُنْتُ قَدْ سَمِعْتُ أَنَّ المَدِينَةَ سَاحِرَةٌ.</a:t>
            </a:r>
            <a:endParaRPr lang="ar-SA" sz="200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00" dirty="0">
                <a:solidFill>
                  <a:srgbClr val="9AA1AB"/>
                </a:solidFill>
                <a:latin typeface="Amiri" pitchFamily="2" charset="-78"/>
                <a:cs typeface="Amiri" pitchFamily="2" charset="-78"/>
              </a:rPr>
              <a:t>وَصَلْتُ وَزُرْتُ السُّوقَ.</a:t>
            </a:r>
            <a:endParaRPr lang="ar-SA" sz="200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9AA1AB"/>
                </a:solidFill>
                <a:latin typeface="Amiri" pitchFamily="2" charset="-78"/>
                <a:cs typeface="Amiri" pitchFamily="2" charset="-78"/>
              </a:rPr>
              <a:t>إِذَا عُدْتُ، سَأَبْقَى أَطْوَلَ.</a:t>
            </a:r>
            <a:endParaRPr lang="ar-SA" sz="200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كُنْتُ قَدْ</a:t>
            </a:r>
            <a:pPr algn="l" indent="0" marL="0">
              <a:buNone/>
            </a:pPr>
            <a:r>
              <a:rPr lang="en-US" sz="1050" i="1" dirty="0">
                <a:solidFill>
                  <a:srgbClr val="8A6D1E"/>
                </a:solidFill>
                <a:latin typeface="Calibri" pitchFamily="34" charset="0"/>
                <a:cs typeface="Amiri" pitchFamily="2" charset="-78"/>
              </a:rPr>
              <a:t> + past states a prior event.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Layer 3 reaction?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كُنْتُ قَدْ حَجَزْتُ الفُنْدُقَ.</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فَاقَ المَكَانُ تَوَقُّعَاتِي.</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سَأَعُودُ إِذَا اسْتَطَعْتُ.</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فَاقَ تَوَقُّعَاتِي</a:t>
            </a:r>
            <a:pPr algn="l" indent="0" marL="0">
              <a:buNone/>
            </a:pPr>
            <a:r>
              <a:rPr lang="en-US" sz="1050" i="1" dirty="0">
                <a:solidFill>
                  <a:srgbClr val="8A6D1E"/>
                </a:solidFill>
                <a:latin typeface="Calibri" pitchFamily="34" charset="0"/>
                <a:cs typeface="Amiri" pitchFamily="2" charset="-78"/>
              </a:rPr>
              <a:t> is a reaction.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Type 2 reflection?</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950" b="1" dirty="0">
                <a:solidFill>
                  <a:srgbClr val="1F2A37"/>
                </a:solidFill>
                <a:latin typeface="Amiri" pitchFamily="2" charset="-78"/>
                <a:cs typeface="Amiri" pitchFamily="2" charset="-78"/>
              </a:rPr>
              <a:t>لَوْ لَمْ أُسَافِرْ، لَمَا فَهِمْتُ الثَّقَافَةَ.</a:t>
            </a:r>
            <a:endParaRPr lang="ar-SA" sz="19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950" dirty="0">
                <a:solidFill>
                  <a:srgbClr val="9AA1AB"/>
                </a:solidFill>
                <a:latin typeface="Amiri" pitchFamily="2" charset="-78"/>
                <a:cs typeface="Amiri" pitchFamily="2" charset="-78"/>
              </a:rPr>
              <a:t>إِذَا سَافَرْتُ، سَأَفْهَمُ الثَّقَافَةَ.</a:t>
            </a:r>
            <a:endParaRPr lang="ar-SA" sz="19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950" dirty="0">
                <a:solidFill>
                  <a:srgbClr val="9AA1AB"/>
                </a:solidFill>
                <a:latin typeface="Amiri" pitchFamily="2" charset="-78"/>
                <a:cs typeface="Amiri" pitchFamily="2" charset="-78"/>
              </a:rPr>
              <a:t>سَافَرْتُ وَفَهِمْتُ الثَّقَافَةَ.</a:t>
            </a:r>
            <a:endParaRPr lang="ar-SA" sz="19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لَوْ … لَمَا</a:t>
            </a:r>
            <a:pPr algn="l" indent="0" marL="0">
              <a:buNone/>
            </a:pPr>
            <a:r>
              <a:rPr lang="en-US" sz="1050" i="1" dirty="0">
                <a:solidFill>
                  <a:srgbClr val="8A6D1E"/>
                </a:solidFill>
                <a:latin typeface="Calibri" pitchFamily="34" charset="0"/>
                <a:cs typeface="Amiri" pitchFamily="2" charset="-78"/>
              </a:rPr>
              <a:t> is the counterfactual reflection.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Reading: a holiday that changed a view</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400" dirty="0">
                <a:solidFill>
                  <a:srgbClr val="1F2A37"/>
                </a:solidFill>
                <a:latin typeface="Amiri" pitchFamily="2" charset="-78"/>
                <a:cs typeface="Amiri" pitchFamily="2" charset="-78"/>
              </a:rPr>
              <a:t>قَضَيْتُ إِجَازَتِي العَامَ المَاضِيَ فِي الأُرْدُنِّ. كُنْتُ قَدْ تَوَقَّعْتُ أَنَّ البَتْرَاءَ مُجَرَّدُ آثَارٍ قَدِيمَةٍ، وَكُنْتُ قَدْ قَرَأْتُ عَنْهَا قَلِيلًا. وَصَلْتُ فَجْرًا، وَمَشَيْتُ عَبْرَ المَمَرِّ الضَّيِّقِ حَتَّى ظَهَرَتِ الخَزْنَةُ فَجْأَةً أَمَامِي. فِي تِلْكَ اللَّحْظَةِ، أَدْرَكْتُ أَنَّ الصُّوَرَ لَا تَنْقُلُ عَظَمَةَ المَكَانِ. فَاقَتِ البَتْرَاءُ كُلَّ تَوَقُّعَاتِي، وَغَيَّرَتْ نَظْرَتِي إِلَى التَّارِيخِ العَرَبِيِّ. وَقَابَلْتُ بَدَوِيًّا قَالَ إِنَّ أَجْدَادَهُ عَاشُوا هُنَا مُنْذُ قُرُونٍ. لَوْ لَمْ أَزُرْ هٰذَا المَكَانَ، لَمَا شَعَرْتُ بِهٰذَا الارْتِبَاطِ بِالمَاضِي. وَإِذَا عُدْتُ يَوْمًا، سَأَقْضِي وَقْتًا أَطْوَلَ.</a:t>
            </a:r>
            <a:endParaRPr lang="ar-SA" sz="24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مُجَرَّدُ آثَارٍ</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just ruins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فَجْرًا</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at dawn</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المَمَرِّ الضَّيِّقِ</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narrow passage (the Siq)</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الخَزْنَةُ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Treasury</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لَا تَنْقُلُ</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do not convey</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عَظَمَةَ المَكَانِ</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grandeur of the place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بَدَوِيًّا</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Bedouin</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أَجْدَادَهُ</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his ancestors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مُنْذُ قُرُونٍ</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for centuries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الارْتِبَاطِ</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connection</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writer expected about Petra?</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it was a modern city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it was just old ruins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as they walked through the passage?</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got lost</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turned back</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Treasury appeared suddenly before them</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writer realise (Layer 3)?</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Photos do not convey the grandeur of the place</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place was small</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photos were better</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Bedouin say?</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site is new</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ancestors had lived there for centuries</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one had lived there</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reflection?</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they not visited, they would not have felt this bond with the past</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regret the visit</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changed</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writer expected about Petra?</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it was a modern city</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That it was just old ruins</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كُنْتُ قَدْ تَوَقَّعْتُ أَنَّ البَتْرَاءَ مُجَرَّدُ آثَارٍ قَدِيمَةٍ.</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as they walked through the passage?</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got lost</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turned back</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Treasury appeared suddenly before them</a:t>
            </a:r>
            <a:endParaRPr lang="en-US" sz="11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حَتَّى ظَهَرَتِ الخَزْنَةُ فَجْأَةً أَمَامِي.</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writer realise (Layer 3)?</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Photos do not convey the grandeur of the place</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place was small</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photos were better</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أَدْرَكْتُ أَنَّ الصُّوَرَ لَا تَنْقُلُ عَظَمَةَ المَكَانِ.</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Bedouin say?</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site is new</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His ancestors had lived there for centuries</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one had lived there</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قَالَ إِنَّ أَجْدَادَهُ عَاشُوا هُنَا مُنْذُ قُرُونٍ.</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reflection?</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they not visited, they would not have felt this bond with the past</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regret the visit</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changed</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cs typeface="Amiri" pitchFamily="2" charset="-78"/>
              </a:rPr>
              <a:t>لَوْ لَمْ أَزُرْ هٰذَا المَكَانَ، لَمَا شَعَرْتُ بِهٰذَا الارْتِبَاطِ بِالمَاضِي.</a:t>
            </a:r>
            <a:endParaRPr lang="ar-SA" sz="12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Narrative Mission — Layers, Reactions and Reflection</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Layer: «</a:t>
            </a:r>
            <a:pPr algn="l" indent="0" marL="0">
              <a:buNone/>
            </a:pPr>
            <a:r>
              <a:rPr lang="ar-SA" altLang="en-US" sz="1650" b="1" dirty="0">
                <a:solidFill>
                  <a:srgbClr val="1B3B6F"/>
                </a:solidFill>
                <a:latin typeface="Amiri" pitchFamily="2" charset="-78"/>
                <a:cs typeface="Amiri" pitchFamily="2" charset="-78"/>
              </a:rPr>
              <a:t>كُنْتُ قَدْ قَرَأْتُ عَنِ المَدِينَةِ</a:t>
            </a:r>
            <a:pPr algn="l" indent="0" marL="0">
              <a:buNone/>
            </a:pPr>
            <a:r>
              <a:rPr lang="en-US" sz="1250" b="1" dirty="0">
                <a:solidFill>
                  <a:srgbClr val="1B3B6F"/>
                </a:solidFill>
                <a:latin typeface="Calibri" pitchFamily="34" charset="0"/>
                <a:cs typeface="Amiri" pitchFamily="2" charset="-78"/>
              </a:rPr>
              <a:t>» belongs to …</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Layer 2 (during)</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Layer 1 (before)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Layer 4 (reflection)</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Layer: «</a:t>
            </a:r>
            <a:pPr algn="l" indent="0" marL="0">
              <a:buNone/>
            </a:pPr>
            <a:r>
              <a:rPr lang="ar-SA" altLang="en-US" sz="1650" b="1" dirty="0">
                <a:solidFill>
                  <a:srgbClr val="1B3B6F"/>
                </a:solidFill>
                <a:latin typeface="Amiri" pitchFamily="2" charset="-78"/>
                <a:cs typeface="Amiri" pitchFamily="2" charset="-78"/>
              </a:rPr>
              <a:t>وَصَلْتُ وَتَذَوَّقْتُ الطَّعَامَ</a:t>
            </a:r>
            <a:pPr algn="l" indent="0" marL="0">
              <a:buNone/>
            </a:pPr>
            <a:r>
              <a:rPr lang="en-US" sz="1250" b="1" dirty="0">
                <a:solidFill>
                  <a:srgbClr val="1B3B6F"/>
                </a:solidFill>
                <a:latin typeface="Calibri" pitchFamily="34" charset="0"/>
                <a:cs typeface="Amiri" pitchFamily="2" charset="-78"/>
              </a:rPr>
              <a:t>» belongs to …</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Layer 2 (during)</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Layer 1 (before)</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Layer 3 (reaction)</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Layer: «</a:t>
            </a:r>
            <a:pPr algn="l" indent="0" marL="0">
              <a:buNone/>
            </a:pPr>
            <a:r>
              <a:rPr lang="ar-SA" altLang="en-US" sz="1650" b="1" dirty="0">
                <a:solidFill>
                  <a:srgbClr val="1B3B6F"/>
                </a:solidFill>
                <a:latin typeface="Amiri" pitchFamily="2" charset="-78"/>
                <a:cs typeface="Amiri" pitchFamily="2" charset="-78"/>
              </a:rPr>
              <a:t>فَاقَ المَكَانُ تَوَقُّعَاتِي</a:t>
            </a:r>
            <a:pPr algn="l" indent="0" marL="0">
              <a:buNone/>
            </a:pPr>
            <a:r>
              <a:rPr lang="en-US" sz="1250" b="1" dirty="0">
                <a:solidFill>
                  <a:srgbClr val="1B3B6F"/>
                </a:solidFill>
                <a:latin typeface="Calibri" pitchFamily="34" charset="0"/>
                <a:cs typeface="Amiri" pitchFamily="2" charset="-78"/>
              </a:rPr>
              <a:t>» belongs to …</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Layer 1 (before)</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Layer 2 (during)</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Layer 3 (reaction)</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Reflection: which is a Type 2 counterfactual?</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 سَافَرْتُ، سَأَفْهَمُ.</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سَافَرْتُ فَفَهِمْتُ.</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لَوْ لَمْ أُسَافِرْ، لَمَا فَهِمْتُ.</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Past perfect: complete — ___ </a:t>
            </a:r>
            <a:pPr algn="l" indent="0" marL="0">
              <a:buNone/>
            </a:pPr>
            <a:r>
              <a:rPr lang="ar-SA" altLang="en-US" sz="1650" b="1" dirty="0">
                <a:solidFill>
                  <a:srgbClr val="1B3B6F"/>
                </a:solidFill>
                <a:latin typeface="Amiri" pitchFamily="2" charset="-78"/>
                <a:cs typeface="Amiri" pitchFamily="2" charset="-78"/>
              </a:rPr>
              <a:t>سَمِعْتُ أَنَّ البَاعَةَ يَتَفَاوَضُونَ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كُنْتُ قَدْ</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سَـ</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Connector: which adds drama?</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فَجْأَةً</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حَيْثُ</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Layer: «</a:t>
            </a:r>
            <a:pPr algn="l" indent="0" marL="0">
              <a:buNone/>
            </a:pPr>
            <a:r>
              <a:rPr lang="ar-SA" altLang="en-US" sz="1650" b="1" dirty="0">
                <a:solidFill>
                  <a:srgbClr val="1B3B6F"/>
                </a:solidFill>
                <a:latin typeface="Amiri" pitchFamily="2" charset="-78"/>
                <a:cs typeface="Amiri" pitchFamily="2" charset="-78"/>
              </a:rPr>
              <a:t>كُنْتُ قَدْ قَرَأْتُ عَنِ المَدِينَةِ</a:t>
            </a:r>
            <a:pPr algn="l" indent="0" marL="0">
              <a:buNone/>
            </a:pPr>
            <a:r>
              <a:rPr lang="en-US" sz="1250" b="1" dirty="0">
                <a:solidFill>
                  <a:srgbClr val="1B3B6F"/>
                </a:solidFill>
                <a:latin typeface="Calibri" pitchFamily="34" charset="0"/>
                <a:cs typeface="Amiri" pitchFamily="2" charset="-78"/>
              </a:rPr>
              <a:t>» belongs to …</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Layer 2 (during)</a:t>
            </a:r>
            <a:endParaRPr lang="en-US" sz="125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Layer 1 (before)</a:t>
            </a:r>
            <a:endParaRPr lang="en-US" sz="125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Layer 4 (reflection)</a:t>
            </a:r>
            <a:endParaRPr lang="en-US" sz="125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past perfect opens the before-layer.</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Layer: «</a:t>
            </a:r>
            <a:pPr algn="l" indent="0" marL="0">
              <a:buNone/>
            </a:pPr>
            <a:r>
              <a:rPr lang="ar-SA" altLang="en-US" sz="1650" b="1" dirty="0">
                <a:solidFill>
                  <a:srgbClr val="1B3B6F"/>
                </a:solidFill>
                <a:latin typeface="Amiri" pitchFamily="2" charset="-78"/>
                <a:cs typeface="Amiri" pitchFamily="2" charset="-78"/>
              </a:rPr>
              <a:t>وَصَلْتُ وَتَذَوَّقْتُ الطَّعَامَ</a:t>
            </a:r>
            <a:pPr algn="l" indent="0" marL="0">
              <a:buNone/>
            </a:pPr>
            <a:r>
              <a:rPr lang="en-US" sz="1250" b="1" dirty="0">
                <a:solidFill>
                  <a:srgbClr val="1B3B6F"/>
                </a:solidFill>
                <a:latin typeface="Calibri" pitchFamily="34" charset="0"/>
                <a:cs typeface="Amiri" pitchFamily="2" charset="-78"/>
              </a:rPr>
              <a:t>» belongs to …</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Layer 2 (during)</a:t>
            </a:r>
            <a:endParaRPr lang="en-US" sz="125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Layer 1 (before)</a:t>
            </a:r>
            <a:endParaRPr lang="en-US" sz="125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Layer 3 (reaction)</a:t>
            </a:r>
            <a:endParaRPr lang="en-US" sz="125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simple past narrates the holiday itself.</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Layer: «</a:t>
            </a:r>
            <a:pPr algn="l" indent="0" marL="0">
              <a:buNone/>
            </a:pPr>
            <a:r>
              <a:rPr lang="ar-SA" altLang="en-US" sz="1650" b="1" dirty="0">
                <a:solidFill>
                  <a:srgbClr val="1B3B6F"/>
                </a:solidFill>
                <a:latin typeface="Amiri" pitchFamily="2" charset="-78"/>
                <a:cs typeface="Amiri" pitchFamily="2" charset="-78"/>
              </a:rPr>
              <a:t>فَاقَ المَكَانُ تَوَقُّعَاتِي</a:t>
            </a:r>
            <a:pPr algn="l" indent="0" marL="0">
              <a:buNone/>
            </a:pPr>
            <a:r>
              <a:rPr lang="en-US" sz="1250" b="1" dirty="0">
                <a:solidFill>
                  <a:srgbClr val="1B3B6F"/>
                </a:solidFill>
                <a:latin typeface="Calibri" pitchFamily="34" charset="0"/>
                <a:cs typeface="Amiri" pitchFamily="2" charset="-78"/>
              </a:rPr>
              <a:t>» belongs to …</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Layer 1 (before)</a:t>
            </a:r>
            <a:endParaRPr lang="en-US" sz="125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Layer 2 (during)</a:t>
            </a:r>
            <a:endParaRPr lang="en-US" sz="125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Layer 3 (reaction)</a:t>
            </a:r>
            <a:endParaRPr lang="en-US" sz="125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reaction verb is Layer 3.</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Reflection: which is a Type 2 counterfactual?</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إِذَا سَافَرْتُ، سَأَفْهَمُ.</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سَافَرْتُ فَفَهِمْتُ.</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لَوْ لَمْ أُسَافِرْ، لَمَا فَهِمْتُ.</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لَوْ … لَمَا</a:t>
            </a:r>
            <a:pPr algn="l" indent="0" marL="0">
              <a:buNone/>
            </a:pPr>
            <a:r>
              <a:rPr lang="en-US" sz="1050" i="1" dirty="0">
                <a:solidFill>
                  <a:srgbClr val="8A6D1E"/>
                </a:solidFill>
                <a:latin typeface="Calibri" pitchFamily="34" charset="0"/>
                <a:cs typeface="Amiri" pitchFamily="2" charset="-78"/>
              </a:rPr>
              <a:t> is the counterfactual reflection.</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Past perfect: complete — ___ </a:t>
            </a:r>
            <a:pPr algn="l" indent="0" marL="0">
              <a:buNone/>
            </a:pPr>
            <a:r>
              <a:rPr lang="ar-SA" altLang="en-US" sz="1650" b="1" dirty="0">
                <a:solidFill>
                  <a:srgbClr val="1B3B6F"/>
                </a:solidFill>
                <a:latin typeface="Amiri" pitchFamily="2" charset="-78"/>
                <a:cs typeface="Amiri" pitchFamily="2" charset="-78"/>
              </a:rPr>
              <a:t>سَمِعْتُ أَنَّ البَاعَةَ يَتَفَاوَضُونَ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كُنْتُ قَدْ</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سَـ</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إِذَا</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past perfect is </a:t>
            </a:r>
            <a:pPr algn="l" indent="0" marL="0">
              <a:buNone/>
            </a:pPr>
            <a:r>
              <a:rPr lang="ar-SA" altLang="en-US" sz="1350" dirty="0">
                <a:solidFill>
                  <a:srgbClr val="8A6D1E"/>
                </a:solidFill>
                <a:latin typeface="Amiri" pitchFamily="2" charset="-78"/>
                <a:cs typeface="Amiri" pitchFamily="2" charset="-78"/>
              </a:rPr>
              <a:t>كُنْتُ قَدْ سَمِعْتُ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Connector: which adds drama?</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فَجْأَةً</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حَيْثُ</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فَجْأَةً</a:t>
            </a:r>
            <a:pPr algn="l" indent="0" marL="0">
              <a:buNone/>
            </a:pPr>
            <a:r>
              <a:rPr lang="en-US" sz="1050" i="1" dirty="0">
                <a:solidFill>
                  <a:srgbClr val="8A6D1E"/>
                </a:solidFill>
                <a:latin typeface="Calibri" pitchFamily="34" charset="0"/>
                <a:cs typeface="Amiri" pitchFamily="2" charset="-78"/>
              </a:rPr>
              <a:t> adds narrative drama.</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P3-L03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P3-L04: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P3-L04 · Arabic-Speaking Destinations — Culture, Geography and Tourism</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وِجْهَةٌ سِيَاحِيَّةٌ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tourist destination</a:t>
            </a:r>
            <a:pPr indent="0" marL="0">
              <a:buNone/>
            </a:pPr>
            <a:r>
              <a:rPr lang="en-US" sz="1000" i="1" dirty="0">
                <a:solidFill>
                  <a:srgbClr val="5A6472"/>
                </a:solidFill>
                <a:latin typeface="Calibri" pitchFamily="34" charset="0"/>
                <a:cs typeface="Amiri" pitchFamily="2" charset="-78"/>
              </a:rPr>
              <a:t>  pl. وِجْهَاتٌ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مَعْلَمٌ تُرَاثِيٌّ</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heritage landmark</a:t>
            </a:r>
            <a:pPr indent="0" marL="0">
              <a:buNone/>
            </a:pPr>
            <a:r>
              <a:rPr lang="en-US" sz="1000" i="1" dirty="0">
                <a:solidFill>
                  <a:srgbClr val="5A6472"/>
                </a:solidFill>
                <a:latin typeface="Calibri" pitchFamily="34" charset="0"/>
                <a:cs typeface="Amiri" pitchFamily="2" charset="-78"/>
              </a:rPr>
              <a:t>  pl. مَعَالِمُ</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يَسْتَقْطِبُ</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it attracts</a:t>
            </a:r>
            <a:pPr indent="0" marL="0">
              <a:buNone/>
            </a:pPr>
            <a:r>
              <a:rPr lang="en-US" sz="1000" i="1" dirty="0">
                <a:solidFill>
                  <a:srgbClr val="5A6472"/>
                </a:solidFill>
                <a:latin typeface="Calibri" pitchFamily="34" charset="0"/>
                <a:cs typeface="Amiri" pitchFamily="2" charset="-78"/>
              </a:rPr>
              <a:t>  تَسْتَقْطِبُ she / it (f.)</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يَتَمَيَّزُ بِـ</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it is distinguished by</a:t>
            </a:r>
            <a:pPr indent="0" marL="0">
              <a:buNone/>
            </a:pPr>
            <a:r>
              <a:rPr lang="en-US" sz="1000" i="1" dirty="0">
                <a:solidFill>
                  <a:srgbClr val="5A6472"/>
                </a:solidFill>
                <a:latin typeface="Calibri" pitchFamily="34" charset="0"/>
                <a:cs typeface="Amiri" pitchFamily="2" charset="-78"/>
              </a:rPr>
              <a:t>  تَتَمَيَّزُ she / it (f.)</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يَشْتَهِرُ بِـ</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it is famous for</a:t>
            </a:r>
            <a:pPr indent="0" marL="0">
              <a:buNone/>
            </a:pPr>
            <a:r>
              <a:rPr lang="en-US" sz="1000" i="1" dirty="0">
                <a:solidFill>
                  <a:srgbClr val="5A6472"/>
                </a:solidFill>
                <a:latin typeface="Calibri" pitchFamily="34" charset="0"/>
                <a:cs typeface="Amiri" pitchFamily="2" charset="-78"/>
              </a:rPr>
              <a:t>  تَشْتَهِرُ she / it (f.)</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Arab city would you most like to visit, and what is it famous for?</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cs typeface="Amiri" pitchFamily="2" charset="-78"/>
              </a:rPr>
              <a:t>أَوَدُّ أَنْ أَزُورَ ______ ، لِأَنَّهَا تَشْتَهِرُ بِمَعَالِمِهَا مِثْلِ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one sentence for each of the four layers about a trip (real or imagined).</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Expand Layer 2 to five past-tense sentences with connectors (70–90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110–120-word four-layer holiday anecdote.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P3-L03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P3-L04 · Arabic-Speaking Destinations — Culture, Geography and Tourism</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الوِجْهَاتُ النَّاطِقَةُ بِالعَرَبِيَّةِ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four layers — kuntu qad (before) · waṣaltu, zurtu (during) · adraktu anna, fāqa tawaqquʿātī (reaction) · idhā … sa- and law lam … lamā (reflection).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P3-L03 · Describing Past Holidays — Advanced Narrative</dc:title>
  <dc:subject>PptxGenJS Presentation</dc:subject>
  <dc:creator>Al Madina Online School · Arabic Department</dc:creator>
  <cp:lastModifiedBy>Al Madina Online School · Arabic Department</cp:lastModifiedBy>
  <cp:revision>1</cp:revision>
  <dcterms:created xsi:type="dcterms:W3CDTF">2026-10-11T06:43:08Z</dcterms:created>
  <dcterms:modified xsi:type="dcterms:W3CDTF">2026-10-11T06:43:08Z</dcterms:modified>
</cp:coreProperties>
</file>