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P3-L01. The website lesson “Modes of Transport — Advanced Vocabulary and Formal Descriptions”: vocabulary, grammar rules and quiz, patterns, common mistakes, sorter, listening, reading, speaking prompts and model, writing task and model, differentiation, final check and the lesson mission. Picture match: website visual game “Modes of Transport — Advanced Vocabulary and Formal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formal journey sentences with the right complements (website Core). Develop: add a superlative comparison and a statistic. Stretch: close with a Type 1 prediction and a Type 2 counterfactual (the website 90–100-word comparison).
• Start from what students know: the Foundation picture game (bus · train · plane) is the warm-up; the lesson then “upgrades” it to formal register: أُسَافِرُ بِالقِطَارِ → يَصِلُ القِطَارُ بَيْنَ … وَيَسْتَغْرِقُ …
• Islamic link (optional): the Haramain high-speed railway links Makkah and Madinah (about 450 km) at up to 300 km/h — a journey that took pilgrims days by caravan now takes around two hours. A perfect “law … la-kāna” sentence.
• Grammar links: superlative / comparative (P1-L09) · statistics يُمَثِّلُ · يَبْلُغُ (P1-L09) · Type 1 (P1-L03) · Type 2 (P2-L06).
• TEACHER-WRITTEN ITEMS: waṣl alif shown without a kasra; rule headings and formulas in English and transliteration; sorter headings in transliteration; the numbers table and the Haramain card are teacher-built from the website texts; the website visual game (a Foundation transport match) is used as a warm-up.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P2-L12. Question 4 retrieves the Type 2 conditional (P2-L06) and question 5 the comparative afʿalu min (P1-L09) — both return in today’s transport comparisons.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journey verb has its own partner: a TIME, a DISTANCE, or BAYNA + two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مسافت، وسیلہ، سرعت and مرکز are all shared — the formal transport words are already familiar. Urdu usually says رفتار for speed; in a formal Arabic text it is always سُرْعَةٌ (سُرْعَةٌ قُصْوَى = maximum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Advanced transport modes (website vocabulary (1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Advanced transport modes (website vocabulary (2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journeys formally (website vocabulary (1 of 2)). Hear → Say → See → Use. Transliteration is printed for Core students (cover it for Develop/Stretch).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Describing journeys formally (website vocabulary (2 of 2)). Hear → Say → See → Use. Transliteration is printed for Core students (cover it for Develop/Stretch).
FLEX: teach if time allows; otherwise these are on the website vocabulary tab for homework.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Efficiency and environment (website vocabulary (1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Efficiency and environment (website vocabulary (2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“Journey verbs”, the website table and teaching point “Each journey verb keeps its own complement”.
Website mistake 1: يَصِلُ المِتْرُو إِلَى المَرْكَزِ وَالمَطَارِ ✗ → بَيْنَ المَرْكَزِ وَالمَطَارِ. (يَصِلُ إِلَى alone = “arrives at” — a different meaning.)
Agreement: the vehicle decides the prefix — يَقْطَعُ القِطَارُ (m.) · تَقْطَعُ الطَّائِرَةُ (f.) · تَسْتَغْرِقُ الرِّحْلَةُ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numbers used in the website quiz (ثَلَاثَ سَاعَاتٍ), listening (ثَلَاثَمِئَةِ كِيلُومِتْرٍ · نِصْفَ سَاعَةٍ) and sorter (سَاعَةً وَنِصْفًا · عِشْرِينَ دَقِيقَةً · مِئَتَيْ كِيلُومِتْرٍ · أَلْفَ كِيلُومِتْرٍ).
Gender of 3–10 is the OPPOSITE of the singular noun: سَاعَةٌ (f.) → ثَلَاثُ سَاعَاتٍ; كِيلُومِتْرٌ (m.) → ثَلَاثَةُ كِيلُومِتْرَاتٍ.
After يَسْتَغْرِقُ / يَقْطَعُ the number is the OBJECT, so it ends in -a: ثَلَاثَ · عِشْرِينَ · أَلْفَ. After بَلَغَتْ … the same.
Grammar Mastery link: GM-NUM (numbers 3–10, 11–99, hundreds).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“Superlative and statistics” (القِطَارُ السَّرِيعُ أَسْرَعُ وَسِيلَةٍ · تَبْلُغُ سُرْعَتُهُ القُصْوَى …) and website mistake 2: أَكْثَرُ سَرِيعٍ ✗ → أَسْرَعُ.
Superlative patterns: afʿalu + indefinite genitive (أَسْرَعُ وَسِيلَةٍ = the fastest mode) · al-afʿal (الأَنْظَفُ) · min afʿali + plural (مِنْ أَحْدَثِ الشَّبَكَاتِ = one of the newest networks). Feminine al-fuʿlā in set phrases: المُدُنُ الكُبْرَى (website reading).
Row 4: مُزْدَحِمٌ is Form VIII (too long for afʿal) → أَكْثَرُ / أَقَلُّ + ازْدِحَامًا (tamyīz).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rules “Real prediction” and “Counterfactual” and teaching point “Use both conditionals to reason about transport”. Cards 1–2 are from the website listening and rule examples.
Card 3 is teacher-built (the Haramain railway link): وُجِدَ is passive past (“existed”); the result لَوَصَلَ — la- + past.
Website challenge: “Write one real prediction with إِذَا and one counterfactual with لَوْ about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formal journey verbs with their complements, superlative and statistical language, and both conditional types applied to transport.”
• Journey verbs: Each takes a specific complement.
• Superlative and statistics: Compare modes and quantify the claim.
• Real prediction: A genuine future transport outcome.
• Counterfactual: What would have been different.
Website common error: Using إِلَى after يَصِلُ بَيْنَ, or a comparative where a superlative is needed. يَصِلُ بَيْنَ links two named places, and the superlative is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“Superlative first: asraʿa wasīlatin. Journey: yaṣil BAYNA two places, yaqṭaʿ MASĀFATAN. A statistic with tablugh. Then reason: idhā + past … sa- for the future; law + past … la-kānat for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transport description from a journey fact, a comparison and a conditional.” Website feedback: any three different combinations work.
Core: read row 1 across. Develop: mix rows and name each journey verb’s partner. Stretch: replace column 3 with your own law … la-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every number you hear as a figure.
Listen 1: just listen. Listen 2: note answers. Then chat the letters.
Support: after the second listening, show the read-along slide (Arabic + English, line by line) for Core students.
SCRIPT (read aloud):
يَشْهَدُ العَالَمُ العَرَبِيُّ نَهْضَةً فِي النَّقْلِ العَامِّ. فَالخَطُّ الحَدِيدِيُّ السَّرِيعُ يَصِلُ بَيْنَ مَكَّةَ وَالمَدِينَةِ، وَتَبْلُغُ سُرْعَتُهُ القُصْوَى ثَلَاثَمِئَةِ كِيلُومِتْرٍ فِي السَّاعَةِ. وَقَدْ قَلَّصَ هٰذَا المَشْرُوعُ وَقْتَ السَّفَرِ بِنِسْبَةٍ كَبِيرَةٍ. وَأَشَارَتْ تَقَارِيرُ إِلَى أَنَّ مِتْرُو الرِّيَاضِ أَصْبَحَ مِنْ أَحْدَثِ الشَّبَكَاتِ فِي العَالَمِ. وَتَسْتَغْرِقُ الرِّحْلَةُ بَيْنَ المَرْكَزِ وَالمَطَارِ نِصْفَ سَاعَةٍ فَقَطْ. وَتُعَدُّ السَّيَّارَةُ الكَهْرَبَائِيَّةُ أَنْظَفَ لِلْبِيئَةِ مِنَ السَّيَّارَةِ التَّقْلِيدِيَّةِ. وَإِذَا اعْتَمَدَتِ المُدُنُ عَلَى النَّقْلِ الكَهْرَبَائِيِّ، سَتَنْخَفِضُ انْبِعَاثَاتُ الكَرْبُونِ. وَلَوْ بَدَأَتْ هٰذِهِ المَشَارِيعُ مُبَكِّرًا، لَكَانَتْ مُدُنُنَا أَقَلَّ ازْدِحَامًا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تَرَى مُسْتَقْبَلَ النَّقْلِ؟ (Prediction)
B: إِذَا اعْتَمَدْنَا عَلَى المَرْكَبَاتِ الكَهْرَبَائِيَّةِ، سَتَنْخَفِضُ الانْبِعَاثَاتُ، وَلَوْ بَدَأْنَا مُبَكِّرًا لَكَانَتْ مُدُنُنَا أَنْظَفَ. (Type 1 plus Type 2)
Website prompts and model. Pair task: each student describes a real journey they know (school run, a trip to family, Umrah) with one journey verb and one number. To a girl: صِفِي · مُسْتَعْمِلَةً · قَارِنِي · تَنَبَّئِي.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formal journey sentences with correct complements. · Develop — Add a superlative comparison and a statistic. · Stretch — Close with a Type 1 prediction and a Type 2 counterfactual.
Website writing task (Stretch): Write ninety to one hundred words comparing three modes of transport. Use يَصِلُ بَيْنَ، يَسْتَغْرِقُ and يَقْطَعُ مَسَافَةً, at least one superlative, statistical language (يُمَثِّلُ / يَبْلُغُ), environmental vocabulary,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يُعَدُّ … أَسْرَعَ وَسِيلَةٍ · يَصِلُ بَيْنَ مَكَّةَ وَالمَدِينَةِ · يَقْطَعُ مَسَافَةً طَوِيلَةً · تَبْلُغُ سُرْعَتُهُ القُصْوَى · يَسْتَغْرِقُ دَقَائِقَ · تُمَثِّلُ … الخِيَارَ الأَنْظَفَ · إِذَا اعْتَمَدَتِ … سَتَنْخَفِضُ · لَوْ تَطَوَّرَتْ … لَكَانَتْ.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(P3-L02 · Planning a Trip — Booking, Itineraries and Travel Documents) will spend class time USING this language, so students prepare it tonight — short, simple, easy to access (school guidance: “Simple, Short, Interesting, Relevant, Easy to access”). The five words come from the website P3-L02 vocabulary (booking and travel documents).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Modes of Transport — Advanced Vocabulary and Formal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34" charset="0"/>
                <a:ea typeface="Amiri" pitchFamily="34" charset="-122"/>
                <a:cs typeface="Amiri" pitchFamily="34" charset="-120"/>
              </a:rPr>
              <a:t>وَسَائِلُ النَّقْلِ — المُفْرَدَاتُ المُتَقَدِّمَةُ وَالأَوْصَافُ الرَّسْمِيَّةُ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modern transport in formal Arabic: yastaghriq + a duration, yaqṭaʿ masāfatan, yaṣil bayna two places; compare modes with afʿal and quantify with yablugh / yumaththil — then reason about transport with idhā … sa- and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Journey verbs + complements, numbers with time and distance, afʿal, both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Upgrade a picture match, build a transport description,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الخَطُّ الحَدِيدِيُّ السَّرِيعُ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underground metro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high-speed rail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motorway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مِتْرُو الأَنْفَاقِ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underground metro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tunnel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انْبِعَاثَاتُ الكَرْبُونِ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fuel efficiency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infrastructure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carbon emissions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أَهَمُّ مِنَ الطَّعَامِ.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أَكْثَرُ مُهِمٍّ مِنَ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 مُهِمٌّ مِنَ الطَّعَامِ.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الخَطُّ الحَدِيدِيُّ السَّرِيعُ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underground metro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high-speed rail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motorway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مِتْرُو الأَنْفَاقِ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underground metro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tunnel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انْبِعَاثَاتُ الكَرْبُونِ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fuel efficiency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infrastructure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carbon emissions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(P2-L12).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دَرَسَ أَكْثَرَ،</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P2-L06: law …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 أَهَمُّ مِنَ الطَّعَامِ.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أَكْثَرُ مُهِمٍّ مِنَ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 مُهِمٌّ مِنَ الطَّعَامِ.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P1-L09: afʿalu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Each journey verb has its own partner: a TIME, a DISTANCE, or BAYNA + two places.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تَسْتَغْرِقُ</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ثَلَاثَ سَاعَاتٍ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يَقْطَعُ مَسَافَةَ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يَصِلُ بَيْنَ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وَ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advanced transport modes in formal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journey with yastaghriq, yaqṭaʿ masāfatan and yaṣil bayna.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modes with superlatives and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Predict the future of transport with both conditional types.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formal transport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yastaghriq, yaqṭaʿ and yaṣil bayna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a duration or distance with the right number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with afʿal and a statistic.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predict with idhā … sa- and reflect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90–100-word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Advanced transport modes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journeys formally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Efficiency and environment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 مسافر‎ </a:t>
            </a:r>
            <a:pPr indent="0" marL="0">
              <a:buNone/>
            </a:pPr>
            <a:r>
              <a:rPr lang="en-US" sz="950" b="1" dirty="0">
                <a:solidFill>
                  <a:srgbClr val="2E8B57"/>
                </a:solidFill>
                <a:latin typeface="Calibri" pitchFamily="34" charset="0"/>
                <a:ea typeface="Calibri" pitchFamily="34" charset="-122"/>
                <a:cs typeface="Calibri" pitchFamily="34" charset="-120"/>
              </a:rPr>
              <a:t> safar · musāfir · travel · a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‎مسافت‎ </a:t>
            </a:r>
            <a:pPr indent="0" marL="0">
              <a:buNone/>
            </a:pPr>
            <a:r>
              <a:rPr lang="en-US" sz="950" b="1" dirty="0">
                <a:solidFill>
                  <a:srgbClr val="2E8B57"/>
                </a:solidFill>
                <a:latin typeface="Calibri" pitchFamily="34" charset="0"/>
                <a:ea typeface="Calibri" pitchFamily="34" charset="-122"/>
                <a:cs typeface="Calibri" pitchFamily="34" charset="-120"/>
              </a:rPr>
              <a:t> masāfat · a distance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وَسِيلَةٌ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‎وسیلہ‎ </a:t>
            </a:r>
            <a:pPr indent="0" marL="0">
              <a:buNone/>
            </a:pPr>
            <a:r>
              <a:rPr lang="en-US" sz="950" b="1" dirty="0">
                <a:solidFill>
                  <a:srgbClr val="2E8B57"/>
                </a:solidFill>
                <a:latin typeface="Calibri" pitchFamily="34" charset="0"/>
                <a:ea typeface="Calibri" pitchFamily="34" charset="-122"/>
                <a:cs typeface="Calibri" pitchFamily="34" charset="-120"/>
              </a:rPr>
              <a:t> wasīla · a means (of transport)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سُرْعَةٌ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‎سرعت‎ </a:t>
            </a:r>
            <a:pPr indent="0" marL="0">
              <a:buNone/>
            </a:pPr>
            <a:r>
              <a:rPr lang="en-US" sz="950" b="1" dirty="0">
                <a:solidFill>
                  <a:srgbClr val="2E8B57"/>
                </a:solidFill>
                <a:latin typeface="Calibri" pitchFamily="34" charset="0"/>
                <a:ea typeface="Calibri" pitchFamily="34" charset="-122"/>
                <a:cs typeface="Calibri" pitchFamily="34" charset="-120"/>
              </a:rPr>
              <a:t> surʿat · speed (Urdu also رفتار)</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مَرْكَزٌ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‎مرکز‎ </a:t>
            </a:r>
            <a:pPr indent="0" marL="0">
              <a:buNone/>
            </a:pPr>
            <a:r>
              <a:rPr lang="en-US" sz="950" b="1" dirty="0">
                <a:solidFill>
                  <a:srgbClr val="2E8B57"/>
                </a:solidFill>
                <a:latin typeface="Calibri" pitchFamily="34" charset="0"/>
                <a:ea typeface="Calibri" pitchFamily="34" charset="-122"/>
                <a:cs typeface="Calibri" pitchFamily="34" charset="-120"/>
              </a:rPr>
              <a:t> markaz · a centre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Advanced transport modes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الخَطُّ الحَدِيدِيُّ السَّرِيعُ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high-speed rail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al-khaṭ-ṭu al-ḥa-dī-diy-yu as-sa-rī-ʿu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قِطَارُ الرَّصَاصَةِ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bullet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qi-ṭā-ru ar-ra-ṣā-ṣa-ti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مِتْرُو الأَنْفَاقِ</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underground metro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mit-rū al-an-fā-qi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سَيَّارَةٌ كَهْرَبَائِيَّةٌ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electric car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say-yā-ra-tun kah-ra-bā-ʾiy-ya-tun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سَيَّارَاتٌ كَهْرَبَائِيَّةٌ</a:t>
            </a:r>
            <a:endParaRPr lang="ar-SA" sz="150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9" name="Shape 4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1" name="Text 4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حَافِلَةٌ هِيدْرُوجِينِيَّةٌ</a:t>
            </a:r>
            <a:endParaRPr lang="ar-SA" sz="3000" dirty="0"/>
          </a:p>
        </p:txBody>
      </p:sp>
      <p:sp>
        <p:nvSpPr>
          <p:cNvPr id="52" name="Text 4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hydrogen bus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ḥā-fi-la-tun hīd-rū-jī-niy-ya-tun</a:t>
            </a:r>
            <a:endParaRPr lang="en-US" sz="1350" dirty="0"/>
          </a:p>
        </p:txBody>
      </p:sp>
      <p:sp>
        <p:nvSpPr>
          <p:cNvPr id="53" name="Shape 5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حَافِلَاتٌ هِيدْرُوجِينِيَّةٌ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Advanced transport modes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سَفِينَةٌ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cruise 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sa-fī-na-tun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سُفُنٌ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 عِمْلَاقَةٌ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wide-body aircraft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 ʿim-lā-qa-tun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 عِمْلَاقَةٌ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طَائِرَةٌ مُسَيَّرَةٌ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drone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ṭā-ʾi-ra-tun mu-say-ya-ra-tun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طَائِرَاتٌ مُسَيَّرَةٌ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وَسِيلَةُ النَّقْلِ</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mode of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wa-sī-la-tu an-naq-li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وَسَائِلُ النَّقْلِ</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Describing journeys formally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يَسْتَغْرِقُ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takes (a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yas-tagh-ri-qu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تَسْتَغْرِقُ</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يَقْطَعُ مَسَافَةً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covers a distance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yaq-ṭa-ʿu ma-sā-fa-tan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تَقْطَعُ مَسَافَةً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يَصِلُ بَيْنَ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connects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ya-ṣi-lu bay-na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تَصِلُ بَيْنَ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يُقَلِّصُ وَقْتَ السَّفَرِ</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reduces travel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yu-qal-li-ṣu waq-ta as-sa-fa-ri</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تُقَلِّصُ وَقْتَ السَّفَرِ</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Describing journeys formally (2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سُرْعَةٌ قُصْوَى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maximum speed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sur-ʿa-tun quṣ-wā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كِيلُومِتْرًا فِي السَّاعَةِ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km per hour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kī-lū-mit-ran fī as-sā-ʿa-ti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بُنْيَةٌ تَحْتِيَّةٌ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infrastructure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bun-ya-tun taḥ-tiy-ya-tun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بُنًى تَحْتِيَّةٌ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المَرْكَبَةُ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vehicle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al-mar-ka-ba-tu</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المَرْكَبَاتُ</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Efficiency and environment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كَفَاءَةٌ فِي اسْتِهْلَاكِ الوَقُودِ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fuel efficiency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ka-fā-ʾa-tun fī as-tih-lā-ki al-wa-qū-di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انْبِعَاثَاتُ الكَرْبُونِ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carbon emissions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an-bi-ʿā-thā-tu al-kar-bū-ni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حُرِّيَّةُ التَّنَقُّلِ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freedom of movement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ḥur-riy-ya-tu at-ta-naq-qu-li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الرَّبْطُ</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connectivity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ar-rab-ṭu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Efficiency and environment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Comparative.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أَنْظَفُ لِلْبِيئَةِ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cleaner for the 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an-ẓa-fu lil-bī-ʾa-ti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Superlative.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أَسْرَعُ وَسِيلَةٍ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fastest mode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as-ra-ʿu wa-sī-la-tin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6" name="Shape 3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40" name="Shape 3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42" name="Text 39"/>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تُمَثِّلُ</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amounts to, reaches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2" name="Text 4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تَبْلُغُ</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JOURNEY VERBS AND THEIR PARTNERS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Time, distance — or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takes 3 hours</a:t>
            </a:r>
            <a:endParaRPr lang="en-US" sz="1100" dirty="0"/>
          </a:p>
        </p:txBody>
      </p:sp>
      <p:sp>
        <p:nvSpPr>
          <p:cNvPr id="22" name="Text 19"/>
          <p:cNvSpPr txBox="1"/>
          <p:nvPr/>
        </p:nvSpPr>
        <p:spPr>
          <a:xfrm>
            <a:off x="4846320" y="2267712"/>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تَسْتَغْرِقُ الرِّحْلَةُ </a:t>
            </a:r>
            <a:pPr rtl="1" algn="ctr" indent="0" marL="0">
              <a:buNone/>
            </a:pPr>
            <a:r>
              <a:rPr lang="ar-SA" altLang="en-US" sz="2000" b="1" dirty="0">
                <a:solidFill>
                  <a:srgbClr val="1D5FBF"/>
                </a:solidFill>
                <a:latin typeface="Amiri" pitchFamily="34" charset="0"/>
                <a:ea typeface="Amiri" pitchFamily="34" charset="-122"/>
                <a:cs typeface="Amiri" pitchFamily="34" charset="-120"/>
              </a:rPr>
              <a:t>ثَلَاثَ سَاعَاتٍ</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67004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duration</a:t>
            </a:r>
            <a:endParaRPr lang="en-US" sz="1100" dirty="0"/>
          </a:p>
        </p:txBody>
      </p:sp>
      <p:sp>
        <p:nvSpPr>
          <p:cNvPr id="24" name="Text 21"/>
          <p:cNvSpPr txBox="1"/>
          <p:nvPr/>
        </p:nvSpPr>
        <p:spPr>
          <a:xfrm>
            <a:off x="548640" y="2267712"/>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يَسْتَغْرِقُ</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covers 1000 km</a:t>
            </a:r>
            <a:endParaRPr lang="en-US" sz="1100" dirty="0"/>
          </a:p>
        </p:txBody>
      </p:sp>
      <p:sp>
        <p:nvSpPr>
          <p:cNvPr id="29" name="Text 26"/>
          <p:cNvSpPr txBox="1"/>
          <p:nvPr/>
        </p:nvSpPr>
        <p:spPr>
          <a:xfrm>
            <a:off x="4846320" y="3054096"/>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يَقْطَعُ القِطَارُ </a:t>
            </a:r>
            <a:pPr rtl="1" algn="ctr" indent="0" marL="0">
              <a:buNone/>
            </a:pPr>
            <a:r>
              <a:rPr lang="ar-SA" altLang="en-US" sz="2000" b="1" dirty="0">
                <a:solidFill>
                  <a:srgbClr val="0E7C86"/>
                </a:solidFill>
                <a:latin typeface="Amiri" pitchFamily="34" charset="0"/>
                <a:ea typeface="Amiri" pitchFamily="34" charset="-122"/>
                <a:cs typeface="Amiri" pitchFamily="34" charset="-120"/>
              </a:rPr>
              <a:t>مَسَافَةَ</a:t>
            </a:r>
            <a:pPr rtl="1" algn="ctr" indent="0" marL="0">
              <a:buNone/>
            </a:pPr>
            <a:r>
              <a:rPr lang="ar-SA" altLang="en-US" sz="2000" b="1" dirty="0">
                <a:solidFill>
                  <a:srgbClr val="1B3B6F"/>
                </a:solidFill>
                <a:latin typeface="Amiri" pitchFamily="34" charset="0"/>
                <a:ea typeface="Amiri" pitchFamily="34" charset="-122"/>
                <a:cs typeface="Amiri" pitchFamily="34" charset="-120"/>
              </a:rPr>
              <a:t> أَلْفِ كِيلُومِتْرٍ.</a:t>
            </a:r>
            <a:endParaRPr lang="ar-SA" sz="2000" dirty="0"/>
          </a:p>
        </p:txBody>
      </p:sp>
      <p:sp>
        <p:nvSpPr>
          <p:cNvPr id="30" name="Text 27"/>
          <p:cNvSpPr txBox="1"/>
          <p:nvPr/>
        </p:nvSpPr>
        <p:spPr>
          <a:xfrm>
            <a:off x="267004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masāfatan</a:t>
            </a:r>
            <a:endParaRPr lang="en-US" sz="1100" dirty="0"/>
          </a:p>
        </p:txBody>
      </p:sp>
      <p:sp>
        <p:nvSpPr>
          <p:cNvPr id="31" name="Text 28"/>
          <p:cNvSpPr txBox="1"/>
          <p:nvPr/>
        </p:nvSpPr>
        <p:spPr>
          <a:xfrm>
            <a:off x="548640" y="3054096"/>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يَقْطَعُ</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connects A and B</a:t>
            </a:r>
            <a:endParaRPr lang="en-US" sz="1100" dirty="0"/>
          </a:p>
        </p:txBody>
      </p:sp>
      <p:sp>
        <p:nvSpPr>
          <p:cNvPr id="36" name="Text 33"/>
          <p:cNvSpPr txBox="1"/>
          <p:nvPr/>
        </p:nvSpPr>
        <p:spPr>
          <a:xfrm>
            <a:off x="4846320" y="3840480"/>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يَصِلُ المِتْرُو </a:t>
            </a:r>
            <a:pPr rtl="1" algn="ctr" indent="0" marL="0">
              <a:buNone/>
            </a:pPr>
            <a:r>
              <a:rPr lang="ar-SA" altLang="en-US" sz="2000" b="1" dirty="0">
                <a:solidFill>
                  <a:srgbClr val="D6336C"/>
                </a:solidFill>
                <a:latin typeface="Amiri" pitchFamily="34" charset="0"/>
                <a:ea typeface="Amiri" pitchFamily="34" charset="-122"/>
                <a:cs typeface="Amiri" pitchFamily="34" charset="-120"/>
              </a:rPr>
              <a:t>بَيْنَ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المَرْكَزِ </a:t>
            </a:r>
            <a:pPr rtl="1" algn="ctr" indent="0" marL="0">
              <a:buNone/>
            </a:pPr>
            <a:r>
              <a:rPr lang="ar-SA" altLang="en-US" sz="2000" b="1" dirty="0">
                <a:solidFill>
                  <a:srgbClr val="D6336C"/>
                </a:solidFill>
                <a:latin typeface="Amiri" pitchFamily="34" charset="0"/>
                <a:ea typeface="Amiri" pitchFamily="34" charset="-122"/>
                <a:cs typeface="Amiri" pitchFamily="34" charset="-120"/>
              </a:rPr>
              <a:t>وَالمَطَارِ</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7" name="Text 34"/>
          <p:cNvSpPr txBox="1"/>
          <p:nvPr/>
        </p:nvSpPr>
        <p:spPr>
          <a:xfrm>
            <a:off x="267004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places</a:t>
            </a:r>
            <a:endParaRPr lang="en-US" sz="1100" dirty="0"/>
          </a:p>
        </p:txBody>
      </p:sp>
      <p:sp>
        <p:nvSpPr>
          <p:cNvPr id="38" name="Text 35"/>
          <p:cNvSpPr txBox="1"/>
          <p:nvPr/>
        </p:nvSpPr>
        <p:spPr>
          <a:xfrm>
            <a:off x="548640" y="3840480"/>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يَصِلُ بَيْنَ</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reduces travel time</a:t>
            </a:r>
            <a:endParaRPr lang="en-US" sz="1100" dirty="0"/>
          </a:p>
        </p:txBody>
      </p:sp>
      <p:sp>
        <p:nvSpPr>
          <p:cNvPr id="43" name="Text 40"/>
          <p:cNvSpPr txBox="1"/>
          <p:nvPr/>
        </p:nvSpPr>
        <p:spPr>
          <a:xfrm>
            <a:off x="4846320" y="4626864"/>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يُقَلِّصُ القِطَارُ </a:t>
            </a:r>
            <a:pPr rtl="1" algn="ctr" indent="0" marL="0">
              <a:buNone/>
            </a:pPr>
            <a:r>
              <a:rPr lang="ar-SA" altLang="en-US" sz="2000" b="1" dirty="0">
                <a:solidFill>
                  <a:srgbClr val="7B3FA0"/>
                </a:solidFill>
                <a:latin typeface="Amiri" pitchFamily="34" charset="0"/>
                <a:ea typeface="Amiri" pitchFamily="34" charset="-122"/>
                <a:cs typeface="Amiri" pitchFamily="34" charset="-120"/>
              </a:rPr>
              <a:t>وَقْتَ السَّفَرِ</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44" name="Text 41"/>
          <p:cNvSpPr txBox="1"/>
          <p:nvPr/>
        </p:nvSpPr>
        <p:spPr>
          <a:xfrm>
            <a:off x="267004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waqta s-safar</a:t>
            </a:r>
            <a:endParaRPr lang="en-US" sz="1100" dirty="0"/>
          </a:p>
        </p:txBody>
      </p:sp>
      <p:sp>
        <p:nvSpPr>
          <p:cNvPr id="45" name="Text 42"/>
          <p:cNvSpPr txBox="1"/>
          <p:nvPr/>
        </p:nvSpPr>
        <p:spPr>
          <a:xfrm>
            <a:off x="548640" y="4626864"/>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يُقَلِّصُ</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never ilā after yaṣil bayna — bayna takes TWO places joined by wa-.</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NUMBERS FOR TIME AND DISTANCE (WEBSITE QUIZ 1, LISTENING AND SORTER)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Three hours, twenty minutes, two hundred km</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الأَعْدَادُ مَعَ الوَقْتِ وَالمَسَافَةِ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58338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8" name="Text 15"/>
          <p:cNvSpPr txBox="1"/>
          <p:nvPr/>
        </p:nvSpPr>
        <p:spPr>
          <a:xfrm>
            <a:off x="21762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Number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hours</a:t>
            </a:r>
            <a:endParaRPr lang="en-US" sz="1100" dirty="0"/>
          </a:p>
        </p:txBody>
      </p:sp>
      <p:sp>
        <p:nvSpPr>
          <p:cNvPr id="22" name="Text 19"/>
          <p:cNvSpPr txBox="1"/>
          <p:nvPr/>
        </p:nvSpPr>
        <p:spPr>
          <a:xfrm>
            <a:off x="5870448" y="2267712"/>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opposite gender + genitive plural</a:t>
            </a:r>
            <a:endParaRPr lang="en-US" sz="1100" dirty="0"/>
          </a:p>
        </p:txBody>
      </p:sp>
      <p:sp>
        <p:nvSpPr>
          <p:cNvPr id="23" name="Text 20"/>
          <p:cNvSpPr txBox="1"/>
          <p:nvPr/>
        </p:nvSpPr>
        <p:spPr>
          <a:xfrm>
            <a:off x="21945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ثَلَاثَ سَاعَاتٍ</a:t>
            </a:r>
            <a:endParaRPr lang="ar-SA" sz="22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3–10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twenty minutes</a:t>
            </a:r>
            <a:endParaRPr lang="en-US" sz="1100" dirty="0"/>
          </a:p>
        </p:txBody>
      </p:sp>
      <p:sp>
        <p:nvSpPr>
          <p:cNvPr id="29" name="Text 26"/>
          <p:cNvSpPr txBox="1"/>
          <p:nvPr/>
        </p:nvSpPr>
        <p:spPr>
          <a:xfrm>
            <a:off x="5870448" y="300471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accusative singular noun</a:t>
            </a:r>
            <a:endParaRPr lang="en-US" sz="1100" dirty="0"/>
          </a:p>
        </p:txBody>
      </p:sp>
      <p:sp>
        <p:nvSpPr>
          <p:cNvPr id="30" name="Text 27"/>
          <p:cNvSpPr txBox="1"/>
          <p:nvPr/>
        </p:nvSpPr>
        <p:spPr>
          <a:xfrm>
            <a:off x="21945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عِشْرِينَ دَقِيقَةً</a:t>
            </a:r>
            <a:endParaRPr lang="ar-SA" sz="22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11–99</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half an hour · 1½ hours</a:t>
            </a:r>
            <a:endParaRPr lang="en-US" sz="1100" dirty="0"/>
          </a:p>
        </p:txBody>
      </p:sp>
      <p:sp>
        <p:nvSpPr>
          <p:cNvPr id="36" name="Text 33"/>
          <p:cNvSpPr txBox="1"/>
          <p:nvPr/>
        </p:nvSpPr>
        <p:spPr>
          <a:xfrm>
            <a:off x="5870448" y="3741725"/>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 of yastaghriq (-a)</a:t>
            </a:r>
            <a:endParaRPr lang="en-US" sz="1100" dirty="0"/>
          </a:p>
        </p:txBody>
      </p:sp>
      <p:sp>
        <p:nvSpPr>
          <p:cNvPr id="37" name="Text 34"/>
          <p:cNvSpPr txBox="1"/>
          <p:nvPr/>
        </p:nvSpPr>
        <p:spPr>
          <a:xfrm>
            <a:off x="21945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نِصْفَ سَاعَةٍ</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1D5FBF"/>
                </a:solidFill>
                <a:latin typeface="Amiri" pitchFamily="34" charset="0"/>
                <a:ea typeface="Amiri" pitchFamily="34" charset="-122"/>
                <a:cs typeface="Amiri" pitchFamily="34" charset="-120"/>
              </a:rPr>
              <a:t>سَاعَةً وَنِصْفًا</a:t>
            </a:r>
            <a:endParaRPr lang="ar-SA" sz="22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½ · 1½</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200 km</a:t>
            </a:r>
            <a:endParaRPr lang="en-US" sz="1100" dirty="0"/>
          </a:p>
        </p:txBody>
      </p:sp>
      <p:sp>
        <p:nvSpPr>
          <p:cNvPr id="41" name="Text 38"/>
          <p:cNvSpPr txBox="1"/>
          <p:nvPr/>
        </p:nvSpPr>
        <p:spPr>
          <a:xfrm>
            <a:off x="5870448" y="4478731"/>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in construct (no -n)</a:t>
            </a:r>
            <a:endParaRPr lang="en-US" sz="1100" dirty="0"/>
          </a:p>
        </p:txBody>
      </p:sp>
      <p:sp>
        <p:nvSpPr>
          <p:cNvPr id="42" name="Text 39"/>
          <p:cNvSpPr txBox="1"/>
          <p:nvPr/>
        </p:nvSpPr>
        <p:spPr>
          <a:xfrm>
            <a:off x="21945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مِئَتَيْ كِيلُومِتْرٍ</a:t>
            </a:r>
            <a:endParaRPr lang="ar-SA" sz="2200" dirty="0"/>
          </a:p>
        </p:txBody>
      </p:sp>
      <p:sp>
        <p:nvSpPr>
          <p:cNvPr id="43" name="Text 40"/>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200</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300 · 1000 km</a:t>
            </a:r>
            <a:endParaRPr lang="en-US" sz="1100" dirty="0"/>
          </a:p>
        </p:txBody>
      </p:sp>
      <p:sp>
        <p:nvSpPr>
          <p:cNvPr id="46" name="Text 43"/>
          <p:cNvSpPr txBox="1"/>
          <p:nvPr/>
        </p:nvSpPr>
        <p:spPr>
          <a:xfrm>
            <a:off x="5870448" y="521573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hundreds / thousand + genitive singular</a:t>
            </a:r>
            <a:endParaRPr lang="en-US" sz="1100" dirty="0"/>
          </a:p>
        </p:txBody>
      </p:sp>
      <p:sp>
        <p:nvSpPr>
          <p:cNvPr id="47" name="Text 44"/>
          <p:cNvSpPr txBox="1"/>
          <p:nvPr/>
        </p:nvSpPr>
        <p:spPr>
          <a:xfrm>
            <a:off x="21945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ثَلَاثَمِئَةِ</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0E7C86"/>
                </a:solidFill>
                <a:latin typeface="Amiri" pitchFamily="34" charset="0"/>
                <a:ea typeface="Amiri" pitchFamily="34" charset="-122"/>
                <a:cs typeface="Amiri" pitchFamily="34" charset="-120"/>
              </a:rPr>
              <a:t>أَلْفَ كِيلُومِتْرٍ</a:t>
            </a:r>
            <a:endParaRPr lang="ar-SA" sz="2200" dirty="0"/>
          </a:p>
        </p:txBody>
      </p:sp>
      <p:sp>
        <p:nvSpPr>
          <p:cNvPr id="48" name="Text 45"/>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300 · 1000</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quiz 1: tastaghriqu r-riḥlatu thalātha sāʿātin — after 3–10 the counted noun is genitive plural.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COMPARATIVE, SUPERLATIVE AND STATISTICS (WEBSITE RULE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Faster than … the fastest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التَّفْضِيلُ وَالإِحْصَاءُ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5925312"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Superlative</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Comparative: afʿalu min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fast · faster · fastest</a:t>
            </a:r>
            <a:endParaRPr lang="en-US" sz="1100" dirty="0"/>
          </a:p>
        </p:txBody>
      </p:sp>
      <p:sp>
        <p:nvSpPr>
          <p:cNvPr id="22" name="Text 19"/>
          <p:cNvSpPr txBox="1"/>
          <p:nvPr/>
        </p:nvSpPr>
        <p:spPr>
          <a:xfrm>
            <a:off x="5943600" y="2267712"/>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أَسْرَعُ وَسِيلَةٍ</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القِطَارُ </a:t>
            </a:r>
            <a:pPr rtl="1" algn="ctr" indent="0" marL="0">
              <a:buNone/>
            </a:pPr>
            <a:r>
              <a:rPr lang="ar-SA" altLang="en-US" sz="2000" b="1" dirty="0">
                <a:solidFill>
                  <a:srgbClr val="0E7C86"/>
                </a:solidFill>
                <a:latin typeface="Amiri" pitchFamily="34" charset="0"/>
                <a:ea typeface="Amiri" pitchFamily="34" charset="-122"/>
                <a:cs typeface="Amiri" pitchFamily="34" charset="-120"/>
              </a:rPr>
              <a:t>أَسْرَعُ 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الحَافِلَةِ</a:t>
            </a:r>
            <a:endParaRPr lang="ar-SA" sz="2000" dirty="0"/>
          </a:p>
        </p:txBody>
      </p:sp>
      <p:sp>
        <p:nvSpPr>
          <p:cNvPr id="24" name="Text 21"/>
          <p:cNvSpPr txBox="1"/>
          <p:nvPr/>
        </p:nvSpPr>
        <p:spPr>
          <a:xfrm>
            <a:off x="54864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سَرِيعٌ</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clean · cleaner · cleanest</a:t>
            </a:r>
            <a:endParaRPr lang="en-US" sz="1100" dirty="0"/>
          </a:p>
        </p:txBody>
      </p:sp>
      <p:sp>
        <p:nvSpPr>
          <p:cNvPr id="29" name="Text 26"/>
          <p:cNvSpPr txBox="1"/>
          <p:nvPr/>
        </p:nvSpPr>
        <p:spPr>
          <a:xfrm>
            <a:off x="5943600" y="300471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الخِيَارُ </a:t>
            </a:r>
            <a:pPr rtl="1" algn="ctr" indent="0" marL="0">
              <a:buNone/>
            </a:pPr>
            <a:r>
              <a:rPr lang="ar-SA" altLang="en-US" sz="2000" b="1" dirty="0">
                <a:solidFill>
                  <a:srgbClr val="0E7C86"/>
                </a:solidFill>
                <a:latin typeface="Amiri" pitchFamily="34" charset="0"/>
                <a:ea typeface="Amiri" pitchFamily="34" charset="-122"/>
                <a:cs typeface="Amiri" pitchFamily="34" charset="-120"/>
              </a:rPr>
              <a:t>الأَنْظَفُ</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الكَهْرَبَائِيَّةُ </a:t>
            </a:r>
            <a:pPr rtl="1" algn="ctr" indent="0" marL="0">
              <a:buNone/>
            </a:pPr>
            <a:r>
              <a:rPr lang="ar-SA" altLang="en-US" sz="2000" b="1" dirty="0">
                <a:solidFill>
                  <a:srgbClr val="0E7C86"/>
                </a:solidFill>
                <a:latin typeface="Amiri" pitchFamily="34" charset="0"/>
                <a:ea typeface="Amiri" pitchFamily="34" charset="-122"/>
                <a:cs typeface="Amiri" pitchFamily="34" charset="-120"/>
              </a:rPr>
              <a:t>أَنْظَفُ 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التَّقْلِيدِيَّةِ</a:t>
            </a:r>
            <a:endParaRPr lang="ar-SA" sz="2000" dirty="0"/>
          </a:p>
        </p:txBody>
      </p:sp>
      <p:sp>
        <p:nvSpPr>
          <p:cNvPr id="31" name="Text 28"/>
          <p:cNvSpPr txBox="1"/>
          <p:nvPr/>
        </p:nvSpPr>
        <p:spPr>
          <a:xfrm>
            <a:off x="54864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نَظِيفٌ</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the newest</a:t>
            </a:r>
            <a:endParaRPr lang="en-US" sz="1100" dirty="0"/>
          </a:p>
        </p:txBody>
      </p:sp>
      <p:sp>
        <p:nvSpPr>
          <p:cNvPr id="36" name="Text 33"/>
          <p:cNvSpPr txBox="1"/>
          <p:nvPr/>
        </p:nvSpPr>
        <p:spPr>
          <a:xfrm>
            <a:off x="5943600" y="3741725"/>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أَحْدَثِ الشَّبَكَاتِ</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المِتْرُو </a:t>
            </a:r>
            <a:pPr rtl="1" algn="ctr" indent="0" marL="0">
              <a:buNone/>
            </a:pPr>
            <a:r>
              <a:rPr lang="ar-SA" altLang="en-US" sz="2000" b="1" dirty="0">
                <a:solidFill>
                  <a:srgbClr val="0E7C86"/>
                </a:solidFill>
                <a:latin typeface="Amiri" pitchFamily="34" charset="0"/>
                <a:ea typeface="Amiri" pitchFamily="34" charset="-122"/>
                <a:cs typeface="Amiri" pitchFamily="34" charset="-120"/>
              </a:rPr>
              <a:t>أَحْدَثُ مِنْ</a:t>
            </a:r>
            <a:pPr rtl="1" algn="ctr" indent="0" marL="0">
              <a:buNone/>
            </a:pPr>
            <a:r>
              <a:rPr lang="ar-SA" altLang="en-US" sz="2000" b="1" dirty="0">
                <a:solidFill>
                  <a:srgbClr val="1B3B6F"/>
                </a:solidFill>
                <a:latin typeface="Amiri" pitchFamily="34" charset="0"/>
                <a:ea typeface="Amiri" pitchFamily="34" charset="-122"/>
                <a:cs typeface="Amiri" pitchFamily="34" charset="-120"/>
              </a:rPr>
              <a:t> …</a:t>
            </a:r>
            <a:endParaRPr lang="ar-SA" sz="2000" dirty="0"/>
          </a:p>
        </p:txBody>
      </p:sp>
      <p:sp>
        <p:nvSpPr>
          <p:cNvPr id="38" name="Text 35"/>
          <p:cNvSpPr txBox="1"/>
          <p:nvPr/>
        </p:nvSpPr>
        <p:spPr>
          <a:xfrm>
            <a:off x="54864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حَدِيثٌ</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more / less congested</a:t>
            </a:r>
            <a:endParaRPr lang="en-US" sz="1100" dirty="0"/>
          </a:p>
        </p:txBody>
      </p:sp>
      <p:sp>
        <p:nvSpPr>
          <p:cNvPr id="41" name="Text 38"/>
          <p:cNvSpPr txBox="1"/>
          <p:nvPr/>
        </p:nvSpPr>
        <p:spPr>
          <a:xfrm>
            <a:off x="5943600" y="4478731"/>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أَقَلُّ ازْدِحَامًا</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المُدُنُ </a:t>
            </a:r>
            <a:pPr rtl="1" algn="ctr" indent="0" marL="0">
              <a:buNone/>
            </a:pPr>
            <a:r>
              <a:rPr lang="ar-SA" altLang="en-US" sz="2000" b="1" dirty="0">
                <a:solidFill>
                  <a:srgbClr val="0E7C86"/>
                </a:solidFill>
                <a:latin typeface="Amiri" pitchFamily="34" charset="0"/>
                <a:ea typeface="Amiri" pitchFamily="34" charset="-122"/>
                <a:cs typeface="Amiri" pitchFamily="34" charset="-120"/>
              </a:rPr>
              <a:t>أَكْثَرُ ازْدِحَامًا</a:t>
            </a:r>
            <a:endParaRPr lang="ar-SA" sz="2000" dirty="0"/>
          </a:p>
        </p:txBody>
      </p:sp>
      <p:sp>
        <p:nvSpPr>
          <p:cNvPr id="43" name="Text 40"/>
          <p:cNvSpPr txBox="1"/>
          <p:nvPr/>
        </p:nvSpPr>
        <p:spPr>
          <a:xfrm>
            <a:off x="54864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مُزْدَحِمٌ</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reaches · represents</a:t>
            </a:r>
            <a:endParaRPr lang="en-US" sz="1100" dirty="0"/>
          </a:p>
        </p:txBody>
      </p:sp>
      <p:sp>
        <p:nvSpPr>
          <p:cNvPr id="46" name="Text 43"/>
          <p:cNvSpPr txBox="1"/>
          <p:nvPr/>
        </p:nvSpPr>
        <p:spPr>
          <a:xfrm>
            <a:off x="5943600" y="521573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تُمَثِّلُ</a:t>
            </a:r>
            <a:pPr rtl="1" algn="ctr" indent="0" marL="0">
              <a:buNone/>
            </a:pPr>
            <a:r>
              <a:rPr lang="ar-SA" altLang="en-US" sz="2000" b="1" dirty="0">
                <a:solidFill>
                  <a:srgbClr val="1B3B6F"/>
                </a:solidFill>
                <a:latin typeface="Amiri" pitchFamily="34" charset="0"/>
                <a:ea typeface="Amiri" pitchFamily="34" charset="-122"/>
                <a:cs typeface="Amiri" pitchFamily="34" charset="-120"/>
              </a:rPr>
              <a:t> … خَطْوَةً نَحْوَ …</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تَبْلُغُ</a:t>
            </a:r>
            <a:pPr rtl="1" algn="ctr" indent="0" marL="0">
              <a:buNone/>
            </a:pPr>
            <a:r>
              <a:rPr lang="ar-SA" altLang="en-US" sz="2000" b="1" dirty="0">
                <a:solidFill>
                  <a:srgbClr val="1B3B6F"/>
                </a:solidFill>
                <a:latin typeface="Amiri" pitchFamily="34" charset="0"/>
                <a:ea typeface="Amiri" pitchFamily="34" charset="-122"/>
                <a:cs typeface="Amiri" pitchFamily="34" charset="-120"/>
              </a:rPr>
              <a:t> سُرْعَتُهُ ثَلَاثَمِئَةِ كِيلُومِتْرٍ</a:t>
            </a:r>
            <a:endParaRPr lang="ar-SA" sz="20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statistic</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afʿal does not change for m / f; for adjectives with more than three root letters use akthar / aqall + a noun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REASONING ABOUT TRANSPORT WITH BOTH CONDITIONALS (WEBSITE RULES 3–4 + TEACHING POINT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Predict the future — imagine the past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 سَـ · لَوْ …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PREDICTION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اعْتَمَدَتِ المُدُنُ عَلَى النَّقْلِ الكَهْرَبَائِيِّ، سَتَنْخَفِضُ الانْبِعَاثَاتُ.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cities rely on electric transport, emissions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لَكَانَتْ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تَطَوَّرَ النَّقْلُ العَامُّ مُبَكِّرًا، لَكَانَتِ المُدُنُ أَقَلَّ ازْدِحَامًا.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public transport developed early, cities would be less congested.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HISTORY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وُجِدَ القِطَارُ السَّرِيعُ قَدِيمًا، لَوَصَلَ الحُجَّاجُ فِي سَاعَتَيْنِ.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 fast train existed long ago, pilgrims would have arrived in two hours.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Then vs now.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لَوْ تَطَوَّرَ النَّقْلُ مُبَكِّرًا، لَقَلَّتِ الازْدِحَامَاتُ</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34" charset="0"/>
                <a:ea typeface="Amiri" pitchFamily="34" charset="-122"/>
                <a:cs typeface="Amiri" pitchFamily="34" charset="-120"/>
              </a:rPr>
              <a:t>لَوْ تَطَوَّرَ النَّقْلُ مُبَكِّرًا، سَتَقِلُّ الازْدِحَامَاتُ</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Formal journey description and comparison</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وَصْفُ الرِّحْلَةِ الرَّسْمِيُّ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Journey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yastaghriq + duration · yaqṭaʿ masāfatan · yaṣil bayna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تَسْتَغْرِقُ الرِّحْلَةُ ثَلَاثَ سَاعَاتٍ   ·   يَصِلُ المِتْرُو بَيْنَ المَرْكَزِ وَالمَطَارِ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Superlative and statistics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afʿal · yumaththil · yablugh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القِطَارُ السَّرِيعُ أَسْرَعُ وَسِيلَةٍ   ·   تَبْلُغُ سُرْعَتُهُ القُصْوَى ثَلَاثَمِئَةِ كِيلُومِتْرٍ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Real prediction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اعْتَمَدْنَا عَلَى الكَهْرَبَاءِ، سَتَقِلُّ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Counterfactual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تَطَوَّرَ النَّقْلُ العَامُّ مُبَكِّرًا، لَكَانَتِ المُدُنُ أَقَلَّ ازْدِحَامًا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تَسْتَغْرِقُ الرِّحْلَةُ ثَلَاثَ ___.</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يَصِلُ بَيْنَ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المِتْرُو بَيْنَ المَرْكَزِ وَالمَطَارِ.</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المِتْرُو المَرْكَزَ وَالمَطَارَ.</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المِتْرُو إِلَى المَرْكَزِ وَالمَطَارِ.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superlative?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السَّرِيعُ سَرِيعٌ وَسِيلَةٌ.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السَّرِيعُ أَسْرَعُ وَسِيلَةٍ.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السَّرِيعُ أَكْثَرُ سَرِيعٍ.</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prediction (Type 1)?</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اعْتَمَدْنَا عَلَى الكَهْرَبَاءِ، سَتَقِلُّ الانْبِعَاثَاتُ.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اعْتَمَدْنَا عَلَى الكَهْرَبَاءِ، لَقَلَّتِ الانْبِعَاثَاتُ.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نَعْتَمِدُ عَلَى الكَهْرَبَاءِ.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تَسْتَغْرِقُ الرِّحْلَةُ ثَلَاثَ ___.</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سَاعَاتٍ</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 number the counted noun here is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يَصِلُ بَيْنَ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يَصِلُ المِتْرُو بَيْنَ المَرْكَزِ وَالمَطَارِ.</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يَصِلُ المِتْرُو المَرْكَزَ وَالمَطَارَ.</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يَصِلُ المِتْرُو إِلَى المَرْكَزِ وَالمَطَارِ.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يَصِلُ بَيْنَ</a:t>
            </a:r>
            <a:pPr algn="l" indent="0" marL="0">
              <a:buNone/>
            </a:pPr>
            <a:r>
              <a:rPr lang="en-US" sz="1050" i="1" dirty="0">
                <a:solidFill>
                  <a:srgbClr val="8A6D1E"/>
                </a:solidFill>
                <a:latin typeface="Calibri" pitchFamily="34" charset="0"/>
                <a:ea typeface="Calibri" pitchFamily="34" charset="-122"/>
                <a:cs typeface="Calibri" pitchFamily="34" charset="-120"/>
              </a:rPr>
              <a:t> links two places.</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superlative?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السَّرِيعُ سَرِيعٌ وَسِيلَةٌ.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القِطَارُ السَّرِيعُ أَسْرَعُ وَسِيلَةٍ.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السَّرِيعُ أَكْثَرُ سَرِيعٍ.</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superlative form is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أَسْرَعُ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prediction (Type 1)?</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اعْتَمَدْنَا عَلَى الكَهْرَبَاءِ، سَتَقِلُّ الانْبِعَاثَاتُ.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اعْتَمَدْنَا عَلَى الكَهْرَبَاءِ، لَقَلَّتِ الانْبِعَاثَاتُ.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نَعْتَمِدُ عَلَى الكَهْرَبَاءِ.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prediction.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and compare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Journey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يَصِلُ بَيْنَ</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 وَ … ·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يَقْطَعُ مَسَافَةً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Statistic</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تَبْلُغُ</a:t>
            </a:r>
            <a:pPr rtl="1" algn="ctr" indent="0" marL="0">
              <a:buNone/>
            </a:pPr>
            <a:r>
              <a:rPr lang="ar-SA" altLang="en-US" sz="2800" b="1" dirty="0">
                <a:solidFill>
                  <a:srgbClr val="1B3B6F"/>
                </a:solidFill>
                <a:latin typeface="Amiri" pitchFamily="34" charset="0"/>
                <a:ea typeface="Amiri" pitchFamily="34" charset="-122"/>
                <a:cs typeface="Amiri" pitchFamily="34" charset="-120"/>
              </a:rPr>
              <a:t> سُرْعَتُهُ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number.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أَسْرَعُ وَسِيلَةٍ</a:t>
            </a:r>
            <a:pPr rtl="1" algn="ctr" indent="0" marL="0">
              <a:buNone/>
            </a:pPr>
            <a:r>
              <a:rPr lang="ar-SA" altLang="en-US" sz="2550" b="1" dirty="0">
                <a:solidFill>
                  <a:srgbClr val="1B3B6F"/>
                </a:solidFill>
                <a:latin typeface="Amiri" pitchFamily="34" charset="0"/>
                <a:ea typeface="Amiri" pitchFamily="34" charset="-122"/>
                <a:cs typeface="Amiri" pitchFamily="34" charset="-120"/>
              </a:rPr>
              <a:t> · </a:t>
            </a:r>
            <a:pPr rtl="1" algn="ctr" indent="0" marL="0">
              <a:buNone/>
            </a:pPr>
            <a:r>
              <a:rPr lang="ar-SA" altLang="en-US" sz="2550" b="1" dirty="0">
                <a:solidFill>
                  <a:srgbClr val="0E7C86"/>
                </a:solidFill>
                <a:latin typeface="Amiri" pitchFamily="34" charset="0"/>
                <a:ea typeface="Amiri" pitchFamily="34" charset="-122"/>
                <a:cs typeface="Amiri" pitchFamily="34" charset="-120"/>
              </a:rPr>
              <a:t>الأَنْظَفَ</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afʿal.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D6336C"/>
                </a:solidFill>
                <a:latin typeface="Amiri" pitchFamily="34" charset="0"/>
                <a:ea typeface="Amiri" pitchFamily="34" charset="-122"/>
                <a:cs typeface="Amiri" pitchFamily="34" charset="-120"/>
              </a:rPr>
              <a:t>سَـ</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لَوْ</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C77700"/>
                </a:solidFill>
                <a:latin typeface="Amiri" pitchFamily="34" charset="0"/>
                <a:ea typeface="Amiri" pitchFamily="34" charset="-122"/>
                <a:cs typeface="Amiri" pitchFamily="34" charset="-120"/>
              </a:rPr>
              <a:t>لَـ</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Both types.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JOURNEY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COMPARISON · STATISTIC</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يُعَدُّ الخَطُّ الحَدِيدِيُّ السَّرِيعُ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أَسْرَعَ وَسِيلَةٍ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بَيْنَ المُدُنِ الكُبْرَى؛ فَهُوَ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يَصِلُ بَيْنَ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مَكَّةَ وَالمَدِينَةِ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وَيَقْطَعُ مَسَافَةً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طَوِيلَةً فِي سَاعَاتٍ قَلِيلَةٍ،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وَتَبْلُغُ</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سُرْعَتُهُ القُصْوَى ثَلَاثَمِئَةِ كِيلُومِتْرٍ.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وَإِذَا اعْتَمَدَتِ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المُدُنُ عَلَى النَّقْلِ الكَهْرَبَائِيِّ،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سَتَنْخَفِضُ</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الانْبِعَاثَاتُ.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تَطَوَّرَتْ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شَبَكَاتُ النَّقْلِ مُبَكِّرًا،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مُدُنُنَا أَقَلَّ ازْدِحَامًا.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High-speed rail is considered the fastest mode between the major cities: it connects Makkah and Madinah and covers a long distance in a few hours, and its maximum speed reaches 300 km. If cities rely on electric transport, emissions will fall. And if transport networks had developed early, our cities would be less congested.</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يَصِلُ الخَطُّ الحَدِيدِيُّ السَّرِيعُ بَيْنَ مَكَّةَ وَالمَدِينَةِ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high-speed line connects Makkah and Madinah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yaṣil bayna links two places.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تَبْلُغُ سُرْعَتُهُ القُصْوَى ثَلَاثَمِئَةِ كِيلُومِتْرٍ فِي السَّاعَةِ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its maximum speed reaches 300 km per hour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Statistical language with yablugh.</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لَوْ تَطَوَّرَ النَّقْلُ العَامُّ مُبَكِّرًا، لَكَانَتِ المُدُنُ أَقَلَّ ازْدِحَامًا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public transport developed early, cities would be less congested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Counterfactual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MODES OF TRANSPORT — ADVANCED VOCABULARY AND FORMAL DESCRIPTIONS”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Which mode? Match — then upgrade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train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أَذْهَبُ بِالحَافِلَةِ.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أُسَافِرُ بِالقِطَارِ.</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أُسَافِرُ بِالطَّائِرَةِ.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train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أُسَافِرُ بِالقِطَارِ.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 by train.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أُسَافِرُ بِالطَّائِرَةِ.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 by plane.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bus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أَذْهَبُ بِالحَافِلَةِ.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A TRANSPORT DESCRIPTION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Journey + comparison + conditional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وَصْفَكَ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Journey fact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Comparison / statistic</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Conditional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يَصِلُ الخَطُّ الحَدِيدِيُّ السَّرِيعُ بَيْنَ المُدُنِ الكُبْرَى</a:t>
            </a:r>
            <a:endParaRPr lang="ar-SA" sz="16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وَتَبْلُغُ سُرْعَتُهُ القُصْوَى ثَلَاثَمِئَةِ كِيلُومِتْرٍ</a:t>
            </a:r>
            <a:endParaRPr lang="ar-SA" sz="16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وَإِذَا اعْتَمَدَتِ المُدُنُ عَلَى الكَهْرَبَاءِ سَتَنْخَفِضُ الانْبِعَاثَاتُ</a:t>
            </a:r>
            <a:endParaRPr lang="ar-SA" sz="15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يَقْطَعُ القِطَارُ مَسَافَةً طَوِيلَةً فِي سَاعَاتٍ قَلِيلَةٍ</a:t>
            </a:r>
            <a:endParaRPr lang="ar-SA" sz="16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وَتُمَثِّلُ السَّيَّارَةُ الكَهْرَبَائِيَّةُ الخِيَارَ الأَنْظَفَ لِلْبِيئَةِ</a:t>
            </a:r>
            <a:endParaRPr lang="ar-SA" sz="15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وَلَوْ تَطَوَّرَتِ الشَّبَكَاتُ مُبَكِّرًا لَكَانَتِ المُدُنُ أَقَلَّ ازْدِحَامًا</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تَسْتَغْرِقُ الرِّحْلَةُ بَيْنَ المَرْكَزِ وَالمَطَارِ نِصْفَ سَاعَةٍ</a:t>
            </a:r>
            <a:endParaRPr lang="ar-SA" sz="1600" dirty="0"/>
          </a:p>
        </p:txBody>
      </p:sp>
      <p:sp>
        <p:nvSpPr>
          <p:cNvPr id="31" name="Text 28"/>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وَيُعَدُّ المِتْرُو أَسْرَعَ وَسِيلَةٍ دَاخِلَ المَدِينَةِ</a:t>
            </a:r>
            <a:endParaRPr lang="ar-SA" sz="1600" dirty="0"/>
          </a:p>
        </p:txBody>
      </p:sp>
      <p:sp>
        <p:nvSpPr>
          <p:cNvPr id="32" name="Text 29"/>
          <p:cNvSpPr txBox="1"/>
          <p:nvPr/>
        </p:nvSpPr>
        <p:spPr>
          <a:xfrm>
            <a:off x="548640" y="3840480"/>
            <a:ext cx="377647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وَأَشَارَ الخُبَرَاءُ إِلَى أَنَّ البُنْيَةَ التَّحْتِيَّةَ تَدْعَمُ الاقْتِصَادَ</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A time, a distance — or two places?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سَاعَاتٍ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 وَنِصْفًا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عِشْرِينَ دَقِيقَةً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أَلْفَ كِيلُومِتْرٍ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مَسَافَةً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مِئَتَيْ كِيلُومِتْرٍ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المَرْكَزِ وَالمَطَارِ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مَكَّةَ وَالمَدِينَةِ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العَاصِمَةِ وَالسَّاحِلِ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yastaghriq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yaqṭaʿ (distance)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yaṣil bayna (places)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yastaghriq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ثَلَاثَ سَاعَاتٍ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سَاعَةً وَنِصْفًا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عِشْرِينَ دَقِيقَةً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yaqṭaʿ (distance)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أَلْفَ كِيلُومِتْرٍ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مَسَافَةً طَوِيلَةً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مِئَتَيْ كِيلُومِتْرٍ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yaṣil bayna (places)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المَرْكَزِ وَالمَطَارِ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مَكَّةَ وَالمَدِينَةِ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العَاصِمَةِ وَالسَّاحِلِ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يَقْطَعُ القِطَارُ ___ أَلْفِ كِيلُومِتْرٍ فِي أَرْبَعِ سَاعَاتٍ.</a:t>
            </a:r>
            <a:endParaRPr lang="ar-SA" sz="12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بِمَسَافَةِ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مَسَافَةِ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مَسَافَةَ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quantifies with statistical language?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سَرِيعٌ جِدًّا.</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تَبْلُغُ سُرْعَتُهُ القُصْوَى ثَلَاثَمِئَةِ كِيلُومِتْرٍ.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القِطَارَ.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إِذَا تَطَوَّرَ النَّقْلُ العَامُّ، سَتَقِلُّ الازْدِحَامَاتُ.</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لَوْ تَطَوَّرَ النَّقْلُ العَامُّ مُبَكِّرًا، لَكَانَتِ المُدُنُ أَقَلَّ ازْدِحَامًا.</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يَتَطَوَّرُ النَّقْلُ العَامُّ.</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the formal register for “vehicle”?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المَرْكَبَةُ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يَقْطَعُ القِطَارُ ___ أَلْفِ كِيلُومِتْرٍ فِي أَرْبَعِ سَاعَاتٍ.</a:t>
            </a:r>
            <a:endParaRPr lang="ar-SA" sz="12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بِمَسَافَةِ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مَسَافَةِ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مَسَافَةَ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يَقْطَعُ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مَسَافَة</a:t>
            </a:r>
            <a:pPr algn="l" indent="0" marL="0">
              <a:buNone/>
            </a:pPr>
            <a:r>
              <a:rPr lang="en-US" sz="1050" i="1" dirty="0">
                <a:solidFill>
                  <a:srgbClr val="8A6D1E"/>
                </a:solidFill>
                <a:latin typeface="Calibri" pitchFamily="34" charset="0"/>
                <a:ea typeface="Calibri" pitchFamily="34" charset="-122"/>
                <a:cs typeface="Calibri" pitchFamily="34" charset="-120"/>
              </a:rPr>
              <a:t> as its object.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quantifies with statistical language?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سَرِيعٌ جِدًّا.</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تَبْلُغُ سُرْعَتُهُ القُصْوَى ثَلَاثَمِئَةِ كِيلُومِتْرٍ.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القِطَارَ.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يَبْلُغُ</a:t>
            </a:r>
            <a:pPr algn="l" indent="0" marL="0">
              <a:buNone/>
            </a:pPr>
            <a:r>
              <a:rPr lang="en-US" sz="1050" i="1" dirty="0">
                <a:solidFill>
                  <a:srgbClr val="8A6D1E"/>
                </a:solidFill>
                <a:latin typeface="Calibri" pitchFamily="34" charset="0"/>
                <a:ea typeface="Calibri" pitchFamily="34" charset="-122"/>
                <a:cs typeface="Calibri" pitchFamily="34" charset="-120"/>
              </a:rPr>
              <a:t> gives a precise figure.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تَطَوَّرَ النَّقْلُ العَامُّ، سَتَقِلُّ الازْدِحَامَاتُ.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تَطَوَّرَ النَّقْلُ العَامُّ مُبَكِّرًا، لَكَانَتِ المُدُنُ أَقَلَّ ازْدِحَامًا.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يَتَطَوَّرُ النَّقْلُ العَامُّ.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is the formal register for “vehicle”?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المَرْكَبَةُ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المَرْكَبَةُ</a:t>
            </a:r>
            <a:pPr algn="l" indent="0" marL="0">
              <a:buNone/>
            </a:pPr>
            <a:r>
              <a:rPr lang="en-US" sz="1050" i="1" dirty="0">
                <a:solidFill>
                  <a:srgbClr val="8A6D1E"/>
                </a:solidFill>
                <a:latin typeface="Calibri" pitchFamily="34" charset="0"/>
                <a:ea typeface="Calibri" pitchFamily="34" charset="-122"/>
                <a:cs typeface="Calibri" pitchFamily="34" charset="-120"/>
              </a:rPr>
              <a:t> is the formal academic term.</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يَصِلُ المِتْرُو إِلَى المَرْكَزِ وَالمَطَارِ.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yaṣil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القِطَارُ أَكْثَرُ سَرِيعٍ مِنَ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akthar sarīʿ?</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تَطَوَّرَ النَّقْلُ مُبَكِّرًا، سَتَقِلُّ الازْدِحَامَاتُ.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يَصِلُ المِتْرُو إِلَى المَرْكَزِ وَالمَطَارِ.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يَصِلُ المِتْرُو بَيْنَ المَرْكَزِ وَالمَطَارِ.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“Connects” between two places uses </a:t>
            </a:r>
            <a:pPr algn="l" indent="0" marL="0">
              <a:buNone/>
            </a:pPr>
            <a:r>
              <a:rPr lang="ar-SA" altLang="en-US" sz="1500" b="1" dirty="0">
                <a:solidFill>
                  <a:srgbClr val="1B3B6F"/>
                </a:solidFill>
                <a:latin typeface="Amiri" pitchFamily="34" charset="0"/>
                <a:ea typeface="Amiri" pitchFamily="34" charset="-122"/>
                <a:cs typeface="Amiri" pitchFamily="34" charset="-120"/>
              </a:rPr>
              <a:t>بَيْنَ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القِطَارُ أَكْثَرُ سَرِيعٍ مِنَ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comparative of a simple adjective is </a:t>
            </a:r>
            <a:pPr algn="l" indent="0" marL="0">
              <a:buNone/>
            </a:pPr>
            <a:r>
              <a:rPr lang="ar-SA" altLang="en-US" sz="1500" b="1" dirty="0">
                <a:solidFill>
                  <a:srgbClr val="1B3B6F"/>
                </a:solidFill>
                <a:latin typeface="Amiri" pitchFamily="34" charset="0"/>
                <a:ea typeface="Amiri" pitchFamily="34" charset="-122"/>
                <a:cs typeface="Amiri" pitchFamily="34" charset="-120"/>
              </a:rPr>
              <a:t>أَفْعَل</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أَسْرَعُ</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تَطَوَّرَ النَّقْلُ مُبَكِّرًا، سَتَقِلُّ الازْدِحَامَاتُ.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تَطَوَّرَ النَّقْلُ مُبَكِّرًا، لَقَلَّتِ الازْدِحَامَاتُ.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transport in the Arab world</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high-speed line connect?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Mecca and Medina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airports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ports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its maximum speed?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 km/h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3000 km/h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300 km/h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metro trip to the airport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whole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electric car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Cleaner for the environment than a traditional car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Dirtier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early projects?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would be busier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would have been less congested today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yaṣil bayna · tablugh · tastaghriq.</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يَشْهَدُ العَالَمُ العَرَبِيُّ نَهْضَةً فِي النَّقْلِ العَامِّ. فَالخَطُّ الحَدِيدِيُّ السَّرِيعُ يَصِلُ بَيْنَ مَكَّةَ وَالمَدِينَةِ، وَتَبْلُغُ سُرْعَتُهُ القُصْوَى ثَلَاثَمِئَةِ كِيلُومِتْرٍ فِي السَّاعَةِ.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Arab world is witnessing a boom in public transport. The high-speed line connects Makkah and Madinah, and its maximum speed reaches 300 km per hour.</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وَقَدْ قَلَّصَ هٰذَا المَشْرُوعُ وَقْتَ السَّفَرِ بِنِسْبَةٍ كَبِيرَةٍ. وَأَشَارَتْ تَقَارِيرُ إِلَى أَنَّ مِتْرُو الرِّيَاضِ أَصْبَحَ مِنْ أَحْدَثِ الشَّبَكَاتِ فِي العَالَمِ.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project has cut travel time considerably. Reports indicated that the Riyadh metro has become one of the newest networks in the world.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وَتَسْتَغْرِقُ الرِّحْلَةُ بَيْنَ المَرْكَزِ وَالمَطَارِ نِصْفَ سَاعَةٍ فَقَطْ.</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journey between the centre and the airport takes only half an hour.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وَتُعَدُّ السَّيَّارَةُ الكَهْرَبَائِيَّةُ أَنْظَفَ لِلْبِيئَةِ مِنَ السَّيَّارَةِ التَّقْلِيدِيَّةِ. وَإِذَا اعْتَمَدَتِ المُدُنُ عَلَى النَّقْلِ الكَهْرَبَائِيِّ، سَتَنْخَفِضُ انْبِعَاثَاتُ الكَرْبُونِ.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electric car is considered cleaner for the environment than the traditional car. If cities rely on electric transport, carbon emissions will fall.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بَدَأَتْ هٰذِهِ المَشَارِيعُ مُبَكِّرًا، لَكَانَتْ مُدُنُنَا أَقَلَّ ازْدِحَامًا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had these projects started early, our cities would be less congested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high-speed line connect?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Mecca and Medina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airports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ports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يَصِلُ بَيْنَ مَكَّةَ وَالمَدِينَةِ.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its maximum speed?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 km/h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3000 km/h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300 km/h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تَبْلُغُ سُرْعَتُهُ القُصْوَى ثَلَاثَمِئَةِ كِيلُومِتْرٍ فِي السَّاعَةِ.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metro trip to the airport take?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hours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whole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Half an hour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تَسْتَغْرِقُ الرِّحْلَةُ … نِصْفَ سَاعَةٍ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electric car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Cleaner for the environment than a traditional car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Dirtier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أَنْظَفَ لِلْبِيئَةِ مِنَ السَّيَّارَةِ التَّقْلِيدِيَّةِ.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early projects?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would be busier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Cities would have been less congested today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لَوْ بَدَأَتْ هٰذِهِ المَشَارِيعُ مُبَكِّرًا، لَكَانَتْ مُدُنُنَا أَقَلَّ ازْدِحَامًا.</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yaṣil bayna · tablugh · tastaghriq.</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compare transport modes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رِحْلَةً بِالقِطَارِ السَّرِيعِ مُسْتَعْمِلًا «يَسْتَغْرِقُ» وَ«يَصِلُ بَيْنَ».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وَسِيلَتَيْنِ بِاسْتِعْمَالِ صِيغَةِ التَّفْضِيلِ.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تَنَبَّأْ بِمُسْتَقْبَلِ النَّقْلِ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D5FBF"/>
                </a:solidFill>
                <a:latin typeface="Amiri" pitchFamily="34" charset="0"/>
                <a:ea typeface="Amiri" pitchFamily="34" charset="-122"/>
                <a:cs typeface="Amiri" pitchFamily="34" charset="-120"/>
              </a:rPr>
              <a:t>يَصِلُ القِطَارُ بَيْنَ ___ وَ ___ ، وَتَسْتَغْرِقُ الرِّحْلَةُ ___ .</a:t>
            </a:r>
            <a:endParaRPr lang="ar-SA" sz="11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___ أَسْرَعُ مِنْ ___ ، لٰكِنَّ ___ أَنْظَفُ لِلْبِيئَةِ.</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اعْتَمَدْنَا عَلَى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رِحْلَةً بِالقِطَارِ السَّرِيعِ.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journey by high-speed train.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يَصِلُ القِطَارُ بَيْنَ المَدِينَتَيْنِ وَيَسْتَغْرِقُ سَاعَتَيْنِ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train connects the two cities and takes only two hours.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formal journey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six formal journey sentences with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superlative comparison and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superlative comparison and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Type 1 prediction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three modes with the journey verbs, a superlative, a statistic, environment words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أَسْرَعُ وَسِيلَةٍ دَاخِلَ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is the fastest mode inside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تُمَثِّلُ السَّيَّارَةُ الكَهْرَبَائِيَّةُ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electric car represents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إِذَا اعْتَمَدَتِ المُدُنُ عَلَى ______ ،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cities rely on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تَطَوَّرَتِ الشَّبَكَاتُ مُبَكِّرًا،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networks had developed early,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يَصِلُ القِطَارُ السَّرِيعُ بَيْنَ ______ وَ ______ .</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fast train connects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تَسْتَغْرِقُ الرِّحْلَةُ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journey takes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يَقْطَعُ القِطَارُ مَسَافَةً طَوِيلَةً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train covers a long distance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تَبْلُغُ سُرْعَتُهُ القُصْوَى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Its maximum speed reaches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مَكَّةَ وَالمَدِينَةِ  ·  المَرْكَزِ وَالمَطَارِ  ·  ثَلَاثَ سَاعَاتٍ  ·  نِصْفَ سَاعَةٍ  ·  ثَلَاثَمِئَةِ كِيلُومِتْرٍ فِي السَّاعَةِ  ·  مِتْرُو الأَنْفَاقِ  ·  المَدِينَةِ  ·  الخِيَارَ الأَنْظَفَ لِلْبِيئَةِ  ·  النَّقْلِ الكَهْرَبَائِيِّ  ·  سَتَنْخَفِضُ الانْبِعَاثَاتُ  ·  لَكَانَتِ المُدُنُ أَقَلَّ ازْدِحَامًا  ·  البُنْيَةُ التَّحْتِيَّةُ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comparing three modes of transport. Use </a:t>
            </a:r>
            <a:pPr algn="l" indent="0" marL="0">
              <a:buNone/>
            </a:pPr>
            <a:r>
              <a:rPr lang="ar-SA" altLang="en-US" sz="1750" b="1" dirty="0">
                <a:solidFill>
                  <a:srgbClr val="1F2A37"/>
                </a:solidFill>
                <a:latin typeface="Amiri" pitchFamily="34" charset="0"/>
                <a:ea typeface="Amiri" pitchFamily="34" charset="-122"/>
                <a:cs typeface="Amiri" pitchFamily="34" charset="-120"/>
              </a:rPr>
              <a:t>يَصِلُ بَيْنَ، يَسْتَغْرِقُ</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يَقْطَعُ مَسَافَةً</a:t>
            </a:r>
            <a:pPr algn="l" indent="0" marL="0">
              <a:buNone/>
            </a:pPr>
            <a:r>
              <a:rPr lang="en-US" sz="1350" b="1" dirty="0">
                <a:solidFill>
                  <a:srgbClr val="1F2A37"/>
                </a:solidFill>
                <a:latin typeface="Calibri" pitchFamily="34" charset="0"/>
                <a:ea typeface="Calibri" pitchFamily="34" charset="-122"/>
                <a:cs typeface="Calibri" pitchFamily="34" charset="-120"/>
              </a:rPr>
              <a:t>, at least one superlative, statistical language (</a:t>
            </a:r>
            <a:pPr algn="l" indent="0" marL="0">
              <a:buNone/>
            </a:pPr>
            <a:r>
              <a:rPr lang="ar-SA" altLang="en-US" sz="1750" b="1" dirty="0">
                <a:solidFill>
                  <a:srgbClr val="1F2A37"/>
                </a:solidFill>
                <a:latin typeface="Amiri" pitchFamily="34" charset="0"/>
                <a:ea typeface="Amiri" pitchFamily="34" charset="-122"/>
                <a:cs typeface="Amiri" pitchFamily="34" charset="-120"/>
              </a:rPr>
              <a:t>يُمَثِّلُ / يَبْلُغُ</a:t>
            </a:r>
            <a:pPr algn="l" indent="0" marL="0">
              <a:buNone/>
            </a:pPr>
            <a:r>
              <a:rPr lang="en-US" sz="1350" b="1" dirty="0">
                <a:solidFill>
                  <a:srgbClr val="1F2A37"/>
                </a:solidFill>
                <a:latin typeface="Calibri" pitchFamily="34" charset="0"/>
                <a:ea typeface="Calibri" pitchFamily="34" charset="-122"/>
                <a:cs typeface="Calibri" pitchFamily="34" charset="-120"/>
              </a:rPr>
              <a:t>), environmental vocabulary,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three journey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superlative (</a:t>
            </a:r>
            <a:pPr algn="l" indent="0" marL="0">
              <a:buNone/>
            </a:pPr>
            <a:r>
              <a:rPr lang="ar-SA" altLang="en-US" sz="1550" dirty="0">
                <a:solidFill>
                  <a:srgbClr val="1F2A37"/>
                </a:solidFill>
                <a:latin typeface="Amiri" pitchFamily="34" charset="0"/>
                <a:ea typeface="Amiri" pitchFamily="34" charset="-122"/>
                <a:cs typeface="Amiri" pitchFamily="34" charset="-120"/>
              </a:rPr>
              <a:t>أَسْرَعُ / أَنْظَفُ</a:t>
            </a:r>
            <a:pPr algn="l" indent="0" marL="0">
              <a:buNone/>
            </a:pPr>
            <a:r>
              <a:rPr lang="en-US" sz="1200" dirty="0">
                <a:solidFill>
                  <a:srgbClr val="1F2A37"/>
                </a:solidFill>
                <a:latin typeface="Calibri" pitchFamily="34" charset="0"/>
                <a:ea typeface="Calibri" pitchFamily="34" charset="-122"/>
                <a:cs typeface="Calibri" pitchFamily="34" charset="-120"/>
              </a:rPr>
              <a:t>) and one statistic.</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Carbon-emissions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prediction and a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يَشْهَدُ العَالَمُ العَرَبِيُّ تَطَوُّرًا كَبِيرًا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Arab world is witnessing great development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يُعَدُّ … أَسْرَعَ وَسِيلَةٍ بَيْنَ المُدُنِ الكُبْرَى</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is considered the fastest mode between the major cities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فَيَسْتَغْرِقُ دَقَائِقَ لِلتَّنَقُّلِ دَاخِلَ المَدِينَةِ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takes minutes to get around inside the city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لِأَنَّهَا تُقَلِّلُ انْبِعَاثَاتِ الكَرْبُونِ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it reduces carbon emissions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بِشَكْلٍ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significantly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يَشْهَدُ العَالَمُ العَرَبِيُّ تَطَوُّرًا كَبِيرًا فِي وَسَائِلِ النَّقْلِ. يُعَدُّ الخَطُّ الحَدِيدِيُّ السَّرِيعُ أَسْرَعَ وَسِيلَةٍ بَيْنَ المُدُنِ الكُبْرَى؛ فَهُوَ يَصِلُ بَيْنَ مَكَّةَ وَالمَدِينَةِ وَيَقْطَعُ مَسَافَةً طَوِيلَةً فِي سَاعَاتٍ قَلِيلَةٍ، وَتَبْلُغُ سُرْعَتُهُ القُصْوَى ثَلَاثَمِئَةِ كِيلُومِتْرٍ. أَمَّا مِتْرُو الأَنْفَاقِ فَيَسْتَغْرِقُ دَقَائِقَ لِلتَّنَقُّلِ دَاخِلَ المَدِينَةِ. وَتُمَثِّلُ السَّيَّارَةُ الكَهْرَبَائِيَّةُ الخِيَارَ الأَنْظَفَ لِلْبِيئَةِ لِأَنَّهَا تُقَلِّلُ انْبِعَاثَاتِ الكَرْبُونِ. وَإِذَا اعْتَمَدَتِ المُدُنُ عَلَى النَّقْلِ الكَهْرَبَائِيِّ، سَتَنْخَفِضُ الانْبِعَاثَاتُ بِشَكْلٍ كَبِيرٍ. وَلَوْ تَطَوَّرَتْ شَبَكَاتُ النَّقْلِ العَامِّ مُبَكِّرًا، لَكَانَتْ مُدُنُنَا اليَوْمَ أَقَلَّ ازْدِحَامًا.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Arab world is witnessing great development in transport. High-speed rail is considered the fastest mode between the major cities: it connects Makkah and Madinah and covers a long distance in a few hours, and its maximum speed reaches 300 km. As for the underground metro, it takes minutes to get around inside the city. The electric car represents the cleanest option for the environment because it reduces carbon emissions. If cities rely on electric transport, emissions will fall significantly. And if public transport networks had developed early, our cities would be less congested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yaṣil bayna · yaqṭaʿ masāfatan · yastaghriq</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superlative (asraʿa wasīlatin · al-anẓaf)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statistic (tablugh · tumaththil)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sa- and law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yastaghriq + a time · yaqṭaʿ masāfatan · yaṣil BAYNA two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 feminine vehicle or journey takes ta- (tastaghriqu r-riḥla).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numbers have the right form (thalātha sāʿātin · ʿishrīna daqīqatan).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afʿal (asraʿ · anẓaf), not akthar sarīʿ.</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idhā … sa- for a prediction; law … la- for a counterfactual.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يَصِلُ بَيْنَ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القِطَارُ بَيْنَ المَدِينَتَيْنِ.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القِطَارُ المَدِينَتَيْنِ.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يَصِلُ القِطَارُ إِلَى المَدِينَتَيْنِ.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superlative?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سَرِيعٍ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أَسْرَعُ وَسِيلَةٍ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 وَسِيلَةٍ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prediction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إِذَا اعْتَمَدْنَا عَلَى الكَهْرَبَاءِ، سَتَقِلُّ الانْبِعَاثَاتُ.</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لَوِ اعْتَمَدْنَا عَلَى الكَهْرَبَاءِ، لَقَلَّتِ الانْبِعَاثَاتُ.</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نَعْتَمِدُ عَلَى الكَهْرَبَاءِ.</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يَصِلُ بَيْنَ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يَصِلُ القِطَارُ بَيْنَ المَدِينَتَيْنِ.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يَصِلُ القِطَارُ المَدِينَتَيْنِ.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يَصِلُ القِطَارُ إِلَى المَدِينَتَيْنِ.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يَصِلُ بَيْنَ</a:t>
            </a:r>
            <a:pPr algn="l" indent="0" marL="0">
              <a:buNone/>
            </a:pPr>
            <a:r>
              <a:rPr lang="en-US" sz="1050" i="1" dirty="0">
                <a:solidFill>
                  <a:srgbClr val="8A6D1E"/>
                </a:solidFill>
                <a:latin typeface="Calibri" pitchFamily="34" charset="0"/>
                <a:ea typeface="Calibri" pitchFamily="34" charset="-122"/>
                <a:cs typeface="Calibri" pitchFamily="34" charset="-120"/>
              </a:rPr>
              <a:t> links two places.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superlative?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أَكْثَرُ سَرِيعٍ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أَسْرَعُ وَسِيلَةٍ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سَرِيعُ وَسِيلَةٍ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superlative is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أَسْرَعُ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prediction (Type 1)?</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إِذَا اعْتَمَدْنَا عَلَى الكَهْرَبَاءِ، سَتَقِلُّ الانْبِعَاثَاتُ.</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لَوِ اعْتَمَدْنَا عَلَى الكَهْرَبَاءِ، لَقَلَّتِ الانْبِعَاثَاتُ.</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نَعْتَمِدُ عَلَى الكَهْرَبَاءِ.</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prediction.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Reading: the future of Arab transport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تَسْتَثْمِرُ الدُّوَلُ العَرَبِيَّةُ بِكَثَافَةٍ فِي النَّقْلِ العَامِّ. فَقَدْ أَصْبَحَ الخَطُّ الحَدِيدِيُّ السَّرِيعُ يَرْبِطُ بَيْنَ المُدُنِ الكُبْرَى وَيُقَلِّصُ وَقْتَ السَّفَرِ. وَتُمَثِّلُ السَّيَّارَاتُ الكَهْرَبَائِيَّةُ خَطْوَةً نَحْوَ خَفْضِ انْبِعَاثَاتِ الكَرْبُونِ. وَيُعَدُّ مِتْرُو الأَنْفَاقِ أَسْرَعَ وَسِيلَةٍ لِلتَّنَقُّلِ دَاخِلَ المُدُنِ المُزْدَحِمَةِ، إِذْ يَصِلُ بَيْنَ الأَحْيَاءِ فِي دَقَائِقَ. وَأَشَارَ خُبَرَاءُ إِلَى أَنَّ البُنْيَةَ التَّحْتِيَّةَ الجَيِّدَةَ تَزِيدُ حُرِّيَّةَ التَّنَقُّلِ وَتَدْعَمُ الاقْتِصَادَ. وَإِذَا وَاصَلَتِ الدُّوَلُ هٰذَا الاسْتِثْمَارَ، سَتَتَحَسَّنُ جَوْدَةُ الحَيَاةِ. وَلَوْ تَوَافَرَتْ شَبَكَاتٌ مُتَطَوِّرَةٌ سَابِقًا، لَتَغَيَّرَ وَجْهُ المُدُنِ العَرَبِيَّةِ.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تَسْتَثْمِرُ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invests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بِكَثَافَةٍ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heavily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يَرْبِطُ بَيْنَ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links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المُدُنِ الكُبْرَى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major cities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خَفْضِ</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reducing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لِلتَّنَقُّلِ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getting around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الأَحْيَاءِ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neighbourhoods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تَدْعَمُ الاقْتِصَادَ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supports the economy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جَوْدَةُ الحَيَاةِ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quality of life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Arab states investing heavily in?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airports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roads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electric cars represent?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rise in emissions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change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step towards cutting carbon emissions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metro considered?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fastest mode for moving inside crowded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slowest mode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for tourists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experts point out?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Infrastructure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infrastructure increases mobility and supports the economy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harms the economy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earlier networks?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face of Arab cities would have changed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Cities would be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differ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Arab states investing heavily in?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airports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Public transport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roads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تَسْتَثْمِرُ الدُّوَلُ العَرَبِيَّةُ بِكَثَافَةٍ فِي النَّقْلِ العَامِّ.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electric cars represent?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rise in emissions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change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step towards cutting carbon emissions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تُمَثِّلُ … خَطْوَةً نَحْوَ خَفْضِ انْبِعَاثَاتِ الكَرْبُونِ.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metro considered?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fastest mode for moving inside crowded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slowest mode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for tourists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يُعَدُّ مِتْرُو الأَنْفَاقِ أَسْرَعَ وَسِيلَةٍ لِلتَّنَقُّلِ دَاخِلَ المُدُنِ المُزْدَحِمَةِ.</a:t>
            </a:r>
            <a:endParaRPr lang="ar-SA" sz="12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experts point out?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Infrastructure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Good infrastructure increases mobility and supports the economy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harms the economy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البُنْيَةَ التَّحْتِيَّةَ الجَيِّدَةَ تَزِيدُ حُرِّيَّةَ التَّنَقُّلِ وَتَدْعَمُ الاقْتِصَادَ.</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earlier networks?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face of Arab cities would have changed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Cities would be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differ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تَوَافَرَتْ شَبَكَاتٌ مُتَطَوِّرَةٌ سَابِقًا، لَتَغَيَّرَ وَجْهُ المُدُنِ العَرَبِيَّةِ.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Transport Mission — Verbs, Superlatives and Conditionals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يَصِلُ المِتْرُو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المَرْكَزِ وَالمَطَارِ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يَقْطَعُ القِطَارُ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أَلْفِ كِيلُومِتْرٍ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مَسَافَةَ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بِمَسَافَةِ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مَسَافَةِ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تَسْتَغْرِقُ الرِّحْلَةُ ثَلَاثَ</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سَاعَاتٍ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Superlative: which is correct?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أَكْثَرُ سَرِيعٍ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سَرِيعُ جِدًّا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أَسْرَعُ وَسِيلَةٍ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Statistic: which quantifies with a figure?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تَبْلُغُ سُرْعَتُهُ ثَلَاثَمِئَةِ كِيلُومِتْرٍ.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القِطَارُ سَرِيعٌ.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القِطَارَ.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is the formal word for “vehicle”?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المَرْكَبَةُ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العَرَبَةُ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يَصِلُ المِتْرُو</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المَرْكَزِ وَالمَطَارِ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يَصِلُ بَيْنَ</a:t>
            </a:r>
            <a:pPr algn="l" indent="0" marL="0">
              <a:buNone/>
            </a:pPr>
            <a:r>
              <a:rPr lang="en-US" sz="1050" i="1" dirty="0">
                <a:solidFill>
                  <a:srgbClr val="8A6D1E"/>
                </a:solidFill>
                <a:latin typeface="Calibri" pitchFamily="34" charset="0"/>
                <a:ea typeface="Calibri" pitchFamily="34" charset="-122"/>
                <a:cs typeface="Calibri" pitchFamily="34" charset="-120"/>
              </a:rPr>
              <a:t> links two places.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يَقْطَعُ القِطَارُ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أَلْفِ كِيلُومِتْرٍ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مَسَافَةَ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بِمَسَافَةِ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مَسَافَةِ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يَقْطَعُ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مَسَافَة</a:t>
            </a:r>
            <a:pPr algn="l" indent="0" marL="0">
              <a:buNone/>
            </a:pPr>
            <a:r>
              <a:rPr lang="en-US" sz="1050" i="1" dirty="0">
                <a:solidFill>
                  <a:srgbClr val="8A6D1E"/>
                </a:solidFill>
                <a:latin typeface="Calibri" pitchFamily="34" charset="0"/>
                <a:ea typeface="Calibri" pitchFamily="34" charset="-122"/>
                <a:cs typeface="Calibri" pitchFamily="34" charset="-120"/>
              </a:rPr>
              <a:t> as its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تَسْتَغْرِقُ الرِّحْلَةُ ثَلَاثَ</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سَاعَاتَ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سَاعَاتٍ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the number the counted noun is genitive plural.</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Superlative: which is correct?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أَكْثَرُ سَرِيعٍ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سَرِيعُ جِدًّا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أَسْرَعُ وَسِيلَةٍ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superlative is </a:t>
            </a:r>
            <a:pPr algn="l" indent="0" marL="0">
              <a:buNone/>
            </a:pPr>
            <a:r>
              <a:rPr lang="ar-SA" altLang="en-US" sz="1350" dirty="0">
                <a:solidFill>
                  <a:srgbClr val="8A6D1E"/>
                </a:solidFill>
                <a:latin typeface="Amiri" pitchFamily="34" charset="0"/>
                <a:ea typeface="Amiri" pitchFamily="34" charset="-122"/>
                <a:cs typeface="Amiri" pitchFamily="34" charset="-120"/>
              </a:rPr>
              <a:t>أَفْعَل</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أَسْرَعُ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Statistic: which quantifies with a figure?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تَبْلُغُ سُرْعَتُهُ ثَلَاثَمِئَةِ كِيلُومِتْرٍ.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القِطَارُ سَرِيعٌ.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القِطَارَ.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يَبْلُغُ</a:t>
            </a:r>
            <a:pPr algn="l" indent="0" marL="0">
              <a:buNone/>
            </a:pPr>
            <a:r>
              <a:rPr lang="en-US" sz="1050" i="1" dirty="0">
                <a:solidFill>
                  <a:srgbClr val="8A6D1E"/>
                </a:solidFill>
                <a:latin typeface="Calibri" pitchFamily="34" charset="0"/>
                <a:ea typeface="Calibri" pitchFamily="34" charset="-122"/>
                <a:cs typeface="Calibri" pitchFamily="34" charset="-120"/>
              </a:rPr>
              <a:t> gives a precise figure.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Register: which is the formal word for “vehicle”?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السَّيَّارَةُ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المَرْكَبَةُ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العَرَبَةُ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المَرْكَبَةُ</a:t>
            </a:r>
            <a:pPr algn="l" indent="0" marL="0">
              <a:buNone/>
            </a:pPr>
            <a:r>
              <a:rPr lang="en-US" sz="1050" i="1" dirty="0">
                <a:solidFill>
                  <a:srgbClr val="8A6D1E"/>
                </a:solidFill>
                <a:latin typeface="Calibri" pitchFamily="34" charset="0"/>
                <a:ea typeface="Calibri" pitchFamily="34" charset="-122"/>
                <a:cs typeface="Calibri" pitchFamily="34" charset="-120"/>
              </a:rPr>
              <a:t> is the formal term.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P3-L02 · Planning a Trip — Booking, Itineraries and Travel Documents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 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travel itinerary</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يَحْجِزُ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books</a:t>
            </a:r>
            <a:pPr indent="0" marL="0">
              <a:buNone/>
            </a:pPr>
            <a:r>
              <a:rPr lang="en-US" sz="1000" i="1" dirty="0">
                <a:solidFill>
                  <a:srgbClr val="5A6472"/>
                </a:solidFill>
                <a:latin typeface="Calibri" pitchFamily="34" charset="0"/>
                <a:ea typeface="Calibri" pitchFamily="34" charset="-122"/>
                <a:cs typeface="Calibri" pitchFamily="34" charset="-120"/>
              </a:rPr>
              <a:t>  تَحْجِزُ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تَأْشِيرَةٌ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visa</a:t>
            </a:r>
            <a:pPr indent="0" marL="0">
              <a:buNone/>
            </a:pPr>
            <a:r>
              <a:rPr lang="en-US" sz="1000" i="1" dirty="0">
                <a:solidFill>
                  <a:srgbClr val="5A6472"/>
                </a:solidFill>
                <a:latin typeface="Calibri" pitchFamily="34" charset="0"/>
                <a:ea typeface="Calibri" pitchFamily="34" charset="-122"/>
                <a:cs typeface="Calibri" pitchFamily="34" charset="-120"/>
              </a:rPr>
              <a:t>  pl. تَأْشِيرَاتٌ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يُقِيمُ فِي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stays at</a:t>
            </a:r>
            <a:pPr indent="0" marL="0">
              <a:buNone/>
            </a:pPr>
            <a:r>
              <a:rPr lang="en-US" sz="1000" i="1" dirty="0">
                <a:solidFill>
                  <a:srgbClr val="5A6472"/>
                </a:solidFill>
                <a:latin typeface="Calibri" pitchFamily="34" charset="0"/>
                <a:ea typeface="Calibri" pitchFamily="34" charset="-122"/>
                <a:cs typeface="Calibri" pitchFamily="34" charset="-120"/>
              </a:rPr>
              <a:t>  تُقِيمُ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تَسْجِيلُ الوُصُولِ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check-in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Plan a trip: where will you go, and where will you stay?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سَأَحْجِزُ رِحْلَةً إِلَى ______ ، وَسَأُقِيمُ فِي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six formal journey sentences with yastaghriq, yaqṭaʿ and yaṣil bayna.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superlative comparison and a statistic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90–100-word comparison of three modes of transport.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P3-L02 · Planning a Trip — Booking, Itineraries and Travel Documents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التَّخْطِيطُ لِلرِّحْلَةِ — الحَجْزُ وَالوَثَائِقُ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yastaghriq + a TIME · yaqṭaʿ MASĀFATAN · yaṣil BAYNA + two places — compare with afʿal (asraʿu wasīlatin) — and reason with idhā … sa- (real) and law … la- (unreal).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P3-L01 · Modes of Transport — Advanced Vocabulary and Formal Descriptions</dc:title>
  <dc:subject>PptxGenJS Presentation</dc:subject>
  <dc:creator>Al Madina Online School · Arabic Department</dc:creator>
  <cp:lastModifiedBy>Al Madina Online School · Arabic Department</cp:lastModifiedBy>
  <cp:revision>1</cp:revision>
  <dcterms:created xsi:type="dcterms:W3CDTF">2026-10-10T15:03:21Z</dcterms:created>
  <dcterms:modified xsi:type="dcterms:W3CDTF">2026-10-10T15:03:21Z</dcterms:modified>
</cp:coreProperties>
</file>