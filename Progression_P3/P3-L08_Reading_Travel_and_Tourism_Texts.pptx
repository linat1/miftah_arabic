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P3-L08.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sustainable-tourism opinion” is the main You Do task. The grammar slides are a reading toolkit built on conditionals students already use (P3-L05 to P3-L07).
• Core: classify six conditionals as real (idhā) or hypothetical (law) (website Core). Develop: match the result marker for two gaps. Stretch: an R3 answer inferring the writer’s attitude from a Type 2.
• Exam link: R3 questions ask what the writer implies. A law sentence is evidence of criticism — train students to QUOTE it and name it: «لَوْ … لَـ» شَرْطٌ افْتِرَاضِيٌّ.
• Website correction: إِذَا زُرْتَ الأُرْدُنَّ، لَنْ تَنْدَمَ needs fa- before lan: فَلَنْ تَنْدَمَ. Use it to show that a real result can be sa-, fa-lan, or fa- + a command.
• Grammar links: Type 1 and Type 2 (P3-L05) · reported speech and stance verbs (P2-L08).
• TEACHER-WRITTEN ITEMS: waṣl alif shown without a kasra; grammar fixes إِذَا زُرْتَ الأُرْدُنَّ، لَنْ تَنْدَمَ → فَلَنْ تَنْدَمَ and لَوْ اهْتَمَّتِ → لَوِ اهْتَمَّتِ; rule headings and formulas in English and transliteration; rule examples shown without their English glosses; sorter headings in transliteration; the annotation table is teacher-built from the website reading;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P3-L07. Questions 4–5 retrieve the subjunctive and yaḥẓur + object (P3-L07)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particle tells you the writer’s attitude: idhā recommends, law criticises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غرض، تنقید، دلیل، اشارہ and نتیجہ are all shared. Note that Arabic دَلِيلٌ has two meanings in this unit: “evidence” (in a reading answer) and “a guide” (دَلِيلٌ سِيَاحِيٌّ) — both come from “to point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(1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(2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“Classify by particle” and “Read the attitude (R3)”, the website table and teaching point 1.
Ask two questions of every conditional: (1) idhā or law? (2) So is the writer recommending — or regretting / criticising?
Website correction (row 1): when the result begins with لَنْ, it needs فَـ — إِذَا زُرْتَ الأُرْدُنَّ، فَلَنْ تَنْدَمَ. (Also with a command: إِذَا زُرْتَ الأُرْدُنَّ، فَزُرِ البَتْرَاءَ.)
Row 4: لَوْ takes a kasra before a waṣl alif — لَوِ اهْتَمَّتِ.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“Match the result marker”, teaching point 2 and mistakes 1–2.
Gap-fill strategy: look LEFT to the particle first. إِذَا → choose the سَـ (future) option; لَوْ → choose the لَـ + past option.
Website mistake 1: إِذَا حَجَزْتَ مُبَكِّرًا، لَوَفَّرْتَ ✗ → سَتُوَفِّرُ ✓.
Card 3 (teacher addition): a real result can also be فَلَنْ + subjunctive or فَـ + a command — never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reading labels its five questions R1–R4; this table shows what each type needs, using the website text.
Purposes to know: إِخْبَارٌ (informing) · إِقْنَاعٌ (persuading) · سَرْدٌ (narrating) — from the P3-L09 vocabulary.
Exam habit: for R3 always name the TYPE first (شَرْطٌ افْتِرَاضِيٌّ), then the INFERENCE (نَقْدٌ ضِمْنِيٌّ), then the REASON (لِأَنَّ الشَّرْطَ لَمْ يَتَحَقَّقْ).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“Reading verbs”, the vocabulary notes (يَدُلُّ عَلَى · يَكْشِفُ عَنْ · يَسْتَنْتِجُ + object · يَقْتَرِحُ + object) and mistake 3.
Row 4: يَسْتَنْتِجُ can take a noun or أَنَّ + sentence. Row 5 (يُوصِي بِـ) is from the website reading.
Stretch: write one sentence with each verb about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“Find the conditionals and box the particle. idhā … sa- → real: the writer believes it and recommends it. law … lamā → unreal: governments did NOT care early — that is a hidden criticism. I name it with yadullu ʿalā. Last, R4: why was this written? To persuade.”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“a sustainable-tourism opinion”. Read the text aloud first, then fill columns 2–3 together, covering them.
Core: rows 1–2. Develop: row 3 — ask “Did governments care early? No → so what is the writer saying about them?” Stretch: row 4 and a sentence: يَدُلُّ اخْتِيَارُ «لَوْ» عَلَى أَنَّ الكَاتِبَ … .
Vocabulary: نِعْمَةٌ وَنِقْمَةٌ = a blessing and a curse · فِي آنٍ وَاحِدٍ =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critical reading from a type classification, an attitude reading and a purpose statement.”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two conditionals the speaker quotes.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فَلَنْ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“a sustainable-tourism opinion”. Before reading: box every إِذَا and every لَوْ, and underline the result marker (سَـ / لَـ / لَمَا).
Core: questions 1, 2 and 3 (R1–R2). Develop: all 5 + quote the words that prove each answer. Stretch: then write an R3 answer in Arabic: «يَدُلُّ اخْتِيَارُ لَوْ عَلَى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Website prompts and model. Pairs take one conditional from the reading each and analyse it aloud with the three questions.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يَكْشِفُ النَّصُّ عَنْ مَوْقِفِ كَاتِبِهِ · «إِذَا احْتَرَمَ … سَتَبْقَى» شَرْطٌ حَقِيقِيٌّ · «لَوِ اهْتَمَّتِ … لَمَا تَدَهْوَرَتِ» فَشَرْطٌ افْتِرَاضِيٌّ · يَدُلُّ اخْتِيَارُ «لَوْ» عَلَى نَقْدٍ ضِمْنِيٍّ · لِأَنَّ الشَّرْطَ لَمْ يَتَحَقَّقْ · وَالغَرَضُ مِنَ النَّصِّ إِقْنَاعُ القَارِئِ.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(P3-L09 · Writing — Travel and Tourism (Paper 4 Extended Writing)) will spend class time USING this language, so students prepare it tonight — short, simple, easy to access (school guidance: “Simple, Short, Interesting, Relevant, Easy to access”). The five words come from the website P3-L09 vocabulary (travel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travel texts like an examiner: idhā signals a real recommendation, law signals an implicit criticism; match sa- to idhā and la- to law in a gap; and name your inference with yadull ʿalā and yakshif ʿan.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P3-L08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Particle → type → attitude, matching the result marker, R1–R4 questions, the verbs of an answer.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Annotate the four key sentences of the text, build an analysis, sort real / hypothetical / terms.</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tourism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مُرَاجَعَةُ 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review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booking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manager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نَقْدٌ ضِمْنِيٌّ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praise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decision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ارْتَدَى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يَحْظُرُ المَوْقِعُ</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التَّصْوِيرَ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بِالتَّصْوِيرِ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التَّصْوِيرِ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 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tourism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مُرَاجَعَةُ 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hotel review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booking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manager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نَقْدٌ ضِمْنِيٌّ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praise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decision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ارْتَدَى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after an, -a (yartadiya).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يَحْظُرُ المَوْقِعُ</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التَّصْوِيرَ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بِالتَّصْوِيرِ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التَّصْوِيرِ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yaḥẓur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particle tells you the writer’s attitude: idhā recommends, law criticises what did not happen.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 = تَوْصِيَةٌ · </a:t>
            </a:r>
            <a:pPr rtl="1" algn="ctr" indent="0" marL="0">
              <a:lnSpc>
                <a:spcPct val="120000"/>
              </a:lnSpc>
              <a:buNone/>
            </a:pPr>
            <a:r>
              <a:rPr lang="ar-SA" altLang="en-US" sz="1950" b="1" dirty="0">
                <a:solidFill>
                  <a:srgbClr val="D6336C"/>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 = نَقْدٌ ضِمْنِيٌّ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a travel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a conditional as real (idhā) or hypothetical (law).</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Infer the writer’s attitude from a Type 2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short analysis with yadull ʿalā and yakshif ʿan.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classify a conditional as real or hypothetical.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match sa- to idhā and la- to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a text’s purpose.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the writer’s attitude from a law sentence.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غَرَضٌ</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‎غرض‎ </a:t>
            </a:r>
            <a:pPr indent="0" marL="0">
              <a:buNone/>
            </a:pPr>
            <a:r>
              <a:rPr lang="en-US" sz="950" b="1" dirty="0">
                <a:solidFill>
                  <a:srgbClr val="2E8B57"/>
                </a:solidFill>
                <a:latin typeface="Calibri" pitchFamily="34" charset="0"/>
                <a:cs typeface="Amiri" pitchFamily="2" charset="-78"/>
              </a:rPr>
              <a:t> gharaz · purpose, aim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نَقْدٌ · انْتِقَادٌ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‎تنقید‎ </a:t>
            </a:r>
            <a:pPr indent="0" marL="0">
              <a:buNone/>
            </a:pPr>
            <a:r>
              <a:rPr lang="en-US" sz="950" b="1" dirty="0">
                <a:solidFill>
                  <a:srgbClr val="2E8B57"/>
                </a:solidFill>
                <a:latin typeface="Calibri" pitchFamily="34" charset="0"/>
                <a:cs typeface="Amiri" pitchFamily="2" charset="-78"/>
              </a:rPr>
              <a:t> tanqīd · criticism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 · يَدُلُّ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 it indicates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إِشَارَةٌ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 a hint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نَتِيجَةٌ · 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a result · he infers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 سِيَاحِيٌّ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text</a:t>
            </a:r>
            <a:endParaRPr lang="en-US" sz="1350" dirty="0"/>
          </a:p>
          <a:p>
            <a:pPr indent="0" marL="0">
              <a:buNone/>
            </a:pPr>
            <a:r>
              <a:rPr lang="en-US" sz="1100" i="1" dirty="0">
                <a:solidFill>
                  <a:srgbClr val="5A6472"/>
                </a:solidFill>
                <a:latin typeface="Calibri" pitchFamily="34" charset="0"/>
                <a:cs typeface="Amiri" pitchFamily="2" charset="-78"/>
              </a:rPr>
              <a:t>naṣ-ṣun si-yā-ḥiy-yun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نُصُوصٌ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 سَفَرٍ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report</a:t>
            </a:r>
            <a:endParaRPr lang="en-US" sz="1350" dirty="0"/>
          </a:p>
          <a:p>
            <a:pPr indent="0" marL="0">
              <a:buNone/>
            </a:pPr>
            <a:r>
              <a:rPr lang="en-US" sz="1100" i="1" dirty="0">
                <a:solidFill>
                  <a:srgbClr val="5A6472"/>
                </a:solidFill>
                <a:latin typeface="Calibri" pitchFamily="34" charset="0"/>
                <a:cs typeface="Amiri" pitchFamily="2" charset="-78"/>
              </a:rPr>
              <a:t>taq-rī-ru sa-fa-rin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تَقَارِيرُ سَفَرٍ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 فُنْدُقٍ</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review</a:t>
            </a:r>
            <a:endParaRPr lang="en-US" sz="1350" dirty="0"/>
          </a:p>
          <a:p>
            <a:pPr indent="0" marL="0">
              <a:buNone/>
            </a:pPr>
            <a:r>
              <a:rPr lang="en-US" sz="1100" i="1" dirty="0">
                <a:solidFill>
                  <a:srgbClr val="5A6472"/>
                </a:solidFill>
                <a:latin typeface="Calibri" pitchFamily="34" charset="0"/>
                <a:cs typeface="Amiri" pitchFamily="2" charset="-78"/>
              </a:rPr>
              <a:t>mu-rā-ja-ʿa-tu fun-du-qin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مُرَاجَعَاتُ فَنَادِقَ</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سِيَاحِيٌّ</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أَدِلَّةٌ سِيَاحِيَّةٌ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مَنْشُورٌ سِيَاحِيٌّ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brochure</a:t>
            </a:r>
            <a:endParaRPr lang="en-US" sz="1350" dirty="0"/>
          </a:p>
          <a:p>
            <a:pPr indent="0" marL="0">
              <a:buNone/>
            </a:pPr>
            <a:r>
              <a:rPr lang="en-US" sz="1100" i="1" dirty="0">
                <a:solidFill>
                  <a:srgbClr val="5A6472"/>
                </a:solidFill>
                <a:latin typeface="Calibri" pitchFamily="34" charset="0"/>
                <a:cs typeface="Amiri" pitchFamily="2" charset="-78"/>
              </a:rPr>
              <a:t>man-shū-run si-yā-ḥiy-yun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مَنْشُورَاتٌ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مُؤَلِّفُ النَّصِّ</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text's author</a:t>
            </a:r>
            <a:endParaRPr lang="en-US" sz="1350" dirty="0"/>
          </a:p>
          <a:p>
            <a:pPr indent="0" marL="0">
              <a:buNone/>
            </a:pPr>
            <a:r>
              <a:rPr lang="en-US" sz="1100" i="1" dirty="0">
                <a:solidFill>
                  <a:srgbClr val="5A6472"/>
                </a:solidFill>
                <a:latin typeface="Calibri" pitchFamily="34" charset="0"/>
                <a:cs typeface="Amiri" pitchFamily="2" charset="-78"/>
              </a:rPr>
              <a:t>mu-ʾal-li-fu an-naṣ-ṣi</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مُؤَلِّفَةُ النَّصِّ</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الغَرَضُ مِنَ الكِتَابَةِ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السِّيَاقُ اللُّغَوِيُّ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linguistic context</a:t>
            </a:r>
            <a:endParaRPr lang="en-US" sz="1350" dirty="0"/>
          </a:p>
          <a:p>
            <a:pPr indent="0" marL="0">
              <a:buNone/>
            </a:pPr>
            <a:r>
              <a:rPr lang="en-US" sz="1100" i="1" dirty="0">
                <a:solidFill>
                  <a:srgbClr val="5A6472"/>
                </a:solidFill>
                <a:latin typeface="Calibri" pitchFamily="34" charset="0"/>
                <a:cs typeface="Amiri" pitchFamily="2" charset="-78"/>
              </a:rPr>
              <a:t>as-si-yā-qu all-lu-gha-wiy-yu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إِذَا.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لَوْ.</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افْتِرَاضِيٌّ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 الكَاتِبِ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attitude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real possibility)</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counterfactual)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result marker</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نَقْدٌ ضِمْنِيٌّ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 criticism</a:t>
            </a:r>
            <a:endParaRPr lang="en-US" sz="1350" dirty="0"/>
          </a:p>
          <a:p>
            <a:pPr indent="0" marL="0">
              <a:buNone/>
            </a:pPr>
            <a:r>
              <a:rPr lang="en-US" sz="1100" i="1" dirty="0">
                <a:solidFill>
                  <a:srgbClr val="5A6472"/>
                </a:solidFill>
                <a:latin typeface="Calibri" pitchFamily="34" charset="0"/>
                <a:cs typeface="Amiri" pitchFamily="2" charset="-78"/>
              </a:rPr>
              <a:t>naq-dun ḍim-niy-yun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تَسْتَنْتِجُ</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أَسْتَنْتِجُ</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يُمَيِّزُ بَيْنَ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تُمَيِّزُ بَيْنَ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أُمَيِّزُ بَيْنَ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يَدُلُّ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a:t>
            </a:r>
            <a:endParaRPr lang="en-US" sz="1350" dirty="0"/>
          </a:p>
          <a:p>
            <a:pPr indent="0" marL="0">
              <a:buNone/>
            </a:pPr>
            <a:r>
              <a:rPr lang="en-US" sz="1100" i="1" dirty="0">
                <a:solidFill>
                  <a:srgbClr val="5A6472"/>
                </a:solidFill>
                <a:latin typeface="Calibri" pitchFamily="34" charset="0"/>
                <a:cs typeface="Amiri" pitchFamily="2" charset="-78"/>
              </a:rPr>
              <a:t>ya-dul-lu ʿa-lā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تَدُلُّ عَلَى</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0" name="Shape 5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يَكْشِفُ عَنْ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reveals</a:t>
            </a:r>
            <a:endParaRPr lang="en-US" sz="1350" dirty="0"/>
          </a:p>
          <a:p>
            <a:pPr indent="0" marL="0">
              <a:buNone/>
            </a:pPr>
            <a:r>
              <a:rPr lang="en-US" sz="1100" i="1" dirty="0">
                <a:solidFill>
                  <a:srgbClr val="5A6472"/>
                </a:solidFill>
                <a:latin typeface="Calibri" pitchFamily="34" charset="0"/>
                <a:cs typeface="Amiri" pitchFamily="2" charset="-78"/>
              </a:rPr>
              <a:t>yak-shi-fu ʿan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تَكْشِفُ عَنْ</a:t>
            </a:r>
            <a:endParaRPr lang="ar-SA"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يَقْتَرِحُ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suggests</a:t>
            </a:r>
            <a:endParaRPr lang="en-US" sz="1350" dirty="0"/>
          </a:p>
          <a:p>
            <a:pPr indent="0" marL="0">
              <a:buNone/>
            </a:pPr>
            <a:r>
              <a:rPr lang="en-US" sz="1100" i="1" dirty="0">
                <a:solidFill>
                  <a:srgbClr val="5A6472"/>
                </a:solidFill>
                <a:latin typeface="Calibri" pitchFamily="34" charset="0"/>
                <a:cs typeface="Amiri" pitchFamily="2" charset="-78"/>
              </a:rPr>
              <a:t>yaq-ta-ri-ḥu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تَقْتَرِحُ</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أَقْتَرِحُ</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تَسَلْسُلُ الأَحْدَاثِ</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تَوْصِيَةٌ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تَوْصِيَاتٌ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مَوْثُوقِيَّةٌ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reliability</a:t>
            </a:r>
            <a:endParaRPr lang="en-US" sz="1350" dirty="0"/>
          </a:p>
          <a:p>
            <a:pPr indent="0" marL="0">
              <a:buNone/>
            </a:pPr>
            <a:r>
              <a:rPr lang="en-US" sz="1100" i="1" dirty="0">
                <a:solidFill>
                  <a:srgbClr val="5A6472"/>
                </a:solidFill>
                <a:latin typeface="Calibri" pitchFamily="34" charset="0"/>
                <a:cs typeface="Amiri" pitchFamily="2" charset="-78"/>
              </a:rPr>
              <a:t>maw-thū-qiy-ya-tun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PARTICLE → TYPE → ATTITUDE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the conditional tell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الأَدَاةُ · النَّوْعُ · المَوْقِفُ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writer’s attitude</a:t>
            </a:r>
            <a:endParaRPr lang="en-US" sz="1100" dirty="0"/>
          </a:p>
        </p:txBody>
      </p:sp>
      <p:sp>
        <p:nvSpPr>
          <p:cNvPr id="17" name="Text 14"/>
          <p:cNvSpPr txBox="1"/>
          <p:nvPr/>
        </p:nvSpPr>
        <p:spPr>
          <a:xfrm>
            <a:off x="63825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a travel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39328" y="2267712"/>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the visit</a:t>
            </a:r>
            <a:endParaRPr lang="en-US" sz="1100" dirty="0"/>
          </a:p>
        </p:txBody>
      </p:sp>
      <p:sp>
        <p:nvSpPr>
          <p:cNvPr id="21" name="Text 18"/>
          <p:cNvSpPr txBox="1"/>
          <p:nvPr/>
        </p:nvSpPr>
        <p:spPr>
          <a:xfrm>
            <a:off x="641908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زُرْتَ الأُرْدُنَّ، </a:t>
            </a:r>
            <a:pPr rtl="1" algn="ctr" indent="0" marL="0">
              <a:buNone/>
            </a:pPr>
            <a:r>
              <a:rPr lang="ar-SA" altLang="en-US" sz="1800" b="1" dirty="0">
                <a:solidFill>
                  <a:srgbClr val="1D5FBF"/>
                </a:solidFill>
                <a:latin typeface="Amiri" pitchFamily="2" charset="-78"/>
                <a:cs typeface="Amiri" pitchFamily="2" charset="-78"/>
              </a:rPr>
              <a:t>فَلَنْ</a:t>
            </a:r>
            <a:pPr rtl="1" algn="ctr" indent="0" marL="0">
              <a:buNone/>
            </a:pPr>
            <a:r>
              <a:rPr lang="ar-SA" altLang="en-US" sz="1800" b="1" dirty="0">
                <a:solidFill>
                  <a:srgbClr val="1B3B6F"/>
                </a:solidFill>
                <a:latin typeface="Amiri" pitchFamily="2" charset="-78"/>
                <a:cs typeface="Amiri" pitchFamily="2" charset="-78"/>
              </a:rPr>
              <a:t> تَنْدَمَ.</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39328" y="3054096"/>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believes it is possible</a:t>
            </a:r>
            <a:endParaRPr lang="en-US" sz="1100" dirty="0"/>
          </a:p>
        </p:txBody>
      </p:sp>
      <p:sp>
        <p:nvSpPr>
          <p:cNvPr id="27" name="Text 24"/>
          <p:cNvSpPr txBox="1"/>
          <p:nvPr/>
        </p:nvSpPr>
        <p:spPr>
          <a:xfrm>
            <a:off x="641908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احْتَرَمَ السُّيَّاحُ القَوَاعِدَ، </a:t>
            </a:r>
            <a:pPr rtl="1" algn="ctr" indent="0" marL="0">
              <a:buNone/>
            </a:pPr>
            <a:r>
              <a:rPr lang="ar-SA" altLang="en-US" sz="1800" b="1" dirty="0">
                <a:solidFill>
                  <a:srgbClr val="1D5FBF"/>
                </a:solidFill>
                <a:latin typeface="Amiri" pitchFamily="2" charset="-78"/>
                <a:cs typeface="Amiri" pitchFamily="2" charset="-78"/>
              </a:rPr>
              <a:t>سَتَبْقَى</a:t>
            </a:r>
            <a:pPr rtl="1" algn="ctr" indent="0" marL="0">
              <a:buNone/>
            </a:pPr>
            <a:r>
              <a:rPr lang="ar-SA" altLang="en-US" sz="1800" b="1" dirty="0">
                <a:solidFill>
                  <a:srgbClr val="1B3B6F"/>
                </a:solidFill>
                <a:latin typeface="Amiri" pitchFamily="2" charset="-78"/>
                <a:cs typeface="Amiri" pitchFamily="2" charset="-78"/>
              </a:rPr>
              <a:t> المَوَاقِعُ.</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339328" y="3840480"/>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criticises: visits were NOT regulated</a:t>
            </a:r>
            <a:endParaRPr lang="en-US" sz="1100" dirty="0"/>
          </a:p>
        </p:txBody>
      </p:sp>
      <p:sp>
        <p:nvSpPr>
          <p:cNvPr id="33" name="Text 30"/>
          <p:cNvSpPr txBox="1"/>
          <p:nvPr/>
        </p:nvSpPr>
        <p:spPr>
          <a:xfrm>
            <a:off x="641908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نُظِّمَتِ الزِّيَارَاتُ مُبَكِّرًا، </a:t>
            </a:r>
            <a:pPr rtl="1" algn="ctr" indent="0" marL="0">
              <a:buNone/>
            </a:pPr>
            <a:r>
              <a:rPr lang="ar-SA" altLang="en-US" sz="1800" b="1" dirty="0">
                <a:solidFill>
                  <a:srgbClr val="D6336C"/>
                </a:solidFill>
                <a:latin typeface="Amiri" pitchFamily="2" charset="-78"/>
                <a:cs typeface="Amiri" pitchFamily="2" charset="-78"/>
              </a:rPr>
              <a:t>لَكَانَتِ</a:t>
            </a:r>
            <a:pPr rtl="1" algn="ctr" indent="0" marL="0">
              <a:buNone/>
            </a:pPr>
            <a:r>
              <a:rPr lang="ar-SA" altLang="en-US" sz="1800" b="1" dirty="0">
                <a:solidFill>
                  <a:srgbClr val="1B3B6F"/>
                </a:solidFill>
                <a:latin typeface="Amiri" pitchFamily="2" charset="-78"/>
                <a:cs typeface="Amiri" pitchFamily="2" charset="-78"/>
              </a:rPr>
              <a:t> المَوَاقِعُ أَفْضَلَ.</a:t>
            </a:r>
            <a:endParaRPr lang="ar-SA" sz="18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339328" y="4626864"/>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care is inadequate</a:t>
            </a:r>
            <a:endParaRPr lang="en-US" sz="1100" dirty="0"/>
          </a:p>
        </p:txBody>
      </p:sp>
      <p:sp>
        <p:nvSpPr>
          <p:cNvPr id="39" name="Text 36"/>
          <p:cNvSpPr txBox="1"/>
          <p:nvPr/>
        </p:nvSpPr>
        <p:spPr>
          <a:xfrm>
            <a:off x="641908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40" name="Text 37"/>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اهْتَمَّتِ الدَّوْلَةُ بِالتُّرَاثِ، </a:t>
            </a:r>
            <a:pPr rtl="1" algn="ctr" indent="0" marL="0">
              <a:buNone/>
            </a:pPr>
            <a:r>
              <a:rPr lang="ar-SA" altLang="en-US" sz="1800" b="1" dirty="0">
                <a:solidFill>
                  <a:srgbClr val="D6336C"/>
                </a:solidFill>
                <a:latin typeface="Amiri" pitchFamily="2" charset="-78"/>
                <a:cs typeface="Amiri" pitchFamily="2" charset="-78"/>
              </a:rPr>
              <a:t>لَمَا</a:t>
            </a:r>
            <a:pPr rtl="1" algn="ctr" indent="0" marL="0">
              <a:buNone/>
            </a:pPr>
            <a:r>
              <a:rPr lang="ar-SA" altLang="en-US" sz="1800" b="1" dirty="0">
                <a:solidFill>
                  <a:srgbClr val="1B3B6F"/>
                </a:solidFill>
                <a:latin typeface="Amiri" pitchFamily="2" charset="-78"/>
                <a:cs typeface="Amiri" pitchFamily="2" charset="-78"/>
              </a:rPr>
              <a:t> تَدَهْوَرَ.</a:t>
            </a:r>
            <a:endParaRPr lang="ar-SA" sz="18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law hides a criticism: it tells the reader what did NOT happen. Website common error: reading law as a recommendation.</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MATCH THE RESULT MARKER IN A GAP (WEBSITE RULE 3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 the particle, then fill the gap</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العَلَامَةَ مَعَ الأَدَاةِ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IDHĀ → SA-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إِذَا حَجَزْتَ مُبَكِّرًا، سَتُوَفِّرُ المَالَ.</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book early, you will save money.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Real → future.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LAW → LA-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لَوْ حَجَزْتَ مُبَكِّرًا، لَوَفَّرْتَ المَالَ.</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you booked early, you would have saved money.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Unreal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IDHĀ → FA-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فَلَنْ / فَـ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إِذَا زُرْتَ الأُرْدُنَّ، فَلَنْ تَنْدَمَ.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Jordan, you will not regret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fa- before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 law conditional takes a la- result.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لَوْ حَجَزْتَ مُبَكِّرًا، لَوَفَّرْتَ المَالَ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لَوْ حَجَزْتَ مُبَكِّرًا، سَتُوَفِّرُ المَالَ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7" name="Text 14"/>
          <p:cNvSpPr txBox="1"/>
          <p:nvPr/>
        </p:nvSpPr>
        <p:spPr>
          <a:xfrm>
            <a:off x="43708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text</a:t>
            </a:r>
            <a:endParaRPr lang="en-US" sz="1100" dirty="0"/>
          </a:p>
        </p:txBody>
      </p:sp>
      <p:sp>
        <p:nvSpPr>
          <p:cNvPr id="18" name="Text 15"/>
          <p:cNvSpPr txBox="1"/>
          <p:nvPr/>
        </p:nvSpPr>
        <p:spPr>
          <a:xfrm>
            <a:off x="1993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asks for …</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09760" y="2267712"/>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يَرَى الكَاتِبُ أَنَّ …</a:t>
            </a:r>
            <a:endParaRPr lang="ar-SA" sz="1600" dirty="0"/>
          </a:p>
        </p:txBody>
      </p:sp>
      <p:sp>
        <p:nvSpPr>
          <p:cNvPr id="22" name="Text 19"/>
          <p:cNvSpPr txBox="1"/>
          <p:nvPr/>
        </p:nvSpPr>
        <p:spPr>
          <a:xfrm>
            <a:off x="4389120" y="2267712"/>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السِّيَاحَةُ </a:t>
            </a:r>
            <a:pPr rtl="1" algn="ctr" indent="0" marL="0">
              <a:buNone/>
            </a:pPr>
            <a:r>
              <a:rPr lang="ar-SA" altLang="en-US" sz="1800" b="1" dirty="0">
                <a:solidFill>
                  <a:srgbClr val="C77700"/>
                </a:solidFill>
                <a:latin typeface="Amiri" pitchFamily="2" charset="-78"/>
                <a:cs typeface="Amiri" pitchFamily="2" charset="-78"/>
              </a:rPr>
              <a:t>نِعْمَةٌ وَنِقْمَةٌ</a:t>
            </a:r>
            <a:pPr rtl="1" algn="ctr" indent="0" marL="0">
              <a:buNone/>
            </a:pPr>
            <a:r>
              <a:rPr lang="ar-SA" altLang="en-US" sz="1800" b="1" dirty="0">
                <a:solidFill>
                  <a:srgbClr val="1B3B6F"/>
                </a:solidFill>
                <a:latin typeface="Amiri" pitchFamily="2" charset="-78"/>
                <a:cs typeface="Amiri" pitchFamily="2" charset="-78"/>
              </a:rPr>
              <a:t> فِي آنٍ وَاحِدٍ.</a:t>
            </a:r>
            <a:endParaRPr lang="ar-SA" sz="1800" dirty="0"/>
          </a:p>
        </p:txBody>
      </p:sp>
      <p:sp>
        <p:nvSpPr>
          <p:cNvPr id="23" name="Text 20"/>
          <p:cNvSpPr txBox="1"/>
          <p:nvPr/>
        </p:nvSpPr>
        <p:spPr>
          <a:xfrm>
            <a:off x="2029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main view</a:t>
            </a:r>
            <a:endParaRPr lang="en-US" sz="1100" dirty="0"/>
          </a:p>
        </p:txBody>
      </p:sp>
      <p:sp>
        <p:nvSpPr>
          <p:cNvPr id="24" name="Text 21"/>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09760" y="3054096"/>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يَقُولُ الكَاتِبُ: «…»</a:t>
            </a:r>
            <a:endParaRPr lang="ar-SA" sz="1600" dirty="0"/>
          </a:p>
        </p:txBody>
      </p:sp>
      <p:sp>
        <p:nvSpPr>
          <p:cNvPr id="29" name="Text 26"/>
          <p:cNvSpPr txBox="1"/>
          <p:nvPr/>
        </p:nvSpPr>
        <p:spPr>
          <a:xfrm>
            <a:off x="4389120" y="3054096"/>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احْتَرَمَ السُّيَّاحُ القَوَاعِدَ، </a:t>
            </a:r>
            <a:pPr rtl="1" algn="ctr" indent="0" marL="0">
              <a:buNone/>
            </a:pPr>
            <a:r>
              <a:rPr lang="ar-SA" altLang="en-US" sz="1800" b="1" dirty="0">
                <a:solidFill>
                  <a:srgbClr val="1D5FBF"/>
                </a:solidFill>
                <a:latin typeface="Amiri" pitchFamily="2" charset="-78"/>
                <a:cs typeface="Amiri" pitchFamily="2" charset="-78"/>
              </a:rPr>
              <a:t>سَتَبْقَى</a:t>
            </a:r>
            <a:pPr rtl="1" algn="ctr" indent="0" marL="0">
              <a:buNone/>
            </a:pPr>
            <a:r>
              <a:rPr lang="ar-SA" altLang="en-US" sz="1800" b="1" dirty="0">
                <a:solidFill>
                  <a:srgbClr val="1B3B6F"/>
                </a:solidFill>
                <a:latin typeface="Amiri" pitchFamily="2" charset="-78"/>
                <a:cs typeface="Amiri" pitchFamily="2" charset="-78"/>
              </a:rPr>
              <a:t> المَوَاقِعُ.</a:t>
            </a:r>
            <a:endParaRPr lang="ar-SA" sz="1800" dirty="0"/>
          </a:p>
        </p:txBody>
      </p:sp>
      <p:sp>
        <p:nvSpPr>
          <p:cNvPr id="30" name="Text 27"/>
          <p:cNvSpPr txBox="1"/>
          <p:nvPr/>
        </p:nvSpPr>
        <p:spPr>
          <a:xfrm>
            <a:off x="2029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detail / quote</a:t>
            </a:r>
            <a:endParaRPr lang="en-US" sz="1100" dirty="0"/>
          </a:p>
        </p:txBody>
      </p:sp>
      <p:sp>
        <p:nvSpPr>
          <p:cNvPr id="31" name="Text 28"/>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09760" y="3840480"/>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يَدُلُّ … عَلَى …</a:t>
            </a:r>
            <a:endParaRPr lang="ar-SA" sz="1600" dirty="0"/>
          </a:p>
        </p:txBody>
      </p:sp>
      <p:sp>
        <p:nvSpPr>
          <p:cNvPr id="36" name="Text 33"/>
          <p:cNvSpPr txBox="1"/>
          <p:nvPr/>
        </p:nvSpPr>
        <p:spPr>
          <a:xfrm>
            <a:off x="4389120" y="3840480"/>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اهْتَمَّتِ الحُكُومَاتُ … </a:t>
            </a:r>
            <a:pPr rtl="1" algn="ctr" indent="0" marL="0">
              <a:buNone/>
            </a:pPr>
            <a:r>
              <a:rPr lang="ar-SA" altLang="en-US" sz="1800" b="1" dirty="0">
                <a:solidFill>
                  <a:srgbClr val="D6336C"/>
                </a:solidFill>
                <a:latin typeface="Amiri" pitchFamily="2" charset="-78"/>
                <a:cs typeface="Amiri" pitchFamily="2" charset="-78"/>
              </a:rPr>
              <a:t>لَمَا</a:t>
            </a:r>
            <a:pPr rtl="1" algn="ctr" indent="0" marL="0">
              <a:buNone/>
            </a:pPr>
            <a:r>
              <a:rPr lang="ar-SA" altLang="en-US" sz="1800" b="1" dirty="0">
                <a:solidFill>
                  <a:srgbClr val="1B3B6F"/>
                </a:solidFill>
                <a:latin typeface="Amiri" pitchFamily="2" charset="-78"/>
                <a:cs typeface="Amiri" pitchFamily="2" charset="-78"/>
              </a:rPr>
              <a:t> وَصَلَتْ …</a:t>
            </a:r>
            <a:endParaRPr lang="ar-SA" sz="1800" dirty="0"/>
          </a:p>
        </p:txBody>
      </p:sp>
      <p:sp>
        <p:nvSpPr>
          <p:cNvPr id="37" name="Text 34"/>
          <p:cNvSpPr txBox="1"/>
          <p:nvPr/>
        </p:nvSpPr>
        <p:spPr>
          <a:xfrm>
            <a:off x="2029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inference</a:t>
            </a:r>
            <a:endParaRPr lang="en-US" sz="1100" dirty="0"/>
          </a:p>
        </p:txBody>
      </p:sp>
      <p:sp>
        <p:nvSpPr>
          <p:cNvPr id="38" name="Text 35"/>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09760" y="4626864"/>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الغَرَضُ مِنَ النَّصِّ …</a:t>
            </a:r>
            <a:endParaRPr lang="ar-SA" sz="1600" dirty="0"/>
          </a:p>
        </p:txBody>
      </p:sp>
      <p:sp>
        <p:nvSpPr>
          <p:cNvPr id="41" name="Text 38"/>
          <p:cNvSpPr txBox="1"/>
          <p:nvPr/>
        </p:nvSpPr>
        <p:spPr>
          <a:xfrm>
            <a:off x="4389120" y="4626864"/>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الغَرَضُ مِنَ النَّصِّ</a:t>
            </a:r>
            <a:pPr rtl="1" algn="ctr" indent="0" marL="0">
              <a:buNone/>
            </a:pPr>
            <a:r>
              <a:rPr lang="ar-SA" altLang="en-US" sz="1800" b="1" dirty="0">
                <a:solidFill>
                  <a:srgbClr val="1B3B6F"/>
                </a:solidFill>
                <a:latin typeface="Amiri" pitchFamily="2" charset="-78"/>
                <a:cs typeface="Amiri" pitchFamily="2" charset="-78"/>
              </a:rPr>
              <a:t> إِقْنَاعُ القَارِئِ.</a:t>
            </a:r>
            <a:endParaRPr lang="ar-SA" sz="1800" dirty="0"/>
          </a:p>
        </p:txBody>
      </p:sp>
      <p:sp>
        <p:nvSpPr>
          <p:cNvPr id="42" name="Text 39"/>
          <p:cNvSpPr txBox="1"/>
          <p:nvPr/>
        </p:nvSpPr>
        <p:spPr>
          <a:xfrm>
            <a:off x="2029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purpose</a:t>
            </a:r>
            <a:endParaRPr lang="en-US" sz="1100" dirty="0"/>
          </a:p>
        </p:txBody>
      </p:sp>
      <p:sp>
        <p:nvSpPr>
          <p:cNvPr id="43" name="Text 40"/>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R4</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R1–R2: find it. R3–R4: work it out — and quote the words that prove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what the text shows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 it to …</a:t>
            </a:r>
            <a:endParaRPr lang="en-US" sz="1100" dirty="0"/>
          </a:p>
        </p:txBody>
      </p:sp>
      <p:sp>
        <p:nvSpPr>
          <p:cNvPr id="17" name="Text 14"/>
          <p:cNvSpPr txBox="1"/>
          <p:nvPr/>
        </p:nvSpPr>
        <p:spPr>
          <a:xfrm>
            <a:off x="318211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an inference</a:t>
            </a:r>
            <a:endParaRPr lang="en-US" sz="1100" dirty="0"/>
          </a:p>
        </p:txBody>
      </p:sp>
      <p:sp>
        <p:nvSpPr>
          <p:cNvPr id="21" name="Text 18"/>
          <p:cNvSpPr txBox="1"/>
          <p:nvPr/>
        </p:nvSpPr>
        <p:spPr>
          <a:xfrm>
            <a:off x="3200400" y="2267712"/>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يَدُلُّ اخْتِيَارُ «لَوْ» </a:t>
            </a:r>
            <a:pPr rtl="1" algn="ctr" indent="0" marL="0">
              <a:buNone/>
            </a:pPr>
            <a:r>
              <a:rPr lang="ar-SA" altLang="en-US" sz="1900" b="1" dirty="0">
                <a:solidFill>
                  <a:srgbClr val="0E7C86"/>
                </a:solidFill>
                <a:latin typeface="Amiri" pitchFamily="2" charset="-78"/>
                <a:cs typeface="Amiri" pitchFamily="2" charset="-78"/>
              </a:rPr>
              <a:t>عَلَى</a:t>
            </a:r>
            <a:pPr rtl="1" algn="ctr" indent="0" marL="0">
              <a:buNone/>
            </a:pPr>
            <a:r>
              <a:rPr lang="ar-SA" altLang="en-US" sz="1900" b="1" dirty="0">
                <a:solidFill>
                  <a:srgbClr val="1B3B6F"/>
                </a:solidFill>
                <a:latin typeface="Amiri" pitchFamily="2" charset="-78"/>
                <a:cs typeface="Amiri" pitchFamily="2" charset="-78"/>
              </a:rPr>
              <a:t> نَقْدٍ ضِمْنِيٍّ.</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يَدُلُّ عَلَى</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reveal an attitude</a:t>
            </a:r>
            <a:endParaRPr lang="en-US" sz="1100" dirty="0"/>
          </a:p>
        </p:txBody>
      </p:sp>
      <p:sp>
        <p:nvSpPr>
          <p:cNvPr id="27" name="Text 24"/>
          <p:cNvSpPr txBox="1"/>
          <p:nvPr/>
        </p:nvSpPr>
        <p:spPr>
          <a:xfrm>
            <a:off x="3200400" y="300471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يَكْشِفُ النَّصُّ </a:t>
            </a:r>
            <a:pPr rtl="1" algn="ctr" indent="0" marL="0">
              <a:buNone/>
            </a:pPr>
            <a:r>
              <a:rPr lang="ar-SA" altLang="en-US" sz="1900" b="1" dirty="0">
                <a:solidFill>
                  <a:srgbClr val="0E7C86"/>
                </a:solidFill>
                <a:latin typeface="Amiri" pitchFamily="2" charset="-78"/>
                <a:cs typeface="Amiri" pitchFamily="2" charset="-78"/>
              </a:rPr>
              <a:t>عَنْ</a:t>
            </a:r>
            <a:pPr rtl="1" algn="ctr" indent="0" marL="0">
              <a:buNone/>
            </a:pPr>
            <a:r>
              <a:rPr lang="ar-SA" altLang="en-US" sz="1900" b="1" dirty="0">
                <a:solidFill>
                  <a:srgbClr val="1B3B6F"/>
                </a:solidFill>
                <a:latin typeface="Amiri" pitchFamily="2" charset="-78"/>
                <a:cs typeface="Amiri" pitchFamily="2" charset="-78"/>
              </a:rPr>
              <a:t> مَوْقِفٍ نَاقِدٍ.</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يَكْشِفُ عَنْ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two things</a:t>
            </a:r>
            <a:endParaRPr lang="en-US" sz="1100" dirty="0"/>
          </a:p>
        </p:txBody>
      </p:sp>
      <p:sp>
        <p:nvSpPr>
          <p:cNvPr id="33" name="Text 30"/>
          <p:cNvSpPr txBox="1"/>
          <p:nvPr/>
        </p:nvSpPr>
        <p:spPr>
          <a:xfrm>
            <a:off x="3200400" y="3741725"/>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أُمَيِّزُ </a:t>
            </a:r>
            <a:pPr rtl="1" algn="ctr" indent="0" marL="0">
              <a:buNone/>
            </a:pPr>
            <a:r>
              <a:rPr lang="ar-SA" altLang="en-US" sz="1900" b="1" dirty="0">
                <a:solidFill>
                  <a:srgbClr val="7B3FA0"/>
                </a:solidFill>
                <a:latin typeface="Amiri" pitchFamily="2" charset="-78"/>
                <a:cs typeface="Amiri" pitchFamily="2" charset="-78"/>
              </a:rPr>
              <a:t>بَيْنَ</a:t>
            </a:r>
            <a:pPr rtl="1" algn="ctr" indent="0" marL="0">
              <a:buNone/>
            </a:pPr>
            <a:r>
              <a:rPr lang="ar-SA" altLang="en-US" sz="1900" b="1" dirty="0">
                <a:solidFill>
                  <a:srgbClr val="1B3B6F"/>
                </a:solidFill>
                <a:latin typeface="Amiri" pitchFamily="2" charset="-78"/>
                <a:cs typeface="Amiri" pitchFamily="2" charset="-78"/>
              </a:rPr>
              <a:t> التَّوْصِيَةِ </a:t>
            </a:r>
            <a:pPr rtl="1" algn="ctr" indent="0" marL="0">
              <a:buNone/>
            </a:pPr>
            <a:r>
              <a:rPr lang="ar-SA" altLang="en-US" sz="1900" b="1" dirty="0">
                <a:solidFill>
                  <a:srgbClr val="7B3FA0"/>
                </a:solidFill>
                <a:latin typeface="Amiri" pitchFamily="2" charset="-78"/>
                <a:cs typeface="Amiri" pitchFamily="2" charset="-78"/>
              </a:rPr>
              <a:t>وَ</a:t>
            </a:r>
            <a:pPr rtl="1" algn="ctr" indent="0" marL="0">
              <a:buNone/>
            </a:pPr>
            <a:r>
              <a:rPr lang="ar-SA" altLang="en-US" sz="1900" b="1" dirty="0">
                <a:solidFill>
                  <a:srgbClr val="1B3B6F"/>
                </a:solidFill>
                <a:latin typeface="Amiri" pitchFamily="2" charset="-78"/>
                <a:cs typeface="Amiri" pitchFamily="2" charset="-78"/>
              </a:rPr>
              <a:t>النَّقْدِ.</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يُمَيِّزُ بَيْنَ</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 a conclusion</a:t>
            </a:r>
            <a:endParaRPr lang="en-US" sz="1100" dirty="0"/>
          </a:p>
        </p:txBody>
      </p:sp>
      <p:sp>
        <p:nvSpPr>
          <p:cNvPr id="37" name="Text 34"/>
          <p:cNvSpPr txBox="1"/>
          <p:nvPr/>
        </p:nvSpPr>
        <p:spPr>
          <a:xfrm>
            <a:off x="3200400" y="4478731"/>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أَسْتَنْتِجُ </a:t>
            </a:r>
            <a:pPr rtl="1" algn="ctr" indent="0" marL="0">
              <a:buNone/>
            </a:pPr>
            <a:r>
              <a:rPr lang="ar-SA" altLang="en-US" sz="1900" b="1" dirty="0">
                <a:solidFill>
                  <a:srgbClr val="1D5FBF"/>
                </a:solidFill>
                <a:latin typeface="Amiri" pitchFamily="2" charset="-78"/>
                <a:cs typeface="Amiri" pitchFamily="2" charset="-78"/>
              </a:rPr>
              <a:t>أَنَّ</a:t>
            </a:r>
            <a:pPr rtl="1" algn="ctr" indent="0" marL="0">
              <a:buNone/>
            </a:pPr>
            <a:r>
              <a:rPr lang="ar-SA" altLang="en-US" sz="1900" b="1" dirty="0">
                <a:solidFill>
                  <a:srgbClr val="1B3B6F"/>
                </a:solidFill>
                <a:latin typeface="Amiri" pitchFamily="2" charset="-78"/>
                <a:cs typeface="Amiri" pitchFamily="2" charset="-78"/>
              </a:rPr>
              <a:t> الكَاتِبَ يَرَى السِّيَاسَةَ غَيْرَ كَافِيَةٍ.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يَسْتَنْتِجُ</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recommendation</a:t>
            </a:r>
            <a:endParaRPr lang="en-US" sz="1100" dirty="0"/>
          </a:p>
        </p:txBody>
      </p:sp>
      <p:sp>
        <p:nvSpPr>
          <p:cNvPr id="41" name="Text 38"/>
          <p:cNvSpPr txBox="1"/>
          <p:nvPr/>
        </p:nvSpPr>
        <p:spPr>
          <a:xfrm>
            <a:off x="3200400" y="521573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يُوصِي الكَاتِبُ </a:t>
            </a:r>
            <a:pPr rtl="1" algn="ctr" indent="0" marL="0">
              <a:buNone/>
            </a:pPr>
            <a:r>
              <a:rPr lang="ar-SA" altLang="en-US" sz="1900" b="1" dirty="0">
                <a:solidFill>
                  <a:srgbClr val="1D5FBF"/>
                </a:solidFill>
                <a:latin typeface="Amiri" pitchFamily="2" charset="-78"/>
                <a:cs typeface="Amiri" pitchFamily="2" charset="-78"/>
              </a:rPr>
              <a:t>بِسِيَاحَةٍ</a:t>
            </a:r>
            <a:pPr rtl="1" algn="ctr" indent="0" marL="0">
              <a:buNone/>
            </a:pPr>
            <a:r>
              <a:rPr lang="ar-SA" altLang="en-US" sz="1900" b="1" dirty="0">
                <a:solidFill>
                  <a:srgbClr val="1B3B6F"/>
                </a:solidFill>
                <a:latin typeface="Amiri" pitchFamily="2" charset="-78"/>
                <a:cs typeface="Amiri" pitchFamily="2" charset="-78"/>
              </a:rPr>
              <a:t> مُسْتَدَامَةٍ.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يُوصِي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yadull bi-naqdin ✗ → yadull ʿalā naqdin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(real) · law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 الأُرْدُنَّ، فَلَنْ تَنْدَمَ   ·   لَوْ نُظِّمَتِ الزِّيَارَاتُ، لَكَانَ أَفْضَلَ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اهْتَمَّتِ الدَّوْلَةُ بِالتُّرَاثِ، لَمَا تَدَهْوَرَ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yadull ʿalā · yakshif ʿan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فَلَنْ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زُرْتَ الأُرْدُنَّ، فَلَنْ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travel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real 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a:t>
            </a:r>
            <a:pPr rtl="1" algn="ctr" indent="0" marL="0">
              <a:buNone/>
            </a:pPr>
            <a:r>
              <a:rPr lang="ar-SA" altLang="en-US" sz="2550" b="1" dirty="0">
                <a:solidFill>
                  <a:srgbClr val="1D5FBF"/>
                </a:solidFill>
                <a:latin typeface="Amiri" pitchFamily="2" charset="-78"/>
                <a:cs typeface="Amiri" pitchFamily="2" charset="-78"/>
              </a:rPr>
              <a:t>إِذَا</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1D5FBF"/>
                </a:solidFill>
                <a:latin typeface="Amiri" pitchFamily="2" charset="-78"/>
                <a:cs typeface="Amiri" pitchFamily="2" charset="-78"/>
              </a:rPr>
              <a:t>سَـ</a:t>
            </a:r>
            <a:pPr rtl="1" algn="ctr" indent="0" marL="0">
              <a:buNone/>
            </a:pPr>
            <a:r>
              <a:rPr lang="ar-SA" altLang="en-US" sz="2550" b="1" dirty="0">
                <a:solidFill>
                  <a:srgbClr val="1B3B6F"/>
                </a:solidFill>
                <a:latin typeface="Amiri" pitchFamily="2" charset="-78"/>
                <a:cs typeface="Amiri" pitchFamily="2" charset="-78"/>
              </a:rPr>
              <a:t>» شَرْطٌ حَقِيقِيٌّ</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Recommends.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unreal one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a:t>
            </a:r>
            <a:pPr rtl="1" algn="ctr" indent="0" marL="0">
              <a:buNone/>
            </a:pPr>
            <a:r>
              <a:rPr lang="ar-SA" altLang="en-US" sz="2200" b="1" dirty="0">
                <a:solidFill>
                  <a:srgbClr val="D6336C"/>
                </a:solidFill>
                <a:latin typeface="Amiri" pitchFamily="2" charset="-78"/>
                <a:cs typeface="Amiri" pitchFamily="2" charset="-78"/>
              </a:rPr>
              <a:t>لَوِ</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D6336C"/>
                </a:solidFill>
                <a:latin typeface="Amiri" pitchFamily="2" charset="-78"/>
                <a:cs typeface="Amiri" pitchFamily="2" charset="-78"/>
              </a:rPr>
              <a:t>لَمَا</a:t>
            </a:r>
            <a:pPr rtl="1" algn="ctr" indent="0" marL="0">
              <a:buNone/>
            </a:pPr>
            <a:r>
              <a:rPr lang="ar-SA" altLang="en-US" sz="2200" b="1" dirty="0">
                <a:solidFill>
                  <a:srgbClr val="1B3B6F"/>
                </a:solidFill>
                <a:latin typeface="Amiri" pitchFamily="2" charset="-78"/>
                <a:cs typeface="Amiri" pitchFamily="2" charset="-78"/>
              </a:rPr>
              <a:t>» شَرْطٌ افْتِرَاضِيٌّ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Did not happen.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يَدُلُّ</a:t>
            </a:r>
            <a:pPr rtl="1" algn="ctr" indent="0" marL="0">
              <a:buNone/>
            </a:pPr>
            <a:r>
              <a:rPr lang="ar-SA" altLang="en-US" sz="2100" b="1" dirty="0">
                <a:solidFill>
                  <a:srgbClr val="1B3B6F"/>
                </a:solidFill>
                <a:latin typeface="Amiri" pitchFamily="2" charset="-78"/>
                <a:cs typeface="Amiri" pitchFamily="2" charset="-78"/>
              </a:rPr>
              <a:t> اخْتِيَارُ «لَوْ» </a:t>
            </a:r>
            <a:pPr rtl="1" algn="ctr" indent="0" marL="0">
              <a:buNone/>
            </a:pPr>
            <a:r>
              <a:rPr lang="ar-SA" altLang="en-US" sz="2100" b="1" dirty="0">
                <a:solidFill>
                  <a:srgbClr val="0E7C86"/>
                </a:solidFill>
                <a:latin typeface="Amiri" pitchFamily="2" charset="-78"/>
                <a:cs typeface="Amiri" pitchFamily="2" charset="-78"/>
              </a:rPr>
              <a:t>عَلَى</a:t>
            </a:r>
            <a:pPr rtl="1" algn="ctr" indent="0" marL="0">
              <a:buNone/>
            </a:pPr>
            <a:r>
              <a:rPr lang="ar-SA" altLang="en-US" sz="2100" b="1" dirty="0">
                <a:solidFill>
                  <a:srgbClr val="1B3B6F"/>
                </a:solidFill>
                <a:latin typeface="Amiri" pitchFamily="2" charset="-78"/>
                <a:cs typeface="Amiri" pitchFamily="2" charset="-78"/>
              </a:rPr>
              <a:t> نَقْدٍ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الغَرَضُ مِنَ النَّصِّ</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R4.</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HYPOTHETICAL · LAW</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يَكْشِفُ</a:t>
            </a:r>
            <a:pPr rtl="1" algn="r" indent="0" marL="0">
              <a:lnSpc>
                <a:spcPct val="120000"/>
              </a:lnSpc>
              <a:buNone/>
            </a:pPr>
            <a:r>
              <a:rPr lang="ar-SA" altLang="en-US" sz="1400" b="1" dirty="0">
                <a:solidFill>
                  <a:srgbClr val="1B3B6F"/>
                </a:solidFill>
                <a:latin typeface="Amiri" pitchFamily="2" charset="-78"/>
                <a:cs typeface="Amiri" pitchFamily="2" charset="-78"/>
              </a:rPr>
              <a:t> النَّصُّ </a:t>
            </a:r>
            <a:pPr rtl="1" algn="r" indent="0" marL="0">
              <a:lnSpc>
                <a:spcPct val="120000"/>
              </a:lnSpc>
              <a:buNone/>
            </a:pPr>
            <a:r>
              <a:rPr lang="ar-SA" altLang="en-US" sz="1400" b="1" dirty="0">
                <a:solidFill>
                  <a:srgbClr val="0E7C86"/>
                </a:solidFill>
                <a:latin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cs typeface="Amiri" pitchFamily="2" charset="-78"/>
              </a:rPr>
              <a:t> مَوْقِفِ كَاتِبِهِ مِنْ خِلَالِ نَوْعِ الشَّرْطِ. فَجُمْلَةُ «</a:t>
            </a:r>
            <a:pPr rtl="1" algn="r" indent="0" marL="0">
              <a:lnSpc>
                <a:spcPct val="120000"/>
              </a:lnSpc>
              <a:buNone/>
            </a:pPr>
            <a:r>
              <a:rPr lang="ar-SA" altLang="en-US" sz="1400" b="1" dirty="0">
                <a:solidFill>
                  <a:srgbClr val="1D5FBF"/>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احْتَرَمَ السُّيَّاحُ القَوَاعِدَ، </a:t>
            </a:r>
            <a:pPr rtl="1" algn="r" indent="0" marL="0">
              <a:lnSpc>
                <a:spcPct val="120000"/>
              </a:lnSpc>
              <a:buNone/>
            </a:pPr>
            <a:r>
              <a:rPr lang="ar-SA" altLang="en-US" sz="1400" b="1" dirty="0">
                <a:solidFill>
                  <a:srgbClr val="1D5FBF"/>
                </a:solidFill>
                <a:latin typeface="Amiri" pitchFamily="2" charset="-78"/>
                <a:cs typeface="Amiri" pitchFamily="2" charset="-78"/>
              </a:rPr>
              <a:t>سَتَبْقَى</a:t>
            </a:r>
            <a:pPr rtl="1" algn="r" indent="0" marL="0">
              <a:lnSpc>
                <a:spcPct val="120000"/>
              </a:lnSpc>
              <a:buNone/>
            </a:pPr>
            <a:r>
              <a:rPr lang="ar-SA" altLang="en-US" sz="1400" b="1" dirty="0">
                <a:solidFill>
                  <a:srgbClr val="1B3B6F"/>
                </a:solidFill>
                <a:latin typeface="Amiri" pitchFamily="2" charset="-78"/>
                <a:cs typeface="Amiri" pitchFamily="2" charset="-78"/>
              </a:rPr>
              <a:t> المَوَاقِعُ» شَرْطٌ حَقِيقِيٌّ يَنْصَحُ بِهِ الكَاتِبُ. أَمَّا جُمْلَةُ «</a:t>
            </a:r>
            <a:pPr rtl="1" algn="r" indent="0" marL="0">
              <a:lnSpc>
                <a:spcPct val="120000"/>
              </a:lnSpc>
              <a:buNone/>
            </a:pPr>
            <a:r>
              <a:rPr lang="ar-SA" altLang="en-US" sz="1400" b="1" dirty="0">
                <a:solidFill>
                  <a:srgbClr val="D6336C"/>
                </a:solidFill>
                <a:latin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cs typeface="Amiri" pitchFamily="2" charset="-78"/>
              </a:rPr>
              <a:t> اهْتَمَّتِ الحُكُومَاتُ مُبَكِّرًا، </a:t>
            </a:r>
            <a:pPr rtl="1" algn="r" indent="0" marL="0">
              <a:lnSpc>
                <a:spcPct val="120000"/>
              </a:lnSpc>
              <a:buNone/>
            </a:pPr>
            <a:r>
              <a:rPr lang="ar-SA" altLang="en-US" sz="1400" b="1" dirty="0">
                <a:solidFill>
                  <a:srgbClr val="D6336C"/>
                </a:solidFill>
                <a:latin typeface="Amiri" pitchFamily="2" charset="-78"/>
                <a:cs typeface="Amiri" pitchFamily="2" charset="-78"/>
              </a:rPr>
              <a:t>لَمَا</a:t>
            </a:r>
            <a:pPr rtl="1" algn="r" indent="0" marL="0">
              <a:lnSpc>
                <a:spcPct val="120000"/>
              </a:lnSpc>
              <a:buNone/>
            </a:pPr>
            <a:r>
              <a:rPr lang="ar-SA" altLang="en-US" sz="1400" b="1" dirty="0">
                <a:solidFill>
                  <a:srgbClr val="1B3B6F"/>
                </a:solidFill>
                <a:latin typeface="Amiri" pitchFamily="2" charset="-78"/>
                <a:cs typeface="Amiri" pitchFamily="2" charset="-78"/>
              </a:rPr>
              <a:t> تَدَهْوَرَتِ المَوَاقِعُ» فَشَرْطٌ افْتِرَاضِيٌّ. </a:t>
            </a:r>
            <a:pPr rtl="1" algn="r" indent="0" marL="0">
              <a:lnSpc>
                <a:spcPct val="120000"/>
              </a:lnSpc>
              <a:buNone/>
            </a:pPr>
            <a:r>
              <a:rPr lang="ar-SA" altLang="en-US" sz="1400" b="1" dirty="0">
                <a:solidFill>
                  <a:srgbClr val="0E7C86"/>
                </a:solidFill>
                <a:latin typeface="Amiri" pitchFamily="2" charset="-78"/>
                <a:cs typeface="Amiri" pitchFamily="2" charset="-78"/>
              </a:rPr>
              <a:t>وَيَدُلُّ</a:t>
            </a:r>
            <a:pPr rtl="1" algn="r" indent="0" marL="0">
              <a:lnSpc>
                <a:spcPct val="120000"/>
              </a:lnSpc>
              <a:buNone/>
            </a:pPr>
            <a:r>
              <a:rPr lang="ar-SA" altLang="en-US" sz="1400" b="1" dirty="0">
                <a:solidFill>
                  <a:srgbClr val="1B3B6F"/>
                </a:solidFill>
                <a:latin typeface="Amiri" pitchFamily="2" charset="-78"/>
                <a:cs typeface="Amiri" pitchFamily="2" charset="-78"/>
              </a:rPr>
              <a:t> اخْتِيَارُ «لَوْ» </a:t>
            </a:r>
            <a:pPr rtl="1" algn="r" indent="0" marL="0">
              <a:lnSpc>
                <a:spcPct val="120000"/>
              </a:lnSpc>
              <a:buNone/>
            </a:pPr>
            <a:r>
              <a:rPr lang="ar-SA" altLang="en-US" sz="1400" b="1" dirty="0">
                <a:solidFill>
                  <a:srgbClr val="0E7C86"/>
                </a:solidFill>
                <a:latin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cs typeface="Amiri" pitchFamily="2" charset="-78"/>
              </a:rPr>
              <a:t> نَقْدٍ ضِمْنِيٍّ، لِأَنَّ الشَّرْطَ لَمْ يَتَحَقَّقْ. </a:t>
            </a:r>
            <a:pPr rtl="1" algn="r" indent="0" marL="0">
              <a:lnSpc>
                <a:spcPct val="120000"/>
              </a:lnSpc>
              <a:buNone/>
            </a:pPr>
            <a:r>
              <a:rPr lang="ar-SA" altLang="en-US" sz="1400" b="1" dirty="0">
                <a:solidFill>
                  <a:srgbClr val="7B3FA0"/>
                </a:solidFill>
                <a:latin typeface="Amiri" pitchFamily="2" charset="-78"/>
                <a:cs typeface="Amiri" pitchFamily="2" charset="-78"/>
              </a:rPr>
              <a:t>وَالغَرَضُ مِنَ النَّصِّ</a:t>
            </a:r>
            <a:pPr rtl="1" algn="r" indent="0" marL="0">
              <a:lnSpc>
                <a:spcPct val="120000"/>
              </a:lnSpc>
              <a:buNone/>
            </a:pPr>
            <a:r>
              <a:rPr lang="ar-SA" altLang="en-US" sz="1400" b="1" dirty="0">
                <a:solidFill>
                  <a:srgbClr val="1B3B6F"/>
                </a:solidFill>
                <a:latin typeface="Amiri" pitchFamily="2" charset="-78"/>
                <a:cs typeface="Amiri" pitchFamily="2" charset="-78"/>
              </a:rPr>
              <a:t> إِقْنَاعُ القَارِئِ بِأَنَّ التَّنْظِيمَ ضَرُورِيٌّ.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The sentence “had governments cared earlier, the sites would not have deteriorated”, however, is a hypothetical conditional. The choice of “law” indicates implicit criticism, because the condition was not met. The purpose of the text is to persuade the reader that regulation is necessary.</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الأُرْدُنَّ، فَلَنْ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Jordan, you will not regret it</a:t>
            </a:r>
            <a:endParaRPr lang="en-US" sz="1250" dirty="0"/>
          </a:p>
          <a:p>
            <a:pPr indent="0" marL="0">
              <a:buNone/>
            </a:pPr>
            <a:r>
              <a:rPr lang="en-US" sz="1050" i="1" dirty="0">
                <a:solidFill>
                  <a:srgbClr val="8A6D1E"/>
                </a:solidFill>
                <a:latin typeface="Calibri" pitchFamily="34" charset="0"/>
                <a:cs typeface="Amiri" pitchFamily="2" charset="-78"/>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state cared for heritage, it would not have deteriorated</a:t>
            </a:r>
            <a:endParaRPr lang="en-US" sz="1250" dirty="0"/>
          </a:p>
          <a:p>
            <a:pPr indent="0" marL="0">
              <a:buNone/>
            </a:pPr>
            <a:r>
              <a:rPr lang="en-US" sz="1050" i="1" dirty="0">
                <a:solidFill>
                  <a:srgbClr val="8A6D1E"/>
                </a:solidFill>
                <a:latin typeface="Calibri" pitchFamily="34" charset="0"/>
                <a:cs typeface="Amiri" pitchFamily="2" charset="-78"/>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choice of “law” indicates a critical attitude</a:t>
            </a:r>
            <a:endParaRPr lang="en-US" sz="1250" dirty="0"/>
          </a:p>
          <a:p>
            <a:pPr indent="0" marL="0">
              <a:buNone/>
            </a:pPr>
            <a:r>
              <a:rPr lang="en-US" sz="1050" i="1" dirty="0">
                <a:solidFill>
                  <a:srgbClr val="8A6D1E"/>
                </a:solidFill>
                <a:latin typeface="Calibri" pitchFamily="34" charset="0"/>
                <a:cs typeface="Amiri" pitchFamily="2" charset="-78"/>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7" name="Text 14"/>
          <p:cNvSpPr txBox="1"/>
          <p:nvPr/>
        </p:nvSpPr>
        <p:spPr>
          <a:xfrm>
            <a:off x="656539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 / job</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balanced opinion</a:t>
            </a:r>
            <a:endParaRPr lang="en-US" sz="1100" dirty="0"/>
          </a:p>
        </p:txBody>
      </p:sp>
      <p:sp>
        <p:nvSpPr>
          <p:cNvPr id="21" name="Text 18"/>
          <p:cNvSpPr txBox="1"/>
          <p:nvPr/>
        </p:nvSpPr>
        <p:spPr>
          <a:xfrm>
            <a:off x="660196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main view (R1)</a:t>
            </a:r>
            <a:endParaRPr lang="en-US" sz="1100" dirty="0"/>
          </a:p>
        </p:txBody>
      </p:sp>
      <p:sp>
        <p:nvSpPr>
          <p:cNvPr id="22" name="Text 19"/>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السِّيَاحَةُ نِعْمَةٌ وَنِقْمَةٌ فِي آنٍ وَاحِدٍ.</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genuine recommendation</a:t>
            </a:r>
            <a:endParaRPr lang="en-US" sz="1100" dirty="0"/>
          </a:p>
        </p:txBody>
      </p:sp>
      <p:sp>
        <p:nvSpPr>
          <p:cNvPr id="27" name="Text 24"/>
          <p:cNvSpPr txBox="1"/>
          <p:nvPr/>
        </p:nvSpPr>
        <p:spPr>
          <a:xfrm>
            <a:off x="660196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8" name="Text 25"/>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إِذَا</a:t>
            </a:r>
            <a:pPr rtl="1" algn="ctr" indent="0" marL="0">
              <a:buNone/>
            </a:pPr>
            <a:r>
              <a:rPr lang="ar-SA" altLang="en-US" sz="1700" b="1" dirty="0">
                <a:solidFill>
                  <a:srgbClr val="1B3B6F"/>
                </a:solidFill>
                <a:latin typeface="Amiri" pitchFamily="2" charset="-78"/>
                <a:cs typeface="Amiri" pitchFamily="2" charset="-78"/>
              </a:rPr>
              <a:t> احْتَرَمَ السُّيَّاحُ القَوَاعِدَ، </a:t>
            </a:r>
            <a:pPr rtl="1" algn="ctr" indent="0" marL="0">
              <a:buNone/>
            </a:pPr>
            <a:r>
              <a:rPr lang="ar-SA" altLang="en-US" sz="1700" b="1" dirty="0">
                <a:solidFill>
                  <a:srgbClr val="1D5FBF"/>
                </a:solidFill>
                <a:latin typeface="Amiri" pitchFamily="2" charset="-78"/>
                <a:cs typeface="Amiri" pitchFamily="2" charset="-78"/>
              </a:rPr>
              <a:t>سَتَبْقَى</a:t>
            </a:r>
            <a:pPr rtl="1" algn="ctr" indent="0" marL="0">
              <a:buNone/>
            </a:pPr>
            <a:r>
              <a:rPr lang="ar-SA" altLang="en-US" sz="1700" b="1" dirty="0">
                <a:solidFill>
                  <a:srgbClr val="1B3B6F"/>
                </a:solidFill>
                <a:latin typeface="Amiri" pitchFamily="2" charset="-78"/>
                <a:cs typeface="Amiri" pitchFamily="2" charset="-78"/>
              </a:rPr>
              <a:t> المَوَاقِعُ لِلْأَجْيَالِ القَادِمَةِ.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 criticism of governments</a:t>
            </a:r>
            <a:endParaRPr lang="en-US" sz="1100" dirty="0"/>
          </a:p>
        </p:txBody>
      </p:sp>
      <p:sp>
        <p:nvSpPr>
          <p:cNvPr id="33" name="Text 30"/>
          <p:cNvSpPr txBox="1"/>
          <p:nvPr/>
        </p:nvSpPr>
        <p:spPr>
          <a:xfrm>
            <a:off x="660196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4" name="Text 31"/>
          <p:cNvSpPr txBox="1"/>
          <p:nvPr/>
        </p:nvSpPr>
        <p:spPr>
          <a:xfrm>
            <a:off x="548640" y="3840480"/>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D6336C"/>
                </a:solidFill>
                <a:latin typeface="Amiri" pitchFamily="2" charset="-78"/>
                <a:cs typeface="Amiri" pitchFamily="2" charset="-78"/>
              </a:rPr>
              <a:t>لَوِ</a:t>
            </a:r>
            <a:pPr rtl="1" algn="ctr" indent="0" marL="0">
              <a:lnSpc>
                <a:spcPct val="120000"/>
              </a:lnSpc>
              <a:buNone/>
            </a:pPr>
            <a:r>
              <a:rPr lang="ar-SA" altLang="en-US" sz="1400" b="1" dirty="0">
                <a:solidFill>
                  <a:srgbClr val="1B3B6F"/>
                </a:solidFill>
                <a:latin typeface="Amiri" pitchFamily="2" charset="-78"/>
                <a:cs typeface="Amiri" pitchFamily="2" charset="-78"/>
              </a:rPr>
              <a:t> اهْتَمَّتِ الحُكُومَاتُ بِالتَّنْظِيمِ مُنْذُ البِدَايَةِ، </a:t>
            </a:r>
            <a:pPr rtl="1" algn="ctr" indent="0" marL="0">
              <a:lnSpc>
                <a:spcPct val="120000"/>
              </a:lnSpc>
              <a:buNone/>
            </a:pPr>
            <a:r>
              <a:rPr lang="ar-SA" altLang="en-US" sz="1400" b="1" dirty="0">
                <a:solidFill>
                  <a:srgbClr val="D6336C"/>
                </a:solidFill>
                <a:latin typeface="Amiri" pitchFamily="2" charset="-78"/>
                <a:cs typeface="Amiri" pitchFamily="2" charset="-78"/>
              </a:rPr>
              <a:t>لَمَا</a:t>
            </a:r>
            <a:pPr rtl="1" algn="ctr" indent="0" marL="0">
              <a:lnSpc>
                <a:spcPct val="120000"/>
              </a:lnSpc>
              <a:buNone/>
            </a:pPr>
            <a:r>
              <a:rPr lang="ar-SA" altLang="en-US" sz="1400" b="1" dirty="0">
                <a:solidFill>
                  <a:srgbClr val="1B3B6F"/>
                </a:solidFill>
                <a:latin typeface="Amiri" pitchFamily="2" charset="-78"/>
                <a:cs typeface="Amiri" pitchFamily="2" charset="-78"/>
              </a:rPr>
              <a:t> وَصَلَتْ كَثِيرٌ مِنَ المَوَاقِعِ إِلَى هٰذَا التَّدَهْوُرِ.</a:t>
            </a:r>
            <a:endParaRPr lang="ar-SA" sz="1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to persuade (R4)</a:t>
            </a:r>
            <a:endParaRPr lang="en-US" sz="1100" dirty="0"/>
          </a:p>
        </p:txBody>
      </p:sp>
      <p:sp>
        <p:nvSpPr>
          <p:cNvPr id="37" name="Text 34"/>
          <p:cNvSpPr txBox="1"/>
          <p:nvPr/>
        </p:nvSpPr>
        <p:spPr>
          <a:xfrm>
            <a:off x="660196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recommendation</a:t>
            </a:r>
            <a:endParaRPr lang="en-US" sz="1100" dirty="0"/>
          </a:p>
        </p:txBody>
      </p:sp>
      <p:sp>
        <p:nvSpPr>
          <p:cNvPr id="38" name="Text 35"/>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يُوصِي بِسِيَاحَةٍ مُسْتَدَامَةٍ تُوَازِنُ بَيْنَ الفَائِدَةِ وَالحِمَايَةِ.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CRITICAL READING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Type + attitude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Classify the type</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Read the attitude</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 reading habit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«إِذَا احْتَرَمَ السُّيَّاحُ القَوَاعِدَ» شَرْطٌ حَقِيقِيٌّ</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وَيَدُلُّ اخْتِيَارُ لَوْ عَلَى نَقْدٍ ضِمْنِيٍّ لِلسِّيَاسَةِ الحَالِيَّةِ</a:t>
            </a:r>
            <a:endParaRPr lang="ar-SA" sz="155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وَالغَرَضُ مِنَ النَّصِّ إِقْنَاعُ القَارِئِ بِتَغْيِيرِ سُلُوكِهِ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«لَوِ اهْتَمَّتِ الحُكُومَاتُ» شَرْطٌ افْتِرَاضِيٌّ</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لِأَنَّ الشَّرْطَ الافْتِرَاضِيَّ لَمْ يَتَحَقَّقْ</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لِذٰلِكَ أَقْرَأُ النَّصَّ بِوَعْيٍ بِنَوْعِ الشَّرْطِ</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العِبَارَةُ الأُولَى نَصِيحَةٌ وَالثَّانِيَةُ نَقْدٌ</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وَيَكْشِفُ النَّصُّ عَنْ مَوْقِفٍ نَاقِدٍ</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وَأُمَيِّزُ بَيْنَ التَّوْصِيَةِ وَالنَّقْدِ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Real, hypothetical — or a reading-skill term?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reading-skill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reading-skill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yadull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real </a:t>
            </a:r>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result, not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counterfactual </a:t>
            </a:r>
            <a:pPr algn="l" indent="0" marL="0">
              <a:buNone/>
            </a:pPr>
            <a:r>
              <a:rPr lang="ar-SA" altLang="en-US" sz="1500" b="1" dirty="0">
                <a:solidFill>
                  <a:srgbClr val="1B3B6F"/>
                </a:solidFill>
                <a:latin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يَدُلُّ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reading conditionals critically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conditional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 زُرْتَ الأُرْدُنَّ، فَلَنْ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visit is impossible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criticism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sees the visit as a real possibility and recommends 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key advanced reading skill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topic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 marker fits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لَوْ</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لَوْ</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law · naqd.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 tourism text, do not look only at the information, but at the type of conditional.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فَحِينَ يَكْتُبُ الكَاتِبُ «إِذَا زُرْتَ الأُرْدُنَّ، فَلَنْ تَنْدَمَ»، فَهُوَ يَرَى الزِّيَارَةَ إِمْكَانًا حَقِيقِيًّا وَيَنْصَحُ بِهَا.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the writer writes “if you visit Jordan, you will not regret it”,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أَمَّا حِينَ يَكْتُبُ «لَوْ نُظِّمَتِ الزِّيَارَاتُ مُبَكِّرًا، لَكَانَتِ المَوَاقِعُ أَفْضَلَ»، فَهُوَ يَصِفُ أَمْرًا لَمْ يَحْدُثْ، وَيُلَمِّحُ إِلَى نَقْدٍ لِلسِّيَاسَةِ الحَالِيَّةِ.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But when he writes “had visits been regulated early, the sites would be better”, he describes something that did not happen, and hints at criticism of current policy.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هٰذَا التَّمْيِيزُ بَيْنَ إِذَا الحَقِيقِيَّةِ وَلَوِ الافْتِرَاضِيَّةِ مِنْ أَهَمِّ مَهَارَاتِ القِرَاءَةِ المُتَقَدِّمَةِ.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distinction between real idhā and hypothetical law is one of the most important advanced reading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أَسْئِلَةِ مِلْءِ الفَرَاغِ، 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gap-fill questions, match the marker with the particle: sa- with idhā, and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conditional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إِلَى نَوْعِ الشَّرْطِ.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 زُرْتَ الأُرْدُنَّ، فَلَنْ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visit is impossible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criticism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sees the visit as a real possibility and recommends 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يَرَى الزِّيَارَةَ إِمْكَانًا حَقِيقِيًّا وَيَنْصَحُ بِهَا.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يُلَمِّحُ إِلَى نَقْدٍ لِلسِّيَاسَةِ الحَالِيَّةِ.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key advanced reading skill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topic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decorative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أَهَمِّ مَهَارَاتِ القِرَاءَةِ المُتَقَدِّمَةِ.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 marker fits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cs typeface="Amiri" pitchFamily="2" charset="-78"/>
              </a:rPr>
              <a:t>إِذَا</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لَـ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cs typeface="Amiri" pitchFamily="2" charset="-78"/>
              </a:rPr>
              <a:t>لَوْ</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سَـ</a:t>
            </a:r>
            <a:pPr algn="l" indent="0" marL="0">
              <a:buNone/>
            </a:pPr>
            <a:r>
              <a:rPr lang="en-US" sz="1250" dirty="0">
                <a:solidFill>
                  <a:srgbClr val="9AA1AB"/>
                </a:solidFill>
                <a:latin typeface="Calibri" pitchFamily="34" charset="0"/>
                <a:cs typeface="Amiri" pitchFamily="2" charset="-78"/>
              </a:rPr>
              <a:t> with </a:t>
            </a:r>
            <a:pPr algn="l" indent="0" marL="0">
              <a:buNone/>
            </a:pPr>
            <a:r>
              <a:rPr lang="ar-SA" altLang="en-US" sz="1650" dirty="0">
                <a:solidFill>
                  <a:srgbClr val="9AA1AB"/>
                </a:solidFill>
                <a:latin typeface="Amiri" pitchFamily="2" charset="-78"/>
                <a:cs typeface="Amiri" pitchFamily="2" charset="-78"/>
              </a:rPr>
              <a:t>لَوْ</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طَابِقِ العَلَامَةَ مَعَ الأَدَاةِ: سَـ مَعَ إِذَا، وَلَـ مَعَ لَوْ.</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law · naqd.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sustainable-tourism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نِعْمَةٌ وَنِقْمَةٌ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blessing and a curse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آنٍ وَاحِدٍ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الهَشَّةِ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fragile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سَتَبْقَى</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remain</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لِلْأَجْيَالِ القَادِمَةِ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future generations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بِالتَّنْظِيمِ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regulation</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التَّدَهْوُرِ</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السِّيَاسَاتِ الحَالِيَّةِ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current policies</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إِقْنَاعُ</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persuading</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سُلُوكِهِ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behaviour</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both a blessing and a curse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should stop visiting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do not matter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إِذَا احْتَرَمَ السُّيَّاحُ القَوَاعِدَ، سَتَبْقَى المَوَاقِعُ</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يُوصِي بِسِيَاحَةٍ مُسْتَدَامَةٍ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policies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change their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both a blessing and a curse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السِّيَاحَةَ نِعْمَةٌ وَنِقْمَةٌ فِي آنٍ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should stop visiting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do not matter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إِذَا احْتَرَمَ السُّيَّاحُ القَوَاعِدَ، سَتَبْقَى المَوَاقِعُ</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يُوصِي بِسِيَاحَةٍ مُسْتَدَامَةٍ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policies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يَكْشِفُ عَنْ نَقْدٍ ضِمْنِيٍّ لِلسِّيَاسَاتِ الحَالِيَّةِ.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change their behaviour</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الغَرَضُ مِنَ النَّصِّ إِقْنَاعُ القَارِئِ بِتَغْيِيرِ سُلُوكِهِ.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analyse a travel text aloud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نَوْعُ الشَّرْطِ فِي هٰذِهِ الجُمْلَةِ؟ حَقِيقِيٌّ أَمِ افْتِرَاضِيٌّ؟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يَكْشِفُ اخْتِيَارُ «لَوْ» عَنْ مَوْقِفِ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الغَرَضُ مِنَ النَّصِّ؟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هٰذَا شَرْطٌ ___ ، لِأَنَّ الكَاتِبَ يَسْتَعْمِلُ «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يَكْشِفُ اخْتِيَارُ «لَوْ» عَنْ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الغَرَضُ مِنَ النَّصِّ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نَوْعُ الشَّرْطِ فِي «لَوْ نُظِّمَتِ الزِّيَارَاتُ، لَكَانَ أَفْضَلَ»؟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What type of conditional is “had visits been regulated, it would have been better”?</a:t>
            </a:r>
            <a:endParaRPr lang="en-US" sz="8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شَرْطٌ افْتِرَاضِيٌّ مِنَ النَّوْعِ الثَّانِي؛ فَـ«لَوْ … لَـ» تَصِفُ أَمْرًا لَمْ يَحْدُثْ.</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 hypothetical, Type 2 conditional: “law … la-” describes something that did not happen.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conditionals as real (</a:t>
            </a:r>
            <a:pPr algn="l" indent="0" marL="0">
              <a:buNone/>
            </a:pPr>
            <a:r>
              <a:rPr lang="ar-SA" altLang="en-US" sz="1800" b="1" dirty="0">
                <a:solidFill>
                  <a:srgbClr val="1F2A37"/>
                </a:solidFill>
                <a:latin typeface="Amiri" pitchFamily="2" charset="-78"/>
                <a:cs typeface="Amiri" pitchFamily="2" charset="-78"/>
              </a:rPr>
              <a:t>إِذَا</a:t>
            </a:r>
            <a:pPr algn="l" indent="0" marL="0">
              <a:buNone/>
            </a:pPr>
            <a:r>
              <a:rPr lang="en-US" sz="1400" b="1" dirty="0">
                <a:solidFill>
                  <a:srgbClr val="1F2A37"/>
                </a:solidFill>
                <a:latin typeface="Calibri" pitchFamily="34" charset="0"/>
                <a:cs typeface="Amiri" pitchFamily="2" charset="-78"/>
              </a:rPr>
              <a:t>) or hypothetical (</a:t>
            </a:r>
            <a:pPr algn="l" indent="0" marL="0">
              <a:buNone/>
            </a:pPr>
            <a:r>
              <a:rPr lang="ar-SA" altLang="en-US" sz="1800" b="1" dirty="0">
                <a:solidFill>
                  <a:srgbClr val="1F2A37"/>
                </a:solidFill>
                <a:latin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conditionals as real (idhā) or hypothetical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two, match the correct result marker (</a:t>
            </a:r>
            <a:pPr algn="l" indent="0" marL="0">
              <a:buNone/>
            </a:pPr>
            <a:r>
              <a:rPr lang="ar-SA" altLang="en-US" sz="1800" b="1" dirty="0">
                <a:solidFill>
                  <a:srgbClr val="1F2A37"/>
                </a:solidFill>
                <a:latin typeface="Amiri" pitchFamily="2" charset="-78"/>
                <a:cs typeface="Amiri" pitchFamily="2" charset="-78"/>
              </a:rPr>
              <a:t>سَـ / 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two gaps, choose the result marker (sa- / la-) and explain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 answer inferring the writer's attitude from a Type 2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short travel text — one real and one hypothetical conditional, the implicit criticism, and the purpose.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يَدُلُّ اخْتِيَارُ «لَوْ»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choice of “law” indicates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لِأَنَّ الشَّرْطَ لَمْ يَتَحَقَّقْ.</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the condition was not met.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يَكْشِفُ النَّصُّ عَنْ مَوْقِفٍ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reveals a … attitude.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هٰذَا شَرْطٌ حَقِيقِيٌّ، لِأَنَّ الكَاتِبَ يَسْتَعْمِلُ «إِذَا».</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real conditional, because the writer uses “idhā”.</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شَرْطٌ افْتِرَاضِيٌّ،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hypothetical conditional,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يَنْصَحُ الكَاتِبُ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recommends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الكَاتِبُ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main view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شَرْطٌ حَقِيقِيٌّ  ·  شَرْطٌ افْتِرَاضِيٌّ  ·  تَوْصِيَةٌ  ·  نَقْدٌ ضِمْنِيٌّ  ·  مَوْقِفٌ نَاقِدٌ  ·  مَوْقِفٌ إِيجَابِيٌّ  ·  إِقْنَاعُ القَارِئِ  ·  إِخْبَارُ القَارِئِ  ·  السِّيَاسَةُ الحَالِيَّةُ  ·  غَيْرُ كَافِيَةٍ  ·  لَمْ يَتَحَقَّقْ  ·  إِمْكَانٌ حَقِيقِيٌّ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short travel text of your choice. Classify one conditional as real (</a:t>
            </a:r>
            <a:pPr algn="l" indent="0" marL="0">
              <a:buNone/>
            </a:pPr>
            <a:r>
              <a:rPr lang="ar-SA" altLang="en-US" sz="1750" b="1" dirty="0">
                <a:solidFill>
                  <a:srgbClr val="1F2A37"/>
                </a:solidFill>
                <a:latin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and one as hypothetical (</a:t>
            </a:r>
            <a:pPr algn="l" indent="0" marL="0">
              <a:buNone/>
            </a:pPr>
            <a:r>
              <a:rPr lang="ar-SA" altLang="en-US" sz="1750" b="1" dirty="0">
                <a:solidFill>
                  <a:srgbClr val="1F2A37"/>
                </a:solidFill>
                <a:latin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correct reading verb (</a:t>
            </a:r>
            <a:pPr algn="l" indent="0" marL="0">
              <a:buNone/>
            </a:pPr>
            <a:r>
              <a:rPr lang="ar-SA" altLang="en-US" sz="1550" dirty="0">
                <a:solidFill>
                  <a:srgbClr val="1F2A37"/>
                </a:solidFill>
                <a:latin typeface="Amiri" pitchFamily="2" charset="-78"/>
                <a:cs typeface="Amiri" pitchFamily="2" charset="-78"/>
              </a:rPr>
              <a:t>يَدُلُّ عَلَى / يَكْشِفُ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خِلَالِ نَوْعِ الشَّرْطِ</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the type of conditional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شَرْطٌ حَقِيقِيٌّ يَنْصَحُ بِهِ الكَاتِبُ وَيَرَاهُ مُمْكِنًا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real conditional the writer recommends and sees as possible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فَالكَاتِبُ يَرَى السِّيَاسَةَ الحَالِيَّةَ غَيْرَ كَافِيَةٍ</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writer sees current policy as inadequate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إِقْنَاعُ القَارِئِ بِأَنَّ التَّنْظِيمَ ضَرُورِيٌّ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persuading the reader that regulation is necessary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أَقْرَأُ النَّصَّ بِوَعْيٍ بِنَوْعِ الشَّرْطِ وَمَوْقِفِ الكَاتِبِ</a:t>
            </a:r>
            <a:endParaRPr lang="ar-SA" sz="16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the text aware of the conditional type and the writer’s attitude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and sees as possible. The sentence “had governments cared early, the sites would not have deteriorated”, however, is a hypothetical, Type 2 conditional. The choice of “law” indicates implicit criticism, because the condition was not met, so the writer sees current policy as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conditional named (idhā … sa-)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hypothetical conditional named (law … lamā)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yadull ʿalā naqdin ḍimniyyin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purpose (al-gharaḍ … iqnāʿ)</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conditional: idhā = real, law = hypothetical.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sa- with idhā and la-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stated the purpose of the text.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implicit criticism with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conditional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P3-L09 · Writing — Travel and Tourism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الصَّوْتُ السِّيَاحِيُّ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travel-writing voice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التَّفْصِيلُ الحِسِّيُّ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sensory detail</a:t>
            </a:r>
            <a:pPr indent="0" marL="0">
              <a:buNone/>
            </a:pPr>
            <a:r>
              <a:rPr lang="en-US" sz="1000" i="1" dirty="0">
                <a:solidFill>
                  <a:srgbClr val="5A6472"/>
                </a:solidFill>
                <a:latin typeface="Calibri" pitchFamily="34" charset="0"/>
                <a:cs typeface="Amiri" pitchFamily="2" charset="-78"/>
              </a:rPr>
              <a:t>  pl. التَّفَاصِيلُ الحِسِّيَّةُ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ذِكْرَى لَا تُنْسَى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unforgettable memory</a:t>
            </a:r>
            <a:pPr indent="0" marL="0">
              <a:buNone/>
            </a:pPr>
            <a:r>
              <a:rPr lang="en-US" sz="1000" i="1" dirty="0">
                <a:solidFill>
                  <a:srgbClr val="5A6472"/>
                </a:solidFill>
                <a:latin typeface="Calibri" pitchFamily="34" charset="0"/>
                <a:cs typeface="Amiri" pitchFamily="2" charset="-78"/>
              </a:rPr>
              <a:t>  pl. ذِكْرَيَاتٌ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خَلْفِيَّةٌ سَرْدِيَّةٌ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narrative background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بِنَاءً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based on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travel article: where will you write about, and what is your one unforgettable detail?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سَأَكْتُبُ عَنْ ______ ، وَذِكْرَى لَا تُنْسَى هِيَ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six conditionals from travel texts as real (idhā) or hypothetical (law).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two of them, explain the result marker and what it shows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analysis of a short travel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P3-L09 · Writing — Travel and Tourism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box the particle first — idhā (+ sa- / fa-lan) = a real recommendation, law (+ la- / lamā) = something that did not happen, often an implicit criticism — and name it: yadullu ʿalā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P3-L08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2026-10-11T06:43:12Z</dcterms:created>
  <dcterms:modified xsi:type="dcterms:W3CDTF">2026-10-11T06:43:12Z</dcterms:modified>
</cp:coreProperties>
</file>