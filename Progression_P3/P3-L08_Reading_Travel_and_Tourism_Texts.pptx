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P3-L08. The website lesson “Reading — Travel and Tourism Texts”: vocabulary, grammar rules and quiz, patterns, common mistakes, sorter, listening, reading, speaking prompts and model, writing task and model, differentiation, final check and the lesson mission. Picture match: website visual game “Reading — Travel and Tourism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sustainable-tourism opinion” is the main You Do task. The grammar slides are a reading toolkit built on conditionals students already use (P3-L05 to P3-L07).
• Core: classify six conditionals as real (idhā) or hypothetical (law) (website Core). Develop: match the result marker for two gaps. Stretch: an R3 answer inferring the writer’s attitude from a Type 2.
• Exam link: R3 questions ask what the writer implies. A law sentence is evidence of criticism — train students to QUOTE it and name it: «لَوْ … لَـ» شَرْطٌ افْتِرَاضِيٌّ.
• Website correction: إِذَا زُرْتَ الأُرْدُنَّ، لَنْ تَنْدَمَ needs fa- before lan: فَلَنْ تَنْدَمَ. Use it to show that a real result can be sa-, fa-lan, or fa- + a command.
• Grammar links: Type 1 and Type 2 (P3-L05) · reported speech and stance verbs (P2-L08).
• TEACHER-WRITTEN ITEMS: waṣl alif shown without a kasra; grammar fixes إِذَا زُرْتَ الأُرْدُنَّ، لَنْ تَنْدَمَ → فَلَنْ تَنْدَمَ and لَوْ اهْتَمَّتِ → لَوِ اهْتَمَّتِ; rule headings and formulas in English and transliteration; rule examples shown without their English glosses; sorter headings in transliteration; the annotation table is teacher-built from the website reading;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P3-L07. Questions 4–5 retrieve the subjunctive and yaḥẓur + object (P3-L07) — today students read the grammar instead of writing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particle tells you the writer’s attitude: idhā recommends, law criticises what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غرض، تنقید، دلیل، اشارہ and نتیجہ are all shared. Note that Arabic دَلِيلٌ has two meanings in this unit: “evidence” (in a reading answer) and “a guide” (دَلِيلٌ سِيَاحِيٌّ) — both come from “to point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an examiner’s first question is “what kind of text is this, and why was it written?” — a brochure (مَنْشُورٌ) persuades, a travel report (تَقْرِيرُ سَفَرٍ) informs and narrates, a hotel review (مُرَاجَعَةٌ)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an examiner’s first question is “what kind of text is this, and why was it written?” — a brochure (مَنْشُورٌ) persuades, a travel report (تَقْرِيرُ سَفَرٍ) informs and narrates, a hotel review (مُرَاجَعَةٌ) judges.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(1 of 2)). Hear → Say → See → Use. Transliteration is printed for Core students (cover it for Develop/Stretch).
Conditional-type reading: إِذَا = شَرْطٌ حَقِيقِيٌّ (real) → result with سَـ (or فَـ + لَنْ / a command); لَوْ = شَرْطٌ افْتِرَاضِيٌّ (counterfactual) → result with لَـ / لَمَا. A law sentence often hides a نَقْدٌ ضِمْنِيٌّ.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(2 of 2)). Hear → Say → See → Use. Transliteration is printed for Core students (cover it for Develop/Stretch).
FLEX: teach if time allows; otherwise these are on the website vocabulary tab for homework.
Conditional-type reading: إِذَا = شَرْطٌ حَقِيقِيٌّ (real) → result with سَـ (or فَـ + لَنْ / a command); لَوْ = شَرْطٌ افْتِرَاضِيٌّ (counterfactual) → result with لَـ / لَمَا. A law sentence often hides a نَقْدٌ ضِمْنِيٌّ.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(1 of 2)). Hear → Say → See → Use. Transliteration is printed for Core students (cover it for Develop/Stretch).
FLEX: teach if time allows; otherwise these are on the website vocabulary tab for homework.
Reading verbs — the verbs of an exam answer, each with its partner: يَدُلُّ عَلَى · يَكْشِفُ عَنْ · يُمَيِّزُ بَيْنَ … وَ … · يَسْتَنْتِجُ + object · يَقْتَرِحُ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(2 of 2)). Hear → Say → See → Use. Transliteration is printed for Core students (cover it for Develop/Stretch).
FLEX: teach if time allows; otherwise these are on the website vocabulary tab for homework.
Reading verbs — the verbs of an exam answer, each with its partner: يَدُلُّ عَلَى · يَكْشِفُ عَنْ · يُمَيِّزُ بَيْنَ … وَ … · يَسْتَنْتِجُ + object · يَقْتَرِحُ +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“Classify by particle” and “Read the attitude (R3)”, the website table and teaching point 1.
Ask two questions of every conditional: (1) idhā or law? (2) So is the writer recommending — or regretting / criticising?
Website correction (row 1): when the result begins with لَنْ, it needs فَـ — إِذَا زُرْتَ الأُرْدُنَّ، فَلَنْ تَنْدَمَ. (Also with a command: إِذَا زُرْتَ الأُرْدُنَّ، فَزُرِ البَتْرَاءَ.)
Row 4: لَوْ takes a kasra before a waṣl alif — لَوِ اهْتَمَّتِ.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“Match the result marker”, teaching point 2 and mistakes 1–2.
Gap-fill strategy: look LEFT to the particle first. إِذَا → choose the سَـ (future) option; لَوْ → choose the لَـ + past option.
Website mistake 1: إِذَا حَجَزْتَ مُبَكِّرًا، لَوَفَّرْتَ ✗ → سَتُوَفِّرُ ✓.
Card 3 (teacher addition): a real result can also be فَلَنْ + subjunctive or فَـ + a command — never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reading labels its five questions R1–R4; this table shows what each type needs, using the website text.
Purposes to know: إِخْبَارٌ (informing) · إِقْنَاعٌ (persuading) · سَرْدٌ (narrating) — from the P3-L09 vocabulary.
Exam habit: for R3 always name the TYPE first (شَرْطٌ افْتِرَاضِيٌّ), then the INFERENCE (نَقْدٌ ضِمْنِيٌّ), then the REASON (لِأَنَّ الشَّرْطَ لَمْ يَتَحَقَّقْ).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“Reading verbs”, the vocabulary notes (يَدُلُّ عَلَى · يَكْشِفُ عَنْ · يَسْتَنْتِجُ + object · يَقْتَرِحُ + object) and mistake 3.
Row 4: يَسْتَنْتِجُ can take a noun or أَنَّ + sentence. Row 5 (يُوصِي بِـ) is from the website reading.
Stretch: write one sentence with each verb about the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classify conditionals by particle, read the writer's attitude from the type, and match result markers in a gap.”
• Classify by particle: The particle fixes whether the case is real or counterfactual.
• Read the attitude (R3): A counterfactual implies the condition was not met, hinting at criticism.
• Match the result marker: The gap's marker must fit the conditional type.
• Reading verbs: Use precise verbs to state what the text shows.
Website common error: Reading a لَوْ counterfactual as a genuine recommendation, or choosing a سَـ result in a لَوْ clause. Match the particle to the result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“Find the conditionals and box the particle. idhā … sa- → real: the writer believes it and recommends it. law … lamā → unreal: governments did NOT care early — that is a hidden criticism. I name it with yadullu ʿalā. Last, R4: why was this written? To persuade.”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“a sustainable-tourism opinion”. Read the text aloud first, then fill columns 2–3 together, covering them.
Core: rows 1–2. Develop: row 3 — ask “Did governments care early? No → so what is the writer saying about them?” Stretch: row 4 and a sentence: يَدُلُّ اخْتِيَارُ «لَوْ» عَلَى أَنَّ الكَاتِبَ … .
Vocabulary: نِعْمَةٌ وَنِقْمَةٌ = a blessing and a curse · فِي آنٍ وَاحِدٍ =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critical reading from a type classification, an attitude reading and a purpose statement.” Website feedback: any three different combinations work.
Use it as oral rehearsal for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conditional reveals: إِذَا … → يَنْصَحُ الكَاتِبُ بِـ … · لَوْ … → يَنْتَقِدُ الكَاتِبُ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conditional reveals: إِذَا … → يَنْصَحُ الكَاتِبُ بِـ … · لَوْ … → يَنْتَقِدُ الكَاتِبُ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two conditionals the speaker quotes.
Listen 1: just listen. Listen 2: note answers. Then chat the letters.
Support: after the second listening, show the read-along slide (Arabic + English, line by line) for Core students.
SCRIPT (read aloud):
عِنْدَمَا تَقْرَأُ نَصًّا سِيَاحِيًّا، لَا تَنْظُرْ إِلَى المَعْلُومَةِ فَقَطْ، بَلْ إِلَى نَوْعِ الشَّرْطِ. فَحِينَ يَكْتُبُ الكَاتِبُ «إِذَا زُرْتَ الأُرْدُنَّ، فَلَنْ تَنْدَمَ»، فَهُوَ يَرَى الزِّيَارَةَ إِمْكَانًا حَقِيقِيًّا وَيَنْصَحُ بِهَا. أَمَّا حِينَ يَكْتُبُ «لَوْ نُظِّمَتِ الزِّيَارَاتُ مُبَكِّرًا، لَكَانَتِ المَوَاقِعُ أَفْضَلَ»، فَهُوَ يَصِفُ أَمْرًا لَمْ يَحْدُثْ، وَيُلَمِّحُ إِلَى نَقْدٍ لِلسِّيَاسَةِ الحَالِيَّةِ. هٰذَا التَّمْيِيزُ بَيْنَ إِذَا الحَقِيقِيَّةِ وَلَوِ الافْتِرَاضِيَّةِ مِنْ أَهَمِّ مَهَارَاتِ القِرَاءَةِ المُتَقَدِّمَةِ. وَفِي أَسْئِلَةِ مِلْءِ الفَرَاغِ، طَابِقِ العَلَامَةَ مَعَ الأَدَاةِ: سَـ مَعَ إِذَا، وَلَـ مَعَ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“a sustainable-tourism opinion”. Before reading: box every إِذَا and every لَوْ, and underline the result marker (سَـ / لَـ / لَمَا).
Core: questions 1, 2 and 3 (R1–R2). Develop: all 5 + quote the words that prove each answer. Stretch: then write an R3 answer in Arabic: «يَدُلُّ اخْتِيَارُ لَوْ عَلَى …، لِأَنَّ …»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يَكْشِفُ ذٰلِكَ؟ (Attitude)
B: يَكْشِفُ عَنْ نَقْدٍ ضِمْنِيٍّ لِلسِّيَاسَةِ الحَالِيَّةِ، لِأَنَّ الشَّرْطَ لَمْ يَتَحَقَّقْ. (Infers the critical stance)
Website prompts and model. Pairs take one conditional from the reading each and analyse it aloud with the three questions. To a girl: تَسْتَعْمِلِينَ.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conditionals as real (إِذَا) or hypothetical (لَوْ). · Develop — For two, match the correct result marker (سَـ / لَـ). · Stretch — Write an R3 answer inferring the writer's attitude from a Type 2 conditional.
Website writing task (Stretch): Write eighty to ninety words analysing a short travel text of your choice. Classify one conditional as real (إِذَا) and one as hypothetical (لَوْ), explain what the Type 2 reveals about the writer's attitude, and state the purpose of the text.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يَكْشِفُ النَّصُّ عَنْ مَوْقِفِ كَاتِبِهِ · «إِذَا احْتَرَمَ … سَتَبْقَى» شَرْطٌ حَقِيقِيٌّ · «لَوِ اهْتَمَّتِ … لَمَا تَدَهْوَرَتِ» فَشَرْطٌ افْتِرَاضِيٌّ · يَدُلُّ اخْتِيَارُ «لَوْ» عَلَى نَقْدٍ ضِمْنِيٍّ · لِأَنَّ الشَّرْطَ لَمْ يَتَحَقَّقْ · وَالغَرَضُ مِنَ النَّصِّ إِقْنَاعُ القَارِئِ.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(P3-L09 · Writing — Travel and Tourism (Paper 4 Extended Writing)) will spend class time USING this language, so students prepare it tonight — short, simple, easy to access (school guidance: “Simple, Short, Interesting, Relevant, Easy to access”). The five words come from the website P3-L09 vocabulary (travel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Reading — Travel and Tourism Texts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travel texts like an examiner: idhā signals a real recommendation, law signals an implicit criticism; match sa- to idhā and la- to law in a gap; and name your inference with yadull ʿalā and yakshif ʿan.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P3-L08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Particle → type → attitude, matching the result marker, R1–R4 questions, the verbs of an answer.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ea typeface="Calibri" pitchFamily="34" charset="-122"/>
                <a:cs typeface="Calibri" pitchFamily="34" charset="-120"/>
              </a:rPr>
              <a:t>Annotate the four key sentences of the text, build an analysis, sort real / hypothetical / terms.</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سِيَاحِيٌّ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tour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tourism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ticket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مُرَاجَعَةُ فُنْدُقٍ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hotel review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hotel booking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hotel manager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نَقْدٌ ضِمْنِيٌّ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praise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decision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مَلَابِسَ مُحْتَشِمَةً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ارْتَدَى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يَحْظُرُ المَوْقِعُ</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التَّصْوِيرَ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بِالتَّصْوِيرِ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التَّصْوِيرِ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سِيَاحِيٌّ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tour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tourism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ticket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مُرَاجَعَةُ فُنْدُقٍ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hotel review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hotel booking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hotel manager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نَقْدٌ ضِمْنِيٌّ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open praise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decision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مَلَابِسَ مُحْتَشِمَةً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ارْتَدَى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P3-L07: after an, -a (yartadiya).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يَحْظُرُ المَوْقِعُ</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التَّصْوِيرَ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بِالتَّصْوِيرِ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التَّصْوِيرِ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P3-L07: yaḥẓur + direct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particle tells you the writer’s attitude: idhā recommends, law criticises what did not happen.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تَوْصِيَةٌ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نَقْدٌ ضِمْنِيٌّ</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R1–R4 questions on a travel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Classify a conditional as real (idhā) or hypothetical (law).</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Infer the writer’s attitude from a Type 2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short analysis with yadull ʿalā and yakshif ʿan.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classify a conditional as real or hypothetical.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match sa- to idhā and la- to law.</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a text’s purpose.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infer the writer’s attitude from a law sentence.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R3 answer with yadull ʿalā.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Conditional-type reading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verbs and analysis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غَرَضٌ</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‎غرض‎ </a:t>
            </a:r>
            <a:pPr indent="0" marL="0">
              <a:buNone/>
            </a:pPr>
            <a:r>
              <a:rPr lang="en-US" sz="950" b="1" dirty="0">
                <a:solidFill>
                  <a:srgbClr val="2E8B57"/>
                </a:solidFill>
                <a:latin typeface="Calibri" pitchFamily="34" charset="0"/>
                <a:ea typeface="Calibri" pitchFamily="34" charset="-122"/>
                <a:cs typeface="Calibri" pitchFamily="34" charset="-120"/>
              </a:rPr>
              <a:t> gharaz · purpose, aim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نَقْدٌ · انْتِقَادٌ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‎تنقید‎ </a:t>
            </a:r>
            <a:pPr indent="0" marL="0">
              <a:buNone/>
            </a:pPr>
            <a:r>
              <a:rPr lang="en-US" sz="950" b="1" dirty="0">
                <a:solidFill>
                  <a:srgbClr val="2E8B57"/>
                </a:solidFill>
                <a:latin typeface="Calibri" pitchFamily="34" charset="0"/>
                <a:ea typeface="Calibri" pitchFamily="34" charset="-122"/>
                <a:cs typeface="Calibri" pitchFamily="34" charset="-120"/>
              </a:rPr>
              <a:t> tanqīd · criticism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 · يَدُلُّ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 it indicates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إِشَارَةٌ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‎اشارہ‎ </a:t>
            </a:r>
            <a:pPr indent="0" marL="0">
              <a:buNone/>
            </a:pPr>
            <a:r>
              <a:rPr lang="en-US" sz="950" b="1" dirty="0">
                <a:solidFill>
                  <a:srgbClr val="2E8B57"/>
                </a:solidFill>
                <a:latin typeface="Calibri" pitchFamily="34" charset="0"/>
                <a:ea typeface="Calibri" pitchFamily="34" charset="-122"/>
                <a:cs typeface="Calibri" pitchFamily="34" charset="-120"/>
              </a:rPr>
              <a:t> ishāra · a sign, a hint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 · 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a result · he infers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سِيَاحِيٌّ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tourism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si-yā-ḥiy-yun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نُصُوصٌ سِيَاحِيَّةٌ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سَفَرٍ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travel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 sa-fa-rin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تَقَارِيرُ سَفَرٍ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فُنْدُقٍ</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hotel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 fun-du-qin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مُرَاجَعَاتُ فَنَادِقَ</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سِيَاحِيٌّ</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 guide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si-yā-ḥiy-yun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أَدِلَّةٌ سِيَاحِيَّةٌ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مَنْشُورٌ سِيَاحِيٌّ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tourism brochure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man-shū-run si-yā-ḥiy-yun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مَنْشُورَاتٌ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مُؤَلِّفُ النَّصِّ</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text's author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mu-ʾal-li-fu an-naṣ-ṣi</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مُؤَلِّفَةُ النَّصِّ</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الغَرَضُ مِنَ الكِتَابَةِ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purpose of the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al-gha-ra-ḍu mi-na al-ki-tā-ba-ti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السِّيَاقُ اللُّغَوِيُّ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linguistic 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as-si-yā-qu all-lu-gha-wiy-yu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Conditional-type reading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إِذَا.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حَقِيقِيٌّ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ḥa-qī-qiy-yun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لَوْ.</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افْتِرَاضِيٌّ</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hypothetical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af-ti-rā-ḍiy-yun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الكَاتِبِ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writer's attitude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 al-kā-ti-bi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(signals a real possibility)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Conditional-type reading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(signals a counterfactual)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1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نَقْدٌ ضِمْنِيٌّ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implicit criticism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naq-dun ḍim-niy-yun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verbs and analysis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أَسْتَنْتِجُ</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يُمَيِّزُ بَيْنَ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distinguishes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yu-may-yi-zu bay-na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تُمَيِّزُ بَيْنَ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أُمَيِّزُ بَيْنَ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Shape 4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يَدُلُّ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indicates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ya-dul-lu ʿa-lā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تَدُلُّ عَلَى</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60" name="Shape 5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يَكْشِفُ عَنْ</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reveals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yak-shi-fu ʿan</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68" name="Text 6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تَكْشِفُ عَنْ</a:t>
            </a:r>
            <a:endParaRPr lang="ar-SA"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verbs and analysis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يَقْتَرِحُ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suggests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yaq-ta-ri-ḥu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تَقْتَرِحُ</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أَقْتَرِحُ</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تَسَلْسُلُ الأَحْدَاثِ</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sequence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ta-sal-su-lu al-aḥ-dā-thi</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تَوْصِيَةٌ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recommendation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taw-ṣi-ya-tun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تَوْصِيَاتٌ</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maw-thū-qiy-ya-tun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PARTICLE → TYPE → ATTITUDE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What does the conditional tell you?</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الأَدَاةُ · النَّوْعُ · المَوْقِفُ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writer’s attitude</a:t>
            </a:r>
            <a:endParaRPr lang="en-US" sz="1100" dirty="0"/>
          </a:p>
        </p:txBody>
      </p:sp>
      <p:sp>
        <p:nvSpPr>
          <p:cNvPr id="17" name="Text 14"/>
          <p:cNvSpPr txBox="1"/>
          <p:nvPr/>
        </p:nvSpPr>
        <p:spPr>
          <a:xfrm>
            <a:off x="63825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from a travel text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39328" y="2267712"/>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recommends the visit</a:t>
            </a:r>
            <a:endParaRPr lang="en-US" sz="1100" dirty="0"/>
          </a:p>
        </p:txBody>
      </p:sp>
      <p:sp>
        <p:nvSpPr>
          <p:cNvPr id="21" name="Text 18"/>
          <p:cNvSpPr txBox="1"/>
          <p:nvPr/>
        </p:nvSpPr>
        <p:spPr>
          <a:xfrm>
            <a:off x="6419088"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(idhā)</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زُرْتَ الأُرْدُنَّ، </a:t>
            </a:r>
            <a:pPr rtl="1" algn="ctr" indent="0" marL="0">
              <a:buNone/>
            </a:pPr>
            <a:r>
              <a:rPr lang="ar-SA" altLang="en-US" sz="1800" b="1" dirty="0">
                <a:solidFill>
                  <a:srgbClr val="1D5FBF"/>
                </a:solidFill>
                <a:latin typeface="Amiri" pitchFamily="34" charset="0"/>
                <a:ea typeface="Amiri" pitchFamily="34" charset="-122"/>
                <a:cs typeface="Amiri" pitchFamily="34" charset="-120"/>
              </a:rPr>
              <a:t>فَلَنْ</a:t>
            </a:r>
            <a:pPr rtl="1" algn="ctr" indent="0" marL="0">
              <a:buNone/>
            </a:pPr>
            <a:r>
              <a:rPr lang="ar-SA" altLang="en-US" sz="1800" b="1" dirty="0">
                <a:solidFill>
                  <a:srgbClr val="1B3B6F"/>
                </a:solidFill>
                <a:latin typeface="Amiri" pitchFamily="34" charset="0"/>
                <a:ea typeface="Amiri" pitchFamily="34" charset="-122"/>
                <a:cs typeface="Amiri" pitchFamily="34" charset="-120"/>
              </a:rPr>
              <a:t> تَنْدَمَ.</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339328" y="3054096"/>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believes it is possible</a:t>
            </a:r>
            <a:endParaRPr lang="en-US" sz="1100" dirty="0"/>
          </a:p>
        </p:txBody>
      </p:sp>
      <p:sp>
        <p:nvSpPr>
          <p:cNvPr id="27" name="Text 24"/>
          <p:cNvSpPr txBox="1"/>
          <p:nvPr/>
        </p:nvSpPr>
        <p:spPr>
          <a:xfrm>
            <a:off x="6419088"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(idhā)</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احْتَرَمَ السُّيَّاحُ القَوَاعِدَ، </a:t>
            </a:r>
            <a:pPr rtl="1" algn="ctr" indent="0" marL="0">
              <a:buNone/>
            </a:pPr>
            <a:r>
              <a:rPr lang="ar-SA" altLang="en-US" sz="1800" b="1" dirty="0">
                <a:solidFill>
                  <a:srgbClr val="1D5FBF"/>
                </a:solidFill>
                <a:latin typeface="Amiri" pitchFamily="34" charset="0"/>
                <a:ea typeface="Amiri" pitchFamily="34" charset="-122"/>
                <a:cs typeface="Amiri" pitchFamily="34" charset="-120"/>
              </a:rPr>
              <a:t>سَتَبْقَى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المَوَاقِعُ.</a:t>
            </a:r>
            <a:endParaRPr lang="ar-SA" sz="18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339328" y="3840480"/>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criticises: visits were NOT regulated</a:t>
            </a:r>
            <a:endParaRPr lang="en-US" sz="1100" dirty="0"/>
          </a:p>
        </p:txBody>
      </p:sp>
      <p:sp>
        <p:nvSpPr>
          <p:cNvPr id="33" name="Text 30"/>
          <p:cNvSpPr txBox="1"/>
          <p:nvPr/>
        </p:nvSpPr>
        <p:spPr>
          <a:xfrm>
            <a:off x="6419088"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hypothetical (law)</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نُظِّمَتِ الزِّيَارَاتُ مُبَكِّرًا، </a:t>
            </a:r>
            <a:pPr rtl="1" algn="ctr" indent="0" marL="0">
              <a:buNone/>
            </a:pPr>
            <a:r>
              <a:rPr lang="ar-SA" altLang="en-US" sz="1800" b="1" dirty="0">
                <a:solidFill>
                  <a:srgbClr val="D6336C"/>
                </a:solidFill>
                <a:latin typeface="Amiri" pitchFamily="34" charset="0"/>
                <a:ea typeface="Amiri" pitchFamily="34" charset="-122"/>
                <a:cs typeface="Amiri" pitchFamily="34" charset="-120"/>
              </a:rPr>
              <a:t>لَكَانَتِ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المَوَاقِعُ أَفْضَلَ.</a:t>
            </a:r>
            <a:endParaRPr lang="ar-SA" sz="18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339328" y="4626864"/>
            <a:ext cx="3319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current care is inadequate</a:t>
            </a:r>
            <a:endParaRPr lang="en-US" sz="1100" dirty="0"/>
          </a:p>
        </p:txBody>
      </p:sp>
      <p:sp>
        <p:nvSpPr>
          <p:cNvPr id="39" name="Text 36"/>
          <p:cNvSpPr txBox="1"/>
          <p:nvPr/>
        </p:nvSpPr>
        <p:spPr>
          <a:xfrm>
            <a:off x="6419088"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hypothetical (law)</a:t>
            </a:r>
            <a:endParaRPr lang="en-US" sz="1100" dirty="0"/>
          </a:p>
        </p:txBody>
      </p:sp>
      <p:sp>
        <p:nvSpPr>
          <p:cNvPr id="40" name="Text 37"/>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اهْتَمَّتِ الدَّوْلَةُ بِالتُّرَاثِ، </a:t>
            </a:r>
            <a:pPr rtl="1" algn="ctr" indent="0" marL="0">
              <a:buNone/>
            </a:pPr>
            <a:r>
              <a:rPr lang="ar-SA" altLang="en-US" sz="1800" b="1" dirty="0">
                <a:solidFill>
                  <a:srgbClr val="D6336C"/>
                </a:solidFill>
                <a:latin typeface="Amiri" pitchFamily="34" charset="0"/>
                <a:ea typeface="Amiri" pitchFamily="34" charset="-122"/>
                <a:cs typeface="Amiri" pitchFamily="34" charset="-120"/>
              </a:rPr>
              <a:t>لَمَا</a:t>
            </a:r>
            <a:pPr rtl="1" algn="ctr" indent="0" marL="0">
              <a:buNone/>
            </a:pPr>
            <a:r>
              <a:rPr lang="ar-SA" altLang="en-US" sz="1800" b="1" dirty="0">
                <a:solidFill>
                  <a:srgbClr val="1B3B6F"/>
                </a:solidFill>
                <a:latin typeface="Amiri" pitchFamily="34" charset="0"/>
                <a:ea typeface="Amiri" pitchFamily="34" charset="-122"/>
                <a:cs typeface="Amiri" pitchFamily="34" charset="-120"/>
              </a:rPr>
              <a:t> تَدَهْوَرَ.</a:t>
            </a:r>
            <a:endParaRPr lang="ar-SA" sz="18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law hides a criticism: it tells the reader what did NOT happen. Website common error: reading law as a recommendation.</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MATCH THE RESULT MARKER IN A GAP (WEBSITE RULE 3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 the particle, then fill the gap</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العَلَامَةَ مَعَ الأَدَاةِ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IDHĀ → SA-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إِذَا حَجَزْتَ مُبَكِّرًا، سَتُوَفِّرُ المَالَ.</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book early, you will save money.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Real → future.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LAW → LA-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لَوْ حَجَزْتَ مُبَكِّرًا، لَوَفَّرْتَ المَالَ.</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you booked early, you would have saved money.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Unreal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IDHĀ → FA-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فَلَنْ / فَـ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إِذَا زُرْتَ الأُرْدُنَّ، فَلَنْ تَنْدَمَ.</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visit Jordan, you will not regret it.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fa- before lan.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a law conditional takes a la- result.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حَجَزْتَ مُبَكِّرًا، لَوَفَّرْتَ المَالَ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لَوْ حَجَزْتَ مُبَكِّرًا، سَتُوَفِّرُ المَالَ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 frame</a:t>
            </a:r>
            <a:endParaRPr lang="en-US" sz="1100" dirty="0"/>
          </a:p>
        </p:txBody>
      </p:sp>
      <p:sp>
        <p:nvSpPr>
          <p:cNvPr id="17" name="Text 14"/>
          <p:cNvSpPr txBox="1"/>
          <p:nvPr/>
        </p:nvSpPr>
        <p:spPr>
          <a:xfrm>
            <a:off x="43708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 in the website text</a:t>
            </a:r>
            <a:endParaRPr lang="en-US" sz="1100" dirty="0"/>
          </a:p>
        </p:txBody>
      </p:sp>
      <p:sp>
        <p:nvSpPr>
          <p:cNvPr id="18" name="Text 15"/>
          <p:cNvSpPr txBox="1"/>
          <p:nvPr/>
        </p:nvSpPr>
        <p:spPr>
          <a:xfrm>
            <a:off x="1993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asks for …</a:t>
            </a:r>
            <a:endParaRPr lang="en-US" sz="1100" dirty="0"/>
          </a:p>
        </p:txBody>
      </p:sp>
      <p:sp>
        <p:nvSpPr>
          <p:cNvPr id="19" name="Text 16"/>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09760" y="2267712"/>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يَرَى الكَاتِبُ أَنَّ …</a:t>
            </a:r>
            <a:endParaRPr lang="ar-SA" sz="1600" dirty="0"/>
          </a:p>
        </p:txBody>
      </p:sp>
      <p:sp>
        <p:nvSpPr>
          <p:cNvPr id="22" name="Text 19"/>
          <p:cNvSpPr txBox="1"/>
          <p:nvPr/>
        </p:nvSpPr>
        <p:spPr>
          <a:xfrm>
            <a:off x="4389120" y="2267712"/>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السِّيَاحَةُ </a:t>
            </a:r>
            <a:pPr rtl="1" algn="ctr" indent="0" marL="0">
              <a:buNone/>
            </a:pPr>
            <a:r>
              <a:rPr lang="ar-SA" altLang="en-US" sz="1800" b="1" dirty="0">
                <a:solidFill>
                  <a:srgbClr val="C77700"/>
                </a:solidFill>
                <a:latin typeface="Amiri" pitchFamily="34" charset="0"/>
                <a:ea typeface="Amiri" pitchFamily="34" charset="-122"/>
                <a:cs typeface="Amiri" pitchFamily="34" charset="-120"/>
              </a:rPr>
              <a:t>نِعْمَةٌ وَنِقْمَةٌ</a:t>
            </a:r>
            <a:pPr rtl="1" algn="ctr" indent="0" marL="0">
              <a:buNone/>
            </a:pPr>
            <a:r>
              <a:rPr lang="ar-SA" altLang="en-US" sz="1800" b="1" dirty="0">
                <a:solidFill>
                  <a:srgbClr val="1B3B6F"/>
                </a:solidFill>
                <a:latin typeface="Amiri" pitchFamily="34" charset="0"/>
                <a:ea typeface="Amiri" pitchFamily="34" charset="-122"/>
                <a:cs typeface="Amiri" pitchFamily="34" charset="-120"/>
              </a:rPr>
              <a:t> فِي آنٍ وَاحِدٍ.</a:t>
            </a:r>
            <a:endParaRPr lang="ar-SA" sz="1800" dirty="0"/>
          </a:p>
        </p:txBody>
      </p:sp>
      <p:sp>
        <p:nvSpPr>
          <p:cNvPr id="23" name="Text 20"/>
          <p:cNvSpPr txBox="1"/>
          <p:nvPr/>
        </p:nvSpPr>
        <p:spPr>
          <a:xfrm>
            <a:off x="20299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main view</a:t>
            </a:r>
            <a:endParaRPr lang="en-US" sz="1100" dirty="0"/>
          </a:p>
        </p:txBody>
      </p:sp>
      <p:sp>
        <p:nvSpPr>
          <p:cNvPr id="24" name="Text 21"/>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09760" y="3054096"/>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يَقُولُ الكَاتِبُ: «…»</a:t>
            </a:r>
            <a:endParaRPr lang="ar-SA" sz="1600" dirty="0"/>
          </a:p>
        </p:txBody>
      </p:sp>
      <p:sp>
        <p:nvSpPr>
          <p:cNvPr id="29" name="Text 26"/>
          <p:cNvSpPr txBox="1"/>
          <p:nvPr/>
        </p:nvSpPr>
        <p:spPr>
          <a:xfrm>
            <a:off x="4389120" y="3054096"/>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احْتَرَمَ السُّيَّاحُ القَوَاعِدَ، </a:t>
            </a:r>
            <a:pPr rtl="1" algn="ctr" indent="0" marL="0">
              <a:buNone/>
            </a:pPr>
            <a:r>
              <a:rPr lang="ar-SA" altLang="en-US" sz="1800" b="1" dirty="0">
                <a:solidFill>
                  <a:srgbClr val="1D5FBF"/>
                </a:solidFill>
                <a:latin typeface="Amiri" pitchFamily="34" charset="0"/>
                <a:ea typeface="Amiri" pitchFamily="34" charset="-122"/>
                <a:cs typeface="Amiri" pitchFamily="34" charset="-120"/>
              </a:rPr>
              <a:t>سَتَبْقَى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المَوَاقِعُ.</a:t>
            </a:r>
            <a:endParaRPr lang="ar-SA" sz="1800" dirty="0"/>
          </a:p>
        </p:txBody>
      </p:sp>
      <p:sp>
        <p:nvSpPr>
          <p:cNvPr id="30" name="Text 27"/>
          <p:cNvSpPr txBox="1"/>
          <p:nvPr/>
        </p:nvSpPr>
        <p:spPr>
          <a:xfrm>
            <a:off x="20299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detail / quote</a:t>
            </a:r>
            <a:endParaRPr lang="en-US" sz="1100" dirty="0"/>
          </a:p>
        </p:txBody>
      </p:sp>
      <p:sp>
        <p:nvSpPr>
          <p:cNvPr id="31" name="Text 28"/>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509760" y="3840480"/>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يَدُلُّ … عَلَى …</a:t>
            </a:r>
            <a:endParaRPr lang="ar-SA" sz="1600" dirty="0"/>
          </a:p>
        </p:txBody>
      </p:sp>
      <p:sp>
        <p:nvSpPr>
          <p:cNvPr id="36" name="Text 33"/>
          <p:cNvSpPr txBox="1"/>
          <p:nvPr/>
        </p:nvSpPr>
        <p:spPr>
          <a:xfrm>
            <a:off x="4389120" y="3840480"/>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اهْتَمَّتِ الحُكُومَاتُ … </a:t>
            </a:r>
            <a:pPr rtl="1" algn="ctr" indent="0" marL="0">
              <a:buNone/>
            </a:pPr>
            <a:r>
              <a:rPr lang="ar-SA" altLang="en-US" sz="1800" b="1" dirty="0">
                <a:solidFill>
                  <a:srgbClr val="D6336C"/>
                </a:solidFill>
                <a:latin typeface="Amiri" pitchFamily="34" charset="0"/>
                <a:ea typeface="Amiri" pitchFamily="34" charset="-122"/>
                <a:cs typeface="Amiri" pitchFamily="34" charset="-120"/>
              </a:rPr>
              <a:t>لَمَا</a:t>
            </a:r>
            <a:pPr rtl="1" algn="ctr" indent="0" marL="0">
              <a:buNone/>
            </a:pPr>
            <a:r>
              <a:rPr lang="ar-SA" altLang="en-US" sz="1800" b="1" dirty="0">
                <a:solidFill>
                  <a:srgbClr val="1B3B6F"/>
                </a:solidFill>
                <a:latin typeface="Amiri" pitchFamily="34" charset="0"/>
                <a:ea typeface="Amiri" pitchFamily="34" charset="-122"/>
                <a:cs typeface="Amiri" pitchFamily="34" charset="-120"/>
              </a:rPr>
              <a:t> وَصَلَتْ …</a:t>
            </a:r>
            <a:endParaRPr lang="ar-SA" sz="1800" dirty="0"/>
          </a:p>
        </p:txBody>
      </p:sp>
      <p:sp>
        <p:nvSpPr>
          <p:cNvPr id="37" name="Text 34"/>
          <p:cNvSpPr txBox="1"/>
          <p:nvPr/>
        </p:nvSpPr>
        <p:spPr>
          <a:xfrm>
            <a:off x="20299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inference</a:t>
            </a:r>
            <a:endParaRPr lang="en-US" sz="1100" dirty="0"/>
          </a:p>
        </p:txBody>
      </p:sp>
      <p:sp>
        <p:nvSpPr>
          <p:cNvPr id="38" name="Text 35"/>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09760" y="4626864"/>
            <a:ext cx="213055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الغَرَضُ مِنَ النَّصِّ …</a:t>
            </a:r>
            <a:endParaRPr lang="ar-SA" sz="1600" dirty="0"/>
          </a:p>
        </p:txBody>
      </p:sp>
      <p:sp>
        <p:nvSpPr>
          <p:cNvPr id="41" name="Text 38"/>
          <p:cNvSpPr txBox="1"/>
          <p:nvPr/>
        </p:nvSpPr>
        <p:spPr>
          <a:xfrm>
            <a:off x="4389120" y="4626864"/>
            <a:ext cx="493776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الغَرَضُ مِنَ النَّصِّ</a:t>
            </a:r>
            <a:pPr rtl="1" algn="ctr" indent="0" marL="0">
              <a:buNone/>
            </a:pPr>
            <a:r>
              <a:rPr lang="ar-SA" altLang="en-US" sz="1800" b="1" dirty="0">
                <a:solidFill>
                  <a:srgbClr val="1B3B6F"/>
                </a:solidFill>
                <a:latin typeface="Amiri" pitchFamily="34" charset="0"/>
                <a:ea typeface="Amiri" pitchFamily="34" charset="-122"/>
                <a:cs typeface="Amiri" pitchFamily="34" charset="-120"/>
              </a:rPr>
              <a:t> إِقْنَاعُ القَارِئِ.</a:t>
            </a:r>
            <a:endParaRPr lang="ar-SA" sz="1800" dirty="0"/>
          </a:p>
        </p:txBody>
      </p:sp>
      <p:sp>
        <p:nvSpPr>
          <p:cNvPr id="42" name="Text 39"/>
          <p:cNvSpPr txBox="1"/>
          <p:nvPr/>
        </p:nvSpPr>
        <p:spPr>
          <a:xfrm>
            <a:off x="20299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purpose</a:t>
            </a:r>
            <a:endParaRPr lang="en-US" sz="1100" dirty="0"/>
          </a:p>
        </p:txBody>
      </p:sp>
      <p:sp>
        <p:nvSpPr>
          <p:cNvPr id="43" name="Text 40"/>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R4</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R1–R2: find it. R3–R4: work it out — and quote the words that prove it.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VERBS OF AN ANSWER (WEBSITE RULE 4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 what the text shows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 it to …</a:t>
            </a:r>
            <a:endParaRPr lang="en-US" sz="1100" dirty="0"/>
          </a:p>
        </p:txBody>
      </p:sp>
      <p:sp>
        <p:nvSpPr>
          <p:cNvPr id="17" name="Text 14"/>
          <p:cNvSpPr txBox="1"/>
          <p:nvPr/>
        </p:nvSpPr>
        <p:spPr>
          <a:xfrm>
            <a:off x="318211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partner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 an inference</a:t>
            </a:r>
            <a:endParaRPr lang="en-US" sz="1100" dirty="0"/>
          </a:p>
        </p:txBody>
      </p:sp>
      <p:sp>
        <p:nvSpPr>
          <p:cNvPr id="21" name="Text 18"/>
          <p:cNvSpPr txBox="1"/>
          <p:nvPr/>
        </p:nvSpPr>
        <p:spPr>
          <a:xfrm>
            <a:off x="3200400" y="2267712"/>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يَدُلُّ اخْتِيَارُ «لَوْ» </a:t>
            </a:r>
            <a:pPr rtl="1" algn="ctr" indent="0" marL="0">
              <a:buNone/>
            </a:pPr>
            <a:r>
              <a:rPr lang="ar-SA" altLang="en-US" sz="1900" b="1" dirty="0">
                <a:solidFill>
                  <a:srgbClr val="0E7C86"/>
                </a:solidFill>
                <a:latin typeface="Amiri" pitchFamily="34" charset="0"/>
                <a:ea typeface="Amiri" pitchFamily="34" charset="-122"/>
                <a:cs typeface="Amiri" pitchFamily="34" charset="-120"/>
              </a:rPr>
              <a:t>عَلَى</a:t>
            </a:r>
            <a:pPr rtl="1" algn="ctr" indent="0" marL="0">
              <a:buNone/>
            </a:pPr>
            <a:r>
              <a:rPr lang="ar-SA" altLang="en-US" sz="1900" b="1" dirty="0">
                <a:solidFill>
                  <a:srgbClr val="1B3B6F"/>
                </a:solidFill>
                <a:latin typeface="Amiri" pitchFamily="34" charset="0"/>
                <a:ea typeface="Amiri" pitchFamily="34" charset="-122"/>
                <a:cs typeface="Amiri" pitchFamily="34" charset="-120"/>
              </a:rPr>
              <a:t> نَقْدٍ ضِمْنِيٍّ.</a:t>
            </a:r>
            <a:endParaRPr lang="ar-SA" sz="19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يَدُلُّ عَلَى</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reveal an attitude</a:t>
            </a:r>
            <a:endParaRPr lang="en-US" sz="1100" dirty="0"/>
          </a:p>
        </p:txBody>
      </p:sp>
      <p:sp>
        <p:nvSpPr>
          <p:cNvPr id="27" name="Text 24"/>
          <p:cNvSpPr txBox="1"/>
          <p:nvPr/>
        </p:nvSpPr>
        <p:spPr>
          <a:xfrm>
            <a:off x="3200400" y="3004718"/>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يَكْشِفُ النَّصُّ </a:t>
            </a:r>
            <a:pPr rtl="1" algn="ctr" indent="0" marL="0">
              <a:buNone/>
            </a:pPr>
            <a:r>
              <a:rPr lang="ar-SA" altLang="en-US" sz="1900" b="1" dirty="0">
                <a:solidFill>
                  <a:srgbClr val="0E7C86"/>
                </a:solidFill>
                <a:latin typeface="Amiri" pitchFamily="34" charset="0"/>
                <a:ea typeface="Amiri" pitchFamily="34" charset="-122"/>
                <a:cs typeface="Amiri" pitchFamily="34" charset="-120"/>
              </a:rPr>
              <a:t>عَنْ</a:t>
            </a:r>
            <a:pPr rtl="1" algn="ctr" indent="0" marL="0">
              <a:buNone/>
            </a:pPr>
            <a:r>
              <a:rPr lang="ar-SA" altLang="en-US" sz="1900" b="1" dirty="0">
                <a:solidFill>
                  <a:srgbClr val="1B3B6F"/>
                </a:solidFill>
                <a:latin typeface="Amiri" pitchFamily="34" charset="0"/>
                <a:ea typeface="Amiri" pitchFamily="34" charset="-122"/>
                <a:cs typeface="Amiri" pitchFamily="34" charset="-120"/>
              </a:rPr>
              <a:t> مَوْقِفٍ نَاقِدٍ.</a:t>
            </a:r>
            <a:endParaRPr lang="ar-SA" sz="19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يَكْشِفُ عَنْ</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 two things</a:t>
            </a:r>
            <a:endParaRPr lang="en-US" sz="1100" dirty="0"/>
          </a:p>
        </p:txBody>
      </p:sp>
      <p:sp>
        <p:nvSpPr>
          <p:cNvPr id="33" name="Text 30"/>
          <p:cNvSpPr txBox="1"/>
          <p:nvPr/>
        </p:nvSpPr>
        <p:spPr>
          <a:xfrm>
            <a:off x="3200400" y="3741725"/>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أُمَيِّزُ </a:t>
            </a:r>
            <a:pPr rtl="1" algn="ctr" indent="0" marL="0">
              <a:buNone/>
            </a:pPr>
            <a:r>
              <a:rPr lang="ar-SA" altLang="en-US" sz="1900" b="1" dirty="0">
                <a:solidFill>
                  <a:srgbClr val="7B3FA0"/>
                </a:solidFill>
                <a:latin typeface="Amiri" pitchFamily="34" charset="0"/>
                <a:ea typeface="Amiri" pitchFamily="34" charset="-122"/>
                <a:cs typeface="Amiri" pitchFamily="34" charset="-120"/>
              </a:rPr>
              <a:t>بَيْنَ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التَّوْصِيَةِ </a:t>
            </a:r>
            <a:pPr rtl="1" algn="ctr" indent="0" marL="0">
              <a:buNone/>
            </a:pPr>
            <a:r>
              <a:rPr lang="ar-SA" altLang="en-US" sz="1900" b="1" dirty="0">
                <a:solidFill>
                  <a:srgbClr val="7B3FA0"/>
                </a:solidFill>
                <a:latin typeface="Amiri" pitchFamily="34" charset="0"/>
                <a:ea typeface="Amiri" pitchFamily="34" charset="-122"/>
                <a:cs typeface="Amiri" pitchFamily="34" charset="-120"/>
              </a:rPr>
              <a:t>وَ</a:t>
            </a:r>
            <a:pPr rtl="1" algn="ctr" indent="0" marL="0">
              <a:buNone/>
            </a:pPr>
            <a:r>
              <a:rPr lang="ar-SA" altLang="en-US" sz="1900" b="1" dirty="0">
                <a:solidFill>
                  <a:srgbClr val="1B3B6F"/>
                </a:solidFill>
                <a:latin typeface="Amiri" pitchFamily="34" charset="0"/>
                <a:ea typeface="Amiri" pitchFamily="34" charset="-122"/>
                <a:cs typeface="Amiri" pitchFamily="34" charset="-120"/>
              </a:rPr>
              <a:t>النَّقْدِ.</a:t>
            </a:r>
            <a:endParaRPr lang="ar-SA" sz="19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يُمَيِّزُ بَيْنَ</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draw a conclusion</a:t>
            </a:r>
            <a:endParaRPr lang="en-US" sz="1100" dirty="0"/>
          </a:p>
        </p:txBody>
      </p:sp>
      <p:sp>
        <p:nvSpPr>
          <p:cNvPr id="37" name="Text 34"/>
          <p:cNvSpPr txBox="1"/>
          <p:nvPr/>
        </p:nvSpPr>
        <p:spPr>
          <a:xfrm>
            <a:off x="3200400" y="4478731"/>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أَسْتَنْتِجُ </a:t>
            </a:r>
            <a:pPr rtl="1" algn="ctr" indent="0" marL="0">
              <a:buNone/>
            </a:pPr>
            <a:r>
              <a:rPr lang="ar-SA" altLang="en-US" sz="1900" b="1" dirty="0">
                <a:solidFill>
                  <a:srgbClr val="1D5FBF"/>
                </a:solidFill>
                <a:latin typeface="Amiri" pitchFamily="34" charset="0"/>
                <a:ea typeface="Amiri" pitchFamily="34" charset="-122"/>
                <a:cs typeface="Amiri" pitchFamily="34" charset="-120"/>
              </a:rPr>
              <a:t>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الكَاتِبَ يَرَى السِّيَاسَةَ غَيْرَ كَافِيَةٍ.</a:t>
            </a:r>
            <a:endParaRPr lang="ar-SA" sz="19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يَسْتَنْتِجُ</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 a recommendation</a:t>
            </a:r>
            <a:endParaRPr lang="en-US" sz="1100" dirty="0"/>
          </a:p>
        </p:txBody>
      </p:sp>
      <p:sp>
        <p:nvSpPr>
          <p:cNvPr id="41" name="Text 38"/>
          <p:cNvSpPr txBox="1"/>
          <p:nvPr/>
        </p:nvSpPr>
        <p:spPr>
          <a:xfrm>
            <a:off x="3200400" y="5215738"/>
            <a:ext cx="55778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يُوصِي الكَاتِبُ </a:t>
            </a:r>
            <a:pPr rtl="1" algn="ctr" indent="0" marL="0">
              <a:buNone/>
            </a:pPr>
            <a:r>
              <a:rPr lang="ar-SA" altLang="en-US" sz="1900" b="1" dirty="0">
                <a:solidFill>
                  <a:srgbClr val="1D5FBF"/>
                </a:solidFill>
                <a:latin typeface="Amiri" pitchFamily="34" charset="0"/>
                <a:ea typeface="Amiri" pitchFamily="34" charset="-122"/>
                <a:cs typeface="Amiri" pitchFamily="34" charset="-120"/>
              </a:rPr>
              <a:t>بِسِيَاحَةٍ</a:t>
            </a:r>
            <a:pPr rtl="1" algn="ctr" indent="0" marL="0">
              <a:buNone/>
            </a:pPr>
            <a:r>
              <a:rPr lang="ar-SA" altLang="en-US" sz="1900" b="1" dirty="0">
                <a:solidFill>
                  <a:srgbClr val="1B3B6F"/>
                </a:solidFill>
                <a:latin typeface="Amiri" pitchFamily="34" charset="0"/>
                <a:ea typeface="Amiri" pitchFamily="34" charset="-122"/>
                <a:cs typeface="Amiri" pitchFamily="34" charset="-120"/>
              </a:rPr>
              <a:t> مُسْتَدَامَةٍ.</a:t>
            </a:r>
            <a:endParaRPr lang="ar-SA" sz="19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يُوصِي بِـ</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yadull bi-naqdin ✗ → yadull ʿalā naqdin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conditionals for attitude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الشَّرْطِ لِفَهْمِ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Classify by particle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(real) · law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زُرْتَ الأُرْدُنَّ، فَلَنْ تَنْدَمَ   ·   لَوْ نُظِّمَتِ الزِّيَارَاتُ، لَكَانَ أَفْضَلَ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Read the attitude (R3)</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Type 2 → implicit criticism</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اهْتَمَّتِ الدَّوْلَةُ بِالتُّرَاثِ، لَمَا تَدَهْوَرَ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حَجَزْتَ مُبَكِّرًا، سَتُوَفِّرُ   ·   لَوْ حَجَزْتَ مُبَكِّرًا، لَوَفَّرْتَ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Reading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yadull ʿalā · yakshif ʿan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يَدُلُّ اخْتِيَارُ «لَوْ» عَلَى نَقْدٍ ضِمْنِيٍّ   ·   يَكْشِفُ النَّصُّ عَنْ مَوْقِفٍ نَاقِدٍ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real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زُرْتَ الأُرْدُنَّ، لَمَا نَدِمْتَ.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فَلَنْ تَنْدَمَ.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زَارَ المُسَافِرُونَ بِأَعْدَادٍ أَقَلَّ، لَكَانَتِ الحَالَةُ أَفْضَلَ.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سَتَسْتَمْتِعُ.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حَجَزْتَ مُبَكِّرًا، سَتُوَفِّرُ.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real conditional: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حَجَزْتَ مُبَكِّرًا، ___ المَالَ.</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counterfactual: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المَالَ.</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real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زُرْتَ الأُرْدُنَّ، لَمَا نَدِمْتَ.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نُظِّمَتِ الزِّيَارَاتُ، لَكَانَ أَفْضَلَ.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زُرْتَ الأُرْدُنَّ، فَلَنْ تَنْدَمَ.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marks a real possibility, here a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زَارَ المُسَافِرُونَ بِأَعْدَادٍ أَقَلَّ، لَكَانَتِ الحَالَةُ أَفْضَلَ.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زُرْتَ الأُرْدُنَّ، سَتَسْتَمْتِعُ.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حَجَزْتَ مُبَكِّرًا، سَتُوَفِّرُ.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a counterfactual.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real conditional: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حَجَزْتَ مُبَكِّرًا، ___ المَالَ.</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لَوَفَّرْتَ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سَتُوَفِّرُ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counterfactual: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المَالَ.</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سَتُوَفِّرُ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travel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real one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a:t>
            </a:r>
            <a:pPr rtl="1" algn="ctr" indent="0" marL="0">
              <a:buNone/>
            </a:pPr>
            <a:r>
              <a:rPr lang="ar-SA" altLang="en-US" sz="2550" b="1" dirty="0">
                <a:solidFill>
                  <a:srgbClr val="1D5FBF"/>
                </a:solidFill>
                <a:latin typeface="Amiri" pitchFamily="34" charset="0"/>
                <a:ea typeface="Amiri" pitchFamily="34" charset="-122"/>
                <a:cs typeface="Amiri" pitchFamily="34" charset="-120"/>
              </a:rPr>
              <a:t>إِذَا</a:t>
            </a:r>
            <a:pPr rtl="1" algn="ctr" indent="0" marL="0">
              <a:buNone/>
            </a:pPr>
            <a:r>
              <a:rPr lang="ar-SA" altLang="en-US" sz="2550" b="1" dirty="0">
                <a:solidFill>
                  <a:srgbClr val="1B3B6F"/>
                </a:solidFill>
                <a:latin typeface="Amiri" pitchFamily="34" charset="0"/>
                <a:ea typeface="Amiri" pitchFamily="34" charset="-122"/>
                <a:cs typeface="Amiri" pitchFamily="34" charset="-120"/>
              </a:rPr>
              <a:t> … </a:t>
            </a:r>
            <a:pPr rtl="1" algn="ctr" indent="0" marL="0">
              <a:buNone/>
            </a:pPr>
            <a:r>
              <a:rPr lang="ar-SA" altLang="en-US" sz="2550" b="1" dirty="0">
                <a:solidFill>
                  <a:srgbClr val="1D5FBF"/>
                </a:solidFill>
                <a:latin typeface="Amiri" pitchFamily="34" charset="0"/>
                <a:ea typeface="Amiri" pitchFamily="34" charset="-122"/>
                <a:cs typeface="Amiri" pitchFamily="34" charset="-120"/>
              </a:rPr>
              <a:t>سَـ</a:t>
            </a:r>
            <a:pPr rtl="1" algn="ctr" indent="0" marL="0">
              <a:buNone/>
            </a:pPr>
            <a:r>
              <a:rPr lang="ar-SA" altLang="en-US" sz="2550" b="1" dirty="0">
                <a:solidFill>
                  <a:srgbClr val="1B3B6F"/>
                </a:solidFill>
                <a:latin typeface="Amiri" pitchFamily="34" charset="0"/>
                <a:ea typeface="Amiri" pitchFamily="34" charset="-122"/>
                <a:cs typeface="Amiri" pitchFamily="34" charset="-120"/>
              </a:rPr>
              <a:t>» شَرْطٌ حَقِيقِيٌّ</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Recommends.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the unreal one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a:t>
            </a:r>
            <a:pPr rtl="1" algn="ctr" indent="0" marL="0">
              <a:buNone/>
            </a:pPr>
            <a:r>
              <a:rPr lang="ar-SA" altLang="en-US" sz="2200" b="1" dirty="0">
                <a:solidFill>
                  <a:srgbClr val="D6336C"/>
                </a:solidFill>
                <a:latin typeface="Amiri" pitchFamily="34" charset="0"/>
                <a:ea typeface="Amiri" pitchFamily="34" charset="-122"/>
                <a:cs typeface="Amiri" pitchFamily="34" charset="-120"/>
              </a:rPr>
              <a:t>لَوِ</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D6336C"/>
                </a:solidFill>
                <a:latin typeface="Amiri" pitchFamily="34" charset="0"/>
                <a:ea typeface="Amiri" pitchFamily="34" charset="-122"/>
                <a:cs typeface="Amiri" pitchFamily="34" charset="-120"/>
              </a:rPr>
              <a:t>لَمَا</a:t>
            </a:r>
            <a:pPr rtl="1" algn="ctr" indent="0" marL="0">
              <a:buNone/>
            </a:pPr>
            <a:r>
              <a:rPr lang="ar-SA" altLang="en-US" sz="2200" b="1" dirty="0">
                <a:solidFill>
                  <a:srgbClr val="1B3B6F"/>
                </a:solidFill>
                <a:latin typeface="Amiri" pitchFamily="34" charset="0"/>
                <a:ea typeface="Amiri" pitchFamily="34" charset="-122"/>
                <a:cs typeface="Amiri" pitchFamily="34" charset="-120"/>
              </a:rPr>
              <a:t>» شَرْطٌ افْتِرَاضِيٌّ</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Did not happen.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يَدُلُّ</a:t>
            </a:r>
            <a:pPr rtl="1" algn="ctr" indent="0" marL="0">
              <a:buNone/>
            </a:pPr>
            <a:r>
              <a:rPr lang="ar-SA" altLang="en-US" sz="2100" b="1" dirty="0">
                <a:solidFill>
                  <a:srgbClr val="1B3B6F"/>
                </a:solidFill>
                <a:latin typeface="Amiri" pitchFamily="34" charset="0"/>
                <a:ea typeface="Amiri" pitchFamily="34" charset="-122"/>
                <a:cs typeface="Amiri" pitchFamily="34" charset="-120"/>
              </a:rPr>
              <a:t> اخْتِيَارُ «لَوْ»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نَقْدٍ</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الغَرَضُ مِنَ النَّصِّ</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R4.</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REAL · IDHĀ</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HYPOTHETICAL · LAW</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INFERENCE</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يَكْشِفُ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النَّصُّ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مَوْقِفِ كَاتِبِهِ مِنْ خِلَالِ نَوْعِ الشَّرْطِ. فَجُمْلَةُ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احْتَرَمَ السُّيَّاحُ القَوَاعِدَ،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سَتَبْقَى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المَوَاقِعُ» شَرْطٌ حَقِيقِيٌّ يَنْصَحُ بِهِ الكَاتِبُ. أَمَّا جُمْلَةُ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اهْتَمَّتِ الحُكُومَاتُ مُبَكِّرًا،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تَدَهْوَرَتِ المَوَاقِعُ» فَشَرْطٌ افْتِرَاضِيٌّ.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وَيَدُلُّ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اخْتِيَارُ «لَوْ»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نَقْدٍ ضِمْنِيٍّ، لِأَنَّ الشَّرْطَ لَمْ يَتَحَقَّقْ.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وَالغَرَضُ مِنَ النَّصِّ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إِقْنَاعُ القَارِئِ بِأَنَّ التَّنْظِيمَ ضَرُورِيٌّ.</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The text reveals its writer’s attitude through the type of conditional. The sentence “if tourists respect the rules, the sites will remain” is a real conditional that the writer recommends. The sentence “had governments cared earlier, the sites would not have deteriorated”, however, is a hypothetical conditional. The choice of “law” indicates implicit criticism, because the condition was not met. The purpose of the text is to persuade the reader that regulation is necessary.</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الأُرْدُنَّ، فَلَنْ تَنْدَمَ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visit Jordan, you will not regret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a real recommendation.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اهْتَمَّتِ الدَّوْلَةُ بِالتُّرَاثِ، لَمَا تَدَهْوَرَ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the state cared for heritage, it would not have deteriorated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implicit criticism.</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يَدُلُّ اخْتِيَارُ «لَوْ» عَلَى مَوْقِفٍ نَاقِدٍ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choice of “law” indicates a critical attitude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Naming the R3 inference.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حَلِّلِ الجُمَلَ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reveals</a:t>
            </a:r>
            <a:endParaRPr lang="en-US" sz="1100" dirty="0"/>
          </a:p>
        </p:txBody>
      </p:sp>
      <p:sp>
        <p:nvSpPr>
          <p:cNvPr id="17" name="Text 14"/>
          <p:cNvSpPr txBox="1"/>
          <p:nvPr/>
        </p:nvSpPr>
        <p:spPr>
          <a:xfrm>
            <a:off x="656539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 / job</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from the reading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0508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balanced opinion</a:t>
            </a:r>
            <a:endParaRPr lang="en-US" sz="1100" dirty="0"/>
          </a:p>
        </p:txBody>
      </p:sp>
      <p:sp>
        <p:nvSpPr>
          <p:cNvPr id="21" name="Text 18"/>
          <p:cNvSpPr txBox="1"/>
          <p:nvPr/>
        </p:nvSpPr>
        <p:spPr>
          <a:xfrm>
            <a:off x="660196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main view (R1)</a:t>
            </a:r>
            <a:endParaRPr lang="en-US" sz="1100" dirty="0"/>
          </a:p>
        </p:txBody>
      </p:sp>
      <p:sp>
        <p:nvSpPr>
          <p:cNvPr id="22" name="Text 19"/>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السِّيَاحَةُ نِعْمَةٌ وَنِقْمَةٌ فِي آنٍ وَاحِدٍ.</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0508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genuine recommendation</a:t>
            </a:r>
            <a:endParaRPr lang="en-US" sz="1100" dirty="0"/>
          </a:p>
        </p:txBody>
      </p:sp>
      <p:sp>
        <p:nvSpPr>
          <p:cNvPr id="27" name="Text 24"/>
          <p:cNvSpPr txBox="1"/>
          <p:nvPr/>
        </p:nvSpPr>
        <p:spPr>
          <a:xfrm>
            <a:off x="660196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(idhā)</a:t>
            </a:r>
            <a:endParaRPr lang="en-US" sz="1100" dirty="0"/>
          </a:p>
        </p:txBody>
      </p:sp>
      <p:sp>
        <p:nvSpPr>
          <p:cNvPr id="28" name="Text 25"/>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700" b="1" dirty="0">
                <a:solidFill>
                  <a:srgbClr val="1B3B6F"/>
                </a:solidFill>
                <a:latin typeface="Amiri" pitchFamily="34" charset="0"/>
                <a:ea typeface="Amiri" pitchFamily="34" charset="-122"/>
                <a:cs typeface="Amiri" pitchFamily="34" charset="-120"/>
              </a:rPr>
              <a:t> احْتَرَمَ السُّيَّاحُ القَوَاعِدَ، </a:t>
            </a:r>
            <a:pPr rtl="1" algn="ctr" indent="0" marL="0">
              <a:buNone/>
            </a:pPr>
            <a:r>
              <a:rPr lang="ar-SA" altLang="en-US" sz="1700" b="1" dirty="0">
                <a:solidFill>
                  <a:srgbClr val="1D5FBF"/>
                </a:solidFill>
                <a:latin typeface="Amiri" pitchFamily="34" charset="0"/>
                <a:ea typeface="Amiri" pitchFamily="34" charset="-122"/>
                <a:cs typeface="Amiri" pitchFamily="34" charset="-120"/>
              </a:rPr>
              <a:t>سَتَبْقَى</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المَوَاقِعُ لِلْأَجْيَالِ القَادِمَةِ.</a:t>
            </a:r>
            <a:endParaRPr lang="ar-SA" sz="17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0508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implicit criticism of governments</a:t>
            </a:r>
            <a:endParaRPr lang="en-US" sz="1100" dirty="0"/>
          </a:p>
        </p:txBody>
      </p:sp>
      <p:sp>
        <p:nvSpPr>
          <p:cNvPr id="33" name="Text 30"/>
          <p:cNvSpPr txBox="1"/>
          <p:nvPr/>
        </p:nvSpPr>
        <p:spPr>
          <a:xfrm>
            <a:off x="660196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hypothetical (law)</a:t>
            </a:r>
            <a:endParaRPr lang="en-US" sz="1100" dirty="0"/>
          </a:p>
        </p:txBody>
      </p:sp>
      <p:sp>
        <p:nvSpPr>
          <p:cNvPr id="34" name="Text 31"/>
          <p:cNvSpPr txBox="1"/>
          <p:nvPr/>
        </p:nvSpPr>
        <p:spPr>
          <a:xfrm>
            <a:off x="548640" y="3840480"/>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لَوِ</a:t>
            </a:r>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اهْتَمَّتِ الحُكُومَاتُ بِالتَّنْظِيمِ مُنْذُ البِدَايَةِ، </a:t>
            </a:r>
            <a:pPr rtl="1" algn="ct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لَمَا</a:t>
            </a:r>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وَصَلَتْ كَثِيرٌ مِنَ المَوَاقِعِ إِلَى هٰذَا التَّدَهْوُرِ.</a:t>
            </a:r>
            <a:endParaRPr lang="ar-SA" sz="14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0508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 to persuade (R4)</a:t>
            </a:r>
            <a:endParaRPr lang="en-US" sz="1100" dirty="0"/>
          </a:p>
        </p:txBody>
      </p:sp>
      <p:sp>
        <p:nvSpPr>
          <p:cNvPr id="37" name="Text 34"/>
          <p:cNvSpPr txBox="1"/>
          <p:nvPr/>
        </p:nvSpPr>
        <p:spPr>
          <a:xfrm>
            <a:off x="660196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recommendation</a:t>
            </a:r>
            <a:endParaRPr lang="en-US" sz="1100" dirty="0"/>
          </a:p>
        </p:txBody>
      </p:sp>
      <p:sp>
        <p:nvSpPr>
          <p:cNvPr id="38" name="Text 35"/>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يُوصِي بِسِيَاحَةٍ مُسْتَدَامَةٍ تُوَازِنُ بَيْنَ الفَائِدَةِ وَالحِمَايَةِ.</a:t>
            </a:r>
            <a:endParaRPr lang="ar-SA" sz="17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website reading uses exactly these sentences — this table is the plan for answering its R1–R4 questions.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CRITICAL READING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Type + attitude +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Classify the type</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Read the attitude</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Purpose / reading habit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جُمْلَةُ «إِذَا احْتَرَمَ السُّيَّاحُ القَوَاعِدَ» شَرْطٌ حَقِيقِيٌّ</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وَيَدُلُّ اخْتِيَارُ لَوْ عَلَى نَقْدٍ ضِمْنِيٍّ لِلسِّيَاسَةِ الحَالِيَّةِ</a:t>
            </a:r>
            <a:endParaRPr lang="ar-SA" sz="155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وَالغَرَضُ مِنَ النَّصِّ إِقْنَاعُ القَارِئِ بِتَغْيِيرِ سُلُوكِهِ</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جُمْلَةُ «لَوِ اهْتَمَّتِ الحُكُومَاتُ» شَرْطٌ افْتِرَاضِيٌّ</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لِأَنَّ الشَّرْطَ الافْتِرَاضِيَّ لَمْ يَتَحَقَّقْ</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لِذٰلِكَ أَقْرَأُ النَّصَّ بِوَعْيٍ بِنَوْعِ الشَّرْطِ</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العِبَارَةُ الأُولَى نَصِيحَةٌ وَالثَّانِيَةُ نَقْدٌ</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وَيَكْشِفُ النَّصُّ عَنْ مَوْقِفٍ نَاقِدٍ</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وَأُمَيِّزُ بَيْنَ التَّوْصِيَةِ وَالنَّقْدِ</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Real, hypothetical — or a reading-skill term?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الأُرْدُنَّ، سَتَسْتَمْتِعُ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سَتُوَفِّرُ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نُظِّمَتِ الزِّيَارَاتُ، لَكَانَ 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اهْتَمَّتِ الدَّوْلَةُ، لَمَا تَدَهْوَرَ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لَوْ زَارُوا بِأَعْدَادٍ أَقَلَّ، لَكَانَتِ الحَالَةُ أَفْضَلَ</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مَوْقِفُ الكَاتِبِ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 ضِمْنِيٌّ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الغَرَضُ مِنَ الكِتَابَةِ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hypothetical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reading-skill terms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الأُرْدُنَّ، سَتَسْتَمْتِعُ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سَتُوَفِّرُ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hypothetical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نُظِّمَتِ الزِّيَارَاتُ، لَكَانَ أَفْضَلَ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اهْتَمَّتِ الدَّوْلَةُ، لَمَا تَدَهْوَرَ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لَوْ زَارُوا بِأَعْدَادٍ أَقَلَّ، لَكَانَتِ الحَالَةُ أَفْضَلَ</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reading-skill terms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مَوْقِفُ الكَاتِبِ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 ضِمْنِيٌّ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الغَرَضُ مِنَ الكِتَابَةِ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(R3)?</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 the case is real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الدَّوْلَةُ بِالتُّرَاثِ، لَمَا تَدَهْوَرَ</a:t>
            </a:r>
            <a:pPr algn="l" indent="0" marL="0">
              <a:buNone/>
            </a:pPr>
            <a:r>
              <a:rPr lang="en-US" sz="1250" b="1" dirty="0">
                <a:solidFill>
                  <a:srgbClr val="1B3B6F"/>
                </a:solidFill>
                <a:latin typeface="Calibri" pitchFamily="34" charset="0"/>
                <a:ea typeface="Calibri" pitchFamily="34" charset="-122"/>
                <a:cs typeface="Calibri" pitchFamily="34" charset="-120"/>
              </a:rPr>
              <a:t>» reveals that the writer thinks current care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excellent</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inadequate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irrelevant</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يَدُلُّ اخْتِيَارُ «لَوْ» ___ نَقْدٍ ضِمْنِيٍّ.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R3 answer about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fact about the past.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simple recommendation.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Type 2 conditional, so the writer implies the condition was not met and criticises current practice.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(R3)?</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 the case is real</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implies the condition did not hold — often an implicit critique.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الدَّوْلَةُ بِالتُّرَاثِ، لَمَا تَدَهْوَرَ</a:t>
            </a:r>
            <a:pPr algn="l" indent="0" marL="0">
              <a:buNone/>
            </a:pPr>
            <a:r>
              <a:rPr lang="en-US" sz="1250" b="1" dirty="0">
                <a:solidFill>
                  <a:srgbClr val="1B3B6F"/>
                </a:solidFill>
                <a:latin typeface="Calibri" pitchFamily="34" charset="0"/>
                <a:ea typeface="Calibri" pitchFamily="34" charset="-122"/>
                <a:cs typeface="Calibri" pitchFamily="34" charset="-120"/>
              </a:rPr>
              <a:t>» reveals that the writer thinks current care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excellent</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inadequate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irrelevant</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counterfactual implies the care was not adequate.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يَدُلُّ اخْتِيَارُ «لَوْ» ___ نَقْدٍ ضِمْنِيٍّ.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R3 answer about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fact about the past.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simple recommendation.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a Type 2 conditional, so the writer implies the condition was not met and criticises current practice.</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R3 requires naming the type and inferring the critical attitude.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حَجَزْتَ مُبَكِّرًا، لَوَفَّرْتَ المَالَ.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 la-?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مُبَكِّرًا، سَتُوَفِّرُ المَالَ.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يَدُلُّ اخْتِيَارُ لَوْ بِنَقْدٍ ضِمْنِيٍّ.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yadull +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حَجَزْتَ مُبَكِّرًا، لَوَفَّرْتَ المَالَ.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حَجَزْتَ مُبَكِّرًا، سَتُوَفِّرُ المَالَ.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real </a:t>
            </a:r>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conditional takes a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result, not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مُبَكِّرًا، سَتُوَفِّرُ المَالَ.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مُبَكِّرًا، لَوَفَّرْتَ المَالَ.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counterfactual </a:t>
            </a:r>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conditional takes a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result.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يَدُلُّ اخْتِيَارُ لَوْ بِنَقْدٍ ضِمْنِيٍّ.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يَدُلُّ اخْتِيَارُ لَوْ عَلَى نَقْدٍ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reading conditionals critically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type of conditional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length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فَلَنْ تَنْدَمَ</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visit is impossible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criticism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sees the visit as a real possibility and recommends 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counterfactual hint at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Praise for current policy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of current policy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t>
            </a:r>
            <a:pPr algn="l" indent="0" marL="0">
              <a:buNone/>
            </a:pPr>
            <a:r>
              <a:rPr lang="ar-SA" altLang="en-US" sz="1650" b="1" dirty="0">
                <a:solidFill>
                  <a:srgbClr val="1B3B6F"/>
                </a:solidFill>
                <a:latin typeface="Amiri" pitchFamily="34" charset="0"/>
                <a:ea typeface="Amiri" pitchFamily="34" charset="-122"/>
                <a:cs typeface="Amiri" pitchFamily="34" charset="-120"/>
              </a:rPr>
              <a:t>إِذَا/لَوْ</a:t>
            </a:r>
            <a:pPr algn="l" indent="0" marL="0">
              <a:buNone/>
            </a:pPr>
            <a:r>
              <a:rPr lang="en-US" sz="1250" b="1" dirty="0">
                <a:solidFill>
                  <a:srgbClr val="1B3B6F"/>
                </a:solidFill>
                <a:latin typeface="Calibri" pitchFamily="34" charset="0"/>
                <a:ea typeface="Calibri" pitchFamily="34" charset="-122"/>
                <a:cs typeface="Calibri" pitchFamily="34" charset="-120"/>
              </a:rPr>
              <a:t> distinction important?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key advanced reading skill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changes the topic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decorative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how do you match the result marker?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Any marker fits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إِذَا</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law · naqd.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تَقْرَأُ نَصًّا سِيَاحِيًّا، لَا تَنْظُرْ إِلَى المَعْلُومَةِ فَقَطْ، بَلْ إِلَى نَوْعِ الشَّرْطِ.</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you read a tourism text, do not look only at the information, but at the type of conditional.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فَحِينَ يَكْتُبُ الكَاتِبُ «إِذَا زُرْتَ الأُرْدُنَّ، فَلَنْ تَنْدَمَ»، فَهُوَ يَرَى الزِّيَارَةَ إِمْكَانًا حَقِيقِيًّا وَيَنْصَحُ بِهَا.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the writer writes “if you visit Jordan, you will not regret it”, he sees the visit as a real possibility and recommends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أَمَّا حِينَ يَكْتُبُ «لَوْ نُظِّمَتِ الزِّيَارَاتُ مُبَكِّرًا، لَكَانَتِ المَوَاقِعُ أَفْضَلَ»، فَهُوَ يَصِفُ أَمْرًا لَمْ يَحْدُثْ، وَيُلَمِّحُ إِلَى نَقْدٍ لِلسِّيَاسَةِ الحَالِيَّةِ.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But when he writes “had visits been regulated early, the sites would be better”, he describes something that did not happen, and hints at criticism of current policy.</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هٰذَا التَّمْيِيزُ بَيْنَ إِذَا الحَقِيقِيَّةِ وَلَوِ الافْتِرَاضِيَّةِ مِنْ أَهَمِّ مَهَارَاتِ القِرَاءَةِ المُتَقَدِّمَةِ.</a:t>
            </a:r>
            <a:endParaRPr lang="ar-SA" sz="17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distinction between real idhā and hypothetical law is one of the most important advanced reading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أَسْئِلَةِ مِلْءِ الفَرَاغِ، طَابِقِ العَلَامَةَ مَعَ الأَدَاةِ: سَـ مَعَ إِذَا، وَلَـ مَعَ لَوْ.</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gap-fill questions, match the marker with the particle: sa- with idhā, and la-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type of conditional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length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إِلَى نَوْعِ الشَّرْطِ.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فَلَنْ تَنْدَمَ</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visit is impossible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criticism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sees the visit as a real possibility and recommends 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يَرَى الزِّيَارَةَ إِمْكَانًا حَقِيقِيًّا وَيَنْصَحُ بِهَا.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counterfactual hint at here?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Praise for current policy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of current policy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يُلَمِّحُ إِلَى نَقْدٍ لِلسِّيَاسَةِ الحَالِيَّةِ.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t>
            </a:r>
            <a:pPr algn="l" indent="0" marL="0">
              <a:buNone/>
            </a:pPr>
            <a:r>
              <a:rPr lang="ar-SA" altLang="en-US" sz="1650" b="1" dirty="0">
                <a:solidFill>
                  <a:srgbClr val="1B3B6F"/>
                </a:solidFill>
                <a:latin typeface="Amiri" pitchFamily="34" charset="0"/>
                <a:ea typeface="Amiri" pitchFamily="34" charset="-122"/>
                <a:cs typeface="Amiri" pitchFamily="34" charset="-120"/>
              </a:rPr>
              <a:t>إِذَا/لَوْ</a:t>
            </a:r>
            <a:pPr algn="l" indent="0" marL="0">
              <a:buNone/>
            </a:pPr>
            <a:r>
              <a:rPr lang="en-US" sz="1250" b="1" dirty="0">
                <a:solidFill>
                  <a:srgbClr val="1B3B6F"/>
                </a:solidFill>
                <a:latin typeface="Calibri" pitchFamily="34" charset="0"/>
                <a:ea typeface="Calibri" pitchFamily="34" charset="-122"/>
                <a:cs typeface="Calibri" pitchFamily="34" charset="-120"/>
              </a:rPr>
              <a:t> distinction important?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 key advanced reading skill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changes the topic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decorative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أَهَمِّ مَهَارَاتِ القِرَاءَةِ المُتَقَدِّمَةِ.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how do you match the result marker?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Any marker fits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سَـ</a:t>
            </a:r>
            <a:pPr algn="l" indent="0" marL="0">
              <a:buNone/>
            </a:pPr>
            <a:r>
              <a:rPr lang="en-US" sz="1250" b="1" dirty="0">
                <a:solidFill>
                  <a:srgbClr val="1F2A37"/>
                </a:solidFill>
                <a:latin typeface="Calibri" pitchFamily="34" charset="0"/>
                <a:ea typeface="Calibri" pitchFamily="34" charset="-122"/>
                <a:cs typeface="Calibri" pitchFamily="34" charset="-120"/>
              </a:rPr>
              <a:t> with </a:t>
            </a:r>
            <a:pPr algn="l" indent="0" marL="0">
              <a:buNone/>
            </a:pPr>
            <a:r>
              <a:rPr lang="ar-SA" altLang="en-US" sz="1650" b="1" dirty="0">
                <a:solidFill>
                  <a:srgbClr val="1F2A37"/>
                </a:solidFill>
                <a:latin typeface="Amiri" pitchFamily="34" charset="0"/>
                <a:ea typeface="Amiri" pitchFamily="34" charset="-122"/>
                <a:cs typeface="Amiri" pitchFamily="34" charset="-120"/>
              </a:rPr>
              <a:t>إِذَا</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لَـ</a:t>
            </a:r>
            <a:pPr algn="l" indent="0" marL="0">
              <a:buNone/>
            </a:pPr>
            <a:r>
              <a:rPr lang="en-US" sz="1250" b="1" dirty="0">
                <a:solidFill>
                  <a:srgbClr val="1F2A37"/>
                </a:solidFill>
                <a:latin typeface="Calibri" pitchFamily="34" charset="0"/>
                <a:ea typeface="Calibri" pitchFamily="34" charset="-122"/>
                <a:cs typeface="Calibri" pitchFamily="34" charset="-120"/>
              </a:rPr>
              <a:t> with </a:t>
            </a:r>
            <a:pPr algn="l" indent="0" marL="0">
              <a:buNone/>
            </a:pPr>
            <a:r>
              <a:rPr lang="ar-SA" altLang="en-US" sz="1650" b="1" dirty="0">
                <a:solidFill>
                  <a:srgbClr val="1F2A37"/>
                </a:solidFill>
                <a:latin typeface="Amiri" pitchFamily="34" charset="0"/>
                <a:ea typeface="Amiri" pitchFamily="34" charset="-122"/>
                <a:cs typeface="Amiri" pitchFamily="34" charset="-120"/>
              </a:rPr>
              <a:t>لَوْ</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سَـ</a:t>
            </a:r>
            <a:pPr algn="l" indent="0" marL="0">
              <a:buNone/>
            </a:pPr>
            <a:r>
              <a:rPr lang="en-US" sz="1250" dirty="0">
                <a:solidFill>
                  <a:srgbClr val="9AA1AB"/>
                </a:solidFill>
                <a:latin typeface="Calibri" pitchFamily="34" charset="0"/>
                <a:ea typeface="Calibri" pitchFamily="34" charset="-122"/>
                <a:cs typeface="Calibri" pitchFamily="34" charset="-120"/>
              </a:rPr>
              <a:t> with </a:t>
            </a:r>
            <a:pPr algn="l" indent="0" marL="0">
              <a:buNone/>
            </a:pPr>
            <a:r>
              <a:rPr lang="ar-SA" altLang="en-US" sz="1650" dirty="0">
                <a:solidFill>
                  <a:srgbClr val="9AA1AB"/>
                </a:solidFill>
                <a:latin typeface="Amiri" pitchFamily="34" charset="0"/>
                <a:ea typeface="Amiri" pitchFamily="34" charset="-122"/>
                <a:cs typeface="Amiri" pitchFamily="34" charset="-120"/>
              </a:rPr>
              <a:t>لَوْ</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طَابِقِ العَلَامَةَ مَعَ الأَدَاةِ: سَـ مَعَ إِذَا، وَلَـ مَعَ لَوْ.</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law · naqd.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 sustainable-tourism opinion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يَرَى كَاتِبُ المَقَالِ أَنَّ السِّيَاحَةَ نِعْمَةٌ وَنِقْمَةٌ فِي آنٍ وَاحِدٍ. فَهِيَ تُسْهِمُ فِي الاقْتِصَادِ، غَيْرَ أَنَّهَا قَدْ تُلْحِقُ الضَّرَرَ بِالمَوَاقِعِ الهَشَّةِ. يَقُولُ الكَاتِبُ: «إِذَا احْتَرَمَ السُّيَّاحُ القَوَاعِدَ، سَتَبْقَى المَوَاقِعُ لِلْأَجْيَالِ القَادِمَةِ.» ثُمَّ يُضِيفُ: «لَوِ اهْتَمَّتِ الحُكُومَاتُ بِالتَّنْظِيمِ مُنْذُ البِدَايَةِ، لَمَا وَصَلَتْ كَثِيرٌ مِنَ المَوَاقِعِ إِلَى هٰذَا التَّدَهْوُرِ.» إِنَّ اخْتِيَارَهُ لِلشَّرْطِ الافْتِرَاضِيِّ فِي الجُمْلَةِ الثَّانِيَةِ يَكْشِفُ عَنْ نَقْدٍ ضِمْنِيٍّ لِلسِّيَاسَاتِ الحَالِيَّةِ. وَفِي الخِتَامِ، يُوصِي بِسِيَاحَةٍ مُسْتَدَامَةٍ تُوَازِنُ بَيْنَ الفَائِدَةِ وَالحِمَايَةِ. الغَرَضُ مِنَ النَّصِّ إِقْنَاعُ القَارِئِ بِتَغْيِيرِ سُلُوكِهِ.</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نِعْمَةٌ وَنِقْمَةٌ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blessing and a curse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آنٍ وَاحِدٍ</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the same time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الهَشَّةِ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fragile</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سَتَبْقَى</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remain</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لِلْأَجْيَالِ القَادِمَةِ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future generations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بِالتَّنْظِيمِ</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regulation</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التَّدَهْوُرِ</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deterioration</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السِّيَاسَاتِ الحَالِيَّةِ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current policies</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إِقْنَاعُ</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persuading</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سُلُوكِهِ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behaviour</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good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both a blessing and a curse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real recommendation does the writer make (Type 1)?</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should stop visiting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Rules do not matter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the Type 2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لَوِ اهْتَمَّتِ الحُكُومَاتُ بِالتَّنْظِيمِ مُنْذُ البِدَايَةِ، لَمَا وَصَلَتْ … إِلَى هٰذَا التَّدَهْوُرِ</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يُوصِي بِسِيَاحَةٍ مُسْتَدَامَةٍ</a:t>
            </a:r>
            <a:endParaRPr lang="ar-SA"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the Type 2 choice reveal about the writer's attitude?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Praise for current policies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of current policies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persuade the reader to change their behaviour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good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Tourism is both a blessing and a curse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السِّيَاحَةَ نِعْمَةٌ وَنِقْمَةٌ فِي آنٍ وَاحِدٍ.</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real recommendation does the writer make (Type 1)?</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should stop visiting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Rules do not matter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إِذَا احْتَرَمَ السُّيَّاحُ القَوَاعِدَ، سَتَبْقَى المَوَاقِعُ لِلْأَجْيَالِ القَادِمَةِ.</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the Type 2 conditional.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لَوِ اهْتَمَّتِ الحُكُومَاتُ بِالتَّنْظِيمِ مُنْذُ البِدَايَةِ، لَمَا وَصَلَتْ … إِلَى هٰذَا التَّدَهْوُرِ</a:t>
            </a:r>
            <a:endParaRPr lang="ar-SA" sz="10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يُوصِي بِسِيَاحَةٍ مُسْتَدَامَةٍ</a:t>
            </a:r>
            <a:endParaRPr lang="ar-SA" sz="10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Type 2 conditional.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the Type 2 choice reveal about the writer's attitude?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Praise for current policies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of current policies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يَكْشِفُ عَنْ نَقْدٍ ضِمْنِيٍّ لِلسِّيَاسَاتِ الحَالِيَّةِ.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persuade the reader to change their behaviour</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الغَرَضُ مِنَ النَّصِّ إِقْنَاعُ القَارِئِ بِتَغْيِيرِ سُلُوكِهِ.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analyse a travel text aloud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الشَّرْطِ فِي هٰذِهِ الجُمْلَةِ؟ حَقِيقِيٌّ أَمِ افْتِرَاضِيٌّ؟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يَكْشِفُ اخْتِيَارُ «لَوْ» عَنْ مَوْقِفِ الكَاتِبِ؟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الغَرَضُ مِنَ النَّصِّ؟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هٰذَا شَرْطٌ ___ ، لِأَنَّ الكَاتِبَ يَسْتَعْمِلُ «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يَكْشِفُ اخْتِيَارُ «لَوْ» عَنْ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الغَرَضُ مِنَ النَّصِّ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نَوْعُ الشَّرْطِ فِي «لَوْ نُظِّمَتِ الزِّيَارَاتُ، لَكَانَ أَفْضَلَ»؟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What type of conditional is “had visits been regulated, it would have been better”?</a:t>
            </a:r>
            <a:endParaRPr lang="en-US" sz="8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شَرْطٌ افْتِرَاضِيٌّ مِنَ النَّوْعِ الثَّانِي؛ فَـ«لَوْ … لَـ» تَصِفُ أَمْرًا لَمْ يَحْدُثْ.</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A hypothetical, Type 2 conditional: “law … la-” describes something that did not happen.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Classify six conditionals as real (</a:t>
            </a:r>
            <a:pPr algn="l" indent="0" marL="0">
              <a:buNone/>
            </a:pPr>
            <a:r>
              <a:rPr lang="ar-SA" altLang="en-US" sz="1800" b="1" dirty="0">
                <a:solidFill>
                  <a:srgbClr val="1F2A37"/>
                </a:solidFill>
                <a:latin typeface="Amiri" pitchFamily="34" charset="0"/>
                <a:ea typeface="Amiri" pitchFamily="34" charset="-122"/>
                <a:cs typeface="Amiri" pitchFamily="34" charset="-120"/>
              </a:rPr>
              <a:t>إِذَا</a:t>
            </a:r>
            <a:pPr algn="l" indent="0" marL="0">
              <a:buNone/>
            </a:pPr>
            <a:r>
              <a:rPr lang="en-US" sz="1400" b="1" dirty="0">
                <a:solidFill>
                  <a:srgbClr val="1F2A37"/>
                </a:solidFill>
                <a:latin typeface="Calibri" pitchFamily="34" charset="0"/>
                <a:ea typeface="Calibri" pitchFamily="34" charset="-122"/>
                <a:cs typeface="Calibri" pitchFamily="34" charset="-120"/>
              </a:rPr>
              <a:t>) or hypothetical (</a:t>
            </a:r>
            <a:pPr algn="l" indent="0" marL="0">
              <a:buNone/>
            </a:pPr>
            <a:r>
              <a:rPr lang="ar-SA" altLang="en-US" sz="1800" b="1" dirty="0">
                <a:solidFill>
                  <a:srgbClr val="1F2A37"/>
                </a:solidFill>
                <a:latin typeface="Amiri" pitchFamily="34" charset="0"/>
                <a:ea typeface="Amiri" pitchFamily="34" charset="-122"/>
                <a:cs typeface="Amiri" pitchFamily="34" charset="-120"/>
              </a:rPr>
              <a:t>لَوْ</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classify six conditionals as real (idhā) or hypothetical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For two, match the correct result marker (</a:t>
            </a:r>
            <a:pPr algn="l" indent="0" marL="0">
              <a:buNone/>
            </a:pPr>
            <a:r>
              <a:rPr lang="ar-SA" altLang="en-US" sz="1800" b="1" dirty="0">
                <a:solidFill>
                  <a:srgbClr val="1F2A37"/>
                </a:solidFill>
                <a:latin typeface="Amiri" pitchFamily="34" charset="0"/>
                <a:ea typeface="Amiri" pitchFamily="34" charset="-122"/>
                <a:cs typeface="Amiri" pitchFamily="34" charset="-120"/>
              </a:rPr>
              <a:t>سَـ / لَـ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for two gaps, choose the result marker (sa- / la-) and explain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an R3 answer inferring the writer's attitude from a Type 2 conditional.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analyse a short travel text — one real and one hypothetical conditional, the implicit criticism, and the purpose.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يَدُلُّ اخْتِيَارُ «لَوْ»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choice of “law” indicates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لِأَنَّ الشَّرْطَ لَمْ يَتَحَقَّقْ.</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the condition was not met.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يَكْشِفُ النَّصُّ عَنْ مَوْقِفٍ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text reveals a … attitude.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الغَرَضُ مِنَ النَّصِّ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purpose of the text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هٰذَا شَرْطٌ حَقِيقِيٌّ، لِأَنَّ الكَاتِبَ يَسْتَعْمِلُ «إِذَا».</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real conditional, because the writer uses “idhā”.</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شَرْطٌ افْتِرَاضِيٌّ، لِأَنَّ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hypothetical conditional,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يَنْصَحُ الكَاتِبُ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recommends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writer’s main view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شَرْطٌ حَقِيقِيٌّ  ·  شَرْطٌ افْتِرَاضِيٌّ  ·  تَوْصِيَةٌ  ·  نَقْدٌ ضِمْنِيٌّ  ·  مَوْقِفٌ نَاقِدٌ  ·  مَوْقِفٌ إِيجَابِيٌّ  ·  إِقْنَاعُ القَارِئِ  ·  إِخْبَارُ القَارِئِ  ·  السِّيَاسَةُ الحَالِيَّةُ  ·  غَيْرُ كَافِيَةٍ  ·  لَمْ يَتَحَقَّقْ  ·  إِمْكَانٌ حَقِيقِيٌّ</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short travel text of your choice. Classify one conditional as real (</a:t>
            </a:r>
            <a:pPr algn="l" indent="0" marL="0">
              <a:buNone/>
            </a:pPr>
            <a:r>
              <a:rPr lang="ar-SA" altLang="en-US" sz="1750" b="1" dirty="0">
                <a:solidFill>
                  <a:srgbClr val="1F2A37"/>
                </a:solidFill>
                <a:latin typeface="Amiri" pitchFamily="34" charset="0"/>
                <a:ea typeface="Amiri" pitchFamily="34" charset="-122"/>
                <a:cs typeface="Amiri" pitchFamily="34" charset="-120"/>
              </a:rPr>
              <a:t>إِذَا</a:t>
            </a:r>
            <a:pPr algn="l" indent="0" marL="0">
              <a:buNone/>
            </a:pPr>
            <a:r>
              <a:rPr lang="en-US" sz="1350" b="1" dirty="0">
                <a:solidFill>
                  <a:srgbClr val="1F2A37"/>
                </a:solidFill>
                <a:latin typeface="Calibri" pitchFamily="34" charset="0"/>
                <a:ea typeface="Calibri" pitchFamily="34" charset="-122"/>
                <a:cs typeface="Calibri" pitchFamily="34" charset="-120"/>
              </a:rPr>
              <a:t>) and one as hypothetical (</a:t>
            </a:r>
            <a:pPr algn="l" indent="0" marL="0">
              <a:buNone/>
            </a:pPr>
            <a:r>
              <a:rPr lang="ar-SA" altLang="en-US" sz="1750" b="1" dirty="0">
                <a:solidFill>
                  <a:srgbClr val="1F2A37"/>
                </a:solidFill>
                <a:latin typeface="Amiri" pitchFamily="34" charset="0"/>
                <a:ea typeface="Amiri" pitchFamily="34" charset="-122"/>
                <a:cs typeface="Amiri" pitchFamily="34" charset="-120"/>
              </a:rPr>
              <a:t>لَوْ</a:t>
            </a:r>
            <a:pPr algn="l" indent="0" marL="0">
              <a:buNone/>
            </a:pPr>
            <a:r>
              <a:rPr lang="en-US" sz="1350" b="1" dirty="0">
                <a:solidFill>
                  <a:srgbClr val="1F2A37"/>
                </a:solidFill>
                <a:latin typeface="Calibri" pitchFamily="34" charset="0"/>
                <a:ea typeface="Calibri" pitchFamily="34" charset="-122"/>
                <a:cs typeface="Calibri" pitchFamily="34" charset="-120"/>
              </a:rPr>
              <a:t>), explain what the Type 2 reveals about the writer's attitude, and state the purpose of the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conditional named as Type 1 (real) and one as Type 2 (hypothetical).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explanation of the implicit criticism a Type 2 reveals.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correct reading verb (</a:t>
            </a:r>
            <a:pPr algn="l" indent="0" marL="0">
              <a:buNone/>
            </a:pPr>
            <a:r>
              <a:rPr lang="ar-SA" altLang="en-US" sz="1550" dirty="0">
                <a:solidFill>
                  <a:srgbClr val="1F2A37"/>
                </a:solidFill>
                <a:latin typeface="Amiri" pitchFamily="34" charset="0"/>
                <a:ea typeface="Amiri" pitchFamily="34" charset="-122"/>
                <a:cs typeface="Amiri" pitchFamily="34" charset="-120"/>
              </a:rPr>
              <a:t>يَدُلُّ عَلَى / يَكْشِفُ عَنْ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statement of the text's purpose.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خِلَالِ نَوْعِ الشَّرْطِ</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through the type of conditional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شَرْطٌ حَقِيقِيٌّ يَنْصَحُ بِهِ الكَاتِبُ وَيَرَاهُ مُمْكِنًا</a:t>
            </a:r>
            <a:endParaRPr lang="ar-SA" sz="17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real conditional the writer recommends and sees as possible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فَالكَاتِبُ يَرَى السِّيَاسَةَ الحَالِيَّةَ غَيْرَ كَافِيَةٍ</a:t>
            </a:r>
            <a:endParaRPr lang="ar-SA" sz="16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 writer sees current policy as inadequate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إِقْنَاعُ القَارِئِ بِأَنَّ التَّنْظِيمَ ضَرُورِيٌّ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persuading the reader that regulation is necessary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أَقْرَأُ النَّصَّ بِوَعْيٍ بِنَوْعِ الشَّرْطِ وَمَوْقِفِ الكَاتِبِ</a:t>
            </a:r>
            <a:endParaRPr lang="ar-SA" sz="16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read the text aware of the conditional type and the writer’s attitude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يَكْشِفُ النَّصُّ عَنْ مَوْقِفِ كَاتِبِهِ مِنْ خِلَالِ نَوْعِ الشَّرْطِ. فَجُمْلَةُ «إِذَا احْتَرَمَ السُّيَّاحُ القَوَاعِدَ، سَتَبْقَى المَوَاقِعُ» شَرْطٌ حَقِيقِيٌّ يَنْصَحُ بِهِ الكَاتِبُ وَيَرَاهُ مُمْكِنًا. أَمَّا جُمْلَةُ «لَوِ اهْتَمَّتِ الحُكُومَاتُ مُبَكِّرًا، لَمَا تَدَهْوَرَتِ المَوَاقِعُ» فَشَرْطٌ افْتِرَاضِيٌّ مِنَ النَّوْعِ الثَّانِي. وَيَدُلُّ اخْتِيَارُ «لَوْ» عَلَى نَقْدٍ ضِمْنِيٍّ، لِأَنَّ الشَّرْطَ لَمْ يَتَحَقَّقْ، فَالكَاتِبُ يَرَى السِّيَاسَةَ الحَالِيَّةَ غَيْرَ كَافِيَةٍ. وَالغَرَضُ مِنَ النَّصِّ إِقْنَاعُ القَارِئِ بِأَنَّ التَّنْظِيمَ ضَرُورِيٌّ. لِذٰلِكَ أَقْرَأُ النَّصَّ بِوَعْيٍ بِنَوْعِ الشَّرْطِ وَمَوْقِفِ الكَاتِبِ.</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text reveals its writer’s attitude through the type of conditional. The sentence “if tourists respect the rules, the sites will remain” is a real conditional that the writer recommends and sees as possible. The sentence “had governments cared early, the sites would not have deteriorated”, however, is a hypothetical, Type 2 conditional. The choice of “law” indicates implicit criticism, because the condition was not met, so the writer sees current policy as inadequate. The purpose of the text is to persuade the reader that regulation is necessary. So I read the text aware of the conditional type and the writer’s attitude.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real conditional named (idhā … sa-)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hypothetical conditional named (law … lamā)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yadull ʿalā naqdin ḍimniyyin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purpose (al-gharaḍ … iqnāʿ)</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each conditional: idhā = real, law = hypothetical.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quoted the exact words that prove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matched sa- with idhā and la- with law.</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stated the purpose of the text.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the implicit criticism with yadull ʿalā … li-anna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سَتَسْتَمْتِعُ.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حَجَزْتَ مُبَكِّرًا، سَتُوَفِّرُ.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احْتَرَمْتَ العَادَاتِ،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بِتَرْحِيبٍ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لَقُوبِلْتَ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about the writer?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 the case is real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زُرْتَ الأُرْدُنَّ، سَتَسْتَمْتِعُ.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حَجَزْتَ مُبَكِّرًا، سَتُوَفِّرُ.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احْتَرَمْتَ العَادَاتِ،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بِتَرْحِيبٍ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لَقُوبِلْتَ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تُقَابَلُ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about the writer?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 the case is real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implies the condition did not hold.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Critical Reading Mission — Type, Marker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سَتَسْتَمْتِعُ</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نُظِّمَتِ الزِّيَارَاتُ،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real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counterfactual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إِذَا حَجَزْتَ مُبَكِّرًا، ___ المَالَ.</a:t>
            </a:r>
            <a:endParaRPr lang="ar-SA" sz="11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حَجَزْتَ مُبَكِّرًا، ___ المَالَ.</a:t>
            </a:r>
            <a:endParaRPr lang="ar-SA" sz="12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سَتَسْتَمْتِعُ</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Type 2 (hypothetical)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real.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نُظِّمَتِ الزِّيَارَاتُ،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Type 1 (real)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hypothetical.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real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pairs with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counterfactual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pairs with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إِذَا حَجَزْتَ مُبَكِّرًا، ___ المَالَ.</a:t>
            </a:r>
            <a:endParaRPr lang="ar-SA" sz="11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سَتُوَفِّرُ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لَوَفَّرْتَ</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conditional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حَجَزْتَ مُبَكِّرًا، ___ المَالَ.</a:t>
            </a:r>
            <a:endParaRPr lang="ar-SA" sz="12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سَتُوَفِّرُ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P3-L09 · Writing — Travel and Tourism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الصَّوْتُ السِّيَاحِيُّ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travel-writing voice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التَّفْصِيلُ الحِسِّيُّ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sensory detail</a:t>
            </a:r>
            <a:pPr indent="0" marL="0">
              <a:buNone/>
            </a:pPr>
            <a:r>
              <a:rPr lang="en-US" sz="1000" i="1" dirty="0">
                <a:solidFill>
                  <a:srgbClr val="5A6472"/>
                </a:solidFill>
                <a:latin typeface="Calibri" pitchFamily="34" charset="0"/>
                <a:ea typeface="Calibri" pitchFamily="34" charset="-122"/>
                <a:cs typeface="Calibri" pitchFamily="34" charset="-120"/>
              </a:rPr>
              <a:t>  pl. التَّفَاصِيلُ الحِسِّيَّةُ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ذِكْرَى لَا تُنْسَى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unforgettable memory</a:t>
            </a:r>
            <a:pPr indent="0" marL="0">
              <a:buNone/>
            </a:pPr>
            <a:r>
              <a:rPr lang="en-US" sz="1000" i="1" dirty="0">
                <a:solidFill>
                  <a:srgbClr val="5A6472"/>
                </a:solidFill>
                <a:latin typeface="Calibri" pitchFamily="34" charset="0"/>
                <a:ea typeface="Calibri" pitchFamily="34" charset="-122"/>
                <a:cs typeface="Calibri" pitchFamily="34" charset="-120"/>
              </a:rPr>
              <a:t>  pl. ذِكْرَيَاتٌ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خَلْفِيَّةٌ سَرْدِيَّةٌ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narrative background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بِنَاءً عَلَى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based on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a travel article: where will you write about, and what is your one unforgettable detail?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سَأَكْتُبُ عَنْ ______ ، وَذِكْرَى لَا تُنْسَى هِيَ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Classify six conditionals from travel texts as real (idhā) or hypothetical (law).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For two of them, explain the result marker and what it shows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analysis of a short travel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P3-L09 · Writing — Travel and Tourism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box the particle first — idhā (+ sa- / fa-lan) = a real recommendation, law (+ la- / lamā) = something that did not happen, often an implicit criticism — and name it: yadullu ʿalā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P3-L08 · Reading — Travel and Tourism Texts</dc:title>
  <dc:subject>PptxGenJS Presentation</dc:subject>
  <dc:creator>Al Madina Online School · Arabic Department</dc:creator>
  <cp:lastModifiedBy>Al Madina Online School · Arabic Department</cp:lastModifiedBy>
  <cp:revision>1</cp:revision>
  <dcterms:created xsi:type="dcterms:W3CDTF">2026-10-10T15:28:10Z</dcterms:created>
  <dcterms:modified xsi:type="dcterms:W3CDTF">2026-10-10T15:28:10Z</dcterms:modified>
</cp:coreProperties>
</file>