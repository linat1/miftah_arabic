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P3 Travel, Holidays and Transport › P3-L06. The website lesson “Travel Problems and Solutions — Dealing With the Unexpected”: vocabulary, grammar rules and quiz, patterns, common mistakes, sorter, listening, reading, speaking prompts and model, writing task and model, differentiation, final check and the lesson mission. Picture match: website visual game “Travel Problems and Solutions — Dealing With the Unexpected”.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the five-stage sequence for one problem, one sentence each (website Core). Develop: expand the narrative and add a subjunctive after an. Stretch: a full 100–110-word narrative where the Type 2 regret is the most complex sentence.
• This lesson revises the whole unit — a good moment to praise progress. Every structure has been met before: kuntu qad (P3-L02/L03) · qāla inna (P2-L02) · idhā … sa- and law … la- (P3-L05).
• New today: the subjunctive after أَنْ — the verb ends in a fatḥa (أَلْجَأَ, not أَلْجَأُ). Weak students only need the sound: “after an, say -a”.
• Practical life skill: keep a photo of your passport, buy travel insurance, know where your embassy is. Some students may have had stressful journeys — keep stories light and invite, never require, real examples.
• TEACHER-WRITTEN ITEMS: waṣl alif shown without a kasra; rule headings and formulas in English and transliteration; sorter headings in English; the subjunctive, help-verb and regret tables are teacher-built from the website texts. All other website items, including the visual game,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P3-L05. Questions 4–5 retrieve yushim fī and the law … la- regret (P3-L05) — today the regret becomes personal.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good problem story has five stages — and after an, the verb ends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تاخیر، مسافر and سفارت are shared. مشورہ shares a root with يَسْتَشِيرُ (to consult), and تبلیغ (conveying a message) shares a root with يُبَلِّغُ (to report) and بَلَاغٌ (a police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Travel problems (website vocabulary (1 of 2)). Hear → Say → See → Use. Transliteration is printed for Core students (cover it for Develop/Stretch).
Travel problems: most are nouns you will put after اكْتَشَفْتُ أَنَّ … or use with the past: تَأَخَّرَتِ الرِّحْلَةُ · ضَاعَتْ حَقِيبَتِي · أُلْغِيَتِ الرِّحْلَةُ (was cancelled).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Travel problems (website vocabulary (2 of 2)). Hear → Say → See → Use. Transliteration is printed for Core students (cover it for Develop/Stretch).
Travel problems: most are nouns you will put after اكْتَشَفْتُ أَنَّ … or use with the past: تَأَخَّرَتِ الرِّحْلَةُ · ضَاعَتْ حَقِيبَتِي · أُلْغِيَتِ الرِّحْلَةُ (was cancelled).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Dealing with problems (website vocabulary (1 of 2)). Hear → Say → See → Use. Transliteration is printed for Core students (cover it for Develop/Stretch).
Dealing with problems: learn each verb with its partner — يَتَعَامَلُ مَعَ · يُبَلِّغُ عَنْ · يَلْجَأُ إِلَى · يَسْتَشِيرُ + object. After أَنْ they end in -a: أَنْ أَلْجَأَ · أَنْ أُبَلِّغَ.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Dealing with problems (website vocabulary (2 of 2)). Hear → Say → See → Use. Transliteration is printed for Core students (cover it for Develop/Stretch).
FLEX: teach if time allows; otherwise these are on the website vocabulary tab for homework.
Dealing with problems: learn each verb with its partner — يَتَعَامَلُ مَعَ · يُبَلِّغُ عَنْ · يَلْجَأُ إِلَى · يَسْتَشِيرُ + object. After أَنْ they end in -a: أَنْ أَلْجَأَ · أَنْ أُبَلِّغَ.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Sources of help (website vocabulary (1 of 2)). Hear → Say → See → Use. Transliteration is printed for Core students (cover it for Develop/Stretch).
FLEX: teach if time allows; otherwise these are on the website vocabulary tab for homework.
Sources of help: who you go to — شُرْطَةُ السِّيَاحَةِ for theft, السَّفَارَةُ for a lost passport (they issue a وَثِيقَةُ سَفَرٍ مُؤَقَّتَةٌ), مُوَظَّفُ المَطَارِ for delays and luggage.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Sources of help (website vocabulary (2 of 2)). Hear → Say → See → Use. Transliteration is printed for Core students (cover it for Develop/Stretch).
FLEX: teach if time allows; otherwise these are on the website vocabulary tab for homework.
Sources of help: who you go to — شُرْطَةُ السِّيَاحَةِ for theft, السَّفَارَةُ for a lost passport (they issue a وَثِيقَةُ سَفَرٍ مُؤَقَّتَةٌ), مُوَظَّفُ المَطَارِ for delays and luggage.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“Precaution and problem”, “Reported official”, “Plan and regret”, teaching point 1 and the website table.
Stage 2: أُلْغِيَتْ = “it was cancelled” (passive of أَلْغَى) — no need to say who cancelled it.
Stage 3: قَالَ is followed by إِنَّ; أَشَارَ إِلَى and أَوْضَحَ by أَنَّ (P2-L02). Both make the next noun accusative: إِنَّ الرِّحْلَةَ.
Stages 4–5: P3-L05. Ask: “Can it still happen?” → idhā … sa-. “Did it not happen?” → law … 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“Subjunctive after أَنْ”, teaching point 2 and mistake 2. Examples from the website listening, reading and live builder.
The subjunctive (المُضَارِعُ المَنْصُوبُ) only changes the last vowel: -u → -a. Row 3: a second verb joined with ثُمَّ / وَ is also subjunctive (أَذْهَبَ).
Remember the difference: أَنْ + verb (-a) · أَنَّ + noun / pronoun (accusative) — اكْتَشَفْتُ أَنَّ الرِّحْلَةَ … · قَرَّرْتُ أَنْ أَلْجَأَ … .
P3-L07 builds on this with يُسْتَحْسَنُ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vocabulary notes (Form II يُبَلِّغُ عَنْ, Form VIII يَلْجَأُ إِلَى, Form X يَسْتَشِيرُ + object) and mistake 3.
Card 1: report ABOUT something (عَنْ) TO someone (لِـ): أُبَلِّغُ عَنِ السَّرِقَةِ لِلشُّرْطَةِ.
Card 3: the past of يَسْتَشِيرُ is اسْتَشَارَ → اسْتَشَرْتُ (I consulted) — a hollow verb: the long vowel shortens before -tu.
Also useful: يَتَعَامَلُ مَعَ المُشْكِلَةِ (deals with the problem) · يَطْلُبُ التَّعْوِيضَ (asks for compensation).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the website differentiation asks Stretch writers to make the Type 2 regret “the most complex sentence”. Rows from the website live builder, listening, reading and writing model.
Row 2 is the most advanced: past perfect in both halves (لَوْ كُنْتُ قَدْ … لَكُنْتُ قَدْ …) — “if I had …, I would have …”.
Row 4 (passive): يُعَوِّضُ (compensates) → يُعَوَّضُ (is compensated).
Website mistake 1 also shows the waṣl kasra: لَوِ اشْتَرَيْتُ — law takes a kasra to join the next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“How a travel problem naturally triggers the past perfect, past narrative, reported speech, both conditional types and a subjunctive after أَنْ.”
• Precaution and problem: What you had done, then what went wrong.
• Reported official: What an official told you.
• Plan and regret: What you will do next time, and what you should have done.
• Subjunctive after an: The verb after أَنْ takes a fatḥa.
Website common error: Dropping the لَـ in the Type 2 regret, or leaving the verb after أَنْ in the indicative. أَنْ takes a subjunctive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5,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“Stage 1 — what had I done? kuntu qad. Stage 2 — what went wrong? iktashaftu anna … ḍāʿat. Now my action: qarrartu AN — so the verb ends in -a: aljaʾA. Stage 3 — the official: qāla … INNA. Stage 4 — next time: idhā … SA-. Stage 5 — the regret: law … LAMĀ.”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Travel Problems and Solutions — Dealing With the Unexpected”)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give each problem a solution with an: يَجِبُ أَنْ أَنْتَظِرَ بِهُدُوءٍ · قَرَّرْتُ أَنْ أُبَلِّغَ عَنِ الفُقْدَانِ · حَاوَلْتُ أَنْ أَسْتَشِيرَ شُرْطَةَ السِّيَاحَةِ.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Travel Problems and Solutions — Dealing With the Unexpected”)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give each problem a solution with an: يَجِبُ أَنْ أَنْتَظِرَ بِهُدُوءٍ · قَرَّرْتُ أَنْ أُبَلِّغَ عَنِ الفُقْدَانِ · حَاوَلْتُ أَنْ أَسْتَشِيرَ شُرْطَةَ السِّيَاحَةِ.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 problem narrative from a precaution, an official's report and a plan/regret.” Website feedback: any three different combinations work.
Core: read row 1 across, then add the problem: لٰكِنَّ الرِّحْلَةَ أُلْغِيَتْ. Develop: find the two verbs after an that end in -a (أُبَلِّغَ · أَحْتَفِظَ). Stretch: upgrade column 3 row 2 to لَوْ كُنْتُ قَدْ أَمَّنْتُ رِحْلَتِي، لَكُنْتُ قَدْ حَصَلْتُ عَلَى تَعْوِيضٍ.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tell a three-sentence story with a card from each column: كُنْتُ قَدْ … · ثُمَّ … · فَقَرَّرْتُ أَنْ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tell a three-sentence story with a card from each column: كُنْتُ قَدْ … · ثُمَّ … · فَقَرَّرْتُ أَنْ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4,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every verb you hear after an.
Listen 1: just listen. Listen 2: note answers. Then chat the letters.
Support: after the second listening, show the read-along slide (Arabic + English, line by line) for Core students.
SCRIPT (read aloud):
يَرْوِي المُسَافِرُ: كُنْتُ قَدْ وَصَلْتُ إِلَى المَطَارِ مُبَكِّرًا، وَكُنْتُ قَدْ تَأَكَّدْتُ مِنْ حَجْزِي مَرَّتَيْنِ. لٰكِنْ فَجْأَةً اكْتَشَفْتُ أَنَّ جَوَازَ سَفَرِي مَفْقُودٌ. حَاوَلْتُ أَنْ أَتَصَرَّفَ بِهُدُوءٍ، وَقَرَّرْتُ أَنْ أَلْجَأَ إِلَى شُرْطَةِ السِّيَاحَةِ. قَالَ المُوَظَّفُ إِنَّهُ يَجِبُ أَنْ أُبَلِّغَ عَنِ الفُقْدَانِ ثُمَّ أَذْهَبَ إِلَى السَّفَارَةِ. وَأَشَارَ إِلَى أَنَّنِي سَأَحْصُلُ عَلَى وَثِيقَةِ سَفَرٍ مُؤَقَّتَةٍ. إِذَا سَافَرْتُ ثَانِيَةً، سَأَحْتَفِظُ بِنُسْخَةٍ مِنْ وَثَائِقِي. وَلَوْ كُنْتُ قَدْ صَوَّرْتُ جَوَازِي قَبْلَ الرِّحْلَةِ، لَكُنْتُ قَدْ وَفَّرْتُ سَاعَاتٍ مِنَ القَلَقِ.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قَرَّرْتَ أَنْ تَفْعَلَ؟ (Subjunctive)
B: قَرَّرْتُ أَنْ أَلْجَأَ إِلَى المَكْتَبِ، وَلَوْ كُنْتُ قَدْ أَمَّنْتُ رِحْلَتِي لَحَصَلْتُ عَلَى تَعْوِيضٍ. (Subjunctive + Type 2 regret)
Website prompts and model. Pair task: “the airport desk” — A is the traveller with a problem card (delay / lost bag / lost passport), B is the official who must answer with يَجِبُ أَنْ + -a. Then swap. To a girl: كُنْتِ قَدْ فَعَلْتِ · قَرَّرْتِ أَنْ تَفْعَلِي.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the five-stage sequence for one problem, one sentence each. · Develop — Expand the past narrative and add a subjunctive after أَنْ. · Stretch — Write a full narrative where the Type 2 regret is the most complex sentence.
Website writing task (Stretch): Write a travel-problem narrative of one hundred to one hundred and ten words using all five structures: a past-perfect precaution, a past narrative, reported speech from an official, a Type 1 plan and a Type 2 regret, with one subjunctive after أَنْ.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كُنْتُ قَدْ خَطَّطْتُ · كُنْتُ قَدْ تَأَكَّدْتُ · اكْتَشَفْتُ أَنَّ حَقِيبَتِي ضَاعَتْ · أَنْ أَتَصَرَّفَ · أَنْ أَلْجَأَ · قَالَ المُوَظَّفُ إِنَّ · أَنْ أُبَلِّغَ · إِذَا سَافَرْتُ … سَأَضَعُ · لَوْ كُنْتُ قَدْ فَعَلْتُ … لَمَا عِشْتُ.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(P3-L07 · Cultural Sensitivity in Travel — Being a Respectful Visitor) will spend class time USING this language, so students prepare it tonight — short, simple, easy to access (school guidance: “Simple, Short, Interesting, Relevant, Easy to access”). The five words come from the website P3-L07 vocabulary (cultural sensitivity).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P3  ·  P3-L06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P3-L06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Travel Problems and Solutions — Dealing With the Unexpected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مَشَاكِلُ السَّفَرِ وَالحُلُولُ — التَّعَامُلُ مَعَ غَيْرِ المُتَوَقَّعِ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Tell a travel-problem story with all five P3 structures: kuntu qad (precaution), the past (problem), qāla … inna (the official), idhā … sa- (next time) and law … la- (regret) — plus the subjunctive after an: qarrartu an aljaʾa.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P3-L06 · Progression P3 · Travel, Holidays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P3 › P3-L06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five-stage problem story, the subjunctive after an, help verbs, the regret upgraded.</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travel problems, build a problem narrative, sort precaution / problem / help.</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P3-L07.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تَأَخُّرُ الرِّحْلَةِ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flight cancellation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flight delay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direct flight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فُقْدَانُ الأَمْتِعَةِ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lost luggage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heavy luggage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 luggage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يَتَصَرَّفُ بِهُدُوءٍ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travels quickly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complains loudly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acts calmly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تُسْهِمُ السِّيَاحَةُ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الاقْتِصَادِ المَحَلِّيِّ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regret: </a:t>
            </a:r>
            <a:pPr algn="l" indent="0" marL="0">
              <a:buNone/>
            </a:pPr>
            <a:r>
              <a:rPr lang="ar-SA" altLang="en-US" sz="1650" b="1" dirty="0">
                <a:solidFill>
                  <a:srgbClr val="1B3B6F"/>
                </a:solidFill>
                <a:latin typeface="Amiri" pitchFamily="2" charset="-78"/>
                <a:ea typeface="Amiri" pitchFamily="2" charset="-78"/>
                <a:cs typeface="Amiri" pitchFamily="2" charset="-78"/>
              </a:rPr>
              <a:t>لَوْ نَظَّمْنَا الزِّيَارَاتِ،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التُّرَاثُ 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لَكَانَ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سَيَكُونُ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يَكُونُ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تَأَخُّرُ الرِّحْلَةِ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flight cancellation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flight delay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direct flight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فُقْدَانُ الأَمْتِعَةِ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lost luggage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heavy luggage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 luggage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يَتَصَرَّفُ بِهُدُوءٍ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travels quickly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complains loudly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acts calmly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(P3-L05).</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تُسْهِمُ السِّيَاحَةُ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الاقْتِصَادِ المَحَلِّيِّ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P3-L05: yushim is fixed with fī.</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regret: </a:t>
            </a:r>
            <a:pPr algn="l" indent="0" marL="0">
              <a:buNone/>
            </a:pPr>
            <a:r>
              <a:rPr lang="ar-SA" altLang="en-US" sz="1650" b="1" dirty="0">
                <a:solidFill>
                  <a:srgbClr val="1B3B6F"/>
                </a:solidFill>
                <a:latin typeface="Amiri" pitchFamily="2" charset="-78"/>
                <a:ea typeface="Amiri" pitchFamily="2" charset="-78"/>
                <a:cs typeface="Amiri" pitchFamily="2" charset="-78"/>
              </a:rPr>
              <a:t>لَوْ نَظَّمْنَا الزِّيَارَاتِ،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التُّرَاثُ 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لَكَانَ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سَيَكُونُ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يَكُونُ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P3-L05: a Type 2 result takes la-.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good problem story has five stages — and after an, the verb ends in -a.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C77700"/>
                </a:solidFill>
                <a:latin typeface="Amiri" pitchFamily="2" charset="-78"/>
                <a:ea typeface="Amiri" pitchFamily="2" charset="-78"/>
                <a:cs typeface="Amiri" pitchFamily="2" charset="-78"/>
              </a:rPr>
              <a:t>كُنْتُ قَدْ</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اكْتَشَفْتُ</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7B3FA0"/>
                </a:solidFill>
                <a:latin typeface="Amiri" pitchFamily="2" charset="-78"/>
                <a:ea typeface="Amiri" pitchFamily="2" charset="-78"/>
                <a:cs typeface="Amiri" pitchFamily="2" charset="-78"/>
              </a:rPr>
              <a:t>قَالَ … إِنَّ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إِذَا … سَـ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لَوْ … لَـ</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قَرَّرْتُ أَنْ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أَلْجَأَ</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travel problems and sources of help.</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 problem story: precaution → problem → official → plan → regret.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subjunctive after an (yajibu an, qarrartu an).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travel-problem narrative.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travel problems and sources of help.</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tell a problem in the past.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kuntu qad and qāla … inna in my story.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the subjunctive after an.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Type 1 plan and a Type 2 regret.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full problem narrative.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Travel problems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Dealing with problems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Sources of help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تَأْخِيرٌ · تَأَخُّرٌ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‎تاخیر‎ </a:t>
            </a:r>
            <a:pPr indent="0" marL="0">
              <a:buNone/>
            </a:pPr>
            <a:r>
              <a:rPr lang="en-US" sz="950" b="1" dirty="0">
                <a:solidFill>
                  <a:srgbClr val="2E8B57"/>
                </a:solidFill>
                <a:latin typeface="Calibri" pitchFamily="34" charset="0"/>
                <a:cs typeface="Amiri" pitchFamily="2" charset="-78"/>
              </a:rPr>
              <a:t> tākhīr · a delay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مُسَافِرٌ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‎مسافر‎ </a:t>
            </a:r>
            <a:pPr indent="0" marL="0">
              <a:buNone/>
            </a:pPr>
            <a:r>
              <a:rPr lang="en-US" sz="950" b="1" dirty="0">
                <a:solidFill>
                  <a:srgbClr val="2E8B57"/>
                </a:solidFill>
                <a:latin typeface="Calibri" pitchFamily="34" charset="0"/>
                <a:cs typeface="Amiri" pitchFamily="2" charset="-78"/>
              </a:rPr>
              <a:t> musāfir · a traveller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سَفَارَةٌ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‎سفارت · سفارت خانہ‎ </a:t>
            </a:r>
            <a:pPr indent="0" marL="0">
              <a:buNone/>
            </a:pPr>
            <a:r>
              <a:rPr lang="en-US" sz="950" b="1" dirty="0">
                <a:solidFill>
                  <a:srgbClr val="2E8B57"/>
                </a:solidFill>
                <a:latin typeface="Calibri" pitchFamily="34" charset="0"/>
                <a:cs typeface="Amiri" pitchFamily="2" charset="-78"/>
              </a:rPr>
              <a:t> sifārat · an embassy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يَسْتَشِيرُ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‎مشورہ‎ </a:t>
            </a:r>
            <a:pPr indent="0" marL="0">
              <a:buNone/>
            </a:pPr>
            <a:r>
              <a:rPr lang="en-US" sz="950" b="1" dirty="0">
                <a:solidFill>
                  <a:srgbClr val="2E8B57"/>
                </a:solidFill>
                <a:latin typeface="Calibri" pitchFamily="34" charset="0"/>
                <a:cs typeface="Amiri" pitchFamily="2" charset="-78"/>
              </a:rPr>
              <a:t> mashwara · consults · advice (same root)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يُبَلِّغُ</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‎تبلیغ‎ </a:t>
            </a:r>
            <a:pPr indent="0" marL="0">
              <a:buNone/>
            </a:pPr>
            <a:r>
              <a:rPr lang="en-US" sz="950" b="1" dirty="0">
                <a:solidFill>
                  <a:srgbClr val="2E8B57"/>
                </a:solidFill>
                <a:latin typeface="Calibri" pitchFamily="34" charset="0"/>
                <a:cs typeface="Amiri" pitchFamily="2" charset="-78"/>
              </a:rPr>
              <a:t> tablīgh · reports, conveys (same root)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 problems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تَأَخُّرُ الرِّحْلَةِ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flight delay</a:t>
            </a:r>
            <a:endParaRPr lang="en-US" sz="1350" dirty="0"/>
          </a:p>
          <a:p>
            <a:pPr indent="0" marL="0">
              <a:buNone/>
            </a:pPr>
            <a:r>
              <a:rPr lang="en-US" sz="1100" i="1" dirty="0">
                <a:solidFill>
                  <a:srgbClr val="5A6472"/>
                </a:solidFill>
                <a:latin typeface="Calibri" pitchFamily="34" charset="0"/>
                <a:cs typeface="Amiri" pitchFamily="2" charset="-78"/>
              </a:rPr>
              <a:t>ta-ʾakh-khu-ru ar-riḥ-la-ti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إِلْغَاءٌ</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cancellation</a:t>
            </a:r>
            <a:endParaRPr lang="en-US" sz="1350" dirty="0"/>
          </a:p>
          <a:p>
            <a:pPr indent="0" marL="0">
              <a:buNone/>
            </a:pPr>
            <a:r>
              <a:rPr lang="en-US" sz="1100" i="1" dirty="0">
                <a:solidFill>
                  <a:srgbClr val="5A6472"/>
                </a:solidFill>
                <a:latin typeface="Calibri" pitchFamily="34" charset="0"/>
                <a:cs typeface="Amiri" pitchFamily="2" charset="-78"/>
              </a:rPr>
              <a:t>il-ghā-ʾun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فُقْدَانُ الأَمْتِعَةِ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lost luggage</a:t>
            </a:r>
            <a:endParaRPr lang="en-US" sz="1350" dirty="0"/>
          </a:p>
          <a:p>
            <a:pPr indent="0" marL="0">
              <a:buNone/>
            </a:pPr>
            <a:r>
              <a:rPr lang="en-US" sz="1100" i="1" dirty="0">
                <a:solidFill>
                  <a:srgbClr val="5A6472"/>
                </a:solidFill>
                <a:latin typeface="Calibri" pitchFamily="34" charset="0"/>
                <a:cs typeface="Amiri" pitchFamily="2" charset="-78"/>
              </a:rPr>
              <a:t>fuq-dā-nu al-am-ti-ʿa-ti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سَرِقَةٌ</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theft</a:t>
            </a:r>
            <a:endParaRPr lang="en-US" sz="1350" dirty="0"/>
          </a:p>
          <a:p>
            <a:pPr indent="0" marL="0">
              <a:buNone/>
            </a:pPr>
            <a:r>
              <a:rPr lang="en-US" sz="1100" i="1" dirty="0">
                <a:solidFill>
                  <a:srgbClr val="5A6472"/>
                </a:solidFill>
                <a:latin typeface="Calibri" pitchFamily="34" charset="0"/>
                <a:cs typeface="Amiri" pitchFamily="2" charset="-78"/>
              </a:rPr>
              <a:t>sa-ri-qa-tun</a:t>
            </a:r>
            <a:endParaRPr lang="en-US" sz="1350" dirty="0"/>
          </a:p>
        </p:txBody>
      </p:sp>
      <p:sp>
        <p:nvSpPr>
          <p:cNvPr id="45" name="Shape 4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سَرِقَاتٌ</a:t>
            </a:r>
            <a:endParaRPr lang="ar-SA" sz="15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 problems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طَوَارِئُ طِبِّيَّةٌ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medical emergency</a:t>
            </a:r>
            <a:endParaRPr lang="en-US" sz="1350" dirty="0"/>
          </a:p>
          <a:p>
            <a:pPr indent="0" marL="0">
              <a:buNone/>
            </a:pPr>
            <a:r>
              <a:rPr lang="en-US" sz="1100" i="1" dirty="0">
                <a:solidFill>
                  <a:srgbClr val="5A6472"/>
                </a:solidFill>
                <a:latin typeface="Calibri" pitchFamily="34" charset="0"/>
                <a:cs typeface="Amiri" pitchFamily="2" charset="-78"/>
              </a:rPr>
              <a:t>ṭa-wā-ri-ʾu ṭib-biy-ya-tun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ضَيَاعٌ</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getting lost</a:t>
            </a:r>
            <a:endParaRPr lang="en-US" sz="1350" dirty="0"/>
          </a:p>
          <a:p>
            <a:pPr indent="0" marL="0">
              <a:buNone/>
            </a:pPr>
            <a:r>
              <a:rPr lang="en-US" sz="1100" i="1" dirty="0">
                <a:solidFill>
                  <a:srgbClr val="5A6472"/>
                </a:solidFill>
                <a:latin typeface="Calibri" pitchFamily="34" charset="0"/>
                <a:cs typeface="Amiri" pitchFamily="2" charset="-78"/>
              </a:rPr>
              <a:t>ḍa-yā-ʿun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خَطَأٌ فِي الحَجْزِ</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booking error</a:t>
            </a:r>
            <a:endParaRPr lang="en-US" sz="1350" dirty="0"/>
          </a:p>
          <a:p>
            <a:pPr indent="0" marL="0">
              <a:buNone/>
            </a:pPr>
            <a:r>
              <a:rPr lang="en-US" sz="1100" i="1" dirty="0">
                <a:solidFill>
                  <a:srgbClr val="5A6472"/>
                </a:solidFill>
                <a:latin typeface="Calibri" pitchFamily="34" charset="0"/>
                <a:cs typeface="Amiri" pitchFamily="2" charset="-78"/>
              </a:rPr>
              <a:t>kha-ṭa-ʾun fī al-ḥaj-zi</a:t>
            </a:r>
            <a:endParaRPr lang="en-US" sz="1350" dirty="0"/>
          </a:p>
        </p:txBody>
      </p:sp>
      <p:sp>
        <p:nvSpPr>
          <p:cNvPr id="34" name="Shape 3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أَخْطَاءٌ فِي الحَجْزِ</a:t>
            </a:r>
            <a:endParaRPr lang="ar-SA" sz="15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نِزَاعٌ مَعَ الفُنْدُقِ</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hotel dispute</a:t>
            </a:r>
            <a:endParaRPr lang="en-US" sz="1350" dirty="0"/>
          </a:p>
          <a:p>
            <a:pPr indent="0" marL="0">
              <a:buNone/>
            </a:pPr>
            <a:r>
              <a:rPr lang="en-US" sz="1100" i="1" dirty="0">
                <a:solidFill>
                  <a:srgbClr val="5A6472"/>
                </a:solidFill>
                <a:latin typeface="Calibri" pitchFamily="34" charset="0"/>
                <a:cs typeface="Amiri" pitchFamily="2" charset="-78"/>
              </a:rPr>
              <a:t>ni-zā-ʿun ma-ʿa al-fun-du-qi</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Dealing with problems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يَتَعَامَلُ مَعَ</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deals with</a:t>
            </a:r>
            <a:endParaRPr lang="en-US" sz="1350" dirty="0"/>
          </a:p>
          <a:p>
            <a:pPr indent="0" marL="0">
              <a:buNone/>
            </a:pPr>
            <a:r>
              <a:rPr lang="en-US" sz="1100" i="1" dirty="0">
                <a:solidFill>
                  <a:srgbClr val="5A6472"/>
                </a:solidFill>
                <a:latin typeface="Calibri" pitchFamily="34" charset="0"/>
                <a:cs typeface="Amiri" pitchFamily="2" charset="-78"/>
              </a:rPr>
              <a:t>ya-ta-ʿā-ma-lu ma-ʿa</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تَتَعَامَلُ مَعَ</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أَتَعَامَلُ مَعَ</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1" name="Shape 28"/>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يَتَصَرَّفُ بِهُدُوءٍ</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acts calmly</a:t>
            </a:r>
            <a:endParaRPr lang="en-US" sz="1350" dirty="0"/>
          </a:p>
          <a:p>
            <a:pPr indent="0" marL="0">
              <a:buNone/>
            </a:pPr>
            <a:r>
              <a:rPr lang="en-US" sz="1100" i="1" dirty="0">
                <a:solidFill>
                  <a:srgbClr val="5A6472"/>
                </a:solidFill>
                <a:latin typeface="Calibri" pitchFamily="34" charset="0"/>
                <a:cs typeface="Amiri" pitchFamily="2" charset="-78"/>
              </a:rPr>
              <a:t>ya-ta-ṣar-ra-fu bi-hu-dū-ʾin</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تَتَصَرَّفُ بِهُدُوءٍ</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أَتَصَرَّفُ بِهُدُوءٍ</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يُبَلِّغُ عَنْ</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reports</a:t>
            </a:r>
            <a:endParaRPr lang="en-US" sz="1350" dirty="0"/>
          </a:p>
          <a:p>
            <a:pPr indent="0" marL="0">
              <a:buNone/>
            </a:pPr>
            <a:r>
              <a:rPr lang="en-US" sz="1100" i="1" dirty="0">
                <a:solidFill>
                  <a:srgbClr val="5A6472"/>
                </a:solidFill>
                <a:latin typeface="Calibri" pitchFamily="34" charset="0"/>
                <a:cs typeface="Amiri" pitchFamily="2" charset="-78"/>
              </a:rPr>
              <a:t>yu-bal-li-ghu ʿan</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تُبَلِّغُ عَنْ</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أُبَلِّغُ عَنْ</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1" name="Shape 5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يَلْجَأُ إِلَى</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turns to</a:t>
            </a:r>
            <a:endParaRPr lang="en-US" sz="1350" dirty="0"/>
          </a:p>
          <a:p>
            <a:pPr indent="0" marL="0">
              <a:buNone/>
            </a:pPr>
            <a:r>
              <a:rPr lang="en-US" sz="1100" i="1" dirty="0">
                <a:solidFill>
                  <a:srgbClr val="5A6472"/>
                </a:solidFill>
                <a:latin typeface="Calibri" pitchFamily="34" charset="0"/>
                <a:cs typeface="Amiri" pitchFamily="2" charset="-78"/>
              </a:rPr>
              <a:t>yal-ja-ʾu i-lā</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9" name="Text 6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تَلْجَأُ إِلَى</a:t>
            </a:r>
            <a:endParaRPr lang="ar-SA" sz="150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2" name="Text 6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أَلْجَأُ إِلَى</a:t>
            </a:r>
            <a:endParaRPr lang="ar-SA" sz="150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Dealing with problems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يَسْتَشِيرُ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consults</a:t>
            </a:r>
            <a:endParaRPr lang="en-US" sz="1350" dirty="0"/>
          </a:p>
          <a:p>
            <a:pPr indent="0" marL="0">
              <a:buNone/>
            </a:pPr>
            <a:r>
              <a:rPr lang="en-US" sz="1100" i="1" dirty="0">
                <a:solidFill>
                  <a:srgbClr val="5A6472"/>
                </a:solidFill>
                <a:latin typeface="Calibri" pitchFamily="34" charset="0"/>
                <a:cs typeface="Amiri" pitchFamily="2" charset="-78"/>
              </a:rPr>
              <a:t>yas-ta-shī-ru</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تَسْتَشِيرُ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أَسْتَشِيرُ</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يَطْلُبُ التَّعْوِيضَ</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requests compensation</a:t>
            </a:r>
            <a:endParaRPr lang="en-US" sz="1350" dirty="0"/>
          </a:p>
          <a:p>
            <a:pPr indent="0" marL="0">
              <a:buNone/>
            </a:pPr>
            <a:r>
              <a:rPr lang="en-US" sz="1100" i="1" dirty="0">
                <a:solidFill>
                  <a:srgbClr val="5A6472"/>
                </a:solidFill>
                <a:latin typeface="Calibri" pitchFamily="34" charset="0"/>
                <a:cs typeface="Amiri" pitchFamily="2" charset="-78"/>
              </a:rPr>
              <a:t>yaṭ-lu-bu at-taʿ-wī-ḍa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تَطْلُبُ التَّعْوِيضَ</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أَطْلُبُ التَّعْوِيضَ</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8" name="Text 4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خُطَّةٌ بَدِيلَةٌ</a:t>
            </a:r>
            <a:endParaRPr lang="ar-SA" sz="3000" dirty="0"/>
          </a:p>
        </p:txBody>
      </p:sp>
      <p:sp>
        <p:nvSpPr>
          <p:cNvPr id="49" name="Text 4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contingency plan</a:t>
            </a:r>
            <a:endParaRPr lang="en-US" sz="1350" dirty="0"/>
          </a:p>
          <a:p>
            <a:pPr indent="0" marL="0">
              <a:buNone/>
            </a:pPr>
            <a:r>
              <a:rPr lang="en-US" sz="1100" i="1" dirty="0">
                <a:solidFill>
                  <a:srgbClr val="5A6472"/>
                </a:solidFill>
                <a:latin typeface="Calibri" pitchFamily="34" charset="0"/>
                <a:cs typeface="Amiri" pitchFamily="2" charset="-78"/>
              </a:rPr>
              <a:t>khuṭ-ṭa-tun ba-dī-la-tun</a:t>
            </a:r>
            <a:endParaRPr lang="en-US" sz="135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3" name="Shape 5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التَّأْمِينُ السِّيَاحِيُّ</a:t>
            </a:r>
            <a:endParaRPr lang="ar-SA" sz="3000" dirty="0"/>
          </a:p>
        </p:txBody>
      </p:sp>
      <p:sp>
        <p:nvSpPr>
          <p:cNvPr id="56" name="Text 5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travel insurance</a:t>
            </a:r>
            <a:endParaRPr lang="en-US" sz="1350" dirty="0"/>
          </a:p>
          <a:p>
            <a:pPr indent="0" marL="0">
              <a:buNone/>
            </a:pPr>
            <a:r>
              <a:rPr lang="en-US" sz="1100" i="1" dirty="0">
                <a:solidFill>
                  <a:srgbClr val="5A6472"/>
                </a:solidFill>
                <a:latin typeface="Calibri" pitchFamily="34" charset="0"/>
                <a:cs typeface="Amiri" pitchFamily="2" charset="-78"/>
              </a:rPr>
              <a:t>at-taʾ-mī-nu as-si-yā-ḥiy-yu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Sources of help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شُرْطَةُ السِّيَاحَةِ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tourist police</a:t>
            </a:r>
            <a:endParaRPr lang="en-US" sz="1350" dirty="0"/>
          </a:p>
          <a:p>
            <a:pPr indent="0" marL="0">
              <a:buNone/>
            </a:pPr>
            <a:r>
              <a:rPr lang="en-US" sz="1100" i="1" dirty="0">
                <a:solidFill>
                  <a:srgbClr val="5A6472"/>
                </a:solidFill>
                <a:latin typeface="Calibri" pitchFamily="34" charset="0"/>
                <a:cs typeface="Amiri" pitchFamily="2" charset="-78"/>
              </a:rPr>
              <a:t>shur-ṭa-tu as-si-yā-ḥa-ti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Shape 24"/>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السَّفَارَةُ</a:t>
            </a:r>
            <a:endParaRPr lang="ar-SA" sz="3000" dirty="0"/>
          </a:p>
        </p:txBody>
      </p:sp>
      <p:sp>
        <p:nvSpPr>
          <p:cNvPr id="32" name="Text 29"/>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embassy</a:t>
            </a:r>
            <a:endParaRPr lang="en-US" sz="1350" dirty="0"/>
          </a:p>
          <a:p>
            <a:pPr indent="0" marL="0">
              <a:buNone/>
            </a:pPr>
            <a:r>
              <a:rPr lang="en-US" sz="1100" i="1" dirty="0">
                <a:solidFill>
                  <a:srgbClr val="5A6472"/>
                </a:solidFill>
                <a:latin typeface="Calibri" pitchFamily="34" charset="0"/>
                <a:cs typeface="Amiri" pitchFamily="2" charset="-78"/>
              </a:rPr>
              <a:t>as-sa-fā-ra-tu</a:t>
            </a:r>
            <a:endParaRPr lang="en-US" sz="1350" dirty="0"/>
          </a:p>
        </p:txBody>
      </p:sp>
      <p:sp>
        <p:nvSpPr>
          <p:cNvPr id="33" name="Shape 30"/>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4" name="Text 31"/>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5" name="Text 32"/>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السَّفَارَاتُ</a:t>
            </a:r>
            <a:endParaRPr lang="ar-SA" sz="150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 السِّيَاحَةِ</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tourist office</a:t>
            </a:r>
            <a:endParaRPr lang="en-US" sz="1350" dirty="0"/>
          </a:p>
          <a:p>
            <a:pPr indent="0" marL="0">
              <a:buNone/>
            </a:pPr>
            <a:r>
              <a:rPr lang="en-US" sz="1100" i="1" dirty="0">
                <a:solidFill>
                  <a:srgbClr val="5A6472"/>
                </a:solidFill>
                <a:latin typeface="Calibri" pitchFamily="34" charset="0"/>
                <a:cs typeface="Amiri" pitchFamily="2" charset="-78"/>
              </a:rPr>
              <a:t>mak-ta-bu as-si-yā-ḥa-ti</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4" name="Shape 4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6" name="Text 4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وَثِيقَةُ سَفَرٍ مُؤَقَّتَةٌ</a:t>
            </a:r>
            <a:endParaRPr lang="ar-SA" sz="3000" dirty="0"/>
          </a:p>
        </p:txBody>
      </p:sp>
      <p:sp>
        <p:nvSpPr>
          <p:cNvPr id="47" name="Text 4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temporary travel document</a:t>
            </a:r>
            <a:endParaRPr lang="en-US" sz="1350" dirty="0"/>
          </a:p>
          <a:p>
            <a:pPr indent="0" marL="0">
              <a:buNone/>
            </a:pPr>
            <a:r>
              <a:rPr lang="en-US" sz="1100" i="1" dirty="0">
                <a:solidFill>
                  <a:srgbClr val="5A6472"/>
                </a:solidFill>
                <a:latin typeface="Calibri" pitchFamily="34" charset="0"/>
                <a:cs typeface="Amiri" pitchFamily="2" charset="-78"/>
              </a:rPr>
              <a:t>wa-thī-qa-tu sa-fa-rin mu-ʾaq-qa-ta-tun</a:t>
            </a:r>
            <a:endParaRPr lang="en-US" sz="1350" dirty="0"/>
          </a:p>
        </p:txBody>
      </p:sp>
      <p:sp>
        <p:nvSpPr>
          <p:cNvPr id="48" name="Shape 4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وَثَائِقُ سَفَرٍ مُؤَقَّتَةٌ</a:t>
            </a:r>
            <a:endParaRPr lang="ar-SA" sz="15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Sources of help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مُوَظَّفُ المَطَارِ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airport official</a:t>
            </a:r>
            <a:endParaRPr lang="en-US" sz="1350" dirty="0"/>
          </a:p>
          <a:p>
            <a:pPr indent="0" marL="0">
              <a:buNone/>
            </a:pPr>
            <a:r>
              <a:rPr lang="en-US" sz="1100" i="1" dirty="0">
                <a:solidFill>
                  <a:srgbClr val="5A6472"/>
                </a:solidFill>
                <a:latin typeface="Calibri" pitchFamily="34" charset="0"/>
                <a:cs typeface="Amiri" pitchFamily="2" charset="-78"/>
              </a:rPr>
              <a:t>mu-waẓ-ẓa-fu al-ma-ṭā-ri</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مُوَظَّفُو المَطَارِ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مُوَظَّفَةُ المَطَارِ</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بَلَاغٌ</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report, notification</a:t>
            </a:r>
            <a:endParaRPr lang="en-US" sz="1350" dirty="0"/>
          </a:p>
          <a:p>
            <a:pPr indent="0" marL="0">
              <a:buNone/>
            </a:pPr>
            <a:r>
              <a:rPr lang="en-US" sz="1100" i="1" dirty="0">
                <a:solidFill>
                  <a:srgbClr val="5A6472"/>
                </a:solidFill>
                <a:latin typeface="Calibri" pitchFamily="34" charset="0"/>
                <a:cs typeface="Amiri" pitchFamily="2" charset="-78"/>
              </a:rPr>
              <a:t>ba-lā-ghun</a:t>
            </a:r>
            <a:endParaRPr lang="en-US" sz="1350" dirty="0"/>
          </a:p>
        </p:txBody>
      </p:sp>
      <p:sp>
        <p:nvSpPr>
          <p:cNvPr id="37" name="Shape 34"/>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بَلَاغَاتٌ</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تَعْوِيضٌ</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compensation</a:t>
            </a:r>
            <a:endParaRPr lang="en-US" sz="1350" dirty="0"/>
          </a:p>
          <a:p>
            <a:pPr indent="0" marL="0">
              <a:buNone/>
            </a:pPr>
            <a:r>
              <a:rPr lang="en-US" sz="1100" i="1" dirty="0">
                <a:solidFill>
                  <a:srgbClr val="5A6472"/>
                </a:solidFill>
                <a:latin typeface="Calibri" pitchFamily="34" charset="0"/>
                <a:cs typeface="Amiri" pitchFamily="2" charset="-78"/>
              </a:rPr>
              <a:t>taʿ-wī-ḍun</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8" name="Shape 4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0" name="Text 4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بُطَاقَةُ الهُوِيَّةِ</a:t>
            </a:r>
            <a:endParaRPr lang="ar-SA" sz="3000" dirty="0"/>
          </a:p>
        </p:txBody>
      </p:sp>
      <p:sp>
        <p:nvSpPr>
          <p:cNvPr id="51" name="Text 4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ID card</a:t>
            </a:r>
            <a:endParaRPr lang="en-US" sz="1350" dirty="0"/>
          </a:p>
          <a:p>
            <a:pPr indent="0" marL="0">
              <a:buNone/>
            </a:pPr>
            <a:r>
              <a:rPr lang="en-US" sz="1100" i="1" dirty="0">
                <a:solidFill>
                  <a:srgbClr val="5A6472"/>
                </a:solidFill>
                <a:latin typeface="Calibri" pitchFamily="34" charset="0"/>
                <a:cs typeface="Amiri" pitchFamily="2" charset="-78"/>
              </a:rPr>
              <a:t>bu-ṭā-qa-tu al-hu-wiy-ya-ti</a:t>
            </a:r>
            <a:endParaRPr lang="en-US" sz="1350" dirty="0"/>
          </a:p>
        </p:txBody>
      </p:sp>
      <p:sp>
        <p:nvSpPr>
          <p:cNvPr id="52" name="Shape 49"/>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بِطَاقَاتُ الهُوِيَّةِ</a:t>
            </a:r>
            <a:endParaRPr lang="ar-SA" sz="15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FIVE-STAGE PROBLEM STORY (WEBSITE RULES 1–3 + TEACHING POINT 1 +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Five stages, five structures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خَمْسُ مَرَاحِلَ · خَمْسُ بُنًى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462272" y="1810512"/>
            <a:ext cx="7196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22677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8" name="Text 15"/>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Stage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480560" y="2267712"/>
            <a:ext cx="7159752" cy="682142"/>
          </a:xfrm>
          <a:prstGeom prst="rect">
            <a:avLst/>
          </a:prstGeom>
          <a:noFill/>
          <a:ln/>
        </p:spPr>
        <p:txBody>
          <a:bodyPr wrap="square" lIns="0" tIns="0" rIns="0" bIns="0" rtlCol="0" anchor="ctr"/>
          <a:lstStyle/>
          <a:p>
            <a:pPr rtl="1" algn="ctr" indent="0" marL="0">
              <a:buNone/>
            </a:pPr>
            <a:r>
              <a:rPr lang="ar-SA" altLang="en-US" sz="1900" b="1" dirty="0">
                <a:solidFill>
                  <a:srgbClr val="C77700"/>
                </a:solidFill>
                <a:latin typeface="Amiri" pitchFamily="2" charset="-78"/>
                <a:ea typeface="Amiri" pitchFamily="2" charset="-78"/>
                <a:cs typeface="Amiri" pitchFamily="2" charset="-78"/>
              </a:rPr>
              <a:t>كُنْتُ قَدْ</a:t>
            </a:r>
            <a:pPr rtl="1" algn="ctr" indent="0" marL="0">
              <a:buNone/>
            </a:pPr>
            <a:r>
              <a:rPr lang="ar-SA" altLang="en-US" sz="1900" b="1" dirty="0">
                <a:solidFill>
                  <a:srgbClr val="1B3B6F"/>
                </a:solidFill>
                <a:latin typeface="Amiri" pitchFamily="2" charset="-78"/>
                <a:ea typeface="Amiri" pitchFamily="2" charset="-78"/>
                <a:cs typeface="Amiri" pitchFamily="2" charset="-78"/>
              </a:rPr>
              <a:t> تَأَكَّدْتُ مِنْ حَجْزِي مَرَّتَيْنِ.</a:t>
            </a:r>
            <a:endParaRPr lang="ar-SA" sz="1900" dirty="0"/>
          </a:p>
        </p:txBody>
      </p:sp>
      <p:sp>
        <p:nvSpPr>
          <p:cNvPr id="21" name="Text 18"/>
          <p:cNvSpPr txBox="1"/>
          <p:nvPr/>
        </p:nvSpPr>
        <p:spPr>
          <a:xfrm>
            <a:off x="230428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kuntu qad + past</a:t>
            </a:r>
            <a:endParaRPr lang="en-US" sz="1100" dirty="0"/>
          </a:p>
        </p:txBody>
      </p:sp>
      <p:sp>
        <p:nvSpPr>
          <p:cNvPr id="22" name="Text 19"/>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precaution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4480560" y="3004718"/>
            <a:ext cx="715975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ثُمَّ </a:t>
            </a:r>
            <a:pPr rtl="1" algn="ctr" indent="0" marL="0">
              <a:buNone/>
            </a:pPr>
            <a:r>
              <a:rPr lang="ar-SA" altLang="en-US" sz="1900" b="1" dirty="0">
                <a:solidFill>
                  <a:srgbClr val="D6336C"/>
                </a:solidFill>
                <a:latin typeface="Amiri" pitchFamily="2" charset="-78"/>
                <a:ea typeface="Amiri" pitchFamily="2" charset="-78"/>
                <a:cs typeface="Amiri" pitchFamily="2" charset="-78"/>
              </a:rPr>
              <a:t>اكْتَشَفْتُ أَنَّ</a:t>
            </a:r>
            <a:pPr rtl="1" algn="ctr" indent="0" marL="0">
              <a:buNone/>
            </a:pPr>
            <a:r>
              <a:rPr lang="ar-SA" altLang="en-US" sz="1900" b="1" dirty="0">
                <a:solidFill>
                  <a:srgbClr val="1B3B6F"/>
                </a:solidFill>
                <a:latin typeface="Amiri" pitchFamily="2" charset="-78"/>
                <a:ea typeface="Amiri" pitchFamily="2" charset="-78"/>
                <a:cs typeface="Amiri" pitchFamily="2" charset="-78"/>
              </a:rPr>
              <a:t> الرِّحْلَةَ </a:t>
            </a:r>
            <a:pPr rtl="1" algn="ctr" indent="0" marL="0">
              <a:buNone/>
            </a:pPr>
            <a:r>
              <a:rPr lang="ar-SA" altLang="en-US" sz="1900" b="1" dirty="0">
                <a:solidFill>
                  <a:srgbClr val="D6336C"/>
                </a:solidFill>
                <a:latin typeface="Amiri" pitchFamily="2" charset="-78"/>
                <a:ea typeface="Amiri" pitchFamily="2" charset="-78"/>
                <a:cs typeface="Amiri" pitchFamily="2" charset="-78"/>
              </a:rPr>
              <a:t>أُلْغِيَتْ</a:t>
            </a:r>
            <a:pPr rtl="1" algn="ctr" indent="0" marL="0">
              <a:buNone/>
            </a:pPr>
            <a:r>
              <a:rPr lang="ar-SA" altLang="en-US" sz="1900" b="1" dirty="0">
                <a:solidFill>
                  <a:srgbClr val="1B3B6F"/>
                </a:solidFill>
                <a:latin typeface="Amiri" pitchFamily="2" charset="-78"/>
                <a:cs typeface="Amiri" pitchFamily="2" charset="-78"/>
              </a:rPr>
              <a:t>.</a:t>
            </a:r>
            <a:endParaRPr lang="ar-SA" sz="1900" dirty="0"/>
          </a:p>
        </p:txBody>
      </p:sp>
      <p:sp>
        <p:nvSpPr>
          <p:cNvPr id="27" name="Text 24"/>
          <p:cNvSpPr txBox="1"/>
          <p:nvPr/>
        </p:nvSpPr>
        <p:spPr>
          <a:xfrm>
            <a:off x="230428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narrative</a:t>
            </a:r>
            <a:endParaRPr lang="en-US" sz="1100" dirty="0"/>
          </a:p>
        </p:txBody>
      </p:sp>
      <p:sp>
        <p:nvSpPr>
          <p:cNvPr id="28" name="Text 25"/>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problem</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4480560" y="3741725"/>
            <a:ext cx="7159752" cy="682142"/>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2" charset="-78"/>
                <a:ea typeface="Amiri" pitchFamily="2" charset="-78"/>
                <a:cs typeface="Amiri" pitchFamily="2" charset="-78"/>
              </a:rPr>
              <a:t>قَالَ</a:t>
            </a:r>
            <a:pPr rtl="1" algn="ctr" indent="0" marL="0">
              <a:buNone/>
            </a:pPr>
            <a:r>
              <a:rPr lang="ar-SA" altLang="en-US" sz="1900" b="1" dirty="0">
                <a:solidFill>
                  <a:srgbClr val="1B3B6F"/>
                </a:solidFill>
                <a:latin typeface="Amiri" pitchFamily="2" charset="-78"/>
                <a:ea typeface="Amiri" pitchFamily="2" charset="-78"/>
                <a:cs typeface="Amiri" pitchFamily="2" charset="-78"/>
              </a:rPr>
              <a:t> المُوَظَّفُ </a:t>
            </a:r>
            <a:pPr rtl="1" algn="ctr" indent="0" marL="0">
              <a:buNone/>
            </a:pPr>
            <a:r>
              <a:rPr lang="ar-SA" altLang="en-US" sz="1900" b="1" dirty="0">
                <a:solidFill>
                  <a:srgbClr val="7B3FA0"/>
                </a:solidFill>
                <a:latin typeface="Amiri" pitchFamily="2" charset="-78"/>
                <a:ea typeface="Amiri" pitchFamily="2" charset="-78"/>
                <a:cs typeface="Amiri" pitchFamily="2" charset="-78"/>
              </a:rPr>
              <a:t>إِنَّ</a:t>
            </a:r>
            <a:pPr rtl="1" algn="ctr" indent="0" marL="0">
              <a:buNone/>
            </a:pPr>
            <a:r>
              <a:rPr lang="ar-SA" altLang="en-US" sz="1900" b="1" dirty="0">
                <a:solidFill>
                  <a:srgbClr val="1B3B6F"/>
                </a:solidFill>
                <a:latin typeface="Amiri" pitchFamily="2" charset="-78"/>
                <a:ea typeface="Amiri" pitchFamily="2" charset="-78"/>
                <a:cs typeface="Amiri" pitchFamily="2" charset="-78"/>
              </a:rPr>
              <a:t> الرِّحْلَةَ سَتَتَأَخَّرُ سَاعَتَيْنِ.</a:t>
            </a:r>
            <a:endParaRPr lang="ar-SA" sz="1900" dirty="0"/>
          </a:p>
        </p:txBody>
      </p:sp>
      <p:sp>
        <p:nvSpPr>
          <p:cNvPr id="33" name="Text 30"/>
          <p:cNvSpPr txBox="1"/>
          <p:nvPr/>
        </p:nvSpPr>
        <p:spPr>
          <a:xfrm>
            <a:off x="230428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qāla inna · ashāra ilā anna</a:t>
            </a:r>
            <a:endParaRPr lang="en-US" sz="1100" dirty="0"/>
          </a:p>
        </p:txBody>
      </p:sp>
      <p:sp>
        <p:nvSpPr>
          <p:cNvPr id="34" name="Text 31"/>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official</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4480560" y="4478731"/>
            <a:ext cx="7159752"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إِذَا</a:t>
            </a:r>
            <a:pPr rtl="1" algn="ctr" indent="0" marL="0">
              <a:buNone/>
            </a:pPr>
            <a:r>
              <a:rPr lang="ar-SA" altLang="en-US" sz="1900" b="1" dirty="0">
                <a:solidFill>
                  <a:srgbClr val="1B3B6F"/>
                </a:solidFill>
                <a:latin typeface="Amiri" pitchFamily="2" charset="-78"/>
                <a:ea typeface="Amiri" pitchFamily="2" charset="-78"/>
                <a:cs typeface="Amiri" pitchFamily="2" charset="-78"/>
              </a:rPr>
              <a:t> سَافَرْتُ ثَانِيَةً، </a:t>
            </a:r>
            <a:pPr rtl="1" algn="ctr" indent="0" marL="0">
              <a:buNone/>
            </a:pPr>
            <a:r>
              <a:rPr lang="ar-SA" altLang="en-US" sz="1900" b="1" dirty="0">
                <a:solidFill>
                  <a:srgbClr val="1D5FBF"/>
                </a:solidFill>
                <a:latin typeface="Amiri" pitchFamily="2" charset="-78"/>
                <a:ea typeface="Amiri" pitchFamily="2" charset="-78"/>
                <a:cs typeface="Amiri" pitchFamily="2" charset="-78"/>
              </a:rPr>
              <a:t>سَأَشْتَرِي</a:t>
            </a:r>
            <a:pPr rtl="1" algn="ctr" indent="0" marL="0">
              <a:buNone/>
            </a:pPr>
            <a:r>
              <a:rPr lang="ar-SA" altLang="en-US" sz="1900" b="1" dirty="0">
                <a:solidFill>
                  <a:srgbClr val="1B3B6F"/>
                </a:solidFill>
                <a:latin typeface="Amiri" pitchFamily="2" charset="-78"/>
                <a:ea typeface="Amiri" pitchFamily="2" charset="-78"/>
                <a:cs typeface="Amiri" pitchFamily="2" charset="-78"/>
              </a:rPr>
              <a:t> تَأْمِينًا.</a:t>
            </a:r>
            <a:endParaRPr lang="ar-SA" sz="1900" dirty="0"/>
          </a:p>
        </p:txBody>
      </p:sp>
      <p:sp>
        <p:nvSpPr>
          <p:cNvPr id="37" name="Text 34"/>
          <p:cNvSpPr txBox="1"/>
          <p:nvPr/>
        </p:nvSpPr>
        <p:spPr>
          <a:xfrm>
            <a:off x="230428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idhā … sa-</a:t>
            </a:r>
            <a:endParaRPr lang="en-US" sz="1100" dirty="0"/>
          </a:p>
        </p:txBody>
      </p:sp>
      <p:sp>
        <p:nvSpPr>
          <p:cNvPr id="38" name="Text 35"/>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next time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480560" y="5215738"/>
            <a:ext cx="7159752"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لَوْ كُنْتُ قَدِ</a:t>
            </a:r>
            <a:pPr rtl="1" algn="ctr" indent="0" marL="0">
              <a:buNone/>
            </a:pPr>
            <a:r>
              <a:rPr lang="ar-SA" altLang="en-US" sz="1900" b="1" dirty="0">
                <a:solidFill>
                  <a:srgbClr val="1B3B6F"/>
                </a:solidFill>
                <a:latin typeface="Amiri" pitchFamily="2" charset="-78"/>
                <a:ea typeface="Amiri" pitchFamily="2" charset="-78"/>
                <a:cs typeface="Amiri" pitchFamily="2" charset="-78"/>
              </a:rPr>
              <a:t> اشْتَرَيْتُ تَأْمِينًا، </a:t>
            </a:r>
            <a:pPr rtl="1" algn="ctr" indent="0" marL="0">
              <a:buNone/>
            </a:pPr>
            <a:r>
              <a:rPr lang="ar-SA" altLang="en-US" sz="1900" b="1" dirty="0">
                <a:solidFill>
                  <a:srgbClr val="0E7C86"/>
                </a:solidFill>
                <a:latin typeface="Amiri" pitchFamily="2" charset="-78"/>
                <a:ea typeface="Amiri" pitchFamily="2" charset="-78"/>
                <a:cs typeface="Amiri" pitchFamily="2" charset="-78"/>
              </a:rPr>
              <a:t>لَحَصَلْتُ</a:t>
            </a:r>
            <a:pPr rtl="1" algn="ctr" indent="0" marL="0">
              <a:buNone/>
            </a:pPr>
            <a:r>
              <a:rPr lang="ar-SA" altLang="en-US" sz="1900" b="1" dirty="0">
                <a:solidFill>
                  <a:srgbClr val="1B3B6F"/>
                </a:solidFill>
                <a:latin typeface="Amiri" pitchFamily="2" charset="-78"/>
                <a:ea typeface="Amiri" pitchFamily="2" charset="-78"/>
                <a:cs typeface="Amiri" pitchFamily="2" charset="-78"/>
              </a:rPr>
              <a:t> عَلَى تَعْوِيضٍ.</a:t>
            </a:r>
            <a:endParaRPr lang="ar-SA" sz="1900" dirty="0"/>
          </a:p>
        </p:txBody>
      </p:sp>
      <p:sp>
        <p:nvSpPr>
          <p:cNvPr id="41" name="Text 38"/>
          <p:cNvSpPr txBox="1"/>
          <p:nvPr/>
        </p:nvSpPr>
        <p:spPr>
          <a:xfrm>
            <a:off x="230428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la-</a:t>
            </a:r>
            <a:endParaRPr lang="en-US" sz="1100" dirty="0"/>
          </a:p>
        </p:txBody>
      </p:sp>
      <p:sp>
        <p:nvSpPr>
          <p:cNvPr id="42" name="Text 39"/>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regret</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Core: one sentence per stage. Stages 1–2 alone already make a good story.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SUBJUNCTIVE AFTER AN (WEBSITE RULE 4 + TEACHING POINT 2)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After an, say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الفِعْلُ المُضَارِعُ بَعْدَ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102352" y="1810512"/>
            <a:ext cx="6556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27249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an (-a)</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Normal (-u)</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120640" y="2267712"/>
            <a:ext cx="65196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حَاوَلْتُ أَنْ </a:t>
            </a:r>
            <a:pPr rtl="1" algn="ctr" indent="0" marL="0">
              <a:buNone/>
            </a:pPr>
            <a:r>
              <a:rPr lang="ar-SA" altLang="en-US" sz="1900" b="1" dirty="0">
                <a:solidFill>
                  <a:srgbClr val="0E7C86"/>
                </a:solidFill>
                <a:latin typeface="Amiri" pitchFamily="2" charset="-78"/>
                <a:ea typeface="Amiri" pitchFamily="2" charset="-78"/>
                <a:cs typeface="Amiri" pitchFamily="2" charset="-78"/>
              </a:rPr>
              <a:t>أَتَصَرَّفَ</a:t>
            </a:r>
            <a:pPr rtl="1" algn="ctr" indent="0" marL="0">
              <a:buNone/>
            </a:pPr>
            <a:r>
              <a:rPr lang="ar-SA" altLang="en-US" sz="1900" b="1" dirty="0">
                <a:solidFill>
                  <a:srgbClr val="1B3B6F"/>
                </a:solidFill>
                <a:latin typeface="Amiri" pitchFamily="2" charset="-78"/>
                <a:ea typeface="Amiri" pitchFamily="2" charset="-78"/>
                <a:cs typeface="Amiri" pitchFamily="2" charset="-78"/>
              </a:rPr>
              <a:t> بِهُدُوءٍ.</a:t>
            </a:r>
            <a:endParaRPr lang="ar-SA" sz="1900" dirty="0"/>
          </a:p>
        </p:txBody>
      </p:sp>
      <p:sp>
        <p:nvSpPr>
          <p:cNvPr id="21" name="Text 18"/>
          <p:cNvSpPr txBox="1"/>
          <p:nvPr/>
        </p:nvSpPr>
        <p:spPr>
          <a:xfrm>
            <a:off x="2743200" y="2267712"/>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 </a:t>
            </a:r>
            <a:pPr rtl="1" algn="ctr" indent="0" marL="0">
              <a:buNone/>
            </a:pPr>
            <a:r>
              <a:rPr lang="ar-SA" altLang="en-US" sz="2000" b="1" dirty="0">
                <a:solidFill>
                  <a:srgbClr val="0E7C86"/>
                </a:solidFill>
                <a:latin typeface="Amiri" pitchFamily="2" charset="-78"/>
                <a:ea typeface="Amiri" pitchFamily="2" charset="-78"/>
                <a:cs typeface="Amiri" pitchFamily="2" charset="-78"/>
              </a:rPr>
              <a:t>أَتَصَرَّفَ</a:t>
            </a:r>
            <a:endParaRPr lang="ar-SA" sz="2000" dirty="0"/>
          </a:p>
        </p:txBody>
      </p:sp>
      <p:sp>
        <p:nvSpPr>
          <p:cNvPr id="22" name="Text 19"/>
          <p:cNvSpPr txBox="1"/>
          <p:nvPr/>
        </p:nvSpPr>
        <p:spPr>
          <a:xfrm>
            <a:off x="548640" y="2267712"/>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أَتَصَرَّفُ</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5120640" y="3004718"/>
            <a:ext cx="65196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قَرَّرْتُ أَنْ </a:t>
            </a:r>
            <a:pPr rtl="1" algn="ctr" indent="0" marL="0">
              <a:buNone/>
            </a:pPr>
            <a:r>
              <a:rPr lang="ar-SA" altLang="en-US" sz="1900" b="1" dirty="0">
                <a:solidFill>
                  <a:srgbClr val="0E7C86"/>
                </a:solidFill>
                <a:latin typeface="Amiri" pitchFamily="2" charset="-78"/>
                <a:ea typeface="Amiri" pitchFamily="2" charset="-78"/>
                <a:cs typeface="Amiri" pitchFamily="2" charset="-78"/>
              </a:rPr>
              <a:t>أَلْجَأَ</a:t>
            </a:r>
            <a:pPr rtl="1" algn="ctr" indent="0" marL="0">
              <a:buNone/>
            </a:pPr>
            <a:r>
              <a:rPr lang="ar-SA" altLang="en-US" sz="1900" b="1" dirty="0">
                <a:solidFill>
                  <a:srgbClr val="1B3B6F"/>
                </a:solidFill>
                <a:latin typeface="Amiri" pitchFamily="2" charset="-78"/>
                <a:ea typeface="Amiri" pitchFamily="2" charset="-78"/>
                <a:cs typeface="Amiri" pitchFamily="2" charset="-78"/>
              </a:rPr>
              <a:t> إِلَى شُرْطَةِ السِّيَاحَةِ.</a:t>
            </a:r>
            <a:endParaRPr lang="ar-SA" sz="1900" dirty="0"/>
          </a:p>
        </p:txBody>
      </p:sp>
      <p:sp>
        <p:nvSpPr>
          <p:cNvPr id="27" name="Text 24"/>
          <p:cNvSpPr txBox="1"/>
          <p:nvPr/>
        </p:nvSpPr>
        <p:spPr>
          <a:xfrm>
            <a:off x="2743200" y="3004718"/>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 </a:t>
            </a:r>
            <a:pPr rtl="1" algn="ctr" indent="0" marL="0">
              <a:buNone/>
            </a:pPr>
            <a:r>
              <a:rPr lang="ar-SA" altLang="en-US" sz="2000" b="1" dirty="0">
                <a:solidFill>
                  <a:srgbClr val="0E7C86"/>
                </a:solidFill>
                <a:latin typeface="Amiri" pitchFamily="2" charset="-78"/>
                <a:ea typeface="Amiri" pitchFamily="2" charset="-78"/>
                <a:cs typeface="Amiri" pitchFamily="2" charset="-78"/>
              </a:rPr>
              <a:t>أَلْجَأَ</a:t>
            </a:r>
            <a:endParaRPr lang="ar-SA" sz="2000" dirty="0"/>
          </a:p>
        </p:txBody>
      </p:sp>
      <p:sp>
        <p:nvSpPr>
          <p:cNvPr id="28" name="Text 25"/>
          <p:cNvSpPr txBox="1"/>
          <p:nvPr/>
        </p:nvSpPr>
        <p:spPr>
          <a:xfrm>
            <a:off x="548640" y="3004718"/>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أَلْجَأُ</a:t>
            </a:r>
            <a:endParaRPr lang="ar-SA" sz="2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5120640" y="3741725"/>
            <a:ext cx="65196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يَجِبُ أَنْ </a:t>
            </a:r>
            <a:pPr rtl="1" algn="ctr" indent="0" marL="0">
              <a:buNone/>
            </a:pPr>
            <a:r>
              <a:rPr lang="ar-SA" altLang="en-US" sz="1900" b="1" dirty="0">
                <a:solidFill>
                  <a:srgbClr val="0E7C86"/>
                </a:solidFill>
                <a:latin typeface="Amiri" pitchFamily="2" charset="-78"/>
                <a:ea typeface="Amiri" pitchFamily="2" charset="-78"/>
                <a:cs typeface="Amiri" pitchFamily="2" charset="-78"/>
              </a:rPr>
              <a:t>أُبَلِّغَ</a:t>
            </a:r>
            <a:pPr rtl="1" algn="ctr" indent="0" marL="0">
              <a:buNone/>
            </a:pPr>
            <a:r>
              <a:rPr lang="ar-SA" altLang="en-US" sz="1900" b="1" dirty="0">
                <a:solidFill>
                  <a:srgbClr val="1B3B6F"/>
                </a:solidFill>
                <a:latin typeface="Amiri" pitchFamily="2" charset="-78"/>
                <a:ea typeface="Amiri" pitchFamily="2" charset="-78"/>
                <a:cs typeface="Amiri" pitchFamily="2" charset="-78"/>
              </a:rPr>
              <a:t> عَنِ الفُقْدَانِ ثُمَّ </a:t>
            </a:r>
            <a:pPr rtl="1" algn="ctr" indent="0" marL="0">
              <a:buNone/>
            </a:pPr>
            <a:r>
              <a:rPr lang="ar-SA" altLang="en-US" sz="1900" b="1" dirty="0">
                <a:solidFill>
                  <a:srgbClr val="0E7C86"/>
                </a:solidFill>
                <a:latin typeface="Amiri" pitchFamily="2" charset="-78"/>
                <a:ea typeface="Amiri" pitchFamily="2" charset="-78"/>
                <a:cs typeface="Amiri" pitchFamily="2" charset="-78"/>
              </a:rPr>
              <a:t>أَذْهَبَ</a:t>
            </a:r>
            <a:pPr rtl="1" algn="ctr" indent="0" marL="0">
              <a:buNone/>
            </a:pPr>
            <a:r>
              <a:rPr lang="ar-SA" altLang="en-US" sz="1900" b="1" dirty="0">
                <a:solidFill>
                  <a:srgbClr val="1B3B6F"/>
                </a:solidFill>
                <a:latin typeface="Amiri" pitchFamily="2" charset="-78"/>
                <a:ea typeface="Amiri" pitchFamily="2" charset="-78"/>
                <a:cs typeface="Amiri" pitchFamily="2" charset="-78"/>
              </a:rPr>
              <a:t> إِلَى السَّفَارَةِ.</a:t>
            </a:r>
            <a:endParaRPr lang="ar-SA" sz="1900" dirty="0"/>
          </a:p>
        </p:txBody>
      </p:sp>
      <p:sp>
        <p:nvSpPr>
          <p:cNvPr id="33" name="Text 30"/>
          <p:cNvSpPr txBox="1"/>
          <p:nvPr/>
        </p:nvSpPr>
        <p:spPr>
          <a:xfrm>
            <a:off x="2743200" y="3741725"/>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 </a:t>
            </a:r>
            <a:pPr rtl="1" algn="ctr" indent="0" marL="0">
              <a:buNone/>
            </a:pPr>
            <a:r>
              <a:rPr lang="ar-SA" altLang="en-US" sz="2000" b="1" dirty="0">
                <a:solidFill>
                  <a:srgbClr val="0E7C86"/>
                </a:solidFill>
                <a:latin typeface="Amiri" pitchFamily="2" charset="-78"/>
                <a:ea typeface="Amiri" pitchFamily="2" charset="-78"/>
                <a:cs typeface="Amiri" pitchFamily="2" charset="-78"/>
              </a:rPr>
              <a:t>أُبَلِّغَ</a:t>
            </a:r>
            <a:pPr rtl="1" algn="ctr" indent="0" marL="0">
              <a:buNone/>
            </a:pPr>
            <a:r>
              <a:rPr lang="ar-SA" altLang="en-US" sz="2000" b="1" dirty="0">
                <a:solidFill>
                  <a:srgbClr val="1B3B6F"/>
                </a:solidFill>
                <a:latin typeface="Amiri" pitchFamily="2" charset="-78"/>
                <a:cs typeface="Amiri" pitchFamily="2" charset="-78"/>
              </a:rPr>
              <a:t> … </a:t>
            </a:r>
            <a:pPr rtl="1" algn="ctr" indent="0" marL="0">
              <a:buNone/>
            </a:pPr>
            <a:r>
              <a:rPr lang="ar-SA" altLang="en-US" sz="2000" b="1" dirty="0">
                <a:solidFill>
                  <a:srgbClr val="0E7C86"/>
                </a:solidFill>
                <a:latin typeface="Amiri" pitchFamily="2" charset="-78"/>
                <a:ea typeface="Amiri" pitchFamily="2" charset="-78"/>
                <a:cs typeface="Amiri" pitchFamily="2" charset="-78"/>
              </a:rPr>
              <a:t>أَذْهَبَ</a:t>
            </a:r>
            <a:endParaRPr lang="ar-SA" sz="2000" dirty="0"/>
          </a:p>
        </p:txBody>
      </p:sp>
      <p:sp>
        <p:nvSpPr>
          <p:cNvPr id="34" name="Text 31"/>
          <p:cNvSpPr txBox="1"/>
          <p:nvPr/>
        </p:nvSpPr>
        <p:spPr>
          <a:xfrm>
            <a:off x="548640" y="3741725"/>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أُبَلِّغُ · أَذْهَبُ</a:t>
            </a:r>
            <a:endParaRPr lang="ar-SA" sz="2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5120640" y="4478731"/>
            <a:ext cx="65196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يَجِبُ أَنْ </a:t>
            </a:r>
            <a:pPr rtl="1" algn="ctr" indent="0" marL="0">
              <a:buNone/>
            </a:pPr>
            <a:r>
              <a:rPr lang="ar-SA" altLang="en-US" sz="1900" b="1" dirty="0">
                <a:solidFill>
                  <a:srgbClr val="0E7C86"/>
                </a:solidFill>
                <a:latin typeface="Amiri" pitchFamily="2" charset="-78"/>
                <a:ea typeface="Amiri" pitchFamily="2" charset="-78"/>
                <a:cs typeface="Amiri" pitchFamily="2" charset="-78"/>
              </a:rPr>
              <a:t>أَنْتَظِرَ</a:t>
            </a:r>
            <a:pPr rtl="1" algn="ctr" indent="0" marL="0">
              <a:buNone/>
            </a:pPr>
            <a:r>
              <a:rPr lang="ar-SA" altLang="en-US" sz="1900" b="1" dirty="0">
                <a:solidFill>
                  <a:srgbClr val="1B3B6F"/>
                </a:solidFill>
                <a:latin typeface="Amiri" pitchFamily="2" charset="-78"/>
                <a:ea typeface="Amiri" pitchFamily="2" charset="-78"/>
                <a:cs typeface="Amiri" pitchFamily="2" charset="-78"/>
              </a:rPr>
              <a:t> فِي صَالَةِ المُغَادَرَةِ.</a:t>
            </a:r>
            <a:endParaRPr lang="ar-SA" sz="1900" dirty="0"/>
          </a:p>
        </p:txBody>
      </p:sp>
      <p:sp>
        <p:nvSpPr>
          <p:cNvPr id="37" name="Text 34"/>
          <p:cNvSpPr txBox="1"/>
          <p:nvPr/>
        </p:nvSpPr>
        <p:spPr>
          <a:xfrm>
            <a:off x="2743200" y="4478731"/>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 </a:t>
            </a:r>
            <a:pPr rtl="1" algn="ctr" indent="0" marL="0">
              <a:buNone/>
            </a:pPr>
            <a:r>
              <a:rPr lang="ar-SA" altLang="en-US" sz="2000" b="1" dirty="0">
                <a:solidFill>
                  <a:srgbClr val="0E7C86"/>
                </a:solidFill>
                <a:latin typeface="Amiri" pitchFamily="2" charset="-78"/>
                <a:ea typeface="Amiri" pitchFamily="2" charset="-78"/>
                <a:cs typeface="Amiri" pitchFamily="2" charset="-78"/>
              </a:rPr>
              <a:t>أَنْتَظِرَ</a:t>
            </a:r>
            <a:endParaRPr lang="ar-SA" sz="2000" dirty="0"/>
          </a:p>
        </p:txBody>
      </p:sp>
      <p:sp>
        <p:nvSpPr>
          <p:cNvPr id="38" name="Text 35"/>
          <p:cNvSpPr txBox="1"/>
          <p:nvPr/>
        </p:nvSpPr>
        <p:spPr>
          <a:xfrm>
            <a:off x="548640" y="4478731"/>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أَنْتَظِرُ</a:t>
            </a:r>
            <a:endParaRPr lang="ar-SA" sz="2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5120640" y="5215738"/>
            <a:ext cx="65196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قَرَّرْتُ أَنْ </a:t>
            </a:r>
            <a:pPr rtl="1" algn="ctr" indent="0" marL="0">
              <a:buNone/>
            </a:pPr>
            <a:r>
              <a:rPr lang="ar-SA" altLang="en-US" sz="1900" b="1" dirty="0">
                <a:solidFill>
                  <a:srgbClr val="0E7C86"/>
                </a:solidFill>
                <a:latin typeface="Amiri" pitchFamily="2" charset="-78"/>
                <a:ea typeface="Amiri" pitchFamily="2" charset="-78"/>
                <a:cs typeface="Amiri" pitchFamily="2" charset="-78"/>
              </a:rPr>
              <a:t>أَحْتَفِظَ</a:t>
            </a:r>
            <a:pPr rtl="1" algn="ctr" indent="0" marL="0">
              <a:buNone/>
            </a:pPr>
            <a:r>
              <a:rPr lang="ar-SA" altLang="en-US" sz="1900" b="1" dirty="0">
                <a:solidFill>
                  <a:srgbClr val="1B3B6F"/>
                </a:solidFill>
                <a:latin typeface="Amiri" pitchFamily="2" charset="-78"/>
                <a:ea typeface="Amiri" pitchFamily="2" charset="-78"/>
                <a:cs typeface="Amiri" pitchFamily="2" charset="-78"/>
              </a:rPr>
              <a:t> بِنُسْخَةٍ مِنْ وَثَائِقِي.</a:t>
            </a:r>
            <a:endParaRPr lang="ar-SA" sz="1900" dirty="0"/>
          </a:p>
        </p:txBody>
      </p:sp>
      <p:sp>
        <p:nvSpPr>
          <p:cNvPr id="41" name="Text 38"/>
          <p:cNvSpPr txBox="1"/>
          <p:nvPr/>
        </p:nvSpPr>
        <p:spPr>
          <a:xfrm>
            <a:off x="2743200" y="5215738"/>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 </a:t>
            </a:r>
            <a:pPr rtl="1" algn="ctr" indent="0" marL="0">
              <a:buNone/>
            </a:pPr>
            <a:r>
              <a:rPr lang="ar-SA" altLang="en-US" sz="2000" b="1" dirty="0">
                <a:solidFill>
                  <a:srgbClr val="0E7C86"/>
                </a:solidFill>
                <a:latin typeface="Amiri" pitchFamily="2" charset="-78"/>
                <a:ea typeface="Amiri" pitchFamily="2" charset="-78"/>
                <a:cs typeface="Amiri" pitchFamily="2" charset="-78"/>
              </a:rPr>
              <a:t>أَحْتَفِظَ</a:t>
            </a:r>
            <a:endParaRPr lang="ar-SA" sz="2000" dirty="0"/>
          </a:p>
        </p:txBody>
      </p:sp>
      <p:sp>
        <p:nvSpPr>
          <p:cNvPr id="42" name="Text 39"/>
          <p:cNvSpPr txBox="1"/>
          <p:nvPr/>
        </p:nvSpPr>
        <p:spPr>
          <a:xfrm>
            <a:off x="548640" y="5215738"/>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أَحْتَفِظُ</a:t>
            </a:r>
            <a:endParaRPr lang="ar-SA" sz="2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2: qarrartu an aljaʾu ✗ → an aljaʾa ✓. Triggers: yajibu an · ḥāwaltu an · qarrartu an.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HELP VERBS AND THEIR PARTNERS (WEBSITE VOCABULARY NOTES)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do you turn 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طَلَبِ المُسَاعَدَةِ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9601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ʿAN · CORE</a:t>
            </a:r>
            <a:endParaRPr lang="en-US" sz="850" dirty="0"/>
          </a:p>
        </p:txBody>
      </p:sp>
      <p:sp>
        <p:nvSpPr>
          <p:cNvPr id="18" name="Text 15"/>
          <p:cNvSpPr txBox="1"/>
          <p:nvPr/>
        </p:nvSpPr>
        <p:spPr>
          <a:xfrm>
            <a:off x="9238488"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يُبَلِّغُ عَنْ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أُبَلِّغُ عَنِ السَّرِقَةِ لِلشُّرْطَةِ.</a:t>
            </a:r>
            <a:endParaRPr lang="ar-SA" sz="30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report the theft to the police.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Report about → ʿan.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96012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ILĀ · CORE</a:t>
            </a:r>
            <a:endParaRPr lang="en-US" sz="850" dirty="0"/>
          </a:p>
        </p:txBody>
      </p:sp>
      <p:sp>
        <p:nvSpPr>
          <p:cNvPr id="26" name="Text 23"/>
          <p:cNvSpPr txBox="1"/>
          <p:nvPr/>
        </p:nvSpPr>
        <p:spPr>
          <a:xfrm>
            <a:off x="5419344"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يَلْجَأُ إِلَى</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لَجَأْتُ إِلَى السَّفَارَةِ.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turned to the embassy.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Turn to → ilā.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OBJECT · DEVELOP</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يَسْتَشِيرُ</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اسْتَشَرْتُ مُوَظَّفَ المَطَارِ.</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consulted the airport official.</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Direct object.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yuballigh is fixed with ʿan.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يُبَلِّغُ المُسَافِرُ عَنِ السَّرِقَةِ لِلشُّرْطَةِ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يُبَلِّغُ المُسَافِرُ السَّرِقَةَ لِلشُّرْطَةِ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MAKE THE REGRET THE STRONGEST SENTENCE (WEBSITE LISTENING, READING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Upgrade the regret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النَّدَمُ فِي أَقْوَى صُوَرِهِ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00032" y="1810512"/>
            <a:ext cx="2258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2176272" y="1810512"/>
            <a:ext cx="7077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Level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436608" y="2267712"/>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past → la-</a:t>
            </a:r>
            <a:endParaRPr lang="en-US" sz="1100" dirty="0"/>
          </a:p>
        </p:txBody>
      </p:sp>
      <p:sp>
        <p:nvSpPr>
          <p:cNvPr id="21" name="Text 18"/>
          <p:cNvSpPr txBox="1"/>
          <p:nvPr/>
        </p:nvSpPr>
        <p:spPr>
          <a:xfrm>
            <a:off x="2194560" y="2267712"/>
            <a:ext cx="704088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لَوْ</a:t>
            </a:r>
            <a:pPr rtl="1" algn="ctr" indent="0" marL="0">
              <a:buNone/>
            </a:pPr>
            <a:r>
              <a:rPr lang="ar-SA" altLang="en-US" sz="1900" b="1" dirty="0">
                <a:solidFill>
                  <a:srgbClr val="1B3B6F"/>
                </a:solidFill>
                <a:latin typeface="Amiri" pitchFamily="2" charset="-78"/>
                <a:ea typeface="Amiri" pitchFamily="2" charset="-78"/>
                <a:cs typeface="Amiri" pitchFamily="2" charset="-78"/>
              </a:rPr>
              <a:t> أَمَّنْتُ رِحْلَتِي، </a:t>
            </a:r>
            <a:pPr rtl="1" algn="ctr" indent="0" marL="0">
              <a:buNone/>
            </a:pPr>
            <a:r>
              <a:rPr lang="ar-SA" altLang="en-US" sz="1900" b="1" dirty="0">
                <a:solidFill>
                  <a:srgbClr val="0E7C86"/>
                </a:solidFill>
                <a:latin typeface="Amiri" pitchFamily="2" charset="-78"/>
                <a:ea typeface="Amiri" pitchFamily="2" charset="-78"/>
                <a:cs typeface="Amiri" pitchFamily="2" charset="-78"/>
              </a:rPr>
              <a:t>لَحَصَلْتُ</a:t>
            </a:r>
            <a:pPr rtl="1" algn="ctr" indent="0" marL="0">
              <a:buNone/>
            </a:pPr>
            <a:r>
              <a:rPr lang="ar-SA" altLang="en-US" sz="1900" b="1" dirty="0">
                <a:solidFill>
                  <a:srgbClr val="1B3B6F"/>
                </a:solidFill>
                <a:latin typeface="Amiri" pitchFamily="2" charset="-78"/>
                <a:ea typeface="Amiri" pitchFamily="2" charset="-78"/>
                <a:cs typeface="Amiri" pitchFamily="2" charset="-78"/>
              </a:rPr>
              <a:t> عَلَى تَعْوِيضٍ.</a:t>
            </a:r>
            <a:endParaRPr lang="ar-SA" sz="1900" dirty="0"/>
          </a:p>
        </p:txBody>
      </p:sp>
      <p:sp>
        <p:nvSpPr>
          <p:cNvPr id="22" name="Text 19"/>
          <p:cNvSpPr txBox="1"/>
          <p:nvPr/>
        </p:nvSpPr>
        <p:spPr>
          <a:xfrm>
            <a:off x="566928" y="2267712"/>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simple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436608" y="3004718"/>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kuntu qad</a:t>
            </a:r>
            <a:endParaRPr lang="en-US" sz="1100" dirty="0"/>
          </a:p>
        </p:txBody>
      </p:sp>
      <p:sp>
        <p:nvSpPr>
          <p:cNvPr id="27" name="Text 24"/>
          <p:cNvSpPr txBox="1"/>
          <p:nvPr/>
        </p:nvSpPr>
        <p:spPr>
          <a:xfrm>
            <a:off x="2194560" y="3004718"/>
            <a:ext cx="704088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لَوْ كُنْتُ قَدْ</a:t>
            </a:r>
            <a:pPr rtl="1" algn="ctr" indent="0" marL="0">
              <a:buNone/>
            </a:pPr>
            <a:r>
              <a:rPr lang="ar-SA" altLang="en-US" sz="1900" b="1" dirty="0">
                <a:solidFill>
                  <a:srgbClr val="1B3B6F"/>
                </a:solidFill>
                <a:latin typeface="Amiri" pitchFamily="2" charset="-78"/>
                <a:ea typeface="Amiri" pitchFamily="2" charset="-78"/>
                <a:cs typeface="Amiri" pitchFamily="2" charset="-78"/>
              </a:rPr>
              <a:t> صَوَّرْتُ جَوَازِي، </a:t>
            </a:r>
            <a:pPr rtl="1" algn="ctr" indent="0" marL="0">
              <a:buNone/>
            </a:pPr>
            <a:r>
              <a:rPr lang="ar-SA" altLang="en-US" sz="1900" b="1" dirty="0">
                <a:solidFill>
                  <a:srgbClr val="0E7C86"/>
                </a:solidFill>
                <a:latin typeface="Amiri" pitchFamily="2" charset="-78"/>
                <a:ea typeface="Amiri" pitchFamily="2" charset="-78"/>
                <a:cs typeface="Amiri" pitchFamily="2" charset="-78"/>
              </a:rPr>
              <a:t>لَكُنْتُ قَدْ</a:t>
            </a:r>
            <a:pPr rtl="1" algn="ctr" indent="0" marL="0">
              <a:buNone/>
            </a:pPr>
            <a:r>
              <a:rPr lang="ar-SA" altLang="en-US" sz="1900" b="1" dirty="0">
                <a:solidFill>
                  <a:srgbClr val="1B3B6F"/>
                </a:solidFill>
                <a:latin typeface="Amiri" pitchFamily="2" charset="-78"/>
                <a:ea typeface="Amiri" pitchFamily="2" charset="-78"/>
                <a:cs typeface="Amiri" pitchFamily="2" charset="-78"/>
              </a:rPr>
              <a:t> وَفَّرْتُ سَاعَاتٍ مِنَ القَلَقِ.</a:t>
            </a:r>
            <a:endParaRPr lang="ar-SA" sz="1900" dirty="0"/>
          </a:p>
        </p:txBody>
      </p:sp>
      <p:sp>
        <p:nvSpPr>
          <p:cNvPr id="28" name="Text 25"/>
          <p:cNvSpPr txBox="1"/>
          <p:nvPr/>
        </p:nvSpPr>
        <p:spPr>
          <a:xfrm>
            <a:off x="566928" y="300471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436608" y="3741725"/>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lamā</a:t>
            </a:r>
            <a:endParaRPr lang="en-US" sz="1100" dirty="0"/>
          </a:p>
        </p:txBody>
      </p:sp>
      <p:sp>
        <p:nvSpPr>
          <p:cNvPr id="31" name="Text 28"/>
          <p:cNvSpPr txBox="1"/>
          <p:nvPr/>
        </p:nvSpPr>
        <p:spPr>
          <a:xfrm>
            <a:off x="2194560" y="3741725"/>
            <a:ext cx="704088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لَوْ كُنْتُ قَدِ</a:t>
            </a:r>
            <a:pPr rtl="1" algn="ctr" indent="0" marL="0">
              <a:buNone/>
            </a:pPr>
            <a:r>
              <a:rPr lang="ar-SA" altLang="en-US" sz="1900" b="1" dirty="0">
                <a:solidFill>
                  <a:srgbClr val="1B3B6F"/>
                </a:solidFill>
                <a:latin typeface="Amiri" pitchFamily="2" charset="-78"/>
                <a:ea typeface="Amiri" pitchFamily="2" charset="-78"/>
                <a:cs typeface="Amiri" pitchFamily="2" charset="-78"/>
              </a:rPr>
              <a:t> اخْتَرْتُ رِحْلَةً مُبَاشِرَةً، </a:t>
            </a:r>
            <a:pPr rtl="1" algn="ctr" indent="0" marL="0">
              <a:buNone/>
            </a:pPr>
            <a:r>
              <a:rPr lang="ar-SA" altLang="en-US" sz="1900" b="1" dirty="0">
                <a:solidFill>
                  <a:srgbClr val="0E7C86"/>
                </a:solidFill>
                <a:latin typeface="Amiri" pitchFamily="2" charset="-78"/>
                <a:ea typeface="Amiri" pitchFamily="2" charset="-78"/>
                <a:cs typeface="Amiri" pitchFamily="2" charset="-78"/>
              </a:rPr>
              <a:t>لَمَا</a:t>
            </a:r>
            <a:pPr rtl="1" algn="ctr" indent="0" marL="0">
              <a:buNone/>
            </a:pPr>
            <a:r>
              <a:rPr lang="ar-SA" altLang="en-US" sz="1900" b="1" dirty="0">
                <a:solidFill>
                  <a:srgbClr val="1B3B6F"/>
                </a:solidFill>
                <a:latin typeface="Amiri" pitchFamily="2" charset="-78"/>
                <a:ea typeface="Amiri" pitchFamily="2" charset="-78"/>
                <a:cs typeface="Amiri" pitchFamily="2" charset="-78"/>
              </a:rPr>
              <a:t> وَاجَهْتُ هٰذَا التَّأْخِيرَ.</a:t>
            </a:r>
            <a:endParaRPr lang="ar-SA" sz="1900" dirty="0"/>
          </a:p>
        </p:txBody>
      </p:sp>
      <p:sp>
        <p:nvSpPr>
          <p:cNvPr id="32" name="Text 29"/>
          <p:cNvSpPr txBox="1"/>
          <p:nvPr/>
        </p:nvSpPr>
        <p:spPr>
          <a:xfrm>
            <a:off x="566928" y="3741725"/>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negative</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436608" y="4478731"/>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lā + passive</a:t>
            </a:r>
            <a:endParaRPr lang="en-US" sz="1100" dirty="0"/>
          </a:p>
        </p:txBody>
      </p:sp>
      <p:sp>
        <p:nvSpPr>
          <p:cNvPr id="35" name="Text 32"/>
          <p:cNvSpPr txBox="1"/>
          <p:nvPr/>
        </p:nvSpPr>
        <p:spPr>
          <a:xfrm>
            <a:off x="2194560" y="4478731"/>
            <a:ext cx="70408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أَوْضَحَ أَنَّ تَأْخِيرَ الطَّقْسِ </a:t>
            </a:r>
            <a:pPr rtl="1" algn="ctr" indent="0" marL="0">
              <a:buNone/>
            </a:pPr>
            <a:r>
              <a:rPr lang="ar-SA" altLang="en-US" sz="1900" b="1" dirty="0">
                <a:solidFill>
                  <a:srgbClr val="D6336C"/>
                </a:solidFill>
                <a:latin typeface="Amiri" pitchFamily="2" charset="-78"/>
                <a:ea typeface="Amiri" pitchFamily="2" charset="-78"/>
                <a:cs typeface="Amiri" pitchFamily="2" charset="-78"/>
              </a:rPr>
              <a:t>لَا يُعَوَّضُ</a:t>
            </a:r>
            <a:pPr rtl="1" algn="ctr" indent="0" marL="0">
              <a:buNone/>
            </a:pPr>
            <a:r>
              <a:rPr lang="ar-SA" altLang="en-US" sz="1900" b="1" dirty="0">
                <a:solidFill>
                  <a:srgbClr val="1B3B6F"/>
                </a:solidFill>
                <a:latin typeface="Amiri" pitchFamily="2" charset="-78"/>
                <a:ea typeface="Amiri" pitchFamily="2" charset="-78"/>
                <a:cs typeface="Amiri" pitchFamily="2" charset="-78"/>
              </a:rPr>
              <a:t> عَادَةً.</a:t>
            </a:r>
            <a:endParaRPr lang="ar-SA" sz="1900" dirty="0"/>
          </a:p>
        </p:txBody>
      </p:sp>
      <p:sp>
        <p:nvSpPr>
          <p:cNvPr id="36" name="Text 33"/>
          <p:cNvSpPr txBox="1"/>
          <p:nvPr/>
        </p:nvSpPr>
        <p:spPr>
          <a:xfrm>
            <a:off x="566928" y="4478731"/>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436608" y="5215738"/>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lamā</a:t>
            </a:r>
            <a:endParaRPr lang="en-US" sz="1100" dirty="0"/>
          </a:p>
        </p:txBody>
      </p:sp>
      <p:sp>
        <p:nvSpPr>
          <p:cNvPr id="39" name="Text 36"/>
          <p:cNvSpPr txBox="1"/>
          <p:nvPr/>
        </p:nvSpPr>
        <p:spPr>
          <a:xfrm>
            <a:off x="2194560" y="5215738"/>
            <a:ext cx="704088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لَوْ</a:t>
            </a:r>
            <a:pPr rtl="1" algn="ctr" indent="0" marL="0">
              <a:buNone/>
            </a:pPr>
            <a:r>
              <a:rPr lang="ar-SA" altLang="en-US" sz="1900" b="1" dirty="0">
                <a:solidFill>
                  <a:srgbClr val="1B3B6F"/>
                </a:solidFill>
                <a:latin typeface="Amiri" pitchFamily="2" charset="-78"/>
                <a:ea typeface="Amiri" pitchFamily="2" charset="-78"/>
                <a:cs typeface="Amiri" pitchFamily="2" charset="-78"/>
              </a:rPr>
              <a:t> فَعَلْتُ ذٰلِكَ، </a:t>
            </a:r>
            <a:pPr rtl="1" algn="ctr" indent="0" marL="0">
              <a:buNone/>
            </a:pPr>
            <a:r>
              <a:rPr lang="ar-SA" altLang="en-US" sz="1900" b="1" dirty="0">
                <a:solidFill>
                  <a:srgbClr val="0E7C86"/>
                </a:solidFill>
                <a:latin typeface="Amiri" pitchFamily="2" charset="-78"/>
                <a:ea typeface="Amiri" pitchFamily="2" charset="-78"/>
                <a:cs typeface="Amiri" pitchFamily="2" charset="-78"/>
              </a:rPr>
              <a:t>لَمَا</a:t>
            </a:r>
            <a:pPr rtl="1" algn="ctr" indent="0" marL="0">
              <a:buNone/>
            </a:pPr>
            <a:r>
              <a:rPr lang="ar-SA" altLang="en-US" sz="1900" b="1" dirty="0">
                <a:solidFill>
                  <a:srgbClr val="1B3B6F"/>
                </a:solidFill>
                <a:latin typeface="Amiri" pitchFamily="2" charset="-78"/>
                <a:ea typeface="Amiri" pitchFamily="2" charset="-78"/>
                <a:cs typeface="Amiri" pitchFamily="2" charset="-78"/>
              </a:rPr>
              <a:t> عِشْتُ يَوْمًا كَامِلًا مِنَ القَلَقِ.</a:t>
            </a:r>
            <a:endParaRPr lang="ar-SA" sz="1900" dirty="0"/>
          </a:p>
        </p:txBody>
      </p:sp>
      <p:sp>
        <p:nvSpPr>
          <p:cNvPr id="40" name="Text 37"/>
          <p:cNvSpPr txBox="1"/>
          <p:nvPr/>
        </p:nvSpPr>
        <p:spPr>
          <a:xfrm>
            <a:off x="566928" y="521573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close</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1: law ishtaraytu, sa-ḥaṣaltu ✗ → la-ḥaṣaltu ✓. Never sa- after law.</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Five structures in one problem narrative</a:t>
            </a:r>
            <a:endParaRPr lang="en-US" sz="23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خَمْسُ بُنًى فِي سَرْدِ مُشْكِلَةٍ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Precaution and problem</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kuntu qad + past · past narrative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كُنْتُ قَدْ تَأَكَّدْتُ مِنْ حَجْزِي مَرَّتَيْنِ   ·   ثُمَّ اكْتَشَفْتُ أَنَّ الرِّحْلَةَ أُلْغِيَتْ</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Reported official</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qāla … inna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قَالَ المُوَظَّفُ إِنَّ الرِّحْلَةَ سَتَتَأَخَّرُ سَاعَتَيْنِ</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Plan and regret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 law … la-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F2A37"/>
                </a:solidFill>
                <a:latin typeface="Amiri" pitchFamily="2" charset="-78"/>
                <a:ea typeface="Amiri" pitchFamily="2" charset="-78"/>
                <a:cs typeface="Amiri" pitchFamily="2" charset="-78"/>
              </a:rPr>
              <a:t>إِذَا سَافَرْتُ ثَانِيَةً، سَأَشْتَرِي تَأْمِينًا   ·   لَوْ كُنْتُ قَدِ اشْتَرَيْتُ تَأْمِينًا، لَحَصَلْتُ عَلَى تَعْوِيضٍ</a:t>
            </a:r>
            <a:endParaRPr lang="ar-SA" sz="19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Subjunctive after an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yajibu an / qarrartu an + fatḥa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قَرَّرْتُ أَنْ أَلْجَأَ إِلَى السَّفَارَةِ   ·   يَجِبُ أَنْ أَتَصَرَّفَ بِهُدُوءٍ</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precaution: ___ </a:t>
            </a:r>
            <a:pPr algn="l" indent="0" marL="0">
              <a:buNone/>
            </a:pPr>
            <a:r>
              <a:rPr lang="ar-SA" altLang="en-US" sz="1650" b="1" dirty="0">
                <a:solidFill>
                  <a:srgbClr val="1B3B6F"/>
                </a:solidFill>
                <a:latin typeface="Amiri" pitchFamily="2" charset="-78"/>
                <a:ea typeface="Amiri" pitchFamily="2" charset="-78"/>
                <a:cs typeface="Amiri" pitchFamily="2" charset="-78"/>
              </a:rPr>
              <a:t>تَأَكَّدْتُ مِنْ حَجْزِي مَرَّتَيْنِ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report:</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قَالَ المُوَظَّفُ ___ الرِّحْلَةَ سَتَتَأَخَّرُ.</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subjunctive: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قَرَّرْتُ أَنْ ___ إِلَى السَّفَارَةِ.</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أَلْجَأُ</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أَلْجَأَ</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أَلْجَأْتُ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يُبَلِّغُ المُسَافِرُ ___ سَرِقَةِ حَقِيبَتِهِ.</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precaution: ___ </a:t>
            </a:r>
            <a:pPr algn="l" indent="0" marL="0">
              <a:buNone/>
            </a:pPr>
            <a:r>
              <a:rPr lang="ar-SA" altLang="en-US" sz="1650" b="1" dirty="0">
                <a:solidFill>
                  <a:srgbClr val="1B3B6F"/>
                </a:solidFill>
                <a:latin typeface="Amiri" pitchFamily="2" charset="-78"/>
                <a:ea typeface="Amiri" pitchFamily="2" charset="-78"/>
                <a:cs typeface="Amiri" pitchFamily="2" charset="-78"/>
              </a:rPr>
              <a:t>تَأَكَّدْتُ مِنْ حَجْزِي مَرَّتَيْنِ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precaution before the problem takes the past perfect.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report:</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قَالَ المُوَظَّفُ ___ الرِّحْلَةَ سَتَتَأَخَّرُ.</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subjunctive: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قَرَّرْتُ أَنْ ___ إِلَى السَّفَارَةِ.</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أَلْجَأُ</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أَلْجَأَ</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أَلْجَأْتُ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ea typeface="Amiri" pitchFamily="2" charset="-78"/>
                <a:cs typeface="Amiri" pitchFamily="2" charset="-78"/>
              </a:rPr>
              <a:t>أَلْجَأَ</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يُبَلِّغُ المُسَافِرُ ___ سَرِقَةِ حَقِيبَتِهِ.</a:t>
            </a:r>
            <a:endParaRPr lang="ar-SA" sz="15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عَنْ</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يُبَلِّغُ</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عَنْ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tell a problem story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Precaution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C77700"/>
                </a:solidFill>
                <a:latin typeface="Amiri" pitchFamily="2" charset="-78"/>
                <a:ea typeface="Amiri" pitchFamily="2" charset="-78"/>
                <a:cs typeface="Amiri" pitchFamily="2" charset="-78"/>
              </a:rPr>
              <a:t>كُنْتُ قَدْ</a:t>
            </a:r>
            <a:pPr rtl="1" algn="ctr" indent="0" marL="0">
              <a:buNone/>
            </a:pPr>
            <a:r>
              <a:rPr lang="ar-SA" altLang="en-US" sz="2800" b="1" dirty="0">
                <a:solidFill>
                  <a:srgbClr val="1B3B6F"/>
                </a:solidFill>
                <a:latin typeface="Amiri" pitchFamily="2" charset="-78"/>
                <a:ea typeface="Amiri" pitchFamily="2" charset="-78"/>
                <a:cs typeface="Amiri" pitchFamily="2" charset="-78"/>
              </a:rPr>
              <a:t> خَطَّطْتُ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Had done.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Problem</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D6336C"/>
                </a:solidFill>
                <a:latin typeface="Amiri" pitchFamily="2" charset="-78"/>
                <a:ea typeface="Amiri" pitchFamily="2" charset="-78"/>
                <a:cs typeface="Amiri" pitchFamily="2" charset="-78"/>
              </a:rPr>
              <a:t>اكْتَشَفْتُ أَنَّ</a:t>
            </a:r>
            <a:pPr rtl="1" algn="ctr" indent="0" marL="0">
              <a:buNone/>
            </a:pPr>
            <a:r>
              <a:rPr lang="ar-SA" altLang="en-US" sz="2300" b="1" dirty="0">
                <a:solidFill>
                  <a:srgbClr val="1B3B6F"/>
                </a:solidFill>
                <a:latin typeface="Amiri" pitchFamily="2" charset="-78"/>
                <a:ea typeface="Amiri" pitchFamily="2" charset="-78"/>
                <a:cs typeface="Amiri" pitchFamily="2" charset="-78"/>
              </a:rPr>
              <a:t> حَقِيبَتِي </a:t>
            </a:r>
            <a:pPr rtl="1" algn="ctr" indent="0" marL="0">
              <a:buNone/>
            </a:pPr>
            <a:r>
              <a:rPr lang="ar-SA" altLang="en-US" sz="2300" b="1" dirty="0">
                <a:solidFill>
                  <a:srgbClr val="D6336C"/>
                </a:solidFill>
                <a:latin typeface="Amiri" pitchFamily="2" charset="-78"/>
                <a:ea typeface="Amiri" pitchFamily="2" charset="-78"/>
                <a:cs typeface="Amiri" pitchFamily="2" charset="-78"/>
              </a:rPr>
              <a:t>ضَاعَتْ</a:t>
            </a:r>
            <a:endParaRPr lang="ar-SA" sz="23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Action + official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قَرَّرْتُ أَنْ </a:t>
            </a:r>
            <a:pPr rtl="1" algn="ctr" indent="0" marL="0">
              <a:buNone/>
            </a:pPr>
            <a:r>
              <a:rPr lang="ar-SA" altLang="en-US" sz="2100" b="1" dirty="0">
                <a:solidFill>
                  <a:srgbClr val="0E7C86"/>
                </a:solidFill>
                <a:latin typeface="Amiri" pitchFamily="2" charset="-78"/>
                <a:ea typeface="Amiri" pitchFamily="2" charset="-78"/>
                <a:cs typeface="Amiri" pitchFamily="2" charset="-78"/>
              </a:rPr>
              <a:t>أَلْجَأَ</a:t>
            </a:r>
            <a:pPr rtl="1" algn="ctr" indent="0" marL="0">
              <a:buNone/>
            </a:pPr>
            <a:r>
              <a:rPr lang="ar-SA" altLang="en-US" sz="2100" b="1" dirty="0">
                <a:solidFill>
                  <a:srgbClr val="1B3B6F"/>
                </a:solidFill>
                <a:latin typeface="Amiri" pitchFamily="2" charset="-78"/>
                <a:cs typeface="Amiri" pitchFamily="2" charset="-78"/>
              </a:rPr>
              <a:t> · </a:t>
            </a:r>
            <a:pPr rtl="1" algn="ctr" indent="0" marL="0">
              <a:buNone/>
            </a:pPr>
            <a:r>
              <a:rPr lang="ar-SA" altLang="en-US" sz="2100" b="1" dirty="0">
                <a:solidFill>
                  <a:srgbClr val="7B3FA0"/>
                </a:solidFill>
                <a:latin typeface="Amiri" pitchFamily="2" charset="-78"/>
                <a:ea typeface="Amiri" pitchFamily="2" charset="-78"/>
                <a:cs typeface="Amiri" pitchFamily="2" charset="-78"/>
              </a:rPr>
              <a:t>قَالَ … إِنَّ</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after an.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Plan + regret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D5FBF"/>
                </a:solidFill>
                <a:latin typeface="Amiri" pitchFamily="2" charset="-78"/>
                <a:ea typeface="Amiri" pitchFamily="2" charset="-78"/>
                <a:cs typeface="Amiri" pitchFamily="2" charset="-78"/>
              </a:rPr>
              <a:t>إِذَا … سَـ</a:t>
            </a:r>
            <a:pPr rtl="1" algn="ctr" indent="0" marL="0">
              <a:buNone/>
            </a:pPr>
            <a:r>
              <a:rPr lang="ar-SA" altLang="en-US" sz="2700" b="1" dirty="0">
                <a:solidFill>
                  <a:srgbClr val="1B3B6F"/>
                </a:solidFill>
                <a:latin typeface="Amiri" pitchFamily="2" charset="-78"/>
                <a:cs typeface="Amiri" pitchFamily="2" charset="-78"/>
              </a:rPr>
              <a:t> · </a:t>
            </a:r>
            <a:pPr rtl="1" algn="ctr" indent="0" marL="0">
              <a:buNone/>
            </a:pPr>
            <a:r>
              <a:rPr lang="ar-SA" altLang="en-US" sz="2700" b="1" dirty="0">
                <a:solidFill>
                  <a:srgbClr val="0E7C86"/>
                </a:solidFill>
                <a:latin typeface="Amiri" pitchFamily="2" charset="-78"/>
                <a:ea typeface="Amiri" pitchFamily="2" charset="-78"/>
                <a:cs typeface="Amiri" pitchFamily="2" charset="-78"/>
              </a:rPr>
              <a:t>لَوْ … لَمَا</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1, Type 2.</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PRECAUTION</a:t>
            </a:r>
            <a:endParaRPr lang="en-US" sz="800" dirty="0"/>
          </a:p>
        </p:txBody>
      </p:sp>
      <p:sp>
        <p:nvSpPr>
          <p:cNvPr id="47" name="Shape 43"/>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PROBLEM</a:t>
            </a:r>
            <a:endParaRPr lang="en-US" sz="800" dirty="0"/>
          </a:p>
        </p:txBody>
      </p:sp>
      <p:sp>
        <p:nvSpPr>
          <p:cNvPr id="49" name="Shape 45"/>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OFFICIAL</a:t>
            </a:r>
            <a:endParaRPr lang="en-US" sz="800" dirty="0"/>
          </a:p>
        </p:txBody>
      </p:sp>
      <p:sp>
        <p:nvSpPr>
          <p:cNvPr id="51" name="Shape 47"/>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PLAN</a:t>
            </a:r>
            <a:endParaRPr lang="en-US" sz="800" dirty="0"/>
          </a:p>
        </p:txBody>
      </p:sp>
      <p:sp>
        <p:nvSpPr>
          <p:cNvPr id="53" name="Shape 49"/>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AN + -A / REGRET</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كُنْتُ قَدْ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خَطَّطْتُ لِرِحْلَتِي بِعِنَايَةٍ،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وَكُنْتُ قَدْ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تَأَكَّدْتُ مِنْ حَجْزِي مَرَّتَيْنِ. لٰكِنْ عِنْدَ الوُصُولِ،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اكْتَشَفْتُ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حَقِيبَتِي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ضَاعَتْ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المَطَارِ. حَاوَلْتُ أَنْ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أَتَصَرَّفَ</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بِهُدُوءٍ، وَقَرَّرْتُ أَنْ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أَلْجَأَ</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إِلَى مَكْتَبِ الأَمْتِعَةِ المَفْقُودَةِ.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قَالَ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المُوَظَّفُ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إِنَّ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الحَقِيبَةَ سَتَصِلُ فِي اليَوْمِ التَّالِي.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إِذَا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سَافَرْتُ ثَانِيَةً،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سَأَضَعُ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أَشْيَائِي المُهِمَّةَ فِي حَقِيبَةِ اليَدِ.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كُنْتُ قَدْ فَعَلْتُ ذٰلِكَ هٰذِهِ المَرَّةَ،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عِشْتُ يَوْمًا كَامِلًا مِنَ القَلَقِ.</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I had planned my trip carefully, and I had checked my booking twice. But on arrival, I discovered that my suitcase had been lost at the airport. I tried to act calmly, and I decided to turn to the lost-luggage office. The official said that the suitcase would arrive the next day. If I travel again, I will put my important things in my hand luggage. And had I done that this time, I would not have lived through a whole day of worry.</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كُنْتُ قَدْ تَأَكَّدْتُ مِنْ حَجْزِي، ثُمَّ اكْتَشَفْتُ أَنَّ الرِّحْلَةَ أُلْغِيَتْ</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had checked my booking, then I discovered the flight was cancelled</a:t>
            </a:r>
            <a:endParaRPr lang="en-US" sz="1250" dirty="0"/>
          </a:p>
          <a:p>
            <a:pPr indent="0" marL="0">
              <a:buNone/>
            </a:pPr>
            <a:r>
              <a:rPr lang="en-US" sz="1050" i="1" dirty="0">
                <a:solidFill>
                  <a:srgbClr val="8A6D1E"/>
                </a:solidFill>
                <a:latin typeface="Calibri" pitchFamily="34" charset="0"/>
                <a:cs typeface="Amiri" pitchFamily="2" charset="-78"/>
              </a:rPr>
              <a:t>Precaution then problem.</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قَالَ مُوَظَّفُ المَطَارِ إِنَّ الأَمْتِعَةَ آمِنَةٌ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airport official said that the luggage is safe</a:t>
            </a:r>
            <a:endParaRPr lang="en-US" sz="1250" dirty="0"/>
          </a:p>
          <a:p>
            <a:pPr indent="0" marL="0">
              <a:buNone/>
            </a:pPr>
            <a:r>
              <a:rPr lang="en-US" sz="1050" i="1" dirty="0">
                <a:solidFill>
                  <a:srgbClr val="8A6D1E"/>
                </a:solidFill>
                <a:latin typeface="Calibri" pitchFamily="34" charset="0"/>
                <a:cs typeface="Amiri" pitchFamily="2" charset="-78"/>
              </a:rPr>
              <a:t>Reported official.</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كُنْتُ قَدِ اشْتَرَيْتُ تَأْمِينًا، لَحَصَلْتُ عَلَى تَعْوِيضٍ كَامِلٍ</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I bought insurance, I would have got full compensation</a:t>
            </a:r>
            <a:endParaRPr lang="en-US" sz="1250" dirty="0"/>
          </a:p>
          <a:p>
            <a:pPr indent="0" marL="0">
              <a:buNone/>
            </a:pPr>
            <a:r>
              <a:rPr lang="en-US" sz="1050" i="1" dirty="0">
                <a:solidFill>
                  <a:srgbClr val="8A6D1E"/>
                </a:solidFill>
                <a:latin typeface="Calibri" pitchFamily="34" charset="0"/>
                <a:cs typeface="Amiri" pitchFamily="2" charset="-78"/>
              </a:rPr>
              <a:t>Type 2 regret.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TRAVEL PROBLEMS AND SOLUTIONS — DEALING WITH THE UNEXPECTED”</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What went wrong? Match the picture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 مُشْكِلَةَ السَّفَرِ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flight delay</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lost suitcase</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lost the way</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ضَلَلْتُ الطَّرِيقَ.</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تَأَخَّرَتِ الرِّحْلَةُ.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ضَاعَتْ حَقِيبَتِي.</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 مُشْكِلَةَ السَّفَرِ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flight delay</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تَأَخَّرَتِ الرِّحْلَةُ.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flight was delayed.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lost suitcase</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ضَاعَتْ حَقِيبَتِي.</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My suitcase got lost.</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lost the way</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ضَلَلْتُ الطَّرِيقَ.</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lost my way.</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PROBLEM NARRATIVE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Precaution + official + plan or regret</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قِصَّةَ مُشْكِلَةٍ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Precaution</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What the official said</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Plan / regret / decision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تَأَكَّدْتُ مِنْ حَجْزِي مَرَّتَيْنِ</a:t>
            </a:r>
            <a:endParaRPr lang="ar-SA" sz="160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 قَالَ المُوَظَّفُ إِنَّ الرِّحْلَةَ سَتَتَأَخَّرُ</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سَافَرْتُ ثَانِيَةً سَأَشْتَرِي تَأْمِينًا</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وَصَلْتُ إِلَى المَطَارِ مُبَكِّرًا</a:t>
            </a:r>
            <a:endParaRPr lang="ar-SA" sz="16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وَأَشَارَ إِلَى أَنَّهُ يَجِبُ أَنْ أُبَلِّغَ عَنِ الفُقْدَانِ</a:t>
            </a:r>
            <a:endParaRPr lang="ar-SA" sz="16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كُنْتُ قَدْ أَمَّنْتُ رِحْلَتِي لَحَصَلْتُ عَلَى تَعْوِيضٍ</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خَطَّطْتُ لِرِحْلَتِي بِعِنَايَةٍ</a:t>
            </a:r>
            <a:endParaRPr lang="ar-SA" sz="16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وَأَوْضَحَ أَنَّ التَّعْوِيضَ يَحْتَاجُ إِلَى بَلَاغٍ رَسْمِيٍّ</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وَقَرَّرْتُ أَنْ أَحْتَفِظَ بِنُسْخَةٍ مِنْ وَثَائِقِي</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add a problem in the past between columns 1 and 2.</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Precaution / regret, problem — or help verb?</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تَأَكَّدْتُ مِنْ حَجْزِي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أَمَّنْتُ لَحَصَلْتُ عَلَى تَعْوِيضٍ</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وَصَلْتُ مُبَكِّرًا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اكْتَشَفْتُ أَنَّ الرِّحْلَةَ أُلْغِيَتْ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ضَاعَتْ حَقِيبَتِي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تَأَخَّرَتِ الرِّحْلَةُ سِتَّ سَاعَاتٍ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يُبَلِّغُ عَنْ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يَلْجَأُ إِلَى</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يَطْلُبُ التَّعْوِيضَ</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precaution / regret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problem (past)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help verbs</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precaution / regret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تَأَكَّدْتُ مِنْ حَجْزِي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أَمَّنْتُ لَحَصَلْتُ عَلَى تَعْوِيضٍ</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وَصَلْتُ مُبَكِّرًا</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problem (past)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اكْتَشَفْتُ أَنَّ الرِّحْلَةَ أُلْغِيَتْ</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ضَاعَتْ حَقِيبَتِي</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تَأَخَّرَتِ الرِّحْلَةُ سِتَّ سَاعَاتٍ</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help verbs</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يُبَلِّغُ عَنْ</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يَلْجَأُ إِلَى</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يَطْلُبُ التَّعْوِيضَ</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4,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1 plan?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سَافَرْتُ ثَانِيَةً، لَاشْتَرَيْتُ تَأْمِينًا.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أُسَافِرُ ثَانِيَةً.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سَافَرْتُ ثَانِيَةً، سَأَشْتَرِي تَأْمِينًا.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regret?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اشْتَرَيْتُ تَأْمِينًا، سَأَحْصُلُ عَلَى تَعْوِيضٍ.</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كُنْتُ قَدِ اشْتَرَيْتُ تَأْمِينًا، لَحَصَلْتُ عَلَى تَعْوِيضٍ.</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أَشْتَرِي تَأْمِينًا.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يَجِبُ أَنْ ___ بِهُدُوءٍ فِي الطَّوَارِئِ.</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أَتَصَرَّفُ</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أَتَصَرَّفَ</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تَصَرَّفْتُ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packs the most structures?</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ea typeface="Amiri" pitchFamily="2" charset="-78"/>
                <a:cs typeface="Amiri" pitchFamily="2" charset="-78"/>
              </a:rPr>
              <a:t>تَأَخَّرَتِ الرِّحْلَةُ.</a:t>
            </a:r>
            <a:endParaRPr lang="ar-SA" sz="110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ea typeface="Amiri" pitchFamily="2" charset="-78"/>
                <a:cs typeface="Amiri" pitchFamily="2" charset="-78"/>
              </a:rPr>
              <a:t>السَّفَرُ مُتْعِبٌ.</a:t>
            </a:r>
            <a:endParaRPr lang="ar-SA" sz="110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ea typeface="Amiri" pitchFamily="2" charset="-78"/>
                <a:cs typeface="Amiri" pitchFamily="2" charset="-78"/>
              </a:rPr>
              <a:t>كُنْتُ قَدْ تَأَكَّدْتُ مِنْ حَجْزِي، لٰكِنْ قَالَ المُوَظَّفُ إِنَّ الرِّحْلَةَ أُلْغِيَتْ، وَلَوْ كُنْتُ قَدْ أَمَّنْتُ لَحَصَلْتُ عَلَى تَعْوِيضٍ.</a:t>
            </a:r>
            <a:endParaRPr lang="ar-SA" sz="11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1 plan?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سَافَرْتُ ثَانِيَةً، لَاشْتَرَيْتُ تَأْمِينًا.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أُسَافِرُ ثَانِيَةً.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سَافَرْتُ ثَانِيَةً، سَأَشْتَرِي تَأْمِينًا.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the future plan.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regret?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اشْتَرَيْتُ تَأْمِينًا، سَأَحْصُلُ عَلَى تَعْوِيضٍ.</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كُنْتُ قَدِ اشْتَرَيْتُ تَأْمِينًا، لَحَصَلْتُ عَلَى تَعْوِيضٍ.</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أَشْتَرِي تَأْمِينًا.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counterfactual regret.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يَجِبُ أَنْ ___ بِهُدُوءٍ فِي الطَّوَارِئِ.</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أَتَصَرَّفُ</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أَتَصَرَّفَ</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تَصَرَّفْتُ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is subjunctive: </a:t>
            </a:r>
            <a:pPr algn="l" indent="0" marL="0">
              <a:buNone/>
            </a:pPr>
            <a:r>
              <a:rPr lang="ar-SA" altLang="en-US" sz="1350" dirty="0">
                <a:solidFill>
                  <a:srgbClr val="8A6D1E"/>
                </a:solidFill>
                <a:latin typeface="Amiri" pitchFamily="2" charset="-78"/>
                <a:ea typeface="Amiri" pitchFamily="2" charset="-78"/>
                <a:cs typeface="Amiri" pitchFamily="2" charset="-78"/>
              </a:rPr>
              <a:t>أَتَصَرَّفَ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packs the most structures?</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100" dirty="0">
                <a:solidFill>
                  <a:srgbClr val="9AA1AB"/>
                </a:solidFill>
                <a:latin typeface="Amiri" pitchFamily="2" charset="-78"/>
                <a:ea typeface="Amiri" pitchFamily="2" charset="-78"/>
                <a:cs typeface="Amiri" pitchFamily="2" charset="-78"/>
              </a:rPr>
              <a:t>تَأَخَّرَتِ الرِّحْلَةُ.</a:t>
            </a:r>
            <a:endParaRPr lang="ar-SA" sz="11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100" dirty="0">
                <a:solidFill>
                  <a:srgbClr val="9AA1AB"/>
                </a:solidFill>
                <a:latin typeface="Amiri" pitchFamily="2" charset="-78"/>
                <a:ea typeface="Amiri" pitchFamily="2" charset="-78"/>
                <a:cs typeface="Amiri" pitchFamily="2" charset="-78"/>
              </a:rPr>
              <a:t>السَّفَرُ مُتْعِبٌ.</a:t>
            </a:r>
            <a:endParaRPr lang="ar-SA" sz="11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كُنْتُ قَدْ تَأَكَّدْتُ مِنْ حَجْزِي، لٰكِنْ قَالَ المُوَظَّفُ إِنَّ الرِّحْلَةَ أُلْغِيَتْ، وَلَوْ كُنْتُ قَدْ أَمَّنْتُ لَحَصَلْتُ عَلَى تَعْوِيضٍ.</a:t>
            </a:r>
            <a:endParaRPr lang="ar-SA" sz="11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perfect + reported speech + Type 2 in one sentence.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اشْتَرَيْتُ تَأْمِينًا، سَحَصَلْتُ عَلَى تَعْوِيضٍ.</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قَرَّرْتُ أَنْ أَلْجَأُ إِلَى السَّفَارَةِ.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 -u?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يُبَلِّغُ المُسَافِرُ السَّرِقَةَ لِلشُّرْطَةِ.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yuballigh + no ʿan?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لَوْ اشْتَرَيْتُ تَأْمِينًا، سَحَصَلْتُ عَلَى تَعْوِيضٍ.</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اشْتَرَيْتُ تَأْمِينًا، لَحَصَلْتُ عَلَى تَعْوِيضٍ.</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قَرَّرْتُ أَنْ أَلْجَأُ إِلَى السَّفَارَةِ.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قَرَّرْتُ أَنْ أَلْجَأَ إِلَى السَّفَارَةِ.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is subjunctive: </a:t>
            </a:r>
            <a:pPr algn="l" indent="0" marL="0">
              <a:buNone/>
            </a:pPr>
            <a:r>
              <a:rPr lang="ar-SA" altLang="en-US" sz="1500" b="1" dirty="0">
                <a:solidFill>
                  <a:srgbClr val="1B3B6F"/>
                </a:solidFill>
                <a:latin typeface="Amiri" pitchFamily="2" charset="-78"/>
                <a:ea typeface="Amiri" pitchFamily="2" charset="-78"/>
                <a:cs typeface="Amiri" pitchFamily="2" charset="-78"/>
              </a:rPr>
              <a:t>أَلْجَأَ</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يُبَلِّغُ المُسَافِرُ السَّرِقَةَ لِلشُّرْطَةِ.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يُبَلِّغُ المُسَافِرُ عَنِ السَّرِقَةِ لِلشُّرْطَةِ.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يُبَلِّغُ</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عَنْ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 lost passport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before the problem?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Arrived early and checked the booking twice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Missed the flight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went wrong?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flight was on time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luggage arrived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passport was missing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official say to do?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Wait at the gate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Report the loss, then go to the embassy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plan for next time?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Keep a copy of the documents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travel again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documents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regret?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Photos make no difference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Had they photographed the passport earlier, they would have saved hours of worry</a:t>
            </a:r>
            <a:endParaRPr lang="en-US" sz="11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refused to worry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kuntu qad · iktashaftu anna · qāla … inna.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يَرْوِي المُسَافِرُ: كُنْتُ قَدْ وَصَلْتُ إِلَى المَطَارِ مُبَكِّرًا، وَكُنْتُ قَدْ تَأَكَّدْتُ مِنْ حَجْزِي مَرَّتَيْنِ.</a:t>
            </a:r>
            <a:endParaRPr lang="ar-SA" sz="18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traveller recounts: I had arrived at the airport early, and I had checked my booking twice.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لٰكِنْ فَجْأَةً اكْتَشَفْتُ أَنَّ جَوَازَ سَفَرِي مَفْقُودٌ. حَاوَلْتُ أَنْ أَتَصَرَّفَ بِهُدُوءٍ، وَقَرَّرْتُ أَنْ أَلْجَأَ إِلَى شُرْطَةِ السِّيَاحَةِ.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suddenly I discovered that my passport was missing. I tried to act calmly, and I decided to turn to the tourist police.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قَالَ المُوَظَّفُ إِنَّهُ يَجِبُ أَنْ أُبَلِّغَ عَنِ الفُقْدَانِ ثُمَّ أَذْهَبَ إِلَى السَّفَارَةِ. وَأَشَارَ إِلَى أَنَّنِي سَأَحْصُلُ عَلَى وَثِيقَةِ سَفَرٍ مُؤَقَّتَةٍ.</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officer said that I must report the loss and then go to the embassy. He pointed out that I would get a temporary travel document.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إِذَا سَافَرْتُ ثَانِيَةً، سَأَحْتَفِظُ بِنُسْخَةٍ مِنْ وَثَائِقِي.</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I travel again, I will keep a copy of my documents.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وَلَوْ كُنْتُ قَدْ صَوَّرْتُ جَوَازِي قَبْلَ الرِّحْلَةِ، لَكُنْتُ قَدْ وَفَّرْتُ سَاعَاتٍ مِنَ القَلَقِ.</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had I photographed my passport before the trip, I would have saved hours of worry.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before the problem?</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Arrived early and checked the booking twice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Missed the flight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قَدْ وَصَلْتُ … مُبَكِّرًا، وَكُنْتُ قَدْ تَأَكَّدْتُ مِنْ حَجْزِي مَرَّتَيْنِ.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went wrong?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flight was on time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luggage arrived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passport was missing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اكْتَشَفْتُ أَنَّ جَوَازَ سَفَرِي مَفْقُودٌ.</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official say to do?</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Wait at the gate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Report the loss, then go to the embassy</a:t>
            </a:r>
            <a:endParaRPr lang="en-US" sz="12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يَجِبُ أَنْ أُبَلِّغَ عَنِ الفُقْدَانِ ثُمَّ أَذْهَبَ إِلَى السَّفَارَةِ.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plan for next time?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Keep a copy of the documents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 travel again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documents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سَافَرْتُ ثَانِيَةً، سَأَحْتَفِظُ بِنُسْخَةٍ مِنْ وَثَائِقِي.</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regret?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Photos make no difference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Had they photographed the passport earlier, they would have saved hours of worry</a:t>
            </a:r>
            <a:endParaRPr lang="en-US" sz="11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refused to worry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لَوْ كُنْتُ قَدْ صَوَّرْتُ جَوَازِي قَبْلَ الرِّحْلَةِ، لَكُنْتُ قَدْ وَفَّرْتُ سَاعَاتٍ مِنَ القَلَقِ.</a:t>
            </a:r>
            <a:endParaRPr lang="ar-SA"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kuntu qad · iktashaftu anna · qāla … inna.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Speaking: recount a travel problem</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كُنْتَ قَدْ فَعَلْتَ قَبْلَ أَنْ تَحْدُثَ المُشْكِلَةُ؟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قَالَ المُوَظَّفُ؟ وَمَاذَا قَرَّرْتَ أَنْ تَفْعَلَ؟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كُنْتَ قَدْ فَعَلْتَ شَيْئًا مُخْتَلِفًا، مَاذَا كَانَ سَيَتَغَيَّرُ؟</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كُنْتُ قَدْ ___ ، ثُمَّ اكْتَشَفْتُ 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قَالَ المُوَظَّفُ إِنَّ ___ ، فَقَرَّرْتُ أَنْ ___ .</a:t>
            </a:r>
            <a:endParaRPr lang="ar-SA" sz="15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لَوْ كُنْتُ قَدْ ___ ، لَمَا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كُنْتَ قَدْ فَعَلْتَ قَبْلَ المُشْكِلَةِ؟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had you done before the problem?</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كُنْتُ قَدْ تَأَكَّدْتُ مِنْ حَجْزِي، ثُمَّ اكْتَشَفْتُ أَنَّ الرِّحْلَةَ أُلْغِيَتْ.</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I had checked my booking, then I discovered the flight had been cancelled.</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the five-stage sequence for one problem, one sentence each.</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the five-stage sequence for one problem, one sentence each.</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Expand the past narrative and add a subjunctive after </a:t>
            </a:r>
            <a:pPr algn="l" indent="0" marL="0">
              <a:buNone/>
            </a:pPr>
            <a:r>
              <a:rPr lang="ar-SA" altLang="en-US" sz="1800" b="1" dirty="0">
                <a:solidFill>
                  <a:srgbClr val="1F2A37"/>
                </a:solidFill>
                <a:latin typeface="Amiri" pitchFamily="2" charset="-78"/>
                <a:ea typeface="Amiri" pitchFamily="2" charset="-78"/>
                <a:cs typeface="Amiri" pitchFamily="2" charset="-78"/>
              </a:rPr>
              <a:t>أَنْ</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expand the past narrative and add a subjunctive after an.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narrative where the Type 2 regret is the most complex sentence.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narrative using all five structures, with the Type 2 regret as the most complex sentence.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حَاوَلْتُ أَنْ أَتَصَرَّفَ بِهُدُوءٍ.</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tried to act calmly.</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قَرَّرْتُ أَنْ أَلْجَأَ إِلَى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decided to turn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أَشَارَ إِلَى أَنَّهُ يَجِبُ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pointed out that I must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كُنْتُ قَدْ ______ ، لَمَا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I …, I would not have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قَدْ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had … (precaution)</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اكْتَشَفْتُ 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discovered that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المُوَظَّفُ إِنَّ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official said that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سَافَرْتُ ثَانِيَةً، سَأَشْتَرِي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travel again, I will buy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ea typeface="Amiri" pitchFamily="2" charset="-78"/>
                <a:cs typeface="Amiri" pitchFamily="2" charset="-78"/>
              </a:rPr>
              <a:t>تَأَكَّدْتُ مِنْ حَجْزِي  ·  وَصَلْتُ مُبَكِّرًا  ·  خَطَّطْتُ بِعِنَايَةٍ  ·  الرِّحْلَةَ أُلْغِيَتْ  ·  حَقِيبَتِي ضَاعَتْ  ·  جَوَازَ سَفَرِي مَفْقُودٌ  ·  شُرْطَةِ السِّيَاحَةِ  ·  السَّفَارَةِ  ·  أُبَلِّغَ عَنِ الفُقْدَانِ  ·  أَشْتَرِي تَأْمِينًا  ·  حَصَلْتُ عَلَى تَعْوِيضٍ  ·  وَاجَهْتُ هٰذَا التَّأْخِيرَ</a:t>
            </a:r>
            <a:endParaRPr lang="ar-SA"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 travel-problem narrative of one hundred to one hundred and ten words using all five structures: a past-perfect precaution, a past narrative, reported speech from an official, a Type 1 plan and a Type 2 regret, with one subjunctive after </a:t>
            </a:r>
            <a:pPr algn="l" indent="0" marL="0">
              <a:buNone/>
            </a:pPr>
            <a:r>
              <a:rPr lang="ar-SA" altLang="en-US" sz="1700" b="1" dirty="0">
                <a:solidFill>
                  <a:srgbClr val="1F2A37"/>
                </a:solidFill>
                <a:latin typeface="Amiri" pitchFamily="2" charset="-78"/>
                <a:ea typeface="Amiri" pitchFamily="2" charset="-78"/>
                <a:cs typeface="Amiri" pitchFamily="2" charset="-78"/>
              </a:rPr>
              <a:t>أَنْ</a:t>
            </a:r>
            <a:pPr algn="l" indent="0" marL="0">
              <a:buNone/>
            </a:pPr>
            <a:r>
              <a:rPr lang="en-US" sz="1300" b="1" dirty="0">
                <a:solidFill>
                  <a:srgbClr val="1F2A37"/>
                </a:solidFill>
                <a:latin typeface="Calibri" pitchFamily="34" charset="0"/>
                <a:cs typeface="Amiri" pitchFamily="2" charset="-78"/>
              </a:rPr>
              <a:t>.</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past-perfect precaution (</a:t>
            </a:r>
            <a:pPr algn="l" indent="0" marL="0">
              <a:buNone/>
            </a:pPr>
            <a:r>
              <a:rPr lang="ar-SA" altLang="en-US" sz="1550" dirty="0">
                <a:solidFill>
                  <a:srgbClr val="1F2A37"/>
                </a:solidFill>
                <a:latin typeface="Amiri" pitchFamily="2" charset="-78"/>
                <a:ea typeface="Amiri" pitchFamily="2" charset="-78"/>
                <a:cs typeface="Amiri" pitchFamily="2" charset="-78"/>
              </a:rPr>
              <a:t>كُنْتُ قَدْ</a:t>
            </a:r>
            <a:pPr algn="l" indent="0" marL="0">
              <a:buNone/>
            </a:pPr>
            <a:r>
              <a:rPr lang="en-US" sz="1200" dirty="0">
                <a:solidFill>
                  <a:srgbClr val="1F2A37"/>
                </a:solidFill>
                <a:latin typeface="Calibri" pitchFamily="34" charset="0"/>
                <a:cs typeface="Amiri" pitchFamily="2" charset="-78"/>
              </a:rPr>
              <a:t> …).</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Reported speech from an official (</a:t>
            </a:r>
            <a:pPr algn="l" indent="0" marL="0">
              <a:buNone/>
            </a:pPr>
            <a:r>
              <a:rPr lang="ar-SA" altLang="en-US" sz="1550" dirty="0">
                <a:solidFill>
                  <a:srgbClr val="1F2A37"/>
                </a:solidFill>
                <a:latin typeface="Amiri" pitchFamily="2" charset="-78"/>
                <a:ea typeface="Amiri" pitchFamily="2" charset="-78"/>
                <a:cs typeface="Amiri" pitchFamily="2" charset="-78"/>
              </a:rPr>
              <a:t>قَالَ إِنَّ</a:t>
            </a:r>
            <a:pPr algn="l" indent="0" marL="0">
              <a:buNone/>
            </a:pPr>
            <a:r>
              <a:rPr lang="en-US" sz="1200" dirty="0">
                <a:solidFill>
                  <a:srgbClr val="1F2A37"/>
                </a:solidFill>
                <a:latin typeface="Calibri" pitchFamily="34" charset="0"/>
                <a:cs typeface="Amiri" pitchFamily="2" charset="-78"/>
              </a:rPr>
              <a:t> …).</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plan and a Type 2 regret (with the </a:t>
            </a:r>
            <a:pPr algn="l" indent="0" marL="0">
              <a:buNone/>
            </a:pPr>
            <a:r>
              <a:rPr lang="ar-SA" altLang="en-US" sz="1550" dirty="0">
                <a:solidFill>
                  <a:srgbClr val="1F2A37"/>
                </a:solidFill>
                <a:latin typeface="Amiri" pitchFamily="2" charset="-78"/>
                <a:ea typeface="Amiri" pitchFamily="2" charset="-78"/>
                <a:cs typeface="Amiri" pitchFamily="2" charset="-78"/>
              </a:rPr>
              <a:t>لَـ</a:t>
            </a:r>
            <a:pPr algn="l" indent="0" marL="0">
              <a:buNone/>
            </a:pPr>
            <a:r>
              <a:rPr lang="en-US" sz="1200" dirty="0">
                <a:solidFill>
                  <a:srgbClr val="1F2A37"/>
                </a:solidFill>
                <a:latin typeface="Calibri" pitchFamily="34" charset="0"/>
                <a:cs typeface="Amiri" pitchFamily="2" charset="-78"/>
              </a:rPr>
              <a:t> result).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subjunctive after </a:t>
            </a:r>
            <a:pPr algn="l" indent="0" marL="0">
              <a:buNone/>
            </a:pPr>
            <a:r>
              <a:rPr lang="ar-SA" altLang="en-US" sz="1550" dirty="0">
                <a:solidFill>
                  <a:srgbClr val="1F2A37"/>
                </a:solidFill>
                <a:latin typeface="Amiri" pitchFamily="2" charset="-78"/>
                <a:ea typeface="Amiri" pitchFamily="2" charset="-78"/>
                <a:cs typeface="Amiri" pitchFamily="2" charset="-78"/>
              </a:rPr>
              <a:t>أَنْ</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قَرَّرْتُ أَنْ</a:t>
            </a:r>
            <a:pPr algn="l" indent="0" marL="0">
              <a:buNone/>
            </a:pPr>
            <a:r>
              <a:rPr lang="en-US" sz="1200" dirty="0">
                <a:solidFill>
                  <a:srgbClr val="1F2A37"/>
                </a:solidFill>
                <a:latin typeface="Calibri" pitchFamily="34" charset="0"/>
                <a:cs typeface="Amiri" pitchFamily="2" charset="-78"/>
              </a:rPr>
              <a:t> …).</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 عِنْدَ الوُصُولِ</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on arrival</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وَأَشَارَ إِلَى أَنَّهُ يَجِبُ أَنْ أُبَلِّغَ عَنِ الفُقْدَانِ رَسْمِيًّا</a:t>
            </a:r>
            <a:endParaRPr lang="ar-SA" sz="145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he pointed out that I must report the loss officially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طَلَبْتُ التَّعْوِيضَ وَحَصَلْتُ عَلَى مَبْلَغٍ بَسِيطٍ</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asked for compensation and got a small sum</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سَأَضَعُ أَشْيَائِي المُهِمَّةَ فِي حَقِيبَةِ اليَدِ</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put my important things in my hand luggage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لَمَا عِشْتُ يَوْمًا كَامِلًا مِنَ القَلَقِ</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would not have lived through a whole day of worry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كُنْتُ قَدْ خَطَّطْتُ لِرِحْلَتِي بِعِنَايَةٍ، وَكُنْتُ قَدْ تَأَكَّدْتُ مِنْ حَجْزِي مَرَّتَيْنِ قَبْلَ السَّفَرِ. لٰكِنْ عِنْدَ الوُصُولِ، اكْتَشَفْتُ أَنَّ حَقِيبَتِي ضَاعَتْ فِي المَطَارِ. حَاوَلْتُ أَنْ أَتَصَرَّفَ بِهُدُوءٍ، وَقَرَّرْتُ أَنْ أَلْجَأَ إِلَى مَكْتَبِ الأَمْتِعَةِ المَفْقُودَةِ. قَالَ المُوَظَّفُ إِنَّ الحَقِيبَةَ سَتَصِلُ فِي اليَوْمِ التَّالِي، وَأَشَارَ إِلَى أَنَّهُ يَجِبُ أَنْ أُبَلِّغَ عَنِ الفُقْدَانِ رَسْمِيًّا. طَلَبْتُ التَّعْوِيضَ وَحَصَلْتُ عَلَى مَبْلَغٍ بَسِيطٍ. إِذَا سَافَرْتُ ثَانِيَةً، سَأَضَعُ أَشْيَائِي المُهِمَّةَ فِي حَقِيبَةِ اليَدِ. وَلَوْ كُنْتُ قَدْ فَعَلْتُ ذٰلِكَ هٰذِهِ المَرَّةَ، لَمَا عِشْتُ يَوْمًا كَامِلًا مِنَ القَلَقِ.</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had planned my trip carefully, and I had checked my booking twice before travelling. But on arrival, I discovered that my suitcase had been lost at the airport. I tried to act calmly, and I decided to turn to the lost-luggage office. The official said that the suitcase would arrive the next day, and he pointed out that I must report the loss officially. I asked for compensation and got a small sum. If I travel again, I will put my important things in my hand luggage. And had I done that this time, I would not have lived through a whole day of worry.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kuntu qad (precaution)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iktashaftu anna (problem)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qāla … inna · an + -a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idhā … sa- · law … lamā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story has a precaution (kuntu qad) and a problem in the past.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help verb with its partner (yuballigh ʿan · yaljaʾ ilā).</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reported the official with qāla … inna.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verbs after an end in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have idhā … sa- for next time and law … la- / lamā for my regret.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precaution: ___ </a:t>
            </a:r>
            <a:pPr algn="l" indent="0" marL="0">
              <a:buNone/>
            </a:pPr>
            <a:r>
              <a:rPr lang="ar-SA" altLang="en-US" sz="1650" b="1" dirty="0">
                <a:solidFill>
                  <a:srgbClr val="1B3B6F"/>
                </a:solidFill>
                <a:latin typeface="Amiri" pitchFamily="2" charset="-78"/>
                <a:ea typeface="Amiri" pitchFamily="2" charset="-78"/>
                <a:cs typeface="Amiri" pitchFamily="2" charset="-78"/>
              </a:rPr>
              <a:t>تَأَكَّدْتُ مِنْ حَجْزِي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subjunctive: </a:t>
            </a:r>
            <a:pPr algn="l" indent="0" marL="0">
              <a:buNone/>
            </a:pPr>
            <a:r>
              <a:rPr lang="ar-SA" altLang="en-US" sz="1650" b="1" dirty="0">
                <a:solidFill>
                  <a:srgbClr val="1B3B6F"/>
                </a:solidFill>
                <a:latin typeface="Amiri" pitchFamily="2" charset="-78"/>
                <a:ea typeface="Amiri" pitchFamily="2" charset="-78"/>
                <a:cs typeface="Amiri" pitchFamily="2" charset="-78"/>
              </a:rPr>
              <a:t>قَرَّرْتُ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السَّفَارَةِ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أَلْجَأُ</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أَلْجَأَ</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أَلْجَأْتُ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regret?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 كُنْتُ قَدْ أَمَّنْتُ، لَحَصَلْتُ عَلَى تَعْوِيضٍ.</a:t>
            </a:r>
            <a:endParaRPr lang="ar-SA" sz="18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أَمَّنْتُ، سَأَحْصُلُ عَلَى تَعْوِيضٍ.</a:t>
            </a:r>
            <a:endParaRPr lang="ar-SA" sz="18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أُؤَمِّنُ رِحْلَتِي.</a:t>
            </a:r>
            <a:endParaRPr lang="ar-SA" sz="18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precaution: ___ </a:t>
            </a:r>
            <a:pPr algn="l" indent="0" marL="0">
              <a:buNone/>
            </a:pPr>
            <a:r>
              <a:rPr lang="ar-SA" altLang="en-US" sz="1650" b="1" dirty="0">
                <a:solidFill>
                  <a:srgbClr val="1B3B6F"/>
                </a:solidFill>
                <a:latin typeface="Amiri" pitchFamily="2" charset="-78"/>
                <a:ea typeface="Amiri" pitchFamily="2" charset="-78"/>
                <a:cs typeface="Amiri" pitchFamily="2" charset="-78"/>
              </a:rPr>
              <a:t>تَأَكَّدْتُ مِنْ حَجْزِي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كُنْتُ قَدْ</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سَـ</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precaution takes the past perfect.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subjunctive: </a:t>
            </a:r>
            <a:pPr algn="l" indent="0" marL="0">
              <a:buNone/>
            </a:pPr>
            <a:r>
              <a:rPr lang="ar-SA" altLang="en-US" sz="1650" b="1" dirty="0">
                <a:solidFill>
                  <a:srgbClr val="1B3B6F"/>
                </a:solidFill>
                <a:latin typeface="Amiri" pitchFamily="2" charset="-78"/>
                <a:ea typeface="Amiri" pitchFamily="2" charset="-78"/>
                <a:cs typeface="Amiri" pitchFamily="2" charset="-78"/>
              </a:rPr>
              <a:t>قَرَّرْتُ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السَّفَارَةِ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أَلْجَأُ</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أَلْجَأَ</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أَلْجَأْتُ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أَلْجَأَ</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regret?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2" charset="-78"/>
                <a:ea typeface="Amiri" pitchFamily="2" charset="-78"/>
                <a:cs typeface="Amiri" pitchFamily="2" charset="-78"/>
              </a:rPr>
              <a:t>لَوْ كُنْتُ قَدْ أَمَّنْتُ، لَحَصَلْتُ عَلَى تَعْوِيضٍ.</a:t>
            </a:r>
            <a:endParaRPr lang="ar-SA" sz="18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إِذَا أَمَّنْتُ، سَأَحْصُلُ عَلَى تَعْوِيضٍ.</a:t>
            </a:r>
            <a:endParaRPr lang="ar-SA" sz="18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أُؤَمِّنُ رِحْلَتِي.</a:t>
            </a:r>
            <a:endParaRPr lang="ar-SA" sz="18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counterfactual regret.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delayed flight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كُنْتُ قَدْ خَطَّطْتُ لِرِحْلَتِي بِعِنَايَةٍ، وَكُنْتُ قَدْ وَصَلْتُ إِلَى المَطَارِ قَبْلَ ثَلَاثِ سَاعَاتٍ. غَيْرَ أَنَّنِي اكْتَشَفْتُ عَلَى الشَّاشَةِ أَنَّ رِحْلَتِي تَأَخَّرَتْ سِتَّ سَاعَاتٍ. حَاوَلْتُ أَنْ أَتَصَرَّفَ بِهُدُوءٍ، وَذَهَبْتُ إِلَى مَكْتَبِ شَرِكَةِ الطَّيَرَانِ. قَالَ المُوَظَّفُ إِنَّ التَّأْخِيرَ بِسَبَبِ الطَّقْسِ، وَأَشَارَ إِلَى أَنَّهُ يَجِبُ أَنْ أَنْتَظِرَ فِي صَالَةِ المُغَادَرَةِ. طَلَبْتُ التَّعْوِيضَ، لٰكِنَّهُ أَوْضَحَ أَنَّ تَأْخِيرَ الطَّقْسِ لَا يُعَوَّضُ عَادَةً. إِذَا وَاجَهْتُ هٰذَا مُسْتَقْبَلًا، سَأَشْتَرِي تَأْمِينًا يُغَطِّي التَّأْخِيرَ. وَلَوْ كُنْتُ قَدِ اخْتَرْتُ رِحْلَةً مُبَاشِرَةً، لَمَا وَاجَهْتُ هٰذَا التَّأْخِيرَ الطَّوِيلَ.</a:t>
            </a:r>
            <a:endParaRPr lang="ar-SA" sz="23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بِعِنَايَةٍ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carefully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الشَّاشَةِ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screen</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شَرِكَةِ الطَّيَرَانِ</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airline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الطَّقْسِ</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weather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صَالَةِ المُغَادَرَةِ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departure lounge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أَوْضَحَ</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explained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يُعَوَّضُ</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not compensated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وَاجَهْتُ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faced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يُغَطِّي</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covers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مُبَاشِرَةً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direct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before the delay?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Planned carefully and arrived three hours early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Arrived late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problem?</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flight was cancelled</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luggage was lost</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flight was delayed six hours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official say about the delay?</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due to the weather</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the airline's fault</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was no delay</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plan?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fly again</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 insurance that covers delays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delays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regret?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they chosen a direct flight, they would not have faced the long delay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Direct flights are worse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refused a direct flight</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before the delay?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Planned carefully and arrived three hours early</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Arrived late</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كُنْتُ قَدْ خَطَّطْتُ … بِعِنَايَةٍ، وَكُنْتُ قَدْ وَصَلْتُ … قَبْلَ ثَلَاثِ سَاعَاتٍ.</a:t>
            </a:r>
            <a:endParaRPr lang="ar-SA" sz="12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problem?</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flight was cancelled</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luggage was lost</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flight was delayed six hours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اكْتَشَفْتُ … أَنَّ رِحْلَتِي تَأَخَّرَتْ سِتَّ سَاعَاتٍ.</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official say about the delay?</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was due to the weather</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the airline's fault</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was no delay</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 المُوَظَّفُ إِنَّ التَّأْخِيرَ بِسَبَبِ الطَّقْسِ.</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plan?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 fly again</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Buy insurance that covers delays</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delays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إِذَا وَاجَهْتُ هٰذَا مُسْتَقْبَلًا، سَأَشْتَرِي تَأْمِينًا يُغَطِّي التَّأْخِيرَ.</a:t>
            </a:r>
            <a:endParaRPr lang="ar-SA" sz="13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regret?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they chosen a direct flight, they would not have faced the long delay</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Direct flights are worse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refused a direct flight</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لَوْ كُنْتُ قَدِ اخْتَرْتُ رِحْلَةً مُبَاشِرَةً، لَمَا وَاجَهْتُ هٰذَا التَّأْخِيرَ.</a:t>
            </a:r>
            <a:endParaRPr lang="ar-SA" sz="13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Problem Mission — Five Structures Under Pressure</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Precaution: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تَأَكَّدْتُ مِنْ حَجْزِي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 المُوَظَّفُ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الرِّحْلَةَ سَتَتَأَخَّرُ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قَرَّرْتُ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السَّفَارَةِ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أَلْجَأُ</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أَلْجَأْتُ</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أَلْجَأَ</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يَجِبُ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بِهُدُوءٍ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أَتَصَرَّفُ</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تَصَرَّفْتُ</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أَتَصَرَّفَ</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 سَافَرْتُ ثَانِيَةً،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تَأْمِينًا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سَأَشْتَرِي</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لَاشْتَرَيْتُ</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أَشْتَرِي</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أَمَّنْتُ رِحْلَتِي،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عَلَى تَعْوِيضٍ</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سَأَحْصُلُ</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لَحَصَلْتُ</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أَحْصُلُ</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Precaution: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تَأَكَّدْتُ مِنْ حَجْزِي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precaution takes the past perfect.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 المُوَظَّفُ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الرِّحْلَةَ سَتَتَأَخَّرُ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قَرَّرْتُ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السَّفَارَةِ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أَلْجَأُ</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أَلْجَأْتُ</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أَلْجَأَ</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يَجِبُ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بِهُدُوءٍ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أَتَصَرَّفُ</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تَصَرَّفْتُ</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أَتَصَرَّفَ</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 fatḥa.</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 سَافَرْتُ ثَانِيَةً،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تَأْمِينًا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سَأَشْتَرِي</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لَاشْتَرَيْتُ</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أَشْتَرِي</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أَمَّنْتُ رِحْلَتِي،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عَلَى تَعْوِيضٍ</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سَأَحْصُلُ</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لَحَصَلْتُ</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أَحْصُلُ</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P3-L06 · Narrative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P3-L07: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P3-L07 · Cultural Sensitivity in Travel — Being a Respectful Visitor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حَسَاسِيَّةٌ ثَقَافِيَّةٌ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cultural sensitivity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تَقَالِيدُ مَحَلِّيَّةٌ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local customs</a:t>
            </a:r>
            <a:pPr indent="0" marL="0">
              <a:buNone/>
            </a:pPr>
            <a:r>
              <a:rPr lang="ar-SA" sz="1000" i="1" dirty="0">
                <a:solidFill>
                  <a:srgbClr val="5A6472"/>
                </a:solidFill>
                <a:latin typeface="Calibri" pitchFamily="34" charset="0"/>
                <a:ea typeface="Amiri" pitchFamily="2" charset="-78"/>
                <a:cs typeface="Amiri" pitchFamily="2" charset="-78"/>
              </a:rPr>
              <a:t>  sg. تَقْلِيدٌ</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قَوَاعِدُ اللِّبَاسِ</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dress code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مَلَابِسُ مُحْتَشِمَةٌ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modest clothing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يُسْتَحْسَنُ أَنْ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is preferable that</a:t>
            </a:r>
            <a:pPr indent="0" marL="0">
              <a:buNone/>
            </a:pPr>
            <a:r>
              <a:rPr lang="en-US" sz="1000" i="1" dirty="0">
                <a:solidFill>
                  <a:srgbClr val="5A6472"/>
                </a:solidFill>
                <a:latin typeface="Calibri" pitchFamily="34" charset="0"/>
                <a:cs typeface="Amiri" pitchFamily="2" charset="-78"/>
              </a:rPr>
              <a:t>  + verb in -a</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should a visitor do to respect local customs?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يُسْتَحْسَنُ أَنْ يَحْتَرِمَ الزَّائِرُ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five-stage sequence for one travel problem, one sentence each.</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Expand it to 60–80 words with a verb after an (qarrartu an … / yajibu an …).</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travel-problem narrative using all five structures.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P3-L06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P3-L07 · Cultural Sensitivity in Travel — Being a Respectful Visitor</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الحَسَاسِيَّةُ الثَّقَافِيَّةُ فِي السَّفَرِ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precaution (kuntu qad) → problem (iktashaftu anna) → official (qāla … inna) → next time (idhā … sa-) → regret (law … la-) — and after an, the verb ends in -a: qarrartu an aljaʾa.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P3-L06 · Travel Problems and Solutions — Dealing With the Unexpected</dc:title>
  <dc:subject>PptxGenJS Presentation</dc:subject>
  <dc:creator>Al Madina Online School · Arabic Department</dc:creator>
  <cp:lastModifiedBy>Al Madina Online School · Arabic Department</cp:lastModifiedBy>
  <cp:revision>1</cp:revision>
  <dcterms:created xsi:type="dcterms:W3CDTF">2026-10-11T06:43:11Z</dcterms:created>
  <dcterms:modified xsi:type="dcterms:W3CDTF">2026-10-11T06:43:11Z</dcterms:modified>
</cp:coreProperties>
</file>