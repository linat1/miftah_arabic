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P3-L06. The website lesson “Travel Problems and Solutions — Dealing With the Unexpected”: vocabulary, grammar rules and quiz, patterns, common mistakes, sorter, listening, reading, speaking prompts and model, writing task and model, differentiation, final check and the lesson mission. Picture match: website visual game “Travel Problems and Solutions — Dealing With the Unexpected”.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five-stage sequence for one problem, one sentence each (website Core). Develop: expand the narrative and add a subjunctive after an. Stretch: a full 100–110-word narrative where the Type 2 regret is the most complex sentence.
• This lesson revises the whole unit — a good moment to praise progress. Every structure has been met before: kuntu qad (P3-L02/L03) · qāla inna (P2-L02) · idhā … sa- and law … la- (P3-L05).
• New today: the subjunctive after أَنْ — the verb ends in a fatḥa (أَلْجَأَ, not أَلْجَأُ). Weak students only need the sound: “after an, say -a”.
• Practical life skill: keep a photo of your passport, buy travel insurance, know where your embassy is. Some students may have had stressful journeys — keep stories light and invite, never require, real examples.
• TEACHER-WRITTEN ITEMS: waṣl alif shown without a kasra; rule headings and formulas in English and transliteration; sorter headings in English; the subjunctive, help-verb and regret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P3-L05. Questions 4–5 retrieve yushim fī and the law … la- regret (P3-L05) — today the regret becomes personal.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good problem story has five stages — and after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تاخیر، مسافر and سفارت are shared. مشورہ shares a root with يَسْتَشِيرُ (to consult), and تبلیغ (conveying a message) shares a root with يُبَلِّغُ (to report) and بَلَاغٌ (a police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problems (website vocabulary (1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problems (website vocabulary (2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Dealing with problems (website vocabulary (1 of 2)). Hear → Say → See → Use. Transliteration is printed for Core students (cover it for Develop/Stretch).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Dealing with problems (website vocabulary (2 of 2)). Hear → Say → See → Use. Transliteration is printed for Core students (cover it for Develop/Stretch).
FLEX: teach if time allows; otherwise these are on the website vocabulary tab for homework.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of help (website vocabulary (1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of help (website vocabulary (2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“Precaution and problem”, “Reported official”, “Plan and regret”, teaching point 1 and the website table.
Stage 2: أُلْغِيَتْ = “it was cancelled” (passive of أَلْغَى) — no need to say who cancelled it.
Stage 3: قَالَ is followed by إِنَّ; أَشَارَ إِلَى and أَوْضَحَ by أَنَّ (P2-L02). Both make the next noun accusative: إِنَّ الرِّحْلَةَ.
Stages 4–5: P3-L05. Ask: “Can it still happen?” → idhā … sa-. “Did it not happen?”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“Subjunctive after أَنْ”, teaching point 2 and mistake 2. Examples from the website listening, reading and live builder.
The subjunctive (المُضَارِعُ المَنْصُوبُ) only changes the last vowel: -u → -a. Row 3: a second verb joined with ثُمَّ / وَ is also subjunctive (أَذْهَبَ).
Remember the difference: أَنْ + verb (-a) · أَنَّ + noun / pronoun (accusative) — اكْتَشَفْتُ أَنَّ الرِّحْلَةَ … · قَرَّرْتُ أَنْ أَلْجَأَ … .
P3-L07 builds on this with يُسْتَحْسَنُ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vocabulary notes (Form II يُبَلِّغُ عَنْ, Form VIII يَلْجَأُ إِلَى, Form X يَسْتَشِيرُ + object) and mistake 3.
Card 1: report ABOUT something (عَنْ) TO someone (لِـ): أُبَلِّغُ عَنِ السَّرِقَةِ لِلشُّرْطَةِ.
Card 3: the past of يَسْتَشِيرُ is اسْتَشَارَ → اسْتَشَرْتُ (I consulted) — a hollow verb: the long vowel shortens before -tu.
Also useful: يَتَعَامَلُ مَعَ المُشْكِلَةِ (deals with the problem) · يَطْلُبُ التَّعْوِيضَ (asks for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differentiation asks Stretch writers to make the Type 2 regret “the most complex sentence”. Rows from the website live builder, listening, reading and writing model.
Row 2 is the most advanced: past perfect in both halves (لَوْ كُنْتُ قَدْ … لَكُنْتُ قَدْ …) — “if I had …, I would have …”.
Row 4 (passive): يُعَوِّضُ (compensates) → يُعَوَّضُ (is compensated).
Website mistake 1 also shows the waṣl kasra: لَوِ اشْتَرَيْتُ — law takes a kasra to join the next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“How a travel problem naturally triggers the past perfect, past narrative, reported speech, both conditional types and a subjunctive after أَنْ.”
• Precaution and problem: What you had done, then what went wrong.
• Reported official: What an official told you.
• Plan and regret: What you will do next time, and what you should have done.
• Subjunctive after an: The verb after أَنْ takes a fatḥa.
Website common error: Dropping the لَـ in the Type 2 regret, or leaving the verb after أَنْ in the indicative. أَنْ takes a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“Stage 1 — what had I done? kuntu qad. Stage 2 — what went wrong? iktashaftu anna … ḍāʿat. Now my action: qarrartu AN — so the verb ends in -a: aljaʾA. Stage 3 — the official: qāla … INNA. Stage 4 — next time: idhā … SA-. Stage 5 — the regret: law … LAMĀ.”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problem narrative from a precaution, an official's report and a plan/regret.” Website feedback: any three different combinations work.
Core: read row 1 across, then add the problem: لٰكِنَّ الرِّحْلَةَ أُلْغِيَتْ. Develop: find the two verbs after an that end in -a (أُبَلِّغَ · أَحْتَفِظَ). Stretch: upgrade column 3 row 2 to لَوْ كُنْتُ قَدْ أَمَّنْتُ رِحْلَتِي، لَكُنْتُ قَدْ حَصَلْتُ عَلَى تَعْوِيضٍ.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you hear after an.
Listen 1: just listen. Listen 2: note answers. Then chat the letters.
Support: after the second listening, show the read-along slide (Arabic + English, line by line) for Core students.
SCRIPT (read aloud):
يَرْوِي المُسَافِرُ: كُنْتُ قَدْ وَصَلْتُ إِلَى المَطَارِ مُبَكِّرًا، وَكُنْتُ قَدْ تَأَكَّدْتُ مِنْ حَجْزِي مَرَّتَيْنِ. لٰكِنْ فَجْأَةً اكْتَشَفْتُ أَنَّ جَوَازَ سَفَرِي مَفْقُودٌ. حَاوَلْتُ أَنْ أَتَصَرَّفَ بِهُدُوءٍ، وَقَرَّرْتُ أَنْ أَلْجَأَ إِلَى شُرْطَةِ السِّيَاحَةِ. قَالَ المُوَظَّفُ إِنَّهُ يَجِبُ أَنْ أُبَلِّغَ عَنِ الفُقْدَانِ ثُمَّ أَذْهَبَ إِلَى السَّفَارَةِ. وَأَشَارَ إِلَى أَنَّنِي سَأَحْصُلُ عَلَى وَثِيقَةِ سَفَرٍ مُؤَقَّتَةٍ. إِذَا سَافَرْتُ ثَانِيَةً، سَأَحْتَفِظُ بِنُسْخَةٍ مِنْ وَثَائِقِي. وَلَوْ كُنْتُ قَدْ صَوَّرْتُ جَوَازِي قَبْلَ الرِّحْلَةِ، لَكُنْتُ قَدْ وَفَّرْتُ سَاعَاتٍ مِنَ القَلَقِ.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قَرَّرْتَ أَنْ تَفْعَلَ؟ (Subjunctive)
B: قَرَّرْتُ أَنْ أَلْجَأَ إِلَى المَكْتَبِ، وَلَوْ كُنْتُ قَدْ أَمَّنْتُ رِحْلَتِي لَحَصَلْتُ عَلَى تَعْوِيضٍ. (Subjunctive + Type 2 regret)
Website prompts and model. Pair task: “the airport desk” — A is the traveller with a problem card (delay / lost bag / lost passport), B is the official who must answer with يَجِبُ أَنْ + -a. Then swap. To a girl: كُنْتِ قَدْ فَعَلْتِ · قَرَّرْتِ أَنْ تَفْعَلِي.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five-stage sequence for one problem, one sentence each. · Develop — Expand the past narrative and add a subjunctive after أَنْ. · Stretch — Write a full narrative where the Type 2 regret is the most complex sentence.
Website writing task (Stretch): Write a travel-problem narrative of one hundred to one hundred and ten words using all five structures: a past-perfect precaution, a past narrative, reported speech from an official, a Type 1 plan and a Type 2 regret, with one subjunctive after أَنْ.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خَطَّطْتُ · كُنْتُ قَدْ تَأَكَّدْتُ · اكْتَشَفْتُ أَنَّ حَقِيبَتِي ضَاعَتْ · أَنْ أَتَصَرَّفَ · أَنْ أَلْجَأَ · قَالَ المُوَظَّفُ إِنَّ · أَنْ أُبَلِّغَ · إِذَا سَافَرْتُ … سَأَضَعُ · لَوْ كُنْتُ قَدْ فَعَلْتُ … لَمَا عِشْتُ.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(P3-L07 · Cultural Sensitivity in Travel — Being a Respectful Visitor) will spend class time USING this language, so students prepare it tonight — short, simple, easy to access (school guidance: “Simple, Short, Interesting, Relevant, Easy to access”). The five words come from the website P3-L07 vocabulary (cultural sensitivity).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Travel Problems and Solutions — Dealing With the Unexpected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مَشَاكِلُ السَّفَرِ وَالحُلُولُ — التَّعَامُلُ مَعَ غَيْرِ المُتَوَقَّعِ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Tell a travel-problem story with all five P3 structures: kuntu qad (precaution), the past (problem), qāla … inna (the official), idhā … sa- (next time) and law … la- (regret) — plus the subjunctive after an: qarrartu an aljaʾa.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P3-L06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five-stage problem story, the subjunctive after an, help verbs, the regret upgraded.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travel problems, build a problem narrative, sort precaution / problem / help.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تَأَخُّرُ الرِّحْلَةِ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flight cancellation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flight delay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فُقْدَانُ الأَمْتِعَةِ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lost luggage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luggage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 luggage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يَتَصَرَّفُ بِهُدُوءٍ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complains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acts calmly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 المَحَلِّيِّ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regret: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نَظَّمْنَا الزِّيَارَاتِ،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تَأَخُّرُ الرِّحْلَةِ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flight cancellation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flight delay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direct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فُقْدَانُ الأَمْتِعَةِ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lost luggage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luggage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 luggage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يَتَصَرَّفُ بِهُدُوءٍ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complains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acts calmly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 المَحَلِّيِّ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P3-L05: yushim is fixed with fī.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regret: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نَظَّمْنَا الزِّيَارَاتِ،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P3-L05: a Type 2 result takes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good problem story has five stages — and after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كُنْتُ قَدْ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اكْتَشَفْتُ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قَالَ … إِنَّ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إِذَا … 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لَوْ …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قَرَّرْتُ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أَلْجَأَ</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travel problems and sources of help.</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problem story: precaution → problem → official → plan → regret.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subjunctive after an (yajibu an, qarrartu 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travel-problem narrative.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travel problems and sources of help.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 problem in the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kuntu qad and qāla … inna in my story.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subjunctive after 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Type 1 plan and a Type 2 regret.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problem narrative.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Travel problems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Dealing with problems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Sources of help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تَأْخِيرٌ · تَأَخُّرٌ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‎تاخیر‎ </a:t>
            </a:r>
            <a:pPr indent="0" marL="0">
              <a:buNone/>
            </a:pPr>
            <a:r>
              <a:rPr lang="en-US" sz="950" b="1" dirty="0">
                <a:solidFill>
                  <a:srgbClr val="2E8B57"/>
                </a:solidFill>
                <a:latin typeface="Calibri" pitchFamily="34" charset="0"/>
                <a:ea typeface="Calibri" pitchFamily="34" charset="-122"/>
                <a:cs typeface="Calibri" pitchFamily="34" charset="-120"/>
              </a:rPr>
              <a:t> tākhīr · a delay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سَفَارَةٌ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‎سفارت · سفارت خانہ‎ </a:t>
            </a:r>
            <a:pPr indent="0" marL="0">
              <a:buNone/>
            </a:pPr>
            <a:r>
              <a:rPr lang="en-US" sz="950" b="1" dirty="0">
                <a:solidFill>
                  <a:srgbClr val="2E8B57"/>
                </a:solidFill>
                <a:latin typeface="Calibri" pitchFamily="34" charset="0"/>
                <a:ea typeface="Calibri" pitchFamily="34" charset="-122"/>
                <a:cs typeface="Calibri" pitchFamily="34" charset="-120"/>
              </a:rPr>
              <a:t> sifārat · an embassy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يَسْتَشِيرُ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‎مشورہ‎ </a:t>
            </a:r>
            <a:pPr indent="0" marL="0">
              <a:buNone/>
            </a:pPr>
            <a:r>
              <a:rPr lang="en-US" sz="950" b="1" dirty="0">
                <a:solidFill>
                  <a:srgbClr val="2E8B57"/>
                </a:solidFill>
                <a:latin typeface="Calibri" pitchFamily="34" charset="0"/>
                <a:ea typeface="Calibri" pitchFamily="34" charset="-122"/>
                <a:cs typeface="Calibri" pitchFamily="34" charset="-120"/>
              </a:rPr>
              <a:t> mashwara · consults · advice (same root)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يُبَلِّغُ</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‎تبلیغ‎ </a:t>
            </a:r>
            <a:pPr indent="0" marL="0">
              <a:buNone/>
            </a:pPr>
            <a:r>
              <a:rPr lang="en-US" sz="950" b="1" dirty="0">
                <a:solidFill>
                  <a:srgbClr val="2E8B57"/>
                </a:solidFill>
                <a:latin typeface="Calibri" pitchFamily="34" charset="0"/>
                <a:ea typeface="Calibri" pitchFamily="34" charset="-122"/>
                <a:cs typeface="Calibri" pitchFamily="34" charset="-120"/>
              </a:rPr>
              <a:t> tablīgh · reports, conveys (same root)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تَأَخُّرُ الرِّحْلَةِ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flight delay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ta-ʾakh-khu-ru ar-riḥ-la-ti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إِلْغَاءٌ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cancellation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il-ghā-ʾun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فُقْدَانُ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lost luggage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fuq-dā-nu al-am-ti-ʿa-ti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سَرِقَةٌ</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sa-ri-qa-tun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سَرِقَاتٌ</a:t>
            </a:r>
            <a:endParaRPr lang="ar-SA" sz="15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طَوَارِئُ طِبِّيَّةٌ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medical emergency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ṭa-wā-ri-ʾu ṭib-biy-ya-tun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getting lost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ḍa-yā-ʿun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خَطَأٌ فِي الحَجْزِ</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booking error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kha-ṭa-ʾun fī al-ḥaj-zi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أَخْطَاءٌ فِي الحَجْزِ</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نِزَاعٌ مَعَ الفُنْدُقِ</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 dispute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ni-zā-ʿun ma-ʿa al-fun-du-qi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Dealing with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يَتَعَامَلُ مَعَ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deals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ya-ta-ʿā-ma-lu ma-ʿa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تَتَعَامَلُ مَعَ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أَتَعَامَلُ مَعَ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يَتَصَرَّفُ بِهُدُوءٍ</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acts calmly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ya-ta-ṣar-ra-fu bi-hu-dū-ʾin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تَتَصَرَّفُ بِهُدُوءٍ</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أَتَصَرَّفُ بِهُدُوءٍ</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 عَنْ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yu-bal-li-ghu ʿan</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تُبَلِّغُ عَنْ</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أُبَلِّغُ عَنْ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يَلْجَأُ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turns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yal-ja-ʾu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تَلْجَأُ إِلَى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أَلْجَأُ إِلَى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Dealing with problems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يَسْتَشِيرُ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consults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yas-ta-shī-ru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تَسْتَشِيرُ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أَسْتَشِيرُ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يَطْلُبُ التَّعْوِيضَ</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requests compensation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yaṭ-lu-bu at-taʿ-wī-ḍa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تَطْلُبُ التَّعْوِيضَ</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أَطْلُبُ التَّعْوِيضَ</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بَدِيلَةٌ</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contingency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khuṭ-ṭa-tun ba-dī-la-tun</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التَّأْمِينُ السِّيَاحِيُّ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insurance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at-taʾ-mī-nu as-si-yā-ḥiy-yu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Sources of help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شُرْطَةُ السِّيَاحَةِ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tourist police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shur-ṭa-tu as-si-yā-ḥa-ti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السَّفَارَةُ</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embassy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as-sa-fā-ra-tu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5" name="Text 32"/>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السَّفَارَاتُ</a:t>
            </a:r>
            <a:endParaRPr lang="ar-SA" sz="150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 السِّيَاحَةِ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tourist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 as-si-yā-ḥa-ti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وَثِيقَةُ سَفَرٍ مُؤَقَّتَةٌ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temporary travel document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wa-thī-qa-tu sa-fa-rin mu-ʾaq-qa-ta-tun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وَثَائِقُ سَفَرٍ مُؤَقَّتَةٌ</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Sources of help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مُوَظَّفُ المَطَارِ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airport official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mu-waẓ-ẓa-fu al-ma-ṭā-ri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مُوَظَّفُو المَطَارِ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مُوَظَّفَةُ المَطَارِ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بَلَاغٌ</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report, notification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ba-lā-ghun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بَلَاغَاتٌ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تَعْوِيضٌ</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compensation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taʿ-wī-ḍun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بُطَاقَةُ الهُوِيَّةِ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ID card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bu-ṭā-qa-tu al-hu-wiy-ya-ti</a:t>
            </a:r>
            <a:endParaRPr lang="en-US" sz="1350" dirty="0"/>
          </a:p>
        </p:txBody>
      </p:sp>
      <p:sp>
        <p:nvSpPr>
          <p:cNvPr id="52" name="Shape 49"/>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بِطَاقَاتُ الهُوِيَّةِ</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FIVE-STAGE PROBLEM STORY (WEBSITE RULES 1–3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stages,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خَمْسُ مَرَاحِلَ · خَمْسُ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480560" y="2267712"/>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كُنْتُ 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تَأَكَّدْتُ مِنْ حَجْزِي مَرَّتَيْنِ.</a:t>
            </a:r>
            <a:endParaRPr lang="ar-SA" sz="1900" dirty="0"/>
          </a:p>
        </p:txBody>
      </p:sp>
      <p:sp>
        <p:nvSpPr>
          <p:cNvPr id="21" name="Text 18"/>
          <p:cNvSpPr txBox="1"/>
          <p:nvPr/>
        </p:nvSpPr>
        <p:spPr>
          <a:xfrm>
            <a:off x="23042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qad + past</a:t>
            </a:r>
            <a:endParaRPr lang="en-US" sz="11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precaution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480560" y="300471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ثُمَّ </a:t>
            </a:r>
            <a:pPr rtl="1" algn="ctr" indent="0" marL="0">
              <a:buNone/>
            </a:pPr>
            <a:r>
              <a:rPr lang="ar-SA" altLang="en-US" sz="1900" b="1" dirty="0">
                <a:solidFill>
                  <a:srgbClr val="D6336C"/>
                </a:solidFill>
                <a:latin typeface="Amiri" pitchFamily="34" charset="0"/>
                <a:ea typeface="Amiri" pitchFamily="34" charset="-122"/>
                <a:cs typeface="Amiri" pitchFamily="34" charset="-120"/>
              </a:rPr>
              <a:t>اكْتَشَفْتُ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الرِّحْلَةَ </a:t>
            </a:r>
            <a:pPr rtl="1" algn="ctr" indent="0" marL="0">
              <a:buNone/>
            </a:pPr>
            <a:r>
              <a:rPr lang="ar-SA" altLang="en-US" sz="1900" b="1" dirty="0">
                <a:solidFill>
                  <a:srgbClr val="D6336C"/>
                </a:solidFill>
                <a:latin typeface="Amiri" pitchFamily="34" charset="0"/>
                <a:ea typeface="Amiri" pitchFamily="34" charset="-122"/>
                <a:cs typeface="Amiri" pitchFamily="34" charset="-120"/>
              </a:rPr>
              <a:t>أُلْغِيَتْ</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7" name="Text 24"/>
          <p:cNvSpPr txBox="1"/>
          <p:nvPr/>
        </p:nvSpPr>
        <p:spPr>
          <a:xfrm>
            <a:off x="23042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narrative</a:t>
            </a:r>
            <a:endParaRPr lang="en-US" sz="11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problem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480560" y="3741725"/>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المُوَظَّفُ </a:t>
            </a:r>
            <a:pPr rtl="1" algn="ctr" indent="0" marL="0">
              <a:buNone/>
            </a:pPr>
            <a:r>
              <a:rPr lang="ar-SA" altLang="en-US" sz="1900" b="1" dirty="0">
                <a:solidFill>
                  <a:srgbClr val="7B3FA0"/>
                </a:solidFill>
                <a:latin typeface="Amiri" pitchFamily="34" charset="0"/>
                <a:ea typeface="Amiri" pitchFamily="34" charset="-122"/>
                <a:cs typeface="Amiri" pitchFamily="34" charset="-120"/>
              </a:rPr>
              <a:t>إِنَّ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الرِّحْلَةَ سَتَتَأَخَّرُ سَاعَتَيْنِ.</a:t>
            </a:r>
            <a:endParaRPr lang="ar-SA" sz="1900" dirty="0"/>
          </a:p>
        </p:txBody>
      </p:sp>
      <p:sp>
        <p:nvSpPr>
          <p:cNvPr id="33" name="Text 30"/>
          <p:cNvSpPr txBox="1"/>
          <p:nvPr/>
        </p:nvSpPr>
        <p:spPr>
          <a:xfrm>
            <a:off x="23042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qāla inna · ashāra ilā anna</a:t>
            </a:r>
            <a:endParaRPr lang="en-US" sz="1100" dirty="0"/>
          </a:p>
        </p:txBody>
      </p:sp>
      <p:sp>
        <p:nvSpPr>
          <p:cNvPr id="34" name="Text 3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official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480560" y="4478731"/>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900" b="1" dirty="0">
                <a:solidFill>
                  <a:srgbClr val="1B3B6F"/>
                </a:solidFill>
                <a:latin typeface="Amiri" pitchFamily="34" charset="0"/>
                <a:ea typeface="Amiri" pitchFamily="34" charset="-122"/>
                <a:cs typeface="Amiri" pitchFamily="34" charset="-120"/>
              </a:rPr>
              <a:t> سَافَرْتُ ثَانِيَةً، </a:t>
            </a:r>
            <a:pPr rtl="1" algn="ctr" indent="0" marL="0">
              <a:buNone/>
            </a:pPr>
            <a:r>
              <a:rPr lang="ar-SA" altLang="en-US" sz="1900" b="1" dirty="0">
                <a:solidFill>
                  <a:srgbClr val="1D5FBF"/>
                </a:solidFill>
                <a:latin typeface="Amiri" pitchFamily="34" charset="0"/>
                <a:ea typeface="Amiri" pitchFamily="34" charset="-122"/>
                <a:cs typeface="Amiri" pitchFamily="34" charset="-120"/>
              </a:rPr>
              <a:t>سَأَشْتَرِي</a:t>
            </a:r>
            <a:pPr rtl="1" algn="ctr" indent="0" marL="0">
              <a:buNone/>
            </a:pPr>
            <a:r>
              <a:rPr lang="ar-SA" altLang="en-US" sz="1900" b="1" dirty="0">
                <a:solidFill>
                  <a:srgbClr val="1B3B6F"/>
                </a:solidFill>
                <a:latin typeface="Amiri" pitchFamily="34" charset="0"/>
                <a:ea typeface="Amiri" pitchFamily="34" charset="-122"/>
                <a:cs typeface="Amiri" pitchFamily="34" charset="-120"/>
              </a:rPr>
              <a:t> تَأْمِينًا.</a:t>
            </a:r>
            <a:endParaRPr lang="ar-SA" sz="1900" dirty="0"/>
          </a:p>
        </p:txBody>
      </p:sp>
      <p:sp>
        <p:nvSpPr>
          <p:cNvPr id="37" name="Text 34"/>
          <p:cNvSpPr txBox="1"/>
          <p:nvPr/>
        </p:nvSpPr>
        <p:spPr>
          <a:xfrm>
            <a:off x="23042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38" name="Text 3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next time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480560" y="521573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 كُنْتُ 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اشْتَرَيْتُ تَأْمِينًا، </a:t>
            </a:r>
            <a:pPr rtl="1" algn="ctr" indent="0" marL="0">
              <a:buNone/>
            </a:pPr>
            <a:r>
              <a:rPr lang="ar-SA" altLang="en-US" sz="1900" b="1" dirty="0">
                <a:solidFill>
                  <a:srgbClr val="0E7C86"/>
                </a:solidFill>
                <a:latin typeface="Amiri" pitchFamily="34" charset="0"/>
                <a:ea typeface="Amiri" pitchFamily="34" charset="-122"/>
                <a:cs typeface="Amiri" pitchFamily="34" charset="-120"/>
              </a:rPr>
              <a:t>لَحَصَلْتُ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عَلَى تَعْوِيضٍ.</a:t>
            </a:r>
            <a:endParaRPr lang="ar-SA" sz="1900" dirty="0"/>
          </a:p>
        </p:txBody>
      </p:sp>
      <p:sp>
        <p:nvSpPr>
          <p:cNvPr id="41" name="Text 38"/>
          <p:cNvSpPr txBox="1"/>
          <p:nvPr/>
        </p:nvSpPr>
        <p:spPr>
          <a:xfrm>
            <a:off x="23042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42" name="Text 39"/>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regret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one sentence per stage. Stages 1–2 alone already make a good story.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SUBJUNCTIVE AFTER AN (WEBSITE RULE 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an, say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المُضَارِعُ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102352" y="1810512"/>
            <a:ext cx="6556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(-a)</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 (-u)</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120640" y="2267712"/>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حَاوَلْتُ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أَتَصَرَّفَ</a:t>
            </a:r>
            <a:pPr rtl="1" algn="ctr" indent="0" marL="0">
              <a:buNone/>
            </a:pPr>
            <a:r>
              <a:rPr lang="ar-SA" altLang="en-US" sz="1900" b="1" dirty="0">
                <a:solidFill>
                  <a:srgbClr val="1B3B6F"/>
                </a:solidFill>
                <a:latin typeface="Amiri" pitchFamily="34" charset="0"/>
                <a:ea typeface="Amiri" pitchFamily="34" charset="-122"/>
                <a:cs typeface="Amiri" pitchFamily="34" charset="-120"/>
              </a:rPr>
              <a:t> بِهُدُوءٍ.</a:t>
            </a:r>
            <a:endParaRPr lang="ar-SA" sz="1900" dirty="0"/>
          </a:p>
        </p:txBody>
      </p:sp>
      <p:sp>
        <p:nvSpPr>
          <p:cNvPr id="21" name="Text 18"/>
          <p:cNvSpPr txBox="1"/>
          <p:nvPr/>
        </p:nvSpPr>
        <p:spPr>
          <a:xfrm>
            <a:off x="274320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أَتَصَرَّفَ</a:t>
            </a:r>
            <a:endParaRPr lang="ar-SA" sz="20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أَتَصَرَّفُ</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120640" y="300471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قَرَّرْتُ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أَلْجَأَ</a:t>
            </a:r>
            <a:pPr rtl="1" algn="ctr" indent="0" marL="0">
              <a:buNone/>
            </a:pPr>
            <a:r>
              <a:rPr lang="ar-SA" altLang="en-US" sz="1900" b="1" dirty="0">
                <a:solidFill>
                  <a:srgbClr val="1B3B6F"/>
                </a:solidFill>
                <a:latin typeface="Amiri" pitchFamily="34" charset="0"/>
                <a:ea typeface="Amiri" pitchFamily="34" charset="-122"/>
                <a:cs typeface="Amiri" pitchFamily="34" charset="-120"/>
              </a:rPr>
              <a:t> إِلَى شُرْطَةِ السِّيَاحَةِ.</a:t>
            </a:r>
            <a:endParaRPr lang="ar-SA" sz="1900" dirty="0"/>
          </a:p>
        </p:txBody>
      </p:sp>
      <p:sp>
        <p:nvSpPr>
          <p:cNvPr id="27" name="Text 24"/>
          <p:cNvSpPr txBox="1"/>
          <p:nvPr/>
        </p:nvSpPr>
        <p:spPr>
          <a:xfrm>
            <a:off x="274320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أَلْجَأَ</a:t>
            </a:r>
            <a:endParaRPr lang="ar-SA" sz="20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أَلْجَأُ</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120640" y="3741725"/>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أُبَلِّغَ</a:t>
            </a:r>
            <a:pPr rtl="1" algn="ctr" indent="0" marL="0">
              <a:buNone/>
            </a:pPr>
            <a:r>
              <a:rPr lang="ar-SA" altLang="en-US" sz="1900" b="1" dirty="0">
                <a:solidFill>
                  <a:srgbClr val="1B3B6F"/>
                </a:solidFill>
                <a:latin typeface="Amiri" pitchFamily="34" charset="0"/>
                <a:ea typeface="Amiri" pitchFamily="34" charset="-122"/>
                <a:cs typeface="Amiri" pitchFamily="34" charset="-120"/>
              </a:rPr>
              <a:t> عَنِ الفُقْدَانِ ثُمَّ </a:t>
            </a:r>
            <a:pPr rtl="1" algn="ctr" indent="0" marL="0">
              <a:buNone/>
            </a:pPr>
            <a:r>
              <a:rPr lang="ar-SA" altLang="en-US" sz="1900" b="1" dirty="0">
                <a:solidFill>
                  <a:srgbClr val="0E7C86"/>
                </a:solidFill>
                <a:latin typeface="Amiri" pitchFamily="34" charset="0"/>
                <a:ea typeface="Amiri" pitchFamily="34" charset="-122"/>
                <a:cs typeface="Amiri" pitchFamily="34" charset="-120"/>
              </a:rPr>
              <a:t>أَذْهَبَ</a:t>
            </a:r>
            <a:pPr rtl="1" algn="ctr" indent="0" marL="0">
              <a:buNone/>
            </a:pPr>
            <a:r>
              <a:rPr lang="ar-SA" altLang="en-US" sz="1900" b="1" dirty="0">
                <a:solidFill>
                  <a:srgbClr val="1B3B6F"/>
                </a:solidFill>
                <a:latin typeface="Amiri" pitchFamily="34" charset="0"/>
                <a:ea typeface="Amiri" pitchFamily="34" charset="-122"/>
                <a:cs typeface="Amiri" pitchFamily="34" charset="-120"/>
              </a:rPr>
              <a:t> إِلَى السَّفَارَةِ.</a:t>
            </a:r>
            <a:endParaRPr lang="ar-SA" sz="1900" dirty="0"/>
          </a:p>
        </p:txBody>
      </p:sp>
      <p:sp>
        <p:nvSpPr>
          <p:cNvPr id="33" name="Text 30"/>
          <p:cNvSpPr txBox="1"/>
          <p:nvPr/>
        </p:nvSpPr>
        <p:spPr>
          <a:xfrm>
            <a:off x="274320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أُبَلِّغَ</a:t>
            </a:r>
            <a:pPr rtl="1" algn="ctr" indent="0" marL="0">
              <a:buNone/>
            </a:pPr>
            <a:r>
              <a:rPr lang="ar-SA" altLang="en-US" sz="2000" b="1" dirty="0">
                <a:solidFill>
                  <a:srgbClr val="1B3B6F"/>
                </a:solidFill>
                <a:latin typeface="Amiri" pitchFamily="34" charset="0"/>
                <a:ea typeface="Amiri" pitchFamily="34" charset="-122"/>
                <a:cs typeface="Amiri" pitchFamily="34" charset="-120"/>
              </a:rPr>
              <a:t> … </a:t>
            </a:r>
            <a:pPr rtl="1" algn="ctr" indent="0" marL="0">
              <a:buNone/>
            </a:pPr>
            <a:r>
              <a:rPr lang="ar-SA" altLang="en-US" sz="2000" b="1" dirty="0">
                <a:solidFill>
                  <a:srgbClr val="0E7C86"/>
                </a:solidFill>
                <a:latin typeface="Amiri" pitchFamily="34" charset="0"/>
                <a:ea typeface="Amiri" pitchFamily="34" charset="-122"/>
                <a:cs typeface="Amiri" pitchFamily="34" charset="-120"/>
              </a:rPr>
              <a:t>أَذْهَبَ</a:t>
            </a:r>
            <a:endParaRPr lang="ar-SA" sz="20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أُبَلِّغُ · أَذْهَبُ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120640" y="4478731"/>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أَنْتَظِرَ</a:t>
            </a:r>
            <a:pPr rtl="1" algn="ctr" indent="0" marL="0">
              <a:buNone/>
            </a:pPr>
            <a:r>
              <a:rPr lang="ar-SA" altLang="en-US" sz="1900" b="1" dirty="0">
                <a:solidFill>
                  <a:srgbClr val="1B3B6F"/>
                </a:solidFill>
                <a:latin typeface="Amiri" pitchFamily="34" charset="0"/>
                <a:ea typeface="Amiri" pitchFamily="34" charset="-122"/>
                <a:cs typeface="Amiri" pitchFamily="34" charset="-120"/>
              </a:rPr>
              <a:t> فِي صَالَةِ المُغَادَرَةِ.</a:t>
            </a:r>
            <a:endParaRPr lang="ar-SA" sz="1900" dirty="0"/>
          </a:p>
        </p:txBody>
      </p:sp>
      <p:sp>
        <p:nvSpPr>
          <p:cNvPr id="37" name="Text 34"/>
          <p:cNvSpPr txBox="1"/>
          <p:nvPr/>
        </p:nvSpPr>
        <p:spPr>
          <a:xfrm>
            <a:off x="274320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أَنْتَظِرَ</a:t>
            </a:r>
            <a:endParaRPr lang="ar-SA" sz="20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أَنْتَظِرُ</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120640" y="521573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قَرَّرْتُ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أَحْتَفِظَ</a:t>
            </a:r>
            <a:pPr rtl="1" algn="ctr" indent="0" marL="0">
              <a:buNone/>
            </a:pPr>
            <a:r>
              <a:rPr lang="ar-SA" altLang="en-US" sz="1900" b="1" dirty="0">
                <a:solidFill>
                  <a:srgbClr val="1B3B6F"/>
                </a:solidFill>
                <a:latin typeface="Amiri" pitchFamily="34" charset="0"/>
                <a:ea typeface="Amiri" pitchFamily="34" charset="-122"/>
                <a:cs typeface="Amiri" pitchFamily="34" charset="-120"/>
              </a:rPr>
              <a:t> بِنُسْخَةٍ مِنْ وَثَائِقِي.</a:t>
            </a:r>
            <a:endParaRPr lang="ar-SA" sz="1900" dirty="0"/>
          </a:p>
        </p:txBody>
      </p:sp>
      <p:sp>
        <p:nvSpPr>
          <p:cNvPr id="41" name="Text 38"/>
          <p:cNvSpPr txBox="1"/>
          <p:nvPr/>
        </p:nvSpPr>
        <p:spPr>
          <a:xfrm>
            <a:off x="274320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أَحْتَفِظَ</a:t>
            </a:r>
            <a:endParaRPr lang="ar-SA" sz="20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أَحْتَفِظُ</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qarrartu an aljaʾu ✗ → an aljaʾa ✓. Triggers: yajibu an · ḥāwaltu an · qarrartu 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HELP VERBS AND THEIR PARTNERS (WEBSITE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 you turn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طَلَبِ المُسَاعَدَةِ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ʿAN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يُبَلِّغُ عَنْ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أُبَلِّغُ عَنِ السَّرِقَةِ لِلشُّرْطَةِ.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report the theft to the police.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Report about → ʿan.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ILĀ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يَلْجَأُ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لَجَأْتُ إِلَى السَّفَارَةِ.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turned to the embassy.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Turn to →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OBJECT · DEVELOP</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يَسْتَشِيرُ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اسْتَشَرْتُ مُوَظَّفَ المَطَارِ.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consulted the airport official.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yuballigh is fixed with ʿan.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يُبَلِّغُ المُسَافِرُ عَنِ السَّرِقَةِ لِلشُّرْطَةِ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يُبَلِّغُ المُسَافِرُ السَّرِقَةَ لِلشُّرْطَةِ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MAKE THE REGRET THE STRONGEST SENTENCE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النَّدَمُ فِي أَقْوَى صُوَرِهِ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17627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past → la-</a:t>
            </a:r>
            <a:endParaRPr lang="en-US" sz="1100" dirty="0"/>
          </a:p>
        </p:txBody>
      </p:sp>
      <p:sp>
        <p:nvSpPr>
          <p:cNvPr id="21" name="Text 18"/>
          <p:cNvSpPr txBox="1"/>
          <p:nvPr/>
        </p:nvSpPr>
        <p:spPr>
          <a:xfrm>
            <a:off x="219456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أَمَّنْتُ رِحْلَتِي، </a:t>
            </a:r>
            <a:pPr rtl="1" algn="ctr" indent="0" marL="0">
              <a:buNone/>
            </a:pPr>
            <a:r>
              <a:rPr lang="ar-SA" altLang="en-US" sz="1900" b="1" dirty="0">
                <a:solidFill>
                  <a:srgbClr val="0E7C86"/>
                </a:solidFill>
                <a:latin typeface="Amiri" pitchFamily="34" charset="0"/>
                <a:ea typeface="Amiri" pitchFamily="34" charset="-122"/>
                <a:cs typeface="Amiri" pitchFamily="34" charset="-120"/>
              </a:rPr>
              <a:t>لَحَصَلْتُ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عَلَى تَعْوِيضٍ.</a:t>
            </a:r>
            <a:endParaRPr lang="ar-SA" sz="19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simple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kuntu qad</a:t>
            </a:r>
            <a:endParaRPr lang="en-US" sz="1100" dirty="0"/>
          </a:p>
        </p:txBody>
      </p:sp>
      <p:sp>
        <p:nvSpPr>
          <p:cNvPr id="27" name="Text 24"/>
          <p:cNvSpPr txBox="1"/>
          <p:nvPr/>
        </p:nvSpPr>
        <p:spPr>
          <a:xfrm>
            <a:off x="219456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 كُنْتُ 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صَوَّرْتُ جَوَازِي، </a:t>
            </a:r>
            <a:pPr rtl="1" algn="ctr" indent="0" marL="0">
              <a:buNone/>
            </a:pPr>
            <a:r>
              <a:rPr lang="ar-SA" altLang="en-US" sz="1900" b="1" dirty="0">
                <a:solidFill>
                  <a:srgbClr val="0E7C86"/>
                </a:solidFill>
                <a:latin typeface="Amiri" pitchFamily="34" charset="0"/>
                <a:ea typeface="Amiri" pitchFamily="34" charset="-122"/>
                <a:cs typeface="Amiri" pitchFamily="34" charset="-120"/>
              </a:rPr>
              <a:t>لَكُنْتُ 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وَفَّرْتُ سَاعَاتٍ مِنَ القَلَقِ.</a:t>
            </a:r>
            <a:endParaRPr lang="ar-SA" sz="19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lamā</a:t>
            </a:r>
            <a:endParaRPr lang="en-US" sz="1100" dirty="0"/>
          </a:p>
        </p:txBody>
      </p:sp>
      <p:sp>
        <p:nvSpPr>
          <p:cNvPr id="31" name="Text 28"/>
          <p:cNvSpPr txBox="1"/>
          <p:nvPr/>
        </p:nvSpPr>
        <p:spPr>
          <a:xfrm>
            <a:off x="219456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 كُنْتُ 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اخْتَرْتُ رِحْلَةً مُبَاشِرَةً، </a:t>
            </a:r>
            <a:pPr rtl="1" algn="ctr" indent="0" marL="0">
              <a:buNone/>
            </a:pPr>
            <a:r>
              <a:rPr lang="ar-SA" altLang="en-US" sz="1900" b="1" dirty="0">
                <a:solidFill>
                  <a:srgbClr val="0E7C86"/>
                </a:solidFill>
                <a:latin typeface="Amiri" pitchFamily="34" charset="0"/>
                <a:ea typeface="Amiri" pitchFamily="34" charset="-122"/>
                <a:cs typeface="Amiri" pitchFamily="34" charset="-120"/>
              </a:rPr>
              <a:t>لَمَا</a:t>
            </a:r>
            <a:pPr rtl="1" algn="ctr" indent="0" marL="0">
              <a:buNone/>
            </a:pPr>
            <a:r>
              <a:rPr lang="ar-SA" altLang="en-US" sz="1900" b="1" dirty="0">
                <a:solidFill>
                  <a:srgbClr val="1B3B6F"/>
                </a:solidFill>
                <a:latin typeface="Amiri" pitchFamily="34" charset="0"/>
                <a:ea typeface="Amiri" pitchFamily="34" charset="-122"/>
                <a:cs typeface="Amiri" pitchFamily="34" charset="-120"/>
              </a:rPr>
              <a:t> وَاجَهْتُ هٰذَا التَّأْخِيرَ.</a:t>
            </a:r>
            <a:endParaRPr lang="ar-SA" sz="19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negative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passive</a:t>
            </a:r>
            <a:endParaRPr lang="en-US" sz="1100" dirty="0"/>
          </a:p>
        </p:txBody>
      </p:sp>
      <p:sp>
        <p:nvSpPr>
          <p:cNvPr id="35" name="Text 32"/>
          <p:cNvSpPr txBox="1"/>
          <p:nvPr/>
        </p:nvSpPr>
        <p:spPr>
          <a:xfrm>
            <a:off x="219456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أَوْضَحَ أَنَّ تَأْخِيرَ الطَّقْسِ </a:t>
            </a:r>
            <a:pPr rtl="1" algn="ctr" indent="0" marL="0">
              <a:buNone/>
            </a:pPr>
            <a:r>
              <a:rPr lang="ar-SA" altLang="en-US" sz="1900" b="1" dirty="0">
                <a:solidFill>
                  <a:srgbClr val="D6336C"/>
                </a:solidFill>
                <a:latin typeface="Amiri" pitchFamily="34" charset="0"/>
                <a:ea typeface="Amiri" pitchFamily="34" charset="-122"/>
                <a:cs typeface="Amiri" pitchFamily="34" charset="-120"/>
              </a:rPr>
              <a:t>لَا يُعَوَّضُ</a:t>
            </a:r>
            <a:pPr rtl="1" algn="ctr" indent="0" marL="0">
              <a:buNone/>
            </a:pPr>
            <a:r>
              <a:rPr lang="ar-SA" altLang="en-US" sz="1900" b="1" dirty="0">
                <a:solidFill>
                  <a:srgbClr val="1B3B6F"/>
                </a:solidFill>
                <a:latin typeface="Amiri" pitchFamily="34" charset="0"/>
                <a:ea typeface="Amiri" pitchFamily="34" charset="-122"/>
                <a:cs typeface="Amiri" pitchFamily="34" charset="-120"/>
              </a:rPr>
              <a:t> عَادَةً.</a:t>
            </a:r>
            <a:endParaRPr lang="ar-SA" sz="19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lamā</a:t>
            </a:r>
            <a:endParaRPr lang="en-US" sz="1100" dirty="0"/>
          </a:p>
        </p:txBody>
      </p:sp>
      <p:sp>
        <p:nvSpPr>
          <p:cNvPr id="39" name="Text 36"/>
          <p:cNvSpPr txBox="1"/>
          <p:nvPr/>
        </p:nvSpPr>
        <p:spPr>
          <a:xfrm>
            <a:off x="219456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فَعَلْتُ ذٰلِكَ، </a:t>
            </a:r>
            <a:pPr rtl="1" algn="ctr" indent="0" marL="0">
              <a:buNone/>
            </a:pPr>
            <a:r>
              <a:rPr lang="ar-SA" altLang="en-US" sz="1900" b="1" dirty="0">
                <a:solidFill>
                  <a:srgbClr val="0E7C86"/>
                </a:solidFill>
                <a:latin typeface="Amiri" pitchFamily="34" charset="0"/>
                <a:ea typeface="Amiri" pitchFamily="34" charset="-122"/>
                <a:cs typeface="Amiri" pitchFamily="34" charset="-120"/>
              </a:rPr>
              <a:t>لَمَا</a:t>
            </a:r>
            <a:pPr rtl="1" algn="ctr" indent="0" marL="0">
              <a:buNone/>
            </a:pPr>
            <a:r>
              <a:rPr lang="ar-SA" altLang="en-US" sz="1900" b="1" dirty="0">
                <a:solidFill>
                  <a:srgbClr val="1B3B6F"/>
                </a:solidFill>
                <a:latin typeface="Amiri" pitchFamily="34" charset="0"/>
                <a:ea typeface="Amiri" pitchFamily="34" charset="-122"/>
                <a:cs typeface="Amiri" pitchFamily="34" charset="-120"/>
              </a:rPr>
              <a:t> عِشْتُ يَوْمًا كَامِلًا مِنَ القَلَقِ.</a:t>
            </a:r>
            <a:endParaRPr lang="ar-SA" sz="1900" dirty="0"/>
          </a:p>
        </p:txBody>
      </p:sp>
      <p:sp>
        <p:nvSpPr>
          <p:cNvPr id="40" name="Text 3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law ishtaraytu, sa-ḥaṣaltu ✗ → la-ḥaṣaltu ✓. Never sa- after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Five structures in one problem narrative</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خَمْسُ بُنًى فِي سَرْدِ 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Precaution and problem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 · past narrative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تَأَكَّدْتُ مِنْ حَجْزِي مَرَّتَيْنِ   ·   ثُمَّ اكْتَشَفْتُ أَنَّ الرِّحْلَةَ أُلْغِيَتْ</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Reported official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 inna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المُوَظَّفُ إِنَّ الرِّحْلَةَ سَتَتَأَخَّرُ سَاعَتَيْنِ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Plan and regret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إِذَا سَافَرْتُ ثَانِيَةً، سَأَشْتَرِي تَأْمِينًا   ·   لَوْ كُنْتُ قَدِ اشْتَرَيْتُ تَأْمِينًا، لَحَصَلْتُ عَلَى تَعْوِيضٍ</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Subjunctive after an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yajibu an / qarrartu an +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قَرَّرْتُ أَنْ أَلْجَأَ إِلَى السَّفَارَةِ   ·   يَجِبُ أَنْ أَتَصَرَّفَ بِهُدُوءٍ</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precaution: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 مَرَّتَيْنِ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report:</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المُوَظَّفُ ___ الرِّحْلَةَ سَتَتَأَخَّرُ.</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subjunctive: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قَرَّرْتُ أَنْ ___ إِلَى السَّفَارَةِ.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يُبَلِّغُ المُسَافِرُ ___ سَرِقَةِ حَقِيبَتِهِ.</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precaution: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 مَرَّتَيْنِ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precaution before the problem takes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report:</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المُوَظَّفُ ___ الرِّحْلَةَ سَتَتَأَخَّرُ.</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subjunctive: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قَرَّرْتُ أَنْ ___ إِلَى السَّفَارَةِ.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أَلْجَأَ</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أَلْجَأَ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يُبَلِّغُ المُسَافِرُ ___ سَرِقَةِ حَقِيبَتِهِ.</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يُبَلِّغُ</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a problem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Precaution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كُنْتُ قَدْ</a:t>
            </a:r>
            <a:pPr rtl="1" algn="ctr" indent="0" marL="0">
              <a:buNone/>
            </a:pPr>
            <a:r>
              <a:rPr lang="ar-SA" altLang="en-US" sz="2800" b="1" dirty="0">
                <a:solidFill>
                  <a:srgbClr val="1B3B6F"/>
                </a:solidFill>
                <a:latin typeface="Amiri" pitchFamily="34" charset="0"/>
                <a:ea typeface="Amiri" pitchFamily="34" charset="-122"/>
                <a:cs typeface="Amiri" pitchFamily="34" charset="-120"/>
              </a:rPr>
              <a:t> خَطَّطْتُ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Had done.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34" charset="0"/>
                <a:ea typeface="Amiri" pitchFamily="34" charset="-122"/>
                <a:cs typeface="Amiri" pitchFamily="34" charset="-120"/>
              </a:rPr>
              <a:t>اكْتَشَفْتُ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حَقِيبَتِي </a:t>
            </a:r>
            <a:pPr rtl="1" algn="ctr" indent="0" marL="0">
              <a:buNone/>
            </a:pPr>
            <a:r>
              <a:rPr lang="ar-SA" altLang="en-US" sz="2300" b="1" dirty="0">
                <a:solidFill>
                  <a:srgbClr val="D6336C"/>
                </a:solidFill>
                <a:latin typeface="Amiri" pitchFamily="34" charset="0"/>
                <a:ea typeface="Amiri" pitchFamily="34" charset="-122"/>
                <a:cs typeface="Amiri" pitchFamily="34" charset="-120"/>
              </a:rPr>
              <a:t>ضَاعَتْ</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Action + official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قَرَّرْتُ أَنْ </a:t>
            </a:r>
            <a:pPr rtl="1" algn="ctr" indent="0" marL="0">
              <a:buNone/>
            </a:pPr>
            <a:r>
              <a:rPr lang="ar-SA" altLang="en-US" sz="2100" b="1" dirty="0">
                <a:solidFill>
                  <a:srgbClr val="0E7C86"/>
                </a:solidFill>
                <a:latin typeface="Amiri" pitchFamily="34" charset="0"/>
                <a:ea typeface="Amiri" pitchFamily="34" charset="-122"/>
                <a:cs typeface="Amiri" pitchFamily="34" charset="-120"/>
              </a:rPr>
              <a:t>أَلْجَأَ</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7B3FA0"/>
                </a:solidFill>
                <a:latin typeface="Amiri" pitchFamily="34" charset="0"/>
                <a:ea typeface="Amiri" pitchFamily="34" charset="-122"/>
                <a:cs typeface="Amiri" pitchFamily="34" charset="-120"/>
              </a:rPr>
              <a:t>قَالَ … إِنَّ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after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 + 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إِذَا … سَـ</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0E7C86"/>
                </a:solidFill>
                <a:latin typeface="Amiri" pitchFamily="34" charset="0"/>
                <a:ea typeface="Amiri" pitchFamily="34" charset="-122"/>
                <a:cs typeface="Amiri" pitchFamily="34" charset="-120"/>
              </a:rPr>
              <a:t>لَوْ … لَمَا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1, 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PRECAUTION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OFFICIAL</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 + -A / REGRET</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كُنْتُ 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خَطَّطْتُ لِرِحْلَتِي بِعِنَايَةٍ،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وَكُنْتُ 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تَأَكَّدْتُ مِنْ حَجْزِي مَرَّتَيْنِ. لٰكِنْ عِنْدَ الوُصُولِ،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اكْتَشَفْتُ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حَقِيبَتِي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ضَاعَتْ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المَطَارِ. حَاوَلْتُ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أَتَصَرَّفَ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بِهُدُوءٍ، وَقَرَّرْتُ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أَلْجَأَ</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مَكْتَبِ الأَمْتِعَةِ المَفْقُودَةِ.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قَالَ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المُوَظَّفُ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الحَقِيبَةَ سَتَصِلُ فِي اليَوْمِ التَّالِي.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سَافَرْتُ ثَانِيَةً،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سَأَضَعُ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أَشْيَائِي المُهِمَّةَ فِي حَقِيبَةِ اليَدِ.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كُنْتُ قَدْ فَعَلْتُ ذٰلِكَ هٰذِهِ المَرَّةَ،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عِشْتُ يَوْمًا كَامِلًا مِنَ القَلَقِ.</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had planned my trip carefully, and I had checked my booking twice. But on arrival, I discovered that my suitcase had been lost at the airport. I tried to act calmly, and I decided to turn to the lost-luggage office. The official said that the suitcase would arrive the next day. If I travel again, I will put my important things in my hand luggage. And had I done that this time, I would not have lived through a whole day of worry.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تَأَكَّدْتُ مِنْ حَجْزِي، ثُمَّ اكْتَشَفْتُ أَنَّ الرِّحْلَةَ أُلْغِيَتْ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checked my booking, then I discovered the flight was cancelled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Precaution then problem.</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مُوَظَّفُ المَطَارِ إِنَّ الأَمْتِعَةَ آمِنَةٌ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airport official said that the luggage is safe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Reported official.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كُنْتُ قَدِ اشْتَرَيْتُ تَأْمِينًا، لَحَصَلْتُ عَلَى تَعْوِيضٍ كَامِلٍ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bought insurance, I would have got full compensation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regret.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TRAVEL PROBLEMS AND SOLUTIONS — DEALING WITH THE UNEXPECTED”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What went wrong?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flight delay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lost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lost the way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ضَلَلْتُ الطَّرِيقَ.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تَأَخَّرَتِ الرِّحْلَةُ.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ضَاعَتْ حَقِيبَتِي.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flight delay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تَأَخَّرَتِ الرِّحْلَةُ.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flight was delayed.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lost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ضَاعَتْ حَقِيبَتِي.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suitcase got lost.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lost the way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ضَلَلْتُ الطَّرِيقَ.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lost my way.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PROBLEM NARRATIVE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Precaution + official + plan or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قِصَّةَ مُشْكِلَةٍ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Precaution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What the official said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Plan / regret / decision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تَأَكَّدْتُ مِنْ حَجْزِي مَرَّتَيْنِ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ثُمَّ قَالَ المُوَظَّفُ إِنَّ الرِّحْلَةَ سَتَتَأَخَّرُ</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سَافَرْتُ ثَانِيَةً سَأَشْتَرِي تَأْمِينًا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وَصَلْتُ إِلَى المَطَارِ مُبَكِّرًا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وَأَشَارَ إِلَى أَنَّهُ يَجِبُ أَنْ أُبَلِّغَ عَنِ الفُقْدَانِ</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كُنْتُ قَدْ أَمَّنْتُ رِحْلَتِي لَحَصَلْتُ عَلَى تَعْوِيضٍ</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خَطَّطْتُ لِرِحْلَتِي بِعِنَايَةٍ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وَأَوْضَحَ أَنَّ التَّعْوِيضَ يَحْتَاجُ إِلَى بَلَاغٍ رَسْمِيٍّ</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وَقَرَّرْتُ أَنْ أَحْتَفِظَ بِنُسْخَةٍ مِنْ وَثَائِقِي</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add a problem in the past between columns 1 and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Precaution / regret, problem — or help verb?</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تَأَكَّدْتُ مِنْ حَجْزِي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أَمَّنْتُ لَحَصَلْتُ عَلَى تَعْوِيضٍ</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وَصَلْتُ مُبَكِّرًا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اكْتَشَفْتُ أَنَّ الرِّحْلَةَ أُلْغِيَتْ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ضَاعَتْ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تَأَخَّرَتِ الرِّحْلَةُ سِتَّ سَاعَاتٍ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 عَنْ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يَلْجَأُ إِلَى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يَطْلُبُ التَّعْوِيضَ</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precaution / regret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problem (past)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help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precaution / regret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تَأَكَّدْتُ مِنْ حَجْزِي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أَمَّنْتُ لَحَصَلْتُ عَلَى تَعْوِيضٍ</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وَصَلْتُ مُبَكِّرًا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problem (past)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اكْتَشَفْتُ أَنَّ الرِّحْلَةَ أُلْغِيَتْ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ضَاعَتْ حَقِيبَتِي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تَأَخَّرَتِ الرِّحْلَةُ سِتَّ سَاعَاتٍ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help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يُبَلِّغُ عَنْ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يَلْجَأُ إِلَى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يَطْلُبُ التَّعْوِيضَ</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plan?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سَافَرْتُ ثَانِيَةً، لَاشْتَرَيْتُ تَأْمِينًا.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ثَانِيَةً.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سَافَرْتُ ثَانِيَةً، سَأَشْتَرِي تَأْمِينًا.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اشْتَرَيْتُ تَأْمِينًا، سَأَحْصُلُ عَلَى تَعْوِيضٍ.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قَدِ اشْتَرَيْتُ تَأْمِينًا، لَحَصَلْتُ عَلَى تَعْوِيضٍ.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أَشْتَرِي تَأْمِينًا.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بِهُدُوءٍ فِي الطَّوَارِئِ.</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أَتَصَرَّفُ</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أَتَصَرَّفَ</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تَصَرَّفْتُ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the most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تَأَخَّرَتِ الرِّحْلَةُ.</a:t>
            </a:r>
            <a:endParaRPr lang="ar-SA" sz="11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السَّفَرُ مُتْعِبٌ.</a:t>
            </a:r>
            <a:endParaRPr lang="ar-SA" sz="11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كُنْتُ قَدْ تَأَكَّدْتُ مِنْ حَجْزِي، لٰكِنْ قَالَ المُوَظَّفُ إِنَّ الرِّحْلَةَ أُلْغِيَتْ، وَلَوْ كُنْتُ قَدْ أَمَّنْتُ لَحَصَلْتُ عَلَى تَعْوِيضٍ.</a:t>
            </a:r>
            <a:endParaRPr lang="ar-SA"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plan?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سَافَرْتُ ثَانِيَةً، لَاشْتَرَيْتُ تَأْمِينًا.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ثَانِيَةً.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سَافَرْتُ ثَانِيَةً، سَأَشْتَرِي تَأْمِينًا.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future plan.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اشْتَرَيْتُ تَأْمِينًا، سَأَحْصُلُ عَلَى تَعْوِيضٍ.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كُنْتُ قَدِ اشْتَرَيْتُ تَأْمِينًا، لَحَصَلْتُ عَلَى تَعْوِيضٍ.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أَشْتَرِي تَأْمِينًا.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بِهُدُوءٍ فِي الطَّوَارِئِ.</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أَتَصَرَّفُ</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أَتَصَرَّفَ</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تَصَرَّفْتُ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أَتَصَرَّفَ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the most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تَأَخَّرَتِ الرِّحْلَةُ.</a:t>
            </a:r>
            <a:endParaRPr lang="ar-SA" sz="11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السَّفَرُ مُتْعِبٌ.</a:t>
            </a:r>
            <a:endParaRPr lang="ar-SA" sz="11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كُنْتُ قَدْ تَأَكَّدْتُ مِنْ حَجْزِي، لٰكِنْ قَالَ المُوَظَّفُ إِنَّ الرِّحْلَةَ أُلْغِيَتْ، وَلَوْ كُنْتُ قَدْ أَمَّنْتُ لَحَصَلْتُ عَلَى تَعْوِيضٍ.</a:t>
            </a:r>
            <a:endParaRPr lang="ar-SA" sz="11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reported speech + Type 2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اشْتَرَيْتُ تَأْمِينًا، سَحَصَلْتُ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قَرَّرْتُ أَنْ أَلْجَأُ إِلَى السَّفَارَةِ.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 -u?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يُبَلِّغُ المُسَافِرُ السَّرِقَةَ لِلشُّرْطَةِ.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yuballigh + no 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اشْتَرَيْتُ تَأْمِينًا، سَحَصَلْتُ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اشْتَرَيْتُ تَأْمِينًا،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قَرَّرْتُ أَنْ أَلْجَأُ إِلَى السَّفَارَةِ.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قَرَّرْتُ أَنْ أَلْجَأَ إِلَى السَّفَارَةِ.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أَلْجَأَ</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يُبَلِّغُ المُسَافِرُ السَّرِقَةَ لِلشُّرْطَةِ.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يُبَلِّغُ المُسَافِرُ عَنِ السَّرِقَةِ لِلشُّرْطَةِ.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يُبَلِّغُ</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عَنْ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lost passport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problem?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Arrived early and checked the booking twice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Missed the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flight was on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luggage arrived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passport was missing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official say to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 at 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 the loss, then go to the embassy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a copy of the documents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travel again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documents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Had they photographed the passport earlier, they would have saved hours of worry</a:t>
            </a:r>
            <a:endParaRPr lang="en-US" sz="11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to worry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iktashaftu anna · qāla … inna.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يَرْوِي المُسَافِرُ: كُنْتُ قَدْ وَصَلْتُ إِلَى المَطَارِ مُبَكِّرًا، وَكُنْتُ قَدْ تَأَكَّدْتُ مِنْ حَجْزِي مَرَّتَيْنِ.</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recounts: I had arrived at the airport early, and I had checked my booking twice.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لٰكِنْ فَجْأَةً اكْتَشَفْتُ أَنَّ جَوَازَ سَفَرِي مَفْقُودٌ. حَاوَلْتُ أَنْ أَتَصَرَّفَ بِهُدُوءٍ، وَقَرَّرْتُ أَنْ أَلْجَأَ إِلَى شُرْطَةِ السِّيَاحَةِ.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suddenly I discovered that my passport was missing. I tried to act calmly, and I decided to turn to the tourist police.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قَالَ المُوَظَّفُ إِنَّهُ يَجِبُ أَنْ أُبَلِّغَ عَنِ الفُقْدَانِ ثُمَّ أَذْهَبَ إِلَى السَّفَارَةِ. وَأَشَارَ إِلَى أَنَّنِي سَأَحْصُلُ عَلَى وَثِيقَةِ سَفَرٍ مُؤَقَّتَةٍ.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officer said that I must report the loss and then go to the embassy. He pointed out that I would get a temporary travel document.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سَافَرْتُ ثَانِيَةً، سَأَحْتَفِظُ بِنُسْخَةٍ مِنْ وَثَائِقِي.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 travel again, I will keep a copy of my documents.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كُنْتُ قَدْ صَوَّرْتُ جَوَازِي قَبْلَ الرِّحْلَةِ، لَكُنْتُ قَدْ وَفَّرْتُ سَاعَاتٍ مِنَ القَلَقِ.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I photographed my passport before the trip, I would have saved hours of worry.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problem?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Arrived early and checked the booking twice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Missed the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وَصَلْتُ … مُبَكِّرًا، وَكُنْتُ قَدْ تَأَكَّدْتُ مِنْ حَجْزِي مَرَّتَيْنِ.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flight was on time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luggage arrived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passport was missing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اكْتَشَفْتُ أَنَّ جَوَازَ سَفَرِي مَفْقُودٌ.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official say to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Wait at 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Report the loss, then go to the embassy</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يَجِبُ أَنْ أُبَلِّغَ عَنِ الفُقْدَانِ ثُمَّ أَذْهَبَ إِلَى السَّفَارَةِ.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a copy of the documents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travel again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documents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سَافَرْتُ ثَانِيَةً، سَأَحْتَفِظُ بِنُسْخَةٍ مِنْ وَثَائِقِي.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Photos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Had they photographed the passport earlier, they would have saved hours of worry</a:t>
            </a:r>
            <a:endParaRPr lang="en-US" sz="11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to worry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كُنْتُ قَدْ صَوَّرْتُ جَوَازِي قَبْلَ الرِّحْلَةِ، لَكُنْتُ قَدْ وَفَّرْتُ سَاعَاتٍ مِنَ القَلَقِ.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iktashaftu anna · qāla … inna.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recount a travel problem</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قَدْ فَعَلْتَ قَبْلَ أَنْ تَحْدُثَ المُشْكِلَةُ؟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قَالَ المُوَظَّفُ؟ وَمَاذَا قَرَّرْتَ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قَدْ فَعَلْتَ شَيْئًا مُخْتَلِفًا، مَاذَا كَانَ سَيَتَغَيَّرُ؟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كُنْتُ قَدْ ___ ، ثُمَّ اكْتَشَفْتُ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قَالَ المُوَظَّفُ إِنَّ ___ ، فَقَرَّرْتُ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كُنْتُ قَدْ ___ ، لَمَا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كُنْتَ قَدْ فَعَلْتَ قَبْلَ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you done before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تَأَكَّدْتُ مِنْ حَجْزِي، ثُمَّ اكْتَشَفْتُ أَنَّ الرِّحْلَةَ أُلْغِيَتْ.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had checked my booking, then I discovered the flight had been cancelled.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five-stage sequence for one problem, one sentence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five-stage sequence for one problem,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the past narrative and add a subjunctive after </a:t>
            </a:r>
            <a:pPr algn="l" indent="0" marL="0">
              <a:buNone/>
            </a:pPr>
            <a:r>
              <a:rPr lang="ar-SA" altLang="en-US" sz="1800" b="1" dirty="0">
                <a:solidFill>
                  <a:srgbClr val="1F2A37"/>
                </a:solidFill>
                <a:latin typeface="Amiri" pitchFamily="34" charset="0"/>
                <a:ea typeface="Amiri" pitchFamily="34" charset="-122"/>
                <a:cs typeface="Amiri" pitchFamily="34" charset="-120"/>
              </a:rPr>
              <a:t>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the past narrative and add a subjunctive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narrative where the Type 2 regret is the most complex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narrative using all five structures, with the Type 2 regret as the most complex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حَاوَلْتُ أَنْ أَتَصَرَّفَ بِهُدُوءٍ.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tried to act calmly.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قَرَّرْتُ أَنْ أَلْجَأَ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decided to turn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إِلَى أَنَّهُ يَجِبُ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pointed out that I must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قَدْ ______ ، لَمَا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 I would not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 (precaution)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اكْتَشَفْتُ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discovered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المُوَظَّفُ إِنَّ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official said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سَافَرْتُ ثَانِيَةً، سَأَشْتَرِي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travel again, I will buy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تَأَكَّدْتُ مِنْ حَجْزِي  ·  وَصَلْتُ مُبَكِّرًا  ·  خَطَّطْتُ بِعِنَايَةٍ  ·  الرِّحْلَةَ أُلْغِيَتْ  ·  حَقِيبَتِي ضَاعَتْ  ·  جَوَازَ سَفَرِي مَفْقُودٌ  ·  شُرْطَةِ السِّيَاحَةِ  ·  السَّفَارَةِ  ·  أُبَلِّغَ عَنِ الفُقْدَانِ  ·  أَشْتَرِي تَأْمِينًا  ·  حَصَلْتُ عَلَى تَعْوِيضٍ  ·  وَاجَهْتُ هٰذَا التَّأْخِيرَ</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travel-problem narrative of one hundred to one hundred and ten words using all five structures: a past-perfect precaution, a past narrative, reported speech from an official, a Type 1 plan and a Type 2 regret, with one subjunctive after </a:t>
            </a:r>
            <a:pPr algn="l" indent="0" marL="0">
              <a:buNone/>
            </a:pPr>
            <a:r>
              <a:rPr lang="ar-SA" altLang="en-US" sz="1700" b="1" dirty="0">
                <a:solidFill>
                  <a:srgbClr val="1F2A37"/>
                </a:solidFill>
                <a:latin typeface="Amiri" pitchFamily="34" charset="0"/>
                <a:ea typeface="Amiri" pitchFamily="34" charset="-122"/>
                <a:cs typeface="Amiri" pitchFamily="34" charset="-120"/>
              </a:rPr>
              <a:t>أَنْ</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precaution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Reported speech from an official (</a:t>
            </a:r>
            <a:pPr algn="l" indent="0" marL="0">
              <a:buNone/>
            </a:pPr>
            <a:r>
              <a:rPr lang="ar-SA" altLang="en-US" sz="1550" dirty="0">
                <a:solidFill>
                  <a:srgbClr val="1F2A37"/>
                </a:solidFill>
                <a:latin typeface="Amiri" pitchFamily="34" charset="0"/>
                <a:ea typeface="Amiri" pitchFamily="34" charset="-122"/>
                <a:cs typeface="Amiri" pitchFamily="34" charset="-120"/>
              </a:rPr>
              <a:t>قَالَ إِنَّ</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plan and a Type 2 regret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subjunctive after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قَرَّرْتُ أَنْ</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 عِنْدَ الوُصُولِ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on arrival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وَأَشَارَ إِلَى أَنَّهُ يَجِبُ أَنْ أُبَلِّغَ عَنِ الفُقْدَانِ رَسْمِيًّا</a:t>
            </a:r>
            <a:endParaRPr lang="ar-SA" sz="14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he pointed out that I must report the loss officially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طَلَبْتُ التَّعْوِيضَ وَحَصَلْتُ عَلَى مَبْلَغٍ بَسِيطٍ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asked for compensation and got a small sum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سَأَضَعُ أَشْيَائِي المُهِمَّةَ فِي حَقِيبَةِ اليَدِ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put my important things in my hand luggage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 عِشْتُ يَوْمًا كَامِلًا مِنَ القَلَقِ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not have lived through a whole day of worry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كُنْتُ قَدْ خَطَّطْتُ لِرِحْلَتِي بِعِنَايَةٍ، وَكُنْتُ قَدْ تَأَكَّدْتُ مِنْ حَجْزِي مَرَّتَيْنِ قَبْلَ السَّفَرِ. لٰكِنْ عِنْدَ الوُصُولِ، اكْتَشَفْتُ أَنَّ حَقِيبَتِي ضَاعَتْ فِي المَطَارِ. حَاوَلْتُ أَنْ أَتَصَرَّفَ بِهُدُوءٍ، وَقَرَّرْتُ أَنْ أَلْجَأَ إِلَى مَكْتَبِ الأَمْتِعَةِ المَفْقُودَةِ. قَالَ المُوَظَّفُ إِنَّ الحَقِيبَةَ سَتَصِلُ فِي اليَوْمِ التَّالِي، وَأَشَارَ إِلَى أَنَّهُ يَجِبُ أَنْ أُبَلِّغَ عَنِ الفُقْدَانِ رَسْمِيًّا. طَلَبْتُ التَّعْوِيضَ وَحَصَلْتُ عَلَى مَبْلَغٍ بَسِيطٍ. إِذَا سَافَرْتُ ثَانِيَةً، سَأَضَعُ أَشْيَائِي المُهِمَّةَ فِي حَقِيبَةِ اليَدِ. وَلَوْ كُنْتُ قَدْ فَعَلْتُ ذٰلِكَ هٰذِهِ المَرَّةَ، لَمَا عِشْتُ يَوْمًا كَامِلًا مِنَ القَلَقِ.</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planned my trip carefully, and I had checked my booking twice before travelling. But on arrival, I discovered that my suitcase had been lost at the airport. I tried to act calmly, and I decided to turn to the lost-luggage office. The official said that the suitcase would arrive the next day, and he pointed out that I must report the loss officially. I asked for compensation and got a small sum. If I travel again, I will put my important things in my hand luggage. And had I done that this time, I would not have lived through a whole day of worry.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kuntu qad (precaution)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iktashaftu anna (problem)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qāla … inna · an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lamā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story has a precaution (kuntu qad) and a problem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help verb with its partner (yuballigh ʿan · yaljaʾ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the official with qāla … inna.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after an end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idhā … sa- for next time and law … la- / lamā for my regret.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precaution: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لَوْ كُنْتُ قَدْ أَمَّنْتُ، لَحَصَلْتُ عَلَى تَعْوِيضٍ.</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إِذَا أَمَّنْتُ، سَأَحْصُلُ عَلَى تَعْوِيضٍ.</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أُؤَمِّنُ رِحْلَتِي.</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precaution: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كُنْتُ قَدْ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precaution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أَلْجَأُ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أَلْجَأَ</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أَلْجَأْتُ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أَلْجَأَ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لَوْ كُنْتُ قَدْ أَمَّنْتُ، لَحَصَلْتُ عَلَى تَعْوِيضٍ.</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إِذَا أَمَّنْتُ، سَأَحْصُلُ عَلَى تَعْوِيضٍ.</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أُؤَمِّنُ رِحْلَتِي.</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regret.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delayed flight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كُنْتُ قَدْ خَطَّطْتُ لِرِحْلَتِي بِعِنَايَةٍ، وَكُنْتُ قَدْ وَصَلْتُ إِلَى المَطَارِ قَبْلَ ثَلَاثِ سَاعَاتٍ. غَيْرَ أَنَّنِي اكْتَشَفْتُ عَلَى الشَّاشَةِ أَنَّ رِحْلَتِي تَأَخَّرَتْ سِتَّ سَاعَاتٍ. حَاوَلْتُ أَنْ أَتَصَرَّفَ بِهُدُوءٍ، وَذَهَبْتُ إِلَى مَكْتَبِ شَرِكَةِ الطَّيَرَانِ. قَالَ المُوَظَّفُ إِنَّ التَّأْخِيرَ بِسَبَبِ الطَّقْسِ، وَأَشَارَ إِلَى أَنَّهُ يَجِبُ أَنْ أَنْتَظِرَ فِي صَالَةِ المُغَادَرَةِ. طَلَبْتُ التَّعْوِيضَ، لٰكِنَّهُ أَوْضَحَ أَنَّ تَأْخِيرَ الطَّقْسِ لَا يُعَوَّضُ عَادَةً. إِذَا وَاجَهْتُ هٰذَا مُسْتَقْبَلًا، سَأَشْتَرِي تَأْمِينًا يُغَطِّي التَّأْخِيرَ. وَلَوْ كُنْتُ قَدِ اخْتَرْتُ رِحْلَةً مُبَاشِرَةً، لَمَا وَاجَهْتُ هٰذَا التَّأْخِيرَ الطَّوِيلَ.</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بِعِنَايَةٍ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carefully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الشَّاشَةِ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screen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الطَّيَرَانِ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airline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الطَّقْسِ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صَالَةِ المُغَادَرَةِ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departure lounge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أَوْضَحَ</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explained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يُعَوَّضُ</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compensated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وَاجَهْتُ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يُغَطِّي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covers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مُبَاشِرَةً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delay?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Planned carefully and arrived three hours early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Arrived late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flight was cancelled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luggage was lost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flight was delayed six hours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official say about the delay?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due to the weather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the airline's fault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was no delay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fly again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insurance that covers delays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delays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chosen a direct flight, they would not have faced the long delay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 flights are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a direct flight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the delay?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Planned carefully and arrived three hours early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Arrived late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كُنْتُ قَدْ خَطَّطْتُ … بِعِنَايَةٍ، وَكُنْتُ قَدْ وَصَلْتُ … قَبْلَ ثَلَاثِ سَاعَاتٍ.</a:t>
            </a:r>
            <a:endParaRPr lang="ar-SA" sz="12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flight was cancelled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luggage was lost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flight was delayed six hours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اكْتَشَفْتُ … أَنَّ رِحْلَتِي تَأَخَّرَتْ سِتَّ سَاعَاتٍ.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official say about the delay?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was due to the weather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the airline's fault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was no delay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المُوَظَّفُ إِنَّ التَّأْخِيرَ بِسَبَبِ الطَّقْسِ.</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fly again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Buy insurance that covers delays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delays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وَاجَهْتُ هٰذَا مُسْتَقْبَلًا، سَأَشْتَرِي تَأْمِينًا يُغَطِّي التَّأْخِيرَ.</a:t>
            </a:r>
            <a:endParaRPr lang="ar-SA" sz="13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they chosen a direct flight, they would not have faced the long delay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Direct flights are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a direct flight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كُنْتُ قَدِ اخْتَرْتُ رِحْلَةً مُبَاشِرَةً، لَمَا وَاجَهْتُ هٰذَا التَّأْخِيرَ.</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Problem Mission — Five Structures Under Pressure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Precaution: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المُوَظَّفُ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سَتَتَأَخَّرُ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بِهُدُوءٍ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أَتَصَرَّفُ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تَصَرَّفْتُ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أَتَصَرَّفَ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سَافَرْتُ ثَانِيَةً،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تَأْمِينًا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سَأَشْتَرِي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لَاشْتَرَيْتُ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أَشْتَرِي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أَمَّنْتُ رِحْلَتِي،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تَعْوِيضٍ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سَأَحْصُلُ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لَحَصَلْتُ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أَحْصُلُ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Precaution: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تَأَكَّدْتُ مِنْ حَجْزِي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precaution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المُوَظَّفُ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سَتَتَأَخَّرُ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أَلْجَأَ</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بِهُدُوءٍ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أَتَصَرَّفُ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تَصَرَّفْتُ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أَتَصَرَّفَ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سَافَرْتُ ثَانِيَةً،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تَأْمِينًا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سَأَشْتَرِي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لَاشْتَرَيْتُ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أَشْتَرِي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أَمَّنْتُ رِحْلَتِي،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تَعْوِيضٍ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سَأَحْصُلُ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لَحَصَلْتُ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أَحْصُلُ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P3-L07 · Cultural Sensitivity in Travel — Being a Respectful Visitor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cultural sensitivity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local customs</a:t>
            </a:r>
            <a:pPr indent="0" marL="0">
              <a:buNone/>
            </a:pPr>
            <a:r>
              <a:rPr lang="en-US" sz="1000" i="1" dirty="0">
                <a:solidFill>
                  <a:srgbClr val="5A6472"/>
                </a:solidFill>
                <a:latin typeface="Calibri" pitchFamily="34" charset="0"/>
                <a:ea typeface="Calibri" pitchFamily="34" charset="-122"/>
                <a:cs typeface="Calibri" pitchFamily="34" charset="-120"/>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dress code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modest clothing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preferable that</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five-stage sequence for one travel problem, one sentence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Expand it to 60–80 words with a verb after an (qarrartu an … / yajibu 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travel-problem narrative using all five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P3-L07 · Cultural Sensitivity in Travel — Being a Respectful Visitor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الحَسَاسِيَّةُ الثَّقَافِيَّةُ فِي السَّفَرِ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precaution (kuntu qad) → problem (iktashaftu anna) → official (qāla … inna) → next time (idhā … sa-) → regret (law … la-) — and after an, the verb ends in -a: qarrartu an aljaʾa.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P3-L06 · Travel Problems and Solutions — Dealing With the Unexpected</dc:title>
  <dc:subject>PptxGenJS Presentation</dc:subject>
  <dc:creator>Al Madina Online School · Arabic Department</dc:creator>
  <cp:lastModifiedBy>Al Madina Online School · Arabic Department</cp:lastModifiedBy>
  <cp:revision>1</cp:revision>
  <dcterms:created xsi:type="dcterms:W3CDTF">2026-10-10T15:21:40Z</dcterms:created>
  <dcterms:modified xsi:type="dcterms:W3CDTF">2026-10-10T15:21:40Z</dcterms:modified>
</cp:coreProperties>
</file>