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P3-L10. The website lesson “Listening — Travel, Tourism and Transport Texts”: vocabulary, grammar rules and quiz, patterns, common mistakes, sorter, listening, reading, speaking prompts and model, writing task and model, differentiation, final check and the lesson mission. Picture match: website visual game “Listening — Travel, Tourism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kuntu qad and the la- of the result are fast.
• Before each listen, students label every question C / R / P (conditional · reported · past perfect) and write the signal they expect (سَـ / لَـ · قَالَ · كَانَ قَدْ).
• Core: annotate five questions with the result marker to listen for (website Core). Develop: say which structure each targets. Stretch: explain how the result marker changed the meaning of one answer.
• Grammar links: Type 1 / Type 2 (P3-L05) · reading conditionals for attitude (P3-L08) · qāla inna (P3-L06) · yaḥjiz / yuqīm (P3-L02) · the P2 listening routine (P2-L10).
• TEACHER-WRITTEN ITEMS: the website listening is split into two short listens with two teacher-added questions (where the traveller stayed · what impressed them most); waṣl alif shown without a kasra; rule headings and formulas in English and transliteration (rule examples without their English glosses); sorter headings in transliteration; the result-marker, timing and distractor tables are teacher-built from the website listening and reading; no visual game (the website repeats the P3-L04 cards).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P3-L09. Questions 4–5 retrieve both conditional types and qāla inna (P3-L09) — today students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idhā and law take a past verb — so listen to the END: sa- = real, la- =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 وسیلہ، سفر and مسافر are shared. Two traps: Urdu موسم = the weather, but Arabic مَوْسِمٌ = a season (the weather = الطَّقْسُ); Urdu تمیز = good manners, but Arabic تَمْيِيزٌ = telling things apart — today’s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conditionals (website vocabulary (1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conditionals (website vocabulary (2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(1 of 2)). Hear → Say → See → Use. Transliteration is printed for Core students (cover it for Develop/Stretch).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(2 of 2)). Hear → Say → See → Use. Transliteration is printed for Core students (cover it for Develop/Stretch).
FLEX: teach if time allows; otherwise these are on the website vocabulary tab for homework.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“Type by result marker”, teaching point 1, the website table and the sorter. Rows 1–4 are from the website listening, sorter and live builder; row 5 adds the negative result لَمَا (P3-L03).
Ear tip: la- is ONE short syllable stuck to a past verb (لَحَجَزْتُ · لَرَأَيْتُ); sa- is stuck to a present verb (سَأُخَصِّصُ). Two clues in one: the prefix AND the tense.
Careful with verbs that begin with la- anyway (لَعِبْتُ = I played) — check that a law came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“Decode reported speech” and “Own view vs cited view”, and mistakes 2–3.
Website mistake 2: «قَالَ الدَّلِيلُ إِنَّ …» رَأْيُ المُتَحَدِّثِ نَفْسِهِ ✗ → يَنْقُلُ رَأْيَ الدَّلِيلِ.
Card 3 is from the website listening (the speaker’s own advice, in the first person). Exam habit: when a question asks what the SPEAKER thinks, look for أَنَا-forms (أَرَى · أَنْصَحُ · أَعْجَبَنِي), not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“Past perfect and 2028 verbs” (the website’s name for the booking verbs يَحْجِزُ / يُقِيمُ) and the listening.
Row 1–2: kuntu qad is spoken fast as one unit — “kuntu-qad-ḥajaztu”. Row 3: أَقَمْتُ comes from أَقَامَ — the long ī of أُقِيمُ disappears in the past.
Drill: say each row at full speed; students hold up 1 (before), 2 (during), 3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reading (strategy guide) ends: «وَتَذَكَّرْ أَنَّ الإِجَابَةَ العَامَّةَ كَثِيرًا مَا تَكُونُ مُشَتِّتًا». The examples are from the website listening.
The distractors are not false — they are too vague to score. Train students to ask: “Does my answer contain the DETAIL the speaker gave?”
يَصِلُ بَيْنَ = links (the train links the major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read the conditional type from the result marker, decode reported speech, and catch the past perfect and the 2028 verbs.”
• Type by result marker: The result marker is the reliable signal of the type.
• Decode reported speech: The reporting verb names the source.
• Past perfect and booking verbs: Catch the prior action and the booking verbs.
• Own view vs cited view: A reporting verb signals a cited view.
Website common error: Deciding the conditional type from the particle alone. Since both take a past verb, use the result marker: سَـ for real, لَـ for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1–4 BEFORE the class hears the text. Label (P, R, C, C) → write the signals (كُنْتُ قَدْ · قَالَ · سَـ · لَـ) → read the four sentences aloud once → circle the sa- of سَأُخَصِّصُ and the la- of لَحَجَزْتُ.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real plan, a counterfactual and a past-perfect fact.” Website feedback: any three different combinations work.
Use after the two listens: students retell the traveller’s story in the third person (إِنَّهُ كَانَ قَدْ حَجَزَ · سَيُخَصِّصُ · لَحَجَزَ) — the pronoun switch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Develop/Stretch: all four — and give the SPECIFIC answer (the high-speed train, a traditional riad), not a general one.
Listen 1: just listen. Listen 2: note answers. Then chat the letters.
Support: after the second listening, show the read-along slide (Arabic + English, line by line) for Core students.
SCRIPT (read aloud):
يَقُولُ المُسَافِرُ: كُنْتُ قَدْ حَجَزْتُ رِحْلَتِي إِلَى المَغْرِبِ قَبْلَ شَهْرَيْنِ، وَكُنْتُ قَدْ قَرَأْتُ عَنْ فَاسَ كَثِيرًا. أَقَمْتُ فِي رِيَاضٍ تَقْلِيدِيٍّ فِي المَدِينَةِ القَدِيمَةِ. قَالَ الدَّلِيلُ إِنَّ أَفْضَلَ مَوْسِمٍ لِلزِّيَارَةِ هُوَ الرَّبِيعُ. اسْتَعْمَلْتُ القِطَارَ السَّرِيعَ الَّذِي يَصِلُ بَيْنَ المُدُنِ الكُبْرَى.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three — question 3 asks for the SPEAKER’s own feeling (aʿjabanī), not a cited view.
Listen 1: just listen. Listen 2: note answers. Then chat the letters.
Support: after the second listening, show the read-along slide (Arabic + English, line by line) for Core students.
SCRIPT (read aloud):
إِذَا زُرْتُ المَغْرِبَ ثَانِيَةً، سَأُخَصِّصُ أُسْبُوعًا كَامِلًا لِفَاسَ. وَلَوْ كُنْتُ قَدْ خَطَّطْتُ مُسْبَقًا، لَحَجَزْتُ فُنْدُقًا كِلَاسِيكِيًّا بَدَلَ الحَدِيثِ. أَكْثَرُ مَا أَعْجَبَنِي كَانَ كَرَمُ النَّاسِ. وَأَنْصَحُ كُلَّ مُسَافِرٍ بِاحْتِرَامِ العَادَاتِ المَحَلِّيَّةِ.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وَالشَّرْطُ الافْتِرَاضِيُّ؟ (Type 2)
B: سَمِعْتُ «لَوْ خَطَّطْتُ، لَحَجَزْتُ»، وَعَلَامَةُ «لَـ» دَلَّتْ عَلَى الافْتِرَاضِ. (Names the لَـ signal)
Website prompts and model. Students quote the exact words they heard, then name the marker. To a girl: سَمِعْتِهِ · عَرَفْتِهِ.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result marker (سَـ / لَـ) you will listen for. · Develop — Add whether each targets a conditional, a report or a past perfect. · Stretch — Explain how the result marker changed the meaning of one answer.
Website writing task (Stretch): Write eighty to ninety words explaining your listening strategy for travel texts. Describe how you tell إِذَا from لَوْ by the result marker, how you decode reported speech, and how you catch the past perfect.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 · لَا أَعْتَمِدُ عَلَى الأَدَاةِ وَحْدَهَا · أُصْغِي إِلَى عَلَامَةِ الجَوَابِ: «سَـ» … وَ«لَـ» … · الفِعْلِ النَّاقِلِ مَعَ «إِنَّ» … رَأْيَ مَصْدَرٍ آخَرَ · أَلْتَقِطُ «كَانَ قَدْ» · أَرْفُضُ الإِجَابَةَ العَامَّةَ.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(P3-L11 · Consolidation — Speaking Preparation and Grammar Mastery) will spend class time USING this language, so students prepare it tonight — short, simple, easy to access (school guidance: “Simple, Short, Interesting, Relevant, Easy to access”). The five words come from the website P3-L11 vocabulary (error zones and speaking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Travel, Tourism and Transport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نُصُوصُ السَّفَرِ وَالسِّيَاحَةِ وَالنَّقْلِ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let the result marker decide the conditional (sa- = real · la- = unreal), decode qāla … inna, catch kāna qad and the booking verbs yaḥjiz / yuqīm, keep the speaker’s view apart from a cited one,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P3-L10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The result marker decides the type, reported speech, kāna qad and booking verbs, specific vs general answers.</a:t>
            </a:r>
            <a:endParaRPr lang="en-US" sz="11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the result markers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التَّمْيِيزُ الصَّوْتِيُّ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loud voice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auditory distinction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sound system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الفِعْلُ التَّالِي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following verb</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verb</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التَّشْكِيكُ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distinction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earns two Range marks?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إِذَا زُرْتَ فَاسَ سَتَنْبَهِرُ؛ وَإِذَا بَقِيتَ أَطْوَلَ سَتَرَى المَزِيدَ.</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لَوْ زُرْتُ فَاسَ لَانْبَهَرْتُ؛ وَلَوْ بَقِيتُ أَطْوَلَ لَرَأَيْتُ المَزِيدَ.</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إِذَا زُرْتَ فَاسَ سَتَنْبَهِرُ؛ وَلَوْ بَقِيتُ أَطْوَلَ لَرَأَيْتُ المَزِيدَ.</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التَّمْيِيزُ الصَّوْتِيُّ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loud voice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auditory distinction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sound system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الفِعْلُ التَّالِي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following verb</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past verb</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التَّشْكِيكُ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distinction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earns two Range marks?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إِذَا زُرْتَ فَاسَ سَتَنْبَهِرُ؛ وَإِذَا بَقِيتَ أَطْوَلَ سَتَرَى المَزِيدَ.</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لَوْ زُرْتُ فَاسَ لَانْبَهَرْتُ؛ وَلَوْ بَقِيتُ أَطْوَلَ لَرَأَيْتُ المَزِيدَ.</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إِذَا زُرْتَ فَاسَ سَتَنْبَهِرُ؛ وَلَوْ بَقِيتُ أَطْوَلَ لَرَأَيْتُ المَزِيدَ.</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P3-L09: one idhā AND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 L09: qāla takes inna.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Both idhā and law take a past verb — so listen to the END: sa- = real, la- =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إِذَا زُرْتُ … </a:t>
            </a:r>
            <a:pPr rtl="1" algn="ctr" indent="0" marL="0">
              <a:lnSpc>
                <a:spcPct val="120000"/>
              </a:lnSpc>
              <a:buNone/>
            </a:pPr>
            <a:r>
              <a:rPr lang="ar-SA" altLang="en-US" sz="1950" b="1" dirty="0">
                <a:solidFill>
                  <a:srgbClr val="0E7C86"/>
                </a:solidFill>
                <a:latin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أُخَصِّصُ · لَوْ خَطَّطْتُ … </a:t>
            </a:r>
            <a:pPr rtl="1" algn="ctr" indent="0" marL="0">
              <a:lnSpc>
                <a:spcPct val="120000"/>
              </a:lnSpc>
              <a:buNone/>
            </a:pPr>
            <a:r>
              <a:rPr lang="ar-SA" altLang="en-US" sz="1950" b="1" dirty="0">
                <a:solidFill>
                  <a:srgbClr val="C77700"/>
                </a:solidFill>
                <a:latin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حَجَزْتُ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a conditional’s type from its result marker (sa- / la-).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reported speech, kāna qad and the booking verbs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Reject the general answer when the question wants a specific one.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result marker each question needs.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sa- (real) and la- (unreal).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qāla … inna and kāna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yaḥjiz / yuqīm in any tense.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conditionals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Travel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 · تَشْكِيكٌ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 </a:t>
            </a:r>
            <a:pPr indent="0" marL="0">
              <a:buNone/>
            </a:pPr>
            <a:r>
              <a:rPr lang="en-US" sz="950" b="1" dirty="0">
                <a:solidFill>
                  <a:srgbClr val="2E8B57"/>
                </a:solidFill>
                <a:latin typeface="Calibri" pitchFamily="34" charset="0"/>
                <a:cs typeface="Amiri" pitchFamily="2" charset="-78"/>
              </a:rPr>
              <a:t> shak · doubt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وَسِيلَةٌ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‎وسیلہ‎ </a:t>
            </a:r>
            <a:pPr indent="0" marL="0">
              <a:buNone/>
            </a:pPr>
            <a:r>
              <a:rPr lang="en-US" sz="950" b="1" dirty="0">
                <a:solidFill>
                  <a:srgbClr val="2E8B57"/>
                </a:solidFill>
                <a:latin typeface="Calibri" pitchFamily="34" charset="0"/>
                <a:cs typeface="Amiri" pitchFamily="2" charset="-78"/>
              </a:rPr>
              <a:t> wasīla · a means (وَسِيلَةُ نَقْلٍ = transport)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 · مُسَافِرٌ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a traveller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‎موسم‎ </a:t>
            </a:r>
            <a:pPr indent="0" marL="0">
              <a:buNone/>
            </a:pPr>
            <a:r>
              <a:rPr lang="en-US" sz="950" b="1" dirty="0">
                <a:solidFill>
                  <a:srgbClr val="2E8B57"/>
                </a:solidFill>
                <a:latin typeface="Calibri" pitchFamily="34" charset="0"/>
                <a:cs typeface="Amiri" pitchFamily="2" charset="-78"/>
              </a:rPr>
              <a:t> mausam · Arabic: a season · Urdu: the weather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تَمْيِيزٌ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‎تمیز‎ </a:t>
            </a:r>
            <a:pPr indent="0" marL="0">
              <a:buNone/>
            </a:pPr>
            <a:r>
              <a:rPr lang="en-US" sz="950" b="1" dirty="0">
                <a:solidFill>
                  <a:srgbClr val="2E8B57"/>
                </a:solidFill>
                <a:latin typeface="Calibri" pitchFamily="34" charset="0"/>
                <a:cs typeface="Amiri" pitchFamily="2" charset="-78"/>
              </a:rPr>
              <a:t> tamīz · false friend! Urdu = manners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for conditionals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التَّمْيِيزُ الصَّوْتِيُّ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auditory distinction</a:t>
            </a:r>
            <a:endParaRPr lang="en-US" sz="1350" dirty="0"/>
          </a:p>
          <a:p>
            <a:pPr indent="0" marL="0">
              <a:buNone/>
            </a:pPr>
            <a:r>
              <a:rPr lang="en-US" sz="1100" i="1" dirty="0">
                <a:solidFill>
                  <a:srgbClr val="5A6472"/>
                </a:solidFill>
                <a:latin typeface="Calibri" pitchFamily="34" charset="0"/>
                <a:cs typeface="Amiri" pitchFamily="2" charset="-78"/>
              </a:rPr>
              <a:t>at-tam-yī-zu aṣ-ṣaw-tiy-yu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(Type 1 signal)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27" name="Text 2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past-form verb, </a:t>
            </a:r>
            <a:pPr algn="l" indent="0" marL="0">
              <a:buNone/>
            </a:pPr>
            <a:r>
              <a:rPr lang="ar-SA" altLang="en-US" sz="1300" dirty="0">
                <a:solidFill>
                  <a:srgbClr val="8A6D1E"/>
                </a:solidFill>
                <a:latin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result.</a:t>
            </a:r>
            <a:endParaRPr lang="en-US" sz="100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(Type 2 signal)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 verb, </a:t>
            </a:r>
            <a:pPr algn="l" indent="0" marL="0">
              <a:buNone/>
            </a:pPr>
            <a:r>
              <a:rPr lang="ar-SA" altLang="en-US" sz="1300" dirty="0">
                <a:solidFill>
                  <a:srgbClr val="8A6D1E"/>
                </a:solidFill>
                <a:latin typeface="Amiri" pitchFamily="2" charset="-78"/>
                <a:cs typeface="Amiri" pitchFamily="2" charset="-78"/>
              </a:rPr>
              <a:t>لَـ</a:t>
            </a:r>
            <a:pPr algn="l" indent="0" marL="0">
              <a:buNone/>
            </a:pPr>
            <a:r>
              <a:rPr lang="en-US" sz="1000" i="1" dirty="0">
                <a:solidFill>
                  <a:srgbClr val="8A6D1E"/>
                </a:solidFill>
                <a:latin typeface="Calibri" pitchFamily="34" charset="0"/>
                <a:cs typeface="Amiri" pitchFamily="2" charset="-78"/>
              </a:rPr>
              <a:t> result.</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التَّالِي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following verb</a:t>
            </a:r>
            <a:endParaRPr lang="en-US" sz="1350" dirty="0"/>
          </a:p>
          <a:p>
            <a:pPr indent="0" marL="0">
              <a:buNone/>
            </a:pPr>
            <a:r>
              <a:rPr lang="en-US" sz="1100" i="1" dirty="0">
                <a:solidFill>
                  <a:srgbClr val="5A6472"/>
                </a:solidFill>
                <a:latin typeface="Calibri" pitchFamily="34" charset="0"/>
                <a:cs typeface="Amiri" pitchFamily="2" charset="-78"/>
              </a:rPr>
              <a:t>al-fiʿ-lu at-tā-lī</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for conditionals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حَقِيقِيٌّ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افْتِرَاضِيٌّ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الجَزْمُ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certainty</a:t>
            </a:r>
            <a:endParaRPr lang="en-US" sz="1350" dirty="0"/>
          </a:p>
          <a:p>
            <a:pPr indent="0" marL="0">
              <a:buNone/>
            </a:pPr>
            <a:r>
              <a:rPr lang="en-US" sz="1100" i="1" dirty="0">
                <a:solidFill>
                  <a:srgbClr val="5A6472"/>
                </a:solidFill>
                <a:latin typeface="Calibri" pitchFamily="34" charset="0"/>
                <a:cs typeface="Amiri" pitchFamily="2" charset="-78"/>
              </a:rPr>
              <a:t>al-jaz-mu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التَّشْكِيكُ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doubt</a:t>
            </a:r>
            <a:endParaRPr lang="en-US" sz="1350" dirty="0"/>
          </a:p>
          <a:p>
            <a:pPr indent="0" marL="0">
              <a:buNone/>
            </a:pPr>
            <a:r>
              <a:rPr lang="en-US" sz="1100" i="1" dirty="0">
                <a:solidFill>
                  <a:srgbClr val="5A6472"/>
                </a:solidFill>
                <a:latin typeface="Calibri" pitchFamily="34" charset="0"/>
                <a:cs typeface="Amiri" pitchFamily="2" charset="-78"/>
              </a:rPr>
              <a:t>at-tash-kī-ku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trip</a:t>
            </a:r>
            <a:endParaRPr lang="en-US" sz="1350" dirty="0"/>
          </a:p>
          <a:p>
            <a:pPr indent="0" marL="0">
              <a:buNone/>
            </a:pPr>
            <a:r>
              <a:rPr lang="en-US" sz="1100" i="1" dirty="0">
                <a:solidFill>
                  <a:srgbClr val="5A6472"/>
                </a:solidFill>
                <a:latin typeface="Calibri" pitchFamily="34" charset="0"/>
                <a:cs typeface="Amiri" pitchFamily="2" charset="-78"/>
              </a:rPr>
              <a:t>riḥ-la-tun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رِحْلَاتٌ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سِيَاحِيٌّ</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أَدِلَّاءُ سِيَاحِيُّونَ</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مَوْسِمٍ</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 season</a:t>
            </a:r>
            <a:endParaRPr lang="en-US" sz="1350" dirty="0"/>
          </a:p>
          <a:p>
            <a:pPr indent="0" marL="0">
              <a:buNone/>
            </a:pPr>
            <a:r>
              <a:rPr lang="en-US" sz="1100" i="1" dirty="0">
                <a:solidFill>
                  <a:srgbClr val="5A6472"/>
                </a:solidFill>
                <a:latin typeface="Calibri" pitchFamily="34" charset="0"/>
                <a:cs typeface="Amiri" pitchFamily="2" charset="-78"/>
              </a:rPr>
              <a:t>af-ḍa-lu maw-si-min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وَسِيلَةُ نَقْلٍ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mode of transport</a:t>
            </a:r>
            <a:endParaRPr lang="en-US" sz="1350" dirty="0"/>
          </a:p>
          <a:p>
            <a:pPr indent="0" marL="0">
              <a:buNone/>
            </a:pPr>
            <a:r>
              <a:rPr lang="en-US" sz="1100" i="1" dirty="0">
                <a:solidFill>
                  <a:srgbClr val="5A6472"/>
                </a:solidFill>
                <a:latin typeface="Calibri" pitchFamily="34" charset="0"/>
                <a:cs typeface="Amiri" pitchFamily="2" charset="-78"/>
              </a:rPr>
              <a:t>wa-sī-la-tu naq-lin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وَسَائِلُ نَقْلٍ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 ثَقَافِيَّةٌ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custom</a:t>
            </a:r>
            <a:endParaRPr lang="en-US" sz="1350" dirty="0"/>
          </a:p>
          <a:p>
            <a:pPr indent="0" marL="0">
              <a:buNone/>
            </a:pPr>
            <a:r>
              <a:rPr lang="en-US" sz="1100" i="1" dirty="0">
                <a:solidFill>
                  <a:srgbClr val="5A6472"/>
                </a:solidFill>
                <a:latin typeface="Calibri" pitchFamily="34" charset="0"/>
                <a:cs typeface="Amiri" pitchFamily="2" charset="-78"/>
              </a:rPr>
              <a:t>ʿā-da-tun tha-qā-fiy-ya-tun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عَادَاتٌ ثَقَافِيَّةٌ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أَعْدَادُ الزُّوَّارِ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visitor numbers</a:t>
            </a:r>
            <a:endParaRPr lang="en-US" sz="1350" dirty="0"/>
          </a:p>
          <a:p>
            <a:pPr indent="0" marL="0">
              <a:buNone/>
            </a:pPr>
            <a:r>
              <a:rPr lang="en-US" sz="1100" i="1" dirty="0">
                <a:solidFill>
                  <a:srgbClr val="5A6472"/>
                </a:solidFill>
                <a:latin typeface="Calibri" pitchFamily="34" charset="0"/>
                <a:cs typeface="Amiri" pitchFamily="2" charset="-78"/>
              </a:rPr>
              <a:t>aʿ-dā-du az-zuw-wā-ri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تَحْتِيَّةٌ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بُنًى تَحْتِيَّةٌ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تَوْصِيَةٌ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تَوْصِيَاتٌ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Reporting marker.</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قَالَ إِنَّ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9" name="Shape 26"/>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قَدْ</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كُنْتُ قَدْ</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قَدْ</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 / سَوْفَ</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 Type 1 result</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a:t>
            </a:r>
            <a:endParaRPr lang="en-US" sz="1350" dirty="0"/>
          </a:p>
          <a:p>
            <a:pPr indent="0" marL="0">
              <a:buNone/>
            </a:pPr>
            <a:r>
              <a:rPr lang="en-US" sz="1100" i="1" dirty="0">
                <a:solidFill>
                  <a:srgbClr val="5A6472"/>
                </a:solidFill>
                <a:latin typeface="Calibri" pitchFamily="34" charset="0"/>
                <a:cs typeface="Amiri" pitchFamily="2" charset="-78"/>
              </a:rPr>
              <a:t>yaḥ-ji-zu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تَحْجِزُ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أَحْجِزُ</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يُقِيمُ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a:t>
            </a:r>
            <a:endParaRPr lang="en-US" sz="1350" dirty="0"/>
          </a:p>
          <a:p>
            <a:pPr indent="0" marL="0">
              <a:buNone/>
            </a:pPr>
            <a:r>
              <a:rPr lang="en-US" sz="1100" i="1" dirty="0">
                <a:solidFill>
                  <a:srgbClr val="5A6472"/>
                </a:solidFill>
                <a:latin typeface="Calibri" pitchFamily="34" charset="0"/>
                <a:cs typeface="Amiri" pitchFamily="2" charset="-78"/>
              </a:rPr>
              <a:t>yu-qī-mu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تُقِيمُ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أُقِيمُ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المَاضِي</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past-tense verb</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المُضَارِعُ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present-tense verb</a:t>
            </a:r>
            <a:endParaRPr lang="en-US" sz="1350" dirty="0"/>
          </a:p>
          <a:p>
            <a:pPr indent="0" marL="0">
              <a:buNone/>
            </a:pPr>
            <a:r>
              <a:rPr lang="en-US" sz="1100" i="1" dirty="0">
                <a:solidFill>
                  <a:srgbClr val="5A6472"/>
                </a:solidFill>
                <a:latin typeface="Calibri" pitchFamily="34" charset="0"/>
                <a:cs typeface="Amiri" pitchFamily="2" charset="-78"/>
              </a:rPr>
              <a:t>al-fiʿ-lu al-mu-ḍā-ri-ʿu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RESULT MARKER DECIDES (WEBSITE RULE 1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Wait for the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عَلَامَةُ الجَوَابِ تُحَدِّدُ النَّوْعَ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 it is …</a:t>
            </a:r>
            <a:endParaRPr lang="en-US" sz="1100" dirty="0"/>
          </a:p>
        </p:txBody>
      </p:sp>
      <p:sp>
        <p:nvSpPr>
          <p:cNvPr id="17" name="Text 14"/>
          <p:cNvSpPr txBox="1"/>
          <p:nvPr/>
        </p:nvSpPr>
        <p:spPr>
          <a:xfrm>
            <a:off x="7114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marker</a:t>
            </a:r>
            <a:endParaRPr lang="en-US" sz="1100" dirty="0"/>
          </a:p>
        </p:txBody>
      </p:sp>
      <p:sp>
        <p:nvSpPr>
          <p:cNvPr id="18" name="Text 15"/>
          <p:cNvSpPr txBox="1"/>
          <p:nvPr/>
        </p:nvSpPr>
        <p:spPr>
          <a:xfrm>
            <a:off x="530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plan</a:t>
            </a:r>
            <a:endParaRPr lang="en-US" sz="1100" dirty="0"/>
          </a:p>
        </p:txBody>
      </p:sp>
      <p:sp>
        <p:nvSpPr>
          <p:cNvPr id="21" name="Text 18"/>
          <p:cNvSpPr txBox="1"/>
          <p:nvPr/>
        </p:nvSpPr>
        <p:spPr>
          <a:xfrm>
            <a:off x="7150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22" name="Text 19"/>
          <p:cNvSpPr txBox="1"/>
          <p:nvPr/>
        </p:nvSpPr>
        <p:spPr>
          <a:xfrm>
            <a:off x="548640" y="2267712"/>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زُرْتُ المَغْرِبَ ثَانِيَةً، </a:t>
            </a:r>
            <a:pPr rtl="1" algn="ctr" indent="0" marL="0">
              <a:buNone/>
            </a:pPr>
            <a:r>
              <a:rPr lang="ar-SA" altLang="en-US" sz="1900" b="1" dirty="0">
                <a:solidFill>
                  <a:srgbClr val="0E7C86"/>
                </a:solidFill>
                <a:latin typeface="Amiri" pitchFamily="2" charset="-78"/>
                <a:cs typeface="Amiri" pitchFamily="2" charset="-78"/>
              </a:rPr>
              <a:t>سَأُخَصِّصُ</a:t>
            </a:r>
            <a:pPr rtl="1" algn="ctr" indent="0" marL="0">
              <a:buNone/>
            </a:pPr>
            <a:r>
              <a:rPr lang="ar-SA" altLang="en-US" sz="1900" b="1" dirty="0">
                <a:solidFill>
                  <a:srgbClr val="1B3B6F"/>
                </a:solidFill>
                <a:latin typeface="Amiri" pitchFamily="2" charset="-78"/>
                <a:cs typeface="Amiri" pitchFamily="2" charset="-78"/>
              </a:rPr>
              <a:t> أُسْبُوعًا لِفَاسَ.</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regret (unreal)</a:t>
            </a:r>
            <a:endParaRPr lang="en-US" sz="1100" dirty="0"/>
          </a:p>
        </p:txBody>
      </p:sp>
      <p:sp>
        <p:nvSpPr>
          <p:cNvPr id="27" name="Text 24"/>
          <p:cNvSpPr txBox="1"/>
          <p:nvPr/>
        </p:nvSpPr>
        <p:spPr>
          <a:xfrm>
            <a:off x="7150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28" name="Text 25"/>
          <p:cNvSpPr txBox="1"/>
          <p:nvPr/>
        </p:nvSpPr>
        <p:spPr>
          <a:xfrm>
            <a:off x="548640" y="300471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كُنْتُ قَدْ خَطَّطْتُ مُسْبَقًا، </a:t>
            </a:r>
            <a:pPr rtl="1" algn="ctr" indent="0" marL="0">
              <a:buNone/>
            </a:pPr>
            <a:r>
              <a:rPr lang="ar-SA" altLang="en-US" sz="1900" b="1" dirty="0">
                <a:solidFill>
                  <a:srgbClr val="C77700"/>
                </a:solidFill>
                <a:latin typeface="Amiri" pitchFamily="2" charset="-78"/>
                <a:cs typeface="Amiri" pitchFamily="2" charset="-78"/>
              </a:rPr>
              <a:t>لَحَجَزْتُ</a:t>
            </a:r>
            <a:pPr rtl="1" algn="ctr" indent="0" marL="0">
              <a:buNone/>
            </a:pPr>
            <a:r>
              <a:rPr lang="ar-SA" altLang="en-US" sz="1900" b="1" dirty="0">
                <a:solidFill>
                  <a:srgbClr val="1B3B6F"/>
                </a:solidFill>
                <a:latin typeface="Amiri" pitchFamily="2" charset="-78"/>
                <a:cs typeface="Amiri" pitchFamily="2" charset="-78"/>
              </a:rPr>
              <a:t> فُنْدُقًا كِلَاسِيكِيًّا.</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advice</a:t>
            </a:r>
            <a:endParaRPr lang="en-US" sz="1100" dirty="0"/>
          </a:p>
        </p:txBody>
      </p:sp>
      <p:sp>
        <p:nvSpPr>
          <p:cNvPr id="33" name="Text 30"/>
          <p:cNvSpPr txBox="1"/>
          <p:nvPr/>
        </p:nvSpPr>
        <p:spPr>
          <a:xfrm>
            <a:off x="7150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34" name="Text 31"/>
          <p:cNvSpPr txBox="1"/>
          <p:nvPr/>
        </p:nvSpPr>
        <p:spPr>
          <a:xfrm>
            <a:off x="548640" y="3741725"/>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وَصَلْتَ صَبَاحًا، </a:t>
            </a:r>
            <a:pPr rtl="1" algn="ctr" indent="0" marL="0">
              <a:buNone/>
            </a:pPr>
            <a:r>
              <a:rPr lang="ar-SA" altLang="en-US" sz="1900" b="1" dirty="0">
                <a:solidFill>
                  <a:srgbClr val="0E7C86"/>
                </a:solidFill>
                <a:latin typeface="Amiri" pitchFamily="2" charset="-78"/>
                <a:cs typeface="Amiri" pitchFamily="2" charset="-78"/>
              </a:rPr>
              <a:t>سَتَتَجَنَّبُ</a:t>
            </a:r>
            <a:pPr rtl="1" algn="ctr" indent="0" marL="0">
              <a:buNone/>
            </a:pPr>
            <a:r>
              <a:rPr lang="ar-SA" altLang="en-US" sz="1900" b="1" dirty="0">
                <a:solidFill>
                  <a:srgbClr val="1B3B6F"/>
                </a:solidFill>
                <a:latin typeface="Amiri" pitchFamily="2" charset="-78"/>
                <a:cs typeface="Amiri" pitchFamily="2" charset="-78"/>
              </a:rPr>
              <a:t> الزِّحَامَ.</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regret (unreal)</a:t>
            </a:r>
            <a:endParaRPr lang="en-US" sz="1100" dirty="0"/>
          </a:p>
        </p:txBody>
      </p:sp>
      <p:sp>
        <p:nvSpPr>
          <p:cNvPr id="37" name="Text 34"/>
          <p:cNvSpPr txBox="1"/>
          <p:nvPr/>
        </p:nvSpPr>
        <p:spPr>
          <a:xfrm>
            <a:off x="7150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38" name="Text 35"/>
          <p:cNvSpPr txBox="1"/>
          <p:nvPr/>
        </p:nvSpPr>
        <p:spPr>
          <a:xfrm>
            <a:off x="548640" y="4478731"/>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بَقِيتُ لَيْلَةً إِضَافِيَّةً، </a:t>
            </a:r>
            <a:pPr rtl="1" algn="ctr" indent="0" marL="0">
              <a:buNone/>
            </a:pPr>
            <a:r>
              <a:rPr lang="ar-SA" altLang="en-US" sz="1900" b="1" dirty="0">
                <a:solidFill>
                  <a:srgbClr val="C77700"/>
                </a:solidFill>
                <a:latin typeface="Amiri" pitchFamily="2" charset="-78"/>
                <a:cs typeface="Amiri" pitchFamily="2" charset="-78"/>
              </a:rPr>
              <a:t>لَرَأَيْتُ</a:t>
            </a:r>
            <a:pPr rtl="1" algn="ctr" indent="0" marL="0">
              <a:buNone/>
            </a:pPr>
            <a:r>
              <a:rPr lang="ar-SA" altLang="en-US" sz="1900" b="1" dirty="0">
                <a:solidFill>
                  <a:srgbClr val="1B3B6F"/>
                </a:solidFill>
                <a:latin typeface="Amiri" pitchFamily="2" charset="-78"/>
                <a:cs typeface="Amiri" pitchFamily="2" charset="-78"/>
              </a:rPr>
              <a:t> المَزِيدَ.</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unreal (negative)</a:t>
            </a:r>
            <a:endParaRPr lang="en-US" sz="1100" dirty="0"/>
          </a:p>
        </p:txBody>
      </p:sp>
      <p:sp>
        <p:nvSpPr>
          <p:cNvPr id="41" name="Text 38"/>
          <p:cNvSpPr txBox="1"/>
          <p:nvPr/>
        </p:nvSpPr>
        <p:spPr>
          <a:xfrm>
            <a:off x="71506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lamā</a:t>
            </a:r>
            <a:endParaRPr lang="en-US" sz="1100" dirty="0"/>
          </a:p>
        </p:txBody>
      </p:sp>
      <p:sp>
        <p:nvSpPr>
          <p:cNvPr id="42" name="Text 39"/>
          <p:cNvSpPr txBox="1"/>
          <p:nvPr/>
        </p:nvSpPr>
        <p:spPr>
          <a:xfrm>
            <a:off x="548640" y="521573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عَرَفْتُ العَادَاتِ، </a:t>
            </a:r>
            <a:pPr rtl="1" algn="ctr" indent="0" marL="0">
              <a:buNone/>
            </a:pPr>
            <a:r>
              <a:rPr lang="ar-SA" altLang="en-US" sz="1900" b="1" dirty="0">
                <a:solidFill>
                  <a:srgbClr val="C77700"/>
                </a:solidFill>
                <a:latin typeface="Amiri" pitchFamily="2" charset="-78"/>
                <a:cs typeface="Amiri" pitchFamily="2" charset="-78"/>
              </a:rPr>
              <a:t>لَمَا</a:t>
            </a:r>
            <a:pPr rtl="1" algn="ctr" indent="0" marL="0">
              <a:buNone/>
            </a:pPr>
            <a:r>
              <a:rPr lang="ar-SA" altLang="en-US" sz="1900" b="1" dirty="0">
                <a:solidFill>
                  <a:srgbClr val="1B3B6F"/>
                </a:solidFill>
                <a:latin typeface="Amiri" pitchFamily="2" charset="-78"/>
                <a:cs typeface="Amiri" pitchFamily="2" charset="-78"/>
              </a:rPr>
              <a:t> أَخْطَأْتُ.</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deciding the type from the particle alone. Both take a past verb — the END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WHO IS SPEAKING? (WEBSITE RULES 2 AND 4) · CORE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words are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كَلَامُ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قَالَ الدَّلِيلُ إِنَّ أَفْضَلَ مَوْسِمٍ لِلزِّيَارَةِ هُوَ الرَّبِيعُ.</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guide said that the best season to visit is spring.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guide’s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أَشَارَ …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أَشَارَ الخَبِيرُ إِلَى أَنَّ الرَّبِيعَ أَفْضَلُ.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expert pointed out that spring is best.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before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OWN VIEW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أَرَى أَنَّ · أَنْصَحُ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أَنْصَحُ كُلَّ مُسَافِرٍ بِاحْتِرَامِ العَادَاتِ المَحَلِّيَّةِ.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advise every traveller to respect local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speaker’s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ashāra is fixed with ilā before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أَشَارَ الدَّلِيلُ إِلَى أَنَّ الرَّبِيعَ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أَشَارَ الدَّلِيلُ أَنَّ الرَّبِيعَ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PAST PERFECT AND THE BOOKING VERBS BY EAR (WEBSITE RULE 3 + LISTENING)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7479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56509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a:t>
            </a:r>
            <a:endParaRPr lang="en-US" sz="1100" dirty="0"/>
          </a:p>
        </p:txBody>
      </p:sp>
      <p:sp>
        <p:nvSpPr>
          <p:cNvPr id="22" name="Text 19"/>
          <p:cNvSpPr txBox="1"/>
          <p:nvPr/>
        </p:nvSpPr>
        <p:spPr>
          <a:xfrm>
            <a:off x="7516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trip</a:t>
            </a:r>
            <a:endParaRPr lang="en-US" sz="1100" dirty="0"/>
          </a:p>
        </p:txBody>
      </p:sp>
      <p:sp>
        <p:nvSpPr>
          <p:cNvPr id="23" name="Text 20"/>
          <p:cNvSpPr txBox="1"/>
          <p:nvPr/>
        </p:nvSpPr>
        <p:spPr>
          <a:xfrm>
            <a:off x="568756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كُنْتُ قَدْ حَجَزْتُ</a:t>
            </a:r>
            <a:pPr rtl="1" algn="ctr" indent="0" marL="0">
              <a:buNone/>
            </a:pPr>
            <a:r>
              <a:rPr lang="ar-SA" altLang="en-US" sz="2000" b="1" dirty="0">
                <a:solidFill>
                  <a:srgbClr val="1B3B6F"/>
                </a:solidFill>
                <a:latin typeface="Amiri" pitchFamily="2" charset="-78"/>
                <a:cs typeface="Amiri" pitchFamily="2" charset="-78"/>
              </a:rPr>
              <a:t> رِحْلَتِي قَبْلَ شَهْرَيْنِ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a:t>
            </a:r>
            <a:endParaRPr lang="en-US" sz="1100" dirty="0"/>
          </a:p>
        </p:txBody>
      </p:sp>
      <p:sp>
        <p:nvSpPr>
          <p:cNvPr id="29" name="Text 26"/>
          <p:cNvSpPr txBox="1"/>
          <p:nvPr/>
        </p:nvSpPr>
        <p:spPr>
          <a:xfrm>
            <a:off x="7516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trip</a:t>
            </a:r>
            <a:endParaRPr lang="en-US" sz="1100" dirty="0"/>
          </a:p>
        </p:txBody>
      </p:sp>
      <p:sp>
        <p:nvSpPr>
          <p:cNvPr id="30" name="Text 27"/>
          <p:cNvSpPr txBox="1"/>
          <p:nvPr/>
        </p:nvSpPr>
        <p:spPr>
          <a:xfrm>
            <a:off x="568756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yaqraʾ</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وَكُنْتُ قَدْ قَرَأْتُ</a:t>
            </a:r>
            <a:pPr rtl="1" algn="ctr" indent="0" marL="0">
              <a:buNone/>
            </a:pPr>
            <a:r>
              <a:rPr lang="ar-SA" altLang="en-US" sz="2000" b="1" dirty="0">
                <a:solidFill>
                  <a:srgbClr val="1B3B6F"/>
                </a:solidFill>
                <a:latin typeface="Amiri" pitchFamily="2" charset="-78"/>
                <a:cs typeface="Amiri" pitchFamily="2" charset="-78"/>
              </a:rPr>
              <a:t> عَنْ فَاسَ كَثِيرًا</a:t>
            </a:r>
            <a:endParaRPr lang="ar-SA" sz="20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(-tu)</a:t>
            </a:r>
            <a:endParaRPr lang="en-US" sz="1100" dirty="0"/>
          </a:p>
        </p:txBody>
      </p:sp>
      <p:sp>
        <p:nvSpPr>
          <p:cNvPr id="34" name="Text 31"/>
          <p:cNvSpPr txBox="1"/>
          <p:nvPr/>
        </p:nvSpPr>
        <p:spPr>
          <a:xfrm>
            <a:off x="7516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the trip</a:t>
            </a:r>
            <a:endParaRPr lang="en-US" sz="1100" dirty="0"/>
          </a:p>
        </p:txBody>
      </p:sp>
      <p:sp>
        <p:nvSpPr>
          <p:cNvPr id="35" name="Text 32"/>
          <p:cNvSpPr txBox="1"/>
          <p:nvPr/>
        </p:nvSpPr>
        <p:spPr>
          <a:xfrm>
            <a:off x="568756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yuqīm</a:t>
            </a:r>
            <a:endParaRPr lang="en-US" sz="1100" dirty="0"/>
          </a:p>
        </p:txBody>
      </p:sp>
      <p:sp>
        <p:nvSpPr>
          <p:cNvPr id="36" name="Text 33"/>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أَقَمْتُ</a:t>
            </a:r>
            <a:pPr rtl="1" algn="ctr" indent="0" marL="0">
              <a:buNone/>
            </a:pPr>
            <a:r>
              <a:rPr lang="ar-SA" altLang="en-US" sz="2000" b="1" dirty="0">
                <a:solidFill>
                  <a:srgbClr val="1B3B6F"/>
                </a:solidFill>
                <a:latin typeface="Amiri" pitchFamily="2" charset="-78"/>
                <a:cs typeface="Amiri" pitchFamily="2" charset="-78"/>
              </a:rPr>
              <a:t> فِي رِيَاضٍ تَقْلِيدِيٍّ</a:t>
            </a:r>
            <a:endParaRPr lang="ar-SA" sz="20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1" name="Text 38"/>
          <p:cNvSpPr txBox="1"/>
          <p:nvPr/>
        </p:nvSpPr>
        <p:spPr>
          <a:xfrm>
            <a:off x="7516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time</a:t>
            </a:r>
            <a:endParaRPr lang="en-US" sz="1100" dirty="0"/>
          </a:p>
        </p:txBody>
      </p:sp>
      <p:sp>
        <p:nvSpPr>
          <p:cNvPr id="42" name="Text 39"/>
          <p:cNvSpPr txBox="1"/>
          <p:nvPr/>
        </p:nvSpPr>
        <p:spPr>
          <a:xfrm>
            <a:off x="568756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yuqīm</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سَأُقِيمُ</a:t>
            </a:r>
            <a:pPr rtl="1" algn="ctr" indent="0" marL="0">
              <a:buNone/>
            </a:pPr>
            <a:r>
              <a:rPr lang="ar-SA" altLang="en-US" sz="2000" b="1" dirty="0">
                <a:solidFill>
                  <a:srgbClr val="1B3B6F"/>
                </a:solidFill>
                <a:latin typeface="Amiri" pitchFamily="2" charset="-78"/>
                <a:cs typeface="Amiri" pitchFamily="2" charset="-78"/>
              </a:rPr>
              <a:t> فِي رِيَاضٍ تَقْلِيدِيٍّ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6" name="Text 43"/>
          <p:cNvSpPr txBox="1"/>
          <p:nvPr/>
        </p:nvSpPr>
        <p:spPr>
          <a:xfrm>
            <a:off x="7516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time</a:t>
            </a:r>
            <a:endParaRPr lang="en-US" sz="1100" dirty="0"/>
          </a:p>
        </p:txBody>
      </p:sp>
      <p:sp>
        <p:nvSpPr>
          <p:cNvPr id="47" name="Text 44"/>
          <p:cNvSpPr txBox="1"/>
          <p:nvPr/>
        </p:nvSpPr>
        <p:spPr>
          <a:xfrm>
            <a:off x="568756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سَأَحْجِزُ</a:t>
            </a:r>
            <a:pPr rtl="1" algn="ctr" indent="0" marL="0">
              <a:buNone/>
            </a:pPr>
            <a:r>
              <a:rPr lang="ar-SA" altLang="en-US" sz="2000" b="1" dirty="0">
                <a:solidFill>
                  <a:srgbClr val="1B3B6F"/>
                </a:solidFill>
                <a:latin typeface="Amiri" pitchFamily="2" charset="-78"/>
                <a:cs typeface="Amiri" pitchFamily="2" charset="-78"/>
              </a:rPr>
              <a:t> رِحْلَةً مُبَاشِرَةً</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yuqīm is hollow: present </a:t>
            </a:r>
            <a:pPr algn="l" indent="0" marL="0">
              <a:buNone/>
            </a:pPr>
            <a:r>
              <a:rPr lang="ar-SA" altLang="en-US" sz="1500" b="1" dirty="0">
                <a:solidFill>
                  <a:srgbClr val="1B3B6F"/>
                </a:solidFill>
                <a:latin typeface="Amiri" pitchFamily="2" charset="-78"/>
                <a:cs typeface="Amiri" pitchFamily="2" charset="-78"/>
              </a:rPr>
              <a:t>أُقِيمُ</a:t>
            </a:r>
            <a:pPr algn="l" indent="0" marL="0">
              <a:buNone/>
            </a:pPr>
            <a:r>
              <a:rPr lang="en-US" sz="1150" b="1" dirty="0">
                <a:solidFill>
                  <a:srgbClr val="1B3B6F"/>
                </a:solidFill>
                <a:latin typeface="Calibri" pitchFamily="34" charset="0"/>
                <a:cs typeface="Amiri" pitchFamily="2" charset="-78"/>
              </a:rPr>
              <a:t> (long ī) but past </a:t>
            </a:r>
            <a:pPr algn="l" indent="0" marL="0">
              <a:buNone/>
            </a:pPr>
            <a:r>
              <a:rPr lang="ar-SA" altLang="en-US" sz="1500" b="1" dirty="0">
                <a:solidFill>
                  <a:srgbClr val="1B3B6F"/>
                </a:solidFill>
                <a:latin typeface="Amiri" pitchFamily="2" charset="-78"/>
                <a:cs typeface="Amiri" pitchFamily="2" charset="-78"/>
              </a:rPr>
              <a:t>أَقَمْتُ</a:t>
            </a:r>
            <a:pPr algn="l" indent="0" marL="0">
              <a:buNone/>
            </a:pPr>
            <a:r>
              <a:rPr lang="en-US" sz="1150" b="1" dirty="0">
                <a:solidFill>
                  <a:srgbClr val="1B3B6F"/>
                </a:solidFill>
                <a:latin typeface="Calibri" pitchFamily="34" charset="0"/>
                <a:cs typeface="Amiri" pitchFamily="2" charset="-78"/>
              </a:rPr>
              <a:t> (short a) — the vowel changes, so listen for the root q-m.</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GENERAL DISTRACTOR (WEBSITE READING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الإِجَابَةُ العَامَّةُ 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General (distractor)</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Specific (correct)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a hotel in Morocco</a:t>
            </a:r>
            <a:endParaRPr lang="en-US" sz="1100" dirty="0"/>
          </a:p>
        </p:txBody>
      </p:sp>
      <p:sp>
        <p:nvSpPr>
          <p:cNvPr id="21" name="Text 18"/>
          <p:cNvSpPr txBox="1"/>
          <p:nvPr/>
        </p:nvSpPr>
        <p:spPr>
          <a:xfrm>
            <a:off x="3291840" y="2267712"/>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a:t>
            </a:r>
            <a:pPr rtl="1" algn="ctr" indent="0" marL="0">
              <a:buNone/>
            </a:pPr>
            <a:r>
              <a:rPr lang="ar-SA" altLang="en-US" sz="1800" b="1" dirty="0">
                <a:solidFill>
                  <a:srgbClr val="7B3FA0"/>
                </a:solidFill>
                <a:latin typeface="Amiri" pitchFamily="2" charset="-78"/>
                <a:cs typeface="Amiri" pitchFamily="2" charset="-78"/>
              </a:rPr>
              <a:t>رِيَاضٍ تَقْلِيدِيٍّ</a:t>
            </a:r>
            <a:pPr rtl="1" algn="ctr" indent="0" marL="0">
              <a:buNone/>
            </a:pPr>
            <a:r>
              <a:rPr lang="ar-SA" altLang="en-US" sz="1800" b="1" dirty="0">
                <a:solidFill>
                  <a:srgbClr val="1B3B6F"/>
                </a:solidFill>
                <a:latin typeface="Amiri" pitchFamily="2" charset="-78"/>
                <a:cs typeface="Amiri" pitchFamily="2" charset="-78"/>
              </a:rPr>
              <a:t> فِي المَدِينَةِ القَدِيمَةِ</a:t>
            </a:r>
            <a:endParaRPr lang="ar-SA" sz="18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they stay?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public transport</a:t>
            </a:r>
            <a:endParaRPr lang="en-US" sz="1100" dirty="0"/>
          </a:p>
        </p:txBody>
      </p:sp>
      <p:sp>
        <p:nvSpPr>
          <p:cNvPr id="27" name="Text 24"/>
          <p:cNvSpPr txBox="1"/>
          <p:nvPr/>
        </p:nvSpPr>
        <p:spPr>
          <a:xfrm>
            <a:off x="3291840" y="3054096"/>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القِطَارُ السَّرِيعُ</a:t>
            </a:r>
            <a:pPr rtl="1" algn="ctr" indent="0" marL="0">
              <a:buNone/>
            </a:pPr>
            <a:r>
              <a:rPr lang="ar-SA" altLang="en-US" sz="1800" b="1" dirty="0">
                <a:solidFill>
                  <a:srgbClr val="1B3B6F"/>
                </a:solidFill>
                <a:latin typeface="Amiri" pitchFamily="2" charset="-78"/>
                <a:cs typeface="Amiri" pitchFamily="2" charset="-78"/>
              </a:rPr>
              <a:t> الَّذِي يَصِلُ بَيْنَ المُدُنِ الكُبْرَى</a:t>
            </a:r>
            <a:endParaRPr lang="ar-SA" sz="18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transport?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Morocco again</a:t>
            </a:r>
            <a:endParaRPr lang="en-US" sz="1100" dirty="0"/>
          </a:p>
        </p:txBody>
      </p:sp>
      <p:sp>
        <p:nvSpPr>
          <p:cNvPr id="33" name="Text 30"/>
          <p:cNvSpPr txBox="1"/>
          <p:nvPr/>
        </p:nvSpPr>
        <p:spPr>
          <a:xfrm>
            <a:off x="3291840" y="3840480"/>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سَأُخَصِّصُ </a:t>
            </a:r>
            <a:pPr rtl="1" algn="ctr" indent="0" marL="0">
              <a:buNone/>
            </a:pPr>
            <a:r>
              <a:rPr lang="ar-SA" altLang="en-US" sz="1800" b="1" dirty="0">
                <a:solidFill>
                  <a:srgbClr val="7B3FA0"/>
                </a:solidFill>
                <a:latin typeface="Amiri" pitchFamily="2" charset="-78"/>
                <a:cs typeface="Amiri" pitchFamily="2" charset="-78"/>
              </a:rPr>
              <a:t>أُسْبُوعًا كَامِلًا لِفَاسَ</a:t>
            </a:r>
            <a:endParaRPr lang="ar-SA" sz="18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plan for next time?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 is beautiful</a:t>
            </a:r>
            <a:endParaRPr lang="en-US" sz="1100" dirty="0"/>
          </a:p>
        </p:txBody>
      </p:sp>
      <p:sp>
        <p:nvSpPr>
          <p:cNvPr id="37" name="Text 34"/>
          <p:cNvSpPr txBox="1"/>
          <p:nvPr/>
        </p:nvSpPr>
        <p:spPr>
          <a:xfrm>
            <a:off x="3291840" y="4626864"/>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كَرَمُ النَّاسِ</a:t>
            </a:r>
            <a:endParaRPr lang="ar-SA" sz="1800" dirty="0"/>
          </a:p>
        </p:txBody>
      </p:sp>
      <p:sp>
        <p:nvSpPr>
          <p:cNvPr id="38" name="Text 35"/>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impressed them most?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a:t>
            </a:r>
            <a:pPr algn="l" indent="0" marL="0">
              <a:buNone/>
            </a:pPr>
            <a:r>
              <a:rPr lang="ar-SA" altLang="en-US" sz="1500" b="1" dirty="0">
                <a:solidFill>
                  <a:srgbClr val="1B3B6F"/>
                </a:solidFill>
                <a:latin typeface="Amiri" pitchFamily="2" charset="-78"/>
                <a:cs typeface="Amiri" pitchFamily="2" charset="-78"/>
              </a:rPr>
              <a:t>الإِجَابَةُ العَامَّةُ كَثِيرًا مَا تَكُونُ مُشَتِّتًا</a:t>
            </a:r>
            <a:pPr algn="l" indent="0" marL="0">
              <a:buNone/>
            </a:pPr>
            <a:r>
              <a:rPr lang="en-US" sz="1150" b="1" dirty="0">
                <a:solidFill>
                  <a:srgbClr val="1B3B6F"/>
                </a:solidFill>
                <a:latin typeface="Calibri" pitchFamily="34" charset="0"/>
                <a:cs typeface="Amiri" pitchFamily="2" charset="-78"/>
              </a:rPr>
              <a:t> — the general answer is often a distractor.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Hearing conditionals and reports in fast speech</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cs typeface="Amiri" pitchFamily="2" charset="-78"/>
              </a:rPr>
              <a:t>سَمَاعُ الشَّرْطِ وَالنَّقْلِ فِي الكَلَامِ السَّرِيعِ</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by result marker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 (real) · la-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زُرْتُهَا، سَأُخَصِّصُ أُسْبُوعًا   ·   لَوْ خَطَّطْتُ، لَحَجَزْتُ فُنْدُقًا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Decode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inna / anna + content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الدَّلِيلُ إِنَّ الرَّبِيعَ أَفْضَلُ مَوْسِمٍ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perfect and booking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yaḥjiz · yuqīm</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حَجَزْتُ الفُنْدُقَ   ·   سَأُقِيمُ فِي رِيَاضٍ تَقْلِيدِيٍّ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arā anna vs ashāra …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أَرَى أَنَّ …   ·   أَشَارَ الخَبِيرُ إِلَى أَنَّ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tone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hypothetical (Type 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real (Type 1)</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 signals 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tone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is the reliable signal.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كُنْتُ-قَدْ-حَجَزْتُ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fast unit.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قَالَ</a:t>
            </a:r>
            <a:pPr rtl="1" algn="ctr" indent="0" marL="0">
              <a:buNone/>
            </a:pPr>
            <a:r>
              <a:rPr lang="ar-SA" altLang="en-US" sz="2800" b="1" dirty="0">
                <a:solidFill>
                  <a:srgbClr val="1B3B6F"/>
                </a:solidFill>
                <a:latin typeface="Amiri" pitchFamily="2" charset="-78"/>
                <a:cs typeface="Amiri" pitchFamily="2" charset="-78"/>
              </a:rPr>
              <a:t> الدَّلِيلُ </a:t>
            </a:r>
            <a:pPr rtl="1" algn="ctr" indent="0" marL="0">
              <a:buNone/>
            </a:pPr>
            <a:r>
              <a:rPr lang="ar-SA" altLang="en-US" sz="2800" b="1" dirty="0">
                <a:solidFill>
                  <a:srgbClr val="7B3FA0"/>
                </a:solidFill>
                <a:latin typeface="Amiri" pitchFamily="2" charset="-78"/>
                <a:cs typeface="Amiri" pitchFamily="2" charset="-78"/>
              </a:rPr>
              <a:t>إِنَّ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0E7C86"/>
                </a:solidFill>
                <a:latin typeface="Amiri" pitchFamily="2" charset="-78"/>
                <a:cs typeface="Amiri" pitchFamily="2" charset="-78"/>
              </a:rPr>
              <a:t>سَـ</a:t>
            </a:r>
            <a:pPr rtl="1" algn="ctr" indent="0" marL="0">
              <a:buNone/>
            </a:pPr>
            <a:r>
              <a:rPr lang="ar-SA" altLang="en-US" sz="2800" b="1" dirty="0">
                <a:solidFill>
                  <a:srgbClr val="1B3B6F"/>
                </a:solidFill>
                <a:latin typeface="Amiri" pitchFamily="2" charset="-78"/>
                <a:cs typeface="Amiri" pitchFamily="2" charset="-78"/>
              </a:rPr>
              <a:t>أُخَصِّصُ · … </a:t>
            </a:r>
            <a:pPr rtl="1" algn="ctr" indent="0" marL="0">
              <a:buNone/>
            </a:pPr>
            <a:r>
              <a:rPr lang="ar-SA" altLang="en-US" sz="2800" b="1" dirty="0">
                <a:solidFill>
                  <a:srgbClr val="C77700"/>
                </a:solidFill>
                <a:latin typeface="Amiri" pitchFamily="2" charset="-78"/>
                <a:cs typeface="Amiri" pitchFamily="2" charset="-78"/>
              </a:rPr>
              <a:t>لَـ</a:t>
            </a:r>
            <a:pPr rtl="1" algn="ctr" indent="0" marL="0">
              <a:buNone/>
            </a:pPr>
            <a:r>
              <a:rPr lang="ar-SA" altLang="en-US" sz="2800" b="1" dirty="0">
                <a:solidFill>
                  <a:srgbClr val="1B3B6F"/>
                </a:solidFill>
                <a:latin typeface="Amiri" pitchFamily="2" charset="-78"/>
                <a:cs typeface="Amiri" pitchFamily="2" charset="-78"/>
              </a:rPr>
              <a:t>حَجَزْتُ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 for the 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SA-</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UNREAL · LA-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يَقُولُ المُسَافِرُ: </a:t>
            </a:r>
            <a:pPr rtl="1" algn="r" indent="0" marL="0">
              <a:lnSpc>
                <a:spcPct val="120000"/>
              </a:lnSpc>
              <a:buNone/>
            </a:pPr>
            <a:r>
              <a:rPr lang="ar-SA" altLang="en-US" sz="1400" b="1" dirty="0">
                <a:solidFill>
                  <a:srgbClr val="D6336C"/>
                </a:solidFill>
                <a:latin typeface="Amiri" pitchFamily="2" charset="-78"/>
                <a:cs typeface="Amiri" pitchFamily="2" charset="-78"/>
              </a:rPr>
              <a:t>كُنْتُ قَدْ حَجَزْتُ</a:t>
            </a:r>
            <a:pPr rtl="1" algn="r" indent="0" marL="0">
              <a:lnSpc>
                <a:spcPct val="120000"/>
              </a:lnSpc>
              <a:buNone/>
            </a:pPr>
            <a:r>
              <a:rPr lang="ar-SA" altLang="en-US" sz="1400" b="1" dirty="0">
                <a:solidFill>
                  <a:srgbClr val="1B3B6F"/>
                </a:solidFill>
                <a:latin typeface="Amiri" pitchFamily="2" charset="-78"/>
                <a:cs typeface="Amiri" pitchFamily="2" charset="-78"/>
              </a:rPr>
              <a:t> رِحْلَتِي إِلَى المَغْرِبِ قَبْلَ شَهْرَيْنِ. </a:t>
            </a:r>
            <a:pPr rtl="1" algn="r" indent="0" marL="0">
              <a:lnSpc>
                <a:spcPct val="120000"/>
              </a:lnSpc>
              <a:buNone/>
            </a:pPr>
            <a:r>
              <a:rPr lang="ar-SA" altLang="en-US" sz="1400" b="1" dirty="0">
                <a:solidFill>
                  <a:srgbClr val="7B3FA0"/>
                </a:solidFill>
                <a:latin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cs typeface="Amiri" pitchFamily="2" charset="-78"/>
              </a:rPr>
              <a:t> الدَّلِيلُ </a:t>
            </a:r>
            <a:pPr rtl="1" algn="r" indent="0" marL="0">
              <a:lnSpc>
                <a:spcPct val="120000"/>
              </a:lnSpc>
              <a:buNone/>
            </a:pPr>
            <a:r>
              <a:rPr lang="ar-SA" altLang="en-US" sz="1400" b="1" dirty="0">
                <a:solidFill>
                  <a:srgbClr val="7B3FA0"/>
                </a:solidFill>
                <a:latin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cs typeface="Amiri" pitchFamily="2" charset="-78"/>
              </a:rPr>
              <a:t> أَفْضَلَ مَوْسِمٍ لِلزِّيَارَةِ هُوَ الرَّبِيعُ. إِذَا زُرْتُ المَغْرِبَ ثَانِيَةً، </a:t>
            </a:r>
            <a:pPr rtl="1" algn="r" indent="0" marL="0">
              <a:lnSpc>
                <a:spcPct val="120000"/>
              </a:lnSpc>
              <a:buNone/>
            </a:pPr>
            <a:r>
              <a:rPr lang="ar-SA" altLang="en-US" sz="1400" b="1" dirty="0">
                <a:solidFill>
                  <a:srgbClr val="0E7C86"/>
                </a:solidFill>
                <a:latin typeface="Amiri" pitchFamily="2" charset="-78"/>
                <a:cs typeface="Amiri" pitchFamily="2" charset="-78"/>
              </a:rPr>
              <a:t>سَأُخَصِّصُ</a:t>
            </a:r>
            <a:pPr rtl="1" algn="r" indent="0" marL="0">
              <a:lnSpc>
                <a:spcPct val="120000"/>
              </a:lnSpc>
              <a:buNone/>
            </a:pPr>
            <a:r>
              <a:rPr lang="ar-SA" altLang="en-US" sz="1400" b="1" dirty="0">
                <a:solidFill>
                  <a:srgbClr val="1B3B6F"/>
                </a:solidFill>
                <a:latin typeface="Amiri" pitchFamily="2" charset="-78"/>
                <a:cs typeface="Amiri" pitchFamily="2" charset="-78"/>
              </a:rPr>
              <a:t> أُسْبُوعًا كَامِلًا لِفَاسَ. وَلَوْ كُنْتُ قَدْ خَطَّطْتُ مُسْبَقًا، </a:t>
            </a:r>
            <a:pPr rtl="1" algn="r" indent="0" marL="0">
              <a:lnSpc>
                <a:spcPct val="120000"/>
              </a:lnSpc>
              <a:buNone/>
            </a:pPr>
            <a:r>
              <a:rPr lang="ar-SA" altLang="en-US" sz="1400" b="1" dirty="0">
                <a:solidFill>
                  <a:srgbClr val="C77700"/>
                </a:solidFill>
                <a:latin typeface="Amiri" pitchFamily="2" charset="-78"/>
                <a:cs typeface="Amiri" pitchFamily="2" charset="-78"/>
              </a:rPr>
              <a:t>لَحَجَزْتُ</a:t>
            </a:r>
            <a:pPr rtl="1" algn="r" indent="0" marL="0">
              <a:lnSpc>
                <a:spcPct val="120000"/>
              </a:lnSpc>
              <a:buNone/>
            </a:pPr>
            <a:r>
              <a:rPr lang="ar-SA" altLang="en-US" sz="1400" b="1" dirty="0">
                <a:solidFill>
                  <a:srgbClr val="1B3B6F"/>
                </a:solidFill>
                <a:latin typeface="Amiri" pitchFamily="2" charset="-78"/>
                <a:cs typeface="Amiri" pitchFamily="2" charset="-78"/>
              </a:rPr>
              <a:t> فُنْدُقًا كِلَاسِيكِيًّا.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traveller says: I had booked my trip to Morocco two months earlier. The guide said that the best season to visit is spring. If I visit Morocco again, I will devote a whole week to Fez. And had I planned ahead, I would have booked a classic hotel.</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المَغْرِبَ ثَانِيَةً، سَأُخَصِّصُ أُسْبُوعًا لِفَاسَ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visit Morocco again, I will devote a week to Fez</a:t>
            </a:r>
            <a:endParaRPr lang="en-US" sz="1250" dirty="0"/>
          </a:p>
          <a:p>
            <a:pPr indent="0" marL="0">
              <a:buNone/>
            </a:pPr>
            <a:r>
              <a:rPr lang="en-US" sz="1050" i="1" dirty="0">
                <a:solidFill>
                  <a:srgbClr val="8A6D1E"/>
                </a:solidFill>
                <a:latin typeface="Calibri" pitchFamily="34" charset="0"/>
                <a:cs typeface="Amiri" pitchFamily="2" charset="-78"/>
              </a:rPr>
              <a:t>A sa- result → a real plan.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كُنْتُ قَدْ خَطَّطْتُ مُسْبَقًا، لَحَجَزْتُ فُنْدُقًا كِلَاسِيكِيًّا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planned ahead, I would have booked a classic hotel</a:t>
            </a:r>
            <a:endParaRPr lang="en-US" sz="1250" dirty="0"/>
          </a:p>
          <a:p>
            <a:pPr indent="0" marL="0">
              <a:buNone/>
            </a:pPr>
            <a:r>
              <a:rPr lang="en-US" sz="1050" i="1" dirty="0">
                <a:solidFill>
                  <a:srgbClr val="8A6D1E"/>
                </a:solidFill>
                <a:latin typeface="Calibri" pitchFamily="34" charset="0"/>
                <a:cs typeface="Amiri" pitchFamily="2" charset="-78"/>
              </a:rPr>
              <a:t>A la- result →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الدَّلِيلُ إِنَّ أَفْضَلَ مَوْسِمٍ هُوَ الرَّبِيعُ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guide said that the best season is spring</a:t>
            </a:r>
            <a:endParaRPr lang="en-US" sz="1250" dirty="0"/>
          </a:p>
          <a:p>
            <a:pPr indent="0" marL="0">
              <a:buNone/>
            </a:pPr>
            <a:r>
              <a:rPr lang="en-US" sz="1050" i="1" dirty="0">
                <a:solidFill>
                  <a:srgbClr val="8A6D1E"/>
                </a:solidFill>
                <a:latin typeface="Calibri" pitchFamily="34" charset="0"/>
                <a:cs typeface="Amiri" pitchFamily="2" charset="-78"/>
              </a:rPr>
              <a:t>Reported cultural tip.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Plan + regret + past-perfect fact</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Real plan (sa-)</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Regret (la-)</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Fact / report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إِذَا زُرْتُ المَغْرِبَ ثَانِيَةً سَأُخَصِّصُ أُسْبُوعًا لِفَاسَ</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كُنْتُ قَدْ خَطَّطْتُ مُسْبَقًا لَحَجَزْتُ فُنْدُقًا كِلَاسِيكِيًّا</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وَكُنْتُ قَدْ حَجَزْتُ الرِّحْلَةَ قَبْلَ شَهْرَيْنِ</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إِذَا وَصَلْتُ صَبَاحًا سَأَتَجَنَّبُ الزِّحَامَ</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بَقِيتُ لَيْلَةً إِضَافِيَّةً لَرَأَيْتُ المَزِيدَ</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وَقَالَ الدَّلِيلُ إِنَّ الرَّبِيعَ أَفْضَلُ مَوْسِمٍ</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إِذَا حَجَزْتُ مُبَكِّرًا سَأُوَفِّرُ المَالَ</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تَعَلَّمْتُ العَرَبِيَّةَ لَكَانَتِ التَّجْرِبَةُ أَعْمَقَ</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وَأَقَمْتُ فِي رِيَاضٍ تَقْلِيدِيٍّ فِي المَدِينَةِ القَدِيمَةِ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 real result, a hypothetical result — or a report / past perfect?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سَأُخَصِّصُ أُسْبُوعًا لِفَاسَ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سَتَتَجَنَّبُ الزِّحَامَ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 رِحْلَةً مُبَاشِرَةً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لَحَجَزْتُ فُنْدُقًا كِلَاسِيكِيًّا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لَرَأَيْتُ المَزِيدَ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لَتَعَمَّقَتْ تَجْرِبَتِي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الدَّلِيلُ إِنَّ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result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result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result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سَأُخَصِّصُ أُسْبُوعًا لِفَاسَ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سَتَتَجَنَّبُ الزِّحَامَ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 رِحْلَةً مُبَاشِرَةً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result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لَحَجَزْتُ فُنْدُقًا كِلَاسِيكِيًّا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لَرَأَيْتُ المَزِيدَ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لَتَعَمَّقَتْ تَجْرِبَتِي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الدَّلِيلُ إِنَّ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a:t>
            </a:r>
            <a:pPr algn="l" indent="0" marL="0">
              <a:buNone/>
            </a:pPr>
            <a:r>
              <a:rPr lang="ar-SA" altLang="en-US" sz="1650" dirty="0">
                <a:solidFill>
                  <a:srgbClr val="1F2A37"/>
                </a:solidFill>
                <a:latin typeface="Amiri" pitchFamily="2" charset="-78"/>
                <a:cs typeface="Amiri" pitchFamily="2" charset="-78"/>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like </a:t>
            </a:r>
            <a:pPr algn="l" indent="0" marL="0">
              <a:buNone/>
            </a:pPr>
            <a:r>
              <a:rPr lang="ar-SA" altLang="en-US" sz="1650" dirty="0">
                <a:solidFill>
                  <a:srgbClr val="1F2A37"/>
                </a:solidFill>
                <a:latin typeface="Amiri" pitchFamily="2" charset="-78"/>
                <a:cs typeface="Amiri" pitchFamily="2" charset="-78"/>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الدَّلِيلُ ___ الرَّبِيعَ أَفْضَلُ مَوْسِمٍ.</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verb means “stays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 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بَيْنَ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a speaker use both types in seconds?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always wrong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plans forward, one reflects back</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a:t>
            </a:r>
            <a:pPr algn="l" indent="0" marL="0">
              <a:buNone/>
            </a:pPr>
            <a:r>
              <a:rPr lang="ar-SA" altLang="en-US" sz="1650" dirty="0">
                <a:solidFill>
                  <a:srgbClr val="9AA1AB"/>
                </a:solidFill>
                <a:latin typeface="Amiri" pitchFamily="2" charset="-78"/>
                <a:cs typeface="Amiri" pitchFamily="2" charset="-78"/>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like </a:t>
            </a:r>
            <a:pPr algn="l" indent="0" marL="0">
              <a:buNone/>
            </a:pPr>
            <a:r>
              <a:rPr lang="ar-SA" altLang="en-US" sz="1650" b="1" dirty="0">
                <a:solidFill>
                  <a:srgbClr val="1F2A37"/>
                </a:solidFill>
                <a:latin typeface="Amiri" pitchFamily="2" charset="-78"/>
                <a:cs typeface="Amiri" pitchFamily="2" charset="-78"/>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الدَّلِيلُ ___ الرَّبِيعَ أَفْضَلُ مَوْسِمٍ.</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verb means “stays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يُقِيمُ 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يَصِلُ بَيْنَ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 فِي</a:t>
            </a:r>
            <a:pPr algn="l" indent="0" marL="0">
              <a:buNone/>
            </a:pPr>
            <a:r>
              <a:rPr lang="en-US" sz="1050" i="1" dirty="0">
                <a:solidFill>
                  <a:srgbClr val="8A6D1E"/>
                </a:solidFill>
                <a:latin typeface="Calibri" pitchFamily="34" charset="0"/>
                <a:cs typeface="Amiri" pitchFamily="2" charset="-78"/>
              </a:rPr>
              <a:t> means stays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a speaker use both types in seconds?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always wrong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plans forward, one reflects back</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1 plans; Type 2 reflects — they do different jobs.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سَمِعْتُ «لَوْ» فَعَرَفْتُ أَنَّهُ خُطَّةٌ وَاقِعِيَّةٌ.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a real plan?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الدَّلِيلُ إِنَّ …» رَأْيُ المُتَحَدِّثِ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l-dalīlu → whose view?</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أَشَارَ الدَّلِيلُ أَنَّ الرَّبِيعَ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سَمِعْتُ «لَوْ» فَعَرَفْتُ أَنَّهُ خُطَّةٌ وَاقِعِيَّةٌ.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cs typeface="Amiri" pitchFamily="2" charset="-78"/>
              </a:rPr>
              <a:t>سَمِعْتُ «لَوْ» مَعَ نَتِيجَةٍ بِـ«لَـ» فَعَرَفْتُ أَنَّهُ افْتِرَاضٌ.</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with a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 signals a counterfactual, not a real plan.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«قَالَ الدَّلِيلُ إِنَّ …» رَأْيُ المُتَحَدِّثِ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الدَّلِيلُ إِنَّ …» يَنْقُلُ رَأْيَ الدَّلِيلِ.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reporting verb cites another source.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أَشَارَ الدَّلِيلُ أَنَّ الرَّبِيعَ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أَشَارَ الدَّلِيلُ إِلَى أَنَّ الرَّبِيعَ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أَشَارَ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1: before and during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arriving?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two months earlier and read about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the best season?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Winter is best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good season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Spring is the best time to visit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taxis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cruise ship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high-speed train between major cities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by the sea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family in the countryside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detail · detail.</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 · aqamtu.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يَقُولُ المُسَافِرُ: كُنْتُ قَدْ حَجَزْتُ رِحْلَتِي إِلَى المَغْرِبِ قَبْلَ شَهْرَيْنِ، وَكُنْتُ قَدْ قَرَأْتُ عَنْ فَاسَ كَثِيرًا.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Morocco two months earlier, and I had read a lot about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أَقَمْتُ فِي رِيَاضٍ تَقْلِيدِيٍّ فِي المَدِينَةِ القَدِيمَةِ. قَالَ الدَّلِيلُ إِنَّ أَفْضَلَ مَوْسِمٍ لِلزِّيَارَةِ هُوَ الرَّبِيعُ.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stayed in a traditional riad in the old city. The guide said that the best season to visit is spring.</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اسْتَعْمَلْتُ القِطَارَ السَّرِيعَ الَّذِي يَصِلُ بَيْنَ المُدُنِ الكُبْرَى.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used the high-speed train that links the major cities.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arriving?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two months earlier and read about Fez</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كُنْتُ قَدْ حَجَزْتُ رِحْلَتِي … قَبْلَ شَهْرَيْنِ، وَكُنْتُ قَدْ قَرَأْتُ عَنْ فَاسَ.</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the best season?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Winter is best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good season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Spring is the best time to visit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الدَّلِيلُ إِنَّ أَفْضَلَ مَوْسِمٍ … هُوَ الرَّبِيعُ.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taxis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cruise ship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high-speed train between major cities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اسْتَعْمَلْتُ القِطَارَ السَّرِيعَ الَّذِي يَصِلُ بَيْنَ المُدُنِ الكُبْرَى.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by the sea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family in the countryside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أَقَمْتُ فِي رِيَاضٍ تَقْلِيدِيٍّ فِي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detail · detail.</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 · aqamtu.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plans, a regret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a full week to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return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Fez</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plan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planned ahead, they would have booked a classic hotel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impressed the traveller most?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of the hotels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speed of the trains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generosity of the people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O.</a:t>
            </a:r>
            <a:endParaRPr lang="en-US" sz="1250" dirty="0"/>
          </a:p>
          <a:p>
            <a:pPr algn="l" indent="0" marL="0">
              <a:buNone/>
            </a:pPr>
            <a:r>
              <a:rPr lang="en-US" sz="1250" dirty="0">
                <a:solidFill>
                  <a:srgbClr val="1E6B52"/>
                </a:solidFill>
                <a:latin typeface="Calibri" pitchFamily="34" charset="0"/>
                <a:cs typeface="Amiri" pitchFamily="2" charset="-78"/>
              </a:rPr>
              <a:t>Listen for: sa- · la- · aʿjabanī · anṣaḥu.</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زُرْتُ المَغْرِبَ ثَانِيَةً، سَأُخَصِّصُ أُسْبُوعًا كَامِلًا لِفَاسَ.</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visit Morocco again, I will devote a whole week to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كُنْتُ قَدْ خَطَّطْتُ مُسْبَقًا، لَحَجَزْتُ فُنْدُقًا كِلَاسِيكِيًّا بَدَلَ الحَدِيثِ.</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I planned ahead, I would have booked a classic hotel instead of the modern one.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أَكْثَرُ مَا أَعْجَبَنِي كَانَ كَرَمُ النَّاسِ. وَأَنْصَحُ كُلَّ مُسَافِرٍ بِاحْتِرَامِ العَادَاتِ المَحَلِّيَّةِ.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 liked most was the generosity of the people. And I advise every traveller to respect local customs.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a full week to Fez</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return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Fez</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زُرْتُ المَغْرِبَ ثَانِيَةً، سَأُخَصِّصُ أُسْبُوعًا كَامِلًا لِفَاسَ.</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plan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Had they planned ahead, they would have booked a classic hotel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كُنْتُ قَدْ خَطَّطْتُ مُسْبَقًا، لَحَجَزْتُ فُنْدُقًا كِلَاسِيكِيًّا.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impressed the traveller most?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of the hotels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speed of the trains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generosity of the people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مَا أَعْجَبَنِي كَانَ كَرَمُ النَّاسِ.</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O.</a:t>
            </a:r>
            <a:endParaRPr lang="en-US" sz="1250" dirty="0"/>
          </a:p>
          <a:p>
            <a:pPr algn="l" indent="0" marL="0">
              <a:buNone/>
            </a:pPr>
            <a:r>
              <a:rPr lang="en-US" sz="1250" dirty="0">
                <a:solidFill>
                  <a:srgbClr val="1E6B52"/>
                </a:solidFill>
                <a:latin typeface="Calibri" pitchFamily="34" charset="0"/>
                <a:cs typeface="Amiri" pitchFamily="2" charset="-78"/>
              </a:rPr>
              <a:t>Listen for: sa- · la- · aʿjabanī · anṣaḥu.</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الشَّرْطُ الحَقِيقِيُّ الَّذِي سَمِعْتَهُ؟ وَبِأَيِّ عَلَامَةٍ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الشَّرْطُ الافْتِرَاضِيُّ؟ وَمَاذَا يَعْنِي؟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الكَلَامُ المَنْقُولُ الَّذِي سَمِعْتَهُ؟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سَمِعْتُ « ___ »، وَعَرَفْتُهُ مِنْ عَلَامَةِ «سَـ».</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cs typeface="Amiri" pitchFamily="2" charset="-78"/>
              </a:rPr>
              <a:t>سَمِعْتُ « ___ »، وَعَلَامَةُ «لَـ» دَلَّتْ عَلَى الافْتِرَاضِ.</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قَالَ الدَّلِيلُ إِنَّ ___ ، وَهٰذَا رَأْيُ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الشَّرْطُ الحَقِيقِيُّ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real conditional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سَمِعْتُ «إِذَا زُرْتُ المَغْرِبَ، سَأُخَصِّصُ أُسْبُوعًا»، وَعَرَفْتُهُ مِنْ عَلَامَةِ «سَـ».</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heard “if I visit Morocco, I will devote a week”, and I knew it from the sa- marker.</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result marker (</a:t>
            </a:r>
            <a:pPr algn="l" indent="0" marL="0">
              <a:buNone/>
            </a:pPr>
            <a:r>
              <a:rPr lang="ar-SA" altLang="en-US" sz="1800" b="1" dirty="0">
                <a:solidFill>
                  <a:srgbClr val="1F2A37"/>
                </a:solidFill>
                <a:latin typeface="Amiri" pitchFamily="2" charset="-78"/>
                <a:cs typeface="Amiri" pitchFamily="2" charset="-78"/>
              </a:rPr>
              <a:t>سَـ / لَـ</a:t>
            </a:r>
            <a:pPr algn="l" indent="0" marL="0">
              <a:buNone/>
            </a:pPr>
            <a:r>
              <a:rPr lang="en-US" sz="1400" b="1" dirty="0">
                <a:solidFill>
                  <a:srgbClr val="1F2A37"/>
                </a:solidFill>
                <a:latin typeface="Calibri" pitchFamily="34" charset="0"/>
                <a:cs typeface="Amiri" pitchFamily="2" charset="-78"/>
              </a:rPr>
              <a:t>)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result marker (sa- / la-)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conditional, a report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conditional, a report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the result marker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the result marker, reported speech, kāna qad and the general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أُمَيِّزُ الكَلَامَ المَنْقُولَ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identify reported speech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يَنْقُلُ رَأْيَ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conveys the view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غَيَّرَتْ عَلَامَةُ الجَوَابِ الإِجَابَةَ: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result marker changed the answer: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لَا أَعْتَمِدُ عَلَى الأَدَاةِ وَحْدَهَا، لِأَنَّ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rely on the particle alone,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«سَـ» تَعْنِي ______ ، وَ«لَـ»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 means … and la-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cs typeface="Amiri" pitchFamily="2" charset="-78"/>
              </a:rPr>
              <a:t>أُحَدِّدُ نَوْعَ المَعْلُومَةِ  ·  يَتْبَعُهُمَا فِعْلٌ مَاضٍ  ·  شَرْطًا حَقِيقِيًّا  ·  شَرْطًا افْتِرَاضِيًّا  ·  الفِعْلِ النَّاقِلِ مَعَ «إِنَّ»  ·  مَصْدَرٍ آخَرَ  ·  إِنْجَازٍ سَابِقٍ  ·  مُشَتِّتًا  ·  عَلَامَةِ الجَوَابِ  ·  رَأْيِ المُتَحَدِّثِ  ·  التَّفْصِيلِ الدَّقِيقِ  ·  عَامَّةٌ جِدًّا</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travel texts. Describe how you tell </a:t>
            </a:r>
            <a:pPr algn="l" indent="0" marL="0">
              <a:buNone/>
            </a:pPr>
            <a:r>
              <a:rPr lang="ar-SA" altLang="en-US" sz="1750" b="1" dirty="0">
                <a:solidFill>
                  <a:srgbClr val="1F2A37"/>
                </a:solidFill>
                <a:latin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from </a:t>
            </a:r>
            <a:pPr algn="l" indent="0" marL="0">
              <a:buNone/>
            </a:pPr>
            <a:r>
              <a:rPr lang="ar-SA" altLang="en-US" sz="1750" b="1" dirty="0">
                <a:solidFill>
                  <a:srgbClr val="1F2A37"/>
                </a:solidFill>
                <a:latin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by the result marker, how you decode reported speech, and how you catch the past perfect.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rule that both particles take a past verb, so the result marker decides.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for a real conditional,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for a hypothetical one.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reported speech signals a cited source.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a:t>
            </a:r>
            <a:pPr algn="l" indent="0" marL="0">
              <a:buNone/>
            </a:pPr>
            <a:r>
              <a:rPr lang="ar-SA" altLang="en-US" sz="1550" dirty="0">
                <a:solidFill>
                  <a:srgbClr val="1F2A37"/>
                </a:solidFill>
                <a:latin typeface="Amiri" pitchFamily="2" charset="-78"/>
                <a:cs typeface="Amiri" pitchFamily="2" charset="-78"/>
              </a:rPr>
              <a:t>كَانَ قَدْ</a:t>
            </a:r>
            <a:pPr algn="l" indent="0" marL="0">
              <a:buNone/>
            </a:pPr>
            <a:r>
              <a:rPr lang="en-US" sz="1200" dirty="0">
                <a:solidFill>
                  <a:srgbClr val="1F2A37"/>
                </a:solidFill>
                <a:latin typeface="Calibri" pitchFamily="34" charset="0"/>
                <a:cs typeface="Amiri" pitchFamily="2" charset="-78"/>
              </a:rPr>
              <a: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وَأُحَدِّدُ نَوْعَ المَعْلُومَةِ المَطْلُوبَةِ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identify the type of information required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«إِذَا» وَ«لَوْ» يَتْبَعُهُمَا فِعْلٌ مَاضٍ</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idhā and law are both followed by a past verb</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أُصْغِي إِلَى عَلَامَةِ الجَوَابِ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listen carefully to the result marker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بِوَصْفِهَا عَلَامَةَ إِنْجَازٍ سَابِقٍ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the sign of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أَرْفُضُ الإِجَابَةَ العَامَّةَ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reject the general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cs typeface="Amiri" pitchFamily="2" charset="-78"/>
              </a:rPr>
              <a:t>قَبْلَ الاسْتِمَاعِ، أَقْرَأُ الأَسْئِلَةَ وَأُحَدِّدُ نَوْعَ المَعْلُومَةِ المَطْلُوبَةِ. وَعِنْدَ الشَّرْطِ، لَا أَعْتَمِدُ عَلَى الأَدَاةِ وَحْدَهَا، لِأَنَّ «إِذَا» وَ«لَوْ» يَتْبَعُهُمَا فِعْلٌ مَاضٍ. لِذٰلِكَ أُصْغِي إِلَى عَلَامَةِ الجَوَابِ: «سَـ» تَعْنِي شَرْطًا حَقِيقِيًّا، وَ«لَـ» تَعْنِي شَرْطًا افْتِرَاضِيًّا. وَأُمَيِّزُ الكَلَامَ المَنْقُولَ مِنَ الفِعْلِ النَّاقِلِ مَعَ «إِنَّ»، وَأَتَذَكَّرُ أَنَّهُ يَنْقُلُ رَأْيَ مَصْدَرٍ آخَرَ. وَأَلْتَقِطُ «كَانَ قَدْ» بِوَصْفِهَا عَلَامَةَ إِنْجَازٍ سَابِقٍ. وَأَخِيرًا، أَرْفُضُ الإِجَابَةَ العَامَّةَ لِأَنَّهَا كَثِيرًا مَا تَكُونُ مُشَتِّتًا.</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the type of information required. With a conditional, I do not rely on the particle alone, because idhā and law are both followed by a past verb. So I listen carefully to the result marker: sa- means a real conditional, and la- means a hypothetical one. I identify reported speech from the reporting verb with inna, and I remember that it conveys the view of another source. I catch kāna qad as the sign of an earlier achievement.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result-marker rule (sa-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 another source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qad + 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the marker I expected.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decided each conditional from its result (sa- / 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who said it (qāla … inna) and kāna qad.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yaḥjiz / yuqīm in the past, present and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the specific detail, not the general distractor.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alone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tone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alone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tone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decides.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cs typeface="Amiri" pitchFamily="2" charset="-78"/>
              </a:rPr>
              <a:t>لِتَنْجَحَ فِي الاسْتِمَاعِ الأَكَادِيمِيِّ، اقْرَأِ الأَسْئِلَةَ أَوَّلًا وَحَدِّدْ نَوْعَ المَعْلُومَةِ المَطْلُوبَةِ. وَإِذَا كَانَ السُّؤَالُ عَنْ شَرْطٍ، فَلَا تَعْتَمِدْ عَلَى الأَدَاةِ وَحْدَهَا؛ فَكِلَا «إِذَا» وَ«لَوْ» يَتْبَعُهُمَا فِعْلٌ مَاضٍ. المُؤَشِّرُ الأَوْثَقُ هُوَ عَلَامَةُ الجَوَابِ: «سَـ» تَدُلُّ عَلَى شَرْطٍ حَقِيقِيٍّ، وَ«لَـ» تَدُلُّ عَلَى شَرْطٍ افْتِرَاضِيٍّ. أَمَّا الكَلَامُ المَنْقُولُ فَيَظْهَرُ فِي فِعْلٍ نَاقِلٍ مَعَ «إِنَّ» أَوْ «أَنَّ»، وَهُوَ يَنْقُلُ رَأْيَ مَصْدَرٍ آخَرَ لَا رَأْيَ المُتَحَدِّثِ. وَالإِنْجَازُ السَّابِقُ يَظْهَرُ فِي «كَانَ قَدْ». وَتَذَكَّرْ أَنَّ الإِجَابَةَ العَامَّةَ كَثِيرًا مَا تَكُونُ مُشَتِّتًا.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المَطْلُوبَةِ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تَعْتَمِدْ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rely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الأَدَاةِ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particle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يَتْبَعُهُمَا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follows them both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المُؤَشِّرُ الأَوْثَقُ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reliable signal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عَلَامَةُ الجَوَابِ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marker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الإِنْجَازُ السَّابِقُ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earlier achievement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the type of information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the particle alone for a conditional?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never used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is silent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a:r>
            <a:pPr algn="l" indent="0" marL="0">
              <a:buNone/>
            </a:pPr>
            <a:r>
              <a:rPr lang="ar-SA" altLang="en-US" sz="1650" dirty="0">
                <a:solidFill>
                  <a:srgbClr val="1F2A37"/>
                </a:solidFill>
                <a:latin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are followed by a past verb</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question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reported speech convey?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the speaker's own view</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of another source, not the speaker's own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the type of information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اقْرَأِ الأَسْئِلَةَ أَوَّلًا وَحَدِّدْ نَوْعَ المَعْلُومَةِ.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the particle alone for a conditional?</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never used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is silent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Both </a:t>
            </a:r>
            <a:pPr algn="l" indent="0" marL="0">
              <a:buNone/>
            </a:pPr>
            <a:r>
              <a:rPr lang="ar-SA" altLang="en-US" sz="1500" b="1" dirty="0">
                <a:solidFill>
                  <a:srgbClr val="1F2A37"/>
                </a:solidFill>
                <a:latin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and </a:t>
            </a:r>
            <a:pPr algn="l" indent="0" marL="0">
              <a:buNone/>
            </a:pPr>
            <a:r>
              <a:rPr lang="ar-SA" altLang="en-US" sz="1500" b="1" dirty="0">
                <a:solidFill>
                  <a:srgbClr val="1F2A37"/>
                </a:solidFill>
                <a:latin typeface="Amiri" pitchFamily="2" charset="-78"/>
                <a:cs typeface="Amiri" pitchFamily="2" charset="-78"/>
              </a:rPr>
              <a:t>لَوْ</a:t>
            </a:r>
            <a:pPr algn="l" indent="0" marL="0">
              <a:buNone/>
            </a:pPr>
            <a:r>
              <a:rPr lang="en-US" sz="1150" b="1" dirty="0">
                <a:solidFill>
                  <a:srgbClr val="1F2A37"/>
                </a:solidFill>
                <a:latin typeface="Calibri" pitchFamily="34" charset="0"/>
                <a:cs typeface="Amiri" pitchFamily="2" charset="-78"/>
              </a:rPr>
              <a:t> are followed by a past verb</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كِلَا «إِذَا» وَ«لَوْ» يَتْبَعُهُمَا فِعْلٌ مَاضٍ.</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question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المُؤَشِّرُ الأَوْثَقُ هُوَ عَلَامَةُ الجَوَابِ.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reported speech convey?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the speaker's own view</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view of another source, not the speaker's own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يَنْقُلُ رَأْيَ مَصْدَرٍ آخَرَ لَا رَأْيَ المُتَحَدِّثِ.</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Mission — Marker, Source and Sequence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Reliability: the best signal of the type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alone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loudness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cs typeface="Amiri" pitchFamily="2" charset="-78"/>
              </a:rPr>
              <a:t>قَالَ الدَّلِيلُ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signals 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signals 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Reliability: the best signal of the type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alone</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loudness</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is reliable.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cs typeface="Amiri" pitchFamily="2" charset="-78"/>
              </a:rPr>
              <a:t>قَالَ الدَّلِيلُ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cited view</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view</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cites another source.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لَامُ الجَوَابِ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la- of the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الفِعْلُ المَنْصُوبُ 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after 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الطَّلَاقَةُ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اسْتِشَارَةُ وَكَالَةِ سَفَرٍ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travel-agency consultation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tell me about a trip — and one thing you would have done differently.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زُرْتُ ______ ، وَلَوْ بَقِيتُ أَطْوَلَ لَرَأَيْتُ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sa- or 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and law both take a past verb — wait for the result: sa- = real, la- / lamā = unreal — qāla … inna is someone else’s view — kāna qad is earlier — and the specific detail beats the general distractor.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P3-L10 · Listening — Travel, Tourism and Transport Texts</dc:title>
  <dc:subject>PptxGenJS Presentation</dc:subject>
  <dc:creator>Al Madina Online School · Arabic Department</dc:creator>
  <cp:lastModifiedBy>Al Madina Online School · Arabic Department</cp:lastModifiedBy>
  <cp:revision>1</cp:revision>
  <dcterms:created xsi:type="dcterms:W3CDTF">2026-10-11T06:43:13Z</dcterms:created>
  <dcterms:modified xsi:type="dcterms:W3CDTF">2026-10-11T06:43:13Z</dcterms:modified>
</cp:coreProperties>
</file>