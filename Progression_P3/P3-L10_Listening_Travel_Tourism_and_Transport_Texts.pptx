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P3-L10. The website lesson “Listening — Travel, Tourism and Transport Texts”: vocabulary, grammar rules and quiz, patterns, common mistakes, sorter, listening, reading, speaking prompts and model, writing task and model, differentiation, final check and the lesson mission. Picture match: website visual game “Listening — Travel, Tourism and Transport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LISTENING-SKILLS LESSON (IGCSE Paper 1 style): the website script is read in TWO short parts, each with its own questions, read-along and answers. Read it yourself at natural speed — kuntu qad and the la- of the result are fast.
• Before each listen, students label every question C / R / P (conditional · reported · past perfect) and write the signal they expect (سَـ / لَـ · قَالَ · كَانَ قَدْ).
• Core: annotate five questions with the result marker to listen for (website Core). Develop: say which structure each targets. Stretch: explain how the result marker changed the meaning of one answer.
• Grammar links: Type 1 / Type 2 (P3-L05) · reading conditionals for attitude (P3-L08) · qāla inna (P3-L06) · yaḥjiz / yuqīm (P3-L02) · the P2 listening routine (P2-L10).
• TEACHER-WRITTEN ITEMS: the website listening is split into two short listens with two teacher-added questions (where the traveller stayed · what impressed them most); waṣl alif shown without a kasra; rule headings and formulas in English and transliteration (rule examples without their English glosses); sorter headings in transliteration; the result-marker, timing and distractor tables are teacher-built from the website listening and reading; no visual game (the website repeats the P3-L04 cards).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P3-L09. Questions 4–5 retrieve both conditional types and qāla inna (P3-L09) — today students catch them by ear at natural speed.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Both idhā and law take a past verb — so listen to the END: sa- = real, la- = unreal.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شک، وسیلہ، سفر and مسافر are shared. Two traps: Urdu موسم = the weather, but Arabic مَوْسِمٌ = a season (the weather = الطَّقْسُ); Urdu تمیز = good manners, but Arabic تَمْيِيزٌ = telling things apart — today’s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for conditionals (website vocabulary (1 of 2)). Hear → Say → See → Use. Transliteration is printed for Core students (cover it for Develop/Stretch).
Listening for conditionals: إِذَا and لَوْ both take a past verb, so the FOLLOWING verb (الفِعْلُ التَّالِي) is not enough — wait for the result. Careful: in grammar الجَزْمُ also means the jussive mood (لَمْ يَذْهَبْ); here the website uses it for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for conditionals (website vocabulary (2 of 2)). Hear → Say → See → Use. Transliteration is printed for Core students (cover it for Develop/Stretch).
Listening for conditionals: إِذَا and لَوْ both take a past verb, so the FOLLOWING verb (الفِعْلُ التَّالِي) is not enough — wait for the result. Careful: in grammar الجَزْمُ also means the jussive mood (لَمْ يَذْهَبْ); here the website uses it for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Travel content heard (website vocabulary (1 of 2)). Hear → Say → See → Use. Transliteration is printed for Core students (cover it for Develop/Stretch).
Travel content you will hear: a trip, a guide, the best season, transport, a custom, visitor numbers, infrastructure,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Travel content heard (website vocabulary (2 of 2)). Hear → Say → See → Use. Transliteration is printed for Core students (cover it for Develop/Stretch).
FLEX: teach if time allows; otherwise these are on the website vocabulary tab for homework.
Travel content you will hear: a trip, a guide, the best season, transport, a custom, visitor numbers, infrastructure,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Grammar markers by ear (website vocabulary (1 of 2)). Hear → Say → See → Use. Transliteration is printed for Core students (cover it for Develop/Stretch).
FLEX: teach if time allows; otherwise these are on the website vocabulary tab for homework.
Grammar markers by ear: each one is short and fast — قَالَ إِنَّ · كَانَ قَدْ · سَـ · لَـ. The booking verbs change shape: أَحْجِزُ / حَجَزْتُ / سَأَحْجِزُ · أُقِيمُ / أَقَمْتُ / سَأُقِيمُ.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Grammar markers by ear (website vocabulary (2 of 2)). Hear → Say → See → Use. Transliteration is printed for Core students (cover it for Develop/Stretch).
FLEX: teach if time allows; otherwise these are on the website vocabulary tab for homework.
Grammar markers by ear: each one is short and fast — قَالَ إِنَّ · كَانَ قَدْ · سَـ · لَـ. The booking verbs change shape: أَحْجِزُ / حَجَزْتُ / سَأَحْجِزُ · أُقِيمُ / أَقَمْتُ / سَأُقِيمُ.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“Type by result marker”, teaching point 1, the website table and the sorter. Rows 1–4 are from the website listening, sorter and live builder; row 5 adds the negative result لَمَا (P3-L03).
Ear tip: la- is ONE short syllable stuck to a past verb (لَحَجَزْتُ · لَرَأَيْتُ); sa- is stuck to a present verb (سَأُخَصِّصُ). Two clues in one: the prefix AND the tense.
Careful with verbs that begin with la- anyway (لَعِبْتُ = I played) — check that a law came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“Decode reported speech” and “Own view vs cited view”, and mistakes 2–3.
Website mistake 2: «قَالَ الدَّلِيلُ إِنَّ …» رَأْيُ المُتَحَدِّثِ نَفْسِهِ ✗ → يَنْقُلُ رَأْيَ الدَّلِيلِ.
Card 3 is from the website listening (the speaker’s own advice, in the first person). Exam habit: when a question asks what the SPEAKER thinks, look for أَنَا-forms (أَرَى · أَنْصَحُ · أَعْجَبَنِي), not 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“Past perfect and 2028 verbs” (the website’s name for the booking verbs يَحْجِزُ / يُقِيمُ) and the listening.
Row 1–2: kuntu qad is spoken fast as one unit — “kuntu-qad-ḥajaztu”. Row 3: أَقَمْتُ comes from أَقَامَ — the long ī of أُقِيمُ disappears in the past.
Drill: say each row at full speed; students hold up 1 (before), 2 (during), 3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the website reading (strategy guide) ends: «وَتَذَكَّرْ أَنَّ الإِجَابَةَ العَامَّةَ كَثِيرًا مَا تَكُونُ مُشَتِّتًا». The examples are from the website listening.
The distractors are not false — they are too vague to score. Train students to ask: “Does my answer contain the DETAIL the speaker gave?”
يَصِلُ بَيْنَ = links (the train links the major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listening toolkit: read the conditional type from the result marker, decode reported speech, and catch the past perfect and the 2028 verbs.”
• Type by result marker: The result marker is the reliable signal of the type.
• Decode reported speech: The reporting verb names the source.
• Past perfect and booking verbs: Catch the prior action and the booking verbs.
• Own view vs cited view: A reporting verb signals a cited view.
Website common error: Deciding the conditional type from the particle alone. Since both take a past verb, use the result marker: سَـ for real, لَـ for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model the routine on listening questions 1–4 BEFORE the class hears the text. Label (P, R, C, C) → write the signals (كُنْتُ قَدْ · قَالَ · سَـ · لَـ) → read the four sentences aloud once → circle the sa- of سَأُخَصِّصُ and the la- of لَحَجَزْتُ. The copy box shows the transcript AFTER annotation.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(flex) — the website live builder: “Build a listening report from a real plan, a counterfactual and a past-perfect fact.” Website feedback: any three different combinations work.
Use after the two listens: students retell the traveller’s story in the third person (إِنَّهُ كَانَ قَدْ حَجَزَ · سَيُخَصِّصُ · لَحَجَزَ) — the pronoun switch from P3-L06.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each card aloud at full speed and let a partner point to the right column by ear only (eyes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each card aloud at full speed and let a partner point to the right column by ear only (eyes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Develop/Stretch: all four — and give the SPECIFIC answer (the high-speed train, a traditional riad), not a general one.
Listen 1: just listen. Listen 2: note answers. Then chat the letters.
Support: after the second listening, show the read-along slide (Arabic + English, line by line) for Core students.
SCRIPT (read aloud):
يَقُولُ المُسَافِرُ: كُنْتُ قَدْ حَجَزْتُ رِحْلَتِي إِلَى المَغْرِبِ قَبْلَ شَهْرَيْنِ، وَكُنْتُ قَدْ قَرَأْتُ عَنْ فَاسَ كَثِيرًا. أَقَمْتُ فِي رِيَاضٍ تَقْلِيدِيٍّ فِي المَدِينَةِ القَدِيمَةِ. قَالَ الدَّلِيلُ إِنَّ أَفْضَلَ مَوْسِمٍ لِلزِّيَارَةِ هُوَ الرَّبِيعُ. اسْتَعْمَلْتُ القِطَارَ السَّرِيعَ الَّذِي يَصِلُ بَيْنَ المُدُنِ الكُبْرَى.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2. Develop/Stretch: all three — question 3 asks for the SPEAKER’s own feeling (aʿjabanī), not a cited view.
Listen 1: just listen. Listen 2: note answers. Then chat the letters.
Support: after the second listening, show the read-along slide (Arabic + English, line by line) for Core students.
SCRIPT (read aloud):
إِذَا زُرْتُ المَغْرِبَ ثَانِيَةً، سَأُخَصِّصُ أُسْبُوعًا كَامِلًا لِفَاسَ. وَلَوْ كُنْتُ قَدْ خَطَّطْتُ مُسْبَقًا، لَحَجَزْتُ فُنْدُقًا كِلَاسِيكِيًّا بَدَلَ الحَدِيثِ. أَكْثَرُ مَا أَعْجَبَنِي كَانَ كَرَمُ النَّاسِ. وَأَنْصَحُ كُلَّ مُسَافِرٍ بِاحْتِرَامِ العَادَاتِ المَحَلِّيَّةِ.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وَالشَّرْطُ الافْتِرَاضِيُّ؟ (Type 2)
B: سَمِعْتُ «لَوْ خَطَّطْتُ، لَحَجَزْتُ»، وَعَلَامَةُ «لَـ» دَلَّتْ عَلَى الافْتِرَاضِ. (Names the لَـ signal)
Website prompts and model. Students quote the exact words they heard, then name the marker. To a girl: سَمِعْتِهِ · عَرَفْتِهِ.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Annotate five questions with the result marker (سَـ / لَـ) you will listen for. · Develop — Add whether each targets a conditional, a report or a past perfect. · Stretch — Explain how the result marker changed the meaning of one answer.
Website writing task (Stretch): Write eighty to ninety words explaining your listening strategy for travel texts. Describe how you tell إِذَا from لَوْ by the result marker, how you decode reported speech, and how you catch the past perfect.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أَقْرَأُ الأَسْئِلَةَ وَأُحَدِّدُ … · لَا أَعْتَمِدُ عَلَى الأَدَاةِ وَحْدَهَا · أُصْغِي إِلَى عَلَامَةِ الجَوَابِ: «سَـ» … وَ«لَـ» … · الفِعْلِ النَّاقِلِ مَعَ «إِنَّ» … رَأْيَ مَصْدَرٍ آخَرَ · أَلْتَقِطُ «كَانَ قَدْ» · أَرْفُضُ الإِجَابَةَ العَامَّةَ.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(P3-L11 · Consolidation — Speaking Preparation and Grammar Mastery) will spend class time USING this language, so students prepare it tonight — short, simple, easy to access (school guidance: “Simple, Short, Interesting, Relevant, Easy to access”). The five words come from the website P3-L11 vocabulary (error zones and speaking fluency).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Travel, Tourism and Transport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نُصُوصُ السَّفَرِ وَالسِّيَاحَةِ وَالنَّقْلِ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like an examiner: let the result marker decide the conditional (sa- = real · la- = unreal), decode qāla … inna, catch kāna qad and the booking verbs yaḥjiz / yuqīm, keep the speaker’s view apart from a cited one, and reject the general distractor.</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P3-L10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cs typeface="Amiri" pitchFamily="2" charset="-78"/>
              </a:rPr>
              <a:t>The result marker decides the type, reported speech, kāna qad and booking verbs, specific vs general answers.</a:t>
            </a:r>
            <a:endParaRPr lang="en-US" sz="11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Two short listens with read-along, then sort the result markers and build a listening report.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التَّمْيِيزُ الصَّوْتِيُّ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loud voice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auditory distinction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sound system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الفِعْلُ التَّالِي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following verb</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past verb</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main verb</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التَّشْكِيكُ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distinction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earns two Range marks?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إِذَا زُرْتَ فَاسَ سَتَنْبَهِرُ؛ وَإِذَا بَقِيتَ أَطْوَلَ سَتَرَى المَزِيدَ.</a:t>
            </a:r>
            <a:endParaRPr lang="ar-SA"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لَوْ زُرْتُ فَاسَ لَانْبَهَرْتُ؛ وَلَوْ بَقِيتُ أَطْوَلَ لَرَأَيْتُ المَزِيدَ.</a:t>
            </a:r>
            <a:endParaRPr lang="ar-SA"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إِذَا زُرْتَ فَاسَ سَتَنْبَهِرُ؛ وَلَوْ بَقِيتُ أَطْوَلَ لَرَأَيْتُ المَزِيدَ.</a:t>
            </a:r>
            <a:endParaRPr lang="ar-SA"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الرَّبِيعَ أَفْضَلُ مَوْسِمٍ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التَّمْيِيزُ الصَّوْتِيُّ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loud voice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auditory distinction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sound system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الفِعْلُ التَّالِي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following verb</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past verb</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main verb</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التَّشْكِيكُ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distinction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doubt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earns two Range marks?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إِذَا زُرْتَ فَاسَ سَتَنْبَهِرُ؛ وَإِذَا بَقِيتَ أَطْوَلَ سَتَرَى المَزِيدَ.</a:t>
            </a:r>
            <a:endParaRPr lang="ar-SA"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لَوْ زُرْتُ فَاسَ لَانْبَهَرْتُ؛ وَلَوْ بَقِيتُ أَطْوَلَ لَرَأَيْتُ المَزِيدَ.</a:t>
            </a:r>
            <a:endParaRPr lang="ar-SA"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إِذَا زُرْتَ فَاسَ سَتَنْبَهِرُ؛ وَلَوْ بَقِيتُ أَطْوَلَ لَرَأَيْتُ المَزِيدَ.</a:t>
            </a:r>
            <a:endParaRPr lang="ar-SA"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P3-L09: one idhā AND one law.</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الرَّبِيعَ أَفْضَلُ مَوْسِمٍ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P3-L06 / L09: qāla takes inna.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Both idhā and law take a past verb — so listen to the END: sa- = real, la- = unreal.</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إِذَا زُرْتُ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سَـ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أُخَصِّصُ · لَوْ خَطَّطْتُ … </a:t>
            </a:r>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لَـ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حَجَزْتُ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which structure each question targets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Decide a conditional’s type from its result marker (sa- / la-).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Catch reported speech, kāna qad and the booking verbs by ear.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Reject the general answer when the question wants a specific one.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the result marker each question needs.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hear sa- (real) and la- (unreal).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catch qāla … inna and kāna qad.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hear yaḥjiz / yuqīm in any tense.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tell the speaker’s view from a cited one.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reject the general distractor.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for conditionals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Travel content heard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Grammar markers by ear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شَكٌّ · تَشْكِيكٌ</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 </a:t>
            </a:r>
            <a:pPr indent="0" marL="0">
              <a:buNone/>
            </a:pPr>
            <a:r>
              <a:rPr lang="en-US" sz="950" b="1" dirty="0">
                <a:solidFill>
                  <a:srgbClr val="2E8B57"/>
                </a:solidFill>
                <a:latin typeface="Calibri" pitchFamily="34" charset="0"/>
                <a:cs typeface="Amiri" pitchFamily="2" charset="-78"/>
              </a:rPr>
              <a:t> shak · doubt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وَسِيلَةٌ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‎وسیلہ‎ </a:t>
            </a:r>
            <a:pPr indent="0" marL="0">
              <a:buNone/>
            </a:pPr>
            <a:r>
              <a:rPr lang="ar-SA" sz="950" b="1" dirty="0">
                <a:solidFill>
                  <a:srgbClr val="2E8B57"/>
                </a:solidFill>
                <a:latin typeface="Calibri" pitchFamily="34" charset="0"/>
                <a:ea typeface="Amiri" pitchFamily="2" charset="-78"/>
                <a:cs typeface="Amiri" pitchFamily="2" charset="-78"/>
              </a:rPr>
              <a:t> wasīla · a means (وَسِيلَةُ نَقْلٍ = transport)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سَفَرٌ · مُسَافِرٌ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‎سفر · مسافر‎ </a:t>
            </a:r>
            <a:pPr indent="0" marL="0">
              <a:buNone/>
            </a:pPr>
            <a:r>
              <a:rPr lang="en-US" sz="950" b="1" dirty="0">
                <a:solidFill>
                  <a:srgbClr val="2E8B57"/>
                </a:solidFill>
                <a:latin typeface="Calibri" pitchFamily="34" charset="0"/>
                <a:cs typeface="Amiri" pitchFamily="2" charset="-78"/>
              </a:rPr>
              <a:t> safar · musāfir · travel · a traveller</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مَوْسِمٌ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‎موسم‎ </a:t>
            </a:r>
            <a:pPr indent="0" marL="0">
              <a:buNone/>
            </a:pPr>
            <a:r>
              <a:rPr lang="en-US" sz="950" b="1" dirty="0">
                <a:solidFill>
                  <a:srgbClr val="2E8B57"/>
                </a:solidFill>
                <a:latin typeface="Calibri" pitchFamily="34" charset="0"/>
                <a:cs typeface="Amiri" pitchFamily="2" charset="-78"/>
              </a:rPr>
              <a:t> mausam · Arabic: a season · Urdu: the weather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تَمْيِيزٌ</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‎تمیز‎ </a:t>
            </a:r>
            <a:pPr indent="0" marL="0">
              <a:buNone/>
            </a:pPr>
            <a:r>
              <a:rPr lang="en-US" sz="950" b="1" dirty="0">
                <a:solidFill>
                  <a:srgbClr val="2E8B57"/>
                </a:solidFill>
                <a:latin typeface="Calibri" pitchFamily="34" charset="0"/>
                <a:cs typeface="Amiri" pitchFamily="2" charset="-78"/>
              </a:rPr>
              <a:t> tamīz · false friend! Urdu = manners</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Listening for conditionals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التَّمْيِيزُ الصَّوْتِيُّ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auditory distinction</a:t>
            </a:r>
            <a:endParaRPr lang="en-US" sz="1350" dirty="0"/>
          </a:p>
          <a:p>
            <a:pPr indent="0" marL="0">
              <a:buNone/>
            </a:pPr>
            <a:r>
              <a:rPr lang="en-US" sz="1100" i="1" dirty="0">
                <a:solidFill>
                  <a:srgbClr val="5A6472"/>
                </a:solidFill>
                <a:latin typeface="Calibri" pitchFamily="34" charset="0"/>
                <a:cs typeface="Amiri" pitchFamily="2" charset="-78"/>
              </a:rPr>
              <a:t>at-tam-yī-zu aṣ-ṣaw-tiy-yu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(Type 1 signal)</a:t>
            </a:r>
            <a:endParaRPr lang="en-US" sz="1350" dirty="0"/>
          </a:p>
          <a:p>
            <a:pPr indent="0" marL="0">
              <a:buNone/>
            </a:pPr>
            <a:r>
              <a:rPr lang="en-US" sz="1100" i="1" dirty="0">
                <a:solidFill>
                  <a:srgbClr val="5A6472"/>
                </a:solidFill>
                <a:latin typeface="Calibri" pitchFamily="34" charset="0"/>
                <a:cs typeface="Amiri" pitchFamily="2" charset="-78"/>
              </a:rPr>
              <a:t>i-dhā</a:t>
            </a:r>
            <a:endParaRPr lang="en-US" sz="1350" dirty="0"/>
          </a:p>
        </p:txBody>
      </p:sp>
      <p:sp>
        <p:nvSpPr>
          <p:cNvPr id="27" name="Text 24"/>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a past-form verb, </a:t>
            </a:r>
            <a:pPr algn="l" indent="0" marL="0">
              <a:buNone/>
            </a:pPr>
            <a:r>
              <a:rPr lang="ar-SA" altLang="en-US" sz="1300" dirty="0">
                <a:solidFill>
                  <a:srgbClr val="8A6D1E"/>
                </a:solidFill>
                <a:latin typeface="Amiri" pitchFamily="2" charset="-78"/>
                <a:ea typeface="Amiri" pitchFamily="2" charset="-78"/>
                <a:cs typeface="Amiri" pitchFamily="2" charset="-78"/>
              </a:rPr>
              <a:t>سَـ</a:t>
            </a:r>
            <a:pPr algn="l" indent="0" marL="0">
              <a:buNone/>
            </a:pPr>
            <a:r>
              <a:rPr lang="en-US" sz="1000" i="1" dirty="0">
                <a:solidFill>
                  <a:srgbClr val="8A6D1E"/>
                </a:solidFill>
                <a:latin typeface="Calibri" pitchFamily="34" charset="0"/>
                <a:cs typeface="Amiri" pitchFamily="2" charset="-78"/>
              </a:rPr>
              <a:t> result.</a:t>
            </a:r>
            <a:endParaRPr lang="en-US" sz="100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1" name="Text 2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a:t>
            </a:r>
            <a:endParaRPr lang="ar-SA" sz="3000" dirty="0"/>
          </a:p>
        </p:txBody>
      </p:sp>
      <p:sp>
        <p:nvSpPr>
          <p:cNvPr id="32" name="Text 2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(Type 2 signal)</a:t>
            </a:r>
            <a:endParaRPr lang="en-US" sz="1350" dirty="0"/>
          </a:p>
          <a:p>
            <a:pPr indent="0" marL="0">
              <a:buNone/>
            </a:pPr>
            <a:r>
              <a:rPr lang="en-US" sz="1100" i="1" dirty="0">
                <a:solidFill>
                  <a:srgbClr val="5A6472"/>
                </a:solidFill>
                <a:latin typeface="Calibri" pitchFamily="34" charset="0"/>
                <a:cs typeface="Amiri" pitchFamily="2" charset="-78"/>
              </a:rPr>
              <a:t>law</a:t>
            </a:r>
            <a:endParaRPr lang="en-US" sz="1350" dirty="0"/>
          </a:p>
        </p:txBody>
      </p:sp>
      <p:sp>
        <p:nvSpPr>
          <p:cNvPr id="33" name="Text 30"/>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a past verb, </a:t>
            </a:r>
            <a:pPr algn="l" indent="0" marL="0">
              <a:buNone/>
            </a:pPr>
            <a:r>
              <a:rPr lang="ar-SA" altLang="en-US" sz="1300" dirty="0">
                <a:solidFill>
                  <a:srgbClr val="8A6D1E"/>
                </a:solidFill>
                <a:latin typeface="Amiri" pitchFamily="2" charset="-78"/>
                <a:ea typeface="Amiri" pitchFamily="2" charset="-78"/>
                <a:cs typeface="Amiri" pitchFamily="2" charset="-78"/>
              </a:rPr>
              <a:t>لَـ</a:t>
            </a:r>
            <a:pPr algn="l" indent="0" marL="0">
              <a:buNone/>
            </a:pPr>
            <a:r>
              <a:rPr lang="en-US" sz="1000" i="1" dirty="0">
                <a:solidFill>
                  <a:srgbClr val="8A6D1E"/>
                </a:solidFill>
                <a:latin typeface="Calibri" pitchFamily="34" charset="0"/>
                <a:cs typeface="Amiri" pitchFamily="2" charset="-78"/>
              </a:rPr>
              <a:t> result.</a:t>
            </a:r>
            <a:endParaRPr lang="en-US" sz="100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التَّالِي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following verb</a:t>
            </a:r>
            <a:endParaRPr lang="en-US" sz="1350" dirty="0"/>
          </a:p>
          <a:p>
            <a:pPr indent="0" marL="0">
              <a:buNone/>
            </a:pPr>
            <a:r>
              <a:rPr lang="en-US" sz="1100" i="1" dirty="0">
                <a:solidFill>
                  <a:srgbClr val="5A6472"/>
                </a:solidFill>
                <a:latin typeface="Calibri" pitchFamily="34" charset="0"/>
                <a:cs typeface="Amiri" pitchFamily="2" charset="-78"/>
              </a:rPr>
              <a:t>al-fiʿ-lu at-tā-lī</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Listening for conditionals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حَقِيقِيٌّ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real conditional</a:t>
            </a:r>
            <a:endParaRPr lang="en-US" sz="1350" dirty="0"/>
          </a:p>
          <a:p>
            <a:pPr indent="0" marL="0">
              <a:buNone/>
            </a:pPr>
            <a:r>
              <a:rPr lang="en-US" sz="1100" i="1" dirty="0">
                <a:solidFill>
                  <a:srgbClr val="5A6472"/>
                </a:solidFill>
                <a:latin typeface="Calibri" pitchFamily="34" charset="0"/>
                <a:cs typeface="Amiri" pitchFamily="2" charset="-78"/>
              </a:rPr>
              <a:t>shar-ṭun ḥa-qī-qiy-yun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افْتِرَاضِيٌّ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hypothetical conditional</a:t>
            </a:r>
            <a:endParaRPr lang="en-US" sz="1350" dirty="0"/>
          </a:p>
          <a:p>
            <a:pPr indent="0" marL="0">
              <a:buNone/>
            </a:pPr>
            <a:r>
              <a:rPr lang="en-US" sz="1100" i="1" dirty="0">
                <a:solidFill>
                  <a:srgbClr val="5A6472"/>
                </a:solidFill>
                <a:latin typeface="Calibri" pitchFamily="34" charset="0"/>
                <a:cs typeface="Amiri" pitchFamily="2" charset="-78"/>
              </a:rPr>
              <a:t>shar-ṭun af-ti-rā-ḍiy-yun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الجَزْمُ</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certainty</a:t>
            </a:r>
            <a:endParaRPr lang="en-US" sz="1350" dirty="0"/>
          </a:p>
          <a:p>
            <a:pPr indent="0" marL="0">
              <a:buNone/>
            </a:pPr>
            <a:r>
              <a:rPr lang="en-US" sz="1100" i="1" dirty="0">
                <a:solidFill>
                  <a:srgbClr val="5A6472"/>
                </a:solidFill>
                <a:latin typeface="Calibri" pitchFamily="34" charset="0"/>
                <a:cs typeface="Amiri" pitchFamily="2" charset="-78"/>
              </a:rPr>
              <a:t>al-jaz-mu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التَّشْكِيكُ</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doubt</a:t>
            </a:r>
            <a:endParaRPr lang="en-US" sz="1350" dirty="0"/>
          </a:p>
          <a:p>
            <a:pPr indent="0" marL="0">
              <a:buNone/>
            </a:pPr>
            <a:r>
              <a:rPr lang="en-US" sz="1100" i="1" dirty="0">
                <a:solidFill>
                  <a:srgbClr val="5A6472"/>
                </a:solidFill>
                <a:latin typeface="Calibri" pitchFamily="34" charset="0"/>
                <a:cs typeface="Amiri" pitchFamily="2" charset="-78"/>
              </a:rPr>
              <a:t>at-tash-kī-ku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content heard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 سِيَاحِيَّةٌ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tourist trip</a:t>
            </a:r>
            <a:endParaRPr lang="en-US" sz="1350" dirty="0"/>
          </a:p>
          <a:p>
            <a:pPr indent="0" marL="0">
              <a:buNone/>
            </a:pPr>
            <a:r>
              <a:rPr lang="en-US" sz="1100" i="1" dirty="0">
                <a:solidFill>
                  <a:srgbClr val="5A6472"/>
                </a:solidFill>
                <a:latin typeface="Calibri" pitchFamily="34" charset="0"/>
                <a:cs typeface="Amiri" pitchFamily="2" charset="-78"/>
              </a:rPr>
              <a:t>riḥ-la-tun si-yā-ḥiy-ya-tun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رِحْلَاتٌ سِيَاحِيَّةٌ</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 سِيَاحِيٌّ</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tourist guide</a:t>
            </a:r>
            <a:endParaRPr lang="en-US" sz="1350" dirty="0"/>
          </a:p>
          <a:p>
            <a:pPr indent="0" marL="0">
              <a:buNone/>
            </a:pPr>
            <a:r>
              <a:rPr lang="en-US" sz="1100" i="1" dirty="0">
                <a:solidFill>
                  <a:srgbClr val="5A6472"/>
                </a:solidFill>
                <a:latin typeface="Calibri" pitchFamily="34" charset="0"/>
                <a:cs typeface="Amiri" pitchFamily="2" charset="-78"/>
              </a:rPr>
              <a:t>da-lī-lun si-yā-ḥiy-yun</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أَدِلَّاءُ سِيَاحِيُّونَ</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مَوْسِمٍ</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best season</a:t>
            </a:r>
            <a:endParaRPr lang="en-US" sz="1350" dirty="0"/>
          </a:p>
          <a:p>
            <a:pPr indent="0" marL="0">
              <a:buNone/>
            </a:pPr>
            <a:r>
              <a:rPr lang="en-US" sz="1100" i="1" dirty="0">
                <a:solidFill>
                  <a:srgbClr val="5A6472"/>
                </a:solidFill>
                <a:latin typeface="Calibri" pitchFamily="34" charset="0"/>
                <a:cs typeface="Amiri" pitchFamily="2" charset="-78"/>
              </a:rPr>
              <a:t>af-ḍa-lu maw-si-min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Shape 4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وَسِيلَةُ نَقْلٍ</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mode of transport</a:t>
            </a:r>
            <a:endParaRPr lang="en-US" sz="1350" dirty="0"/>
          </a:p>
          <a:p>
            <a:pPr indent="0" marL="0">
              <a:buNone/>
            </a:pPr>
            <a:r>
              <a:rPr lang="en-US" sz="1100" i="1" dirty="0">
                <a:solidFill>
                  <a:srgbClr val="5A6472"/>
                </a:solidFill>
                <a:latin typeface="Calibri" pitchFamily="34" charset="0"/>
                <a:cs typeface="Amiri" pitchFamily="2" charset="-78"/>
              </a:rPr>
              <a:t>wa-sī-la-tu naq-lin</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وَسَائِلُ نَقْلٍ</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content heard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 ثَقَافِيَّةٌ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cultural custom</a:t>
            </a:r>
            <a:endParaRPr lang="en-US" sz="1350" dirty="0"/>
          </a:p>
          <a:p>
            <a:pPr indent="0" marL="0">
              <a:buNone/>
            </a:pPr>
            <a:r>
              <a:rPr lang="en-US" sz="1100" i="1" dirty="0">
                <a:solidFill>
                  <a:srgbClr val="5A6472"/>
                </a:solidFill>
                <a:latin typeface="Calibri" pitchFamily="34" charset="0"/>
                <a:cs typeface="Amiri" pitchFamily="2" charset="-78"/>
              </a:rPr>
              <a:t>ʿā-da-tun tha-qā-fiy-ya-tun</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عَادَاتٌ ثَقَافِيَّةٌ</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أَعْدَادُ الزُّوَّارِ</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visitor numbers</a:t>
            </a:r>
            <a:endParaRPr lang="en-US" sz="1350" dirty="0"/>
          </a:p>
          <a:p>
            <a:pPr indent="0" marL="0">
              <a:buNone/>
            </a:pPr>
            <a:r>
              <a:rPr lang="en-US" sz="1100" i="1" dirty="0">
                <a:solidFill>
                  <a:srgbClr val="5A6472"/>
                </a:solidFill>
                <a:latin typeface="Calibri" pitchFamily="34" charset="0"/>
                <a:cs typeface="Amiri" pitchFamily="2" charset="-78"/>
              </a:rPr>
              <a:t>aʿ-dā-du az-zuw-wā-ri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بُنْيَةٌ تَحْتِيَّةٌ</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infrastructure</a:t>
            </a:r>
            <a:endParaRPr lang="en-US" sz="1350" dirty="0"/>
          </a:p>
          <a:p>
            <a:pPr indent="0" marL="0">
              <a:buNone/>
            </a:pPr>
            <a:r>
              <a:rPr lang="en-US" sz="1100" i="1" dirty="0">
                <a:solidFill>
                  <a:srgbClr val="5A6472"/>
                </a:solidFill>
                <a:latin typeface="Calibri" pitchFamily="34" charset="0"/>
                <a:cs typeface="Amiri" pitchFamily="2" charset="-78"/>
              </a:rPr>
              <a:t>bun-ya-tun taḥ-tiy-ya-tun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بُنًى تَحْتِيَّةٌ</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تَوْصِيَةٌ</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recommendation</a:t>
            </a:r>
            <a:endParaRPr lang="en-US" sz="1350" dirty="0"/>
          </a:p>
          <a:p>
            <a:pPr indent="0" marL="0">
              <a:buNone/>
            </a:pPr>
            <a:r>
              <a:rPr lang="en-US" sz="1100" i="1" dirty="0">
                <a:solidFill>
                  <a:srgbClr val="5A6472"/>
                </a:solidFill>
                <a:latin typeface="Calibri" pitchFamily="34" charset="0"/>
                <a:cs typeface="Amiri" pitchFamily="2" charset="-78"/>
              </a:rPr>
              <a:t>taw-ṣi-ya-tun</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تَوْصِيَاتٌ</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markers by ear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Reporting marker.</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قَالَ إِنَّ</a:t>
            </a:r>
            <a:endParaRPr lang="ar-SA" sz="3000" dirty="0"/>
          </a:p>
        </p:txBody>
      </p:sp>
      <p:sp>
        <p:nvSpPr>
          <p:cNvPr id="25" name="Text 22"/>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said that</a:t>
            </a:r>
            <a:endParaRPr lang="en-US" sz="1350" dirty="0"/>
          </a:p>
          <a:p>
            <a:pPr indent="0" marL="0">
              <a:buNone/>
            </a:pPr>
            <a:r>
              <a:rPr lang="en-US" sz="1100" i="1" dirty="0">
                <a:solidFill>
                  <a:srgbClr val="5A6472"/>
                </a:solidFill>
                <a:latin typeface="Calibri" pitchFamily="34" charset="0"/>
                <a:cs typeface="Amiri" pitchFamily="2" charset="-78"/>
              </a:rPr>
              <a:t>qā-la in-na</a:t>
            </a:r>
            <a:endParaRPr lang="en-US" sz="1350" dirty="0"/>
          </a:p>
        </p:txBody>
      </p:sp>
      <p:sp>
        <p:nvSpPr>
          <p:cNvPr id="26" name="Shape 23"/>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389120"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9" name="Shape 26"/>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0" name="Text 27"/>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31" name="Shape 28"/>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قَدْ</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had done</a:t>
            </a:r>
            <a:endParaRPr lang="en-US" sz="1350" dirty="0"/>
          </a:p>
          <a:p>
            <a:pPr indent="0" marL="0">
              <a:buNone/>
            </a:pPr>
            <a:r>
              <a:rPr lang="en-US" sz="1100" i="1" dirty="0">
                <a:solidFill>
                  <a:srgbClr val="5A6472"/>
                </a:solidFill>
                <a:latin typeface="Calibri" pitchFamily="34" charset="0"/>
                <a:cs typeface="Amiri" pitchFamily="2" charset="-78"/>
              </a:rPr>
              <a:t>kā-na qad</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كُنْتُ قَدْ</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 قَدْ</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 / سَوْفَ</a:t>
            </a:r>
            <a:endParaRPr lang="ar-SA" sz="300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future / Type 1 result</a:t>
            </a:r>
            <a:endParaRPr lang="en-US" sz="1350" dirty="0"/>
          </a:p>
          <a:p>
            <a:pPr indent="0" marL="0">
              <a:buNone/>
            </a:pPr>
            <a:r>
              <a:rPr lang="en-US" sz="1100" i="1" dirty="0">
                <a:solidFill>
                  <a:srgbClr val="5A6472"/>
                </a:solidFill>
                <a:latin typeface="Calibri" pitchFamily="34" charset="0"/>
                <a:cs typeface="Amiri" pitchFamily="2" charset="-78"/>
              </a:rPr>
              <a:t>sa / saw-fa</a:t>
            </a:r>
            <a:endParaRPr lang="en-US"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لَـ</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2 result marker</a:t>
            </a:r>
            <a:endParaRPr lang="en-US" sz="1350" dirty="0"/>
          </a:p>
          <a:p>
            <a:pPr indent="0" marL="0">
              <a:buNone/>
            </a:pPr>
            <a:r>
              <a:rPr lang="en-US" sz="1100" i="1" dirty="0">
                <a:solidFill>
                  <a:srgbClr val="5A6472"/>
                </a:solidFill>
                <a:latin typeface="Calibri" pitchFamily="34" charset="0"/>
                <a:cs typeface="Amiri" pitchFamily="2" charset="-78"/>
              </a:rPr>
              <a:t>la</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markers by ear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يَحْجِزُ</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books</a:t>
            </a:r>
            <a:endParaRPr lang="en-US" sz="1350" dirty="0"/>
          </a:p>
          <a:p>
            <a:pPr indent="0" marL="0">
              <a:buNone/>
            </a:pPr>
            <a:r>
              <a:rPr lang="en-US" sz="1100" i="1" dirty="0">
                <a:solidFill>
                  <a:srgbClr val="5A6472"/>
                </a:solidFill>
                <a:latin typeface="Calibri" pitchFamily="34" charset="0"/>
                <a:cs typeface="Amiri" pitchFamily="2" charset="-78"/>
              </a:rPr>
              <a:t>yaḥ-ji-zu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تَحْجِزُ</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أَحْجِزُ</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يُقِيمُ</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stays</a:t>
            </a:r>
            <a:endParaRPr lang="en-US" sz="1350" dirty="0"/>
          </a:p>
          <a:p>
            <a:pPr indent="0" marL="0">
              <a:buNone/>
            </a:pPr>
            <a:r>
              <a:rPr lang="en-US" sz="1100" i="1" dirty="0">
                <a:solidFill>
                  <a:srgbClr val="5A6472"/>
                </a:solidFill>
                <a:latin typeface="Calibri" pitchFamily="34" charset="0"/>
                <a:cs typeface="Amiri" pitchFamily="2" charset="-78"/>
              </a:rPr>
              <a:t>yu-qī-mu</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تُقِيمُ</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أُقِيمُ</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المَاضِي</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past-tense verb</a:t>
            </a:r>
            <a:endParaRPr lang="en-US" sz="1350" dirty="0"/>
          </a:p>
          <a:p>
            <a:pPr indent="0" marL="0">
              <a:buNone/>
            </a:pPr>
            <a:r>
              <a:rPr lang="en-US" sz="1100" i="1" dirty="0">
                <a:solidFill>
                  <a:srgbClr val="5A6472"/>
                </a:solidFill>
                <a:latin typeface="Calibri" pitchFamily="34" charset="0"/>
                <a:cs typeface="Amiri" pitchFamily="2" charset="-78"/>
              </a:rPr>
              <a:t>al-fiʿ-lu al-mā-ḍī</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المُضَارِعُ</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present-tense verb</a:t>
            </a:r>
            <a:endParaRPr lang="en-US" sz="1350" dirty="0"/>
          </a:p>
          <a:p>
            <a:pPr indent="0" marL="0">
              <a:buNone/>
            </a:pPr>
            <a:r>
              <a:rPr lang="en-US" sz="1100" i="1" dirty="0">
                <a:solidFill>
                  <a:srgbClr val="5A6472"/>
                </a:solidFill>
                <a:latin typeface="Calibri" pitchFamily="34" charset="0"/>
                <a:cs typeface="Amiri" pitchFamily="2" charset="-78"/>
              </a:rPr>
              <a:t>al-fiʿ-lu al-mu-ḍā-ri-ʿu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RESULT MARKER DECIDES (WEBSITE RULE 1 + TEACHING POINT 1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Wait for the result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عَلَامَةُ الجَوَابِ تُحَدِّدُ النَّوْعَ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171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So it is …</a:t>
            </a:r>
            <a:endParaRPr lang="en-US" sz="1100" dirty="0"/>
          </a:p>
        </p:txBody>
      </p:sp>
      <p:sp>
        <p:nvSpPr>
          <p:cNvPr id="17" name="Text 14"/>
          <p:cNvSpPr txBox="1"/>
          <p:nvPr/>
        </p:nvSpPr>
        <p:spPr>
          <a:xfrm>
            <a:off x="711403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Result marker</a:t>
            </a:r>
            <a:endParaRPr lang="en-US" sz="1100" dirty="0"/>
          </a:p>
        </p:txBody>
      </p:sp>
      <p:sp>
        <p:nvSpPr>
          <p:cNvPr id="18" name="Text 15"/>
          <p:cNvSpPr txBox="1"/>
          <p:nvPr/>
        </p:nvSpPr>
        <p:spPr>
          <a:xfrm>
            <a:off x="53035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253728" y="2267712"/>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real plan</a:t>
            </a:r>
            <a:endParaRPr lang="en-US" sz="1100" dirty="0"/>
          </a:p>
        </p:txBody>
      </p:sp>
      <p:sp>
        <p:nvSpPr>
          <p:cNvPr id="21" name="Text 18"/>
          <p:cNvSpPr txBox="1"/>
          <p:nvPr/>
        </p:nvSpPr>
        <p:spPr>
          <a:xfrm>
            <a:off x="715060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a:t>
            </a:r>
            <a:endParaRPr lang="en-US" sz="1100" dirty="0"/>
          </a:p>
        </p:txBody>
      </p:sp>
      <p:sp>
        <p:nvSpPr>
          <p:cNvPr id="22" name="Text 19"/>
          <p:cNvSpPr txBox="1"/>
          <p:nvPr/>
        </p:nvSpPr>
        <p:spPr>
          <a:xfrm>
            <a:off x="548640" y="2267712"/>
            <a:ext cx="6400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زُرْتُ المَغْرِبَ ثَانِيَةً، </a:t>
            </a:r>
            <a:pPr rtl="1" algn="ctr" indent="0" marL="0">
              <a:buNone/>
            </a:pPr>
            <a:r>
              <a:rPr lang="ar-SA" altLang="en-US" sz="1900" b="1" dirty="0">
                <a:solidFill>
                  <a:srgbClr val="0E7C86"/>
                </a:solidFill>
                <a:latin typeface="Amiri" pitchFamily="2" charset="-78"/>
                <a:ea typeface="Amiri" pitchFamily="2" charset="-78"/>
                <a:cs typeface="Amiri" pitchFamily="2" charset="-78"/>
              </a:rPr>
              <a:t>سَأُخَصِّصُ</a:t>
            </a:r>
            <a:pPr rtl="1" algn="ctr" indent="0" marL="0">
              <a:buNone/>
            </a:pPr>
            <a:r>
              <a:rPr lang="ar-SA" altLang="en-US" sz="1900" b="1" dirty="0">
                <a:solidFill>
                  <a:srgbClr val="1B3B6F"/>
                </a:solidFill>
                <a:latin typeface="Amiri" pitchFamily="2" charset="-78"/>
                <a:ea typeface="Amiri" pitchFamily="2" charset="-78"/>
                <a:cs typeface="Amiri" pitchFamily="2" charset="-78"/>
              </a:rPr>
              <a:t> أُسْبُوعًا لِفَاسَ.</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253728" y="3004718"/>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regret (unreal)</a:t>
            </a:r>
            <a:endParaRPr lang="en-US" sz="1100" dirty="0"/>
          </a:p>
        </p:txBody>
      </p:sp>
      <p:sp>
        <p:nvSpPr>
          <p:cNvPr id="27" name="Text 24"/>
          <p:cNvSpPr txBox="1"/>
          <p:nvPr/>
        </p:nvSpPr>
        <p:spPr>
          <a:xfrm>
            <a:off x="715060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a:t>
            </a:r>
            <a:endParaRPr lang="en-US" sz="1100" dirty="0"/>
          </a:p>
        </p:txBody>
      </p:sp>
      <p:sp>
        <p:nvSpPr>
          <p:cNvPr id="28" name="Text 25"/>
          <p:cNvSpPr txBox="1"/>
          <p:nvPr/>
        </p:nvSpPr>
        <p:spPr>
          <a:xfrm>
            <a:off x="548640" y="3004718"/>
            <a:ext cx="6400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كُنْتُ قَدْ خَطَّطْتُ مُسْبَقًا، </a:t>
            </a:r>
            <a:pPr rtl="1" algn="ctr" indent="0" marL="0">
              <a:buNone/>
            </a:pPr>
            <a:r>
              <a:rPr lang="ar-SA" altLang="en-US" sz="1900" b="1" dirty="0">
                <a:solidFill>
                  <a:srgbClr val="C77700"/>
                </a:solidFill>
                <a:latin typeface="Amiri" pitchFamily="2" charset="-78"/>
                <a:ea typeface="Amiri" pitchFamily="2" charset="-78"/>
                <a:cs typeface="Amiri" pitchFamily="2" charset="-78"/>
              </a:rPr>
              <a:t>لَحَجَزْتُ</a:t>
            </a:r>
            <a:pPr rtl="1" algn="ctr" indent="0" marL="0">
              <a:buNone/>
            </a:pPr>
            <a:r>
              <a:rPr lang="ar-SA" altLang="en-US" sz="1900" b="1" dirty="0">
                <a:solidFill>
                  <a:srgbClr val="1B3B6F"/>
                </a:solidFill>
                <a:latin typeface="Amiri" pitchFamily="2" charset="-78"/>
                <a:ea typeface="Amiri" pitchFamily="2" charset="-78"/>
                <a:cs typeface="Amiri" pitchFamily="2" charset="-78"/>
              </a:rPr>
              <a:t> فُنْدُقًا كِلَاسِيكِيًّا.</a:t>
            </a:r>
            <a:endParaRPr lang="ar-SA" sz="19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253728" y="3741725"/>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advice</a:t>
            </a:r>
            <a:endParaRPr lang="en-US" sz="1100" dirty="0"/>
          </a:p>
        </p:txBody>
      </p:sp>
      <p:sp>
        <p:nvSpPr>
          <p:cNvPr id="33" name="Text 30"/>
          <p:cNvSpPr txBox="1"/>
          <p:nvPr/>
        </p:nvSpPr>
        <p:spPr>
          <a:xfrm>
            <a:off x="715060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a:t>
            </a:r>
            <a:endParaRPr lang="en-US" sz="1100" dirty="0"/>
          </a:p>
        </p:txBody>
      </p:sp>
      <p:sp>
        <p:nvSpPr>
          <p:cNvPr id="34" name="Text 31"/>
          <p:cNvSpPr txBox="1"/>
          <p:nvPr/>
        </p:nvSpPr>
        <p:spPr>
          <a:xfrm>
            <a:off x="548640" y="3741725"/>
            <a:ext cx="6400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وَصَلْتَ صَبَاحًا، </a:t>
            </a:r>
            <a:pPr rtl="1" algn="ctr" indent="0" marL="0">
              <a:buNone/>
            </a:pPr>
            <a:r>
              <a:rPr lang="ar-SA" altLang="en-US" sz="1900" b="1" dirty="0">
                <a:solidFill>
                  <a:srgbClr val="0E7C86"/>
                </a:solidFill>
                <a:latin typeface="Amiri" pitchFamily="2" charset="-78"/>
                <a:ea typeface="Amiri" pitchFamily="2" charset="-78"/>
                <a:cs typeface="Amiri" pitchFamily="2" charset="-78"/>
              </a:rPr>
              <a:t>سَتَتَجَنَّبُ</a:t>
            </a:r>
            <a:pPr rtl="1" algn="ctr" indent="0" marL="0">
              <a:buNone/>
            </a:pPr>
            <a:r>
              <a:rPr lang="ar-SA" altLang="en-US" sz="1900" b="1" dirty="0">
                <a:solidFill>
                  <a:srgbClr val="1B3B6F"/>
                </a:solidFill>
                <a:latin typeface="Amiri" pitchFamily="2" charset="-78"/>
                <a:ea typeface="Amiri" pitchFamily="2" charset="-78"/>
                <a:cs typeface="Amiri" pitchFamily="2" charset="-78"/>
              </a:rPr>
              <a:t> الزِّحَامَ.</a:t>
            </a:r>
            <a:endParaRPr lang="ar-SA" sz="19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253728" y="4478731"/>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regret (unreal)</a:t>
            </a:r>
            <a:endParaRPr lang="en-US" sz="1100" dirty="0"/>
          </a:p>
        </p:txBody>
      </p:sp>
      <p:sp>
        <p:nvSpPr>
          <p:cNvPr id="37" name="Text 34"/>
          <p:cNvSpPr txBox="1"/>
          <p:nvPr/>
        </p:nvSpPr>
        <p:spPr>
          <a:xfrm>
            <a:off x="715060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a:t>
            </a:r>
            <a:endParaRPr lang="en-US" sz="1100" dirty="0"/>
          </a:p>
        </p:txBody>
      </p:sp>
      <p:sp>
        <p:nvSpPr>
          <p:cNvPr id="38" name="Text 35"/>
          <p:cNvSpPr txBox="1"/>
          <p:nvPr/>
        </p:nvSpPr>
        <p:spPr>
          <a:xfrm>
            <a:off x="548640" y="4478731"/>
            <a:ext cx="6400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بَقِيتُ لَيْلَةً إِضَافِيَّةً، </a:t>
            </a:r>
            <a:pPr rtl="1" algn="ctr" indent="0" marL="0">
              <a:buNone/>
            </a:pPr>
            <a:r>
              <a:rPr lang="ar-SA" altLang="en-US" sz="1900" b="1" dirty="0">
                <a:solidFill>
                  <a:srgbClr val="C77700"/>
                </a:solidFill>
                <a:latin typeface="Amiri" pitchFamily="2" charset="-78"/>
                <a:ea typeface="Amiri" pitchFamily="2" charset="-78"/>
                <a:cs typeface="Amiri" pitchFamily="2" charset="-78"/>
              </a:rPr>
              <a:t>لَرَأَيْتُ</a:t>
            </a:r>
            <a:pPr rtl="1" algn="ctr" indent="0" marL="0">
              <a:buNone/>
            </a:pPr>
            <a:r>
              <a:rPr lang="ar-SA" altLang="en-US" sz="1900" b="1" dirty="0">
                <a:solidFill>
                  <a:srgbClr val="1B3B6F"/>
                </a:solidFill>
                <a:latin typeface="Amiri" pitchFamily="2" charset="-78"/>
                <a:ea typeface="Amiri" pitchFamily="2" charset="-78"/>
                <a:cs typeface="Amiri" pitchFamily="2" charset="-78"/>
              </a:rPr>
              <a:t> المَزِيدَ.</a:t>
            </a:r>
            <a:endParaRPr lang="ar-SA" sz="19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253728" y="5215738"/>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unreal (negative)</a:t>
            </a:r>
            <a:endParaRPr lang="en-US" sz="1100" dirty="0"/>
          </a:p>
        </p:txBody>
      </p:sp>
      <p:sp>
        <p:nvSpPr>
          <p:cNvPr id="41" name="Text 38"/>
          <p:cNvSpPr txBox="1"/>
          <p:nvPr/>
        </p:nvSpPr>
        <p:spPr>
          <a:xfrm>
            <a:off x="715060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lamā</a:t>
            </a:r>
            <a:endParaRPr lang="en-US" sz="1100" dirty="0"/>
          </a:p>
        </p:txBody>
      </p:sp>
      <p:sp>
        <p:nvSpPr>
          <p:cNvPr id="42" name="Text 39"/>
          <p:cNvSpPr txBox="1"/>
          <p:nvPr/>
        </p:nvSpPr>
        <p:spPr>
          <a:xfrm>
            <a:off x="548640" y="5215738"/>
            <a:ext cx="6400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عَرَفْتُ العَادَاتِ، </a:t>
            </a:r>
            <a:pPr rtl="1" algn="ctr" indent="0" marL="0">
              <a:buNone/>
            </a:pPr>
            <a:r>
              <a:rPr lang="ar-SA" altLang="en-US" sz="1900" b="1" dirty="0">
                <a:solidFill>
                  <a:srgbClr val="C77700"/>
                </a:solidFill>
                <a:latin typeface="Amiri" pitchFamily="2" charset="-78"/>
                <a:ea typeface="Amiri" pitchFamily="2" charset="-78"/>
                <a:cs typeface="Amiri" pitchFamily="2" charset="-78"/>
              </a:rPr>
              <a:t>لَمَا</a:t>
            </a:r>
            <a:pPr rtl="1" algn="ctr" indent="0" marL="0">
              <a:buNone/>
            </a:pPr>
            <a:r>
              <a:rPr lang="ar-SA" altLang="en-US" sz="1900" b="1" dirty="0">
                <a:solidFill>
                  <a:srgbClr val="1B3B6F"/>
                </a:solidFill>
                <a:latin typeface="Amiri" pitchFamily="2" charset="-78"/>
                <a:ea typeface="Amiri" pitchFamily="2" charset="-78"/>
                <a:cs typeface="Amiri" pitchFamily="2" charset="-78"/>
              </a:rPr>
              <a:t> أَخْطَأْتُ.</a:t>
            </a:r>
            <a:endParaRPr lang="ar-SA" sz="19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deciding the type from the particle alone. Both take a past verb — the END decides.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B3B6F"/>
                </a:solidFill>
                <a:latin typeface="Calibri" pitchFamily="34" charset="0"/>
                <a:cs typeface="Amiri" pitchFamily="2" charset="-78"/>
              </a:rPr>
              <a:t>GRAMMAR FOCUS · PART 2 · WHO IS SPEAKING? (WEBSITE RULES 2 AND 4) · CORE / DEVELOP</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Whose words are they?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كَلَامُ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CITED · CORE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قَالَ … إِنَّ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قَالَ الدَّلِيلُ إِنَّ أَفْضَلَ مَوْسِمٍ لِلزِّيَارَةِ هُوَ الرَّبِيعُ.</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guide said that the best season to visit is spring.</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guide’s view.</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CITED · DEVELOP</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أَشَارَ … إِلَى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أَشَارَ الخَبِيرُ إِلَى أَنَّ الرَّبِيعَ أَفْضَلُ.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expert pointed out that spring is best.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ilā before anna.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OWN VIEW · DEVELOP</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أَرَى أَنَّ · أَنْصَحُ</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أَنْصَحُ كُلَّ مُسَافِرٍ بِاحْتِرَامِ العَادَاتِ المَحَلِّيَّةِ.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advise every traveller to respect local customs.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speaker’s view.</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ashāra is fixed with ilā before anna.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أَشَارَ الدَّلِيلُ إِلَى أَنَّ الرَّبِيعَ أَفْضَلُ</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أَشَارَ الدَّلِيلُ أَنَّ الرَّبِيعَ أَفْضَلُ</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PAST PERFECT AND THE BOOKING VERBS BY EAR (WEBSITE RULE 3 + LISTENING)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did it happen?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مَتَى 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747979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8" name="Text 15"/>
          <p:cNvSpPr txBox="1"/>
          <p:nvPr/>
        </p:nvSpPr>
        <p:spPr>
          <a:xfrm>
            <a:off x="565099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kuntu qad</a:t>
            </a:r>
            <a:endParaRPr lang="en-US" sz="1100" dirty="0"/>
          </a:p>
        </p:txBody>
      </p:sp>
      <p:sp>
        <p:nvSpPr>
          <p:cNvPr id="22" name="Text 19"/>
          <p:cNvSpPr txBox="1"/>
          <p:nvPr/>
        </p:nvSpPr>
        <p:spPr>
          <a:xfrm>
            <a:off x="751636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the trip</a:t>
            </a:r>
            <a:endParaRPr lang="en-US" sz="1100" dirty="0"/>
          </a:p>
        </p:txBody>
      </p:sp>
      <p:sp>
        <p:nvSpPr>
          <p:cNvPr id="23" name="Text 20"/>
          <p:cNvSpPr txBox="1"/>
          <p:nvPr/>
        </p:nvSpPr>
        <p:spPr>
          <a:xfrm>
            <a:off x="568756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yaḥjiz</a:t>
            </a:r>
            <a:endParaRPr lang="en-US" sz="1100" dirty="0"/>
          </a:p>
        </p:txBody>
      </p:sp>
      <p:sp>
        <p:nvSpPr>
          <p:cNvPr id="24" name="Text 21"/>
          <p:cNvSpPr txBox="1"/>
          <p:nvPr/>
        </p:nvSpPr>
        <p:spPr>
          <a:xfrm>
            <a:off x="548640" y="2267712"/>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كُنْتُ قَدْ حَجَزْتُ</a:t>
            </a:r>
            <a:pPr rtl="1" algn="ctr" indent="0" marL="0">
              <a:buNone/>
            </a:pPr>
            <a:r>
              <a:rPr lang="ar-SA" altLang="en-US" sz="2000" b="1" dirty="0">
                <a:solidFill>
                  <a:srgbClr val="1B3B6F"/>
                </a:solidFill>
                <a:latin typeface="Amiri" pitchFamily="2" charset="-78"/>
                <a:ea typeface="Amiri" pitchFamily="2" charset="-78"/>
                <a:cs typeface="Amiri" pitchFamily="2" charset="-78"/>
              </a:rPr>
              <a:t> رِحْلَتِي قَبْلَ شَهْرَيْنِ</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kuntu qad</a:t>
            </a:r>
            <a:endParaRPr lang="en-US" sz="1100" dirty="0"/>
          </a:p>
        </p:txBody>
      </p:sp>
      <p:sp>
        <p:nvSpPr>
          <p:cNvPr id="29" name="Text 26"/>
          <p:cNvSpPr txBox="1"/>
          <p:nvPr/>
        </p:nvSpPr>
        <p:spPr>
          <a:xfrm>
            <a:off x="751636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the trip</a:t>
            </a:r>
            <a:endParaRPr lang="en-US" sz="1100" dirty="0"/>
          </a:p>
        </p:txBody>
      </p:sp>
      <p:sp>
        <p:nvSpPr>
          <p:cNvPr id="30" name="Text 27"/>
          <p:cNvSpPr txBox="1"/>
          <p:nvPr/>
        </p:nvSpPr>
        <p:spPr>
          <a:xfrm>
            <a:off x="568756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yaqraʾ</a:t>
            </a:r>
            <a:endParaRPr lang="en-US" sz="1100" dirty="0"/>
          </a:p>
        </p:txBody>
      </p:sp>
      <p:sp>
        <p:nvSpPr>
          <p:cNvPr id="31" name="Text 28"/>
          <p:cNvSpPr txBox="1"/>
          <p:nvPr/>
        </p:nvSpPr>
        <p:spPr>
          <a:xfrm>
            <a:off x="548640" y="3004718"/>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وَكُنْتُ قَدْ قَرَأْتُ</a:t>
            </a:r>
            <a:pPr rtl="1" algn="ctr" indent="0" marL="0">
              <a:buNone/>
            </a:pPr>
            <a:r>
              <a:rPr lang="ar-SA" altLang="en-US" sz="2000" b="1" dirty="0">
                <a:solidFill>
                  <a:srgbClr val="1B3B6F"/>
                </a:solidFill>
                <a:latin typeface="Amiri" pitchFamily="2" charset="-78"/>
                <a:ea typeface="Amiri" pitchFamily="2" charset="-78"/>
                <a:cs typeface="Amiri" pitchFamily="2" charset="-78"/>
              </a:rPr>
              <a:t> عَنْ فَاسَ كَثِيرًا</a:t>
            </a:r>
            <a:endParaRPr lang="ar-SA" sz="20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(-tu)</a:t>
            </a:r>
            <a:endParaRPr lang="en-US" sz="1100" dirty="0"/>
          </a:p>
        </p:txBody>
      </p:sp>
      <p:sp>
        <p:nvSpPr>
          <p:cNvPr id="34" name="Text 31"/>
          <p:cNvSpPr txBox="1"/>
          <p:nvPr/>
        </p:nvSpPr>
        <p:spPr>
          <a:xfrm>
            <a:off x="751636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during the trip</a:t>
            </a:r>
            <a:endParaRPr lang="en-US" sz="1100" dirty="0"/>
          </a:p>
        </p:txBody>
      </p:sp>
      <p:sp>
        <p:nvSpPr>
          <p:cNvPr id="35" name="Text 32"/>
          <p:cNvSpPr txBox="1"/>
          <p:nvPr/>
        </p:nvSpPr>
        <p:spPr>
          <a:xfrm>
            <a:off x="568756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yuqīm</a:t>
            </a:r>
            <a:endParaRPr lang="en-US" sz="1100" dirty="0"/>
          </a:p>
        </p:txBody>
      </p:sp>
      <p:sp>
        <p:nvSpPr>
          <p:cNvPr id="36" name="Text 33"/>
          <p:cNvSpPr txBox="1"/>
          <p:nvPr/>
        </p:nvSpPr>
        <p:spPr>
          <a:xfrm>
            <a:off x="548640" y="3741725"/>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أَقَمْتُ</a:t>
            </a:r>
            <a:pPr rtl="1" algn="ctr" indent="0" marL="0">
              <a:buNone/>
            </a:pPr>
            <a:r>
              <a:rPr lang="ar-SA" altLang="en-US" sz="2000" b="1" dirty="0">
                <a:solidFill>
                  <a:srgbClr val="1B3B6F"/>
                </a:solidFill>
                <a:latin typeface="Amiri" pitchFamily="2" charset="-78"/>
                <a:ea typeface="Amiri" pitchFamily="2" charset="-78"/>
                <a:cs typeface="Amiri" pitchFamily="2" charset="-78"/>
              </a:rPr>
              <a:t> فِي رِيَاضٍ تَقْلِيدِيٍّ</a:t>
            </a:r>
            <a:endParaRPr lang="ar-SA" sz="20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present</a:t>
            </a:r>
            <a:endParaRPr lang="en-US" sz="1100" dirty="0"/>
          </a:p>
        </p:txBody>
      </p:sp>
      <p:sp>
        <p:nvSpPr>
          <p:cNvPr id="41" name="Text 38"/>
          <p:cNvSpPr txBox="1"/>
          <p:nvPr/>
        </p:nvSpPr>
        <p:spPr>
          <a:xfrm>
            <a:off x="751636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time</a:t>
            </a:r>
            <a:endParaRPr lang="en-US" sz="1100" dirty="0"/>
          </a:p>
        </p:txBody>
      </p:sp>
      <p:sp>
        <p:nvSpPr>
          <p:cNvPr id="42" name="Text 39"/>
          <p:cNvSpPr txBox="1"/>
          <p:nvPr/>
        </p:nvSpPr>
        <p:spPr>
          <a:xfrm>
            <a:off x="568756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yuqīm</a:t>
            </a:r>
            <a:endParaRPr lang="en-US" sz="1100" dirty="0"/>
          </a:p>
        </p:txBody>
      </p:sp>
      <p:sp>
        <p:nvSpPr>
          <p:cNvPr id="43" name="Text 40"/>
          <p:cNvSpPr txBox="1"/>
          <p:nvPr/>
        </p:nvSpPr>
        <p:spPr>
          <a:xfrm>
            <a:off x="548640" y="4478731"/>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سَأُقِيمُ</a:t>
            </a:r>
            <a:pPr rtl="1" algn="ctr" indent="0" marL="0">
              <a:buNone/>
            </a:pPr>
            <a:r>
              <a:rPr lang="ar-SA" altLang="en-US" sz="2000" b="1" dirty="0">
                <a:solidFill>
                  <a:srgbClr val="1B3B6F"/>
                </a:solidFill>
                <a:latin typeface="Amiri" pitchFamily="2" charset="-78"/>
                <a:ea typeface="Amiri" pitchFamily="2" charset="-78"/>
                <a:cs typeface="Amiri" pitchFamily="2" charset="-78"/>
              </a:rPr>
              <a:t> فِي رِيَاضٍ تَقْلِيدِيٍّ</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present</a:t>
            </a:r>
            <a:endParaRPr lang="en-US" sz="1100" dirty="0"/>
          </a:p>
        </p:txBody>
      </p:sp>
      <p:sp>
        <p:nvSpPr>
          <p:cNvPr id="46" name="Text 43"/>
          <p:cNvSpPr txBox="1"/>
          <p:nvPr/>
        </p:nvSpPr>
        <p:spPr>
          <a:xfrm>
            <a:off x="751636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time</a:t>
            </a:r>
            <a:endParaRPr lang="en-US" sz="1100" dirty="0"/>
          </a:p>
        </p:txBody>
      </p:sp>
      <p:sp>
        <p:nvSpPr>
          <p:cNvPr id="47" name="Text 44"/>
          <p:cNvSpPr txBox="1"/>
          <p:nvPr/>
        </p:nvSpPr>
        <p:spPr>
          <a:xfrm>
            <a:off x="568756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yaḥjiz</a:t>
            </a:r>
            <a:endParaRPr lang="en-US" sz="1100" dirty="0"/>
          </a:p>
        </p:txBody>
      </p:sp>
      <p:sp>
        <p:nvSpPr>
          <p:cNvPr id="48" name="Text 45"/>
          <p:cNvSpPr txBox="1"/>
          <p:nvPr/>
        </p:nvSpPr>
        <p:spPr>
          <a:xfrm>
            <a:off x="548640" y="5215738"/>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سَأَحْجِزُ</a:t>
            </a:r>
            <a:pPr rtl="1" algn="ctr" indent="0" marL="0">
              <a:buNone/>
            </a:pPr>
            <a:r>
              <a:rPr lang="ar-SA" altLang="en-US" sz="2000" b="1" dirty="0">
                <a:solidFill>
                  <a:srgbClr val="1B3B6F"/>
                </a:solidFill>
                <a:latin typeface="Amiri" pitchFamily="2" charset="-78"/>
                <a:ea typeface="Amiri" pitchFamily="2" charset="-78"/>
                <a:cs typeface="Amiri" pitchFamily="2" charset="-78"/>
              </a:rPr>
              <a:t> رِحْلَةً مُبَاشِرَةً</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yuqīm is hollow: present </a:t>
            </a:r>
            <a:pPr algn="l" indent="0" marL="0">
              <a:buNone/>
            </a:pPr>
            <a:r>
              <a:rPr lang="ar-SA" altLang="en-US" sz="1500" b="1" dirty="0">
                <a:solidFill>
                  <a:srgbClr val="1B3B6F"/>
                </a:solidFill>
                <a:latin typeface="Amiri" pitchFamily="2" charset="-78"/>
                <a:ea typeface="Amiri" pitchFamily="2" charset="-78"/>
                <a:cs typeface="Amiri" pitchFamily="2" charset="-78"/>
              </a:rPr>
              <a:t>أُقِيمُ</a:t>
            </a:r>
            <a:pPr algn="l" indent="0" marL="0">
              <a:buNone/>
            </a:pPr>
            <a:r>
              <a:rPr lang="en-US" sz="1150" b="1" dirty="0">
                <a:solidFill>
                  <a:srgbClr val="1B3B6F"/>
                </a:solidFill>
                <a:latin typeface="Calibri" pitchFamily="34" charset="0"/>
                <a:cs typeface="Amiri" pitchFamily="2" charset="-78"/>
              </a:rPr>
              <a:t> (long ī) but past </a:t>
            </a:r>
            <a:pPr algn="l" indent="0" marL="0">
              <a:buNone/>
            </a:pPr>
            <a:r>
              <a:rPr lang="ar-SA" altLang="en-US" sz="1500" b="1" dirty="0">
                <a:solidFill>
                  <a:srgbClr val="1B3B6F"/>
                </a:solidFill>
                <a:latin typeface="Amiri" pitchFamily="2" charset="-78"/>
                <a:ea typeface="Amiri" pitchFamily="2" charset="-78"/>
                <a:cs typeface="Amiri" pitchFamily="2" charset="-78"/>
              </a:rPr>
              <a:t>أَقَمْتُ</a:t>
            </a:r>
            <a:pPr algn="l" indent="0" marL="0">
              <a:buNone/>
            </a:pPr>
            <a:r>
              <a:rPr lang="en-US" sz="1150" b="1" dirty="0">
                <a:solidFill>
                  <a:srgbClr val="1B3B6F"/>
                </a:solidFill>
                <a:latin typeface="Calibri" pitchFamily="34" charset="0"/>
                <a:cs typeface="Amiri" pitchFamily="2" charset="-78"/>
              </a:rPr>
              <a:t> (short a) — the vowel changes, so listen for the root q-m.</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GENERAL DISTRACTOR (WEBSITE READING + LISTENING)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Specific beats general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الإِجَابَةُ العَامَّةُ مُشَتِّتٌ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General (distractor)</a:t>
            </a:r>
            <a:endParaRPr lang="en-US" sz="1100" dirty="0"/>
          </a:p>
        </p:txBody>
      </p:sp>
      <p:sp>
        <p:nvSpPr>
          <p:cNvPr id="17" name="Text 14"/>
          <p:cNvSpPr txBox="1"/>
          <p:nvPr/>
        </p:nvSpPr>
        <p:spPr>
          <a:xfrm>
            <a:off x="327355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Specific (correct)</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99248" y="2267712"/>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a hotel in Morocco</a:t>
            </a:r>
            <a:endParaRPr lang="en-US" sz="1100" dirty="0"/>
          </a:p>
        </p:txBody>
      </p:sp>
      <p:sp>
        <p:nvSpPr>
          <p:cNvPr id="21" name="Text 18"/>
          <p:cNvSpPr txBox="1"/>
          <p:nvPr/>
        </p:nvSpPr>
        <p:spPr>
          <a:xfrm>
            <a:off x="3291840" y="2267712"/>
            <a:ext cx="420624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a:t>
            </a:r>
            <a:pPr rtl="1" algn="ctr" indent="0" marL="0">
              <a:buNone/>
            </a:pPr>
            <a:r>
              <a:rPr lang="ar-SA" altLang="en-US" sz="1800" b="1" dirty="0">
                <a:solidFill>
                  <a:srgbClr val="7B3FA0"/>
                </a:solidFill>
                <a:latin typeface="Amiri" pitchFamily="2" charset="-78"/>
                <a:ea typeface="Amiri" pitchFamily="2" charset="-78"/>
                <a:cs typeface="Amiri" pitchFamily="2" charset="-78"/>
              </a:rPr>
              <a:t>رِيَاضٍ تَقْلِيدِيٍّ</a:t>
            </a:r>
            <a:pPr rtl="1" algn="ctr" indent="0" marL="0">
              <a:buNone/>
            </a:pPr>
            <a:r>
              <a:rPr lang="ar-SA" altLang="en-US" sz="1800" b="1" dirty="0">
                <a:solidFill>
                  <a:srgbClr val="1B3B6F"/>
                </a:solidFill>
                <a:latin typeface="Amiri" pitchFamily="2" charset="-78"/>
                <a:ea typeface="Amiri" pitchFamily="2" charset="-78"/>
                <a:cs typeface="Amiri" pitchFamily="2" charset="-78"/>
              </a:rPr>
              <a:t> فِي المَدِينَةِ القَدِيمَةِ</a:t>
            </a:r>
            <a:endParaRPr lang="ar-SA" sz="1800" dirty="0"/>
          </a:p>
        </p:txBody>
      </p:sp>
      <p:sp>
        <p:nvSpPr>
          <p:cNvPr id="22" name="Text 19"/>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they stay?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699248" y="3054096"/>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public transport</a:t>
            </a:r>
            <a:endParaRPr lang="en-US" sz="1100" dirty="0"/>
          </a:p>
        </p:txBody>
      </p:sp>
      <p:sp>
        <p:nvSpPr>
          <p:cNvPr id="27" name="Text 24"/>
          <p:cNvSpPr txBox="1"/>
          <p:nvPr/>
        </p:nvSpPr>
        <p:spPr>
          <a:xfrm>
            <a:off x="3291840" y="3054096"/>
            <a:ext cx="4206240" cy="731520"/>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القِطَارُ السَّرِيعُ</a:t>
            </a:r>
            <a:pPr rtl="1" algn="ctr" indent="0" marL="0">
              <a:buNone/>
            </a:pPr>
            <a:r>
              <a:rPr lang="ar-SA" altLang="en-US" sz="1800" b="1" dirty="0">
                <a:solidFill>
                  <a:srgbClr val="1B3B6F"/>
                </a:solidFill>
                <a:latin typeface="Amiri" pitchFamily="2" charset="-78"/>
                <a:ea typeface="Amiri" pitchFamily="2" charset="-78"/>
                <a:cs typeface="Amiri" pitchFamily="2" charset="-78"/>
              </a:rPr>
              <a:t> الَّذِي يَصِلُ بَيْنَ المُدُنِ الكُبْرَى</a:t>
            </a:r>
            <a:endParaRPr lang="ar-SA" sz="1800" dirty="0"/>
          </a:p>
        </p:txBody>
      </p:sp>
      <p:sp>
        <p:nvSpPr>
          <p:cNvPr id="28" name="Text 25"/>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transport?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699248" y="3840480"/>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visit Morocco again</a:t>
            </a:r>
            <a:endParaRPr lang="en-US" sz="1100" dirty="0"/>
          </a:p>
        </p:txBody>
      </p:sp>
      <p:sp>
        <p:nvSpPr>
          <p:cNvPr id="33" name="Text 30"/>
          <p:cNvSpPr txBox="1"/>
          <p:nvPr/>
        </p:nvSpPr>
        <p:spPr>
          <a:xfrm>
            <a:off x="3291840" y="3840480"/>
            <a:ext cx="420624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سَأُخَصِّصُ </a:t>
            </a:r>
            <a:pPr rtl="1" algn="ctr" indent="0" marL="0">
              <a:buNone/>
            </a:pPr>
            <a:r>
              <a:rPr lang="ar-SA" altLang="en-US" sz="1800" b="1" dirty="0">
                <a:solidFill>
                  <a:srgbClr val="7B3FA0"/>
                </a:solidFill>
                <a:latin typeface="Amiri" pitchFamily="2" charset="-78"/>
                <a:ea typeface="Amiri" pitchFamily="2" charset="-78"/>
                <a:cs typeface="Amiri" pitchFamily="2" charset="-78"/>
              </a:rPr>
              <a:t>أُسْبُوعًا كَامِلًا لِفَاسَ</a:t>
            </a:r>
            <a:endParaRPr lang="ar-SA" sz="1800" dirty="0"/>
          </a:p>
        </p:txBody>
      </p:sp>
      <p:sp>
        <p:nvSpPr>
          <p:cNvPr id="34" name="Text 31"/>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plan for next time?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699248" y="4626864"/>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 is beautiful</a:t>
            </a:r>
            <a:endParaRPr lang="en-US" sz="1100" dirty="0"/>
          </a:p>
        </p:txBody>
      </p:sp>
      <p:sp>
        <p:nvSpPr>
          <p:cNvPr id="37" name="Text 34"/>
          <p:cNvSpPr txBox="1"/>
          <p:nvPr/>
        </p:nvSpPr>
        <p:spPr>
          <a:xfrm>
            <a:off x="3291840" y="4626864"/>
            <a:ext cx="4206240" cy="731520"/>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كَرَمُ النَّاسِ</a:t>
            </a:r>
            <a:endParaRPr lang="ar-SA" sz="1800" dirty="0"/>
          </a:p>
        </p:txBody>
      </p:sp>
      <p:sp>
        <p:nvSpPr>
          <p:cNvPr id="38" name="Text 35"/>
          <p:cNvSpPr txBox="1"/>
          <p:nvPr/>
        </p:nvSpPr>
        <p:spPr>
          <a:xfrm>
            <a:off x="56692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impressed them most?</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a:t>
            </a:r>
            <a:pPr algn="l" indent="0" marL="0">
              <a:buNone/>
            </a:pPr>
            <a:r>
              <a:rPr lang="ar-SA" altLang="en-US" sz="1500" b="1" dirty="0">
                <a:solidFill>
                  <a:srgbClr val="1B3B6F"/>
                </a:solidFill>
                <a:latin typeface="Amiri" pitchFamily="2" charset="-78"/>
                <a:ea typeface="Amiri" pitchFamily="2" charset="-78"/>
                <a:cs typeface="Amiri" pitchFamily="2" charset="-78"/>
              </a:rPr>
              <a:t>الإِجَابَةُ العَامَّةُ كَثِيرًا مَا تَكُونُ مُشَتِّتًا</a:t>
            </a:r>
            <a:pPr algn="l" indent="0" marL="0">
              <a:buNone/>
            </a:pPr>
            <a:r>
              <a:rPr lang="en-US" sz="1150" b="1" dirty="0">
                <a:solidFill>
                  <a:srgbClr val="1B3B6F"/>
                </a:solidFill>
                <a:latin typeface="Calibri" pitchFamily="34" charset="0"/>
                <a:cs typeface="Amiri" pitchFamily="2" charset="-78"/>
              </a:rPr>
              <a:t> — the general answer is often a distractor.</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Hearing conditionals and reports in fast speech</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450" b="1" dirty="0">
                <a:solidFill>
                  <a:srgbClr val="8A6D1E"/>
                </a:solidFill>
                <a:latin typeface="Amiri" pitchFamily="2" charset="-78"/>
                <a:ea typeface="Amiri" pitchFamily="2" charset="-78"/>
                <a:cs typeface="Amiri" pitchFamily="2" charset="-78"/>
              </a:rPr>
              <a:t>سَمَاعُ الشَّرْطِ وَالنَّقْلِ فِي الكَلَامِ السَّرِيعِ</a:t>
            </a:r>
            <a:endParaRPr lang="ar-SA" sz="24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Type by result marker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sa- (real) · la- (hypothetical)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زُرْتُهَا، سَأُخَصِّصُ أُسْبُوعًا   ·   لَوْ خَطَّطْتُ، لَحَجَزْتُ فُنْدُقًا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Decode reported speech</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verb + inna / anna + content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قَالَ الدَّلِيلُ إِنَّ الرَّبِيعَ أَفْضَلُ مَوْسِمٍ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Past perfect and booking verbs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 qad · yaḥjiz · yuqīm</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حَجَزْتُ الفُنْدُقَ   ·   سَأُقِيمُ فِي رِيَاضٍ تَقْلِيدِيٍّ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Own view vs cited view</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arā anna vs ashāra … ilā anna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أَرَى أَنَّ …   ·   أَشَارَ الخَبِيرُ إِلَى أَنَّ …</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reliable signal of the conditional type?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tone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result marker (</a:t>
            </a:r>
            <a:pPr algn="l" indent="0" marL="0">
              <a:buNone/>
            </a:pPr>
            <a:r>
              <a:rPr lang="ar-SA" altLang="en-US" sz="1650" dirty="0">
                <a:solidFill>
                  <a:srgbClr val="1F2A37"/>
                </a:solidFill>
                <a:latin typeface="Amiri" pitchFamily="2" charset="-78"/>
                <a:ea typeface="Amiri" pitchFamily="2" charset="-78"/>
                <a:cs typeface="Amiri" pitchFamily="2" charset="-78"/>
              </a:rPr>
              <a:t>سَـ / لَـ</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length</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past-perfect marker to listen for?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hypothetical (Type 2)</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real (Type 1)</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 signals 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signals a counterfactual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conditional.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reliable signal of the conditional type?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tone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result marker (</a:t>
            </a:r>
            <a:pPr algn="l" indent="0" marL="0">
              <a:buNone/>
            </a:pPr>
            <a:r>
              <a:rPr lang="ar-SA" altLang="en-US" sz="1650" b="1" dirty="0">
                <a:solidFill>
                  <a:srgbClr val="1F2A37"/>
                </a:solidFill>
                <a:latin typeface="Amiri" pitchFamily="2" charset="-78"/>
                <a:ea typeface="Amiri" pitchFamily="2" charset="-78"/>
                <a:cs typeface="Amiri" pitchFamily="2" charset="-78"/>
              </a:rPr>
              <a:t>سَـ / لَـ</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length</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particles take a past verb, so the result marker is the reliable signal.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past-perfect marker to listen for?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marks the past perfect.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label, predict, listen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Label</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algn="ctr" indent="0" marL="0">
              <a:buNone/>
            </a:pPr>
            <a:r>
              <a:rPr lang="en-US" sz="2800" b="1" dirty="0">
                <a:solidFill>
                  <a:srgbClr val="1B3B6F"/>
                </a:solidFill>
                <a:latin typeface="Calibri" pitchFamily="34" charset="0"/>
                <a:cs typeface="Amiri" pitchFamily="2" charset="-78"/>
              </a:rPr>
              <a:t>C · R · P</a:t>
            </a:r>
            <a:endParaRPr lang="en-US"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does it ask?</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Before?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كُنْتُ-قَدْ-حَجَزْتُ</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fast unit.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Whose?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قَالَ</a:t>
            </a:r>
            <a:pPr rtl="1" algn="ctr" indent="0" marL="0">
              <a:buNone/>
            </a:pPr>
            <a:r>
              <a:rPr lang="ar-SA" altLang="en-US" sz="2800" b="1" dirty="0">
                <a:solidFill>
                  <a:srgbClr val="1B3B6F"/>
                </a:solidFill>
                <a:latin typeface="Amiri" pitchFamily="2" charset="-78"/>
                <a:ea typeface="Amiri" pitchFamily="2" charset="-78"/>
                <a:cs typeface="Amiri" pitchFamily="2" charset="-78"/>
              </a:rPr>
              <a:t> الدَّلِيلُ </a:t>
            </a:r>
            <a:pPr rtl="1" algn="ctr" indent="0" marL="0">
              <a:buNone/>
            </a:pPr>
            <a:r>
              <a:rPr lang="ar-SA" altLang="en-US" sz="2800" b="1" dirty="0">
                <a:solidFill>
                  <a:srgbClr val="7B3FA0"/>
                </a:solidFill>
                <a:latin typeface="Amiri" pitchFamily="2" charset="-78"/>
                <a:ea typeface="Amiri" pitchFamily="2" charset="-78"/>
                <a:cs typeface="Amiri" pitchFamily="2" charset="-78"/>
              </a:rPr>
              <a:t>إِنَّ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guide’s.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Real?</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 </a:t>
            </a:r>
            <a:pPr rtl="1" algn="ctr" indent="0" marL="0">
              <a:buNone/>
            </a:pPr>
            <a:r>
              <a:rPr lang="ar-SA" altLang="en-US" sz="2800" b="1" dirty="0">
                <a:solidFill>
                  <a:srgbClr val="0E7C86"/>
                </a:solidFill>
                <a:latin typeface="Amiri" pitchFamily="2" charset="-78"/>
                <a:ea typeface="Amiri" pitchFamily="2" charset="-78"/>
                <a:cs typeface="Amiri" pitchFamily="2" charset="-78"/>
              </a:rPr>
              <a:t>سَـ</a:t>
            </a:r>
            <a:pPr rtl="1" algn="ctr" indent="0" marL="0">
              <a:buNone/>
            </a:pPr>
            <a:r>
              <a:rPr lang="ar-SA" altLang="en-US" sz="2800" b="1" dirty="0">
                <a:solidFill>
                  <a:srgbClr val="1B3B6F"/>
                </a:solidFill>
                <a:latin typeface="Amiri" pitchFamily="2" charset="-78"/>
                <a:ea typeface="Amiri" pitchFamily="2" charset="-78"/>
                <a:cs typeface="Amiri" pitchFamily="2" charset="-78"/>
              </a:rPr>
              <a:t>أُخَصِّصُ · … </a:t>
            </a:r>
            <a:pPr rtl="1" algn="ctr" indent="0" marL="0">
              <a:buNone/>
            </a:pPr>
            <a:r>
              <a:rPr lang="ar-SA" altLang="en-US" sz="2800" b="1" dirty="0">
                <a:solidFill>
                  <a:srgbClr val="C77700"/>
                </a:solidFill>
                <a:latin typeface="Amiri" pitchFamily="2" charset="-78"/>
                <a:ea typeface="Amiri" pitchFamily="2" charset="-78"/>
                <a:cs typeface="Amiri" pitchFamily="2" charset="-78"/>
              </a:rPr>
              <a:t>لَـ</a:t>
            </a:r>
            <a:pPr rtl="1" algn="ctr" indent="0" marL="0">
              <a:buNone/>
            </a:pPr>
            <a:r>
              <a:rPr lang="ar-SA" altLang="en-US" sz="2800" b="1" dirty="0">
                <a:solidFill>
                  <a:srgbClr val="1B3B6F"/>
                </a:solidFill>
                <a:latin typeface="Amiri" pitchFamily="2" charset="-78"/>
                <a:ea typeface="Amiri" pitchFamily="2" charset="-78"/>
                <a:cs typeface="Amiri" pitchFamily="2" charset="-78"/>
              </a:rPr>
              <a:t>حَجَزْتُ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Wait for the end.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REAL · SA-</a:t>
            </a:r>
            <a:endParaRPr lang="en-US" sz="800" dirty="0"/>
          </a:p>
        </p:txBody>
      </p:sp>
      <p:sp>
        <p:nvSpPr>
          <p:cNvPr id="51" name="Shape 47"/>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UNREAL · LA-</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يَقُولُ المُسَافِرُ: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حَجَزْتُ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رِحْلَتِي إِلَى المَغْرِبِ قَبْلَ شَهْرَيْنِ.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قَالَ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الدَّلِيلُ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أَفْضَلَ مَوْسِمٍ لِلزِّيَارَةِ هُوَ الرَّبِيعُ. إِذَا زُرْتُ المَغْرِبَ ثَانِيَةً،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سَأُخَصِّصُ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أُسْبُوعًا كَامِلًا لِفَاسَ. وَلَوْ كُنْتُ قَدْ خَطَّطْتُ مُسْبَقًا،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لَحَجَزْتُ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فُنْدُقًا كِلَاسِيكِيًّا.</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traveller says: I had booked my trip to Morocco two months earlier. The guide said that the best season to visit is spring. If I visit Morocco again, I will devote a whole week to Fez. And had I planned ahead, I would have booked a classic hotel.</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زُرْتُ المَغْرِبَ ثَانِيَةً، سَأُخَصِّصُ أُسْبُوعًا لِفَاسَ</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 visit Morocco again, I will devote a week to Fez</a:t>
            </a:r>
            <a:endParaRPr lang="en-US" sz="1250" dirty="0"/>
          </a:p>
          <a:p>
            <a:pPr indent="0" marL="0">
              <a:buNone/>
            </a:pPr>
            <a:r>
              <a:rPr lang="en-US" sz="1050" i="1" dirty="0">
                <a:solidFill>
                  <a:srgbClr val="8A6D1E"/>
                </a:solidFill>
                <a:latin typeface="Calibri" pitchFamily="34" charset="0"/>
                <a:cs typeface="Amiri" pitchFamily="2" charset="-78"/>
              </a:rPr>
              <a:t>A sa- result → a real plan.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كُنْتُ قَدْ خَطَّطْتُ مُسْبَقًا، لَحَجَزْتُ فُنْدُقًا كِلَاسِيكِيًّا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I planned ahead, I would have booked a classic hotel</a:t>
            </a:r>
            <a:endParaRPr lang="en-US" sz="1250" dirty="0"/>
          </a:p>
          <a:p>
            <a:pPr indent="0" marL="0">
              <a:buNone/>
            </a:pPr>
            <a:r>
              <a:rPr lang="en-US" sz="1050" i="1" dirty="0">
                <a:solidFill>
                  <a:srgbClr val="8A6D1E"/>
                </a:solidFill>
                <a:latin typeface="Calibri" pitchFamily="34" charset="0"/>
                <a:cs typeface="Amiri" pitchFamily="2" charset="-78"/>
              </a:rPr>
              <a:t>A la- result → a counterfactual.</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قَالَ الدَّلِيلُ إِنَّ أَفْضَلَ مَوْسِمٍ هُوَ الرَّبِيعُ</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guide said that the best season is spring</a:t>
            </a:r>
            <a:endParaRPr lang="en-US" sz="1250" dirty="0"/>
          </a:p>
          <a:p>
            <a:pPr indent="0" marL="0">
              <a:buNone/>
            </a:pPr>
            <a:r>
              <a:rPr lang="en-US" sz="1050" i="1" dirty="0">
                <a:solidFill>
                  <a:srgbClr val="8A6D1E"/>
                </a:solidFill>
                <a:latin typeface="Calibri" pitchFamily="34" charset="0"/>
                <a:cs typeface="Amiri" pitchFamily="2" charset="-78"/>
              </a:rPr>
              <a:t>Reported cultural tip.</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REPORT WHAT YOU HEARD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Plan + regret + past-perfect fact</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عَمَّا سَمِعْتَ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Real plan (sa-)</a:t>
            </a:r>
            <a:endParaRPr lang="en-US" sz="1100" dirty="0"/>
          </a:p>
        </p:txBody>
      </p:sp>
      <p:sp>
        <p:nvSpPr>
          <p:cNvPr id="19" name="Text 16"/>
          <p:cNvSpPr txBox="1"/>
          <p:nvPr/>
        </p:nvSpPr>
        <p:spPr>
          <a:xfrm>
            <a:off x="43068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Regret (la-)</a:t>
            </a:r>
            <a:endParaRPr lang="en-US" sz="1100" dirty="0"/>
          </a:p>
        </p:txBody>
      </p:sp>
      <p:sp>
        <p:nvSpPr>
          <p:cNvPr id="20" name="Text 17"/>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Fact / report</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زُرْتُ المَغْرِبَ ثَانِيَةً سَأُخَصِّصُ أُسْبُوعًا لِفَاسَ</a:t>
            </a:r>
            <a:endParaRPr lang="ar-SA" sz="1600" dirty="0"/>
          </a:p>
        </p:txBody>
      </p:sp>
      <p:sp>
        <p:nvSpPr>
          <p:cNvPr id="23" name="Text 20"/>
          <p:cNvSpPr txBox="1"/>
          <p:nvPr/>
        </p:nvSpPr>
        <p:spPr>
          <a:xfrm>
            <a:off x="4325112" y="2267712"/>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كُنْتُ قَدْ خَطَّطْتُ مُسْبَقًا لَحَجَزْتُ فُنْدُقًا كِلَاسِيكِيًّا</a:t>
            </a:r>
            <a:endParaRPr lang="ar-SA" sz="1600" dirty="0"/>
          </a:p>
        </p:txBody>
      </p:sp>
      <p:sp>
        <p:nvSpPr>
          <p:cNvPr id="24" name="Text 21"/>
          <p:cNvSpPr txBox="1"/>
          <p:nvPr/>
        </p:nvSpPr>
        <p:spPr>
          <a:xfrm>
            <a:off x="548640" y="2267712"/>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وَكُنْتُ قَدْ حَجَزْتُ الرِّحْلَةَ قَبْلَ شَهْرَيْنِ</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وَصَلْتُ صَبَاحًا سَأَتَجَنَّبُ الزِّحَامَ</a:t>
            </a:r>
            <a:endParaRPr lang="ar-SA" sz="1600" dirty="0"/>
          </a:p>
        </p:txBody>
      </p:sp>
      <p:sp>
        <p:nvSpPr>
          <p:cNvPr id="29" name="Text 26"/>
          <p:cNvSpPr txBox="1"/>
          <p:nvPr/>
        </p:nvSpPr>
        <p:spPr>
          <a:xfrm>
            <a:off x="4325112" y="3054096"/>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بَقِيتُ لَيْلَةً إِضَافِيَّةً لَرَأَيْتُ المَزِيدَ</a:t>
            </a:r>
            <a:endParaRPr lang="ar-SA" sz="1600" dirty="0"/>
          </a:p>
        </p:txBody>
      </p:sp>
      <p:sp>
        <p:nvSpPr>
          <p:cNvPr id="30" name="Text 27"/>
          <p:cNvSpPr txBox="1"/>
          <p:nvPr/>
        </p:nvSpPr>
        <p:spPr>
          <a:xfrm>
            <a:off x="548640" y="3054096"/>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وَقَالَ الدَّلِيلُ إِنَّ الرَّبِيعَ أَفْضَلُ مَوْسِمٍ</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حَجَزْتُ مُبَكِّرًا سَأُوَفِّرُ المَالَ</a:t>
            </a:r>
            <a:endParaRPr lang="ar-SA" sz="1600" dirty="0"/>
          </a:p>
        </p:txBody>
      </p:sp>
      <p:sp>
        <p:nvSpPr>
          <p:cNvPr id="33" name="Text 30"/>
          <p:cNvSpPr txBox="1"/>
          <p:nvPr/>
        </p:nvSpPr>
        <p:spPr>
          <a:xfrm>
            <a:off x="4325112" y="3840480"/>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تَعَلَّمْتُ العَرَبِيَّةَ لَكَانَتِ التَّجْرِبَةُ أَعْمَقَ</a:t>
            </a:r>
            <a:endParaRPr lang="ar-SA" sz="1600" dirty="0"/>
          </a:p>
        </p:txBody>
      </p:sp>
      <p:sp>
        <p:nvSpPr>
          <p:cNvPr id="34" name="Text 31"/>
          <p:cNvSpPr txBox="1"/>
          <p:nvPr/>
        </p:nvSpPr>
        <p:spPr>
          <a:xfrm>
            <a:off x="548640" y="3840480"/>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وَأَقَمْتُ فِي رِيَاضٍ تَقْلِيدِيٍّ فِي المَدِينَةِ القَدِيمَةِ</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A real result, a hypothetical result — or a report / past perfect?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سَأُخَصِّصُ أُسْبُوعًا لِفَاسَ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سَتَتَجَنَّبُ الزِّحَامَ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سَأَحْجِزُ رِحْلَةً مُبَاشِرَةً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لَحَجَزْتُ فُنْدُقًا كِلَاسِيكِيًّا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لَرَأَيْتُ المَزِيدَ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لَتَعَمَّقَتْ تَجْرِبَتِي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الدَّلِيلُ إِنَّ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 إِلَى أَنَّ</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result (sa-)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hypothetical result (la-)</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report / past perfect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result (sa-)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سَأُخَصِّصُ أُسْبُوعًا لِفَاسَ</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سَتَتَجَنَّبُ الزِّحَامَ</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سَأَحْجِزُ رِحْلَةً مُبَاشِرَةً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hypothetical result (la-)</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لَحَجَزْتُ فُنْدُقًا كِلَاسِيكِيًّا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لَرَأَيْتُ المَزِيدَ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لَتَعَمَّقَتْ تَجْرِبَتِي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report / past perfect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الدَّلِيلُ إِنَّ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 إِلَى أَنَّ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tells you a claim is cited, not the speaker's own?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word </a:t>
            </a:r>
            <a:pPr algn="l" indent="0" marL="0">
              <a:buNone/>
            </a:pPr>
            <a:r>
              <a:rPr lang="ar-SA" altLang="en-US" sz="1650" dirty="0">
                <a:solidFill>
                  <a:srgbClr val="1F2A37"/>
                </a:solidFill>
                <a:latin typeface="Amiri" pitchFamily="2" charset="-78"/>
                <a:ea typeface="Amiri" pitchFamily="2" charset="-78"/>
                <a:cs typeface="Amiri" pitchFamily="2" charset="-78"/>
              </a:rPr>
              <a:t>أَنَا</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reporting verb like </a:t>
            </a:r>
            <a:pPr algn="l" indent="0" marL="0">
              <a:buNone/>
            </a:pPr>
            <a:r>
              <a:rPr lang="ar-SA" altLang="en-US" sz="1650" dirty="0">
                <a:solidFill>
                  <a:srgbClr val="1F2A37"/>
                </a:solidFill>
                <a:latin typeface="Amiri" pitchFamily="2" charset="-78"/>
                <a:ea typeface="Amiri" pitchFamily="2" charset="-78"/>
                <a:cs typeface="Amiri" pitchFamily="2" charset="-78"/>
              </a:rPr>
              <a:t>قَالَ / أَشَارَ</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قَالَ الدَّلِيلُ ___ الرَّبِيعَ أَفْضَلُ مَوْسِمٍ.</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2028 verb means “stays at”?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يَحْجِزُ</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يُقِيمُ فِي</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يَصِلُ بَيْنَ</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 a speaker use both types in seconds?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mean the same</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is always wrong</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plans forward, one reflects back</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tells you a claim is cited, not the speaker's own?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word </a:t>
            </a:r>
            <a:pPr algn="l" indent="0" marL="0">
              <a:buNone/>
            </a:pPr>
            <a:r>
              <a:rPr lang="ar-SA" altLang="en-US" sz="1650" dirty="0">
                <a:solidFill>
                  <a:srgbClr val="9AA1AB"/>
                </a:solidFill>
                <a:latin typeface="Amiri" pitchFamily="2" charset="-78"/>
                <a:ea typeface="Amiri" pitchFamily="2" charset="-78"/>
                <a:cs typeface="Amiri" pitchFamily="2" charset="-78"/>
              </a:rPr>
              <a:t>أَنَا</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number</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reporting verb like </a:t>
            </a:r>
            <a:pPr algn="l" indent="0" marL="0">
              <a:buNone/>
            </a:pPr>
            <a:r>
              <a:rPr lang="ar-SA" altLang="en-US" sz="1650" b="1" dirty="0">
                <a:solidFill>
                  <a:srgbClr val="1F2A37"/>
                </a:solidFill>
                <a:latin typeface="Amiri" pitchFamily="2" charset="-78"/>
                <a:ea typeface="Amiri" pitchFamily="2" charset="-78"/>
                <a:cs typeface="Amiri" pitchFamily="2" charset="-78"/>
              </a:rPr>
              <a:t>قَالَ / أَشَارَ</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reporting verb signals a cited source.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قَالَ الدَّلِيلُ ___ الرَّبِيعَ أَفْضَلُ مَوْسِمٍ.</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2028 verb means “stays at”?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يَحْجِزُ</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يُقِيمُ فِي</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يَصِلُ بَيْنَ</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يُقِيمُ فِي</a:t>
            </a:r>
            <a:pPr algn="l" indent="0" marL="0">
              <a:buNone/>
            </a:pPr>
            <a:r>
              <a:rPr lang="en-US" sz="1050" i="1" dirty="0">
                <a:solidFill>
                  <a:srgbClr val="8A6D1E"/>
                </a:solidFill>
                <a:latin typeface="Calibri" pitchFamily="34" charset="0"/>
                <a:cs typeface="Amiri" pitchFamily="2" charset="-78"/>
              </a:rPr>
              <a:t> means stays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 a speaker use both types in seconds?</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mean the same</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is always wrong</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plans forward, one reflects back</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Type 1 plans; Type 2 reflects — they do different jobs.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سَمِعْتُ «لَوْ» فَعَرَفْتُ أَنَّهُ خُطَّةٌ وَاقِعِيَّةٌ.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a real plan?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الدَّلِيلُ إِنَّ …» رَأْيُ المُتَحَدِّثِ نَفْسِهِ.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qāla l-dalīlu → whose view?</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أَشَارَ الدَّلِيلُ أَنَّ الرَّبِيعَ أَفْضَلُ.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ashāra + anna?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سَمِعْتُ «لَوْ» فَعَرَفْتُ أَنَّهُ خُطَّةٌ وَاقِعِيَّةٌ.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E6B52"/>
                </a:solidFill>
                <a:latin typeface="Amiri" pitchFamily="2" charset="-78"/>
                <a:ea typeface="Amiri" pitchFamily="2" charset="-78"/>
                <a:cs typeface="Amiri" pitchFamily="2" charset="-78"/>
              </a:rPr>
              <a:t>سَمِعْتُ «لَوْ» مَعَ نَتِيجَةٍ بِـ«لَـ» فَعَرَفْتُ أَنَّهُ افْتِرَاضٌ.</a:t>
            </a:r>
            <a:endParaRPr lang="ar-SA" sz="215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with a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result signals a counterfactual, not a real plan.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«قَالَ الدَّلِيلُ إِنَّ …» رَأْيُ المُتَحَدِّثِ نَفْسِهِ.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الدَّلِيلُ إِنَّ …» يَنْقُلُ رَأْيَ الدَّلِيلِ.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reporting verb cites another source.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أَشَارَ الدَّلِيلُ أَنَّ الرَّبِيعَ أَفْضَلُ.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أَشَارَ الدَّلِيلُ إِلَى أَنَّ الرَّبِيعَ أَفْضَلُ.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أَشَارَ</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 before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 1: before and during the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arriving?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Booked the trip two months earlier and read about Fez</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Cancelled the trip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guide say about the best season?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Winter is best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good season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Spring is the best time to visit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transport did they use?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taxis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cruise ship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high-speed train between major cities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traveller stay?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traditional riad in the old city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modern hotel by the sea</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family in the countryside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P · R · detail · detail.</a:t>
            </a:r>
            <a:endParaRPr lang="en-US" sz="1250" dirty="0"/>
          </a:p>
          <a:p>
            <a:pPr algn="l" indent="0" marL="0">
              <a:buNone/>
            </a:pPr>
            <a:r>
              <a:rPr lang="en-US" sz="1250" dirty="0">
                <a:solidFill>
                  <a:srgbClr val="1E6B52"/>
                </a:solidFill>
                <a:latin typeface="Calibri" pitchFamily="34" charset="0"/>
                <a:cs typeface="Amiri" pitchFamily="2" charset="-78"/>
              </a:rPr>
              <a:t>Listen for: kuntu qad · qāla … inna · aqamtu.</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يَقُولُ المُسَافِرُ: كُنْتُ قَدْ حَجَزْتُ رِحْلَتِي إِلَى المَغْرِبِ قَبْلَ شَهْرَيْنِ، وَكُنْتُ قَدْ قَرَأْتُ عَنْ فَاسَ كَثِيرًا.</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traveller says: I had booked my trip to Morocco two months earlier, and I had read a lot about Fez.</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أَقَمْتُ فِي رِيَاضٍ تَقْلِيدِيٍّ فِي المَدِينَةِ القَدِيمَةِ. قَالَ الدَّلِيلُ إِنَّ أَفْضَلَ مَوْسِمٍ لِلزِّيَارَةِ هُوَ الرَّبِيعُ.</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stayed in a traditional riad in the old city. The guide said that the best season to visit is spring.</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اسْتَعْمَلْتُ القِطَارَ السَّرِيعَ الَّذِي يَصِلُ بَيْنَ المُدُنِ الكُبْرَى.</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used the high-speed train that links the major cities.</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arriving?</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Booked the trip two months earlier and read about Fez</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Cancelled the trip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كُنْتُ قَدْ حَجَزْتُ رِحْلَتِي … قَبْلَ شَهْرَيْنِ، وَكُنْتُ قَدْ قَرَأْتُ عَنْ فَاسَ.</a:t>
            </a:r>
            <a:endParaRPr lang="ar-SA" sz="13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guide say about the best season?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Winter is best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good season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Spring is the best time to visit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الدَّلِيلُ إِنَّ أَفْضَلَ مَوْسِمٍ … هُوَ الرَّبِيعُ.</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transport did they use?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taxis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cruise ship</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high-speed train between major cities</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اسْتَعْمَلْتُ القِطَارَ السَّرِيعَ الَّذِي يَصِلُ بَيْنَ المُدُنِ الكُبْرَى.</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traveller stay?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traditional riad in the old city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modern hotel by the sea</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family in the countryside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أَقَمْتُ فِي رِيَاضٍ تَقْلِيدِيٍّ فِي المَدِينَةِ القَدِيمَةِ.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P · R · detail · detail.</a:t>
            </a:r>
            <a:endParaRPr lang="en-US" sz="1250" dirty="0"/>
          </a:p>
          <a:p>
            <a:pPr algn="l" indent="0" marL="0">
              <a:buNone/>
            </a:pPr>
            <a:r>
              <a:rPr lang="en-US" sz="1250" dirty="0">
                <a:solidFill>
                  <a:srgbClr val="1E6B52"/>
                </a:solidFill>
                <a:latin typeface="Calibri" pitchFamily="34" charset="0"/>
                <a:cs typeface="Amiri" pitchFamily="2" charset="-78"/>
              </a:rPr>
              <a:t>Listen for: kuntu qad · qāla … inna · aqamtu.</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 2: plans, a regret and advice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plan for next time?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Devote a full week to Fez</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return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Skip Fez</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Planning makes no difference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refused to plan</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they planned ahead, they would have booked a classic hotel</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impressed the traveller most?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price of the hotels</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speed of the trains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generosity of the people</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C · C · O.</a:t>
            </a:r>
            <a:endParaRPr lang="en-US" sz="1250" dirty="0"/>
          </a:p>
          <a:p>
            <a:pPr algn="l" indent="0" marL="0">
              <a:buNone/>
            </a:pPr>
            <a:r>
              <a:rPr lang="en-US" sz="1250" dirty="0">
                <a:solidFill>
                  <a:srgbClr val="1E6B52"/>
                </a:solidFill>
                <a:latin typeface="Calibri" pitchFamily="34" charset="0"/>
                <a:cs typeface="Amiri" pitchFamily="2" charset="-78"/>
              </a:rPr>
              <a:t>Listen for: sa- · la- · aʿjabanī · anṣaḥu.</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زُرْتُ المَغْرِبَ ثَانِيَةً، سَأُخَصِّصُ أُسْبُوعًا كَامِلًا لِفَاسَ.</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I visit Morocco again, I will devote a whole week to Fez.</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وَلَوْ كُنْتُ قَدْ خَطَّطْتُ مُسْبَقًا، لَحَجَزْتُ فُنْدُقًا كِلَاسِيكِيًّا بَدَلَ الحَدِيثِ.</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had I planned ahead, I would have booked a classic hotel instead of the modern one.</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أَكْثَرُ مَا أَعْجَبَنِي كَانَ كَرَمُ النَّاسِ. وَأَنْصَحُ كُلَّ مُسَافِرٍ بِاحْتِرَامِ العَادَاتِ المَحَلِّيَّةِ.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 liked most was the generosity of the people. And I advise every traveller to respect local customs.</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plan for next time?</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Devote a full week to Fez</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return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Skip Fez</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زُرْتُ المَغْرِبَ ثَانِيَةً، سَأُخَصِّصُ أُسْبُوعًا كَامِلًا لِفَاسَ.</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Planning makes no difference</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refused to plan</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Had they planned ahead, they would have booked a classic hotel</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كُنْتُ قَدْ خَطَّطْتُ مُسْبَقًا، لَحَجَزْتُ فُنْدُقًا كِلَاسِيكِيًّا.</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impressed the traveller most?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price of the hotels</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speed of the trains</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generosity of the people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أَكْثَرُ مَا أَعْجَبَنِي كَانَ كَرَمُ النَّاسِ.</a:t>
            </a:r>
            <a:endParaRPr lang="ar-SA" sz="13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C · C · O.</a:t>
            </a:r>
            <a:endParaRPr lang="en-US" sz="1250" dirty="0"/>
          </a:p>
          <a:p>
            <a:pPr algn="l" indent="0" marL="0">
              <a:buNone/>
            </a:pPr>
            <a:r>
              <a:rPr lang="en-US" sz="1250" dirty="0">
                <a:solidFill>
                  <a:srgbClr val="1E6B52"/>
                </a:solidFill>
                <a:latin typeface="Calibri" pitchFamily="34" charset="0"/>
                <a:cs typeface="Amiri" pitchFamily="2" charset="-78"/>
              </a:rPr>
              <a:t>Listen for: sa- · la- · aʿjabanī · anṣaḥu.</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report what you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الشَّرْطُ الحَقِيقِيُّ الَّذِي سَمِعْتَهُ؟ وَبِأَيِّ عَلَامَةٍ عَرَفْتَهُ؟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الشَّرْطُ الافْتِرَاضِيُّ؟ وَمَاذَا يَعْنِي؟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الكَلَامُ المَنْقُولُ الَّذِي سَمِعْتَهُ؟</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ea typeface="Amiri" pitchFamily="2" charset="-78"/>
                <a:cs typeface="Amiri" pitchFamily="2" charset="-78"/>
              </a:rPr>
              <a:t>سَمِعْتُ « ___ »، وَعَرَفْتُهُ مِنْ عَلَامَةِ «سَـ».</a:t>
            </a:r>
            <a:endParaRPr lang="ar-SA" sz="15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F2A37"/>
                </a:solidFill>
                <a:latin typeface="Amiri" pitchFamily="2" charset="-78"/>
                <a:ea typeface="Amiri" pitchFamily="2" charset="-78"/>
                <a:cs typeface="Amiri" pitchFamily="2" charset="-78"/>
              </a:rPr>
              <a:t>سَمِعْتُ « ___ »، وَعَلَامَةُ «لَـ» دَلَّتْ عَلَى الافْتِرَاضِ.</a:t>
            </a:r>
            <a:endParaRPr lang="ar-SA" sz="12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قَالَ الدَّلِيلُ إِنَّ ___ ، وَهٰذَا رَأْيُ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الشَّرْطُ الحَقِيقِيُّ الَّذِي سَمِعْتَهُ؟</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real conditional did you hear?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سَمِعْتُ «إِذَا زُرْتُ المَغْرِبَ، سَأُخَصِّصُ أُسْبُوعًا»، وَعَرَفْتُهُ مِنْ عَلَامَةِ «سَـ».</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I heard “if I visit Morocco, I will devote a week”, and I knew it from the sa- marker.</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Annotate five questions with the result marker (</a:t>
            </a:r>
            <a:pPr algn="l" indent="0" marL="0">
              <a:buNone/>
            </a:pPr>
            <a:r>
              <a:rPr lang="ar-SA" altLang="en-US" sz="1800" b="1" dirty="0">
                <a:solidFill>
                  <a:srgbClr val="1F2A37"/>
                </a:solidFill>
                <a:latin typeface="Amiri" pitchFamily="2" charset="-78"/>
                <a:ea typeface="Amiri" pitchFamily="2" charset="-78"/>
                <a:cs typeface="Amiri" pitchFamily="2" charset="-78"/>
              </a:rPr>
              <a:t>سَـ / لَـ</a:t>
            </a:r>
            <a:pPr algn="l" indent="0" marL="0">
              <a:buNone/>
            </a:pPr>
            <a:r>
              <a:rPr lang="en-US" sz="1400" b="1" dirty="0">
                <a:solidFill>
                  <a:srgbClr val="1F2A37"/>
                </a:solidFill>
                <a:latin typeface="Calibri" pitchFamily="34" charset="0"/>
                <a:cs typeface="Amiri" pitchFamily="2" charset="-78"/>
              </a:rPr>
              <a:t>) you will listen for.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annotate five questions with the result marker (sa- / la-) you will listen for.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whether each targets a conditional, a report or a past perfect.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whether each targets a conditional, a report or a past perfect.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how the result marker changed the meaning of one answer.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explain your listening strategy — the result marker, reported speech, kāna qad and the general distractor.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أُمَيِّزُ الكَلَامَ المَنْقُولَ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identify reported speech from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يَنْقُلُ رَأْيَ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conveys the view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أَرْفُضُ الإِجَابَةَ العَامَّةَ لِأَنَّهَا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reject the general answer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غَيَّرَتْ عَلَامَةُ الجَوَابِ الإِجَابَةَ: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result marker changed the answer: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الاسْتِمَاعِ، أَقْرَأُ الأَسْئِلَةَ وَ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listening, I read the questions and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لَا أَعْتَمِدُ عَلَى الأَدَاةِ وَحْدَهَا، لِأَنَّ ______ .</a:t>
            </a:r>
            <a:endParaRPr lang="ar-SA" sz="17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not rely on the particle alone, because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«سَـ» تَعْنِي ______ ، وَ«لَـ» تَعْنِي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sa- means … and la- means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تَدُلُّ «كَانَ قَدْ»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kāna qad shows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ea typeface="Amiri" pitchFamily="2" charset="-78"/>
                <a:cs typeface="Amiri" pitchFamily="2" charset="-78"/>
              </a:rPr>
              <a:t>أُحَدِّدُ نَوْعَ المَعْلُومَةِ  ·  يَتْبَعُهُمَا فِعْلٌ مَاضٍ  ·  شَرْطًا حَقِيقِيًّا  ·  شَرْطًا افْتِرَاضِيًّا  ·  الفِعْلِ النَّاقِلِ مَعَ «إِنَّ»  ·  مَصْدَرٍ آخَرَ  ·  إِنْجَازٍ سَابِقٍ  ·  مُشَتِّتًا  ·  عَلَامَةِ الجَوَابِ  ·  رَأْيِ المُتَحَدِّثِ  ·  التَّفْصِيلِ الدَّقِيقِ  ·  عَامَّةٌ جِدًّا</a:t>
            </a:r>
            <a:endParaRPr lang="ar-SA"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explaining your listening strategy for travel texts. Describe how you tell </a:t>
            </a:r>
            <a:pPr algn="l" indent="0" marL="0">
              <a:buNone/>
            </a:pPr>
            <a:r>
              <a:rPr lang="ar-SA" altLang="en-US" sz="1750" b="1" dirty="0">
                <a:solidFill>
                  <a:srgbClr val="1F2A37"/>
                </a:solidFill>
                <a:latin typeface="Amiri" pitchFamily="2" charset="-78"/>
                <a:ea typeface="Amiri" pitchFamily="2" charset="-78"/>
                <a:cs typeface="Amiri" pitchFamily="2" charset="-78"/>
              </a:rPr>
              <a:t>إِذَا</a:t>
            </a:r>
            <a:pPr algn="l" indent="0" marL="0">
              <a:buNone/>
            </a:pPr>
            <a:r>
              <a:rPr lang="en-US" sz="1350" b="1" dirty="0">
                <a:solidFill>
                  <a:srgbClr val="1F2A37"/>
                </a:solidFill>
                <a:latin typeface="Calibri" pitchFamily="34" charset="0"/>
                <a:cs typeface="Amiri" pitchFamily="2" charset="-78"/>
              </a:rPr>
              <a:t> from </a:t>
            </a:r>
            <a:pPr algn="l" indent="0" marL="0">
              <a:buNone/>
            </a:pPr>
            <a:r>
              <a:rPr lang="ar-SA" altLang="en-US" sz="1750" b="1" dirty="0">
                <a:solidFill>
                  <a:srgbClr val="1F2A37"/>
                </a:solidFill>
                <a:latin typeface="Amiri" pitchFamily="2" charset="-78"/>
                <a:ea typeface="Amiri" pitchFamily="2" charset="-78"/>
                <a:cs typeface="Amiri" pitchFamily="2" charset="-78"/>
              </a:rPr>
              <a:t>لَوْ</a:t>
            </a:r>
            <a:pPr algn="l" indent="0" marL="0">
              <a:buNone/>
            </a:pPr>
            <a:r>
              <a:rPr lang="en-US" sz="1350" b="1" dirty="0">
                <a:solidFill>
                  <a:srgbClr val="1F2A37"/>
                </a:solidFill>
                <a:latin typeface="Calibri" pitchFamily="34" charset="0"/>
                <a:cs typeface="Amiri" pitchFamily="2" charset="-78"/>
              </a:rPr>
              <a:t> by the result marker, how you decode reported speech, and how you catch the past perfect.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rule that both particles take a past verb, so the result marker decides.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for a real conditional, </a:t>
            </a:r>
            <a:pPr algn="l" indent="0" marL="0">
              <a:buNone/>
            </a:pPr>
            <a:r>
              <a:rPr lang="ar-SA" altLang="en-US" sz="1550" dirty="0">
                <a:solidFill>
                  <a:srgbClr val="1F2A37"/>
                </a:solidFill>
                <a:latin typeface="Amiri" pitchFamily="2" charset="-78"/>
                <a:ea typeface="Amiri" pitchFamily="2" charset="-78"/>
                <a:cs typeface="Amiri" pitchFamily="2" charset="-78"/>
              </a:rPr>
              <a:t>لَـ</a:t>
            </a:r>
            <a:pPr algn="l" indent="0" marL="0">
              <a:buNone/>
            </a:pPr>
            <a:r>
              <a:rPr lang="en-US" sz="1200" dirty="0">
                <a:solidFill>
                  <a:srgbClr val="1F2A37"/>
                </a:solidFill>
                <a:latin typeface="Calibri" pitchFamily="34" charset="0"/>
                <a:cs typeface="Amiri" pitchFamily="2" charset="-78"/>
              </a:rPr>
              <a:t> for a hypothetical one.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How reported speech signals a cited source.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How to catch </a:t>
            </a:r>
            <a:pPr algn="l" indent="0" marL="0">
              <a:buNone/>
            </a:pPr>
            <a:r>
              <a:rPr lang="ar-SA" altLang="en-US" sz="1550" dirty="0">
                <a:solidFill>
                  <a:srgbClr val="1F2A37"/>
                </a:solidFill>
                <a:latin typeface="Amiri" pitchFamily="2" charset="-78"/>
                <a:ea typeface="Amiri" pitchFamily="2" charset="-78"/>
                <a:cs typeface="Amiri" pitchFamily="2" charset="-78"/>
              </a:rPr>
              <a:t>كَانَ قَدْ</a:t>
            </a:r>
            <a:pPr algn="l" indent="0" marL="0">
              <a:buNone/>
            </a:pPr>
            <a:r>
              <a:rPr lang="en-US" sz="1200" dirty="0">
                <a:solidFill>
                  <a:srgbClr val="1F2A37"/>
                </a:solidFill>
                <a:latin typeface="Calibri" pitchFamily="34" charset="0"/>
                <a:cs typeface="Amiri" pitchFamily="2" charset="-78"/>
              </a:rPr>
              <a:t> and reject the general distractor.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وَأُحَدِّدُ نَوْعَ المَعْلُومَةِ المَطْلُوبَةِ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identify the type of information required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«إِذَا» وَ«لَوْ» يَتْبَعُهُمَا فِعْلٌ مَاضٍ</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idhā and law are both followed by a past verb</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أُصْغِي إِلَى عَلَامَةِ الجَوَابِ</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listen carefully to the result marker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بِوَصْفِهَا عَلَامَةَ إِنْجَازٍ سَابِقٍ</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the sign of an earlier achievement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أَرْفُضُ الإِجَابَةَ العَامَّةَ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reject the general answer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قَبْلَ الاسْتِمَاعِ، أَقْرَأُ الأَسْئِلَةَ وَأُحَدِّدُ نَوْعَ المَعْلُومَةِ المَطْلُوبَةِ. وَعِنْدَ الشَّرْطِ، لَا أَعْتَمِدُ عَلَى الأَدَاةِ وَحْدَهَا، لِأَنَّ «إِذَا» وَ«لَوْ» يَتْبَعُهُمَا فِعْلٌ مَاضٍ. لِذٰلِكَ أُصْغِي إِلَى عَلَامَةِ الجَوَابِ: «سَـ» تَعْنِي شَرْطًا حَقِيقِيًّا، وَ«لَـ» تَعْنِي شَرْطًا افْتِرَاضِيًّا. وَأُمَيِّزُ الكَلَامَ المَنْقُولَ مِنَ الفِعْلِ النَّاقِلِ مَعَ «إِنَّ»، وَأَتَذَكَّرُ أَنَّهُ يَنْقُلُ رَأْيَ مَصْدَرٍ آخَرَ. وَأَلْتَقِطُ «كَانَ قَدْ» بِوَصْفِهَا عَلَامَةَ إِنْجَازٍ سَابِقٍ. وَأَخِيرًا، أَرْفُضُ الإِجَابَةَ العَامَّةَ لِأَنَّهَا كَثِيرًا مَا تَكُونُ مُشَتِّتًا.</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Before listening, I read the questions and identify the type of information required. With a conditional, I do not rely on the particle alone, because idhā and law are both followed by a past verb. So I listen carefully to the result marker: sa- means a real conditional, and la- means a hypothetical one. I identify reported speech from the reporting verb with inna, and I remember that it conveys the view of another source. I catch kāna qad as the sign of an earlier achievement. Finally, I reject the general answer, because it is often a distractor.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prediction step</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result-marker rule (sa- / la-)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reported speech = another source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 qad + rejecting the general distractor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every question and wrote the marker I expected.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decided each conditional from its result (sa- / la-).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caught who said it (qāla … inna) and kāna qad.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heard yaḥjiz / yuqīm in the past, present and future.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the specific detail, not the general distractor.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reliable signal of the conditional type?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particle alone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result marker (</a:t>
            </a:r>
            <a:pPr algn="l" indent="0" marL="0">
              <a:buNone/>
            </a:pPr>
            <a:r>
              <a:rPr lang="ar-SA" altLang="en-US" sz="1650" dirty="0">
                <a:solidFill>
                  <a:srgbClr val="1F2A37"/>
                </a:solidFill>
                <a:latin typeface="Amiri" pitchFamily="2" charset="-78"/>
                <a:ea typeface="Amiri" pitchFamily="2" charset="-78"/>
                <a:cs typeface="Amiri" pitchFamily="2" charset="-78"/>
              </a:rPr>
              <a:t>سَـ / لَـ</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tone</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reporting verb tell you?</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view is cited from another source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speaker's own view</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50</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The conditional is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signals a counterfactual.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reliable signal of the conditional type?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particle alone</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result marker (</a:t>
            </a:r>
            <a:pPr algn="l" indent="0" marL="0">
              <a:buNone/>
            </a:pPr>
            <a:r>
              <a:rPr lang="ar-SA" altLang="en-US" sz="1650" b="1" dirty="0">
                <a:solidFill>
                  <a:srgbClr val="1F2A37"/>
                </a:solidFill>
                <a:latin typeface="Amiri" pitchFamily="2" charset="-78"/>
                <a:ea typeface="Amiri" pitchFamily="2" charset="-78"/>
                <a:cs typeface="Amiri" pitchFamily="2" charset="-78"/>
              </a:rPr>
              <a:t>سَـ / لَـ</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tone</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particles take a past verb, so the result marker decides.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reporting verb tell you?</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view is cited from another source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speaker's own view</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reporting verb signals a cited source.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50</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a listening strategy guide</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لِتَنْجَحَ فِي الاسْتِمَاعِ الأَكَادِيمِيِّ، اقْرَأِ الأَسْئِلَةَ أَوَّلًا وَحَدِّدْ نَوْعَ المَعْلُومَةِ المَطْلُوبَةِ. وَإِذَا كَانَ السُّؤَالُ عَنْ شَرْطٍ، فَلَا تَعْتَمِدْ عَلَى الأَدَاةِ وَحْدَهَا؛ فَكِلَا «إِذَا» وَ«لَوْ» يَتْبَعُهُمَا فِعْلٌ مَاضٍ. المُؤَشِّرُ الأَوْثَقُ هُوَ عَلَامَةُ الجَوَابِ: «سَـ» تَدُلُّ عَلَى شَرْطٍ حَقِيقِيٍّ، وَ«لَـ» تَدُلُّ عَلَى شَرْطٍ افْتِرَاضِيٍّ. أَمَّا الكَلَامُ المَنْقُولُ فَيَظْهَرُ فِي فِعْلٍ نَاقِلٍ مَعَ «إِنَّ» أَوْ «أَنَّ»، وَهُوَ يَنْقُلُ رَأْيَ مَصْدَرٍ آخَرَ لَا رَأْيَ المُتَحَدِّثِ. وَالإِنْجَازُ السَّابِقُ يَظْهَرُ فِي «كَانَ قَدْ». وَتَذَكَّرْ أَنَّ الإِجَابَةَ العَامَّةَ كَثِيرًا مَا تَكُونُ مُشَتِّتًا.</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الأَكَادِيمِيِّ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academic</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identify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المَطْلُوبَةِ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required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تَعْتَمِدْ عَلَى</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 not rely on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الأَدَاةِ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particle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يَتْبَعُهُمَا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follows them both</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المُؤَشِّرُ الأَوْثَقُ</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most reliable signal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عَلَامَةُ الجَوَابِ</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result marker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الإِنْجَازُ السَّابِقُ</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earlier achievement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مُشَتِّتًا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distractor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50</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strategy step?</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with eyes closed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the questions and identify the type of information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everything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not rely on the particle alone for a conditional?</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never used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particle is silent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t>
            </a:r>
            <a:pPr algn="l" indent="0" marL="0">
              <a:buNone/>
            </a:pPr>
            <a:r>
              <a:rPr lang="ar-SA" altLang="en-US" sz="1650" dirty="0">
                <a:solidFill>
                  <a:srgbClr val="1F2A37"/>
                </a:solidFill>
                <a:latin typeface="Amiri" pitchFamily="2" charset="-78"/>
                <a:ea typeface="Amiri" pitchFamily="2" charset="-78"/>
                <a:cs typeface="Amiri" pitchFamily="2" charset="-78"/>
              </a:rPr>
              <a:t>إِذَا</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لَوْ</a:t>
            </a:r>
            <a:pPr algn="l" indent="0" marL="0">
              <a:buNone/>
            </a:pPr>
            <a:r>
              <a:rPr lang="en-US" sz="1250" dirty="0">
                <a:solidFill>
                  <a:srgbClr val="1F2A37"/>
                </a:solidFill>
                <a:latin typeface="Calibri" pitchFamily="34" charset="0"/>
                <a:cs typeface="Amiri" pitchFamily="2" charset="-78"/>
              </a:rPr>
              <a:t> are followed by a past verb</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reliable signal of the conditional type?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result marker (</a:t>
            </a:r>
            <a:pPr algn="l" indent="0" marL="0">
              <a:buNone/>
            </a:pPr>
            <a:r>
              <a:rPr lang="ar-SA" altLang="en-US" sz="1650" dirty="0">
                <a:solidFill>
                  <a:srgbClr val="1F2A37"/>
                </a:solidFill>
                <a:latin typeface="Amiri" pitchFamily="2" charset="-78"/>
                <a:ea typeface="Amiri" pitchFamily="2" charset="-78"/>
                <a:cs typeface="Amiri" pitchFamily="2" charset="-78"/>
              </a:rPr>
              <a:t>سَـ / لَـ</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name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question number</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reported speech convey?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the speaker's own view</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view of another source, not the speaker's own</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often a distractor?</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general answer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specific answer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numbered answer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50</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strategy step?</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Listen with eyes closed</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Read the questions and identify the type of information</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everything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اقْرَأِ الأَسْئِلَةَ أَوَّلًا وَحَدِّدْ نَوْعَ المَعْلُومَةِ.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not rely on the particle alone for a conditional?</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never used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particle is silent</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Both </a:t>
            </a:r>
            <a:pPr algn="l" indent="0" marL="0">
              <a:buNone/>
            </a:pPr>
            <a:r>
              <a:rPr lang="ar-SA" altLang="en-US" sz="1500" b="1" dirty="0">
                <a:solidFill>
                  <a:srgbClr val="1F2A37"/>
                </a:solidFill>
                <a:latin typeface="Amiri" pitchFamily="2" charset="-78"/>
                <a:ea typeface="Amiri" pitchFamily="2" charset="-78"/>
                <a:cs typeface="Amiri" pitchFamily="2" charset="-78"/>
              </a:rPr>
              <a:t>إِذَا</a:t>
            </a:r>
            <a:pPr algn="l" indent="0" marL="0">
              <a:buNone/>
            </a:pPr>
            <a:r>
              <a:rPr lang="en-US" sz="1150" b="1" dirty="0">
                <a:solidFill>
                  <a:srgbClr val="1F2A37"/>
                </a:solidFill>
                <a:latin typeface="Calibri" pitchFamily="34" charset="0"/>
                <a:cs typeface="Amiri" pitchFamily="2" charset="-78"/>
              </a:rPr>
              <a:t> and </a:t>
            </a:r>
            <a:pPr algn="l" indent="0" marL="0">
              <a:buNone/>
            </a:pPr>
            <a:r>
              <a:rPr lang="ar-SA" altLang="en-US" sz="1500" b="1" dirty="0">
                <a:solidFill>
                  <a:srgbClr val="1F2A37"/>
                </a:solidFill>
                <a:latin typeface="Amiri" pitchFamily="2" charset="-78"/>
                <a:ea typeface="Amiri" pitchFamily="2" charset="-78"/>
                <a:cs typeface="Amiri" pitchFamily="2" charset="-78"/>
              </a:rPr>
              <a:t>لَوْ</a:t>
            </a:r>
            <a:pPr algn="l" indent="0" marL="0">
              <a:buNone/>
            </a:pPr>
            <a:r>
              <a:rPr lang="en-US" sz="1150" b="1" dirty="0">
                <a:solidFill>
                  <a:srgbClr val="1F2A37"/>
                </a:solidFill>
                <a:latin typeface="Calibri" pitchFamily="34" charset="0"/>
                <a:cs typeface="Amiri" pitchFamily="2" charset="-78"/>
              </a:rPr>
              <a:t> are followed by a past verb</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كِلَا «إِذَا» وَ«لَوْ» يَتْبَعُهُمَا فِعْلٌ مَاضٍ.</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reliable signal of the conditional type?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result marker (</a:t>
            </a:r>
            <a:pPr algn="l" indent="0" marL="0">
              <a:buNone/>
            </a:pPr>
            <a:r>
              <a:rPr lang="ar-SA" altLang="en-US" sz="1650" b="1" dirty="0">
                <a:solidFill>
                  <a:srgbClr val="1F2A37"/>
                </a:solidFill>
                <a:latin typeface="Amiri" pitchFamily="2" charset="-78"/>
                <a:ea typeface="Amiri" pitchFamily="2" charset="-78"/>
                <a:cs typeface="Amiri" pitchFamily="2" charset="-78"/>
              </a:rPr>
              <a:t>سَـ / لَـ</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name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question number</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المُؤَشِّرُ الأَوْثَقُ هُوَ عَلَامَةُ الجَوَابِ.</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reported speech convey?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the speaker's own view</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view of another source, not the speaker's own</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يَنْقُلُ رَأْيَ مَصْدَرٍ آخَرَ لَا رَأْيَ المُتَحَدِّثِ.</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often a distractor?</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general answer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specific answer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numbered answer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الإِجَابَةَ العَامَّةَ كَثِيرًا مَا تَكُونُ مُشَتِّتًا.</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50</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Listening Mission — Marker, Source and Sequence</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a:t>
            </a:r>
            <a:pPr algn="l" indent="0" marL="0">
              <a:buNone/>
            </a:pPr>
            <a:r>
              <a:rPr lang="ar-SA" altLang="en-US" sz="1650" b="1" dirty="0">
                <a:solidFill>
                  <a:srgbClr val="1B3B6F"/>
                </a:solidFill>
                <a:latin typeface="Amiri" pitchFamily="2" charset="-78"/>
                <a:ea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result signals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conditional</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signals …</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plan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Reliability: the best signal of the type is …</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particle alone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loudness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result marker</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the past perfect?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Source: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 إِنَّ</a:t>
            </a:r>
            <a:pPr algn="l" indent="0" marL="0">
              <a:buNone/>
            </a:pPr>
            <a:r>
              <a:rPr lang="en-US" sz="1250" b="1" dirty="0">
                <a:solidFill>
                  <a:srgbClr val="1B3B6F"/>
                </a:solidFill>
                <a:latin typeface="Calibri" pitchFamily="34" charset="0"/>
                <a:cs typeface="Amiri" pitchFamily="2" charset="-78"/>
              </a:rPr>
              <a:t> …» gives …</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cited view</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own view</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الرَّبِيعَ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50</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a:t>
            </a:r>
            <a:pPr algn="l" indent="0" marL="0">
              <a:buNone/>
            </a:pPr>
            <a:r>
              <a:rPr lang="ar-SA" altLang="en-US" sz="1650" b="1" dirty="0">
                <a:solidFill>
                  <a:srgbClr val="1B3B6F"/>
                </a:solidFill>
                <a:latin typeface="Amiri" pitchFamily="2" charset="-78"/>
                <a:ea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result signals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counterfactual</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real conditional</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signals 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result signals …</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counterfactual</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real plan</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signals a counterfactual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conditional.</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Reliability: the best signal of the type is …</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particle alone</a:t>
            </a:r>
            <a:endParaRPr lang="en-US" sz="12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loudness</a:t>
            </a:r>
            <a:endParaRPr lang="en-US" sz="12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result marker</a:t>
            </a:r>
            <a:endParaRPr lang="en-US" sz="12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particles take a past verb, so the result marker is reliable.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the past perfect?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marks the past perfect.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Source: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 إِنَّ</a:t>
            </a:r>
            <a:pPr algn="l" indent="0" marL="0">
              <a:buNone/>
            </a:pPr>
            <a:r>
              <a:rPr lang="en-US" sz="1250" b="1" dirty="0">
                <a:solidFill>
                  <a:srgbClr val="1B3B6F"/>
                </a:solidFill>
                <a:latin typeface="Calibri" pitchFamily="34" charset="0"/>
                <a:cs typeface="Amiri" pitchFamily="2" charset="-78"/>
              </a:rPr>
              <a:t> …» gives …</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cited view</a:t>
            </a:r>
            <a:endParaRPr lang="en-US" sz="125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own view</a:t>
            </a:r>
            <a:endParaRPr lang="en-US" sz="125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reporting verb cites another source.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الدَّلِيلُ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الرَّبِيعَ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50</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P3-L11 · Consolidation — Speaking Preparation and Grammar Mastery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لَامُ الجَوَابِ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la- of the result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الفِعْلُ المَنْصُوبُ بَعْدَ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subjunctive after 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الطَّلَاقَةُ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لَعِبُ الأَدْوَارِ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role play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اسْتِشَارَةُ وَكَالَةِ سَفَرٍ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travel-agency consultation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 30-second answer: tell me about a trip — and one thing you would have done differently.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زُرْتُ ______ ، وَلَوْ بَقِيتُ أَطْوَلَ لَرَأَيْتُ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12 core words; annotate five listening questions with sa- or la-.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50–60-word note on which structure each question targeted.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explanation of your listening strategy.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50</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P3-L11 · Consolidation — Speaking Preparation and Grammar Mastery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idhā and law both take a past verb — wait for the result: sa- = real, la- / lamā = unreal — qāla … inna is someone else’s view — kāna qad is earlier — and the specific detail beats the general distractor.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P3-L10 · Listening — Travel, Tourism and Transport Texts</dc:title>
  <dc:subject>PptxGenJS Presentation</dc:subject>
  <dc:creator>Al Madina Online School · Arabic Department</dc:creator>
  <cp:lastModifiedBy>Al Madina Online School · Arabic Department</cp:lastModifiedBy>
  <cp:revision>1</cp:revision>
  <dcterms:created xsi:type="dcterms:W3CDTF">2026-10-11T06:43:13Z</dcterms:created>
  <dcterms:modified xsi:type="dcterms:W3CDTF">2026-10-11T06:43:13Z</dcterms:modified>
</cp:coreProperties>
</file>