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P3-L02. The website lesson “Planning a Trip — Booking, Itineraries and Travel Documents”: vocabulary, grammar rules and quiz, patterns, common mistakes, sorter, listening, reading, speaking prompts and model, writing task and model, differentiation, final check and the lesson mission. Picture match: website visual game “Planning a Trip — Booking, Itineraries and Travel Documents”.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yaḥjiz and yuqīm fī in the present, past and future (website Core). Develop: add a past perfect and a Type 1 conditional. Stretch: a full itinerary day with four structures, including a Type 2 counterfactual (the website 100–110-word itinerary).
• Syllabus focus: يَحْجِزُ and يُقِيمُ are on the Cambridge 0544 verb list — today students meet them in EVERY tense, so they never freeze on them in an exam.
• Watch the hollow verb: أُقِيمُ (present, long ī) but أَقَمْتُ (past with -tu, SHORT a) and أَقَامَ / أَقَامَتْ (long ā). Students often write أَقَامْتُ ✗.
• Real-life link: many families plan Umrah or visits to relatives — let students plan a real trip if they wish, or a dream one (Marrakesh, Oman, Istanbul).
• Grammar links: past perfect (P2-L03) · Type 1 (P1-L03) · Type 2 (P2-L06) · reported speech (P2-L02) · li- + subjunctive (D units).
• TEACHER-WRITTEN ITEMS: waṣl alif shown without a kasra; rule headings and formulas in English and transliteration; sorter headings in English; the accommodation table and the purpose / advice table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P3-L01. Question 4 retrieves yaṣil bayna (P3-L01); question 5 the past perfect (P2-L03) — today kuntu qad opens every itinerary.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verbs, every tense — and yuqīm always takes fī before the place you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اقامت، مقیم، مسافر and جدول come from the same roots — يُقِيمُ فِي is the verb behind اقامت. CAREFUL: Urdu وصول usually means “received” (payment received); in Arabic الوُصُولُ is arrival (صَالَةُ الوُصُولِ = the arrivals hall).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Booking and documents (website vocabulary (1 of 2)). Hear → Say → See → Use. Transliteration is printed for Core students (cover it for Develop/Stretch).
Booking and documents: the nouns of the trip. يَحْجِزُ (book) takes a direct object: أَحْجِزُ تَذْكِرَةً · حَجَزْتُ فُنْدُقًا.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Booking and documents (website vocabulary (2 of 2)). Hear → Say → See → Use. Transliteration is printed for Core students (cover it for Develop/Stretch).
Booking and documents: the nouns of the trip. يَحْجِزُ (book) takes a direct object: أَحْجِزُ تَذْكِرَةً · حَجَزْتُ فُنْدُقًا.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Accommodation and the airport (website vocabulary (1 of 2)). Hear → Say → See → Use. Transliteration is printed for Core students (cover it for Develop/Stretch).
Accommodation and the airport: يُقِيمُ is FIXED with فِي before the place you stay — the formal choice, not يَسْكُنُ.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Accommodation and the airport (website vocabulary (2 of 2)). Hear → Say → See → Use. Transliteration is printed for Core students (cover it for Develop/Stretch).
FLEX: teach if time allows; otherwise these are on the website vocabulary tab for homework.
Accommodation and the airport: يُقِيمُ is FIXED with فِي before the place you stay — the formal choice, not يَسْكُنُ.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2028 verbs across tenses (website vocabulary (1 of 2)). Hear → Say → See → Use. Transliteration is printed for Core students (cover it for Develop/Stretch).
FLEX: teach if time allows; otherwise these are on the website vocabulary tab for homework.
The two syllabus verbs across tenses — each card gives the “she” form too. Hollow verb alert: أَقَمْتُ (short a) but أَقَامَتْ (long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2028 verbs across tenses (website vocabulary (2 of 2)). Hear → Say → See → Use. Transliteration is printed for Core students (cover it for Develop/Stretch).
FLEX: teach if time allows; otherwise these are on the website vocabulary tab for homework.
The two syllabus verbs across tenses — each card gives the “she” form too. Hollow verb alert: أَقَمْتُ (short a) but أَقَامَتْ (long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“Present, past, future” and “Past perfect”, the website table and teaching point “يَحْجِزُ and يُقِيمُ in every tense”.
Website quiz 1–3 and 7 test exactly these forms. Common slip: أَقَامْتُ ✗ → أَقَمْتُ (the long ā shortens before a consonant ending).
For “we”: نَحْجِزُ · حَجَزْنَا · سَنَحْجِزُ · كُنَّا قَدْ حَجَزْنَا · نُقِيمُ · أَقَمْنَا.
Drill: teacher says a time word (أَمْسِ · الآنَ · غَدًا · قَبْلَ شَهْرٍ …) and a person; students give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4 (يُقِيمُ فِي) and teaching point “يُقِيمُ takes فِي before accommodation … the formal choice, not يَسْكُنُ”. Rows from the website listening, reading and patterns.
After فِي every adjective is genitive too: فِي فُنْدُقٍ قَرِيبٍ · فِي شَقَّةٍ مَفْرُوشَةٍ قَرِيبَةٍ.
A riad (رِيَاضٌ) is a traditional Moroccan house with an inner courtyard — the website listening is set in Marrakesh.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“Type 1 conditional” and “Type 2”, teaching point 1. Card 2 from the website listening; card 3 from the website reading (لَوْ كُنْتُ قَدْ حَجَزْتُ قَبْلَ العُطْلَةِ الرَّسْمِيَّةِ، لَحَصَلْتُ …).
Website mistake 3: لَوْ حَجَزْتُ …، سَيَكُونُ ✗ → لَكَانَ.
Card 1 = advice to “you” (ḥajazta, -ta); cards 2–3 = “I” (ḥajaztu, -tu). Point out the one-letter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purpose clauses from the website listening (لِأَحْصُلَ · لِأَتَجَنَّبَ) and the reported recommendation from the website listening / reading (أَشَارَ … إِلَى أَنَّهُ إِذَا …); row 4 is website quiz 8 (“Which sentence packs three structures?”).
li- + subjunctive (-a): لِأَحْصُلَ · لِأَتَجَنَّبَ · لِأُوَفِّرَ.
أَنَّهُ here is the “pronoun of the matter” (ضَمِيرُ الشَّأْنِ): anna cannot be followed directly by idhā, so it takes -hu.
Website challenge: “Write يَحْجِزُ in all four tenses and in both conditional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“يَحْجِزُ and يُقِيمُ conjugated across the present, past, future, past perfect and both conditional types.”
• Present, past, future: The core three tenses.
• Past perfect: An action completed before another past point.
• Type 1 conditional: A real booking outcome.
• Type 2 and yuqīm fī: A counterfactual booking, and staying at accommodation.
Website common error: Dropping the فِي after يُقِيمُ, or using a present verb after إِذَا / لَوْ. يُقِيمُ takes فِي, and both conditionals take a past-form verb in the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BEFORE the trip: kuntu qad ḥajaztu. Where do I stay? yuqīm needs FĪ. Add the guide’s advice: ashāra ilā anna-hu + idhā … sa-. Finish with a regret: law kuntu qad ḥajaztu … la-ḥaṣaltu.”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Planning a Trip — Booking, Itineraries and Travel Documents”)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move each sentence through the tenses: حَجَزْتُ تَذْكِرَةَ الطَّائِرَةِ → كُنْتُ قَدْ حَجَزْتُ … قَبْلَ شَهْرٍ → سَأَحْجِزُ … · حَجَزْتُ فُنْدُقًا → سَأُقِيمُ فِي فُنْدُقٍ لِثَلَاثِ لَيَالٍ.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Planning a Trip — Booking, Itineraries and Travel Documents”)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move each sentence through the tenses: حَجَزْتُ تَذْكِرَةَ الطَّائِرَةِ → كُنْتُ قَدْ حَجَزْتُ … قَبْلَ شَهْرٍ → سَأَحْجِزُ … · حَجَزْتُ فُنْدُقًا → سَأُقِيمُ فِي فُنْدُقٍ لِثَلَاثِ لَيَالٍ.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an itinerary day from a past-perfect opening, an accommodation plan and a conditional.” Website feedback: any three different combinations work.
Core: read row 1 across. Develop: mix rows and change one verb to “she” (كَانَتْ قَدْ حَجَزَتْ · سَتُقِيمُ). Stretch: write your own column 3 with law kuntu qad …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every card into the “she” form: تَحْجِزُ · تُقِيمُ فِي · حَجَزَتْ · كَانَتْ قَدْ حَجَزَتْ · أَقَامَتْ فِي · سَتَحْجِزُ · إِذَا حَجَزَتْ سَتَحْصُلُ · لَوْ حَجَزَتْ لَكَانَ.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every card into the “she” form: تَحْجِزُ · تُقِيمُ فِي · حَجَزَتْ · كَانَتْ قَدْ حَجَزَتْ · أَقَامَتْ فِي · سَتَحْجِزُ · إِذَا حَجَزَتْ سَتَحْصُلُ · لَوْ حَجَزَتْ لَكَانَ.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the tense of every form of yaḥjiz and yuqīm you hear.
Listen 1: just listen. Listen 2: note answers. Then chat the letters.
Support: after the second listening, show the read-along slide (Arabic + English, line by line) for Core students.
SCRIPT (read aloud):
يَقُولُ المُسَافِرُ: كُنْتُ قَدْ حَجَزْتُ رِحْلَتِي إِلَى مَرَّاكُشَ قَبْلَ شَهْرَيْنِ، وَكُنْتُ قَدْ جَدَّدْتُ جَوَازَ سَفَرِي. أَحْجِزُ دَائِمًا تَذَاكِرِي مُبَكِّرًا لِأَحْصُلَ عَلَى الدَّرَجَةِ الاقْتِصَادِيَّةِ بِسِعْرٍ مُنَاسِبٍ. سَأُقِيمُ فِي رِيَاضٍ تَقْلِيدِيٍّ فِي المَدِينَةِ القَدِيمَةِ. وَأَشَارَ دَلِيلُ السَّفَرِ إِلَى أَنَّهُ إِذَا وَصَلْتُ مُبَكِّرًا، سَأَزُورُ سُوقَ الجُدَيْدَةِ قَبْلَ الزِّحَامِ. أَمَّا التَّأْشِيرَةُ فَقَدْ حَصَلْتُ عَلَيْهَا إِلِكْتْرُونِيًّا. وَلَوْ حَجَزْتُ فِي فُنْدُقٍ حَدِيثٍ خَارِجَ المَدِينَةِ، لَفَقَدْتُ سِحْرَ الأَحْيَاءِ القَدِيمَةِ. سَأَحْمِلُ حَقِيبَةً وَاحِدَةً فَقَطْ لِأَتَجَنَّبَ رُسُومَ الأَمْتِعَةِ الزَّائِدَةِ.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حَجَزْتَ فِي مَكَانٍ آخَرَ؟ (Type 2)
B: لَوْ حَجَزْتُ فِي فُنْدُقٍ حَدِيثٍ، لَفَقَدْتُ سِحْرَ المَدِينَةِ القَدِيمَةِ. (Type 2 counterfactual)
Website prompts and model. Pairs: travel agent / traveller. The agent asks; the traveller answers with the right tense each time. To a girl: حَجَزْتِ · رِحْلَتَكِ · سَتُقِيمِينَ · سَجَّلْتِ.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يَحْجِزُ and يُقِيمُ in the present, past and future. · Develop — Add a past perfect and a Type 1 conditional. · Stretch — Write a full itinerary day using four structures, including a Type 2 counterfactual.
Website writing task (Stretch): Write a day-by-day itinerary of one hundred to one hundred and ten words for a trip to an Arab city. Open with a past perfect (كُنْتُ قَدْ حَجَزْتُ), use يُقِيمُ فِي, at least one Type 1 conditional, a reported recommendation, and one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حَجَزْتُ · كُنْتُ قَدْ جَدَّدْتُ · سَأُقِيمُ فِي رِيَاضٍ · أَشَارَ … إِلَى أَنَّهُ إِذَا وَصَلْتُ … سَأَزُورُ · سَأَحْجِزُ جَوْلَةً · إِذَا كَانَ الطَّقْسُ … سَأَتَنَزَّهُ · سَأُقِيمُ لَيْلَةً · لَوْ كُنْتُ قَدْ حَجَزْتُ … لَحَصَلْتُ.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(P3-L03 · Describing Past Holidays — Advanced Narrative) will spend class time USING this language, so students prepare it tonight — short, simple, easy to access (school guidance: “Simple, Short, Interesting, Relevant, Easy to access”). The five words come from the website P3-L03 vocabulary (narrating past holidays).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Planning a Trip — Booking, Itineraries and Travel Documents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التَّخْطِيطُ لِرِحْلَةٍ — الحَجْزُ وَالوَثَائِقُ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 detailed trip with the syllabus verbs yaḥjiz (book) and yuqīm fī (stay at) in every tense — present, past, future, past perfect — and in both conditionals, then write a day-by-day itinerary.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P3-L02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yaḥjiz and yuqīm fī in every tense, accommodation, both conditionals, purpose li-.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the booking pictures, build an itinerary day, sort the tenses.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جَدْوَلُ رِحْلَةٍ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 timetable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itinerary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ticket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تَأْشِيرَةٌ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visa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insurance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تَسْجِيلُ الوُصُولِ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arrivals hall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يَصِلُ المِتْرُو إِلَى المَرْكَزِ وَالمَطَارِ.</a:t>
            </a:r>
            <a:endParaRPr lang="ar-SA" sz="19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يَصِلُ المِتْرُو المَرْكَزَ وَالمَطَارَ.</a:t>
            </a:r>
            <a:endParaRPr lang="ar-SA" sz="19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يَصِلُ المِتْرُو بَيْنَ المَرْكَزِ وَالمَطَارِ.</a:t>
            </a:r>
            <a:endParaRPr lang="ar-SA" sz="19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كُنْتُ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جَوَازَ سَفَرِي قَبْلَ الرِّحْلَةِ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جَدَّدْتُ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أُجَدِّدُ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سَأُجَدِّدُ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جَدْوَلُ رِحْلَةٍ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train timetable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travel itinerary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ticket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تَأْشِيرَةٌ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visa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passport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insurance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تَسْجِيلُ الوُصُولِ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arrivals hall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يَصِلُ المِتْرُو إِلَى المَرْكَزِ وَالمَطَارِ.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يَصِلُ المِتْرُو المَرْكَزَ وَالمَطَارَ.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يَصِلُ المِتْرُو بَيْنَ المَرْكَزِ وَالمَطَارِ.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P3-L01: yaṣil bayna.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كُنْتُ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جَوَازَ سَفَرِي قَبْلَ الرِّحْلَةِ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جَدَّدْتُ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أُجَدِّدُ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سَأُجَدِّدُ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P2-L03: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Two verbs, every tense — and yuqīm always takes fī before the place you stay.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أَحْجِزُ · حَجَزْتُ · سَأَحْجِزُ · كُنْتُ قَدْ حَجَزْتُ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أُقِيمُ فِي</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booking, document and airport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yaḥjiz and yuqīm in the present, past, future and past perfect.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them in both conditional types.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day-by-day itinerary that combines the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booking and document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yaḥjiz and yuqīm fī in three tenses.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past perfect kuntu qad ḥajaztu.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booking tip with idhā … sa-.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regret a booking with law … 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itinerary day.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Booking and documents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Accommodation and the airport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2028 verbs across tenses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إِقَامَةٌ · مُقِيمٌ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‎اقامت · مقیم‎ </a:t>
            </a:r>
            <a:pPr indent="0" marL="0">
              <a:buNone/>
            </a:pPr>
            <a:r>
              <a:rPr lang="en-US" sz="950" b="1" dirty="0">
                <a:solidFill>
                  <a:srgbClr val="2E8B57"/>
                </a:solidFill>
                <a:latin typeface="Calibri" pitchFamily="34" charset="0"/>
                <a:cs typeface="Amiri" pitchFamily="2" charset="-78"/>
              </a:rPr>
              <a:t> iqāmat · muqīm · a stay, residence · a resident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‎مسافر‎ </a:t>
            </a:r>
            <a:pPr indent="0" marL="0">
              <a:buNone/>
            </a:pPr>
            <a:r>
              <a:rPr lang="en-US" sz="950" b="1" dirty="0">
                <a:solidFill>
                  <a:srgbClr val="2E8B57"/>
                </a:solidFill>
                <a:latin typeface="Calibri" pitchFamily="34" charset="0"/>
                <a:cs typeface="Amiri" pitchFamily="2" charset="-78"/>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جَدْوَلٌ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‎جدول‎ </a:t>
            </a:r>
            <a:pPr indent="0" marL="0">
              <a:buNone/>
            </a:pPr>
            <a:r>
              <a:rPr lang="en-US" sz="950" b="1" dirty="0">
                <a:solidFill>
                  <a:srgbClr val="2E8B57"/>
                </a:solidFill>
                <a:latin typeface="Calibri" pitchFamily="34" charset="0"/>
                <a:cs typeface="Amiri" pitchFamily="2" charset="-78"/>
              </a:rPr>
              <a:t> jadwal · a table, schedule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وُصُولٌ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‎وصول‎ </a:t>
            </a:r>
            <a:pPr indent="0" marL="0">
              <a:buNone/>
            </a:pPr>
            <a:r>
              <a:rPr lang="en-US" sz="950" b="1" dirty="0">
                <a:solidFill>
                  <a:srgbClr val="2E8B57"/>
                </a:solidFill>
                <a:latin typeface="Calibri" pitchFamily="34" charset="0"/>
                <a:cs typeface="Amiri" pitchFamily="2" charset="-78"/>
              </a:rPr>
              <a:t> wusūl · arrival (Urdu: receipt of something)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‎بیمہ‎ </a:t>
            </a:r>
            <a:pPr indent="0" marL="0">
              <a:buNone/>
            </a:pPr>
            <a:r>
              <a:rPr lang="en-US" sz="950" b="1" dirty="0">
                <a:solidFill>
                  <a:srgbClr val="2E8B57"/>
                </a:solidFill>
                <a:latin typeface="Calibri" pitchFamily="34" charset="0"/>
                <a:cs typeface="Amiri" pitchFamily="2" charset="-78"/>
              </a:rPr>
              <a:t> bīma · insurance (Urdu uses a Persian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Booking and documents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جَدْوَلُ رِحْلَةٍ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travel itinerary</a:t>
            </a:r>
            <a:endParaRPr lang="en-US" sz="1350" dirty="0"/>
          </a:p>
          <a:p>
            <a:pPr indent="0" marL="0">
              <a:buNone/>
            </a:pPr>
            <a:r>
              <a:rPr lang="en-US" sz="1100" i="1" dirty="0">
                <a:solidFill>
                  <a:srgbClr val="5A6472"/>
                </a:solidFill>
                <a:latin typeface="Calibri" pitchFamily="34" charset="0"/>
                <a:cs typeface="Amiri" pitchFamily="2" charset="-78"/>
              </a:rPr>
              <a:t>jad-wa-lu riḥ-la-tin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جَدَاوِلُ رِحْلَاتٍ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حَجْزٌ</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booking, reservation</a:t>
            </a:r>
            <a:endParaRPr lang="en-US" sz="1350" dirty="0"/>
          </a:p>
          <a:p>
            <a:pPr indent="0" marL="0">
              <a:buNone/>
            </a:pPr>
            <a:r>
              <a:rPr lang="en-US" sz="1100" i="1" dirty="0">
                <a:solidFill>
                  <a:srgbClr val="5A6472"/>
                </a:solidFill>
                <a:latin typeface="Calibri" pitchFamily="34" charset="0"/>
                <a:cs typeface="Amiri" pitchFamily="2" charset="-78"/>
              </a:rPr>
              <a:t>ḥaj-zun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حُجُوزَاتٌ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يَحْجِزُ</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books, reserves</a:t>
            </a:r>
            <a:endParaRPr lang="en-US" sz="1350" dirty="0"/>
          </a:p>
          <a:p>
            <a:pPr indent="0" marL="0">
              <a:buNone/>
            </a:pPr>
            <a:r>
              <a:rPr lang="en-US" sz="1100" i="1" dirty="0">
                <a:solidFill>
                  <a:srgbClr val="5A6472"/>
                </a:solidFill>
                <a:latin typeface="Calibri" pitchFamily="34" charset="0"/>
                <a:cs typeface="Amiri" pitchFamily="2" charset="-78"/>
              </a:rPr>
              <a:t>yaḥ-ji-zu</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تَحْجِزُ</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أَحْجِزُ</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تَأْشِيرَةٌ</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visa</a:t>
            </a:r>
            <a:endParaRPr lang="en-US" sz="1350" dirty="0"/>
          </a:p>
          <a:p>
            <a:pPr indent="0" marL="0">
              <a:buNone/>
            </a:pPr>
            <a:r>
              <a:rPr lang="en-US" sz="1100" i="1" dirty="0">
                <a:solidFill>
                  <a:srgbClr val="5A6472"/>
                </a:solidFill>
                <a:latin typeface="Calibri" pitchFamily="34" charset="0"/>
                <a:cs typeface="Amiri" pitchFamily="2" charset="-78"/>
              </a:rPr>
              <a:t>taʾ-shī-ra-tun</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تَأْشِيرَاتٌ</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9" name="Shape 6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جَوَازُ سَفَرٍ</a:t>
            </a:r>
            <a:endParaRPr lang="ar-SA" sz="3000" dirty="0"/>
          </a:p>
        </p:txBody>
      </p:sp>
      <p:sp>
        <p:nvSpPr>
          <p:cNvPr id="74" name="Text 7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passport</a:t>
            </a:r>
            <a:endParaRPr lang="en-US" sz="1350" dirty="0"/>
          </a:p>
          <a:p>
            <a:pPr indent="0" marL="0">
              <a:buNone/>
            </a:pPr>
            <a:r>
              <a:rPr lang="en-US" sz="1100" i="1" dirty="0">
                <a:solidFill>
                  <a:srgbClr val="5A6472"/>
                </a:solidFill>
                <a:latin typeface="Calibri" pitchFamily="34" charset="0"/>
                <a:cs typeface="Amiri" pitchFamily="2" charset="-78"/>
              </a:rPr>
              <a:t>ja-wā-zu sa-fa-rin</a:t>
            </a:r>
            <a:endParaRPr lang="en-US" sz="1350" dirty="0"/>
          </a:p>
        </p:txBody>
      </p:sp>
      <p:sp>
        <p:nvSpPr>
          <p:cNvPr id="75" name="Shape 7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جَوَازَاتُ سَفَرٍ</a:t>
            </a:r>
            <a:endParaRPr lang="ar-SA" sz="150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Booking and documents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تَأْمِينُ سَفَرٍ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 insurance</a:t>
            </a:r>
            <a:endParaRPr lang="en-US" sz="1350" dirty="0"/>
          </a:p>
          <a:p>
            <a:pPr indent="0" marL="0">
              <a:buNone/>
            </a:pPr>
            <a:r>
              <a:rPr lang="en-US" sz="1100" i="1" dirty="0">
                <a:solidFill>
                  <a:srgbClr val="5A6472"/>
                </a:solidFill>
                <a:latin typeface="Calibri" pitchFamily="34" charset="0"/>
                <a:cs typeface="Amiri" pitchFamily="2" charset="-78"/>
              </a:rPr>
              <a:t>taʾ-mī-nu sa-fa-rin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تَسْجِيلُ الوُصُولِ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check-in</a:t>
            </a:r>
            <a:endParaRPr lang="en-US" sz="1350" dirty="0"/>
          </a:p>
          <a:p>
            <a:pPr indent="0" marL="0">
              <a:buNone/>
            </a:pPr>
            <a:r>
              <a:rPr lang="en-US" sz="1100" i="1" dirty="0">
                <a:solidFill>
                  <a:srgbClr val="5A6472"/>
                </a:solidFill>
                <a:latin typeface="Calibri" pitchFamily="34" charset="0"/>
                <a:cs typeface="Amiri" pitchFamily="2" charset="-78"/>
              </a:rPr>
              <a:t>tas-jī-lu al-wu-ṣū-li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البَوَّابَةُ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gate</a:t>
            </a:r>
            <a:endParaRPr lang="en-US" sz="1350" dirty="0"/>
          </a:p>
          <a:p>
            <a:pPr indent="0" marL="0">
              <a:buNone/>
            </a:pPr>
            <a:r>
              <a:rPr lang="en-US" sz="1100" i="1" dirty="0">
                <a:solidFill>
                  <a:srgbClr val="5A6472"/>
                </a:solidFill>
                <a:latin typeface="Calibri" pitchFamily="34" charset="0"/>
                <a:cs typeface="Amiri" pitchFamily="2" charset="-78"/>
              </a:rPr>
              <a:t>al-baw-wā-ba-tu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وَزْنُ الأَمْتِعَةِ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baggage weight</a:t>
            </a:r>
            <a:endParaRPr lang="en-US" sz="1350" dirty="0"/>
          </a:p>
          <a:p>
            <a:pPr indent="0" marL="0">
              <a:buNone/>
            </a:pPr>
            <a:r>
              <a:rPr lang="en-US" sz="1100" i="1" dirty="0">
                <a:solidFill>
                  <a:srgbClr val="5A6472"/>
                </a:solidFill>
                <a:latin typeface="Calibri" pitchFamily="34" charset="0"/>
                <a:cs typeface="Amiri" pitchFamily="2" charset="-78"/>
              </a:rPr>
              <a:t>waz-nu al-am-ti-ʿa-ti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Accommodation and the airport (1 of 2)</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يُقِيمُ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stays at</a:t>
            </a:r>
            <a:endParaRPr lang="en-US" sz="1350" dirty="0"/>
          </a:p>
          <a:p>
            <a:pPr indent="0" marL="0">
              <a:buNone/>
            </a:pPr>
            <a:r>
              <a:rPr lang="en-US" sz="1100" i="1" dirty="0">
                <a:solidFill>
                  <a:srgbClr val="5A6472"/>
                </a:solidFill>
                <a:latin typeface="Calibri" pitchFamily="34" charset="0"/>
                <a:cs typeface="Amiri" pitchFamily="2" charset="-78"/>
              </a:rPr>
              <a:t>yu-qī-mu fī</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تُقِيمُ فِي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أُقِيمُ فِي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فُنْدُقٌ بِخَمْسِ نُجُومٍ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five-star hotel</a:t>
            </a:r>
            <a:endParaRPr lang="en-US" sz="1350" dirty="0"/>
          </a:p>
          <a:p>
            <a:pPr indent="0" marL="0">
              <a:buNone/>
            </a:pPr>
            <a:r>
              <a:rPr lang="en-US" sz="1100" i="1" dirty="0">
                <a:solidFill>
                  <a:srgbClr val="5A6472"/>
                </a:solidFill>
                <a:latin typeface="Calibri" pitchFamily="34" charset="0"/>
                <a:cs typeface="Amiri" pitchFamily="2" charset="-78"/>
              </a:rPr>
              <a:t>fun-du-qun bi-kham-si nu-jū-min</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فَنَادِقُ بِخَمْسِ نُجُومٍ</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شَقَّةٌ مَفْرُوشَةٌ</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furnished apartment</a:t>
            </a:r>
            <a:endParaRPr lang="en-US" sz="1350" dirty="0"/>
          </a:p>
          <a:p>
            <a:pPr indent="0" marL="0">
              <a:buNone/>
            </a:pPr>
            <a:r>
              <a:rPr lang="en-US" sz="1100" i="1" dirty="0">
                <a:solidFill>
                  <a:srgbClr val="5A6472"/>
                </a:solidFill>
                <a:latin typeface="Calibri" pitchFamily="34" charset="0"/>
                <a:cs typeface="Amiri" pitchFamily="2" charset="-78"/>
              </a:rPr>
              <a:t>shaq-qa-tun maf-rū-sha-tun</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شُقَقٌ مَفْرُوشَةٌ</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صَالَةُ المُغَادَرَةِ</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departure lounge</a:t>
            </a:r>
            <a:endParaRPr lang="en-US" sz="1350" dirty="0"/>
          </a:p>
          <a:p>
            <a:pPr indent="0" marL="0">
              <a:buNone/>
            </a:pPr>
            <a:r>
              <a:rPr lang="en-US" sz="1100" i="1" dirty="0">
                <a:solidFill>
                  <a:srgbClr val="5A6472"/>
                </a:solidFill>
                <a:latin typeface="Calibri" pitchFamily="34" charset="0"/>
                <a:cs typeface="Amiri" pitchFamily="2" charset="-78"/>
              </a:rPr>
              <a:t>ṣā-la-tu al-mu-ghā-da-ra-ti</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صَالَاتُ المُغَادَرَةِ</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Accommodation and the airport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صَالَةُ الوُصُولِ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arrivals hall</a:t>
            </a:r>
            <a:endParaRPr lang="en-US" sz="1350" dirty="0"/>
          </a:p>
          <a:p>
            <a:pPr indent="0" marL="0">
              <a:buNone/>
            </a:pPr>
            <a:r>
              <a:rPr lang="en-US" sz="1100" i="1" dirty="0">
                <a:solidFill>
                  <a:srgbClr val="5A6472"/>
                </a:solidFill>
                <a:latin typeface="Calibri" pitchFamily="34" charset="0"/>
                <a:cs typeface="Amiri" pitchFamily="2" charset="-78"/>
              </a:rPr>
              <a:t>ṣā-la-tu al-wu-ṣū-li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الدَّرَجَةُ الاقْتِصَادِيَّةُ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economy class</a:t>
            </a:r>
            <a:endParaRPr lang="en-US" sz="1350" dirty="0"/>
          </a:p>
          <a:p>
            <a:pPr indent="0" marL="0">
              <a:buNone/>
            </a:pPr>
            <a:r>
              <a:rPr lang="en-US" sz="1100" i="1" dirty="0">
                <a:solidFill>
                  <a:srgbClr val="5A6472"/>
                </a:solidFill>
                <a:latin typeface="Calibri" pitchFamily="34" charset="0"/>
                <a:cs typeface="Amiri" pitchFamily="2" charset="-78"/>
              </a:rPr>
              <a:t>ad-da-ra-ja-tu alq-ti-ṣā-diy-ya-tu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مَوْعِدُ القِيَامِ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departure time</a:t>
            </a:r>
            <a:endParaRPr lang="en-US" sz="1350" dirty="0"/>
          </a:p>
          <a:p>
            <a:pPr indent="0" marL="0">
              <a:buNone/>
            </a:pPr>
            <a:r>
              <a:rPr lang="en-US" sz="1100" i="1" dirty="0">
                <a:solidFill>
                  <a:srgbClr val="5A6472"/>
                </a:solidFill>
                <a:latin typeface="Calibri" pitchFamily="34" charset="0"/>
                <a:cs typeface="Amiri" pitchFamily="2" charset="-78"/>
              </a:rPr>
              <a:t>maw-ʿi-du al-qi-yā-mi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مُدَّةُ الرِّحْلَةِ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journey duration</a:t>
            </a:r>
            <a:endParaRPr lang="en-US" sz="1350" dirty="0"/>
          </a:p>
          <a:p>
            <a:pPr indent="0" marL="0">
              <a:buNone/>
            </a:pPr>
            <a:r>
              <a:rPr lang="en-US" sz="1100" i="1" dirty="0">
                <a:solidFill>
                  <a:srgbClr val="5A6472"/>
                </a:solidFill>
                <a:latin typeface="Calibri" pitchFamily="34" charset="0"/>
                <a:cs typeface="Amiri" pitchFamily="2" charset="-78"/>
              </a:rPr>
              <a:t>mud-da-tu ar-riḥ-la-ti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The 2028 verbs across tenses (1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حَجَزْتُ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booked</a:t>
            </a:r>
            <a:endParaRPr lang="en-US" sz="1350" dirty="0"/>
          </a:p>
          <a:p>
            <a:pPr indent="0" marL="0">
              <a:buNone/>
            </a:pPr>
            <a:r>
              <a:rPr lang="en-US" sz="1100" i="1" dirty="0">
                <a:solidFill>
                  <a:srgbClr val="5A6472"/>
                </a:solidFill>
                <a:latin typeface="Calibri" pitchFamily="34" charset="0"/>
                <a:cs typeface="Amiri" pitchFamily="2" charset="-78"/>
              </a:rPr>
              <a:t>ḥa-jaz-tu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حَجَزَتْ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أَحْجِزُ</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book</a:t>
            </a:r>
            <a:endParaRPr lang="en-US" sz="1350" dirty="0"/>
          </a:p>
          <a:p>
            <a:pPr indent="0" marL="0">
              <a:buNone/>
            </a:pPr>
            <a:r>
              <a:rPr lang="en-US" sz="1100" i="1" dirty="0">
                <a:solidFill>
                  <a:srgbClr val="5A6472"/>
                </a:solidFill>
                <a:latin typeface="Calibri" pitchFamily="34" charset="0"/>
                <a:cs typeface="Amiri" pitchFamily="2" charset="-78"/>
              </a:rPr>
              <a:t>aḥ-ji-zu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تَحْجِزُ</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سَأَحْجِزُ</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book</a:t>
            </a:r>
            <a:endParaRPr lang="en-US" sz="1350" dirty="0"/>
          </a:p>
          <a:p>
            <a:pPr indent="0" marL="0">
              <a:buNone/>
            </a:pPr>
            <a:r>
              <a:rPr lang="en-US" sz="1100" i="1" dirty="0">
                <a:solidFill>
                  <a:srgbClr val="5A6472"/>
                </a:solidFill>
                <a:latin typeface="Calibri" pitchFamily="34" charset="0"/>
                <a:cs typeface="Amiri" pitchFamily="2" charset="-78"/>
              </a:rPr>
              <a:t>sa-ʾaḥ-ji-zu</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سَتَحْجِزُ</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كُنْتُ قَدْ حَجَزْتُ</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had booked</a:t>
            </a:r>
            <a:endParaRPr lang="en-US" sz="1350" dirty="0"/>
          </a:p>
          <a:p>
            <a:pPr indent="0" marL="0">
              <a:buNone/>
            </a:pPr>
            <a:r>
              <a:rPr lang="en-US" sz="1100" i="1" dirty="0">
                <a:solidFill>
                  <a:srgbClr val="5A6472"/>
                </a:solidFill>
                <a:latin typeface="Calibri" pitchFamily="34" charset="0"/>
                <a:cs typeface="Amiri" pitchFamily="2" charset="-78"/>
              </a:rPr>
              <a:t>kun-tu qad ḥa-jaz-tu</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كَانَتْ قَدْ حَجَزَتْ</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The 2028 verbs across tenses (2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أَقَمْتُ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stayed at</a:t>
            </a:r>
            <a:endParaRPr lang="en-US" sz="1350" dirty="0"/>
          </a:p>
          <a:p>
            <a:pPr indent="0" marL="0">
              <a:buNone/>
            </a:pPr>
            <a:r>
              <a:rPr lang="en-US" sz="1100" i="1" dirty="0">
                <a:solidFill>
                  <a:srgbClr val="5A6472"/>
                </a:solidFill>
                <a:latin typeface="Calibri" pitchFamily="34" charset="0"/>
                <a:cs typeface="Amiri" pitchFamily="2" charset="-78"/>
              </a:rPr>
              <a:t>a-qam-tu fī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أَقَامَتْ فِي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أُقِيمُ فِي</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stay at</a:t>
            </a:r>
            <a:endParaRPr lang="en-US" sz="1350" dirty="0"/>
          </a:p>
          <a:p>
            <a:pPr indent="0" marL="0">
              <a:buNone/>
            </a:pPr>
            <a:r>
              <a:rPr lang="en-US" sz="1100" i="1" dirty="0">
                <a:solidFill>
                  <a:srgbClr val="5A6472"/>
                </a:solidFill>
                <a:latin typeface="Calibri" pitchFamily="34" charset="0"/>
                <a:cs typeface="Amiri" pitchFamily="2" charset="-78"/>
              </a:rPr>
              <a:t>u-qī-mu fī</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تُقِيمُ فِي</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سَأُقِيمُ فِي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stay at</a:t>
            </a:r>
            <a:endParaRPr lang="en-US" sz="1350" dirty="0"/>
          </a:p>
          <a:p>
            <a:pPr indent="0" marL="0">
              <a:buNone/>
            </a:pPr>
            <a:r>
              <a:rPr lang="en-US" sz="1100" i="1" dirty="0">
                <a:solidFill>
                  <a:srgbClr val="5A6472"/>
                </a:solidFill>
                <a:latin typeface="Calibri" pitchFamily="34" charset="0"/>
                <a:cs typeface="Amiri" pitchFamily="2" charset="-78"/>
              </a:rPr>
              <a:t>sa-ʾu-qī-mu fī</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سَتُقِيمُ فِي</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كُنْتُ قَدْ أَقَمْتُ فِي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had stayed at</a:t>
            </a:r>
            <a:endParaRPr lang="en-US" sz="1350" dirty="0"/>
          </a:p>
          <a:p>
            <a:pPr indent="0" marL="0">
              <a:buNone/>
            </a:pPr>
            <a:r>
              <a:rPr lang="en-US" sz="1100" i="1" dirty="0">
                <a:solidFill>
                  <a:srgbClr val="5A6472"/>
                </a:solidFill>
                <a:latin typeface="Calibri" pitchFamily="34" charset="0"/>
                <a:cs typeface="Amiri" pitchFamily="2" charset="-78"/>
              </a:rPr>
              <a:t>kun-tu qad a-qam-tu fī</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كَانَتْ قَدْ أَقَامَتْ فِي</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YAḤJIZ AND YUQĪM IN EVERY TENSE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Book · booked · will book · had booked</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الحَجْزُ وَالإِقَامَةُ فِي كُلِّ الأَزْمِنَةِ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stays at</a:t>
            </a:r>
            <a:endParaRPr lang="en-US" sz="1100" dirty="0"/>
          </a:p>
        </p:txBody>
      </p:sp>
      <p:sp>
        <p:nvSpPr>
          <p:cNvPr id="17" name="Text 14"/>
          <p:cNvSpPr txBox="1"/>
          <p:nvPr/>
        </p:nvSpPr>
        <p:spPr>
          <a:xfrm>
            <a:off x="68397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stay at</a:t>
            </a:r>
            <a:endParaRPr lang="en-US" sz="1100" dirty="0"/>
          </a:p>
        </p:txBody>
      </p:sp>
      <p:sp>
        <p:nvSpPr>
          <p:cNvPr id="18" name="Text 15"/>
          <p:cNvSpPr txBox="1"/>
          <p:nvPr/>
        </p:nvSpPr>
        <p:spPr>
          <a:xfrm>
            <a:off x="4462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books</a:t>
            </a:r>
            <a:endParaRPr lang="en-US" sz="1100" dirty="0"/>
          </a:p>
        </p:txBody>
      </p:sp>
      <p:sp>
        <p:nvSpPr>
          <p:cNvPr id="19" name="Text 16"/>
          <p:cNvSpPr txBox="1"/>
          <p:nvPr/>
        </p:nvSpPr>
        <p:spPr>
          <a:xfrm>
            <a:off x="22677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book</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235440" y="2267712"/>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تُقِيمُ فِي</a:t>
            </a:r>
            <a:endParaRPr lang="ar-SA" sz="2100" dirty="0"/>
          </a:p>
        </p:txBody>
      </p:sp>
      <p:sp>
        <p:nvSpPr>
          <p:cNvPr id="23" name="Text 20"/>
          <p:cNvSpPr txBox="1"/>
          <p:nvPr/>
        </p:nvSpPr>
        <p:spPr>
          <a:xfrm>
            <a:off x="6858000" y="2267712"/>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أُقِيمُ فِي</a:t>
            </a:r>
            <a:endParaRPr lang="ar-SA" sz="2100" dirty="0"/>
          </a:p>
        </p:txBody>
      </p:sp>
      <p:sp>
        <p:nvSpPr>
          <p:cNvPr id="24" name="Text 21"/>
          <p:cNvSpPr txBox="1"/>
          <p:nvPr/>
        </p:nvSpPr>
        <p:spPr>
          <a:xfrm>
            <a:off x="4480560" y="2267712"/>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تَحْجِزُ</a:t>
            </a:r>
            <a:endParaRPr lang="ar-SA" sz="2100" dirty="0"/>
          </a:p>
        </p:txBody>
      </p:sp>
      <p:sp>
        <p:nvSpPr>
          <p:cNvPr id="25" name="Text 22"/>
          <p:cNvSpPr txBox="1"/>
          <p:nvPr/>
        </p:nvSpPr>
        <p:spPr>
          <a:xfrm>
            <a:off x="2286000" y="2267712"/>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أَحْجِزُ</a:t>
            </a:r>
            <a:endParaRPr lang="ar-SA" sz="2100" dirty="0"/>
          </a:p>
        </p:txBody>
      </p:sp>
      <p:sp>
        <p:nvSpPr>
          <p:cNvPr id="26" name="Text 23"/>
          <p:cNvSpPr txBox="1"/>
          <p:nvPr/>
        </p:nvSpPr>
        <p:spPr>
          <a:xfrm>
            <a:off x="56692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235440" y="3054096"/>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أَقَامَتْ فِي</a:t>
            </a:r>
            <a:endParaRPr lang="ar-SA" sz="2100" dirty="0"/>
          </a:p>
        </p:txBody>
      </p:sp>
      <p:sp>
        <p:nvSpPr>
          <p:cNvPr id="31" name="Text 28"/>
          <p:cNvSpPr txBox="1"/>
          <p:nvPr/>
        </p:nvSpPr>
        <p:spPr>
          <a:xfrm>
            <a:off x="6858000" y="3054096"/>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أَقَمْتُ فِي</a:t>
            </a:r>
            <a:endParaRPr lang="ar-SA" sz="2100" dirty="0"/>
          </a:p>
        </p:txBody>
      </p:sp>
      <p:sp>
        <p:nvSpPr>
          <p:cNvPr id="32" name="Text 29"/>
          <p:cNvSpPr txBox="1"/>
          <p:nvPr/>
        </p:nvSpPr>
        <p:spPr>
          <a:xfrm>
            <a:off x="4480560" y="3054096"/>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حَجَزَتْ</a:t>
            </a:r>
            <a:endParaRPr lang="ar-SA" sz="2100" dirty="0"/>
          </a:p>
        </p:txBody>
      </p:sp>
      <p:sp>
        <p:nvSpPr>
          <p:cNvPr id="33" name="Text 30"/>
          <p:cNvSpPr txBox="1"/>
          <p:nvPr/>
        </p:nvSpPr>
        <p:spPr>
          <a:xfrm>
            <a:off x="2286000" y="3054096"/>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حَجَزْتُ</a:t>
            </a:r>
            <a:endParaRPr lang="ar-SA" sz="2100" dirty="0"/>
          </a:p>
        </p:txBody>
      </p:sp>
      <p:sp>
        <p:nvSpPr>
          <p:cNvPr id="34" name="Text 31"/>
          <p:cNvSpPr txBox="1"/>
          <p:nvPr/>
        </p:nvSpPr>
        <p:spPr>
          <a:xfrm>
            <a:off x="56692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235440" y="3840480"/>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سَتُقِيمُ فِي</a:t>
            </a:r>
            <a:endParaRPr lang="ar-SA" sz="2100" dirty="0"/>
          </a:p>
        </p:txBody>
      </p:sp>
      <p:sp>
        <p:nvSpPr>
          <p:cNvPr id="39" name="Text 36"/>
          <p:cNvSpPr txBox="1"/>
          <p:nvPr/>
        </p:nvSpPr>
        <p:spPr>
          <a:xfrm>
            <a:off x="6858000" y="3840480"/>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سَأُقِيمُ فِي</a:t>
            </a:r>
            <a:endParaRPr lang="ar-SA" sz="2100" dirty="0"/>
          </a:p>
        </p:txBody>
      </p:sp>
      <p:sp>
        <p:nvSpPr>
          <p:cNvPr id="40" name="Text 37"/>
          <p:cNvSpPr txBox="1"/>
          <p:nvPr/>
        </p:nvSpPr>
        <p:spPr>
          <a:xfrm>
            <a:off x="4480560" y="3840480"/>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سَتَحْجِزُ</a:t>
            </a:r>
            <a:endParaRPr lang="ar-SA" sz="2100" dirty="0"/>
          </a:p>
        </p:txBody>
      </p:sp>
      <p:sp>
        <p:nvSpPr>
          <p:cNvPr id="41" name="Text 38"/>
          <p:cNvSpPr txBox="1"/>
          <p:nvPr/>
        </p:nvSpPr>
        <p:spPr>
          <a:xfrm>
            <a:off x="2286000" y="3840480"/>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سَأَحْجِزُ</a:t>
            </a:r>
            <a:endParaRPr lang="ar-SA" sz="2100" dirty="0"/>
          </a:p>
        </p:txBody>
      </p:sp>
      <p:sp>
        <p:nvSpPr>
          <p:cNvPr id="42" name="Text 39"/>
          <p:cNvSpPr txBox="1"/>
          <p:nvPr/>
        </p:nvSpPr>
        <p:spPr>
          <a:xfrm>
            <a:off x="56692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235440" y="4626864"/>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كَانَتْ قَدْ أَقَامَتْ</a:t>
            </a:r>
            <a:endParaRPr lang="ar-SA" sz="2100" dirty="0"/>
          </a:p>
        </p:txBody>
      </p:sp>
      <p:sp>
        <p:nvSpPr>
          <p:cNvPr id="47" name="Text 44"/>
          <p:cNvSpPr txBox="1"/>
          <p:nvPr/>
        </p:nvSpPr>
        <p:spPr>
          <a:xfrm>
            <a:off x="6858000" y="4626864"/>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كُنْتُ قَدْ أَقَمْتُ</a:t>
            </a:r>
            <a:endParaRPr lang="ar-SA" sz="2100" dirty="0"/>
          </a:p>
        </p:txBody>
      </p:sp>
      <p:sp>
        <p:nvSpPr>
          <p:cNvPr id="48" name="Text 45"/>
          <p:cNvSpPr txBox="1"/>
          <p:nvPr/>
        </p:nvSpPr>
        <p:spPr>
          <a:xfrm>
            <a:off x="4480560" y="4626864"/>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كَانَتْ قَدْ حَجَزَتْ</a:t>
            </a:r>
            <a:endParaRPr lang="ar-SA" sz="2100" dirty="0"/>
          </a:p>
        </p:txBody>
      </p:sp>
      <p:sp>
        <p:nvSpPr>
          <p:cNvPr id="49" name="Text 46"/>
          <p:cNvSpPr txBox="1"/>
          <p:nvPr/>
        </p:nvSpPr>
        <p:spPr>
          <a:xfrm>
            <a:off x="2286000" y="4626864"/>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كُنْتُ قَدْ حَجَزْتُ</a:t>
            </a:r>
            <a:endParaRPr lang="ar-SA" sz="2100" dirty="0"/>
          </a:p>
        </p:txBody>
      </p:sp>
      <p:sp>
        <p:nvSpPr>
          <p:cNvPr id="50" name="Text 47"/>
          <p:cNvSpPr txBox="1"/>
          <p:nvPr/>
        </p:nvSpPr>
        <p:spPr>
          <a:xfrm>
            <a:off x="56692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Hollow verb: aqamtu (short a before -tu) but aqāmat (long ā). The past perfect agrees twice: kānat qad ḥajazat.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YUQĪM FĪ + WHERE YOU STAY (WEBSITE RULE 4 + TEACHING POINT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will you stay?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أَيْنَ سَتُقِيمُ؟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7" name="Text 14"/>
          <p:cNvSpPr txBox="1"/>
          <p:nvPr/>
        </p:nvSpPr>
        <p:spPr>
          <a:xfrm>
            <a:off x="2816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Accommodation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869680" y="2267712"/>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فَنَادِقُ</a:t>
            </a:r>
            <a:endParaRPr lang="ar-SA" sz="1900" dirty="0"/>
          </a:p>
        </p:txBody>
      </p:sp>
      <p:sp>
        <p:nvSpPr>
          <p:cNvPr id="21" name="Text 18"/>
          <p:cNvSpPr txBox="1"/>
          <p:nvPr/>
        </p:nvSpPr>
        <p:spPr>
          <a:xfrm>
            <a:off x="2834640" y="2267712"/>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أُقِيمُ فِي</a:t>
            </a:r>
            <a:pPr rtl="1" algn="ctr" indent="0" marL="0">
              <a:buNone/>
            </a:pPr>
            <a:r>
              <a:rPr lang="ar-SA" altLang="en-US" sz="1900" b="1" dirty="0">
                <a:solidFill>
                  <a:srgbClr val="1B3B6F"/>
                </a:solidFill>
                <a:latin typeface="Amiri" pitchFamily="2" charset="-78"/>
                <a:cs typeface="Amiri" pitchFamily="2" charset="-78"/>
              </a:rPr>
              <a:t> فُنْدُقٍ بِخَمْسِ نُجُومٍ قَرِيبٍ مِنَ الشَّاطِئِ.</a:t>
            </a:r>
            <a:endParaRPr lang="ar-SA" sz="1900" dirty="0"/>
          </a:p>
        </p:txBody>
      </p:sp>
      <p:sp>
        <p:nvSpPr>
          <p:cNvPr id="22" name="Text 19"/>
          <p:cNvSpPr txBox="1"/>
          <p:nvPr/>
        </p:nvSpPr>
        <p:spPr>
          <a:xfrm>
            <a:off x="56692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five-star hotel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869680" y="3054096"/>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شُقَقٌ</a:t>
            </a:r>
            <a:endParaRPr lang="ar-SA" sz="1900" dirty="0"/>
          </a:p>
        </p:txBody>
      </p:sp>
      <p:sp>
        <p:nvSpPr>
          <p:cNvPr id="27" name="Text 24"/>
          <p:cNvSpPr txBox="1"/>
          <p:nvPr/>
        </p:nvSpPr>
        <p:spPr>
          <a:xfrm>
            <a:off x="2834640" y="3054096"/>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أَقَمْتُ فِي</a:t>
            </a:r>
            <a:pPr rtl="1" algn="ctr" indent="0" marL="0">
              <a:buNone/>
            </a:pPr>
            <a:r>
              <a:rPr lang="ar-SA" altLang="en-US" sz="1900" b="1" dirty="0">
                <a:solidFill>
                  <a:srgbClr val="1B3B6F"/>
                </a:solidFill>
                <a:latin typeface="Amiri" pitchFamily="2" charset="-78"/>
                <a:cs typeface="Amiri" pitchFamily="2" charset="-78"/>
              </a:rPr>
              <a:t> شَقَّةٍ مَفْرُوشَةٍ قَرِيبَةٍ مِنَ المَرْكَزِ.</a:t>
            </a:r>
            <a:endParaRPr lang="ar-SA" sz="1900" dirty="0"/>
          </a:p>
        </p:txBody>
      </p:sp>
      <p:sp>
        <p:nvSpPr>
          <p:cNvPr id="28" name="Text 25"/>
          <p:cNvSpPr txBox="1"/>
          <p:nvPr/>
        </p:nvSpPr>
        <p:spPr>
          <a:xfrm>
            <a:off x="56692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furnished flat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869680" y="3840480"/>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رِيَاضَاتٌ</a:t>
            </a:r>
            <a:endParaRPr lang="ar-SA" sz="1900" dirty="0"/>
          </a:p>
        </p:txBody>
      </p:sp>
      <p:sp>
        <p:nvSpPr>
          <p:cNvPr id="33" name="Text 30"/>
          <p:cNvSpPr txBox="1"/>
          <p:nvPr/>
        </p:nvSpPr>
        <p:spPr>
          <a:xfrm>
            <a:off x="2834640" y="3840480"/>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سَأُقِيمُ فِي</a:t>
            </a:r>
            <a:pPr rtl="1" algn="ctr" indent="0" marL="0">
              <a:buNone/>
            </a:pPr>
            <a:r>
              <a:rPr lang="ar-SA" altLang="en-US" sz="1900" b="1" dirty="0">
                <a:solidFill>
                  <a:srgbClr val="1B3B6F"/>
                </a:solidFill>
                <a:latin typeface="Amiri" pitchFamily="2" charset="-78"/>
                <a:cs typeface="Amiri" pitchFamily="2" charset="-78"/>
              </a:rPr>
              <a:t> رِيَاضٍ تَقْلِيدِيٍّ فِي المَدِينَةِ القَدِيمَةِ.</a:t>
            </a:r>
            <a:endParaRPr lang="ar-SA" sz="1900" dirty="0"/>
          </a:p>
        </p:txBody>
      </p:sp>
      <p:sp>
        <p:nvSpPr>
          <p:cNvPr id="34" name="Text 31"/>
          <p:cNvSpPr txBox="1"/>
          <p:nvPr/>
        </p:nvSpPr>
        <p:spPr>
          <a:xfrm>
            <a:off x="56692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riad</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869680" y="4626864"/>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نُزُلٌ</a:t>
            </a:r>
            <a:endParaRPr lang="ar-SA" sz="1900" dirty="0"/>
          </a:p>
        </p:txBody>
      </p:sp>
      <p:sp>
        <p:nvSpPr>
          <p:cNvPr id="37" name="Text 34"/>
          <p:cNvSpPr txBox="1"/>
          <p:nvPr/>
        </p:nvSpPr>
        <p:spPr>
          <a:xfrm>
            <a:off x="2834640" y="4626864"/>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سَتُقِيمُ</a:t>
            </a:r>
            <a:pPr rtl="1" algn="ctr" indent="0" marL="0">
              <a:buNone/>
            </a:pPr>
            <a:r>
              <a:rPr lang="ar-SA" altLang="en-US" sz="1900" b="1" dirty="0">
                <a:solidFill>
                  <a:srgbClr val="1B3B6F"/>
                </a:solidFill>
                <a:latin typeface="Amiri" pitchFamily="2" charset="-78"/>
                <a:cs typeface="Amiri" pitchFamily="2" charset="-78"/>
              </a:rPr>
              <a:t> أُخْتِي </a:t>
            </a:r>
            <a:pPr rtl="1" algn="ctr" indent="0" marL="0">
              <a:buNone/>
            </a:pPr>
            <a:r>
              <a:rPr lang="ar-SA" altLang="en-US" sz="1900" b="1" dirty="0">
                <a:solidFill>
                  <a:srgbClr val="0E7C86"/>
                </a:solidFill>
                <a:latin typeface="Amiri" pitchFamily="2" charset="-78"/>
                <a:cs typeface="Amiri" pitchFamily="2" charset="-78"/>
              </a:rPr>
              <a:t>فِي</a:t>
            </a:r>
            <a:pPr rtl="1" algn="ctr" indent="0" marL="0">
              <a:buNone/>
            </a:pPr>
            <a:r>
              <a:rPr lang="ar-SA" altLang="en-US" sz="1900" b="1" dirty="0">
                <a:solidFill>
                  <a:srgbClr val="1B3B6F"/>
                </a:solidFill>
                <a:latin typeface="Amiri" pitchFamily="2" charset="-78"/>
                <a:cs typeface="Amiri" pitchFamily="2" charset="-78"/>
              </a:rPr>
              <a:t> نُزُلٍ جَبَلِيٍّ هَادِئٍ.</a:t>
            </a:r>
            <a:endParaRPr lang="ar-SA" sz="1900" dirty="0"/>
          </a:p>
        </p:txBody>
      </p:sp>
      <p:sp>
        <p:nvSpPr>
          <p:cNvPr id="38" name="Text 35"/>
          <p:cNvSpPr txBox="1"/>
          <p:nvPr/>
        </p:nvSpPr>
        <p:spPr>
          <a:xfrm>
            <a:off x="56692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mountain lodge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uqīmu funduqan ✗ → uqīmu FĪ funduqin — and the noun after fī is genitive (-in).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BOOKING IN BOTH CONDITIONALS (WEBSITE RULES 3–4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 early — or regret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حَجَزْتَ · لَوْ حَجَزْتُ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TIP · CORE</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حَجَزْتَ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حَجَزْتَ مُبَكِّرًا، سَتَحْصُلُ عَلَى سِعْرٍ أَرْخَصَ.</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book early, you will get a cheaper price.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Advice.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حَجَزْتُ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حَجَزْتُ فِي فُنْدُقٍ حَدِيثٍ، لَفَقَدْتُ سِحْرَ المَدِينَةِ القَدِيمَةِ.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I booked a modern hotel, I would have lost the old city’s charm.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PAST PERFECT · STRETCH</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كُنْتُ قَدْ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كُنْتُ قَدْ حَجَزْتُ قَبْلَ العُطْلَةِ، لَحَصَلْتُ عَلَى سِعْرٍ أَرْخَصَ.</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had booked before the holiday, I would have got a cheaper price.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structures.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idhā takes a past-form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إِذَا حَجَزْتَ مُبَكِّرًا، سَتَحْصُلُ عَلَى سِعْرٍ أَرْخَصَ</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إِذَا تَحْجِزُ مُبَكِّرًا، سَتَحْصُلُ عَلَى سِعْرٍ أَرْخَصَ</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WHY I DO IT AND WHAT THE GUIDE SAID (WEBSITE LISTENING, READING AND QUIZ 8)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Purpose, advice — and three structures in one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الغَرَضُ وَالنَّصِيحَةُ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Structures</a:t>
            </a:r>
            <a:endParaRPr lang="en-US" sz="1100" dirty="0"/>
          </a:p>
        </p:txBody>
      </p:sp>
      <p:sp>
        <p:nvSpPr>
          <p:cNvPr id="17" name="Text 14"/>
          <p:cNvSpPr txBox="1"/>
          <p:nvPr/>
        </p:nvSpPr>
        <p:spPr>
          <a:xfrm>
            <a:off x="254203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(website texts)</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 + -a</a:t>
            </a:r>
            <a:endParaRPr lang="en-US" sz="1100" dirty="0"/>
          </a:p>
        </p:txBody>
      </p:sp>
      <p:sp>
        <p:nvSpPr>
          <p:cNvPr id="21" name="Text 18"/>
          <p:cNvSpPr txBox="1"/>
          <p:nvPr/>
        </p:nvSpPr>
        <p:spPr>
          <a:xfrm>
            <a:off x="2560320" y="2267712"/>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أَحْجِزُ تَذَاكِرِي مُبَكِّرًا </a:t>
            </a:r>
            <a:pPr rtl="1" algn="ctr" indent="0" marL="0">
              <a:buNone/>
            </a:pPr>
            <a:r>
              <a:rPr lang="ar-SA" altLang="en-US" sz="1800" b="1" dirty="0">
                <a:solidFill>
                  <a:srgbClr val="C77700"/>
                </a:solidFill>
                <a:latin typeface="Amiri" pitchFamily="2" charset="-78"/>
                <a:cs typeface="Amiri" pitchFamily="2" charset="-78"/>
              </a:rPr>
              <a:t>لِأَحْصُلَ</a:t>
            </a:r>
            <a:pPr rtl="1" algn="ctr" indent="0" marL="0">
              <a:buNone/>
            </a:pPr>
            <a:r>
              <a:rPr lang="ar-SA" altLang="en-US" sz="1800" b="1" dirty="0">
                <a:solidFill>
                  <a:srgbClr val="1B3B6F"/>
                </a:solidFill>
                <a:latin typeface="Amiri" pitchFamily="2" charset="-78"/>
                <a:cs typeface="Amiri" pitchFamily="2" charset="-78"/>
              </a:rPr>
              <a:t> عَلَى سِعْرٍ مُنَاسِبٍ.</a:t>
            </a:r>
            <a:endParaRPr lang="ar-SA" sz="1800" dirty="0"/>
          </a:p>
        </p:txBody>
      </p:sp>
      <p:sp>
        <p:nvSpPr>
          <p:cNvPr id="22" name="Text 19"/>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 + -a</a:t>
            </a:r>
            <a:endParaRPr lang="en-US" sz="1100" dirty="0"/>
          </a:p>
        </p:txBody>
      </p:sp>
      <p:sp>
        <p:nvSpPr>
          <p:cNvPr id="27" name="Text 24"/>
          <p:cNvSpPr txBox="1"/>
          <p:nvPr/>
        </p:nvSpPr>
        <p:spPr>
          <a:xfrm>
            <a:off x="2560320" y="3054096"/>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سَأَحْمِلُ حَقِيبَةً وَاحِدَةً </a:t>
            </a:r>
            <a:pPr rtl="1" algn="ctr" indent="0" marL="0">
              <a:buNone/>
            </a:pPr>
            <a:r>
              <a:rPr lang="ar-SA" altLang="en-US" sz="1800" b="1" dirty="0">
                <a:solidFill>
                  <a:srgbClr val="C77700"/>
                </a:solidFill>
                <a:latin typeface="Amiri" pitchFamily="2" charset="-78"/>
                <a:cs typeface="Amiri" pitchFamily="2" charset="-78"/>
              </a:rPr>
              <a:t>لِأَتَجَنَّبَ</a:t>
            </a:r>
            <a:pPr rtl="1" algn="ctr" indent="0" marL="0">
              <a:buNone/>
            </a:pPr>
            <a:r>
              <a:rPr lang="ar-SA" altLang="en-US" sz="1800" b="1" dirty="0">
                <a:solidFill>
                  <a:srgbClr val="1B3B6F"/>
                </a:solidFill>
                <a:latin typeface="Amiri" pitchFamily="2" charset="-78"/>
                <a:cs typeface="Amiri" pitchFamily="2" charset="-78"/>
              </a:rPr>
              <a:t> رُسُومَ الأَمْتِعَةِ الزَّائِدَةِ.</a:t>
            </a:r>
            <a:endParaRPr lang="ar-SA" sz="1800" dirty="0"/>
          </a:p>
        </p:txBody>
      </p:sp>
      <p:sp>
        <p:nvSpPr>
          <p:cNvPr id="28" name="Text 25"/>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 Type 1</a:t>
            </a:r>
            <a:endParaRPr lang="en-US" sz="1100" dirty="0"/>
          </a:p>
        </p:txBody>
      </p:sp>
      <p:sp>
        <p:nvSpPr>
          <p:cNvPr id="31" name="Text 28"/>
          <p:cNvSpPr txBox="1"/>
          <p:nvPr/>
        </p:nvSpPr>
        <p:spPr>
          <a:xfrm>
            <a:off x="2560320" y="3840480"/>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cs typeface="Amiri" pitchFamily="2" charset="-78"/>
              </a:rPr>
              <a:t>أَشَارَ</a:t>
            </a:r>
            <a:pPr rtl="1" algn="ctr" indent="0" marL="0">
              <a:buNone/>
            </a:pPr>
            <a:r>
              <a:rPr lang="ar-SA" altLang="en-US" sz="1800" b="1" dirty="0">
                <a:solidFill>
                  <a:srgbClr val="1B3B6F"/>
                </a:solidFill>
                <a:latin typeface="Amiri" pitchFamily="2" charset="-78"/>
                <a:cs typeface="Amiri" pitchFamily="2" charset="-78"/>
              </a:rPr>
              <a:t> الدَّلِيلُ </a:t>
            </a:r>
            <a:pPr rtl="1" algn="ctr" indent="0" marL="0">
              <a:buNone/>
            </a:pPr>
            <a:r>
              <a:rPr lang="ar-SA" altLang="en-US" sz="1800" b="1" dirty="0">
                <a:solidFill>
                  <a:srgbClr val="7B3FA0"/>
                </a:solidFill>
                <a:latin typeface="Amiri" pitchFamily="2" charset="-78"/>
                <a:cs typeface="Amiri" pitchFamily="2" charset="-78"/>
              </a:rPr>
              <a:t>إِلَى أَنَّهُ</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0E7C86"/>
                </a:solidFill>
                <a:latin typeface="Amiri" pitchFamily="2" charset="-78"/>
                <a:cs typeface="Amiri" pitchFamily="2" charset="-78"/>
              </a:rPr>
              <a:t>إِذَا وَصَلْتُ</a:t>
            </a:r>
            <a:pPr rtl="1" algn="ctr" indent="0" marL="0">
              <a:buNone/>
            </a:pPr>
            <a:r>
              <a:rPr lang="ar-SA" altLang="en-US" sz="1800" b="1" dirty="0">
                <a:solidFill>
                  <a:srgbClr val="1B3B6F"/>
                </a:solidFill>
                <a:latin typeface="Amiri" pitchFamily="2" charset="-78"/>
                <a:cs typeface="Amiri" pitchFamily="2" charset="-78"/>
              </a:rPr>
              <a:t> مُبَكِّرًا، </a:t>
            </a:r>
            <a:pPr rtl="1" algn="ctr" indent="0" marL="0">
              <a:buNone/>
            </a:pPr>
            <a:r>
              <a:rPr lang="ar-SA" altLang="en-US" sz="1800" b="1" dirty="0">
                <a:solidFill>
                  <a:srgbClr val="0E7C86"/>
                </a:solidFill>
                <a:latin typeface="Amiri" pitchFamily="2" charset="-78"/>
                <a:cs typeface="Amiri" pitchFamily="2" charset="-78"/>
              </a:rPr>
              <a:t>سَأَزُورُ</a:t>
            </a:r>
            <a:pPr rtl="1" algn="ctr" indent="0" marL="0">
              <a:buNone/>
            </a:pPr>
            <a:r>
              <a:rPr lang="ar-SA" altLang="en-US" sz="1800" b="1" dirty="0">
                <a:solidFill>
                  <a:srgbClr val="1B3B6F"/>
                </a:solidFill>
                <a:latin typeface="Amiri" pitchFamily="2" charset="-78"/>
                <a:cs typeface="Amiri" pitchFamily="2" charset="-78"/>
              </a:rPr>
              <a:t> السُّوقَ.</a:t>
            </a:r>
            <a:endParaRPr lang="ar-SA" sz="1800" dirty="0"/>
          </a:p>
        </p:txBody>
      </p:sp>
      <p:sp>
        <p:nvSpPr>
          <p:cNvPr id="32" name="Text 29"/>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guide’s advice</a:t>
            </a:r>
            <a:endParaRPr lang="en-US" sz="11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 + reported + Type 1</a:t>
            </a:r>
            <a:endParaRPr lang="en-US" sz="1100" dirty="0"/>
          </a:p>
        </p:txBody>
      </p:sp>
      <p:sp>
        <p:nvSpPr>
          <p:cNvPr id="37" name="Text 34"/>
          <p:cNvSpPr txBox="1"/>
          <p:nvPr/>
        </p:nvSpPr>
        <p:spPr>
          <a:xfrm>
            <a:off x="2560320" y="4626864"/>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كُنْتُ قَدْ حَجَزْتُ</a:t>
            </a:r>
            <a:pPr rtl="1" algn="ctr" indent="0" marL="0">
              <a:buNone/>
            </a:pPr>
            <a:r>
              <a:rPr lang="ar-SA" altLang="en-US" sz="1800" b="1" dirty="0">
                <a:solidFill>
                  <a:srgbClr val="1B3B6F"/>
                </a:solidFill>
                <a:latin typeface="Amiri" pitchFamily="2" charset="-78"/>
                <a:cs typeface="Amiri" pitchFamily="2" charset="-78"/>
              </a:rPr>
              <a:t> فُنْدُقِي، </a:t>
            </a:r>
            <a:pPr rtl="1" algn="ctr" indent="0" marL="0">
              <a:buNone/>
            </a:pPr>
            <a:r>
              <a:rPr lang="ar-SA" altLang="en-US" sz="1800" b="1" dirty="0">
                <a:solidFill>
                  <a:srgbClr val="7B3FA0"/>
                </a:solidFill>
                <a:latin typeface="Amiri" pitchFamily="2" charset="-78"/>
                <a:cs typeface="Amiri" pitchFamily="2" charset="-78"/>
              </a:rPr>
              <a:t>وَأَشَارَ</a:t>
            </a:r>
            <a:pPr rtl="1" algn="ctr" indent="0" marL="0">
              <a:buNone/>
            </a:pPr>
            <a:r>
              <a:rPr lang="ar-SA" altLang="en-US" sz="1800" b="1" dirty="0">
                <a:solidFill>
                  <a:srgbClr val="1B3B6F"/>
                </a:solidFill>
                <a:latin typeface="Amiri" pitchFamily="2" charset="-78"/>
                <a:cs typeface="Amiri" pitchFamily="2" charset="-78"/>
              </a:rPr>
              <a:t> المُنَظِّمُ </a:t>
            </a:r>
            <a:pPr rtl="1" algn="ctr" indent="0" marL="0">
              <a:buNone/>
            </a:pPr>
            <a:r>
              <a:rPr lang="ar-SA" altLang="en-US" sz="1800" b="1" dirty="0">
                <a:solidFill>
                  <a:srgbClr val="7B3FA0"/>
                </a:solidFill>
                <a:latin typeface="Amiri" pitchFamily="2" charset="-78"/>
                <a:cs typeface="Amiri" pitchFamily="2" charset="-78"/>
              </a:rPr>
              <a:t>إِلَى أَنَّهُ</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0E7C86"/>
                </a:solidFill>
                <a:latin typeface="Amiri" pitchFamily="2" charset="-78"/>
                <a:cs typeface="Amiri" pitchFamily="2" charset="-78"/>
              </a:rPr>
              <a:t>إِذَا وَصَلْنَا</a:t>
            </a:r>
            <a:pPr rtl="1" algn="ctr" indent="0" marL="0">
              <a:buNone/>
            </a:pPr>
            <a:r>
              <a:rPr lang="ar-SA" altLang="en-US" sz="1800" b="1" dirty="0">
                <a:solidFill>
                  <a:srgbClr val="1B3B6F"/>
                </a:solidFill>
                <a:latin typeface="Amiri" pitchFamily="2" charset="-78"/>
                <a:cs typeface="Amiri" pitchFamily="2" charset="-78"/>
              </a:rPr>
              <a:t> مُبَكِّرًا </a:t>
            </a:r>
            <a:pPr rtl="1" algn="ctr" indent="0" marL="0">
              <a:buNone/>
            </a:pPr>
            <a:r>
              <a:rPr lang="ar-SA" altLang="en-US" sz="1800" b="1" dirty="0">
                <a:solidFill>
                  <a:srgbClr val="0E7C86"/>
                </a:solidFill>
                <a:latin typeface="Amiri" pitchFamily="2" charset="-78"/>
                <a:cs typeface="Amiri" pitchFamily="2" charset="-78"/>
              </a:rPr>
              <a:t>سَنَحْصُلُ</a:t>
            </a:r>
            <a:pPr rtl="1" algn="ctr" indent="0" marL="0">
              <a:buNone/>
            </a:pPr>
            <a:r>
              <a:rPr lang="ar-SA" altLang="en-US" sz="1800" b="1" dirty="0">
                <a:solidFill>
                  <a:srgbClr val="1B3B6F"/>
                </a:solidFill>
                <a:latin typeface="Amiri" pitchFamily="2" charset="-78"/>
                <a:cs typeface="Amiri" pitchFamily="2" charset="-78"/>
              </a:rPr>
              <a:t> عَلَى تَرْقِيَةٍ.</a:t>
            </a:r>
            <a:endParaRPr lang="ar-SA" sz="1800" dirty="0"/>
          </a:p>
        </p:txBody>
      </p:sp>
      <p:sp>
        <p:nvSpPr>
          <p:cNvPr id="38" name="Text 35"/>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in one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a conditional, anna needs a pronoun: ashāra ilā anna-HU idhā … (“that, if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2028 verbs in full tense range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cs typeface="Amiri" pitchFamily="2" charset="-78"/>
              </a:rPr>
              <a:t>فِعْلَا الحَجْزِ وَالإِقَامَةِ فِي كُلِّ الأَزْمِنَةِ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Present, past,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aḥjizu · ḥajaztu · sa-aḥjizu</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أَحْجِزُ تَذَاكِرِي مُبَكِّرًا   ·   سَأَحْجِزُ رِحْلَةً إِلَى مَرَّاكُشَ</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ḥajaztu</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قَدْ حَجَزْتُ المَطْعَمَ قَبْلَ أَنْ نَصِلَ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Type 1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ḥajazta … sa-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حَجَزْتَ مُبَكِّرًا، سَتَحْصُلُ عَلَى سِعْرٍ أَرْخَصَ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Type 2 and yuqīm fī</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ḥajaztu … la- · yuqīm fī</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لَوْ حَجَزْتُ فِي فُنْدُقٍ آخَرَ، لَكَانَ أَفْضَلَ   ·   أُقِيمُ فِي فُنْدُقٍ قَرِيبٍ مِنَ الشَّاطِئِ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present: ___ </a:t>
            </a:r>
            <a:pPr algn="l" indent="0" marL="0">
              <a:buNone/>
            </a:pPr>
            <a:r>
              <a:rPr lang="ar-SA" altLang="en-US" sz="1650" b="1" dirty="0">
                <a:solidFill>
                  <a:srgbClr val="1B3B6F"/>
                </a:solidFill>
                <a:latin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سَأَحْجِزُ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إِذَا ___ مُبَكِّرًا، سَتَحْصُلُ عَلَى سِعْرٍ أَرْخَصَ.</a:t>
            </a:r>
            <a:endParaRPr lang="ar-SA" sz="14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تَحْجِزُ</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سَتَحْجِزُ</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أُقِيمُ ___ فُنْدُقٍ قَرِيبٍ مِنَ الشَّاطِئِ.</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present: ___ </a:t>
            </a:r>
            <a:pPr algn="l" indent="0" marL="0">
              <a:buNone/>
            </a:pPr>
            <a:r>
              <a:rPr lang="ar-SA" altLang="en-US" sz="1650" b="1" dirty="0">
                <a:solidFill>
                  <a:srgbClr val="1B3B6F"/>
                </a:solidFill>
                <a:latin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سَأَحْجِزُ</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أَحْجِزُ</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first person is </a:t>
            </a:r>
            <a:pPr algn="l" indent="0" marL="0">
              <a:buNone/>
            </a:pPr>
            <a:r>
              <a:rPr lang="ar-SA" altLang="en-US" sz="1350" dirty="0">
                <a:solidFill>
                  <a:srgbClr val="8A6D1E"/>
                </a:solidFill>
                <a:latin typeface="Amiri" pitchFamily="2" charset="-78"/>
                <a:cs typeface="Amiri" pitchFamily="2" charset="-78"/>
              </a:rPr>
              <a:t>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is </a:t>
            </a:r>
            <a:pPr algn="l" indent="0" marL="0">
              <a:buNone/>
            </a:pPr>
            <a:r>
              <a:rPr lang="ar-SA" altLang="en-US" sz="1350" dirty="0">
                <a:solidFill>
                  <a:srgbClr val="8A6D1E"/>
                </a:solidFill>
                <a:latin typeface="Amiri" pitchFamily="2" charset="-78"/>
                <a:cs typeface="Amiri" pitchFamily="2" charset="-78"/>
              </a:rPr>
              <a:t>كُنْتُ قَدْ حَجَزْتُ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إِذَا ___ مُبَكِّرًا، سَتَحْصُلُ عَلَى سِعْرٍ أَرْخَصَ.</a:t>
            </a:r>
            <a:endParaRPr lang="ar-SA" sz="14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تَحْجِزُ</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حَجَزْتَ</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سَتَحْجِزُ</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أُقِيمُ ___ فُنْدُقٍ قَرِيبٍ مِنَ الشَّاطِئِ.</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يُقِيمُ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day 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كُنْتُ قَدْ حَجَزْتُ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سَأُقِيمُ فِي</a:t>
            </a:r>
            <a:pPr rtl="1" algn="ctr" indent="0" marL="0">
              <a:buNone/>
            </a:pPr>
            <a:r>
              <a:rPr lang="ar-SA" altLang="en-US" sz="2800" b="1" dirty="0">
                <a:solidFill>
                  <a:srgbClr val="1B3B6F"/>
                </a:solidFill>
                <a:latin typeface="Amiri" pitchFamily="2" charset="-78"/>
                <a:cs typeface="Amiri" pitchFamily="2" charset="-78"/>
              </a:rPr>
              <a:t> رِيَاضٍ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cs typeface="Amiri" pitchFamily="2" charset="-78"/>
              </a:rPr>
              <a:t>أَشَارَ</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7B3FA0"/>
                </a:solidFill>
                <a:latin typeface="Amiri" pitchFamily="2" charset="-78"/>
                <a:cs typeface="Amiri" pitchFamily="2" charset="-78"/>
              </a:rPr>
              <a:t>إِلَى أَنَّهُ</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1D5FBF"/>
                </a:solidFill>
                <a:latin typeface="Amiri" pitchFamily="2" charset="-78"/>
                <a:cs typeface="Amiri" pitchFamily="2" charset="-78"/>
              </a:rPr>
              <a:t>إِذَا</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Reported + idhā.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Regret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لَوْ كُنْتُ قَدْ حَجَزْتُ</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C77700"/>
                </a:solidFill>
                <a:latin typeface="Amiri" pitchFamily="2" charset="-78"/>
                <a:cs typeface="Amiri" pitchFamily="2" charset="-78"/>
              </a:rPr>
              <a:t>لَحَصَلْتُ</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YUQĪM FĪ</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اليَوْمُ الأَوَّلُ: </a:t>
            </a:r>
            <a:pPr rtl="1" algn="r" indent="0" marL="0">
              <a:lnSpc>
                <a:spcPct val="120000"/>
              </a:lnSpc>
              <a:buNone/>
            </a:pPr>
            <a:r>
              <a:rPr lang="ar-SA" altLang="en-US" sz="1400" b="1" dirty="0">
                <a:solidFill>
                  <a:srgbClr val="D6336C"/>
                </a:solidFill>
                <a:latin typeface="Amiri" pitchFamily="2" charset="-78"/>
                <a:cs typeface="Amiri" pitchFamily="2" charset="-78"/>
              </a:rPr>
              <a:t>كُنْتُ قَدْ حَجَزْتُ</a:t>
            </a:r>
            <a:pPr rtl="1" algn="r" indent="0" marL="0">
              <a:lnSpc>
                <a:spcPct val="120000"/>
              </a:lnSpc>
              <a:buNone/>
            </a:pPr>
            <a:r>
              <a:rPr lang="ar-SA" altLang="en-US" sz="1400" b="1" dirty="0">
                <a:solidFill>
                  <a:srgbClr val="1B3B6F"/>
                </a:solidFill>
                <a:latin typeface="Amiri" pitchFamily="2" charset="-78"/>
                <a:cs typeface="Amiri" pitchFamily="2" charset="-78"/>
              </a:rPr>
              <a:t> رِحْلَتِي إِلَى الدَّارِ البَيْضَاءِ قَبْلَ شَهْرَيْنِ. سَأَصِلُ إِلَى المَطَارِ صَبَاحًا، </a:t>
            </a:r>
            <a:pPr rtl="1" algn="r" indent="0" marL="0">
              <a:lnSpc>
                <a:spcPct val="120000"/>
              </a:lnSpc>
              <a:buNone/>
            </a:pPr>
            <a:r>
              <a:rPr lang="ar-SA" altLang="en-US" sz="1400" b="1" dirty="0">
                <a:solidFill>
                  <a:srgbClr val="0E7C86"/>
                </a:solidFill>
                <a:latin typeface="Amiri" pitchFamily="2" charset="-78"/>
                <a:cs typeface="Amiri" pitchFamily="2" charset="-78"/>
              </a:rPr>
              <a:t>وَسَأُقِيمُ فِي</a:t>
            </a:r>
            <a:pPr rtl="1" algn="r" indent="0" marL="0">
              <a:lnSpc>
                <a:spcPct val="120000"/>
              </a:lnSpc>
              <a:buNone/>
            </a:pPr>
            <a:r>
              <a:rPr lang="ar-SA" altLang="en-US" sz="1400" b="1" dirty="0">
                <a:solidFill>
                  <a:srgbClr val="1B3B6F"/>
                </a:solidFill>
                <a:latin typeface="Amiri" pitchFamily="2" charset="-78"/>
                <a:cs typeface="Amiri" pitchFamily="2" charset="-78"/>
              </a:rPr>
              <a:t> رِيَاضٍ تَقْلِيدِيٍّ فِي المَدِينَةِ القَدِيمَةِ. </a:t>
            </a:r>
            <a:pPr rtl="1" algn="r" indent="0" marL="0">
              <a:lnSpc>
                <a:spcPct val="120000"/>
              </a:lnSpc>
              <a:buNone/>
            </a:pPr>
            <a:r>
              <a:rPr lang="ar-SA" altLang="en-US" sz="1400" b="1" dirty="0">
                <a:solidFill>
                  <a:srgbClr val="7B3FA0"/>
                </a:solidFill>
                <a:latin typeface="Amiri" pitchFamily="2" charset="-78"/>
                <a:cs typeface="Amiri" pitchFamily="2" charset="-78"/>
              </a:rPr>
              <a:t>وَأَشَارَ</a:t>
            </a:r>
            <a:pPr rtl="1" algn="r" indent="0" marL="0">
              <a:lnSpc>
                <a:spcPct val="120000"/>
              </a:lnSpc>
              <a:buNone/>
            </a:pPr>
            <a:r>
              <a:rPr lang="ar-SA" altLang="en-US" sz="1400" b="1" dirty="0">
                <a:solidFill>
                  <a:srgbClr val="1B3B6F"/>
                </a:solidFill>
                <a:latin typeface="Amiri" pitchFamily="2" charset="-78"/>
                <a:cs typeface="Amiri" pitchFamily="2" charset="-78"/>
              </a:rPr>
              <a:t> دَلِيلُ السَّفَرِ </a:t>
            </a:r>
            <a:pPr rtl="1" algn="r" indent="0" marL="0">
              <a:lnSpc>
                <a:spcPct val="120000"/>
              </a:lnSpc>
              <a:buNone/>
            </a:pPr>
            <a:r>
              <a:rPr lang="ar-SA" altLang="en-US" sz="1400" b="1" dirty="0">
                <a:solidFill>
                  <a:srgbClr val="7B3FA0"/>
                </a:solidFill>
                <a:latin typeface="Amiri" pitchFamily="2" charset="-78"/>
                <a:cs typeface="Amiri" pitchFamily="2" charset="-78"/>
              </a:rPr>
              <a:t>إِلَى أَنَّهُ</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cs typeface="Amiri" pitchFamily="2" charset="-78"/>
              </a:rPr>
              <a:t>إِذَا وَصَلْتُ</a:t>
            </a:r>
            <a:pPr rtl="1" algn="r" indent="0" marL="0">
              <a:lnSpc>
                <a:spcPct val="120000"/>
              </a:lnSpc>
              <a:buNone/>
            </a:pPr>
            <a:r>
              <a:rPr lang="ar-SA" altLang="en-US" sz="1400" b="1" dirty="0">
                <a:solidFill>
                  <a:srgbClr val="1B3B6F"/>
                </a:solidFill>
                <a:latin typeface="Amiri" pitchFamily="2" charset="-78"/>
                <a:cs typeface="Amiri" pitchFamily="2" charset="-78"/>
              </a:rPr>
              <a:t> مُبَكِّرًا، </a:t>
            </a:r>
            <a:pPr rtl="1" algn="r" indent="0" marL="0">
              <a:lnSpc>
                <a:spcPct val="120000"/>
              </a:lnSpc>
              <a:buNone/>
            </a:pPr>
            <a:r>
              <a:rPr lang="ar-SA" altLang="en-US" sz="1400" b="1" dirty="0">
                <a:solidFill>
                  <a:srgbClr val="1D5FBF"/>
                </a:solidFill>
                <a:latin typeface="Amiri" pitchFamily="2" charset="-78"/>
                <a:cs typeface="Amiri" pitchFamily="2" charset="-78"/>
              </a:rPr>
              <a:t>سَأَزُورُ</a:t>
            </a:r>
            <a:pPr rtl="1" algn="r" indent="0" marL="0">
              <a:lnSpc>
                <a:spcPct val="120000"/>
              </a:lnSpc>
              <a:buNone/>
            </a:pPr>
            <a:r>
              <a:rPr lang="ar-SA" altLang="en-US" sz="1400" b="1" dirty="0">
                <a:solidFill>
                  <a:srgbClr val="1B3B6F"/>
                </a:solidFill>
                <a:latin typeface="Amiri" pitchFamily="2" charset="-78"/>
                <a:cs typeface="Amiri" pitchFamily="2" charset="-78"/>
              </a:rPr>
              <a:t> السُّوقَ قَبْلَ الزِّحَامِ. </a:t>
            </a:r>
            <a:pPr rtl="1" algn="r" indent="0" marL="0">
              <a:lnSpc>
                <a:spcPct val="120000"/>
              </a:lnSpc>
              <a:buNone/>
            </a:pPr>
            <a:r>
              <a:rPr lang="ar-SA" altLang="en-US" sz="1400" b="1" dirty="0">
                <a:solidFill>
                  <a:srgbClr val="C77700"/>
                </a:solidFill>
                <a:latin typeface="Amiri" pitchFamily="2" charset="-78"/>
                <a:cs typeface="Amiri" pitchFamily="2" charset="-78"/>
              </a:rPr>
              <a:t>وَلَوْ كُنْتُ قَدْ حَجَزْتُ</a:t>
            </a:r>
            <a:pPr rtl="1" algn="r" indent="0" marL="0">
              <a:lnSpc>
                <a:spcPct val="120000"/>
              </a:lnSpc>
              <a:buNone/>
            </a:pPr>
            <a:r>
              <a:rPr lang="ar-SA" altLang="en-US" sz="1400" b="1" dirty="0">
                <a:solidFill>
                  <a:srgbClr val="1B3B6F"/>
                </a:solidFill>
                <a:latin typeface="Amiri" pitchFamily="2" charset="-78"/>
                <a:cs typeface="Amiri" pitchFamily="2" charset="-78"/>
              </a:rPr>
              <a:t> قَبْلَ العُطْلَةِ الرَّسْمِيَّةِ، </a:t>
            </a:r>
            <a:pPr rtl="1" algn="r" indent="0" marL="0">
              <a:lnSpc>
                <a:spcPct val="120000"/>
              </a:lnSpc>
              <a:buNone/>
            </a:pPr>
            <a:r>
              <a:rPr lang="ar-SA" altLang="en-US" sz="1400" b="1" dirty="0">
                <a:solidFill>
                  <a:srgbClr val="C77700"/>
                </a:solidFill>
                <a:latin typeface="Amiri" pitchFamily="2" charset="-78"/>
                <a:cs typeface="Amiri" pitchFamily="2" charset="-78"/>
              </a:rPr>
              <a:t>لَحَصَلْتُ</a:t>
            </a:r>
            <a:pPr rtl="1" algn="r" indent="0" marL="0">
              <a:lnSpc>
                <a:spcPct val="120000"/>
              </a:lnSpc>
              <a:buNone/>
            </a:pPr>
            <a:r>
              <a:rPr lang="ar-SA" altLang="en-US" sz="1400" b="1" dirty="0">
                <a:solidFill>
                  <a:srgbClr val="1B3B6F"/>
                </a:solidFill>
                <a:latin typeface="Amiri" pitchFamily="2" charset="-78"/>
                <a:cs typeface="Amiri" pitchFamily="2" charset="-78"/>
              </a:rPr>
              <a:t> عَلَى سِعْرٍ أَرْخَصَ.</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Day one: I had booked my trip to Casablanca two months ago. I will arrive at the airport in the morning, and I will stay in a traditional riad in the old city. The travel guide pointed out that if I arrive early, I will visit the souk before the crowds. And if I had booked before the public holiday, I would have got a cheaper price.</a:t>
            </a:r>
            <a:endParaRPr lang="en-US" sz="11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قَدْ حَجَزْتُ رِحْلَتِي قَبْلَ شَهْرَيْنِ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booked my trip two months ago</a:t>
            </a:r>
            <a:endParaRPr lang="en-US" sz="1250" dirty="0"/>
          </a:p>
          <a:p>
            <a:pPr indent="0" marL="0">
              <a:buNone/>
            </a:pPr>
            <a:r>
              <a:rPr lang="en-US" sz="1050" i="1" dirty="0">
                <a:solidFill>
                  <a:srgbClr val="8A6D1E"/>
                </a:solidFill>
                <a:latin typeface="Calibri" pitchFamily="34" charset="0"/>
                <a:cs typeface="Amiri" pitchFamily="2" charset="-78"/>
              </a:rPr>
              <a:t>Past perfect of yaḥjiz.</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حَجَزْتَ مُبَكِّرًا، سَتَحْصُلُ عَلَى سِعْرٍ أَرْخَصَ</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book early, you will get a cheaper price</a:t>
            </a:r>
            <a:endParaRPr lang="en-US" sz="1250" dirty="0"/>
          </a:p>
          <a:p>
            <a:pPr indent="0" marL="0">
              <a:buNone/>
            </a:pPr>
            <a:r>
              <a:rPr lang="en-US" sz="1050" i="1" dirty="0">
                <a:solidFill>
                  <a:srgbClr val="8A6D1E"/>
                </a:solidFill>
                <a:latin typeface="Calibri" pitchFamily="34" charset="0"/>
                <a:cs typeface="Amiri" pitchFamily="2" charset="-78"/>
              </a:rPr>
              <a:t>Type 1 with yaḥjiz.</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أُقِيمُ فِي رِيَاضٍ تَقْلِيدِيٍّ فِي المَدِينَةِ القَدِيمَةِ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staying in a traditional riad in the old city</a:t>
            </a:r>
            <a:endParaRPr lang="en-US" sz="1250" dirty="0"/>
          </a:p>
          <a:p>
            <a:pPr indent="0" marL="0">
              <a:buNone/>
            </a:pPr>
            <a:r>
              <a:rPr lang="en-US" sz="1050" i="1" dirty="0">
                <a:solidFill>
                  <a:srgbClr val="8A6D1E"/>
                </a:solidFill>
                <a:latin typeface="Calibri" pitchFamily="34" charset="0"/>
                <a:cs typeface="Amiri" pitchFamily="2" charset="-78"/>
              </a:rPr>
              <a:t>yuqīm fī before accommodation.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PLANNING A TRIP — BOOKING, ITINERARIES AND TRAVEL DOCUMENTS”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What has been arranged?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خَطِّطِ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ticket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hotel, three nights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arriving early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حَجَزْتُ فُنْدُقًا لِثَلَاثِ لَيَالٍ.</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سَأَصِلُ إِلَى المَطَارِ مُبَكِّرًا.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حَجَزْتُ تَذْكِرَةَ الطَّائِرَةِ.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خَطِّطِ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ticket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حَجَزْتُ تَذْكِرَةَ الطَّائِرَةِ.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booked the plane ticket.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hotel, three nights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حَجَزْتُ فُنْدُقًا لِثَلَاثِ لَيَالٍ.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booked a hotel for three nights.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arriving early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سَأَصِلُ إِلَى المَطَارِ مُبَكِّرًا.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arrive at the airport early.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ITINERARY DAY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Opening + accommodation + conditional</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يَوْمًا فِي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Past-perfect opening</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Where I will stay</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Conditional / advice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حَجَزْتُ رِحْلَتِي قَبْلَ شَهْرَيْنِ</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وَسَأُقِيمُ فِي رِيَاضٍ تَقْلِيدِيٍّ فِي المَدِينَةِ القَدِيمَةِ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وَصَلْتُ مُبَكِّرًا سَأَزُورُ السُّوقَ قَبْلَ الزِّحَامِ</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جَدَّدْتُ جَوَازَ سَفَرِي وَاشْتَرَيْتُ التَّأْمِينَ</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وَسَأُقِيمُ فِي شَقَّةٍ مَفْرُوشَةٍ قَرِيبَةٍ مِنَ المَرْكَزِ</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حَجَزْتُ فِي فُنْدُقٍ حَدِيثٍ لَفَقَدْتُ سِحْرَ المَدِينَةِ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سَجَّلْتُ الوُصُولَ إِلِكْتْرُونِيًّا</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وَسَأُقِيمُ فِي نُزُلٍ جَبَلِيٍّ هَادِئٍ</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وَأَشَارَ الدَّلِيلُ إِلَى أَنَّ الحَجْزَ المُبَكِّرَ أَرْخَصُ</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Present, past — or future / conditional?</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أَحْجِزُ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أُقِيمُ فِي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يَحْجِزُ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حَجَزْتُ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حَجَزْتُ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أَقَمْتُ فِي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سَأَحْجِزُ</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حَجَزْتَ سَتَحْصُلُ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حَجَزْتُ لَكَانَ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 past perfect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 conditional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أَحْجِزُ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أُقِيمُ فِي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يَحْجِزُ</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 past perfect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حَجَزْتُ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حَجَزْتُ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أَقَمْتُ فِي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 conditional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سَأَحْجِزُ</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حَجَزْتَ سَتَحْصُلُ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حَجَزْتُ لَكَانَ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cs typeface="Amiri" pitchFamily="2" charset="-78"/>
              </a:rPr>
              <a:t>رِحْلَةً إِلَى مَرَّاكُشَ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سَأَحْجِزُ</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حَجَزْتُ فِي فُنْدُقٍ آخَرَ، ___ أَفْضَلَ.</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سَيَكُونُ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لَكَانَ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يَكُونُ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past of </a:t>
            </a:r>
            <a:pPr algn="l" indent="0" marL="0">
              <a:buNone/>
            </a:pPr>
            <a:r>
              <a:rPr lang="ar-SA" altLang="en-US" sz="1650" b="1" dirty="0">
                <a:solidFill>
                  <a:srgbClr val="1B3B6F"/>
                </a:solidFill>
                <a:latin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أُقِيمُ فِي شَقَّةٍ مَفْرُوشَةٍ أَمْسِ.</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أَقَمْتُ فِي شَقَّةٍ مَفْرُوشَةٍ.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سَأُقِيمُ فِي شَقَّةٍ أَمْسِ.</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three structures?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حَجَزْتُ فُنْدُقًا جَمِيلًا.</a:t>
            </a:r>
            <a:endParaRPr lang="ar-SA" sz="13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أُحِبُّ السَّفَرَ.</a:t>
            </a:r>
            <a:endParaRPr lang="ar-SA" sz="13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cs typeface="Amiri" pitchFamily="2" charset="-78"/>
              </a:rPr>
              <a:t>كُنْتُ قَدْ حَجَزْتُ فُنْدُقِي، وَأَشَارَ المُنَظِّمُ إِلَى أَنَّهُ إِذَا وَصَلْنَا مُبَكِّرًا سَنَحْصُلُ عَلَى تَرْقِيَةٍ.</a:t>
            </a:r>
            <a:endParaRPr lang="ar-SA" sz="13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cs typeface="Amiri" pitchFamily="2" charset="-78"/>
              </a:rPr>
              <a:t>رِحْلَةً إِلَى مَرَّاكُشَ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أَحْجِزُ</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سَأَحْجِزُ</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future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سَأَحْجِزُ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حَجَزْتُ فِي فُنْدُقٍ آخَرَ، ___ أَفْضَلَ.</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سَيَكُونُ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لَكَانَ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يَكُونُ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 on a past verb.</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past of </a:t>
            </a:r>
            <a:pPr algn="l" indent="0" marL="0">
              <a:buNone/>
            </a:pPr>
            <a:r>
              <a:rPr lang="ar-SA" altLang="en-US" sz="1650" b="1" dirty="0">
                <a:solidFill>
                  <a:srgbClr val="1B3B6F"/>
                </a:solidFill>
                <a:latin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أُقِيمُ فِي شَقَّةٍ مَفْرُوشَةٍ أَمْسِ.</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أَقَمْتُ فِي شَقَّةٍ مَفْرُوشَةٍ.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سَأُقِيمُ فِي شَقَّةٍ أَمْسِ.</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is </a:t>
            </a:r>
            <a:pPr algn="l" indent="0" marL="0">
              <a:buNone/>
            </a:pPr>
            <a:r>
              <a:rPr lang="ar-SA" altLang="en-US" sz="1350" dirty="0">
                <a:solidFill>
                  <a:srgbClr val="8A6D1E"/>
                </a:solidFill>
                <a:latin typeface="Amiri" pitchFamily="2" charset="-78"/>
                <a:cs typeface="Amiri" pitchFamily="2" charset="-78"/>
              </a:rPr>
              <a:t>أَقَمْتُ 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three structures?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حَجَزْتُ فُنْدُقًا جَمِيلًا.</a:t>
            </a:r>
            <a:endParaRPr lang="ar-SA" sz="13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cs typeface="Amiri" pitchFamily="2" charset="-78"/>
              </a:rPr>
              <a:t>أُحِبُّ السَّفَرَ.</a:t>
            </a:r>
            <a:endParaRPr lang="ar-SA" sz="13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cs typeface="Amiri" pitchFamily="2" charset="-78"/>
              </a:rPr>
              <a:t>كُنْتُ قَدْ حَجَزْتُ فُنْدُقِي، وَأَشَارَ المُنَظِّمُ إِلَى أَنَّهُ إِذَا وَصَلْنَا مُبَكِّرًا سَنَحْصُلُ عَلَى تَرْقِيَةٍ.</a:t>
            </a:r>
            <a:endParaRPr lang="ar-SA" sz="13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perfect + reported speech + Type 1 conditional in one sentence.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أُقِيمُ فُنْدُقًا بِخَمْسِ نُجُومٍ.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uqīmu funduqan?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تَحْجِزُ مُبَكِّرًا، سَتَحْصُلُ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idhā taḥjizu?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لَوْ حَجَزْتُ فِي فُنْدُقٍ آخَرَ، سَيَكُونُ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sa-yakūnu?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أُقِيمُ فُنْدُقًا بِخَمْسِ نُجُومٍ.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أُقِيمُ فِي فُنْدُقٍ بِخَمْسِ نُجُومٍ.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يُقِيمُ</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إِذَا تَحْجِزُ مُبَكِّرًا، سَتَحْصُلُ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إِذَا حَجَزْتَ مُبَكِّرًا، سَتَحْصُلُ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a past-form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لَوْ حَجَزْتُ فِي فُنْدُقٍ آخَرَ، سَيَكُونُ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لَوْ حَجَزْتُ فِي فُنْدُقٍ آخَرَ، لَكَانَ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Listening: planning a trip to Marrakesh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two months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Booked the trip and renewed the passport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traveller book early?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pay more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first class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get economy class at a good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the traveller stay?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modern hotel outside the city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traditional riad in the old city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travel guide indicate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arrive early, they will visit the souk before the crowds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souk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travel is unsafe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a modern hotel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would have been better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have lost the charm of the old quarters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sa-uqīmu fī.</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يَقُولُ المُسَافِرُ: كُنْتُ قَدْ حَجَزْتُ رِحْلَتِي إِلَى مَرَّاكُشَ قَبْلَ شَهْرَيْنِ، وَكُنْتُ قَدْ جَدَّدْتُ جَوَازَ سَفَرِي.</a:t>
            </a:r>
            <a:endParaRPr lang="ar-SA" sz="17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traveller says: I had booked my trip to Marrakesh two months ago, and I had renewed my passport.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أَحْجِزُ دَائِمًا تَذَاكِرِي مُبَكِّرًا لِأَحْصُلَ عَلَى الدَّرَجَةِ الاقْتِصَادِيَّةِ بِسِعْرٍ مُنَاسِبٍ. سَأُقِيمُ فِي رِيَاضٍ تَقْلِيدِيٍّ فِي المَدِينَةِ القَدِيمَةِ.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always book my tickets early to get economy class at a reasonable price. I will stay in a traditional riad in the old city.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وَأَشَارَ دَلِيلُ السَّفَرِ إِلَى أَنَّهُ إِذَا وَصَلْتُ مُبَكِّرًا، سَأَزُورُ سُوقَ الجُدَيْدَةِ قَبْلَ الزِّحَامِ. أَمَّا التَّأْشِيرَةُ فَقَدْ حَصَلْتُ عَلَيْهَا إِلِكْتْرُونِيًّا.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 guide pointed out that if I arrive early, I will visit the souk before the crowds. As for the visa, I obtained it online.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وَلَوْ حَجَزْتُ فِي فُنْدُقٍ حَدِيثٍ خَارِجَ المَدِينَةِ، لَفَقَدْتُ سِحْرَ الأَحْيَاءِ القَدِيمَةِ.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 booked a modern hotel outside the city, I would have lost the charm of the old quarters.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سَأَحْمِلُ حَقِيبَةً وَاحِدَةً فَقَطْ لِأَتَجَنَّبَ رُسُومَ الأَمْتِعَةِ الزَّائِدَةِ.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take only one bag to avoid excess-baggage fees.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two months earlier?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Booked the trip and renewed the passport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قَدْ حَجَزْتُ رِحْلَتِي … وَكُنْتُ قَدْ جَدَّدْتُ جَوَازَ سَفَرِي.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traveller book early?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pay more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first class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get economy class at a good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أَحْجِزُ دَائِمًا تَذَاكِرِي مُبَكِّرًا لِأَحْصُلَ عَلَى الدَّرَجَةِ الاقْتِصَادِيَّةِ بِسِعْرٍ مُنَاسِبٍ.</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the traveller stay?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modern hotel outside the city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traditional riad in the old city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سَأُقِيمُ فِي رِيَاضٍ تَقْلِيدِيٍّ فِي المَدِينَةِ القَدِيمَةِ.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travel guide indicate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arrive early, they will visit the souk before the crowds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souk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travel is unsafe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وَصَلْتُ مُبَكِّرًا، سَأَزُورُ سُوقَ الجُدَيْدَةِ قَبْلَ الزِّحَامِ.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a modern hotel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would have been better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would have lost the charm of the old quarters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لَوْ حَجَزْتُ فِي فُنْدُقٍ حَدِيثٍ خَارِجَ المَدِينَةِ، لَفَقَدْتُ سِحْرَ الأَحْيَاءِ القَدِيمَةِ.</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sa-uqīmu fī.</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talk through your trip plan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مَتَى حَجَزْتَ رِحْلَتَكَ، وَأَيْنَ سَتُقِيمُ؟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سَيَحْدُثُ إِذَا سَجَّلْتَ الوُصُولَ إِلِكْتْرُونِيًّا؟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حَجَزْتَ فِي مَكَانٍ آخَرَ،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cs typeface="Amiri" pitchFamily="2" charset="-78"/>
              </a:rPr>
              <a:t>كُنْتُ قَدْ حَجَزْتُ رِحْلَتِي قَبْلَ ___ ، وَسَأُقِيمُ فِي ___ .</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سَجَّلْتُ الوُصُولَ إِلِكْتْرُونِيًّا،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حَجَزْتُ فِي ___ ،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مَتَى حَجَزْتَ رِحْلَتَكَ، وَأَيْنَ سَتُقِيمُ؟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did you book your trip, and where will you stay?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كُنْتُ قَدْ حَجَزْتُ رِحْلَتِي قَبْلَ شَهْرَيْنِ، وَسَأُقِيمُ فِي رِيَاضٍ تَقْلِيدِيٍّ.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booked my trip two months ago, and I will stay in a traditional riad.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forms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t>
            </a:r>
            <a:pPr algn="l" indent="0" marL="0">
              <a:buNone/>
            </a:pPr>
            <a:r>
              <a:rPr lang="ar-SA" altLang="en-US" sz="1800" b="1" dirty="0">
                <a:solidFill>
                  <a:srgbClr val="1F2A37"/>
                </a:solidFill>
                <a:latin typeface="Amiri" pitchFamily="2" charset="-78"/>
                <a:cs typeface="Amiri" pitchFamily="2" charset="-78"/>
              </a:rPr>
              <a:t>يَحْجِزُ</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cs typeface="Amiri" pitchFamily="2" charset="-78"/>
              </a:rPr>
              <a:t>يُقِيمُ</a:t>
            </a:r>
            <a:pPr algn="l" indent="0" marL="0">
              <a:buNone/>
            </a:pPr>
            <a:r>
              <a:rPr lang="en-US" sz="1400" b="1" dirty="0">
                <a:solidFill>
                  <a:srgbClr val="1F2A37"/>
                </a:solidFill>
                <a:latin typeface="Calibri" pitchFamily="34" charset="0"/>
                <a:cs typeface="Amiri" pitchFamily="2" charset="-78"/>
              </a:rPr>
              <a:t> in the present, past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yaḥjiz and yuqīm fī in the present, past and future — one sentence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and a Type 1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 perfect and a Type 1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itinerary day using four structures, including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day-by-day itinerary opening with kuntu qad ḥajaztu, with yuqīm fī, a Type 1, a reported recommendation and a Type 2.</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حَجَزْتَ مُبَكِّرًا،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book early, you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cs typeface="Amiri" pitchFamily="2" charset="-78"/>
              </a:rPr>
              <a:t>أَشَارَ الدَّلِيلُ إِلَى أَنَّهُ إِذَا وَصَلْتُ مُبَكِّرًا،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guide pointed out that if I arrive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سَأَحْمِلُ حَقِيبَةً وَاحِدَةً لِأَتَجَنَّبَ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take one bag in order to avoid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كُنْتُ قَدْ حَجَزْتُ قَبْلَ العُطْلَةِ،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booked before the holiday,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كُنْتُ قَدْ حَجَزْتُ رِحْلَتِي إِلَى ______ قَبْلَ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booked my trip to … before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سَأُقِيمُ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stay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العَامِ المَاضِي أَقَمْتُ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year I stayed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أَحْجِزُ تَذَاكِرِي دَائِمًا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always book my tickets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cs typeface="Amiri" pitchFamily="2" charset="-78"/>
              </a:rPr>
              <a:t>مَرَّاكُشَ  ·  عُمَانَ  ·  شَهْرَيْنِ  ·  رِيَاضٍ تَقْلِيدِيٍّ  ·  شَقَّةٍ مَفْرُوشَةٍ  ·  فُنْدُقٍ بِخَمْسِ نُجُومٍ  ·  مُبَكِّرًا  ·  سَتَحْصُلُ عَلَى سِعْرٍ أَرْخَصَ  ·  سَأَزُورُ السُّوقَ قَبْلَ الزِّحَامِ  ·  رُسُومَ الأَمْتِعَةِ الزَّائِدَةِ  ·  لَحَصَلْتُ عَلَى سِعْرٍ أَرْخَصَ  ·  جَوَازَ سَفَرِي</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 day-by-day itinerary of one hundred to one hundred and ten words for a trip to an Arab city. Open with a past perfect (</a:t>
            </a:r>
            <a:pPr algn="l" indent="0" marL="0">
              <a:buNone/>
            </a:pPr>
            <a:r>
              <a:rPr lang="ar-SA" altLang="en-US" sz="1700" b="1" dirty="0">
                <a:solidFill>
                  <a:srgbClr val="1F2A37"/>
                </a:solidFill>
                <a:latin typeface="Amiri" pitchFamily="2" charset="-78"/>
                <a:cs typeface="Amiri" pitchFamily="2" charset="-78"/>
              </a:rPr>
              <a:t>كُنْتُ قَدْ حَجَزْتُ</a:t>
            </a:r>
            <a:pPr algn="l" indent="0" marL="0">
              <a:buNone/>
            </a:pPr>
            <a:r>
              <a:rPr lang="en-US" sz="1300" b="1" dirty="0">
                <a:solidFill>
                  <a:srgbClr val="1F2A37"/>
                </a:solidFill>
                <a:latin typeface="Calibri" pitchFamily="34" charset="0"/>
                <a:cs typeface="Amiri" pitchFamily="2" charset="-78"/>
              </a:rPr>
              <a:t>), use </a:t>
            </a:r>
            <a:pPr algn="l" indent="0" marL="0">
              <a:buNone/>
            </a:pPr>
            <a:r>
              <a:rPr lang="ar-SA" altLang="en-US" sz="1700" b="1" dirty="0">
                <a:solidFill>
                  <a:srgbClr val="1F2A37"/>
                </a:solidFill>
                <a:latin typeface="Amiri" pitchFamily="2" charset="-78"/>
                <a:cs typeface="Amiri" pitchFamily="2" charset="-78"/>
              </a:rPr>
              <a:t>يُقِيمُ فِي</a:t>
            </a:r>
            <a:pPr algn="l" indent="0" marL="0">
              <a:buNone/>
            </a:pPr>
            <a:r>
              <a:rPr lang="en-US" sz="1300" b="1" dirty="0">
                <a:solidFill>
                  <a:srgbClr val="1F2A37"/>
                </a:solidFill>
                <a:latin typeface="Calibri" pitchFamily="34" charset="0"/>
                <a:cs typeface="Amiri" pitchFamily="2" charset="-78"/>
              </a:rPr>
              <a:t>, at least one Type 1 conditional, a reported recommendation, and one Type 2 counterfactual.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opening with </a:t>
            </a:r>
            <a:pPr algn="l" indent="0" marL="0">
              <a:buNone/>
            </a:pPr>
            <a:r>
              <a:rPr lang="ar-SA" altLang="en-US" sz="1550" dirty="0">
                <a:solidFill>
                  <a:srgbClr val="1F2A37"/>
                </a:solidFill>
                <a:latin typeface="Amiri" pitchFamily="2" charset="-78"/>
                <a:cs typeface="Amiri" pitchFamily="2" charset="-78"/>
              </a:rPr>
              <a:t>يَحْجِزُ</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كُنْتُ قَدْ حَجَزْتُ</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يُقِيمُ فِي</a:t>
            </a:r>
            <a:pPr algn="l" indent="0" marL="0">
              <a:buNone/>
            </a:pPr>
            <a:r>
              <a:rPr lang="en-US" sz="1200" dirty="0">
                <a:solidFill>
                  <a:srgbClr val="1F2A37"/>
                </a:solidFill>
                <a:latin typeface="Calibri" pitchFamily="34" charset="0"/>
                <a:cs typeface="Amiri" pitchFamily="2" charset="-78"/>
              </a:rPr>
              <a:t> before the accommodation.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conditional and a reported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اليَوْمُ الأَوَّلُ: … اليَوْمُ الثَّانِي: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Day one: … Day two: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وَكُنْتُ قَدْ جَدَّدْتُ جَوَازَ سَفَرِي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had renewed my passport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وَإِذَا كَانَ الطَّقْسُ جَيِّدًا، سَأَتَنَزَّهُ طَوَالَ اليَوْمِ</a:t>
            </a:r>
            <a:endParaRPr lang="ar-SA" sz="16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if the weather is good, I will hike all day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سَأُقِيمُ لَيْلَةً أَخِيرَةً قُرْبَ الشَّاطِئِ</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stay a final night near the beach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لِذٰلِكَ أَنْصَحُ بِالحَجْزِ المُبَكِّرِ دَائِمًا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always recommend booking early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اليَوْمُ الأَوَّلُ: كُنْتُ قَدْ حَجَزْتُ رِحْلَتِي إِلَى الدَّارِ البَيْضَاءِ قَبْلَ شَهْرَيْنِ، وَكُنْتُ قَدْ جَدَّدْتُ جَوَازَ سَفَرِي. سَأَصِلُ إِلَى المَطَارِ صَبَاحًا، وَسَأُقِيمُ فِي رِيَاضٍ تَقْلِيدِيٍّ فِي المَدِينَةِ القَدِيمَةِ. وَأَشَارَ دَلِيلُ السَّفَرِ إِلَى أَنَّهُ إِذَا وَصَلْتُ مُبَكِّرًا، سَأَزُورُ السُّوقَ قَبْلَ الزِّحَامِ. اليَوْمُ الثَّانِي: سَأَحْجِزُ جَوْلَةً إِلَى الجِبَالِ، وَإِذَا كَانَ الطَّقْسُ جَيِّدًا، سَأَتَنَزَّهُ طَوَالَ اليَوْمِ. اليَوْمُ الثَّالِثُ: سَأُقِيمُ لَيْلَةً أَخِيرَةً قُرْبَ الشَّاطِئِ. وَلَوْ كُنْتُ قَدْ حَجَزْتُ قَبْلَ العُطْلَةِ الرَّسْمِيَّةِ، لَحَصَلْتُ عَلَى سِعْرٍ أَرْخَصَ. لِذٰلِكَ أَنْصَحُ بِالحَجْزِ المُبَكِّرِ دَائِمًا.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Day one: I had booked my trip to Casablanca two months ago, and I had renewed my passport. I will arrive at the airport in the morning, and I will stay in a traditional riad in the old city. The travel guide pointed out that if I arrive early, I will visit the souk before the crowds. Day two: I will book a tour to the mountains, and if the weather is good, I will hike all day. Day three: I will stay a final night near the beach. And if I had booked before the public holiday, I would have got a cheaper price. So I always recommend booking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 perfects (kuntu qad ḥajaztu · jaddadtu)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yuqīm fī twice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reported tip + 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2 regret (law kuntu qad … 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yaḥjiz / yuqīm are in the right tense for each time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yuqīm always has fī (and the noun after it ends in -in).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itinerary opens with kuntu qad ḥajaztu.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idhā verb is past; the result has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has la- (la-ḥaṣaltu · la-kāna).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cs typeface="Amiri" pitchFamily="2" charset="-78"/>
              </a:rPr>
              <a:t>رِحْلَةً إِلَى عُمَانَ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سَأَحْجِزُ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أُقِيمُ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فُنْدُقٍ قَرِيبٍ مِنَ الشَّاطِئِ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cs typeface="Amiri" pitchFamily="2" charset="-78"/>
              </a:rPr>
              <a:t>لَوْ حَجَزْتُ فِي فُنْدُقٍ آخَرَ،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cs typeface="Amiri" pitchFamily="2" charset="-78"/>
              </a:rPr>
              <a:t>رِحْلَةً إِلَى عُمَانَ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سَأَحْجِزُ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حَجَزْتُ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أَحْجِزُ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future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سَأَحْجِزُ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أُقِيمُ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فُنْدُقٍ قَرِيبٍ مِنَ الشَّاطِئِ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فِي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يُقِيمُ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cs typeface="Amiri" pitchFamily="2" charset="-78"/>
              </a:rPr>
              <a:t>لَوْ حَجَزْتُ فِي فُنْدُقٍ آخَرَ،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لَكَانَ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سَيَكُونُ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يَكُونُ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traveller's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2" charset="-78"/>
                <a:cs typeface="Amiri" pitchFamily="2" charset="-78"/>
              </a:rPr>
              <a:t>عِنْدَمَا أُخَطِّطُ لِرِحْلَةٍ، أَبْدَأُ بِالأَسَاسِيَّاتِ. أَحْجِزُ تَذْكِرَةَ الطَّائِرَةِ مُبَكِّرًا، وَأُجَدِّدُ جَوَازَ سَفَرِي، وَأَشْتَرِي تَأْمِينَ سَفَرٍ. فِي رِحْلَتِي الأَخِيرَةِ، كُنْتُ قَدْ حَجَزْتُ الفُنْدُقَ قَبْلَ شَهْرٍ، وَأَقَمْتُ فِي شَقَّةٍ مَفْرُوشَةٍ قَرِيبَةٍ مِنَ المَرْكَزِ. وَأَشَارَ المُنَظِّمُ إِلَى أَنَّهُ إِذَا سَجَّلْتُ الوُصُولَ إِلِكْتْرُونِيًّا، سَأُوَفِّرُ وَقْتًا فِي المَطَارِ. أَمَّا هٰذِهِ السَّنَةَ فَسَأَحْجِزُ رِحْلَةً إِلَى عُمَانَ، وَسَأُقِيمُ فِي نُزُلٍ جَبَلِيٍّ. وَلَوْ كُنْتُ قَدْ حَجَزْتُ قَبْلَ العُطْلَةِ الرَّسْمِيَّةِ، لَحَصَلْتُ عَلَى سِعْرٍ أَرْخَصَ. لِذٰلِكَ أَنْصَحُ دَائِمًا بِالحَجْزِ المُبَكِّرِ.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أُخَطِّطُ لِرِحْلَةٍ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plan a trip</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الأَسَاسِيَّاتِ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basics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أُجَدِّدُ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renew</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المُنَظِّمُ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organiser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سَجَّلْتُ الوُصُولَ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checked in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سَأُوَفِّرُ وَقْتًا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save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نُزُلٍ جَبَلِيٍّ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mountain lodge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العُطْلَةِ الرَّسْمِيَّةِ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public holiday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أَرْخَصَ</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أَنْصَحُ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recommend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traveller do first when planning?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Packs a bag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 the flight, renews the passport, buys insurance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 last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five-star hotel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furnished apartment near the centre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organiser indicate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 check-in saves time at the airport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is closed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Check-in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year's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 home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 a trip to Oman and stay in a mountain lodge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 travel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booking earlier (Type 2)?</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have got a cheaper price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 would have risen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traveller do first when planning?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Packs a bag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Books the flight, renews the passport, buys insurance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cs typeface="Amiri" pitchFamily="2" charset="-78"/>
              </a:rPr>
              <a:t>أَحْجِزُ تَذْكِرَةَ الطَّائِرَةِ مُبَكِّرًا، وَأُجَدِّدُ جَوَازَ سَفَرِي، وَأَشْتَرِي تَأْمِينَ سَفَرٍ.</a:t>
            </a:r>
            <a:endParaRPr lang="ar-SA" sz="11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 last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five-star hotel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furnished apartment near the centre</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وَأَقَمْتُ فِي شَقَّةٍ مَفْرُوشَةٍ قَرِيبَةٍ مِنَ المَرْكَزِ.</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organiser indicate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Online check-in saves time at the airport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is closed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Check-in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سَجَّلْتُ الوُصُولَ إِلِكْتْرُونِيًّا، سَأُوَفِّرُ وَقْتًا فِي المَطَارِ.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year's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 home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 a trip to Oman and stay in a mountain lodge</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 travel</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سَأَحْجِزُ رِحْلَةً إِلَى عُمَانَ، وَسَأُقِيمُ فِي نُزُلٍ جَبَلِيٍّ.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booking earlier (Type 2)?</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would have got a cheaper price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price would have risen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cs typeface="Amiri" pitchFamily="2" charset="-78"/>
              </a:rPr>
              <a:t>لَوْ كُنْتُ قَدْ حَجَزْتُ قَبْلَ العُطْلَةِ الرَّسْمِيَّةِ، لَحَصَلْتُ عَلَى سِعْرٍ أَرْخَصَ.</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Booking Mission — </a:t>
            </a:r>
            <a:pPr algn="l" indent="0" marL="0">
              <a:buNone/>
            </a:pPr>
            <a:r>
              <a:rPr lang="ar-SA" altLang="en-US" sz="2450" b="1" dirty="0">
                <a:solidFill>
                  <a:srgbClr val="1B3B6F"/>
                </a:solidFill>
                <a:latin typeface="Amiri" pitchFamily="2" charset="-78"/>
                <a:cs typeface="Amiri" pitchFamily="2" charset="-78"/>
              </a:rPr>
              <a:t>يَحْجِزُ</a:t>
            </a:r>
            <a:pPr algn="l" indent="0" marL="0">
              <a:buNone/>
            </a:pPr>
            <a:r>
              <a:rPr lang="en-US" sz="1900" b="1" dirty="0">
                <a:solidFill>
                  <a:srgbClr val="1B3B6F"/>
                </a:solidFill>
                <a:latin typeface="Cambria" pitchFamily="34" charset="0"/>
                <a:cs typeface="Amiri" pitchFamily="2" charset="-78"/>
              </a:rPr>
              <a:t> and </a:t>
            </a:r>
            <a:pPr algn="l" indent="0" marL="0">
              <a:buNone/>
            </a:pPr>
            <a:r>
              <a:rPr lang="ar-SA" altLang="en-US" sz="2450" b="1" dirty="0">
                <a:solidFill>
                  <a:srgbClr val="1B3B6F"/>
                </a:solidFill>
                <a:latin typeface="Amiri" pitchFamily="2" charset="-78"/>
                <a:cs typeface="Amiri" pitchFamily="2" charset="-78"/>
              </a:rPr>
              <a:t>يُقِيمُ</a:t>
            </a:r>
            <a:pPr algn="l" indent="0" marL="0">
              <a:buNone/>
            </a:pPr>
            <a:r>
              <a:rPr lang="en-US" sz="1900" b="1" dirty="0">
                <a:solidFill>
                  <a:srgbClr val="1B3B6F"/>
                </a:solidFill>
                <a:latin typeface="Cambria" pitchFamily="34" charset="0"/>
                <a:cs typeface="Amiri" pitchFamily="2" charset="-78"/>
              </a:rPr>
              <a:t> in Every Tense</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complete — ___ </a:t>
            </a:r>
            <a:pPr algn="l" indent="0" marL="0">
              <a:buNone/>
            </a:pPr>
            <a:r>
              <a:rPr lang="ar-SA" altLang="en-US" sz="1650" b="1" dirty="0">
                <a:solidFill>
                  <a:srgbClr val="1B3B6F"/>
                </a:solidFill>
                <a:latin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سَأَحْجِزُ</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complete — ___ </a:t>
            </a:r>
            <a:pPr algn="l" indent="0" marL="0">
              <a:buNone/>
            </a:pPr>
            <a:r>
              <a:rPr lang="ar-SA" altLang="en-US" sz="1650" b="1" dirty="0">
                <a:solidFill>
                  <a:srgbClr val="1B3B6F"/>
                </a:solidFill>
                <a:latin typeface="Amiri" pitchFamily="2" charset="-78"/>
                <a:cs typeface="Amiri" pitchFamily="2" charset="-78"/>
              </a:rPr>
              <a:t>الفُنْدُقَ قَبْلَ شَهْرٍ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سَأَحْجِزُ</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complete — ___ </a:t>
            </a:r>
            <a:pPr algn="l" indent="0" marL="0">
              <a:buNone/>
            </a:pPr>
            <a:r>
              <a:rPr lang="ar-SA" altLang="en-US" sz="1650" b="1" dirty="0">
                <a:solidFill>
                  <a:srgbClr val="1B3B6F"/>
                </a:solidFill>
                <a:latin typeface="Amiri" pitchFamily="2" charset="-78"/>
                <a:cs typeface="Amiri" pitchFamily="2" charset="-78"/>
              </a:rPr>
              <a:t>رِحْلَةً إِلَى مَرَّاكُشَ</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أَحْجِزُ</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سَأَحْجِزُ</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مُبَكِّرًا، سَتُوَفِّرُ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حَجَزْتَ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تَحْجِزُ</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سَتَحْجِزُ</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حَجَزْتُ فِي فُنْدُقٍ آخَرَ،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سَيَكُونُ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لَكَانَ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يَكُونُ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complete — ___ </a:t>
            </a:r>
            <a:pPr algn="l" indent="0" marL="0">
              <a:buNone/>
            </a:pPr>
            <a:r>
              <a:rPr lang="ar-SA" altLang="en-US" sz="1650" b="1" dirty="0">
                <a:solidFill>
                  <a:srgbClr val="1B3B6F"/>
                </a:solidFill>
                <a:latin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أَحْجِزُ</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سَأَحْجِزُ</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first person is </a:t>
            </a:r>
            <a:pPr algn="l" indent="0" marL="0">
              <a:buNone/>
            </a:pPr>
            <a:r>
              <a:rPr lang="ar-SA" altLang="en-US" sz="1350" dirty="0">
                <a:solidFill>
                  <a:srgbClr val="8A6D1E"/>
                </a:solidFill>
                <a:latin typeface="Amiri" pitchFamily="2" charset="-78"/>
                <a:cs typeface="Amiri" pitchFamily="2" charset="-78"/>
              </a:rPr>
              <a:t>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complete — ___ </a:t>
            </a:r>
            <a:pPr algn="l" indent="0" marL="0">
              <a:buNone/>
            </a:pPr>
            <a:r>
              <a:rPr lang="ar-SA" altLang="en-US" sz="1650" b="1" dirty="0">
                <a:solidFill>
                  <a:srgbClr val="1B3B6F"/>
                </a:solidFill>
                <a:latin typeface="Amiri" pitchFamily="2" charset="-78"/>
                <a:cs typeface="Amiri" pitchFamily="2" charset="-78"/>
              </a:rPr>
              <a:t>الفُنْدُقَ قَبْلَ شَهْرٍ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حَجَزْتُ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أَحْجِزُ</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سَأَحْجِزُ</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is </a:t>
            </a:r>
            <a:pPr algn="l" indent="0" marL="0">
              <a:buNone/>
            </a:pPr>
            <a:r>
              <a:rPr lang="ar-SA" altLang="en-US" sz="1350" dirty="0">
                <a:solidFill>
                  <a:srgbClr val="8A6D1E"/>
                </a:solidFill>
                <a:latin typeface="Amiri" pitchFamily="2" charset="-78"/>
                <a:cs typeface="Amiri" pitchFamily="2" charset="-78"/>
              </a:rPr>
              <a:t>حَجَزْتُ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complete — ___ </a:t>
            </a:r>
            <a:pPr algn="l" indent="0" marL="0">
              <a:buNone/>
            </a:pPr>
            <a:r>
              <a:rPr lang="ar-SA" altLang="en-US" sz="1650" b="1" dirty="0">
                <a:solidFill>
                  <a:srgbClr val="1B3B6F"/>
                </a:solidFill>
                <a:latin typeface="Amiri" pitchFamily="2" charset="-78"/>
                <a:cs typeface="Amiri" pitchFamily="2" charset="-78"/>
              </a:rPr>
              <a:t>رِحْلَةً إِلَى مَرَّاكُشَ</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حَجَزْتُ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أَحْجِزُ</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سَأَحْجِزُ</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future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is </a:t>
            </a:r>
            <a:pPr algn="l" indent="0" marL="0">
              <a:buNone/>
            </a:pPr>
            <a:r>
              <a:rPr lang="ar-SA" altLang="en-US" sz="1350" dirty="0">
                <a:solidFill>
                  <a:srgbClr val="8A6D1E"/>
                </a:solidFill>
                <a:latin typeface="Amiri" pitchFamily="2" charset="-78"/>
                <a:cs typeface="Amiri" pitchFamily="2" charset="-78"/>
              </a:rPr>
              <a:t>كُنْتُ قَدْ حَجَزْتُ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مُبَكِّرًا، سَتُوَفِّرُ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حَجَزْتَ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تَحْجِزُ</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سَتَحْجِزُ</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حَجَزْتُ فِي فُنْدُقٍ آخَرَ،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سَيَكُونُ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لَكَانَ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يَكُونُ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P3-L03 · Describing Past Holidays — Advanced Narrative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ذِكْرَى لَا تُنْسَى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unforgettable memory</a:t>
            </a:r>
            <a:pPr indent="0" marL="0">
              <a:buNone/>
            </a:pPr>
            <a:r>
              <a:rPr lang="en-US" sz="1000" i="1" dirty="0">
                <a:solidFill>
                  <a:srgbClr val="5A6472"/>
                </a:solidFill>
                <a:latin typeface="Calibri" pitchFamily="34" charset="0"/>
                <a:cs typeface="Amiri" pitchFamily="2" charset="-78"/>
              </a:rPr>
              <a:t>  pl. ذِكْرَيَاتٌ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مُغَامَرَةٌ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adventure</a:t>
            </a:r>
            <a:pPr indent="0" marL="0">
              <a:buNone/>
            </a:pPr>
            <a:r>
              <a:rPr lang="en-US" sz="1000" i="1" dirty="0">
                <a:solidFill>
                  <a:srgbClr val="5A6472"/>
                </a:solidFill>
                <a:latin typeface="Calibri" pitchFamily="34" charset="0"/>
                <a:cs typeface="Amiri" pitchFamily="2" charset="-78"/>
              </a:rPr>
              <a:t>  pl. مُغَامَرَاتٌ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صَدْمَةٌ ثَقَافِيَّةٌ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culture shock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فَاقَ تَوَقُّعَاتِي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exceeded my expectations</a:t>
            </a:r>
            <a:pPr indent="0" marL="0">
              <a:buNone/>
            </a:pPr>
            <a:r>
              <a:rPr lang="en-US" sz="1000" i="1" dirty="0">
                <a:solidFill>
                  <a:srgbClr val="5A6472"/>
                </a:solidFill>
                <a:latin typeface="Calibri" pitchFamily="34" charset="0"/>
                <a:cs typeface="Amiri" pitchFamily="2" charset="-78"/>
              </a:rPr>
              <a:t>  فَاقَتْ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فَجْأَةً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suddenly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holiday you remember: what happened, and how did you feel?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فِي إِجَازَتِي الأَخِيرَةِ ______ ، وَكَانَتْ ذِكْرَى لَا تُنْسَى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yaḥjiz and yuqīm fī in the present, past and future (six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past perfect and a Type 1 booking tip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day-by-day itinerary for a trip to an Arab city.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P3-L03 · Describing Past Holidays — Advanced Narrative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وَصْفُ العُطَلِ المَاضِيَةِ — السَّرْدُ المُتَقَدِّمُ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aḥjizu · ḥajaztu · sa-aḥjizu · kuntu qad ḥajaztu — uqīmu FĪ (aqamtu, short a) — idhā ḥajazta … sa- for advice, law ḥajaztu … la- for regret.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P3-L02 · Planning a Trip — Booking, Itineraries and Travel Documents</dc:title>
  <dc:subject>PptxGenJS Presentation</dc:subject>
  <dc:creator>Al Madina Online School · Arabic Department</dc:creator>
  <cp:lastModifiedBy>Al Madina Online School · Arabic Department</cp:lastModifiedBy>
  <cp:revision>1</cp:revision>
  <dcterms:created xsi:type="dcterms:W3CDTF">2026-10-11T06:43:08Z</dcterms:created>
  <dcterms:modified xsi:type="dcterms:W3CDTF">2026-10-11T06:43:08Z</dcterms:modified>
</cp:coreProperties>
</file>