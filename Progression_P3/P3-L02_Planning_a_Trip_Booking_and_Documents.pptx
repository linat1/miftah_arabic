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P3-L02. The website lesson “Planning a Trip — Booking, Itineraries and Travel Documents”: vocabulary, grammar rules and quiz, patterns, common mistakes, sorter, listening, reading, speaking prompts and model, writing task and model, differentiation, final check and the lesson mission. Picture match: website visual game “Planning a Trip — Booking, Itineraries and Travel Documents”.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yaḥjiz and yuqīm fī in the present, past and future (website Core). Develop: add a past perfect and a Type 1 conditional. Stretch: a full itinerary day with four structures, including a Type 2 counterfactual (the website 100–110-word itinerary).
• Syllabus focus: يَحْجِزُ and يُقِيمُ are on the Cambridge 0544 verb list — today students meet them in EVERY tense, so they never freeze on them in an exam.
• Watch the hollow verb: أُقِيمُ (present, long ī) but أَقَمْتُ (past with -tu, SHORT a) and أَقَامَ / أَقَامَتْ (long ā). Students often write أَقَامْتُ ✗.
• Real-life link: many families plan Umrah or visits to relatives — let students plan a real trip if they wish, or a dream one (Marrakesh, Oman, Istanbul).
• Grammar links: past perfect (P2-L03) · Type 1 (P1-L03) · Type 2 (P2-L06) · reported speech (P2-L02) · li- + subjunctive (D units).
• TEACHER-WRITTEN ITEMS: waṣl alif shown without a kasra; rule headings and formulas in English and transliteration; sorter headings in English; the accommodation table and the purpose / advice table are teacher-built from the website texts. All other website items, including the visual game,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P3-L01. Question 4 retrieves yaṣil bayna (P3-L01); question 5 the past perfect (P2-L03) — today kuntu qad opens every itinerary.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Two verbs, every tense — and yuqīm always takes fī before the place you stay.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اقامت، مقیم، مسافر and جدول come from the same roots — يُقِيمُ فِي is the verb behind اقامت. CAREFUL: Urdu وصول usually means “received” (payment received); in Arabic الوُصُولُ is arrival (صَالَةُ الوُصُولِ = the arrivals hall).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Booking and documents (website vocabulary (1 of 2)). Hear → Say → See → Use. Transliteration is printed for Core students (cover it for Develop/Stretch).
Booking and documents: the nouns of the trip. يَحْجِزُ (book) takes a direct object: أَحْجِزُ تَذْكِرَةً · حَجَزْتُ فُنْدُقًا.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Booking and documents (website vocabulary (2 of 2)). Hear → Say → See → Use. Transliteration is printed for Core students (cover it for Develop/Stretch).
Booking and documents: the nouns of the trip. يَحْجِزُ (book) takes a direct object: أَحْجِزُ تَذْكِرَةً · حَجَزْتُ فُنْدُقًا.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Accommodation and the airport (website vocabulary (1 of 2)). Hear → Say → See → Use. Transliteration is printed for Core students (cover it for Develop/Stretch).
Accommodation and the airport: يُقِيمُ is FIXED with فِي before the place you stay — the formal choice, not يَسْكُنُ.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Accommodation and the airport (website vocabulary (2 of 2)). Hear → Say → See → Use. Transliteration is printed for Core students (cover it for Develop/Stretch).
FLEX: teach if time allows; otherwise these are on the website vocabulary tab for homework.
Accommodation and the airport: يُقِيمُ is FIXED with فِي before the place you stay — the formal choice, not يَسْكُنُ.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2028 verbs across tenses (website vocabulary (1 of 2)). Hear → Say → See → Use. Transliteration is printed for Core students (cover it for Develop/Stretch).
FLEX: teach if time allows; otherwise these are on the website vocabulary tab for homework.
The two syllabus verbs across tenses — each card gives the “she” form too. Hollow verb alert: أَقَمْتُ (short a) but أَقَامَتْ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2028 verbs across tenses (website vocabulary (2 of 2)). Hear → Say → See → Use. Transliteration is printed for Core students (cover it for Develop/Stretch).
FLEX: teach if time allows; otherwise these are on the website vocabulary tab for homework.
The two syllabus verbs across tenses — each card gives the “she” form too. Hollow verb alert: أَقَمْتُ (short a) but أَقَامَتْ (long 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“Present, past, future” and “Past perfect”, the website table and teaching point “يَحْجِزُ and يُقِيمُ in every tense”.
Website quiz 1–3 and 7 test exactly these forms. Common slip: أَقَامْتُ ✗ → أَقَمْتُ (the long ā shortens before a consonant ending).
For “we”: نَحْجِزُ · حَجَزْنَا · سَنَحْجِزُ · كُنَّا قَدْ حَجَزْنَا · نُقِيمُ · أَقَمْنَا.
Drill: teacher says a time word (أَمْسِ · الآنَ · غَدًا · قَبْلَ شَهْرٍ …) and a person; students give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4 (يُقِيمُ فِي) and teaching point “يُقِيمُ takes فِي before accommodation … the formal choice, not يَسْكُنُ”. Rows from the website listening, reading and patterns.
After فِي every adjective is genitive too: فِي فُنْدُقٍ قَرِيبٍ · فِي شَقَّةٍ مَفْرُوشَةٍ قَرِيبَةٍ.
A riad (رِيَاضٌ) is a traditional Moroccan house with an inner courtyard — the website listening is set in Marrakesh.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“Type 1 conditional” and “Type 2”, teaching point 1. Card 2 from the website listening; card 3 from the website reading (لَوْ كُنْتُ قَدْ حَجَزْتُ قَبْلَ العُطْلَةِ الرَّسْمِيَّةِ، لَحَصَلْتُ …).
Website mistake 3: لَوْ حَجَزْتُ …، سَيَكُونُ ✗ → لَكَانَ.
Card 1 = advice to “you” (ḥajazta, -ta); cards 2–3 = “I” (ḥajaztu, -tu). Point out the one-letter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purpose clauses from the website listening (لِأَحْصُلَ · لِأَتَجَنَّبَ) and the reported recommendation from the website listening / reading (أَشَارَ … إِلَى أَنَّهُ إِذَا …); row 4 is website quiz 8 (“Which sentence packs three structures?”).
li- + subjunctive (-a): لِأَحْصُلَ · لِأَتَجَنَّبَ · لِأُوَفِّرَ.
أَنَّهُ here is the “pronoun of the matter” (ضَمِيرُ الشَّأْنِ): anna cannot be followed directly by idhā, so it takes -hu.
Website challenge: “Write يَحْجِزُ in all four tenses and in both conditional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“يَحْجِزُ and يُقِيمُ conjugated across the present, past, future, past perfect and both conditional types.”
• Present, past, future: The core three tenses.
• Past perfect: An action completed before another past point.
• Type 1 conditional: A real booking outcome.
• Type 2 and yuqīm fī: A counterfactual booking, and staying at accommodation.
Website common error: Dropping the فِي after يُقِيمُ, or using a present verb after إِذَا / لَوْ. يُقِيمُ takes فِي, and both conditionals take a past-form verb in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“Start BEFORE the trip: kuntu qad ḥajaztu. Where do I stay? yuqīm needs FĪ. Add the guide’s advice: ashāra ilā anna-hu + idhā … sa-. Finish with a regret: law kuntu qad ḥajaztu … la-ḥaṣaltu.”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Planning a Trip — Booking, Itineraries and Travel Documents”)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move each sentence through the tenses: حَجَزْتُ تَذْكِرَةَ الطَّائِرَةِ → كُنْتُ قَدْ حَجَزْتُ … قَبْلَ شَهْرٍ → سَأَحْجِزُ … · حَجَزْتُ فُنْدُقًا → سَأُقِيمُ فِي فُنْدُقٍ لِثَلَاثِ لَيَالٍ.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Planning a Trip — Booking, Itineraries and Travel Documents”)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move each sentence through the tenses: حَجَزْتُ تَذْكِرَةَ الطَّائِرَةِ → كُنْتُ قَدْ حَجَزْتُ … قَبْلَ شَهْرٍ → سَأَحْجِزُ … · حَجَزْتُ فُنْدُقًا → سَأُقِيمُ فِي فُنْدُقٍ لِثَلَاثِ لَيَالٍ.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an itinerary day from a past-perfect opening, an accommodation plan and a conditional.” Website feedback: any three different combinations work.
Core: read row 1 across. Develop: mix rows and change one verb to “she” (كَانَتْ قَدْ حَجَزَتْ · سَتُقِيمُ). Stretch: write your own column 3 with law kuntu qad … 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every card into the “she” form: تَحْجِزُ · تُقِيمُ فِي · حَجَزَتْ · كَانَتْ قَدْ حَجَزَتْ · أَقَامَتْ فِي · سَتَحْجِزُ · إِذَا حَجَزَتْ سَتَحْصُلُ · لَوْ حَجَزَتْ لَكَانَ.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every card into the “she” form: تَحْجِزُ · تُقِيمُ فِي · حَجَزَتْ · كَانَتْ قَدْ حَجَزَتْ · أَقَامَتْ فِي · سَتَحْجِزُ · إِذَا حَجَزَتْ سَتَحْصُلُ · لَوْ حَجَزَتْ لَكَانَ.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the tense of every form of yaḥjiz and yuqīm you hear.
Listen 1: just listen. Listen 2: note answers. Then chat the letters.
Support: after the second listening, show the read-along slide (Arabic + English, line by line) for Core students.
SCRIPT (read aloud):
يَقُولُ المُسَافِرُ: كُنْتُ قَدْ حَجَزْتُ رِحْلَتِي إِلَى مَرَّاكُشَ قَبْلَ شَهْرَيْنِ، وَكُنْتُ قَدْ جَدَّدْتُ جَوَازَ سَفَرِي. أَحْجِزُ دَائِمًا تَذَاكِرِي مُبَكِّرًا لِأَحْصُلَ عَلَى الدَّرَجَةِ الاقْتِصَادِيَّةِ بِسِعْرٍ مُنَاسِبٍ. سَأُقِيمُ فِي رِيَاضٍ تَقْلِيدِيٍّ فِي المَدِينَةِ القَدِيمَةِ. وَأَشَارَ دَلِيلُ السَّفَرِ إِلَى أَنَّهُ إِذَا وَصَلْتُ مُبَكِّرًا، سَأَزُورُ سُوقَ الجُدَيْدَةِ قَبْلَ الزِّحَامِ. أَمَّا التَّأْشِيرَةُ فَقَدْ حَصَلْتُ عَلَيْهَا إِلِكْتْرُونِيًّا. وَلَوْ حَجَزْتُ فِي فُنْدُقٍ حَدِيثٍ خَارِجَ المَدِينَةِ، لَفَقَدْتُ سِحْرَ الأَحْيَاءِ القَدِيمَةِ. سَأَحْمِلُ حَقِيبَةً وَاحِدَةً فَقَطْ لِأَتَجَنَّبَ رُسُومَ الأَمْتِعَةِ الزَّائِدَةِ.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حَجَزْتَ فِي مَكَانٍ آخَرَ؟ (Type 2)
B: لَوْ حَجَزْتُ فِي فُنْدُقٍ حَدِيثٍ، لَفَقَدْتُ سِحْرَ المَدِينَةِ القَدِيمَةِ. (Type 2 counterfactual)
Website prompts and model. Pairs: travel agent / traveller. The agent asks; the traveller answers with the right tense each time. To a girl: حَجَزْتِ · رِحْلَتَكِ · سَتُقِيمِينَ · سَجَّلْتِ.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يَحْجِزُ and يُقِيمُ in the present, past and future. · Develop — Add a past perfect and a Type 1 conditional. · Stretch — Write a full itinerary day using four structures, including a Type 2 counterfactual.
Website writing task (Stretch): Write a day-by-day itinerary of one hundred to one hundred and ten words for a trip to an Arab city. Open with a past perfect (كُنْتُ قَدْ حَجَزْتُ), use يُقِيمُ فِي, at least one Type 1 conditional, a reported recommendation, and one Type 2 counterfactual.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حَجَزْتُ · كُنْتُ قَدْ جَدَّدْتُ · سَأُقِيمُ فِي رِيَاضٍ · أَشَارَ … إِلَى أَنَّهُ إِذَا وَصَلْتُ … سَأَزُورُ · سَأَحْجِزُ جَوْلَةً · إِذَا كَانَ الطَّقْسُ … سَأَتَنَزَّهُ · سَأُقِيمُ لَيْلَةً · لَوْ كُنْتُ قَدْ حَجَزْتُ … لَحَصَلْتُ.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(P3-L03 · Describing Past Holidays — Advanced Narrative) will spend class time USING this language, so students prepare it tonight — short, simple, easy to access (school guidance: “Simple, Short, Interesting, Relevant, Easy to access”). The five words come from the website P3-L03 vocabulary (narrating past holidays).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P3  ·  P3-L02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P3-L02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Planning a Trip — Booking, Itineraries and Travel Documents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التَّخْطِيطُ لِرِحْلَةٍ — الحَجْزُ وَالوَثَائِقُ</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Plan a detailed trip with the syllabus verbs yaḥjiz (book) and yuqīm fī (stay at) in every tense — present, past, future, past perfect — and in both conditionals, then write a day-by-day itinerary.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P3-L02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P3 › P3-L02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yaḥjiz and yuqīm fī in every tense, accommodation, both conditionals, purpose li-.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the booking pictures, build an itinerary day, sort the tenses.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P3-L03.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جَدْوَلُ رِحْلَةٍ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 timetable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travel itinerary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ticket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تَأْشِيرَةٌ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visa</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passport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insurance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تَسْجِيلُ الوُصُولِ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arrivals hall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يَصِلُ المِتْرُو إِلَى المَرْكَزِ وَالمَطَارِ.</a:t>
            </a:r>
            <a:endParaRPr lang="ar-SA" sz="19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يَصِلُ المِتْرُو المَرْكَزَ وَالمَطَارَ.</a:t>
            </a:r>
            <a:endParaRPr lang="ar-SA" sz="19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يَصِلُ المِتْرُو بَيْنَ المَرْكَزِ وَالمَطَارِ.</a:t>
            </a:r>
            <a:endParaRPr lang="ar-SA" sz="19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كُنْتُ قَدْ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جَوَازَ سَفَرِي قَبْلَ الرِّحْلَةِ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جَدَّدْتُ</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أُجَدِّدُ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سَأُجَدِّدُ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جَدْوَلُ رِحْلَةٍ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train timetable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travel itinerary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ticket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تَأْشِيرَةٌ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visa</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passport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insurance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تَسْجِيلُ الوُصُولِ</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arrivals hall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check-in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(P3-L01).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يَصِلُ المِتْرُو إِلَى المَرْكَزِ وَالمَطَارِ.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يَصِلُ المِتْرُو المَرْكَزَ وَالمَطَارَ.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يَصِلُ المِتْرُو بَيْنَ المَرْكَزِ وَالمَطَارِ.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P3-L01: yaṣil bayna.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كُنْتُ قَدْ</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جَوَازَ سَفَرِي قَبْلَ الرِّحْلَةِ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جَدَّدْتُ</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أُجَدِّدُ</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سَأُجَدِّدُ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P2-L03: kuntu qad + past.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Two verbs, every tense — and yuqīm always takes fī before the place you stay.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أَحْجِزُ · حَجَزْتُ · سَأَحْجِزُ · كُنْتُ قَدْ حَجَزْتُ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أُقِيمُ فِي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booking, document and airport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yaḥjiz and yuqīm in the present, past, future and past perfect.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them in both conditional types.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day-by-day itinerary that combines the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booking and document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yaḥjiz and yuqīm fī in three tenses.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the past perfect kuntu qad ḥajaztu.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a booking tip with idhā … sa-.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regret a booking with law … 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full itinerary day.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Booking and documents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Accommodation and the airport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2028 verbs across tenses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إِقَامَةٌ · مُقِيمٌ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‎اقامت · مقیم‎ </a:t>
            </a:r>
            <a:pPr indent="0" marL="0">
              <a:buNone/>
            </a:pPr>
            <a:r>
              <a:rPr lang="en-US" sz="950" b="1" dirty="0">
                <a:solidFill>
                  <a:srgbClr val="2E8B57"/>
                </a:solidFill>
                <a:latin typeface="Calibri" pitchFamily="34" charset="0"/>
                <a:ea typeface="Calibri" pitchFamily="34" charset="-122"/>
                <a:cs typeface="Calibri" pitchFamily="34" charset="-120"/>
              </a:rPr>
              <a:t> iqāmat · muqīm · a stay, residence · a resident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مُسَافِرٌ</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‎مسافر‎ </a:t>
            </a:r>
            <a:pPr indent="0" marL="0">
              <a:buNone/>
            </a:pPr>
            <a:r>
              <a:rPr lang="en-US" sz="950" b="1" dirty="0">
                <a:solidFill>
                  <a:srgbClr val="2E8B57"/>
                </a:solidFill>
                <a:latin typeface="Calibri" pitchFamily="34" charset="0"/>
                <a:ea typeface="Calibri" pitchFamily="34" charset="-122"/>
                <a:cs typeface="Calibri" pitchFamily="34" charset="-120"/>
              </a:rPr>
              <a:t> musāfir · a traveller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جَدْوَلٌ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‎جدول‎ </a:t>
            </a:r>
            <a:pPr indent="0" marL="0">
              <a:buNone/>
            </a:pPr>
            <a:r>
              <a:rPr lang="en-US" sz="950" b="1" dirty="0">
                <a:solidFill>
                  <a:srgbClr val="2E8B57"/>
                </a:solidFill>
                <a:latin typeface="Calibri" pitchFamily="34" charset="0"/>
                <a:ea typeface="Calibri" pitchFamily="34" charset="-122"/>
                <a:cs typeface="Calibri" pitchFamily="34" charset="-120"/>
              </a:rPr>
              <a:t> jadwal · a table, schedule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وُصُولٌ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‎وصول‎ </a:t>
            </a:r>
            <a:pPr indent="0" marL="0">
              <a:buNone/>
            </a:pPr>
            <a:r>
              <a:rPr lang="en-US" sz="950" b="1" dirty="0">
                <a:solidFill>
                  <a:srgbClr val="2E8B57"/>
                </a:solidFill>
                <a:latin typeface="Calibri" pitchFamily="34" charset="0"/>
                <a:ea typeface="Calibri" pitchFamily="34" charset="-122"/>
                <a:cs typeface="Calibri" pitchFamily="34" charset="-120"/>
              </a:rPr>
              <a:t> wusūl · arrival (Urdu: receipt of something)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تَأْمِينٌ</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‎بیمہ‎ </a:t>
            </a:r>
            <a:pPr indent="0" marL="0">
              <a:buNone/>
            </a:pPr>
            <a:r>
              <a:rPr lang="en-US" sz="950" b="1" dirty="0">
                <a:solidFill>
                  <a:srgbClr val="2E8B57"/>
                </a:solidFill>
                <a:latin typeface="Calibri" pitchFamily="34" charset="0"/>
                <a:ea typeface="Calibri" pitchFamily="34" charset="-122"/>
                <a:cs typeface="Calibri" pitchFamily="34" charset="-120"/>
              </a:rPr>
              <a:t> bīma · insurance (Urdu uses a Persian word)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Booking and documents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جَدْوَلُ رِحْلَةٍ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travel itinerary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jad-wa-lu riḥ-la-tin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جَدَاوِلُ رِحْلَاتٍ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حَجْزٌ</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booking, reservation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ḥaj-zun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حُجُوزَاتٌ</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يَحْجِزُ</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books, reserves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yaḥ-ji-zu</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تَحْجِزُ</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أَحْجِزُ</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تَأْشِيرَةٌ</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visa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taʾ-shī-ra-tun</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تَأْشِيرَاتٌ</a:t>
            </a:r>
            <a:endParaRPr lang="ar-SA" sz="150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9" name="Shape 6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3" name="Text 7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جَوَازُ سَفَرٍ</a:t>
            </a:r>
            <a:endParaRPr lang="ar-SA" sz="3000" dirty="0"/>
          </a:p>
        </p:txBody>
      </p:sp>
      <p:sp>
        <p:nvSpPr>
          <p:cNvPr id="74" name="Text 7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passport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ja-wā-zu sa-fa-rin</a:t>
            </a:r>
            <a:endParaRPr lang="en-US" sz="1350" dirty="0"/>
          </a:p>
        </p:txBody>
      </p:sp>
      <p:sp>
        <p:nvSpPr>
          <p:cNvPr id="75" name="Shape 7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7" name="Text 7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جَوَازَاتُ سَفَرٍ</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Booking and documents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تَأْمِينُ سَفَرٍ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 insurance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taʾ-mī-nu sa-fa-rin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تَسْجِيلُ الوُصُولِ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check-in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tas-jī-lu al-wu-ṣū-li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البَوَّابَةُ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gate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al-baw-wā-ba-tu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وَزْنُ الأَمْتِعَةِ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baggage weight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waz-nu al-am-ti-ʿa-ti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Accommodation and the airport (1 of 2)</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يُقِيمُ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stays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yu-qī-mu fī</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تُقِيمُ فِي</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أُقِيمُ فِي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فُنْدُقٌ بِخَمْسِ نُجُومٍ</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five-star hotel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fun-du-qun bi-kham-si nu-jū-min</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فَنَادِقُ بِخَمْسِ نُجُومٍ</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Shape 42"/>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7" name="Shape 4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شَقَّةٌ مَفْرُوشَةٌ</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furnished apartment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shaq-qa-tun maf-rū-sha-tun</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شُقَقٌ مَفْرُوشَةٌ</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7" name="Shape 5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9" name="Shape 5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صَالَةُ المُغَادَرَةِ</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departure lounge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ṣā-la-tu al-mu-ghā-da-ra-ti</a:t>
            </a:r>
            <a:endParaRPr lang="en-US" sz="1350" dirty="0"/>
          </a:p>
        </p:txBody>
      </p:sp>
      <p:sp>
        <p:nvSpPr>
          <p:cNvPr id="63" name="Shape 6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صَالَاتُ المُغَادَرَةِ</a:t>
            </a:r>
            <a:endParaRPr lang="ar-SA" sz="15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Accommodation and the airport (2 of 2)</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صَالَةُ الوُصُولِ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arrivals hall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ṣā-la-tu al-wu-ṣū-li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الدَّرَجَةُ الاقْتِصَادِيَّةُ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economy class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ad-da-ra-ja-tu alq-ti-ṣā-diy-ya-tu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مَوْعِدُ القِيَامِ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departure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maw-ʿi-du al-qi-yā-mi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مُدَّةُ الرِّحْلَةِ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journey duration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mud-da-tu ar-riḥ-la-ti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The 2028 verbs across tenses (1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حَجَزْتُ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booked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ḥa-jaz-tu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حَجَزَتْ</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أَحْجِزُ</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aḥ-ji-zu</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تَحْجِزُ</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سَأَحْجِزُ</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sa-ʾaḥ-ji-zu</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سَتَحْجِزُ</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كُنْتُ قَدْ حَجَزْتُ</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had booked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kun-tu qad ḥa-jaz-tu</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كَانَتْ قَدْ حَجَزَتْ</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The 2028 verbs across tenses (2 of 2)</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أَقَمْتُ فِي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stayed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a-qam-tu fī</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أَقَامَتْ فِي</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أُقِيمُ فِي</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stay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u-qī-mu fī</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تُقِيمُ فِي</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سَأُقِيمُ فِي</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stay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sa-ʾu-qī-mu fī</a:t>
            </a:r>
            <a:endParaRPr lang="en-US" sz="1350" dirty="0"/>
          </a:p>
        </p:txBody>
      </p:sp>
      <p:sp>
        <p:nvSpPr>
          <p:cNvPr id="44" name="Shape 4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6" name="Text 43"/>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سَتُقِيمُ فِي</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50" name="Shape 47"/>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كُنْتُ قَدْ أَقَمْتُ فِي</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had stayed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kun-tu qad a-qam-tu fī</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كَانَتْ قَدْ أَقَامَتْ فِي</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YAḤJIZ AND YUQĪM IN EVERY TENSE (WEBSITE RULES 1–2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Book · booked · will book · had booked</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الحَجْزُ وَالإِقَامَةُ فِي كُلِّ الأَزْمِنَةِ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17152" y="1810512"/>
            <a:ext cx="2441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stays at</a:t>
            </a:r>
            <a:endParaRPr lang="en-US" sz="1100" dirty="0"/>
          </a:p>
        </p:txBody>
      </p:sp>
      <p:sp>
        <p:nvSpPr>
          <p:cNvPr id="17" name="Text 14"/>
          <p:cNvSpPr txBox="1"/>
          <p:nvPr/>
        </p:nvSpPr>
        <p:spPr>
          <a:xfrm>
            <a:off x="68397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stay at</a:t>
            </a:r>
            <a:endParaRPr lang="en-US" sz="1100" dirty="0"/>
          </a:p>
        </p:txBody>
      </p:sp>
      <p:sp>
        <p:nvSpPr>
          <p:cNvPr id="18" name="Text 15"/>
          <p:cNvSpPr txBox="1"/>
          <p:nvPr/>
        </p:nvSpPr>
        <p:spPr>
          <a:xfrm>
            <a:off x="4462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books</a:t>
            </a:r>
            <a:endParaRPr lang="en-US" sz="1100" dirty="0"/>
          </a:p>
        </p:txBody>
      </p:sp>
      <p:sp>
        <p:nvSpPr>
          <p:cNvPr id="19" name="Text 16"/>
          <p:cNvSpPr txBox="1"/>
          <p:nvPr/>
        </p:nvSpPr>
        <p:spPr>
          <a:xfrm>
            <a:off x="22677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book</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Tense</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235440" y="2267712"/>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تُقِيمُ فِي</a:t>
            </a:r>
            <a:endParaRPr lang="ar-SA" sz="2100" dirty="0"/>
          </a:p>
        </p:txBody>
      </p:sp>
      <p:sp>
        <p:nvSpPr>
          <p:cNvPr id="23" name="Text 20"/>
          <p:cNvSpPr txBox="1"/>
          <p:nvPr/>
        </p:nvSpPr>
        <p:spPr>
          <a:xfrm>
            <a:off x="6858000" y="2267712"/>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أُقِيمُ فِي</a:t>
            </a:r>
            <a:endParaRPr lang="ar-SA" sz="2100" dirty="0"/>
          </a:p>
        </p:txBody>
      </p:sp>
      <p:sp>
        <p:nvSpPr>
          <p:cNvPr id="24" name="Text 21"/>
          <p:cNvSpPr txBox="1"/>
          <p:nvPr/>
        </p:nvSpPr>
        <p:spPr>
          <a:xfrm>
            <a:off x="4480560" y="2267712"/>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تَحْجِزُ</a:t>
            </a:r>
            <a:endParaRPr lang="ar-SA" sz="2100" dirty="0"/>
          </a:p>
        </p:txBody>
      </p:sp>
      <p:sp>
        <p:nvSpPr>
          <p:cNvPr id="25" name="Text 22"/>
          <p:cNvSpPr txBox="1"/>
          <p:nvPr/>
        </p:nvSpPr>
        <p:spPr>
          <a:xfrm>
            <a:off x="2286000" y="2267712"/>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أَحْجِزُ</a:t>
            </a:r>
            <a:endParaRPr lang="ar-SA" sz="2100" dirty="0"/>
          </a:p>
        </p:txBody>
      </p:sp>
      <p:sp>
        <p:nvSpPr>
          <p:cNvPr id="26" name="Text 23"/>
          <p:cNvSpPr txBox="1"/>
          <p:nvPr/>
        </p:nvSpPr>
        <p:spPr>
          <a:xfrm>
            <a:off x="566928" y="2267712"/>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0" name="Text 27"/>
          <p:cNvSpPr txBox="1"/>
          <p:nvPr/>
        </p:nvSpPr>
        <p:spPr>
          <a:xfrm>
            <a:off x="9235440" y="3054096"/>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أَقَامَتْ فِي</a:t>
            </a:r>
            <a:endParaRPr lang="ar-SA" sz="2100" dirty="0"/>
          </a:p>
        </p:txBody>
      </p:sp>
      <p:sp>
        <p:nvSpPr>
          <p:cNvPr id="31" name="Text 28"/>
          <p:cNvSpPr txBox="1"/>
          <p:nvPr/>
        </p:nvSpPr>
        <p:spPr>
          <a:xfrm>
            <a:off x="6858000" y="3054096"/>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أَقَمْتُ فِي</a:t>
            </a:r>
            <a:endParaRPr lang="ar-SA" sz="2100" dirty="0"/>
          </a:p>
        </p:txBody>
      </p:sp>
      <p:sp>
        <p:nvSpPr>
          <p:cNvPr id="32" name="Text 29"/>
          <p:cNvSpPr txBox="1"/>
          <p:nvPr/>
        </p:nvSpPr>
        <p:spPr>
          <a:xfrm>
            <a:off x="4480560" y="3054096"/>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حَجَزَتْ</a:t>
            </a:r>
            <a:endParaRPr lang="ar-SA" sz="2100" dirty="0"/>
          </a:p>
        </p:txBody>
      </p:sp>
      <p:sp>
        <p:nvSpPr>
          <p:cNvPr id="33" name="Text 30"/>
          <p:cNvSpPr txBox="1"/>
          <p:nvPr/>
        </p:nvSpPr>
        <p:spPr>
          <a:xfrm>
            <a:off x="2286000" y="3054096"/>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حَجَزْتُ</a:t>
            </a:r>
            <a:endParaRPr lang="ar-SA" sz="2100" dirty="0"/>
          </a:p>
        </p:txBody>
      </p:sp>
      <p:sp>
        <p:nvSpPr>
          <p:cNvPr id="34" name="Text 31"/>
          <p:cNvSpPr txBox="1"/>
          <p:nvPr/>
        </p:nvSpPr>
        <p:spPr>
          <a:xfrm>
            <a:off x="566928" y="3054096"/>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9235440" y="3840480"/>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سَتُقِيمُ فِي</a:t>
            </a:r>
            <a:endParaRPr lang="ar-SA" sz="2100" dirty="0"/>
          </a:p>
        </p:txBody>
      </p:sp>
      <p:sp>
        <p:nvSpPr>
          <p:cNvPr id="39" name="Text 36"/>
          <p:cNvSpPr txBox="1"/>
          <p:nvPr/>
        </p:nvSpPr>
        <p:spPr>
          <a:xfrm>
            <a:off x="6858000" y="3840480"/>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34" charset="0"/>
                <a:ea typeface="Amiri" pitchFamily="34" charset="-122"/>
                <a:cs typeface="Amiri" pitchFamily="34" charset="-120"/>
              </a:rPr>
              <a:t>سَأُقِيمُ فِي</a:t>
            </a:r>
            <a:endParaRPr lang="ar-SA" sz="2100" dirty="0"/>
          </a:p>
        </p:txBody>
      </p:sp>
      <p:sp>
        <p:nvSpPr>
          <p:cNvPr id="40" name="Text 37"/>
          <p:cNvSpPr txBox="1"/>
          <p:nvPr/>
        </p:nvSpPr>
        <p:spPr>
          <a:xfrm>
            <a:off x="4480560" y="3840480"/>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سَتَحْجِزُ</a:t>
            </a:r>
            <a:endParaRPr lang="ar-SA" sz="2100" dirty="0"/>
          </a:p>
        </p:txBody>
      </p:sp>
      <p:sp>
        <p:nvSpPr>
          <p:cNvPr id="41" name="Text 38"/>
          <p:cNvSpPr txBox="1"/>
          <p:nvPr/>
        </p:nvSpPr>
        <p:spPr>
          <a:xfrm>
            <a:off x="2286000" y="3840480"/>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سَأَحْجِزُ</a:t>
            </a:r>
            <a:endParaRPr lang="ar-SA" sz="2100" dirty="0"/>
          </a:p>
        </p:txBody>
      </p:sp>
      <p:sp>
        <p:nvSpPr>
          <p:cNvPr id="42" name="Text 39"/>
          <p:cNvSpPr txBox="1"/>
          <p:nvPr/>
        </p:nvSpPr>
        <p:spPr>
          <a:xfrm>
            <a:off x="566928" y="3840480"/>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a:t>
            </a:r>
            <a:endParaRPr lang="en-US" sz="1100" dirty="0"/>
          </a:p>
        </p:txBody>
      </p:sp>
      <p:sp>
        <p:nvSpPr>
          <p:cNvPr id="43" name="Shape 4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5" name="Shape 4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6" name="Text 43"/>
          <p:cNvSpPr txBox="1"/>
          <p:nvPr/>
        </p:nvSpPr>
        <p:spPr>
          <a:xfrm>
            <a:off x="9235440" y="4626864"/>
            <a:ext cx="2404872"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كَانَتْ قَدْ أَقَامَتْ</a:t>
            </a:r>
            <a:endParaRPr lang="ar-SA" sz="2100" dirty="0"/>
          </a:p>
        </p:txBody>
      </p:sp>
      <p:sp>
        <p:nvSpPr>
          <p:cNvPr id="47" name="Text 44"/>
          <p:cNvSpPr txBox="1"/>
          <p:nvPr/>
        </p:nvSpPr>
        <p:spPr>
          <a:xfrm>
            <a:off x="6858000" y="4626864"/>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كُنْتُ قَدْ أَقَمْتُ</a:t>
            </a:r>
            <a:endParaRPr lang="ar-SA" sz="2100" dirty="0"/>
          </a:p>
        </p:txBody>
      </p:sp>
      <p:sp>
        <p:nvSpPr>
          <p:cNvPr id="48" name="Text 45"/>
          <p:cNvSpPr txBox="1"/>
          <p:nvPr/>
        </p:nvSpPr>
        <p:spPr>
          <a:xfrm>
            <a:off x="4480560" y="4626864"/>
            <a:ext cx="2194560" cy="73152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كَانَتْ قَدْ حَجَزَتْ</a:t>
            </a:r>
            <a:endParaRPr lang="ar-SA" sz="2100" dirty="0"/>
          </a:p>
        </p:txBody>
      </p:sp>
      <p:sp>
        <p:nvSpPr>
          <p:cNvPr id="49" name="Text 46"/>
          <p:cNvSpPr txBox="1"/>
          <p:nvPr/>
        </p:nvSpPr>
        <p:spPr>
          <a:xfrm>
            <a:off x="2286000" y="4626864"/>
            <a:ext cx="2011680" cy="731520"/>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كُنْتُ قَدْ حَجَزْتُ</a:t>
            </a:r>
            <a:endParaRPr lang="ar-SA" sz="2100" dirty="0"/>
          </a:p>
        </p:txBody>
      </p:sp>
      <p:sp>
        <p:nvSpPr>
          <p:cNvPr id="50" name="Text 47"/>
          <p:cNvSpPr txBox="1"/>
          <p:nvPr/>
        </p:nvSpPr>
        <p:spPr>
          <a:xfrm>
            <a:off x="566928" y="4626864"/>
            <a:ext cx="15544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Hollow verb: aqamtu (short a before -tu) but aqāmat (long ā). The past perfect agrees twice: kānat qad ḥajazat.</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YUQĪM FĪ + WHERE YOU STAY (WEBSITE RULE 4 + TEACHING POINT 2)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will you stay?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سَتُقِيمُ؟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51392" y="1810512"/>
            <a:ext cx="2807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a:t>
            </a:r>
            <a:endParaRPr lang="en-US" sz="1100" dirty="0"/>
          </a:p>
        </p:txBody>
      </p:sp>
      <p:sp>
        <p:nvSpPr>
          <p:cNvPr id="17" name="Text 14"/>
          <p:cNvSpPr txBox="1"/>
          <p:nvPr/>
        </p:nvSpPr>
        <p:spPr>
          <a:xfrm>
            <a:off x="2816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Text 15"/>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Accommodation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869680" y="2267712"/>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فَنَادِقُ</a:t>
            </a:r>
            <a:endParaRPr lang="ar-SA" sz="1900" dirty="0"/>
          </a:p>
        </p:txBody>
      </p:sp>
      <p:sp>
        <p:nvSpPr>
          <p:cNvPr id="21" name="Text 18"/>
          <p:cNvSpPr txBox="1"/>
          <p:nvPr/>
        </p:nvSpPr>
        <p:spPr>
          <a:xfrm>
            <a:off x="2834640" y="2267712"/>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أُقِيمُ فِي</a:t>
            </a:r>
            <a:pPr rtl="1" algn="ctr" indent="0" marL="0">
              <a:buNone/>
            </a:pPr>
            <a:r>
              <a:rPr lang="ar-SA" altLang="en-US" sz="1900" b="1" dirty="0">
                <a:solidFill>
                  <a:srgbClr val="1B3B6F"/>
                </a:solidFill>
                <a:latin typeface="Amiri" pitchFamily="34" charset="0"/>
                <a:ea typeface="Amiri" pitchFamily="34" charset="-122"/>
                <a:cs typeface="Amiri" pitchFamily="34" charset="-120"/>
              </a:rPr>
              <a:t> فُنْدُقٍ بِخَمْسِ نُجُومٍ قَرِيبٍ مِنَ الشَّاطِئِ.</a:t>
            </a:r>
            <a:endParaRPr lang="ar-SA" sz="1900" dirty="0"/>
          </a:p>
        </p:txBody>
      </p:sp>
      <p:sp>
        <p:nvSpPr>
          <p:cNvPr id="22" name="Text 19"/>
          <p:cNvSpPr txBox="1"/>
          <p:nvPr/>
        </p:nvSpPr>
        <p:spPr>
          <a:xfrm>
            <a:off x="56692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five-star hotel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869680" y="3054096"/>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شُقَقٌ</a:t>
            </a:r>
            <a:endParaRPr lang="ar-SA" sz="1900" dirty="0"/>
          </a:p>
        </p:txBody>
      </p:sp>
      <p:sp>
        <p:nvSpPr>
          <p:cNvPr id="27" name="Text 24"/>
          <p:cNvSpPr txBox="1"/>
          <p:nvPr/>
        </p:nvSpPr>
        <p:spPr>
          <a:xfrm>
            <a:off x="2834640" y="3054096"/>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أَقَمْتُ فِي</a:t>
            </a:r>
            <a:pPr rtl="1" algn="ctr" indent="0" marL="0">
              <a:buNone/>
            </a:pPr>
            <a:r>
              <a:rPr lang="ar-SA" altLang="en-US" sz="1900" b="1" dirty="0">
                <a:solidFill>
                  <a:srgbClr val="1B3B6F"/>
                </a:solidFill>
                <a:latin typeface="Amiri" pitchFamily="34" charset="0"/>
                <a:ea typeface="Amiri" pitchFamily="34" charset="-122"/>
                <a:cs typeface="Amiri" pitchFamily="34" charset="-120"/>
              </a:rPr>
              <a:t> شَقَّةٍ مَفْرُوشَةٍ قَرِيبَةٍ مِنَ المَرْكَزِ.</a:t>
            </a:r>
            <a:endParaRPr lang="ar-SA" sz="1900" dirty="0"/>
          </a:p>
        </p:txBody>
      </p:sp>
      <p:sp>
        <p:nvSpPr>
          <p:cNvPr id="28" name="Text 25"/>
          <p:cNvSpPr txBox="1"/>
          <p:nvPr/>
        </p:nvSpPr>
        <p:spPr>
          <a:xfrm>
            <a:off x="56692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furnished flat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869680" y="3840480"/>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رِيَاضَاتٌ</a:t>
            </a:r>
            <a:endParaRPr lang="ar-SA" sz="1900" dirty="0"/>
          </a:p>
        </p:txBody>
      </p:sp>
      <p:sp>
        <p:nvSpPr>
          <p:cNvPr id="33" name="Text 30"/>
          <p:cNvSpPr txBox="1"/>
          <p:nvPr/>
        </p:nvSpPr>
        <p:spPr>
          <a:xfrm>
            <a:off x="2834640" y="3840480"/>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سَأُقِيمُ فِي</a:t>
            </a:r>
            <a:pPr rtl="1" algn="ctr" indent="0" marL="0">
              <a:buNone/>
            </a:pPr>
            <a:r>
              <a:rPr lang="ar-SA" altLang="en-US" sz="1900" b="1" dirty="0">
                <a:solidFill>
                  <a:srgbClr val="1B3B6F"/>
                </a:solidFill>
                <a:latin typeface="Amiri" pitchFamily="34" charset="0"/>
                <a:ea typeface="Amiri" pitchFamily="34" charset="-122"/>
                <a:cs typeface="Amiri" pitchFamily="34" charset="-120"/>
              </a:rPr>
              <a:t> رِيَاضٍ تَقْلِيدِيٍّ فِي المَدِينَةِ القَدِيمَةِ.</a:t>
            </a:r>
            <a:endParaRPr lang="ar-SA" sz="1900" dirty="0"/>
          </a:p>
        </p:txBody>
      </p:sp>
      <p:sp>
        <p:nvSpPr>
          <p:cNvPr id="34" name="Text 31"/>
          <p:cNvSpPr txBox="1"/>
          <p:nvPr/>
        </p:nvSpPr>
        <p:spPr>
          <a:xfrm>
            <a:off x="56692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traditional riad</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8869680" y="4626864"/>
            <a:ext cx="2770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نُزُلٌ</a:t>
            </a:r>
            <a:endParaRPr lang="ar-SA" sz="1900" dirty="0"/>
          </a:p>
        </p:txBody>
      </p:sp>
      <p:sp>
        <p:nvSpPr>
          <p:cNvPr id="37" name="Text 34"/>
          <p:cNvSpPr txBox="1"/>
          <p:nvPr/>
        </p:nvSpPr>
        <p:spPr>
          <a:xfrm>
            <a:off x="2834640" y="4626864"/>
            <a:ext cx="5852160" cy="731520"/>
          </a:xfrm>
          <a:prstGeom prst="rect">
            <a:avLst/>
          </a:prstGeom>
          <a:noFill/>
          <a:ln/>
        </p:spPr>
        <p:txBody>
          <a:bodyPr wrap="square" lIns="0" tIns="0" rIns="0" bIns="0" rtlCol="0" anchor="ctr"/>
          <a:lstStyle/>
          <a:p>
            <a:pPr rtl="1" algn="ctr" indent="0" marL="0">
              <a:buNone/>
            </a:pPr>
            <a:r>
              <a:rPr lang="ar-SA" altLang="en-US" sz="1900" b="1" dirty="0">
                <a:solidFill>
                  <a:srgbClr val="0E7C86"/>
                </a:solidFill>
                <a:latin typeface="Amiri" pitchFamily="34" charset="0"/>
                <a:ea typeface="Amiri" pitchFamily="34" charset="-122"/>
                <a:cs typeface="Amiri" pitchFamily="34" charset="-120"/>
              </a:rPr>
              <a:t>سَتُقِيمُ</a:t>
            </a:r>
            <a:pPr rtl="1" algn="ctr" indent="0" marL="0">
              <a:buNone/>
            </a:pPr>
            <a:r>
              <a:rPr lang="ar-SA" altLang="en-US" sz="1900" b="1" dirty="0">
                <a:solidFill>
                  <a:srgbClr val="1B3B6F"/>
                </a:solidFill>
                <a:latin typeface="Amiri" pitchFamily="34" charset="0"/>
                <a:ea typeface="Amiri" pitchFamily="34" charset="-122"/>
                <a:cs typeface="Amiri" pitchFamily="34" charset="-120"/>
              </a:rPr>
              <a:t> أُخْتِي </a:t>
            </a:r>
            <a:pPr rtl="1" algn="ctr" indent="0" marL="0">
              <a:buNone/>
            </a:pPr>
            <a:r>
              <a:rPr lang="ar-SA" altLang="en-US" sz="1900" b="1" dirty="0">
                <a:solidFill>
                  <a:srgbClr val="0E7C86"/>
                </a:solidFill>
                <a:latin typeface="Amiri" pitchFamily="34" charset="0"/>
                <a:ea typeface="Amiri" pitchFamily="34" charset="-122"/>
                <a:cs typeface="Amiri" pitchFamily="34" charset="-120"/>
              </a:rPr>
              <a:t>فِي</a:t>
            </a:r>
            <a:pPr rtl="1" algn="ctr" indent="0" marL="0">
              <a:buNone/>
            </a:pPr>
            <a:r>
              <a:rPr lang="ar-SA" altLang="en-US" sz="1900" b="1" dirty="0">
                <a:solidFill>
                  <a:srgbClr val="1B3B6F"/>
                </a:solidFill>
                <a:latin typeface="Amiri" pitchFamily="34" charset="0"/>
                <a:ea typeface="Amiri" pitchFamily="34" charset="-122"/>
                <a:cs typeface="Amiri" pitchFamily="34" charset="-120"/>
              </a:rPr>
              <a:t> نُزُلٍ جَبَلِيٍّ هَادِئٍ.</a:t>
            </a:r>
            <a:endParaRPr lang="ar-SA" sz="1900" dirty="0"/>
          </a:p>
        </p:txBody>
      </p:sp>
      <p:sp>
        <p:nvSpPr>
          <p:cNvPr id="38" name="Text 35"/>
          <p:cNvSpPr txBox="1"/>
          <p:nvPr/>
        </p:nvSpPr>
        <p:spPr>
          <a:xfrm>
            <a:off x="56692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mountain lodge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1: uqīmu funduqan ✗ → uqīmu FĪ funduqin — and the noun after fī is genitive (-in).</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BOOKING IN BOTH CONDITIONALS (WEBSITE RULES 3–4 + TEACHING POINT 1)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Book early — or regret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حَجَزْتَ · لَوْ حَجَزْتُ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1 · TIP · CORE</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حَجَزْتَ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حَجَزْتَ مُبَكِّرًا، سَتَحْصُلُ عَلَى سِعْرٍ أَرْخَصَ.</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you book early, you will get a cheaper price.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Advice.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888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888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REGRET · DEVELOP</a:t>
            </a:r>
            <a:endParaRPr lang="en-US" sz="850" dirty="0"/>
          </a:p>
        </p:txBody>
      </p:sp>
      <p:sp>
        <p:nvSpPr>
          <p:cNvPr id="26" name="Text 23"/>
          <p:cNvSpPr txBox="1"/>
          <p:nvPr/>
        </p:nvSpPr>
        <p:spPr>
          <a:xfrm>
            <a:off x="6448044" y="1874520"/>
            <a:ext cx="13274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حَجَزْتُ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حَجَزْتُ فِي فُنْدُقٍ حَدِيثٍ، لَفَقَدْتُ سِحْرَ المَدِينَةِ القَدِيمَةِ.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I booked a modern hotel, I would have lost the old city’s charm.</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81758"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TYPE 2 + PAST PERFECT · STRETCH</a:t>
            </a:r>
            <a:endParaRPr lang="en-US" sz="850" dirty="0"/>
          </a:p>
        </p:txBody>
      </p:sp>
      <p:sp>
        <p:nvSpPr>
          <p:cNvPr id="34" name="Text 31"/>
          <p:cNvSpPr txBox="1"/>
          <p:nvPr/>
        </p:nvSpPr>
        <p:spPr>
          <a:xfrm>
            <a:off x="2821838"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كُنْتُ قَدْ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لَوْ كُنْتُ قَدْ حَجَزْتُ قَبْلَ العُطْلَةِ، لَحَصَلْتُ عَلَى سِعْرٍ أَرْخَصَ.</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I had booked before the holiday, I would have got a cheaper price.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2 structures.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2: idhā takes a past-form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إِذَا حَجَزْتَ مُبَكِّرًا، سَتَحْصُلُ عَلَى سِعْرٍ أَرْخَصَ</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إِذَا تَحْجِزُ مُبَكِّرًا، سَتَحْصُلُ عَلَى سِعْرٍ أَرْخَصَ</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WHY I DO IT AND WHAT THE GUIDE SAID (WEBSITE LISTENING, READING AND QUIZ 8)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Purpose, advice — and three structures in one</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الغَرَضُ وَالنَّصِيحَةُ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Structures</a:t>
            </a:r>
            <a:endParaRPr lang="en-US" sz="1100" dirty="0"/>
          </a:p>
        </p:txBody>
      </p:sp>
      <p:sp>
        <p:nvSpPr>
          <p:cNvPr id="17" name="Text 14"/>
          <p:cNvSpPr txBox="1"/>
          <p:nvPr/>
        </p:nvSpPr>
        <p:spPr>
          <a:xfrm>
            <a:off x="254203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(website texts)</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Job</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 + -a</a:t>
            </a:r>
            <a:endParaRPr lang="en-US" sz="1100" dirty="0"/>
          </a:p>
        </p:txBody>
      </p:sp>
      <p:sp>
        <p:nvSpPr>
          <p:cNvPr id="21" name="Text 18"/>
          <p:cNvSpPr txBox="1"/>
          <p:nvPr/>
        </p:nvSpPr>
        <p:spPr>
          <a:xfrm>
            <a:off x="2560320" y="2267712"/>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أَحْجِزُ تَذَاكِرِي مُبَكِّرًا </a:t>
            </a:r>
            <a:pPr rtl="1" algn="ctr" indent="0" marL="0">
              <a:buNone/>
            </a:pPr>
            <a:r>
              <a:rPr lang="ar-SA" altLang="en-US" sz="1800" b="1" dirty="0">
                <a:solidFill>
                  <a:srgbClr val="C77700"/>
                </a:solidFill>
                <a:latin typeface="Amiri" pitchFamily="34" charset="0"/>
                <a:ea typeface="Amiri" pitchFamily="34" charset="-122"/>
                <a:cs typeface="Amiri" pitchFamily="34" charset="-120"/>
              </a:rPr>
              <a:t>لِأَحْصُلَ</a:t>
            </a:r>
            <a:pPr rtl="1" algn="ctr" indent="0" marL="0">
              <a:buNone/>
            </a:pPr>
            <a:r>
              <a:rPr lang="ar-SA" altLang="en-US" sz="1800" b="1" dirty="0">
                <a:solidFill>
                  <a:srgbClr val="1B3B6F"/>
                </a:solidFill>
                <a:latin typeface="Amiri" pitchFamily="34" charset="0"/>
                <a:ea typeface="Amiri" pitchFamily="34" charset="-122"/>
                <a:cs typeface="Amiri" pitchFamily="34" charset="-120"/>
              </a:rPr>
              <a:t> عَلَى سِعْرٍ مُنَاسِبٍ.</a:t>
            </a:r>
            <a:endParaRPr lang="ar-SA" sz="18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 + -a</a:t>
            </a:r>
            <a:endParaRPr lang="en-US" sz="1100" dirty="0"/>
          </a:p>
        </p:txBody>
      </p:sp>
      <p:sp>
        <p:nvSpPr>
          <p:cNvPr id="27" name="Text 24"/>
          <p:cNvSpPr txBox="1"/>
          <p:nvPr/>
        </p:nvSpPr>
        <p:spPr>
          <a:xfrm>
            <a:off x="2560320" y="3054096"/>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سَأَحْمِلُ حَقِيبَةً وَاحِدَةً </a:t>
            </a:r>
            <a:pPr rtl="1" algn="ctr" indent="0" marL="0">
              <a:buNone/>
            </a:pPr>
            <a:r>
              <a:rPr lang="ar-SA" altLang="en-US" sz="1800" b="1" dirty="0">
                <a:solidFill>
                  <a:srgbClr val="C77700"/>
                </a:solidFill>
                <a:latin typeface="Amiri" pitchFamily="34" charset="0"/>
                <a:ea typeface="Amiri" pitchFamily="34" charset="-122"/>
                <a:cs typeface="Amiri" pitchFamily="34" charset="-120"/>
              </a:rPr>
              <a:t>لِأَتَجَنَّبَ</a:t>
            </a:r>
            <a:pPr rtl="1" algn="ctr" indent="0" marL="0">
              <a:buNone/>
            </a:pPr>
            <a:r>
              <a:rPr lang="ar-SA" altLang="en-US" sz="1800" b="1" dirty="0">
                <a:solidFill>
                  <a:srgbClr val="1B3B6F"/>
                </a:solidFill>
                <a:latin typeface="Amiri" pitchFamily="34" charset="0"/>
                <a:ea typeface="Amiri" pitchFamily="34" charset="-122"/>
                <a:cs typeface="Amiri" pitchFamily="34" charset="-120"/>
              </a:rPr>
              <a:t> رُسُومَ الأَمْتِعَةِ الزَّائِدَةِ.</a:t>
            </a:r>
            <a:endParaRPr lang="ar-SA" sz="18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purpose</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reported + Type 1</a:t>
            </a:r>
            <a:endParaRPr lang="en-US" sz="1100" dirty="0"/>
          </a:p>
        </p:txBody>
      </p:sp>
      <p:sp>
        <p:nvSpPr>
          <p:cNvPr id="31" name="Text 28"/>
          <p:cNvSpPr txBox="1"/>
          <p:nvPr/>
        </p:nvSpPr>
        <p:spPr>
          <a:xfrm>
            <a:off x="2560320" y="3840480"/>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34" charset="0"/>
                <a:ea typeface="Amiri" pitchFamily="34" charset="-122"/>
                <a:cs typeface="Amiri" pitchFamily="34" charset="-120"/>
              </a:rPr>
              <a:t>أَشَارَ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الدَّلِيلُ </a:t>
            </a:r>
            <a:pPr rtl="1" algn="ctr" indent="0" marL="0">
              <a:buNone/>
            </a:pPr>
            <a:r>
              <a:rPr lang="ar-SA" altLang="en-US" sz="1800" b="1" dirty="0">
                <a:solidFill>
                  <a:srgbClr val="7B3FA0"/>
                </a:solidFill>
                <a:latin typeface="Amiri" pitchFamily="34" charset="0"/>
                <a:ea typeface="Amiri" pitchFamily="34" charset="-122"/>
                <a:cs typeface="Amiri" pitchFamily="34" charset="-120"/>
              </a:rPr>
              <a:t>إِلَى أَنَّهُ</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0E7C86"/>
                </a:solidFill>
                <a:latin typeface="Amiri" pitchFamily="34" charset="0"/>
                <a:ea typeface="Amiri" pitchFamily="34" charset="-122"/>
                <a:cs typeface="Amiri" pitchFamily="34" charset="-120"/>
              </a:rPr>
              <a:t>إِذَا وَصَلْتُ</a:t>
            </a:r>
            <a:pPr rtl="1" algn="ctr" indent="0" marL="0">
              <a:buNone/>
            </a:pPr>
            <a:r>
              <a:rPr lang="ar-SA" altLang="en-US" sz="1800" b="1" dirty="0">
                <a:solidFill>
                  <a:srgbClr val="1B3B6F"/>
                </a:solidFill>
                <a:latin typeface="Amiri" pitchFamily="34" charset="0"/>
                <a:ea typeface="Amiri" pitchFamily="34" charset="-122"/>
                <a:cs typeface="Amiri" pitchFamily="34" charset="-120"/>
              </a:rPr>
              <a:t> مُبَكِّرًا، </a:t>
            </a:r>
            <a:pPr rtl="1" algn="ctr" indent="0" marL="0">
              <a:buNone/>
            </a:pPr>
            <a:r>
              <a:rPr lang="ar-SA" altLang="en-US" sz="1800" b="1" dirty="0">
                <a:solidFill>
                  <a:srgbClr val="0E7C86"/>
                </a:solidFill>
                <a:latin typeface="Amiri" pitchFamily="34" charset="0"/>
                <a:ea typeface="Amiri" pitchFamily="34" charset="-122"/>
                <a:cs typeface="Amiri" pitchFamily="34" charset="-120"/>
              </a:rPr>
              <a:t>سَأَزُورُ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السُّوقَ.</a:t>
            </a:r>
            <a:endParaRPr lang="ar-SA" sz="1800" dirty="0"/>
          </a:p>
        </p:txBody>
      </p:sp>
      <p:sp>
        <p:nvSpPr>
          <p:cNvPr id="32" name="Text 29"/>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guide’s advice</a:t>
            </a:r>
            <a:endParaRPr lang="en-US" sz="11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perfect + reported + Type 1</a:t>
            </a:r>
            <a:endParaRPr lang="en-US" sz="1100" dirty="0"/>
          </a:p>
        </p:txBody>
      </p:sp>
      <p:sp>
        <p:nvSpPr>
          <p:cNvPr id="37" name="Text 34"/>
          <p:cNvSpPr txBox="1"/>
          <p:nvPr/>
        </p:nvSpPr>
        <p:spPr>
          <a:xfrm>
            <a:off x="2560320" y="4626864"/>
            <a:ext cx="6766560" cy="731520"/>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كُنْتُ قَدْ حَجَزْتُ</a:t>
            </a:r>
            <a:pPr rtl="1" algn="ctr" indent="0" marL="0">
              <a:buNone/>
            </a:pPr>
            <a:r>
              <a:rPr lang="ar-SA" altLang="en-US" sz="1800" b="1" dirty="0">
                <a:solidFill>
                  <a:srgbClr val="1B3B6F"/>
                </a:solidFill>
                <a:latin typeface="Amiri" pitchFamily="34" charset="0"/>
                <a:ea typeface="Amiri" pitchFamily="34" charset="-122"/>
                <a:cs typeface="Amiri" pitchFamily="34" charset="-120"/>
              </a:rPr>
              <a:t> فُنْدُقِي، </a:t>
            </a:r>
            <a:pPr rtl="1" algn="ctr" indent="0" marL="0">
              <a:buNone/>
            </a:pPr>
            <a:r>
              <a:rPr lang="ar-SA" altLang="en-US" sz="1800" b="1" dirty="0">
                <a:solidFill>
                  <a:srgbClr val="7B3FA0"/>
                </a:solidFill>
                <a:latin typeface="Amiri" pitchFamily="34" charset="0"/>
                <a:ea typeface="Amiri" pitchFamily="34" charset="-122"/>
                <a:cs typeface="Amiri" pitchFamily="34" charset="-120"/>
              </a:rPr>
              <a:t>وَأَشَارَ</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المُنَظِّمُ </a:t>
            </a:r>
            <a:pPr rtl="1" algn="ctr" indent="0" marL="0">
              <a:buNone/>
            </a:pPr>
            <a:r>
              <a:rPr lang="ar-SA" altLang="en-US" sz="1800" b="1" dirty="0">
                <a:solidFill>
                  <a:srgbClr val="7B3FA0"/>
                </a:solidFill>
                <a:latin typeface="Amiri" pitchFamily="34" charset="0"/>
                <a:ea typeface="Amiri" pitchFamily="34" charset="-122"/>
                <a:cs typeface="Amiri" pitchFamily="34" charset="-120"/>
              </a:rPr>
              <a:t>إِلَى أَنَّهُ</a:t>
            </a:r>
            <a:pPr rtl="1" algn="ctr" indent="0" marL="0">
              <a:buNone/>
            </a:pPr>
            <a:r>
              <a:rPr lang="ar-SA" altLang="en-US" sz="1800" b="1" dirty="0">
                <a:solidFill>
                  <a:srgbClr val="1B3B6F"/>
                </a:solidFill>
                <a:latin typeface="Amiri" pitchFamily="34" charset="0"/>
                <a:ea typeface="Amiri" pitchFamily="34" charset="-122"/>
                <a:cs typeface="Amiri" pitchFamily="34" charset="-120"/>
              </a:rPr>
              <a:t> </a:t>
            </a:r>
            <a:pPr rtl="1" algn="ctr" indent="0" marL="0">
              <a:buNone/>
            </a:pPr>
            <a:r>
              <a:rPr lang="ar-SA" altLang="en-US" sz="1800" b="1" dirty="0">
                <a:solidFill>
                  <a:srgbClr val="0E7C86"/>
                </a:solidFill>
                <a:latin typeface="Amiri" pitchFamily="34" charset="0"/>
                <a:ea typeface="Amiri" pitchFamily="34" charset="-122"/>
                <a:cs typeface="Amiri" pitchFamily="34" charset="-120"/>
              </a:rPr>
              <a:t>إِذَا وَصَلْنَا</a:t>
            </a:r>
            <a:pPr rtl="1" algn="ctr" indent="0" marL="0">
              <a:buNone/>
            </a:pPr>
            <a:r>
              <a:rPr lang="ar-SA" altLang="en-US" sz="1800" b="1" dirty="0">
                <a:solidFill>
                  <a:srgbClr val="1B3B6F"/>
                </a:solidFill>
                <a:latin typeface="Amiri" pitchFamily="34" charset="0"/>
                <a:ea typeface="Amiri" pitchFamily="34" charset="-122"/>
                <a:cs typeface="Amiri" pitchFamily="34" charset="-120"/>
              </a:rPr>
              <a:t> مُبَكِّرًا </a:t>
            </a:r>
            <a:pPr rtl="1" algn="ctr" indent="0" marL="0">
              <a:buNone/>
            </a:pPr>
            <a:r>
              <a:rPr lang="ar-SA" altLang="en-US" sz="1800" b="1" dirty="0">
                <a:solidFill>
                  <a:srgbClr val="0E7C86"/>
                </a:solidFill>
                <a:latin typeface="Amiri" pitchFamily="34" charset="0"/>
                <a:ea typeface="Amiri" pitchFamily="34" charset="-122"/>
                <a:cs typeface="Amiri" pitchFamily="34" charset="-120"/>
              </a:rPr>
              <a:t>سَنَحْصُلُ</a:t>
            </a:r>
            <a:pPr rtl="1" algn="ctr" indent="0" marL="0">
              <a:buNone/>
            </a:pPr>
            <a:r>
              <a:rPr lang="ar-SA" altLang="en-US" sz="1800" b="1" dirty="0">
                <a:solidFill>
                  <a:srgbClr val="1B3B6F"/>
                </a:solidFill>
                <a:latin typeface="Amiri" pitchFamily="34" charset="0"/>
                <a:ea typeface="Amiri" pitchFamily="34" charset="-122"/>
                <a:cs typeface="Amiri" pitchFamily="34" charset="-120"/>
              </a:rPr>
              <a:t> عَلَى تَرْقِيَةٍ.</a:t>
            </a:r>
            <a:endParaRPr lang="ar-SA" sz="1800" dirty="0"/>
          </a:p>
        </p:txBody>
      </p:sp>
      <p:sp>
        <p:nvSpPr>
          <p:cNvPr id="38" name="Text 35"/>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in one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Before a conditional, anna needs a pronoun: ashāra ilā anna-HU idhā … (“that, if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2028 verbs in full tense range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34" charset="0"/>
                <a:ea typeface="Amiri" pitchFamily="34" charset="-122"/>
                <a:cs typeface="Amiri" pitchFamily="34" charset="-120"/>
              </a:rPr>
              <a:t>فِعْلَا الحَجْزِ وَالإِقَامَةِ فِي كُلِّ الأَزْمِنَةِ</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Present, past, future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aḥjizu · ḥajaztu · sa-aḥjizu</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أَحْجِزُ تَذَاكِرِي مُبَكِّرًا   ·   سَأَحْجِزُ رِحْلَةً إِلَى مَرَّاكُشَ</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kuntu qad ḥajaztu</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قَدْ حَجَزْتُ المَطْعَمَ قَبْلَ أَنْ نَصِلَ</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Type 1 conditional</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idhā ḥajazta … sa-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حَجَزْتَ مُبَكِّرًا، سَتَحْصُلُ عَلَى سِعْرٍ أَرْخَصَ</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Type 2 and yuqīm fī</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ḥajaztu … la- · yuqīm fī</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حَجَزْتُ فِي فُنْدُقٍ آخَرَ، لَكَانَ أَفْضَلَ   ·   أُقِيمُ فِي فُنْدُقٍ قَرِيبٍ مِنَ الشَّاطِئِ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present: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___ مُبَكِّرًا، سَتَحْصُلُ عَلَى سِعْرٍ أَرْخَصَ.</a:t>
            </a:r>
            <a:endParaRPr lang="ar-SA" sz="14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تَحْجِزُ</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سَتَحْجِزُ</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أُقِيمُ ___ فُنْدُقٍ قَرِيبٍ مِنَ الشَّاطِئِ.</a:t>
            </a:r>
            <a:endParaRPr lang="ar-SA" sz="15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present: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سَأَحْجِزُ</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أَحْجِزُ</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first person is </a:t>
            </a:r>
            <a:pPr algn="l" indent="0" marL="0">
              <a:buNone/>
            </a:pPr>
            <a:r>
              <a:rPr lang="ar-SA" altLang="en-US" sz="1350" dirty="0">
                <a:solidFill>
                  <a:srgbClr val="8A6D1E"/>
                </a:solidFill>
                <a:latin typeface="Amiri" pitchFamily="34" charset="0"/>
                <a:ea typeface="Amiri" pitchFamily="34" charset="-122"/>
                <a:cs typeface="Amiri" pitchFamily="34" charset="-120"/>
              </a:rPr>
              <a:t>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past perfect: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is </a:t>
            </a:r>
            <a:pPr algn="l" indent="0" marL="0">
              <a:buNone/>
            </a:pPr>
            <a:r>
              <a:rPr lang="ar-SA" altLang="en-US" sz="1350" dirty="0">
                <a:solidFill>
                  <a:srgbClr val="8A6D1E"/>
                </a:solidFill>
                <a:latin typeface="Amiri" pitchFamily="34" charset="0"/>
                <a:ea typeface="Amiri" pitchFamily="34" charset="-122"/>
                <a:cs typeface="Amiri" pitchFamily="34" charset="-120"/>
              </a:rPr>
              <a:t>كُنْتُ قَدْ حَجَزْتُ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1:</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إِذَا ___ مُبَكِّرًا، سَتَحْصُلُ عَلَى سِعْرٍ أَرْخَصَ.</a:t>
            </a:r>
            <a:endParaRPr lang="ar-SA" sz="14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تَحْجِزُ</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حَجَزْتَ</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سَتَحْجِزُ</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أُقِيمُ ___ فُنْدُقٍ قَرِيبٍ مِنَ الشَّاطِئِ.</a:t>
            </a:r>
            <a:endParaRPr lang="ar-SA" sz="15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plan day 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Before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كُنْتُ قَدْ حَجَزْتُ</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perfect.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سَأُقِيمُ فِي</a:t>
            </a:r>
            <a:pPr rtl="1" algn="ctr" indent="0" marL="0">
              <a:buNone/>
            </a:pPr>
            <a:r>
              <a:rPr lang="ar-SA" altLang="en-US" sz="2800" b="1" dirty="0">
                <a:solidFill>
                  <a:srgbClr val="1B3B6F"/>
                </a:solidFill>
                <a:latin typeface="Amiri" pitchFamily="34" charset="0"/>
                <a:ea typeface="Amiri" pitchFamily="34" charset="-122"/>
                <a:cs typeface="Amiri" pitchFamily="34" charset="-120"/>
              </a:rPr>
              <a:t> رِيَاضٍ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fī!</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أَشَارَ</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7B3FA0"/>
                </a:solidFill>
                <a:latin typeface="Amiri" pitchFamily="34" charset="0"/>
                <a:ea typeface="Amiri" pitchFamily="34" charset="-122"/>
                <a:cs typeface="Amiri" pitchFamily="34" charset="-120"/>
              </a:rPr>
              <a:t>إِلَى أَنَّهُ</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1D5FBF"/>
                </a:solidFill>
                <a:latin typeface="Amiri" pitchFamily="34" charset="0"/>
                <a:ea typeface="Amiri" pitchFamily="34" charset="-122"/>
                <a:cs typeface="Amiri" pitchFamily="34" charset="-120"/>
              </a:rPr>
              <a:t>إِذَا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Reported + idhā.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Regret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لَوْ كُنْتُ قَدْ حَجَزْتُ</a:t>
            </a:r>
            <a:pPr rtl="1" algn="ctr" indent="0" marL="0">
              <a:buNone/>
            </a:pPr>
            <a:r>
              <a:rPr lang="ar-SA" altLang="en-US" sz="2200" b="1" dirty="0">
                <a:solidFill>
                  <a:srgbClr val="1B3B6F"/>
                </a:solidFill>
                <a:latin typeface="Amiri" pitchFamily="34" charset="0"/>
                <a:ea typeface="Amiri" pitchFamily="34" charset="-122"/>
                <a:cs typeface="Amiri" pitchFamily="34" charset="-120"/>
              </a:rPr>
              <a:t> … </a:t>
            </a:r>
            <a:pPr rtl="1" algn="ctr" indent="0" marL="0">
              <a:buNone/>
            </a:pPr>
            <a:r>
              <a:rPr lang="ar-SA" altLang="en-US" sz="2200" b="1" dirty="0">
                <a:solidFill>
                  <a:srgbClr val="C77700"/>
                </a:solidFill>
                <a:latin typeface="Amiri" pitchFamily="34" charset="0"/>
                <a:ea typeface="Amiri" pitchFamily="34" charset="-122"/>
                <a:cs typeface="Amiri" pitchFamily="34" charset="-120"/>
              </a:rPr>
              <a:t>لَحَصَلْتُ</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YUQĪM FĪ</a:t>
            </a:r>
            <a:endParaRPr lang="en-US" sz="800" dirty="0"/>
          </a:p>
        </p:txBody>
      </p:sp>
      <p:sp>
        <p:nvSpPr>
          <p:cNvPr id="49" name="Shape 45"/>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REPORTED</a:t>
            </a:r>
            <a:endParaRPr lang="en-US" sz="800" dirty="0"/>
          </a:p>
        </p:txBody>
      </p:sp>
      <p:sp>
        <p:nvSpPr>
          <p:cNvPr id="51" name="Shape 47"/>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1</a:t>
            </a:r>
            <a:endParaRPr lang="en-US" sz="800" dirty="0"/>
          </a:p>
        </p:txBody>
      </p:sp>
      <p:sp>
        <p:nvSpPr>
          <p:cNvPr id="53" name="Shape 49"/>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اليَوْمُ الأَوَّلُ: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كُنْتُ قَدْ حَجَزْتُ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رِحْلَتِي إِلَى الدَّارِ البَيْضَاءِ قَبْلَ شَهْرَيْنِ. سَأَصِلُ إِلَى المَطَارِ صَبَاحًا،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وَسَأُقِيمُ 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رِيَاضٍ تَقْلِيدِيٍّ فِي المَدِينَةِ القَدِيمَةِ.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وَأَشَارَ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دَلِيلُ السَّفَرِ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إِلَى أَنَّهُ</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إِذَا وَصَلْتُ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مُبَكِّرًا،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سَأَزُورُ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السُّوقَ قَبْلَ الزِّحَامِ.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وَلَوْ كُنْتُ قَدْ حَجَزْتُ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قَبْلَ العُطْلَةِ الرَّسْمِيَّةِ،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لَحَصَلْتُ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عَلَى سِعْرٍ أَرْخَصَ.</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Day one: I had booked my trip to Casablanca two months ago. I will arrive at the airport in the morning, and I will stay in a traditional riad in the old city. The travel guide pointed out that if I arrive early, I will visit the souk before the crowds. And if I had booked before the public holiday, I would have got a cheaper price.</a:t>
            </a:r>
            <a:endParaRPr lang="en-US" sz="11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قَدْ حَجَزْتُ رِحْلَتِي قَبْلَ شَهْرَيْنِ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had booked my trip two months ago</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perfect of yaḥjiz.</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حَجَزْتَ مُبَكِّرًا، سَتَحْصُلُ عَلَى سِعْرٍ أَرْخَصَ</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you book early, you will get a cheaper price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1 with yaḥjiz.</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أُقِيمُ فِي رِيَاضٍ تَقْلِيدِيٍّ فِي المَدِينَةِ القَدِيمَةِ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staying in a traditional riad in the old city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yuqīm fī before accommodation.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PLANNING A TRIP — BOOKING, ITINERARIES AND TRAVEL DOCUMENTS”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What has been arranged? Match the picture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 ticket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hotel, three nights</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arriving early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حَجَزْتُ فُنْدُقًا لِثَلَاثِ لَيَالٍ.</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سَأَصِلُ إِلَى المَطَارِ مُبَكِّرًا.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حَجَزْتُ تَذْكِرَةَ الطَّائِرَةِ.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خَطِّطِ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 ticket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حَجَزْتُ تَذْكِرَةَ الطَّائِرَةِ.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booked the plane ticket.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hotel, three nights</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حَجَزْتُ فُنْدُقًا لِثَلَاثِ لَيَالٍ.</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booked a hotel for three nights.</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arriving early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سَأَصِلُ إِلَى المَطَارِ مُبَكِّرًا.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will arrive at the airport early.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BUILD AN ITINERARY DAY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Opening + accommodation + conditional</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يَوْمًا فِي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Past-perfect opening</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Where I will stay</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Conditional / advice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حَجَزْتُ رِحْلَتِي قَبْلَ شَهْرَيْنِ</a:t>
            </a:r>
            <a:endParaRPr lang="ar-SA" sz="16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وَسَأُقِيمُ فِي رِيَاضٍ تَقْلِيدِيٍّ فِي المَدِينَةِ القَدِيمَةِ</a:t>
            </a:r>
            <a:endParaRPr lang="ar-SA" sz="16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وَإِذَا وَصَلْتُ مُبَكِّرًا سَأَزُورُ السُّوقَ قَبْلَ الزِّحَامِ</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جَدَّدْتُ جَوَازَ سَفَرِي وَاشْتَرَيْتُ التَّأْمِينَ</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وَسَأُقِيمُ فِي شَقَّةٍ مَفْرُوشَةٍ قَرِيبَةٍ مِنَ المَرْكَزِ</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حَجَزْتُ فِي فُنْدُقٍ حَدِيثٍ لَفَقَدْتُ سِحْرَ المَدِينَةِ</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كُنْتُ قَدْ سَجَّلْتُ الوُصُولَ إِلِكْتْرُونِيًّا</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وَسَأُقِيمُ فِي نُزُلٍ جَبَلِيٍّ هَادِئٍ</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وَأَشَارَ الدَّلِيلُ إِلَى أَنَّ الحَجْزَ المُبَكِّرَ أَرْخَصُ</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Present, past — or future / conditional?</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أَحْجِزُ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أُقِيمُ فِي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يَحْجِزُ</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أَقَمْتُ فِي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سَتَحْصُلُ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لَكَانَ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 past perfect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 conditional</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present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أَحْجِزُ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أُقِيمُ فِي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يَحْجِزُ</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past / past perfect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قَدْ حَجَزْتُ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أَقَمْتُ فِي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 / conditional</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سَأَحْجِزُ</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حَجَزْتَ سَتَحْصُلُ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حَجَزْتُ لَكَانَ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فِي فُنْدُقٍ آخَرَ، ___ أَفْضَلَ.</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أُقِيمُ فِي شَقَّةٍ مَفْرُوشَةٍ أَمْسِ.</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أَقَمْتُ فِي شَقَّةٍ مَفْرُوشَةٍ.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سَأُقِيمُ فِي شَقَّةٍ أَمْسِ.</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three structures?</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حَجَزْتُ فُنْدُقًا جَمِيلًا.</a:t>
            </a:r>
            <a:endParaRPr lang="ar-SA" sz="13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أُحِبُّ السَّفَرَ.</a:t>
            </a:r>
            <a:endParaRPr lang="ar-SA" sz="13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34" charset="0"/>
                <a:ea typeface="Amiri" pitchFamily="34" charset="-122"/>
                <a:cs typeface="Amiri" pitchFamily="34" charset="-120"/>
              </a:rPr>
              <a:t>كُنْتُ قَدْ حَجَزْتُ فُنْدُقِي، وَأَشَارَ المُنَظِّمُ إِلَى أَنَّهُ إِذَا وَصَلْنَا مُبَكِّرًا سَنَحْصُلُ عَلَى تَرْقِيَةٍ.</a:t>
            </a:r>
            <a:endParaRPr lang="ar-SA" sz="13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سَأَحْجِزُ</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future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سَأَحْجِزُ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حَجَزْتُ فِي فُنْدُقٍ آخَرَ، ___ أَفْضَلَ.</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 on a past verb.</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correct past of </a:t>
            </a:r>
            <a:pPr algn="l" indent="0" marL="0">
              <a:buNone/>
            </a:pPr>
            <a:r>
              <a:rPr lang="ar-SA" altLang="en-US" sz="1650" b="1" dirty="0">
                <a:solidFill>
                  <a:srgbClr val="1B3B6F"/>
                </a:solidFill>
                <a:latin typeface="Amiri" pitchFamily="34" charset="0"/>
                <a:ea typeface="Amiri" pitchFamily="34" charset="-122"/>
                <a:cs typeface="Amiri" pitchFamily="34" charset="-120"/>
              </a:rPr>
              <a:t>يُقِيمُ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أُقِيمُ فِي شَقَّةٍ مَفْرُوشَةٍ أَمْسِ.</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أَقَمْتُ فِي شَقَّةٍ مَفْرُوشَةٍ.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سَأُقِيمُ فِي شَقَّةٍ أَمْسِ.</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is </a:t>
            </a:r>
            <a:pPr algn="l" indent="0" marL="0">
              <a:buNone/>
            </a:pPr>
            <a:r>
              <a:rPr lang="ar-SA" altLang="en-US" sz="1350" dirty="0">
                <a:solidFill>
                  <a:srgbClr val="8A6D1E"/>
                </a:solidFill>
                <a:latin typeface="Amiri" pitchFamily="34" charset="0"/>
                <a:ea typeface="Amiri" pitchFamily="34" charset="-122"/>
                <a:cs typeface="Amiri" pitchFamily="34" charset="-120"/>
              </a:rPr>
              <a:t>أَقَمْتُ 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packs three structures?</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حَجَزْتُ فُنْدُقًا جَمِيلًا.</a:t>
            </a:r>
            <a:endParaRPr lang="ar-SA" sz="13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34" charset="0"/>
                <a:ea typeface="Amiri" pitchFamily="34" charset="-122"/>
                <a:cs typeface="Amiri" pitchFamily="34" charset="-120"/>
              </a:rPr>
              <a:t>أُحِبُّ السَّفَرَ.</a:t>
            </a:r>
            <a:endParaRPr lang="ar-SA" sz="13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كُنْتُ قَدْ حَجَزْتُ فُنْدُقِي، وَأَشَارَ المُنَظِّمُ إِلَى أَنَّهُ إِذَا وَصَلْنَا مُبَكِّرًا سَنَحْصُلُ عَلَى تَرْقِيَةٍ.</a:t>
            </a:r>
            <a:endParaRPr lang="ar-SA" sz="13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perfect + reported speech + Type 1 conditional in one sentence.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أُقِيمُ فُنْدُقًا بِخَمْسِ نُجُومٍ.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uqīmu funduqan?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تَحْجِزُ مُبَكِّرًا، سَتَحْصُلُ عَلَى سِعْرٍ أَرْخَصَ.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idhā taḥjizu?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حَجَزْتُ فِي فُنْدُقٍ آخَرَ، سَيَكُونُ أَفْضَلَ.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sa-yakūnu?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أُقِيمُ فُنْدُقًا بِخَمْسِ نُجُومٍ.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أُقِيمُ فِي فُنْدُقٍ بِخَمْسِ نُجُومٍ.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يُقِيمُ</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إِذَا تَحْجِزُ مُبَكِّرًا، سَتَحْصُلُ عَلَى سِعْرٍ أَرْخَصَ.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حَجَزْتَ مُبَكِّرًا، سَتَحْصُلُ عَلَى سِعْرٍ أَرْخَصَ.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إِذَا</a:t>
            </a:r>
            <a:pPr algn="l" indent="0" marL="0">
              <a:buNone/>
            </a:pPr>
            <a:r>
              <a:rPr lang="en-US" sz="1150" b="1" dirty="0">
                <a:solidFill>
                  <a:srgbClr val="1B3B6F"/>
                </a:solidFill>
                <a:latin typeface="Calibri" pitchFamily="34" charset="0"/>
                <a:ea typeface="Calibri" pitchFamily="34" charset="-122"/>
                <a:cs typeface="Calibri" pitchFamily="34" charset="-120"/>
              </a:rPr>
              <a:t> takes a past-form verb.</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حَجَزْتُ فِي فُنْدُقٍ آخَرَ، سَيَكُونُ أَفْضَلَ.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حَجَزْتُ فِي فُنْدُقٍ آخَرَ، لَكَانَ أَفْضَلَ.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Listening: planning a trip to Marrakesh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two months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Booked the trip and renewed the passport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Cancelled the trip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traveller book early?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pay more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 first class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get economy class at a good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the traveller stay?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modern hotel outside the city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travel guide indicate (Type 1)?</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they arrive early, they will visit the souk before the crowds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souk is closed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travel is unsafe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a modern hotel (Type 2)?</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would have been better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have lost the charm of the old quarters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sa-uqīmu fī.</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يَقُولُ المُسَافِرُ: كُنْتُ قَدْ حَجَزْتُ رِحْلَتِي إِلَى مَرَّاكُشَ قَبْلَ شَهْرَيْنِ، وَكُنْتُ قَدْ جَدَّدْتُ جَوَازَ سَفَرِي.</a:t>
            </a:r>
            <a:endParaRPr lang="ar-SA" sz="17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traveller says: I had booked my trip to Marrakesh two months ago, and I had renewed my passport.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أَحْجِزُ دَائِمًا تَذَاكِرِي مُبَكِّرًا لِأَحْصُلَ عَلَى الدَّرَجَةِ الاقْتِصَادِيَّةِ بِسِعْرٍ مُنَاسِبٍ. سَأُقِيمُ فِي رِيَاضٍ تَقْلِيدِيٍّ فِي المَدِينَةِ القَدِيمَةِ.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always book my tickets early to get economy class at a reasonable price. I will stay in a traditional riad in the old city.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وَأَشَارَ دَلِيلُ السَّفَرِ إِلَى أَنَّهُ إِذَا وَصَلْتُ مُبَكِّرًا، سَأَزُورُ سُوقَ الجُدَيْدَةِ قَبْلَ الزِّحَامِ. أَمَّا التَّأْشِيرَةُ فَقَدْ حَصَلْتُ عَلَيْهَا إِلِكْتْرُونِيًّا.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travel guide pointed out that if I arrive early, I will visit the souk before the crowds. As for the visa, I obtained it online.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وَلَوْ حَجَزْتُ فِي فُنْدُقٍ حَدِيثٍ خَارِجَ المَدِينَةِ، لَفَقَدْتُ سِحْرَ الأَحْيَاءِ القَدِيمَةِ.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I booked a modern hotel outside the city, I would have lost the charm of the old quarters.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سَأَحْمِلُ حَقِيبَةً وَاحِدَةً فَقَطْ لِأَتَجَنَّبَ رُسُومَ الأَمْتِعَةِ الزَّائِدَةِ.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will take only one bag to avoid excess-baggage fees.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had the traveller done two months earlier?</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Booked the trip and renewed the passport</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Cancelled the trip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قَدْ حَجَزْتُ رِحْلَتِي … وَكُنْتُ قَدْ جَدَّدْتُ جَوَازَ سَفَرِي.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traveller book early?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pay more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 first class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get economy class at a good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أَحْجِزُ دَائِمًا تَذَاكِرِي مُبَكِّرًا لِأَحْصُلَ عَلَى الدَّرَجَةِ الاقْتِصَادِيَّةِ بِسِعْرٍ مُنَاسِبٍ.</a:t>
            </a:r>
            <a:endParaRPr lang="ar-SA"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will the traveller stay?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modern hotel outside the city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a traditional riad in the old city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سَأُقِيمُ فِي رِيَاضٍ تَقْلِيدِيٍّ فِي المَدِينَةِ القَدِيمَةِ.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travel guide indicate (Type 1)?</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they arrive early, they will visit the souk before the crowds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souk is closed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travel is unsafe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وَصَلْتُ مُبَكِّرًا، سَأَزُورُ سُوقَ الجُدَيْدَةِ قَبْلَ الزِّحَامِ.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a modern hotel (Type 2)?</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would have been better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They would have lost the charm of the old quarters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لَوْ حَجَزْتُ فِي فُنْدُقٍ حَدِيثٍ خَارِجَ المَدِينَةِ، لَفَقَدْتُ سِحْرَ الأَحْيَاءِ القَدِيمَةِ.</a:t>
            </a:r>
            <a:endParaRPr lang="ar-SA"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kuntu qad · sa-uqīmu fī.</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talk through your trip plan</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حَجَزْتَ رِحْلَتَكَ، وَأَيْنَ سَتُقِيمُ؟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سَيَحْدُثُ إِذَا سَجَّلْتَ الوُصُولَ إِلِكْتْرُونِيًّا؟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حَجَزْتَ فِي مَكَانٍ آخَرَ، مَاذَا كَانَ سَيَخْتَلِفُ؟</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34" charset="0"/>
                <a:ea typeface="Amiri" pitchFamily="34" charset="-122"/>
                <a:cs typeface="Amiri" pitchFamily="34" charset="-120"/>
              </a:rPr>
              <a:t>كُنْتُ قَدْ حَجَزْتُ رِحْلَتِي قَبْلَ ___ ، وَسَأُقِيمُ فِي ___ .</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سَجَّلْتُ الوُصُولَ إِلِكْتْرُونِيًّا،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حَجَزْتُ فِي ___ ،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مَتَى حَجَزْتَ رِحْلَتَكَ، وَأَيْنَ سَتُقِيمُ؟</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When did you book your trip, and where will you stay?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كُنْتُ قَدْ حَجَزْتُ رِحْلَتِي قَبْلَ شَهْرَيْنِ، وَسَأُقِيمُ فِي رِيَاضٍ تَقْلِيدِيٍّ.</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had booked my trip two months ago, and I will stay in a traditional riad.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forms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t>
            </a:r>
            <a:pPr algn="l" indent="0" marL="0">
              <a:buNone/>
            </a:pPr>
            <a:r>
              <a:rPr lang="ar-SA" altLang="en-US" sz="1800" b="1" dirty="0">
                <a:solidFill>
                  <a:srgbClr val="1F2A37"/>
                </a:solidFill>
                <a:latin typeface="Amiri" pitchFamily="34" charset="0"/>
                <a:ea typeface="Amiri" pitchFamily="34" charset="-122"/>
                <a:cs typeface="Amiri" pitchFamily="34" charset="-120"/>
              </a:rPr>
              <a:t>يَحْجِزُ</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يُقِيمُ</a:t>
            </a:r>
            <a:pPr algn="l" indent="0" marL="0">
              <a:buNone/>
            </a:pPr>
            <a:r>
              <a:rPr lang="en-US" sz="1400" b="1" dirty="0">
                <a:solidFill>
                  <a:srgbClr val="1F2A37"/>
                </a:solidFill>
                <a:latin typeface="Calibri" pitchFamily="34" charset="0"/>
                <a:ea typeface="Calibri" pitchFamily="34" charset="-122"/>
                <a:cs typeface="Calibri" pitchFamily="34" charset="-120"/>
              </a:rPr>
              <a:t> in the present, past and future.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yaḥjiz and yuqīm fī in the present, past and future — one sentence each.</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perfect and a Type 1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past perfect and a Type 1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full itinerary day using four structures, including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day-by-day itinerary opening with kuntu qad ḥajaztu, with yuqīm fī, a Type 1, a reported recommendation and a Type 2.</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حَجَزْتَ مُبَكِّرًا،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book early, you will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أَشَارَ الدَّلِيلُ إِلَى أَنَّهُ إِذَا وَصَلْتُ مُبَكِّرًا،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guide pointed out that if I arrive early,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سَأَحْمِلُ حَقِيبَةً وَاحِدَةً لِأَتَجَنَّبَ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take one bag in order to avoid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كُنْتُ قَدْ حَجَزْتُ قَبْلَ العُطْلَةِ،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had booked before the holiday,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كُنْتُ قَدْ حَجَزْتُ رِحْلَتِي إِلَى ______ قَبْلَ ______ .</a:t>
            </a:r>
            <a:endParaRPr lang="ar-SA" sz="16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had booked my trip to … before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سَأُقِيمُ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stay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العَامِ المَاضِي أَقَمْتُ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year I stayed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أَحْجِزُ تَذَاكِرِي دَائِمًا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always book my tickets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مَرَّاكُشَ  ·  عُمَانَ  ·  شَهْرَيْنِ  ·  رِيَاضٍ تَقْلِيدِيٍّ  ·  شَقَّةٍ مَفْرُوشَةٍ  ·  فُنْدُقٍ بِخَمْسِ نُجُومٍ  ·  مُبَكِّرًا  ·  سَتَحْصُلُ عَلَى سِعْرٍ أَرْخَصَ  ·  سَأَزُورُ السُّوقَ قَبْلَ الزِّحَامِ  ·  رُسُومَ الأَمْتِعَةِ الزَّائِدَةِ  ·  لَحَصَلْتُ عَلَى سِعْرٍ أَرْخَصَ  ·  جَوَازَ سَفَرِي</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a day-by-day itinerary of one hundred to one hundred and ten words for a trip to an Arab city. Open with a past perfect (</a:t>
            </a:r>
            <a:pPr algn="l" indent="0" marL="0">
              <a:buNone/>
            </a:pPr>
            <a:r>
              <a:rPr lang="ar-SA" altLang="en-US" sz="1700" b="1" dirty="0">
                <a:solidFill>
                  <a:srgbClr val="1F2A37"/>
                </a:solidFill>
                <a:latin typeface="Amiri" pitchFamily="34" charset="0"/>
                <a:ea typeface="Amiri" pitchFamily="34" charset="-122"/>
                <a:cs typeface="Amiri" pitchFamily="34" charset="-120"/>
              </a:rPr>
              <a:t>كُنْتُ قَدْ حَجَزْتُ</a:t>
            </a:r>
            <a:pPr algn="l" indent="0" marL="0">
              <a:buNone/>
            </a:pPr>
            <a:r>
              <a:rPr lang="en-US" sz="1300" b="1" dirty="0">
                <a:solidFill>
                  <a:srgbClr val="1F2A37"/>
                </a:solidFill>
                <a:latin typeface="Calibri" pitchFamily="34" charset="0"/>
                <a:ea typeface="Calibri" pitchFamily="34" charset="-122"/>
                <a:cs typeface="Calibri" pitchFamily="34" charset="-120"/>
              </a:rPr>
              <a:t>), use </a:t>
            </a:r>
            <a:pPr algn="l" indent="0" marL="0">
              <a:buNone/>
            </a:pPr>
            <a:r>
              <a:rPr lang="ar-SA" altLang="en-US" sz="1700" b="1" dirty="0">
                <a:solidFill>
                  <a:srgbClr val="1F2A37"/>
                </a:solidFill>
                <a:latin typeface="Amiri" pitchFamily="34" charset="0"/>
                <a:ea typeface="Amiri" pitchFamily="34" charset="-122"/>
                <a:cs typeface="Amiri" pitchFamily="34" charset="-120"/>
              </a:rPr>
              <a:t>يُقِيمُ فِي</a:t>
            </a:r>
            <a:pPr algn="l" indent="0" marL="0">
              <a:buNone/>
            </a:pPr>
            <a:r>
              <a:rPr lang="en-US" sz="1300" b="1" dirty="0">
                <a:solidFill>
                  <a:srgbClr val="1F2A37"/>
                </a:solidFill>
                <a:latin typeface="Calibri" pitchFamily="34" charset="0"/>
                <a:ea typeface="Calibri" pitchFamily="34" charset="-122"/>
                <a:cs typeface="Calibri" pitchFamily="34" charset="-120"/>
              </a:rPr>
              <a:t>, at least one Type 1 conditional, a reported recommendation, and one Type 2 counterfactual.</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past-perfect opening with </a:t>
            </a:r>
            <a:pPr algn="l" indent="0" marL="0">
              <a:buNone/>
            </a:pPr>
            <a:r>
              <a:rPr lang="ar-SA" altLang="en-US" sz="1550" dirty="0">
                <a:solidFill>
                  <a:srgbClr val="1F2A37"/>
                </a:solidFill>
                <a:latin typeface="Amiri" pitchFamily="34" charset="0"/>
                <a:ea typeface="Amiri" pitchFamily="34" charset="-122"/>
                <a:cs typeface="Amiri" pitchFamily="34" charset="-120"/>
              </a:rPr>
              <a:t>يَحْجِزُ</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كُنْتُ قَدْ حَجَزْتُ</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يُقِيمُ فِي</a:t>
            </a:r>
            <a:pPr algn="l" indent="0" marL="0">
              <a:buNone/>
            </a:pPr>
            <a:r>
              <a:rPr lang="en-US" sz="1200" dirty="0">
                <a:solidFill>
                  <a:srgbClr val="1F2A37"/>
                </a:solidFill>
                <a:latin typeface="Calibri" pitchFamily="34" charset="0"/>
                <a:ea typeface="Calibri" pitchFamily="34" charset="-122"/>
                <a:cs typeface="Calibri" pitchFamily="34" charset="-120"/>
              </a:rPr>
              <a:t> before the accommodation.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conditional and a reported recommendation.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اليَوْمُ الأَوَّلُ: … اليَوْمُ الثَّانِي: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Day one: … Day two: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وَكُنْتُ قَدْ جَدَّدْتُ جَوَازَ سَفَرِي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had renewed my passport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وَإِذَا كَانَ الطَّقْسُ جَيِّدًا، سَأَتَنَزَّهُ طَوَالَ اليَوْمِ</a:t>
            </a:r>
            <a:endParaRPr lang="ar-SA" sz="16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if the weather is good, I will hike all day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سَأُقِيمُ لَيْلَةً أَخِيرَةً قُرْبَ الشَّاطِئِ</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stay a final night near the beach</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أَنْصَحُ بِالحَجْزِ المُبَكِّرِ دَائِمًا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I always recommend booking early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اليَوْمُ الأَوَّلُ: كُنْتُ قَدْ حَجَزْتُ رِحْلَتِي إِلَى الدَّارِ البَيْضَاءِ قَبْلَ شَهْرَيْنِ، وَكُنْتُ قَدْ جَدَّدْتُ جَوَازَ سَفَرِي. سَأَصِلُ إِلَى المَطَارِ صَبَاحًا، وَسَأُقِيمُ فِي رِيَاضٍ تَقْلِيدِيٍّ فِي المَدِينَةِ القَدِيمَةِ. وَأَشَارَ دَلِيلُ السَّفَرِ إِلَى أَنَّهُ إِذَا وَصَلْتُ مُبَكِّرًا، سَأَزُورُ السُّوقَ قَبْلَ الزِّحَامِ. اليَوْمُ الثَّانِي: سَأَحْجِزُ جَوْلَةً إِلَى الجِبَالِ، وَإِذَا كَانَ الطَّقْسُ جَيِّدًا، سَأَتَنَزَّهُ طَوَالَ اليَوْمِ. اليَوْمُ الثَّالِثُ: سَأُقِيمُ لَيْلَةً أَخِيرَةً قُرْبَ الشَّاطِئِ. وَلَوْ كُنْتُ قَدْ حَجَزْتُ قَبْلَ العُطْلَةِ الرَّسْمِيَّةِ، لَحَصَلْتُ عَلَى سِعْرٍ أَرْخَصَ. لِذٰلِكَ أَنْصَحُ بِالحَجْزِ المُبَكِّرِ دَائِمًا.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Day one: I had booked my trip to Casablanca two months ago, and I had renewed my passport. I will arrive at the airport in the morning, and I will stay in a traditional riad in the old city. The travel guide pointed out that if I arrive early, I will visit the souk before the crowds. Day two: I will book a tour to the mountains, and if the weather is good, I will hike all day. Day three: I will stay a final night near the beach. And if I had booked before the public holiday, I would have got a cheaper price. So I always recommend booking early.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past perfects (kuntu qad ḥajaztu · jaddadtu)</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yuqīm fī twice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reported tip + two idhā conditionals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Type 2 regret (law kuntu qad … 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yaḥjiz / yuqīm are in the right tense for each time word.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yuqīm always has fī (and the noun after it ends in -in).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itinerary opens with kuntu qad ḥajaztu.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idhā verb is past; the result has sa-.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2 result has la- (la-ḥaṣaltu · la-kāna).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عُمَانَ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فُنْدُقٍ قَرِيبٍ مِنَ الشَّاطِئِ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فِي فُنْدُقٍ آخَرَ،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future: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عُمَانَ الصَّيْفَ القَادِمَ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سَأَحْجِزُ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حَجَزْتُ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أَحْجِزُ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future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سَأَحْجِزُ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أُقِيمُ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فُنْدُقٍ قَرِيبٍ مِنَ الشَّاطِئِ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يُقِيمُ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Type 2: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فِي فُنْدُقٍ آخَرَ،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لَكَانَ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سَيَكُونُ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يَكُونُ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traveller's plan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500" dirty="0">
                <a:solidFill>
                  <a:srgbClr val="1F2A37"/>
                </a:solidFill>
                <a:latin typeface="Amiri" pitchFamily="34" charset="0"/>
                <a:ea typeface="Amiri" pitchFamily="34" charset="-122"/>
                <a:cs typeface="Amiri" pitchFamily="34" charset="-120"/>
              </a:rPr>
              <a:t>عِنْدَمَا أُخَطِّطُ لِرِحْلَةٍ، أَبْدَأُ بِالأَسَاسِيَّاتِ. أَحْجِزُ تَذْكِرَةَ الطَّائِرَةِ مُبَكِّرًا، وَأُجَدِّدُ جَوَازَ سَفَرِي، وَأَشْتَرِي تَأْمِينَ سَفَرٍ. فِي رِحْلَتِي الأَخِيرَةِ، كُنْتُ قَدْ حَجَزْتُ الفُنْدُقَ قَبْلَ شَهْرٍ، وَأَقَمْتُ فِي شَقَّةٍ مَفْرُوشَةٍ قَرِيبَةٍ مِنَ المَرْكَزِ. وَأَشَارَ المُنَظِّمُ إِلَى أَنَّهُ إِذَا سَجَّلْتُ الوُصُولَ إِلِكْتْرُونِيًّا، سَأُوَفِّرُ وَقْتًا فِي المَطَارِ. أَمَّا هٰذِهِ السَّنَةَ فَسَأَحْجِزُ رِحْلَةً إِلَى عُمَانَ، وَسَأُقِيمُ فِي نُزُلٍ جَبَلِيٍّ. وَلَوْ كُنْتُ قَدْ حَجَزْتُ قَبْلَ العُطْلَةِ الرَّسْمِيَّةِ، لَحَصَلْتُ عَلَى سِعْرٍ أَرْخَصَ. لِذٰلِكَ أَنْصَحُ دَائِمًا بِالحَجْزِ المُبَكِّرِ.</a:t>
            </a:r>
            <a:endParaRPr lang="ar-SA" sz="25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أُخَطِّطُ لِرِحْلَةٍ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plan a trip</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الأَسَاسِيَّاتِ</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basics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أُجَدِّدُ</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renew</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المُنَظِّمُ</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organiser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سَجَّلْتُ الوُصُولَ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checked in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سَأُوَفِّرُ وَقْتًا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will save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نُزُلٍ جَبَلِيٍّ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mountain lodge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العُطْلَةِ الرَّسْمِيَّةِ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public holiday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أَرْخَصَ</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cheaper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أَنْصَحُ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recommend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traveller do first when planning?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Packs a bag</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 the flight, renews the passport, buys insurance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 last trip?</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five-star hotel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furnished apartment near the centre</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organiser indicate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 check-in saves time at the airport</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 is closed</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Check-in is impossible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year's plan?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 home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 a trip to Oman and stay in a mountain lodge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Cancel travel</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booking earlier (Type 2)?</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would have got a cheaper price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price would have risen</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would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traveller do first when planning?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Packs a bag</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Books the flight, renews the passport, buys insurance</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100" dirty="0">
                <a:solidFill>
                  <a:srgbClr val="8A6D1E"/>
                </a:solidFill>
                <a:latin typeface="Amiri" pitchFamily="34" charset="0"/>
                <a:ea typeface="Amiri" pitchFamily="34" charset="-122"/>
                <a:cs typeface="Amiri" pitchFamily="34" charset="-120"/>
              </a:rPr>
              <a:t>أَحْجِزُ تَذْكِرَةَ الطَّائِرَةِ مُبَكِّرًا، وَأُجَدِّدُ جَوَازَ سَفَرِي، وَأَشْتَرِي تَأْمِينَ سَفَرٍ.</a:t>
            </a:r>
            <a:endParaRPr lang="ar-SA" sz="110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traveller stay last trip?</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five-star hotel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A furnished apartment near the centre</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وَأَقَمْتُ فِي شَقَّةٍ مَفْرُوشَةٍ قَرِيبَةٍ مِنَ المَرْكَزِ.</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organiser indicate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Online check-in saves time at the airport</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airport is closed</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Check-in is impossible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سَجَّلْتُ الوُصُولَ إِلِكْتْرُونِيًّا، سَأُوَفِّرُ وَقْتًا فِي المَطَارِ.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this year's plan?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 home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Book a trip to Oman and stay in a mountain lodge</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Cancel travel</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سَأَحْجِزُ رِحْلَةً إِلَى عُمَانَ، وَسَأُقِيمُ فِي نُزُلٍ جَبَلِيٍّ.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about booking earlier (Type 2)?</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would have got a cheaper price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price would have risen</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would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لَوْ كُنْتُ قَدْ حَجَزْتُ قَبْلَ العُطْلَةِ الرَّسْمِيَّةِ، لَحَصَلْتُ عَلَى سِعْرٍ أَرْخَصَ.</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Booking Mission — </a:t>
            </a:r>
            <a:pPr algn="l" indent="0" marL="0">
              <a:buNone/>
            </a:pPr>
            <a:r>
              <a:rPr lang="ar-SA" altLang="en-US" sz="2450" b="1" dirty="0">
                <a:solidFill>
                  <a:srgbClr val="1B3B6F"/>
                </a:solidFill>
                <a:latin typeface="Amiri" pitchFamily="34" charset="0"/>
                <a:ea typeface="Amiri" pitchFamily="34" charset="-122"/>
                <a:cs typeface="Amiri" pitchFamily="34" charset="-120"/>
              </a:rPr>
              <a:t>يَحْجِزُ</a:t>
            </a:r>
            <a:pPr algn="l" indent="0" marL="0">
              <a:buNone/>
            </a:pPr>
            <a:r>
              <a:rPr lang="en-US" sz="1900" b="1" dirty="0">
                <a:solidFill>
                  <a:srgbClr val="1B3B6F"/>
                </a:solidFill>
                <a:latin typeface="Cambria" pitchFamily="34" charset="0"/>
                <a:ea typeface="Cambria" pitchFamily="34" charset="-122"/>
                <a:cs typeface="Cambria" pitchFamily="34" charset="-120"/>
              </a:rPr>
              <a:t> and </a:t>
            </a:r>
            <a:pPr algn="l" indent="0" marL="0">
              <a:buNone/>
            </a:pPr>
            <a:r>
              <a:rPr lang="ar-SA" altLang="en-US" sz="2450" b="1" dirty="0">
                <a:solidFill>
                  <a:srgbClr val="1B3B6F"/>
                </a:solidFill>
                <a:latin typeface="Amiri" pitchFamily="34" charset="0"/>
                <a:ea typeface="Amiri" pitchFamily="34" charset="-122"/>
                <a:cs typeface="Amiri" pitchFamily="34" charset="-120"/>
              </a:rPr>
              <a:t>يُقِيمُ</a:t>
            </a:r>
            <a:pPr algn="l" indent="0" marL="0">
              <a:buNone/>
            </a:pPr>
            <a:r>
              <a:rPr lang="en-US" sz="1900" b="1" dirty="0">
                <a:solidFill>
                  <a:srgbClr val="1B3B6F"/>
                </a:solidFill>
                <a:latin typeface="Cambria" pitchFamily="34" charset="0"/>
                <a:ea typeface="Cambria" pitchFamily="34" charset="-122"/>
                <a:cs typeface="Cambria" pitchFamily="34" charset="-120"/>
              </a:rPr>
              <a:t> in Every Tense</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Present: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الفُنْدُقَ قَبْلَ شَهْرٍ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Future: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أَحْجِزُ</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سَأَحْجِزُ</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قَدْ</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سَتُوَفِّرُ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تَحْجِزُ</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سَتَحْجِزُ</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فِي فُنْدُقٍ آخَرَ،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سَيَكُونُ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لَكَانَ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Present: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تَذَاكِرِي مُبَكِّرًا دَائِمًا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أَحْجِزُ</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سَأَحْجِزُ</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present first person is </a:t>
            </a:r>
            <a:pPr algn="l" indent="0" marL="0">
              <a:buNone/>
            </a:pPr>
            <a:r>
              <a:rPr lang="ar-SA" altLang="en-US" sz="1350" dirty="0">
                <a:solidFill>
                  <a:srgbClr val="8A6D1E"/>
                </a:solidFill>
                <a:latin typeface="Amiri" pitchFamily="34" charset="0"/>
                <a:ea typeface="Amiri" pitchFamily="34" charset="-122"/>
                <a:cs typeface="Amiri" pitchFamily="34" charset="-120"/>
              </a:rPr>
              <a:t>أَحْجِزُ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الفُنْدُقَ قَبْلَ شَهْرٍ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حَجَزْتُ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سَأَحْجِزُ</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is </a:t>
            </a:r>
            <a:pPr algn="l" indent="0" marL="0">
              <a:buNone/>
            </a:pPr>
            <a:r>
              <a:rPr lang="ar-SA" altLang="en-US" sz="1350" dirty="0">
                <a:solidFill>
                  <a:srgbClr val="8A6D1E"/>
                </a:solidFill>
                <a:latin typeface="Amiri" pitchFamily="34" charset="0"/>
                <a:ea typeface="Amiri" pitchFamily="34" charset="-122"/>
                <a:cs typeface="Amiri" pitchFamily="34" charset="-120"/>
              </a:rPr>
              <a:t>حَجَزْتُ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Future: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رِحْلَةً إِلَى مَرَّاكُشَ</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أَحْجِزُ</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سَأَحْجِزُ</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future takes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Past perfect: complete — ___ </a:t>
            </a:r>
            <a:pPr algn="l" indent="0" marL="0">
              <a:buNone/>
            </a:pPr>
            <a:r>
              <a:rPr lang="ar-SA" altLang="en-US" sz="1650" b="1" dirty="0">
                <a:solidFill>
                  <a:srgbClr val="1B3B6F"/>
                </a:solidFill>
                <a:latin typeface="Amiri" pitchFamily="34" charset="0"/>
                <a:ea typeface="Amiri" pitchFamily="34" charset="-122"/>
                <a:cs typeface="Amiri" pitchFamily="34" charset="-120"/>
              </a:rPr>
              <a:t>حَجَزْتُ المَطْعَمَ قَبْلَ أَنْ نَصِلَ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قَدْ</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perfect is </a:t>
            </a:r>
            <a:pPr algn="l" indent="0" marL="0">
              <a:buNone/>
            </a:pPr>
            <a:r>
              <a:rPr lang="ar-SA" altLang="en-US" sz="1350" dirty="0">
                <a:solidFill>
                  <a:srgbClr val="8A6D1E"/>
                </a:solidFill>
                <a:latin typeface="Amiri" pitchFamily="34" charset="0"/>
                <a:ea typeface="Amiri" pitchFamily="34" charset="-122"/>
                <a:cs typeface="Amiri" pitchFamily="34" charset="-120"/>
              </a:rPr>
              <a:t>كُنْتُ قَدْ حَجَزْتُ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1: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إِذَا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مُبَكِّرًا، سَتُوَفِّرُ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حَجَزْتَ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تَحْجِزُ</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سَتَحْجِزُ</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a:t>
            </a:r>
            <a:pPr algn="l" indent="0" marL="0">
              <a:buNone/>
            </a:pPr>
            <a:r>
              <a:rPr lang="en-US" sz="1050" i="1" dirty="0">
                <a:solidFill>
                  <a:srgbClr val="8A6D1E"/>
                </a:solidFill>
                <a:latin typeface="Calibri" pitchFamily="34" charset="0"/>
                <a:ea typeface="Calibri" pitchFamily="34" charset="-122"/>
                <a:cs typeface="Calibri" pitchFamily="34" charset="-120"/>
              </a:rPr>
              <a:t> takes a past-form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Type 2: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حَجَزْتُ فِي فُنْدُقٍ آخَرَ،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أَفْضَلَ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سَيَكُونُ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لَكَانَ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P3-L02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P3-L03: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P3 · Travel, Holidays and Transport · P3-L02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P3-L03 · Describing Past Holidays — Advanced Narrative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ذِكْرَى لَا تُنْسَى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unforgettable memory</a:t>
            </a:r>
            <a:pPr indent="0" marL="0">
              <a:buNone/>
            </a:pPr>
            <a:r>
              <a:rPr lang="en-US" sz="1000" i="1" dirty="0">
                <a:solidFill>
                  <a:srgbClr val="5A6472"/>
                </a:solidFill>
                <a:latin typeface="Calibri" pitchFamily="34" charset="0"/>
                <a:ea typeface="Calibri" pitchFamily="34" charset="-122"/>
                <a:cs typeface="Calibri" pitchFamily="34" charset="-120"/>
              </a:rPr>
              <a:t>  pl. ذِكْرَيَاتٌ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مُغَامَرَةٌ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adventure</a:t>
            </a:r>
            <a:pPr indent="0" marL="0">
              <a:buNone/>
            </a:pPr>
            <a:r>
              <a:rPr lang="en-US" sz="1000" i="1" dirty="0">
                <a:solidFill>
                  <a:srgbClr val="5A6472"/>
                </a:solidFill>
                <a:latin typeface="Calibri" pitchFamily="34" charset="0"/>
                <a:ea typeface="Calibri" pitchFamily="34" charset="-122"/>
                <a:cs typeface="Calibri" pitchFamily="34" charset="-120"/>
              </a:rPr>
              <a:t>  pl. مُغَامَرَاتٌ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صَدْمَةٌ ثَقَافِيَّةٌ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culture shock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فَاقَ تَوَقُّعَاتِي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it exceeded my expectations</a:t>
            </a:r>
            <a:pPr indent="0" marL="0">
              <a:buNone/>
            </a:pPr>
            <a:r>
              <a:rPr lang="en-US" sz="1000" i="1" dirty="0">
                <a:solidFill>
                  <a:srgbClr val="5A6472"/>
                </a:solidFill>
                <a:latin typeface="Calibri" pitchFamily="34" charset="0"/>
                <a:ea typeface="Calibri" pitchFamily="34" charset="-122"/>
                <a:cs typeface="Calibri" pitchFamily="34" charset="-120"/>
              </a:rPr>
              <a:t>  فَاقَتْ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فَجْأَةً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suddenly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holiday you remember: what happened, and how did you feel?</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إِجَازَتِي الأَخِيرَةِ ______ ، وَكَانَتْ ذِكْرَى لَا تُنْسَى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yaḥjiz and yuqīm fī in the present, past and future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past perfect and a Type 1 booking tip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day-by-day itinerary for a trip to an Arab city.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P3-L02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P3-L03 · Describing Past Holidays — Advanced Narrative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وَصْفُ العُطَلِ المَاضِيَةِ — السَّرْدُ المُتَقَدِّمُ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aḥjizu · ḥajaztu · sa-aḥjizu · kuntu qad ḥajaztu — uqīmu FĪ (aqamtu, short a) — idhā ḥajazta … sa- for advice, law ḥajaztu … la- for regret.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P3-L02 · Planning a Trip — Booking, Itineraries and Travel Documents</dc:title>
  <dc:subject>PptxGenJS Presentation</dc:subject>
  <dc:creator>Al Madina Online School · Arabic Department</dc:creator>
  <cp:lastModifiedBy>Al Madina Online School · Arabic Department</cp:lastModifiedBy>
  <cp:revision>1</cp:revision>
  <dcterms:created xsi:type="dcterms:W3CDTF">2026-10-10T15:07:08Z</dcterms:created>
  <dcterms:modified xsi:type="dcterms:W3CDTF">2026-10-10T15:07:08Z</dcterms:modified>
</cp:coreProperties>
</file>