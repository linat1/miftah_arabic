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P3-L02. The website lesson “Planning a Trip — Booking, Itineraries and Travel Documents”: vocabulary, grammar rules and quiz, patterns, common mistakes, sorter, listening, reading, speaking prompts and model, writing task and model, differentiation, final check and the lesson mission. Picture match: website visual game “Planning a Trip — Booking, Itineraries and Travel Documents”.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yaḥjiz and yuqīm fī in the present, past and future (website Core). Develop: add a past perfect and a Type 1 conditional. Stretch: a full itinerary day with four structures, including a Type 2 counterfactual (the website 100–110-word itinerary).
• Syllabus focus: يَحْجِزُ and يُقِيمُ are on the Cambridge 0544 verb list — today students meet them in EVERY tense, so they never freeze on them in an exam.
• Watch the hollow verb: أُقِيمُ (present, long ī) but أَقَمْتُ (past with -tu, SHORT a) and أَقَامَ / أَقَامَتْ (long ā). Students often write أَقَامْتُ ✗.
• Real-life link: many families plan Umrah or visits to relatives — let students plan a real trip if they wish, or a dream one (Marrakesh, Oman, Istanbul).
• Grammar links: past perfect (P2-L03) · Type 1 (P1-L03) · Type 2 (P2-L06) · reported speech (P2-L02) · li- + subjunctive (D units).
• TEACHER-WRITTEN ITEMS: waṣl alif shown without a kasra; rule headings and formulas in English and transliteration; sorter headings in English; the accommodation table and the purpose / advice table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P3-L01. Question 4 retrieves yaṣil bayna (P3-L01); question 5 the past perfect (P2-L03) — today kuntu qad opens every itinerary.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verbs, every tense — and yuqīm always takes fī before the place you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اقامت، مقیم، مسافر and جدول come from the same roots — يُقِيمُ فِي is the verb behind اقامت. CAREFUL: Urdu وصول usually means “received” (payment received); in Arabic الوُصُولُ is arrival (صَالَةُ الوُصُولِ = the arrivals hall).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Booking and documents (website vocabulary (1 of 2)). Hear → Say → See → Use. Transliteration is printed for Core students (cover it for Develop/Stretch).
Booking and documents: the nouns of the trip. يَحْجِزُ (book) takes a direct object: أَحْجِزُ تَذْكِرَةً · حَجَزْتُ فُنْدُقًا.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Booking and documents (website vocabulary (2 of 2)). Hear → Say → See → Use. Transliteration is printed for Core students (cover it for Develop/Stretch).
Booking and documents: the nouns of the trip. يَحْجِزُ (book) takes a direct object: أَحْجِزُ تَذْكِرَةً · حَجَزْتُ فُنْدُقًا.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Accommodation and the airport (website vocabulary (1 of 2)). Hear → Say → See → Use. Transliteration is printed for Core students (cover it for Develop/Stretch).
Accommodation and the airport: يُقِيمُ is FIXED with فِي before the place you stay — the formal choice, not يَسْكُنُ.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Accommodation and the airport (website vocabulary (2 of 2)). Hear → Say → See → Use. Transliteration is printed for Core students (cover it for Develop/Stretch).
FLEX: teach if time allows; otherwise these are on the website vocabulary tab for homework.
Accommodation and the airport: يُقِيمُ is FIXED with فِي before the place you stay — the formal choice, not يَسْكُنُ.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2028 verbs across tenses (website vocabulary (1 of 2)). Hear → Say → See → Use. Transliteration is printed for Core students (cover it for Develop/Stretch).
FLEX: teach if time allows; otherwise these are on the website vocabulary tab for homework.
The two syllabus verbs across tenses — each card gives the “she” form too. Hollow verb alert: أَقَمْتُ (short a) but أَقَامَتْ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2028 verbs across tenses (website vocabulary (2 of 2)). Hear → Say → See → Use. Transliteration is printed for Core students (cover it for Develop/Stretch).
FLEX: teach if time allows; otherwise these are on the website vocabulary tab for homework.
The two syllabus verbs across tenses — each card gives the “she” form too. Hollow verb alert: أَقَمْتُ (short a) but أَقَامَتْ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“Present, past, future” and “Past perfect”, the website table and teaching point “يَحْجِزُ and يُقِيمُ in every tense”.
Website quiz 1–3 and 7 test exactly these forms. Common slip: أَقَامْتُ ✗ → أَقَمْتُ (the long ā shortens before a consonant ending).
For “we”: نَحْجِزُ · حَجَزْنَا · سَنَحْجِزُ · كُنَّا قَدْ حَجَزْنَا · نُقِيمُ · أَقَمْنَا.
Drill: teacher says a time word (أَمْسِ · الآنَ · غَدًا · قَبْلَ شَهْرٍ …) and a person; students give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4 (يُقِيمُ فِي) and teaching point “يُقِيمُ takes فِي before accommodation … the formal choice, not يَسْكُنُ”. Rows from the website listening, reading and patterns.
After فِي every adjective is genitive too: فِي فُنْدُقٍ قَرِيبٍ · فِي شَقَّةٍ مَفْرُوشَةٍ قَرِيبَةٍ.
A riad (رِيَاضٌ) is a traditional Moroccan house with an inner courtyard — the website listening is set in Marrakesh.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rules “Type 1 conditional” and “Type 2”, teaching point 1. Card 2 from the website listening; card 3 from the website reading (لَوْ كُنْتُ قَدْ حَجَزْتُ قَبْلَ العُطْلَةِ الرَّسْمِيَّةِ، لَحَصَلْتُ …).
Website mistake 3: لَوْ حَجَزْتُ …، سَيَكُونُ ✗ → لَكَانَ.
Card 1 = advice to “you” (ḥajazta, -ta); cards 2–3 = “I” (ḥajaztu, -tu). Point out the one-letter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purpose clauses from the website listening (لِأَحْصُلَ · لِأَتَجَنَّبَ) and the reported recommendation from the website listening / reading (أَشَارَ … إِلَى أَنَّهُ إِذَا …); row 4 is website quiz 8 (“Which sentence packs three structures?”).
li- + subjunctive (-a): لِأَحْصُلَ · لِأَتَجَنَّبَ · لِأُوَفِّرَ.
أَنَّهُ here is the “pronoun of the matter” (ضَمِيرُ الشَّأْنِ): anna cannot be followed directly by idhā, so it takes -hu.
Website challenge: “Write يَحْجِزُ in all four tenses and in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“يَحْجِزُ and يُقِيمُ conjugated across the present, past, future, past perfect and both conditional types.”
• Present, past, future: The core three tenses.
• Past perfect: An action completed before another past point.
• Type 1 conditional: A real booking outcome.
• Type 2 and yuqīm fī: A counterfactual booking, and staying at accommodation.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BEFORE the trip: kuntu qad ḥajaztu. Where do I stay? yuqīm needs FĪ. Add the guide’s advice: ashāra ilā anna-hu + idhā … sa-. Finish with a regret: law kuntu qad ḥajaztu … la-ḥaṣaltu.”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Planning a Trip — Booking, Itineraries and Travel Documents”)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move each sentence through the tenses: حَجَزْتُ تَذْكِرَةَ الطَّائِرَةِ → كُنْتُ قَدْ حَجَزْتُ … قَبْلَ شَهْرٍ → سَأَحْجِزُ … · حَجَزْتُ فُنْدُقًا → سَأُقِيمُ فِي فُنْدُقٍ لِثَلَاثِ لَيَالٍ.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Planning a Trip — Booking, Itineraries and Travel Documents”)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move each sentence through the tenses: حَجَزْتُ تَذْكِرَةَ الطَّائِرَةِ → كُنْتُ قَدْ حَجَزْتُ … قَبْلَ شَهْرٍ → سَأَحْجِزُ … · حَجَزْتُ فُنْدُقًا → سَأُقِيمُ فِي فُنْدُقٍ لِثَلَاثِ لَيَالٍ.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the website live builder: “Build an itinerary day from a past-perfect opening, an accommodation plan and a conditional.” Website feedback: any three different combinations work.
Core: read row 1 across. Develop: mix rows and change one verb to “she” (كَانَتْ قَدْ حَجَزَتْ · سَتُقِيمُ). Stretch: write your own column 3 with law kuntu qad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every card into the “she” form: تَحْجِزُ · تُقِيمُ فِي · حَجَزَتْ · كَانَتْ قَدْ حَجَزَتْ · أَقَامَتْ فِي · سَتَحْجِزُ · إِذَا حَجَزَتْ سَتَحْصُلُ · لَوْ حَجَزَتْ لَكَانَ.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turn every card into the “she” form: تَحْجِزُ · تُقِيمُ فِي · حَجَزَتْ · كَانَتْ قَدْ حَجَزَتْ · أَقَامَتْ فِي · سَتَحْجِزُ · إِذَا حَجَزَتْ سَتَحْصُلُ · لَوْ حَجَزَتْ لَكَانَ.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note the tense of every form of yaḥjiz and yuqīm you hear.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Website prompts and model. Pairs: travel agent / traveller. The agent asks; the traveller answers with the right tense each time. To a girl: حَجَزْتِ · رِحْلَتَكِ · سَتُقِيمِينَ · سَجَّلْتِ.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قَدْ حَجَزْتُ · كُنْتُ قَدْ جَدَّدْتُ · سَأُقِيمُ فِي رِيَاضٍ · أَشَارَ … إِلَى أَنَّهُ إِذَا وَصَلْتُ … سَأَزُورُ · سَأَحْجِزُ جَوْلَةً · إِذَا كَانَ الطَّقْسُ … سَأَتَنَزَّهُ · سَأُقِيمُ لَيْلَةً · لَوْ كُنْتُ قَدْ حَجَزْتُ … لَحَصَلْتُ.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(P3-L03 · Describing Past Holidays — Advanced Narrative) will spend class time USING this language, so students prepare it tonight — short, simple, easy to access (school guidance: “Simple, Short, Interesting, Relevant, Easy to access”). The five words come from the website P3-L03 vocabulary (narrating past holidays).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Planning a Trip — Booking, Itineraries and Travel Documents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التَّخْطِيطُ لِرِحْلَةٍ — الحَجْزُ وَالوَثَائِقُ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 detailed trip with the syllabus verbs yaḥjiz (book) and yuqīm fī (stay at) in every tense — present, past, future, past perfect — and in both conditionals, then write a day-by-day itinerary.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P3-L02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yaḥjiz and yuqīm fī in every tense, accommodation, both conditionals, purpose li-.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the booking pictures, build an itinerary day, sort the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جَدْوَلُ 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train timetable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travel itinerary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ticket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تَأْشِيرَةٌ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visa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passport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insurance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تَسْجِيلُ الوُصُولِ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arrivals hall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يَصِلُ المِتْرُو إِلَى المَرْكَزِ وَالمَطَارِ.</a:t>
            </a:r>
            <a:endParaRPr lang="ar-SA" sz="1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يَصِلُ المِتْرُو المَرْكَزَ وَالمَطَارَ.</a:t>
            </a:r>
            <a:endParaRPr lang="ar-SA" sz="19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يَصِلُ المِتْرُو بَيْنَ المَرْكَزِ وَالمَطَارِ.</a:t>
            </a:r>
            <a:endParaRPr lang="ar-SA" sz="19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جَوَازَ سَفَرِي قَبْلَ الرِّحْلَةِ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جَدَّدْتُ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أُجَدِّدُ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سَأُجَدِّدُ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جَدْوَلُ رِحْلَةٍ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train timetable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travel itinerary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ticket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تَأْشِيرَةٌ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visa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passport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insurance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تَسْجِيلُ الوُصُولِ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arrivals hall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(P3-L01).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يَصِلُ المِتْرُو إِلَى المَرْكَزِ وَالمَطَارِ.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يَصِلُ المِتْرُو المَرْكَزَ وَالمَطَارَ.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يَصِلُ المِتْرُو بَيْنَ المَرْكَزِ وَالمَطَارِ.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P3-L01: yaṣil bayna.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كُنْتُ قَدْ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جَوَازَ سَفَرِي قَبْلَ الرِّحْلَةِ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جَدَّدْتُ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أُجَدِّدُ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سَأُجَدِّدُ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Two verbs, every tense — and yuqīm always takes fī before the place you stay.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أَحْجِزُ · حَجَزْتُ · سَأَحْجِزُ · كُنْتُ قَدْ حَجَزْتُ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أُقِيمُ فِي</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yaḥjiz and yuqīm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 day-by-day itinerary that combines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booking and document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yaḥjiz and yuqīm fī in three tenses.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the past perfect kuntu qad ḥajaztu.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 booking tip with idhā …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regret a booking with law …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full itinerary day.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Booking and documents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Accommodation and the airport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The 2028 verbs across tenses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إِقَامَةٌ · مُقِيمٌ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‎اقامت · مقیم‎ </a:t>
            </a:r>
            <a:pPr indent="0" marL="0">
              <a:buNone/>
            </a:pPr>
            <a:r>
              <a:rPr lang="en-US" sz="950" b="1" dirty="0">
                <a:solidFill>
                  <a:srgbClr val="2E8B57"/>
                </a:solidFill>
                <a:latin typeface="Calibri" pitchFamily="34" charset="0"/>
                <a:cs typeface="Amiri" pitchFamily="2" charset="-78"/>
              </a:rPr>
              <a:t> iqāmat · muqīm · a stay, residence · a resident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‎مسافر‎ </a:t>
            </a:r>
            <a:pPr indent="0" marL="0">
              <a:buNone/>
            </a:pPr>
            <a:r>
              <a:rPr lang="en-US" sz="950" b="1" dirty="0">
                <a:solidFill>
                  <a:srgbClr val="2E8B57"/>
                </a:solidFill>
                <a:latin typeface="Calibri" pitchFamily="34" charset="0"/>
                <a:cs typeface="Amiri" pitchFamily="2" charset="-78"/>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جَدْوَلٌ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‎جدول‎ </a:t>
            </a:r>
            <a:pPr indent="0" marL="0">
              <a:buNone/>
            </a:pPr>
            <a:r>
              <a:rPr lang="en-US" sz="950" b="1" dirty="0">
                <a:solidFill>
                  <a:srgbClr val="2E8B57"/>
                </a:solidFill>
                <a:latin typeface="Calibri" pitchFamily="34" charset="0"/>
                <a:cs typeface="Amiri" pitchFamily="2" charset="-78"/>
              </a:rPr>
              <a:t> jadwal · a table, schedule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وُصُولٌ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‎وصول‎ </a:t>
            </a:r>
            <a:pPr indent="0" marL="0">
              <a:buNone/>
            </a:pPr>
            <a:r>
              <a:rPr lang="en-US" sz="950" b="1" dirty="0">
                <a:solidFill>
                  <a:srgbClr val="2E8B57"/>
                </a:solidFill>
                <a:latin typeface="Calibri" pitchFamily="34" charset="0"/>
                <a:cs typeface="Amiri" pitchFamily="2" charset="-78"/>
              </a:rPr>
              <a:t> wusūl · arrival (Urdu: receipt of something)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‎بیمہ‎ </a:t>
            </a:r>
            <a:pPr indent="0" marL="0">
              <a:buNone/>
            </a:pPr>
            <a:r>
              <a:rPr lang="en-US" sz="950" b="1" dirty="0">
                <a:solidFill>
                  <a:srgbClr val="2E8B57"/>
                </a:solidFill>
                <a:latin typeface="Calibri" pitchFamily="34" charset="0"/>
                <a:cs typeface="Amiri" pitchFamily="2" charset="-78"/>
              </a:rPr>
              <a:t> bīma · insurance (Urdu uses a Persian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Booking and documents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جَدْوَلُ رِحْلَةٍ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travel itinerary</a:t>
            </a:r>
            <a:endParaRPr lang="en-US" sz="1350" dirty="0"/>
          </a:p>
          <a:p>
            <a:pPr indent="0" marL="0">
              <a:buNone/>
            </a:pPr>
            <a:r>
              <a:rPr lang="en-US" sz="1100" i="1" dirty="0">
                <a:solidFill>
                  <a:srgbClr val="5A6472"/>
                </a:solidFill>
                <a:latin typeface="Calibri" pitchFamily="34" charset="0"/>
                <a:cs typeface="Amiri" pitchFamily="2" charset="-78"/>
              </a:rPr>
              <a:t>jad-wa-lu riḥ-la-tin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جَدَاوِلُ رِحْلَاتٍ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حَجْزٌ</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booking, reservation</a:t>
            </a:r>
            <a:endParaRPr lang="en-US" sz="1350" dirty="0"/>
          </a:p>
          <a:p>
            <a:pPr indent="0" marL="0">
              <a:buNone/>
            </a:pPr>
            <a:r>
              <a:rPr lang="en-US" sz="1100" i="1" dirty="0">
                <a:solidFill>
                  <a:srgbClr val="5A6472"/>
                </a:solidFill>
                <a:latin typeface="Calibri" pitchFamily="34" charset="0"/>
                <a:cs typeface="Amiri" pitchFamily="2" charset="-78"/>
              </a:rPr>
              <a:t>ḥaj-zun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حُجُوزَاتٌ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يَحْجِزُ</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books, reserves</a:t>
            </a:r>
            <a:endParaRPr lang="en-US" sz="1350" dirty="0"/>
          </a:p>
          <a:p>
            <a:pPr indent="0" marL="0">
              <a:buNone/>
            </a:pPr>
            <a:r>
              <a:rPr lang="en-US" sz="1100" i="1" dirty="0">
                <a:solidFill>
                  <a:srgbClr val="5A6472"/>
                </a:solidFill>
                <a:latin typeface="Calibri" pitchFamily="34" charset="0"/>
                <a:cs typeface="Amiri" pitchFamily="2" charset="-78"/>
              </a:rPr>
              <a:t>yaḥ-ji-zu</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تَحْجِزُ</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أَحْجِزُ</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تَأْشِيرَةٌ</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visa</a:t>
            </a:r>
            <a:endParaRPr lang="en-US" sz="1350" dirty="0"/>
          </a:p>
          <a:p>
            <a:pPr indent="0" marL="0">
              <a:buNone/>
            </a:pPr>
            <a:r>
              <a:rPr lang="en-US" sz="1100" i="1" dirty="0">
                <a:solidFill>
                  <a:srgbClr val="5A6472"/>
                </a:solidFill>
                <a:latin typeface="Calibri" pitchFamily="34" charset="0"/>
                <a:cs typeface="Amiri" pitchFamily="2" charset="-78"/>
              </a:rPr>
              <a:t>taʾ-shī-ra-tun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تَأْشِيرَاتٌ</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9" name="Shape 6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جَوَازُ سَفَرٍ</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passport</a:t>
            </a:r>
            <a:endParaRPr lang="en-US" sz="1350" dirty="0"/>
          </a:p>
          <a:p>
            <a:pPr indent="0" marL="0">
              <a:buNone/>
            </a:pPr>
            <a:r>
              <a:rPr lang="en-US" sz="1100" i="1" dirty="0">
                <a:solidFill>
                  <a:srgbClr val="5A6472"/>
                </a:solidFill>
                <a:latin typeface="Calibri" pitchFamily="34" charset="0"/>
                <a:cs typeface="Amiri" pitchFamily="2" charset="-78"/>
              </a:rPr>
              <a:t>ja-wā-zu sa-fa-rin</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جَوَازَاتُ سَفَرٍ</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Booking and documents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تَأْمِينُ 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travel insurance</a:t>
            </a:r>
            <a:endParaRPr lang="en-US" sz="1350" dirty="0"/>
          </a:p>
          <a:p>
            <a:pPr indent="0" marL="0">
              <a:buNone/>
            </a:pPr>
            <a:r>
              <a:rPr lang="en-US" sz="1100" i="1" dirty="0">
                <a:solidFill>
                  <a:srgbClr val="5A6472"/>
                </a:solidFill>
                <a:latin typeface="Calibri" pitchFamily="34" charset="0"/>
                <a:cs typeface="Amiri" pitchFamily="2" charset="-78"/>
              </a:rPr>
              <a:t>taʾ-mī-nu sa-fa-rin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تَسْجِيلُ الوُصُولِ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check-in</a:t>
            </a:r>
            <a:endParaRPr lang="en-US" sz="1350" dirty="0"/>
          </a:p>
          <a:p>
            <a:pPr indent="0" marL="0">
              <a:buNone/>
            </a:pPr>
            <a:r>
              <a:rPr lang="en-US" sz="1100" i="1" dirty="0">
                <a:solidFill>
                  <a:srgbClr val="5A6472"/>
                </a:solidFill>
                <a:latin typeface="Calibri" pitchFamily="34" charset="0"/>
                <a:cs typeface="Amiri" pitchFamily="2" charset="-78"/>
              </a:rPr>
              <a:t>tas-jī-lu al-wu-ṣū-li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البَوَّابَةُ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gate</a:t>
            </a:r>
            <a:endParaRPr lang="en-US" sz="1350" dirty="0"/>
          </a:p>
          <a:p>
            <a:pPr indent="0" marL="0">
              <a:buNone/>
            </a:pPr>
            <a:r>
              <a:rPr lang="en-US" sz="1100" i="1" dirty="0">
                <a:solidFill>
                  <a:srgbClr val="5A6472"/>
                </a:solidFill>
                <a:latin typeface="Calibri" pitchFamily="34" charset="0"/>
                <a:cs typeface="Amiri" pitchFamily="2" charset="-78"/>
              </a:rPr>
              <a:t>al-baw-wā-ba-tu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وَزْنُ الأَمْتِعَةِ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baggage weight</a:t>
            </a:r>
            <a:endParaRPr lang="en-US" sz="1350" dirty="0"/>
          </a:p>
          <a:p>
            <a:pPr indent="0" marL="0">
              <a:buNone/>
            </a:pPr>
            <a:r>
              <a:rPr lang="en-US" sz="1100" i="1" dirty="0">
                <a:solidFill>
                  <a:srgbClr val="5A6472"/>
                </a:solidFill>
                <a:latin typeface="Calibri" pitchFamily="34" charset="0"/>
                <a:cs typeface="Amiri" pitchFamily="2" charset="-78"/>
              </a:rPr>
              <a:t>waz-nu al-am-ti-ʿa-ti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Accommodation and the airport (1 of 2)</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يُقِيمُ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stays at</a:t>
            </a:r>
            <a:endParaRPr lang="en-US" sz="1350" dirty="0"/>
          </a:p>
          <a:p>
            <a:pPr indent="0" marL="0">
              <a:buNone/>
            </a:pPr>
            <a:r>
              <a:rPr lang="en-US" sz="1100" i="1" dirty="0">
                <a:solidFill>
                  <a:srgbClr val="5A6472"/>
                </a:solidFill>
                <a:latin typeface="Calibri" pitchFamily="34" charset="0"/>
                <a:cs typeface="Amiri" pitchFamily="2" charset="-78"/>
              </a:rPr>
              <a:t>yu-qī-mu fī</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تُقِيمُ فِي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أُقِيمُ فِي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فُنْدُقٌ بِخَمْسِ نُجُومٍ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five-star hotel</a:t>
            </a:r>
            <a:endParaRPr lang="en-US" sz="1350" dirty="0"/>
          </a:p>
          <a:p>
            <a:pPr indent="0" marL="0">
              <a:buNone/>
            </a:pPr>
            <a:r>
              <a:rPr lang="en-US" sz="1100" i="1" dirty="0">
                <a:solidFill>
                  <a:srgbClr val="5A6472"/>
                </a:solidFill>
                <a:latin typeface="Calibri" pitchFamily="34" charset="0"/>
                <a:cs typeface="Amiri" pitchFamily="2" charset="-78"/>
              </a:rPr>
              <a:t>fun-du-qun bi-kham-si nu-jū-min</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فَنَادِقُ بِخَمْسِ نُجُومٍ</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شَقَّةٌ مَفْرُوشَةٌ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furnished apartment</a:t>
            </a:r>
            <a:endParaRPr lang="en-US" sz="1350" dirty="0"/>
          </a:p>
          <a:p>
            <a:pPr indent="0" marL="0">
              <a:buNone/>
            </a:pPr>
            <a:r>
              <a:rPr lang="en-US" sz="1100" i="1" dirty="0">
                <a:solidFill>
                  <a:srgbClr val="5A6472"/>
                </a:solidFill>
                <a:latin typeface="Calibri" pitchFamily="34" charset="0"/>
                <a:cs typeface="Amiri" pitchFamily="2" charset="-78"/>
              </a:rPr>
              <a:t>shaq-qa-tun maf-rū-sha-tun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شُقَقٌ مَفْرُوشَةٌ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صَالَةُ المُغَادَرَةِ</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lounge</a:t>
            </a:r>
            <a:endParaRPr lang="en-US" sz="1350" dirty="0"/>
          </a:p>
          <a:p>
            <a:pPr indent="0" marL="0">
              <a:buNone/>
            </a:pPr>
            <a:r>
              <a:rPr lang="en-US" sz="1100" i="1" dirty="0">
                <a:solidFill>
                  <a:srgbClr val="5A6472"/>
                </a:solidFill>
                <a:latin typeface="Calibri" pitchFamily="34" charset="0"/>
                <a:cs typeface="Amiri" pitchFamily="2" charset="-78"/>
              </a:rPr>
              <a:t>ṣā-la-tu al-mu-ghā-da-ra-ti</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صَالَاتُ المُغَادَرَةِ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Accommodation and the airport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صَالَةُ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arrivals hall</a:t>
            </a:r>
            <a:endParaRPr lang="en-US" sz="1350" dirty="0"/>
          </a:p>
          <a:p>
            <a:pPr indent="0" marL="0">
              <a:buNone/>
            </a:pPr>
            <a:r>
              <a:rPr lang="en-US" sz="1100" i="1" dirty="0">
                <a:solidFill>
                  <a:srgbClr val="5A6472"/>
                </a:solidFill>
                <a:latin typeface="Calibri" pitchFamily="34" charset="0"/>
                <a:cs typeface="Amiri" pitchFamily="2" charset="-78"/>
              </a:rPr>
              <a:t>ṣā-la-tu al-wu-ṣū-li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الدَّرَجَةُ الاقْتِصَادِيَّةُ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economy class</a:t>
            </a:r>
            <a:endParaRPr lang="en-US" sz="1350" dirty="0"/>
          </a:p>
          <a:p>
            <a:pPr indent="0" marL="0">
              <a:buNone/>
            </a:pPr>
            <a:r>
              <a:rPr lang="en-US" sz="1100" i="1" dirty="0">
                <a:solidFill>
                  <a:srgbClr val="5A6472"/>
                </a:solidFill>
                <a:latin typeface="Calibri" pitchFamily="34" charset="0"/>
                <a:cs typeface="Amiri" pitchFamily="2" charset="-78"/>
              </a:rPr>
              <a:t>ad-da-ra-ja-tu alq-ti-ṣā-diy-ya-tu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القِيَامِ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departure time</a:t>
            </a:r>
            <a:endParaRPr lang="en-US" sz="1350" dirty="0"/>
          </a:p>
          <a:p>
            <a:pPr indent="0" marL="0">
              <a:buNone/>
            </a:pPr>
            <a:r>
              <a:rPr lang="en-US" sz="1100" i="1" dirty="0">
                <a:solidFill>
                  <a:srgbClr val="5A6472"/>
                </a:solidFill>
                <a:latin typeface="Calibri" pitchFamily="34" charset="0"/>
                <a:cs typeface="Amiri" pitchFamily="2" charset="-78"/>
              </a:rPr>
              <a:t>maw-ʿi-du al-qi-yā-mi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مُدَّةُ الرِّحْلَةِ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journey duration</a:t>
            </a:r>
            <a:endParaRPr lang="en-US" sz="1350" dirty="0"/>
          </a:p>
          <a:p>
            <a:pPr indent="0" marL="0">
              <a:buNone/>
            </a:pPr>
            <a:r>
              <a:rPr lang="en-US" sz="1100" i="1" dirty="0">
                <a:solidFill>
                  <a:srgbClr val="5A6472"/>
                </a:solidFill>
                <a:latin typeface="Calibri" pitchFamily="34" charset="0"/>
                <a:cs typeface="Amiri" pitchFamily="2" charset="-78"/>
              </a:rPr>
              <a:t>mud-da-tu ar-riḥ-la-ti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The 2028 verbs across tenses (1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حَجَزْتُ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booked</a:t>
            </a:r>
            <a:endParaRPr lang="en-US" sz="1350" dirty="0"/>
          </a:p>
          <a:p>
            <a:pPr indent="0" marL="0">
              <a:buNone/>
            </a:pPr>
            <a:r>
              <a:rPr lang="en-US" sz="1100" i="1" dirty="0">
                <a:solidFill>
                  <a:srgbClr val="5A6472"/>
                </a:solidFill>
                <a:latin typeface="Calibri" pitchFamily="34" charset="0"/>
                <a:cs typeface="Amiri" pitchFamily="2" charset="-78"/>
              </a:rPr>
              <a:t>ḥa-jaz-tu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حَجَزَتْ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أَحْجِزُ</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book</a:t>
            </a:r>
            <a:endParaRPr lang="en-US" sz="1350" dirty="0"/>
          </a:p>
          <a:p>
            <a:pPr indent="0" marL="0">
              <a:buNone/>
            </a:pPr>
            <a:r>
              <a:rPr lang="en-US" sz="1100" i="1" dirty="0">
                <a:solidFill>
                  <a:srgbClr val="5A6472"/>
                </a:solidFill>
                <a:latin typeface="Calibri" pitchFamily="34" charset="0"/>
                <a:cs typeface="Amiri" pitchFamily="2" charset="-78"/>
              </a:rPr>
              <a:t>aḥ-ji-zu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تَحْجِزُ</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سَأَحْجِزُ</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book</a:t>
            </a:r>
            <a:endParaRPr lang="en-US" sz="1350" dirty="0"/>
          </a:p>
          <a:p>
            <a:pPr indent="0" marL="0">
              <a:buNone/>
            </a:pPr>
            <a:r>
              <a:rPr lang="en-US" sz="1100" i="1" dirty="0">
                <a:solidFill>
                  <a:srgbClr val="5A6472"/>
                </a:solidFill>
                <a:latin typeface="Calibri" pitchFamily="34" charset="0"/>
                <a:cs typeface="Amiri" pitchFamily="2" charset="-78"/>
              </a:rPr>
              <a:t>sa-ʾaḥ-ji-zu</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سَتَحْجِزُ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كُنْتُ قَدْ حَجَزْتُ</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had booked</a:t>
            </a:r>
            <a:endParaRPr lang="en-US" sz="1350" dirty="0"/>
          </a:p>
          <a:p>
            <a:pPr indent="0" marL="0">
              <a:buNone/>
            </a:pPr>
            <a:r>
              <a:rPr lang="en-US" sz="1100" i="1" dirty="0">
                <a:solidFill>
                  <a:srgbClr val="5A6472"/>
                </a:solidFill>
                <a:latin typeface="Calibri" pitchFamily="34" charset="0"/>
                <a:cs typeface="Amiri" pitchFamily="2" charset="-78"/>
              </a:rPr>
              <a:t>kun-tu qad ḥa-jaz-tu</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قَدْ حَجَزَتْ</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The 2028 verbs across tenses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أَقَمْتُ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stayed at</a:t>
            </a:r>
            <a:endParaRPr lang="en-US" sz="1350" dirty="0"/>
          </a:p>
          <a:p>
            <a:pPr indent="0" marL="0">
              <a:buNone/>
            </a:pPr>
            <a:r>
              <a:rPr lang="en-US" sz="1100" i="1" dirty="0">
                <a:solidFill>
                  <a:srgbClr val="5A6472"/>
                </a:solidFill>
                <a:latin typeface="Calibri" pitchFamily="34" charset="0"/>
                <a:cs typeface="Amiri" pitchFamily="2" charset="-78"/>
              </a:rPr>
              <a:t>a-qam-tu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أَقَامَتْ فِي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أُقِيمُ فِي</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stay at</a:t>
            </a:r>
            <a:endParaRPr lang="en-US" sz="1350" dirty="0"/>
          </a:p>
          <a:p>
            <a:pPr indent="0" marL="0">
              <a:buNone/>
            </a:pPr>
            <a:r>
              <a:rPr lang="en-US" sz="1100" i="1" dirty="0">
                <a:solidFill>
                  <a:srgbClr val="5A6472"/>
                </a:solidFill>
                <a:latin typeface="Calibri" pitchFamily="34" charset="0"/>
                <a:cs typeface="Amiri" pitchFamily="2" charset="-78"/>
              </a:rPr>
              <a:t>u-qī-mu fī</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تُقِيمُ فِي</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سَأُقِيمُ فِي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stay at</a:t>
            </a:r>
            <a:endParaRPr lang="en-US" sz="1350" dirty="0"/>
          </a:p>
          <a:p>
            <a:pPr indent="0" marL="0">
              <a:buNone/>
            </a:pPr>
            <a:r>
              <a:rPr lang="en-US" sz="1100" i="1" dirty="0">
                <a:solidFill>
                  <a:srgbClr val="5A6472"/>
                </a:solidFill>
                <a:latin typeface="Calibri" pitchFamily="34" charset="0"/>
                <a:cs typeface="Amiri" pitchFamily="2" charset="-78"/>
              </a:rPr>
              <a:t>sa-ʾu-qī-mu fī</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سَتُقِيمُ فِي</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كُنْتُ قَدْ أَقَمْتُ فِي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had stayed at</a:t>
            </a:r>
            <a:endParaRPr lang="en-US" sz="1350" dirty="0"/>
          </a:p>
          <a:p>
            <a:pPr indent="0" marL="0">
              <a:buNone/>
            </a:pPr>
            <a:r>
              <a:rPr lang="en-US" sz="1100" i="1" dirty="0">
                <a:solidFill>
                  <a:srgbClr val="5A6472"/>
                </a:solidFill>
                <a:latin typeface="Calibri" pitchFamily="34" charset="0"/>
                <a:cs typeface="Amiri" pitchFamily="2" charset="-78"/>
              </a:rPr>
              <a:t>kun-tu qad a-qam-tu fī</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قَدْ أَقَامَتْ فِي</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YAḤJIZ AND YUQĪM IN EVERY TENSE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Book · booked · will book · had booked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الحَجْزُ وَالإِقَامَةُ فِي كُلِّ 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stays at</a:t>
            </a:r>
            <a:endParaRPr lang="en-US" sz="1100" dirty="0"/>
          </a:p>
        </p:txBody>
      </p:sp>
      <p:sp>
        <p:nvSpPr>
          <p:cNvPr id="17" name="Text 14"/>
          <p:cNvSpPr txBox="1"/>
          <p:nvPr/>
        </p:nvSpPr>
        <p:spPr>
          <a:xfrm>
            <a:off x="68397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stay at</a:t>
            </a:r>
            <a:endParaRPr lang="en-US" sz="1100" dirty="0"/>
          </a:p>
        </p:txBody>
      </p:sp>
      <p:sp>
        <p:nvSpPr>
          <p:cNvPr id="18" name="Text 15"/>
          <p:cNvSpPr txBox="1"/>
          <p:nvPr/>
        </p:nvSpPr>
        <p:spPr>
          <a:xfrm>
            <a:off x="4462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books</a:t>
            </a:r>
            <a:endParaRPr lang="en-US" sz="1100" dirty="0"/>
          </a:p>
        </p:txBody>
      </p:sp>
      <p:sp>
        <p:nvSpPr>
          <p:cNvPr id="19" name="Text 16"/>
          <p:cNvSpPr txBox="1"/>
          <p:nvPr/>
        </p:nvSpPr>
        <p:spPr>
          <a:xfrm>
            <a:off x="22677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book</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Tense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235440" y="2267712"/>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تُقِيمُ فِي</a:t>
            </a:r>
            <a:endParaRPr lang="ar-SA" sz="2100" dirty="0"/>
          </a:p>
        </p:txBody>
      </p:sp>
      <p:sp>
        <p:nvSpPr>
          <p:cNvPr id="23" name="Text 20"/>
          <p:cNvSpPr txBox="1"/>
          <p:nvPr/>
        </p:nvSpPr>
        <p:spPr>
          <a:xfrm>
            <a:off x="6858000" y="2267712"/>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أُقِيمُ فِي</a:t>
            </a:r>
            <a:endParaRPr lang="ar-SA" sz="2100" dirty="0"/>
          </a:p>
        </p:txBody>
      </p:sp>
      <p:sp>
        <p:nvSpPr>
          <p:cNvPr id="24" name="Text 21"/>
          <p:cNvSpPr txBox="1"/>
          <p:nvPr/>
        </p:nvSpPr>
        <p:spPr>
          <a:xfrm>
            <a:off x="4480560" y="2267712"/>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تَحْجِزُ</a:t>
            </a:r>
            <a:endParaRPr lang="ar-SA" sz="2100" dirty="0"/>
          </a:p>
        </p:txBody>
      </p:sp>
      <p:sp>
        <p:nvSpPr>
          <p:cNvPr id="25" name="Text 22"/>
          <p:cNvSpPr txBox="1"/>
          <p:nvPr/>
        </p:nvSpPr>
        <p:spPr>
          <a:xfrm>
            <a:off x="2286000" y="2267712"/>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أَحْجِزُ</a:t>
            </a:r>
            <a:endParaRPr lang="ar-SA" sz="2100" dirty="0"/>
          </a:p>
        </p:txBody>
      </p:sp>
      <p:sp>
        <p:nvSpPr>
          <p:cNvPr id="26" name="Text 23"/>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235440" y="3054096"/>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أَقَامَتْ فِي</a:t>
            </a:r>
            <a:endParaRPr lang="ar-SA" sz="2100" dirty="0"/>
          </a:p>
        </p:txBody>
      </p:sp>
      <p:sp>
        <p:nvSpPr>
          <p:cNvPr id="31" name="Text 28"/>
          <p:cNvSpPr txBox="1"/>
          <p:nvPr/>
        </p:nvSpPr>
        <p:spPr>
          <a:xfrm>
            <a:off x="6858000" y="3054096"/>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أَقَمْتُ فِي</a:t>
            </a:r>
            <a:endParaRPr lang="ar-SA" sz="2100" dirty="0"/>
          </a:p>
        </p:txBody>
      </p:sp>
      <p:sp>
        <p:nvSpPr>
          <p:cNvPr id="32" name="Text 29"/>
          <p:cNvSpPr txBox="1"/>
          <p:nvPr/>
        </p:nvSpPr>
        <p:spPr>
          <a:xfrm>
            <a:off x="4480560" y="3054096"/>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حَجَزَتْ</a:t>
            </a:r>
            <a:endParaRPr lang="ar-SA" sz="2100" dirty="0"/>
          </a:p>
        </p:txBody>
      </p:sp>
      <p:sp>
        <p:nvSpPr>
          <p:cNvPr id="33" name="Text 30"/>
          <p:cNvSpPr txBox="1"/>
          <p:nvPr/>
        </p:nvSpPr>
        <p:spPr>
          <a:xfrm>
            <a:off x="2286000" y="3054096"/>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حَجَزْتُ</a:t>
            </a:r>
            <a:endParaRPr lang="ar-SA" sz="2100" dirty="0"/>
          </a:p>
        </p:txBody>
      </p:sp>
      <p:sp>
        <p:nvSpPr>
          <p:cNvPr id="34" name="Text 31"/>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235440" y="3840480"/>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سَتُقِيمُ فِي</a:t>
            </a:r>
            <a:endParaRPr lang="ar-SA" sz="2100" dirty="0"/>
          </a:p>
        </p:txBody>
      </p:sp>
      <p:sp>
        <p:nvSpPr>
          <p:cNvPr id="39" name="Text 36"/>
          <p:cNvSpPr txBox="1"/>
          <p:nvPr/>
        </p:nvSpPr>
        <p:spPr>
          <a:xfrm>
            <a:off x="6858000" y="3840480"/>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سَأُقِيمُ فِي</a:t>
            </a:r>
            <a:endParaRPr lang="ar-SA" sz="2100" dirty="0"/>
          </a:p>
        </p:txBody>
      </p:sp>
      <p:sp>
        <p:nvSpPr>
          <p:cNvPr id="40" name="Text 37"/>
          <p:cNvSpPr txBox="1"/>
          <p:nvPr/>
        </p:nvSpPr>
        <p:spPr>
          <a:xfrm>
            <a:off x="4480560" y="3840480"/>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سَتَحْجِزُ</a:t>
            </a:r>
            <a:endParaRPr lang="ar-SA" sz="2100" dirty="0"/>
          </a:p>
        </p:txBody>
      </p:sp>
      <p:sp>
        <p:nvSpPr>
          <p:cNvPr id="41" name="Text 38"/>
          <p:cNvSpPr txBox="1"/>
          <p:nvPr/>
        </p:nvSpPr>
        <p:spPr>
          <a:xfrm>
            <a:off x="2286000" y="3840480"/>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سَأَحْجِزُ</a:t>
            </a:r>
            <a:endParaRPr lang="ar-SA" sz="2100" dirty="0"/>
          </a:p>
        </p:txBody>
      </p:sp>
      <p:sp>
        <p:nvSpPr>
          <p:cNvPr id="42" name="Text 39"/>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235440" y="4626864"/>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كَانَتْ قَدْ أَقَامَتْ</a:t>
            </a:r>
            <a:endParaRPr lang="ar-SA" sz="2100" dirty="0"/>
          </a:p>
        </p:txBody>
      </p:sp>
      <p:sp>
        <p:nvSpPr>
          <p:cNvPr id="47" name="Text 44"/>
          <p:cNvSpPr txBox="1"/>
          <p:nvPr/>
        </p:nvSpPr>
        <p:spPr>
          <a:xfrm>
            <a:off x="6858000" y="4626864"/>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كُنْتُ قَدْ أَقَمْتُ</a:t>
            </a:r>
            <a:endParaRPr lang="ar-SA" sz="2100" dirty="0"/>
          </a:p>
        </p:txBody>
      </p:sp>
      <p:sp>
        <p:nvSpPr>
          <p:cNvPr id="48" name="Text 45"/>
          <p:cNvSpPr txBox="1"/>
          <p:nvPr/>
        </p:nvSpPr>
        <p:spPr>
          <a:xfrm>
            <a:off x="4480560" y="4626864"/>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كَانَتْ قَدْ حَجَزَتْ</a:t>
            </a:r>
            <a:endParaRPr lang="ar-SA" sz="2100" dirty="0"/>
          </a:p>
        </p:txBody>
      </p:sp>
      <p:sp>
        <p:nvSpPr>
          <p:cNvPr id="49" name="Text 46"/>
          <p:cNvSpPr txBox="1"/>
          <p:nvPr/>
        </p:nvSpPr>
        <p:spPr>
          <a:xfrm>
            <a:off x="2286000" y="4626864"/>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كُنْتُ قَدْ حَجَزْتُ</a:t>
            </a:r>
            <a:endParaRPr lang="ar-SA" sz="2100" dirty="0"/>
          </a:p>
        </p:txBody>
      </p:sp>
      <p:sp>
        <p:nvSpPr>
          <p:cNvPr id="50" name="Text 47"/>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Hollow verb: aqamtu (short a before -tu) but aqāmat (long ā). The past perfect agrees twice: kānat qad ḥajazat.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YUQĪM FĪ + WHERE YOU STAY (WEBSITE RULE 4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will you stay?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أَيْنَ سَتُقِيمُ؟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2816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Accommodation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869680" y="2267712"/>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فَنَادِقُ</a:t>
            </a:r>
            <a:endParaRPr lang="ar-SA" sz="1900" dirty="0"/>
          </a:p>
        </p:txBody>
      </p:sp>
      <p:sp>
        <p:nvSpPr>
          <p:cNvPr id="21" name="Text 18"/>
          <p:cNvSpPr txBox="1"/>
          <p:nvPr/>
        </p:nvSpPr>
        <p:spPr>
          <a:xfrm>
            <a:off x="2834640" y="2267712"/>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أُقِيمُ فِي</a:t>
            </a:r>
            <a:pPr rtl="1" algn="ctr" indent="0" marL="0">
              <a:buNone/>
            </a:pPr>
            <a:r>
              <a:rPr lang="ar-SA" altLang="en-US" sz="1900" b="1" dirty="0">
                <a:solidFill>
                  <a:srgbClr val="1B3B6F"/>
                </a:solidFill>
                <a:latin typeface="Amiri" pitchFamily="2" charset="-78"/>
                <a:ea typeface="Amiri" pitchFamily="2" charset="-78"/>
                <a:cs typeface="Amiri" pitchFamily="2" charset="-78"/>
              </a:rPr>
              <a:t> فُنْدُقٍ بِخَمْسِ نُجُومٍ قَرِيبٍ مِنَ الشَّاطِئِ.</a:t>
            </a:r>
            <a:endParaRPr lang="ar-SA" sz="1900" dirty="0"/>
          </a:p>
        </p:txBody>
      </p:sp>
      <p:sp>
        <p:nvSpPr>
          <p:cNvPr id="22" name="Text 19"/>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five-star hotel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869680" y="3054096"/>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شُقَقٌ</a:t>
            </a:r>
            <a:endParaRPr lang="ar-SA" sz="1900" dirty="0"/>
          </a:p>
        </p:txBody>
      </p:sp>
      <p:sp>
        <p:nvSpPr>
          <p:cNvPr id="27" name="Text 24"/>
          <p:cNvSpPr txBox="1"/>
          <p:nvPr/>
        </p:nvSpPr>
        <p:spPr>
          <a:xfrm>
            <a:off x="2834640" y="3054096"/>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أَقَمْتُ فِي</a:t>
            </a:r>
            <a:pPr rtl="1" algn="ctr" indent="0" marL="0">
              <a:buNone/>
            </a:pPr>
            <a:r>
              <a:rPr lang="ar-SA" altLang="en-US" sz="1900" b="1" dirty="0">
                <a:solidFill>
                  <a:srgbClr val="1B3B6F"/>
                </a:solidFill>
                <a:latin typeface="Amiri" pitchFamily="2" charset="-78"/>
                <a:ea typeface="Amiri" pitchFamily="2" charset="-78"/>
                <a:cs typeface="Amiri" pitchFamily="2" charset="-78"/>
              </a:rPr>
              <a:t> شَقَّةٍ مَفْرُوشَةٍ قَرِيبَةٍ مِنَ المَرْكَزِ.</a:t>
            </a:r>
            <a:endParaRPr lang="ar-SA" sz="1900" dirty="0"/>
          </a:p>
        </p:txBody>
      </p:sp>
      <p:sp>
        <p:nvSpPr>
          <p:cNvPr id="28" name="Text 25"/>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furnished flat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869680" y="3840480"/>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رِيَاضَاتٌ</a:t>
            </a:r>
            <a:endParaRPr lang="ar-SA" sz="1900" dirty="0"/>
          </a:p>
        </p:txBody>
      </p:sp>
      <p:sp>
        <p:nvSpPr>
          <p:cNvPr id="33" name="Text 30"/>
          <p:cNvSpPr txBox="1"/>
          <p:nvPr/>
        </p:nvSpPr>
        <p:spPr>
          <a:xfrm>
            <a:off x="2834640" y="3840480"/>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سَأُقِيمُ فِي</a:t>
            </a:r>
            <a:pPr rtl="1" algn="ctr" indent="0" marL="0">
              <a:buNone/>
            </a:pPr>
            <a:r>
              <a:rPr lang="ar-SA" altLang="en-US" sz="1900" b="1" dirty="0">
                <a:solidFill>
                  <a:srgbClr val="1B3B6F"/>
                </a:solidFill>
                <a:latin typeface="Amiri" pitchFamily="2" charset="-78"/>
                <a:ea typeface="Amiri" pitchFamily="2" charset="-78"/>
                <a:cs typeface="Amiri" pitchFamily="2" charset="-78"/>
              </a:rPr>
              <a:t> رِيَاضٍ تَقْلِيدِيٍّ فِي المَدِينَةِ القَدِيمَةِ.</a:t>
            </a:r>
            <a:endParaRPr lang="ar-SA" sz="1900" dirty="0"/>
          </a:p>
        </p:txBody>
      </p:sp>
      <p:sp>
        <p:nvSpPr>
          <p:cNvPr id="34" name="Text 31"/>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traditional riad</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869680" y="4626864"/>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نُزُلٌ</a:t>
            </a:r>
            <a:endParaRPr lang="ar-SA" sz="1900" dirty="0"/>
          </a:p>
        </p:txBody>
      </p:sp>
      <p:sp>
        <p:nvSpPr>
          <p:cNvPr id="37" name="Text 34"/>
          <p:cNvSpPr txBox="1"/>
          <p:nvPr/>
        </p:nvSpPr>
        <p:spPr>
          <a:xfrm>
            <a:off x="2834640" y="4626864"/>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2" charset="-78"/>
                <a:ea typeface="Amiri" pitchFamily="2" charset="-78"/>
                <a:cs typeface="Amiri" pitchFamily="2" charset="-78"/>
              </a:rPr>
              <a:t>سَتُقِيمُ</a:t>
            </a:r>
            <a:pPr rtl="1" algn="ctr" indent="0" marL="0">
              <a:buNone/>
            </a:pPr>
            <a:r>
              <a:rPr lang="ar-SA" altLang="en-US" sz="1900" b="1" dirty="0">
                <a:solidFill>
                  <a:srgbClr val="1B3B6F"/>
                </a:solidFill>
                <a:latin typeface="Amiri" pitchFamily="2" charset="-78"/>
                <a:ea typeface="Amiri" pitchFamily="2" charset="-78"/>
                <a:cs typeface="Amiri" pitchFamily="2" charset="-78"/>
              </a:rPr>
              <a:t> أُخْتِي </a:t>
            </a:r>
            <a:pPr rtl="1" algn="ctr" indent="0" marL="0">
              <a:buNone/>
            </a:pPr>
            <a:r>
              <a:rPr lang="ar-SA" altLang="en-US" sz="1900" b="1" dirty="0">
                <a:solidFill>
                  <a:srgbClr val="0E7C86"/>
                </a:solidFill>
                <a:latin typeface="Amiri" pitchFamily="2" charset="-78"/>
                <a:ea typeface="Amiri" pitchFamily="2" charset="-78"/>
                <a:cs typeface="Amiri" pitchFamily="2" charset="-78"/>
              </a:rPr>
              <a:t>فِي</a:t>
            </a:r>
            <a:pPr rtl="1" algn="ctr" indent="0" marL="0">
              <a:buNone/>
            </a:pPr>
            <a:r>
              <a:rPr lang="ar-SA" altLang="en-US" sz="1900" b="1" dirty="0">
                <a:solidFill>
                  <a:srgbClr val="1B3B6F"/>
                </a:solidFill>
                <a:latin typeface="Amiri" pitchFamily="2" charset="-78"/>
                <a:ea typeface="Amiri" pitchFamily="2" charset="-78"/>
                <a:cs typeface="Amiri" pitchFamily="2" charset="-78"/>
              </a:rPr>
              <a:t> نُزُلٍ جَبَلِيٍّ هَادِئٍ.</a:t>
            </a:r>
            <a:endParaRPr lang="ar-SA" sz="1900" dirty="0"/>
          </a:p>
        </p:txBody>
      </p:sp>
      <p:sp>
        <p:nvSpPr>
          <p:cNvPr id="38" name="Text 35"/>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mountain lodge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 1: uqīmu funduqan ✗ → uqīmu FĪ funduqin — and the noun after fī is genitive (-in).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BOOKING IN BOTH CONDITIONALS (WEBSITE RULES 3–4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Book early — or regret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حَجَزْتَ · لَوْ حَجَزْتُ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TIP · CORE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حَجَزْتَ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حَجَزْتَ مُبَكِّرًا، سَتَحْصُلُ عَلَى سِعْرٍ أَرْخَصَ.</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you book early, you will get a cheaper price.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Advice.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حَجَزْتُ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حَجَزْتُ فِي فُنْدُقٍ حَدِيثٍ، لَفَقَدْتُ سِحْرَ المَدِينَةِ القَدِيمَةِ.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I booked a modern hotel, I would have lost the old city’s charm.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PAST PERFECT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كُنْتُ قَدْ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كُنْتُ قَدْ حَجَزْتُ قَبْلَ العُطْلَةِ، لَحَصَلْتُ عَلَى سِعْرٍ أَرْخَصَ.</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had booked before the holiday, I would have got a cheaper price.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2 structures.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2: idhā takes a past-form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إِذَا حَجَزْتَ مُبَكِّرًا، سَتَحْصُلُ عَلَى سِعْرٍ أَرْخَصَ</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إِذَا تَحْجِزُ مُبَكِّرًا، سَتَحْصُلُ عَلَى سِعْرٍ أَرْخَصَ</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WHY I DO IT AND WHAT THE GUIDE SAID (WEBSITE LISTENING, READING AND QUIZ 8)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Purpose, advice — and three structures in one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الغَرَضُ وَالنَّصِيحَةُ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Structures</a:t>
            </a:r>
            <a:endParaRPr lang="en-US" sz="1100" dirty="0"/>
          </a:p>
        </p:txBody>
      </p:sp>
      <p:sp>
        <p:nvSpPr>
          <p:cNvPr id="17" name="Text 14"/>
          <p:cNvSpPr txBox="1"/>
          <p:nvPr/>
        </p:nvSpPr>
        <p:spPr>
          <a:xfrm>
            <a:off x="254203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Sentence (website texts)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-a</a:t>
            </a:r>
            <a:endParaRPr lang="en-US" sz="1100" dirty="0"/>
          </a:p>
        </p:txBody>
      </p:sp>
      <p:sp>
        <p:nvSpPr>
          <p:cNvPr id="21" name="Text 18"/>
          <p:cNvSpPr txBox="1"/>
          <p:nvPr/>
        </p:nvSpPr>
        <p:spPr>
          <a:xfrm>
            <a:off x="2560320" y="2267712"/>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أَحْجِزُ تَذَاكِرِي مُبَكِّرًا </a:t>
            </a:r>
            <a:pPr rtl="1" algn="ctr" indent="0" marL="0">
              <a:buNone/>
            </a:pPr>
            <a:r>
              <a:rPr lang="ar-SA" altLang="en-US" sz="1800" b="1" dirty="0">
                <a:solidFill>
                  <a:srgbClr val="C77700"/>
                </a:solidFill>
                <a:latin typeface="Amiri" pitchFamily="2" charset="-78"/>
                <a:ea typeface="Amiri" pitchFamily="2" charset="-78"/>
                <a:cs typeface="Amiri" pitchFamily="2" charset="-78"/>
              </a:rPr>
              <a:t>لِأَحْصُلَ</a:t>
            </a:r>
            <a:pPr rtl="1" algn="ctr" indent="0" marL="0">
              <a:buNone/>
            </a:pPr>
            <a:r>
              <a:rPr lang="ar-SA" altLang="en-US" sz="1800" b="1" dirty="0">
                <a:solidFill>
                  <a:srgbClr val="1B3B6F"/>
                </a:solidFill>
                <a:latin typeface="Amiri" pitchFamily="2" charset="-78"/>
                <a:ea typeface="Amiri" pitchFamily="2" charset="-78"/>
                <a:cs typeface="Amiri" pitchFamily="2" charset="-78"/>
              </a:rPr>
              <a:t> عَلَى سِعْرٍ مُنَاسِبٍ.</a:t>
            </a:r>
            <a:endParaRPr lang="ar-SA" sz="18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 + -a</a:t>
            </a:r>
            <a:endParaRPr lang="en-US" sz="1100" dirty="0"/>
          </a:p>
        </p:txBody>
      </p:sp>
      <p:sp>
        <p:nvSpPr>
          <p:cNvPr id="27" name="Text 24"/>
          <p:cNvSpPr txBox="1"/>
          <p:nvPr/>
        </p:nvSpPr>
        <p:spPr>
          <a:xfrm>
            <a:off x="2560320" y="3054096"/>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سَأَحْمِلُ حَقِيبَةً وَاحِدَةً </a:t>
            </a:r>
            <a:pPr rtl="1" algn="ctr" indent="0" marL="0">
              <a:buNone/>
            </a:pPr>
            <a:r>
              <a:rPr lang="ar-SA" altLang="en-US" sz="1800" b="1" dirty="0">
                <a:solidFill>
                  <a:srgbClr val="C77700"/>
                </a:solidFill>
                <a:latin typeface="Amiri" pitchFamily="2" charset="-78"/>
                <a:ea typeface="Amiri" pitchFamily="2" charset="-78"/>
                <a:cs typeface="Amiri" pitchFamily="2" charset="-78"/>
              </a:rPr>
              <a:t>لِأَتَجَنَّبَ</a:t>
            </a:r>
            <a:pPr rtl="1" algn="ctr" indent="0" marL="0">
              <a:buNone/>
            </a:pPr>
            <a:r>
              <a:rPr lang="ar-SA" altLang="en-US" sz="1800" b="1" dirty="0">
                <a:solidFill>
                  <a:srgbClr val="1B3B6F"/>
                </a:solidFill>
                <a:latin typeface="Amiri" pitchFamily="2" charset="-78"/>
                <a:ea typeface="Amiri" pitchFamily="2" charset="-78"/>
                <a:cs typeface="Amiri" pitchFamily="2" charset="-78"/>
              </a:rPr>
              <a:t> رُسُومَ الأَمْتِعَةِ الزَّائِدَةِ.</a:t>
            </a:r>
            <a:endParaRPr lang="ar-SA" sz="18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 Type 1</a:t>
            </a:r>
            <a:endParaRPr lang="en-US" sz="1100" dirty="0"/>
          </a:p>
        </p:txBody>
      </p:sp>
      <p:sp>
        <p:nvSpPr>
          <p:cNvPr id="31" name="Text 28"/>
          <p:cNvSpPr txBox="1"/>
          <p:nvPr/>
        </p:nvSpPr>
        <p:spPr>
          <a:xfrm>
            <a:off x="2560320" y="3840480"/>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أَشَارَ</a:t>
            </a:r>
            <a:pPr rtl="1" algn="ctr" indent="0" marL="0">
              <a:buNone/>
            </a:pPr>
            <a:r>
              <a:rPr lang="ar-SA" altLang="en-US" sz="1800" b="1" dirty="0">
                <a:solidFill>
                  <a:srgbClr val="1B3B6F"/>
                </a:solidFill>
                <a:latin typeface="Amiri" pitchFamily="2" charset="-78"/>
                <a:ea typeface="Amiri" pitchFamily="2" charset="-78"/>
                <a:cs typeface="Amiri" pitchFamily="2" charset="-78"/>
              </a:rPr>
              <a:t> الدَّلِيلُ </a:t>
            </a:r>
            <a:pPr rtl="1" algn="ctr" indent="0" marL="0">
              <a:buNone/>
            </a:pPr>
            <a:r>
              <a:rPr lang="ar-SA" altLang="en-US" sz="1800" b="1" dirty="0">
                <a:solidFill>
                  <a:srgbClr val="7B3FA0"/>
                </a:solidFill>
                <a:latin typeface="Amiri" pitchFamily="2" charset="-78"/>
                <a:ea typeface="Amiri" pitchFamily="2" charset="-78"/>
                <a:cs typeface="Amiri" pitchFamily="2" charset="-78"/>
              </a:rPr>
              <a:t>إِلَى أَنَّهُ</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ea typeface="Amiri" pitchFamily="2" charset="-78"/>
                <a:cs typeface="Amiri" pitchFamily="2" charset="-78"/>
              </a:rPr>
              <a:t>إِذَا وَصَلْتُ</a:t>
            </a:r>
            <a:pPr rtl="1" algn="ctr" indent="0" marL="0">
              <a:buNone/>
            </a:pPr>
            <a:r>
              <a:rPr lang="ar-SA" altLang="en-US" sz="1800" b="1" dirty="0">
                <a:solidFill>
                  <a:srgbClr val="1B3B6F"/>
                </a:solidFill>
                <a:latin typeface="Amiri" pitchFamily="2" charset="-78"/>
                <a:ea typeface="Amiri" pitchFamily="2" charset="-78"/>
                <a:cs typeface="Amiri" pitchFamily="2" charset="-78"/>
              </a:rPr>
              <a:t> مُبَكِّرًا، </a:t>
            </a:r>
            <a:pPr rtl="1" algn="ctr" indent="0" marL="0">
              <a:buNone/>
            </a:pPr>
            <a:r>
              <a:rPr lang="ar-SA" altLang="en-US" sz="1800" b="1" dirty="0">
                <a:solidFill>
                  <a:srgbClr val="0E7C86"/>
                </a:solidFill>
                <a:latin typeface="Amiri" pitchFamily="2" charset="-78"/>
                <a:ea typeface="Amiri" pitchFamily="2" charset="-78"/>
                <a:cs typeface="Amiri" pitchFamily="2" charset="-78"/>
              </a:rPr>
              <a:t>سَأَزُورُ</a:t>
            </a:r>
            <a:pPr rtl="1" algn="ctr" indent="0" marL="0">
              <a:buNone/>
            </a:pPr>
            <a:r>
              <a:rPr lang="ar-SA" altLang="en-US" sz="1800" b="1" dirty="0">
                <a:solidFill>
                  <a:srgbClr val="1B3B6F"/>
                </a:solidFill>
                <a:latin typeface="Amiri" pitchFamily="2" charset="-78"/>
                <a:ea typeface="Amiri" pitchFamily="2" charset="-78"/>
                <a:cs typeface="Amiri" pitchFamily="2" charset="-78"/>
              </a:rPr>
              <a:t> السُّوقَ.</a:t>
            </a:r>
            <a:endParaRPr lang="ar-SA" sz="1800" dirty="0"/>
          </a:p>
        </p:txBody>
      </p:sp>
      <p:sp>
        <p:nvSpPr>
          <p:cNvPr id="32" name="Text 29"/>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guide’s advice</a:t>
            </a:r>
            <a:endParaRPr lang="en-US" sz="11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 + reported + Type 1</a:t>
            </a:r>
            <a:endParaRPr lang="en-US" sz="1100" dirty="0"/>
          </a:p>
        </p:txBody>
      </p:sp>
      <p:sp>
        <p:nvSpPr>
          <p:cNvPr id="37" name="Text 34"/>
          <p:cNvSpPr txBox="1"/>
          <p:nvPr/>
        </p:nvSpPr>
        <p:spPr>
          <a:xfrm>
            <a:off x="2560320" y="4626864"/>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2" charset="-78"/>
                <a:ea typeface="Amiri" pitchFamily="2" charset="-78"/>
                <a:cs typeface="Amiri" pitchFamily="2" charset="-78"/>
              </a:rPr>
              <a:t>كُنْتُ قَدْ حَجَزْتُ</a:t>
            </a:r>
            <a:pPr rtl="1" algn="ctr" indent="0" marL="0">
              <a:buNone/>
            </a:pPr>
            <a:r>
              <a:rPr lang="ar-SA" altLang="en-US" sz="1800" b="1" dirty="0">
                <a:solidFill>
                  <a:srgbClr val="1B3B6F"/>
                </a:solidFill>
                <a:latin typeface="Amiri" pitchFamily="2" charset="-78"/>
                <a:ea typeface="Amiri" pitchFamily="2" charset="-78"/>
                <a:cs typeface="Amiri" pitchFamily="2" charset="-78"/>
              </a:rPr>
              <a:t> فُنْدُقِي، </a:t>
            </a:r>
            <a:pPr rtl="1" algn="ctr" indent="0" marL="0">
              <a:buNone/>
            </a:pPr>
            <a:r>
              <a:rPr lang="ar-SA" altLang="en-US" sz="1800" b="1" dirty="0">
                <a:solidFill>
                  <a:srgbClr val="7B3FA0"/>
                </a:solidFill>
                <a:latin typeface="Amiri" pitchFamily="2" charset="-78"/>
                <a:ea typeface="Amiri" pitchFamily="2" charset="-78"/>
                <a:cs typeface="Amiri" pitchFamily="2" charset="-78"/>
              </a:rPr>
              <a:t>وَأَشَارَ</a:t>
            </a:r>
            <a:pPr rtl="1" algn="ctr" indent="0" marL="0">
              <a:buNone/>
            </a:pPr>
            <a:r>
              <a:rPr lang="ar-SA" altLang="en-US" sz="1800" b="1" dirty="0">
                <a:solidFill>
                  <a:srgbClr val="1B3B6F"/>
                </a:solidFill>
                <a:latin typeface="Amiri" pitchFamily="2" charset="-78"/>
                <a:ea typeface="Amiri" pitchFamily="2" charset="-78"/>
                <a:cs typeface="Amiri" pitchFamily="2" charset="-78"/>
              </a:rPr>
              <a:t> المُنَظِّمُ </a:t>
            </a:r>
            <a:pPr rtl="1" algn="ctr" indent="0" marL="0">
              <a:buNone/>
            </a:pPr>
            <a:r>
              <a:rPr lang="ar-SA" altLang="en-US" sz="1800" b="1" dirty="0">
                <a:solidFill>
                  <a:srgbClr val="7B3FA0"/>
                </a:solidFill>
                <a:latin typeface="Amiri" pitchFamily="2" charset="-78"/>
                <a:ea typeface="Amiri" pitchFamily="2" charset="-78"/>
                <a:cs typeface="Amiri" pitchFamily="2" charset="-78"/>
              </a:rPr>
              <a:t>إِلَى أَنَّهُ</a:t>
            </a:r>
            <a:pPr rtl="1" algn="ctr" indent="0" marL="0">
              <a:buNone/>
            </a:pPr>
            <a:r>
              <a:rPr lang="ar-SA" altLang="en-US" sz="1800" b="1" dirty="0">
                <a:solidFill>
                  <a:srgbClr val="1B3B6F"/>
                </a:solidFill>
                <a:latin typeface="Amiri" pitchFamily="2" charset="-78"/>
                <a:cs typeface="Amiri" pitchFamily="2" charset="-78"/>
              </a:rPr>
              <a:t> </a:t>
            </a:r>
            <a:pPr rtl="1" algn="ctr" indent="0" marL="0">
              <a:buNone/>
            </a:pPr>
            <a:r>
              <a:rPr lang="ar-SA" altLang="en-US" sz="1800" b="1" dirty="0">
                <a:solidFill>
                  <a:srgbClr val="0E7C86"/>
                </a:solidFill>
                <a:latin typeface="Amiri" pitchFamily="2" charset="-78"/>
                <a:ea typeface="Amiri" pitchFamily="2" charset="-78"/>
                <a:cs typeface="Amiri" pitchFamily="2" charset="-78"/>
              </a:rPr>
              <a:t>إِذَا وَصَلْنَا</a:t>
            </a:r>
            <a:pPr rtl="1" algn="ctr" indent="0" marL="0">
              <a:buNone/>
            </a:pPr>
            <a:r>
              <a:rPr lang="ar-SA" altLang="en-US" sz="1800" b="1" dirty="0">
                <a:solidFill>
                  <a:srgbClr val="1B3B6F"/>
                </a:solidFill>
                <a:latin typeface="Amiri" pitchFamily="2" charset="-78"/>
                <a:ea typeface="Amiri" pitchFamily="2" charset="-78"/>
                <a:cs typeface="Amiri" pitchFamily="2" charset="-78"/>
              </a:rPr>
              <a:t> مُبَكِّرًا </a:t>
            </a:r>
            <a:pPr rtl="1" algn="ctr" indent="0" marL="0">
              <a:buNone/>
            </a:pPr>
            <a:r>
              <a:rPr lang="ar-SA" altLang="en-US" sz="1800" b="1" dirty="0">
                <a:solidFill>
                  <a:srgbClr val="0E7C86"/>
                </a:solidFill>
                <a:latin typeface="Amiri" pitchFamily="2" charset="-78"/>
                <a:ea typeface="Amiri" pitchFamily="2" charset="-78"/>
                <a:cs typeface="Amiri" pitchFamily="2" charset="-78"/>
              </a:rPr>
              <a:t>سَنَحْصُلُ</a:t>
            </a:r>
            <a:pPr rtl="1" algn="ctr" indent="0" marL="0">
              <a:buNone/>
            </a:pPr>
            <a:r>
              <a:rPr lang="ar-SA" altLang="en-US" sz="1800" b="1" dirty="0">
                <a:solidFill>
                  <a:srgbClr val="1B3B6F"/>
                </a:solidFill>
                <a:latin typeface="Amiri" pitchFamily="2" charset="-78"/>
                <a:ea typeface="Amiri" pitchFamily="2" charset="-78"/>
                <a:cs typeface="Amiri" pitchFamily="2" charset="-78"/>
              </a:rPr>
              <a:t> عَلَى تَرْقِيَةٍ.</a:t>
            </a:r>
            <a:endParaRPr lang="ar-SA" sz="1800" dirty="0"/>
          </a:p>
        </p:txBody>
      </p:sp>
      <p:sp>
        <p:nvSpPr>
          <p:cNvPr id="38" name="Text 35"/>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in one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Before a conditional, anna needs a pronoun: ashāra ilā anna-HU idhā … (“that, if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2028 verbs in full tense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فِعْلَا الحَجْزِ وَالإِقَامَةِ فِي كُلِّ الأَزْمِنَةِ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aḥjizu · ḥajaztu · sa-aḥjizu</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ḥajaztu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ḥajazta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Type 2 and yuqīm fī</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ḥajaztu … la- · yuqīm fī</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ea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___ مُبَكِّرًا، سَتَحْصُلُ عَلَى سِعْرٍ أَرْخَصَ.</a:t>
            </a:r>
            <a:endParaRPr lang="ar-SA" sz="14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تَحْجِزُ</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سَتَحْجِزُ</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أُقِيمُ ___ فُنْدُقٍ قَرِيبٍ مِنَ الشَّاطِئِ.</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present: ___ </a:t>
            </a:r>
            <a:pPr algn="l" indent="0" marL="0">
              <a:buNone/>
            </a:pPr>
            <a:r>
              <a:rPr lang="ar-SA" altLang="en-US" sz="1650" b="1" dirty="0">
                <a:solidFill>
                  <a:srgbClr val="1B3B6F"/>
                </a:solidFill>
                <a:latin typeface="Amiri" pitchFamily="2" charset="-78"/>
                <a:ea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first person is </a:t>
            </a:r>
            <a:pPr algn="l" indent="0" marL="0">
              <a:buNone/>
            </a:pPr>
            <a:r>
              <a:rPr lang="ar-SA" altLang="en-US" sz="1350" dirty="0">
                <a:solidFill>
                  <a:srgbClr val="8A6D1E"/>
                </a:solidFill>
                <a:latin typeface="Amiri" pitchFamily="2" charset="-78"/>
                <a:ea typeface="Amiri" pitchFamily="2" charset="-78"/>
                <a:cs typeface="Amiri" pitchFamily="2" charset="-78"/>
              </a:rPr>
              <a:t>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past perfect: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ea typeface="Amiri" pitchFamily="2" charset="-78"/>
                <a:cs typeface="Amiri" pitchFamily="2" charset="-78"/>
              </a:rPr>
              <a:t>كُنْتُ قَدْ 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1:</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إِذَا ___ مُبَكِّرًا، سَتَحْصُلُ عَلَى سِعْرٍ أَرْخَصَ.</a:t>
            </a:r>
            <a:endParaRPr lang="ar-SA" sz="14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تَحْجِزُ</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حَجَزْتَ</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سَتَحْجِزُ</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أُقِيمُ ___ فُنْدُقٍ قَرِيبٍ مِنَ الشَّاطِئِ.</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plan day 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كُنْتُ قَدْ حَجَزْتُ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سَأُقِيمُ فِي</a:t>
            </a:r>
            <a:pPr rtl="1" algn="ctr" indent="0" marL="0">
              <a:buNone/>
            </a:pPr>
            <a:r>
              <a:rPr lang="ar-SA" altLang="en-US" sz="2800" b="1" dirty="0">
                <a:solidFill>
                  <a:srgbClr val="1B3B6F"/>
                </a:solidFill>
                <a:latin typeface="Amiri" pitchFamily="2" charset="-78"/>
                <a:ea typeface="Amiri" pitchFamily="2" charset="-78"/>
                <a:cs typeface="Amiri" pitchFamily="2" charset="-78"/>
              </a:rPr>
              <a:t> رِيَاضٍ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أَشَارَ</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7B3FA0"/>
                </a:solidFill>
                <a:latin typeface="Amiri" pitchFamily="2" charset="-78"/>
                <a:ea typeface="Amiri" pitchFamily="2" charset="-78"/>
                <a:cs typeface="Amiri" pitchFamily="2" charset="-78"/>
              </a:rPr>
              <a:t>إِلَى أَنَّهُ</a:t>
            </a:r>
            <a:pPr rtl="1" algn="ctr" indent="0" marL="0">
              <a:buNone/>
            </a:pPr>
            <a:r>
              <a:rPr lang="ar-SA" altLang="en-US" sz="2400" b="1" dirty="0">
                <a:solidFill>
                  <a:srgbClr val="1B3B6F"/>
                </a:solidFill>
                <a:latin typeface="Amiri" pitchFamily="2" charset="-78"/>
                <a:cs typeface="Amiri" pitchFamily="2" charset="-78"/>
              </a:rPr>
              <a:t> </a:t>
            </a:r>
            <a:pPr rtl="1" algn="ctr" indent="0" marL="0">
              <a:buNone/>
            </a:pPr>
            <a:r>
              <a:rPr lang="ar-SA" altLang="en-US" sz="2400" b="1" dirty="0">
                <a:solidFill>
                  <a:srgbClr val="1D5FBF"/>
                </a:solidFill>
                <a:latin typeface="Amiri" pitchFamily="2" charset="-78"/>
                <a:ea typeface="Amiri" pitchFamily="2" charset="-78"/>
                <a:cs typeface="Amiri" pitchFamily="2" charset="-78"/>
              </a:rPr>
              <a:t>إِذَا</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Reported + idhā.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ea typeface="Amiri" pitchFamily="2" charset="-78"/>
                <a:cs typeface="Amiri" pitchFamily="2" charset="-78"/>
              </a:rPr>
              <a:t>لَوْ كُنْتُ قَدْ حَجَزْتُ</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C77700"/>
                </a:solidFill>
                <a:latin typeface="Amiri" pitchFamily="2" charset="-78"/>
                <a:ea typeface="Amiri" pitchFamily="2" charset="-78"/>
                <a:cs typeface="Amiri" pitchFamily="2" charset="-78"/>
              </a:rPr>
              <a:t>لَحَصَلْتُ</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YUQĪM FĪ</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اليَوْمُ الأَوَّلُ: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كُنْتُ قَدْ حَجَزْتُ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رِحْلَتِي إِلَى الدَّارِ البَيْضَاءِ قَبْلَ شَهْرَيْنِ. سَأَصِلُ إِلَى المَطَارِ صَبَاحًا،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وَسَأُقِيمُ فِي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رِيَاضٍ تَقْلِيدِيٍّ فِي المَدِينَةِ القَدِيمَةِ.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وَأَشَارَ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دَلِيلُ السَّفَرِ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إِلَى أَنَّهُ</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إِذَا وَصَلْتُ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مُبَكِّرًا،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سَأَزُورُ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السُّوقَ قَبْلَ الزِّحَامِ.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 كُنْتُ قَدْ حَجَزْتُ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قَبْلَ العُطْلَةِ الرَّسْمِيَّةِ،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لَحَصَلْتُ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عَلَى سِعْرٍ أَرْخَصَ.</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Day one: I had booked my trip to Casablanca two months ago. I will arrive at the airport in the morning, and I will stay in a traditional riad in the old city. The travel guide pointed out that if I arrive early, I will visit the souk before the crowds. And if I had booked before the public holiday, I would have got a cheaper price.</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كُنْتُ قَدْ حَجَزْتُ رِحْلَتِي قَبْلَ شَهْرَيْنِ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booked my trip two months ago</a:t>
            </a:r>
            <a:endParaRPr lang="en-US" sz="1250" dirty="0"/>
          </a:p>
          <a:p>
            <a:pPr indent="0" marL="0">
              <a:buNone/>
            </a:pPr>
            <a:r>
              <a:rPr lang="en-US" sz="1050" i="1" dirty="0">
                <a:solidFill>
                  <a:srgbClr val="8A6D1E"/>
                </a:solidFill>
                <a:latin typeface="Calibri" pitchFamily="34" charset="0"/>
                <a:cs typeface="Amiri" pitchFamily="2" charset="-78"/>
              </a:rPr>
              <a:t>Past perfect of yaḥjiz.</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إِذَا حَجَزْتَ مُبَكِّرًا، سَتَحْصُلُ عَلَى سِعْرٍ أَرْخَصَ</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if you book early, you will get a cheaper price</a:t>
            </a:r>
            <a:endParaRPr lang="en-US" sz="1250" dirty="0"/>
          </a:p>
          <a:p>
            <a:pPr indent="0" marL="0">
              <a:buNone/>
            </a:pPr>
            <a:r>
              <a:rPr lang="en-US" sz="1050" i="1" dirty="0">
                <a:solidFill>
                  <a:srgbClr val="8A6D1E"/>
                </a:solidFill>
                <a:latin typeface="Calibri" pitchFamily="34" charset="0"/>
                <a:cs typeface="Amiri" pitchFamily="2" charset="-78"/>
              </a:rPr>
              <a:t>Type 1 with yaḥjiz.</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أُقِيمُ فِي رِيَاضٍ تَقْلِيدِيٍّ فِي المَدِينَةِ القَدِيمَةِ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staying in a traditional riad in the old city</a:t>
            </a:r>
            <a:endParaRPr lang="en-US" sz="1250" dirty="0"/>
          </a:p>
          <a:p>
            <a:pPr indent="0" marL="0">
              <a:buNone/>
            </a:pPr>
            <a:r>
              <a:rPr lang="en-US" sz="1050" i="1" dirty="0">
                <a:solidFill>
                  <a:srgbClr val="8A6D1E"/>
                </a:solidFill>
                <a:latin typeface="Calibri" pitchFamily="34" charset="0"/>
                <a:cs typeface="Amiri" pitchFamily="2" charset="-78"/>
              </a:rPr>
              <a:t>yuqīm fī before accommodation.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PLANNING A TRIP — BOOKING, ITINERARIES AND TRAVEL DOCUMENTS”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What has been arranged?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ticket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 three nights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arriving early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حَجَزْتُ فُنْدُقًا لِثَلَاثِ لَيَالٍ.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سَأَصِلُ إِلَى المَطَارِ مُبَكِّرًا.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حَجَزْتُ تَذْكِرَةَ الطَّائِرَةِ.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خَطِّطِ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 ticket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حَجَزْتُ تَذْكِرَةَ الطَّائِرَةِ.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booked the plane ticket.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hotel, three nights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حَجَزْتُ فُنْدُقًا لِثَلَاثِ لَيَالٍ.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booked a hotel for three nights.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arriving early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سَأَصِلُ إِلَى المَطَارِ مُبَكِّرًا.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arrive at the airport early.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ITINERARY DAY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Opening + accommodation + conditional</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يَوْمًا فِي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Past-perfect opening</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Where I will stay</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Conditional / advice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حَجَزْتُ رِحْلَتِي قَبْلَ شَهْرَيْنِ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وَسَأُقِيمُ فِي رِيَاضٍ تَقْلِيدِيٍّ فِي المَدِينَةِ القَدِيمَةِ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وَإِذَا وَصَلْتُ مُبَكِّرًا سَأَزُورُ السُّوقَ قَبْلَ الزِّحَامِ</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جَدَّدْتُ جَوَازَ سَفَرِي وَاشْتَرَيْتُ التَّأْمِينَ</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وَسَأُقِيمُ فِي شَقَّةٍ مَفْرُوشَةٍ قَرِيبَةٍ مِنَ المَرْكَزِ</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وَلَوْ حَجَزْتُ فِي فُنْدُقٍ حَدِيثٍ لَفَقَدْتُ سِحْرَ المَدِينَةِ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قَدْ سَجَّلْتُ الوُصُولَ إِلِكْتْرُونِيًّا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وَسَأُقِيمُ فِي نُزُلٍ جَبَلِيٍّ هَادِئٍ</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وَأَشَارَ الدَّلِيلُ إِلَى أَنَّ الحَجْزَ المُبَكِّرَ أَرْخَصُ</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Present, past — or future / conditional?</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أَحْجِزُ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أُقِيمُ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أَقَمْتُ فِي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سَأَحْجِزُ</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سَتَحْصُلُ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لَكَانَ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present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أَحْجِزُ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أُقِيمُ فِي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يَحْجِزُ</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past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حَجَزْتُ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قَدْ حَجَزْتُ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أَقَمْتُ فِي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future / conditional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سَأَحْجِزُ</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حَجَزْتَ سَتَحْصُلُ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حَجَزْتُ لَكَانَ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فِي فُنْدُقٍ آخَرَ، ___ أَفْضَلَ.</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ea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أُقِيمُ فِي شَقَّةٍ مَفْرُوشَةٍ أَمْسِ.</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أَقَمْتُ فِي شَقَّةٍ مَفْرُوشَةٍ.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سَأُقِيمُ فِي شَقَّةٍ أَمْسِ.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حَجَزْتُ فُنْدُقًا جَمِيلًا.</a:t>
            </a:r>
            <a:endParaRPr lang="ar-SA" sz="13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أُحِبُّ السَّفَرَ.</a:t>
            </a:r>
            <a:endParaRPr lang="ar-SA" sz="13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مَرَّاكُشَ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سَأَحْجِزُ</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Type 2:</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لَوْ حَجَزْتُ فِي فُنْدُقٍ آخَرَ، ___ أَفْضَلَ.</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 on a past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past of </a:t>
            </a:r>
            <a:pPr algn="l" indent="0" marL="0">
              <a:buNone/>
            </a:pPr>
            <a:r>
              <a:rPr lang="ar-SA" altLang="en-US" sz="1650" b="1" dirty="0">
                <a:solidFill>
                  <a:srgbClr val="1B3B6F"/>
                </a:solidFill>
                <a:latin typeface="Amiri" pitchFamily="2" charset="-78"/>
                <a:ea typeface="Amiri" pitchFamily="2" charset="-78"/>
                <a:cs typeface="Amiri" pitchFamily="2" charset="-78"/>
              </a:rPr>
              <a:t>يُقِيمُ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أُقِيمُ فِي شَقَّةٍ مَفْرُوشَةٍ أَمْسِ.</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أَقَمْتُ فِي شَقَّةٍ مَفْرُوشَةٍ.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سَأُقِيمُ فِي شَقَّةٍ أَمْسِ.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is </a:t>
            </a:r>
            <a:pPr algn="l" indent="0" marL="0">
              <a:buNone/>
            </a:pPr>
            <a:r>
              <a:rPr lang="ar-SA" altLang="en-US" sz="1350" dirty="0">
                <a:solidFill>
                  <a:srgbClr val="8A6D1E"/>
                </a:solidFill>
                <a:latin typeface="Amiri" pitchFamily="2" charset="-78"/>
                <a:ea typeface="Amiri" pitchFamily="2" charset="-78"/>
                <a:cs typeface="Amiri" pitchFamily="2" charset="-78"/>
              </a:rPr>
              <a:t>أَقَمْتُ 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packs three structures?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حَجَزْتُ فُنْدُقًا جَمِيلًا.</a:t>
            </a:r>
            <a:endParaRPr lang="ar-SA" sz="13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أُحِبُّ السَّفَرَ.</a:t>
            </a:r>
            <a:endParaRPr lang="ar-SA" sz="13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كُنْتُ قَدْ حَجَزْتُ فُنْدُقِي، وَأَشَارَ المُنَظِّمُ إِلَى أَنَّهُ إِذَا وَصَلْنَا مُبَكِّرًا سَنَحْصُلُ عَلَى تَرْقِيَةٍ.</a:t>
            </a:r>
            <a:endParaRPr lang="ar-SA" sz="13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perfect + reported speech + Type 1 conditional in one sentence.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uqīmu funduqan?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idhā taḥjizu?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يُقِيمُ</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إِذَا</a:t>
            </a:r>
            <a:pPr algn="l" indent="0" marL="0">
              <a:buNone/>
            </a:pPr>
            <a:r>
              <a:rPr lang="en-US" sz="1150" b="1" dirty="0">
                <a:solidFill>
                  <a:srgbClr val="1B3B6F"/>
                </a:solidFill>
                <a:latin typeface="Calibri" pitchFamily="34" charset="0"/>
                <a:cs typeface="Amiri" pitchFamily="2" charset="-78"/>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sa-uqīmu fī.</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traveller says: I had booked my trip to Marrakesh two months ago, and I had renewed my passport.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أَحْجِزُ دَائِمًا تَذَاكِرِي مُبَكِّرًا لِأَحْصُلَ عَلَى الدَّرَجَةِ الاقْتِصَادِيَّةِ بِسِعْرٍ مُنَاسِبٍ. سَأُقِيمُ فِي رِيَاضٍ تَقْلِيدِيٍّ فِي المَدِينَةِ القَدِيمَةِ.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always book my tickets early to get economy class at a reasonable price. I will stay in a traditional riad in the old city.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وَأَشَارَ دَلِيلُ السَّفَرِ إِلَى أَنَّهُ إِذَا وَصَلْتُ مُبَكِّرًا، سَأَزُورُ سُوقَ الجُدَيْدَةِ قَبْلَ الزِّحَامِ. أَمَّا التَّأْشِيرَةُ فَقَدْ حَصَلْتُ عَلَيْهَا إِلِكْتْرُونِيًّا.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travel guide pointed out that if I arrive early, I will visit the souk before the crowds. As for the visa, I obtained it online.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حَجَزْتُ فِي فُنْدُقٍ حَدِيثٍ خَارِجَ المَدِينَةِ، لَفَقَدْتُ سِحْرَ الأَحْيَاءِ القَدِيمَةِ.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I booked a modern hotel outside the city, I would have lost the charm of the old quarters.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سَأَحْمِلُ حَقِيبَةً وَاحِدَةً فَقَطْ لِأَتَجَنَّبَ رُسُومَ الأَمْتِعَةِ الزَّائِدَةِ.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take only one bag to avoid excess-baggage fees.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2" charset="-78"/>
                <a:ea typeface="Amiri" pitchFamily="2" charset="-78"/>
                <a:cs typeface="Amiri" pitchFamily="2" charset="-78"/>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kuntu qad · sa-uqīmu fī.</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حَجَزْتَ رِحْلَتَكَ، وَأَيْنَ سَتُقِيمُ؟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سَيَحْدُثُ إِذَا سَجَّلْتَ الوُصُولَ إِلِكْتْرُونِيًّا؟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حَجَزْتَ فِي مَكَانٍ آخَرَ،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ea typeface="Amiri" pitchFamily="2" charset="-78"/>
                <a:cs typeface="Amiri" pitchFamily="2" charset="-78"/>
              </a:rPr>
              <a:t>كُنْتُ قَدْ حَجَزْتُ رِحْلَتِي قَبْلَ ___ ، وَسَأُقِيمُ فِي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سَجَّلْتُ الوُصُولَ إِلِكْتْرُونِيًّا،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لَوْ حَجَزْتُ فِي ___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حَجَزْتَ رِحْلَتَكَ، وَأَيْنَ سَتُقِيمُ؟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did you book your trip, and where will you stay?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كُنْتُ قَدْ حَجَزْتُ رِحْلَتِي قَبْلَ شَهْرَيْنِ، وَسَأُقِيمُ فِي رِيَاضٍ تَقْلِيدِيٍّ.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had booked my trip two months ago, and I will stay in a traditional riad.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forms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t>
            </a:r>
            <a:pPr algn="l" indent="0" marL="0">
              <a:buNone/>
            </a:pPr>
            <a:r>
              <a:rPr lang="ar-SA" altLang="en-US" sz="1800" b="1" dirty="0">
                <a:solidFill>
                  <a:srgbClr val="1F2A37"/>
                </a:solidFill>
                <a:latin typeface="Amiri" pitchFamily="2" charset="-78"/>
                <a:ea typeface="Amiri" pitchFamily="2" charset="-78"/>
                <a:cs typeface="Amiri" pitchFamily="2" charset="-78"/>
              </a:rPr>
              <a:t>يَحْجِزُ</a:t>
            </a:r>
            <a:pPr algn="l" indent="0" marL="0">
              <a:buNone/>
            </a:pPr>
            <a:r>
              <a:rPr lang="en-US" sz="1400" b="1" dirty="0">
                <a:solidFill>
                  <a:srgbClr val="1F2A37"/>
                </a:solidFill>
                <a:latin typeface="Calibri" pitchFamily="34" charset="0"/>
                <a:cs typeface="Amiri" pitchFamily="2" charset="-78"/>
              </a:rPr>
              <a:t> and </a:t>
            </a:r>
            <a:pPr algn="l" indent="0" marL="0">
              <a:buNone/>
            </a:pPr>
            <a:r>
              <a:rPr lang="ar-SA" altLang="en-US" sz="1800" b="1" dirty="0">
                <a:solidFill>
                  <a:srgbClr val="1F2A37"/>
                </a:solidFill>
                <a:latin typeface="Amiri" pitchFamily="2" charset="-78"/>
                <a:ea typeface="Amiri" pitchFamily="2" charset="-78"/>
                <a:cs typeface="Amiri" pitchFamily="2" charset="-78"/>
              </a:rPr>
              <a:t>يُقِيمُ</a:t>
            </a:r>
            <a:pPr algn="l" indent="0" marL="0">
              <a:buNone/>
            </a:pPr>
            <a:r>
              <a:rPr lang="en-US" sz="1400" b="1" dirty="0">
                <a:solidFill>
                  <a:srgbClr val="1F2A37"/>
                </a:solidFill>
                <a:latin typeface="Calibri" pitchFamily="34" charset="0"/>
                <a:cs typeface="Amiri" pitchFamily="2" charset="-78"/>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yaḥjiz and yuqīm fī in the present, past and future — one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 perfect and a Type 1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day-by-day itinerary opening with kuntu qad ḥajaztu, with yuqīm fī, a Type 1, a reported recommendation and a Type 2.</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حَجَزْتَ مُبَكِّرًا،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you book early, you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أَشَارَ الدَّلِيلُ إِلَى أَنَّهُ إِذَا وَصَلْتُ مُبَكِّرًا،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guide pointed out that if I arrive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سَأَحْمِلُ حَقِيبَةً وَاحِدَةً لِأَتَجَنَّبَ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take one bag in order to avoid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كُنْتُ قَدْ حَجَزْتُ قَبْلَ العُطْلَةِ،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booked before the holiday,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كُنْتُ قَدْ حَجَزْتُ رِحْلَتِي إِلَى ______ قَبْلَ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booked my trip to … before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سَأُقِيمُ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will stay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العَامِ المَاضِي أَقَمْتُ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year I stayed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أَحْجِزُ تَذَاكِرِي دَائِمًا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always book my tickets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2" charset="-78"/>
                <a:ea typeface="Amiri" pitchFamily="2" charset="-78"/>
                <a:cs typeface="Amiri" pitchFamily="2" charset="-78"/>
              </a:rPr>
              <a:t>مَرَّاكُشَ  ·  عُمَانَ  ·  شَهْرَيْنِ  ·  رِيَاضٍ تَقْلِيدِيٍّ  ·  شَقَّةٍ مَفْرُوشَةٍ  ·  فُنْدُقٍ بِخَمْسِ نُجُومٍ  ·  مُبَكِّرًا  ·  سَتَحْصُلُ عَلَى سِعْرٍ أَرْخَصَ  ·  سَأَزُورُ السُّوقَ قَبْلَ الزِّحَامِ  ·  رُسُومَ الأَمْتِعَةِ الزَّائِدَةِ  ·  لَحَصَلْتُ عَلَى سِعْرٍ أَرْخَصَ  ·  جَوَازَ سَفَرِي</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2" charset="-78"/>
                <a:ea typeface="Amiri" pitchFamily="2" charset="-78"/>
                <a:cs typeface="Amiri" pitchFamily="2" charset="-78"/>
              </a:rPr>
              <a:t>كُنْتُ قَدْ حَجَزْتُ</a:t>
            </a:r>
            <a:pPr algn="l" indent="0" marL="0">
              <a:buNone/>
            </a:pPr>
            <a:r>
              <a:rPr lang="en-US" sz="1300" b="1" dirty="0">
                <a:solidFill>
                  <a:srgbClr val="1F2A37"/>
                </a:solidFill>
                <a:latin typeface="Calibri" pitchFamily="34" charset="0"/>
                <a:cs typeface="Amiri" pitchFamily="2" charset="-78"/>
              </a:rPr>
              <a:t>), use </a:t>
            </a:r>
            <a:pPr algn="l" indent="0" marL="0">
              <a:buNone/>
            </a:pPr>
            <a:r>
              <a:rPr lang="ar-SA" altLang="en-US" sz="1700" b="1" dirty="0">
                <a:solidFill>
                  <a:srgbClr val="1F2A37"/>
                </a:solidFill>
                <a:latin typeface="Amiri" pitchFamily="2" charset="-78"/>
                <a:ea typeface="Amiri" pitchFamily="2" charset="-78"/>
                <a:cs typeface="Amiri" pitchFamily="2" charset="-78"/>
              </a:rPr>
              <a:t>يُقِيمُ فِي</a:t>
            </a:r>
            <a:pPr algn="l" indent="0" marL="0">
              <a:buNone/>
            </a:pPr>
            <a:r>
              <a:rPr lang="en-US" sz="1300" b="1" dirty="0">
                <a:solidFill>
                  <a:srgbClr val="1F2A37"/>
                </a:solidFill>
                <a:latin typeface="Calibri" pitchFamily="34" charset="0"/>
                <a:cs typeface="Amiri" pitchFamily="2" charset="-78"/>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opening with </a:t>
            </a:r>
            <a:pPr algn="l" indent="0" marL="0">
              <a:buNone/>
            </a:pPr>
            <a:r>
              <a:rPr lang="ar-SA" altLang="en-US" sz="1550" dirty="0">
                <a:solidFill>
                  <a:srgbClr val="1F2A37"/>
                </a:solidFill>
                <a:latin typeface="Amiri" pitchFamily="2" charset="-78"/>
                <a:ea typeface="Amiri" pitchFamily="2" charset="-78"/>
                <a:cs typeface="Amiri" pitchFamily="2" charset="-78"/>
              </a:rPr>
              <a:t>يَحْجِزُ</a:t>
            </a:r>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كُنْتُ قَدْ حَجَزْتُ</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ea typeface="Amiri" pitchFamily="2" charset="-78"/>
                <a:cs typeface="Amiri" pitchFamily="2" charset="-78"/>
              </a:rPr>
              <a:t>يُقِيمُ فِي</a:t>
            </a:r>
            <a:pPr algn="l" indent="0" marL="0">
              <a:buNone/>
            </a:pPr>
            <a:r>
              <a:rPr lang="en-US" sz="1200" dirty="0">
                <a:solidFill>
                  <a:srgbClr val="1F2A37"/>
                </a:solidFill>
                <a:latin typeface="Calibri" pitchFamily="34" charset="0"/>
                <a:cs typeface="Amiri" pitchFamily="2" charset="-78"/>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اليَوْمُ الأَوَّلُ: … اليَوْمُ الثَّانِي: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Day one: … Day two: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وَكُنْتُ قَدْ جَدَّدْتُ جَوَازَ سَفَرِي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had renewed my passport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وَإِذَا كَانَ الطَّقْسُ جَيِّدًا، سَأَتَنَزَّهُ طَوَالَ اليَوْمِ</a:t>
            </a:r>
            <a:endParaRPr lang="ar-SA" sz="16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if the weather is good, I will hike all day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سَأُقِيمُ لَيْلَةً أَخِيرَةً قُرْبَ الشَّاطِئِ</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stay a final night near the beach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أَنْصَحُ بِالحَجْزِ المُبَكِّرِ دَائِمًا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I always recommend booking early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Day one: I had booked my trip to Casablanca two months ago, and I had renewed my passport. I will arrive at the airport in the morning, and I will stay in a traditional riad in the old city. The travel guide pointed out that if I arrive early, I will visit the souk before the crowds. Day two: I will book a tour to the mountains, and if the weather is good, I will hike all day. Day three: I will stay a final night near the beach. And if I had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 perfects (kuntu qad ḥajaztu · jaddadtu)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yuqīm fī twice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reported tip + 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regret (law kuntu qad … 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yaḥjiz / yuqīm are in the right tense for each time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yuqīm always has fī (and the noun after it ends in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itinerary opens with kuntu qad ḥajaztu.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idhā verb is past; the result has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(la-ḥaṣaltu · la-kāna).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فُنْدُقٍ قَرِيبٍ مِنَ الشَّاطِئِ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future: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عُمَانَ الصَّيْفَ القَادِمَ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سَأَحْجِزُ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أُقِيمُ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فُنْدُقٍ قَرِيبٍ مِنَ الشَّاطِئِ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يُقِيمُ</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لَكَانَ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سَيَكُونُ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يَكُونُ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2" charset="-78"/>
                <a:ea typeface="Amiri" pitchFamily="2" charset="-78"/>
                <a:cs typeface="Amiri" pitchFamily="2" charset="-78"/>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أُخَطِّطُ لِرِحْلَةٍ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plan a trip</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الأَسَاسِيَّاتِ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basics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أُجَدِّدُ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renew</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المُنَظِّمُ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organiser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سَجَّلْتُ الوُصُولَ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checked in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سَأُوَفِّرُ وَقْتًا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save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نُزُلٍ جَبَلِيٍّ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mountain lodge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العُطْلَةِ الرَّسْمِيَّةِ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public holiday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أَرْخَصَ</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cheaper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أَنْصَحُ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recommend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2" charset="-78"/>
                <a:ea typeface="Amiri" pitchFamily="2" charset="-78"/>
                <a:cs typeface="Amiri" pitchFamily="2" charset="-78"/>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Booking Mission — </a:t>
            </a:r>
            <a:pPr algn="l" indent="0" marL="0">
              <a:buNone/>
            </a:pPr>
            <a:r>
              <a:rPr lang="ar-SA" altLang="en-US" sz="2450" b="1" dirty="0">
                <a:solidFill>
                  <a:srgbClr val="1B3B6F"/>
                </a:solidFill>
                <a:latin typeface="Amiri" pitchFamily="2" charset="-78"/>
                <a:ea typeface="Amiri" pitchFamily="2" charset="-78"/>
                <a:cs typeface="Amiri" pitchFamily="2" charset="-78"/>
              </a:rPr>
              <a:t>يَحْجِزُ</a:t>
            </a:r>
            <a:pPr algn="l" indent="0" marL="0">
              <a:buNone/>
            </a:pPr>
            <a:r>
              <a:rPr lang="en-US" sz="1900" b="1" dirty="0">
                <a:solidFill>
                  <a:srgbClr val="1B3B6F"/>
                </a:solidFill>
                <a:latin typeface="Cambria" pitchFamily="34" charset="0"/>
                <a:cs typeface="Amiri" pitchFamily="2" charset="-78"/>
              </a:rPr>
              <a:t> and </a:t>
            </a:r>
            <a:pPr algn="l" indent="0" marL="0">
              <a:buNone/>
            </a:pPr>
            <a:r>
              <a:rPr lang="ar-SA" altLang="en-US" sz="2450" b="1" dirty="0">
                <a:solidFill>
                  <a:srgbClr val="1B3B6F"/>
                </a:solidFill>
                <a:latin typeface="Amiri" pitchFamily="2" charset="-78"/>
                <a:ea typeface="Amiri" pitchFamily="2" charset="-78"/>
                <a:cs typeface="Amiri" pitchFamily="2" charset="-78"/>
              </a:rPr>
              <a:t>يُقِيمُ</a:t>
            </a:r>
            <a:pPr algn="l" indent="0" marL="0">
              <a:buNone/>
            </a:pPr>
            <a:r>
              <a:rPr lang="en-US" sz="1900" b="1" dirty="0">
                <a:solidFill>
                  <a:srgbClr val="1B3B6F"/>
                </a:solidFill>
                <a:latin typeface="Cambria" pitchFamily="34" charset="0"/>
                <a:cs typeface="Amiri" pitchFamily="2" charset="-78"/>
              </a:rPr>
              <a:t> in Every Tense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الفُنْدُقَ قَبْلَ شَهْرٍ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مَرَّاكُشَ</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سَأَحْجِزُ</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 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سَتُوَفِّرُ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حَجَزْتَ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تَحْجِزُ</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سَتَحْجِزُ</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سَيَكُونُ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لَكَانَ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Present: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تَذَاكِرِي مُبَكِّرًا دَائِمًا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أَحْجِزُ</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سَأَحْجِزُ</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first person is </a:t>
            </a:r>
            <a:pPr algn="l" indent="0" marL="0">
              <a:buNone/>
            </a:pPr>
            <a:r>
              <a:rPr lang="ar-SA" altLang="en-US" sz="1350" dirty="0">
                <a:solidFill>
                  <a:srgbClr val="8A6D1E"/>
                </a:solidFill>
                <a:latin typeface="Amiri" pitchFamily="2" charset="-78"/>
                <a:ea typeface="Amiri" pitchFamily="2" charset="-78"/>
                <a:cs typeface="Amiri" pitchFamily="2" charset="-78"/>
              </a:rPr>
              <a:t>أَحْجِزُ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الفُنْدُقَ قَبْلَ شَهْرٍ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حَجَزْتُ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سَأَحْجِزُ</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is </a:t>
            </a:r>
            <a:pPr algn="l" indent="0" marL="0">
              <a:buNone/>
            </a:pPr>
            <a:r>
              <a:rPr lang="ar-SA" altLang="en-US" sz="1350" dirty="0">
                <a:solidFill>
                  <a:srgbClr val="8A6D1E"/>
                </a:solidFill>
                <a:latin typeface="Amiri" pitchFamily="2" charset="-78"/>
                <a:ea typeface="Amiri" pitchFamily="2" charset="-78"/>
                <a:cs typeface="Amiri" pitchFamily="2" charset="-78"/>
              </a:rPr>
              <a:t>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Future: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رِحْلَةً إِلَى مَرَّاكُشَ</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حَجَزْتُ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سَأَحْجِزُ</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future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Past perfect: complete — ___ </a:t>
            </a:r>
            <a:pPr algn="l" indent="0" marL="0">
              <a:buNone/>
            </a:pPr>
            <a:r>
              <a:rPr lang="ar-SA" altLang="en-US" sz="1650" b="1" dirty="0">
                <a:solidFill>
                  <a:srgbClr val="1B3B6F"/>
                </a:solidFill>
                <a:latin typeface="Amiri" pitchFamily="2" charset="-78"/>
                <a:ea typeface="Amiri" pitchFamily="2" charset="-78"/>
                <a:cs typeface="Amiri" pitchFamily="2" charset="-78"/>
              </a:rPr>
              <a:t>حَجَزْتُ المَطْعَمَ قَبْلَ أَنْ نَصِلَ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 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perfect is </a:t>
            </a:r>
            <a:pPr algn="l" indent="0" marL="0">
              <a:buNone/>
            </a:pPr>
            <a:r>
              <a:rPr lang="ar-SA" altLang="en-US" sz="1350" dirty="0">
                <a:solidFill>
                  <a:srgbClr val="8A6D1E"/>
                </a:solidFill>
                <a:latin typeface="Amiri" pitchFamily="2" charset="-78"/>
                <a:ea typeface="Amiri" pitchFamily="2" charset="-78"/>
                <a:cs typeface="Amiri" pitchFamily="2" charset="-78"/>
              </a:rPr>
              <a:t>كُنْتُ قَدْ حَجَزْتُ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1: complete —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سَتُوَفِّرُ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حَجَزْتَ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تَحْجِزُ</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سَتَحْجِزُ</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حَجَزْتُ فِي فُنْدُقٍ آخَرَ،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أَفْضَلَ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سَيَكُونُ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لَكَانَ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P3-L03 · Describing Past Holidays — Advanced Narrative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ذِكْرَى لَا تُنْسَى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unforgettable memory</a:t>
            </a:r>
            <a:pPr indent="0" marL="0">
              <a:buNone/>
            </a:pPr>
            <a:r>
              <a:rPr lang="ar-SA" sz="1000" i="1" dirty="0">
                <a:solidFill>
                  <a:srgbClr val="5A6472"/>
                </a:solidFill>
                <a:latin typeface="Calibri" pitchFamily="34" charset="0"/>
                <a:ea typeface="Amiri" pitchFamily="2" charset="-78"/>
                <a:cs typeface="Amiri" pitchFamily="2" charset="-78"/>
              </a:rPr>
              <a:t>  pl. ذِكْرَيَاتٌ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مُغَامَرَةٌ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adventure</a:t>
            </a:r>
            <a:pPr indent="0" marL="0">
              <a:buNone/>
            </a:pPr>
            <a:r>
              <a:rPr lang="ar-SA" sz="1000" i="1" dirty="0">
                <a:solidFill>
                  <a:srgbClr val="5A6472"/>
                </a:solidFill>
                <a:latin typeface="Calibri" pitchFamily="34" charset="0"/>
                <a:ea typeface="Amiri" pitchFamily="2" charset="-78"/>
                <a:cs typeface="Amiri" pitchFamily="2" charset="-78"/>
              </a:rPr>
              <a:t>  pl. مُغَامَرَاتٌ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صَدْمَةٌ ثَقَافِيَّةٌ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culture shock</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فَاقَ تَوَقُّعَاتِي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exceeded my expectations</a:t>
            </a:r>
            <a:pPr indent="0" marL="0">
              <a:buNone/>
            </a:pPr>
            <a:r>
              <a:rPr lang="ar-SA" sz="1000" i="1" dirty="0">
                <a:solidFill>
                  <a:srgbClr val="5A6472"/>
                </a:solidFill>
                <a:latin typeface="Calibri" pitchFamily="34" charset="0"/>
                <a:ea typeface="Amiri" pitchFamily="2" charset="-78"/>
                <a:cs typeface="Amiri" pitchFamily="2" charset="-78"/>
              </a:rPr>
              <a:t>  فَاقَتْ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فَجْأَةً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suddenly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Think of a holiday you remember: what happened, and how did you feel?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فِي إِجَازَتِي الأَخِيرَةِ ______ ، وَكَانَتْ ذِكْرَى لَا تُنْسَى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yaḥjiz and yuqīm fī in the present, past and future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past perfect and a Type 1 booking tip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100–110-word day-by-day itinerary for a trip to an Arab city.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cs typeface="Amiri" pitchFamily="2" charset="-78"/>
              </a:rPr>
              <a:t>P3-L03 · Describing Past Holidays — Advanced Narrative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العُطَلِ المَاضِيَةِ — السَّرْدُ المُتَقَدِّمُ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aḥjizu · ḥajaztu · sa-aḥjizu · kuntu qad ḥajaztu — uqīmu FĪ (aqamtu, short a) — idhā ḥajazta … sa- for advice, law ḥajaztu … la- for regret.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P3-L02 · Planning a Trip — Booking, Itineraries and Travel Documents</dc:title>
  <dc:subject>PptxGenJS Presentation</dc:subject>
  <dc:creator>Al Madina Online School · Arabic Department</dc:creator>
  <cp:lastModifiedBy>Al Madina Online School · Arabic Department</cp:lastModifiedBy>
  <cp:revision>1</cp:revision>
  <dcterms:created xsi:type="dcterms:W3CDTF">2026-10-11T06:43:08Z</dcterms:created>
  <dcterms:modified xsi:type="dcterms:W3CDTF">2026-10-11T06:43:08Z</dcterms:modified>
</cp:coreProperties>
</file>