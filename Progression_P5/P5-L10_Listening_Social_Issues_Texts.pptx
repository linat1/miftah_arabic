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Lst>
  <p:notesMasterIdLst>
    <p:notesMasterId r:id="rId52"/>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notesMaster" Target="notesMasters/notesMaster1.xml"/><Relationship Id="rId53" Type="http://schemas.openxmlformats.org/officeDocument/2006/relationships/presProps" Target="presProps.xml"/><Relationship Id="rId54" Type="http://schemas.openxmlformats.org/officeDocument/2006/relationships/viewProps" Target="viewProps.xml"/><Relationship Id="rId55" Type="http://schemas.openxmlformats.org/officeDocument/2006/relationships/theme" Target="theme/theme1.xml"/><Relationship Id="rId56"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AT A GLANCE — planned for 56 minutes, leaving about 4 minutes for Teams delays.
0–1 Welcome · 1–2 Lesson map · 2–9 Do Now + answers · 9–10 Objectives · 10–17 Key words · 17–23 Grammar · 23–25 Quick check · 25–28 I Do · 28–37 We Do · 37–49 You Do (speaking 3 + writing 9, with live feedback) · 49–54 Feedback (model, self-check, exit ticket) · 54–56 Preparation for next lesson.
FLEX slides are optional. Use them if the class is moving quickly; otherwise the same activities are on the website for homework.
Content source: Miftah Arabic website, Pathways › Progression › P5 Social Issues and Opinions › P5-L10. The website lesson “Listening — Social Issues and Opinions Texts”: vocabulary, grammar rules and quiz, patterns, common mistakes, sorter, listening, reading, speaking prompts and model, writing task and model, differentiation, final check and the lesson mission. Picture match: website visual game “Listening — Social Issues and Opinions Texts”.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LISTENING-SKILLS LESSON (IGCSE Paper 1 style): the website listening is played as two short listens, each twice. The grammar slides are a listening toolkit built on the essay architecture of P5-L07 to L09.
• Core: annotate five questions with the argument element you will listen for — thesis, concession, refutation or trigger (website Core). Develop: add whether each point belongs to the other side or to the speaker. Stretch: explain how the structure let you predict the refutation before hearing it.
• The key Paper 1 trap (website teaching point 2): the point after ṣaḥīḥun anna is NOT the speaker’s view — it is conceded to the other side. The speaker’s real position comes after ghayra anna. The P5 listening target on the website is 14+ out of 20.
• Grammar links: concession–refutation (P5-L01, L07, L08) · result markers by ear (P3-L10, P4-L10) · passive past (P5-L02, L05).
• TEACHER-WRITTEN ITEMS: the website listening is split into two short listens with one teacher-added question (the Type 1 forecast); waṣl alif shown without a kasra; لِكَيْ always written with its sukūn; يَصِرُّ → يُصِرُّ (vocabulary); rule formulas, vocabulary notes, pattern tips, writing prompt and checklist in transliteration; sorter headings in transliteration; the signal, attribution, marker and strategy tables are teacher-built from the website listening and reading; no visual game. All other website items are used as published.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Questions 1–3 test three of the five words prepared at the end of P5-L09. Questions 4–5 retrieve the thesis and the Type 2 (P5-L09) — today students hear the essay architecture they have just written.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An argument always has the same shape — so when you hear “ṣaḥīḥun anna”, you already know what comes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The route statements turn the website objectives into this lesson’s concrete targets.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اشارہ, موقف, توازن and اصلاح are shared — the whole lesson is about hearing the اشارہ (signal) that shows the speaker’s موقف (position). Remember: Urdu سماعت is a court hearing; Arabic السَّمَاعُ / الاسْتِمَاعُ = listening.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Listening for argument structure (website vocabulary (1 of 2)). Hear → Say → See → Use. Transliteration is printed for Core students (cover it for Develop/Stretch).
Listening for structure: الأُطْرُوحَةُ (thesis) comes in the introduction; إِشَارَةُ التَّسْلِيمِ (the concession signal) = صَحِيحٌ أَنَّ; إِشَارَةُ الرَّدِّ (the refutation signal) = غَيْرَ أَنَّ. A speaker who concedes and then refutes is مُتَوَازِنٌ; one who never concedes is مُنْحَازٌ.</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Listening for argument structure (website vocabulary (2 of 2)). Hear → Say → See → Use. Transliteration is printed for Core students (cover it for Develop/Stretch).
Listening for structure: الأُطْرُوحَةُ (thesis) comes in the introduction; إِشَارَةُ التَّسْلِيمِ (the concession signal) = صَحِيحٌ أَنَّ; إِشَارَةُ الرَّدِّ (the refutation signal) = غَيْرَ أَنَّ. A speaker who concedes and then refutes is مُتَوَازِنٌ; one who never concedes is مُنْحَازٌ.</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Social issues content heard (website vocabulary (1 of 2)). Hear → Say → See → Use. Transliteration is printed for Core students (cover it for Develop/Stretch).
Content you will hear — the social-issue words of P5. الحَاجَةُ المُلِحَّةُ = the pressing need; لَا تَتَحَمَّلُ الانْتِظَارَ = cannot bear waiting. These words usually arrive right AFTER the signal.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Social issues content heard (website vocabulary (2 of 2)). Hear → Say → See → Use. Transliteration is printed for Core students (cover it for Develop/Stretch).
FLEX: teach if time allows; otherwise these are on the website vocabulary tab for homework.
Content you will hear — the social-issue words of P5. الحَاجَةُ المُلِحَّةُ = the pressing need; لَا تَتَحَمَّلُ الانْتِظَارَ = cannot bear waiting. These words usually arrive right AFTER the signal.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Grammar markers by ear (website vocabulary (1 of 2)). Hear → Say → See → Use. Transliteration is printed for Core students (cover it for Develop/Stretch).
FLEX: teach if time allows; otherwise these are on the website vocabulary tab for homework.
Grammar markers by ear: a checklist for the two listens — ṣaḥīḥun anna · ghayra anna · yataṭallabu an · law … la- · idhā … sa- · wa-bināʾan ʿalā mā sabaqa · yuṣirru ʿalā an · kāna qad.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Grammar markers by ear (website vocabulary (2 of 2)). Hear → Say → See → Use. Transliteration is printed for Core students (cover it for Develop/Stretch).
FLEX: teach if time allows; otherwise these are on the website vocabulary tab for homework.
Grammar markers by ear: a checklist for the two listens — ṣaḥīḥun anna · ghayra anna · yataṭallabu an · law … la- · idhā … sa- · wa-bināʾan ʿalā mā sabaqa · yuṣirru ʿalā an · kāna qad.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1 — website rules “Find the thesis”, “Concession signal” and “Refutation signal”, the website table and teaching point 1 (“Argument speech has a predictable shape”).
Pre-listening routine: write T · E · C · R · Con down the margin. As you hear each signal, tick it — you always know where you are in the talk.
Row 1: the speaker says أُطْرُوحَتِي (my thesis) — a gift! Most speakers are less explicit; then the thesis is simply the FIRST claim.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2 — website teaching point 2 (“ṣaḥīḥun anna signals conceding, not asserting”), mistake 1 and quiz 4.
The Paper 1 trap: a question asks “What does the speaker think about reforms?” — the option “reforms need time” is TRUE in the text but is the conceded point. The correct option is what follows ghayra anna.
Card 3: prediction. As soon as students hear ṣaḥīḥun anna, they should whisper “ghayra anna is coming” — and listen for the opposite idea.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3 — website rule “Trigger and conditionals”, mistake 2, quiz 5–7 and mission rounds 7, 8 and 12.
Listening rule: do NOT decide the conditional when you hear the first word — wait for the result marker (sa- / la-). Mission round 12: «لَوْ عُولِجَ … لَتَحَسَّنَ» means the early treatment did NOT happen.
Row 4: two passive pasts by ear — اسْتُثْمِرَ (ustuthmira, “was invested”) and عُولِجَ (ʿūlija, “was treated”). The u-sound at the start is the clue.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4 — the website reading (a listening strategy guide), mistake 3 and the website writing model.
Note the imperatives in the guide (تَتَبَّعْ · اسْتَمِعْ · تَرَقَّبْ) — useful verbs for the writing task, where students turn them into the first person (أَتَتَبَّعُ · أُصْغِي · أَتَرَقَّبُ).
وَلَوْ فَاتَتْكَ كَلِمَاتٌ = even if some words escape you — here وَلَوْ means “even if”, not a Type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GRAMMAR RULES AND EXAMPLES (FLEX — revision or homework). Website overview: “A listening toolkit: find the thesis, hear صَحِيحٌ أَنَّ as a concession and غَيْرَ أَنَّ as a refutation, and catch subjunctive triggers and both conditional types.”
• Find the thesis: The speaker's main claim opens the text.
• Concession signal: Signals a point the speaker concedes.
• Refutation signal: The speaker's real position follows.
• Trigger and conditionals: Catch the subjunctive conclusion and the conditional type.
Website common error: Attributing the point after صَحِيحٌ أَنَّ to the speaker. It is a concession to the other side; the speaker's real position follows غَيْرَ أَنَّ.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grammar quiz questions 1, 2, 3, 4.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from the website writing model. Model it on the question paper: write the element you expect next to each question number (Q1 → thesis · Q3 → concession · Q4 → refutation · Q5 → law … la- · Q6 → yataṭallabu). Then play Part 1 and tick the signals as you hear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 website patterns. Students copy TWO that are useful for them.
• Core: copy one and change one word. • Develop: copy two and change the subject. • Stretch: combine two into one longer sentence with a connector.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(flex) — the website live builder: “Build a heard-argument report from a thesis, a concession-refutation pair and a subjunctive conclusion.” Website feedback: any three different combinations work.
Use after the two listens: students retell the academic’s talk in the third person with the reporting verbs سَلَّمَ بِـ (conceded) · رَدَّ بِـ (responded with) · خَتَمَ بِـ (closed with). Row 1 matches the listening exactly.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(2 min). Website instruction: sort each item into the right group.
Then read each card aloud at full speed and let a partner sort it by ear only (eyes closed) — they must catch the signal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(2 min). Website instruction: sort each item into the right group.
Then read each card aloud at full speed and let a partner sort it by ear only (eyes closed) — they must catch the signal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quiz questions 5, 6, 7, 8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LISTENING (4 min) — website script. Read it aloud yourself, twice, at natural speed with pauses.
Before listening: students read the questions (● 30s). Core: questions 1, 3 and 4. Develop/Stretch: all four — and say whose view each answer is (the speaker or the other side).
Listen 1: just listen. Listen 2: note answers. Then chat the letters.
Support: after the second listening, show the read-along slide (Arabic + English, line by line) for Core students.
SCRIPT (read aloud):
يَقُولُ الأَكَادِيمِيُّ: أُطْرُوحَتِي أَنَّ التَّفَاوُتَ الاجْتِمَاعِيَّ يُهَدِّدُ الاسْتِقْرَارَ. أَكَّدَتِ الدِّرَاسَاتُ أَنَّ الفَجْوَةَ بَيْنَ الأَغْنِيَاءِ وَالفُقَرَاءِ تَتَّسِعُ. صَحِيحٌ أَنَّ الإِصْلَاحَاتِ تَحْتَاجُ وَقْتًا طَوِيلًا وَمَوَارِدَ ضَخْمَةً، غَيْرَ أَنَّ الحَاجَةَ الاجْتِمَاعِيَّةَ المُلِحَّةَ لَا تَتَحَمَّلُ الانْتِظَارَ.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LISTENING (4 min) — website script. Read it aloud yourself, twice, at natural speed with pauses.
Before listening: students read the questions (● 30s). Core: questions 1, 2 and 4. Develop/Stretch: all five — and for question 1, say what did NOT happen (inequality was not addressed decades ago).
Listen 1: just listen. Listen 2: note answers. Then chat the letters.
Support: after the second listening, show the read-along slide (Arabic + English, line by line) for Core students.
SCRIPT (read aloud):
إِذَا اسْتُثْمِرَ فِي التَّعْلِيمِ المُبَكِّرِ، سَتَضِيقُ الفَجْوَةُ تَدْرِيجِيًّا. وَلَوْ عُولِجَ التَّفَاوُتُ قَبْلَ عُقُودٍ، لَتَحَسَّنَ الوَضْعُ كَثِيرًا. وَيَتَطَلَّبُ الوَضْعُ أَنْ تَتَحَرَّكَ الحُكُومَاتُ فَوْرًا. وَبِنَاءً عَلَى مَا سَبَقَ، فَإِنَّ مَوْقِفِي وَاضِحٌ: العَدَالَةُ الاجْتِمَاعِيَّةُ ضَرُورَةٌ لَا رَفَاهِيَةٌ.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REHEARSAL (3 min) — website speaking prompts.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A: وَكَيْفَ رَدَّ؟ (Refutation)
B: رَدَّ بِـ«غَيْرَ أَنَّ الحَاجَةَ المُلِحَّةَ لَا تَتَحَمَّلُ الانْتِظَارَ»، وَهٰذَا مَوْقِفُهُ الأَقْوَى. (غَيْرَ أَنَّ → refutation)
Website prompts and model. Pairs replay the academic’s talk from memory: A names a signal (ṣaḥīḥun anna · ghayra anna · law), B gives the sentence it introduced and says whose view it is. Swap. For a female speaker: سَلَّمَتْ · رَدَّتْ · مَوْقِفُهَا.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differentiation tasks: Core — Annotate five questions with the element (thesis / concession / refutation / trigger) you will listen for. · Develop — Add whether each concession belongs to the other side or the speaker. · Stretch — Explain how the structure let you predict the refutation before hearing it.
Website writing task (Stretch): Write eighty to ninety words explaining your listening strategy for argumentative texts. Describe how you find the thesis, hear ṣaḥīḥun anna as a concession and ghayra anna as the refutation, and catch a subjunctive trigger and a Type 2 conditional.
LIVE FEEDBACK: students post their first two sentences in the chat (or OneNote) after 3 minutes. Scan and correct misconceptions immediately — use private chat for individual corrections (Behaviour: quiet, individual).
Work with the less able: stay with Core students for the first 3 minutes; Develop/Stretch continue independently. SEND: chunk the Core task — “two sentences, then show me”.
Extension (fast finishers): the reading on the Extension slides. Pastoral: Self-Management point for students who work without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from the website model, reading text and listening script. Live feedback for Stretch: check the target structures appear and are accurate.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FEEDBACK (1 min) — website model answer, with an English translation for Core students.
Students find in the model (● 20s → ◎) the four items on the chips. Website writing model. Evidence: أَتَتَبَّعُ بِنْيَةَ الحُجَّةِ لَا الكَلِمَاتِ المُفْرَدَةَ · أُصْغِي أَوَّلًا إِلَى الأُطْرُوحَةِ · «صَحِيحٌ أَنَّ» … تَسْلِيمٌ بِرَأْيِ الطَّرَفِ الآخَرِ · «غَيْرَ أَنَّ» … المَوْقِفُ الأَقْوَى · «يَتَطَلَّبُ أَنْ» لِلْخَاتِمَةِ · «لَوْ» مَعَ «لَـ» · أَتَنَبَّأُ بِمَا يَلِي.
Then each student chooses ONE thing from the model to add to their own writing (specific, actionable feedback on the success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4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EXTENSION — website reading text. For fast finishers during You Do, or Stretch homework. “You don’t need every word; find the words the question asks about.”
The green key-words panel is a teacher-made glossary so Develop students can also attempt it.
SEND reading strategy (Toolkit 1): cover the text with a piece of paper and uncover one sentence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from the website. The detective steps follow the SEND “modular reading” strategy: read one part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from the website, with the evidence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LESSON MISSION (FLEX) — fast finishers or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(P5-L11 · Consolidation — Speaking Preparation and P5 Complete Review) will spend class time USING this language, so students prepare it tonight — short, simple, easy to access (school guidance: “Simple, Short, Interesting, Relevant, Easy to access”). The five words come from the website P5-L11 vocabulary (speaking preparation and review).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1.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1.xml"/><Relationship Id="rId3" Type="http://schemas.openxmlformats.org/officeDocument/2006/relationships/notesSlide" Target="../notesSlides/notesSlide5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9  ·  PROGRESSION P5  ·  P5-L10</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P5-L10</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Listening — Social Issues and Opinions Texts</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cs typeface="Amiri" pitchFamily="2" charset="-78"/>
              </a:rPr>
              <a:t>الاسْتِمَاعُ — نُصُوصُ القَضَايَا الاجْتِمَاعِيَّةِ وَالآرَاءِ</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Follow an argument by its shape: the thesis comes first; ṣaḥīḥun anna = a point the speaker CONCEDES to the other side; ghayra anna = the speaker’s real position; yataṭallabu an = the demand; sa- / la- decide the conditional; wa-bināʾan ʿalā mā sabaqa = the end.</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P5-L10 · Progression P5 · Social Issues and Opinions</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Progression · B1 → B2</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Progression › P5 › P5-L10</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P5-L10 · Listening Skills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P5-L10</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50</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P5-L10 · Listening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P5-L10</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Signal → job → whose view, the attribution trap, conditionals and triggers by ear, the strategy guide.</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050" dirty="0">
                <a:solidFill>
                  <a:srgbClr val="1F2A37"/>
                </a:solidFill>
                <a:latin typeface="Calibri" pitchFamily="34" charset="0"/>
                <a:cs typeface="Amiri" pitchFamily="2" charset="-78"/>
              </a:rPr>
              <a:t>Two short listens, build a heard-argument report, sort thesis / concession–refutation / subjunctive–conditional.</a:t>
            </a:r>
            <a:endParaRPr lang="en-US" sz="105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P5-L11.</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50</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P5-L10 · Listening Skills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P5-L10</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إِشَارَةُ التَّسْلِيمِ</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traffic signal</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concession signal</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final answer</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مَوْقِفُ المُتَحَدِّثِ</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speaker’s position</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speaker’s seat</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speaker’s question</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مُنْحَازٌ</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balanced</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silent</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one-sided, partisan</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a thesis, not just a topic?</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1500" dirty="0">
                <a:solidFill>
                  <a:srgbClr val="1F2A37"/>
                </a:solidFill>
                <a:latin typeface="Amiri" pitchFamily="2" charset="-78"/>
                <a:cs typeface="Amiri" pitchFamily="2" charset="-78"/>
              </a:rPr>
              <a:t>الهِجْرَةُ مَوْضُوعٌ مُهِمٌّ.</a:t>
            </a:r>
            <a:endParaRPr lang="ar-SA" sz="150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1500" dirty="0">
                <a:solidFill>
                  <a:srgbClr val="1F2A37"/>
                </a:solidFill>
                <a:latin typeface="Amiri" pitchFamily="2" charset="-78"/>
                <a:cs typeface="Amiri" pitchFamily="2" charset="-78"/>
              </a:rPr>
              <a:t>سَأَتَحَدَّثُ عَنِ الهِجْرَةِ.</a:t>
            </a:r>
            <a:endParaRPr lang="ar-SA" sz="150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1500" dirty="0">
                <a:solidFill>
                  <a:srgbClr val="1F2A37"/>
                </a:solidFill>
                <a:latin typeface="Amiri" pitchFamily="2" charset="-78"/>
                <a:cs typeface="Amiri" pitchFamily="2" charset="-78"/>
              </a:rPr>
              <a:t>الهِجْرَةُ تُثْرِي المُجْتَمَعَاتِ أَكْثَرَ مِمَّا تُضْعِفُهَا.</a:t>
            </a:r>
            <a:endParaRPr lang="ar-SA" sz="150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cs typeface="Amiri" pitchFamily="2" charset="-78"/>
              </a:rPr>
              <a:t>لَوْ فُتِحَتِ الأَبْوَابُ مُبَكِّرًا،</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التَّوَتُّرَ</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لَتَجَنَّبْنَا</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سَنَتَجَنَّبُ</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نَتَجَنَّبُ</a:t>
            </a:r>
            <a:endParaRPr lang="ar-SA" sz="20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50</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P5-L10 · Listening Skills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P5-L10</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إِشَارَةُ التَّسْلِيمِ</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traffic signal</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concession signal</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final answer</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(P5-L09).</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مَوْقِفُ المُتَحَدِّثِ</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speaker’s position</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speaker’s seat</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speaker’s question</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(P5-L09).</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مُنْحَازٌ</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balanced</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silent</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one-sided, partisan</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(P5-L09).</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a thesis, not just a topic?</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500" dirty="0">
                <a:solidFill>
                  <a:srgbClr val="9AA1AB"/>
                </a:solidFill>
                <a:latin typeface="Amiri" pitchFamily="2" charset="-78"/>
                <a:cs typeface="Amiri" pitchFamily="2" charset="-78"/>
              </a:rPr>
              <a:t>الهِجْرَةُ مَوْضُوعٌ مُهِمٌّ.</a:t>
            </a:r>
            <a:endParaRPr lang="ar-SA" sz="15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500" dirty="0">
                <a:solidFill>
                  <a:srgbClr val="9AA1AB"/>
                </a:solidFill>
                <a:latin typeface="Amiri" pitchFamily="2" charset="-78"/>
                <a:cs typeface="Amiri" pitchFamily="2" charset="-78"/>
              </a:rPr>
              <a:t>سَأَتَحَدَّثُ عَنِ الهِجْرَةِ.</a:t>
            </a:r>
            <a:endParaRPr lang="ar-SA" sz="15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cs typeface="Amiri" pitchFamily="2" charset="-78"/>
              </a:rPr>
              <a:t>الهِجْرَةُ تُثْرِي المُجْتَمَعَاتِ أَكْثَرَ مِمَّا تُضْعِفُهَا.</a:t>
            </a:r>
            <a:endParaRPr lang="ar-SA" sz="15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P5-L09: a position to defend.</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cs typeface="Amiri" pitchFamily="2" charset="-78"/>
              </a:rPr>
              <a:t>لَوْ فُتِحَتِ الأَبْوَابُ مُبَكِّرًا،</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التَّوَتُّرَ</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لَتَجَنَّبْنَا</a:t>
            </a:r>
            <a:endParaRPr lang="ar-SA" sz="17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سَنَتَجَنَّبُ</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نَتَجَنَّبُ</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P5-L09: Type 2 → la-.</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An argument always has the same shape — so when you hear “ṣaḥīḥun anna”, you already know what comes next.</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lnSpc>
                <a:spcPct val="120000"/>
              </a:lnSpc>
              <a:buNone/>
            </a:pPr>
            <a:r>
              <a:rPr lang="ar-SA" altLang="en-US" sz="1950" b="1" dirty="0">
                <a:solidFill>
                  <a:srgbClr val="1D5FBF"/>
                </a:solidFill>
                <a:latin typeface="Amiri" pitchFamily="2" charset="-78"/>
                <a:cs typeface="Amiri" pitchFamily="2" charset="-78"/>
              </a:rPr>
              <a:t>صَحِيحٌ أَنَّ</a:t>
            </a:r>
            <a:pPr rtl="1" algn="ctr" indent="0" marL="0">
              <a:lnSpc>
                <a:spcPct val="120000"/>
              </a:lnSpc>
              <a:buNone/>
            </a:pPr>
            <a:r>
              <a:rPr lang="ar-SA" altLang="en-US" sz="1950" b="1" dirty="0">
                <a:solidFill>
                  <a:srgbClr val="1B3B6F"/>
                </a:solidFill>
                <a:latin typeface="Amiri" pitchFamily="2" charset="-78"/>
                <a:cs typeface="Amiri" pitchFamily="2" charset="-78"/>
              </a:rPr>
              <a:t> = الطَّرَفُ الآخَرُ · </a:t>
            </a:r>
            <a:pPr rtl="1" algn="ctr" indent="0" marL="0">
              <a:lnSpc>
                <a:spcPct val="120000"/>
              </a:lnSpc>
              <a:buNone/>
            </a:pPr>
            <a:r>
              <a:rPr lang="ar-SA" altLang="en-US" sz="1950" b="1" dirty="0">
                <a:solidFill>
                  <a:srgbClr val="D6336C"/>
                </a:solidFill>
                <a:latin typeface="Amiri" pitchFamily="2" charset="-78"/>
                <a:cs typeface="Amiri" pitchFamily="2" charset="-78"/>
              </a:rPr>
              <a:t>غَيْرَ أَنَّ</a:t>
            </a:r>
            <a:pPr rtl="1" algn="ctr" indent="0" marL="0">
              <a:lnSpc>
                <a:spcPct val="120000"/>
              </a:lnSpc>
              <a:buNone/>
            </a:pPr>
            <a:r>
              <a:rPr lang="ar-SA" altLang="en-US" sz="1950" b="1" dirty="0">
                <a:solidFill>
                  <a:srgbClr val="1B3B6F"/>
                </a:solidFill>
                <a:latin typeface="Amiri" pitchFamily="2" charset="-78"/>
                <a:cs typeface="Amiri" pitchFamily="2" charset="-78"/>
              </a:rPr>
              <a:t> = رَأْيُ المُتَحَدِّثِ</a:t>
            </a:r>
            <a:endParaRPr lang="ar-SA" sz="19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50</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P5-L10 · Listening Skills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P5-L10</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Predict which argument element each question targets before listening.</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Hear ṣaḥīḥun anna as a concession signal and ghayra anna as the refutation.</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Catch subjunctive triggers and both conditional types in fast speech.</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Reach the P5 listening target of fourteen or more out of twenty.</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hear the thesis in the introduction.</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answer 5 questions from the two listens.</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say whose view follows ṣaḥīḥun anna.</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hear sa- / la- and name the conditional.</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predict the refutation before I hear it.</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judge the speaker: balanced or partisan.</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50</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cs typeface="Amiri" pitchFamily="2" charset="-78"/>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2" charset="-78"/>
                <a:cs typeface="Amiri" pitchFamily="2" charset="-78"/>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cs typeface="Amiri" pitchFamily="2" charset="-78"/>
              </a:rPr>
              <a:t>24 words from the website in 3 groups. Learn the CORE words first. Hear it → say it → see it → use it.</a:t>
            </a:r>
            <a:endParaRPr lang="en-US" sz="1600" dirty="0"/>
          </a:p>
        </p:txBody>
      </p:sp>
      <p:sp>
        <p:nvSpPr>
          <p:cNvPr id="8" name="Shape 6"/>
          <p:cNvSpPr/>
          <p:nvPr/>
        </p:nvSpPr>
        <p:spPr>
          <a:xfrm>
            <a:off x="457200" y="4572000"/>
            <a:ext cx="252984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1</a:t>
            </a:r>
            <a:endParaRPr lang="en-US" sz="900" dirty="0"/>
          </a:p>
          <a:p>
            <a:pPr indent="0" marL="0">
              <a:buNone/>
            </a:pPr>
            <a:r>
              <a:rPr lang="en-US" sz="1200" b="1" dirty="0">
                <a:solidFill>
                  <a:srgbClr val="FFFFFF"/>
                </a:solidFill>
                <a:latin typeface="Calibri" pitchFamily="34" charset="0"/>
                <a:cs typeface="Amiri" pitchFamily="2" charset="-78"/>
              </a:rPr>
              <a:t>Listening for argument structure · 8</a:t>
            </a:r>
            <a:endParaRPr lang="en-US" sz="900" dirty="0"/>
          </a:p>
        </p:txBody>
      </p:sp>
      <p:sp>
        <p:nvSpPr>
          <p:cNvPr id="10" name="Shape 8"/>
          <p:cNvSpPr/>
          <p:nvPr/>
        </p:nvSpPr>
        <p:spPr>
          <a:xfrm>
            <a:off x="3124200" y="4572000"/>
            <a:ext cx="252984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3261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2</a:t>
            </a:r>
            <a:endParaRPr lang="en-US" sz="900" dirty="0"/>
          </a:p>
          <a:p>
            <a:pPr indent="0" marL="0">
              <a:buNone/>
            </a:pPr>
            <a:r>
              <a:rPr lang="en-US" sz="1200" b="1" dirty="0">
                <a:solidFill>
                  <a:srgbClr val="FFFFFF"/>
                </a:solidFill>
                <a:latin typeface="Calibri" pitchFamily="34" charset="0"/>
                <a:cs typeface="Amiri" pitchFamily="2" charset="-78"/>
              </a:rPr>
              <a:t>Social issues content heard · 8</a:t>
            </a:r>
            <a:endParaRPr lang="en-US" sz="900" dirty="0"/>
          </a:p>
        </p:txBody>
      </p:sp>
      <p:sp>
        <p:nvSpPr>
          <p:cNvPr id="12" name="Shape 10"/>
          <p:cNvSpPr/>
          <p:nvPr/>
        </p:nvSpPr>
        <p:spPr>
          <a:xfrm>
            <a:off x="5791200" y="4572000"/>
            <a:ext cx="2529840" cy="960120"/>
          </a:xfrm>
          <a:prstGeom prst="roundRect">
            <a:avLst>
              <a:gd name="adj" fmla="val 7619"/>
            </a:avLst>
          </a:prstGeom>
          <a:solidFill>
            <a:srgbClr val="16335F"/>
          </a:solidFill>
          <a:ln w="12700">
            <a:solidFill>
              <a:srgbClr val="2A4B7C"/>
            </a:solidFill>
            <a:prstDash val="solid"/>
          </a:ln>
        </p:spPr>
      </p:sp>
      <p:sp>
        <p:nvSpPr>
          <p:cNvPr id="13" name="Text 11"/>
          <p:cNvSpPr txBox="1"/>
          <p:nvPr/>
        </p:nvSpPr>
        <p:spPr>
          <a:xfrm>
            <a:off x="5928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3</a:t>
            </a:r>
            <a:endParaRPr lang="en-US" sz="900" dirty="0"/>
          </a:p>
          <a:p>
            <a:pPr indent="0" marL="0">
              <a:buNone/>
            </a:pPr>
            <a:r>
              <a:rPr lang="en-US" sz="1200" b="1" dirty="0">
                <a:solidFill>
                  <a:srgbClr val="FFFFFF"/>
                </a:solidFill>
                <a:latin typeface="Calibri" pitchFamily="34" charset="0"/>
                <a:cs typeface="Amiri" pitchFamily="2" charset="-78"/>
              </a:rPr>
              <a:t>Grammar markers by ear · 8</a:t>
            </a:r>
            <a:endParaRPr lang="en-US" sz="900" dirty="0"/>
          </a:p>
        </p:txBody>
      </p:sp>
      <p:sp>
        <p:nvSpPr>
          <p:cNvPr id="14" name="Shape 12"/>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5" name="Text 13"/>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cs typeface="Amiri" pitchFamily="2" charset="-78"/>
              </a:rPr>
              <a:t>BRIDGE FROM URDU</a:t>
            </a:r>
            <a:endParaRPr lang="en-US" sz="1000" dirty="0"/>
          </a:p>
        </p:txBody>
      </p:sp>
      <p:sp>
        <p:nvSpPr>
          <p:cNvPr id="16" name="Text 14"/>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إِشَارَةٌ</a:t>
            </a:r>
            <a:endParaRPr lang="ar-SA" sz="1900" dirty="0"/>
          </a:p>
        </p:txBody>
      </p:sp>
      <p:sp>
        <p:nvSpPr>
          <p:cNvPr id="17" name="Text 15"/>
          <p:cNvSpPr txBox="1"/>
          <p:nvPr/>
        </p:nvSpPr>
        <p:spPr>
          <a:xfrm>
            <a:off x="8842248" y="1810512"/>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‎اشارہ‎ </a:t>
            </a:r>
            <a:pPr indent="0" marL="0">
              <a:buNone/>
            </a:pPr>
            <a:r>
              <a:rPr lang="en-US" sz="950" b="1" dirty="0">
                <a:solidFill>
                  <a:srgbClr val="2E8B57"/>
                </a:solidFill>
                <a:latin typeface="Calibri" pitchFamily="34" charset="0"/>
                <a:cs typeface="Amiri" pitchFamily="2" charset="-78"/>
              </a:rPr>
              <a:t> ishāra · a signal, a sign</a:t>
            </a:r>
            <a:endParaRPr lang="en-US" sz="1400" dirty="0"/>
          </a:p>
        </p:txBody>
      </p:sp>
      <p:sp>
        <p:nvSpPr>
          <p:cNvPr id="18" name="Text 16"/>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مَوْقِفٌ</a:t>
            </a:r>
            <a:endParaRPr lang="ar-SA" sz="1900" dirty="0"/>
          </a:p>
        </p:txBody>
      </p:sp>
      <p:sp>
        <p:nvSpPr>
          <p:cNvPr id="19" name="Text 17"/>
          <p:cNvSpPr txBox="1"/>
          <p:nvPr/>
        </p:nvSpPr>
        <p:spPr>
          <a:xfrm>
            <a:off x="8842248" y="2377440"/>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‎موقف‎ </a:t>
            </a:r>
            <a:pPr indent="0" marL="0">
              <a:buNone/>
            </a:pPr>
            <a:r>
              <a:rPr lang="en-US" sz="950" b="1" dirty="0">
                <a:solidFill>
                  <a:srgbClr val="2E8B57"/>
                </a:solidFill>
                <a:latin typeface="Calibri" pitchFamily="34" charset="0"/>
                <a:cs typeface="Amiri" pitchFamily="2" charset="-78"/>
              </a:rPr>
              <a:t> mauqif · a position, a stance</a:t>
            </a:r>
            <a:endParaRPr lang="en-US" sz="1400" dirty="0"/>
          </a:p>
        </p:txBody>
      </p:sp>
      <p:sp>
        <p:nvSpPr>
          <p:cNvPr id="20" name="Text 18"/>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تَوَازُنٌ · مُتَوَازِنٌ</a:t>
            </a:r>
            <a:endParaRPr lang="ar-SA" sz="1900" dirty="0"/>
          </a:p>
        </p:txBody>
      </p:sp>
      <p:sp>
        <p:nvSpPr>
          <p:cNvPr id="21" name="Text 19"/>
          <p:cNvSpPr txBox="1"/>
          <p:nvPr/>
        </p:nvSpPr>
        <p:spPr>
          <a:xfrm>
            <a:off x="8842248" y="2944368"/>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‎توازن‎ </a:t>
            </a:r>
            <a:pPr indent="0" marL="0">
              <a:buNone/>
            </a:pPr>
            <a:r>
              <a:rPr lang="en-US" sz="950" b="1" dirty="0">
                <a:solidFill>
                  <a:srgbClr val="2E8B57"/>
                </a:solidFill>
                <a:latin typeface="Calibri" pitchFamily="34" charset="0"/>
                <a:cs typeface="Amiri" pitchFamily="2" charset="-78"/>
              </a:rPr>
              <a:t> tawāzun · balance · balanced</a:t>
            </a:r>
            <a:endParaRPr lang="en-US" sz="1400" dirty="0"/>
          </a:p>
        </p:txBody>
      </p:sp>
      <p:sp>
        <p:nvSpPr>
          <p:cNvPr id="22" name="Text 20"/>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إِصْلَاحٌ</a:t>
            </a:r>
            <a:endParaRPr lang="ar-SA" sz="1900" dirty="0"/>
          </a:p>
        </p:txBody>
      </p:sp>
      <p:sp>
        <p:nvSpPr>
          <p:cNvPr id="23" name="Text 21"/>
          <p:cNvSpPr txBox="1"/>
          <p:nvPr/>
        </p:nvSpPr>
        <p:spPr>
          <a:xfrm>
            <a:off x="8842248" y="3511296"/>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‎اصلاح‎ </a:t>
            </a:r>
            <a:pPr indent="0" marL="0">
              <a:buNone/>
            </a:pPr>
            <a:r>
              <a:rPr lang="en-US" sz="950" b="1" dirty="0">
                <a:solidFill>
                  <a:srgbClr val="2E8B57"/>
                </a:solidFill>
                <a:latin typeface="Calibri" pitchFamily="34" charset="0"/>
                <a:cs typeface="Amiri" pitchFamily="2" charset="-78"/>
              </a:rPr>
              <a:t> islāh · reform, correction</a:t>
            </a:r>
            <a:endParaRPr lang="en-US" sz="1400" dirty="0"/>
          </a:p>
        </p:txBody>
      </p:sp>
      <p:sp>
        <p:nvSpPr>
          <p:cNvPr id="24" name="Text 22"/>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سَمَاعٌ</a:t>
            </a:r>
            <a:endParaRPr lang="ar-SA" sz="1900" dirty="0"/>
          </a:p>
        </p:txBody>
      </p:sp>
      <p:sp>
        <p:nvSpPr>
          <p:cNvPr id="25" name="Text 23"/>
          <p:cNvSpPr txBox="1"/>
          <p:nvPr/>
        </p:nvSpPr>
        <p:spPr>
          <a:xfrm>
            <a:off x="8842248" y="4078224"/>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‎سماعت‎ </a:t>
            </a:r>
            <a:pPr indent="0" marL="0">
              <a:buNone/>
            </a:pPr>
            <a:r>
              <a:rPr lang="en-US" sz="950" b="1" dirty="0">
                <a:solidFill>
                  <a:srgbClr val="2E8B57"/>
                </a:solidFill>
                <a:latin typeface="Calibri" pitchFamily="34" charset="0"/>
                <a:cs typeface="Amiri" pitchFamily="2" charset="-78"/>
              </a:rPr>
              <a:t> samāat · Arabic: hearing (listening) · Urdu: a court hearing</a:t>
            </a:r>
            <a:endParaRPr lang="en-US" sz="140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50</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P5-L10 · Listening Skills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00" b="1" dirty="0">
                <a:solidFill>
                  <a:srgbClr val="1B3B6F"/>
                </a:solidFill>
                <a:latin typeface="Cambria" pitchFamily="34" charset="0"/>
                <a:cs typeface="Amiri" pitchFamily="2" charset="-78"/>
              </a:rPr>
              <a:t>Listening for argument structure (1 of 2)</a:t>
            </a:r>
            <a:endParaRPr lang="en-US" sz="22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P5-L10</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Text 15"/>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الاسْتِمَاعُ لِبِنْيَةِ الحُجَّةِ</a:t>
            </a:r>
            <a:endParaRPr lang="ar-SA" sz="3000" dirty="0"/>
          </a:p>
        </p:txBody>
      </p:sp>
      <p:sp>
        <p:nvSpPr>
          <p:cNvPr id="19" name="Text 16"/>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listening for argument structure</a:t>
            </a:r>
            <a:endParaRPr lang="en-US" sz="1350" dirty="0"/>
          </a:p>
          <a:p>
            <a:pPr indent="0" marL="0">
              <a:buNone/>
            </a:pPr>
            <a:r>
              <a:rPr lang="en-US" sz="1100" i="1" dirty="0">
                <a:solidFill>
                  <a:srgbClr val="5A6472"/>
                </a:solidFill>
                <a:latin typeface="Calibri" pitchFamily="34" charset="0"/>
                <a:cs typeface="Amiri" pitchFamily="2" charset="-78"/>
              </a:rPr>
              <a:t>als-ti-mā-ʿu li-bin-ya-ti al-ḥuj-ja-ti</a:t>
            </a:r>
            <a:endParaRPr lang="en-US" sz="1350" dirty="0"/>
          </a:p>
        </p:txBody>
      </p:sp>
      <p:sp>
        <p:nvSpPr>
          <p:cNvPr id="20" name="Shape 1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4389120" y="1920240"/>
            <a:ext cx="310896" cy="310896"/>
          </a:xfrm>
          <a:prstGeom prst="ellipse">
            <a:avLst/>
          </a:prstGeom>
          <a:solidFill>
            <a:srgbClr val="F4F1EA"/>
          </a:solidFill>
          <a:ln w="12700">
            <a:solidFill>
              <a:srgbClr val="F4F1EA"/>
            </a:solidFill>
            <a:prstDash val="solid"/>
          </a:ln>
        </p:spPr>
      </p:sp>
      <p:sp>
        <p:nvSpPr>
          <p:cNvPr id="22" name="Text 1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3" name="Shape 20"/>
          <p:cNvSpPr/>
          <p:nvPr/>
        </p:nvSpPr>
        <p:spPr>
          <a:xfrm>
            <a:off x="4782312" y="1938528"/>
            <a:ext cx="709574" cy="256032"/>
          </a:xfrm>
          <a:prstGeom prst="roundRect">
            <a:avLst>
              <a:gd name="adj" fmla="val 50000"/>
            </a:avLst>
          </a:prstGeom>
          <a:solidFill>
            <a:srgbClr val="EFE7D2"/>
          </a:solidFill>
          <a:ln w="12700">
            <a:solidFill>
              <a:srgbClr val="EFE7D2"/>
            </a:solidFill>
            <a:prstDash val="solid"/>
          </a:ln>
        </p:spPr>
      </p:sp>
      <p:sp>
        <p:nvSpPr>
          <p:cNvPr id="24" name="Text 21"/>
          <p:cNvSpPr txBox="1"/>
          <p:nvPr/>
        </p:nvSpPr>
        <p:spPr>
          <a:xfrm>
            <a:off x="4782312"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الأُطْرُوحَةُ</a:t>
            </a:r>
            <a:endParaRPr lang="ar-SA" sz="3000" dirty="0"/>
          </a:p>
        </p:txBody>
      </p:sp>
      <p:sp>
        <p:nvSpPr>
          <p:cNvPr id="28" name="Text 25"/>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thesis</a:t>
            </a:r>
            <a:endParaRPr lang="en-US" sz="1350" dirty="0"/>
          </a:p>
          <a:p>
            <a:pPr indent="0" marL="0">
              <a:buNone/>
            </a:pPr>
            <a:r>
              <a:rPr lang="en-US" sz="1100" i="1" dirty="0">
                <a:solidFill>
                  <a:srgbClr val="5A6472"/>
                </a:solidFill>
                <a:latin typeface="Calibri" pitchFamily="34" charset="0"/>
                <a:cs typeface="Amiri" pitchFamily="2" charset="-78"/>
              </a:rPr>
              <a:t>al-uṭ-rū-ḥa-tu</a:t>
            </a:r>
            <a:endParaRPr lang="en-US" sz="1350" dirty="0"/>
          </a:p>
        </p:txBody>
      </p:sp>
      <p:sp>
        <p:nvSpPr>
          <p:cNvPr id="29" name="Shape 26"/>
          <p:cNvSpPr/>
          <p:nvPr/>
        </p:nvSpPr>
        <p:spPr>
          <a:xfrm>
            <a:off x="4416552" y="3438144"/>
            <a:ext cx="3364992" cy="438912"/>
          </a:xfrm>
          <a:prstGeom prst="roundRect">
            <a:avLst>
              <a:gd name="adj" fmla="val 10417"/>
            </a:avLst>
          </a:prstGeom>
          <a:solidFill>
            <a:srgbClr val="F4F1EA"/>
          </a:solidFill>
          <a:ln w="9525">
            <a:solidFill>
              <a:srgbClr val="F4F1EA"/>
            </a:solidFill>
            <a:prstDash val="solid"/>
          </a:ln>
        </p:spPr>
      </p:sp>
      <p:sp>
        <p:nvSpPr>
          <p:cNvPr id="30" name="Text 27"/>
          <p:cNvSpPr txBox="1"/>
          <p:nvPr/>
        </p:nvSpPr>
        <p:spPr>
          <a:xfrm>
            <a:off x="4471416"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31" name="Text 28"/>
          <p:cNvSpPr txBox="1"/>
          <p:nvPr/>
        </p:nvSpPr>
        <p:spPr>
          <a:xfrm>
            <a:off x="4462272"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الأُطْرُوحَاتُ</a:t>
            </a:r>
            <a:endParaRPr lang="ar-SA" sz="1500" dirty="0"/>
          </a:p>
        </p:txBody>
      </p:sp>
      <p:sp>
        <p:nvSpPr>
          <p:cNvPr id="32" name="Shape 29"/>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566928" y="1920240"/>
            <a:ext cx="310896" cy="310896"/>
          </a:xfrm>
          <a:prstGeom prst="ellipse">
            <a:avLst/>
          </a:prstGeom>
          <a:solidFill>
            <a:srgbClr val="F4F1EA"/>
          </a:solidFill>
          <a:ln w="12700">
            <a:solidFill>
              <a:srgbClr val="F4F1EA"/>
            </a:solidFill>
            <a:prstDash val="solid"/>
          </a:ln>
        </p:spPr>
      </p:sp>
      <p:sp>
        <p:nvSpPr>
          <p:cNvPr id="34" name="Text 31"/>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5" name="Shape 32"/>
          <p:cNvSpPr/>
          <p:nvPr/>
        </p:nvSpPr>
        <p:spPr>
          <a:xfrm>
            <a:off x="960120" y="1938528"/>
            <a:ext cx="709574" cy="256032"/>
          </a:xfrm>
          <a:prstGeom prst="roundRect">
            <a:avLst>
              <a:gd name="adj" fmla="val 50000"/>
            </a:avLst>
          </a:prstGeom>
          <a:solidFill>
            <a:srgbClr val="EFE7D2"/>
          </a:solidFill>
          <a:ln w="12700">
            <a:solidFill>
              <a:srgbClr val="EFE7D2"/>
            </a:solidFill>
            <a:prstDash val="solid"/>
          </a:ln>
        </p:spPr>
      </p:sp>
      <p:sp>
        <p:nvSpPr>
          <p:cNvPr id="36" name="Text 33"/>
          <p:cNvSpPr txBox="1"/>
          <p:nvPr/>
        </p:nvSpPr>
        <p:spPr>
          <a:xfrm>
            <a:off x="960120"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37" name="Shape 34"/>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8" name="Text 35"/>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9" name="Text 36"/>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إِشَارَةُ التَّسْلِيمِ</a:t>
            </a:r>
            <a:endParaRPr lang="ar-SA" sz="3000" dirty="0"/>
          </a:p>
        </p:txBody>
      </p:sp>
      <p:sp>
        <p:nvSpPr>
          <p:cNvPr id="40" name="Text 37"/>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concession signal</a:t>
            </a:r>
            <a:endParaRPr lang="en-US" sz="1350" dirty="0"/>
          </a:p>
          <a:p>
            <a:pPr indent="0" marL="0">
              <a:buNone/>
            </a:pPr>
            <a:r>
              <a:rPr lang="en-US" sz="1100" i="1" dirty="0">
                <a:solidFill>
                  <a:srgbClr val="5A6472"/>
                </a:solidFill>
                <a:latin typeface="Calibri" pitchFamily="34" charset="0"/>
                <a:cs typeface="Amiri" pitchFamily="2" charset="-78"/>
              </a:rPr>
              <a:t>i-shā-ra-tu at-tas-lī-mi</a:t>
            </a:r>
            <a:endParaRPr lang="en-US" sz="1350" dirty="0"/>
          </a:p>
        </p:txBody>
      </p:sp>
      <p:sp>
        <p:nvSpPr>
          <p:cNvPr id="41" name="Shape 38"/>
          <p:cNvSpPr/>
          <p:nvPr/>
        </p:nvSpPr>
        <p:spPr>
          <a:xfrm>
            <a:off x="594360" y="3438144"/>
            <a:ext cx="3364992" cy="438912"/>
          </a:xfrm>
          <a:prstGeom prst="roundRect">
            <a:avLst>
              <a:gd name="adj" fmla="val 10417"/>
            </a:avLst>
          </a:prstGeom>
          <a:solidFill>
            <a:srgbClr val="F4F1EA"/>
          </a:solidFill>
          <a:ln w="9525">
            <a:solidFill>
              <a:srgbClr val="F4F1EA"/>
            </a:solidFill>
            <a:prstDash val="solid"/>
          </a:ln>
        </p:spPr>
      </p:sp>
      <p:sp>
        <p:nvSpPr>
          <p:cNvPr id="42" name="Text 39"/>
          <p:cNvSpPr txBox="1"/>
          <p:nvPr/>
        </p:nvSpPr>
        <p:spPr>
          <a:xfrm>
            <a:off x="649224"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43" name="Text 40"/>
          <p:cNvSpPr txBox="1"/>
          <p:nvPr/>
        </p:nvSpPr>
        <p:spPr>
          <a:xfrm>
            <a:off x="640080"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إِشَارَاتُ التَّسْلِيمِ</a:t>
            </a:r>
            <a:endParaRPr lang="ar-SA" sz="1500" dirty="0"/>
          </a:p>
        </p:txBody>
      </p:sp>
      <p:sp>
        <p:nvSpPr>
          <p:cNvPr id="44" name="Shape 41"/>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5" name="Shape 42"/>
          <p:cNvSpPr/>
          <p:nvPr/>
        </p:nvSpPr>
        <p:spPr>
          <a:xfrm>
            <a:off x="8211312" y="4261104"/>
            <a:ext cx="310896" cy="310896"/>
          </a:xfrm>
          <a:prstGeom prst="ellipse">
            <a:avLst/>
          </a:prstGeom>
          <a:solidFill>
            <a:srgbClr val="F4F1EA"/>
          </a:solidFill>
          <a:ln w="12700">
            <a:solidFill>
              <a:srgbClr val="F4F1EA"/>
            </a:solidFill>
            <a:prstDash val="solid"/>
          </a:ln>
        </p:spPr>
      </p:sp>
      <p:sp>
        <p:nvSpPr>
          <p:cNvPr id="46" name="Text 43"/>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47" name="Shape 44"/>
          <p:cNvSpPr/>
          <p:nvPr/>
        </p:nvSpPr>
        <p:spPr>
          <a:xfrm>
            <a:off x="8604504" y="4279392"/>
            <a:ext cx="1020470" cy="256032"/>
          </a:xfrm>
          <a:prstGeom prst="roundRect">
            <a:avLst>
              <a:gd name="adj" fmla="val 50000"/>
            </a:avLst>
          </a:prstGeom>
          <a:solidFill>
            <a:srgbClr val="EFE7D2"/>
          </a:solidFill>
          <a:ln w="12700">
            <a:solidFill>
              <a:srgbClr val="EFE7D2"/>
            </a:solidFill>
            <a:prstDash val="solid"/>
          </a:ln>
        </p:spPr>
      </p:sp>
      <p:sp>
        <p:nvSpPr>
          <p:cNvPr id="48" name="Text 45"/>
          <p:cNvSpPr txBox="1"/>
          <p:nvPr/>
        </p:nvSpPr>
        <p:spPr>
          <a:xfrm>
            <a:off x="8604504" y="4279392"/>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ghayra anna.</a:t>
            </a:r>
            <a:endParaRPr lang="en-US" sz="800" dirty="0"/>
          </a:p>
        </p:txBody>
      </p:sp>
      <p:sp>
        <p:nvSpPr>
          <p:cNvPr id="49" name="Shape 46"/>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50" name="Text 47"/>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1" name="Text 48"/>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إِشَارَةُ الرَّدِّ</a:t>
            </a:r>
            <a:endParaRPr lang="ar-SA" sz="3000" dirty="0"/>
          </a:p>
        </p:txBody>
      </p:sp>
      <p:sp>
        <p:nvSpPr>
          <p:cNvPr id="52" name="Text 49"/>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refutation signal</a:t>
            </a:r>
            <a:endParaRPr lang="en-US" sz="1350" dirty="0"/>
          </a:p>
          <a:p>
            <a:pPr indent="0" marL="0">
              <a:buNone/>
            </a:pPr>
            <a:r>
              <a:rPr lang="en-US" sz="1100" i="1" dirty="0">
                <a:solidFill>
                  <a:srgbClr val="5A6472"/>
                </a:solidFill>
                <a:latin typeface="Calibri" pitchFamily="34" charset="0"/>
                <a:cs typeface="Amiri" pitchFamily="2" charset="-78"/>
              </a:rPr>
              <a:t>i-shā-ra-tu ar-rad-di</a:t>
            </a:r>
            <a:endParaRPr lang="en-US" sz="1350" dirty="0"/>
          </a:p>
        </p:txBody>
      </p:sp>
      <p:sp>
        <p:nvSpPr>
          <p:cNvPr id="53" name="Text 5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50</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P5-L10 · Listening Skills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00" b="1" dirty="0">
                <a:solidFill>
                  <a:srgbClr val="1B3B6F"/>
                </a:solidFill>
                <a:latin typeface="Cambria" pitchFamily="34" charset="0"/>
                <a:cs typeface="Amiri" pitchFamily="2" charset="-78"/>
              </a:rPr>
              <a:t>Listening for argument structure (2 of 2)</a:t>
            </a:r>
            <a:endParaRPr lang="en-US" sz="22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P5-L10</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18" name="Shape 15"/>
          <p:cNvSpPr/>
          <p:nvPr/>
        </p:nvSpPr>
        <p:spPr>
          <a:xfrm>
            <a:off x="8604504" y="1938528"/>
            <a:ext cx="704088"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مَوْقِفُ المُتَحَدِّثِ</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speaker's position</a:t>
            </a:r>
            <a:endParaRPr lang="en-US" sz="1350" dirty="0"/>
          </a:p>
          <a:p>
            <a:pPr indent="0" marL="0">
              <a:buNone/>
            </a:pPr>
            <a:r>
              <a:rPr lang="en-US" sz="1100" i="1" dirty="0">
                <a:solidFill>
                  <a:srgbClr val="5A6472"/>
                </a:solidFill>
                <a:latin typeface="Calibri" pitchFamily="34" charset="0"/>
                <a:cs typeface="Amiri" pitchFamily="2" charset="-78"/>
              </a:rPr>
              <a:t>maw-qi-fu al-mu-ta-ḥad-di-thi</a:t>
            </a:r>
            <a:endParaRPr lang="en-US" sz="1350" dirty="0"/>
          </a:p>
        </p:txBody>
      </p:sp>
      <p:sp>
        <p:nvSpPr>
          <p:cNvPr id="24" name="Shape 21"/>
          <p:cNvSpPr/>
          <p:nvPr/>
        </p:nvSpPr>
        <p:spPr>
          <a:xfrm>
            <a:off x="8238744" y="3438144"/>
            <a:ext cx="3364992"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8293608"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26" name="Text 23"/>
          <p:cNvSpPr txBox="1"/>
          <p:nvPr/>
        </p:nvSpPr>
        <p:spPr>
          <a:xfrm>
            <a:off x="8284464"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مَوْقِفُ المُتَحَدِّثَةِ</a:t>
            </a:r>
            <a:endParaRPr lang="ar-SA" sz="1500" dirty="0"/>
          </a:p>
        </p:txBody>
      </p:sp>
      <p:sp>
        <p:nvSpPr>
          <p:cNvPr id="27" name="Shape 24"/>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4389120"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30" name="Shape 27"/>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1" name="Text 28"/>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2" name="Text 29"/>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التَّنَبُّؤُ بِمَا يَلِي</a:t>
            </a:r>
            <a:endParaRPr lang="ar-SA" sz="3000" dirty="0"/>
          </a:p>
        </p:txBody>
      </p:sp>
      <p:sp>
        <p:nvSpPr>
          <p:cNvPr id="33" name="Text 30"/>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predicting what follows</a:t>
            </a:r>
            <a:endParaRPr lang="en-US" sz="1350" dirty="0"/>
          </a:p>
          <a:p>
            <a:pPr indent="0" marL="0">
              <a:buNone/>
            </a:pPr>
            <a:r>
              <a:rPr lang="en-US" sz="1100" i="1" dirty="0">
                <a:solidFill>
                  <a:srgbClr val="5A6472"/>
                </a:solidFill>
                <a:latin typeface="Calibri" pitchFamily="34" charset="0"/>
                <a:cs typeface="Amiri" pitchFamily="2" charset="-78"/>
              </a:rPr>
              <a:t>at-ta-nab-bu-ʾu bi-mā ya-lī</a:t>
            </a:r>
            <a:endParaRPr lang="en-US" sz="1350" dirty="0"/>
          </a:p>
        </p:txBody>
      </p:sp>
      <p:sp>
        <p:nvSpPr>
          <p:cNvPr id="34" name="Shape 31"/>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566928" y="1920240"/>
            <a:ext cx="310896" cy="310896"/>
          </a:xfrm>
          <a:prstGeom prst="ellipse">
            <a:avLst/>
          </a:prstGeom>
          <a:solidFill>
            <a:srgbClr val="F4F1EA"/>
          </a:solidFill>
          <a:ln w="12700">
            <a:solidFill>
              <a:srgbClr val="F4F1EA"/>
            </a:solidFill>
            <a:prstDash val="solid"/>
          </a:ln>
        </p:spPr>
      </p:sp>
      <p:sp>
        <p:nvSpPr>
          <p:cNvPr id="36" name="Text 33"/>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37" name="Shape 34"/>
          <p:cNvSpPr/>
          <p:nvPr/>
        </p:nvSpPr>
        <p:spPr>
          <a:xfrm>
            <a:off x="960120" y="1938528"/>
            <a:ext cx="704088" cy="256032"/>
          </a:xfrm>
          <a:prstGeom prst="roundRect">
            <a:avLst>
              <a:gd name="adj" fmla="val 50000"/>
            </a:avLst>
          </a:prstGeom>
          <a:solidFill>
            <a:srgbClr val="EFE7D2"/>
          </a:solidFill>
          <a:ln w="12700">
            <a:solidFill>
              <a:srgbClr val="EFE7D2"/>
            </a:solidFill>
            <a:prstDash val="solid"/>
          </a:ln>
        </p:spPr>
      </p:sp>
      <p:sp>
        <p:nvSpPr>
          <p:cNvPr id="38" name="Text 35"/>
          <p:cNvSpPr txBox="1"/>
          <p:nvPr/>
        </p:nvSpPr>
        <p:spPr>
          <a:xfrm>
            <a:off x="960120"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a:t>
            </a:r>
            <a:endParaRPr lang="en-US" sz="800" dirty="0"/>
          </a:p>
        </p:txBody>
      </p:sp>
      <p:sp>
        <p:nvSpPr>
          <p:cNvPr id="39" name="Shape 36"/>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1" name="Text 38"/>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مُتَوَازِنٌ</a:t>
            </a:r>
            <a:endParaRPr lang="ar-SA" sz="3000" dirty="0"/>
          </a:p>
        </p:txBody>
      </p:sp>
      <p:sp>
        <p:nvSpPr>
          <p:cNvPr id="42" name="Text 39"/>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balanced</a:t>
            </a:r>
            <a:endParaRPr lang="en-US" sz="1350" dirty="0"/>
          </a:p>
          <a:p>
            <a:pPr indent="0" marL="0">
              <a:buNone/>
            </a:pPr>
            <a:r>
              <a:rPr lang="en-US" sz="1100" i="1" dirty="0">
                <a:solidFill>
                  <a:srgbClr val="5A6472"/>
                </a:solidFill>
                <a:latin typeface="Calibri" pitchFamily="34" charset="0"/>
                <a:cs typeface="Amiri" pitchFamily="2" charset="-78"/>
              </a:rPr>
              <a:t>mu-ta-wā-zi-nun</a:t>
            </a:r>
            <a:endParaRPr lang="en-US" sz="1350" dirty="0"/>
          </a:p>
        </p:txBody>
      </p:sp>
      <p:sp>
        <p:nvSpPr>
          <p:cNvPr id="43" name="Shape 40"/>
          <p:cNvSpPr/>
          <p:nvPr/>
        </p:nvSpPr>
        <p:spPr>
          <a:xfrm>
            <a:off x="594360" y="3438144"/>
            <a:ext cx="3364992" cy="438912"/>
          </a:xfrm>
          <a:prstGeom prst="roundRect">
            <a:avLst>
              <a:gd name="adj" fmla="val 10417"/>
            </a:avLst>
          </a:prstGeom>
          <a:solidFill>
            <a:srgbClr val="F4F1EA"/>
          </a:solidFill>
          <a:ln w="9525">
            <a:solidFill>
              <a:srgbClr val="F4F1EA"/>
            </a:solidFill>
            <a:prstDash val="solid"/>
          </a:ln>
        </p:spPr>
      </p:sp>
      <p:sp>
        <p:nvSpPr>
          <p:cNvPr id="44" name="Text 41"/>
          <p:cNvSpPr txBox="1"/>
          <p:nvPr/>
        </p:nvSpPr>
        <p:spPr>
          <a:xfrm>
            <a:off x="649224"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45" name="Text 42"/>
          <p:cNvSpPr txBox="1"/>
          <p:nvPr/>
        </p:nvSpPr>
        <p:spPr>
          <a:xfrm>
            <a:off x="640080"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مُتَوَازِنَةٌ</a:t>
            </a:r>
            <a:endParaRPr lang="ar-SA" sz="1500" dirty="0"/>
          </a:p>
        </p:txBody>
      </p:sp>
      <p:sp>
        <p:nvSpPr>
          <p:cNvPr id="46" name="Shape 4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4"/>
          <p:cNvSpPr/>
          <p:nvPr/>
        </p:nvSpPr>
        <p:spPr>
          <a:xfrm>
            <a:off x="8211312" y="4261104"/>
            <a:ext cx="310896" cy="310896"/>
          </a:xfrm>
          <a:prstGeom prst="ellipse">
            <a:avLst/>
          </a:prstGeom>
          <a:solidFill>
            <a:srgbClr val="F4F1EA"/>
          </a:solidFill>
          <a:ln w="12700">
            <a:solidFill>
              <a:srgbClr val="F4F1EA"/>
            </a:solidFill>
            <a:prstDash val="solid"/>
          </a:ln>
        </p:spPr>
      </p:sp>
      <p:sp>
        <p:nvSpPr>
          <p:cNvPr id="48" name="Text 4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49" name="Shape 46"/>
          <p:cNvSpPr/>
          <p:nvPr/>
        </p:nvSpPr>
        <p:spPr>
          <a:xfrm>
            <a:off x="8604504" y="4279392"/>
            <a:ext cx="704088" cy="256032"/>
          </a:xfrm>
          <a:prstGeom prst="roundRect">
            <a:avLst>
              <a:gd name="adj" fmla="val 50000"/>
            </a:avLst>
          </a:prstGeom>
          <a:solidFill>
            <a:srgbClr val="EFE7D2"/>
          </a:solidFill>
          <a:ln w="12700">
            <a:solidFill>
              <a:srgbClr val="EFE7D2"/>
            </a:solidFill>
            <a:prstDash val="solid"/>
          </a:ln>
        </p:spPr>
      </p:sp>
      <p:sp>
        <p:nvSpPr>
          <p:cNvPr id="50" name="Text 47"/>
          <p:cNvSpPr txBox="1"/>
          <p:nvPr/>
        </p:nvSpPr>
        <p:spPr>
          <a:xfrm>
            <a:off x="8604504"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a:t>
            </a:r>
            <a:endParaRPr lang="en-US" sz="800" dirty="0"/>
          </a:p>
        </p:txBody>
      </p:sp>
      <p:sp>
        <p:nvSpPr>
          <p:cNvPr id="51" name="Shape 48"/>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52" name="Text 49"/>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3" name="Text 50"/>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مُنْحَازٌ</a:t>
            </a:r>
            <a:endParaRPr lang="ar-SA" sz="3000" dirty="0"/>
          </a:p>
        </p:txBody>
      </p:sp>
      <p:sp>
        <p:nvSpPr>
          <p:cNvPr id="54" name="Text 51"/>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partisan / one-sided</a:t>
            </a:r>
            <a:endParaRPr lang="en-US" sz="1350" dirty="0"/>
          </a:p>
          <a:p>
            <a:pPr indent="0" marL="0">
              <a:buNone/>
            </a:pPr>
            <a:r>
              <a:rPr lang="en-US" sz="1100" i="1" dirty="0">
                <a:solidFill>
                  <a:srgbClr val="5A6472"/>
                </a:solidFill>
                <a:latin typeface="Calibri" pitchFamily="34" charset="0"/>
                <a:cs typeface="Amiri" pitchFamily="2" charset="-78"/>
              </a:rPr>
              <a:t>mun-ḥā-zun</a:t>
            </a:r>
            <a:endParaRPr lang="en-US" sz="1350" dirty="0"/>
          </a:p>
        </p:txBody>
      </p:sp>
      <p:sp>
        <p:nvSpPr>
          <p:cNvPr id="55" name="Shape 52"/>
          <p:cNvSpPr/>
          <p:nvPr/>
        </p:nvSpPr>
        <p:spPr>
          <a:xfrm>
            <a:off x="8238744" y="5779008"/>
            <a:ext cx="3364992" cy="438912"/>
          </a:xfrm>
          <a:prstGeom prst="roundRect">
            <a:avLst>
              <a:gd name="adj" fmla="val 10417"/>
            </a:avLst>
          </a:prstGeom>
          <a:solidFill>
            <a:srgbClr val="F4F1EA"/>
          </a:solidFill>
          <a:ln w="9525">
            <a:solidFill>
              <a:srgbClr val="F4F1EA"/>
            </a:solidFill>
            <a:prstDash val="solid"/>
          </a:ln>
        </p:spPr>
      </p:sp>
      <p:sp>
        <p:nvSpPr>
          <p:cNvPr id="56" name="Text 53"/>
          <p:cNvSpPr txBox="1"/>
          <p:nvPr/>
        </p:nvSpPr>
        <p:spPr>
          <a:xfrm>
            <a:off x="8293608" y="5788152"/>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57" name="Text 54"/>
          <p:cNvSpPr txBox="1"/>
          <p:nvPr/>
        </p:nvSpPr>
        <p:spPr>
          <a:xfrm>
            <a:off x="8284464" y="5824728"/>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مُنْحَازَةٌ</a:t>
            </a:r>
            <a:endParaRPr lang="ar-SA" sz="150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50</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P5-L10 · Listening Skills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Social issues content heard (1 of 2)</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P5-L10</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التَّفَاوُتُ الاجْتِمَاعِيُّ</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social inequality</a:t>
            </a:r>
            <a:endParaRPr lang="en-US" sz="1350" dirty="0"/>
          </a:p>
          <a:p>
            <a:pPr indent="0" marL="0">
              <a:buNone/>
            </a:pPr>
            <a:r>
              <a:rPr lang="en-US" sz="1100" i="1" dirty="0">
                <a:solidFill>
                  <a:srgbClr val="5A6472"/>
                </a:solidFill>
                <a:latin typeface="Calibri" pitchFamily="34" charset="0"/>
                <a:cs typeface="Amiri" pitchFamily="2" charset="-78"/>
              </a:rPr>
              <a:t>at-ta-fā-wu-tu alj-ti-mā-ʿiy-yu</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الفَجْوَةُ الرَّقْمِيَّةُ</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digital divide</a:t>
            </a:r>
            <a:endParaRPr lang="en-US" sz="1350" dirty="0"/>
          </a:p>
          <a:p>
            <a:pPr indent="0" marL="0">
              <a:buNone/>
            </a:pPr>
            <a:r>
              <a:rPr lang="en-US" sz="1100" i="1" dirty="0">
                <a:solidFill>
                  <a:srgbClr val="5A6472"/>
                </a:solidFill>
                <a:latin typeface="Calibri" pitchFamily="34" charset="0"/>
                <a:cs typeface="Amiri" pitchFamily="2" charset="-78"/>
              </a:rPr>
              <a:t>al-faj-wa-tu ar-raq-miy-ya-tu</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30" name="Text 2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تَمْكِينُ الشَّبَابِ</a:t>
            </a:r>
            <a:endParaRPr lang="ar-SA" sz="3000" dirty="0"/>
          </a:p>
        </p:txBody>
      </p:sp>
      <p:sp>
        <p:nvSpPr>
          <p:cNvPr id="31" name="Text 2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youth empowerment</a:t>
            </a:r>
            <a:endParaRPr lang="en-US" sz="1350" dirty="0"/>
          </a:p>
          <a:p>
            <a:pPr indent="0" marL="0">
              <a:buNone/>
            </a:pPr>
            <a:r>
              <a:rPr lang="en-US" sz="1100" i="1" dirty="0">
                <a:solidFill>
                  <a:srgbClr val="5A6472"/>
                </a:solidFill>
                <a:latin typeface="Calibri" pitchFamily="34" charset="0"/>
                <a:cs typeface="Amiri" pitchFamily="2" charset="-78"/>
              </a:rPr>
              <a:t>tam-kī-nu ash-sha-bā-bi</a:t>
            </a:r>
            <a:endParaRPr lang="en-US" sz="1350" dirty="0"/>
          </a:p>
        </p:txBody>
      </p:sp>
      <p:sp>
        <p:nvSpPr>
          <p:cNvPr id="32" name="Shape 2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8211312" y="4261104"/>
            <a:ext cx="310896" cy="310896"/>
          </a:xfrm>
          <a:prstGeom prst="ellipse">
            <a:avLst/>
          </a:prstGeom>
          <a:solidFill>
            <a:srgbClr val="F4F1EA"/>
          </a:solidFill>
          <a:ln w="12700">
            <a:solidFill>
              <a:srgbClr val="F4F1EA"/>
            </a:solidFill>
            <a:prstDash val="solid"/>
          </a:ln>
        </p:spPr>
      </p:sp>
      <p:sp>
        <p:nvSpPr>
          <p:cNvPr id="34" name="Text 3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35" name="Shape 32"/>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7" name="Text 34"/>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العَدَالَةُ الاجْتِمَاعِيَّةُ</a:t>
            </a:r>
            <a:endParaRPr lang="ar-SA" sz="3000" dirty="0"/>
          </a:p>
        </p:txBody>
      </p:sp>
      <p:sp>
        <p:nvSpPr>
          <p:cNvPr id="38" name="Text 35"/>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social justice</a:t>
            </a:r>
            <a:endParaRPr lang="en-US" sz="1350" dirty="0"/>
          </a:p>
          <a:p>
            <a:pPr indent="0" marL="0">
              <a:buNone/>
            </a:pPr>
            <a:r>
              <a:rPr lang="en-US" sz="1100" i="1" dirty="0">
                <a:solidFill>
                  <a:srgbClr val="5A6472"/>
                </a:solidFill>
                <a:latin typeface="Calibri" pitchFamily="34" charset="0"/>
                <a:cs typeface="Amiri" pitchFamily="2" charset="-78"/>
              </a:rPr>
              <a:t>al-ʿa-dā-la-tu alj-ti-mā-ʿiy-ya-tu</a:t>
            </a:r>
            <a:endParaRPr lang="en-US" sz="135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50</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P5-L10 · Listening Skills</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Social issues content heard (2 of 2)</a:t>
            </a:r>
            <a:endParaRPr lang="en-US" sz="265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P5-L10</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13</a:t>
            </a:r>
            <a:endParaRPr lang="en-US" sz="1000" dirty="0"/>
          </a:p>
        </p:txBody>
      </p:sp>
      <p:sp>
        <p:nvSpPr>
          <p:cNvPr id="20" name="Shape 17"/>
          <p:cNvSpPr/>
          <p:nvPr/>
        </p:nvSpPr>
        <p:spPr>
          <a:xfrm>
            <a:off x="8604504" y="1938528"/>
            <a:ext cx="709574" cy="256032"/>
          </a:xfrm>
          <a:prstGeom prst="roundRect">
            <a:avLst>
              <a:gd name="adj" fmla="val 50000"/>
            </a:avLst>
          </a:prstGeom>
          <a:solidFill>
            <a:srgbClr val="EFE7D2"/>
          </a:solidFill>
          <a:ln w="12700">
            <a:solidFill>
              <a:srgbClr val="EFE7D2"/>
            </a:solidFill>
            <a:prstDash val="solid"/>
          </a:ln>
        </p:spPr>
      </p:sp>
      <p:sp>
        <p:nvSpPr>
          <p:cNvPr id="21" name="Text 18"/>
          <p:cNvSpPr txBox="1"/>
          <p:nvPr/>
        </p:nvSpPr>
        <p:spPr>
          <a:xfrm>
            <a:off x="8604504"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pl · sg</a:t>
            </a:r>
            <a:endParaRPr lang="en-US" sz="800" dirty="0"/>
          </a:p>
        </p:txBody>
      </p:sp>
      <p:sp>
        <p:nvSpPr>
          <p:cNvPr id="22" name="Shape 19"/>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3" name="Text 20"/>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4" name="Text 21"/>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الإِصْلَاحَاتُ</a:t>
            </a:r>
            <a:endParaRPr lang="ar-SA" sz="3000" dirty="0"/>
          </a:p>
        </p:txBody>
      </p:sp>
      <p:sp>
        <p:nvSpPr>
          <p:cNvPr id="25" name="Text 22"/>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reforms</a:t>
            </a:r>
            <a:endParaRPr lang="en-US" sz="1350" dirty="0"/>
          </a:p>
          <a:p>
            <a:pPr indent="0" marL="0">
              <a:buNone/>
            </a:pPr>
            <a:r>
              <a:rPr lang="en-US" sz="1100" i="1" dirty="0">
                <a:solidFill>
                  <a:srgbClr val="5A6472"/>
                </a:solidFill>
                <a:latin typeface="Calibri" pitchFamily="34" charset="0"/>
                <a:cs typeface="Amiri" pitchFamily="2" charset="-78"/>
              </a:rPr>
              <a:t>al-iṣ-lā-ḥā-tu</a:t>
            </a:r>
            <a:endParaRPr lang="en-US" sz="1350" dirty="0"/>
          </a:p>
        </p:txBody>
      </p:sp>
      <p:sp>
        <p:nvSpPr>
          <p:cNvPr id="26" name="Shape 23"/>
          <p:cNvSpPr/>
          <p:nvPr/>
        </p:nvSpPr>
        <p:spPr>
          <a:xfrm>
            <a:off x="8238744" y="3438144"/>
            <a:ext cx="3364992" cy="438912"/>
          </a:xfrm>
          <a:prstGeom prst="roundRect">
            <a:avLst>
              <a:gd name="adj" fmla="val 10417"/>
            </a:avLst>
          </a:prstGeom>
          <a:solidFill>
            <a:srgbClr val="F4F1EA"/>
          </a:solidFill>
          <a:ln w="9525">
            <a:solidFill>
              <a:srgbClr val="F4F1EA"/>
            </a:solidFill>
            <a:prstDash val="solid"/>
          </a:ln>
        </p:spPr>
      </p:sp>
      <p:sp>
        <p:nvSpPr>
          <p:cNvPr id="27" name="Text 24"/>
          <p:cNvSpPr txBox="1"/>
          <p:nvPr/>
        </p:nvSpPr>
        <p:spPr>
          <a:xfrm>
            <a:off x="8293608"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sg.</a:t>
            </a:r>
            <a:endParaRPr lang="en-US" sz="750" dirty="0"/>
          </a:p>
        </p:txBody>
      </p:sp>
      <p:sp>
        <p:nvSpPr>
          <p:cNvPr id="28" name="Text 25"/>
          <p:cNvSpPr txBox="1"/>
          <p:nvPr/>
        </p:nvSpPr>
        <p:spPr>
          <a:xfrm>
            <a:off x="8284464"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إِصْلَاحٌ</a:t>
            </a:r>
            <a:endParaRPr lang="ar-SA" sz="1500" dirty="0"/>
          </a:p>
        </p:txBody>
      </p:sp>
      <p:sp>
        <p:nvSpPr>
          <p:cNvPr id="29" name="Shape 26"/>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4389120"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14</a:t>
            </a:r>
            <a:endParaRPr lang="en-US" sz="1000" dirty="0"/>
          </a:p>
        </p:txBody>
      </p:sp>
      <p:sp>
        <p:nvSpPr>
          <p:cNvPr id="32" name="Shape 29"/>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الحَاجَةُ المُلِحَّةُ</a:t>
            </a:r>
            <a:endParaRPr lang="ar-SA" sz="3000" dirty="0"/>
          </a:p>
        </p:txBody>
      </p:sp>
      <p:sp>
        <p:nvSpPr>
          <p:cNvPr id="35" name="Text 32"/>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pressing need</a:t>
            </a:r>
            <a:endParaRPr lang="en-US" sz="1350" dirty="0"/>
          </a:p>
          <a:p>
            <a:pPr indent="0" marL="0">
              <a:buNone/>
            </a:pPr>
            <a:r>
              <a:rPr lang="en-US" sz="1100" i="1" dirty="0">
                <a:solidFill>
                  <a:srgbClr val="5A6472"/>
                </a:solidFill>
                <a:latin typeface="Calibri" pitchFamily="34" charset="0"/>
                <a:cs typeface="Amiri" pitchFamily="2" charset="-78"/>
              </a:rPr>
              <a:t>al-ḥā-ja-tu al-mu-liḥ-ḥa-tu</a:t>
            </a:r>
            <a:endParaRPr lang="en-US" sz="1350" dirty="0"/>
          </a:p>
        </p:txBody>
      </p:sp>
      <p:sp>
        <p:nvSpPr>
          <p:cNvPr id="36" name="Shape 33"/>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566928" y="1920240"/>
            <a:ext cx="310896" cy="310896"/>
          </a:xfrm>
          <a:prstGeom prst="ellipse">
            <a:avLst/>
          </a:prstGeom>
          <a:solidFill>
            <a:srgbClr val="F4F1EA"/>
          </a:solidFill>
          <a:ln w="12700">
            <a:solidFill>
              <a:srgbClr val="F4F1EA"/>
            </a:solidFill>
            <a:prstDash val="solid"/>
          </a:ln>
        </p:spPr>
      </p:sp>
      <p:sp>
        <p:nvSpPr>
          <p:cNvPr id="38" name="Text 35"/>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15</a:t>
            </a:r>
            <a:endParaRPr lang="en-US" sz="1000" dirty="0"/>
          </a:p>
        </p:txBody>
      </p:sp>
      <p:sp>
        <p:nvSpPr>
          <p:cNvPr id="39" name="Shape 36"/>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1" name="Text 38"/>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الاسْتِقْرَارُ الاجْتِمَاعِيُّ</a:t>
            </a:r>
            <a:endParaRPr lang="ar-SA" sz="3000" dirty="0"/>
          </a:p>
        </p:txBody>
      </p:sp>
      <p:sp>
        <p:nvSpPr>
          <p:cNvPr id="42" name="Text 39"/>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social stability</a:t>
            </a:r>
            <a:endParaRPr lang="en-US" sz="1350" dirty="0"/>
          </a:p>
          <a:p>
            <a:pPr indent="0" marL="0">
              <a:buNone/>
            </a:pPr>
            <a:r>
              <a:rPr lang="en-US" sz="1100" i="1" dirty="0">
                <a:solidFill>
                  <a:srgbClr val="5A6472"/>
                </a:solidFill>
                <a:latin typeface="Calibri" pitchFamily="34" charset="0"/>
                <a:cs typeface="Amiri" pitchFamily="2" charset="-78"/>
              </a:rPr>
              <a:t>als-tiq-rā-ru alj-ti-mā-ʿiy-yu</a:t>
            </a:r>
            <a:endParaRPr lang="en-US" sz="1350" dirty="0"/>
          </a:p>
        </p:txBody>
      </p:sp>
      <p:sp>
        <p:nvSpPr>
          <p:cNvPr id="43" name="Shape 40"/>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11312" y="4261104"/>
            <a:ext cx="310896" cy="310896"/>
          </a:xfrm>
          <a:prstGeom prst="ellipse">
            <a:avLst/>
          </a:prstGeom>
          <a:solidFill>
            <a:srgbClr val="F4F1EA"/>
          </a:solidFill>
          <a:ln w="12700">
            <a:solidFill>
              <a:srgbClr val="F4F1EA"/>
            </a:solidFill>
            <a:prstDash val="solid"/>
          </a:ln>
        </p:spPr>
      </p:sp>
      <p:sp>
        <p:nvSpPr>
          <p:cNvPr id="45" name="Text 42"/>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16</a:t>
            </a:r>
            <a:endParaRPr lang="en-US" sz="1000" dirty="0"/>
          </a:p>
        </p:txBody>
      </p:sp>
      <p:sp>
        <p:nvSpPr>
          <p:cNvPr id="46" name="Text 43"/>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حُقُوقُ الإِنْسَانِ</a:t>
            </a:r>
            <a:endParaRPr lang="ar-SA" sz="3000" dirty="0"/>
          </a:p>
        </p:txBody>
      </p:sp>
      <p:sp>
        <p:nvSpPr>
          <p:cNvPr id="47" name="Text 44"/>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human rights</a:t>
            </a:r>
            <a:endParaRPr lang="en-US" sz="1350" dirty="0"/>
          </a:p>
          <a:p>
            <a:pPr indent="0" marL="0">
              <a:buNone/>
            </a:pPr>
            <a:r>
              <a:rPr lang="en-US" sz="1100" i="1" dirty="0">
                <a:solidFill>
                  <a:srgbClr val="5A6472"/>
                </a:solidFill>
                <a:latin typeface="Calibri" pitchFamily="34" charset="0"/>
                <a:cs typeface="Amiri" pitchFamily="2" charset="-78"/>
              </a:rPr>
              <a:t>ḥu-qū-qu al-in-sā-ni</a:t>
            </a:r>
            <a:endParaRPr lang="en-US" sz="135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50</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P5-L10 · Listening Skills</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Grammar markers by ear (1 of 2)</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P5-L10</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17</a:t>
            </a:r>
            <a:endParaRPr lang="en-US" sz="1000" dirty="0"/>
          </a:p>
        </p:txBody>
      </p:sp>
      <p:sp>
        <p:nvSpPr>
          <p:cNvPr id="20" name="Shape 17"/>
          <p:cNvSpPr/>
          <p:nvPr/>
        </p:nvSpPr>
        <p:spPr>
          <a:xfrm>
            <a:off x="8604504" y="1938528"/>
            <a:ext cx="1766621" cy="256032"/>
          </a:xfrm>
          <a:prstGeom prst="roundRect">
            <a:avLst>
              <a:gd name="adj" fmla="val 50000"/>
            </a:avLst>
          </a:prstGeom>
          <a:solidFill>
            <a:srgbClr val="EFE7D2"/>
          </a:solidFill>
          <a:ln w="12700">
            <a:solidFill>
              <a:srgbClr val="EFE7D2"/>
            </a:solidFill>
            <a:prstDash val="solid"/>
          </a:ln>
        </p:spPr>
      </p:sp>
      <p:sp>
        <p:nvSpPr>
          <p:cNvPr id="21" name="Text 18"/>
          <p:cNvSpPr txBox="1"/>
          <p:nvPr/>
        </p:nvSpPr>
        <p:spPr>
          <a:xfrm>
            <a:off x="8604504" y="1938528"/>
            <a:ext cx="1766621"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Concession → indicative.</a:t>
            </a:r>
            <a:endParaRPr lang="en-US" sz="800" dirty="0"/>
          </a:p>
        </p:txBody>
      </p:sp>
      <p:sp>
        <p:nvSpPr>
          <p:cNvPr id="22" name="Text 19"/>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صَحِيحٌ أَنَّ</a:t>
            </a:r>
            <a:endParaRPr lang="ar-SA" sz="3000" dirty="0"/>
          </a:p>
        </p:txBody>
      </p:sp>
      <p:sp>
        <p:nvSpPr>
          <p:cNvPr id="23" name="Text 20"/>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it is true that</a:t>
            </a:r>
            <a:endParaRPr lang="en-US" sz="1350" dirty="0"/>
          </a:p>
          <a:p>
            <a:pPr indent="0" marL="0">
              <a:buNone/>
            </a:pPr>
            <a:r>
              <a:rPr lang="en-US" sz="1100" i="1" dirty="0">
                <a:solidFill>
                  <a:srgbClr val="5A6472"/>
                </a:solidFill>
                <a:latin typeface="Calibri" pitchFamily="34" charset="0"/>
                <a:cs typeface="Amiri" pitchFamily="2" charset="-78"/>
              </a:rPr>
              <a:t>ṣa-ḥī-ḥun an-na</a:t>
            </a:r>
            <a:endParaRPr lang="en-US" sz="1350" dirty="0"/>
          </a:p>
        </p:txBody>
      </p:sp>
      <p:sp>
        <p:nvSpPr>
          <p:cNvPr id="24" name="Shape 21"/>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Shape 22"/>
          <p:cNvSpPr/>
          <p:nvPr/>
        </p:nvSpPr>
        <p:spPr>
          <a:xfrm>
            <a:off x="4389120" y="1920240"/>
            <a:ext cx="310896" cy="310896"/>
          </a:xfrm>
          <a:prstGeom prst="ellipse">
            <a:avLst/>
          </a:prstGeom>
          <a:solidFill>
            <a:srgbClr val="F4F1EA"/>
          </a:solidFill>
          <a:ln w="12700">
            <a:solidFill>
              <a:srgbClr val="F4F1EA"/>
            </a:solidFill>
            <a:prstDash val="solid"/>
          </a:ln>
        </p:spPr>
      </p:sp>
      <p:sp>
        <p:nvSpPr>
          <p:cNvPr id="26" name="Text 23"/>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18</a:t>
            </a:r>
            <a:endParaRPr lang="en-US" sz="1000" dirty="0"/>
          </a:p>
        </p:txBody>
      </p:sp>
      <p:sp>
        <p:nvSpPr>
          <p:cNvPr id="27" name="Shape 24"/>
          <p:cNvSpPr/>
          <p:nvPr/>
        </p:nvSpPr>
        <p:spPr>
          <a:xfrm>
            <a:off x="4782312" y="1938528"/>
            <a:ext cx="958291" cy="256032"/>
          </a:xfrm>
          <a:prstGeom prst="roundRect">
            <a:avLst>
              <a:gd name="adj" fmla="val 50000"/>
            </a:avLst>
          </a:prstGeom>
          <a:solidFill>
            <a:srgbClr val="EFE7D2"/>
          </a:solidFill>
          <a:ln w="12700">
            <a:solidFill>
              <a:srgbClr val="EFE7D2"/>
            </a:solidFill>
            <a:prstDash val="solid"/>
          </a:ln>
        </p:spPr>
      </p:sp>
      <p:sp>
        <p:nvSpPr>
          <p:cNvPr id="28" name="Text 25"/>
          <p:cNvSpPr txBox="1"/>
          <p:nvPr/>
        </p:nvSpPr>
        <p:spPr>
          <a:xfrm>
            <a:off x="4782312" y="1938528"/>
            <a:ext cx="958291"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Refutation.</a:t>
            </a:r>
            <a:endParaRPr lang="en-US" sz="800" dirty="0"/>
          </a:p>
        </p:txBody>
      </p:sp>
      <p:sp>
        <p:nvSpPr>
          <p:cNvPr id="29" name="Text 26"/>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غَيْرَ أَنَّ</a:t>
            </a:r>
            <a:endParaRPr lang="ar-SA" sz="3000" dirty="0"/>
          </a:p>
        </p:txBody>
      </p:sp>
      <p:sp>
        <p:nvSpPr>
          <p:cNvPr id="30" name="Text 27"/>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however</a:t>
            </a:r>
            <a:endParaRPr lang="en-US" sz="1350" dirty="0"/>
          </a:p>
          <a:p>
            <a:pPr indent="0" marL="0">
              <a:buNone/>
            </a:pPr>
            <a:r>
              <a:rPr lang="en-US" sz="1100" i="1" dirty="0">
                <a:solidFill>
                  <a:srgbClr val="5A6472"/>
                </a:solidFill>
                <a:latin typeface="Calibri" pitchFamily="34" charset="0"/>
                <a:cs typeface="Amiri" pitchFamily="2" charset="-78"/>
              </a:rPr>
              <a:t>ghay-ra an-na</a:t>
            </a:r>
            <a:endParaRPr lang="en-US" sz="1350" dirty="0"/>
          </a:p>
        </p:txBody>
      </p:sp>
      <p:sp>
        <p:nvSpPr>
          <p:cNvPr id="31" name="Shape 28"/>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66928" y="1920240"/>
            <a:ext cx="310896" cy="310896"/>
          </a:xfrm>
          <a:prstGeom prst="ellipse">
            <a:avLst/>
          </a:prstGeom>
          <a:solidFill>
            <a:srgbClr val="F4F1EA"/>
          </a:solidFill>
          <a:ln w="12700">
            <a:solidFill>
              <a:srgbClr val="F4F1EA"/>
            </a:solidFill>
            <a:prstDash val="solid"/>
          </a:ln>
        </p:spPr>
      </p:sp>
      <p:sp>
        <p:nvSpPr>
          <p:cNvPr id="33" name="Text 30"/>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19</a:t>
            </a:r>
            <a:endParaRPr lang="en-US" sz="1000" dirty="0"/>
          </a:p>
        </p:txBody>
      </p:sp>
      <p:sp>
        <p:nvSpPr>
          <p:cNvPr id="34" name="Shape 31"/>
          <p:cNvSpPr/>
          <p:nvPr/>
        </p:nvSpPr>
        <p:spPr>
          <a:xfrm>
            <a:off x="960120" y="1938528"/>
            <a:ext cx="1517904" cy="256032"/>
          </a:xfrm>
          <a:prstGeom prst="roundRect">
            <a:avLst>
              <a:gd name="adj" fmla="val 50000"/>
            </a:avLst>
          </a:prstGeom>
          <a:solidFill>
            <a:srgbClr val="EFE7D2"/>
          </a:solidFill>
          <a:ln w="12700">
            <a:solidFill>
              <a:srgbClr val="EFE7D2"/>
            </a:solidFill>
            <a:prstDash val="solid"/>
          </a:ln>
        </p:spPr>
      </p:sp>
      <p:sp>
        <p:nvSpPr>
          <p:cNvPr id="35" name="Text 32"/>
          <p:cNvSpPr txBox="1"/>
          <p:nvPr/>
        </p:nvSpPr>
        <p:spPr>
          <a:xfrm>
            <a:off x="960120" y="1938528"/>
            <a:ext cx="151790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Subjunctive trigger.</a:t>
            </a:r>
            <a:endParaRPr lang="en-US" sz="800" dirty="0"/>
          </a:p>
        </p:txBody>
      </p:sp>
      <p:sp>
        <p:nvSpPr>
          <p:cNvPr id="36" name="Text 33"/>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يَتَطَلَّبُ أَنْ</a:t>
            </a:r>
            <a:endParaRPr lang="ar-SA" sz="3000" dirty="0"/>
          </a:p>
        </p:txBody>
      </p:sp>
      <p:sp>
        <p:nvSpPr>
          <p:cNvPr id="37" name="Text 34"/>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requires that</a:t>
            </a:r>
            <a:endParaRPr lang="en-US" sz="1350" dirty="0"/>
          </a:p>
          <a:p>
            <a:pPr indent="0" marL="0">
              <a:buNone/>
            </a:pPr>
            <a:r>
              <a:rPr lang="en-US" sz="1100" i="1" dirty="0">
                <a:solidFill>
                  <a:srgbClr val="5A6472"/>
                </a:solidFill>
                <a:latin typeface="Calibri" pitchFamily="34" charset="0"/>
                <a:cs typeface="Amiri" pitchFamily="2" charset="-78"/>
              </a:rPr>
              <a:t>ya-ta-ṭal-la-bu an</a:t>
            </a:r>
            <a:endParaRPr lang="en-US" sz="1350" dirty="0"/>
          </a:p>
        </p:txBody>
      </p:sp>
      <p:sp>
        <p:nvSpPr>
          <p:cNvPr id="38" name="Shape 35"/>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8211312" y="4261104"/>
            <a:ext cx="310896" cy="310896"/>
          </a:xfrm>
          <a:prstGeom prst="ellipse">
            <a:avLst/>
          </a:prstGeom>
          <a:solidFill>
            <a:srgbClr val="F4F1EA"/>
          </a:solidFill>
          <a:ln w="12700">
            <a:solidFill>
              <a:srgbClr val="F4F1EA"/>
            </a:solidFill>
            <a:prstDash val="solid"/>
          </a:ln>
        </p:spPr>
      </p:sp>
      <p:sp>
        <p:nvSpPr>
          <p:cNvPr id="40" name="Text 37"/>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20</a:t>
            </a:r>
            <a:endParaRPr lang="en-US" sz="1000" dirty="0"/>
          </a:p>
        </p:txBody>
      </p:sp>
      <p:sp>
        <p:nvSpPr>
          <p:cNvPr id="41" name="Text 38"/>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لَوْ … لَـ</a:t>
            </a:r>
            <a:endParaRPr lang="ar-SA" sz="3000" dirty="0"/>
          </a:p>
        </p:txBody>
      </p:sp>
      <p:sp>
        <p:nvSpPr>
          <p:cNvPr id="42" name="Text 39"/>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Type 2 conditional</a:t>
            </a:r>
            <a:endParaRPr lang="en-US" sz="1350" dirty="0"/>
          </a:p>
          <a:p>
            <a:pPr indent="0" marL="0">
              <a:buNone/>
            </a:pPr>
            <a:r>
              <a:rPr lang="en-US" sz="1100" i="1" dirty="0">
                <a:solidFill>
                  <a:srgbClr val="5A6472"/>
                </a:solidFill>
                <a:latin typeface="Calibri" pitchFamily="34" charset="0"/>
                <a:cs typeface="Amiri" pitchFamily="2" charset="-78"/>
              </a:rPr>
              <a:t>law … la</a:t>
            </a:r>
            <a:endParaRPr lang="en-US" sz="1350" dirty="0"/>
          </a:p>
        </p:txBody>
      </p:sp>
      <p:sp>
        <p:nvSpPr>
          <p:cNvPr id="43" name="Text 4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50</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P5-L10 · Listening Skills</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Grammar markers by ear (2 of 2)</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P5-L10</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21</a:t>
            </a:r>
            <a:endParaRPr lang="en-US" sz="10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إِذَا … سَـ</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Type 1 conditional</a:t>
            </a:r>
            <a:endParaRPr lang="en-US" sz="1350" dirty="0"/>
          </a:p>
          <a:p>
            <a:pPr indent="0" marL="0">
              <a:buNone/>
            </a:pPr>
            <a:r>
              <a:rPr lang="en-US" sz="1100" i="1" dirty="0">
                <a:solidFill>
                  <a:srgbClr val="5A6472"/>
                </a:solidFill>
                <a:latin typeface="Calibri" pitchFamily="34" charset="0"/>
                <a:cs typeface="Amiri" pitchFamily="2" charset="-78"/>
              </a:rPr>
              <a:t>i-dhā … sa</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22</a:t>
            </a:r>
            <a:endParaRPr lang="en-US" sz="1000" dirty="0"/>
          </a:p>
        </p:txBody>
      </p:sp>
      <p:sp>
        <p:nvSpPr>
          <p:cNvPr id="25" name="Shape 22"/>
          <p:cNvSpPr/>
          <p:nvPr/>
        </p:nvSpPr>
        <p:spPr>
          <a:xfrm>
            <a:off x="4782312" y="1938528"/>
            <a:ext cx="1393546" cy="256032"/>
          </a:xfrm>
          <a:prstGeom prst="roundRect">
            <a:avLst>
              <a:gd name="adj" fmla="val 50000"/>
            </a:avLst>
          </a:prstGeom>
          <a:solidFill>
            <a:srgbClr val="EFE7D2"/>
          </a:solidFill>
          <a:ln w="12700">
            <a:solidFill>
              <a:srgbClr val="EFE7D2"/>
            </a:solidFill>
            <a:prstDash val="solid"/>
          </a:ln>
        </p:spPr>
      </p:sp>
      <p:sp>
        <p:nvSpPr>
          <p:cNvPr id="26" name="Text 23"/>
          <p:cNvSpPr txBox="1"/>
          <p:nvPr/>
        </p:nvSpPr>
        <p:spPr>
          <a:xfrm>
            <a:off x="4782312" y="1938528"/>
            <a:ext cx="1393546"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Conclusion signal.</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وَبِنَاءً عَلَى مَا سَبَقَ</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based on the above</a:t>
            </a:r>
            <a:endParaRPr lang="en-US" sz="1350" dirty="0"/>
          </a:p>
          <a:p>
            <a:pPr indent="0" marL="0">
              <a:buNone/>
            </a:pPr>
            <a:r>
              <a:rPr lang="en-US" sz="1100" i="1" dirty="0">
                <a:solidFill>
                  <a:srgbClr val="5A6472"/>
                </a:solidFill>
                <a:latin typeface="Calibri" pitchFamily="34" charset="0"/>
                <a:cs typeface="Amiri" pitchFamily="2" charset="-78"/>
              </a:rPr>
              <a:t>wa-bi-nā-ʾan ʿa-lā mā sa-ba-qa</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23</a:t>
            </a:r>
            <a:endParaRPr lang="en-US" sz="1000" dirty="0"/>
          </a:p>
        </p:txBody>
      </p:sp>
      <p:sp>
        <p:nvSpPr>
          <p:cNvPr id="32" name="Shape 29"/>
          <p:cNvSpPr/>
          <p:nvPr/>
        </p:nvSpPr>
        <p:spPr>
          <a:xfrm>
            <a:off x="960120" y="1938528"/>
            <a:ext cx="1517904" cy="256032"/>
          </a:xfrm>
          <a:prstGeom prst="roundRect">
            <a:avLst>
              <a:gd name="adj" fmla="val 50000"/>
            </a:avLst>
          </a:prstGeom>
          <a:solidFill>
            <a:srgbClr val="EFE7D2"/>
          </a:solidFill>
          <a:ln w="12700">
            <a:solidFill>
              <a:srgbClr val="EFE7D2"/>
            </a:solidFill>
            <a:prstDash val="solid"/>
          </a:ln>
        </p:spPr>
      </p:sp>
      <p:sp>
        <p:nvSpPr>
          <p:cNvPr id="33" name="Text 30"/>
          <p:cNvSpPr txBox="1"/>
          <p:nvPr/>
        </p:nvSpPr>
        <p:spPr>
          <a:xfrm>
            <a:off x="960120" y="1938528"/>
            <a:ext cx="151790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Subjunctive trigger.</a:t>
            </a:r>
            <a:endParaRPr lang="en-US" sz="800" dirty="0"/>
          </a:p>
        </p:txBody>
      </p:sp>
      <p:sp>
        <p:nvSpPr>
          <p:cNvPr id="34" name="Text 3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يُصِرُّ عَلَى أَنْ</a:t>
            </a:r>
            <a:endParaRPr lang="ar-SA" sz="3000" dirty="0"/>
          </a:p>
        </p:txBody>
      </p:sp>
      <p:sp>
        <p:nvSpPr>
          <p:cNvPr id="35" name="Text 3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insists that</a:t>
            </a:r>
            <a:endParaRPr lang="en-US" sz="1350" dirty="0"/>
          </a:p>
          <a:p>
            <a:pPr indent="0" marL="0">
              <a:buNone/>
            </a:pPr>
            <a:r>
              <a:rPr lang="en-US" sz="1100" i="1" dirty="0">
                <a:solidFill>
                  <a:srgbClr val="5A6472"/>
                </a:solidFill>
                <a:latin typeface="Calibri" pitchFamily="34" charset="0"/>
                <a:cs typeface="Amiri" pitchFamily="2" charset="-78"/>
              </a:rPr>
              <a:t>yu-ṣir-ru ʿa-lā an</a:t>
            </a:r>
            <a:endParaRPr lang="en-US" sz="1350" dirty="0"/>
          </a:p>
        </p:txBody>
      </p:sp>
      <p:sp>
        <p:nvSpPr>
          <p:cNvPr id="36" name="Shape 3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8211312" y="4261104"/>
            <a:ext cx="310896" cy="310896"/>
          </a:xfrm>
          <a:prstGeom prst="ellipse">
            <a:avLst/>
          </a:prstGeom>
          <a:solidFill>
            <a:srgbClr val="F4F1EA"/>
          </a:solidFill>
          <a:ln w="12700">
            <a:solidFill>
              <a:srgbClr val="F4F1EA"/>
            </a:solidFill>
            <a:prstDash val="solid"/>
          </a:ln>
        </p:spPr>
      </p:sp>
      <p:sp>
        <p:nvSpPr>
          <p:cNvPr id="38" name="Text 3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24</a:t>
            </a:r>
            <a:endParaRPr lang="en-US" sz="1000" dirty="0"/>
          </a:p>
        </p:txBody>
      </p:sp>
      <p:sp>
        <p:nvSpPr>
          <p:cNvPr id="39" name="Shape 36"/>
          <p:cNvSpPr/>
          <p:nvPr/>
        </p:nvSpPr>
        <p:spPr>
          <a:xfrm>
            <a:off x="8604504" y="4279392"/>
            <a:ext cx="1517904" cy="256032"/>
          </a:xfrm>
          <a:prstGeom prst="roundRect">
            <a:avLst>
              <a:gd name="adj" fmla="val 50000"/>
            </a:avLst>
          </a:prstGeom>
          <a:solidFill>
            <a:srgbClr val="EFE7D2"/>
          </a:solidFill>
          <a:ln w="12700">
            <a:solidFill>
              <a:srgbClr val="EFE7D2"/>
            </a:solidFill>
            <a:prstDash val="solid"/>
          </a:ln>
        </p:spPr>
      </p:sp>
      <p:sp>
        <p:nvSpPr>
          <p:cNvPr id="40" name="Text 37"/>
          <p:cNvSpPr txBox="1"/>
          <p:nvPr/>
        </p:nvSpPr>
        <p:spPr>
          <a:xfrm>
            <a:off x="8604504" y="4279392"/>
            <a:ext cx="151790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Past-perfect marker.</a:t>
            </a:r>
            <a:endParaRPr lang="en-US" sz="800" dirty="0"/>
          </a:p>
        </p:txBody>
      </p:sp>
      <p:sp>
        <p:nvSpPr>
          <p:cNvPr id="41" name="Text 38"/>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كَانَ قَدْ</a:t>
            </a:r>
            <a:endParaRPr lang="ar-SA" sz="3000" dirty="0"/>
          </a:p>
        </p:txBody>
      </p:sp>
      <p:sp>
        <p:nvSpPr>
          <p:cNvPr id="42" name="Text 39"/>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had done</a:t>
            </a:r>
            <a:endParaRPr lang="en-US" sz="1350" dirty="0"/>
          </a:p>
          <a:p>
            <a:pPr indent="0" marL="0">
              <a:buNone/>
            </a:pPr>
            <a:r>
              <a:rPr lang="en-US" sz="1100" i="1" dirty="0">
                <a:solidFill>
                  <a:srgbClr val="5A6472"/>
                </a:solidFill>
                <a:latin typeface="Calibri" pitchFamily="34" charset="0"/>
                <a:cs typeface="Amiri" pitchFamily="2" charset="-78"/>
              </a:rPr>
              <a:t>kā-na qad</a:t>
            </a:r>
            <a:endParaRPr lang="en-US" sz="1350" dirty="0"/>
          </a:p>
        </p:txBody>
      </p:sp>
      <p:sp>
        <p:nvSpPr>
          <p:cNvPr id="43" name="Text 4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50</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P5-L10 · Listening Skills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cs typeface="Amiri" pitchFamily="2" charset="-78"/>
              </a:rPr>
              <a:t>GRAMMAR FOCUS · PART 1 · SIGNAL → JOB → WHOSE VIEW (WEBSITE RULES 1–3, TABLE AND TEACHING POINT 1) · CORE</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you hear, what it means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الإِشَارَةُ وَوَظِيفَتُهَا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P5-L10</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022592" y="1810512"/>
            <a:ext cx="46360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Example (website listening)</a:t>
            </a:r>
            <a:endParaRPr lang="en-US" sz="1100" dirty="0"/>
          </a:p>
        </p:txBody>
      </p:sp>
      <p:sp>
        <p:nvSpPr>
          <p:cNvPr id="17" name="Text 14"/>
          <p:cNvSpPr txBox="1"/>
          <p:nvPr/>
        </p:nvSpPr>
        <p:spPr>
          <a:xfrm>
            <a:off x="5285232" y="1810512"/>
            <a:ext cx="1591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Whose view?</a:t>
            </a:r>
            <a:endParaRPr lang="en-US" sz="1100" dirty="0"/>
          </a:p>
        </p:txBody>
      </p:sp>
      <p:sp>
        <p:nvSpPr>
          <p:cNvPr id="18" name="Text 15"/>
          <p:cNvSpPr txBox="1"/>
          <p:nvPr/>
        </p:nvSpPr>
        <p:spPr>
          <a:xfrm>
            <a:off x="3273552" y="1810512"/>
            <a:ext cx="18653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It signals</a:t>
            </a:r>
            <a:endParaRPr lang="en-US" sz="1100" dirty="0"/>
          </a:p>
        </p:txBody>
      </p:sp>
      <p:sp>
        <p:nvSpPr>
          <p:cNvPr id="19" name="Text 16"/>
          <p:cNvSpPr txBox="1"/>
          <p:nvPr/>
        </p:nvSpPr>
        <p:spPr>
          <a:xfrm>
            <a:off x="53035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You hear</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7040880" y="2267712"/>
            <a:ext cx="459943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أُطْرُوحَتِي أَنَّ التَّفَاوُتَ الاجْتِمَاعِيَّ يُهَدِّدُ الاسْتِقْرَارَ</a:t>
            </a:r>
            <a:endParaRPr lang="ar-SA" sz="1600" dirty="0"/>
          </a:p>
        </p:txBody>
      </p:sp>
      <p:sp>
        <p:nvSpPr>
          <p:cNvPr id="22" name="Text 19"/>
          <p:cNvSpPr txBox="1"/>
          <p:nvPr/>
        </p:nvSpPr>
        <p:spPr>
          <a:xfrm>
            <a:off x="5321808" y="2267712"/>
            <a:ext cx="15544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speaker</a:t>
            </a:r>
            <a:endParaRPr lang="en-US" sz="1100" dirty="0"/>
          </a:p>
        </p:txBody>
      </p:sp>
      <p:sp>
        <p:nvSpPr>
          <p:cNvPr id="23" name="Text 20"/>
          <p:cNvSpPr txBox="1"/>
          <p:nvPr/>
        </p:nvSpPr>
        <p:spPr>
          <a:xfrm>
            <a:off x="3310128" y="2267712"/>
            <a:ext cx="18288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thesis</a:t>
            </a:r>
            <a:endParaRPr lang="en-US" sz="1100" dirty="0"/>
          </a:p>
        </p:txBody>
      </p:sp>
      <p:sp>
        <p:nvSpPr>
          <p:cNvPr id="24" name="Text 21"/>
          <p:cNvSpPr txBox="1"/>
          <p:nvPr/>
        </p:nvSpPr>
        <p:spPr>
          <a:xfrm>
            <a:off x="548640" y="2267712"/>
            <a:ext cx="2560320" cy="682142"/>
          </a:xfrm>
          <a:prstGeom prst="rect">
            <a:avLst/>
          </a:prstGeom>
          <a:noFill/>
          <a:ln/>
        </p:spPr>
        <p:txBody>
          <a:bodyPr wrap="square" lIns="0" tIns="0" rIns="0" bIns="0" rtlCol="0" anchor="ctr"/>
          <a:lstStyle/>
          <a:p>
            <a:pPr rtl="1" algn="ctr" indent="0" marL="0">
              <a:buNone/>
            </a:pPr>
            <a:r>
              <a:rPr lang="ar-SA" altLang="en-US" sz="1800" b="1" dirty="0">
                <a:solidFill>
                  <a:srgbClr val="C77700"/>
                </a:solidFill>
                <a:latin typeface="Amiri" pitchFamily="2" charset="-78"/>
                <a:cs typeface="Amiri" pitchFamily="2" charset="-78"/>
              </a:rPr>
              <a:t>أُطْرُوحَتِي أَنَّ</a:t>
            </a:r>
            <a:endParaRPr lang="ar-SA" sz="18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7040880" y="3004718"/>
            <a:ext cx="459943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أَكَّدَتِ الدِّرَاسَاتُ أَنَّ الفَجْوَةَ … تَتَّسِعُ</a:t>
            </a:r>
            <a:endParaRPr lang="ar-SA" sz="1600" dirty="0"/>
          </a:p>
        </p:txBody>
      </p:sp>
      <p:sp>
        <p:nvSpPr>
          <p:cNvPr id="29" name="Text 26"/>
          <p:cNvSpPr txBox="1"/>
          <p:nvPr/>
        </p:nvSpPr>
        <p:spPr>
          <a:xfrm>
            <a:off x="5321808" y="3004718"/>
            <a:ext cx="15544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studies</a:t>
            </a:r>
            <a:endParaRPr lang="en-US" sz="1100" dirty="0"/>
          </a:p>
        </p:txBody>
      </p:sp>
      <p:sp>
        <p:nvSpPr>
          <p:cNvPr id="30" name="Text 27"/>
          <p:cNvSpPr txBox="1"/>
          <p:nvPr/>
        </p:nvSpPr>
        <p:spPr>
          <a:xfrm>
            <a:off x="3310128" y="3004718"/>
            <a:ext cx="18288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evidence</a:t>
            </a:r>
            <a:endParaRPr lang="en-US" sz="1100" dirty="0"/>
          </a:p>
        </p:txBody>
      </p:sp>
      <p:sp>
        <p:nvSpPr>
          <p:cNvPr id="31" name="Text 28"/>
          <p:cNvSpPr txBox="1"/>
          <p:nvPr/>
        </p:nvSpPr>
        <p:spPr>
          <a:xfrm>
            <a:off x="548640" y="3004718"/>
            <a:ext cx="2560320" cy="682142"/>
          </a:xfrm>
          <a:prstGeom prst="rect">
            <a:avLst/>
          </a:prstGeom>
          <a:noFill/>
          <a:ln/>
        </p:spPr>
        <p:txBody>
          <a:bodyPr wrap="square" lIns="0" tIns="0" rIns="0" bIns="0" rtlCol="0" anchor="ctr"/>
          <a:lstStyle/>
          <a:p>
            <a:pPr rtl="1" algn="ctr" indent="0" marL="0">
              <a:buNone/>
            </a:pPr>
            <a:r>
              <a:rPr lang="ar-SA" altLang="en-US" sz="1800" b="1" dirty="0">
                <a:solidFill>
                  <a:srgbClr val="7B3FA0"/>
                </a:solidFill>
                <a:latin typeface="Amiri" pitchFamily="2" charset="-78"/>
                <a:cs typeface="Amiri" pitchFamily="2" charset="-78"/>
              </a:rPr>
              <a:t>أَكَّدَتِ الدِّرَاسَاتُ أَنَّ</a:t>
            </a:r>
            <a:endParaRPr lang="ar-SA" sz="1800" dirty="0"/>
          </a:p>
        </p:txBody>
      </p:sp>
      <p:sp>
        <p:nvSpPr>
          <p:cNvPr id="32" name="Shape 29"/>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3" name="Text 30"/>
          <p:cNvSpPr txBox="1"/>
          <p:nvPr/>
        </p:nvSpPr>
        <p:spPr>
          <a:xfrm>
            <a:off x="7040880" y="3741725"/>
            <a:ext cx="459943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صَحِيحٌ أَنَّ الإِصْلَاحَاتِ تَحْتَاجُ وَقْتًا طَوِيلًا</a:t>
            </a:r>
            <a:endParaRPr lang="ar-SA" sz="1600" dirty="0"/>
          </a:p>
        </p:txBody>
      </p:sp>
      <p:sp>
        <p:nvSpPr>
          <p:cNvPr id="34" name="Text 31"/>
          <p:cNvSpPr txBox="1"/>
          <p:nvPr/>
        </p:nvSpPr>
        <p:spPr>
          <a:xfrm>
            <a:off x="5321808" y="3741725"/>
            <a:ext cx="15544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OTHER side</a:t>
            </a:r>
            <a:endParaRPr lang="en-US" sz="1100" dirty="0"/>
          </a:p>
        </p:txBody>
      </p:sp>
      <p:sp>
        <p:nvSpPr>
          <p:cNvPr id="35" name="Text 32"/>
          <p:cNvSpPr txBox="1"/>
          <p:nvPr/>
        </p:nvSpPr>
        <p:spPr>
          <a:xfrm>
            <a:off x="3310128" y="3741725"/>
            <a:ext cx="18288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conceded point</a:t>
            </a:r>
            <a:endParaRPr lang="en-US" sz="1100" dirty="0"/>
          </a:p>
        </p:txBody>
      </p:sp>
      <p:sp>
        <p:nvSpPr>
          <p:cNvPr id="36" name="Text 33"/>
          <p:cNvSpPr txBox="1"/>
          <p:nvPr/>
        </p:nvSpPr>
        <p:spPr>
          <a:xfrm>
            <a:off x="548640" y="3741725"/>
            <a:ext cx="2560320" cy="682142"/>
          </a:xfrm>
          <a:prstGeom prst="rect">
            <a:avLst/>
          </a:prstGeom>
          <a:noFill/>
          <a:ln/>
        </p:spPr>
        <p:txBody>
          <a:bodyPr wrap="square" lIns="0" tIns="0" rIns="0" bIns="0" rtlCol="0" anchor="ctr"/>
          <a:lstStyle/>
          <a:p>
            <a:pPr rtl="1" algn="ctr" indent="0" marL="0">
              <a:buNone/>
            </a:pPr>
            <a:r>
              <a:rPr lang="ar-SA" altLang="en-US" sz="1800" b="1" dirty="0">
                <a:solidFill>
                  <a:srgbClr val="1D5FBF"/>
                </a:solidFill>
                <a:latin typeface="Amiri" pitchFamily="2" charset="-78"/>
                <a:cs typeface="Amiri" pitchFamily="2" charset="-78"/>
              </a:rPr>
              <a:t>صَحِيحٌ أَنَّ</a:t>
            </a:r>
            <a:endParaRPr lang="ar-SA" sz="1800" dirty="0"/>
          </a:p>
        </p:txBody>
      </p:sp>
      <p:sp>
        <p:nvSpPr>
          <p:cNvPr id="37" name="Shape 34"/>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38" name="Text 35"/>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7040880" y="4478731"/>
            <a:ext cx="459943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غَيْرَ أَنَّ الحَاجَةَ المُلِحَّةَ لَا تَتَحَمَّلُ الانْتِظَارَ</a:t>
            </a:r>
            <a:endParaRPr lang="ar-SA" sz="1600" dirty="0"/>
          </a:p>
        </p:txBody>
      </p:sp>
      <p:sp>
        <p:nvSpPr>
          <p:cNvPr id="41" name="Text 38"/>
          <p:cNvSpPr txBox="1"/>
          <p:nvPr/>
        </p:nvSpPr>
        <p:spPr>
          <a:xfrm>
            <a:off x="5321808" y="4478731"/>
            <a:ext cx="15544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speaker</a:t>
            </a:r>
            <a:endParaRPr lang="en-US" sz="1100" dirty="0"/>
          </a:p>
        </p:txBody>
      </p:sp>
      <p:sp>
        <p:nvSpPr>
          <p:cNvPr id="42" name="Text 39"/>
          <p:cNvSpPr txBox="1"/>
          <p:nvPr/>
        </p:nvSpPr>
        <p:spPr>
          <a:xfrm>
            <a:off x="3310128" y="4478731"/>
            <a:ext cx="18288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stronger point</a:t>
            </a:r>
            <a:endParaRPr lang="en-US" sz="1100" dirty="0"/>
          </a:p>
        </p:txBody>
      </p:sp>
      <p:sp>
        <p:nvSpPr>
          <p:cNvPr id="43" name="Text 40"/>
          <p:cNvSpPr txBox="1"/>
          <p:nvPr/>
        </p:nvSpPr>
        <p:spPr>
          <a:xfrm>
            <a:off x="548640" y="4478731"/>
            <a:ext cx="2560320" cy="682142"/>
          </a:xfrm>
          <a:prstGeom prst="rect">
            <a:avLst/>
          </a:prstGeom>
          <a:noFill/>
          <a:ln/>
        </p:spPr>
        <p:txBody>
          <a:bodyPr wrap="square" lIns="0" tIns="0" rIns="0" bIns="0" rtlCol="0" anchor="ctr"/>
          <a:lstStyle/>
          <a:p>
            <a:pPr rtl="1" algn="ctr" indent="0" marL="0">
              <a:buNone/>
            </a:pPr>
            <a:r>
              <a:rPr lang="ar-SA" altLang="en-US" sz="1800" b="1" dirty="0">
                <a:solidFill>
                  <a:srgbClr val="D6336C"/>
                </a:solidFill>
                <a:latin typeface="Amiri" pitchFamily="2" charset="-78"/>
                <a:cs typeface="Amiri" pitchFamily="2" charset="-78"/>
              </a:rPr>
              <a:t>غَيْرَ أَنَّ</a:t>
            </a:r>
            <a:endParaRPr lang="ar-SA" sz="1800" dirty="0"/>
          </a:p>
        </p:txBody>
      </p:sp>
      <p:sp>
        <p:nvSpPr>
          <p:cNvPr id="44" name="Shape 41"/>
          <p:cNvSpPr/>
          <p:nvPr/>
        </p:nvSpPr>
        <p:spPr>
          <a:xfrm>
            <a:off x="11091672" y="4524451"/>
            <a:ext cx="548640" cy="182880"/>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11091672" y="4524451"/>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6" name="Shape 43"/>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7" name="Text 44"/>
          <p:cNvSpPr txBox="1"/>
          <p:nvPr/>
        </p:nvSpPr>
        <p:spPr>
          <a:xfrm>
            <a:off x="7040880" y="5215738"/>
            <a:ext cx="459943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العَدَالَةُ الاجْتِمَاعِيَّةُ ضَرُورَةٌ لَا رَفَاهِيَةٌ</a:t>
            </a:r>
            <a:endParaRPr lang="ar-SA" sz="1600" dirty="0"/>
          </a:p>
        </p:txBody>
      </p:sp>
      <p:sp>
        <p:nvSpPr>
          <p:cNvPr id="48" name="Text 45"/>
          <p:cNvSpPr txBox="1"/>
          <p:nvPr/>
        </p:nvSpPr>
        <p:spPr>
          <a:xfrm>
            <a:off x="5321808" y="5215738"/>
            <a:ext cx="15544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speaker</a:t>
            </a:r>
            <a:endParaRPr lang="en-US" sz="1100" dirty="0"/>
          </a:p>
        </p:txBody>
      </p:sp>
      <p:sp>
        <p:nvSpPr>
          <p:cNvPr id="49" name="Text 46"/>
          <p:cNvSpPr txBox="1"/>
          <p:nvPr/>
        </p:nvSpPr>
        <p:spPr>
          <a:xfrm>
            <a:off x="3310128" y="5215738"/>
            <a:ext cx="18288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conclusion</a:t>
            </a:r>
            <a:endParaRPr lang="en-US" sz="1100" dirty="0"/>
          </a:p>
        </p:txBody>
      </p:sp>
      <p:sp>
        <p:nvSpPr>
          <p:cNvPr id="50" name="Text 47"/>
          <p:cNvSpPr txBox="1"/>
          <p:nvPr/>
        </p:nvSpPr>
        <p:spPr>
          <a:xfrm>
            <a:off x="548640" y="5215738"/>
            <a:ext cx="2560320" cy="682142"/>
          </a:xfrm>
          <a:prstGeom prst="rect">
            <a:avLst/>
          </a:prstGeom>
          <a:noFill/>
          <a:ln/>
        </p:spPr>
        <p:txBody>
          <a:bodyPr wrap="square" lIns="0" tIns="0" rIns="0" bIns="0" rtlCol="0" anchor="ctr"/>
          <a:lstStyle/>
          <a:p>
            <a:pPr rtl="1" algn="ctr" indent="0" marL="0">
              <a:buNone/>
            </a:pPr>
            <a:r>
              <a:rPr lang="ar-SA" altLang="en-US" sz="1800" b="1" dirty="0">
                <a:solidFill>
                  <a:srgbClr val="0E7C86"/>
                </a:solidFill>
                <a:latin typeface="Amiri" pitchFamily="2" charset="-78"/>
                <a:cs typeface="Amiri" pitchFamily="2" charset="-78"/>
              </a:rPr>
              <a:t>وَبِنَاءً عَلَى مَا سَبَقَ</a:t>
            </a:r>
            <a:endParaRPr lang="ar-SA" sz="1800" dirty="0"/>
          </a:p>
        </p:txBody>
      </p:sp>
      <p:sp>
        <p:nvSpPr>
          <p:cNvPr id="51" name="Text 48"/>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teaching point: once you hear ṣaḥīḥun anna, a concession is coming — and the stronger point follows soon after.</a:t>
            </a:r>
            <a:endParaRPr lang="en-US" sz="1150" dirty="0"/>
          </a:p>
        </p:txBody>
      </p:sp>
      <p:sp>
        <p:nvSpPr>
          <p:cNvPr id="52" name="Text 4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50</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P5-L10 · Listening Skills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cs typeface="Amiri" pitchFamily="2" charset="-78"/>
              </a:rPr>
              <a:t>GRAMMAR FOCUS · PART 2 · THE ATTRIBUTION TRAP (WEBSITE TEACHING POINT 2, MISTAKE 1, QUIZ 4) · DEVELOP</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Whose view is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رَأْيُ مَنْ؟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P5-L10</a:t>
            </a:r>
            <a:endParaRPr lang="en-US" sz="850" dirty="0"/>
          </a:p>
        </p:txBody>
      </p:sp>
      <p:sp>
        <p:nvSpPr>
          <p:cNvPr id="15" name="Shape 12"/>
          <p:cNvSpPr/>
          <p:nvPr/>
        </p:nvSpPr>
        <p:spPr>
          <a:xfrm>
            <a:off x="8095488"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1303020" cy="274320"/>
          </a:xfrm>
          <a:prstGeom prst="roundRect">
            <a:avLst>
              <a:gd name="adj" fmla="val 50000"/>
            </a:avLst>
          </a:prstGeom>
          <a:solidFill>
            <a:srgbClr val="1D5FBF"/>
          </a:solidFill>
          <a:ln w="12700">
            <a:solidFill>
              <a:srgbClr val="1D5FBF"/>
            </a:solidFill>
            <a:prstDash val="solid"/>
          </a:ln>
        </p:spPr>
      </p:sp>
      <p:sp>
        <p:nvSpPr>
          <p:cNvPr id="17" name="Text 14"/>
          <p:cNvSpPr txBox="1"/>
          <p:nvPr/>
        </p:nvSpPr>
        <p:spPr>
          <a:xfrm>
            <a:off x="8232648" y="1920240"/>
            <a:ext cx="130302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CONCEDED · CORE</a:t>
            </a:r>
            <a:endParaRPr lang="en-US" sz="850" dirty="0"/>
          </a:p>
        </p:txBody>
      </p:sp>
      <p:sp>
        <p:nvSpPr>
          <p:cNvPr id="18" name="Text 15"/>
          <p:cNvSpPr txBox="1"/>
          <p:nvPr/>
        </p:nvSpPr>
        <p:spPr>
          <a:xfrm>
            <a:off x="9581388" y="1874520"/>
            <a:ext cx="201320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cs typeface="Amiri" pitchFamily="2" charset="-78"/>
              </a:rPr>
              <a:t>الطَّرَفُ الآخَرُ</a:t>
            </a:r>
            <a:endParaRPr lang="ar-SA" sz="16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250" b="1" dirty="0">
                <a:solidFill>
                  <a:srgbClr val="1B3B6F"/>
                </a:solidFill>
                <a:latin typeface="Amiri" pitchFamily="2" charset="-78"/>
                <a:cs typeface="Amiri" pitchFamily="2" charset="-78"/>
              </a:rPr>
              <a:t>صَحِيحٌ أَنَّ الإِصْلَاحَاتِ تَحْتَاجُ وَقْتًا.</a:t>
            </a:r>
            <a:endParaRPr lang="ar-SA" sz="225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True, reforms need time. (the OTHER side’s point)</a:t>
            </a:r>
            <a:endParaRPr lang="en-US" sz="1200" dirty="0"/>
          </a:p>
        </p:txBody>
      </p:sp>
      <p:sp>
        <p:nvSpPr>
          <p:cNvPr id="21" name="Shape 18"/>
          <p:cNvSpPr/>
          <p:nvPr/>
        </p:nvSpPr>
        <p:spPr>
          <a:xfrm>
            <a:off x="8205216" y="3913632"/>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not the speaker’s view</a:t>
            </a:r>
            <a:endParaRPr lang="en-US" sz="1100" dirty="0"/>
          </a:p>
        </p:txBody>
      </p:sp>
      <p:sp>
        <p:nvSpPr>
          <p:cNvPr id="23" name="Shape 20"/>
          <p:cNvSpPr/>
          <p:nvPr/>
        </p:nvSpPr>
        <p:spPr>
          <a:xfrm>
            <a:off x="4276344"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1234440" cy="274320"/>
          </a:xfrm>
          <a:prstGeom prst="roundRect">
            <a:avLst>
              <a:gd name="adj" fmla="val 50000"/>
            </a:avLst>
          </a:prstGeom>
          <a:solidFill>
            <a:srgbClr val="C0386B"/>
          </a:solidFill>
          <a:ln w="12700">
            <a:solidFill>
              <a:srgbClr val="C0386B"/>
            </a:solidFill>
            <a:prstDash val="solid"/>
          </a:ln>
        </p:spPr>
      </p:sp>
      <p:sp>
        <p:nvSpPr>
          <p:cNvPr id="25" name="Text 22"/>
          <p:cNvSpPr txBox="1"/>
          <p:nvPr/>
        </p:nvSpPr>
        <p:spPr>
          <a:xfrm>
            <a:off x="4413504" y="1920240"/>
            <a:ext cx="123444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REFUTED · CORE</a:t>
            </a:r>
            <a:endParaRPr lang="en-US" sz="850" dirty="0"/>
          </a:p>
        </p:txBody>
      </p:sp>
      <p:sp>
        <p:nvSpPr>
          <p:cNvPr id="26" name="Text 23"/>
          <p:cNvSpPr txBox="1"/>
          <p:nvPr/>
        </p:nvSpPr>
        <p:spPr>
          <a:xfrm>
            <a:off x="5693664" y="1874520"/>
            <a:ext cx="208178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cs typeface="Amiri" pitchFamily="2" charset="-78"/>
              </a:rPr>
              <a:t>المُتَحَدِّثُ</a:t>
            </a:r>
            <a:endParaRPr lang="ar-SA" sz="160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2" charset="-78"/>
                <a:cs typeface="Amiri" pitchFamily="2" charset="-78"/>
              </a:rPr>
              <a:t>غَيْرَ أَنَّ الحَاجَةَ المُلِحَّةَ لَا تَتَحَمَّلُ الانْتِظَارَ.</a:t>
            </a:r>
            <a:endParaRPr lang="ar-SA" sz="210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However, the pressing need cannot wait. (the SPEAKER)</a:t>
            </a:r>
            <a:endParaRPr lang="en-US" sz="1200" dirty="0"/>
          </a:p>
        </p:txBody>
      </p:sp>
      <p:sp>
        <p:nvSpPr>
          <p:cNvPr id="29" name="Shape 26"/>
          <p:cNvSpPr/>
          <p:nvPr/>
        </p:nvSpPr>
        <p:spPr>
          <a:xfrm>
            <a:off x="4386072" y="3913632"/>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the real position</a:t>
            </a:r>
            <a:endParaRPr lang="en-US" sz="1100" dirty="0"/>
          </a:p>
        </p:txBody>
      </p:sp>
      <p:sp>
        <p:nvSpPr>
          <p:cNvPr id="31" name="Shape 28"/>
          <p:cNvSpPr/>
          <p:nvPr/>
        </p:nvSpPr>
        <p:spPr>
          <a:xfrm>
            <a:off x="457200"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1440180" cy="274320"/>
          </a:xfrm>
          <a:prstGeom prst="roundRect">
            <a:avLst>
              <a:gd name="adj" fmla="val 50000"/>
            </a:avLst>
          </a:prstGeom>
          <a:solidFill>
            <a:srgbClr val="6B4C9A"/>
          </a:solidFill>
          <a:ln w="12700">
            <a:solidFill>
              <a:srgbClr val="6B4C9A"/>
            </a:solidFill>
            <a:prstDash val="solid"/>
          </a:ln>
        </p:spPr>
      </p:sp>
      <p:sp>
        <p:nvSpPr>
          <p:cNvPr id="33" name="Text 30"/>
          <p:cNvSpPr txBox="1"/>
          <p:nvPr/>
        </p:nvSpPr>
        <p:spPr>
          <a:xfrm>
            <a:off x="594360" y="1920240"/>
            <a:ext cx="144018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PREDICT · STRETCH</a:t>
            </a:r>
            <a:endParaRPr lang="en-US" sz="850" dirty="0"/>
          </a:p>
        </p:txBody>
      </p:sp>
      <p:sp>
        <p:nvSpPr>
          <p:cNvPr id="34" name="Text 31"/>
          <p:cNvSpPr txBox="1"/>
          <p:nvPr/>
        </p:nvSpPr>
        <p:spPr>
          <a:xfrm>
            <a:off x="2080260" y="1874520"/>
            <a:ext cx="187604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cs typeface="Amiri" pitchFamily="2" charset="-78"/>
              </a:rPr>
              <a:t>تَنَبَّأْ</a:t>
            </a:r>
            <a:endParaRPr lang="ar-SA" sz="160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2" charset="-78"/>
                <a:cs typeface="Amiri" pitchFamily="2" charset="-78"/>
              </a:rPr>
              <a:t>صَحِيحٌ أَنَّ … ← غَيْرَ أَنَّ …</a:t>
            </a:r>
            <a:endParaRPr lang="ar-SA" sz="320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Hear the concession → expect the opposite.</a:t>
            </a:r>
            <a:endParaRPr lang="en-US" sz="1200" dirty="0"/>
          </a:p>
        </p:txBody>
      </p:sp>
      <p:sp>
        <p:nvSpPr>
          <p:cNvPr id="37" name="Shape 34"/>
          <p:cNvSpPr/>
          <p:nvPr/>
        </p:nvSpPr>
        <p:spPr>
          <a:xfrm>
            <a:off x="566928" y="3913632"/>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the answer is coming</a:t>
            </a:r>
            <a:endParaRPr lang="en-US" sz="1100" dirty="0"/>
          </a:p>
        </p:txBody>
      </p:sp>
      <p:sp>
        <p:nvSpPr>
          <p:cNvPr id="39" name="Shape 36"/>
          <p:cNvSpPr/>
          <p:nvPr/>
        </p:nvSpPr>
        <p:spPr>
          <a:xfrm>
            <a:off x="457200" y="50109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85800" y="5102352"/>
            <a:ext cx="2743200" cy="274320"/>
          </a:xfrm>
          <a:prstGeom prst="rect">
            <a:avLst/>
          </a:prstGeom>
          <a:noFill/>
          <a:ln/>
        </p:spPr>
        <p:txBody>
          <a:bodyPr wrap="square" lIns="0" tIns="0" rIns="0" bIns="0" rtlCol="0" anchor="ctr"/>
          <a:lstStyle/>
          <a:p>
            <a:pPr algn="l" indent="0" marL="0">
              <a:buNone/>
            </a:pPr>
            <a:r>
              <a:rPr lang="en-US" sz="1000" b="1" spc="200" kern="0" dirty="0">
                <a:solidFill>
                  <a:srgbClr val="B83227"/>
                </a:solidFill>
                <a:latin typeface="Calibri" pitchFamily="34" charset="0"/>
                <a:cs typeface="Amiri" pitchFamily="2" charset="-78"/>
              </a:rPr>
              <a:t>COMMON ERROR</a:t>
            </a:r>
            <a:endParaRPr lang="en-US" sz="1000" dirty="0"/>
          </a:p>
        </p:txBody>
      </p:sp>
      <p:sp>
        <p:nvSpPr>
          <p:cNvPr id="41" name="Text 38"/>
          <p:cNvSpPr txBox="1"/>
          <p:nvPr/>
        </p:nvSpPr>
        <p:spPr>
          <a:xfrm>
            <a:off x="685800" y="5394960"/>
            <a:ext cx="3291840" cy="822960"/>
          </a:xfrm>
          <a:prstGeom prst="rect">
            <a:avLst/>
          </a:prstGeom>
          <a:noFill/>
          <a:ln/>
        </p:spPr>
        <p:txBody>
          <a:bodyPr wrap="square" lIns="0" tIns="0" rIns="0" bIns="0" rtlCol="0" anchor="t"/>
          <a:lstStyle/>
          <a:p>
            <a:pPr algn="l" indent="0" marL="0">
              <a:buNone/>
            </a:pPr>
            <a:r>
              <a:rPr lang="en-US" sz="1150" dirty="0">
                <a:solidFill>
                  <a:srgbClr val="1F2A37"/>
                </a:solidFill>
                <a:latin typeface="Calibri" pitchFamily="34" charset="0"/>
                <a:cs typeface="Amiri" pitchFamily="2" charset="-78"/>
              </a:rPr>
              <a:t>Website mistake 1: the point after ṣaḥīḥun anna is a concession to the other side — not the speaker’s final view.</a:t>
            </a:r>
            <a:endParaRPr lang="en-US" sz="1150" dirty="0"/>
          </a:p>
        </p:txBody>
      </p:sp>
      <p:sp>
        <p:nvSpPr>
          <p:cNvPr id="42" name="Text 39"/>
          <p:cNvSpPr txBox="1"/>
          <p:nvPr/>
        </p:nvSpPr>
        <p:spPr>
          <a:xfrm>
            <a:off x="996696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650" b="1" dirty="0">
                <a:solidFill>
                  <a:srgbClr val="1B3B6F"/>
                </a:solidFill>
                <a:latin typeface="Amiri" pitchFamily="2" charset="-78"/>
                <a:cs typeface="Amiri" pitchFamily="2" charset="-78"/>
              </a:rPr>
              <a:t>تَسْلِيمٌ بِرَأْيِ الطَّرَفِ الآخَرِ</a:t>
            </a:r>
            <a:endParaRPr lang="ar-SA" sz="1650" dirty="0"/>
          </a:p>
        </p:txBody>
      </p:sp>
      <p:sp>
        <p:nvSpPr>
          <p:cNvPr id="43" name="Text 40"/>
          <p:cNvSpPr txBox="1"/>
          <p:nvPr/>
        </p:nvSpPr>
        <p:spPr>
          <a:xfrm>
            <a:off x="960120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44" name="Text 41"/>
          <p:cNvSpPr txBox="1"/>
          <p:nvPr/>
        </p:nvSpPr>
        <p:spPr>
          <a:xfrm>
            <a:off x="800100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700" b="1" dirty="0">
                <a:solidFill>
                  <a:srgbClr val="B83227"/>
                </a:solidFill>
                <a:latin typeface="Amiri" pitchFamily="2" charset="-78"/>
                <a:cs typeface="Amiri" pitchFamily="2" charset="-78"/>
              </a:rPr>
              <a:t>رَأْيُ المُتَحَدِّثِ النِّهَائِيُّ</a:t>
            </a:r>
            <a:endParaRPr lang="ar-SA" sz="1700" dirty="0"/>
          </a:p>
        </p:txBody>
      </p:sp>
      <p:sp>
        <p:nvSpPr>
          <p:cNvPr id="45" name="Shape 42"/>
          <p:cNvSpPr/>
          <p:nvPr/>
        </p:nvSpPr>
        <p:spPr>
          <a:xfrm>
            <a:off x="8138160" y="5669280"/>
            <a:ext cx="1371600" cy="0"/>
          </a:xfrm>
          <a:prstGeom prst="line">
            <a:avLst/>
          </a:prstGeom>
          <a:noFill/>
          <a:ln w="25400">
            <a:solidFill>
              <a:srgbClr val="B83227"/>
            </a:solidFill>
            <a:prstDash val="solid"/>
          </a:ln>
        </p:spPr>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50</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P5-L10 · Listening Skills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cs typeface="Amiri" pitchFamily="2" charset="-78"/>
              </a:rPr>
              <a:t>GRAMMAR FOCUS · PART 3 · CONDITIONALS AND TRIGGERS BY EAR (WEBSITE RULE 4, MISTAKE 2, QUIZ 5–7) · DEVELOP</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Wait for the marker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انْتَظِرِ العَلَامَةَ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P5-L10</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205472" y="1810512"/>
            <a:ext cx="44531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Example (website listening)</a:t>
            </a:r>
            <a:endParaRPr lang="en-US" sz="1100" dirty="0"/>
          </a:p>
        </p:txBody>
      </p:sp>
      <p:sp>
        <p:nvSpPr>
          <p:cNvPr id="17" name="Text 14"/>
          <p:cNvSpPr txBox="1"/>
          <p:nvPr/>
        </p:nvSpPr>
        <p:spPr>
          <a:xfrm>
            <a:off x="482803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It means</a:t>
            </a:r>
            <a:endParaRPr lang="en-US" sz="1100" dirty="0"/>
          </a:p>
        </p:txBody>
      </p:sp>
      <p:sp>
        <p:nvSpPr>
          <p:cNvPr id="18" name="Text 15"/>
          <p:cNvSpPr txBox="1"/>
          <p:nvPr/>
        </p:nvSpPr>
        <p:spPr>
          <a:xfrm>
            <a:off x="3090672" y="1810512"/>
            <a:ext cx="1591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Then</a:t>
            </a:r>
            <a:endParaRPr lang="en-US" sz="1100" dirty="0"/>
          </a:p>
        </p:txBody>
      </p:sp>
      <p:sp>
        <p:nvSpPr>
          <p:cNvPr id="19" name="Text 16"/>
          <p:cNvSpPr txBox="1"/>
          <p:nvPr/>
        </p:nvSpPr>
        <p:spPr>
          <a:xfrm>
            <a:off x="530352" y="1810512"/>
            <a:ext cx="24140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You hear</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7223760" y="2267712"/>
            <a:ext cx="441655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إِذَا اسْتُثْمِرَ فِي التَّعْلِيمِ المُبَكِّرِ، سَتَضِيقُ الفَجْوَةُ</a:t>
            </a:r>
            <a:endParaRPr lang="ar-SA" sz="1600" dirty="0"/>
          </a:p>
        </p:txBody>
      </p:sp>
      <p:sp>
        <p:nvSpPr>
          <p:cNvPr id="22" name="Text 19"/>
          <p:cNvSpPr txBox="1"/>
          <p:nvPr/>
        </p:nvSpPr>
        <p:spPr>
          <a:xfrm>
            <a:off x="4864608" y="2267712"/>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real plan (Type 1)</a:t>
            </a:r>
            <a:endParaRPr lang="en-US" sz="1100" dirty="0"/>
          </a:p>
        </p:txBody>
      </p:sp>
      <p:sp>
        <p:nvSpPr>
          <p:cNvPr id="23" name="Text 20"/>
          <p:cNvSpPr txBox="1"/>
          <p:nvPr/>
        </p:nvSpPr>
        <p:spPr>
          <a:xfrm>
            <a:off x="3108960" y="2267712"/>
            <a:ext cx="1554480" cy="682142"/>
          </a:xfrm>
          <a:prstGeom prst="rect">
            <a:avLst/>
          </a:prstGeom>
          <a:noFill/>
          <a:ln/>
        </p:spPr>
        <p:txBody>
          <a:bodyPr wrap="square" lIns="0" tIns="0" rIns="0" bIns="0" rtlCol="0" anchor="ctr"/>
          <a:lstStyle/>
          <a:p>
            <a:pPr rtl="1" algn="ctr" indent="0" marL="0">
              <a:buNone/>
            </a:pPr>
            <a:r>
              <a:rPr lang="ar-SA" altLang="en-US" sz="1800" b="1" dirty="0">
                <a:solidFill>
                  <a:srgbClr val="0E7C86"/>
                </a:solidFill>
                <a:latin typeface="Amiri" pitchFamily="2" charset="-78"/>
                <a:cs typeface="Amiri" pitchFamily="2" charset="-78"/>
              </a:rPr>
              <a:t>سَـ</a:t>
            </a:r>
            <a:endParaRPr lang="ar-SA" sz="1800" dirty="0"/>
          </a:p>
        </p:txBody>
      </p:sp>
      <p:sp>
        <p:nvSpPr>
          <p:cNvPr id="24" name="Text 21"/>
          <p:cNvSpPr txBox="1"/>
          <p:nvPr/>
        </p:nvSpPr>
        <p:spPr>
          <a:xfrm>
            <a:off x="548640" y="2267712"/>
            <a:ext cx="2377440" cy="682142"/>
          </a:xfrm>
          <a:prstGeom prst="rect">
            <a:avLst/>
          </a:prstGeom>
          <a:noFill/>
          <a:ln/>
        </p:spPr>
        <p:txBody>
          <a:bodyPr wrap="square" lIns="0" tIns="0" rIns="0" bIns="0" rtlCol="0" anchor="ctr"/>
          <a:lstStyle/>
          <a:p>
            <a:pPr rtl="1" algn="ctr" indent="0" marL="0">
              <a:buNone/>
            </a:pPr>
            <a:r>
              <a:rPr lang="ar-SA" altLang="en-US" sz="1800" b="1" dirty="0">
                <a:solidFill>
                  <a:srgbClr val="0E7C86"/>
                </a:solidFill>
                <a:latin typeface="Amiri" pitchFamily="2" charset="-78"/>
                <a:cs typeface="Amiri" pitchFamily="2" charset="-78"/>
              </a:rPr>
              <a:t>إِذَا</a:t>
            </a:r>
            <a:pPr rtl="1" algn="ctr" indent="0" marL="0">
              <a:buNone/>
            </a:pPr>
            <a:r>
              <a:rPr lang="ar-SA" altLang="en-US" sz="1800" b="1" dirty="0">
                <a:solidFill>
                  <a:srgbClr val="1B3B6F"/>
                </a:solidFill>
                <a:latin typeface="Amiri" pitchFamily="2" charset="-78"/>
                <a:cs typeface="Amiri" pitchFamily="2" charset="-78"/>
              </a:rPr>
              <a:t> …</a:t>
            </a:r>
            <a:endParaRPr lang="ar-SA" sz="18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7223760" y="3004718"/>
            <a:ext cx="441655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لَوْ عُولِجَ التَّفَاوُتُ قَبْلَ عُقُودٍ، لَتَحَسَّنَ الوَضْعُ</a:t>
            </a:r>
            <a:endParaRPr lang="ar-SA" sz="1600" dirty="0"/>
          </a:p>
        </p:txBody>
      </p:sp>
      <p:sp>
        <p:nvSpPr>
          <p:cNvPr id="29" name="Text 26"/>
          <p:cNvSpPr txBox="1"/>
          <p:nvPr/>
        </p:nvSpPr>
        <p:spPr>
          <a:xfrm>
            <a:off x="4864608" y="300471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it did NOT happen (Type 2)</a:t>
            </a:r>
            <a:endParaRPr lang="en-US" sz="1100" dirty="0"/>
          </a:p>
        </p:txBody>
      </p:sp>
      <p:sp>
        <p:nvSpPr>
          <p:cNvPr id="30" name="Text 27"/>
          <p:cNvSpPr txBox="1"/>
          <p:nvPr/>
        </p:nvSpPr>
        <p:spPr>
          <a:xfrm>
            <a:off x="3108960" y="3004718"/>
            <a:ext cx="1554480" cy="682142"/>
          </a:xfrm>
          <a:prstGeom prst="rect">
            <a:avLst/>
          </a:prstGeom>
          <a:noFill/>
          <a:ln/>
        </p:spPr>
        <p:txBody>
          <a:bodyPr wrap="square" lIns="0" tIns="0" rIns="0" bIns="0" rtlCol="0" anchor="ctr"/>
          <a:lstStyle/>
          <a:p>
            <a:pPr rtl="1" algn="ctr" indent="0" marL="0">
              <a:buNone/>
            </a:pPr>
            <a:r>
              <a:rPr lang="ar-SA" altLang="en-US" sz="1800" b="1" dirty="0">
                <a:solidFill>
                  <a:srgbClr val="7B3FA0"/>
                </a:solidFill>
                <a:latin typeface="Amiri" pitchFamily="2" charset="-78"/>
                <a:cs typeface="Amiri" pitchFamily="2" charset="-78"/>
              </a:rPr>
              <a:t>لَـ</a:t>
            </a:r>
            <a:endParaRPr lang="ar-SA" sz="1800" dirty="0"/>
          </a:p>
        </p:txBody>
      </p:sp>
      <p:sp>
        <p:nvSpPr>
          <p:cNvPr id="31" name="Text 28"/>
          <p:cNvSpPr txBox="1"/>
          <p:nvPr/>
        </p:nvSpPr>
        <p:spPr>
          <a:xfrm>
            <a:off x="548640" y="3004718"/>
            <a:ext cx="2377440" cy="682142"/>
          </a:xfrm>
          <a:prstGeom prst="rect">
            <a:avLst/>
          </a:prstGeom>
          <a:noFill/>
          <a:ln/>
        </p:spPr>
        <p:txBody>
          <a:bodyPr wrap="square" lIns="0" tIns="0" rIns="0" bIns="0" rtlCol="0" anchor="ctr"/>
          <a:lstStyle/>
          <a:p>
            <a:pPr rtl="1" algn="ctr" indent="0" marL="0">
              <a:buNone/>
            </a:pPr>
            <a:r>
              <a:rPr lang="ar-SA" altLang="en-US" sz="1800" b="1" dirty="0">
                <a:solidFill>
                  <a:srgbClr val="7B3FA0"/>
                </a:solidFill>
                <a:latin typeface="Amiri" pitchFamily="2" charset="-78"/>
                <a:cs typeface="Amiri" pitchFamily="2" charset="-78"/>
              </a:rPr>
              <a:t>لَوْ</a:t>
            </a:r>
            <a:pPr rtl="1" algn="ctr" indent="0" marL="0">
              <a:buNone/>
            </a:pPr>
            <a:r>
              <a:rPr lang="ar-SA" altLang="en-US" sz="1800" b="1" dirty="0">
                <a:solidFill>
                  <a:srgbClr val="1B3B6F"/>
                </a:solidFill>
                <a:latin typeface="Amiri" pitchFamily="2" charset="-78"/>
                <a:cs typeface="Amiri" pitchFamily="2" charset="-78"/>
              </a:rPr>
              <a:t> …</a:t>
            </a:r>
            <a:endParaRPr lang="ar-SA" sz="18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7223760" y="3741725"/>
            <a:ext cx="441655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يَتَطَلَّبُ الوَضْعُ أَنْ تَتَحَرَّكَ الحُكُومَاتُ فَوْرًا</a:t>
            </a:r>
            <a:endParaRPr lang="ar-SA" sz="1600" dirty="0"/>
          </a:p>
        </p:txBody>
      </p:sp>
      <p:sp>
        <p:nvSpPr>
          <p:cNvPr id="36" name="Text 33"/>
          <p:cNvSpPr txBox="1"/>
          <p:nvPr/>
        </p:nvSpPr>
        <p:spPr>
          <a:xfrm>
            <a:off x="4864608" y="3741725"/>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demand (not done yet)</a:t>
            </a:r>
            <a:endParaRPr lang="en-US" sz="1100" dirty="0"/>
          </a:p>
        </p:txBody>
      </p:sp>
      <p:sp>
        <p:nvSpPr>
          <p:cNvPr id="37" name="Text 34"/>
          <p:cNvSpPr txBox="1"/>
          <p:nvPr/>
        </p:nvSpPr>
        <p:spPr>
          <a:xfrm>
            <a:off x="3127248" y="3741725"/>
            <a:ext cx="15544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verb in -a</a:t>
            </a:r>
            <a:endParaRPr lang="en-US" sz="1100" dirty="0"/>
          </a:p>
        </p:txBody>
      </p:sp>
      <p:sp>
        <p:nvSpPr>
          <p:cNvPr id="38" name="Text 35"/>
          <p:cNvSpPr txBox="1"/>
          <p:nvPr/>
        </p:nvSpPr>
        <p:spPr>
          <a:xfrm>
            <a:off x="548640" y="3741725"/>
            <a:ext cx="2377440" cy="682142"/>
          </a:xfrm>
          <a:prstGeom prst="rect">
            <a:avLst/>
          </a:prstGeom>
          <a:noFill/>
          <a:ln/>
        </p:spPr>
        <p:txBody>
          <a:bodyPr wrap="square" lIns="0" tIns="0" rIns="0" bIns="0" rtlCol="0" anchor="ctr"/>
          <a:lstStyle/>
          <a:p>
            <a:pPr rtl="1" algn="ctr" indent="0" marL="0">
              <a:buNone/>
            </a:pPr>
            <a:r>
              <a:rPr lang="ar-SA" altLang="en-US" sz="1800" b="1" dirty="0">
                <a:solidFill>
                  <a:srgbClr val="D6336C"/>
                </a:solidFill>
                <a:latin typeface="Amiri" pitchFamily="2" charset="-78"/>
                <a:cs typeface="Amiri" pitchFamily="2" charset="-78"/>
              </a:rPr>
              <a:t>يَتَطَلَّبُ … أَنْ</a:t>
            </a:r>
            <a:endParaRPr lang="ar-SA" sz="18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7223760" y="4478731"/>
            <a:ext cx="441655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إِذَا اسْتُثْمِرَ فِي التَّعْلِيمِ … · لَوْ عُولِجَ التَّفَاوُتُ …</a:t>
            </a:r>
            <a:endParaRPr lang="ar-SA" sz="1600" dirty="0"/>
          </a:p>
        </p:txBody>
      </p:sp>
      <p:sp>
        <p:nvSpPr>
          <p:cNvPr id="41" name="Text 38"/>
          <p:cNvSpPr txBox="1"/>
          <p:nvPr/>
        </p:nvSpPr>
        <p:spPr>
          <a:xfrm>
            <a:off x="4864608" y="4478731"/>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passive past (no doer)</a:t>
            </a:r>
            <a:endParaRPr lang="en-US" sz="1100" dirty="0"/>
          </a:p>
        </p:txBody>
      </p:sp>
      <p:sp>
        <p:nvSpPr>
          <p:cNvPr id="42" name="Text 39"/>
          <p:cNvSpPr txBox="1"/>
          <p:nvPr/>
        </p:nvSpPr>
        <p:spPr>
          <a:xfrm>
            <a:off x="3127248" y="4478731"/>
            <a:ext cx="15544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 … i</a:t>
            </a:r>
            <a:endParaRPr lang="en-US" sz="1100" dirty="0"/>
          </a:p>
        </p:txBody>
      </p:sp>
      <p:sp>
        <p:nvSpPr>
          <p:cNvPr id="43" name="Text 40"/>
          <p:cNvSpPr txBox="1"/>
          <p:nvPr/>
        </p:nvSpPr>
        <p:spPr>
          <a:xfrm>
            <a:off x="548640" y="4478731"/>
            <a:ext cx="23774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اسْتُثْمِرَ · عُولِجَ</a:t>
            </a:r>
            <a:endParaRPr lang="ar-SA" sz="18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7223760" y="5215738"/>
            <a:ext cx="441655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العَدَالَةُ ضَرُورَةٌ لَا رَفَاهِيَةٌ</a:t>
            </a:r>
            <a:endParaRPr lang="ar-SA" sz="1600" dirty="0"/>
          </a:p>
        </p:txBody>
      </p:sp>
      <p:sp>
        <p:nvSpPr>
          <p:cNvPr id="46" name="Text 43"/>
          <p:cNvSpPr txBox="1"/>
          <p:nvPr/>
        </p:nvSpPr>
        <p:spPr>
          <a:xfrm>
            <a:off x="4864608" y="521573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X, not Y</a:t>
            </a:r>
            <a:endParaRPr lang="en-US" sz="1100" dirty="0"/>
          </a:p>
        </p:txBody>
      </p:sp>
      <p:sp>
        <p:nvSpPr>
          <p:cNvPr id="47" name="Text 44"/>
          <p:cNvSpPr txBox="1"/>
          <p:nvPr/>
        </p:nvSpPr>
        <p:spPr>
          <a:xfrm>
            <a:off x="3127248" y="5215738"/>
            <a:ext cx="15544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noun</a:t>
            </a:r>
            <a:endParaRPr lang="en-US" sz="1100" dirty="0"/>
          </a:p>
        </p:txBody>
      </p:sp>
      <p:sp>
        <p:nvSpPr>
          <p:cNvPr id="48" name="Text 45"/>
          <p:cNvSpPr txBox="1"/>
          <p:nvPr/>
        </p:nvSpPr>
        <p:spPr>
          <a:xfrm>
            <a:off x="548640" y="5215738"/>
            <a:ext cx="23774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 لَا …</a:t>
            </a:r>
            <a:endParaRPr lang="ar-SA" sz="18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mistake 2: law with a la- result is a supposition — not a real plan.</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50</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P5-L10 · Listening Skills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cs typeface="Amiri" pitchFamily="2" charset="-78"/>
              </a:rPr>
              <a:t>GRAMMAR FOCUS · PART 4 · THE STRATEGY GUIDE (WEBSITE READING, MISTAKE 3 AND WRITING MODEL) · STRETCH</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Before, during, after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قَبْلَ الاسْتِمَاعِ وَأَثْنَاءَهُ وَبَعْدَهُ</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P5-L10</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5376672" y="1810512"/>
            <a:ext cx="62819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From the website strategy guide</a:t>
            </a:r>
            <a:endParaRPr lang="en-US" sz="1100" dirty="0"/>
          </a:p>
        </p:txBody>
      </p:sp>
      <p:sp>
        <p:nvSpPr>
          <p:cNvPr id="17" name="Text 14"/>
          <p:cNvSpPr txBox="1"/>
          <p:nvPr/>
        </p:nvSpPr>
        <p:spPr>
          <a:xfrm>
            <a:off x="208483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What I do</a:t>
            </a:r>
            <a:endParaRPr lang="en-US" sz="1100" dirty="0"/>
          </a:p>
        </p:txBody>
      </p:sp>
      <p:sp>
        <p:nvSpPr>
          <p:cNvPr id="18" name="Text 15"/>
          <p:cNvSpPr txBox="1"/>
          <p:nvPr/>
        </p:nvSpPr>
        <p:spPr>
          <a:xfrm>
            <a:off x="530352" y="1810512"/>
            <a:ext cx="14081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Stage</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5394960" y="2267712"/>
            <a:ext cx="624535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أَقْرَأُ الأَسْئِلَةَ وَأَتَتَبَّعُ بِنْيَةَ الحُجَّةِ لَا الكَلِمَاتِ المُفْرَدَةَ</a:t>
            </a:r>
            <a:endParaRPr lang="ar-SA" sz="1600" dirty="0"/>
          </a:p>
        </p:txBody>
      </p:sp>
      <p:sp>
        <p:nvSpPr>
          <p:cNvPr id="21" name="Text 18"/>
          <p:cNvSpPr txBox="1"/>
          <p:nvPr/>
        </p:nvSpPr>
        <p:spPr>
          <a:xfrm>
            <a:off x="2121408" y="2267712"/>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read the questions, label each one</a:t>
            </a:r>
            <a:endParaRPr lang="en-US" sz="1100" dirty="0"/>
          </a:p>
        </p:txBody>
      </p:sp>
      <p:sp>
        <p:nvSpPr>
          <p:cNvPr id="22" name="Text 19"/>
          <p:cNvSpPr txBox="1"/>
          <p:nvPr/>
        </p:nvSpPr>
        <p:spPr>
          <a:xfrm>
            <a:off x="566928" y="2267712"/>
            <a:ext cx="13716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before</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6" name="Text 23"/>
          <p:cNvSpPr txBox="1"/>
          <p:nvPr/>
        </p:nvSpPr>
        <p:spPr>
          <a:xfrm>
            <a:off x="5394960" y="3004718"/>
            <a:ext cx="624535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اسْتَمِعْ أَوَّلًا إِلَى الأُطْرُوحَةِ فِي المُقَدِّمَةِ</a:t>
            </a:r>
            <a:endParaRPr lang="ar-SA" sz="1600" dirty="0"/>
          </a:p>
        </p:txBody>
      </p:sp>
      <p:sp>
        <p:nvSpPr>
          <p:cNvPr id="27" name="Text 24"/>
          <p:cNvSpPr txBox="1"/>
          <p:nvPr/>
        </p:nvSpPr>
        <p:spPr>
          <a:xfrm>
            <a:off x="2121408" y="3004718"/>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catch the thesis</a:t>
            </a:r>
            <a:endParaRPr lang="en-US" sz="1100" dirty="0"/>
          </a:p>
        </p:txBody>
      </p:sp>
      <p:sp>
        <p:nvSpPr>
          <p:cNvPr id="28" name="Text 25"/>
          <p:cNvSpPr txBox="1"/>
          <p:nvPr/>
        </p:nvSpPr>
        <p:spPr>
          <a:xfrm>
            <a:off x="566928" y="3004718"/>
            <a:ext cx="13716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during 1</a:t>
            </a:r>
            <a:endParaRPr lang="en-US" sz="1100" dirty="0"/>
          </a:p>
        </p:txBody>
      </p:sp>
      <p:sp>
        <p:nvSpPr>
          <p:cNvPr id="29" name="Shape 26"/>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2" name="Text 29"/>
          <p:cNvSpPr txBox="1"/>
          <p:nvPr/>
        </p:nvSpPr>
        <p:spPr>
          <a:xfrm>
            <a:off x="5394960" y="3741725"/>
            <a:ext cx="624535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تَرَقَّبْ «صَحِيحٌ أَنَّ» … وَبَعْدَهَا يَأْتِي الرَّدُّ بِـ«غَيْرَ أَنَّ»</a:t>
            </a:r>
            <a:endParaRPr lang="ar-SA" sz="1600" dirty="0"/>
          </a:p>
        </p:txBody>
      </p:sp>
      <p:sp>
        <p:nvSpPr>
          <p:cNvPr id="33" name="Text 30"/>
          <p:cNvSpPr txBox="1"/>
          <p:nvPr/>
        </p:nvSpPr>
        <p:spPr>
          <a:xfrm>
            <a:off x="2121408" y="3741725"/>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concession → expect the refutation</a:t>
            </a:r>
            <a:endParaRPr lang="en-US" sz="1100" dirty="0"/>
          </a:p>
        </p:txBody>
      </p:sp>
      <p:sp>
        <p:nvSpPr>
          <p:cNvPr id="34" name="Text 31"/>
          <p:cNvSpPr txBox="1"/>
          <p:nvPr/>
        </p:nvSpPr>
        <p:spPr>
          <a:xfrm>
            <a:off x="566928" y="3741725"/>
            <a:ext cx="13716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during 2</a:t>
            </a:r>
            <a:endParaRPr lang="en-US" sz="1100" dirty="0"/>
          </a:p>
        </p:txBody>
      </p:sp>
      <p:sp>
        <p:nvSpPr>
          <p:cNvPr id="35" name="Shape 3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6" name="Text 33"/>
          <p:cNvSpPr txBox="1"/>
          <p:nvPr/>
        </p:nvSpPr>
        <p:spPr>
          <a:xfrm>
            <a:off x="5394960" y="4478731"/>
            <a:ext cx="624535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تَرَقَّبْ «يَتَطَلَّبُ أَنْ» لِلْخَاتِمَةِ، وَ«لَوْ» مَعَ «لَـ» لِلشَّرْطِ الافْتِرَاضِيِّ</a:t>
            </a:r>
            <a:endParaRPr lang="ar-SA" sz="1600" dirty="0"/>
          </a:p>
        </p:txBody>
      </p:sp>
      <p:sp>
        <p:nvSpPr>
          <p:cNvPr id="37" name="Text 34"/>
          <p:cNvSpPr txBox="1"/>
          <p:nvPr/>
        </p:nvSpPr>
        <p:spPr>
          <a:xfrm>
            <a:off x="2121408" y="4478731"/>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trigger and conditional</a:t>
            </a:r>
            <a:endParaRPr lang="en-US" sz="1100" dirty="0"/>
          </a:p>
        </p:txBody>
      </p:sp>
      <p:sp>
        <p:nvSpPr>
          <p:cNvPr id="38" name="Text 35"/>
          <p:cNvSpPr txBox="1"/>
          <p:nvPr/>
        </p:nvSpPr>
        <p:spPr>
          <a:xfrm>
            <a:off x="566928" y="4478731"/>
            <a:ext cx="13716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during 3</a:t>
            </a:r>
            <a:endParaRPr lang="en-US" sz="1100" dirty="0"/>
          </a:p>
        </p:txBody>
      </p:sp>
      <p:sp>
        <p:nvSpPr>
          <p:cNvPr id="39" name="Shape 36"/>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0" name="Text 37"/>
          <p:cNvSpPr txBox="1"/>
          <p:nvPr/>
        </p:nvSpPr>
        <p:spPr>
          <a:xfrm>
            <a:off x="5394960" y="5215738"/>
            <a:ext cx="624535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فَإِذَا عَرَفْتَ البِنْيَةَ، تَنَبَّأْتَ بِمَا يَلِي، وَتَابَعْتَ الحُجَّةَ وَلَوْ فَاتَتْكَ كَلِمَاتٌ</a:t>
            </a:r>
            <a:endParaRPr lang="ar-SA" sz="1600" dirty="0"/>
          </a:p>
        </p:txBody>
      </p:sp>
      <p:sp>
        <p:nvSpPr>
          <p:cNvPr id="41" name="Text 38"/>
          <p:cNvSpPr txBox="1"/>
          <p:nvPr/>
        </p:nvSpPr>
        <p:spPr>
          <a:xfrm>
            <a:off x="2121408" y="5215738"/>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keep going if words slip past</a:t>
            </a:r>
            <a:endParaRPr lang="en-US" sz="1100" dirty="0"/>
          </a:p>
        </p:txBody>
      </p:sp>
      <p:sp>
        <p:nvSpPr>
          <p:cNvPr id="42" name="Text 39"/>
          <p:cNvSpPr txBox="1"/>
          <p:nvPr/>
        </p:nvSpPr>
        <p:spPr>
          <a:xfrm>
            <a:off x="566928" y="5215738"/>
            <a:ext cx="13716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after</a:t>
            </a:r>
            <a:endParaRPr lang="en-US" sz="110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mistake 3: do not chase every word — follow the structure, even when words slip past.</a:t>
            </a:r>
            <a:endParaRPr lang="en-US" sz="11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50</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P5-L10 · Listening Skills</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THE WEBSITE RULES WITH EXAMPLES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150" b="1" dirty="0">
                <a:solidFill>
                  <a:srgbClr val="1B3B6F"/>
                </a:solidFill>
                <a:latin typeface="Cambria" pitchFamily="34" charset="0"/>
                <a:cs typeface="Amiri" pitchFamily="2" charset="-78"/>
              </a:rPr>
              <a:t>Hearing argument structure in fast speech</a:t>
            </a:r>
            <a:endParaRPr lang="en-US" sz="215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سَمَاعُ بِنْيَةِ الحُجَّةِ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P5-L10</a:t>
            </a:r>
            <a:endParaRPr lang="en-US" sz="850" dirty="0"/>
          </a:p>
        </p:txBody>
      </p:sp>
      <p:sp>
        <p:nvSpPr>
          <p:cNvPr id="17" name="Shape 14"/>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40080" y="1883664"/>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1. Find the thesis</a:t>
            </a:r>
            <a:endParaRPr lang="en-US" sz="1250" dirty="0"/>
          </a:p>
        </p:txBody>
      </p:sp>
      <p:sp>
        <p:nvSpPr>
          <p:cNvPr id="19" name="Text 16"/>
          <p:cNvSpPr txBox="1"/>
          <p:nvPr/>
        </p:nvSpPr>
        <p:spPr>
          <a:xfrm>
            <a:off x="640080" y="2345436"/>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introduction → position</a:t>
            </a:r>
            <a:endParaRPr lang="en-US" sz="1050" dirty="0"/>
          </a:p>
        </p:txBody>
      </p:sp>
      <p:sp>
        <p:nvSpPr>
          <p:cNvPr id="20" name="Text 17"/>
          <p:cNvSpPr txBox="1"/>
          <p:nvPr/>
        </p:nvSpPr>
        <p:spPr>
          <a:xfrm>
            <a:off x="4297680" y="1847088"/>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cs typeface="Amiri" pitchFamily="2" charset="-78"/>
              </a:rPr>
              <a:t>يُشَارُ إِلَى أَنَّ التَّفَاوُتَ يُهَدِّدُ الاسْتِقْرَارَ</a:t>
            </a:r>
            <a:endParaRPr lang="ar-SA" sz="2000" dirty="0"/>
          </a:p>
        </p:txBody>
      </p:sp>
      <p:sp>
        <p:nvSpPr>
          <p:cNvPr id="21" name="Shape 18"/>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640080" y="3040380"/>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2. Concession signal</a:t>
            </a:r>
            <a:endParaRPr lang="en-US" sz="1250" dirty="0"/>
          </a:p>
        </p:txBody>
      </p:sp>
      <p:sp>
        <p:nvSpPr>
          <p:cNvPr id="23" name="Text 20"/>
          <p:cNvSpPr txBox="1"/>
          <p:nvPr/>
        </p:nvSpPr>
        <p:spPr>
          <a:xfrm>
            <a:off x="640080" y="3502152"/>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ṣaḥīḥun anna → a conceded point</a:t>
            </a:r>
            <a:endParaRPr lang="en-US" sz="1050" dirty="0"/>
          </a:p>
        </p:txBody>
      </p:sp>
      <p:sp>
        <p:nvSpPr>
          <p:cNvPr id="24" name="Text 21"/>
          <p:cNvSpPr txBox="1"/>
          <p:nvPr/>
        </p:nvSpPr>
        <p:spPr>
          <a:xfrm>
            <a:off x="4297680" y="3003804"/>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cs typeface="Amiri" pitchFamily="2" charset="-78"/>
              </a:rPr>
              <a:t>صَحِيحٌ أَنَّ الإِصْلَاحَاتِ تَحْتَاجُ وَقْتًا طَوِيلًا</a:t>
            </a:r>
            <a:endParaRPr lang="ar-SA" sz="200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40080" y="4197096"/>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3. Refutation signal</a:t>
            </a:r>
            <a:endParaRPr lang="en-US" sz="1250" dirty="0"/>
          </a:p>
        </p:txBody>
      </p:sp>
      <p:sp>
        <p:nvSpPr>
          <p:cNvPr id="27" name="Text 24"/>
          <p:cNvSpPr txBox="1"/>
          <p:nvPr/>
        </p:nvSpPr>
        <p:spPr>
          <a:xfrm>
            <a:off x="640080" y="4658868"/>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ghayra anna → the stronger point</a:t>
            </a:r>
            <a:endParaRPr lang="en-US" sz="1050" dirty="0"/>
          </a:p>
        </p:txBody>
      </p:sp>
      <p:sp>
        <p:nvSpPr>
          <p:cNvPr id="28" name="Text 25"/>
          <p:cNvSpPr txBox="1"/>
          <p:nvPr/>
        </p:nvSpPr>
        <p:spPr>
          <a:xfrm>
            <a:off x="4297680" y="4160520"/>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cs typeface="Amiri" pitchFamily="2" charset="-78"/>
              </a:rPr>
              <a:t>غَيْرَ أَنَّ الحَاجَةَ المُلِحَّةَ لَا تَتَحَمَّلُ الانْتِظَارَ</a:t>
            </a:r>
            <a:endParaRPr lang="ar-SA" sz="2000" dirty="0"/>
          </a:p>
        </p:txBody>
      </p:sp>
      <p:sp>
        <p:nvSpPr>
          <p:cNvPr id="29" name="Shape 26"/>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40080" y="5353812"/>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4. Trigger and conditionals</a:t>
            </a:r>
            <a:endParaRPr lang="en-US" sz="1250" dirty="0"/>
          </a:p>
        </p:txBody>
      </p:sp>
      <p:sp>
        <p:nvSpPr>
          <p:cNvPr id="31" name="Text 28"/>
          <p:cNvSpPr txBox="1"/>
          <p:nvPr/>
        </p:nvSpPr>
        <p:spPr>
          <a:xfrm>
            <a:off x="640080" y="5815584"/>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yataṭallabu an · idhā … sa- · law … la-</a:t>
            </a:r>
            <a:endParaRPr lang="en-US" sz="1050" dirty="0"/>
          </a:p>
        </p:txBody>
      </p:sp>
      <p:sp>
        <p:nvSpPr>
          <p:cNvPr id="32" name="Text 29"/>
          <p:cNvSpPr txBox="1"/>
          <p:nvPr/>
        </p:nvSpPr>
        <p:spPr>
          <a:xfrm>
            <a:off x="4297680" y="5317236"/>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cs typeface="Amiri" pitchFamily="2" charset="-78"/>
              </a:rPr>
              <a:t>يَتَطَلَّبُ الوَضْعُ أَنْ تَتَحَرَّكَ الحُكُومَاتُ فَوْرًا   ·   لَوْ عُولِجَ التَّفَاوُتُ مُبَكِّرًا، لَتَحَسَّنَ الوَضْعُ</a:t>
            </a:r>
            <a:endParaRPr lang="ar-SA" sz="200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50</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P5-L10 · Listening Skills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P5-L10</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is the thesis in an argumentative text?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 the conclusion only</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There is none</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 the introduction</a:t>
            </a:r>
            <a:endParaRPr lang="en-US" sz="12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صَحِيحٌ أَنَّ</a:t>
            </a:r>
            <a:pPr algn="l" indent="0" marL="0">
              <a:buNone/>
            </a:pPr>
            <a:r>
              <a:rPr lang="en-US" sz="1250" b="1" dirty="0">
                <a:solidFill>
                  <a:srgbClr val="1B3B6F"/>
                </a:solidFill>
                <a:latin typeface="Calibri" pitchFamily="34" charset="0"/>
                <a:cs typeface="Amiri" pitchFamily="2" charset="-78"/>
              </a:rPr>
              <a:t> signal in speech?</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point the speaker concedes</a:t>
            </a:r>
            <a:endParaRPr lang="en-US" sz="12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speaker's own conclusion</a:t>
            </a:r>
            <a:endParaRPr lang="en-US" sz="12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statistic</a:t>
            </a:r>
            <a:endParaRPr lang="en-US" sz="12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غَيْرَ أَنَّ</a:t>
            </a:r>
            <a:pPr algn="l" indent="0" marL="0">
              <a:buNone/>
            </a:pPr>
            <a:r>
              <a:rPr lang="en-US" sz="1250" b="1" dirty="0">
                <a:solidFill>
                  <a:srgbClr val="1B3B6F"/>
                </a:solidFill>
                <a:latin typeface="Calibri" pitchFamily="34" charset="0"/>
                <a:cs typeface="Amiri" pitchFamily="2" charset="-78"/>
              </a:rPr>
              <a:t> signal?</a:t>
            </a:r>
            <a:endParaRPr lang="en-US" sz="1250" dirty="0"/>
          </a:p>
        </p:txBody>
      </p:sp>
      <p:sp>
        <p:nvSpPr>
          <p:cNvPr id="45" name="Shape 42"/>
          <p:cNvSpPr/>
          <p:nvPr/>
        </p:nvSpPr>
        <p:spPr>
          <a:xfrm>
            <a:off x="640080" y="4873752"/>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969264" y="47731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Another concession</a:t>
            </a:r>
            <a:endParaRPr lang="en-US" sz="1250" dirty="0"/>
          </a:p>
        </p:txBody>
      </p:sp>
      <p:sp>
        <p:nvSpPr>
          <p:cNvPr id="48" name="Shape 45"/>
          <p:cNvSpPr/>
          <p:nvPr/>
        </p:nvSpPr>
        <p:spPr>
          <a:xfrm>
            <a:off x="640080" y="53309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969264" y="52303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speaker's stronger point (refutation)</a:t>
            </a:r>
            <a:endParaRPr lang="en-US" sz="1250" dirty="0"/>
          </a:p>
        </p:txBody>
      </p:sp>
      <p:sp>
        <p:nvSpPr>
          <p:cNvPr id="51" name="Shape 48"/>
          <p:cNvSpPr/>
          <p:nvPr/>
        </p:nvSpPr>
        <p:spPr>
          <a:xfrm>
            <a:off x="640080" y="57881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969264" y="56875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end</a:t>
            </a:r>
            <a:endParaRPr lang="en-US" sz="1250" dirty="0"/>
          </a:p>
        </p:txBody>
      </p:sp>
      <p:sp>
        <p:nvSpPr>
          <p:cNvPr id="54" name="Shape 5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6313932"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Whose view is the point after </a:t>
            </a:r>
            <a:pPr algn="l" indent="0" marL="0">
              <a:buNone/>
            </a:pPr>
            <a:r>
              <a:rPr lang="ar-SA" altLang="en-US" sz="1650" b="1" dirty="0">
                <a:solidFill>
                  <a:srgbClr val="1B3B6F"/>
                </a:solidFill>
                <a:latin typeface="Amiri" pitchFamily="2" charset="-78"/>
                <a:cs typeface="Amiri" pitchFamily="2" charset="-78"/>
              </a:rPr>
              <a:t>صَحِيحٌ أَنَّ</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58" name="Shape 55"/>
          <p:cNvSpPr/>
          <p:nvPr/>
        </p:nvSpPr>
        <p:spPr>
          <a:xfrm>
            <a:off x="6368796"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6697980" y="47731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other side's, conceded by the speaker</a:t>
            </a:r>
            <a:endParaRPr lang="en-US" sz="1250" dirty="0"/>
          </a:p>
        </p:txBody>
      </p:sp>
      <p:sp>
        <p:nvSpPr>
          <p:cNvPr id="61" name="Shape 58"/>
          <p:cNvSpPr/>
          <p:nvPr/>
        </p:nvSpPr>
        <p:spPr>
          <a:xfrm>
            <a:off x="6368796"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6697980" y="52303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speaker's own conclusion</a:t>
            </a:r>
            <a:endParaRPr lang="en-US" sz="1250" dirty="0"/>
          </a:p>
        </p:txBody>
      </p:sp>
      <p:sp>
        <p:nvSpPr>
          <p:cNvPr id="64" name="Shape 61"/>
          <p:cNvSpPr/>
          <p:nvPr/>
        </p:nvSpPr>
        <p:spPr>
          <a:xfrm>
            <a:off x="6368796"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6697980" y="56875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 one's</a:t>
            </a:r>
            <a:endParaRPr lang="en-US" sz="1250" dirty="0"/>
          </a:p>
        </p:txBody>
      </p:sp>
      <p:sp>
        <p:nvSpPr>
          <p:cNvPr id="67" name="Text 6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50</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P5-L10 · Listening Skills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P5-L10</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is the thesis in an argumentative text?</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In the conclusion only</a:t>
            </a:r>
            <a:endParaRPr lang="en-US" sz="125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There is none</a:t>
            </a:r>
            <a:endParaRPr lang="en-US" sz="125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In the introduction</a:t>
            </a:r>
            <a:endParaRPr lang="en-US" sz="125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thesis opens the text.</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صَحِيحٌ أَنَّ</a:t>
            </a:r>
            <a:pPr algn="l" indent="0" marL="0">
              <a:buNone/>
            </a:pPr>
            <a:r>
              <a:rPr lang="en-US" sz="1250" b="1" dirty="0">
                <a:solidFill>
                  <a:srgbClr val="1B3B6F"/>
                </a:solidFill>
                <a:latin typeface="Calibri" pitchFamily="34" charset="0"/>
                <a:cs typeface="Amiri" pitchFamily="2" charset="-78"/>
              </a:rPr>
              <a:t> signal in speech?</a:t>
            </a:r>
            <a:endParaRPr lang="en-US" sz="1250" dirty="0"/>
          </a:p>
        </p:txBody>
      </p:sp>
      <p:sp>
        <p:nvSpPr>
          <p:cNvPr id="34" name="Shape 31"/>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6368796"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point the speaker concedes</a:t>
            </a:r>
            <a:endParaRPr lang="en-US" sz="1250" dirty="0"/>
          </a:p>
        </p:txBody>
      </p:sp>
      <p:sp>
        <p:nvSpPr>
          <p:cNvPr id="38" name="Shape 35"/>
          <p:cNvSpPr/>
          <p:nvPr/>
        </p:nvSpPr>
        <p:spPr>
          <a:xfrm>
            <a:off x="6368796"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0416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speaker's own conclusion</a:t>
            </a:r>
            <a:endParaRPr lang="en-US" sz="1250" dirty="0"/>
          </a:p>
        </p:txBody>
      </p:sp>
      <p:sp>
        <p:nvSpPr>
          <p:cNvPr id="41" name="Shape 38"/>
          <p:cNvSpPr/>
          <p:nvPr/>
        </p:nvSpPr>
        <p:spPr>
          <a:xfrm>
            <a:off x="6368796"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statistic</a:t>
            </a:r>
            <a:endParaRPr lang="en-US" sz="125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صَحِيحٌ أَنَّ</a:t>
            </a:r>
            <a:pPr algn="l" indent="0" marL="0">
              <a:buNone/>
            </a:pPr>
            <a:r>
              <a:rPr lang="en-US" sz="1050" i="1" dirty="0">
                <a:solidFill>
                  <a:srgbClr val="8A6D1E"/>
                </a:solidFill>
                <a:latin typeface="Calibri" pitchFamily="34" charset="0"/>
                <a:cs typeface="Amiri" pitchFamily="2" charset="-78"/>
              </a:rPr>
              <a:t> signals a conceded point.</a:t>
            </a:r>
            <a:endParaRPr lang="en-US" sz="1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غَيْرَ أَنَّ</a:t>
            </a:r>
            <a:pPr algn="l" indent="0" marL="0">
              <a:buNone/>
            </a:pPr>
            <a:r>
              <a:rPr lang="en-US" sz="1250" b="1" dirty="0">
                <a:solidFill>
                  <a:srgbClr val="1B3B6F"/>
                </a:solidFill>
                <a:latin typeface="Calibri" pitchFamily="34" charset="0"/>
                <a:cs typeface="Amiri" pitchFamily="2" charset="-78"/>
              </a:rPr>
              <a:t> signal?</a:t>
            </a:r>
            <a:endParaRPr lang="en-US" sz="1250" dirty="0"/>
          </a:p>
        </p:txBody>
      </p:sp>
      <p:sp>
        <p:nvSpPr>
          <p:cNvPr id="49" name="Shape 46"/>
          <p:cNvSpPr/>
          <p:nvPr/>
        </p:nvSpPr>
        <p:spPr>
          <a:xfrm>
            <a:off x="640080" y="4831080"/>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969264" y="4773168"/>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Another concession</a:t>
            </a:r>
            <a:endParaRPr lang="en-US" sz="1250" dirty="0"/>
          </a:p>
        </p:txBody>
      </p:sp>
      <p:sp>
        <p:nvSpPr>
          <p:cNvPr id="52" name="Shape 49"/>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640080" y="5202936"/>
            <a:ext cx="256032" cy="256032"/>
          </a:xfrm>
          <a:prstGeom prst="ellipse">
            <a:avLst/>
          </a:prstGeom>
          <a:solidFill>
            <a:srgbClr val="2E8B57"/>
          </a:solidFill>
          <a:ln w="12700">
            <a:solidFill>
              <a:srgbClr val="2E8B57"/>
            </a:solidFill>
            <a:prstDash val="solid"/>
          </a:ln>
        </p:spPr>
      </p:sp>
      <p:sp>
        <p:nvSpPr>
          <p:cNvPr id="54" name="Text 5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5" name="Text 52"/>
          <p:cNvSpPr txBox="1"/>
          <p:nvPr/>
        </p:nvSpPr>
        <p:spPr>
          <a:xfrm>
            <a:off x="969264" y="5145024"/>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speaker's stronger point (refutation)</a:t>
            </a:r>
            <a:endParaRPr lang="en-US" sz="1250" dirty="0"/>
          </a:p>
        </p:txBody>
      </p:sp>
      <p:sp>
        <p:nvSpPr>
          <p:cNvPr id="56" name="Shape 53"/>
          <p:cNvSpPr/>
          <p:nvPr/>
        </p:nvSpPr>
        <p:spPr>
          <a:xfrm>
            <a:off x="640080" y="5574792"/>
            <a:ext cx="256032" cy="256032"/>
          </a:xfrm>
          <a:prstGeom prst="ellipse">
            <a:avLst/>
          </a:prstGeom>
          <a:solidFill>
            <a:srgbClr val="C9CED6"/>
          </a:solidFill>
          <a:ln w="12700">
            <a:solidFill>
              <a:srgbClr val="C9CED6"/>
            </a:solidFill>
            <a:prstDash val="solid"/>
          </a:ln>
        </p:spPr>
      </p:sp>
      <p:sp>
        <p:nvSpPr>
          <p:cNvPr id="57" name="Text 5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969264" y="551688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end</a:t>
            </a:r>
            <a:endParaRPr lang="en-US" sz="1250" dirty="0"/>
          </a:p>
        </p:txBody>
      </p:sp>
      <p:sp>
        <p:nvSpPr>
          <p:cNvPr id="59" name="Text 56"/>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غَيْرَ أَنَّ</a:t>
            </a:r>
            <a:pPr algn="l" indent="0" marL="0">
              <a:buNone/>
            </a:pPr>
            <a:r>
              <a:rPr lang="en-US" sz="1050" i="1" dirty="0">
                <a:solidFill>
                  <a:srgbClr val="8A6D1E"/>
                </a:solidFill>
                <a:latin typeface="Calibri" pitchFamily="34" charset="0"/>
                <a:cs typeface="Amiri" pitchFamily="2" charset="-78"/>
              </a:rPr>
              <a:t> signals the refutation — the stronger point.</a:t>
            </a:r>
            <a:endParaRPr lang="en-US" sz="1050" dirty="0"/>
          </a:p>
        </p:txBody>
      </p:sp>
      <p:sp>
        <p:nvSpPr>
          <p:cNvPr id="60" name="Shape 57"/>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6313932"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Whose view is the point after </a:t>
            </a:r>
            <a:pPr algn="l" indent="0" marL="0">
              <a:buNone/>
            </a:pPr>
            <a:r>
              <a:rPr lang="ar-SA" altLang="en-US" sz="1650" b="1" dirty="0">
                <a:solidFill>
                  <a:srgbClr val="1B3B6F"/>
                </a:solidFill>
                <a:latin typeface="Amiri" pitchFamily="2" charset="-78"/>
                <a:cs typeface="Amiri" pitchFamily="2" charset="-78"/>
              </a:rPr>
              <a:t>صَحِيحٌ أَنَّ</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64" name="Shape 61"/>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368796"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6697980" y="4773168"/>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other side's, conceded by the speaker</a:t>
            </a:r>
            <a:endParaRPr lang="en-US" sz="1250" dirty="0"/>
          </a:p>
        </p:txBody>
      </p:sp>
      <p:sp>
        <p:nvSpPr>
          <p:cNvPr id="68" name="Shape 65"/>
          <p:cNvSpPr/>
          <p:nvPr/>
        </p:nvSpPr>
        <p:spPr>
          <a:xfrm>
            <a:off x="6368796"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6697980" y="5145024"/>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speaker's own conclusion</a:t>
            </a:r>
            <a:endParaRPr lang="en-US" sz="1250" dirty="0"/>
          </a:p>
        </p:txBody>
      </p:sp>
      <p:sp>
        <p:nvSpPr>
          <p:cNvPr id="71" name="Shape 68"/>
          <p:cNvSpPr/>
          <p:nvPr/>
        </p:nvSpPr>
        <p:spPr>
          <a:xfrm>
            <a:off x="6368796"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6697980" y="551688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No one's</a:t>
            </a:r>
            <a:endParaRPr lang="en-US" sz="1250" dirty="0"/>
          </a:p>
        </p:txBody>
      </p:sp>
      <p:sp>
        <p:nvSpPr>
          <p:cNvPr id="74" name="Text 71"/>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conceded point belongs to the other side.</a:t>
            </a:r>
            <a:endParaRPr lang="en-US" sz="1050" dirty="0"/>
          </a:p>
        </p:txBody>
      </p:sp>
      <p:sp>
        <p:nvSpPr>
          <p:cNvPr id="75" name="Text 7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50</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P5-L10 · Listening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Watch me plan my listening</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P5-L10</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Before</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900" b="1" dirty="0">
                <a:solidFill>
                  <a:srgbClr val="1B3B6F"/>
                </a:solidFill>
                <a:latin typeface="Amiri" pitchFamily="2" charset="-78"/>
                <a:cs typeface="Amiri" pitchFamily="2" charset="-78"/>
              </a:rPr>
              <a:t>أَقْرَأُ الأَسْئِلَةَ وَأُحَدِّدُ العُنْصُرَ</a:t>
            </a:r>
            <a:endParaRPr lang="ar-SA" sz="190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Label.</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Thesis</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buNone/>
            </a:pPr>
            <a:r>
              <a:rPr lang="ar-SA" altLang="en-US" sz="2550" b="1" dirty="0">
                <a:solidFill>
                  <a:srgbClr val="C77700"/>
                </a:solidFill>
                <a:latin typeface="Amiri" pitchFamily="2" charset="-78"/>
                <a:cs typeface="Amiri" pitchFamily="2" charset="-78"/>
              </a:rPr>
              <a:t>الأُطْرُوحَةُ</a:t>
            </a:r>
            <a:pPr rtl="1" algn="ctr" indent="0" marL="0">
              <a:buNone/>
            </a:pPr>
            <a:r>
              <a:rPr lang="ar-SA" altLang="en-US" sz="2550" b="1" dirty="0">
                <a:solidFill>
                  <a:srgbClr val="1B3B6F"/>
                </a:solidFill>
                <a:latin typeface="Amiri" pitchFamily="2" charset="-78"/>
                <a:cs typeface="Amiri" pitchFamily="2" charset="-78"/>
              </a:rPr>
              <a:t> فِي المُقَدِّمَةِ</a:t>
            </a:r>
            <a:endParaRPr lang="ar-SA" sz="255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First claim.</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Concede → refute</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buNone/>
            </a:pPr>
            <a:r>
              <a:rPr lang="ar-SA" altLang="en-US" sz="2400" b="1" dirty="0">
                <a:solidFill>
                  <a:srgbClr val="1D5FBF"/>
                </a:solidFill>
                <a:latin typeface="Amiri" pitchFamily="2" charset="-78"/>
                <a:cs typeface="Amiri" pitchFamily="2" charset="-78"/>
              </a:rPr>
              <a:t>«صَحِيحٌ أَنَّ»</a:t>
            </a:r>
            <a:pPr rtl="1" algn="ctr" indent="0" marL="0">
              <a:buNone/>
            </a:pPr>
            <a:r>
              <a:rPr lang="ar-SA" altLang="en-US" sz="2400" b="1" dirty="0">
                <a:solidFill>
                  <a:srgbClr val="1B3B6F"/>
                </a:solidFill>
                <a:latin typeface="Amiri" pitchFamily="2" charset="-78"/>
                <a:cs typeface="Amiri" pitchFamily="2" charset="-78"/>
              </a:rPr>
              <a:t> ← </a:t>
            </a:r>
            <a:pPr rtl="1" algn="ctr" indent="0" marL="0">
              <a:buNone/>
            </a:pPr>
            <a:r>
              <a:rPr lang="ar-SA" altLang="en-US" sz="2400" b="1" dirty="0">
                <a:solidFill>
                  <a:srgbClr val="D6336C"/>
                </a:solidFill>
                <a:latin typeface="Amiri" pitchFamily="2" charset="-78"/>
                <a:cs typeface="Amiri" pitchFamily="2" charset="-78"/>
              </a:rPr>
              <a:t>«غَيْرَ أَنَّ»</a:t>
            </a:r>
            <a:endParaRPr lang="ar-SA" sz="240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Whose view?</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Close</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buNone/>
            </a:pPr>
            <a:r>
              <a:rPr lang="ar-SA" altLang="en-US" sz="2100" b="1" dirty="0">
                <a:solidFill>
                  <a:srgbClr val="0E7C86"/>
                </a:solidFill>
                <a:latin typeface="Amiri" pitchFamily="2" charset="-78"/>
                <a:cs typeface="Amiri" pitchFamily="2" charset="-78"/>
              </a:rPr>
              <a:t>«يَتَطَلَّبُ أَنْ»</a:t>
            </a:r>
            <a:pPr rtl="1" algn="ctr" indent="0" marL="0">
              <a:buNone/>
            </a:pPr>
            <a:r>
              <a:rPr lang="ar-SA" altLang="en-US" sz="2100" b="1" dirty="0">
                <a:solidFill>
                  <a:srgbClr val="1B3B6F"/>
                </a:solidFill>
                <a:latin typeface="Amiri" pitchFamily="2" charset="-78"/>
                <a:cs typeface="Amiri" pitchFamily="2" charset="-78"/>
              </a:rPr>
              <a:t> · </a:t>
            </a:r>
            <a:pPr rtl="1" algn="ctr" indent="0" marL="0">
              <a:buNone/>
            </a:pPr>
            <a:r>
              <a:rPr lang="ar-SA" altLang="en-US" sz="2100" b="1" dirty="0">
                <a:solidFill>
                  <a:srgbClr val="7B3FA0"/>
                </a:solidFill>
                <a:latin typeface="Amiri" pitchFamily="2" charset="-78"/>
                <a:cs typeface="Amiri" pitchFamily="2" charset="-78"/>
              </a:rPr>
              <a:t>«لَوْ» + «لَـ»</a:t>
            </a:r>
            <a:endParaRPr lang="ar-SA" sz="210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Wait for it.</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6565392" y="4736592"/>
            <a:ext cx="914400" cy="237744"/>
          </a:xfrm>
          <a:prstGeom prst="roundRect">
            <a:avLst>
              <a:gd name="adj" fmla="val 50000"/>
            </a:avLst>
          </a:prstGeom>
          <a:solidFill>
            <a:srgbClr val="C77700"/>
          </a:solidFill>
          <a:ln w="12700">
            <a:solidFill>
              <a:srgbClr val="C77700"/>
            </a:solidFill>
            <a:prstDash val="solid"/>
          </a:ln>
        </p:spPr>
      </p:sp>
      <p:sp>
        <p:nvSpPr>
          <p:cNvPr id="46" name="Text 42"/>
          <p:cNvSpPr txBox="1"/>
          <p:nvPr/>
        </p:nvSpPr>
        <p:spPr>
          <a:xfrm>
            <a:off x="6565392"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THESIS</a:t>
            </a:r>
            <a:endParaRPr lang="en-US" sz="800" dirty="0"/>
          </a:p>
        </p:txBody>
      </p:sp>
      <p:sp>
        <p:nvSpPr>
          <p:cNvPr id="47" name="Shape 43"/>
          <p:cNvSpPr/>
          <p:nvPr/>
        </p:nvSpPr>
        <p:spPr>
          <a:xfrm>
            <a:off x="7552944" y="4736592"/>
            <a:ext cx="914400" cy="237744"/>
          </a:xfrm>
          <a:prstGeom prst="roundRect">
            <a:avLst>
              <a:gd name="adj" fmla="val 50000"/>
            </a:avLst>
          </a:prstGeom>
          <a:solidFill>
            <a:srgbClr val="1D5FBF"/>
          </a:solidFill>
          <a:ln w="12700">
            <a:solidFill>
              <a:srgbClr val="1D5FBF"/>
            </a:solidFill>
            <a:prstDash val="solid"/>
          </a:ln>
        </p:spPr>
      </p:sp>
      <p:sp>
        <p:nvSpPr>
          <p:cNvPr id="48" name="Text 44"/>
          <p:cNvSpPr txBox="1"/>
          <p:nvPr/>
        </p:nvSpPr>
        <p:spPr>
          <a:xfrm>
            <a:off x="7552944"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CONCESSION</a:t>
            </a:r>
            <a:endParaRPr lang="en-US" sz="800" dirty="0"/>
          </a:p>
        </p:txBody>
      </p:sp>
      <p:sp>
        <p:nvSpPr>
          <p:cNvPr id="49" name="Shape 45"/>
          <p:cNvSpPr/>
          <p:nvPr/>
        </p:nvSpPr>
        <p:spPr>
          <a:xfrm>
            <a:off x="8540496" y="4736592"/>
            <a:ext cx="914400" cy="237744"/>
          </a:xfrm>
          <a:prstGeom prst="roundRect">
            <a:avLst>
              <a:gd name="adj" fmla="val 50000"/>
            </a:avLst>
          </a:prstGeom>
          <a:solidFill>
            <a:srgbClr val="D6336C"/>
          </a:solidFill>
          <a:ln w="12700">
            <a:solidFill>
              <a:srgbClr val="D6336C"/>
            </a:solidFill>
            <a:prstDash val="solid"/>
          </a:ln>
        </p:spPr>
      </p:sp>
      <p:sp>
        <p:nvSpPr>
          <p:cNvPr id="50" name="Text 46"/>
          <p:cNvSpPr txBox="1"/>
          <p:nvPr/>
        </p:nvSpPr>
        <p:spPr>
          <a:xfrm>
            <a:off x="8540496"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REFUTATION</a:t>
            </a:r>
            <a:endParaRPr lang="en-US" sz="800" dirty="0"/>
          </a:p>
        </p:txBody>
      </p:sp>
      <p:sp>
        <p:nvSpPr>
          <p:cNvPr id="51" name="Shape 47"/>
          <p:cNvSpPr/>
          <p:nvPr/>
        </p:nvSpPr>
        <p:spPr>
          <a:xfrm>
            <a:off x="9528048" y="4736592"/>
            <a:ext cx="914400" cy="237744"/>
          </a:xfrm>
          <a:prstGeom prst="roundRect">
            <a:avLst>
              <a:gd name="adj" fmla="val 50000"/>
            </a:avLst>
          </a:prstGeom>
          <a:solidFill>
            <a:srgbClr val="0E7C86"/>
          </a:solidFill>
          <a:ln w="12700">
            <a:solidFill>
              <a:srgbClr val="0E7C86"/>
            </a:solidFill>
            <a:prstDash val="solid"/>
          </a:ln>
        </p:spPr>
      </p:sp>
      <p:sp>
        <p:nvSpPr>
          <p:cNvPr id="52" name="Text 48"/>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TRIGGER</a:t>
            </a:r>
            <a:endParaRPr lang="en-US" sz="800" dirty="0"/>
          </a:p>
        </p:txBody>
      </p:sp>
      <p:sp>
        <p:nvSpPr>
          <p:cNvPr id="53" name="Shape 49"/>
          <p:cNvSpPr/>
          <p:nvPr/>
        </p:nvSpPr>
        <p:spPr>
          <a:xfrm>
            <a:off x="10515600" y="4736592"/>
            <a:ext cx="914400" cy="237744"/>
          </a:xfrm>
          <a:prstGeom prst="roundRect">
            <a:avLst>
              <a:gd name="adj" fmla="val 50000"/>
            </a:avLst>
          </a:prstGeom>
          <a:solidFill>
            <a:srgbClr val="7B3FA0"/>
          </a:solidFill>
          <a:ln w="12700">
            <a:solidFill>
              <a:srgbClr val="7B3FA0"/>
            </a:solidFill>
            <a:prstDash val="solid"/>
          </a:ln>
        </p:spPr>
      </p:sp>
      <p:sp>
        <p:nvSpPr>
          <p:cNvPr id="54" name="Text 50"/>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TYPE 2</a:t>
            </a:r>
            <a:endParaRPr lang="en-US" sz="800" dirty="0"/>
          </a:p>
        </p:txBody>
      </p:sp>
      <p:sp>
        <p:nvSpPr>
          <p:cNvPr id="55" name="Text 51"/>
          <p:cNvSpPr txBox="1"/>
          <p:nvPr/>
        </p:nvSpPr>
        <p:spPr>
          <a:xfrm>
            <a:off x="685800" y="5029200"/>
            <a:ext cx="10817352" cy="731520"/>
          </a:xfrm>
          <a:prstGeom prst="rect">
            <a:avLst/>
          </a:prstGeom>
          <a:noFill/>
          <a:ln/>
        </p:spPr>
        <p:txBody>
          <a:bodyPr wrap="square" lIns="0" tIns="0" rIns="0" bIns="0" rtlCol="0" anchor="ctr"/>
          <a:lstStyle/>
          <a:p>
            <a:pPr rtl="1" algn="r" indent="0" marL="0">
              <a:lnSpc>
                <a:spcPct val="120000"/>
              </a:lnSpc>
              <a:buNone/>
            </a:pPr>
            <a:r>
              <a:rPr lang="ar-SA" altLang="en-US" sz="1400" b="1" dirty="0">
                <a:solidFill>
                  <a:srgbClr val="1B3B6F"/>
                </a:solidFill>
                <a:latin typeface="Amiri" pitchFamily="2" charset="-78"/>
                <a:cs typeface="Amiri" pitchFamily="2" charset="-78"/>
              </a:rPr>
              <a:t>قَبْلَ الاسْتِمَاعِ إِلَى نَصٍّ جَدَلِيٍّ، أَقْرَأُ الأَسْئِلَةَ وَأَتَتَبَّعُ بِنْيَةَ الحُجَّةِ لَا الكَلِمَاتِ المُفْرَدَةَ. أُصْغِي أَوَّلًا إِلَى </a:t>
            </a:r>
            <a:pPr rtl="1" algn="r" indent="0" marL="0">
              <a:lnSpc>
                <a:spcPct val="120000"/>
              </a:lnSpc>
              <a:buNone/>
            </a:pPr>
            <a:r>
              <a:rPr lang="ar-SA" altLang="en-US" sz="1400" b="1" dirty="0">
                <a:solidFill>
                  <a:srgbClr val="C77700"/>
                </a:solidFill>
                <a:latin typeface="Amiri" pitchFamily="2" charset="-78"/>
                <a:cs typeface="Amiri" pitchFamily="2" charset="-78"/>
              </a:rPr>
              <a:t>الأُطْرُوحَةِ</a:t>
            </a:r>
            <a:pPr rtl="1" algn="r" indent="0" marL="0">
              <a:lnSpc>
                <a:spcPct val="120000"/>
              </a:lnSpc>
              <a:buNone/>
            </a:pPr>
            <a:r>
              <a:rPr lang="ar-SA" altLang="en-US" sz="1400" b="1" dirty="0">
                <a:solidFill>
                  <a:srgbClr val="1B3B6F"/>
                </a:solidFill>
                <a:latin typeface="Amiri" pitchFamily="2" charset="-78"/>
                <a:cs typeface="Amiri" pitchFamily="2" charset="-78"/>
              </a:rPr>
              <a:t> فِي المُقَدِّمَةِ. ثُمَّ أَتَرَقَّبُ </a:t>
            </a:r>
            <a:pPr rtl="1" algn="r" indent="0" marL="0">
              <a:lnSpc>
                <a:spcPct val="120000"/>
              </a:lnSpc>
              <a:buNone/>
            </a:pPr>
            <a:r>
              <a:rPr lang="ar-SA" altLang="en-US" sz="1400" b="1" dirty="0">
                <a:solidFill>
                  <a:srgbClr val="1D5FBF"/>
                </a:solidFill>
                <a:latin typeface="Amiri" pitchFamily="2" charset="-78"/>
                <a:cs typeface="Amiri" pitchFamily="2" charset="-78"/>
              </a:rPr>
              <a:t>«صَحِيحٌ أَنَّ»</a:t>
            </a:r>
            <a:pPr rtl="1" algn="r" indent="0" marL="0">
              <a:lnSpc>
                <a:spcPct val="120000"/>
              </a:lnSpc>
              <a:buNone/>
            </a:pPr>
            <a:r>
              <a:rPr lang="ar-SA" altLang="en-US" sz="1400" b="1" dirty="0">
                <a:solidFill>
                  <a:srgbClr val="1B3B6F"/>
                </a:solidFill>
                <a:latin typeface="Amiri" pitchFamily="2" charset="-78"/>
                <a:cs typeface="Amiri" pitchFamily="2" charset="-78"/>
              </a:rPr>
              <a:t>، فَهِيَ تَسْلِيمٌ بِرَأْيِ الطَّرَفِ الآخَرِ، لَا رَأْيُ المُتَحَدِّثِ. وَبَعْدَهَا يَأْتِي الرَّدُّ بِـ</a:t>
            </a:r>
            <a:pPr rtl="1" algn="r" indent="0" marL="0">
              <a:lnSpc>
                <a:spcPct val="120000"/>
              </a:lnSpc>
              <a:buNone/>
            </a:pPr>
            <a:r>
              <a:rPr lang="ar-SA" altLang="en-US" sz="1400" b="1" dirty="0">
                <a:solidFill>
                  <a:srgbClr val="D6336C"/>
                </a:solidFill>
                <a:latin typeface="Amiri" pitchFamily="2" charset="-78"/>
                <a:cs typeface="Amiri" pitchFamily="2" charset="-78"/>
              </a:rPr>
              <a:t>«غَيْرَ أَنَّ»</a:t>
            </a:r>
            <a:pPr rtl="1" algn="r" indent="0" marL="0">
              <a:lnSpc>
                <a:spcPct val="120000"/>
              </a:lnSpc>
              <a:buNone/>
            </a:pPr>
            <a:r>
              <a:rPr lang="ar-SA" altLang="en-US" sz="1400" b="1" dirty="0">
                <a:solidFill>
                  <a:srgbClr val="1B3B6F"/>
                </a:solidFill>
                <a:latin typeface="Amiri" pitchFamily="2" charset="-78"/>
                <a:cs typeface="Amiri" pitchFamily="2" charset="-78"/>
              </a:rPr>
              <a:t>، وَهُوَ المَوْقِفُ الأَقْوَى. وَأَتَرَقَّبُ </a:t>
            </a:r>
            <a:pPr rtl="1" algn="r" indent="0" marL="0">
              <a:lnSpc>
                <a:spcPct val="120000"/>
              </a:lnSpc>
              <a:buNone/>
            </a:pPr>
            <a:r>
              <a:rPr lang="ar-SA" altLang="en-US" sz="1400" b="1" dirty="0">
                <a:solidFill>
                  <a:srgbClr val="0E7C86"/>
                </a:solidFill>
                <a:latin typeface="Amiri" pitchFamily="2" charset="-78"/>
                <a:cs typeface="Amiri" pitchFamily="2" charset="-78"/>
              </a:rPr>
              <a:t>«يَتَطَلَّبُ أَنْ»</a:t>
            </a:r>
            <a:pPr rtl="1" algn="r" indent="0" marL="0">
              <a:lnSpc>
                <a:spcPct val="120000"/>
              </a:lnSpc>
              <a:buNone/>
            </a:pPr>
            <a:r>
              <a:rPr lang="ar-SA" altLang="en-US" sz="1400" b="1" dirty="0">
                <a:solidFill>
                  <a:srgbClr val="1B3B6F"/>
                </a:solidFill>
                <a:latin typeface="Amiri" pitchFamily="2" charset="-78"/>
                <a:cs typeface="Amiri" pitchFamily="2" charset="-78"/>
              </a:rPr>
              <a:t> لِلْخَاتِمَةِ، وَ</a:t>
            </a:r>
            <a:pPr rtl="1" algn="r" indent="0" marL="0">
              <a:lnSpc>
                <a:spcPct val="120000"/>
              </a:lnSpc>
              <a:buNone/>
            </a:pPr>
            <a:r>
              <a:rPr lang="ar-SA" altLang="en-US" sz="1400" b="1" dirty="0">
                <a:solidFill>
                  <a:srgbClr val="7B3FA0"/>
                </a:solidFill>
                <a:latin typeface="Amiri" pitchFamily="2" charset="-78"/>
                <a:cs typeface="Amiri" pitchFamily="2" charset="-78"/>
              </a:rPr>
              <a:t>«لَوْ» مَعَ «لَـ»</a:t>
            </a:r>
            <a:pPr rtl="1" algn="r" indent="0" marL="0">
              <a:lnSpc>
                <a:spcPct val="120000"/>
              </a:lnSpc>
              <a:buNone/>
            </a:pPr>
            <a:r>
              <a:rPr lang="ar-SA" altLang="en-US" sz="1400" b="1" dirty="0">
                <a:solidFill>
                  <a:srgbClr val="1B3B6F"/>
                </a:solidFill>
                <a:latin typeface="Amiri" pitchFamily="2" charset="-78"/>
                <a:cs typeface="Amiri" pitchFamily="2" charset="-78"/>
              </a:rPr>
              <a:t> لِلشَّرْطِ الافْتِرَاضِيِّ.</a:t>
            </a:r>
            <a:endParaRPr lang="ar-SA" sz="1400" dirty="0"/>
          </a:p>
        </p:txBody>
      </p:sp>
      <p:sp>
        <p:nvSpPr>
          <p:cNvPr id="56" name="Text 52"/>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900" i="1" dirty="0">
                <a:solidFill>
                  <a:srgbClr val="5A6472"/>
                </a:solidFill>
                <a:latin typeface="Calibri" pitchFamily="34" charset="0"/>
                <a:cs typeface="Amiri" pitchFamily="2" charset="-78"/>
              </a:rPr>
              <a:t>Before listening to an argumentative text, I read the questions and follow the structure of the argument, not single words. I listen first for the thesis in the introduction. Then I wait for “ṣaḥīḥun anna”, which is a concession to the other side, not the speaker’s view. After it comes the response with “ghayra anna”, which is the stronger position. And I wait for “yataṭallabu an” for the conclusion, and “law” with “la-” for the hypothetical conditional.</a:t>
            </a:r>
            <a:endParaRPr lang="en-US" sz="900" dirty="0"/>
          </a:p>
        </p:txBody>
      </p:sp>
      <p:sp>
        <p:nvSpPr>
          <p:cNvPr id="57" name="Text 5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50</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P5-L10 · Listening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MODEL SENTENCES FROM THE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P5-L10</a:t>
            </a:r>
            <a:endParaRPr lang="en-US" sz="850" dirty="0"/>
          </a:p>
        </p:txBody>
      </p:sp>
      <p:sp>
        <p:nvSpPr>
          <p:cNvPr id="15" name="Shape 12"/>
          <p:cNvSpPr/>
          <p:nvPr/>
        </p:nvSpPr>
        <p:spPr>
          <a:xfrm>
            <a:off x="457200" y="1810512"/>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316480"/>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31648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13411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صَحِيحٌ أَنَّ الإِصْلَاحَاتِ تَحْتَاجُ وَقْتًا طَوِيلًا</a:t>
            </a:r>
            <a:endParaRPr lang="ar-SA" sz="2600" dirty="0"/>
          </a:p>
        </p:txBody>
      </p:sp>
      <p:sp>
        <p:nvSpPr>
          <p:cNvPr id="19" name="Text 16"/>
          <p:cNvSpPr txBox="1"/>
          <p:nvPr/>
        </p:nvSpPr>
        <p:spPr>
          <a:xfrm>
            <a:off x="685800" y="1856232"/>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it is true that reforms need a long time</a:t>
            </a:r>
            <a:endParaRPr lang="en-US" sz="1250" dirty="0"/>
          </a:p>
          <a:p>
            <a:pPr indent="0" marL="0">
              <a:buNone/>
            </a:pPr>
            <a:r>
              <a:rPr lang="en-US" sz="1050" i="1" dirty="0">
                <a:solidFill>
                  <a:srgbClr val="8A6D1E"/>
                </a:solidFill>
                <a:latin typeface="Calibri" pitchFamily="34" charset="0"/>
                <a:cs typeface="Amiri" pitchFamily="2" charset="-78"/>
              </a:rPr>
              <a:t>Concession signal: ṣaḥīḥun anna.</a:t>
            </a:r>
            <a:endParaRPr lang="en-US" sz="1250" dirty="0"/>
          </a:p>
        </p:txBody>
      </p:sp>
      <p:sp>
        <p:nvSpPr>
          <p:cNvPr id="20" name="Shape 17"/>
          <p:cNvSpPr/>
          <p:nvPr/>
        </p:nvSpPr>
        <p:spPr>
          <a:xfrm>
            <a:off x="457200" y="3352800"/>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858768"/>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85876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389376"/>
            <a:ext cx="6492240" cy="13411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غَيْرَ أَنَّ الحَاجَةَ المُلِحَّةَ لَا تَتَحَمَّلُ الانْتِظَارَ</a:t>
            </a:r>
            <a:endParaRPr lang="ar-SA" sz="2600" dirty="0"/>
          </a:p>
        </p:txBody>
      </p:sp>
      <p:sp>
        <p:nvSpPr>
          <p:cNvPr id="24" name="Text 21"/>
          <p:cNvSpPr txBox="1"/>
          <p:nvPr/>
        </p:nvSpPr>
        <p:spPr>
          <a:xfrm>
            <a:off x="685800" y="3398520"/>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however, the pressing need cannot bear waiting</a:t>
            </a:r>
            <a:endParaRPr lang="en-US" sz="1250" dirty="0"/>
          </a:p>
          <a:p>
            <a:pPr indent="0" marL="0">
              <a:buNone/>
            </a:pPr>
            <a:r>
              <a:rPr lang="en-US" sz="1050" i="1" dirty="0">
                <a:solidFill>
                  <a:srgbClr val="8A6D1E"/>
                </a:solidFill>
                <a:latin typeface="Calibri" pitchFamily="34" charset="0"/>
                <a:cs typeface="Amiri" pitchFamily="2" charset="-78"/>
              </a:rPr>
              <a:t>Refutation signal: ghayra anna.</a:t>
            </a:r>
            <a:endParaRPr lang="en-US" sz="1250" dirty="0"/>
          </a:p>
        </p:txBody>
      </p:sp>
      <p:sp>
        <p:nvSpPr>
          <p:cNvPr id="25" name="Shape 22"/>
          <p:cNvSpPr/>
          <p:nvPr/>
        </p:nvSpPr>
        <p:spPr>
          <a:xfrm>
            <a:off x="457200" y="4895088"/>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540105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540105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931664"/>
            <a:ext cx="6492240" cy="13411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يَتَطَلَّبُ الوَضْعُ أَنْ تَتَحَرَّكَ الحُكُومَاتُ فَوْرًا</a:t>
            </a:r>
            <a:endParaRPr lang="ar-SA" sz="2600" dirty="0"/>
          </a:p>
        </p:txBody>
      </p:sp>
      <p:sp>
        <p:nvSpPr>
          <p:cNvPr id="29" name="Text 26"/>
          <p:cNvSpPr txBox="1"/>
          <p:nvPr/>
        </p:nvSpPr>
        <p:spPr>
          <a:xfrm>
            <a:off x="685800" y="4940808"/>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the situation requires governments to act immediately</a:t>
            </a:r>
            <a:endParaRPr lang="en-US" sz="1250" dirty="0"/>
          </a:p>
          <a:p>
            <a:pPr indent="0" marL="0">
              <a:buNone/>
            </a:pPr>
            <a:r>
              <a:rPr lang="en-US" sz="1050" i="1" dirty="0">
                <a:solidFill>
                  <a:srgbClr val="8A6D1E"/>
                </a:solidFill>
                <a:latin typeface="Calibri" pitchFamily="34" charset="0"/>
                <a:cs typeface="Amiri" pitchFamily="2" charset="-78"/>
              </a:rPr>
              <a:t>Necessity trigger + subjunctive.</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50</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P5-L10 · Listening Skills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Shape 8"/>
          <p:cNvSpPr/>
          <p:nvPr/>
        </p:nvSpPr>
        <p:spPr>
          <a:xfrm>
            <a:off x="6273698"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73698"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REPORT WHAT YOU HEARD (WEBSITE LIVE BUILDER)</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150" b="1" dirty="0">
                <a:solidFill>
                  <a:srgbClr val="1B3B6F"/>
                </a:solidFill>
                <a:latin typeface="Cambria" pitchFamily="34" charset="0"/>
                <a:cs typeface="Amiri" pitchFamily="2" charset="-78"/>
              </a:rPr>
              <a:t>Thesis + concession–refutation + conclusion</a:t>
            </a:r>
            <a:endParaRPr lang="en-US" sz="215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تَقْرِيرٌ عَمَّا سَمِعْتَ</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P5-L10</a:t>
            </a:r>
            <a:endParaRPr lang="en-US" sz="850" dirty="0"/>
          </a:p>
        </p:txBody>
      </p:sp>
      <p:sp>
        <p:nvSpPr>
          <p:cNvPr id="17" name="Shape 14"/>
          <p:cNvSpPr/>
          <p:nvPr/>
        </p:nvSpPr>
        <p:spPr>
          <a:xfrm>
            <a:off x="457200" y="1810512"/>
            <a:ext cx="11274552" cy="384048"/>
          </a:xfrm>
          <a:prstGeom prst="rect">
            <a:avLst/>
          </a:prstGeom>
          <a:solidFill>
            <a:srgbClr val="1B3B6F"/>
          </a:solidFill>
          <a:ln w="12700">
            <a:solidFill>
              <a:srgbClr val="1B3B6F"/>
            </a:solidFill>
            <a:prstDash val="solid"/>
          </a:ln>
        </p:spPr>
      </p:sp>
      <p:sp>
        <p:nvSpPr>
          <p:cNvPr id="18" name="Text 15"/>
          <p:cNvSpPr txBox="1"/>
          <p:nvPr/>
        </p:nvSpPr>
        <p:spPr>
          <a:xfrm>
            <a:off x="8330184" y="1810512"/>
            <a:ext cx="33284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 · The thesis</a:t>
            </a:r>
            <a:endParaRPr lang="en-US" sz="1100" dirty="0"/>
          </a:p>
        </p:txBody>
      </p:sp>
      <p:sp>
        <p:nvSpPr>
          <p:cNvPr id="19" name="Text 16"/>
          <p:cNvSpPr txBox="1"/>
          <p:nvPr/>
        </p:nvSpPr>
        <p:spPr>
          <a:xfrm>
            <a:off x="4215384" y="1810512"/>
            <a:ext cx="39684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 · Conceded, then refuted</a:t>
            </a:r>
            <a:endParaRPr lang="en-US" sz="1100" dirty="0"/>
          </a:p>
        </p:txBody>
      </p:sp>
      <p:sp>
        <p:nvSpPr>
          <p:cNvPr id="20" name="Text 17"/>
          <p:cNvSpPr txBox="1"/>
          <p:nvPr/>
        </p:nvSpPr>
        <p:spPr>
          <a:xfrm>
            <a:off x="530352" y="1810512"/>
            <a:ext cx="35387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 · The conclusion</a:t>
            </a:r>
            <a:endParaRPr lang="en-US" sz="1100" dirty="0"/>
          </a:p>
        </p:txBody>
      </p:sp>
      <p:sp>
        <p:nvSpPr>
          <p:cNvPr id="21" name="Shape 18"/>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2" name="Text 19"/>
          <p:cNvSpPr txBox="1"/>
          <p:nvPr/>
        </p:nvSpPr>
        <p:spPr>
          <a:xfrm>
            <a:off x="8348472" y="2267712"/>
            <a:ext cx="3291840" cy="731520"/>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أُطْرُوحَةُ المُتَحَدِّثِ أَنَّ التَّفَاوُتَ يُهَدِّدُ الاسْتِقْرَارَ</a:t>
            </a:r>
            <a:endParaRPr lang="ar-SA" sz="1500" dirty="0"/>
          </a:p>
        </p:txBody>
      </p:sp>
      <p:sp>
        <p:nvSpPr>
          <p:cNvPr id="23" name="Text 20"/>
          <p:cNvSpPr txBox="1"/>
          <p:nvPr/>
        </p:nvSpPr>
        <p:spPr>
          <a:xfrm>
            <a:off x="4233672" y="2267712"/>
            <a:ext cx="3931920" cy="731520"/>
          </a:xfrm>
          <a:prstGeom prst="rect">
            <a:avLst/>
          </a:prstGeom>
          <a:noFill/>
          <a:ln/>
        </p:spPr>
        <p:txBody>
          <a:bodyPr wrap="square" lIns="0" tIns="0" rIns="0" bIns="0" rtlCol="0" anchor="ctr"/>
          <a:lstStyle/>
          <a:p>
            <a:pPr rtl="1" algn="ctr" indent="0" marL="0">
              <a:lnSpc>
                <a:spcPct val="120000"/>
              </a:lnSpc>
              <a:buNone/>
            </a:pPr>
            <a:r>
              <a:rPr lang="ar-SA" altLang="en-US" sz="1400" b="1" dirty="0">
                <a:solidFill>
                  <a:srgbClr val="1B3B6F"/>
                </a:solidFill>
                <a:latin typeface="Amiri" pitchFamily="2" charset="-78"/>
                <a:cs typeface="Amiri" pitchFamily="2" charset="-78"/>
              </a:rPr>
              <a:t>وَسَلَّمَ بِـ«صَحِيحٌ أَنَّ الإِصْلَاحَاتِ تَحْتَاجُ وَقْتًا» ثُمَّ رَدَّ بِـ«غَيْرَ أَنَّ الحَاجَةَ مُلِحَّةٌ»</a:t>
            </a:r>
            <a:endParaRPr lang="ar-SA" sz="1400" dirty="0"/>
          </a:p>
        </p:txBody>
      </p:sp>
      <p:sp>
        <p:nvSpPr>
          <p:cNvPr id="24" name="Text 21"/>
          <p:cNvSpPr txBox="1"/>
          <p:nvPr/>
        </p:nvSpPr>
        <p:spPr>
          <a:xfrm>
            <a:off x="548640" y="2267712"/>
            <a:ext cx="3502152" cy="731520"/>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وَخَتَمَ بِـ«يَتَطَلَّبُ الوَضْعُ أَنْ تَتَحَرَّكَ الحُكُومَاتُ فَوْرًا»</a:t>
            </a:r>
            <a:endParaRPr lang="ar-SA" sz="15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8" name="Text 25"/>
          <p:cNvSpPr txBox="1"/>
          <p:nvPr/>
        </p:nvSpPr>
        <p:spPr>
          <a:xfrm>
            <a:off x="8348472" y="3054096"/>
            <a:ext cx="3291840" cy="731520"/>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أُطْرُوحَتُهُ أَنَّ الفَجْوَةَ الرَّقْمِيَّةَ تُعَمِّقُ عَدَمَ المُسَاوَاةِ</a:t>
            </a:r>
            <a:endParaRPr lang="ar-SA" sz="1500" dirty="0"/>
          </a:p>
        </p:txBody>
      </p:sp>
      <p:sp>
        <p:nvSpPr>
          <p:cNvPr id="29" name="Text 26"/>
          <p:cNvSpPr txBox="1"/>
          <p:nvPr/>
        </p:nvSpPr>
        <p:spPr>
          <a:xfrm>
            <a:off x="4233672" y="3054096"/>
            <a:ext cx="3931920" cy="731520"/>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وَسَلَّمَ بِأَنَّ الحَلَّ مُكْلِفٌ ثُمَّ رَدَّ بِـ«غَيْرَ أَنَّ الاسْتِقْرَارَ أَغْلَى»</a:t>
            </a:r>
            <a:endParaRPr lang="ar-SA" sz="1500" dirty="0"/>
          </a:p>
        </p:txBody>
      </p:sp>
      <p:sp>
        <p:nvSpPr>
          <p:cNvPr id="30" name="Text 27"/>
          <p:cNvSpPr txBox="1"/>
          <p:nvPr/>
        </p:nvSpPr>
        <p:spPr>
          <a:xfrm>
            <a:off x="548640" y="3054096"/>
            <a:ext cx="3502152" cy="731520"/>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وَخَتَمَ بِـ«وَبِنَاءً عَلَى مَا سَبَقَ، العَدَالَةُ ضَرُورَةٌ»</a:t>
            </a:r>
            <a:endParaRPr lang="ar-SA" sz="1500" dirty="0"/>
          </a:p>
        </p:txBody>
      </p:sp>
      <p:sp>
        <p:nvSpPr>
          <p:cNvPr id="31" name="Shape 28"/>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2" name="Text 29"/>
          <p:cNvSpPr txBox="1"/>
          <p:nvPr/>
        </p:nvSpPr>
        <p:spPr>
          <a:xfrm>
            <a:off x="8348472" y="3840480"/>
            <a:ext cx="3291840" cy="731520"/>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أُطْرُوحَتُهُ أَنَّ تَمْكِينَ الشَّبَابِ مِفْتَاحُ التَّغْيِيرِ</a:t>
            </a:r>
            <a:endParaRPr lang="ar-SA" sz="1500" dirty="0"/>
          </a:p>
        </p:txBody>
      </p:sp>
      <p:sp>
        <p:nvSpPr>
          <p:cNvPr id="33" name="Text 30"/>
          <p:cNvSpPr txBox="1"/>
          <p:nvPr/>
        </p:nvSpPr>
        <p:spPr>
          <a:xfrm>
            <a:off x="4233672" y="3840480"/>
            <a:ext cx="3931920" cy="731520"/>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وَسَلَّمَ بِبُطْءِ التَّغْيِيرِ ثُمَّ رَدَّ بِـ«مَعَ ذٰلِكَ لَا بَدِيلَ عَنْهُ»</a:t>
            </a:r>
            <a:endParaRPr lang="ar-SA" sz="1500" dirty="0"/>
          </a:p>
        </p:txBody>
      </p:sp>
      <p:sp>
        <p:nvSpPr>
          <p:cNvPr id="34" name="Text 31"/>
          <p:cNvSpPr txBox="1"/>
          <p:nvPr/>
        </p:nvSpPr>
        <p:spPr>
          <a:xfrm>
            <a:off x="548640" y="3840480"/>
            <a:ext cx="3502152" cy="731520"/>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وَخَتَمَ بِأَنَّهُ لَوْ عُولِجَ التَّفَاوُتُ مُبَكِّرًا لَتَحَسَّنَ الوَضْعُ</a:t>
            </a:r>
            <a:endParaRPr lang="ar-SA" sz="1500" dirty="0"/>
          </a:p>
        </p:txBody>
      </p:sp>
      <p:sp>
        <p:nvSpPr>
          <p:cNvPr id="35" name="Text 3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Pick one from each column — any combination is accurate. Say it, then write three different versions.</a:t>
            </a:r>
            <a:endParaRPr lang="en-US" sz="115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50</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P5-L10 · Listening Skills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WEBSITE SORTER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750" b="1" dirty="0">
                <a:solidFill>
                  <a:srgbClr val="1B3B6F"/>
                </a:solidFill>
                <a:latin typeface="Cambria" pitchFamily="34" charset="0"/>
                <a:cs typeface="Amiri" pitchFamily="2" charset="-78"/>
              </a:rPr>
              <a:t>Thesis, concession–refutation — or subjunctive / conditional?</a:t>
            </a:r>
            <a:endParaRPr lang="en-US" sz="1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صَنِّفْ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P5-L10</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450" b="1" dirty="0">
                <a:solidFill>
                  <a:srgbClr val="1B3B6F"/>
                </a:solidFill>
                <a:latin typeface="Amiri" pitchFamily="2" charset="-78"/>
                <a:cs typeface="Amiri" pitchFamily="2" charset="-78"/>
              </a:rPr>
              <a:t>يُشَارُ إِلَى أَنَّ التَّفَاوُتَ يُهَدِّدُ الاسْتِقْرَارَ</a:t>
            </a:r>
            <a:endParaRPr lang="ar-SA" sz="145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cs typeface="Amiri" pitchFamily="2" charset="-78"/>
              </a:rPr>
              <a:t>يَرَى المُتَحَدِّثُ أَنَّ العَدَالَةَ أَسَاسُ الاسْتِقْرَارِ</a:t>
            </a:r>
            <a:endParaRPr lang="ar-SA" sz="135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300" b="1" dirty="0">
                <a:solidFill>
                  <a:srgbClr val="1B3B6F"/>
                </a:solidFill>
                <a:latin typeface="Amiri" pitchFamily="2" charset="-78"/>
                <a:cs typeface="Amiri" pitchFamily="2" charset="-78"/>
              </a:rPr>
              <a:t>الأُطْرُوحَةُ أَنَّ تَمْكِينَ الشَّبَابِ مِفْتَاحُ التَّغْيِيرِ</a:t>
            </a:r>
            <a:endParaRPr lang="ar-SA" sz="13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750" b="1" dirty="0">
                <a:solidFill>
                  <a:srgbClr val="1B3B6F"/>
                </a:solidFill>
                <a:latin typeface="Amiri" pitchFamily="2" charset="-78"/>
                <a:cs typeface="Amiri" pitchFamily="2" charset="-78"/>
              </a:rPr>
              <a:t>صَحِيحٌ أَنَّ الإِصْلَاحَاتِ تَحْتَاجُ وَقْتًا</a:t>
            </a:r>
            <a:endParaRPr lang="ar-SA" sz="175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300" b="1" dirty="0">
                <a:solidFill>
                  <a:srgbClr val="1B3B6F"/>
                </a:solidFill>
                <a:latin typeface="Amiri" pitchFamily="2" charset="-78"/>
                <a:cs typeface="Amiri" pitchFamily="2" charset="-78"/>
              </a:rPr>
              <a:t>غَيْرَ أَنَّ الحَاجَةَ المُلِحَّةَ لَا تَتَحَمَّلُ الانْتِظَارَ</a:t>
            </a:r>
            <a:endParaRPr lang="ar-SA" sz="13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مَعَ ذٰلِكَ، يَبْقَى التَّفَاوُتُ عَمِيقًا</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450" b="1" dirty="0">
                <a:solidFill>
                  <a:srgbClr val="1B3B6F"/>
                </a:solidFill>
                <a:latin typeface="Amiri" pitchFamily="2" charset="-78"/>
                <a:cs typeface="Amiri" pitchFamily="2" charset="-78"/>
              </a:rPr>
              <a:t>يَتَطَلَّبُ الوَضْعُ أَنْ تَتَحَرَّكَ الحُكُومَاتُ فَوْرًا</a:t>
            </a:r>
            <a:endParaRPr lang="ar-SA" sz="145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450" b="1" dirty="0">
                <a:solidFill>
                  <a:srgbClr val="1B3B6F"/>
                </a:solidFill>
                <a:latin typeface="Amiri" pitchFamily="2" charset="-78"/>
                <a:cs typeface="Amiri" pitchFamily="2" charset="-78"/>
              </a:rPr>
              <a:t>لَوْ عُولِجَ التَّفَاوُتُ مُبَكِّرًا، لَتَحَسَّنَ الوَضْعُ</a:t>
            </a:r>
            <a:endParaRPr lang="ar-SA" sz="1450" dirty="0"/>
          </a:p>
        </p:txBody>
      </p:sp>
      <p:sp>
        <p:nvSpPr>
          <p:cNvPr id="31" name="Shape 28"/>
          <p:cNvSpPr/>
          <p:nvPr/>
        </p:nvSpPr>
        <p:spPr>
          <a:xfrm>
            <a:off x="9015984" y="2834640"/>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2" name="Text 29"/>
          <p:cNvSpPr txBox="1"/>
          <p:nvPr/>
        </p:nvSpPr>
        <p:spPr>
          <a:xfrm>
            <a:off x="9107424" y="2834640"/>
            <a:ext cx="2532888" cy="438912"/>
          </a:xfrm>
          <a:prstGeom prst="rect">
            <a:avLst/>
          </a:prstGeom>
          <a:noFill/>
          <a:ln/>
        </p:spPr>
        <p:txBody>
          <a:bodyPr wrap="square" lIns="0" tIns="0" rIns="0" bIns="0" rtlCol="0" anchor="ctr"/>
          <a:lstStyle/>
          <a:p>
            <a:pPr rtl="1" algn="ctr" indent="0" marL="0">
              <a:buNone/>
            </a:pPr>
            <a:r>
              <a:rPr lang="ar-SA" altLang="en-US" sz="1400" b="1" dirty="0">
                <a:solidFill>
                  <a:srgbClr val="1B3B6F"/>
                </a:solidFill>
                <a:latin typeface="Amiri" pitchFamily="2" charset="-78"/>
                <a:cs typeface="Amiri" pitchFamily="2" charset="-78"/>
              </a:rPr>
              <a:t>إِذَا اسْتُثْمِرَ فِي التَّعْلِيمِ، سَتَضِيقُ الفَجْوَةُ</a:t>
            </a:r>
            <a:endParaRPr lang="ar-SA" sz="1400" dirty="0"/>
          </a:p>
        </p:txBody>
      </p:sp>
      <p:sp>
        <p:nvSpPr>
          <p:cNvPr id="33" name="Shape 30"/>
          <p:cNvSpPr/>
          <p:nvPr/>
        </p:nvSpPr>
        <p:spPr>
          <a:xfrm>
            <a:off x="8095488" y="3529584"/>
            <a:ext cx="3636264" cy="2779776"/>
          </a:xfrm>
          <a:prstGeom prst="roundRect">
            <a:avLst>
              <a:gd name="adj" fmla="val 2632"/>
            </a:avLst>
          </a:prstGeom>
          <a:solidFill>
            <a:srgbClr val="EEF3FA"/>
          </a:solidFill>
          <a:ln w="9525">
            <a:solidFill>
              <a:srgbClr val="C9D6EA"/>
            </a:solidFill>
            <a:prstDash val="solid"/>
          </a:ln>
        </p:spPr>
      </p:sp>
      <p:sp>
        <p:nvSpPr>
          <p:cNvPr id="34" name="Shape 31"/>
          <p:cNvSpPr/>
          <p:nvPr/>
        </p:nvSpPr>
        <p:spPr>
          <a:xfrm>
            <a:off x="8232648" y="3639312"/>
            <a:ext cx="3361944" cy="310896"/>
          </a:xfrm>
          <a:prstGeom prst="roundRect">
            <a:avLst>
              <a:gd name="adj" fmla="val 50000"/>
            </a:avLst>
          </a:prstGeom>
          <a:solidFill>
            <a:srgbClr val="2F6FB0"/>
          </a:solidFill>
          <a:ln w="12700">
            <a:solidFill>
              <a:srgbClr val="2F6FB0"/>
            </a:solidFill>
            <a:prstDash val="solid"/>
          </a:ln>
        </p:spPr>
      </p:sp>
      <p:sp>
        <p:nvSpPr>
          <p:cNvPr id="35" name="Text 32"/>
          <p:cNvSpPr txBox="1"/>
          <p:nvPr/>
        </p:nvSpPr>
        <p:spPr>
          <a:xfrm>
            <a:off x="8232648"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thesis</a:t>
            </a:r>
            <a:endParaRPr lang="en-US" sz="950" dirty="0"/>
          </a:p>
        </p:txBody>
      </p:sp>
      <p:sp>
        <p:nvSpPr>
          <p:cNvPr id="36" name="Shape 33"/>
          <p:cNvSpPr/>
          <p:nvPr/>
        </p:nvSpPr>
        <p:spPr>
          <a:xfrm>
            <a:off x="4276344" y="3529584"/>
            <a:ext cx="3636264" cy="2779776"/>
          </a:xfrm>
          <a:prstGeom prst="roundRect">
            <a:avLst>
              <a:gd name="adj" fmla="val 2632"/>
            </a:avLst>
          </a:prstGeom>
          <a:solidFill>
            <a:srgbClr val="EEF3FA"/>
          </a:solidFill>
          <a:ln w="9525">
            <a:solidFill>
              <a:srgbClr val="C9D6EA"/>
            </a:solidFill>
            <a:prstDash val="solid"/>
          </a:ln>
        </p:spPr>
      </p:sp>
      <p:sp>
        <p:nvSpPr>
          <p:cNvPr id="37" name="Shape 34"/>
          <p:cNvSpPr/>
          <p:nvPr/>
        </p:nvSpPr>
        <p:spPr>
          <a:xfrm>
            <a:off x="4413504" y="3639312"/>
            <a:ext cx="3361944" cy="310896"/>
          </a:xfrm>
          <a:prstGeom prst="roundRect">
            <a:avLst>
              <a:gd name="adj" fmla="val 50000"/>
            </a:avLst>
          </a:prstGeom>
          <a:solidFill>
            <a:srgbClr val="2F6FB0"/>
          </a:solidFill>
          <a:ln w="12700">
            <a:solidFill>
              <a:srgbClr val="2F6FB0"/>
            </a:solidFill>
            <a:prstDash val="solid"/>
          </a:ln>
        </p:spPr>
      </p:sp>
      <p:sp>
        <p:nvSpPr>
          <p:cNvPr id="38" name="Text 35"/>
          <p:cNvSpPr txBox="1"/>
          <p:nvPr/>
        </p:nvSpPr>
        <p:spPr>
          <a:xfrm>
            <a:off x="4413504"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concession / refutation</a:t>
            </a:r>
            <a:endParaRPr lang="en-US" sz="950" dirty="0"/>
          </a:p>
        </p:txBody>
      </p:sp>
      <p:sp>
        <p:nvSpPr>
          <p:cNvPr id="39" name="Shape 36"/>
          <p:cNvSpPr/>
          <p:nvPr/>
        </p:nvSpPr>
        <p:spPr>
          <a:xfrm>
            <a:off x="457200" y="3529584"/>
            <a:ext cx="3636264" cy="2779776"/>
          </a:xfrm>
          <a:prstGeom prst="roundRect">
            <a:avLst>
              <a:gd name="adj" fmla="val 2632"/>
            </a:avLst>
          </a:prstGeom>
          <a:solidFill>
            <a:srgbClr val="EEF3FA"/>
          </a:solidFill>
          <a:ln w="9525">
            <a:solidFill>
              <a:srgbClr val="C9D6EA"/>
            </a:solidFill>
            <a:prstDash val="solid"/>
          </a:ln>
        </p:spPr>
      </p:sp>
      <p:sp>
        <p:nvSpPr>
          <p:cNvPr id="40" name="Shape 37"/>
          <p:cNvSpPr/>
          <p:nvPr/>
        </p:nvSpPr>
        <p:spPr>
          <a:xfrm>
            <a:off x="594360" y="3639312"/>
            <a:ext cx="3361944" cy="310896"/>
          </a:xfrm>
          <a:prstGeom prst="roundRect">
            <a:avLst>
              <a:gd name="adj" fmla="val 50000"/>
            </a:avLst>
          </a:prstGeom>
          <a:solidFill>
            <a:srgbClr val="2F6FB0"/>
          </a:solidFill>
          <a:ln w="12700">
            <a:solidFill>
              <a:srgbClr val="2F6FB0"/>
            </a:solidFill>
            <a:prstDash val="solid"/>
          </a:ln>
        </p:spPr>
      </p:sp>
      <p:sp>
        <p:nvSpPr>
          <p:cNvPr id="41" name="Text 38"/>
          <p:cNvSpPr txBox="1"/>
          <p:nvPr/>
        </p:nvSpPr>
        <p:spPr>
          <a:xfrm>
            <a:off x="594360"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subjunctive / conditional</a:t>
            </a:r>
            <a:endParaRPr lang="en-US" sz="95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50</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P5-L10 · Listening Skills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P5-L10</a:t>
            </a:r>
            <a:endParaRPr lang="en-US" sz="850" dirty="0"/>
          </a:p>
        </p:txBody>
      </p:sp>
      <p:sp>
        <p:nvSpPr>
          <p:cNvPr id="15" name="Shape 12"/>
          <p:cNvSpPr/>
          <p:nvPr/>
        </p:nvSpPr>
        <p:spPr>
          <a:xfrm>
            <a:off x="8095488" y="1810512"/>
            <a:ext cx="3636264" cy="4498848"/>
          </a:xfrm>
          <a:prstGeom prst="roundRect">
            <a:avLst>
              <a:gd name="adj" fmla="val 2012"/>
            </a:avLst>
          </a:prstGeom>
          <a:solidFill>
            <a:srgbClr val="EEF3FA"/>
          </a:solidFill>
          <a:ln w="9525">
            <a:solidFill>
              <a:srgbClr val="C9D6EA"/>
            </a:solidFill>
            <a:prstDash val="solid"/>
          </a:ln>
        </p:spPr>
      </p:sp>
      <p:sp>
        <p:nvSpPr>
          <p:cNvPr id="16" name="Shape 13"/>
          <p:cNvSpPr/>
          <p:nvPr/>
        </p:nvSpPr>
        <p:spPr>
          <a:xfrm>
            <a:off x="8232648" y="1920240"/>
            <a:ext cx="3361944"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8232648"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thesis</a:t>
            </a:r>
            <a:endParaRPr lang="en-US" sz="950" dirty="0"/>
          </a:p>
        </p:txBody>
      </p:sp>
      <p:sp>
        <p:nvSpPr>
          <p:cNvPr id="18" name="Shape 15"/>
          <p:cNvSpPr/>
          <p:nvPr/>
        </p:nvSpPr>
        <p:spPr>
          <a:xfrm>
            <a:off x="8232648" y="2377440"/>
            <a:ext cx="3361944"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8324088"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يُشَارُ إِلَى أَنَّ التَّفَاوُتَ يُهَدِّدُ الاسْتِقْرَارَ</a:t>
            </a:r>
            <a:endParaRPr lang="ar-SA" sz="1800" dirty="0"/>
          </a:p>
        </p:txBody>
      </p:sp>
      <p:sp>
        <p:nvSpPr>
          <p:cNvPr id="20" name="Shape 17"/>
          <p:cNvSpPr/>
          <p:nvPr/>
        </p:nvSpPr>
        <p:spPr>
          <a:xfrm>
            <a:off x="8232648" y="2889504"/>
            <a:ext cx="3361944"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8324088" y="2889504"/>
            <a:ext cx="3179064" cy="438912"/>
          </a:xfrm>
          <a:prstGeom prst="rect">
            <a:avLst/>
          </a:prstGeom>
          <a:noFill/>
          <a:ln/>
        </p:spPr>
        <p:txBody>
          <a:bodyPr wrap="square" lIns="0" tIns="0" rIns="0" bIns="0" rtlCol="0" anchor="ctr"/>
          <a:lstStyle/>
          <a:p>
            <a:pPr rtl="1" algn="ctr" indent="0" marL="0">
              <a:buNone/>
            </a:pPr>
            <a:r>
              <a:rPr lang="ar-SA" altLang="en-US" sz="1650" b="1" dirty="0">
                <a:solidFill>
                  <a:srgbClr val="1B3B6F"/>
                </a:solidFill>
                <a:latin typeface="Amiri" pitchFamily="2" charset="-78"/>
                <a:cs typeface="Amiri" pitchFamily="2" charset="-78"/>
              </a:rPr>
              <a:t>يَرَى المُتَحَدِّثُ أَنَّ العَدَالَةَ أَسَاسُ الاسْتِقْرَارِ</a:t>
            </a:r>
            <a:endParaRPr lang="ar-SA" sz="1650" dirty="0"/>
          </a:p>
        </p:txBody>
      </p:sp>
      <p:sp>
        <p:nvSpPr>
          <p:cNvPr id="22" name="Shape 19"/>
          <p:cNvSpPr/>
          <p:nvPr/>
        </p:nvSpPr>
        <p:spPr>
          <a:xfrm>
            <a:off x="8232648" y="3401568"/>
            <a:ext cx="3361944"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8324088" y="3401568"/>
            <a:ext cx="3179064" cy="438912"/>
          </a:xfrm>
          <a:prstGeom prst="rect">
            <a:avLst/>
          </a:prstGeom>
          <a:noFill/>
          <a:ln/>
        </p:spPr>
        <p:txBody>
          <a:bodyPr wrap="square" lIns="0" tIns="0" rIns="0" bIns="0" rtlCol="0" anchor="ctr"/>
          <a:lstStyle/>
          <a:p>
            <a:pPr rtl="1" algn="ctr" indent="0" marL="0">
              <a:buNone/>
            </a:pPr>
            <a:r>
              <a:rPr lang="ar-SA" altLang="en-US" sz="1650" b="1" dirty="0">
                <a:solidFill>
                  <a:srgbClr val="1B3B6F"/>
                </a:solidFill>
                <a:latin typeface="Amiri" pitchFamily="2" charset="-78"/>
                <a:cs typeface="Amiri" pitchFamily="2" charset="-78"/>
              </a:rPr>
              <a:t>الأُطْرُوحَةُ أَنَّ تَمْكِينَ الشَّبَابِ مِفْتَاحُ التَّغْيِيرِ</a:t>
            </a:r>
            <a:endParaRPr lang="ar-SA" sz="1650" dirty="0"/>
          </a:p>
        </p:txBody>
      </p:sp>
      <p:sp>
        <p:nvSpPr>
          <p:cNvPr id="24" name="Shape 21"/>
          <p:cNvSpPr/>
          <p:nvPr/>
        </p:nvSpPr>
        <p:spPr>
          <a:xfrm>
            <a:off x="4276344" y="1810512"/>
            <a:ext cx="3636264" cy="4498848"/>
          </a:xfrm>
          <a:prstGeom prst="roundRect">
            <a:avLst>
              <a:gd name="adj" fmla="val 2012"/>
            </a:avLst>
          </a:prstGeom>
          <a:solidFill>
            <a:srgbClr val="EEF3FA"/>
          </a:solidFill>
          <a:ln w="9525">
            <a:solidFill>
              <a:srgbClr val="C9D6EA"/>
            </a:solidFill>
            <a:prstDash val="solid"/>
          </a:ln>
        </p:spPr>
      </p:sp>
      <p:sp>
        <p:nvSpPr>
          <p:cNvPr id="25" name="Shape 22"/>
          <p:cNvSpPr/>
          <p:nvPr/>
        </p:nvSpPr>
        <p:spPr>
          <a:xfrm>
            <a:off x="4413504" y="1920240"/>
            <a:ext cx="3361944" cy="310896"/>
          </a:xfrm>
          <a:prstGeom prst="roundRect">
            <a:avLst>
              <a:gd name="adj" fmla="val 50000"/>
            </a:avLst>
          </a:prstGeom>
          <a:solidFill>
            <a:srgbClr val="2F6FB0"/>
          </a:solidFill>
          <a:ln w="12700">
            <a:solidFill>
              <a:srgbClr val="2F6FB0"/>
            </a:solidFill>
            <a:prstDash val="solid"/>
          </a:ln>
        </p:spPr>
      </p:sp>
      <p:sp>
        <p:nvSpPr>
          <p:cNvPr id="26" name="Text 23"/>
          <p:cNvSpPr txBox="1"/>
          <p:nvPr/>
        </p:nvSpPr>
        <p:spPr>
          <a:xfrm>
            <a:off x="4413504"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concession / refutation</a:t>
            </a:r>
            <a:endParaRPr lang="en-US" sz="950" dirty="0"/>
          </a:p>
        </p:txBody>
      </p:sp>
      <p:sp>
        <p:nvSpPr>
          <p:cNvPr id="27" name="Shape 24"/>
          <p:cNvSpPr/>
          <p:nvPr/>
        </p:nvSpPr>
        <p:spPr>
          <a:xfrm>
            <a:off x="4413504" y="2377440"/>
            <a:ext cx="3361944" cy="438912"/>
          </a:xfrm>
          <a:prstGeom prst="roundRect">
            <a:avLst>
              <a:gd name="adj" fmla="val 12500"/>
            </a:avLst>
          </a:prstGeom>
          <a:solidFill>
            <a:srgbClr val="FFF4DC"/>
          </a:solidFill>
          <a:ln w="9525">
            <a:solidFill>
              <a:srgbClr val="E6C98A"/>
            </a:solidFill>
            <a:prstDash val="solid"/>
          </a:ln>
        </p:spPr>
      </p:sp>
      <p:sp>
        <p:nvSpPr>
          <p:cNvPr id="28" name="Text 25"/>
          <p:cNvSpPr txBox="1"/>
          <p:nvPr/>
        </p:nvSpPr>
        <p:spPr>
          <a:xfrm>
            <a:off x="4504944"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صَحِيحٌ أَنَّ الإِصْلَاحَاتِ تَحْتَاجُ وَقْتًا</a:t>
            </a:r>
            <a:endParaRPr lang="ar-SA" sz="1800" dirty="0"/>
          </a:p>
        </p:txBody>
      </p:sp>
      <p:sp>
        <p:nvSpPr>
          <p:cNvPr id="29" name="Shape 26"/>
          <p:cNvSpPr/>
          <p:nvPr/>
        </p:nvSpPr>
        <p:spPr>
          <a:xfrm>
            <a:off x="4413504" y="2889504"/>
            <a:ext cx="3361944"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4504944" y="2889504"/>
            <a:ext cx="3179064" cy="438912"/>
          </a:xfrm>
          <a:prstGeom prst="rect">
            <a:avLst/>
          </a:prstGeom>
          <a:noFill/>
          <a:ln/>
        </p:spPr>
        <p:txBody>
          <a:bodyPr wrap="square" lIns="0" tIns="0" rIns="0" bIns="0" rtlCol="0" anchor="ctr"/>
          <a:lstStyle/>
          <a:p>
            <a:pPr rtl="1" algn="ctr" indent="0" marL="0">
              <a:buNone/>
            </a:pPr>
            <a:r>
              <a:rPr lang="ar-SA" altLang="en-US" sz="1650" b="1" dirty="0">
                <a:solidFill>
                  <a:srgbClr val="1B3B6F"/>
                </a:solidFill>
                <a:latin typeface="Amiri" pitchFamily="2" charset="-78"/>
                <a:cs typeface="Amiri" pitchFamily="2" charset="-78"/>
              </a:rPr>
              <a:t>غَيْرَ أَنَّ الحَاجَةَ المُلِحَّةَ لَا تَتَحَمَّلُ الانْتِظَارَ</a:t>
            </a:r>
            <a:endParaRPr lang="ar-SA" sz="1650" dirty="0"/>
          </a:p>
        </p:txBody>
      </p:sp>
      <p:sp>
        <p:nvSpPr>
          <p:cNvPr id="31" name="Shape 28"/>
          <p:cNvSpPr/>
          <p:nvPr/>
        </p:nvSpPr>
        <p:spPr>
          <a:xfrm>
            <a:off x="4413504" y="3401568"/>
            <a:ext cx="3361944"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4504944"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مَعَ ذٰلِكَ، يَبْقَى التَّفَاوُتُ عَمِيقًا</a:t>
            </a:r>
            <a:endParaRPr lang="ar-SA" sz="1800" dirty="0"/>
          </a:p>
        </p:txBody>
      </p:sp>
      <p:sp>
        <p:nvSpPr>
          <p:cNvPr id="33" name="Shape 30"/>
          <p:cNvSpPr/>
          <p:nvPr/>
        </p:nvSpPr>
        <p:spPr>
          <a:xfrm>
            <a:off x="457200" y="1810512"/>
            <a:ext cx="3636264" cy="4498848"/>
          </a:xfrm>
          <a:prstGeom prst="roundRect">
            <a:avLst>
              <a:gd name="adj" fmla="val 2012"/>
            </a:avLst>
          </a:prstGeom>
          <a:solidFill>
            <a:srgbClr val="EEF3FA"/>
          </a:solidFill>
          <a:ln w="9525">
            <a:solidFill>
              <a:srgbClr val="C9D6EA"/>
            </a:solidFill>
            <a:prstDash val="solid"/>
          </a:ln>
        </p:spPr>
      </p:sp>
      <p:sp>
        <p:nvSpPr>
          <p:cNvPr id="34" name="Shape 31"/>
          <p:cNvSpPr/>
          <p:nvPr/>
        </p:nvSpPr>
        <p:spPr>
          <a:xfrm>
            <a:off x="594360" y="1920240"/>
            <a:ext cx="3361944" cy="310896"/>
          </a:xfrm>
          <a:prstGeom prst="roundRect">
            <a:avLst>
              <a:gd name="adj" fmla="val 50000"/>
            </a:avLst>
          </a:prstGeom>
          <a:solidFill>
            <a:srgbClr val="2F6FB0"/>
          </a:solidFill>
          <a:ln w="12700">
            <a:solidFill>
              <a:srgbClr val="2F6FB0"/>
            </a:solidFill>
            <a:prstDash val="solid"/>
          </a:ln>
        </p:spPr>
      </p:sp>
      <p:sp>
        <p:nvSpPr>
          <p:cNvPr id="35" name="Text 32"/>
          <p:cNvSpPr txBox="1"/>
          <p:nvPr/>
        </p:nvSpPr>
        <p:spPr>
          <a:xfrm>
            <a:off x="594360"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subjunctive / conditional</a:t>
            </a:r>
            <a:endParaRPr lang="en-US" sz="950" dirty="0"/>
          </a:p>
        </p:txBody>
      </p:sp>
      <p:sp>
        <p:nvSpPr>
          <p:cNvPr id="36" name="Shape 33"/>
          <p:cNvSpPr/>
          <p:nvPr/>
        </p:nvSpPr>
        <p:spPr>
          <a:xfrm>
            <a:off x="594360" y="2377440"/>
            <a:ext cx="3361944" cy="438912"/>
          </a:xfrm>
          <a:prstGeom prst="roundRect">
            <a:avLst>
              <a:gd name="adj" fmla="val 12500"/>
            </a:avLst>
          </a:prstGeom>
          <a:solidFill>
            <a:srgbClr val="FFF4DC"/>
          </a:solidFill>
          <a:ln w="9525">
            <a:solidFill>
              <a:srgbClr val="E6C98A"/>
            </a:solidFill>
            <a:prstDash val="solid"/>
          </a:ln>
        </p:spPr>
      </p:sp>
      <p:sp>
        <p:nvSpPr>
          <p:cNvPr id="37" name="Text 34"/>
          <p:cNvSpPr txBox="1"/>
          <p:nvPr/>
        </p:nvSpPr>
        <p:spPr>
          <a:xfrm>
            <a:off x="685800"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يَتَطَلَّبُ الوَضْعُ أَنْ تَتَحَرَّكَ الحُكُومَاتُ فَوْرًا</a:t>
            </a:r>
            <a:endParaRPr lang="ar-SA" sz="1800" dirty="0"/>
          </a:p>
        </p:txBody>
      </p:sp>
      <p:sp>
        <p:nvSpPr>
          <p:cNvPr id="38" name="Shape 35"/>
          <p:cNvSpPr/>
          <p:nvPr/>
        </p:nvSpPr>
        <p:spPr>
          <a:xfrm>
            <a:off x="594360" y="2889504"/>
            <a:ext cx="3361944" cy="438912"/>
          </a:xfrm>
          <a:prstGeom prst="roundRect">
            <a:avLst>
              <a:gd name="adj" fmla="val 12500"/>
            </a:avLst>
          </a:prstGeom>
          <a:solidFill>
            <a:srgbClr val="FFF4DC"/>
          </a:solidFill>
          <a:ln w="9525">
            <a:solidFill>
              <a:srgbClr val="E6C98A"/>
            </a:solidFill>
            <a:prstDash val="solid"/>
          </a:ln>
        </p:spPr>
      </p:sp>
      <p:sp>
        <p:nvSpPr>
          <p:cNvPr id="39" name="Text 36"/>
          <p:cNvSpPr txBox="1"/>
          <p:nvPr/>
        </p:nvSpPr>
        <p:spPr>
          <a:xfrm>
            <a:off x="685800"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لَوْ عُولِجَ التَّفَاوُتُ مُبَكِّرًا، لَتَحَسَّنَ الوَضْعُ</a:t>
            </a:r>
            <a:endParaRPr lang="ar-SA" sz="1800" dirty="0"/>
          </a:p>
        </p:txBody>
      </p:sp>
      <p:sp>
        <p:nvSpPr>
          <p:cNvPr id="40" name="Shape 37"/>
          <p:cNvSpPr/>
          <p:nvPr/>
        </p:nvSpPr>
        <p:spPr>
          <a:xfrm>
            <a:off x="594360" y="3401568"/>
            <a:ext cx="3361944" cy="438912"/>
          </a:xfrm>
          <a:prstGeom prst="roundRect">
            <a:avLst>
              <a:gd name="adj" fmla="val 12500"/>
            </a:avLst>
          </a:prstGeom>
          <a:solidFill>
            <a:srgbClr val="FFF4DC"/>
          </a:solidFill>
          <a:ln w="9525">
            <a:solidFill>
              <a:srgbClr val="E6C98A"/>
            </a:solidFill>
            <a:prstDash val="solid"/>
          </a:ln>
        </p:spPr>
      </p:sp>
      <p:sp>
        <p:nvSpPr>
          <p:cNvPr id="41" name="Text 38"/>
          <p:cNvSpPr txBox="1"/>
          <p:nvPr/>
        </p:nvSpPr>
        <p:spPr>
          <a:xfrm>
            <a:off x="685800" y="3401568"/>
            <a:ext cx="3179064" cy="438912"/>
          </a:xfrm>
          <a:prstGeom prst="rect">
            <a:avLst/>
          </a:prstGeom>
          <a:noFill/>
          <a:ln/>
        </p:spPr>
        <p:txBody>
          <a:bodyPr wrap="square" lIns="0" tIns="0" rIns="0" bIns="0" rtlCol="0" anchor="ctr"/>
          <a:lstStyle/>
          <a:p>
            <a:pPr rtl="1" algn="ctr" indent="0" marL="0">
              <a:buNone/>
            </a:pPr>
            <a:r>
              <a:rPr lang="ar-SA" altLang="en-US" sz="1750" b="1" dirty="0">
                <a:solidFill>
                  <a:srgbClr val="1B3B6F"/>
                </a:solidFill>
                <a:latin typeface="Amiri" pitchFamily="2" charset="-78"/>
                <a:cs typeface="Amiri" pitchFamily="2" charset="-78"/>
              </a:rPr>
              <a:t>إِذَا اسْتُثْمِرَ فِي التَّعْلِيمِ، سَتَضِيقُ الفَجْوَةُ</a:t>
            </a:r>
            <a:endParaRPr lang="ar-SA" sz="175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50</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P5-L10 · Listening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GUIDED PRACTICE · WEBSITE QUIZ QUESTIONS 5, 6, 7, 8</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P5-L10</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trigger signals a subjunctive conclusion?</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صَحِيحٌ أَنَّ</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إِذَا</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يَتَطَلَّبُ أَنْ</a:t>
            </a:r>
            <a:endParaRPr lang="ar-SA" sz="2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3" name="Text 30"/>
          <p:cNvSpPr txBox="1"/>
          <p:nvPr/>
        </p:nvSpPr>
        <p:spPr>
          <a:xfrm>
            <a:off x="6679692"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34" name="Text 31"/>
          <p:cNvSpPr txBox="1"/>
          <p:nvPr/>
        </p:nvSpPr>
        <p:spPr>
          <a:xfrm>
            <a:off x="9052011"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cs typeface="Amiri" pitchFamily="2" charset="-78"/>
              </a:rPr>
              <a:t>يَتَطَلَّبُ الوَضْعُ أَنْ ___ الحُكُومَاتُ فَوْرًا.</a:t>
            </a:r>
            <a:endParaRPr lang="ar-SA" sz="1500" dirty="0"/>
          </a:p>
        </p:txBody>
      </p:sp>
      <p:sp>
        <p:nvSpPr>
          <p:cNvPr id="35" name="Shape 32"/>
          <p:cNvSpPr/>
          <p:nvPr/>
        </p:nvSpPr>
        <p:spPr>
          <a:xfrm>
            <a:off x="6368796" y="25328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تَتَحَرَّكُ</a:t>
            </a:r>
            <a:endParaRPr lang="ar-SA" sz="2050" dirty="0"/>
          </a:p>
        </p:txBody>
      </p:sp>
      <p:sp>
        <p:nvSpPr>
          <p:cNvPr id="38" name="Shape 35"/>
          <p:cNvSpPr/>
          <p:nvPr/>
        </p:nvSpPr>
        <p:spPr>
          <a:xfrm>
            <a:off x="6368796" y="29900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تَتَحَرَّكَ</a:t>
            </a:r>
            <a:endParaRPr lang="ar-SA" sz="2050" dirty="0"/>
          </a:p>
        </p:txBody>
      </p:sp>
      <p:sp>
        <p:nvSpPr>
          <p:cNvPr id="41" name="Shape 38"/>
          <p:cNvSpPr/>
          <p:nvPr/>
        </p:nvSpPr>
        <p:spPr>
          <a:xfrm>
            <a:off x="6368796" y="3447288"/>
            <a:ext cx="256032" cy="256032"/>
          </a:xfrm>
          <a:prstGeom prst="ellipse">
            <a:avLst/>
          </a:prstGeom>
          <a:solidFill>
            <a:srgbClr val="F4F1EA"/>
          </a:solidFill>
          <a:ln w="12700">
            <a:solidFill>
              <a:srgbClr val="F4F1EA"/>
            </a:solidFill>
            <a:prstDash val="solid"/>
          </a:ln>
        </p:spPr>
      </p:sp>
      <p:sp>
        <p:nvSpPr>
          <p:cNvPr id="42" name="Text 39"/>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تَتَحَرَّكْ</a:t>
            </a:r>
            <a:endParaRPr lang="ar-SA" sz="2050" dirty="0"/>
          </a:p>
        </p:txBody>
      </p:sp>
      <p:sp>
        <p:nvSpPr>
          <p:cNvPr id="44" name="Shape 41"/>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5" name="Shape 42"/>
          <p:cNvSpPr/>
          <p:nvPr/>
        </p:nvSpPr>
        <p:spPr>
          <a:xfrm>
            <a:off x="585216" y="4288536"/>
            <a:ext cx="310896" cy="310896"/>
          </a:xfrm>
          <a:prstGeom prst="ellipse">
            <a:avLst/>
          </a:prstGeom>
          <a:solidFill>
            <a:srgbClr val="1B3B6F"/>
          </a:solidFill>
          <a:ln w="12700">
            <a:solidFill>
              <a:srgbClr val="1B3B6F"/>
            </a:solidFill>
            <a:prstDash val="solid"/>
          </a:ln>
        </p:spPr>
      </p:sp>
      <p:sp>
        <p:nvSpPr>
          <p:cNvPr id="46" name="Text 4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47" name="Text 44"/>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You hear a </a:t>
            </a:r>
            <a:pPr algn="l" indent="0" marL="0">
              <a:buNone/>
            </a:pPr>
            <a:r>
              <a:rPr lang="ar-SA" altLang="en-US" sz="1650" b="1" dirty="0">
                <a:solidFill>
                  <a:srgbClr val="1B3B6F"/>
                </a:solidFill>
                <a:latin typeface="Amiri" pitchFamily="2" charset="-78"/>
                <a:cs typeface="Amiri" pitchFamily="2" charset="-78"/>
              </a:rPr>
              <a:t>لَـ</a:t>
            </a:r>
            <a:pPr algn="l" indent="0" marL="0">
              <a:buNone/>
            </a:pPr>
            <a:r>
              <a:rPr lang="en-US" sz="1250" b="1" dirty="0">
                <a:solidFill>
                  <a:srgbClr val="1B3B6F"/>
                </a:solidFill>
                <a:latin typeface="Calibri" pitchFamily="34" charset="0"/>
                <a:cs typeface="Amiri" pitchFamily="2" charset="-78"/>
              </a:rPr>
              <a:t> result. The conditional is …</a:t>
            </a:r>
            <a:endParaRPr lang="en-US" sz="1250" dirty="0"/>
          </a:p>
        </p:txBody>
      </p:sp>
      <p:sp>
        <p:nvSpPr>
          <p:cNvPr id="48" name="Shape 45"/>
          <p:cNvSpPr/>
          <p:nvPr/>
        </p:nvSpPr>
        <p:spPr>
          <a:xfrm>
            <a:off x="640080" y="48737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0" name="Text 47"/>
          <p:cNvSpPr txBox="1"/>
          <p:nvPr/>
        </p:nvSpPr>
        <p:spPr>
          <a:xfrm>
            <a:off x="969264" y="47731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real (Type 1)</a:t>
            </a:r>
            <a:endParaRPr lang="en-US" sz="1250" dirty="0"/>
          </a:p>
        </p:txBody>
      </p:sp>
      <p:sp>
        <p:nvSpPr>
          <p:cNvPr id="51" name="Shape 48"/>
          <p:cNvSpPr/>
          <p:nvPr/>
        </p:nvSpPr>
        <p:spPr>
          <a:xfrm>
            <a:off x="640080" y="53309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3" name="Text 50"/>
          <p:cNvSpPr txBox="1"/>
          <p:nvPr/>
        </p:nvSpPr>
        <p:spPr>
          <a:xfrm>
            <a:off x="969264" y="52303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hypothetical (Type 2)</a:t>
            </a:r>
            <a:endParaRPr lang="en-US" sz="1250" dirty="0"/>
          </a:p>
        </p:txBody>
      </p:sp>
      <p:sp>
        <p:nvSpPr>
          <p:cNvPr id="54" name="Shape 51"/>
          <p:cNvSpPr/>
          <p:nvPr/>
        </p:nvSpPr>
        <p:spPr>
          <a:xfrm>
            <a:off x="640080" y="5788152"/>
            <a:ext cx="256032" cy="256032"/>
          </a:xfrm>
          <a:prstGeom prst="ellipse">
            <a:avLst/>
          </a:prstGeom>
          <a:solidFill>
            <a:srgbClr val="F4F1EA"/>
          </a:solidFill>
          <a:ln w="12700">
            <a:solidFill>
              <a:srgbClr val="F4F1EA"/>
            </a:solidFill>
            <a:prstDash val="solid"/>
          </a:ln>
        </p:spPr>
      </p:sp>
      <p:sp>
        <p:nvSpPr>
          <p:cNvPr id="55" name="Text 5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6" name="Text 53"/>
          <p:cNvSpPr txBox="1"/>
          <p:nvPr/>
        </p:nvSpPr>
        <p:spPr>
          <a:xfrm>
            <a:off x="969264" y="56875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command</a:t>
            </a:r>
            <a:endParaRPr lang="en-US" sz="1250" dirty="0"/>
          </a:p>
        </p:txBody>
      </p:sp>
      <p:sp>
        <p:nvSpPr>
          <p:cNvPr id="57" name="Shape 54"/>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8" name="Shape 55"/>
          <p:cNvSpPr/>
          <p:nvPr/>
        </p:nvSpPr>
        <p:spPr>
          <a:xfrm>
            <a:off x="6313932" y="4288536"/>
            <a:ext cx="310896" cy="310896"/>
          </a:xfrm>
          <a:prstGeom prst="ellipse">
            <a:avLst/>
          </a:prstGeom>
          <a:solidFill>
            <a:srgbClr val="1B3B6F"/>
          </a:solidFill>
          <a:ln w="12700">
            <a:solidFill>
              <a:srgbClr val="1B3B6F"/>
            </a:solidFill>
            <a:prstDash val="solid"/>
          </a:ln>
        </p:spPr>
      </p:sp>
      <p:sp>
        <p:nvSpPr>
          <p:cNvPr id="59" name="Text 56"/>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60" name="Text 57"/>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conclusion signal ends the argument?</a:t>
            </a:r>
            <a:endParaRPr lang="en-US" sz="1250" dirty="0"/>
          </a:p>
        </p:txBody>
      </p:sp>
      <p:sp>
        <p:nvSpPr>
          <p:cNvPr id="61" name="Shape 58"/>
          <p:cNvSpPr/>
          <p:nvPr/>
        </p:nvSpPr>
        <p:spPr>
          <a:xfrm>
            <a:off x="6368796" y="48737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3" name="Text 60"/>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صَحِيحٌ أَنَّ</a:t>
            </a:r>
            <a:endParaRPr lang="ar-SA" sz="2050" dirty="0"/>
          </a:p>
        </p:txBody>
      </p:sp>
      <p:sp>
        <p:nvSpPr>
          <p:cNvPr id="64" name="Shape 61"/>
          <p:cNvSpPr/>
          <p:nvPr/>
        </p:nvSpPr>
        <p:spPr>
          <a:xfrm>
            <a:off x="6368796" y="53309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6" name="Text 63"/>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إِذَا</a:t>
            </a:r>
            <a:endParaRPr lang="ar-SA" sz="2050" dirty="0"/>
          </a:p>
        </p:txBody>
      </p:sp>
      <p:sp>
        <p:nvSpPr>
          <p:cNvPr id="67" name="Shape 64"/>
          <p:cNvSpPr/>
          <p:nvPr/>
        </p:nvSpPr>
        <p:spPr>
          <a:xfrm>
            <a:off x="6368796" y="5788152"/>
            <a:ext cx="256032" cy="256032"/>
          </a:xfrm>
          <a:prstGeom prst="ellipse">
            <a:avLst/>
          </a:prstGeom>
          <a:solidFill>
            <a:srgbClr val="F4F1EA"/>
          </a:solidFill>
          <a:ln w="12700">
            <a:solidFill>
              <a:srgbClr val="F4F1EA"/>
            </a:solidFill>
            <a:prstDash val="solid"/>
          </a:ln>
        </p:spPr>
      </p:sp>
      <p:sp>
        <p:nvSpPr>
          <p:cNvPr id="68" name="Text 65"/>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9" name="Text 66"/>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وَبِنَاءً عَلَى مَا سَبَقَ</a:t>
            </a:r>
            <a:endParaRPr lang="ar-SA" sz="20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50</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P5-L10 · Listening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P5-L10</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trigger signals a subjunctive conclusion?</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صَحِيحٌ أَنَّ</a:t>
            </a:r>
            <a:endParaRPr lang="ar-SA" sz="1700" dirty="0"/>
          </a:p>
        </p:txBody>
      </p:sp>
      <p:sp>
        <p:nvSpPr>
          <p:cNvPr id="24" name="Shape 21"/>
          <p:cNvSpPr/>
          <p:nvPr/>
        </p:nvSpPr>
        <p:spPr>
          <a:xfrm>
            <a:off x="640080" y="2862072"/>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إِذَا</a:t>
            </a:r>
            <a:endParaRPr lang="ar-SA" sz="1700" dirty="0"/>
          </a:p>
        </p:txBody>
      </p:sp>
      <p:sp>
        <p:nvSpPr>
          <p:cNvPr id="27" name="Shape 24"/>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8" name="Shape 25"/>
          <p:cNvSpPr/>
          <p:nvPr/>
        </p:nvSpPr>
        <p:spPr>
          <a:xfrm>
            <a:off x="640080" y="3233928"/>
            <a:ext cx="256032" cy="256032"/>
          </a:xfrm>
          <a:prstGeom prst="ellipse">
            <a:avLst/>
          </a:prstGeom>
          <a:solidFill>
            <a:srgbClr val="2E8B57"/>
          </a:solidFill>
          <a:ln w="12700">
            <a:solidFill>
              <a:srgbClr val="2E8B57"/>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30" name="Text 27"/>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يَتَطَلَّبُ أَنْ</a:t>
            </a:r>
            <a:endParaRPr lang="ar-SA" sz="1700" dirty="0"/>
          </a:p>
        </p:txBody>
      </p:sp>
      <p:sp>
        <p:nvSpPr>
          <p:cNvPr id="31" name="Text 28"/>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يَتَطَلَّبُ أَنْ</a:t>
            </a:r>
            <a:pPr algn="l" indent="0" marL="0">
              <a:buNone/>
            </a:pPr>
            <a:r>
              <a:rPr lang="en-US" sz="1050" i="1" dirty="0">
                <a:solidFill>
                  <a:srgbClr val="8A6D1E"/>
                </a:solidFill>
                <a:latin typeface="Calibri" pitchFamily="34" charset="0"/>
                <a:cs typeface="Amiri" pitchFamily="2" charset="-78"/>
              </a:rPr>
              <a:t> signals a subjunctive conclusion.</a:t>
            </a:r>
            <a:endParaRPr lang="en-US" sz="1050" dirty="0"/>
          </a:p>
        </p:txBody>
      </p:sp>
      <p:sp>
        <p:nvSpPr>
          <p:cNvPr id="32" name="Shape 29"/>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6313932"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5" name="Text 32"/>
          <p:cNvSpPr txBox="1"/>
          <p:nvPr/>
        </p:nvSpPr>
        <p:spPr>
          <a:xfrm>
            <a:off x="6679692"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36" name="Text 33"/>
          <p:cNvSpPr txBox="1"/>
          <p:nvPr/>
        </p:nvSpPr>
        <p:spPr>
          <a:xfrm>
            <a:off x="9052011"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cs typeface="Amiri" pitchFamily="2" charset="-78"/>
              </a:rPr>
              <a:t>يَتَطَلَّبُ الوَضْعُ أَنْ ___ الحُكُومَاتُ فَوْرًا.</a:t>
            </a:r>
            <a:endParaRPr lang="ar-SA" sz="1500" dirty="0"/>
          </a:p>
        </p:txBody>
      </p:sp>
      <p:sp>
        <p:nvSpPr>
          <p:cNvPr id="37" name="Shape 34"/>
          <p:cNvSpPr/>
          <p:nvPr/>
        </p:nvSpPr>
        <p:spPr>
          <a:xfrm>
            <a:off x="6368796" y="2490216"/>
            <a:ext cx="256032" cy="256032"/>
          </a:xfrm>
          <a:prstGeom prst="ellipse">
            <a:avLst/>
          </a:prstGeom>
          <a:solidFill>
            <a:srgbClr val="C9CED6"/>
          </a:solidFill>
          <a:ln w="12700">
            <a:solidFill>
              <a:srgbClr val="C9CED6"/>
            </a:solidFill>
            <a:prstDash val="solid"/>
          </a:ln>
        </p:spPr>
      </p:sp>
      <p:sp>
        <p:nvSpPr>
          <p:cNvPr id="38" name="Text 35"/>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9" name="Text 36"/>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تَتَحَرَّكُ</a:t>
            </a:r>
            <a:endParaRPr lang="ar-SA" sz="1700" dirty="0"/>
          </a:p>
        </p:txBody>
      </p:sp>
      <p:sp>
        <p:nvSpPr>
          <p:cNvPr id="40" name="Shape 37"/>
          <p:cNvSpPr/>
          <p:nvPr/>
        </p:nvSpPr>
        <p:spPr>
          <a:xfrm>
            <a:off x="6277356" y="2825496"/>
            <a:ext cx="5362956"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6368796" y="2862072"/>
            <a:ext cx="256032" cy="256032"/>
          </a:xfrm>
          <a:prstGeom prst="ellipse">
            <a:avLst/>
          </a:prstGeom>
          <a:solidFill>
            <a:srgbClr val="2E8B57"/>
          </a:solidFill>
          <a:ln w="12700">
            <a:solidFill>
              <a:srgbClr val="2E8B57"/>
            </a:solidFill>
            <a:prstDash val="solid"/>
          </a:ln>
        </p:spPr>
      </p:sp>
      <p:sp>
        <p:nvSpPr>
          <p:cNvPr id="42" name="Text 39"/>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3" name="Text 40"/>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تَتَحَرَّكَ</a:t>
            </a:r>
            <a:endParaRPr lang="ar-SA" sz="1700" dirty="0"/>
          </a:p>
        </p:txBody>
      </p:sp>
      <p:sp>
        <p:nvSpPr>
          <p:cNvPr id="44" name="Shape 41"/>
          <p:cNvSpPr/>
          <p:nvPr/>
        </p:nvSpPr>
        <p:spPr>
          <a:xfrm>
            <a:off x="6368796" y="3233928"/>
            <a:ext cx="256032" cy="256032"/>
          </a:xfrm>
          <a:prstGeom prst="ellipse">
            <a:avLst/>
          </a:prstGeom>
          <a:solidFill>
            <a:srgbClr val="C9CED6"/>
          </a:solidFill>
          <a:ln w="12700">
            <a:solidFill>
              <a:srgbClr val="C9CED6"/>
            </a:solidFill>
            <a:prstDash val="solid"/>
          </a:ln>
        </p:spPr>
      </p:sp>
      <p:sp>
        <p:nvSpPr>
          <p:cNvPr id="45" name="Text 42"/>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6" name="Text 43"/>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تَتَحَرَّكْ</a:t>
            </a:r>
            <a:endParaRPr lang="ar-SA" sz="1700" dirty="0"/>
          </a:p>
        </p:txBody>
      </p:sp>
      <p:sp>
        <p:nvSpPr>
          <p:cNvPr id="47" name="Text 44"/>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After </a:t>
            </a:r>
            <a:pPr algn="l" indent="0" marL="0">
              <a:buNone/>
            </a:pPr>
            <a:r>
              <a:rPr lang="ar-SA" altLang="en-US" sz="1350" dirty="0">
                <a:solidFill>
                  <a:srgbClr val="8A6D1E"/>
                </a:solidFill>
                <a:latin typeface="Amiri" pitchFamily="2" charset="-78"/>
                <a:cs typeface="Amiri" pitchFamily="2" charset="-78"/>
              </a:rPr>
              <a:t>أَنْ</a:t>
            </a:r>
            <a:pPr algn="l" indent="0" marL="0">
              <a:buNone/>
            </a:pPr>
            <a:r>
              <a:rPr lang="en-US" sz="1050" i="1" dirty="0">
                <a:solidFill>
                  <a:srgbClr val="8A6D1E"/>
                </a:solidFill>
                <a:latin typeface="Calibri" pitchFamily="34" charset="0"/>
                <a:cs typeface="Amiri" pitchFamily="2" charset="-78"/>
              </a:rPr>
              <a:t> the verb is subjunctive: </a:t>
            </a:r>
            <a:pPr algn="l" indent="0" marL="0">
              <a:buNone/>
            </a:pPr>
            <a:r>
              <a:rPr lang="ar-SA" altLang="en-US" sz="1350" dirty="0">
                <a:solidFill>
                  <a:srgbClr val="8A6D1E"/>
                </a:solidFill>
                <a:latin typeface="Amiri" pitchFamily="2" charset="-78"/>
                <a:cs typeface="Amiri" pitchFamily="2" charset="-78"/>
              </a:rPr>
              <a:t>تَتَحَرَّكَ</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8" name="Shape 45"/>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9" name="Shape 46"/>
          <p:cNvSpPr/>
          <p:nvPr/>
        </p:nvSpPr>
        <p:spPr>
          <a:xfrm>
            <a:off x="585216" y="4288536"/>
            <a:ext cx="310896" cy="310896"/>
          </a:xfrm>
          <a:prstGeom prst="ellipse">
            <a:avLst/>
          </a:prstGeom>
          <a:solidFill>
            <a:srgbClr val="1B3B6F"/>
          </a:solidFill>
          <a:ln w="12700">
            <a:solidFill>
              <a:srgbClr val="1B3B6F"/>
            </a:solidFill>
            <a:prstDash val="solid"/>
          </a:ln>
        </p:spPr>
      </p:sp>
      <p:sp>
        <p:nvSpPr>
          <p:cNvPr id="50" name="Text 47"/>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51" name="Text 48"/>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You hear a </a:t>
            </a:r>
            <a:pPr algn="l" indent="0" marL="0">
              <a:buNone/>
            </a:pPr>
            <a:r>
              <a:rPr lang="ar-SA" altLang="en-US" sz="1650" b="1" dirty="0">
                <a:solidFill>
                  <a:srgbClr val="1B3B6F"/>
                </a:solidFill>
                <a:latin typeface="Amiri" pitchFamily="2" charset="-78"/>
                <a:cs typeface="Amiri" pitchFamily="2" charset="-78"/>
              </a:rPr>
              <a:t>لَـ</a:t>
            </a:r>
            <a:pPr algn="l" indent="0" marL="0">
              <a:buNone/>
            </a:pPr>
            <a:r>
              <a:rPr lang="en-US" sz="1250" b="1" dirty="0">
                <a:solidFill>
                  <a:srgbClr val="1B3B6F"/>
                </a:solidFill>
                <a:latin typeface="Calibri" pitchFamily="34" charset="0"/>
                <a:cs typeface="Amiri" pitchFamily="2" charset="-78"/>
              </a:rPr>
              <a:t> result. The conditional is …</a:t>
            </a:r>
            <a:endParaRPr lang="en-US" sz="1250" dirty="0"/>
          </a:p>
        </p:txBody>
      </p:sp>
      <p:sp>
        <p:nvSpPr>
          <p:cNvPr id="52" name="Shape 49"/>
          <p:cNvSpPr/>
          <p:nvPr/>
        </p:nvSpPr>
        <p:spPr>
          <a:xfrm>
            <a:off x="640080" y="4831080"/>
            <a:ext cx="256032" cy="256032"/>
          </a:xfrm>
          <a:prstGeom prst="ellipse">
            <a:avLst/>
          </a:prstGeom>
          <a:solidFill>
            <a:srgbClr val="C9CED6"/>
          </a:solidFill>
          <a:ln w="12700">
            <a:solidFill>
              <a:srgbClr val="C9CED6"/>
            </a:solidFill>
            <a:prstDash val="solid"/>
          </a:ln>
        </p:spPr>
      </p:sp>
      <p:sp>
        <p:nvSpPr>
          <p:cNvPr id="53" name="Text 50"/>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4" name="Text 51"/>
          <p:cNvSpPr txBox="1"/>
          <p:nvPr/>
        </p:nvSpPr>
        <p:spPr>
          <a:xfrm>
            <a:off x="969264" y="4773168"/>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real (Type 1)</a:t>
            </a:r>
            <a:endParaRPr lang="en-US" sz="1250" dirty="0"/>
          </a:p>
        </p:txBody>
      </p:sp>
      <p:sp>
        <p:nvSpPr>
          <p:cNvPr id="55" name="Shape 52"/>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640080" y="5202936"/>
            <a:ext cx="256032" cy="256032"/>
          </a:xfrm>
          <a:prstGeom prst="ellipse">
            <a:avLst/>
          </a:prstGeom>
          <a:solidFill>
            <a:srgbClr val="2E8B57"/>
          </a:solidFill>
          <a:ln w="12700">
            <a:solidFill>
              <a:srgbClr val="2E8B57"/>
            </a:solidFill>
            <a:prstDash val="solid"/>
          </a:ln>
        </p:spPr>
      </p:sp>
      <p:sp>
        <p:nvSpPr>
          <p:cNvPr id="57" name="Text 54"/>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8" name="Text 55"/>
          <p:cNvSpPr txBox="1"/>
          <p:nvPr/>
        </p:nvSpPr>
        <p:spPr>
          <a:xfrm>
            <a:off x="969264" y="5145024"/>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hypothetical (Type 2)</a:t>
            </a:r>
            <a:endParaRPr lang="en-US" sz="1250" dirty="0"/>
          </a:p>
        </p:txBody>
      </p:sp>
      <p:sp>
        <p:nvSpPr>
          <p:cNvPr id="59" name="Shape 56"/>
          <p:cNvSpPr/>
          <p:nvPr/>
        </p:nvSpPr>
        <p:spPr>
          <a:xfrm>
            <a:off x="640080" y="5574792"/>
            <a:ext cx="256032" cy="256032"/>
          </a:xfrm>
          <a:prstGeom prst="ellipse">
            <a:avLst/>
          </a:prstGeom>
          <a:solidFill>
            <a:srgbClr val="C9CED6"/>
          </a:solidFill>
          <a:ln w="12700">
            <a:solidFill>
              <a:srgbClr val="C9CED6"/>
            </a:solidFill>
            <a:prstDash val="solid"/>
          </a:ln>
        </p:spPr>
      </p:sp>
      <p:sp>
        <p:nvSpPr>
          <p:cNvPr id="60" name="Text 57"/>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1" name="Text 58"/>
          <p:cNvSpPr txBox="1"/>
          <p:nvPr/>
        </p:nvSpPr>
        <p:spPr>
          <a:xfrm>
            <a:off x="969264" y="551688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command</a:t>
            </a:r>
            <a:endParaRPr lang="en-US" sz="1250" dirty="0"/>
          </a:p>
        </p:txBody>
      </p:sp>
      <p:sp>
        <p:nvSpPr>
          <p:cNvPr id="62" name="Text 59"/>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a:t>
            </a:r>
            <a:pPr algn="l" indent="0" marL="0">
              <a:buNone/>
            </a:pPr>
            <a:r>
              <a:rPr lang="ar-SA" altLang="en-US" sz="1350" dirty="0">
                <a:solidFill>
                  <a:srgbClr val="8A6D1E"/>
                </a:solidFill>
                <a:latin typeface="Amiri" pitchFamily="2" charset="-78"/>
                <a:cs typeface="Amiri" pitchFamily="2" charset="-78"/>
              </a:rPr>
              <a:t>لَـ</a:t>
            </a:r>
            <a:pPr algn="l" indent="0" marL="0">
              <a:buNone/>
            </a:pPr>
            <a:r>
              <a:rPr lang="en-US" sz="1050" i="1" dirty="0">
                <a:solidFill>
                  <a:srgbClr val="8A6D1E"/>
                </a:solidFill>
                <a:latin typeface="Calibri" pitchFamily="34" charset="0"/>
                <a:cs typeface="Amiri" pitchFamily="2" charset="-78"/>
              </a:rPr>
              <a:t> result signals a counterfactual Type 2.</a:t>
            </a:r>
            <a:endParaRPr lang="en-US" sz="1050" dirty="0"/>
          </a:p>
        </p:txBody>
      </p:sp>
      <p:sp>
        <p:nvSpPr>
          <p:cNvPr id="63" name="Shape 60"/>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6313932" y="4288536"/>
            <a:ext cx="310896" cy="310896"/>
          </a:xfrm>
          <a:prstGeom prst="ellipse">
            <a:avLst/>
          </a:prstGeom>
          <a:solidFill>
            <a:srgbClr val="1B3B6F"/>
          </a:solidFill>
          <a:ln w="12700">
            <a:solidFill>
              <a:srgbClr val="1B3B6F"/>
            </a:solidFill>
            <a:prstDash val="solid"/>
          </a:ln>
        </p:spPr>
      </p:sp>
      <p:sp>
        <p:nvSpPr>
          <p:cNvPr id="65" name="Text 62"/>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66" name="Text 63"/>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conclusion signal ends the argument?</a:t>
            </a:r>
            <a:endParaRPr lang="en-US" sz="1250" dirty="0"/>
          </a:p>
        </p:txBody>
      </p:sp>
      <p:sp>
        <p:nvSpPr>
          <p:cNvPr id="67" name="Shape 64"/>
          <p:cNvSpPr/>
          <p:nvPr/>
        </p:nvSpPr>
        <p:spPr>
          <a:xfrm>
            <a:off x="6368796" y="4831080"/>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9" name="Text 66"/>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صَحِيحٌ أَنَّ</a:t>
            </a:r>
            <a:endParaRPr lang="ar-SA" sz="1700" dirty="0"/>
          </a:p>
        </p:txBody>
      </p:sp>
      <p:sp>
        <p:nvSpPr>
          <p:cNvPr id="70" name="Shape 67"/>
          <p:cNvSpPr/>
          <p:nvPr/>
        </p:nvSpPr>
        <p:spPr>
          <a:xfrm>
            <a:off x="6368796" y="5202936"/>
            <a:ext cx="256032" cy="256032"/>
          </a:xfrm>
          <a:prstGeom prst="ellipse">
            <a:avLst/>
          </a:prstGeom>
          <a:solidFill>
            <a:srgbClr val="C9CED6"/>
          </a:solidFill>
          <a:ln w="12700">
            <a:solidFill>
              <a:srgbClr val="C9CED6"/>
            </a:solidFill>
            <a:prstDash val="solid"/>
          </a:ln>
        </p:spPr>
      </p:sp>
      <p:sp>
        <p:nvSpPr>
          <p:cNvPr id="71" name="Text 68"/>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2" name="Text 69"/>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إِذَا</a:t>
            </a:r>
            <a:endParaRPr lang="ar-SA" sz="1700" dirty="0"/>
          </a:p>
        </p:txBody>
      </p:sp>
      <p:sp>
        <p:nvSpPr>
          <p:cNvPr id="73" name="Shape 70"/>
          <p:cNvSpPr/>
          <p:nvPr/>
        </p:nvSpPr>
        <p:spPr>
          <a:xfrm>
            <a:off x="6277356" y="5538216"/>
            <a:ext cx="5362956" cy="347472"/>
          </a:xfrm>
          <a:prstGeom prst="roundRect">
            <a:avLst>
              <a:gd name="adj" fmla="val 15789"/>
            </a:avLst>
          </a:prstGeom>
          <a:solidFill>
            <a:srgbClr val="E6F4EC"/>
          </a:solidFill>
          <a:ln w="9525">
            <a:solidFill>
              <a:srgbClr val="2E8B57"/>
            </a:solidFill>
            <a:prstDash val="solid"/>
          </a:ln>
        </p:spPr>
      </p:sp>
      <p:sp>
        <p:nvSpPr>
          <p:cNvPr id="74" name="Shape 71"/>
          <p:cNvSpPr/>
          <p:nvPr/>
        </p:nvSpPr>
        <p:spPr>
          <a:xfrm>
            <a:off x="6368796" y="5574792"/>
            <a:ext cx="256032" cy="256032"/>
          </a:xfrm>
          <a:prstGeom prst="ellipse">
            <a:avLst/>
          </a:prstGeom>
          <a:solidFill>
            <a:srgbClr val="2E8B57"/>
          </a:solidFill>
          <a:ln w="12700">
            <a:solidFill>
              <a:srgbClr val="2E8B57"/>
            </a:solidFill>
            <a:prstDash val="solid"/>
          </a:ln>
        </p:spPr>
      </p:sp>
      <p:sp>
        <p:nvSpPr>
          <p:cNvPr id="75" name="Text 72"/>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6" name="Text 73"/>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وَبِنَاءً عَلَى مَا سَبَقَ</a:t>
            </a:r>
            <a:endParaRPr lang="ar-SA" sz="1700" dirty="0"/>
          </a:p>
        </p:txBody>
      </p:sp>
      <p:sp>
        <p:nvSpPr>
          <p:cNvPr id="77" name="Text 74"/>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وَبِنَاءً عَلَى مَا سَبَقَ</a:t>
            </a:r>
            <a:pPr algn="l" indent="0" marL="0">
              <a:buNone/>
            </a:pPr>
            <a:r>
              <a:rPr lang="en-US" sz="1050" i="1" dirty="0">
                <a:solidFill>
                  <a:srgbClr val="8A6D1E"/>
                </a:solidFill>
                <a:latin typeface="Calibri" pitchFamily="34" charset="0"/>
                <a:cs typeface="Amiri" pitchFamily="2" charset="-78"/>
              </a:rPr>
              <a:t> signals the conclusion.</a:t>
            </a:r>
            <a:endParaRPr lang="en-US" sz="1050" dirty="0"/>
          </a:p>
        </p:txBody>
      </p:sp>
      <p:sp>
        <p:nvSpPr>
          <p:cNvPr id="78" name="Text 7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50</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P5-L10 · Listening Skills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P5-L10</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سَمِعْتُ «صَحِيحٌ أَنَّ» فَعَرَفْتُ أَنَّهُ رَأْيُ المُتَحَدِّثِ النِّهَائِيُّ.</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ṣaḥīḥun anna = the speaker’s view?</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سَمِعْتُ «لَوْ» فَظَنَنْتُهُ خُطَّةً وَاقِعِيَّةً.</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law + la- = a real plan?</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حَاوَلْتُ الْتِقَاطَ كُلِّ كَلِمَةٍ لِأَفْهَمَ الحُجَّةَ.</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catching every word?</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50</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P5-L10 · Listening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P5-L10</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lnSpc>
                <a:spcPct val="120000"/>
              </a:lnSpc>
              <a:buNone/>
            </a:pPr>
            <a:r>
              <a:rPr lang="ar-SA" altLang="en-US" sz="1800" b="1" dirty="0">
                <a:solidFill>
                  <a:srgbClr val="B83227"/>
                </a:solidFill>
                <a:latin typeface="Amiri" pitchFamily="2" charset="-78"/>
                <a:cs typeface="Amiri" pitchFamily="2" charset="-78"/>
              </a:rPr>
              <a:t>سَمِعْتُ «صَحِيحٌ أَنَّ» فَعَرَفْتُ أَنَّهُ رَأْيُ المُتَحَدِّثِ النِّهَائِيُّ.</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lnSpc>
                <a:spcPct val="120000"/>
              </a:lnSpc>
              <a:buNone/>
            </a:pPr>
            <a:r>
              <a:rPr lang="ar-SA" altLang="en-US" sz="2100" b="1" dirty="0">
                <a:solidFill>
                  <a:srgbClr val="1E6B52"/>
                </a:solidFill>
                <a:latin typeface="Amiri" pitchFamily="2" charset="-78"/>
                <a:cs typeface="Amiri" pitchFamily="2" charset="-78"/>
              </a:rPr>
              <a:t>سَمِعْتُ «صَحِيحٌ أَنَّ» فَعَرَفْتُ أَنَّهُ تَسْلِيمٌ بِرَأْيِ الطَّرَفِ الآخَرِ.</a:t>
            </a:r>
            <a:endParaRPr lang="ar-SA" sz="21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cs typeface="Amiri" pitchFamily="2" charset="-78"/>
              </a:rPr>
              <a:t>صَحِيحٌ أَنَّ</a:t>
            </a:r>
            <a:pPr algn="l" indent="0" marL="0">
              <a:buNone/>
            </a:pPr>
            <a:r>
              <a:rPr lang="en-US" sz="1150" b="1" dirty="0">
                <a:solidFill>
                  <a:srgbClr val="1B3B6F"/>
                </a:solidFill>
                <a:latin typeface="Calibri" pitchFamily="34" charset="0"/>
                <a:cs typeface="Amiri" pitchFamily="2" charset="-78"/>
              </a:rPr>
              <a:t> concedes the other side's point; the speaker's view follows </a:t>
            </a:r>
            <a:pPr algn="l" indent="0" marL="0">
              <a:buNone/>
            </a:pPr>
            <a:r>
              <a:rPr lang="ar-SA" altLang="en-US" sz="1500" b="1" dirty="0">
                <a:solidFill>
                  <a:srgbClr val="1B3B6F"/>
                </a:solidFill>
                <a:latin typeface="Amiri" pitchFamily="2" charset="-78"/>
                <a:cs typeface="Amiri" pitchFamily="2" charset="-78"/>
              </a:rPr>
              <a:t>غَيْرَ أَنَّ</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سَمِعْتُ «لَوْ» فَظَنَنْتُهُ خُطَّةً وَاقِعِيَّةً.</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lnSpc>
                <a:spcPct val="120000"/>
              </a:lnSpc>
              <a:buNone/>
            </a:pPr>
            <a:r>
              <a:rPr lang="ar-SA" altLang="en-US" sz="2150" b="1" dirty="0">
                <a:solidFill>
                  <a:srgbClr val="1E6B52"/>
                </a:solidFill>
                <a:latin typeface="Amiri" pitchFamily="2" charset="-78"/>
                <a:cs typeface="Amiri" pitchFamily="2" charset="-78"/>
              </a:rPr>
              <a:t>سَمِعْتُ «لَوْ» مَعَ نَتِيجَةٍ بِـ«لَـ» فَعَرَفْتُ أَنَّهُ افْتِرَاضٌ.</a:t>
            </a:r>
            <a:endParaRPr lang="ar-SA" sz="215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cs typeface="Amiri" pitchFamily="2" charset="-78"/>
              </a:rPr>
              <a:t>لَوْ</a:t>
            </a:r>
            <a:pPr algn="l" indent="0" marL="0">
              <a:buNone/>
            </a:pPr>
            <a:r>
              <a:rPr lang="en-US" sz="1150" b="1" dirty="0">
                <a:solidFill>
                  <a:srgbClr val="1B3B6F"/>
                </a:solidFill>
                <a:latin typeface="Calibri" pitchFamily="34" charset="0"/>
                <a:cs typeface="Amiri" pitchFamily="2" charset="-78"/>
              </a:rPr>
              <a:t> with a </a:t>
            </a:r>
            <a:pPr algn="l" indent="0" marL="0">
              <a:buNone/>
            </a:pPr>
            <a:r>
              <a:rPr lang="ar-SA" altLang="en-US" sz="1500" b="1" dirty="0">
                <a:solidFill>
                  <a:srgbClr val="1B3B6F"/>
                </a:solidFill>
                <a:latin typeface="Amiri" pitchFamily="2" charset="-78"/>
                <a:cs typeface="Amiri" pitchFamily="2" charset="-78"/>
              </a:rPr>
              <a:t>لَـ</a:t>
            </a:r>
            <a:pPr algn="l" indent="0" marL="0">
              <a:buNone/>
            </a:pPr>
            <a:r>
              <a:rPr lang="en-US" sz="1150" b="1" dirty="0">
                <a:solidFill>
                  <a:srgbClr val="1B3B6F"/>
                </a:solidFill>
                <a:latin typeface="Calibri" pitchFamily="34" charset="0"/>
                <a:cs typeface="Amiri" pitchFamily="2" charset="-78"/>
              </a:rPr>
              <a:t> result signals a counterfactual, not a real plan.</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حَاوَلْتُ الْتِقَاطَ كُلِّ كَلِمَةٍ لِأَفْهَمَ الحُجَّةَ.</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lnSpc>
                <a:spcPct val="120000"/>
              </a:lnSpc>
              <a:buNone/>
            </a:pPr>
            <a:r>
              <a:rPr lang="ar-SA" altLang="en-US" sz="2100" b="1" dirty="0">
                <a:solidFill>
                  <a:srgbClr val="1E6B52"/>
                </a:solidFill>
                <a:latin typeface="Amiri" pitchFamily="2" charset="-78"/>
                <a:cs typeface="Amiri" pitchFamily="2" charset="-78"/>
              </a:rPr>
              <a:t>تَتَبَّعْتُ بِنْيَةَ الحُجَّةِ لِأَفْهَمَهَا وَلَوْ فَاتَتْنِي كَلِمَاتٌ.</a:t>
            </a:r>
            <a:endParaRPr lang="ar-SA" sz="21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Following the argument's structure lets you keep up even when words slip past.</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50</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P5-L10 · Listening Skills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 TEXT 1 OF 2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Part 1: thesis, evidence, concession, refutation</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P5-L10</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speaker's thesis?</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Social inequality threatens stability</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Inequality is beneficial</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Inequality does not exist</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evidence is cited?</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gap is narrowing</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There is no data</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Studies confirm the wealth gap is widening</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speaker concede (</a:t>
            </a:r>
            <a:pPr algn="l" indent="0" marL="0">
              <a:buNone/>
            </a:pPr>
            <a:r>
              <a:rPr lang="ar-SA" altLang="en-US" sz="1650" b="1" dirty="0">
                <a:solidFill>
                  <a:srgbClr val="1B3B6F"/>
                </a:solidFill>
                <a:latin typeface="Amiri" pitchFamily="2" charset="-78"/>
                <a:cs typeface="Amiri" pitchFamily="2" charset="-78"/>
              </a:rPr>
              <a:t>صَحِيحٌ أَنَّ</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Reforms are impossible</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Reforms are unnecessary</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Reforms need time and huge resources</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refutation (</a:t>
            </a:r>
            <a:pPr algn="l" indent="0" marL="0">
              <a:buNone/>
            </a:pPr>
            <a:r>
              <a:rPr lang="ar-SA" altLang="en-US" sz="1650" b="1" dirty="0">
                <a:solidFill>
                  <a:srgbClr val="1B3B6F"/>
                </a:solidFill>
                <a:latin typeface="Amiri" pitchFamily="2" charset="-78"/>
                <a:cs typeface="Amiri" pitchFamily="2" charset="-78"/>
              </a:rPr>
              <a:t>غَيْرَ أَنَّ</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pressing social need cannot wait</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need can wait indefinitely</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There is no need</a:t>
            </a:r>
            <a:endParaRPr lang="en-US" sz="1250" dirty="0"/>
          </a:p>
        </p:txBody>
      </p:sp>
      <p:sp>
        <p:nvSpPr>
          <p:cNvPr id="67" name="Shape 64"/>
          <p:cNvSpPr/>
          <p:nvPr/>
        </p:nvSpPr>
        <p:spPr>
          <a:xfrm>
            <a:off x="4276344"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898136" y="4361688"/>
            <a:ext cx="914400" cy="274320"/>
          </a:xfrm>
          <a:prstGeom prst="roundRect">
            <a:avLst>
              <a:gd name="adj" fmla="val 50000"/>
            </a:avLst>
          </a:prstGeom>
          <a:solidFill>
            <a:srgbClr val="2E8B57"/>
          </a:solidFill>
          <a:ln w="12700">
            <a:solidFill>
              <a:srgbClr val="2E8B57"/>
            </a:solidFill>
            <a:prstDash val="solid"/>
          </a:ln>
        </p:spPr>
      </p:sp>
      <p:sp>
        <p:nvSpPr>
          <p:cNvPr id="69" name="Text 66"/>
          <p:cNvSpPr txBox="1"/>
          <p:nvPr/>
        </p:nvSpPr>
        <p:spPr>
          <a:xfrm>
            <a:off x="4898136"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70" name="Text 67"/>
          <p:cNvSpPr txBox="1"/>
          <p:nvPr/>
        </p:nvSpPr>
        <p:spPr>
          <a:xfrm>
            <a:off x="4477512"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Label first: thesis · evidence · concession · refutation.</a:t>
            </a:r>
            <a:endParaRPr lang="en-US" sz="1250" dirty="0"/>
          </a:p>
          <a:p>
            <a:pPr algn="l" indent="0" marL="0">
              <a:buNone/>
            </a:pPr>
            <a:r>
              <a:rPr lang="en-US" sz="1250" dirty="0">
                <a:solidFill>
                  <a:srgbClr val="1E6B52"/>
                </a:solidFill>
                <a:latin typeface="Calibri" pitchFamily="34" charset="0"/>
                <a:cs typeface="Amiri" pitchFamily="2" charset="-78"/>
              </a:rPr>
              <a:t>Listen for: uṭrūḥatī anna · akkadat · ṣaḥīḥun anna · ghayra anna.</a:t>
            </a:r>
            <a:endParaRPr lang="en-US" sz="1250" dirty="0"/>
          </a:p>
        </p:txBody>
      </p:sp>
      <p:sp>
        <p:nvSpPr>
          <p:cNvPr id="71" name="Text 6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50</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P5-L10 · Listening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P5-L10</a:t>
            </a:r>
            <a:endParaRPr lang="en-US" sz="850" dirty="0"/>
          </a:p>
        </p:txBody>
      </p:sp>
      <p:sp>
        <p:nvSpPr>
          <p:cNvPr id="15" name="Shape 12"/>
          <p:cNvSpPr/>
          <p:nvPr/>
        </p:nvSpPr>
        <p:spPr>
          <a:xfrm>
            <a:off x="457200" y="1810512"/>
            <a:ext cx="11274552" cy="1450848"/>
          </a:xfrm>
          <a:prstGeom prst="roundRect">
            <a:avLst>
              <a:gd name="adj" fmla="val 3151"/>
            </a:avLst>
          </a:prstGeom>
          <a:solidFill>
            <a:srgbClr val="FFFFFF"/>
          </a:solidFill>
          <a:ln w="9525">
            <a:solidFill>
              <a:srgbClr val="D8D0BF"/>
            </a:solidFill>
            <a:prstDash val="solid"/>
          </a:ln>
        </p:spPr>
      </p:sp>
      <p:sp>
        <p:nvSpPr>
          <p:cNvPr id="16" name="Text 13"/>
          <p:cNvSpPr txBox="1"/>
          <p:nvPr/>
        </p:nvSpPr>
        <p:spPr>
          <a:xfrm>
            <a:off x="4937760" y="1828800"/>
            <a:ext cx="6675120" cy="1414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يَقُولُ الأَكَادِيمِيُّ: أُطْرُوحَتِي أَنَّ التَّفَاوُتَ الاجْتِمَاعِيَّ يُهَدِّدُ الاسْتِقْرَارَ.</a:t>
            </a:r>
            <a:endParaRPr lang="ar-SA" sz="2000" dirty="0"/>
          </a:p>
        </p:txBody>
      </p:sp>
      <p:sp>
        <p:nvSpPr>
          <p:cNvPr id="17" name="Text 14"/>
          <p:cNvSpPr txBox="1"/>
          <p:nvPr/>
        </p:nvSpPr>
        <p:spPr>
          <a:xfrm>
            <a:off x="640080" y="1828800"/>
            <a:ext cx="4160520" cy="1414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academic says: my thesis is that social inequality threatens stability.</a:t>
            </a:r>
            <a:endParaRPr lang="en-US" sz="1250" dirty="0"/>
          </a:p>
        </p:txBody>
      </p:sp>
      <p:sp>
        <p:nvSpPr>
          <p:cNvPr id="18" name="Shape 15"/>
          <p:cNvSpPr/>
          <p:nvPr/>
        </p:nvSpPr>
        <p:spPr>
          <a:xfrm>
            <a:off x="457200" y="3334512"/>
            <a:ext cx="11274552" cy="1450848"/>
          </a:xfrm>
          <a:prstGeom prst="roundRect">
            <a:avLst>
              <a:gd name="adj" fmla="val 3151"/>
            </a:avLst>
          </a:prstGeom>
          <a:solidFill>
            <a:srgbClr val="F4F1EA"/>
          </a:solidFill>
          <a:ln w="9525">
            <a:solidFill>
              <a:srgbClr val="D8D0BF"/>
            </a:solidFill>
            <a:prstDash val="solid"/>
          </a:ln>
        </p:spPr>
      </p:sp>
      <p:sp>
        <p:nvSpPr>
          <p:cNvPr id="19" name="Text 16"/>
          <p:cNvSpPr txBox="1"/>
          <p:nvPr/>
        </p:nvSpPr>
        <p:spPr>
          <a:xfrm>
            <a:off x="4937760" y="3352800"/>
            <a:ext cx="6675120" cy="1414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أَكَّدَتِ الدِّرَاسَاتُ أَنَّ الفَجْوَةَ بَيْنَ الأَغْنِيَاءِ وَالفُقَرَاءِ تَتَّسِعُ.</a:t>
            </a:r>
            <a:endParaRPr lang="ar-SA" sz="2000" dirty="0"/>
          </a:p>
        </p:txBody>
      </p:sp>
      <p:sp>
        <p:nvSpPr>
          <p:cNvPr id="20" name="Text 17"/>
          <p:cNvSpPr txBox="1"/>
          <p:nvPr/>
        </p:nvSpPr>
        <p:spPr>
          <a:xfrm>
            <a:off x="640080" y="3352800"/>
            <a:ext cx="4160520" cy="1414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Studies have confirmed that the gap between rich and poor is widening.</a:t>
            </a:r>
            <a:endParaRPr lang="en-US" sz="1250" dirty="0"/>
          </a:p>
        </p:txBody>
      </p:sp>
      <p:sp>
        <p:nvSpPr>
          <p:cNvPr id="21" name="Shape 18"/>
          <p:cNvSpPr/>
          <p:nvPr/>
        </p:nvSpPr>
        <p:spPr>
          <a:xfrm>
            <a:off x="457200" y="4858512"/>
            <a:ext cx="11274552" cy="1450848"/>
          </a:xfrm>
          <a:prstGeom prst="roundRect">
            <a:avLst>
              <a:gd name="adj" fmla="val 3151"/>
            </a:avLst>
          </a:prstGeom>
          <a:solidFill>
            <a:srgbClr val="FFFFFF"/>
          </a:solidFill>
          <a:ln w="9525">
            <a:solidFill>
              <a:srgbClr val="D8D0BF"/>
            </a:solidFill>
            <a:prstDash val="solid"/>
          </a:ln>
        </p:spPr>
      </p:sp>
      <p:sp>
        <p:nvSpPr>
          <p:cNvPr id="22" name="Text 19"/>
          <p:cNvSpPr txBox="1"/>
          <p:nvPr/>
        </p:nvSpPr>
        <p:spPr>
          <a:xfrm>
            <a:off x="4937760" y="4876800"/>
            <a:ext cx="6675120" cy="1414272"/>
          </a:xfrm>
          <a:prstGeom prst="rect">
            <a:avLst/>
          </a:prstGeom>
          <a:noFill/>
          <a:ln/>
        </p:spPr>
        <p:txBody>
          <a:bodyPr wrap="square" lIns="0" tIns="0" rIns="0" bIns="0" rtlCol="0" anchor="ctr"/>
          <a:lstStyle/>
          <a:p>
            <a:pPr rtl="1" algn="r" indent="0" marL="0">
              <a:lnSpc>
                <a:spcPct val="120000"/>
              </a:lnSpc>
              <a:buNone/>
            </a:pPr>
            <a:r>
              <a:rPr lang="ar-SA" altLang="en-US" sz="2000" b="1" dirty="0">
                <a:solidFill>
                  <a:srgbClr val="1B3B6F"/>
                </a:solidFill>
                <a:latin typeface="Amiri" pitchFamily="2" charset="-78"/>
                <a:cs typeface="Amiri" pitchFamily="2" charset="-78"/>
              </a:rPr>
              <a:t>صَحِيحٌ أَنَّ الإِصْلَاحَاتِ تَحْتَاجُ وَقْتًا طَوِيلًا وَمَوَارِدَ ضَخْمَةً، غَيْرَ أَنَّ الحَاجَةَ الاجْتِمَاعِيَّةَ المُلِحَّةَ لَا تَتَحَمَّلُ الانْتِظَارَ.</a:t>
            </a:r>
            <a:endParaRPr lang="ar-SA" sz="2000" dirty="0"/>
          </a:p>
        </p:txBody>
      </p:sp>
      <p:sp>
        <p:nvSpPr>
          <p:cNvPr id="23" name="Text 20"/>
          <p:cNvSpPr txBox="1"/>
          <p:nvPr/>
        </p:nvSpPr>
        <p:spPr>
          <a:xfrm>
            <a:off x="640080" y="4876800"/>
            <a:ext cx="4160520" cy="1414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true that reforms need a long time and huge resources; however, the pressing social need cannot bear waiting.</a:t>
            </a:r>
            <a:endParaRPr lang="en-US" sz="1250" dirty="0"/>
          </a:p>
        </p:txBody>
      </p:sp>
      <p:sp>
        <p:nvSpPr>
          <p:cNvPr id="24" name="Text 2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50</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P5-L10 · Listening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Text 1: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P5-L10</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speaker's thesis?</a:t>
            </a:r>
            <a:endParaRPr lang="en-US" sz="1250" dirty="0"/>
          </a:p>
        </p:txBody>
      </p:sp>
      <p:sp>
        <p:nvSpPr>
          <p:cNvPr id="19" name="Shape 16"/>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Social inequality threatens stability</a:t>
            </a:r>
            <a:endParaRPr lang="en-US" sz="12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Inequality is beneficial</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Inequality does not exist</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أُطْرُوحَتِي أَنَّ التَّفَاوُتَ الاجْتِمَاعِيَّ يُهَدِّدُ الاسْتِقْرَارَ.</a:t>
            </a:r>
            <a:endParaRPr lang="ar-SA" sz="13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evidence is cited?</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gap is narrowing</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There is no data</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Studies confirm the wealth gap is widening</a:t>
            </a:r>
            <a:endParaRPr lang="en-US" sz="11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cs typeface="Amiri" pitchFamily="2" charset="-78"/>
              </a:rPr>
              <a:t>أَكَّدَتِ الدِّرَاسَاتُ أَنَّ الفَجْوَةَ بَيْنَ الأَغْنِيَاءِ وَالفُقَرَاءِ تَتَّسِعُ.</a:t>
            </a:r>
            <a:endParaRPr lang="ar-SA" sz="130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speaker concede (</a:t>
            </a:r>
            <a:pPr algn="l" indent="0" marL="0">
              <a:buNone/>
            </a:pPr>
            <a:r>
              <a:rPr lang="ar-SA" altLang="en-US" sz="1650" b="1" dirty="0">
                <a:solidFill>
                  <a:srgbClr val="1B3B6F"/>
                </a:solidFill>
                <a:latin typeface="Amiri" pitchFamily="2" charset="-78"/>
                <a:cs typeface="Amiri" pitchFamily="2" charset="-78"/>
              </a:rPr>
              <a:t>صَحِيحٌ أَنَّ</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Reforms are impossible</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Reforms are unnecessary</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Reforms need time and huge resources</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صَحِيحٌ أَنَّ الإِصْلَاحَاتِ تَحْتَاجُ وَقْتًا طَوِيلًا وَمَوَارِدَ ضَخْمَةً.</a:t>
            </a:r>
            <a:endParaRPr lang="ar-SA" sz="13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refutation (</a:t>
            </a:r>
            <a:pPr algn="l" indent="0" marL="0">
              <a:buNone/>
            </a:pPr>
            <a:r>
              <a:rPr lang="ar-SA" altLang="en-US" sz="1650" b="1" dirty="0">
                <a:solidFill>
                  <a:srgbClr val="1B3B6F"/>
                </a:solidFill>
                <a:latin typeface="Amiri" pitchFamily="2" charset="-78"/>
                <a:cs typeface="Amiri" pitchFamily="2" charset="-78"/>
              </a:rPr>
              <a:t>غَيْرَ أَنَّ</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64" name="Shape 61"/>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40080"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pressing social need cannot wait</a:t>
            </a:r>
            <a:endParaRPr lang="en-US" sz="125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need can wait indefinitely</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There is no need</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cs typeface="Amiri" pitchFamily="2" charset="-78"/>
              </a:rPr>
              <a:t>غَيْرَ أَنَّ الحَاجَةَ الاجْتِمَاعِيَّةَ المُلِحَّةَ لَا تَتَحَمَّلُ الانْتِظَارَ.</a:t>
            </a:r>
            <a:endParaRPr lang="ar-SA" sz="1300" dirty="0"/>
          </a:p>
        </p:txBody>
      </p:sp>
      <p:sp>
        <p:nvSpPr>
          <p:cNvPr id="75" name="Shape 72"/>
          <p:cNvSpPr/>
          <p:nvPr/>
        </p:nvSpPr>
        <p:spPr>
          <a:xfrm>
            <a:off x="4276344"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898136" y="4361688"/>
            <a:ext cx="914400" cy="274320"/>
          </a:xfrm>
          <a:prstGeom prst="roundRect">
            <a:avLst>
              <a:gd name="adj" fmla="val 50000"/>
            </a:avLst>
          </a:prstGeom>
          <a:solidFill>
            <a:srgbClr val="2E8B57"/>
          </a:solidFill>
          <a:ln w="12700">
            <a:solidFill>
              <a:srgbClr val="2E8B57"/>
            </a:solidFill>
            <a:prstDash val="solid"/>
          </a:ln>
        </p:spPr>
      </p:sp>
      <p:sp>
        <p:nvSpPr>
          <p:cNvPr id="77" name="Text 74"/>
          <p:cNvSpPr txBox="1"/>
          <p:nvPr/>
        </p:nvSpPr>
        <p:spPr>
          <a:xfrm>
            <a:off x="4898136"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78" name="Text 75"/>
          <p:cNvSpPr txBox="1"/>
          <p:nvPr/>
        </p:nvSpPr>
        <p:spPr>
          <a:xfrm>
            <a:off x="4477512"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Label first: thesis · evidence · concession · refutation.</a:t>
            </a:r>
            <a:endParaRPr lang="en-US" sz="1250" dirty="0"/>
          </a:p>
          <a:p>
            <a:pPr algn="l" indent="0" marL="0">
              <a:buNone/>
            </a:pPr>
            <a:r>
              <a:rPr lang="en-US" sz="1250" dirty="0">
                <a:solidFill>
                  <a:srgbClr val="1E6B52"/>
                </a:solidFill>
                <a:latin typeface="Calibri" pitchFamily="34" charset="0"/>
                <a:cs typeface="Amiri" pitchFamily="2" charset="-78"/>
              </a:rPr>
              <a:t>Listen for: uṭrūḥatī anna · akkadat · ṣaḥīḥun anna · ghayra anna.</a:t>
            </a:r>
            <a:endParaRPr lang="en-US" sz="1250" dirty="0"/>
          </a:p>
        </p:txBody>
      </p:sp>
      <p:sp>
        <p:nvSpPr>
          <p:cNvPr id="79" name="Text 7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50</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P5-L10 · Listening Skills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 TEXT 2 OF 2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Part 2: if, had, requires — the speaker’s stance</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P5-L10</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Type 2 counterfactual?</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Had inequality been addressed decades ago, the situation would be much better</a:t>
            </a:r>
            <a:endParaRPr lang="en-US" sz="120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Timing makes no difference</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situation cannot improve</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subjunctive conclusion (</a:t>
            </a:r>
            <a:pPr algn="l" indent="0" marL="0">
              <a:buNone/>
            </a:pPr>
            <a:r>
              <a:rPr lang="ar-SA" altLang="en-US" sz="1650" b="1" dirty="0">
                <a:solidFill>
                  <a:srgbClr val="1B3B6F"/>
                </a:solidFill>
                <a:latin typeface="Amiri" pitchFamily="2" charset="-78"/>
                <a:cs typeface="Amiri" pitchFamily="2" charset="-78"/>
              </a:rPr>
              <a:t>يَتَطَلَّبُ</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Governments should wait</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 action is required</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situation requires governments to act immediately</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Is the speaker's position balanced or partisan?</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Purely partisan</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There is no position</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Balanced — it concedes before refuting</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speaker's overall stance?</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Social justice is a necessity, not a luxury</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Social justice is a luxury</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Social justice is impossible</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will happen if there is investment in early education?</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gap will widen</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gap will narrow gradually</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nothing will change</a:t>
            </a:r>
            <a:endParaRPr lang="en-US" sz="12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2" name="Text 7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83" name="Text 8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Label first: Type 2 · trigger · balance · stance · Type 1.</a:t>
            </a:r>
            <a:endParaRPr lang="en-US" sz="1250" dirty="0"/>
          </a:p>
          <a:p>
            <a:pPr algn="l" indent="0" marL="0">
              <a:buNone/>
            </a:pPr>
            <a:r>
              <a:rPr lang="en-US" sz="1250" dirty="0">
                <a:solidFill>
                  <a:srgbClr val="1E6B52"/>
                </a:solidFill>
                <a:latin typeface="Calibri" pitchFamily="34" charset="0"/>
                <a:cs typeface="Amiri" pitchFamily="2" charset="-78"/>
              </a:rPr>
              <a:t>Listen for: law … la- · yataṭallabu an · wa-bināʾan · idhā … sa-.</a:t>
            </a:r>
            <a:endParaRPr lang="en-US" sz="125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50</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P5-L10 · Listening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P5-L10</a:t>
            </a:r>
            <a:endParaRPr lang="en-US" sz="850" dirty="0"/>
          </a:p>
        </p:txBody>
      </p:sp>
      <p:sp>
        <p:nvSpPr>
          <p:cNvPr id="15" name="Shape 12"/>
          <p:cNvSpPr/>
          <p:nvPr/>
        </p:nvSpPr>
        <p:spPr>
          <a:xfrm>
            <a:off x="457200" y="1810512"/>
            <a:ext cx="11274552" cy="1450848"/>
          </a:xfrm>
          <a:prstGeom prst="roundRect">
            <a:avLst>
              <a:gd name="adj" fmla="val 3151"/>
            </a:avLst>
          </a:prstGeom>
          <a:solidFill>
            <a:srgbClr val="FFFFFF"/>
          </a:solidFill>
          <a:ln w="9525">
            <a:solidFill>
              <a:srgbClr val="D8D0BF"/>
            </a:solidFill>
            <a:prstDash val="solid"/>
          </a:ln>
        </p:spPr>
      </p:sp>
      <p:sp>
        <p:nvSpPr>
          <p:cNvPr id="16" name="Text 13"/>
          <p:cNvSpPr txBox="1"/>
          <p:nvPr/>
        </p:nvSpPr>
        <p:spPr>
          <a:xfrm>
            <a:off x="4937760" y="1828800"/>
            <a:ext cx="6675120" cy="1414272"/>
          </a:xfrm>
          <a:prstGeom prst="rect">
            <a:avLst/>
          </a:prstGeom>
          <a:noFill/>
          <a:ln/>
        </p:spPr>
        <p:txBody>
          <a:bodyPr wrap="square" lIns="0" tIns="0" rIns="0" bIns="0" rtlCol="0" anchor="ctr"/>
          <a:lstStyle/>
          <a:p>
            <a:pPr rtl="1" algn="r" indent="0" marL="0">
              <a:lnSpc>
                <a:spcPct val="120000"/>
              </a:lnSpc>
              <a:buNone/>
            </a:pPr>
            <a:r>
              <a:rPr lang="ar-SA" altLang="en-US" sz="2000" b="1" dirty="0">
                <a:solidFill>
                  <a:srgbClr val="1B3B6F"/>
                </a:solidFill>
                <a:latin typeface="Amiri" pitchFamily="2" charset="-78"/>
                <a:cs typeface="Amiri" pitchFamily="2" charset="-78"/>
              </a:rPr>
              <a:t>إِذَا اسْتُثْمِرَ فِي التَّعْلِيمِ المُبَكِّرِ، سَتَضِيقُ الفَجْوَةُ تَدْرِيجِيًّا. وَلَوْ عُولِجَ التَّفَاوُتُ قَبْلَ عُقُودٍ، لَتَحَسَّنَ الوَضْعُ كَثِيرًا.</a:t>
            </a:r>
            <a:endParaRPr lang="ar-SA" sz="2000" dirty="0"/>
          </a:p>
        </p:txBody>
      </p:sp>
      <p:sp>
        <p:nvSpPr>
          <p:cNvPr id="17" name="Text 14"/>
          <p:cNvSpPr txBox="1"/>
          <p:nvPr/>
        </p:nvSpPr>
        <p:spPr>
          <a:xfrm>
            <a:off x="640080" y="1828800"/>
            <a:ext cx="4160520" cy="1414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If there is investment in early education, the gap will narrow gradually. And had inequality been addressed decades ago, the situation would have improved greatly.</a:t>
            </a:r>
            <a:endParaRPr lang="en-US" sz="1250" dirty="0"/>
          </a:p>
        </p:txBody>
      </p:sp>
      <p:sp>
        <p:nvSpPr>
          <p:cNvPr id="18" name="Shape 15"/>
          <p:cNvSpPr/>
          <p:nvPr/>
        </p:nvSpPr>
        <p:spPr>
          <a:xfrm>
            <a:off x="457200" y="3334512"/>
            <a:ext cx="11274552" cy="1450848"/>
          </a:xfrm>
          <a:prstGeom prst="roundRect">
            <a:avLst>
              <a:gd name="adj" fmla="val 3151"/>
            </a:avLst>
          </a:prstGeom>
          <a:solidFill>
            <a:srgbClr val="F4F1EA"/>
          </a:solidFill>
          <a:ln w="9525">
            <a:solidFill>
              <a:srgbClr val="D8D0BF"/>
            </a:solidFill>
            <a:prstDash val="solid"/>
          </a:ln>
        </p:spPr>
      </p:sp>
      <p:sp>
        <p:nvSpPr>
          <p:cNvPr id="19" name="Text 16"/>
          <p:cNvSpPr txBox="1"/>
          <p:nvPr/>
        </p:nvSpPr>
        <p:spPr>
          <a:xfrm>
            <a:off x="4937760" y="3352800"/>
            <a:ext cx="6675120" cy="1414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وَيَتَطَلَّبُ الوَضْعُ أَنْ تَتَحَرَّكَ الحُكُومَاتُ فَوْرًا.</a:t>
            </a:r>
            <a:endParaRPr lang="ar-SA" sz="2000" dirty="0"/>
          </a:p>
        </p:txBody>
      </p:sp>
      <p:sp>
        <p:nvSpPr>
          <p:cNvPr id="20" name="Text 17"/>
          <p:cNvSpPr txBox="1"/>
          <p:nvPr/>
        </p:nvSpPr>
        <p:spPr>
          <a:xfrm>
            <a:off x="640080" y="3352800"/>
            <a:ext cx="4160520" cy="1414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And the situation requires governments to act immediately.</a:t>
            </a:r>
            <a:endParaRPr lang="en-US" sz="1250" dirty="0"/>
          </a:p>
        </p:txBody>
      </p:sp>
      <p:sp>
        <p:nvSpPr>
          <p:cNvPr id="21" name="Shape 18"/>
          <p:cNvSpPr/>
          <p:nvPr/>
        </p:nvSpPr>
        <p:spPr>
          <a:xfrm>
            <a:off x="457200" y="4858512"/>
            <a:ext cx="11274552" cy="1450848"/>
          </a:xfrm>
          <a:prstGeom prst="roundRect">
            <a:avLst>
              <a:gd name="adj" fmla="val 3151"/>
            </a:avLst>
          </a:prstGeom>
          <a:solidFill>
            <a:srgbClr val="FFFFFF"/>
          </a:solidFill>
          <a:ln w="9525">
            <a:solidFill>
              <a:srgbClr val="D8D0BF"/>
            </a:solidFill>
            <a:prstDash val="solid"/>
          </a:ln>
        </p:spPr>
      </p:sp>
      <p:sp>
        <p:nvSpPr>
          <p:cNvPr id="22" name="Text 19"/>
          <p:cNvSpPr txBox="1"/>
          <p:nvPr/>
        </p:nvSpPr>
        <p:spPr>
          <a:xfrm>
            <a:off x="4937760" y="4876800"/>
            <a:ext cx="6675120" cy="1414272"/>
          </a:xfrm>
          <a:prstGeom prst="rect">
            <a:avLst/>
          </a:prstGeom>
          <a:noFill/>
          <a:ln/>
        </p:spPr>
        <p:txBody>
          <a:bodyPr wrap="square" lIns="0" tIns="0" rIns="0" bIns="0" rtlCol="0" anchor="ctr"/>
          <a:lstStyle/>
          <a:p>
            <a:pPr rtl="1" algn="r" indent="0" marL="0">
              <a:lnSpc>
                <a:spcPct val="120000"/>
              </a:lnSpc>
              <a:buNone/>
            </a:pPr>
            <a:r>
              <a:rPr lang="ar-SA" altLang="en-US" sz="2000" b="1" dirty="0">
                <a:solidFill>
                  <a:srgbClr val="1B3B6F"/>
                </a:solidFill>
                <a:latin typeface="Amiri" pitchFamily="2" charset="-78"/>
                <a:cs typeface="Amiri" pitchFamily="2" charset="-78"/>
              </a:rPr>
              <a:t>وَبِنَاءً عَلَى مَا سَبَقَ، فَإِنَّ مَوْقِفِي وَاضِحٌ: العَدَالَةُ الاجْتِمَاعِيَّةُ ضَرُورَةٌ لَا رَفَاهِيَةٌ.</a:t>
            </a:r>
            <a:endParaRPr lang="ar-SA" sz="2000" dirty="0"/>
          </a:p>
        </p:txBody>
      </p:sp>
      <p:sp>
        <p:nvSpPr>
          <p:cNvPr id="23" name="Text 20"/>
          <p:cNvSpPr txBox="1"/>
          <p:nvPr/>
        </p:nvSpPr>
        <p:spPr>
          <a:xfrm>
            <a:off x="640080" y="4876800"/>
            <a:ext cx="4160520" cy="1414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Based on the above, my position is clear: social justice is a necessity, not a luxury.</a:t>
            </a:r>
            <a:endParaRPr lang="en-US" sz="1250" dirty="0"/>
          </a:p>
        </p:txBody>
      </p:sp>
      <p:sp>
        <p:nvSpPr>
          <p:cNvPr id="24" name="Text 2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34 / 50</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P5-L10 · Listening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Text 2: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P5-L10</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Type 2 counterfactual?</a:t>
            </a:r>
            <a:endParaRPr lang="en-US" sz="1250" dirty="0"/>
          </a:p>
        </p:txBody>
      </p:sp>
      <p:sp>
        <p:nvSpPr>
          <p:cNvPr id="19" name="Shape 16"/>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Had inequality been addressed decades ago, the situation would be much better</a:t>
            </a:r>
            <a:endParaRPr lang="en-US" sz="11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Timing makes no difference</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situation cannot improve</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لَوْ عُولِجَ التَّفَاوُتُ قَبْلَ عُقُودٍ، لَتَحَسَّنَ الوَضْعُ كَثِيرًا.</a:t>
            </a:r>
            <a:endParaRPr lang="ar-SA" sz="13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subjunctive conclusion (</a:t>
            </a:r>
            <a:pPr algn="l" indent="0" marL="0">
              <a:buNone/>
            </a:pPr>
            <a:r>
              <a:rPr lang="ar-SA" altLang="en-US" sz="1650" b="1" dirty="0">
                <a:solidFill>
                  <a:srgbClr val="1B3B6F"/>
                </a:solidFill>
                <a:latin typeface="Amiri" pitchFamily="2" charset="-78"/>
                <a:cs typeface="Amiri" pitchFamily="2" charset="-78"/>
              </a:rPr>
              <a:t>يَتَطَلَّبُ</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Governments should wait</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No action is required</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The situation requires governments to act immediately</a:t>
            </a:r>
            <a:endParaRPr lang="en-US" sz="11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يَتَطَلَّبُ الوَضْعُ أَنْ تَتَحَرَّكَ الحُكُومَاتُ فَوْرًا.</a:t>
            </a:r>
            <a:endParaRPr lang="ar-SA" sz="13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Is the speaker's position balanced or partisan?</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Purely partisan</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There is no position</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Balanced — it concedes before refuting</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speaker concedes (</a:t>
            </a:r>
            <a:pPr algn="l" indent="0" marL="0">
              <a:buNone/>
            </a:pPr>
            <a:r>
              <a:rPr lang="ar-SA" altLang="en-US" sz="1350" dirty="0">
                <a:solidFill>
                  <a:srgbClr val="8A6D1E"/>
                </a:solidFill>
                <a:latin typeface="Amiri" pitchFamily="2" charset="-78"/>
                <a:cs typeface="Amiri" pitchFamily="2" charset="-78"/>
              </a:rPr>
              <a:t>صَحِيحٌ أَنَّ</a:t>
            </a:r>
            <a:pPr algn="l" indent="0" marL="0">
              <a:buNone/>
            </a:pPr>
            <a:r>
              <a:rPr lang="en-US" sz="1050" i="1" dirty="0">
                <a:solidFill>
                  <a:srgbClr val="8A6D1E"/>
                </a:solidFill>
                <a:latin typeface="Calibri" pitchFamily="34" charset="0"/>
                <a:cs typeface="Amiri" pitchFamily="2" charset="-78"/>
              </a:rPr>
              <a:t>) then refutes (</a:t>
            </a:r>
            <a:pPr algn="l" indent="0" marL="0">
              <a:buNone/>
            </a:pPr>
            <a:r>
              <a:rPr lang="ar-SA" altLang="en-US" sz="1350" dirty="0">
                <a:solidFill>
                  <a:srgbClr val="8A6D1E"/>
                </a:solidFill>
                <a:latin typeface="Amiri" pitchFamily="2" charset="-78"/>
                <a:cs typeface="Amiri" pitchFamily="2" charset="-78"/>
              </a:rPr>
              <a:t>غَيْرَ أَنَّ</a:t>
            </a:r>
            <a:pPr algn="l" indent="0" marL="0">
              <a:buNone/>
            </a:pPr>
            <a:r>
              <a:rPr lang="en-US" sz="1050" i="1" dirty="0">
                <a:solidFill>
                  <a:srgbClr val="8A6D1E"/>
                </a:solidFill>
                <a:latin typeface="Calibri" pitchFamily="34" charset="0"/>
                <a:cs typeface="Amiri" pitchFamily="2" charset="-78"/>
              </a:rPr>
              <a:t>), so the position is balanced.</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speaker's overall stance?</a:t>
            </a:r>
            <a:endParaRPr lang="en-US" sz="1250" dirty="0"/>
          </a:p>
        </p:txBody>
      </p:sp>
      <p:sp>
        <p:nvSpPr>
          <p:cNvPr id="64" name="Shape 61"/>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40080"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00" b="1" dirty="0">
                <a:solidFill>
                  <a:srgbClr val="1F2A37"/>
                </a:solidFill>
                <a:latin typeface="Calibri" pitchFamily="34" charset="0"/>
                <a:cs typeface="Amiri" pitchFamily="2" charset="-78"/>
              </a:rPr>
              <a:t>Social justice is a necessity, not a luxury</a:t>
            </a:r>
            <a:endParaRPr lang="en-US" sz="120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Social justice is a luxury</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Social justice is impossible</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العَدَالَةُ الاجْتِمَاعِيَّةُ ضَرُورَةٌ لَا رَفَاهِيَةٌ.</a:t>
            </a:r>
            <a:endParaRPr lang="ar-SA" sz="13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will happen if there is investment in early education?</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gap will widen</a:t>
            </a:r>
            <a:endParaRPr lang="en-US" sz="1250" dirty="0"/>
          </a:p>
        </p:txBody>
      </p:sp>
      <p:sp>
        <p:nvSpPr>
          <p:cNvPr id="82" name="Shape 79"/>
          <p:cNvSpPr/>
          <p:nvPr/>
        </p:nvSpPr>
        <p:spPr>
          <a:xfrm>
            <a:off x="4367784" y="5166360"/>
            <a:ext cx="3453384"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4459224"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gap will narrow gradually</a:t>
            </a:r>
            <a:endParaRPr lang="en-US" sz="12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nothing will change</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cs typeface="Amiri" pitchFamily="2" charset="-78"/>
              </a:rPr>
              <a:t>إِذَا اسْتُثْمِرَ فِي التَّعْلِيمِ المُبَكِّرِ، سَتَضِيقُ الفَجْوَةُ تَدْرِيجِيًّا.</a:t>
            </a:r>
            <a:endParaRPr lang="ar-SA" sz="130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92" name="Text 8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93" name="Text 9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Label first: Type 2 · trigger · balance · stance · Type 1.</a:t>
            </a:r>
            <a:endParaRPr lang="en-US" sz="1250" dirty="0"/>
          </a:p>
          <a:p>
            <a:pPr algn="l" indent="0" marL="0">
              <a:buNone/>
            </a:pPr>
            <a:r>
              <a:rPr lang="en-US" sz="1250" dirty="0">
                <a:solidFill>
                  <a:srgbClr val="1E6B52"/>
                </a:solidFill>
                <a:latin typeface="Calibri" pitchFamily="34" charset="0"/>
                <a:cs typeface="Amiri" pitchFamily="2" charset="-78"/>
              </a:rPr>
              <a:t>Listen for: law … la- · yataṭallabu an · wa-bināʾan · idhā … sa-.</a:t>
            </a:r>
            <a:endParaRPr lang="en-US" sz="12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35 / 50</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P5-L10 · Listening Skills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00" b="1" dirty="0">
                <a:solidFill>
                  <a:srgbClr val="1B3B6F"/>
                </a:solidFill>
                <a:latin typeface="Cambria" pitchFamily="34" charset="0"/>
                <a:cs typeface="Amiri" pitchFamily="2" charset="-78"/>
              </a:rPr>
              <a:t>Speaking: report the argument you heard</a:t>
            </a:r>
            <a:endParaRPr lang="en-US" sz="23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P5-L10</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مَا أُطْرُوحَةُ المُتَحَدِّثِ؟</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بِمَ سَلَّمَ، وَكَيْفَ رَدَّ؟</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B83227"/>
          </a:solidFill>
          <a:ln w="12700">
            <a:solidFill>
              <a:srgbClr val="B83227"/>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هَلْ مَوْقِفُهُ مُتَوَازِنٌ أَمْ مُنْحَازٌ؟ وَلِمَاذَا؟</a:t>
            </a:r>
            <a:endParaRPr lang="ar-SA" sz="1800" dirty="0"/>
          </a:p>
        </p:txBody>
      </p:sp>
      <p:sp>
        <p:nvSpPr>
          <p:cNvPr id="42" name="Shape 39"/>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4" name="Shape 41"/>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6" name="Text 43"/>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2" charset="-78"/>
                <a:cs typeface="Amiri" pitchFamily="2" charset="-78"/>
              </a:rPr>
              <a:t>أُطْرُوحَةُ المُتَحَدِّثِ أَنَّ ___ .</a:t>
            </a:r>
            <a:endParaRPr lang="ar-SA" sz="1600" dirty="0"/>
          </a:p>
        </p:txBody>
      </p:sp>
      <p:sp>
        <p:nvSpPr>
          <p:cNvPr id="47" name="Shape 44"/>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48" name="Text 45"/>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9" name="Text 46"/>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cs typeface="Amiri" pitchFamily="2" charset="-78"/>
              </a:rPr>
              <a:t>سَلَّمَ بِأَنَّ ___ ، ثُمَّ رَدَّ بِأَنَّ ___ .</a:t>
            </a:r>
            <a:endParaRPr lang="ar-SA" sz="1600" dirty="0"/>
          </a:p>
        </p:txBody>
      </p:sp>
      <p:sp>
        <p:nvSpPr>
          <p:cNvPr id="50" name="Shape 47"/>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1" name="Text 48"/>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2" name="Text 49"/>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cs typeface="Amiri" pitchFamily="2" charset="-78"/>
              </a:rPr>
              <a:t>مَوْقِفُهُ ___ ، لِأَنَّهُ يُسَلِّمُ ثُمَّ يَرُدُّ.</a:t>
            </a:r>
            <a:endParaRPr lang="ar-SA" sz="1600" dirty="0"/>
          </a:p>
        </p:txBody>
      </p:sp>
      <p:sp>
        <p:nvSpPr>
          <p:cNvPr id="53" name="Shape 50"/>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54" name="Text 51"/>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55" name="Shape 52"/>
          <p:cNvSpPr/>
          <p:nvPr/>
        </p:nvSpPr>
        <p:spPr>
          <a:xfrm>
            <a:off x="11274552" y="5559552"/>
            <a:ext cx="292608" cy="292608"/>
          </a:xfrm>
          <a:prstGeom prst="ellipse">
            <a:avLst/>
          </a:prstGeom>
          <a:solidFill>
            <a:srgbClr val="1E6B52"/>
          </a:solidFill>
          <a:ln w="12700">
            <a:solidFill>
              <a:srgbClr val="1E6B52"/>
            </a:solidFill>
            <a:prstDash val="solid"/>
          </a:ln>
        </p:spPr>
      </p:sp>
      <p:sp>
        <p:nvSpPr>
          <p:cNvPr id="56" name="Text 53"/>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57" name="Text 54"/>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cs typeface="Amiri" pitchFamily="2" charset="-78"/>
              </a:rPr>
              <a:t>بِمَ سَلَّمَ المُتَحَدِّثُ؟</a:t>
            </a:r>
            <a:endParaRPr lang="ar-SA" sz="1550" dirty="0"/>
          </a:p>
        </p:txBody>
      </p:sp>
      <p:sp>
        <p:nvSpPr>
          <p:cNvPr id="58" name="Text 55"/>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What did the speaker concede?</a:t>
            </a:r>
            <a:endParaRPr lang="en-US" sz="950" dirty="0"/>
          </a:p>
        </p:txBody>
      </p:sp>
      <p:sp>
        <p:nvSpPr>
          <p:cNvPr id="59" name="Shape 56"/>
          <p:cNvSpPr/>
          <p:nvPr/>
        </p:nvSpPr>
        <p:spPr>
          <a:xfrm>
            <a:off x="11274552" y="5925312"/>
            <a:ext cx="292608" cy="292608"/>
          </a:xfrm>
          <a:prstGeom prst="ellipse">
            <a:avLst/>
          </a:prstGeom>
          <a:solidFill>
            <a:srgbClr val="1E6B52"/>
          </a:solidFill>
          <a:ln w="12700">
            <a:solidFill>
              <a:srgbClr val="1E6B52"/>
            </a:solidFill>
            <a:prstDash val="solid"/>
          </a:ln>
        </p:spPr>
      </p:sp>
      <p:sp>
        <p:nvSpPr>
          <p:cNvPr id="60" name="Text 57"/>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61" name="Text 58"/>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cs typeface="Amiri" pitchFamily="2" charset="-78"/>
              </a:rPr>
              <a:t>سَلَّمَ بِـ«صَحِيحٌ أَنَّ الإِصْلَاحَاتِ تَحْتَاجُ وَقْتًا»، وَهُوَ رَأْيُ الطَّرَفِ الآخَرِ.</a:t>
            </a:r>
            <a:endParaRPr lang="ar-SA" sz="1550" dirty="0"/>
          </a:p>
        </p:txBody>
      </p:sp>
      <p:sp>
        <p:nvSpPr>
          <p:cNvPr id="62" name="Text 59"/>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800" i="1" dirty="0">
                <a:solidFill>
                  <a:srgbClr val="5A6472"/>
                </a:solidFill>
                <a:latin typeface="Calibri" pitchFamily="34" charset="0"/>
                <a:cs typeface="Amiri" pitchFamily="2" charset="-78"/>
              </a:rPr>
              <a:t>He conceded “it is true that reforms need time” — that is the other side’s view.</a:t>
            </a:r>
            <a:endParaRPr lang="en-US" sz="80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36 / 50</a:t>
            </a:r>
            <a:endParaRPr lang="en-US" sz="8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P5-L10 · Listening Skills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P5-L10</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5 questions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Annotate five questions with the element (thesis / concession / refutation / trigger) you will listen for.</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Website Core: annotate five questions with the argument element you will listen for.</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1750" b="1" dirty="0">
                <a:solidFill>
                  <a:srgbClr val="C9780A"/>
                </a:solidFill>
                <a:latin typeface="Cambria" pitchFamily="34" charset="0"/>
                <a:cs typeface="Amiri" pitchFamily="2" charset="-78"/>
              </a:rPr>
              <a:t>5 questions + whose view</a:t>
            </a:r>
            <a:endParaRPr lang="en-US" sz="175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Add whether each concession belongs to the other side or the speaker.</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Website Develop: add whether each point belongs to the other side or the speaker.</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80–90 words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Explain how the structure let you predict the refutation before hearing it.</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Website task: explain your listening strategy — thesis, ṣaḥīḥun anna, ghayra anna, the trigger, law … la-.</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37 / 50</a:t>
            </a:r>
            <a:endParaRPr lang="en-US" sz="8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P5-L10 · Listening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P5-L10</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450" b="1" dirty="0">
                <a:solidFill>
                  <a:srgbClr val="1B3B6F"/>
                </a:solidFill>
                <a:latin typeface="Amiri" pitchFamily="2" charset="-78"/>
                <a:cs typeface="Amiri" pitchFamily="2" charset="-78"/>
              </a:rPr>
              <a:t>أَتَتَبَّعُ البِنْيَةَ لَا الكَلِمَاتِ المُفْرَدَةَ، لِأَنَّ ______ .</a:t>
            </a:r>
            <a:endParaRPr lang="ar-SA" sz="145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follow the structure, not single words, because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أَتَرَقَّبُ «يَتَطَلَّبُ أَنْ» لِـ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wait for “yataṭallabu an” for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«لَوْ» مَعَ «لَـ» تَعْنِي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“law” with “la-” means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وَهٰكَذَا أَتَنَبَّأُ بِمَا يَلِي وَلَوْ ______ .</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So I predict what follows, even if …</a:t>
            </a:r>
            <a:endParaRPr lang="en-US" sz="1050" dirty="0"/>
          </a:p>
        </p:txBody>
      </p:sp>
      <p:sp>
        <p:nvSpPr>
          <p:cNvPr id="26" name="Shape 23"/>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7" name="Shape 24"/>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9" name="Text 26"/>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قَبْلَ الاسْتِمَاعِ، أَقْرَأُ الأَسْئِلَةَ وَأُحَدِّدُ ______ .</a:t>
            </a:r>
            <a:endParaRPr lang="ar-SA" sz="1600" dirty="0"/>
          </a:p>
        </p:txBody>
      </p:sp>
      <p:sp>
        <p:nvSpPr>
          <p:cNvPr id="30" name="Text 27"/>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Before listening, I read the questions.</a:t>
            </a:r>
            <a:endParaRPr lang="en-US" sz="1050" dirty="0"/>
          </a:p>
        </p:txBody>
      </p:sp>
      <p:sp>
        <p:nvSpPr>
          <p:cNvPr id="31" name="Text 28"/>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أُصْغِي أَوَّلًا إِلَى الأُطْرُوحَةِ فِي ______ .</a:t>
            </a:r>
            <a:endParaRPr lang="ar-SA" sz="1800" dirty="0"/>
          </a:p>
        </p:txBody>
      </p:sp>
      <p:sp>
        <p:nvSpPr>
          <p:cNvPr id="32" name="Text 29"/>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listen first for the thesis in …</a:t>
            </a:r>
            <a:endParaRPr lang="en-US" sz="1050" dirty="0"/>
          </a:p>
        </p:txBody>
      </p:sp>
      <p:sp>
        <p:nvSpPr>
          <p:cNvPr id="33" name="Text 30"/>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«صَحِيحٌ أَنَّ» تَسْلِيمٌ بِرَأْيِ ______ .</a:t>
            </a:r>
            <a:endParaRPr lang="ar-SA" sz="1800" dirty="0"/>
          </a:p>
        </p:txBody>
      </p:sp>
      <p:sp>
        <p:nvSpPr>
          <p:cNvPr id="34" name="Text 31"/>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“ṣaḥīḥun anna” is a concession to …</a:t>
            </a:r>
            <a:endParaRPr lang="en-US" sz="1050" dirty="0"/>
          </a:p>
        </p:txBody>
      </p:sp>
      <p:sp>
        <p:nvSpPr>
          <p:cNvPr id="35" name="Text 32"/>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«غَيْرَ أَنَّ» تَأْتِي بِـ ______ .</a:t>
            </a:r>
            <a:endParaRPr lang="ar-SA" sz="1800" dirty="0"/>
          </a:p>
        </p:txBody>
      </p:sp>
      <p:sp>
        <p:nvSpPr>
          <p:cNvPr id="36" name="Text 33"/>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“ghayra anna” introduces …</a:t>
            </a:r>
            <a:endParaRPr lang="en-US" sz="1050" dirty="0"/>
          </a:p>
        </p:txBody>
      </p:sp>
      <p:sp>
        <p:nvSpPr>
          <p:cNvPr id="37" name="Shape 34"/>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Text 35"/>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9" name="Text 36"/>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cs typeface="Amiri" pitchFamily="2" charset="-78"/>
              </a:rPr>
              <a:t>العُنْصُرَ المَطْلُوبَ  ·  المُقَدِّمَةِ  ·  الطَّرَفِ الآخَرِ  ·  المَوْقِفِ الأَقْوَى  ·  البِنْيَةَ تُسَاعِدُنِي عَلَى التَّنَبُّؤِ  ·  لِلْخَاتِمَةِ  ·  شَرْطًا افْتِرَاضِيًّا  ·  فَاتَتْنِي بَعْضُ الكَلِمَاتِ  ·  مُتَوَازِنٌ  ·  مُنْحَازٌ  ·  سَلَّمَ بِـ  ·  رَدَّ بِـ</a:t>
            </a:r>
            <a:endParaRPr lang="ar-SA" sz="130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38 / 50</a:t>
            </a:r>
            <a:endParaRPr lang="en-US" sz="8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P5-L10 · Listening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P5-L10</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00" b="1" dirty="0">
                <a:solidFill>
                  <a:srgbClr val="1F2A37"/>
                </a:solidFill>
                <a:latin typeface="Calibri" pitchFamily="34" charset="0"/>
                <a:cs typeface="Amiri" pitchFamily="2" charset="-78"/>
              </a:rPr>
              <a:t>Write eighty to ninety words explaining your listening strategy for argumentative texts. Describe how you find the thesis, hear ṣaḥīḥun anna as a concession and ghayra anna as the refutation, and catch a subjunctive trigger and a Type 2 conditional.</a:t>
            </a:r>
            <a:endParaRPr lang="en-US" sz="130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The rule that you follow the argument’s structure, not single words.</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ṣaḥīḥun anna signals a concession to the other side.</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ghayra anna signals the speaker’s stronger point.</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How you catch a subjunctive trigger and a Type 2 conditional.</a:t>
            </a:r>
            <a:endParaRPr lang="en-US" sz="1200" dirty="0"/>
          </a:p>
        </p:txBody>
      </p:sp>
      <p:sp>
        <p:nvSpPr>
          <p:cNvPr id="23" name="Shape 20"/>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PHRASE BANK — FROM THE WEBSITE TEXTS</a:t>
            </a:r>
            <a:endParaRPr lang="en-US" sz="950" dirty="0"/>
          </a:p>
        </p:txBody>
      </p:sp>
      <p:sp>
        <p:nvSpPr>
          <p:cNvPr id="25" name="Text 22"/>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أَتَتَبَّعُ بِنْيَةَ الحُجَّةِ</a:t>
            </a:r>
            <a:endParaRPr lang="ar-SA" sz="1800" dirty="0"/>
          </a:p>
        </p:txBody>
      </p:sp>
      <p:sp>
        <p:nvSpPr>
          <p:cNvPr id="26" name="Text 23"/>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follow the structure of the argument</a:t>
            </a:r>
            <a:endParaRPr lang="en-US" sz="1050" dirty="0"/>
          </a:p>
        </p:txBody>
      </p:sp>
      <p:sp>
        <p:nvSpPr>
          <p:cNvPr id="27" name="Text 24"/>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لَا الكَلِمَاتِ المُفْرَدَةَ</a:t>
            </a:r>
            <a:endParaRPr lang="ar-SA" sz="1800" dirty="0"/>
          </a:p>
        </p:txBody>
      </p:sp>
      <p:sp>
        <p:nvSpPr>
          <p:cNvPr id="28" name="Text 25"/>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not single words</a:t>
            </a:r>
            <a:endParaRPr lang="en-US" sz="1050" dirty="0"/>
          </a:p>
        </p:txBody>
      </p:sp>
      <p:sp>
        <p:nvSpPr>
          <p:cNvPr id="29" name="Text 26"/>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تَسْلِيمٌ بِرَأْيِ الطَّرَفِ الآخَرِ</a:t>
            </a:r>
            <a:endParaRPr lang="ar-SA" sz="1800" dirty="0"/>
          </a:p>
        </p:txBody>
      </p:sp>
      <p:sp>
        <p:nvSpPr>
          <p:cNvPr id="30" name="Text 27"/>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a concession to the other side</a:t>
            </a:r>
            <a:endParaRPr lang="en-US" sz="1050" dirty="0"/>
          </a:p>
        </p:txBody>
      </p:sp>
      <p:sp>
        <p:nvSpPr>
          <p:cNvPr id="31" name="Text 28"/>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وَهُوَ المَوْقِفُ الأَقْوَى</a:t>
            </a:r>
            <a:endParaRPr lang="ar-SA" sz="1800" dirty="0"/>
          </a:p>
        </p:txBody>
      </p:sp>
      <p:sp>
        <p:nvSpPr>
          <p:cNvPr id="32" name="Text 29"/>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which is the stronger position</a:t>
            </a:r>
            <a:endParaRPr lang="en-US" sz="1050" dirty="0"/>
          </a:p>
        </p:txBody>
      </p:sp>
      <p:sp>
        <p:nvSpPr>
          <p:cNvPr id="33" name="Text 30"/>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وَلَوْ فَاتَتْنِي بَعْضُ الكَلِمَاتِ</a:t>
            </a:r>
            <a:endParaRPr lang="ar-SA" sz="1800" dirty="0"/>
          </a:p>
        </p:txBody>
      </p:sp>
      <p:sp>
        <p:nvSpPr>
          <p:cNvPr id="34" name="Text 31"/>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even if some words escape me</a:t>
            </a:r>
            <a:endParaRPr lang="en-US" sz="10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39 / 50</a:t>
            </a:r>
            <a:endParaRPr lang="en-US" sz="8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P5-L10 · Listening Skills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P5-L10</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cs typeface="Amiri" pitchFamily="2" charset="-78"/>
              </a:rPr>
              <a:t>قَبْلَ الاسْتِمَاعِ إِلَى نَصٍّ جَدَلِيٍّ، أَقْرَأُ الأَسْئِلَةَ وَأَتَتَبَّعُ بِنْيَةَ الحُجَّةِ لَا الكَلِمَاتِ المُفْرَدَةَ. أُصْغِي أَوَّلًا إِلَى الأُطْرُوحَةِ فِي المُقَدِّمَةِ. ثُمَّ أَتَرَقَّبُ «صَحِيحٌ أَنَّ»، فَهِيَ تَسْلِيمٌ بِرَأْيِ الطَّرَفِ الآخَرِ، لَا رَأْيُ المُتَحَدِّثِ. وَبَعْدَهَا يَأْتِي الرَّدُّ بِـ«غَيْرَ أَنَّ»، وَهُوَ المَوْقِفُ الأَقْوَى. وَأَتَرَقَّبُ «يَتَطَلَّبُ أَنْ» لِلْخَاتِمَةِ، وَ«لَوْ» مَعَ «لَـ» لِلشَّرْطِ الافْتِرَاضِيِّ. وَهٰكَذَا أَتَنَبَّأُ بِمَا يَلِي وَأُتَابِعُ الحُجَّةَ وَلَوْ فَاتَتْنِي بَعْضُ الكَلِمَاتِ.</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Before listening to an argumentative text, I read the questions and follow the structure of the argument, not single words. I listen first for the thesis in the introduction. Then I wait for “ṣaḥīḥun anna”, which is a concession to the other side, not the speaker’s view. After it comes the response with “ghayra anna”, which is the stronger position. I wait for “yataṭallabu an” for the conclusion, and “law” with “la-” for the hypothetical conditional. In this way I predict what follows and follow the argument, even if some words escape me.</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the structure, not single words</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ṣaḥīḥun anna: the other side</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ghayra anna: the stronger position</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law + la-: hypothetical</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40 / 50</a:t>
            </a:r>
            <a:endParaRPr lang="en-US" sz="8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P5-L10 · Listening Skills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P5-L10</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Before listening, I labelled each question: thesis, concession, refutation or trigger.</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caught the thesis in the introduction.</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gave the point after ṣaḥīḥun anna to the OTHER side.</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waited for sa- / la- before deciding the conditional.</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predicted the refutation and judged the speaker: balanced or partisan.</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41 / 50</a:t>
            </a:r>
            <a:endParaRPr lang="en-US" sz="8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P5-L10 · Listening Skills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P5-L10</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صَحِيحٌ أَنَّ</a:t>
            </a:r>
            <a:pPr algn="l" indent="0" marL="0">
              <a:buNone/>
            </a:pPr>
            <a:r>
              <a:rPr lang="en-US" sz="1250" b="1" dirty="0">
                <a:solidFill>
                  <a:srgbClr val="1B3B6F"/>
                </a:solidFill>
                <a:latin typeface="Calibri" pitchFamily="34" charset="0"/>
                <a:cs typeface="Amiri" pitchFamily="2" charset="-78"/>
              </a:rPr>
              <a:t> signal in speech?</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point the speaker concedes</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speaker's own conclusion</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statistic</a:t>
            </a:r>
            <a:endParaRPr lang="en-US" sz="12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غَيْرَ أَنَّ</a:t>
            </a:r>
            <a:pPr algn="l" indent="0" marL="0">
              <a:buNone/>
            </a:pPr>
            <a:r>
              <a:rPr lang="en-US" sz="1250" b="1" dirty="0">
                <a:solidFill>
                  <a:srgbClr val="1B3B6F"/>
                </a:solidFill>
                <a:latin typeface="Calibri" pitchFamily="34" charset="0"/>
                <a:cs typeface="Amiri" pitchFamily="2" charset="-78"/>
              </a:rPr>
              <a:t> signal?</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Another concession</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speaker's stronger point (refutation)</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end</a:t>
            </a:r>
            <a:endParaRPr lang="en-US" sz="12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You hear a </a:t>
            </a:r>
            <a:pPr algn="l" indent="0" marL="0">
              <a:buNone/>
            </a:pPr>
            <a:r>
              <a:rPr lang="ar-SA" altLang="en-US" sz="1650" b="1" dirty="0">
                <a:solidFill>
                  <a:srgbClr val="1B3B6F"/>
                </a:solidFill>
                <a:latin typeface="Amiri" pitchFamily="2" charset="-78"/>
                <a:cs typeface="Amiri" pitchFamily="2" charset="-78"/>
              </a:rPr>
              <a:t>لَـ</a:t>
            </a:r>
            <a:pPr algn="l" indent="0" marL="0">
              <a:buNone/>
            </a:pPr>
            <a:r>
              <a:rPr lang="en-US" sz="1250" b="1" dirty="0">
                <a:solidFill>
                  <a:srgbClr val="1B3B6F"/>
                </a:solidFill>
                <a:latin typeface="Calibri" pitchFamily="34" charset="0"/>
                <a:cs typeface="Amiri" pitchFamily="2" charset="-78"/>
              </a:rPr>
              <a:t> result. The conditional is …</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hypothetical (Type 2)</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real (Type 1)</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command</a:t>
            </a:r>
            <a:endParaRPr lang="en-US" sz="12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42 / 50</a:t>
            </a:r>
            <a:endParaRPr lang="en-US" sz="8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P5-L10 · Listening Skills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P5-L10</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صَحِيحٌ أَنَّ</a:t>
            </a:r>
            <a:pPr algn="l" indent="0" marL="0">
              <a:buNone/>
            </a:pPr>
            <a:r>
              <a:rPr lang="en-US" sz="1250" b="1" dirty="0">
                <a:solidFill>
                  <a:srgbClr val="1B3B6F"/>
                </a:solidFill>
                <a:latin typeface="Calibri" pitchFamily="34" charset="0"/>
                <a:cs typeface="Amiri" pitchFamily="2" charset="-78"/>
              </a:rPr>
              <a:t> signal in speech?</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point the speaker concedes</a:t>
            </a:r>
            <a:endParaRPr lang="en-US" sz="12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speaker's own conclusion</a:t>
            </a:r>
            <a:endParaRPr lang="en-US" sz="12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statistic</a:t>
            </a:r>
            <a:endParaRPr lang="en-US" sz="12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صَحِيحٌ أَنَّ</a:t>
            </a:r>
            <a:pPr algn="l" indent="0" marL="0">
              <a:buNone/>
            </a:pPr>
            <a:r>
              <a:rPr lang="en-US" sz="1050" i="1" dirty="0">
                <a:solidFill>
                  <a:srgbClr val="8A6D1E"/>
                </a:solidFill>
                <a:latin typeface="Calibri" pitchFamily="34" charset="0"/>
                <a:cs typeface="Amiri" pitchFamily="2" charset="-78"/>
              </a:rPr>
              <a:t> signals a conceded point.</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غَيْرَ أَنَّ</a:t>
            </a:r>
            <a:pPr algn="l" indent="0" marL="0">
              <a:buNone/>
            </a:pPr>
            <a:r>
              <a:rPr lang="en-US" sz="1250" b="1" dirty="0">
                <a:solidFill>
                  <a:srgbClr val="1B3B6F"/>
                </a:solidFill>
                <a:latin typeface="Calibri" pitchFamily="34" charset="0"/>
                <a:cs typeface="Amiri" pitchFamily="2" charset="-78"/>
              </a:rPr>
              <a:t> signal?</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Another concession</a:t>
            </a:r>
            <a:endParaRPr lang="en-US" sz="12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speaker's stronger point (refutation)</a:t>
            </a:r>
            <a:endParaRPr lang="en-US" sz="12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end</a:t>
            </a:r>
            <a:endParaRPr lang="en-US" sz="12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غَيْرَ أَنَّ</a:t>
            </a:r>
            <a:pPr algn="l" indent="0" marL="0">
              <a:buNone/>
            </a:pPr>
            <a:r>
              <a:rPr lang="en-US" sz="1050" i="1" dirty="0">
                <a:solidFill>
                  <a:srgbClr val="8A6D1E"/>
                </a:solidFill>
                <a:latin typeface="Calibri" pitchFamily="34" charset="0"/>
                <a:cs typeface="Amiri" pitchFamily="2" charset="-78"/>
              </a:rPr>
              <a:t> signals the refutation.</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You hear a </a:t>
            </a:r>
            <a:pPr algn="l" indent="0" marL="0">
              <a:buNone/>
            </a:pPr>
            <a:r>
              <a:rPr lang="ar-SA" altLang="en-US" sz="1650" b="1" dirty="0">
                <a:solidFill>
                  <a:srgbClr val="1B3B6F"/>
                </a:solidFill>
                <a:latin typeface="Amiri" pitchFamily="2" charset="-78"/>
                <a:cs typeface="Amiri" pitchFamily="2" charset="-78"/>
              </a:rPr>
              <a:t>لَـ</a:t>
            </a:r>
            <a:pPr algn="l" indent="0" marL="0">
              <a:buNone/>
            </a:pPr>
            <a:r>
              <a:rPr lang="en-US" sz="1250" b="1" dirty="0">
                <a:solidFill>
                  <a:srgbClr val="1B3B6F"/>
                </a:solidFill>
                <a:latin typeface="Calibri" pitchFamily="34" charset="0"/>
                <a:cs typeface="Amiri" pitchFamily="2" charset="-78"/>
              </a:rPr>
              <a:t> result. The conditional is …</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hypothetical (Type 2)</a:t>
            </a:r>
            <a:endParaRPr lang="en-US" sz="12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real (Type 1)</a:t>
            </a:r>
            <a:endParaRPr lang="en-US" sz="12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command</a:t>
            </a:r>
            <a:endParaRPr lang="en-US" sz="12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a:t>
            </a:r>
            <a:pPr algn="l" indent="0" marL="0">
              <a:buNone/>
            </a:pPr>
            <a:r>
              <a:rPr lang="ar-SA" altLang="en-US" sz="1350" dirty="0">
                <a:solidFill>
                  <a:srgbClr val="8A6D1E"/>
                </a:solidFill>
                <a:latin typeface="Amiri" pitchFamily="2" charset="-78"/>
                <a:cs typeface="Amiri" pitchFamily="2" charset="-78"/>
              </a:rPr>
              <a:t>لَـ</a:t>
            </a:r>
            <a:pPr algn="l" indent="0" marL="0">
              <a:buNone/>
            </a:pPr>
            <a:r>
              <a:rPr lang="en-US" sz="1050" i="1" dirty="0">
                <a:solidFill>
                  <a:srgbClr val="8A6D1E"/>
                </a:solidFill>
                <a:latin typeface="Calibri" pitchFamily="34" charset="0"/>
                <a:cs typeface="Amiri" pitchFamily="2" charset="-78"/>
              </a:rPr>
              <a:t> result signals a counterfactual Type 2.</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43 / 50</a:t>
            </a:r>
            <a:endParaRPr lang="en-US" sz="8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P5-L10 · Listening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FAST FINISHERS OR HOMEWORK (STRETCH)</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Reading: a listening strategy guide</a:t>
            </a:r>
            <a:endParaRPr lang="en-US" sz="275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P5-L10</a:t>
            </a:r>
            <a:endParaRPr lang="en-US" sz="850" dirty="0"/>
          </a:p>
        </p:txBody>
      </p:sp>
      <p:sp>
        <p:nvSpPr>
          <p:cNvPr id="17" name="Shape 14"/>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600" dirty="0">
                <a:solidFill>
                  <a:srgbClr val="1F2A37"/>
                </a:solidFill>
                <a:latin typeface="Amiri" pitchFamily="2" charset="-78"/>
                <a:cs typeface="Amiri" pitchFamily="2" charset="-78"/>
              </a:rPr>
              <a:t>لِتَنْجَحَ فِي الاسْتِمَاعِ إِلَى النُّصُوصِ الجَدَلِيَّةِ، تَتَبَّعْ بِنْيَةَ الحُجَّةِ لَا الكَلِمَاتِ المُفْرَدَةَ. اسْتَمِعْ أَوَّلًا إِلَى الأُطْرُوحَةِ فِي المُقَدِّمَةِ. ثُمَّ تَرَقَّبْ «صَحِيحٌ أَنَّ»؛ فَهِيَ إِشَارَةٌ إِلَى تَسْلِيمٍ بِرَأْيِ الطَّرَفِ الآخَرِ، لَا إِلَى رَأْيِ المُتَحَدِّثِ نَفْسِهِ. وَبَعْدَهَا يَأْتِي الرَّدُّ بِـ«غَيْرَ أَنَّ» أَوْ «مَعَ ذٰلِكَ»، وَهُوَ المَوْقِفُ الأَقْوَى. وَتَرَقَّبْ مُسَبِّبَ النَّصْبِ مِثْلَ «يَتَطَلَّبُ أَنْ» لِلْخَاتِمَةِ، وَ«لَوْ» مَعَ «لَـ» لِلشَّرْطِ الافْتِرَاضِيِّ. فَإِذَا عَرَفْتَ البِنْيَةَ، تَنَبَّأْتَ بِمَا يَلِي، وَتَابَعْتَ الحُجَّةَ وَلَوْ فَاتَتْكَ كَلِمَاتٌ.</a:t>
            </a:r>
            <a:endParaRPr lang="ar-SA" sz="2600" dirty="0"/>
          </a:p>
        </p:txBody>
      </p:sp>
      <p:sp>
        <p:nvSpPr>
          <p:cNvPr id="19" name="Shape 16"/>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21" name="Text 18"/>
          <p:cNvSpPr txBox="1"/>
          <p:nvPr/>
        </p:nvSpPr>
        <p:spPr>
          <a:xfrm>
            <a:off x="10102291" y="221284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أُطْرُوحَتِي</a:t>
            </a:r>
            <a:endParaRPr lang="ar-SA" sz="1600" dirty="0"/>
          </a:p>
        </p:txBody>
      </p:sp>
      <p:sp>
        <p:nvSpPr>
          <p:cNvPr id="22" name="Text 19"/>
          <p:cNvSpPr txBox="1"/>
          <p:nvPr/>
        </p:nvSpPr>
        <p:spPr>
          <a:xfrm>
            <a:off x="8851392" y="221284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my thesis</a:t>
            </a:r>
            <a:endParaRPr lang="en-US" sz="1050" dirty="0"/>
          </a:p>
        </p:txBody>
      </p:sp>
      <p:sp>
        <p:nvSpPr>
          <p:cNvPr id="23" name="Text 20"/>
          <p:cNvSpPr txBox="1"/>
          <p:nvPr/>
        </p:nvSpPr>
        <p:spPr>
          <a:xfrm>
            <a:off x="10102291" y="261518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تَتَّسِعُ</a:t>
            </a:r>
            <a:endParaRPr lang="ar-SA" sz="1600" dirty="0"/>
          </a:p>
        </p:txBody>
      </p:sp>
      <p:sp>
        <p:nvSpPr>
          <p:cNvPr id="24" name="Text 21"/>
          <p:cNvSpPr txBox="1"/>
          <p:nvPr/>
        </p:nvSpPr>
        <p:spPr>
          <a:xfrm>
            <a:off x="8851392" y="261518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is widening</a:t>
            </a:r>
            <a:endParaRPr lang="en-US" sz="1050" dirty="0"/>
          </a:p>
        </p:txBody>
      </p:sp>
      <p:sp>
        <p:nvSpPr>
          <p:cNvPr id="25" name="Text 22"/>
          <p:cNvSpPr txBox="1"/>
          <p:nvPr/>
        </p:nvSpPr>
        <p:spPr>
          <a:xfrm>
            <a:off x="10102291" y="301752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لَا تَتَحَمَّلُ</a:t>
            </a:r>
            <a:endParaRPr lang="ar-SA" sz="1600" dirty="0"/>
          </a:p>
        </p:txBody>
      </p:sp>
      <p:sp>
        <p:nvSpPr>
          <p:cNvPr id="26" name="Text 23"/>
          <p:cNvSpPr txBox="1"/>
          <p:nvPr/>
        </p:nvSpPr>
        <p:spPr>
          <a:xfrm>
            <a:off x="8851392" y="301752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cannot bear</a:t>
            </a:r>
            <a:endParaRPr lang="en-US" sz="1050" dirty="0"/>
          </a:p>
        </p:txBody>
      </p:sp>
      <p:sp>
        <p:nvSpPr>
          <p:cNvPr id="27" name="Text 24"/>
          <p:cNvSpPr txBox="1"/>
          <p:nvPr/>
        </p:nvSpPr>
        <p:spPr>
          <a:xfrm>
            <a:off x="10102291" y="341985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الانْتِظَارَ</a:t>
            </a:r>
            <a:endParaRPr lang="ar-SA" sz="1600" dirty="0"/>
          </a:p>
        </p:txBody>
      </p:sp>
      <p:sp>
        <p:nvSpPr>
          <p:cNvPr id="28" name="Text 25"/>
          <p:cNvSpPr txBox="1"/>
          <p:nvPr/>
        </p:nvSpPr>
        <p:spPr>
          <a:xfrm>
            <a:off x="8851392" y="341985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waiting</a:t>
            </a:r>
            <a:endParaRPr lang="en-US" sz="1050" dirty="0"/>
          </a:p>
        </p:txBody>
      </p:sp>
      <p:sp>
        <p:nvSpPr>
          <p:cNvPr id="29" name="Text 26"/>
          <p:cNvSpPr txBox="1"/>
          <p:nvPr/>
        </p:nvSpPr>
        <p:spPr>
          <a:xfrm>
            <a:off x="10102291" y="382219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تَدْرِيجِيًّا</a:t>
            </a:r>
            <a:endParaRPr lang="ar-SA" sz="1600" dirty="0"/>
          </a:p>
        </p:txBody>
      </p:sp>
      <p:sp>
        <p:nvSpPr>
          <p:cNvPr id="30" name="Text 27"/>
          <p:cNvSpPr txBox="1"/>
          <p:nvPr/>
        </p:nvSpPr>
        <p:spPr>
          <a:xfrm>
            <a:off x="8851392" y="382219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gradually</a:t>
            </a:r>
            <a:endParaRPr lang="en-US" sz="1050" dirty="0"/>
          </a:p>
        </p:txBody>
      </p:sp>
      <p:sp>
        <p:nvSpPr>
          <p:cNvPr id="31" name="Text 28"/>
          <p:cNvSpPr txBox="1"/>
          <p:nvPr/>
        </p:nvSpPr>
        <p:spPr>
          <a:xfrm>
            <a:off x="10102291" y="422452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عُولِجَ</a:t>
            </a:r>
            <a:endParaRPr lang="ar-SA" sz="1600" dirty="0"/>
          </a:p>
        </p:txBody>
      </p:sp>
      <p:sp>
        <p:nvSpPr>
          <p:cNvPr id="32" name="Text 29"/>
          <p:cNvSpPr txBox="1"/>
          <p:nvPr/>
        </p:nvSpPr>
        <p:spPr>
          <a:xfrm>
            <a:off x="8851392" y="422452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was treated, addressed</a:t>
            </a:r>
            <a:endParaRPr lang="en-US" sz="1050" dirty="0"/>
          </a:p>
        </p:txBody>
      </p:sp>
      <p:sp>
        <p:nvSpPr>
          <p:cNvPr id="33" name="Text 30"/>
          <p:cNvSpPr txBox="1"/>
          <p:nvPr/>
        </p:nvSpPr>
        <p:spPr>
          <a:xfrm>
            <a:off x="10102291" y="462686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قَبْلَ عُقُودٍ</a:t>
            </a:r>
            <a:endParaRPr lang="ar-SA" sz="1600" dirty="0"/>
          </a:p>
        </p:txBody>
      </p:sp>
      <p:sp>
        <p:nvSpPr>
          <p:cNvPr id="34" name="Text 31"/>
          <p:cNvSpPr txBox="1"/>
          <p:nvPr/>
        </p:nvSpPr>
        <p:spPr>
          <a:xfrm>
            <a:off x="8851392" y="462686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decades ago</a:t>
            </a:r>
            <a:endParaRPr lang="en-US" sz="1050" dirty="0"/>
          </a:p>
        </p:txBody>
      </p:sp>
      <p:sp>
        <p:nvSpPr>
          <p:cNvPr id="35" name="Text 32"/>
          <p:cNvSpPr txBox="1"/>
          <p:nvPr/>
        </p:nvSpPr>
        <p:spPr>
          <a:xfrm>
            <a:off x="10102291" y="502920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فَوْرًا</a:t>
            </a:r>
            <a:endParaRPr lang="ar-SA" sz="1600" dirty="0"/>
          </a:p>
        </p:txBody>
      </p:sp>
      <p:sp>
        <p:nvSpPr>
          <p:cNvPr id="36" name="Text 33"/>
          <p:cNvSpPr txBox="1"/>
          <p:nvPr/>
        </p:nvSpPr>
        <p:spPr>
          <a:xfrm>
            <a:off x="8851392" y="502920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immediately</a:t>
            </a:r>
            <a:endParaRPr lang="en-US" sz="1050" dirty="0"/>
          </a:p>
        </p:txBody>
      </p:sp>
      <p:sp>
        <p:nvSpPr>
          <p:cNvPr id="37" name="Text 34"/>
          <p:cNvSpPr txBox="1"/>
          <p:nvPr/>
        </p:nvSpPr>
        <p:spPr>
          <a:xfrm>
            <a:off x="10102291" y="543153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رَفَاهِيَةٌ</a:t>
            </a:r>
            <a:endParaRPr lang="ar-SA" sz="1600" dirty="0"/>
          </a:p>
        </p:txBody>
      </p:sp>
      <p:sp>
        <p:nvSpPr>
          <p:cNvPr id="38" name="Text 35"/>
          <p:cNvSpPr txBox="1"/>
          <p:nvPr/>
        </p:nvSpPr>
        <p:spPr>
          <a:xfrm>
            <a:off x="8851392" y="543153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 luxury</a:t>
            </a:r>
            <a:endParaRPr lang="en-US" sz="1050" dirty="0"/>
          </a:p>
        </p:txBody>
      </p:sp>
      <p:sp>
        <p:nvSpPr>
          <p:cNvPr id="39" name="Text 36"/>
          <p:cNvSpPr txBox="1"/>
          <p:nvPr/>
        </p:nvSpPr>
        <p:spPr>
          <a:xfrm>
            <a:off x="10102291" y="583387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تَرَقَّبْ</a:t>
            </a:r>
            <a:endParaRPr lang="ar-SA" sz="1600" dirty="0"/>
          </a:p>
        </p:txBody>
      </p:sp>
      <p:sp>
        <p:nvSpPr>
          <p:cNvPr id="40" name="Text 37"/>
          <p:cNvSpPr txBox="1"/>
          <p:nvPr/>
        </p:nvSpPr>
        <p:spPr>
          <a:xfrm>
            <a:off x="8851392" y="583387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look out for!</a:t>
            </a:r>
            <a:endParaRPr lang="en-US" sz="1050" dirty="0"/>
          </a:p>
        </p:txBody>
      </p:sp>
      <p:sp>
        <p:nvSpPr>
          <p:cNvPr id="41" name="Text 3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44 / 50</a:t>
            </a:r>
            <a:endParaRPr lang="en-US" sz="8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P5-L10 · Listening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QUESTIONS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questions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أَسْئِلَةُ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P5-L10</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should you follow in an argumentative text?</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Every single word</a:t>
            </a:r>
            <a:endParaRPr lang="en-US" sz="12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argument's structure, not individual words</a:t>
            </a:r>
            <a:endParaRPr lang="en-US" sz="12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Only the first word</a:t>
            </a:r>
            <a:endParaRPr lang="en-US" sz="12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صَحِيحٌ أَنَّ</a:t>
            </a:r>
            <a:pPr algn="l" indent="0" marL="0">
              <a:buNone/>
            </a:pPr>
            <a:r>
              <a:rPr lang="en-US" sz="1250" b="1" dirty="0">
                <a:solidFill>
                  <a:srgbClr val="1B3B6F"/>
                </a:solidFill>
                <a:latin typeface="Calibri" pitchFamily="34" charset="0"/>
                <a:cs typeface="Amiri" pitchFamily="2" charset="-78"/>
              </a:rPr>
              <a:t> signal?</a:t>
            </a:r>
            <a:endParaRPr lang="en-US" sz="125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speaker's own conclusion</a:t>
            </a:r>
            <a:endParaRPr lang="en-US" sz="12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statistic</a:t>
            </a:r>
            <a:endParaRPr lang="en-US" sz="12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concession to the other side, not the speaker's view</a:t>
            </a:r>
            <a:endParaRPr lang="en-US" sz="1250" dirty="0"/>
          </a:p>
        </p:txBody>
      </p:sp>
      <p:sp>
        <p:nvSpPr>
          <p:cNvPr id="43" name="Shape 40"/>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comes after the concession?</a:t>
            </a:r>
            <a:endParaRPr lang="en-US" sz="1250" dirty="0"/>
          </a:p>
        </p:txBody>
      </p:sp>
      <p:sp>
        <p:nvSpPr>
          <p:cNvPr id="47" name="Shape 44"/>
          <p:cNvSpPr/>
          <p:nvPr/>
        </p:nvSpPr>
        <p:spPr>
          <a:xfrm>
            <a:off x="8278368"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refutation with </a:t>
            </a:r>
            <a:pPr algn="l" indent="0" marL="0">
              <a:buNone/>
            </a:pPr>
            <a:r>
              <a:rPr lang="ar-SA" altLang="en-US" sz="1650" dirty="0">
                <a:solidFill>
                  <a:srgbClr val="1F2A37"/>
                </a:solidFill>
                <a:latin typeface="Amiri" pitchFamily="2" charset="-78"/>
                <a:cs typeface="Amiri" pitchFamily="2" charset="-78"/>
              </a:rPr>
              <a:t>غَيْرَ أَنَّ</a:t>
            </a:r>
            <a:pPr algn="l" indent="0" marL="0">
              <a:buNone/>
            </a:pPr>
            <a:r>
              <a:rPr lang="en-US" sz="1250" dirty="0">
                <a:solidFill>
                  <a:srgbClr val="1F2A37"/>
                </a:solidFill>
                <a:latin typeface="Calibri" pitchFamily="34" charset="0"/>
                <a:cs typeface="Amiri" pitchFamily="2" charset="-78"/>
              </a:rPr>
              <a:t> — the stronger position</a:t>
            </a:r>
            <a:endParaRPr lang="en-US" sz="1250" dirty="0"/>
          </a:p>
        </p:txBody>
      </p:sp>
      <p:sp>
        <p:nvSpPr>
          <p:cNvPr id="50" name="Shape 47"/>
          <p:cNvSpPr/>
          <p:nvPr/>
        </p:nvSpPr>
        <p:spPr>
          <a:xfrm>
            <a:off x="8278368"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Another thesis</a:t>
            </a:r>
            <a:endParaRPr lang="en-US" sz="1250" dirty="0"/>
          </a:p>
        </p:txBody>
      </p:sp>
      <p:sp>
        <p:nvSpPr>
          <p:cNvPr id="53" name="Shape 50"/>
          <p:cNvSpPr/>
          <p:nvPr/>
        </p:nvSpPr>
        <p:spPr>
          <a:xfrm>
            <a:off x="8278368"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Silence</a:t>
            </a:r>
            <a:endParaRPr lang="en-US" sz="1250" dirty="0"/>
          </a:p>
        </p:txBody>
      </p:sp>
      <p:sp>
        <p:nvSpPr>
          <p:cNvPr id="56" name="Shape 53"/>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585216"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marker signals the subjunctive conclusion?</a:t>
            </a:r>
            <a:endParaRPr lang="en-US" sz="1250" dirty="0"/>
          </a:p>
        </p:txBody>
      </p:sp>
      <p:sp>
        <p:nvSpPr>
          <p:cNvPr id="60" name="Shape 57"/>
          <p:cNvSpPr/>
          <p:nvPr/>
        </p:nvSpPr>
        <p:spPr>
          <a:xfrm>
            <a:off x="640080"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صَحِيحٌ أَنَّ</a:t>
            </a:r>
            <a:endParaRPr lang="ar-SA" sz="2050" dirty="0"/>
          </a:p>
        </p:txBody>
      </p:sp>
      <p:sp>
        <p:nvSpPr>
          <p:cNvPr id="63" name="Shape 60"/>
          <p:cNvSpPr/>
          <p:nvPr/>
        </p:nvSpPr>
        <p:spPr>
          <a:xfrm>
            <a:off x="640080"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يَتَطَلَّبُ أَنْ</a:t>
            </a:r>
            <a:endParaRPr lang="ar-SA" sz="2050" dirty="0"/>
          </a:p>
        </p:txBody>
      </p:sp>
      <p:sp>
        <p:nvSpPr>
          <p:cNvPr id="66" name="Shape 63"/>
          <p:cNvSpPr/>
          <p:nvPr/>
        </p:nvSpPr>
        <p:spPr>
          <a:xfrm>
            <a:off x="640080"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إِذَا</a:t>
            </a:r>
            <a:endParaRPr lang="ar-SA" sz="2050" dirty="0"/>
          </a:p>
        </p:txBody>
      </p:sp>
      <p:sp>
        <p:nvSpPr>
          <p:cNvPr id="69" name="Shape 6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4404360"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is knowing the structure useful?</a:t>
            </a:r>
            <a:endParaRPr lang="en-US" sz="1250" dirty="0"/>
          </a:p>
        </p:txBody>
      </p:sp>
      <p:sp>
        <p:nvSpPr>
          <p:cNvPr id="73" name="Shape 70"/>
          <p:cNvSpPr/>
          <p:nvPr/>
        </p:nvSpPr>
        <p:spPr>
          <a:xfrm>
            <a:off x="4459224"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You can predict what follows and keep up if words slip past</a:t>
            </a:r>
            <a:endParaRPr lang="en-US" sz="1250" dirty="0"/>
          </a:p>
        </p:txBody>
      </p:sp>
      <p:sp>
        <p:nvSpPr>
          <p:cNvPr id="76" name="Shape 73"/>
          <p:cNvSpPr/>
          <p:nvPr/>
        </p:nvSpPr>
        <p:spPr>
          <a:xfrm>
            <a:off x="4459224"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replaces listening</a:t>
            </a:r>
            <a:endParaRPr lang="en-US" sz="1250" dirty="0"/>
          </a:p>
        </p:txBody>
      </p:sp>
      <p:sp>
        <p:nvSpPr>
          <p:cNvPr id="79" name="Shape 76"/>
          <p:cNvSpPr/>
          <p:nvPr/>
        </p:nvSpPr>
        <p:spPr>
          <a:xfrm>
            <a:off x="4459224"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only decorative</a:t>
            </a:r>
            <a:endParaRPr lang="en-US" sz="1250" dirty="0"/>
          </a:p>
        </p:txBody>
      </p:sp>
      <p:sp>
        <p:nvSpPr>
          <p:cNvPr id="82" name="Shape 79"/>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3" name="Text 80"/>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84" name="Text 81"/>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45 / 50</a:t>
            </a:r>
            <a:endParaRPr lang="en-US" sz="8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P5-L10 · Listening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P5-L10</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should you follow in an argumentative text?</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Every single word</a:t>
            </a:r>
            <a:endParaRPr lang="en-US" sz="1250" dirty="0"/>
          </a:p>
        </p:txBody>
      </p:sp>
      <p:sp>
        <p:nvSpPr>
          <p:cNvPr id="24" name="Shape 21"/>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5"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6"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7" name="Text 24"/>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The argument's structure, not individual words</a:t>
            </a:r>
            <a:endParaRPr lang="en-US" sz="1150" dirty="0"/>
          </a:p>
        </p:txBody>
      </p:sp>
      <p:sp>
        <p:nvSpPr>
          <p:cNvPr id="28"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30" name="Text 27"/>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Only the first word</a:t>
            </a:r>
            <a:endParaRPr lang="en-US" sz="1250" dirty="0"/>
          </a:p>
        </p:txBody>
      </p:sp>
      <p:sp>
        <p:nvSpPr>
          <p:cNvPr id="31" name="Text 28"/>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تَتَبَّعْ بِنْيَةَ الحُجَّةِ لَا الكَلِمَاتِ المُفْرَدَةَ.</a:t>
            </a:r>
            <a:endParaRPr lang="ar-SA" sz="1350" dirty="0"/>
          </a:p>
        </p:txBody>
      </p:sp>
      <p:sp>
        <p:nvSpPr>
          <p:cNvPr id="32" name="Shape 29"/>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4404360"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5" name="Text 32"/>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صَحِيحٌ أَنَّ</a:t>
            </a:r>
            <a:pPr algn="l" indent="0" marL="0">
              <a:buNone/>
            </a:pPr>
            <a:r>
              <a:rPr lang="en-US" sz="1250" b="1" dirty="0">
                <a:solidFill>
                  <a:srgbClr val="1B3B6F"/>
                </a:solidFill>
                <a:latin typeface="Calibri" pitchFamily="34" charset="0"/>
                <a:cs typeface="Amiri" pitchFamily="2" charset="-78"/>
              </a:rPr>
              <a:t> signal?</a:t>
            </a:r>
            <a:endParaRPr lang="en-US" sz="1250" dirty="0"/>
          </a:p>
        </p:txBody>
      </p:sp>
      <p:sp>
        <p:nvSpPr>
          <p:cNvPr id="36" name="Shape 33"/>
          <p:cNvSpPr/>
          <p:nvPr/>
        </p:nvSpPr>
        <p:spPr>
          <a:xfrm>
            <a:off x="4459224"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speaker's own conclusion</a:t>
            </a:r>
            <a:endParaRPr lang="en-US" sz="1250" dirty="0"/>
          </a:p>
        </p:txBody>
      </p:sp>
      <p:sp>
        <p:nvSpPr>
          <p:cNvPr id="39" name="Shape 36"/>
          <p:cNvSpPr/>
          <p:nvPr/>
        </p:nvSpPr>
        <p:spPr>
          <a:xfrm>
            <a:off x="4459224"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8"/>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statistic</a:t>
            </a:r>
            <a:endParaRPr lang="en-US" sz="1250" dirty="0"/>
          </a:p>
        </p:txBody>
      </p:sp>
      <p:sp>
        <p:nvSpPr>
          <p:cNvPr id="42" name="Shape 39"/>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3" name="Shape 40"/>
          <p:cNvSpPr/>
          <p:nvPr/>
        </p:nvSpPr>
        <p:spPr>
          <a:xfrm>
            <a:off x="4459224" y="3233928"/>
            <a:ext cx="256032" cy="256032"/>
          </a:xfrm>
          <a:prstGeom prst="ellipse">
            <a:avLst/>
          </a:prstGeom>
          <a:solidFill>
            <a:srgbClr val="2E8B57"/>
          </a:solidFill>
          <a:ln w="12700">
            <a:solidFill>
              <a:srgbClr val="2E8B57"/>
            </a:solidFill>
            <a:prstDash val="solid"/>
          </a:ln>
        </p:spPr>
      </p:sp>
      <p:sp>
        <p:nvSpPr>
          <p:cNvPr id="44" name="Text 41"/>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5" name="Text 42"/>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A concession to the other side, not the speaker's view</a:t>
            </a:r>
            <a:endParaRPr lang="en-US" sz="1150" dirty="0"/>
          </a:p>
        </p:txBody>
      </p:sp>
      <p:sp>
        <p:nvSpPr>
          <p:cNvPr id="46" name="Text 43"/>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إِشَارَةٌ إِلَى تَسْلِيمٍ بِرَأْيِ الطَّرَفِ الآخَرِ.</a:t>
            </a:r>
            <a:endParaRPr lang="ar-SA" sz="1350" dirty="0"/>
          </a:p>
        </p:txBody>
      </p:sp>
      <p:sp>
        <p:nvSpPr>
          <p:cNvPr id="47" name="Shape 44"/>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9"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comes after the concession?</a:t>
            </a:r>
            <a:endParaRPr lang="en-US" sz="1250" dirty="0"/>
          </a:p>
        </p:txBody>
      </p:sp>
      <p:sp>
        <p:nvSpPr>
          <p:cNvPr id="51" name="Shape 48"/>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2" name="Shape 49"/>
          <p:cNvSpPr/>
          <p:nvPr/>
        </p:nvSpPr>
        <p:spPr>
          <a:xfrm>
            <a:off x="8278368" y="2490216"/>
            <a:ext cx="256032" cy="256032"/>
          </a:xfrm>
          <a:prstGeom prst="ellipse">
            <a:avLst/>
          </a:prstGeom>
          <a:solidFill>
            <a:srgbClr val="2E8B57"/>
          </a:solidFill>
          <a:ln w="12700">
            <a:solidFill>
              <a:srgbClr val="2E8B57"/>
            </a:solidFill>
            <a:prstDash val="solid"/>
          </a:ln>
        </p:spPr>
      </p:sp>
      <p:sp>
        <p:nvSpPr>
          <p:cNvPr id="53" name="Text 50"/>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4" name="Text 51"/>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The refutation with </a:t>
            </a:r>
            <a:pPr algn="l" indent="0" marL="0">
              <a:buNone/>
            </a:pPr>
            <a:r>
              <a:rPr lang="ar-SA" altLang="en-US" sz="1500" b="1" dirty="0">
                <a:solidFill>
                  <a:srgbClr val="1F2A37"/>
                </a:solidFill>
                <a:latin typeface="Amiri" pitchFamily="2" charset="-78"/>
                <a:cs typeface="Amiri" pitchFamily="2" charset="-78"/>
              </a:rPr>
              <a:t>غَيْرَ أَنَّ</a:t>
            </a:r>
            <a:pPr algn="l" indent="0" marL="0">
              <a:buNone/>
            </a:pPr>
            <a:r>
              <a:rPr lang="en-US" sz="1150" b="1" dirty="0">
                <a:solidFill>
                  <a:srgbClr val="1F2A37"/>
                </a:solidFill>
                <a:latin typeface="Calibri" pitchFamily="34" charset="0"/>
                <a:cs typeface="Amiri" pitchFamily="2" charset="-78"/>
              </a:rPr>
              <a:t> — the stronger position</a:t>
            </a:r>
            <a:endParaRPr lang="en-US" sz="1150" dirty="0"/>
          </a:p>
        </p:txBody>
      </p:sp>
      <p:sp>
        <p:nvSpPr>
          <p:cNvPr id="55" name="Shape 52"/>
          <p:cNvSpPr/>
          <p:nvPr/>
        </p:nvSpPr>
        <p:spPr>
          <a:xfrm>
            <a:off x="8278368" y="2862072"/>
            <a:ext cx="256032" cy="256032"/>
          </a:xfrm>
          <a:prstGeom prst="ellipse">
            <a:avLst/>
          </a:prstGeom>
          <a:solidFill>
            <a:srgbClr val="C9CED6"/>
          </a:solidFill>
          <a:ln w="12700">
            <a:solidFill>
              <a:srgbClr val="C9CED6"/>
            </a:solidFill>
            <a:prstDash val="solid"/>
          </a:ln>
        </p:spPr>
      </p:sp>
      <p:sp>
        <p:nvSpPr>
          <p:cNvPr id="56" name="Text 53"/>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7" name="Text 54"/>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Another thesis</a:t>
            </a:r>
            <a:endParaRPr lang="en-US" sz="1250" dirty="0"/>
          </a:p>
        </p:txBody>
      </p:sp>
      <p:sp>
        <p:nvSpPr>
          <p:cNvPr id="58" name="Shape 55"/>
          <p:cNvSpPr/>
          <p:nvPr/>
        </p:nvSpPr>
        <p:spPr>
          <a:xfrm>
            <a:off x="8278368" y="3233928"/>
            <a:ext cx="256032" cy="256032"/>
          </a:xfrm>
          <a:prstGeom prst="ellipse">
            <a:avLst/>
          </a:prstGeom>
          <a:solidFill>
            <a:srgbClr val="C9CED6"/>
          </a:solidFill>
          <a:ln w="12700">
            <a:solidFill>
              <a:srgbClr val="C9CED6"/>
            </a:solidFill>
            <a:prstDash val="solid"/>
          </a:ln>
        </p:spPr>
      </p:sp>
      <p:sp>
        <p:nvSpPr>
          <p:cNvPr id="59" name="Text 56"/>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Silence</a:t>
            </a:r>
            <a:endParaRPr lang="en-US" sz="1250" dirty="0"/>
          </a:p>
        </p:txBody>
      </p:sp>
      <p:sp>
        <p:nvSpPr>
          <p:cNvPr id="61" name="Text 58"/>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يَأْتِي الرَّدُّ بِـ«غَيْرَ أَنَّ» … وَهُوَ المَوْقِفُ الأَقْوَى.</a:t>
            </a:r>
            <a:endParaRPr lang="ar-SA" sz="1350" dirty="0"/>
          </a:p>
        </p:txBody>
      </p:sp>
      <p:sp>
        <p:nvSpPr>
          <p:cNvPr id="62" name="Shape 59"/>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85216"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marker signals the subjunctive conclusion?</a:t>
            </a:r>
            <a:endParaRPr lang="en-US" sz="1250" dirty="0"/>
          </a:p>
        </p:txBody>
      </p:sp>
      <p:sp>
        <p:nvSpPr>
          <p:cNvPr id="66" name="Shape 63"/>
          <p:cNvSpPr/>
          <p:nvPr/>
        </p:nvSpPr>
        <p:spPr>
          <a:xfrm>
            <a:off x="640080" y="4831080"/>
            <a:ext cx="256032" cy="256032"/>
          </a:xfrm>
          <a:prstGeom prst="ellipse">
            <a:avLst/>
          </a:prstGeom>
          <a:solidFill>
            <a:srgbClr val="C9CED6"/>
          </a:solidFill>
          <a:ln w="12700">
            <a:solidFill>
              <a:srgbClr val="C9CED6"/>
            </a:solidFill>
            <a:prstDash val="solid"/>
          </a:ln>
        </p:spPr>
      </p:sp>
      <p:sp>
        <p:nvSpPr>
          <p:cNvPr id="67" name="Text 64"/>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صَحِيحٌ أَنَّ</a:t>
            </a:r>
            <a:endParaRPr lang="ar-SA" sz="1700" dirty="0"/>
          </a:p>
        </p:txBody>
      </p:sp>
      <p:sp>
        <p:nvSpPr>
          <p:cNvPr id="69" name="Shape 66"/>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70" name="Shape 67"/>
          <p:cNvSpPr/>
          <p:nvPr/>
        </p:nvSpPr>
        <p:spPr>
          <a:xfrm>
            <a:off x="640080" y="5202936"/>
            <a:ext cx="256032" cy="256032"/>
          </a:xfrm>
          <a:prstGeom prst="ellipse">
            <a:avLst/>
          </a:prstGeom>
          <a:solidFill>
            <a:srgbClr val="2E8B57"/>
          </a:solidFill>
          <a:ln w="12700">
            <a:solidFill>
              <a:srgbClr val="2E8B57"/>
            </a:solidFill>
            <a:prstDash val="solid"/>
          </a:ln>
        </p:spPr>
      </p:sp>
      <p:sp>
        <p:nvSpPr>
          <p:cNvPr id="71" name="Text 68"/>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2" name="Text 69"/>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يَتَطَلَّبُ أَنْ</a:t>
            </a:r>
            <a:endParaRPr lang="ar-SA" sz="1700" dirty="0"/>
          </a:p>
        </p:txBody>
      </p:sp>
      <p:sp>
        <p:nvSpPr>
          <p:cNvPr id="73" name="Shape 70"/>
          <p:cNvSpPr/>
          <p:nvPr/>
        </p:nvSpPr>
        <p:spPr>
          <a:xfrm>
            <a:off x="640080" y="5574792"/>
            <a:ext cx="256032" cy="256032"/>
          </a:xfrm>
          <a:prstGeom prst="ellipse">
            <a:avLst/>
          </a:prstGeom>
          <a:solidFill>
            <a:srgbClr val="C9CED6"/>
          </a:solidFill>
          <a:ln w="12700">
            <a:solidFill>
              <a:srgbClr val="C9CED6"/>
            </a:solidFill>
            <a:prstDash val="solid"/>
          </a:ln>
        </p:spPr>
      </p:sp>
      <p:sp>
        <p:nvSpPr>
          <p:cNvPr id="74" name="Text 71"/>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5" name="Text 72"/>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إِذَا</a:t>
            </a:r>
            <a:endParaRPr lang="ar-SA" sz="1700" dirty="0"/>
          </a:p>
        </p:txBody>
      </p:sp>
      <p:sp>
        <p:nvSpPr>
          <p:cNvPr id="76" name="Text 73"/>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تَرَقَّبْ مُسَبِّبَ النَّصْبِ مِثْلَ «يَتَطَلَّبُ أَنْ» لِلْخَاتِمَةِ.</a:t>
            </a:r>
            <a:endParaRPr lang="ar-SA" sz="1350" dirty="0"/>
          </a:p>
        </p:txBody>
      </p:sp>
      <p:sp>
        <p:nvSpPr>
          <p:cNvPr id="77" name="Shape 7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8" name="Shape 75"/>
          <p:cNvSpPr/>
          <p:nvPr/>
        </p:nvSpPr>
        <p:spPr>
          <a:xfrm>
            <a:off x="4404360" y="4288536"/>
            <a:ext cx="310896" cy="310896"/>
          </a:xfrm>
          <a:prstGeom prst="ellipse">
            <a:avLst/>
          </a:prstGeom>
          <a:solidFill>
            <a:srgbClr val="1B3B6F"/>
          </a:solidFill>
          <a:ln w="12700">
            <a:solidFill>
              <a:srgbClr val="1B3B6F"/>
            </a:solidFill>
            <a:prstDash val="solid"/>
          </a:ln>
        </p:spPr>
      </p:sp>
      <p:sp>
        <p:nvSpPr>
          <p:cNvPr id="79" name="Text 7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80" name="Text 7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is knowing the structure useful?</a:t>
            </a:r>
            <a:endParaRPr lang="en-US" sz="1250" dirty="0"/>
          </a:p>
        </p:txBody>
      </p:sp>
      <p:sp>
        <p:nvSpPr>
          <p:cNvPr id="81" name="Shape 78"/>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2" name="Shape 79"/>
          <p:cNvSpPr/>
          <p:nvPr/>
        </p:nvSpPr>
        <p:spPr>
          <a:xfrm>
            <a:off x="4459224" y="4831080"/>
            <a:ext cx="256032" cy="256032"/>
          </a:xfrm>
          <a:prstGeom prst="ellipse">
            <a:avLst/>
          </a:prstGeom>
          <a:solidFill>
            <a:srgbClr val="2E8B57"/>
          </a:solidFill>
          <a:ln w="12700">
            <a:solidFill>
              <a:srgbClr val="2E8B57"/>
            </a:solidFill>
            <a:prstDash val="solid"/>
          </a:ln>
        </p:spPr>
      </p:sp>
      <p:sp>
        <p:nvSpPr>
          <p:cNvPr id="83" name="Text 80"/>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4" name="Text 81"/>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You can predict what follows and keep up if words slip past</a:t>
            </a:r>
            <a:endParaRPr lang="en-US" sz="1150" dirty="0"/>
          </a:p>
        </p:txBody>
      </p:sp>
      <p:sp>
        <p:nvSpPr>
          <p:cNvPr id="85" name="Shape 82"/>
          <p:cNvSpPr/>
          <p:nvPr/>
        </p:nvSpPr>
        <p:spPr>
          <a:xfrm>
            <a:off x="4459224" y="5202936"/>
            <a:ext cx="256032" cy="256032"/>
          </a:xfrm>
          <a:prstGeom prst="ellipse">
            <a:avLst/>
          </a:prstGeom>
          <a:solidFill>
            <a:srgbClr val="C9CED6"/>
          </a:solidFill>
          <a:ln w="12700">
            <a:solidFill>
              <a:srgbClr val="C9CED6"/>
            </a:solidFill>
            <a:prstDash val="solid"/>
          </a:ln>
        </p:spPr>
      </p:sp>
      <p:sp>
        <p:nvSpPr>
          <p:cNvPr id="86" name="Text 83"/>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7" name="Text 84"/>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replaces listening</a:t>
            </a:r>
            <a:endParaRPr lang="en-US" sz="1250" dirty="0"/>
          </a:p>
        </p:txBody>
      </p:sp>
      <p:sp>
        <p:nvSpPr>
          <p:cNvPr id="88" name="Shape 85"/>
          <p:cNvSpPr/>
          <p:nvPr/>
        </p:nvSpPr>
        <p:spPr>
          <a:xfrm>
            <a:off x="4459224" y="5574792"/>
            <a:ext cx="256032" cy="256032"/>
          </a:xfrm>
          <a:prstGeom prst="ellipse">
            <a:avLst/>
          </a:prstGeom>
          <a:solidFill>
            <a:srgbClr val="C9CED6"/>
          </a:solidFill>
          <a:ln w="12700">
            <a:solidFill>
              <a:srgbClr val="C9CED6"/>
            </a:solidFill>
            <a:prstDash val="solid"/>
          </a:ln>
        </p:spPr>
      </p:sp>
      <p:sp>
        <p:nvSpPr>
          <p:cNvPr id="89" name="Text 86"/>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0" name="Text 87"/>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is only decorative</a:t>
            </a:r>
            <a:endParaRPr lang="en-US" sz="1250" dirty="0"/>
          </a:p>
        </p:txBody>
      </p:sp>
      <p:sp>
        <p:nvSpPr>
          <p:cNvPr id="91" name="Text 88"/>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فَإِذَا عَرَفْتَ البِنْيَةَ، تَنَبَّأْتَ بِمَا يَلِي.</a:t>
            </a:r>
            <a:endParaRPr lang="ar-SA" sz="1350" dirty="0"/>
          </a:p>
        </p:txBody>
      </p:sp>
      <p:sp>
        <p:nvSpPr>
          <p:cNvPr id="92" name="Shape 89"/>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3" name="Text 90"/>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94" name="Text 91"/>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95" name="Text 9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46 / 50</a:t>
            </a:r>
            <a:endParaRPr lang="en-US" sz="8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P5-L10 · Listening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WEBSITE MISSION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00" b="1" dirty="0">
                <a:solidFill>
                  <a:srgbClr val="1B3B6F"/>
                </a:solidFill>
                <a:latin typeface="Cambria" pitchFamily="34" charset="0"/>
                <a:cs typeface="Amiri" pitchFamily="2" charset="-78"/>
              </a:rPr>
              <a:t>Listening Mission — Follow the Argument</a:t>
            </a:r>
            <a:endParaRPr lang="en-US" sz="23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المُهِمَّةُ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P5-L10</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Structure: where is the thesis?</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 the conclusion only</a:t>
            </a:r>
            <a:endParaRPr lang="en-US" sz="12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 the introduction</a:t>
            </a:r>
            <a:endParaRPr lang="en-US" sz="12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nowhere</a:t>
            </a:r>
            <a:endParaRPr lang="en-US" sz="12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Signal:</a:t>
            </a:r>
            <a:endParaRPr lang="en-US" sz="1200" dirty="0"/>
          </a:p>
        </p:txBody>
      </p:sp>
      <p:sp>
        <p:nvSpPr>
          <p:cNvPr id="34" name="Text 31"/>
          <p:cNvSpPr txBox="1"/>
          <p:nvPr/>
        </p:nvSpPr>
        <p:spPr>
          <a:xfrm>
            <a:off x="6225845" y="1883664"/>
            <a:ext cx="1577035" cy="475488"/>
          </a:xfrm>
          <a:prstGeom prst="rect">
            <a:avLst/>
          </a:prstGeom>
          <a:noFill/>
          <a:ln/>
        </p:spPr>
        <p:txBody>
          <a:bodyPr wrap="square" lIns="0" tIns="0" rIns="0" bIns="0" rtlCol="0" anchor="ctr"/>
          <a:lstStyle/>
          <a:p>
            <a:pPr algn="l" indent="0" marL="0">
              <a:buNone/>
            </a:pPr>
            <a:r>
              <a:rPr lang="ar-SA" altLang="en-US" sz="1900" b="1" dirty="0">
                <a:solidFill>
                  <a:srgbClr val="1F2A37"/>
                </a:solidFill>
                <a:latin typeface="Amiri" pitchFamily="2" charset="-78"/>
                <a:cs typeface="Amiri" pitchFamily="2" charset="-78"/>
              </a:rPr>
              <a:t>صَحِيحٌ أَنَّ</a:t>
            </a:r>
            <a:pPr algn="l" indent="0" marL="0">
              <a:buNone/>
            </a:pPr>
            <a:r>
              <a:rPr lang="en-US" sz="1450" b="1" dirty="0">
                <a:solidFill>
                  <a:srgbClr val="1F2A37"/>
                </a:solidFill>
                <a:latin typeface="Calibri" pitchFamily="34" charset="0"/>
                <a:cs typeface="Amiri" pitchFamily="2" charset="-78"/>
              </a:rPr>
              <a:t> marks …</a:t>
            </a:r>
            <a:endParaRPr lang="en-US" sz="1450" dirty="0"/>
          </a:p>
        </p:txBody>
      </p:sp>
      <p:sp>
        <p:nvSpPr>
          <p:cNvPr id="35" name="Shape 32"/>
          <p:cNvSpPr/>
          <p:nvPr/>
        </p:nvSpPr>
        <p:spPr>
          <a:xfrm>
            <a:off x="4459224" y="25328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concession</a:t>
            </a:r>
            <a:endParaRPr lang="en-US" sz="1250" dirty="0"/>
          </a:p>
        </p:txBody>
      </p:sp>
      <p:sp>
        <p:nvSpPr>
          <p:cNvPr id="38" name="Shape 35"/>
          <p:cNvSpPr/>
          <p:nvPr/>
        </p:nvSpPr>
        <p:spPr>
          <a:xfrm>
            <a:off x="4459224" y="29900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speaker's conclusion</a:t>
            </a:r>
            <a:endParaRPr lang="en-US" sz="1250" dirty="0"/>
          </a:p>
        </p:txBody>
      </p:sp>
      <p:sp>
        <p:nvSpPr>
          <p:cNvPr id="41" name="Shape 38"/>
          <p:cNvSpPr/>
          <p:nvPr/>
        </p:nvSpPr>
        <p:spPr>
          <a:xfrm>
            <a:off x="4459224" y="3447288"/>
            <a:ext cx="256032" cy="256032"/>
          </a:xfrm>
          <a:prstGeom prst="ellipse">
            <a:avLst/>
          </a:prstGeom>
          <a:solidFill>
            <a:srgbClr val="F4F1EA"/>
          </a:solidFill>
          <a:ln w="12700">
            <a:solidFill>
              <a:srgbClr val="F4F1EA"/>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statistic</a:t>
            </a:r>
            <a:endParaRPr lang="en-US" sz="1250" dirty="0"/>
          </a:p>
        </p:txBody>
      </p:sp>
      <p:sp>
        <p:nvSpPr>
          <p:cNvPr id="44" name="Shape 41"/>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5" name="Shape 42"/>
          <p:cNvSpPr/>
          <p:nvPr/>
        </p:nvSpPr>
        <p:spPr>
          <a:xfrm>
            <a:off x="8223504" y="1947672"/>
            <a:ext cx="310896" cy="310896"/>
          </a:xfrm>
          <a:prstGeom prst="ellipse">
            <a:avLst/>
          </a:prstGeom>
          <a:solidFill>
            <a:srgbClr val="1B3B6F"/>
          </a:solidFill>
          <a:ln w="12700">
            <a:solidFill>
              <a:srgbClr val="1B3B6F"/>
            </a:solidFill>
            <a:prstDash val="solid"/>
          </a:ln>
        </p:spPr>
      </p:sp>
      <p:sp>
        <p:nvSpPr>
          <p:cNvPr id="46" name="Text 43"/>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7" name="Text 44"/>
          <p:cNvSpPr txBox="1"/>
          <p:nvPr/>
        </p:nvSpPr>
        <p:spPr>
          <a:xfrm>
            <a:off x="8589264"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Signal:</a:t>
            </a:r>
            <a:endParaRPr lang="en-US" sz="1200" dirty="0"/>
          </a:p>
        </p:txBody>
      </p:sp>
      <p:sp>
        <p:nvSpPr>
          <p:cNvPr id="48" name="Text 45"/>
          <p:cNvSpPr txBox="1"/>
          <p:nvPr/>
        </p:nvSpPr>
        <p:spPr>
          <a:xfrm>
            <a:off x="10044989" y="1883664"/>
            <a:ext cx="1577035" cy="475488"/>
          </a:xfrm>
          <a:prstGeom prst="rect">
            <a:avLst/>
          </a:prstGeom>
          <a:noFill/>
          <a:ln/>
        </p:spPr>
        <p:txBody>
          <a:bodyPr wrap="square" lIns="0" tIns="0" rIns="0" bIns="0" rtlCol="0" anchor="ctr"/>
          <a:lstStyle/>
          <a:p>
            <a:pPr algn="l" indent="0" marL="0">
              <a:buNone/>
            </a:pPr>
            <a:r>
              <a:rPr lang="ar-SA" altLang="en-US" sz="1900" b="1" dirty="0">
                <a:solidFill>
                  <a:srgbClr val="1F2A37"/>
                </a:solidFill>
                <a:latin typeface="Amiri" pitchFamily="2" charset="-78"/>
                <a:cs typeface="Amiri" pitchFamily="2" charset="-78"/>
              </a:rPr>
              <a:t>غَيْرَ أَنَّ</a:t>
            </a:r>
            <a:pPr algn="l" indent="0" marL="0">
              <a:buNone/>
            </a:pPr>
            <a:r>
              <a:rPr lang="en-US" sz="1450" b="1" dirty="0">
                <a:solidFill>
                  <a:srgbClr val="1F2A37"/>
                </a:solidFill>
                <a:latin typeface="Calibri" pitchFamily="34" charset="0"/>
                <a:cs typeface="Amiri" pitchFamily="2" charset="-78"/>
              </a:rPr>
              <a:t> marks …</a:t>
            </a:r>
            <a:endParaRPr lang="en-US" sz="1450" dirty="0"/>
          </a:p>
        </p:txBody>
      </p:sp>
      <p:sp>
        <p:nvSpPr>
          <p:cNvPr id="49" name="Shape 46"/>
          <p:cNvSpPr/>
          <p:nvPr/>
        </p:nvSpPr>
        <p:spPr>
          <a:xfrm>
            <a:off x="8278368" y="2532888"/>
            <a:ext cx="256032" cy="256032"/>
          </a:xfrm>
          <a:prstGeom prst="ellipse">
            <a:avLst/>
          </a:prstGeom>
          <a:solidFill>
            <a:srgbClr val="F4F1EA"/>
          </a:solidFill>
          <a:ln w="12700">
            <a:solidFill>
              <a:srgbClr val="F4F1EA"/>
            </a:solidFill>
            <a:prstDash val="solid"/>
          </a:ln>
        </p:spPr>
      </p:sp>
      <p:sp>
        <p:nvSpPr>
          <p:cNvPr id="50" name="Text 47"/>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concession</a:t>
            </a:r>
            <a:endParaRPr lang="en-US" sz="1250" dirty="0"/>
          </a:p>
        </p:txBody>
      </p:sp>
      <p:sp>
        <p:nvSpPr>
          <p:cNvPr id="52" name="Shape 49"/>
          <p:cNvSpPr/>
          <p:nvPr/>
        </p:nvSpPr>
        <p:spPr>
          <a:xfrm>
            <a:off x="8278368" y="2990088"/>
            <a:ext cx="256032" cy="256032"/>
          </a:xfrm>
          <a:prstGeom prst="ellipse">
            <a:avLst/>
          </a:prstGeom>
          <a:solidFill>
            <a:srgbClr val="F4F1EA"/>
          </a:solidFill>
          <a:ln w="12700">
            <a:solidFill>
              <a:srgbClr val="F4F1EA"/>
            </a:solidFill>
            <a:prstDash val="solid"/>
          </a:ln>
        </p:spPr>
      </p:sp>
      <p:sp>
        <p:nvSpPr>
          <p:cNvPr id="53" name="Text 50"/>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thesis</a:t>
            </a:r>
            <a:endParaRPr lang="en-US" sz="1250" dirty="0"/>
          </a:p>
        </p:txBody>
      </p:sp>
      <p:sp>
        <p:nvSpPr>
          <p:cNvPr id="55" name="Shape 52"/>
          <p:cNvSpPr/>
          <p:nvPr/>
        </p:nvSpPr>
        <p:spPr>
          <a:xfrm>
            <a:off x="8278368" y="3447288"/>
            <a:ext cx="256032" cy="256032"/>
          </a:xfrm>
          <a:prstGeom prst="ellipse">
            <a:avLst/>
          </a:prstGeom>
          <a:solidFill>
            <a:srgbClr val="F4F1EA"/>
          </a:solidFill>
          <a:ln w="12700">
            <a:solidFill>
              <a:srgbClr val="F4F1EA"/>
            </a:solidFill>
            <a:prstDash val="solid"/>
          </a:ln>
        </p:spPr>
      </p:sp>
      <p:sp>
        <p:nvSpPr>
          <p:cNvPr id="56" name="Text 53"/>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7" name="Text 54"/>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refutation</a:t>
            </a:r>
            <a:endParaRPr lang="en-US" sz="1250" dirty="0"/>
          </a:p>
        </p:txBody>
      </p:sp>
      <p:sp>
        <p:nvSpPr>
          <p:cNvPr id="58" name="Shape 55"/>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9" name="Shape 56"/>
          <p:cNvSpPr/>
          <p:nvPr/>
        </p:nvSpPr>
        <p:spPr>
          <a:xfrm>
            <a:off x="585216" y="4288536"/>
            <a:ext cx="310896" cy="310896"/>
          </a:xfrm>
          <a:prstGeom prst="ellipse">
            <a:avLst/>
          </a:prstGeom>
          <a:solidFill>
            <a:srgbClr val="1B3B6F"/>
          </a:solidFill>
          <a:ln w="12700">
            <a:solidFill>
              <a:srgbClr val="1B3B6F"/>
            </a:solidFill>
            <a:prstDash val="solid"/>
          </a:ln>
        </p:spPr>
      </p:sp>
      <p:sp>
        <p:nvSpPr>
          <p:cNvPr id="60" name="Text 57"/>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1" name="Text 58"/>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Attribution: the point after </a:t>
            </a:r>
            <a:pPr algn="l" indent="0" marL="0">
              <a:buNone/>
            </a:pPr>
            <a:r>
              <a:rPr lang="ar-SA" altLang="en-US" sz="1650" b="1" dirty="0">
                <a:solidFill>
                  <a:srgbClr val="1B3B6F"/>
                </a:solidFill>
                <a:latin typeface="Amiri" pitchFamily="2" charset="-78"/>
                <a:cs typeface="Amiri" pitchFamily="2" charset="-78"/>
              </a:rPr>
              <a:t>صَحِيحٌ أَنَّ</a:t>
            </a:r>
            <a:pPr algn="l" indent="0" marL="0">
              <a:buNone/>
            </a:pPr>
            <a:r>
              <a:rPr lang="en-US" sz="1250" b="1" dirty="0">
                <a:solidFill>
                  <a:srgbClr val="1B3B6F"/>
                </a:solidFill>
                <a:latin typeface="Calibri" pitchFamily="34" charset="0"/>
                <a:cs typeface="Amiri" pitchFamily="2" charset="-78"/>
              </a:rPr>
              <a:t> belongs to …</a:t>
            </a:r>
            <a:endParaRPr lang="en-US" sz="1250" dirty="0"/>
          </a:p>
        </p:txBody>
      </p:sp>
      <p:sp>
        <p:nvSpPr>
          <p:cNvPr id="62" name="Shape 59"/>
          <p:cNvSpPr/>
          <p:nvPr/>
        </p:nvSpPr>
        <p:spPr>
          <a:xfrm>
            <a:off x="640080" y="4873752"/>
            <a:ext cx="256032" cy="256032"/>
          </a:xfrm>
          <a:prstGeom prst="ellipse">
            <a:avLst/>
          </a:prstGeom>
          <a:solidFill>
            <a:srgbClr val="F4F1EA"/>
          </a:solidFill>
          <a:ln w="12700">
            <a:solidFill>
              <a:srgbClr val="F4F1EA"/>
            </a:solidFill>
            <a:prstDash val="solid"/>
          </a:ln>
        </p:spPr>
      </p:sp>
      <p:sp>
        <p:nvSpPr>
          <p:cNvPr id="63" name="Text 60"/>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4" name="Text 61"/>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speaker's conclusion</a:t>
            </a:r>
            <a:endParaRPr lang="en-US" sz="1250" dirty="0"/>
          </a:p>
        </p:txBody>
      </p:sp>
      <p:sp>
        <p:nvSpPr>
          <p:cNvPr id="65" name="Shape 62"/>
          <p:cNvSpPr/>
          <p:nvPr/>
        </p:nvSpPr>
        <p:spPr>
          <a:xfrm>
            <a:off x="640080" y="5330952"/>
            <a:ext cx="256032" cy="256032"/>
          </a:xfrm>
          <a:prstGeom prst="ellipse">
            <a:avLst/>
          </a:prstGeom>
          <a:solidFill>
            <a:srgbClr val="F4F1EA"/>
          </a:solidFill>
          <a:ln w="12700">
            <a:solidFill>
              <a:srgbClr val="F4F1EA"/>
            </a:solidFill>
            <a:prstDash val="solid"/>
          </a:ln>
        </p:spPr>
      </p:sp>
      <p:sp>
        <p:nvSpPr>
          <p:cNvPr id="66" name="Text 63"/>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7" name="Text 64"/>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 one</a:t>
            </a:r>
            <a:endParaRPr lang="en-US" sz="1250" dirty="0"/>
          </a:p>
        </p:txBody>
      </p:sp>
      <p:sp>
        <p:nvSpPr>
          <p:cNvPr id="68" name="Shape 65"/>
          <p:cNvSpPr/>
          <p:nvPr/>
        </p:nvSpPr>
        <p:spPr>
          <a:xfrm>
            <a:off x="640080" y="5788152"/>
            <a:ext cx="256032" cy="256032"/>
          </a:xfrm>
          <a:prstGeom prst="ellipse">
            <a:avLst/>
          </a:prstGeom>
          <a:solidFill>
            <a:srgbClr val="F4F1EA"/>
          </a:solidFill>
          <a:ln w="12700">
            <a:solidFill>
              <a:srgbClr val="F4F1EA"/>
            </a:solidFill>
            <a:prstDash val="solid"/>
          </a:ln>
        </p:spPr>
      </p:sp>
      <p:sp>
        <p:nvSpPr>
          <p:cNvPr id="69" name="Text 66"/>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0" name="Text 67"/>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other side</a:t>
            </a:r>
            <a:endParaRPr lang="en-US" sz="1250" dirty="0"/>
          </a:p>
        </p:txBody>
      </p:sp>
      <p:sp>
        <p:nvSpPr>
          <p:cNvPr id="71" name="Shape 68"/>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2" name="Shape 69"/>
          <p:cNvSpPr/>
          <p:nvPr/>
        </p:nvSpPr>
        <p:spPr>
          <a:xfrm>
            <a:off x="4404360" y="4288536"/>
            <a:ext cx="310896" cy="310896"/>
          </a:xfrm>
          <a:prstGeom prst="ellipse">
            <a:avLst/>
          </a:prstGeom>
          <a:solidFill>
            <a:srgbClr val="1B3B6F"/>
          </a:solidFill>
          <a:ln w="12700">
            <a:solidFill>
              <a:srgbClr val="1B3B6F"/>
            </a:solidFill>
            <a:prstDash val="solid"/>
          </a:ln>
        </p:spPr>
      </p:sp>
      <p:sp>
        <p:nvSpPr>
          <p:cNvPr id="73" name="Text 70"/>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4" name="Text 71"/>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Trigger: which marks a subjunctive conclusion?</a:t>
            </a:r>
            <a:endParaRPr lang="en-US" sz="1250" dirty="0"/>
          </a:p>
        </p:txBody>
      </p:sp>
      <p:sp>
        <p:nvSpPr>
          <p:cNvPr id="75" name="Shape 72"/>
          <p:cNvSpPr/>
          <p:nvPr/>
        </p:nvSpPr>
        <p:spPr>
          <a:xfrm>
            <a:off x="4459224" y="4873752"/>
            <a:ext cx="256032" cy="256032"/>
          </a:xfrm>
          <a:prstGeom prst="ellipse">
            <a:avLst/>
          </a:prstGeom>
          <a:solidFill>
            <a:srgbClr val="F4F1EA"/>
          </a:solidFill>
          <a:ln w="12700">
            <a:solidFill>
              <a:srgbClr val="F4F1EA"/>
            </a:solidFill>
            <a:prstDash val="solid"/>
          </a:ln>
        </p:spPr>
      </p:sp>
      <p:sp>
        <p:nvSpPr>
          <p:cNvPr id="76" name="Text 73"/>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7" name="Text 74"/>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يَتَطَلَّبُ أَنْ</a:t>
            </a:r>
            <a:endParaRPr lang="ar-SA" sz="2050" dirty="0"/>
          </a:p>
        </p:txBody>
      </p:sp>
      <p:sp>
        <p:nvSpPr>
          <p:cNvPr id="78" name="Shape 75"/>
          <p:cNvSpPr/>
          <p:nvPr/>
        </p:nvSpPr>
        <p:spPr>
          <a:xfrm>
            <a:off x="4459224" y="5330952"/>
            <a:ext cx="256032" cy="256032"/>
          </a:xfrm>
          <a:prstGeom prst="ellipse">
            <a:avLst/>
          </a:prstGeom>
          <a:solidFill>
            <a:srgbClr val="F4F1EA"/>
          </a:solidFill>
          <a:ln w="12700">
            <a:solidFill>
              <a:srgbClr val="F4F1EA"/>
            </a:solidFill>
            <a:prstDash val="solid"/>
          </a:ln>
        </p:spPr>
      </p:sp>
      <p:sp>
        <p:nvSpPr>
          <p:cNvPr id="79" name="Text 76"/>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0" name="Text 77"/>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صَحِيحٌ أَنَّ</a:t>
            </a:r>
            <a:endParaRPr lang="ar-SA" sz="2050" dirty="0"/>
          </a:p>
        </p:txBody>
      </p:sp>
      <p:sp>
        <p:nvSpPr>
          <p:cNvPr id="81" name="Shape 78"/>
          <p:cNvSpPr/>
          <p:nvPr/>
        </p:nvSpPr>
        <p:spPr>
          <a:xfrm>
            <a:off x="4459224" y="5788152"/>
            <a:ext cx="256032" cy="256032"/>
          </a:xfrm>
          <a:prstGeom prst="ellipse">
            <a:avLst/>
          </a:prstGeom>
          <a:solidFill>
            <a:srgbClr val="F4F1EA"/>
          </a:solidFill>
          <a:ln w="12700">
            <a:solidFill>
              <a:srgbClr val="F4F1EA"/>
            </a:solidFill>
            <a:prstDash val="solid"/>
          </a:ln>
        </p:spPr>
      </p:sp>
      <p:sp>
        <p:nvSpPr>
          <p:cNvPr id="82" name="Text 79"/>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3" name="Text 80"/>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إِذَا</a:t>
            </a:r>
            <a:endParaRPr lang="ar-SA" sz="2050" dirty="0"/>
          </a:p>
        </p:txBody>
      </p:sp>
      <p:sp>
        <p:nvSpPr>
          <p:cNvPr id="84" name="Shape 81"/>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5" name="Shape 82"/>
          <p:cNvSpPr/>
          <p:nvPr/>
        </p:nvSpPr>
        <p:spPr>
          <a:xfrm>
            <a:off x="8223504" y="4288536"/>
            <a:ext cx="310896" cy="310896"/>
          </a:xfrm>
          <a:prstGeom prst="ellipse">
            <a:avLst/>
          </a:prstGeom>
          <a:solidFill>
            <a:srgbClr val="1B3B6F"/>
          </a:solidFill>
          <a:ln w="12700">
            <a:solidFill>
              <a:srgbClr val="1B3B6F"/>
            </a:solidFill>
            <a:prstDash val="solid"/>
          </a:ln>
        </p:spPr>
      </p:sp>
      <p:sp>
        <p:nvSpPr>
          <p:cNvPr id="86" name="Text 83"/>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7" name="Text 84"/>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Subjunctive: complete — </a:t>
            </a:r>
            <a:pPr algn="l" indent="0" marL="0">
              <a:buNone/>
            </a:pPr>
            <a:r>
              <a:rPr lang="ar-SA" altLang="en-US" sz="1650" b="1" dirty="0">
                <a:solidFill>
                  <a:srgbClr val="1B3B6F"/>
                </a:solidFill>
                <a:latin typeface="Amiri" pitchFamily="2" charset="-78"/>
                <a:cs typeface="Amiri" pitchFamily="2" charset="-78"/>
              </a:rPr>
              <a:t>يَتَطَلَّبُ الوَضْعُ أَنْ</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الحُكُومَاتُ فَوْرًا</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88" name="Shape 85"/>
          <p:cNvSpPr/>
          <p:nvPr/>
        </p:nvSpPr>
        <p:spPr>
          <a:xfrm>
            <a:off x="8278368" y="4873752"/>
            <a:ext cx="256032" cy="256032"/>
          </a:xfrm>
          <a:prstGeom prst="ellipse">
            <a:avLst/>
          </a:prstGeom>
          <a:solidFill>
            <a:srgbClr val="F4F1EA"/>
          </a:solidFill>
          <a:ln w="12700">
            <a:solidFill>
              <a:srgbClr val="F4F1EA"/>
            </a:solidFill>
            <a:prstDash val="solid"/>
          </a:ln>
        </p:spPr>
      </p:sp>
      <p:sp>
        <p:nvSpPr>
          <p:cNvPr id="89" name="Text 86"/>
          <p:cNvSpPr txBox="1"/>
          <p:nvPr/>
        </p:nvSpPr>
        <p:spPr>
          <a:xfrm>
            <a:off x="827836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90" name="Text 87"/>
          <p:cNvSpPr txBox="1"/>
          <p:nvPr/>
        </p:nvSpPr>
        <p:spPr>
          <a:xfrm>
            <a:off x="8607552"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تَتَحَرَّكُ</a:t>
            </a:r>
            <a:endParaRPr lang="ar-SA" sz="2050" dirty="0"/>
          </a:p>
        </p:txBody>
      </p:sp>
      <p:sp>
        <p:nvSpPr>
          <p:cNvPr id="91" name="Shape 88"/>
          <p:cNvSpPr/>
          <p:nvPr/>
        </p:nvSpPr>
        <p:spPr>
          <a:xfrm>
            <a:off x="8278368" y="5330952"/>
            <a:ext cx="256032" cy="256032"/>
          </a:xfrm>
          <a:prstGeom prst="ellipse">
            <a:avLst/>
          </a:prstGeom>
          <a:solidFill>
            <a:srgbClr val="F4F1EA"/>
          </a:solidFill>
          <a:ln w="12700">
            <a:solidFill>
              <a:srgbClr val="F4F1EA"/>
            </a:solidFill>
            <a:prstDash val="solid"/>
          </a:ln>
        </p:spPr>
      </p:sp>
      <p:sp>
        <p:nvSpPr>
          <p:cNvPr id="92" name="Text 89"/>
          <p:cNvSpPr txBox="1"/>
          <p:nvPr/>
        </p:nvSpPr>
        <p:spPr>
          <a:xfrm>
            <a:off x="827836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93" name="Text 90"/>
          <p:cNvSpPr txBox="1"/>
          <p:nvPr/>
        </p:nvSpPr>
        <p:spPr>
          <a:xfrm>
            <a:off x="8607552"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تَتَحَرَّكَ</a:t>
            </a:r>
            <a:endParaRPr lang="ar-SA" sz="2050" dirty="0"/>
          </a:p>
        </p:txBody>
      </p:sp>
      <p:sp>
        <p:nvSpPr>
          <p:cNvPr id="94" name="Shape 91"/>
          <p:cNvSpPr/>
          <p:nvPr/>
        </p:nvSpPr>
        <p:spPr>
          <a:xfrm>
            <a:off x="8278368" y="5788152"/>
            <a:ext cx="256032" cy="256032"/>
          </a:xfrm>
          <a:prstGeom prst="ellipse">
            <a:avLst/>
          </a:prstGeom>
          <a:solidFill>
            <a:srgbClr val="F4F1EA"/>
          </a:solidFill>
          <a:ln w="12700">
            <a:solidFill>
              <a:srgbClr val="F4F1EA"/>
            </a:solidFill>
            <a:prstDash val="solid"/>
          </a:ln>
        </p:spPr>
      </p:sp>
      <p:sp>
        <p:nvSpPr>
          <p:cNvPr id="95" name="Text 92"/>
          <p:cNvSpPr txBox="1"/>
          <p:nvPr/>
        </p:nvSpPr>
        <p:spPr>
          <a:xfrm>
            <a:off x="827836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6" name="Text 93"/>
          <p:cNvSpPr txBox="1"/>
          <p:nvPr/>
        </p:nvSpPr>
        <p:spPr>
          <a:xfrm>
            <a:off x="8607552"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تَتَحَرَّكْ</a:t>
            </a:r>
            <a:endParaRPr lang="ar-SA" sz="2050" dirty="0"/>
          </a:p>
        </p:txBody>
      </p:sp>
      <p:sp>
        <p:nvSpPr>
          <p:cNvPr id="97" name="Text 9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47 / 50</a:t>
            </a:r>
            <a:endParaRPr lang="en-US" sz="85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P5-L10 · Listening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MISSION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Mission: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P5-L10</a:t>
            </a:r>
            <a:endParaRPr lang="en-US" sz="850" dirty="0"/>
          </a:p>
        </p:txBody>
      </p:sp>
      <p:sp>
        <p:nvSpPr>
          <p:cNvPr id="16"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7"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8"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9"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Structure: where is the thesis?</a:t>
            </a:r>
            <a:endParaRPr lang="en-US" sz="1250" dirty="0"/>
          </a:p>
        </p:txBody>
      </p:sp>
      <p:sp>
        <p:nvSpPr>
          <p:cNvPr id="20"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1"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20"/>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in the conclusion only</a:t>
            </a:r>
            <a:endParaRPr lang="en-US" sz="1250" dirty="0"/>
          </a:p>
        </p:txBody>
      </p:sp>
      <p:sp>
        <p:nvSpPr>
          <p:cNvPr id="23" name="Shape 21"/>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4"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5"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6" name="Text 24"/>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in the introduction</a:t>
            </a:r>
            <a:endParaRPr lang="en-US" sz="1250" dirty="0"/>
          </a:p>
        </p:txBody>
      </p:sp>
      <p:sp>
        <p:nvSpPr>
          <p:cNvPr id="27"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8"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7"/>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nowhere</a:t>
            </a:r>
            <a:endParaRPr lang="en-US" sz="1250" dirty="0"/>
          </a:p>
        </p:txBody>
      </p:sp>
      <p:sp>
        <p:nvSpPr>
          <p:cNvPr id="30" name="Text 28"/>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thesis opens the text.</a:t>
            </a:r>
            <a:endParaRPr lang="en-US" sz="1050" dirty="0"/>
          </a:p>
        </p:txBody>
      </p:sp>
      <p:sp>
        <p:nvSpPr>
          <p:cNvPr id="31" name="Shape 29"/>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30"/>
          <p:cNvSpPr/>
          <p:nvPr/>
        </p:nvSpPr>
        <p:spPr>
          <a:xfrm>
            <a:off x="4404360" y="1947672"/>
            <a:ext cx="310896" cy="310896"/>
          </a:xfrm>
          <a:prstGeom prst="ellipse">
            <a:avLst/>
          </a:prstGeom>
          <a:solidFill>
            <a:srgbClr val="1B3B6F"/>
          </a:solidFill>
          <a:ln w="12700">
            <a:solidFill>
              <a:srgbClr val="1B3B6F"/>
            </a:solidFill>
            <a:prstDash val="solid"/>
          </a:ln>
        </p:spPr>
      </p:sp>
      <p:sp>
        <p:nvSpPr>
          <p:cNvPr id="33" name="Text 31"/>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4" name="Text 32"/>
          <p:cNvSpPr txBox="1"/>
          <p:nvPr/>
        </p:nvSpPr>
        <p:spPr>
          <a:xfrm>
            <a:off x="4770120"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Signal:</a:t>
            </a:r>
            <a:endParaRPr lang="en-US" sz="1200" dirty="0"/>
          </a:p>
        </p:txBody>
      </p:sp>
      <p:sp>
        <p:nvSpPr>
          <p:cNvPr id="35" name="Text 33"/>
          <p:cNvSpPr txBox="1"/>
          <p:nvPr/>
        </p:nvSpPr>
        <p:spPr>
          <a:xfrm>
            <a:off x="6225845" y="1883664"/>
            <a:ext cx="1577035" cy="475488"/>
          </a:xfrm>
          <a:prstGeom prst="rect">
            <a:avLst/>
          </a:prstGeom>
          <a:noFill/>
          <a:ln/>
        </p:spPr>
        <p:txBody>
          <a:bodyPr wrap="square" lIns="0" tIns="0" rIns="0" bIns="0" rtlCol="0" anchor="ctr"/>
          <a:lstStyle/>
          <a:p>
            <a:pPr algn="l" indent="0" marL="0">
              <a:buNone/>
            </a:pPr>
            <a:r>
              <a:rPr lang="ar-SA" altLang="en-US" sz="1900" b="1" dirty="0">
                <a:solidFill>
                  <a:srgbClr val="1F2A37"/>
                </a:solidFill>
                <a:latin typeface="Amiri" pitchFamily="2" charset="-78"/>
                <a:cs typeface="Amiri" pitchFamily="2" charset="-78"/>
              </a:rPr>
              <a:t>صَحِيحٌ أَنَّ</a:t>
            </a:r>
            <a:pPr algn="l" indent="0" marL="0">
              <a:buNone/>
            </a:pPr>
            <a:r>
              <a:rPr lang="en-US" sz="1450" b="1" dirty="0">
                <a:solidFill>
                  <a:srgbClr val="1F2A37"/>
                </a:solidFill>
                <a:latin typeface="Calibri" pitchFamily="34" charset="0"/>
                <a:cs typeface="Amiri" pitchFamily="2" charset="-78"/>
              </a:rPr>
              <a:t> marks …</a:t>
            </a:r>
            <a:endParaRPr lang="en-US" sz="1450" dirty="0"/>
          </a:p>
        </p:txBody>
      </p:sp>
      <p:sp>
        <p:nvSpPr>
          <p:cNvPr id="36" name="Shape 34"/>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7" name="Shape 35"/>
          <p:cNvSpPr/>
          <p:nvPr/>
        </p:nvSpPr>
        <p:spPr>
          <a:xfrm>
            <a:off x="4459224" y="2490216"/>
            <a:ext cx="256032" cy="256032"/>
          </a:xfrm>
          <a:prstGeom prst="ellipse">
            <a:avLst/>
          </a:prstGeom>
          <a:solidFill>
            <a:srgbClr val="2E8B57"/>
          </a:solidFill>
          <a:ln w="12700">
            <a:solidFill>
              <a:srgbClr val="2E8B57"/>
            </a:solidFill>
            <a:prstDash val="solid"/>
          </a:ln>
        </p:spPr>
      </p:sp>
      <p:sp>
        <p:nvSpPr>
          <p:cNvPr id="38" name="Text 36"/>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9" name="Text 37"/>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concession</a:t>
            </a:r>
            <a:endParaRPr lang="en-US" sz="1250" dirty="0"/>
          </a:p>
        </p:txBody>
      </p:sp>
      <p:sp>
        <p:nvSpPr>
          <p:cNvPr id="40" name="Shape 38"/>
          <p:cNvSpPr/>
          <p:nvPr/>
        </p:nvSpPr>
        <p:spPr>
          <a:xfrm>
            <a:off x="4459224" y="2862072"/>
            <a:ext cx="256032" cy="256032"/>
          </a:xfrm>
          <a:prstGeom prst="ellipse">
            <a:avLst/>
          </a:prstGeom>
          <a:solidFill>
            <a:srgbClr val="C9CED6"/>
          </a:solidFill>
          <a:ln w="12700">
            <a:solidFill>
              <a:srgbClr val="C9CED6"/>
            </a:solidFill>
            <a:prstDash val="solid"/>
          </a:ln>
        </p:spPr>
      </p:sp>
      <p:sp>
        <p:nvSpPr>
          <p:cNvPr id="41" name="Text 39"/>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2" name="Text 40"/>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speaker's conclusion</a:t>
            </a:r>
            <a:endParaRPr lang="en-US" sz="1250" dirty="0"/>
          </a:p>
        </p:txBody>
      </p:sp>
      <p:sp>
        <p:nvSpPr>
          <p:cNvPr id="43" name="Shape 41"/>
          <p:cNvSpPr/>
          <p:nvPr/>
        </p:nvSpPr>
        <p:spPr>
          <a:xfrm>
            <a:off x="4459224" y="3233928"/>
            <a:ext cx="256032" cy="256032"/>
          </a:xfrm>
          <a:prstGeom prst="ellipse">
            <a:avLst/>
          </a:prstGeom>
          <a:solidFill>
            <a:srgbClr val="C9CED6"/>
          </a:solidFill>
          <a:ln w="12700">
            <a:solidFill>
              <a:srgbClr val="C9CED6"/>
            </a:solidFill>
            <a:prstDash val="solid"/>
          </a:ln>
        </p:spPr>
      </p:sp>
      <p:sp>
        <p:nvSpPr>
          <p:cNvPr id="44" name="Text 42"/>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5" name="Text 43"/>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statistic</a:t>
            </a:r>
            <a:endParaRPr lang="en-US" sz="1250" dirty="0"/>
          </a:p>
        </p:txBody>
      </p:sp>
      <p:sp>
        <p:nvSpPr>
          <p:cNvPr id="46" name="Text 44"/>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صَحِيحٌ أَنَّ</a:t>
            </a:r>
            <a:pPr algn="l" indent="0" marL="0">
              <a:buNone/>
            </a:pPr>
            <a:r>
              <a:rPr lang="en-US" sz="1050" i="1" dirty="0">
                <a:solidFill>
                  <a:srgbClr val="8A6D1E"/>
                </a:solidFill>
                <a:latin typeface="Calibri" pitchFamily="34" charset="0"/>
                <a:cs typeface="Amiri" pitchFamily="2" charset="-78"/>
              </a:rPr>
              <a:t> marks a concession.</a:t>
            </a:r>
            <a:endParaRPr lang="en-US" sz="1050" dirty="0"/>
          </a:p>
        </p:txBody>
      </p:sp>
      <p:sp>
        <p:nvSpPr>
          <p:cNvPr id="47" name="Shape 45"/>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6"/>
          <p:cNvSpPr/>
          <p:nvPr/>
        </p:nvSpPr>
        <p:spPr>
          <a:xfrm>
            <a:off x="8223504" y="1947672"/>
            <a:ext cx="310896" cy="310896"/>
          </a:xfrm>
          <a:prstGeom prst="ellipse">
            <a:avLst/>
          </a:prstGeom>
          <a:solidFill>
            <a:srgbClr val="1B3B6F"/>
          </a:solidFill>
          <a:ln w="12700">
            <a:solidFill>
              <a:srgbClr val="1B3B6F"/>
            </a:solidFill>
            <a:prstDash val="solid"/>
          </a:ln>
        </p:spPr>
      </p:sp>
      <p:sp>
        <p:nvSpPr>
          <p:cNvPr id="49" name="Text 47"/>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8"/>
          <p:cNvSpPr txBox="1"/>
          <p:nvPr/>
        </p:nvSpPr>
        <p:spPr>
          <a:xfrm>
            <a:off x="8589264"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Signal:</a:t>
            </a:r>
            <a:endParaRPr lang="en-US" sz="1200" dirty="0"/>
          </a:p>
        </p:txBody>
      </p:sp>
      <p:sp>
        <p:nvSpPr>
          <p:cNvPr id="51" name="Text 49"/>
          <p:cNvSpPr txBox="1"/>
          <p:nvPr/>
        </p:nvSpPr>
        <p:spPr>
          <a:xfrm>
            <a:off x="10044989" y="1883664"/>
            <a:ext cx="1577035" cy="475488"/>
          </a:xfrm>
          <a:prstGeom prst="rect">
            <a:avLst/>
          </a:prstGeom>
          <a:noFill/>
          <a:ln/>
        </p:spPr>
        <p:txBody>
          <a:bodyPr wrap="square" lIns="0" tIns="0" rIns="0" bIns="0" rtlCol="0" anchor="ctr"/>
          <a:lstStyle/>
          <a:p>
            <a:pPr algn="l" indent="0" marL="0">
              <a:buNone/>
            </a:pPr>
            <a:r>
              <a:rPr lang="ar-SA" altLang="en-US" sz="1900" b="1" dirty="0">
                <a:solidFill>
                  <a:srgbClr val="1F2A37"/>
                </a:solidFill>
                <a:latin typeface="Amiri" pitchFamily="2" charset="-78"/>
                <a:cs typeface="Amiri" pitchFamily="2" charset="-78"/>
              </a:rPr>
              <a:t>غَيْرَ أَنَّ</a:t>
            </a:r>
            <a:pPr algn="l" indent="0" marL="0">
              <a:buNone/>
            </a:pPr>
            <a:r>
              <a:rPr lang="en-US" sz="1450" b="1" dirty="0">
                <a:solidFill>
                  <a:srgbClr val="1F2A37"/>
                </a:solidFill>
                <a:latin typeface="Calibri" pitchFamily="34" charset="0"/>
                <a:cs typeface="Amiri" pitchFamily="2" charset="-78"/>
              </a:rPr>
              <a:t> marks …</a:t>
            </a:r>
            <a:endParaRPr lang="en-US" sz="1450" dirty="0"/>
          </a:p>
        </p:txBody>
      </p:sp>
      <p:sp>
        <p:nvSpPr>
          <p:cNvPr id="52" name="Shape 50"/>
          <p:cNvSpPr/>
          <p:nvPr/>
        </p:nvSpPr>
        <p:spPr>
          <a:xfrm>
            <a:off x="8278368" y="2490216"/>
            <a:ext cx="256032" cy="256032"/>
          </a:xfrm>
          <a:prstGeom prst="ellipse">
            <a:avLst/>
          </a:prstGeom>
          <a:solidFill>
            <a:srgbClr val="C9CED6"/>
          </a:solidFill>
          <a:ln w="12700">
            <a:solidFill>
              <a:srgbClr val="C9CED6"/>
            </a:solidFill>
            <a:prstDash val="solid"/>
          </a:ln>
        </p:spPr>
      </p:sp>
      <p:sp>
        <p:nvSpPr>
          <p:cNvPr id="53" name="Text 51"/>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4" name="Text 52"/>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concession</a:t>
            </a:r>
            <a:endParaRPr lang="en-US" sz="1250" dirty="0"/>
          </a:p>
        </p:txBody>
      </p:sp>
      <p:sp>
        <p:nvSpPr>
          <p:cNvPr id="55" name="Shape 53"/>
          <p:cNvSpPr/>
          <p:nvPr/>
        </p:nvSpPr>
        <p:spPr>
          <a:xfrm>
            <a:off x="8278368" y="2862072"/>
            <a:ext cx="256032" cy="256032"/>
          </a:xfrm>
          <a:prstGeom prst="ellipse">
            <a:avLst/>
          </a:prstGeom>
          <a:solidFill>
            <a:srgbClr val="C9CED6"/>
          </a:solidFill>
          <a:ln w="12700">
            <a:solidFill>
              <a:srgbClr val="C9CED6"/>
            </a:solidFill>
            <a:prstDash val="solid"/>
          </a:ln>
        </p:spPr>
      </p:sp>
      <p:sp>
        <p:nvSpPr>
          <p:cNvPr id="56" name="Text 54"/>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7" name="Text 55"/>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thesis</a:t>
            </a:r>
            <a:endParaRPr lang="en-US" sz="1250" dirty="0"/>
          </a:p>
        </p:txBody>
      </p:sp>
      <p:sp>
        <p:nvSpPr>
          <p:cNvPr id="58" name="Shape 56"/>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9" name="Shape 57"/>
          <p:cNvSpPr/>
          <p:nvPr/>
        </p:nvSpPr>
        <p:spPr>
          <a:xfrm>
            <a:off x="8278368" y="3233928"/>
            <a:ext cx="256032" cy="256032"/>
          </a:xfrm>
          <a:prstGeom prst="ellipse">
            <a:avLst/>
          </a:prstGeom>
          <a:solidFill>
            <a:srgbClr val="2E8B57"/>
          </a:solidFill>
          <a:ln w="12700">
            <a:solidFill>
              <a:srgbClr val="2E8B57"/>
            </a:solidFill>
            <a:prstDash val="solid"/>
          </a:ln>
        </p:spPr>
      </p:sp>
      <p:sp>
        <p:nvSpPr>
          <p:cNvPr id="60" name="Text 58"/>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61" name="Text 59"/>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refutation</a:t>
            </a:r>
            <a:endParaRPr lang="en-US" sz="1250" dirty="0"/>
          </a:p>
        </p:txBody>
      </p:sp>
      <p:sp>
        <p:nvSpPr>
          <p:cNvPr id="62" name="Text 60"/>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غَيْرَ أَنَّ</a:t>
            </a:r>
            <a:pPr algn="l" indent="0" marL="0">
              <a:buNone/>
            </a:pPr>
            <a:r>
              <a:rPr lang="en-US" sz="1050" i="1" dirty="0">
                <a:solidFill>
                  <a:srgbClr val="8A6D1E"/>
                </a:solidFill>
                <a:latin typeface="Calibri" pitchFamily="34" charset="0"/>
                <a:cs typeface="Amiri" pitchFamily="2" charset="-78"/>
              </a:rPr>
              <a:t> marks the refutation.</a:t>
            </a:r>
            <a:endParaRPr lang="en-US" sz="1050" dirty="0"/>
          </a:p>
        </p:txBody>
      </p:sp>
      <p:sp>
        <p:nvSpPr>
          <p:cNvPr id="63" name="Shape 6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2"/>
          <p:cNvSpPr/>
          <p:nvPr/>
        </p:nvSpPr>
        <p:spPr>
          <a:xfrm>
            <a:off x="585216" y="4288536"/>
            <a:ext cx="310896" cy="310896"/>
          </a:xfrm>
          <a:prstGeom prst="ellipse">
            <a:avLst/>
          </a:prstGeom>
          <a:solidFill>
            <a:srgbClr val="1B3B6F"/>
          </a:solidFill>
          <a:ln w="12700">
            <a:solidFill>
              <a:srgbClr val="1B3B6F"/>
            </a:solidFill>
            <a:prstDash val="solid"/>
          </a:ln>
        </p:spPr>
      </p:sp>
      <p:sp>
        <p:nvSpPr>
          <p:cNvPr id="65" name="Text 6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6" name="Text 6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Attribution: the point after </a:t>
            </a:r>
            <a:pPr algn="l" indent="0" marL="0">
              <a:buNone/>
            </a:pPr>
            <a:r>
              <a:rPr lang="ar-SA" altLang="en-US" sz="1650" b="1" dirty="0">
                <a:solidFill>
                  <a:srgbClr val="1B3B6F"/>
                </a:solidFill>
                <a:latin typeface="Amiri" pitchFamily="2" charset="-78"/>
                <a:cs typeface="Amiri" pitchFamily="2" charset="-78"/>
              </a:rPr>
              <a:t>صَحِيحٌ أَنَّ</a:t>
            </a:r>
            <a:pPr algn="l" indent="0" marL="0">
              <a:buNone/>
            </a:pPr>
            <a:r>
              <a:rPr lang="en-US" sz="1250" b="1" dirty="0">
                <a:solidFill>
                  <a:srgbClr val="1B3B6F"/>
                </a:solidFill>
                <a:latin typeface="Calibri" pitchFamily="34" charset="0"/>
                <a:cs typeface="Amiri" pitchFamily="2" charset="-78"/>
              </a:rPr>
              <a:t> belongs to …</a:t>
            </a:r>
            <a:endParaRPr lang="en-US" sz="1250" dirty="0"/>
          </a:p>
        </p:txBody>
      </p:sp>
      <p:sp>
        <p:nvSpPr>
          <p:cNvPr id="67" name="Shape 65"/>
          <p:cNvSpPr/>
          <p:nvPr/>
        </p:nvSpPr>
        <p:spPr>
          <a:xfrm>
            <a:off x="640080" y="4831080"/>
            <a:ext cx="256032" cy="256032"/>
          </a:xfrm>
          <a:prstGeom prst="ellipse">
            <a:avLst/>
          </a:prstGeom>
          <a:solidFill>
            <a:srgbClr val="C9CED6"/>
          </a:solidFill>
          <a:ln w="12700">
            <a:solidFill>
              <a:srgbClr val="C9CED6"/>
            </a:solidFill>
            <a:prstDash val="solid"/>
          </a:ln>
        </p:spPr>
      </p:sp>
      <p:sp>
        <p:nvSpPr>
          <p:cNvPr id="68" name="Text 66"/>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9" name="Text 67"/>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speaker's conclusion</a:t>
            </a:r>
            <a:endParaRPr lang="en-US" sz="1250" dirty="0"/>
          </a:p>
        </p:txBody>
      </p:sp>
      <p:sp>
        <p:nvSpPr>
          <p:cNvPr id="70" name="Shape 68"/>
          <p:cNvSpPr/>
          <p:nvPr/>
        </p:nvSpPr>
        <p:spPr>
          <a:xfrm>
            <a:off x="640080" y="5202936"/>
            <a:ext cx="256032" cy="256032"/>
          </a:xfrm>
          <a:prstGeom prst="ellipse">
            <a:avLst/>
          </a:prstGeom>
          <a:solidFill>
            <a:srgbClr val="C9CED6"/>
          </a:solidFill>
          <a:ln w="12700">
            <a:solidFill>
              <a:srgbClr val="C9CED6"/>
            </a:solidFill>
            <a:prstDash val="solid"/>
          </a:ln>
        </p:spPr>
      </p:sp>
      <p:sp>
        <p:nvSpPr>
          <p:cNvPr id="71" name="Text 69"/>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2" name="Text 70"/>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no one</a:t>
            </a:r>
            <a:endParaRPr lang="en-US" sz="1250" dirty="0"/>
          </a:p>
        </p:txBody>
      </p:sp>
      <p:sp>
        <p:nvSpPr>
          <p:cNvPr id="73" name="Shape 71"/>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4" name="Shape 72"/>
          <p:cNvSpPr/>
          <p:nvPr/>
        </p:nvSpPr>
        <p:spPr>
          <a:xfrm>
            <a:off x="640080" y="5574792"/>
            <a:ext cx="256032" cy="256032"/>
          </a:xfrm>
          <a:prstGeom prst="ellipse">
            <a:avLst/>
          </a:prstGeom>
          <a:solidFill>
            <a:srgbClr val="2E8B57"/>
          </a:solidFill>
          <a:ln w="12700">
            <a:solidFill>
              <a:srgbClr val="2E8B57"/>
            </a:solidFill>
            <a:prstDash val="solid"/>
          </a:ln>
        </p:spPr>
      </p:sp>
      <p:sp>
        <p:nvSpPr>
          <p:cNvPr id="75" name="Text 73"/>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6" name="Text 74"/>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other side</a:t>
            </a:r>
            <a:endParaRPr lang="en-US" sz="1250" dirty="0"/>
          </a:p>
        </p:txBody>
      </p:sp>
      <p:sp>
        <p:nvSpPr>
          <p:cNvPr id="77" name="Text 75"/>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conceded point belongs to the other side.</a:t>
            </a:r>
            <a:endParaRPr lang="en-US" sz="1050" dirty="0"/>
          </a:p>
        </p:txBody>
      </p:sp>
      <p:sp>
        <p:nvSpPr>
          <p:cNvPr id="78" name="Shape 7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9" name="Shape 77"/>
          <p:cNvSpPr/>
          <p:nvPr/>
        </p:nvSpPr>
        <p:spPr>
          <a:xfrm>
            <a:off x="4404360" y="4288536"/>
            <a:ext cx="310896" cy="310896"/>
          </a:xfrm>
          <a:prstGeom prst="ellipse">
            <a:avLst/>
          </a:prstGeom>
          <a:solidFill>
            <a:srgbClr val="1B3B6F"/>
          </a:solidFill>
          <a:ln w="12700">
            <a:solidFill>
              <a:srgbClr val="1B3B6F"/>
            </a:solidFill>
            <a:prstDash val="solid"/>
          </a:ln>
        </p:spPr>
      </p:sp>
      <p:sp>
        <p:nvSpPr>
          <p:cNvPr id="80" name="Text 7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81" name="Text 79"/>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Trigger: which marks a subjunctive conclusion?</a:t>
            </a:r>
            <a:endParaRPr lang="en-US" sz="1250" dirty="0"/>
          </a:p>
        </p:txBody>
      </p:sp>
      <p:sp>
        <p:nvSpPr>
          <p:cNvPr id="82" name="Shape 80"/>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3" name="Shape 81"/>
          <p:cNvSpPr/>
          <p:nvPr/>
        </p:nvSpPr>
        <p:spPr>
          <a:xfrm>
            <a:off x="4459224" y="4831080"/>
            <a:ext cx="256032" cy="256032"/>
          </a:xfrm>
          <a:prstGeom prst="ellipse">
            <a:avLst/>
          </a:prstGeom>
          <a:solidFill>
            <a:srgbClr val="2E8B57"/>
          </a:solidFill>
          <a:ln w="12700">
            <a:solidFill>
              <a:srgbClr val="2E8B57"/>
            </a:solidFill>
            <a:prstDash val="solid"/>
          </a:ln>
        </p:spPr>
      </p:sp>
      <p:sp>
        <p:nvSpPr>
          <p:cNvPr id="84" name="Text 82"/>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5" name="Text 83"/>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يَتَطَلَّبُ أَنْ</a:t>
            </a:r>
            <a:endParaRPr lang="ar-SA" sz="1700" dirty="0"/>
          </a:p>
        </p:txBody>
      </p:sp>
      <p:sp>
        <p:nvSpPr>
          <p:cNvPr id="86" name="Shape 84"/>
          <p:cNvSpPr/>
          <p:nvPr/>
        </p:nvSpPr>
        <p:spPr>
          <a:xfrm>
            <a:off x="4459224" y="5202936"/>
            <a:ext cx="256032" cy="256032"/>
          </a:xfrm>
          <a:prstGeom prst="ellipse">
            <a:avLst/>
          </a:prstGeom>
          <a:solidFill>
            <a:srgbClr val="C9CED6"/>
          </a:solidFill>
          <a:ln w="12700">
            <a:solidFill>
              <a:srgbClr val="C9CED6"/>
            </a:solidFill>
            <a:prstDash val="solid"/>
          </a:ln>
        </p:spPr>
      </p:sp>
      <p:sp>
        <p:nvSpPr>
          <p:cNvPr id="87" name="Text 85"/>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8" name="Text 86"/>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صَحِيحٌ أَنَّ</a:t>
            </a:r>
            <a:endParaRPr lang="ar-SA" sz="1700" dirty="0"/>
          </a:p>
        </p:txBody>
      </p:sp>
      <p:sp>
        <p:nvSpPr>
          <p:cNvPr id="89" name="Shape 87"/>
          <p:cNvSpPr/>
          <p:nvPr/>
        </p:nvSpPr>
        <p:spPr>
          <a:xfrm>
            <a:off x="4459224" y="5574792"/>
            <a:ext cx="256032" cy="256032"/>
          </a:xfrm>
          <a:prstGeom prst="ellipse">
            <a:avLst/>
          </a:prstGeom>
          <a:solidFill>
            <a:srgbClr val="C9CED6"/>
          </a:solidFill>
          <a:ln w="12700">
            <a:solidFill>
              <a:srgbClr val="C9CED6"/>
            </a:solidFill>
            <a:prstDash val="solid"/>
          </a:ln>
        </p:spPr>
      </p:sp>
      <p:sp>
        <p:nvSpPr>
          <p:cNvPr id="90" name="Text 88"/>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1" name="Text 89"/>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إِذَا</a:t>
            </a:r>
            <a:endParaRPr lang="ar-SA" sz="1700" dirty="0"/>
          </a:p>
        </p:txBody>
      </p:sp>
      <p:sp>
        <p:nvSpPr>
          <p:cNvPr id="92" name="Text 90"/>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يَتَطَلَّبُ أَنْ</a:t>
            </a:r>
            <a:pPr algn="l" indent="0" marL="0">
              <a:buNone/>
            </a:pPr>
            <a:r>
              <a:rPr lang="en-US" sz="1050" i="1" dirty="0">
                <a:solidFill>
                  <a:srgbClr val="8A6D1E"/>
                </a:solidFill>
                <a:latin typeface="Calibri" pitchFamily="34" charset="0"/>
                <a:cs typeface="Amiri" pitchFamily="2" charset="-78"/>
              </a:rPr>
              <a:t> marks a subjunctive conclusion.</a:t>
            </a:r>
            <a:endParaRPr lang="en-US" sz="1050" dirty="0"/>
          </a:p>
        </p:txBody>
      </p:sp>
      <p:sp>
        <p:nvSpPr>
          <p:cNvPr id="93" name="Shape 91"/>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4" name="Shape 92"/>
          <p:cNvSpPr/>
          <p:nvPr/>
        </p:nvSpPr>
        <p:spPr>
          <a:xfrm>
            <a:off x="8223504" y="4288536"/>
            <a:ext cx="310896" cy="310896"/>
          </a:xfrm>
          <a:prstGeom prst="ellipse">
            <a:avLst/>
          </a:prstGeom>
          <a:solidFill>
            <a:srgbClr val="1B3B6F"/>
          </a:solidFill>
          <a:ln w="12700">
            <a:solidFill>
              <a:srgbClr val="1B3B6F"/>
            </a:solidFill>
            <a:prstDash val="solid"/>
          </a:ln>
        </p:spPr>
      </p:sp>
      <p:sp>
        <p:nvSpPr>
          <p:cNvPr id="95" name="Text 93"/>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6" name="Text 94"/>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Subjunctive: complete — </a:t>
            </a:r>
            <a:pPr algn="l" indent="0" marL="0">
              <a:buNone/>
            </a:pPr>
            <a:r>
              <a:rPr lang="ar-SA" altLang="en-US" sz="1650" b="1" dirty="0">
                <a:solidFill>
                  <a:srgbClr val="1B3B6F"/>
                </a:solidFill>
                <a:latin typeface="Amiri" pitchFamily="2" charset="-78"/>
                <a:cs typeface="Amiri" pitchFamily="2" charset="-78"/>
              </a:rPr>
              <a:t>يَتَطَلَّبُ الوَضْعُ أَنْ</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الحُكُومَاتُ فَوْرًا</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97" name="Shape 95"/>
          <p:cNvSpPr/>
          <p:nvPr/>
        </p:nvSpPr>
        <p:spPr>
          <a:xfrm>
            <a:off x="8278368" y="4831080"/>
            <a:ext cx="256032" cy="256032"/>
          </a:xfrm>
          <a:prstGeom prst="ellipse">
            <a:avLst/>
          </a:prstGeom>
          <a:solidFill>
            <a:srgbClr val="C9CED6"/>
          </a:solidFill>
          <a:ln w="12700">
            <a:solidFill>
              <a:srgbClr val="C9CED6"/>
            </a:solidFill>
            <a:prstDash val="solid"/>
          </a:ln>
        </p:spPr>
      </p:sp>
      <p:sp>
        <p:nvSpPr>
          <p:cNvPr id="98" name="Text 96"/>
          <p:cNvSpPr txBox="1"/>
          <p:nvPr/>
        </p:nvSpPr>
        <p:spPr>
          <a:xfrm>
            <a:off x="8278368"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99" name="Text 97"/>
          <p:cNvSpPr txBox="1"/>
          <p:nvPr/>
        </p:nvSpPr>
        <p:spPr>
          <a:xfrm>
            <a:off x="8607552"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تَتَحَرَّكُ</a:t>
            </a:r>
            <a:endParaRPr lang="ar-SA" sz="1700" dirty="0"/>
          </a:p>
        </p:txBody>
      </p:sp>
      <p:sp>
        <p:nvSpPr>
          <p:cNvPr id="100" name="Shape 98"/>
          <p:cNvSpPr/>
          <p:nvPr/>
        </p:nvSpPr>
        <p:spPr>
          <a:xfrm>
            <a:off x="8186928" y="5166360"/>
            <a:ext cx="3453384" cy="347472"/>
          </a:xfrm>
          <a:prstGeom prst="roundRect">
            <a:avLst>
              <a:gd name="adj" fmla="val 15789"/>
            </a:avLst>
          </a:prstGeom>
          <a:solidFill>
            <a:srgbClr val="E6F4EC"/>
          </a:solidFill>
          <a:ln w="9525">
            <a:solidFill>
              <a:srgbClr val="2E8B57"/>
            </a:solidFill>
            <a:prstDash val="solid"/>
          </a:ln>
        </p:spPr>
      </p:sp>
      <p:sp>
        <p:nvSpPr>
          <p:cNvPr id="101" name="Shape 99"/>
          <p:cNvSpPr/>
          <p:nvPr/>
        </p:nvSpPr>
        <p:spPr>
          <a:xfrm>
            <a:off x="8278368" y="5202936"/>
            <a:ext cx="256032" cy="256032"/>
          </a:xfrm>
          <a:prstGeom prst="ellipse">
            <a:avLst/>
          </a:prstGeom>
          <a:solidFill>
            <a:srgbClr val="2E8B57"/>
          </a:solidFill>
          <a:ln w="12700">
            <a:solidFill>
              <a:srgbClr val="2E8B57"/>
            </a:solidFill>
            <a:prstDash val="solid"/>
          </a:ln>
        </p:spPr>
      </p:sp>
      <p:sp>
        <p:nvSpPr>
          <p:cNvPr id="102" name="Text 100"/>
          <p:cNvSpPr txBox="1"/>
          <p:nvPr/>
        </p:nvSpPr>
        <p:spPr>
          <a:xfrm>
            <a:off x="8278368"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103" name="Text 101"/>
          <p:cNvSpPr txBox="1"/>
          <p:nvPr/>
        </p:nvSpPr>
        <p:spPr>
          <a:xfrm>
            <a:off x="8607552" y="514502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تَتَحَرَّكَ</a:t>
            </a:r>
            <a:endParaRPr lang="ar-SA" sz="1700" dirty="0"/>
          </a:p>
        </p:txBody>
      </p:sp>
      <p:sp>
        <p:nvSpPr>
          <p:cNvPr id="104" name="Shape 102"/>
          <p:cNvSpPr/>
          <p:nvPr/>
        </p:nvSpPr>
        <p:spPr>
          <a:xfrm>
            <a:off x="8278368" y="5574792"/>
            <a:ext cx="256032" cy="256032"/>
          </a:xfrm>
          <a:prstGeom prst="ellipse">
            <a:avLst/>
          </a:prstGeom>
          <a:solidFill>
            <a:srgbClr val="C9CED6"/>
          </a:solidFill>
          <a:ln w="12700">
            <a:solidFill>
              <a:srgbClr val="C9CED6"/>
            </a:solidFill>
            <a:prstDash val="solid"/>
          </a:ln>
        </p:spPr>
      </p:sp>
      <p:sp>
        <p:nvSpPr>
          <p:cNvPr id="105" name="Text 103"/>
          <p:cNvSpPr txBox="1"/>
          <p:nvPr/>
        </p:nvSpPr>
        <p:spPr>
          <a:xfrm>
            <a:off x="8278368"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106" name="Text 104"/>
          <p:cNvSpPr txBox="1"/>
          <p:nvPr/>
        </p:nvSpPr>
        <p:spPr>
          <a:xfrm>
            <a:off x="8607552"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تَتَحَرَّكْ</a:t>
            </a:r>
            <a:endParaRPr lang="ar-SA" sz="1700" dirty="0"/>
          </a:p>
        </p:txBody>
      </p:sp>
      <p:sp>
        <p:nvSpPr>
          <p:cNvPr id="107" name="Text 105"/>
          <p:cNvSpPr txBox="1"/>
          <p:nvPr/>
        </p:nvSpPr>
        <p:spPr>
          <a:xfrm>
            <a:off x="8223504"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After </a:t>
            </a:r>
            <a:pPr algn="l" indent="0" marL="0">
              <a:buNone/>
            </a:pPr>
            <a:r>
              <a:rPr lang="ar-SA" altLang="en-US" sz="1350" dirty="0">
                <a:solidFill>
                  <a:srgbClr val="8A6D1E"/>
                </a:solidFill>
                <a:latin typeface="Amiri" pitchFamily="2" charset="-78"/>
                <a:cs typeface="Amiri" pitchFamily="2" charset="-78"/>
              </a:rPr>
              <a:t>أَنْ</a:t>
            </a:r>
            <a:pPr algn="l" indent="0" marL="0">
              <a:buNone/>
            </a:pPr>
            <a:r>
              <a:rPr lang="en-US" sz="1050" i="1" dirty="0">
                <a:solidFill>
                  <a:srgbClr val="8A6D1E"/>
                </a:solidFill>
                <a:latin typeface="Calibri" pitchFamily="34" charset="0"/>
                <a:cs typeface="Amiri" pitchFamily="2" charset="-78"/>
              </a:rPr>
              <a:t> the verb is subjunctive: </a:t>
            </a:r>
            <a:pPr algn="l" indent="0" marL="0">
              <a:buNone/>
            </a:pPr>
            <a:r>
              <a:rPr lang="ar-SA" altLang="en-US" sz="1350" dirty="0">
                <a:solidFill>
                  <a:srgbClr val="8A6D1E"/>
                </a:solidFill>
                <a:latin typeface="Amiri" pitchFamily="2" charset="-78"/>
                <a:cs typeface="Amiri" pitchFamily="2" charset="-78"/>
              </a:rPr>
              <a:t>تَتَحَرَّكَ</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108" name="Text 10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48 / 50</a:t>
            </a:r>
            <a:endParaRPr lang="en-US" sz="85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P5-L10 · Listening Skills</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Before P5-L11: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P5-L10</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P5-L11 · Consolidation — Speaking Preparation and P5 Complete Review</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الطَّلَاقَةُ</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fluency</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التِّلْقَائِيَّةُ</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spontaneity</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الأَدَاءُ تَحْتَ الضَّغْطِ</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performance under pressure</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التَّشْكِيلُ الدَّقِيقُ</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precise vowelling</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الثِّقَةُ</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confidence</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Which P5 structure is hardest for you to SAY without notes — and why?</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lnSpc>
                <a:spcPct val="120000"/>
              </a:lnSpc>
              <a:buNone/>
            </a:pPr>
            <a:r>
              <a:rPr lang="ar-SA" altLang="en-US" sz="1700" b="1" dirty="0">
                <a:solidFill>
                  <a:srgbClr val="1B3B6F"/>
                </a:solidFill>
                <a:latin typeface="Amiri" pitchFamily="2" charset="-78"/>
                <a:cs typeface="Amiri" pitchFamily="2" charset="-78"/>
              </a:rPr>
              <a:t>أَصْعَبُ تَرْكِيبٍ عَلَيَّ هُوَ ______ ، لِأَنَّ ______ .</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Listen to a short Arabic opinion clip and note the thesis and one concession.</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Note whose view each point is (the speaker or the other side).</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writing task: an 80–90-word listening strategy.</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49 / 50</a:t>
            </a:r>
            <a:endParaRPr lang="en-US" sz="85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P5-L10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650" b="1" dirty="0">
                <a:solidFill>
                  <a:srgbClr val="FFFFFF"/>
                </a:solidFill>
                <a:latin typeface="Cambria" pitchFamily="34" charset="0"/>
                <a:cs typeface="Amiri" pitchFamily="2" charset="-78"/>
              </a:rPr>
              <a:t>P5-L11 · Consolidation — Speaking Preparation and P5 Complete Review</a:t>
            </a:r>
            <a:endParaRPr lang="en-US" sz="16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cs typeface="Amiri" pitchFamily="2" charset="-78"/>
              </a:rPr>
              <a:t>تَرْسِيخُ الوَحْدَةِ — إِعْدَادُ التَّحَدُّثِ</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follow the shape, not every word — thesis first; ṣaḥīḥun anna = the OTHER side; ghayra anna = the speaker; wait for sa- / la-; yataṭallabu an = the demand; wa-bināʾan ʿalā mā sabaqa = the end.</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50</Slides>
  <Notes>50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50</vt:i4>
      </vt:variant>
    </vt:vector>
  </HeadingPairs>
  <TitlesOfParts>
    <vt:vector size="5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P5-L10 · Listening — Social Issues and Opinions Texts</dc:title>
  <dc:subject>PptxGenJS Presentation</dc:subject>
  <dc:creator>Al Madina Online School · Arabic Department</dc:creator>
  <cp:lastModifiedBy>Al Madina Online School · Arabic Department</cp:lastModifiedBy>
  <cp:revision>1</cp:revision>
  <dcterms:created xsi:type="dcterms:W3CDTF">2026-10-11T06:43:31Z</dcterms:created>
  <dcterms:modified xsi:type="dcterms:W3CDTF">2026-10-11T06:43:31Z</dcterms:modified>
</cp:coreProperties>
</file>