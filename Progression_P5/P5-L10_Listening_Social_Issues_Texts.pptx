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P5-L10. The website lesson “Listening — Social Issues and Opinions Texts”: vocabulary, grammar rules and quiz, patterns, common mistakes, sorter, listening, reading, speaking prompts and model, writing task and model, differentiation, final check and the lesson mission. Picture match: website visual game “Listening — Social Issues and Opinions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(IGCSE Paper 1 style): the website listening is played as two short listens, each twice. The grammar slides are a listening toolkit built on the essay architecture of P5-L07 to L09.
• Core: annotate five questions with the argument element you will listen for — thesis, concession, refutation or trigger (website Core). Develop: add whether each point belongs to the other side or to the speaker. Stretch: explain how the structure let you predict the refutation before hearing it.
• The key Paper 1 trap (website teaching point 2): the point after ṣaḥīḥun anna is NOT the speaker’s view — it is conceded to the other side. The speaker’s real position comes after ghayra anna. The P5 listening target on the website is 14+ out of 20.
• Grammar links: concession–refutation (P5-L01, L07, L08) · result markers by ear (P3-L10, P4-L10) · passive past (P5-L02, L05).
• TEACHER-WRITTEN ITEMS: the website listening is split into two short listens with one teacher-added question (the Type 1 forecast); waṣl alif shown without a kasra; لِكَيْ always written with its sukūn; يَصِرُّ → يُصِرُّ (vocabulary); rule formulas, vocabulary notes, pattern tips, writing prompt and checklist in transliteration; sorter headings in transliteration; the signal, attribution, marker and strategy tables are teacher-built from the website listening and reading; no visual game.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P5-L09. Questions 4–5 retrieve the thesis and the Type 2 (P5-L09) — today students hear the essay architecture they have just written.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 argument always has the same shape — so when you hear “ṣaḥīḥun anna”, you already know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اشارہ, موقف, توازن and اصلاح are shared — the whole lesson is about hearing the اشارہ (signal) that shows the speaker’s موقف (position). Remember: Urdu سماعت is a court hearing; Arabic السَّمَاعُ / الاسْتِمَاعُ =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for argument structure (website vocabulary (1 of 2)). Hear → Say → See → Use. Transliteration is printed for Core students (cover it for Develop/Stretch).
Listening for structure: الأُطْرُوحَةُ (thesis) comes in the introduction; إِشَارَةُ التَّسْلِيمِ (the concession signal) = صَحِيحٌ أَنَّ; إِشَارَةُ الرَّدِّ (the refutation signal) = غَيْرَ أَنَّ. A speaker who concedes and then refutes is مُتَوَازِنٌ; one who never concedes is مُنْحَازٌ.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for argument structure (website vocabulary (2 of 2)). Hear → Say → See → Use. Transliteration is printed for Core students (cover it for Develop/Stretch).
Listening for structure: الأُطْرُوحَةُ (thesis) comes in the introduction; إِشَارَةُ التَّسْلِيمِ (the concession signal) = صَحِيحٌ أَنَّ; إِشَارَةُ الرَّدِّ (the refutation signal) = غَيْرَ أَنَّ. A speaker who concedes and then refutes is مُتَوَازِنٌ; one who never concedes is مُنْحَازٌ.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Social issues content heard (website vocabulary (1 of 2)). Hear → Say → See → Use. Transliteration is printed for Core students (cover it for Develop/Stretch).
Content you will hear — the social-issue words of P5. الحَاجَةُ المُلِحَّةُ = the pressing need; لَا تَتَحَمَّلُ الانْتِظَارَ = cannot bear waiting. These words usually arrive right AFTER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Social issues content heard (website vocabulary (2 of 2)). Hear → Say → See → Use. Transliteration is printed for Core students (cover it for Develop/Stretch).
FLEX: teach if time allows; otherwise these are on the website vocabulary tab for homework.
Content you will hear — the social-issue words of P5. الحَاجَةُ المُلِحَّةُ = the pressing need; لَا تَتَحَمَّلُ الانْتِظَارَ = cannot bear waiting. These words usually arrive right AFTER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(1 of 2)). Hear → Say → See → Use. Transliteration is printed for Core students (cover it for Develop/Stretch).
FLEX: teach if time allows; otherwise these are on the website vocabulary tab for homework.
Grammar markers by ear: a checklist for the two listens — ṣaḥīḥun anna · ghayra anna · yataṭallabu an · law … la- · idhā … sa- · wa-bināʾan ʿalā mā sabaqa · yuṣirru ʿalā an · kāna qad.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(2 of 2)). Hear → Say → See → Use. Transliteration is printed for Core students (cover it for Develop/Stretch).
FLEX: teach if time allows; otherwise these are on the website vocabulary tab for homework.
Grammar markers by ear: a checklist for the two listens — ṣaḥīḥun anna · ghayra anna · yataṭallabu an · law … la- · idhā … sa- · wa-bināʾan ʿalā mā sabaqa · yuṣirru ʿalā an · kāna qad.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“Find the thesis”, “Concession signal” and “Refutation signal”, the website table and teaching point 1 (“Argument speech has a predictable shape”).
Pre-listening routine: write T · E · C · R · Con down the margin. As you hear each signal, tick it — you always know where you are in the talk.
Row 1: the speaker says أُطْرُوحَتِي (my thesis) — a gift! Most speakers are less explicit; then the thesis is simply the FIRST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teaching point 2 (“ṣaḥīḥun anna signals conceding, not asserting”), mistake 1 and quiz 4.
The Paper 1 trap: a question asks “What does the speaker think about reforms?” — the option “reforms need time” is TRUE in the text but is the conceded point. The correct option is what follows ghayra anna.
Card 3: prediction. As soon as students hear ṣaḥīḥun anna, they should whisper “ghayra anna is coming” — and listen for the opposite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“Trigger and conditionals”, mistake 2, quiz 5–7 and mission rounds 7, 8 and 12.
Listening rule: do NOT decide the conditional when you hear the first word — wait for the result marker (sa- / la-). Mission round 12: «لَوْ عُولِجَ … لَتَحَسَّنَ» means the early treatment did NOT happen.
Row 4: two passive pasts by ear — اسْتُثْمِرَ (ustuthmira, “was invested”) and عُولِجَ (ʿūlija, “was treated”). The u-sound at the start is the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website reading (a listening strategy guide), mistake 3 and the website writing model.
Note the imperatives in the guide (تَتَبَّعْ · اسْتَمِعْ · تَرَقَّبْ) — useful verbs for the writing task, where students turn them into the first person (أَتَتَبَّعُ · أُصْغِي · أَتَرَقَّبُ).
وَلَوْ فَاتَتْكَ كَلِمَاتٌ = even if some words escape you — here وَلَوْ means “even if”, not a Type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listening toolkit: find the thesis, hear صَحِيحٌ أَنَّ as a concession and غَيْرَ أَنَّ as a refutation, and catch subjunctive triggers and both conditional types.”
• Find the thesis: The speaker's main claim opens the text.
• Concession signal: Signals a point the speaker concedes.
• Refutation signal: The speaker's real position follows.
• Trigger and conditionals: Catch the subjunctive conclusion and the conditional type.
Website common error: Attributing the point after صَحِيحٌ أَنَّ to the speaker. It is a concession to the other side; the speaker's real position follows غَيْرَ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Model it on the question paper: write the element you expect next to each question number (Q1 → thesis · Q3 → concession · Q4 → refutation · Q5 → law … la- · Q6 → yataṭallabu). Then play Part 1 and tick the signals as you hear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(flex) — the website live builder: “Build a heard-argument report from a thesis, a concession-refutation pair and a subjunctive conclusion.” Website feedback: any three different combinations work.
Use after the two listens: students retell the academic’s talk in the third person with the reporting verbs سَلَّمَ بِـ (conceded) · رَدَّ بِـ (responded with) · خَتَمَ بِـ (closed with). Row 1 matches the listening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read each card aloud at full speed and let a partner sort it by ear only (eyes closed) — they must catch the signal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read each card aloud at full speed and let a partner sort it by ear only (eyes closed) — they must catch the signal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Develop/Stretch: all four — and say whose view each answer is (the speaker or the other side).
Listen 1: just listen. Listen 2: note answers. Then chat the letters.
Support: after the second listening, show the read-along slide (Arabic + English, line by line) for Core students.
SCRIPT (read aloud):
يَقُولُ الأَكَادِيمِيُّ: أُطْرُوحَتِي أَنَّ التَّفَاوُتَ الاجْتِمَاعِيَّ يُهَدِّدُ الاسْتِقْرَارَ. أَكَّدَتِ الدِّرَاسَاتُ أَنَّ الفَجْوَةَ بَيْنَ الأَغْنِيَاءِ وَالفُقَرَاءِ تَتَّسِعُ. صَحِيحٌ أَنَّ الإِصْلَاحَاتِ تَحْتَاجُ وَقْتًا طَوِيلًا وَمَوَارِدَ ضَخْمَةً، غَيْرَ أَنَّ الحَاجَةَ الاجْتِمَاعِيَّةَ المُلِحَّةَ لَا تَتَحَمَّلُ الانْتِظَارَ.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Develop/Stretch: all five — and for question 1, say what did NOT happen (inequality was not addressed decades ago).
Listen 1: just listen. Listen 2: note answers. Then chat the letters.
Support: after the second listening, show the read-along slide (Arabic + English, line by line) for Core students.
SCRIPT (read aloud):
إِذَا اسْتُثْمِرَ فِي التَّعْلِيمِ المُبَكِّرِ، سَتَضِيقُ الفَجْوَةُ تَدْرِيجِيًّا. وَلَوْ عُولِجَ التَّفَاوُتُ قَبْلَ عُقُودٍ، لَتَحَسَّنَ الوَضْعُ كَثِيرًا. وَيَتَطَلَّبُ الوَضْعُ أَنْ تَتَحَرَّكَ الحُكُومَاتُ فَوْرًا. وَبِنَاءً عَلَى مَا سَبَقَ، فَإِنَّ مَوْقِفِي وَاضِحٌ: العَدَالَةُ الاجْتِمَاعِيَّةُ ضَرُورَةٌ لَا رَفَاهِيَةٌ.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رَدَّ؟ (Refutation)
B: رَدَّ بِـ«غَيْرَ أَنَّ الحَاجَةَ المُلِحَّةَ لَا تَتَحَمَّلُ الانْتِظَارَ»، وَهٰذَا مَوْقِفُهُ الأَقْوَى. (غَيْرَ أَنَّ → refutation)
Website prompts and model. Pairs replay the academic’s talk from memory: A names a signal (ṣaḥīḥun anna · ghayra anna · law), B gives the sentence it introduced and says whose view it is. Swap. For a female speaker: سَلَّمَتْ · رَدَّتْ · مَوْقِفُهَا.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Annotate five questions with the element (thesis / concession / refutation / trigger) you will listen for. · Develop — Add whether each concession belongs to the other side or the speaker. · Stretch — Explain how the structure let you predict the refutation before hearing it.
Website writing task (Stretch): Write eighty to ninety words explaining your listening strategy for argumentative texts. Describe how you find the thesis, hear ṣaḥīḥun anna as a concession and ghayra anna as the refutation, and catch a subjunctive trigger and a Type 2 conditional.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أَتَتَبَّعُ بِنْيَةَ الحُجَّةِ لَا الكَلِمَاتِ المُفْرَدَةَ · أُصْغِي أَوَّلًا إِلَى الأُطْرُوحَةِ · «صَحِيحٌ أَنَّ» … تَسْلِيمٌ بِرَأْيِ الطَّرَفِ الآخَرِ · «غَيْرَ أَنَّ» … المَوْقِفُ الأَقْوَى · «يَتَطَلَّبُ أَنْ» لِلْخَاتِمَةِ · «لَوْ» مَعَ «لَـ» · أَتَنَبَّأُ بِمَا يَلِي.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(P5-L11 · Consolidation — Speaking Preparation and P5 Complete Review) will spend class time USING this language, so students prepare it tonight — short, simple, easy to access (school guidance: “Simple, Short, Interesting, Relevant, Easy to access”). The five words come from the website P5-L11 vocabulary (speaking preparation and review).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Social Issues and Opinions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الاسْتِمَاعُ — نُصُوصُ القَضَايَا الاجْتِمَاعِيَّةِ وَالآرَاءِ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Follow an argument by its shape: the thesis comes first; ṣaḥīḥun anna = a point the speaker CONCEDES to the other side; ghayra anna = the speaker’s real position; yataṭallabu an = the demand; sa- / la- decide the conditional; wa-bināʾan ʿalā mā sabaqa = the end.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P5-L10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Signal → job → whose view, the attribution trap, conditionals and triggers by ear, the strategy guide.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Two short listens, build a heard-argument report, sort thesis / concession–refutation / subjunctive–conditional.</a:t>
            </a:r>
            <a:endParaRPr lang="en-US" sz="105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إِشَارَةُ التَّسْلِيمِ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traffic signal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concession signal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answer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مَوْقِفُ المُتَحَدِّثِ</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position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seat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question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مُنْحَازٌ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one-sided, partisan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thesis, not just a topic?</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الهِجْرَةُ مَوْضُوعٌ مُهِمٌّ.</a:t>
            </a:r>
            <a:endParaRPr lang="ar-SA" sz="15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سَأَتَحَدَّثُ عَنِ الهِجْرَةِ.</a:t>
            </a:r>
            <a:endParaRPr lang="ar-SA" sz="15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الهِجْرَةُ تُثْرِي المُجْتَمَعَاتِ أَكْثَرَ مِمَّا تُضْعِفُهَا.</a:t>
            </a:r>
            <a:endParaRPr lang="ar-SA" sz="15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لَوْ فُتِحَتِ الأَبْوَابُ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لَتَجَنَّبْنَا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سَنَتَجَنَّبُ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نَتَجَنَّبُ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إِشَارَةُ التَّسْلِيمِ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traffic signal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concession signal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final answer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مَوْقِفُ المُتَحَدِّثِ</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speaker’s position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seat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question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مُنْحَازٌ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balanced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one-sided, partisan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thesis, not just a topic?</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الهِجْرَةُ مَوْضُوعٌ مُهِمٌّ.</a:t>
            </a:r>
            <a:endParaRPr lang="ar-SA" sz="15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سَأَتَحَدَّثُ عَنِ الهِجْرَةِ.</a:t>
            </a:r>
            <a:endParaRPr lang="ar-SA" sz="15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الهِجْرَةُ تُثْرِي المُجْتَمَعَاتِ أَكْثَرَ مِمَّا تُضْعِفُهَا.</a:t>
            </a:r>
            <a:endParaRPr lang="ar-SA" sz="15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P5-L09: a position to defend.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لَوْ فُتِحَتِ الأَبْوَابُ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التَّوَتُّرَ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لَتَجَنَّبْنَا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سَنَتَجَنَّبُ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نَتَجَنَّبُ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P5-L09: Type 2 →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An argument always has the same shape — so when you hear “ṣaḥīḥun anna”, you already know what comes next.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صَحِيحٌ أَنَّ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الطَّرَفُ الآخَرُ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غَيْرَ أَنَّ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رَأْيُ المُتَحَدِّثِ</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which argument element each question targets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ṣaḥīḥun anna as a concession signal and ghayra anna as the refutation.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Catch subjunctive triggers and both conditional types in fast speech.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Reach the P5 listening target of fourteen or more out of twenty.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hear the thesis in the introduction.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5 questions from the two listens.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whose view follows ṣaḥīḥun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sa- / la- and name the conditional.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predict the refutation before I hear 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judge the speaker: balanced or partisan.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for argument structure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Social issues content heard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Grammar markers by ear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إِشَارَةٌ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‎اشارہ‎ </a:t>
            </a:r>
            <a:pPr indent="0" marL="0">
              <a:buNone/>
            </a:pPr>
            <a:r>
              <a:rPr lang="en-US" sz="950" b="1" dirty="0">
                <a:solidFill>
                  <a:srgbClr val="2E8B57"/>
                </a:solidFill>
                <a:latin typeface="Calibri" pitchFamily="34" charset="0"/>
                <a:cs typeface="Amiri" pitchFamily="2" charset="-78"/>
              </a:rPr>
              <a:t> ishāra · a signal, a sign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مَوْقِفٌ</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‎موقف‎ </a:t>
            </a:r>
            <a:pPr indent="0" marL="0">
              <a:buNone/>
            </a:pPr>
            <a:r>
              <a:rPr lang="en-US" sz="950" b="1" dirty="0">
                <a:solidFill>
                  <a:srgbClr val="2E8B57"/>
                </a:solidFill>
                <a:latin typeface="Calibri" pitchFamily="34" charset="0"/>
                <a:cs typeface="Amiri" pitchFamily="2" charset="-78"/>
              </a:rPr>
              <a:t> mauqif · a position, a stance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تَوَازُنٌ · مُتَوَازِنٌ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‎توازن‎ </a:t>
            </a:r>
            <a:pPr indent="0" marL="0">
              <a:buNone/>
            </a:pPr>
            <a:r>
              <a:rPr lang="en-US" sz="950" b="1" dirty="0">
                <a:solidFill>
                  <a:srgbClr val="2E8B57"/>
                </a:solidFill>
                <a:latin typeface="Calibri" pitchFamily="34" charset="0"/>
                <a:cs typeface="Amiri" pitchFamily="2" charset="-78"/>
              </a:rPr>
              <a:t> tawāzun · balance · balanced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إِصْلَاحٌ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‎اصلاح‎ </a:t>
            </a:r>
            <a:pPr indent="0" marL="0">
              <a:buNone/>
            </a:pPr>
            <a:r>
              <a:rPr lang="en-US" sz="950" b="1" dirty="0">
                <a:solidFill>
                  <a:srgbClr val="2E8B57"/>
                </a:solidFill>
                <a:latin typeface="Calibri" pitchFamily="34" charset="0"/>
                <a:cs typeface="Amiri" pitchFamily="2" charset="-78"/>
              </a:rPr>
              <a:t> islāh · reform, correction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سَمَاعٌ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‎سماعت‎ </a:t>
            </a:r>
            <a:pPr indent="0" marL="0">
              <a:buNone/>
            </a:pPr>
            <a:r>
              <a:rPr lang="en-US" sz="950" b="1" dirty="0">
                <a:solidFill>
                  <a:srgbClr val="2E8B57"/>
                </a:solidFill>
                <a:latin typeface="Calibri" pitchFamily="34" charset="0"/>
                <a:cs typeface="Amiri" pitchFamily="2" charset="-78"/>
              </a:rPr>
              <a:t> samāat · Arabic: hearing (listening) · Urdu: a court hearing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Listening for argument structure (1 of 2)</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الاسْتِمَاعُ لِبِنْيَةِ الحُجَّةِ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listening for argument structure</a:t>
            </a:r>
            <a:endParaRPr lang="en-US" sz="1350" dirty="0"/>
          </a:p>
          <a:p>
            <a:pPr indent="0" marL="0">
              <a:buNone/>
            </a:pPr>
            <a:r>
              <a:rPr lang="en-US" sz="1100" i="1" dirty="0">
                <a:solidFill>
                  <a:srgbClr val="5A6472"/>
                </a:solidFill>
                <a:latin typeface="Calibri" pitchFamily="34" charset="0"/>
                <a:cs typeface="Amiri" pitchFamily="2" charset="-78"/>
              </a:rPr>
              <a:t>als-ti-mā-ʿu li-bin-ya-ti al-ḥuj-ja-ti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الأُطْرُوحَةُ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thesis</a:t>
            </a:r>
            <a:endParaRPr lang="en-US" sz="1350" dirty="0"/>
          </a:p>
          <a:p>
            <a:pPr indent="0" marL="0">
              <a:buNone/>
            </a:pPr>
            <a:r>
              <a:rPr lang="en-US" sz="1100" i="1" dirty="0">
                <a:solidFill>
                  <a:srgbClr val="5A6472"/>
                </a:solidFill>
                <a:latin typeface="Calibri" pitchFamily="34" charset="0"/>
                <a:cs typeface="Amiri" pitchFamily="2" charset="-78"/>
              </a:rPr>
              <a:t>al-uṭ-rū-ḥa-tu</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الأُطْرُوحَاتُ</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إِشَارَةُ التَّسْلِيمِ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concession signal</a:t>
            </a:r>
            <a:endParaRPr lang="en-US" sz="1350" dirty="0"/>
          </a:p>
          <a:p>
            <a:pPr indent="0" marL="0">
              <a:buNone/>
            </a:pPr>
            <a:r>
              <a:rPr lang="en-US" sz="1100" i="1" dirty="0">
                <a:solidFill>
                  <a:srgbClr val="5A6472"/>
                </a:solidFill>
                <a:latin typeface="Calibri" pitchFamily="34" charset="0"/>
                <a:cs typeface="Amiri" pitchFamily="2" charset="-78"/>
              </a:rPr>
              <a:t>i-shā-ra-tu at-tas-lī-mi</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إِشَارَاتُ التَّسْلِيمِ</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ghayra anna.</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إِشَارَةُ الرَّدِّ</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refutation signal</a:t>
            </a:r>
            <a:endParaRPr lang="en-US" sz="1350" dirty="0"/>
          </a:p>
          <a:p>
            <a:pPr indent="0" marL="0">
              <a:buNone/>
            </a:pPr>
            <a:r>
              <a:rPr lang="en-US" sz="1100" i="1" dirty="0">
                <a:solidFill>
                  <a:srgbClr val="5A6472"/>
                </a:solidFill>
                <a:latin typeface="Calibri" pitchFamily="34" charset="0"/>
                <a:cs typeface="Amiri" pitchFamily="2" charset="-78"/>
              </a:rPr>
              <a:t>i-shā-ra-tu ar-rad-di</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Listening for argument structure (2 of 2)</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مَوْقِفُ المُتَحَدِّثِ</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speaker's position</a:t>
            </a:r>
            <a:endParaRPr lang="en-US" sz="1350" dirty="0"/>
          </a:p>
          <a:p>
            <a:pPr indent="0" marL="0">
              <a:buNone/>
            </a:pPr>
            <a:r>
              <a:rPr lang="en-US" sz="1100" i="1" dirty="0">
                <a:solidFill>
                  <a:srgbClr val="5A6472"/>
                </a:solidFill>
                <a:latin typeface="Calibri" pitchFamily="34" charset="0"/>
                <a:cs typeface="Amiri" pitchFamily="2" charset="-78"/>
              </a:rPr>
              <a:t>maw-qi-fu al-mu-ta-ḥad-di-thi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مَوْقِفُ المُتَحَدِّثَةِ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التَّنَبُّؤُ بِمَا يَلِي</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predicting what follows</a:t>
            </a:r>
            <a:endParaRPr lang="en-US" sz="1350" dirty="0"/>
          </a:p>
          <a:p>
            <a:pPr indent="0" marL="0">
              <a:buNone/>
            </a:pPr>
            <a:r>
              <a:rPr lang="en-US" sz="1100" i="1" dirty="0">
                <a:solidFill>
                  <a:srgbClr val="5A6472"/>
                </a:solidFill>
                <a:latin typeface="Calibri" pitchFamily="34" charset="0"/>
                <a:cs typeface="Amiri" pitchFamily="2" charset="-78"/>
              </a:rPr>
              <a:t>at-ta-nab-bu-ʾu bi-mā ya-lī</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7" name="Shape 34"/>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مُتَوَازِنٌ</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balanced</a:t>
            </a:r>
            <a:endParaRPr lang="en-US" sz="1350" dirty="0"/>
          </a:p>
          <a:p>
            <a:pPr indent="0" marL="0">
              <a:buNone/>
            </a:pPr>
            <a:r>
              <a:rPr lang="en-US" sz="1100" i="1" dirty="0">
                <a:solidFill>
                  <a:srgbClr val="5A6472"/>
                </a:solidFill>
                <a:latin typeface="Calibri" pitchFamily="34" charset="0"/>
                <a:cs typeface="Amiri" pitchFamily="2" charset="-78"/>
              </a:rPr>
              <a:t>mu-ta-wā-zi-nun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مُتَوَازِنَةٌ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9" name="Shape 4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مُنْحَازٌ</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partisan / one-sided</a:t>
            </a:r>
            <a:endParaRPr lang="en-US" sz="1350" dirty="0"/>
          </a:p>
          <a:p>
            <a:pPr indent="0" marL="0">
              <a:buNone/>
            </a:pPr>
            <a:r>
              <a:rPr lang="en-US" sz="1100" i="1" dirty="0">
                <a:solidFill>
                  <a:srgbClr val="5A6472"/>
                </a:solidFill>
                <a:latin typeface="Calibri" pitchFamily="34" charset="0"/>
                <a:cs typeface="Amiri" pitchFamily="2" charset="-78"/>
              </a:rPr>
              <a:t>mun-ḥā-zun</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7" name="Text 5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مُنْحَازَةٌ</a:t>
            </a:r>
            <a:endParaRPr lang="ar-SA" sz="15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Social issues content heard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التَّفَاوُتُ الاجْتِمَاعِيُّ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inequality</a:t>
            </a:r>
            <a:endParaRPr lang="en-US" sz="1350" dirty="0"/>
          </a:p>
          <a:p>
            <a:pPr indent="0" marL="0">
              <a:buNone/>
            </a:pPr>
            <a:r>
              <a:rPr lang="en-US" sz="1100" i="1" dirty="0">
                <a:solidFill>
                  <a:srgbClr val="5A6472"/>
                </a:solidFill>
                <a:latin typeface="Calibri" pitchFamily="34" charset="0"/>
                <a:cs typeface="Amiri" pitchFamily="2" charset="-78"/>
              </a:rPr>
              <a:t>at-ta-fā-wu-tu alj-ti-mā-ʿiy-yu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الفَجْوَةُ الرَّقْمِيَّةُ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digital divide</a:t>
            </a:r>
            <a:endParaRPr lang="en-US" sz="1350" dirty="0"/>
          </a:p>
          <a:p>
            <a:pPr indent="0" marL="0">
              <a:buNone/>
            </a:pPr>
            <a:r>
              <a:rPr lang="en-US" sz="1100" i="1" dirty="0">
                <a:solidFill>
                  <a:srgbClr val="5A6472"/>
                </a:solidFill>
                <a:latin typeface="Calibri" pitchFamily="34" charset="0"/>
                <a:cs typeface="Amiri" pitchFamily="2" charset="-78"/>
              </a:rPr>
              <a:t>al-faj-wa-tu ar-raq-miy-ya-tu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تَمْكِينُ الشَّبَابِ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youth empowerment</a:t>
            </a:r>
            <a:endParaRPr lang="en-US" sz="1350" dirty="0"/>
          </a:p>
          <a:p>
            <a:pPr indent="0" marL="0">
              <a:buNone/>
            </a:pPr>
            <a:r>
              <a:rPr lang="en-US" sz="1100" i="1" dirty="0">
                <a:solidFill>
                  <a:srgbClr val="5A6472"/>
                </a:solidFill>
                <a:latin typeface="Calibri" pitchFamily="34" charset="0"/>
                <a:cs typeface="Amiri" pitchFamily="2" charset="-78"/>
              </a:rPr>
              <a:t>tam-kī-nu ash-sha-bā-bi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العَدَالَةُ الاجْتِمَاعِيَّةُ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justice</a:t>
            </a:r>
            <a:endParaRPr lang="en-US" sz="1350" dirty="0"/>
          </a:p>
          <a:p>
            <a:pPr indent="0" marL="0">
              <a:buNone/>
            </a:pPr>
            <a:r>
              <a:rPr lang="en-US" sz="1100" i="1" dirty="0">
                <a:solidFill>
                  <a:srgbClr val="5A6472"/>
                </a:solidFill>
                <a:latin typeface="Calibri" pitchFamily="34" charset="0"/>
                <a:cs typeface="Amiri" pitchFamily="2" charset="-78"/>
              </a:rPr>
              <a:t>al-ʿa-dā-la-tu alj-ti-mā-ʿiy-ya-tu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Social issues content heard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الإِصْلَاحَاتُ</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reforms</a:t>
            </a:r>
            <a:endParaRPr lang="en-US" sz="1350" dirty="0"/>
          </a:p>
          <a:p>
            <a:pPr indent="0" marL="0">
              <a:buNone/>
            </a:pPr>
            <a:r>
              <a:rPr lang="en-US" sz="1100" i="1" dirty="0">
                <a:solidFill>
                  <a:srgbClr val="5A6472"/>
                </a:solidFill>
                <a:latin typeface="Calibri" pitchFamily="34" charset="0"/>
                <a:cs typeface="Amiri" pitchFamily="2" charset="-78"/>
              </a:rPr>
              <a:t>al-iṣ-lā-ḥā-tu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إِصْلَاحٌ</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الحَاجَةُ المُلِحَّةُ</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pressing need</a:t>
            </a:r>
            <a:endParaRPr lang="en-US" sz="1350" dirty="0"/>
          </a:p>
          <a:p>
            <a:pPr indent="0" marL="0">
              <a:buNone/>
            </a:pPr>
            <a:r>
              <a:rPr lang="en-US" sz="1100" i="1" dirty="0">
                <a:solidFill>
                  <a:srgbClr val="5A6472"/>
                </a:solidFill>
                <a:latin typeface="Calibri" pitchFamily="34" charset="0"/>
                <a:cs typeface="Amiri" pitchFamily="2" charset="-78"/>
              </a:rPr>
              <a:t>al-ḥā-ja-tu al-mu-liḥ-ḥa-tu</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الاسْتِقْرَارُ الاجْتِمَاعِيُّ</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stability</a:t>
            </a:r>
            <a:endParaRPr lang="en-US" sz="1350" dirty="0"/>
          </a:p>
          <a:p>
            <a:pPr indent="0" marL="0">
              <a:buNone/>
            </a:pPr>
            <a:r>
              <a:rPr lang="en-US" sz="1100" i="1" dirty="0">
                <a:solidFill>
                  <a:srgbClr val="5A6472"/>
                </a:solidFill>
                <a:latin typeface="Calibri" pitchFamily="34" charset="0"/>
                <a:cs typeface="Amiri" pitchFamily="2" charset="-78"/>
              </a:rPr>
              <a:t>als-tiq-rā-ru alj-ti-mā-ʿiy-yu</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حُقُوقُ الإِنْسَانِ</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 rights</a:t>
            </a:r>
            <a:endParaRPr lang="en-US" sz="1350" dirty="0"/>
          </a:p>
          <a:p>
            <a:pPr indent="0" marL="0">
              <a:buNone/>
            </a:pPr>
            <a:r>
              <a:rPr lang="en-US" sz="1100" i="1" dirty="0">
                <a:solidFill>
                  <a:srgbClr val="5A6472"/>
                </a:solidFill>
                <a:latin typeface="Calibri" pitchFamily="34" charset="0"/>
                <a:cs typeface="Amiri" pitchFamily="2" charset="-78"/>
              </a:rPr>
              <a:t>ḥu-qū-qu al-in-sā-ni</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markers by ear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76662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Concession → indicative.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صَحِيحٌ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true that</a:t>
            </a:r>
            <a:endParaRPr lang="en-US" sz="1350" dirty="0"/>
          </a:p>
          <a:p>
            <a:pPr indent="0" marL="0">
              <a:buNone/>
            </a:pPr>
            <a:r>
              <a:rPr lang="en-US" sz="1100" i="1" dirty="0">
                <a:solidFill>
                  <a:srgbClr val="5A6472"/>
                </a:solidFill>
                <a:latin typeface="Calibri" pitchFamily="34" charset="0"/>
                <a:cs typeface="Amiri" pitchFamily="2" charset="-78"/>
              </a:rPr>
              <a:t>ṣa-ḥī-ḥun 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Refutation.</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أَنَّ</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ghay-ra an-na</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4" name="Shape 31"/>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Subjunctive trigger.</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يَتَطَلَّبُ أَنْ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requires that</a:t>
            </a:r>
            <a:endParaRPr lang="en-US" sz="1350" dirty="0"/>
          </a:p>
          <a:p>
            <a:pPr indent="0" marL="0">
              <a:buNone/>
            </a:pPr>
            <a:r>
              <a:rPr lang="en-US" sz="1100" i="1" dirty="0">
                <a:solidFill>
                  <a:srgbClr val="5A6472"/>
                </a:solidFill>
                <a:latin typeface="Calibri" pitchFamily="34" charset="0"/>
                <a:cs typeface="Amiri" pitchFamily="2" charset="-78"/>
              </a:rPr>
              <a:t>ya-ta-ṭal-la-bu an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 … لَـ</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Type 2 conditional</a:t>
            </a:r>
            <a:endParaRPr lang="en-US" sz="1350" dirty="0"/>
          </a:p>
          <a:p>
            <a:pPr indent="0" marL="0">
              <a:buNone/>
            </a:pPr>
            <a:r>
              <a:rPr lang="en-US" sz="1100" i="1" dirty="0">
                <a:solidFill>
                  <a:srgbClr val="5A6472"/>
                </a:solidFill>
                <a:latin typeface="Calibri" pitchFamily="34" charset="0"/>
                <a:cs typeface="Amiri" pitchFamily="2" charset="-78"/>
              </a:rPr>
              <a:t>law … la</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markers by ear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 سَـ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Type 1 conditional</a:t>
            </a:r>
            <a:endParaRPr lang="en-US" sz="1350" dirty="0"/>
          </a:p>
          <a:p>
            <a:pPr indent="0" marL="0">
              <a:buNone/>
            </a:pPr>
            <a:r>
              <a:rPr lang="en-US" sz="1100" i="1" dirty="0">
                <a:solidFill>
                  <a:srgbClr val="5A6472"/>
                </a:solidFill>
                <a:latin typeface="Calibri" pitchFamily="34" charset="0"/>
                <a:cs typeface="Amiri" pitchFamily="2" charset="-78"/>
              </a:rPr>
              <a:t>i-dhā … sa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4782312" y="1938528"/>
            <a:ext cx="1393546"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Conclusion signal.</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وَبِنَاءً عَلَى مَا سَبَقَ</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based on the above</a:t>
            </a:r>
            <a:endParaRPr lang="en-US" sz="1350" dirty="0"/>
          </a:p>
          <a:p>
            <a:pPr indent="0" marL="0">
              <a:buNone/>
            </a:pPr>
            <a:r>
              <a:rPr lang="en-US" sz="1100" i="1" dirty="0">
                <a:solidFill>
                  <a:srgbClr val="5A6472"/>
                </a:solidFill>
                <a:latin typeface="Calibri" pitchFamily="34" charset="0"/>
                <a:cs typeface="Amiri" pitchFamily="2" charset="-78"/>
              </a:rPr>
              <a:t>wa-bi-nā-ʾan ʿa-lā mā sa-ba-qa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Shape 29"/>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Subjunctive trigger.</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يُصِرُّ عَلَى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insists that</a:t>
            </a:r>
            <a:endParaRPr lang="en-US" sz="1350" dirty="0"/>
          </a:p>
          <a:p>
            <a:pPr indent="0" marL="0">
              <a:buNone/>
            </a:pPr>
            <a:r>
              <a:rPr lang="en-US" sz="1100" i="1" dirty="0">
                <a:solidFill>
                  <a:srgbClr val="5A6472"/>
                </a:solidFill>
                <a:latin typeface="Calibri" pitchFamily="34" charset="0"/>
                <a:cs typeface="Amiri" pitchFamily="2" charset="-78"/>
              </a:rPr>
              <a:t>yu-ṣir-ru ʿa-lā 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9" name="Shape 36"/>
          <p:cNvSpPr/>
          <p:nvPr/>
        </p:nvSpPr>
        <p:spPr>
          <a:xfrm>
            <a:off x="8604504" y="4279392"/>
            <a:ext cx="151790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Past-perfect marker.</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 قَدْ</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had done</a:t>
            </a:r>
            <a:endParaRPr lang="en-US" sz="1350" dirty="0"/>
          </a:p>
          <a:p>
            <a:pPr indent="0" marL="0">
              <a:buNone/>
            </a:pPr>
            <a:r>
              <a:rPr lang="en-US" sz="1100" i="1" dirty="0">
                <a:solidFill>
                  <a:srgbClr val="5A6472"/>
                </a:solidFill>
                <a:latin typeface="Calibri" pitchFamily="34" charset="0"/>
                <a:cs typeface="Amiri" pitchFamily="2" charset="-78"/>
              </a:rPr>
              <a:t>kā-na qad</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SIGNAL → JOB → WHOSE VIEW (WEBSITE RULES 1–3, TABLE AND TEACHING POINT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you hear, what it means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الإِشَارَةُ وَوَظِيفَتُهَا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2259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listening)</a:t>
            </a:r>
            <a:endParaRPr lang="en-US" sz="1100" dirty="0"/>
          </a:p>
        </p:txBody>
      </p:sp>
      <p:sp>
        <p:nvSpPr>
          <p:cNvPr id="17" name="Text 14"/>
          <p:cNvSpPr txBox="1"/>
          <p:nvPr/>
        </p:nvSpPr>
        <p:spPr>
          <a:xfrm>
            <a:off x="528523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Whose view?</a:t>
            </a:r>
            <a:endParaRPr lang="en-US" sz="1100" dirty="0"/>
          </a:p>
        </p:txBody>
      </p:sp>
      <p:sp>
        <p:nvSpPr>
          <p:cNvPr id="18" name="Text 15"/>
          <p:cNvSpPr txBox="1"/>
          <p:nvPr/>
        </p:nvSpPr>
        <p:spPr>
          <a:xfrm>
            <a:off x="32735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 signals</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040880" y="2267712"/>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أُطْرُوحَتِي أَنَّ التَّفَاوُتَ الاجْتِمَاعِيَّ يُهَدِّدُ الاسْتِقْرَارَ</a:t>
            </a:r>
            <a:endParaRPr lang="ar-SA" sz="1600" dirty="0"/>
          </a:p>
        </p:txBody>
      </p:sp>
      <p:sp>
        <p:nvSpPr>
          <p:cNvPr id="22" name="Text 19"/>
          <p:cNvSpPr txBox="1"/>
          <p:nvPr/>
        </p:nvSpPr>
        <p:spPr>
          <a:xfrm>
            <a:off x="532180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speaker</a:t>
            </a:r>
            <a:endParaRPr lang="en-US" sz="1100" dirty="0"/>
          </a:p>
        </p:txBody>
      </p:sp>
      <p:sp>
        <p:nvSpPr>
          <p:cNvPr id="23" name="Text 20"/>
          <p:cNvSpPr txBox="1"/>
          <p:nvPr/>
        </p:nvSpPr>
        <p:spPr>
          <a:xfrm>
            <a:off x="33101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thesis</a:t>
            </a:r>
            <a:endParaRPr lang="en-US" sz="1100" dirty="0"/>
          </a:p>
        </p:txBody>
      </p:sp>
      <p:sp>
        <p:nvSpPr>
          <p:cNvPr id="24" name="Text 21"/>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أُطْرُوحَتِي أَنَّ</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040880" y="3004718"/>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أَكَّدَتِ الدِّرَاسَاتُ أَنَّ الفَجْوَةَ … تَتَّسِعُ</a:t>
            </a:r>
            <a:endParaRPr lang="ar-SA" sz="1600" dirty="0"/>
          </a:p>
        </p:txBody>
      </p:sp>
      <p:sp>
        <p:nvSpPr>
          <p:cNvPr id="29" name="Text 26"/>
          <p:cNvSpPr txBox="1"/>
          <p:nvPr/>
        </p:nvSpPr>
        <p:spPr>
          <a:xfrm>
            <a:off x="532180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studies</a:t>
            </a:r>
            <a:endParaRPr lang="en-US" sz="1100" dirty="0"/>
          </a:p>
        </p:txBody>
      </p:sp>
      <p:sp>
        <p:nvSpPr>
          <p:cNvPr id="30" name="Text 27"/>
          <p:cNvSpPr txBox="1"/>
          <p:nvPr/>
        </p:nvSpPr>
        <p:spPr>
          <a:xfrm>
            <a:off x="33101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a:t>
            </a:r>
            <a:endParaRPr lang="en-US" sz="1100" dirty="0"/>
          </a:p>
        </p:txBody>
      </p:sp>
      <p:sp>
        <p:nvSpPr>
          <p:cNvPr id="31" name="Text 28"/>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أَكَّدَتِ الدِّرَاسَاتُ أَنَّ</a:t>
            </a:r>
            <a:endParaRPr lang="ar-SA" sz="18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7040880" y="3741725"/>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أَنَّ الإِصْلَاحَاتِ تَحْتَاجُ وَقْتًا طَوِيلًا</a:t>
            </a:r>
            <a:endParaRPr lang="ar-SA" sz="1600" dirty="0"/>
          </a:p>
        </p:txBody>
      </p:sp>
      <p:sp>
        <p:nvSpPr>
          <p:cNvPr id="34" name="Text 31"/>
          <p:cNvSpPr txBox="1"/>
          <p:nvPr/>
        </p:nvSpPr>
        <p:spPr>
          <a:xfrm>
            <a:off x="532180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OTHER side</a:t>
            </a:r>
            <a:endParaRPr lang="en-US" sz="1100" dirty="0"/>
          </a:p>
        </p:txBody>
      </p:sp>
      <p:sp>
        <p:nvSpPr>
          <p:cNvPr id="35" name="Text 32"/>
          <p:cNvSpPr txBox="1"/>
          <p:nvPr/>
        </p:nvSpPr>
        <p:spPr>
          <a:xfrm>
            <a:off x="33101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conceded point</a:t>
            </a:r>
            <a:endParaRPr lang="en-US" sz="1100" dirty="0"/>
          </a:p>
        </p:txBody>
      </p:sp>
      <p:sp>
        <p:nvSpPr>
          <p:cNvPr id="36" name="Text 33"/>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صَحِيحٌ أَنَّ</a:t>
            </a:r>
            <a:endParaRPr lang="ar-SA" sz="18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040880" y="4478731"/>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غَيْرَ أَنَّ الحَاجَةَ المُلِحَّةَ لَا تَتَحَمَّلُ الانْتِظَارَ</a:t>
            </a:r>
            <a:endParaRPr lang="ar-SA" sz="1600" dirty="0"/>
          </a:p>
        </p:txBody>
      </p:sp>
      <p:sp>
        <p:nvSpPr>
          <p:cNvPr id="41" name="Text 38"/>
          <p:cNvSpPr txBox="1"/>
          <p:nvPr/>
        </p:nvSpPr>
        <p:spPr>
          <a:xfrm>
            <a:off x="532180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speaker</a:t>
            </a:r>
            <a:endParaRPr lang="en-US" sz="1100" dirty="0"/>
          </a:p>
        </p:txBody>
      </p:sp>
      <p:sp>
        <p:nvSpPr>
          <p:cNvPr id="42" name="Text 39"/>
          <p:cNvSpPr txBox="1"/>
          <p:nvPr/>
        </p:nvSpPr>
        <p:spPr>
          <a:xfrm>
            <a:off x="33101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stronger point</a:t>
            </a:r>
            <a:endParaRPr lang="en-US" sz="1100" dirty="0"/>
          </a:p>
        </p:txBody>
      </p:sp>
      <p:sp>
        <p:nvSpPr>
          <p:cNvPr id="43" name="Text 40"/>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غَيْرَ أَنَّ</a:t>
            </a:r>
            <a:endParaRPr lang="ar-SA" sz="18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7040880" y="5215738"/>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العَدَالَةُ الاجْتِمَاعِيَّةُ ضَرُورَةٌ لَا رَفَاهِيَةٌ</a:t>
            </a:r>
            <a:endParaRPr lang="ar-SA" sz="1600" dirty="0"/>
          </a:p>
        </p:txBody>
      </p:sp>
      <p:sp>
        <p:nvSpPr>
          <p:cNvPr id="48" name="Text 45"/>
          <p:cNvSpPr txBox="1"/>
          <p:nvPr/>
        </p:nvSpPr>
        <p:spPr>
          <a:xfrm>
            <a:off x="532180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speaker</a:t>
            </a:r>
            <a:endParaRPr lang="en-US" sz="1100" dirty="0"/>
          </a:p>
        </p:txBody>
      </p:sp>
      <p:sp>
        <p:nvSpPr>
          <p:cNvPr id="49" name="Text 46"/>
          <p:cNvSpPr txBox="1"/>
          <p:nvPr/>
        </p:nvSpPr>
        <p:spPr>
          <a:xfrm>
            <a:off x="33101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conclusion</a:t>
            </a:r>
            <a:endParaRPr lang="en-US" sz="1100" dirty="0"/>
          </a:p>
        </p:txBody>
      </p:sp>
      <p:sp>
        <p:nvSpPr>
          <p:cNvPr id="50" name="Text 47"/>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وَبِنَاءً عَلَى مَا سَبَقَ</a:t>
            </a:r>
            <a:endParaRPr lang="ar-SA" sz="18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once you hear ṣaḥīḥun anna, a concession is coming — and the stronger point follows soon after.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ATTRIBUTION TRAP (WEBSITE TEACHING POINT 2, MISTAKE 1, QUIZ 4)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Whose view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رَأْيُ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CONCEDED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الطَّرَفُ الآخَرُ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صَحِيحٌ أَنَّ الإِصْلَاحَاتِ تَحْتَاجُ وَقْتًا.</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True, reforms need time. (the OTHER side’s point)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the speaker’s view</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REFUTED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المُتَحَدِّثُ</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غَيْرَ أَنَّ الحَاجَةَ المُلِحَّةَ لَا تَتَحَمَّلُ الانْتِظَارَ.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However, the pressing need cannot wait. (the SPEAKER)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real position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PREDICT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تَنَبَّأْ</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صَحِيحٌ أَنَّ … ← غَيْرَ أَنَّ …</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Hear the concession → expect the opposite.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answer is coming</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1: the point after ṣaḥīḥun anna is a concession to the other side — not the speaker’s final view.</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تَسْلِيمٌ بِرَأْيِ الطَّرَفِ الآخَرِ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ea typeface="Amiri" pitchFamily="2" charset="-78"/>
                <a:cs typeface="Amiri" pitchFamily="2" charset="-78"/>
              </a:rPr>
              <a:t>رَأْيُ المُتَحَدِّثِ النِّهَائِيُّ</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CONDITIONALS AND TRIGGERS BY EAR (WEBSITE RULE 4, MISTAKE 2, QUIZ 5–7)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Wait for the marker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انْتَظِرِ العَلَامَةَ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0547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listening)</a:t>
            </a:r>
            <a:endParaRPr lang="en-US" sz="1100" dirty="0"/>
          </a:p>
        </p:txBody>
      </p:sp>
      <p:sp>
        <p:nvSpPr>
          <p:cNvPr id="17" name="Text 14"/>
          <p:cNvSpPr txBox="1"/>
          <p:nvPr/>
        </p:nvSpPr>
        <p:spPr>
          <a:xfrm>
            <a:off x="48280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 means</a:t>
            </a:r>
            <a:endParaRPr lang="en-US" sz="1100" dirty="0"/>
          </a:p>
        </p:txBody>
      </p:sp>
      <p:sp>
        <p:nvSpPr>
          <p:cNvPr id="18" name="Text 15"/>
          <p:cNvSpPr txBox="1"/>
          <p:nvPr/>
        </p:nvSpPr>
        <p:spPr>
          <a:xfrm>
            <a:off x="309067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223760" y="2267712"/>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إِذَا اسْتُثْمِرَ فِي التَّعْلِيمِ المُبَكِّرِ، سَتَضِيقُ الفَجْوَةُ</a:t>
            </a:r>
            <a:endParaRPr lang="ar-SA" sz="1600" dirty="0"/>
          </a:p>
        </p:txBody>
      </p:sp>
      <p:sp>
        <p:nvSpPr>
          <p:cNvPr id="22" name="Text 19"/>
          <p:cNvSpPr txBox="1"/>
          <p:nvPr/>
        </p:nvSpPr>
        <p:spPr>
          <a:xfrm>
            <a:off x="48646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real plan (Type 1)</a:t>
            </a:r>
            <a:endParaRPr lang="en-US" sz="1100" dirty="0"/>
          </a:p>
        </p:txBody>
      </p:sp>
      <p:sp>
        <p:nvSpPr>
          <p:cNvPr id="23" name="Text 20"/>
          <p:cNvSpPr txBox="1"/>
          <p:nvPr/>
        </p:nvSpPr>
        <p:spPr>
          <a:xfrm>
            <a:off x="3108960" y="2267712"/>
            <a:ext cx="155448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سَـ</a:t>
            </a:r>
            <a:endParaRPr lang="ar-SA" sz="18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إِذَا</a:t>
            </a:r>
            <a:pPr rtl="1" algn="ctr" indent="0" marL="0">
              <a:buNone/>
            </a:pPr>
            <a:r>
              <a:rPr lang="ar-SA" altLang="en-US" sz="1800" b="1" dirty="0">
                <a:solidFill>
                  <a:srgbClr val="1B3B6F"/>
                </a:solidFill>
                <a:latin typeface="Amiri" pitchFamily="2" charset="-78"/>
                <a:cs typeface="Amiri" pitchFamily="2" charset="-78"/>
              </a:rPr>
              <a:t> …</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223760" y="3004718"/>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 عُولِجَ التَّفَاوُتُ قَبْلَ عُقُودٍ، لَتَحَسَّنَ الوَضْعُ</a:t>
            </a:r>
            <a:endParaRPr lang="ar-SA" sz="1600" dirty="0"/>
          </a:p>
        </p:txBody>
      </p:sp>
      <p:sp>
        <p:nvSpPr>
          <p:cNvPr id="29" name="Text 26"/>
          <p:cNvSpPr txBox="1"/>
          <p:nvPr/>
        </p:nvSpPr>
        <p:spPr>
          <a:xfrm>
            <a:off x="48646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did NOT happen (Type 2)</a:t>
            </a:r>
            <a:endParaRPr lang="en-US" sz="1100" dirty="0"/>
          </a:p>
        </p:txBody>
      </p:sp>
      <p:sp>
        <p:nvSpPr>
          <p:cNvPr id="30" name="Text 27"/>
          <p:cNvSpPr txBox="1"/>
          <p:nvPr/>
        </p:nvSpPr>
        <p:spPr>
          <a:xfrm>
            <a:off x="3108960" y="3004718"/>
            <a:ext cx="155448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لَـ</a:t>
            </a:r>
            <a:endParaRPr lang="ar-SA" sz="18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لَوْ</a:t>
            </a:r>
            <a:pPr rtl="1" algn="ctr" indent="0" marL="0">
              <a:buNone/>
            </a:pPr>
            <a:r>
              <a:rPr lang="ar-SA" altLang="en-US" sz="1800" b="1" dirty="0">
                <a:solidFill>
                  <a:srgbClr val="1B3B6F"/>
                </a:solidFill>
                <a:latin typeface="Amiri" pitchFamily="2" charset="-78"/>
                <a:cs typeface="Amiri" pitchFamily="2" charset="-78"/>
              </a:rPr>
              <a:t> …</a:t>
            </a:r>
            <a:endParaRPr lang="ar-SA" sz="18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7223760" y="3741725"/>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يَتَطَلَّبُ الوَضْعُ أَنْ تَتَحَرَّكَ الحُكُومَاتُ فَوْرًا</a:t>
            </a:r>
            <a:endParaRPr lang="ar-SA" sz="1600" dirty="0"/>
          </a:p>
        </p:txBody>
      </p:sp>
      <p:sp>
        <p:nvSpPr>
          <p:cNvPr id="36" name="Text 33"/>
          <p:cNvSpPr txBox="1"/>
          <p:nvPr/>
        </p:nvSpPr>
        <p:spPr>
          <a:xfrm>
            <a:off x="48646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demand (not done yet)</a:t>
            </a:r>
            <a:endParaRPr lang="en-US" sz="1100" dirty="0"/>
          </a:p>
        </p:txBody>
      </p:sp>
      <p:sp>
        <p:nvSpPr>
          <p:cNvPr id="37" name="Text 34"/>
          <p:cNvSpPr txBox="1"/>
          <p:nvPr/>
        </p:nvSpPr>
        <p:spPr>
          <a:xfrm>
            <a:off x="312724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يَتَطَلَّبُ … أَنْ</a:t>
            </a:r>
            <a:endParaRPr lang="ar-SA" sz="18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223760" y="4478731"/>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إِذَا اسْتُثْمِرَ فِي التَّعْلِيمِ … · لَوْ عُولِجَ التَّفَاوُتُ …</a:t>
            </a:r>
            <a:endParaRPr lang="ar-SA" sz="1600" dirty="0"/>
          </a:p>
        </p:txBody>
      </p:sp>
      <p:sp>
        <p:nvSpPr>
          <p:cNvPr id="41" name="Text 38"/>
          <p:cNvSpPr txBox="1"/>
          <p:nvPr/>
        </p:nvSpPr>
        <p:spPr>
          <a:xfrm>
            <a:off x="48646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passive past (no doer)</a:t>
            </a:r>
            <a:endParaRPr lang="en-US" sz="1100" dirty="0"/>
          </a:p>
        </p:txBody>
      </p:sp>
      <p:sp>
        <p:nvSpPr>
          <p:cNvPr id="42" name="Text 39"/>
          <p:cNvSpPr txBox="1"/>
          <p:nvPr/>
        </p:nvSpPr>
        <p:spPr>
          <a:xfrm>
            <a:off x="312724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i</a:t>
            </a:r>
            <a:endParaRPr lang="en-US" sz="1100" dirty="0"/>
          </a:p>
        </p:txBody>
      </p:sp>
      <p:sp>
        <p:nvSpPr>
          <p:cNvPr id="43" name="Text 40"/>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اسْتُثْمِرَ · عُولِجَ</a:t>
            </a:r>
            <a:endParaRPr lang="ar-SA" sz="18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7223760" y="5215738"/>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العَدَالَةُ ضَرُورَةٌ لَا رَفَاهِيَةٌ</a:t>
            </a:r>
            <a:endParaRPr lang="ar-SA" sz="1600" dirty="0"/>
          </a:p>
        </p:txBody>
      </p:sp>
      <p:sp>
        <p:nvSpPr>
          <p:cNvPr id="46" name="Text 43"/>
          <p:cNvSpPr txBox="1"/>
          <p:nvPr/>
        </p:nvSpPr>
        <p:spPr>
          <a:xfrm>
            <a:off x="48646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X, not Y</a:t>
            </a:r>
            <a:endParaRPr lang="en-US" sz="1100" dirty="0"/>
          </a:p>
        </p:txBody>
      </p:sp>
      <p:sp>
        <p:nvSpPr>
          <p:cNvPr id="47" name="Text 44"/>
          <p:cNvSpPr txBox="1"/>
          <p:nvPr/>
        </p:nvSpPr>
        <p:spPr>
          <a:xfrm>
            <a:off x="312724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a:t>
            </a:r>
            <a:endParaRPr lang="en-US" sz="1100" dirty="0"/>
          </a:p>
        </p:txBody>
      </p:sp>
      <p:sp>
        <p:nvSpPr>
          <p:cNvPr id="48" name="Text 45"/>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لَا …</a:t>
            </a:r>
            <a:endParaRPr lang="ar-SA" sz="18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law with a la- result is a supposition — not a real plan.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STRATEGY GUIDE (WEBSITE READING, MISTAKE 3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during, after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قَبْلَ الاسْتِمَاعِ وَأَثْنَاءَهُ وَبَعْدَهُ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76672" y="1810512"/>
            <a:ext cx="6281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From the website strategy guide</a:t>
            </a:r>
            <a:endParaRPr lang="en-US" sz="1100" dirty="0"/>
          </a:p>
        </p:txBody>
      </p:sp>
      <p:sp>
        <p:nvSpPr>
          <p:cNvPr id="17" name="Text 14"/>
          <p:cNvSpPr txBox="1"/>
          <p:nvPr/>
        </p:nvSpPr>
        <p:spPr>
          <a:xfrm>
            <a:off x="20848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 do</a:t>
            </a:r>
            <a:endParaRPr lang="en-US" sz="1100" dirty="0"/>
          </a:p>
        </p:txBody>
      </p:sp>
      <p:sp>
        <p:nvSpPr>
          <p:cNvPr id="18" name="Text 15"/>
          <p:cNvSpPr txBox="1"/>
          <p:nvPr/>
        </p:nvSpPr>
        <p:spPr>
          <a:xfrm>
            <a:off x="5303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Stage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394960" y="2267712"/>
            <a:ext cx="62453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أَقْرَأُ الأَسْئِلَةَ وَأَتَتَبَّعُ بِنْيَةَ الحُجَّةِ لَا الكَلِمَاتِ المُفْرَدَةَ</a:t>
            </a:r>
            <a:endParaRPr lang="ar-SA" sz="1600" dirty="0"/>
          </a:p>
        </p:txBody>
      </p:sp>
      <p:sp>
        <p:nvSpPr>
          <p:cNvPr id="21" name="Text 18"/>
          <p:cNvSpPr txBox="1"/>
          <p:nvPr/>
        </p:nvSpPr>
        <p:spPr>
          <a:xfrm>
            <a:off x="212140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the questions, label each one</a:t>
            </a:r>
            <a:endParaRPr lang="en-US" sz="1100" dirty="0"/>
          </a:p>
        </p:txBody>
      </p:sp>
      <p:sp>
        <p:nvSpPr>
          <p:cNvPr id="22" name="Text 19"/>
          <p:cNvSpPr txBox="1"/>
          <p:nvPr/>
        </p:nvSpPr>
        <p:spPr>
          <a:xfrm>
            <a:off x="56692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394960" y="3004718"/>
            <a:ext cx="62453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اسْتَمِعْ أَوَّلًا إِلَى الأُطْرُوحَةِ فِي المُقَدِّمَةِ</a:t>
            </a:r>
            <a:endParaRPr lang="ar-SA" sz="1600" dirty="0"/>
          </a:p>
        </p:txBody>
      </p:sp>
      <p:sp>
        <p:nvSpPr>
          <p:cNvPr id="27" name="Text 24"/>
          <p:cNvSpPr txBox="1"/>
          <p:nvPr/>
        </p:nvSpPr>
        <p:spPr>
          <a:xfrm>
            <a:off x="212140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catch the thesis</a:t>
            </a:r>
            <a:endParaRPr lang="en-US" sz="1100" dirty="0"/>
          </a:p>
        </p:txBody>
      </p:sp>
      <p:sp>
        <p:nvSpPr>
          <p:cNvPr id="28" name="Text 25"/>
          <p:cNvSpPr txBox="1"/>
          <p:nvPr/>
        </p:nvSpPr>
        <p:spPr>
          <a:xfrm>
            <a:off x="56692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during 1</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394960" y="3741725"/>
            <a:ext cx="62453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تَرَقَّبْ «صَحِيحٌ أَنَّ» … وَبَعْدَهَا يَأْتِي الرَّدُّ بِـ«غَيْرَ أَنَّ»</a:t>
            </a:r>
            <a:endParaRPr lang="ar-SA" sz="1600" dirty="0"/>
          </a:p>
        </p:txBody>
      </p:sp>
      <p:sp>
        <p:nvSpPr>
          <p:cNvPr id="33" name="Text 30"/>
          <p:cNvSpPr txBox="1"/>
          <p:nvPr/>
        </p:nvSpPr>
        <p:spPr>
          <a:xfrm>
            <a:off x="212140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 → expect the refutation</a:t>
            </a:r>
            <a:endParaRPr lang="en-US" sz="1100" dirty="0"/>
          </a:p>
        </p:txBody>
      </p:sp>
      <p:sp>
        <p:nvSpPr>
          <p:cNvPr id="34" name="Text 31"/>
          <p:cNvSpPr txBox="1"/>
          <p:nvPr/>
        </p:nvSpPr>
        <p:spPr>
          <a:xfrm>
            <a:off x="56692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during 2</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394960" y="4478731"/>
            <a:ext cx="62453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تَرَقَّبْ «يَتَطَلَّبُ أَنْ» لِلْخَاتِمَةِ، وَ«لَوْ» مَعَ «لَـ» لِلشَّرْطِ الافْتِرَاضِيِّ</a:t>
            </a:r>
            <a:endParaRPr lang="ar-SA" sz="1600" dirty="0"/>
          </a:p>
        </p:txBody>
      </p:sp>
      <p:sp>
        <p:nvSpPr>
          <p:cNvPr id="37" name="Text 34"/>
          <p:cNvSpPr txBox="1"/>
          <p:nvPr/>
        </p:nvSpPr>
        <p:spPr>
          <a:xfrm>
            <a:off x="212140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trigger and conditional</a:t>
            </a:r>
            <a:endParaRPr lang="en-US" sz="1100" dirty="0"/>
          </a:p>
        </p:txBody>
      </p:sp>
      <p:sp>
        <p:nvSpPr>
          <p:cNvPr id="38" name="Text 35"/>
          <p:cNvSpPr txBox="1"/>
          <p:nvPr/>
        </p:nvSpPr>
        <p:spPr>
          <a:xfrm>
            <a:off x="56692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during 3</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394960" y="5215738"/>
            <a:ext cx="62453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فَإِذَا عَرَفْتَ البِنْيَةَ، تَنَبَّأْتَ بِمَا يَلِي، وَتَابَعْتَ الحُجَّةَ وَلَوْ فَاتَتْكَ كَلِمَاتٌ</a:t>
            </a:r>
            <a:endParaRPr lang="ar-SA" sz="1600" dirty="0"/>
          </a:p>
        </p:txBody>
      </p:sp>
      <p:sp>
        <p:nvSpPr>
          <p:cNvPr id="41" name="Text 38"/>
          <p:cNvSpPr txBox="1"/>
          <p:nvPr/>
        </p:nvSpPr>
        <p:spPr>
          <a:xfrm>
            <a:off x="212140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 going if words slip past</a:t>
            </a:r>
            <a:endParaRPr lang="en-US" sz="1100" dirty="0"/>
          </a:p>
        </p:txBody>
      </p:sp>
      <p:sp>
        <p:nvSpPr>
          <p:cNvPr id="42" name="Text 39"/>
          <p:cNvSpPr txBox="1"/>
          <p:nvPr/>
        </p:nvSpPr>
        <p:spPr>
          <a:xfrm>
            <a:off x="56692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do not chase every word — follow the structure, even when words slip past.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Hearing argument structure in fast speech</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سَمَاعُ بِنْيَةِ الحُجَّةِ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Find the thesis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introduction → position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يُشَارُ إِلَى أَنَّ التَّفَاوُتَ يُهَدِّدُ الاسْتِقْرَارَ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Concession signal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ṣaḥīḥun anna → a conceded point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صَحِيحٌ أَنَّ الإِصْلَاحَاتِ تَحْتَاجُ وَقْتًا طَوِيلًا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Refutation signal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ghayra anna → the stronger point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غَيْرَ أَنَّ الحَاجَةَ المُلِحَّةَ لَا تَتَحَمَّلُ الانْتِظَارَ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Trigger and conditionals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yataṭallabu an · idhā … sa-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يَتَطَلَّبُ الوَضْعُ أَنْ تَتَحَرَّكَ الحُكُومَاتُ فَوْرًا   ·   لَوْ عُولِجَ التَّفَاوُتُ مُبَكِّرًا، لَتَحَسَّنَ الوَضْعُ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thesis in an argumentative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conclusion only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introduction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signal in speech?</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point the speaker concedes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own conclusion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Another concession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stronger point (refutation)</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view is the point after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other side's, conceded by the speaker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own conclusion</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one's</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thesis in an argumentative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conclusion only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none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introduction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thesis opens the text.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signal in speech?</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point the speaker concedes</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own conclusion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signals a conceded point.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Another concession</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speaker's stronger point (refutation)</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end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signals the refutation — the stronger point.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view is the point after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other side's, conceded by the speaker</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own conclusion</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one's</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conceded point belongs to the other side.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plan my listening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أَقْرَأُ الأَسْئِلَةَ وَأُحَدِّدُ العُنْصُرَ</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Label.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Thesis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C77700"/>
                </a:solidFill>
                <a:latin typeface="Amiri" pitchFamily="2" charset="-78"/>
                <a:ea typeface="Amiri" pitchFamily="2" charset="-78"/>
                <a:cs typeface="Amiri" pitchFamily="2" charset="-78"/>
              </a:rPr>
              <a:t>الأُطْرُوحَةُ</a:t>
            </a:r>
            <a:pPr rtl="1" algn="ctr" indent="0" marL="0">
              <a:buNone/>
            </a:pPr>
            <a:r>
              <a:rPr lang="ar-SA" altLang="en-US" sz="2550" b="1" dirty="0">
                <a:solidFill>
                  <a:srgbClr val="1B3B6F"/>
                </a:solidFill>
                <a:latin typeface="Amiri" pitchFamily="2" charset="-78"/>
                <a:ea typeface="Amiri" pitchFamily="2" charset="-78"/>
                <a:cs typeface="Amiri" pitchFamily="2" charset="-78"/>
              </a:rPr>
              <a:t> فِي المُقَدِّمَةِ</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First claim.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Concede → refute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«غَيْرَ أَنَّ»</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Whose view?</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«يَتَطَلَّبُ أَنْ»</a:t>
            </a:r>
            <a:pPr rtl="1" algn="ctr" indent="0" marL="0">
              <a:buNone/>
            </a:pPr>
            <a:r>
              <a:rPr lang="ar-SA" altLang="en-US" sz="2100" b="1" dirty="0">
                <a:solidFill>
                  <a:srgbClr val="1B3B6F"/>
                </a:solidFill>
                <a:latin typeface="Amiri" pitchFamily="2" charset="-78"/>
                <a:cs typeface="Amiri" pitchFamily="2" charset="-78"/>
              </a:rPr>
              <a:t> · </a:t>
            </a:r>
            <a:pPr rtl="1" algn="ctr" indent="0" marL="0">
              <a:buNone/>
            </a:pPr>
            <a:r>
              <a:rPr lang="ar-SA" altLang="en-US" sz="2100" b="1" dirty="0">
                <a:solidFill>
                  <a:srgbClr val="7B3FA0"/>
                </a:solidFill>
                <a:latin typeface="Amiri" pitchFamily="2" charset="-78"/>
                <a:ea typeface="Amiri" pitchFamily="2" charset="-78"/>
                <a:cs typeface="Amiri" pitchFamily="2" charset="-78"/>
              </a:rPr>
              <a:t>«لَوْ» + «لَـ»</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Wait for 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THESIS</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CONCESSION</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REFUTATION</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TRIGGER</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قَبْلَ الاسْتِمَاعِ إِلَى نَصٍّ جَدَلِيٍّ، أَقْرَأُ الأَسْئِلَةَ وَأَتَتَبَّعُ بِنْيَةَ الحُجَّةِ لَا الكَلِمَاتِ المُفْرَدَةَ. أُصْغِي أَوَّلًا إِلَى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الأُطْرُوحَةِ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المُقَدِّمَةِ. ثُمَّ أَتَرَقَّبُ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«صَحِيحٌ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فَهِيَ تَسْلِيمٌ بِرَأْيِ الطَّرَفِ الآخَرِ، لَا رَأْيُ المُتَحَدِّثِ. وَبَعْدَهَا يَأْتِي الرَّدُّ بِـ</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«غَيْرَ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وَهُوَ المَوْقِفُ الأَقْوَى. وَأَتَرَقَّبُ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«يَتَطَلَّبُ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لِلْخَاتِمَةِ، وَ</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«لَوْ» مَعَ «لَـ»</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لِلشَّرْطِ الافْتِرَاضِيِّ.</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Before listening to an argumentative text, I read the questions and follow the structure of the argument, not single words. I listen first for the thesis in the introduction. Then I wait for “ṣaḥīḥun anna”, which is a concession to the other side, not the speaker’s view. After it comes the response with “ghayra anna”, which is the stronger position. And I wait for “yataṭallabu an” for the conclusion, and “law” with “la-” for the hypothetical conditional.</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صَحِيحٌ أَنَّ الإِصْلَاحَاتِ تَحْتَاجُ وَقْتًا طَوِيلًا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true that reforms need a long time</a:t>
            </a:r>
            <a:endParaRPr lang="en-US" sz="1250" dirty="0"/>
          </a:p>
          <a:p>
            <a:pPr indent="0" marL="0">
              <a:buNone/>
            </a:pPr>
            <a:r>
              <a:rPr lang="en-US" sz="1050" i="1" dirty="0">
                <a:solidFill>
                  <a:srgbClr val="8A6D1E"/>
                </a:solidFill>
                <a:latin typeface="Calibri" pitchFamily="34" charset="0"/>
                <a:cs typeface="Amiri" pitchFamily="2" charset="-78"/>
              </a:rPr>
              <a:t>Concession signal: ṣaḥīḥun anna.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غَيْرَ أَنَّ الحَاجَةَ المُلِحَّةَ لَا تَتَحَمَّلُ الانْتِظَارَ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however, the pressing need cannot bear waiting</a:t>
            </a:r>
            <a:endParaRPr lang="en-US" sz="1250" dirty="0"/>
          </a:p>
          <a:p>
            <a:pPr indent="0" marL="0">
              <a:buNone/>
            </a:pPr>
            <a:r>
              <a:rPr lang="en-US" sz="1050" i="1" dirty="0">
                <a:solidFill>
                  <a:srgbClr val="8A6D1E"/>
                </a:solidFill>
                <a:latin typeface="Calibri" pitchFamily="34" charset="0"/>
                <a:cs typeface="Amiri" pitchFamily="2" charset="-78"/>
              </a:rPr>
              <a:t>Refutation signal: ghayra anna.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يَتَطَلَّبُ الوَضْعُ أَنْ تَتَحَرَّكَ الحُكُومَاتُ فَوْرًا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situation requires governments to act immediately</a:t>
            </a:r>
            <a:endParaRPr lang="en-US" sz="1250" dirty="0"/>
          </a:p>
          <a:p>
            <a:pPr indent="0" marL="0">
              <a:buNone/>
            </a:pPr>
            <a:r>
              <a:rPr lang="en-US" sz="1050" i="1" dirty="0">
                <a:solidFill>
                  <a:srgbClr val="8A6D1E"/>
                </a:solidFill>
                <a:latin typeface="Calibri" pitchFamily="34" charset="0"/>
                <a:cs typeface="Amiri" pitchFamily="2" charset="-78"/>
              </a:rPr>
              <a:t>Necessity trigger + subjunctive.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REPORT WHAT YOU HEARD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Thesis + concession–refutation + conclusion</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تَقْرِيرٌ عَمَّا سَمِعْتَ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33018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The thesis</a:t>
            </a:r>
            <a:endParaRPr lang="en-US" sz="1100" dirty="0"/>
          </a:p>
        </p:txBody>
      </p:sp>
      <p:sp>
        <p:nvSpPr>
          <p:cNvPr id="19" name="Text 16"/>
          <p:cNvSpPr txBox="1"/>
          <p:nvPr/>
        </p:nvSpPr>
        <p:spPr>
          <a:xfrm>
            <a:off x="421538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Conceded, then refuted</a:t>
            </a:r>
            <a:endParaRPr lang="en-US" sz="1100" dirty="0"/>
          </a:p>
        </p:txBody>
      </p:sp>
      <p:sp>
        <p:nvSpPr>
          <p:cNvPr id="20" name="Text 17"/>
          <p:cNvSpPr txBox="1"/>
          <p:nvPr/>
        </p:nvSpPr>
        <p:spPr>
          <a:xfrm>
            <a:off x="53035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The conclusion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348472" y="2267712"/>
            <a:ext cx="329184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أُطْرُوحَةُ المُتَحَدِّثِ أَنَّ التَّفَاوُتَ يُهَدِّدُ الاسْتِقْرَارَ</a:t>
            </a:r>
            <a:endParaRPr lang="ar-SA" sz="1500" dirty="0"/>
          </a:p>
        </p:txBody>
      </p:sp>
      <p:sp>
        <p:nvSpPr>
          <p:cNvPr id="23" name="Text 20"/>
          <p:cNvSpPr txBox="1"/>
          <p:nvPr/>
        </p:nvSpPr>
        <p:spPr>
          <a:xfrm>
            <a:off x="4233672" y="2267712"/>
            <a:ext cx="393192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وَسَلَّمَ بِـ«صَحِيحٌ أَنَّ الإِصْلَاحَاتِ تَحْتَاجُ وَقْتًا» ثُمَّ رَدَّ بِـ«غَيْرَ أَنَّ الحَاجَةَ مُلِحَّةٌ»</a:t>
            </a:r>
            <a:endParaRPr lang="ar-SA" sz="1400" dirty="0"/>
          </a:p>
        </p:txBody>
      </p:sp>
      <p:sp>
        <p:nvSpPr>
          <p:cNvPr id="24" name="Text 21"/>
          <p:cNvSpPr txBox="1"/>
          <p:nvPr/>
        </p:nvSpPr>
        <p:spPr>
          <a:xfrm>
            <a:off x="548640" y="2267712"/>
            <a:ext cx="350215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وَخَتَمَ بِـ«يَتَطَلَّبُ الوَضْعُ أَنْ تَتَحَرَّكَ الحُكُومَاتُ فَوْرًا»</a:t>
            </a:r>
            <a:endParaRPr lang="ar-SA" sz="15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348472" y="3054096"/>
            <a:ext cx="329184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أُطْرُوحَتُهُ أَنَّ الفَجْوَةَ الرَّقْمِيَّةَ تُعَمِّقُ عَدَمَ المُسَاوَاةِ</a:t>
            </a:r>
            <a:endParaRPr lang="ar-SA" sz="1500" dirty="0"/>
          </a:p>
        </p:txBody>
      </p:sp>
      <p:sp>
        <p:nvSpPr>
          <p:cNvPr id="29" name="Text 26"/>
          <p:cNvSpPr txBox="1"/>
          <p:nvPr/>
        </p:nvSpPr>
        <p:spPr>
          <a:xfrm>
            <a:off x="4233672" y="3054096"/>
            <a:ext cx="393192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وَسَلَّمَ بِأَنَّ الحَلَّ مُكْلِفٌ ثُمَّ رَدَّ بِـ«غَيْرَ أَنَّ الاسْتِقْرَارَ أَغْلَى»</a:t>
            </a:r>
            <a:endParaRPr lang="ar-SA" sz="1500" dirty="0"/>
          </a:p>
        </p:txBody>
      </p:sp>
      <p:sp>
        <p:nvSpPr>
          <p:cNvPr id="30" name="Text 27"/>
          <p:cNvSpPr txBox="1"/>
          <p:nvPr/>
        </p:nvSpPr>
        <p:spPr>
          <a:xfrm>
            <a:off x="548640" y="3054096"/>
            <a:ext cx="350215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وَخَتَمَ بِـ«وَبِنَاءً عَلَى مَا سَبَقَ، العَدَالَةُ ضَرُورَةٌ»</a:t>
            </a:r>
            <a:endParaRPr lang="ar-SA" sz="15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348472" y="3840480"/>
            <a:ext cx="329184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أُطْرُوحَتُهُ أَنَّ تَمْكِينَ الشَّبَابِ مِفْتَاحُ التَّغْيِيرِ</a:t>
            </a:r>
            <a:endParaRPr lang="ar-SA" sz="1500" dirty="0"/>
          </a:p>
        </p:txBody>
      </p:sp>
      <p:sp>
        <p:nvSpPr>
          <p:cNvPr id="33" name="Text 30"/>
          <p:cNvSpPr txBox="1"/>
          <p:nvPr/>
        </p:nvSpPr>
        <p:spPr>
          <a:xfrm>
            <a:off x="4233672" y="3840480"/>
            <a:ext cx="393192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وَسَلَّمَ بِبُطْءِ التَّغْيِيرِ ثُمَّ رَدَّ بِـ«مَعَ ذٰلِكَ لَا بَدِيلَ عَنْهُ»</a:t>
            </a:r>
            <a:endParaRPr lang="ar-SA" sz="1500" dirty="0"/>
          </a:p>
        </p:txBody>
      </p:sp>
      <p:sp>
        <p:nvSpPr>
          <p:cNvPr id="34" name="Text 31"/>
          <p:cNvSpPr txBox="1"/>
          <p:nvPr/>
        </p:nvSpPr>
        <p:spPr>
          <a:xfrm>
            <a:off x="548640" y="3840480"/>
            <a:ext cx="350215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وَخَتَمَ بِأَنَّهُ لَوْ عُولِجَ التَّفَاوُتُ مُبَكِّرًا لَتَحَسَّنَ الوَضْعُ</a:t>
            </a:r>
            <a:endParaRPr lang="ar-SA" sz="15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Thesis, concession–refutation — or subjunctive / conditional?</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يُشَارُ إِلَى أَنَّ التَّفَاوُتَ يُهَدِّدُ الاسْتِقْرَارَ</a:t>
            </a:r>
            <a:endParaRPr lang="ar-SA" sz="145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يَرَى المُتَحَدِّثُ أَنَّ العَدَالَةَ أَسَاسُ الاسْتِقْرَارِ</a:t>
            </a:r>
            <a:endParaRPr lang="ar-SA" sz="13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الأُطْرُوحَةُ أَنَّ تَمْكِينَ الشَّبَابِ مِفْتَاحُ التَّغْيِيرِ</a:t>
            </a:r>
            <a:endParaRPr lang="ar-SA" sz="13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صَحِيحٌ أَنَّ الإِصْلَاحَاتِ تَحْتَاجُ وَقْتًا</a:t>
            </a:r>
            <a:endParaRPr lang="ar-SA" sz="17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غَيْرَ أَنَّ الحَاجَةَ المُلِحَّةَ لَا تَتَحَمَّلُ الانْتِظَارَ</a:t>
            </a:r>
            <a:endParaRPr lang="ar-SA" sz="13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ذٰلِكَ، يَبْقَى التَّفَاوُتُ عَمِيقًا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يَتَطَلَّبُ الوَضْعُ أَنْ تَتَحَرَّكَ الحُكُومَاتُ فَوْرًا</a:t>
            </a:r>
            <a:endParaRPr lang="ar-SA" sz="14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لَوْ عُولِجَ التَّفَاوُتُ مُبَكِّرًا، لَتَحَسَّنَ الوَضْعُ</a:t>
            </a:r>
            <a:endParaRPr lang="ar-SA" sz="14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إِذَا اسْتُثْمِرَ فِي التَّعْلِيمِ، سَتَضِيقُ الفَجْوَةُ</a:t>
            </a:r>
            <a:endParaRPr lang="ar-SA" sz="14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thesis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concession / refutation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subjunctive / conditional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thesis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يُشَارُ إِلَى أَنَّ التَّفَاوُتَ يُهَدِّدُ الاسْتِقْرَارَ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يَرَى المُتَحَدِّثُ أَنَّ العَدَالَةَ أَسَاسُ الاسْتِقْرَارِ</a:t>
            </a:r>
            <a:endParaRPr lang="ar-SA" sz="165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الأُطْرُوحَةُ أَنَّ تَمْكِينَ الشَّبَابِ مِفْتَاحُ التَّغْيِيرِ</a:t>
            </a:r>
            <a:endParaRPr lang="ar-SA" sz="165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concession / refutation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الإِصْلَاحَاتِ تَحْتَاجُ وَقْتًا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غَيْرَ أَنَّ الحَاجَةَ المُلِحَّةَ لَا تَتَحَمَّلُ الانْتِظَارَ</a:t>
            </a:r>
            <a:endParaRPr lang="ar-SA" sz="165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ذٰلِكَ، يَبْقَى التَّفَاوُتُ عَمِيقًا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subjunctive / conditional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يَتَطَلَّبُ الوَضْعُ أَنْ تَتَحَرَّكَ الحُكُومَاتُ فَوْرًا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عُولِجَ التَّفَاوُتُ مُبَكِّرًا، لَتَحَسَّنَ الوَضْعُ</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إِذَا اسْتُثْمِرَ فِي التَّعْلِيمِ، سَتَضِيقُ الفَجْوَةُ</a:t>
            </a:r>
            <a:endParaRPr lang="ar-SA" sz="17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signals a subjunctive conclusion?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أَنْ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يَتَطَلَّبُ الوَضْعُ أَنْ ___ الحُكُومَاتُ فَوْرًا.</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signal ends the argument?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signals a subjunctive conclusion?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يَتَطَلَّبُ أَنْ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signals a subjunctive conclusion.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يَتَطَلَّبُ الوَضْعُ أَنْ ___ الحُكُومَاتُ فَوْرًا.</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تَتَحَرَّكُ</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تَتَحَرَّكَ</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تَتَحَرَّكْ</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تَتَحَرَّكَ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signals a counterfactual Type 2.</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signal ends the argument?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وَبِنَاءً عَلَى مَا سَبَقَ</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signals the conclusion.</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سَمِعْتُ «صَحِيحٌ أَنَّ» فَعَرَفْتُ أَنَّهُ رَأْيُ المُتَحَدِّثِ النِّهَائِيُّ.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ṣaḥīḥun anna = the speaker’s view?</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سَمِعْتُ «لَوْ» فَظَنَنْتُهُ خُطَّةً وَاقِعِيَّةً.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la- = a real plan?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حَاوَلْتُ الْتِقَاطَ كُلِّ كَلِمَةٍ لِأَفْهَمَ الحُجَّةَ.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catching every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سَمِعْتُ «صَحِيحٌ أَنَّ» فَعَرَفْتُ أَنَّهُ رَأْيُ المُتَحَدِّثِ النِّهَائِيُّ.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سَمِعْتُ «صَحِيحٌ أَنَّ» فَعَرَفْتُ أَنَّهُ تَسْلِيمٌ بِرَأْيِ الطَّرَفِ الآخَرِ.</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صَحِيحٌ أَنَّ</a:t>
            </a:r>
            <a:pPr algn="l" indent="0" marL="0">
              <a:buNone/>
            </a:pPr>
            <a:r>
              <a:rPr lang="en-US" sz="1150" b="1" dirty="0">
                <a:solidFill>
                  <a:srgbClr val="1B3B6F"/>
                </a:solidFill>
                <a:latin typeface="Calibri" pitchFamily="34" charset="0"/>
                <a:cs typeface="Amiri" pitchFamily="2" charset="-78"/>
              </a:rPr>
              <a:t> concedes the other side's point; the speaker's view follows </a:t>
            </a:r>
            <a:pPr algn="l" indent="0" marL="0">
              <a:buNone/>
            </a:pPr>
            <a:r>
              <a:rPr lang="ar-SA" altLang="en-US" sz="1500" b="1" dirty="0">
                <a:solidFill>
                  <a:srgbClr val="1B3B6F"/>
                </a:solidFill>
                <a:latin typeface="Amiri" pitchFamily="2" charset="-78"/>
                <a:ea typeface="Amiri" pitchFamily="2" charset="-78"/>
                <a:cs typeface="Amiri" pitchFamily="2" charset="-78"/>
              </a:rPr>
              <a:t>غَيْرَ 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سَمِعْتُ «لَوْ» فَظَنَنْتُهُ خُطَّةً وَاقِعِيَّةً.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2" charset="-78"/>
                <a:ea typeface="Amiri" pitchFamily="2" charset="-78"/>
                <a:cs typeface="Amiri" pitchFamily="2" charset="-78"/>
              </a:rPr>
              <a:t>سَمِعْتُ «لَوْ» مَعَ نَتِيجَةٍ بِـ«لَـ» فَعَرَفْتُ أَنَّهُ افْتِرَاضٌ.</a:t>
            </a:r>
            <a:endParaRPr lang="ar-SA" sz="215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لَوْ</a:t>
            </a:r>
            <a:pPr algn="l" indent="0" marL="0">
              <a:buNone/>
            </a:pPr>
            <a:r>
              <a:rPr lang="en-US" sz="1150" b="1" dirty="0">
                <a:solidFill>
                  <a:srgbClr val="1B3B6F"/>
                </a:solidFill>
                <a:latin typeface="Calibri" pitchFamily="34" charset="0"/>
                <a:cs typeface="Amiri" pitchFamily="2" charset="-78"/>
              </a:rPr>
              <a:t> with a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result signals a counterfactual, not a real plan.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حَاوَلْتُ الْتِقَاطَ كُلِّ كَلِمَةٍ لِأَفْهَمَ الحُجَّةَ.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تَتَبَّعْتُ بِنْيَةَ الحُجَّةِ لِأَفْهَمَهَا وَلَوْ فَاتَتْنِي كَلِمَاتٌ.</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Following the argument's structure lets you keep up even when words slip past.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Part 1: thesis, evidence, concession, refutation</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thesis?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Social inequality threatens stability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Inequality is beneficial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Inequality does not exist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is cited?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gap is narrowing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data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Studies confirm the wealth gap is widening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concede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Reforms are impossible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Reforms are unnecessary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Reforms need time and huge resources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refutation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pressing social need cannot wait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need can wait indefinitely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need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thesis · evidence · concession · refutation.</a:t>
            </a:r>
            <a:endParaRPr lang="en-US" sz="1250" dirty="0"/>
          </a:p>
          <a:p>
            <a:pPr algn="l" indent="0" marL="0">
              <a:buNone/>
            </a:pPr>
            <a:r>
              <a:rPr lang="en-US" sz="1250" dirty="0">
                <a:solidFill>
                  <a:srgbClr val="1E6B52"/>
                </a:solidFill>
                <a:latin typeface="Calibri" pitchFamily="34" charset="0"/>
                <a:cs typeface="Amiri" pitchFamily="2" charset="-78"/>
              </a:rPr>
              <a:t>Listen for: uṭrūḥatī anna · akkadat · ṣaḥīḥun anna · ghayra anna.</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يَقُولُ الأَكَادِيمِيُّ: أُطْرُوحَتِي أَنَّ التَّفَاوُتَ الاجْتِمَاعِيَّ يُهَدِّدُ الاسْتِقْرَارَ.</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academic says: my thesis is that social inequality threatens stability.</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أَكَّدَتِ الدِّرَاسَاتُ أَنَّ الفَجْوَةَ بَيْنَ الأَغْنِيَاءِ وَالفُقَرَاءِ تَتَّسِعُ.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Studies have confirmed that the gap between rich and poor is widening.</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صَحِيحٌ أَنَّ الإِصْلَاحَاتِ تَحْتَاجُ وَقْتًا طَوِيلًا وَمَوَارِدَ ضَخْمَةً، غَيْرَ أَنَّ الحَاجَةَ الاجْتِمَاعِيَّةَ المُلِحَّةَ لَا تَتَحَمَّلُ الانْتِظَارَ.</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true that reforms need a long time and huge resources; however, the pressing social need cannot bear waiting.</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thesis?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Social inequality threatens stability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Inequality is beneficial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Inequality does not exist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أُطْرُوحَتِي أَنَّ التَّفَاوُتَ الاجْتِمَاعِيَّ يُهَدِّدُ الاسْتِقْرَارَ.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is cited?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gap is narrowing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data</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Studies confirm the wealth gap is widening</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أَكَّدَتِ الدِّرَاسَاتُ أَنَّ الفَجْوَةَ بَيْنَ الأَغْنِيَاءِ وَالفُقَرَاءِ تَتَّسِعُ.</a:t>
            </a:r>
            <a:endParaRPr lang="ar-SA" sz="13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concede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Reforms are impossible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Reforms are unnecessary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Reforms need time and huge resources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صَحِيحٌ أَنَّ الإِصْلَاحَاتِ تَحْتَاجُ وَقْتًا طَوِيلًا وَمَوَارِدَ ضَخْمَةً.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refutation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pressing social need cannot wait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need can wait indefinitely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need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غَيْرَ أَنَّ الحَاجَةَ الاجْتِمَاعِيَّةَ المُلِحَّةَ لَا تَتَحَمَّلُ الانْتِظَارَ.</a:t>
            </a:r>
            <a:endParaRPr lang="ar-SA" sz="130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thesis · evidence · concession · refutation.</a:t>
            </a:r>
            <a:endParaRPr lang="en-US" sz="1250" dirty="0"/>
          </a:p>
          <a:p>
            <a:pPr algn="l" indent="0" marL="0">
              <a:buNone/>
            </a:pPr>
            <a:r>
              <a:rPr lang="en-US" sz="1250" dirty="0">
                <a:solidFill>
                  <a:srgbClr val="1E6B52"/>
                </a:solidFill>
                <a:latin typeface="Calibri" pitchFamily="34" charset="0"/>
                <a:cs typeface="Amiri" pitchFamily="2" charset="-78"/>
              </a:rPr>
              <a:t>Listen for: uṭrūḥatī anna · akkadat · ṣaḥīḥun anna · ghayra anna.</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Part 2: if, had, requires — the speaker’s stance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Had inequality been addressed decades ago, the situation would be much better</a:t>
            </a:r>
            <a:endParaRPr lang="en-US" sz="12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Timing makes no difference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situation cannot improve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conclusion (</a:t>
            </a:r>
            <a:pPr algn="l" indent="0" marL="0">
              <a:buNone/>
            </a:pPr>
            <a:r>
              <a:rPr lang="ar-SA" altLang="en-US" sz="1650" b="1" dirty="0">
                <a:solidFill>
                  <a:srgbClr val="1B3B6F"/>
                </a:solidFill>
                <a:latin typeface="Amiri" pitchFamily="2" charset="-78"/>
                <a:ea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wait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action is required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situation requires governments to act immediately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the speaker's position balanced or partisan?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Purely partisan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position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 it concedes before refuting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overall stance?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Social justice is a necessity, not a luxury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Social justice is a luxury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Social justice is impossible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if there is investment in early education?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gap will widen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gap will narrow gradually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will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Type 2 · trigger · balance · stance · Type 1.</a:t>
            </a:r>
            <a:endParaRPr lang="en-US" sz="1250" dirty="0"/>
          </a:p>
          <a:p>
            <a:pPr algn="l" indent="0" marL="0">
              <a:buNone/>
            </a:pPr>
            <a:r>
              <a:rPr lang="en-US" sz="1250" dirty="0">
                <a:solidFill>
                  <a:srgbClr val="1E6B52"/>
                </a:solidFill>
                <a:latin typeface="Calibri" pitchFamily="34" charset="0"/>
                <a:cs typeface="Amiri" pitchFamily="2" charset="-78"/>
              </a:rPr>
              <a:t>Listen for: law … la- · yataṭallabu an · wa-bināʾan ·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إِذَا اسْتُثْمِرَ فِي التَّعْلِيمِ المُبَكِّرِ، سَتَضِيقُ الفَجْوَةُ تَدْرِيجِيًّا. وَلَوْ عُولِجَ التَّفَاوُتُ قَبْلَ عُقُودٍ، لَتَحَسَّنَ الوَضْعُ كَثِيرًا.</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there is investment in early education, the gap will narrow gradually. And had inequality been addressed decades ago, the situation would have improved greatly.</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وَيَتَطَلَّبُ الوَضْعُ أَنْ تَتَحَرَّكَ الحُكُومَاتُ فَوْرًا.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the situation requires governments to act immediately.</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وَبِنَاءً عَلَى مَا سَبَقَ، فَإِنَّ مَوْقِفِي وَاضِحٌ: العَدَالَةُ الاجْتِمَاعِيَّةُ ضَرُورَةٌ لَا رَفَاهِيَةٌ.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Based on the above, my position is clear: social justice is a necessity, not a luxury.</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inequality been addressed decades ago, the situation would be much better</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Timing makes no difference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situation cannot improve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عُولِجَ التَّفَاوُتُ قَبْلَ عُقُودٍ، لَتَحَسَّنَ الوَضْعُ كَثِيرًا.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conclusion (</a:t>
            </a:r>
            <a:pPr algn="l" indent="0" marL="0">
              <a:buNone/>
            </a:pPr>
            <a:r>
              <a:rPr lang="ar-SA" altLang="en-US" sz="1650" b="1" dirty="0">
                <a:solidFill>
                  <a:srgbClr val="1B3B6F"/>
                </a:solidFill>
                <a:latin typeface="Amiri" pitchFamily="2" charset="-78"/>
                <a:ea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Governments should wait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action is required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situation requires governments to act immediately</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يَتَطَلَّبُ الوَضْعُ أَنْ تَتَحَرَّكَ الحُكُومَاتُ فَوْرًا.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the speaker's position balanced or partisan?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Purely partisan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position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Balanced — it concedes before refuting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concedes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then refutes (</a:t>
            </a:r>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so the position is balanced.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overall stance?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Social justice is a necessity, not a luxury</a:t>
            </a:r>
            <a:endParaRPr lang="en-US" sz="12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Social justice is a luxury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Social justice is impossible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العَدَالَةُ الاجْتِمَاعِيَّةُ ضَرُورَةٌ لَا رَفَاهِيَةٌ.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if there is investment in early education?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gap will widen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gap will narrow gradually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will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إِذَا اسْتُثْمِرَ فِي التَّعْلِيمِ المُبَكِّرِ، سَتَضِيقُ الفَجْوَةُ تَدْرِيجِيًّا.</a:t>
            </a:r>
            <a:endParaRPr lang="ar-SA" sz="130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Type 2 · trigger · balance · stance · Type 1.</a:t>
            </a:r>
            <a:endParaRPr lang="en-US" sz="1250" dirty="0"/>
          </a:p>
          <a:p>
            <a:pPr algn="l" indent="0" marL="0">
              <a:buNone/>
            </a:pPr>
            <a:r>
              <a:rPr lang="en-US" sz="1250" dirty="0">
                <a:solidFill>
                  <a:srgbClr val="1E6B52"/>
                </a:solidFill>
                <a:latin typeface="Calibri" pitchFamily="34" charset="0"/>
                <a:cs typeface="Amiri" pitchFamily="2" charset="-78"/>
              </a:rPr>
              <a:t>Listen for: law … la- · yataṭallabu an · wa-bināʾan ·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Speaking: report the argument you heard</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أُطْرُوحَةُ المُتَحَدِّثِ؟</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 سَلَّمَ، وَكَيْفَ رَدَّ؟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مَوْقِفُهُ مُتَوَازِنٌ أَمْ مُنْحَازٌ؟ وَلِمَاذَا؟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أُطْرُوحَةُ المُتَحَدِّثِ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سَلَّمَ بِأَنَّ ___ ، ثُمَّ رَدَّ بِأَنَّ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مَوْقِفُهُ ___ ، لِأَنَّهُ يُسَلِّمُ ثُمَّ يَرُدُّ.</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بِمَ سَلَّمَ المُتَحَدِّثُ؟</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the speaker concede?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سَلَّمَ بِـ«صَحِيحٌ أَنَّ الإِصْلَاحَاتِ تَحْتَاجُ وَقْتًا»، وَهُوَ رَأْيُ الطَّرَفِ الآخَرِ.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He conceded “it is true that reforms need time” — that is the other side’s view.</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Annotate five questions with the element (thesis / concession / refutation / trigger) you will listen for.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annotate five questions with the argument element you will listen for.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1750" b="1" dirty="0">
                <a:solidFill>
                  <a:srgbClr val="C9780A"/>
                </a:solidFill>
                <a:latin typeface="Cambria" pitchFamily="34" charset="0"/>
                <a:cs typeface="Amiri" pitchFamily="2" charset="-78"/>
              </a:rPr>
              <a:t>5 questions + whose view</a:t>
            </a:r>
            <a:endParaRPr lang="en-US" sz="175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whether each concession belongs to the other side or the speaker.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whether each point belongs to the other side or the speaker.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how the structure let you predict the refutation before hearing 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explain your listening strategy — thesis, ṣaḥīḥun anna, ghayra anna, the trigger, law … la-.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أَتَتَبَّعُ البِنْيَةَ لَا الكَلِمَاتِ المُفْرَدَةَ، لِأَنَّ ______ .</a:t>
            </a:r>
            <a:endParaRPr lang="ar-SA" sz="14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follow the structure, not single words,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أَتَرَقَّبُ «يَتَطَلَّبُ أَنْ» لِـ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wait for “yataṭallabu an” for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مَعَ «لَـ» تَعْنِي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“law” with “la-” means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وَهٰكَذَا أَتَنَبَّأُ بِمَا يَلِي وَلَوْ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I predict what follows, even if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الاسْتِمَاعِ، أَقْرَأُ الأَسْئِلَةَ وَأُحَدِّدُ ______ .</a:t>
            </a:r>
            <a:endParaRPr lang="ar-SA" sz="16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listening, I read the questions.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أُصْغِي أَوَّلًا إِلَى الأُطْرُوحَةِ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listen first for the thesis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«صَحِيحٌ أَنَّ» تَسْلِيمٌ بِرَأْيِ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“ṣaḥīḥun anna” is a concession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 أَنَّ» تَأْتِي بِـ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“ghayra anna” introduces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العُنْصُرَ المَطْلُوبَ  ·  المُقَدِّمَةِ  ·  الطَّرَفِ الآخَرِ  ·  المَوْقِفِ الأَقْوَى  ·  البِنْيَةَ تُسَاعِدُنِي عَلَى التَّنَبُّؤِ  ·  لِلْخَاتِمَةِ  ·  شَرْطًا افْتِرَاضِيًّا  ·  فَاتَتْنِي بَعْضُ الكَلِمَاتِ  ·  مُتَوَازِنٌ  ·  مُنْحَازٌ  ·  سَلَّمَ بِـ  ·  رَدَّ بِـ</a:t>
            </a:r>
            <a:endParaRPr lang="ar-SA" sz="13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eighty to ninety words explaining your listening strategy for argumentative texts. Describe how you find the thesis, hear ṣaḥīḥun anna as a concession and ghayra anna as the refutation, and catch a subjunctive trigger and a Type 2 conditional.</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rule that you follow the argument’s structure, not single words.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ṣaḥīḥun anna signals a concession to the other side.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ghayra anna signals the speaker’s stronger point.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How you catch a subjunctive trigger and a Type 2 conditional.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أَتَتَبَّعُ بِنْيَةَ الحُجَّةِ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follow the structure of the argument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الكَلِمَاتِ المُفْرَدَةَ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 single words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تَسْلِيمٌ بِرَأْيِ الطَّرَفِ الآخَرِ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concession to the other side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وَهُوَ المَوْقِفُ الأَقْوَى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which is the stronger position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وَلَوْ فَاتَتْنِي بَعْضُ الكَلِمَاتِ</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even if some words escape me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قَبْلَ الاسْتِمَاعِ إِلَى نَصٍّ جَدَلِيٍّ، أَقْرَأُ الأَسْئِلَةَ وَأَتَتَبَّعُ بِنْيَةَ الحُجَّةِ لَا الكَلِمَاتِ المُفْرَدَةَ. أُصْغِي أَوَّلًا إِلَى الأُطْرُوحَةِ فِي المُقَدِّمَةِ. ثُمَّ أَتَرَقَّبُ «صَحِيحٌ أَنَّ»، فَهِيَ تَسْلِيمٌ بِرَأْيِ الطَّرَفِ الآخَرِ، لَا رَأْيُ المُتَحَدِّثِ. وَبَعْدَهَا يَأْتِي الرَّدُّ بِـ«غَيْرَ أَنَّ»، وَهُوَ المَوْقِفُ الأَقْوَى. وَأَتَرَقَّبُ «يَتَطَلَّبُ أَنْ» لِلْخَاتِمَةِ، وَ«لَوْ» مَعَ «لَـ» لِلشَّرْطِ الافْتِرَاضِيِّ. وَهٰكَذَا أَتَنَبَّأُ بِمَا يَلِي وَأُتَابِعُ الحُجَّةَ وَلَوْ فَاتَتْنِي بَعْضُ الكَلِمَاتِ.</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Before listening to an argumentative text, I read the questions and follow the structure of the argument, not single words. I listen first for the thesis in the introduction. Then I wait for “ṣaḥīḥun anna”, which is a concession to the other side, not the speaker’s view. After it comes the response with “ghayra anna”, which is the stronger position. I wait for “yataṭallabu an” for the conclusion, and “law” with “la-” for the hypothetical conditional. In this way I predict what follows and follow the argument, even if some words escape 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structure, not single words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ṣaḥīḥun anna: the other side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ghayra anna: the stronger 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 hypothetical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Before listening, I labelled each question: thesis, concession, refutation or trigger.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caught the thesis in the introduction.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the point after ṣaḥīḥun anna to the OTHER side.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waited for sa- / la- before deciding the conditional.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predicted the refutation and judged the speaker: balanced or partisan.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signal in speech?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point the speaker concedes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own conclusion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Another concession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stronger point (refutation)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end</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signal in speech?</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point the speaker concedes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own conclusion</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signals a conceded point.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Another concession</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speaker's stronger point (refutation)</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end</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signals the refutation.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signals a counterfactual Type 2.</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a listening strategy guide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لِتَنْجَحَ فِي الاسْتِمَاعِ إِلَى النُّصُوصِ الجَدَلِيَّةِ، تَتَبَّعْ بِنْيَةَ الحُجَّةِ لَا الكَلِمَاتِ المُفْرَدَةَ. اسْتَمِعْ أَوَّلًا إِلَى الأُطْرُوحَةِ فِي المُقَدِّمَةِ. ثُمَّ تَرَقَّبْ «صَحِيحٌ أَنَّ»؛ فَهِيَ إِشَارَةٌ إِلَى تَسْلِيمٍ بِرَأْيِ الطَّرَفِ الآخَرِ، لَا إِلَى رَأْيِ المُتَحَدِّثِ نَفْسِهِ. وَبَعْدَهَا يَأْتِي الرَّدُّ بِـ«غَيْرَ أَنَّ» أَوْ «مَعَ ذٰلِكَ»، وَهُوَ المَوْقِفُ الأَقْوَى. وَتَرَقَّبْ مُسَبِّبَ النَّصْبِ مِثْلَ «يَتَطَلَّبُ أَنْ» لِلْخَاتِمَةِ، وَ«لَوْ» مَعَ «لَـ» لِلشَّرْطِ الافْتِرَاضِيِّ. فَإِذَا عَرَفْتَ البِنْيَةَ، تَنَبَّأْتَ بِمَا يَلِي، وَتَابَعْتَ الحُجَّةَ وَلَوْ فَاتَتْكَ كَلِمَاتٌ.</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أُطْرُوحَتِي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thesis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تَتَّسِعُ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widening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تَتَحَمَّلُ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cannot bear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الانْتِظَارَ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waiting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تَدْرِيجِيًّا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gradually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عُولِجَ</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 treated, addressed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عُقُودٍ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decades ago</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فَوْرًا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immediately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رَفَاهِيَةٌ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luxury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تَرَقَّبْ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look out for!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follow in an argumentative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single word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argument's structure, not individual words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first word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own conclusion</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 to the other side, not the speaker's view</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after the concession?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refutation with </a:t>
            </a:r>
            <a:pPr algn="l" indent="0" marL="0">
              <a:buNone/>
            </a:pPr>
            <a:r>
              <a:rPr lang="ar-SA" altLang="en-US" sz="1650" dirty="0">
                <a:solidFill>
                  <a:srgbClr val="1F2A37"/>
                </a:solidFill>
                <a:latin typeface="Amiri" pitchFamily="2" charset="-78"/>
                <a:ea typeface="Amiri" pitchFamily="2" charset="-78"/>
                <a:cs typeface="Amiri" pitchFamily="2" charset="-78"/>
              </a:rPr>
              <a:t>غَيْرَ أَنَّ</a:t>
            </a:r>
            <a:pPr algn="l" indent="0" marL="0">
              <a:buNone/>
            </a:pPr>
            <a:r>
              <a:rPr lang="en-US" sz="1250" dirty="0">
                <a:solidFill>
                  <a:srgbClr val="1F2A37"/>
                </a:solidFill>
                <a:latin typeface="Calibri" pitchFamily="34" charset="0"/>
                <a:cs typeface="Amiri" pitchFamily="2" charset="-78"/>
              </a:rPr>
              <a:t> — the stronger position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Another thesis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Silence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marker signals the subjunctive conclusion?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أَنْ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knowing the structure useful?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can predict what follows and keep up if words slip past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replaces listening</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only decorative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follow in an argumentative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single word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argument's structure, not individual words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first word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تَتَبَّعْ بِنْيَةَ الحُجَّةِ لَا الكَلِمَاتِ المُفْرَدَةَ.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own conclusion</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concession to the other side, not the speaker's view</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إِشَارَةٌ إِلَى تَسْلِيمٍ بِرَأْيِ الطَّرَفِ الآخَرِ.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after the concession?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refutation with </a:t>
            </a:r>
            <a:pPr algn="l" indent="0" marL="0">
              <a:buNone/>
            </a:pPr>
            <a:r>
              <a:rPr lang="ar-SA" altLang="en-US" sz="1500" b="1" dirty="0">
                <a:solidFill>
                  <a:srgbClr val="1F2A37"/>
                </a:solidFill>
                <a:latin typeface="Amiri" pitchFamily="2" charset="-78"/>
                <a:ea typeface="Amiri" pitchFamily="2" charset="-78"/>
                <a:cs typeface="Amiri" pitchFamily="2" charset="-78"/>
              </a:rPr>
              <a:t>غَيْرَ أَنَّ</a:t>
            </a:r>
            <a:pPr algn="l" indent="0" marL="0">
              <a:buNone/>
            </a:pPr>
            <a:r>
              <a:rPr lang="en-US" sz="1150" b="1" dirty="0">
                <a:solidFill>
                  <a:srgbClr val="1F2A37"/>
                </a:solidFill>
                <a:latin typeface="Calibri" pitchFamily="34" charset="0"/>
                <a:cs typeface="Amiri" pitchFamily="2" charset="-78"/>
              </a:rPr>
              <a:t> — the stronger position</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Another thesis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Silence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يَأْتِي الرَّدُّ بِـ«غَيْرَ أَنَّ» … وَهُوَ المَوْقِفُ الأَقْوَى.</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marker signals the subjunctive conclusion?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يَتَطَلَّبُ أَنْ</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تَرَقَّبْ مُسَبِّبَ النَّصْبِ مِثْلَ «يَتَطَلَّبُ أَنْ» لِلْخَاتِمَةِ.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knowing the structure useful?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 can predict what follows and keep up if words slip past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replaces listening</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only decorative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فَإِذَا عَرَفْتَ البِنْيَةَ، تَنَبَّأْتَ بِمَا يَلِي.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Listening Mission — Follow the Argument</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Structure: where is the thesis?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conclusion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introduction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nowhere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Signal:</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صَحِيحٌ أَنَّ</a:t>
            </a:r>
            <a:pPr algn="l" indent="0" marL="0">
              <a:buNone/>
            </a:pPr>
            <a:r>
              <a:rPr lang="en-US" sz="1450" b="1" dirty="0">
                <a:solidFill>
                  <a:srgbClr val="1F2A37"/>
                </a:solidFill>
                <a:latin typeface="Calibri" pitchFamily="34" charset="0"/>
                <a:cs typeface="Amiri" pitchFamily="2" charset="-78"/>
              </a:rPr>
              <a:t> marks …</a:t>
            </a:r>
            <a:endParaRPr lang="en-US" sz="14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a:t>
            </a:r>
            <a:endParaRPr lang="en-US" sz="12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conclusion</a:t>
            </a:r>
            <a:endParaRPr lang="en-US" sz="12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Signal:</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غَيْرَ أَنَّ</a:t>
            </a:r>
            <a:pPr algn="l" indent="0" marL="0">
              <a:buNone/>
            </a:pPr>
            <a:r>
              <a:rPr lang="en-US" sz="1450" b="1" dirty="0">
                <a:solidFill>
                  <a:srgbClr val="1F2A37"/>
                </a:solidFill>
                <a:latin typeface="Calibri" pitchFamily="34" charset="0"/>
                <a:cs typeface="Amiri" pitchFamily="2" charset="-78"/>
              </a:rPr>
              <a:t> marks …</a:t>
            </a:r>
            <a:endParaRPr lang="en-US" sz="145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a:t>
            </a:r>
            <a:endParaRPr lang="en-US" sz="12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thesis</a:t>
            </a:r>
            <a:endParaRPr lang="en-US" sz="12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refutation</a:t>
            </a:r>
            <a:endParaRPr lang="en-US" sz="12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Attribution: the point after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conclusion</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other side</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Trigger: which marks a subjunctive conclusion?</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أَنْ</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الوَضْعُ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 فَوْرًا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Structure: where is the thesis?</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conclusion only</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introduction</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nowhere</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thesis opens the text.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Signal:</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صَحِيحٌ أَنَّ</a:t>
            </a:r>
            <a:pPr algn="l" indent="0" marL="0">
              <a:buNone/>
            </a:pPr>
            <a:r>
              <a:rPr lang="en-US" sz="1450" b="1" dirty="0">
                <a:solidFill>
                  <a:srgbClr val="1F2A37"/>
                </a:solidFill>
                <a:latin typeface="Calibri" pitchFamily="34" charset="0"/>
                <a:cs typeface="Amiri" pitchFamily="2" charset="-78"/>
              </a:rPr>
              <a:t> marks …</a:t>
            </a:r>
            <a:endParaRPr lang="en-US" sz="14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concession</a:t>
            </a:r>
            <a:endParaRPr lang="en-US" sz="125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conclusion</a:t>
            </a:r>
            <a:endParaRPr lang="en-US" sz="125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marks a concession.</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Signal:</a:t>
            </a:r>
            <a:endParaRPr lang="en-US" sz="1200" dirty="0"/>
          </a:p>
        </p:txBody>
      </p:sp>
      <p:sp>
        <p:nvSpPr>
          <p:cNvPr id="51" name="Text 49"/>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غَيْرَ أَنَّ</a:t>
            </a:r>
            <a:pPr algn="l" indent="0" marL="0">
              <a:buNone/>
            </a:pPr>
            <a:r>
              <a:rPr lang="en-US" sz="1450" b="1" dirty="0">
                <a:solidFill>
                  <a:srgbClr val="1F2A37"/>
                </a:solidFill>
                <a:latin typeface="Calibri" pitchFamily="34" charset="0"/>
                <a:cs typeface="Amiri" pitchFamily="2" charset="-78"/>
              </a:rPr>
              <a:t> marks …</a:t>
            </a:r>
            <a:endParaRPr lang="en-US" sz="145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concession</a:t>
            </a:r>
            <a:endParaRPr lang="en-US" sz="125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thesis</a:t>
            </a:r>
            <a:endParaRPr lang="en-US" sz="125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refutation</a:t>
            </a:r>
            <a:endParaRPr lang="en-US" sz="125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marks the refutation.</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Attribution: the point after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conclusion</a:t>
            </a:r>
            <a:endParaRPr lang="en-US" sz="125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a:t>
            </a:r>
            <a:endParaRPr lang="en-US" sz="125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other side</a:t>
            </a:r>
            <a:endParaRPr lang="en-US" sz="125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conceded point belongs to the other side.</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Trigger: which marks a subjunctive conclusion?</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يَتَطَلَّبُ أَنْ</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marks a subjunctive conclusion.</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الوَضْعُ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 فَوْرًا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تَتَحَرَّكُ</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تَتَحَرَّكَ</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تَتَحَرَّكْ</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تَتَحَرَّكَ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P5-L11 · Consolidation — Speaking Preparation and P5 Complete Review</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التِّلْقَائِيَّةُ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spontaneity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الأَدَاءُ تَحْتَ الضَّغْطِ</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performance under pressure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التَّشْكِيلُ الدَّقِيقُ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precise vowelling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الثِّقَةُ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confidence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P5 structure is hardest for you to SAY without notes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أَصْعَبُ تَرْكِيبٍ عَلَيَّ هُوَ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Listen to a short Arabic opinion clip and note the thesis and one concession.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Note whose view each point is (the speaker or the other side).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listening strategy.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P5-L11 · Consolidation — Speaking Preparation and P5 Complete Review</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تَرْسِيخُ الوَحْدَةِ — 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follow the shape, not every word — thesis first; ṣaḥīḥun anna = the OTHER side; ghayra anna = the speaker; wait for sa- / la-; yataṭallabu an = the demand; wa-bināʾan ʿalā mā sabaqa = the end.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P5-L10 · Listening — Social Issues and Opinions Texts</dc:title>
  <dc:subject>PptxGenJS Presentation</dc:subject>
  <dc:creator>Al Madina Online School · Arabic Department</dc:creator>
  <cp:lastModifiedBy>Al Madina Online School · Arabic Department</cp:lastModifiedBy>
  <cp:revision>1</cp:revision>
  <dcterms:created xsi:type="dcterms:W3CDTF">2026-10-11T06:43:31Z</dcterms:created>
  <dcterms:modified xsi:type="dcterms:W3CDTF">2026-10-11T06:43:31Z</dcterms:modified>
</cp:coreProperties>
</file>