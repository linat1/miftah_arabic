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P5 Social Issues and Opinions › P5-L10. The website lesson “Listening — Social Issues and Opinions Texts”: vocabulary, grammar rules and quiz, patterns, common mistakes, sorter, listening, reading, speaking prompts and model, writing task and model, differentiation, final check and the lesson mission. Picture match: website visual game “Listening — Social Issues and Opinions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LISTENING-SKILLS LESSON (IGCSE Paper 1 style): the website listening is played as two short listens, each twice. The grammar slides are a listening toolkit built on the essay architecture of P5-L07 to L09.
• Core: annotate five questions with the argument element you will listen for — thesis, concession, refutation or trigger (website Core). Develop: add whether each point belongs to the other side or to the speaker. Stretch: explain how the structure let you predict the refutation before hearing it.
• The key Paper 1 trap (website teaching point 2): the point after ṣaḥīḥun anna is NOT the speaker’s view — it is conceded to the other side. The speaker’s real position comes after ghayra anna. The P5 listening target on the website is 14+ out of 20.
• Grammar links: concession–refutation (P5-L01, L07, L08) · result markers by ear (P3-L10, P4-L10) · passive past (P5-L02, L05).
• TEACHER-WRITTEN ITEMS: the website listening is split into two short listens with one teacher-added question (the Type 1 forecast); waṣl alif shown without a kasra; لِكَيْ always written with its sukūn; يَصِرُّ → يُصِرُّ (vocabulary); rule formulas, vocabulary notes, pattern tips, writing prompt and checklist in transliteration; sorter headings in transliteration; the signal, attribution, marker and strategy tables are teacher-built from the website listening and reading; no visual game.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P5-L09. Questions 4–5 retrieve the thesis and the Type 2 (P5-L09) — today students hear the essay architecture they have just written.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An argument always has the same shape — so when you hear “ṣaḥīḥun anna”, you already know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اشارہ, موقف, توازن and اصلاح are shared — the whole lesson is about hearing the اشارہ (signal) that shows the speaker’s موقف (position). Remember: Urdu سماعت is a court hearing; Arabic السَّمَاعُ / الاسْتِمَاعُ =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for argument structure (website vocabulary (1 of 2)). Hear → Say → See → Use. Transliteration is printed for Core students (cover it for Develop/Stretch).
Listening for structure: الأُطْرُوحَةُ (thesis) comes in the introduction; إِشَارَةُ التَّسْلِيمِ (the concession signal) = صَحِيحٌ أَنَّ; إِشَارَةُ الرَّدِّ (the refutation signal) = غَيْرَ أَنَّ. A speaker who concedes and then refutes is مُتَوَازِنٌ; one who never concedes is مُنْحَازٌ.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for argument structure (website vocabulary (2 of 2)). Hear → Say → See → Use. Transliteration is printed for Core students (cover it for Develop/Stretch).
Listening for structure: الأُطْرُوحَةُ (thesis) comes in the introduction; إِشَارَةُ التَّسْلِيمِ (the concession signal) = صَحِيحٌ أَنَّ; إِشَارَةُ الرَّدِّ (the refutation signal) = غَيْرَ أَنَّ. A speaker who concedes and then refutes is مُتَوَازِنٌ; one who never concedes is مُنْحَازٌ.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Social issues content heard (website vocabulary (1 of 2)). Hear → Say → See → Use. Transliteration is printed for Core students (cover it for Develop/Stretch).
Content you will hear — the social-issue words of P5. الحَاجَةُ المُلِحَّةُ = the pressing need; لَا تَتَحَمَّلُ الانْتِظَارَ = cannot bear waiting. These words usually arrive right AFTER the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Social issues content heard (website vocabulary (2 of 2)). Hear → Say → See → Use. Transliteration is printed for Core students (cover it for Develop/Stretch).
FLEX: teach if time allows; otherwise these are on the website vocabulary tab for homework.
Content you will hear — the social-issue words of P5. الحَاجَةُ المُلِحَّةُ = the pressing need; لَا تَتَحَمَّلُ الانْتِظَارَ = cannot bear waiting. These words usually arrive right AFTER the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Grammar markers by ear (website vocabulary (1 of 2)). Hear → Say → See → Use. Transliteration is printed for Core students (cover it for Develop/Stretch).
FLEX: teach if time allows; otherwise these are on the website vocabulary tab for homework.
Grammar markers by ear: a checklist for the two listens — ṣaḥīḥun anna · ghayra anna · yataṭallabu an · law … la- · idhā … sa- · wa-bināʾan ʿalā mā sabaqa · yuṣirru ʿalā an · kāna qad.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Grammar markers by ear (website vocabulary (2 of 2)). Hear → Say → See → Use. Transliteration is printed for Core students (cover it for Develop/Stretch).
FLEX: teach if time allows; otherwise these are on the website vocabulary tab for homework.
Grammar markers by ear: a checklist for the two listens — ṣaḥīḥun anna · ghayra anna · yataṭallabu an · law … la- · idhā … sa- · wa-bināʾan ʿalā mā sabaqa · yuṣirru ʿalā an · kāna qad.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“Find the thesis”, “Concession signal” and “Refutation signal”, the website table and teaching point 1 (“Argument speech has a predictable shape”).
Pre-listening routine: write T · E · C · R · Con down the margin. As you hear each signal, tick it — you always know where you are in the talk.
Row 1: the speaker says أُطْرُوحَتِي (my thesis) — a gift! Most speakers are less explicit; then the thesis is simply the FIRST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teaching point 2 (“ṣaḥīḥun anna signals conceding, not asserting”), mistake 1 and quiz 4.
The Paper 1 trap: a question asks “What does the speaker think about reforms?” — the option “reforms need time” is TRUE in the text but is the conceded point. The correct option is what follows ghayra anna.
Card 3: prediction. As soon as students hear ṣaḥīḥun anna, they should whisper “ghayra anna is coming” — and listen for the opposite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“Trigger and conditionals”, mistake 2, quiz 5–7 and mission rounds 7, 8 and 12.
Listening rule: do NOT decide the conditional when you hear the first word — wait for the result marker (sa- / la-). Mission round 12: «لَوْ عُولِجَ … لَتَحَسَّنَ» means the early treatment did NOT happen.
Row 4: two passive pasts by ear — اسْتُثْمِرَ (ustuthmira, “was invested”) and عُولِجَ (ʿūlija, “was treated”). The u-sound at the start is the clue.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the website reading (a listening strategy guide), mistake 3 and the website writing model.
Note the imperatives in the guide (تَتَبَّعْ · اسْتَمِعْ · تَرَقَّبْ) — useful verbs for the writing task, where students turn them into the first person (أَتَتَبَّعُ · أُصْغِي · أَتَرَقَّبُ).
وَلَوْ فَاتَتْكَ كَلِمَاتٌ = even if some words escape you — here وَلَوْ means “even if”, not a Type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 listening toolkit: find the thesis, hear صَحِيحٌ أَنَّ as a concession and غَيْرَ أَنَّ as a refutation, and catch subjunctive triggers and both conditional types.”
• Find the thesis: The speaker's main claim opens the text.
• Concession signal: Signals a point the speaker concedes.
• Refutation signal: The speaker's real position follows.
• Trigger and conditionals: Catch the subjunctive conclusion and the conditional type.
Website common error: Attributing the point after صَحِيحٌ أَنَّ to the speaker. It is a concession to the other side; the speaker's real position follows غَيْرَ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Model it on the question paper: write the element you expect next to each question number (Q1 → thesis · Q3 → concession · Q4 → refutation · Q5 → law … la- · Q6 → yataṭallabu). Then play Part 1 and tick the signals as you hear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(flex) — the website live builder: “Build a heard-argument report from a thesis, a concession-refutation pair and a subjunctive conclusion.” Website feedback: any three different combinations work.
Use after the two listens: students retell the academic’s talk in the third person with the reporting verbs سَلَّمَ بِـ (conceded) · رَدَّ بِـ (responded with) · خَتَمَ بِـ (closed with). Row 1 matches the listening exactly.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read each card aloud at full speed and let a partner sort it by ear only (eyes closed) — they must catch the signal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read each card aloud at full speed and let a partner sort it by ear only (eyes closed) — they must catch the signal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Develop/Stretch: all four — and say whose view each answer is (the speaker or the other side).
Listen 1: just listen. Listen 2: note answers. Then chat the letters.
Support: after the second listening, show the read-along slide (Arabic + English, line by line) for Core students.
SCRIPT (read aloud):
يَقُولُ الأَكَادِيمِيُّ: أُطْرُوحَتِي أَنَّ التَّفَاوُتَ الاجْتِمَاعِيَّ يُهَدِّدُ الاسْتِقْرَارَ. أَكَّدَتِ الدِّرَاسَاتُ أَنَّ الفَجْوَةَ بَيْنَ الأَغْنِيَاءِ وَالفُقَرَاءِ تَتَّسِعُ. صَحِيحٌ أَنَّ الإِصْلَاحَاتِ تَحْتَاجُ وَقْتًا طَوِيلًا وَمَوَارِدَ ضَخْمَةً، غَيْرَ أَنَّ الحَاجَةَ الاجْتِمَاعِيَّةَ المُلِحَّةَ لَا تَتَحَمَّلُ الانْتِظَارَ.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Develop/Stretch: all five — and for question 1, say what did NOT happen (inequality was not addressed decades ago).
Listen 1: just listen. Listen 2: note answers. Then chat the letters.
Support: after the second listening, show the read-along slide (Arabic + English, line by line) for Core students.
SCRIPT (read aloud):
إِذَا اسْتُثْمِرَ فِي التَّعْلِيمِ المُبَكِّرِ، سَتَضِيقُ الفَجْوَةُ تَدْرِيجِيًّا. وَلَوْ عُولِجَ التَّفَاوُتُ قَبْلَ عُقُودٍ، لَتَحَسَّنَ الوَضْعُ كَثِيرًا. وَيَتَطَلَّبُ الوَضْعُ أَنْ تَتَحَرَّكَ الحُكُومَاتُ فَوْرًا. وَبِنَاءً عَلَى مَا سَبَقَ، فَإِنَّ مَوْقِفِي وَاضِحٌ: العَدَالَةُ الاجْتِمَاعِيَّةُ ضَرُورَةٌ لَا رَفَاهِيَةٌ.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رَدَّ؟ (Refutation)
B: رَدَّ بِـ«غَيْرَ أَنَّ الحَاجَةَ المُلِحَّةَ لَا تَتَحَمَّلُ الانْتِظَارَ»، وَهٰذَا مَوْقِفُهُ الأَقْوَى. (غَيْرَ أَنَّ → refutation)
Website prompts and model. Pairs replay the academic’s talk from memory: A names a signal (ṣaḥīḥun anna · ghayra anna · law), B gives the sentence it introduced and says whose view it is. Swap. For a female speaker: سَلَّمَتْ · رَدَّتْ · مَوْقِفُهَا.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Annotate five questions with the element (thesis / concession / refutation / trigger) you will listen for. · Develop — Add whether each concession belongs to the other side or the speaker. · Stretch — Explain how the structure let you predict the refutation before hearing it.
Website writing task (Stretch): Write eighty to ninety words explaining your listening strategy for argumentative texts. Describe how you find the thesis, hear ṣaḥīḥun anna as a concession and ghayra anna as the refutation, and catch a subjunctive trigger and a Type 2 conditional.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أَتَتَبَّعُ بِنْيَةَ الحُجَّةِ لَا الكَلِمَاتِ المُفْرَدَةَ · أُصْغِي أَوَّلًا إِلَى الأُطْرُوحَةِ · «صَحِيحٌ أَنَّ» … تَسْلِيمٌ بِرَأْيِ الطَّرَفِ الآخَرِ · «غَيْرَ أَنَّ» … المَوْقِفُ الأَقْوَى · «يَتَطَلَّبُ أَنْ» لِلْخَاتِمَةِ · «لَوْ» مَعَ «لَـ» · أَتَنَبَّأُ بِمَا يَلِي.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(P5-L11 · Consolidation — Speaking Preparation and P5 Complete Review) will spend class time USING this language, so students prepare it tonight — short, simple, easy to access (school guidance: “Simple, Short, Interesting, Relevant, Easy to access”). The five words come from the website P5-L11 vocabulary (speaking preparation and review).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P5  ·  P5-L10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P5-L10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Listening — Social Issues and Opinions Texts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الاسْتِمَاعُ — نُصُوصُ القَضَايَا الاجْتِمَاعِيَّةِ وَالآرَاءِ</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Follow an argument by its shape: the thesis comes first; ṣaḥīḥun anna = a point the speaker CONCEDES to the other side; ghayra anna = the speaker’s real position; yataṭallabu an = the demand; sa- / la- decide the conditional; wa-bināʾan ʿalā mā sabaqa = the end.</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P5-L10 · Progression P5 · Social Issues and Opinions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P5 › P5-L10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50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Signal → job → whose view, the attribution trap, conditionals and triggers by ear, the strategy guide.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050" dirty="0">
                <a:solidFill>
                  <a:srgbClr val="1F2A37"/>
                </a:solidFill>
                <a:latin typeface="Calibri" pitchFamily="34" charset="0"/>
                <a:ea typeface="Calibri" pitchFamily="34" charset="-122"/>
                <a:cs typeface="Calibri" pitchFamily="34" charset="-120"/>
              </a:rPr>
              <a:t>Two short listens, build a heard-argument report, sort thesis / concession–refutation / subjunctive–conditional.</a:t>
            </a:r>
            <a:endParaRPr lang="en-US" sz="105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P5-L11.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50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إِشَارَةُ التَّسْلِيمِ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traffic signal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concession signal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final answer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مَوْقِفُ المُتَحَدِّثِ</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speaker’s position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speaker’s seat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speaker’s question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مُنْحَازٌ</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balanced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silent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one-sided, partisan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thesis, not just a topic?</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الهِجْرَةُ مَوْضُوعٌ مُهِمٌّ.</a:t>
            </a:r>
            <a:endParaRPr lang="ar-SA" sz="150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سَأَتَحَدَّثُ عَنِ الهِجْرَةِ.</a:t>
            </a:r>
            <a:endParaRPr lang="ar-SA" sz="150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الهِجْرَةُ تُثْرِي المُجْتَمَعَاتِ أَكْثَرَ مِمَّا تُضْعِفُهَا.</a:t>
            </a:r>
            <a:endParaRPr lang="ar-SA" sz="150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لَوْ فُتِحَتِ الأَبْوَابُ مُبَكِّرًا،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التَّوَتُّرَ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لَتَجَنَّبْنَا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سَنَتَجَنَّبُ</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نَتَجَنَّبُ</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50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إِشَارَةُ التَّسْلِيمِ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traffic signal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concession signal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final answer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مَوْقِفُ المُتَحَدِّثِ</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speaker’s position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speaker’s seat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speaker’s question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مُنْحَازٌ</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balanced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silent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one-sided, partisan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(P5-L09).</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thesis, not just a topic?</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الهِجْرَةُ مَوْضُوعٌ مُهِمٌّ.</a:t>
            </a:r>
            <a:endParaRPr lang="ar-SA" sz="15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سَأَتَحَدَّثُ عَنِ الهِجْرَةِ.</a:t>
            </a:r>
            <a:endParaRPr lang="ar-SA" sz="15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الهِجْرَةُ تُثْرِي المُجْتَمَعَاتِ أَكْثَرَ مِمَّا تُضْعِفُهَا.</a:t>
            </a:r>
            <a:endParaRPr lang="ar-SA" sz="15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P5-L09: a position to defend.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لَوْ فُتِحَتِ الأَبْوَابُ مُبَكِّرًا،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التَّوَتُّرَ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لَتَجَنَّبْنَا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سَنَتَجَنَّبُ</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نَتَجَنَّبُ</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P5-L09: Type 2 → la-.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An argument always has the same shape — so when you hear “ṣaḥīḥun anna”, you already know what comes next.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صَحِيحٌ أَنَّ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الطَّرَفُ الآخَرُ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غَيْرَ أَنَّ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رَأْيُ المُتَحَدِّثِ</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50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Predict which argument element each question targets before listening.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Hear ṣaḥīḥun anna as a concession signal and ghayra anna as the refutation.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Catch subjunctive triggers and both conditional types in fast speech.</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Reach the P5 listening target of fourteen or more out of twenty.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hear the thesis in the introduction.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answer 5 questions from the two listens.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whose view follows ṣaḥīḥun anna.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hear sa- / la- and name the conditional.</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predict the refutation before I hear it.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judge the speaker: balanced or partisan.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50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Listening for argument structure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Social issues content heard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Grammar markers by ear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إِشَارَةٌ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‎اشارہ‎ </a:t>
            </a:r>
            <a:pPr indent="0" marL="0">
              <a:buNone/>
            </a:pPr>
            <a:r>
              <a:rPr lang="en-US" sz="950" b="1" dirty="0">
                <a:solidFill>
                  <a:srgbClr val="2E8B57"/>
                </a:solidFill>
                <a:latin typeface="Calibri" pitchFamily="34" charset="0"/>
                <a:ea typeface="Calibri" pitchFamily="34" charset="-122"/>
                <a:cs typeface="Calibri" pitchFamily="34" charset="-120"/>
              </a:rPr>
              <a:t> ishāra · a signal, a sign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مَوْقِفٌ</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‎موقف‎ </a:t>
            </a:r>
            <a:pPr indent="0" marL="0">
              <a:buNone/>
            </a:pPr>
            <a:r>
              <a:rPr lang="en-US" sz="950" b="1" dirty="0">
                <a:solidFill>
                  <a:srgbClr val="2E8B57"/>
                </a:solidFill>
                <a:latin typeface="Calibri" pitchFamily="34" charset="0"/>
                <a:ea typeface="Calibri" pitchFamily="34" charset="-122"/>
                <a:cs typeface="Calibri" pitchFamily="34" charset="-120"/>
              </a:rPr>
              <a:t> mauqif · a position, a stance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تَوَازُنٌ · مُتَوَازِنٌ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‎توازن‎ </a:t>
            </a:r>
            <a:pPr indent="0" marL="0">
              <a:buNone/>
            </a:pPr>
            <a:r>
              <a:rPr lang="en-US" sz="950" b="1" dirty="0">
                <a:solidFill>
                  <a:srgbClr val="2E8B57"/>
                </a:solidFill>
                <a:latin typeface="Calibri" pitchFamily="34" charset="0"/>
                <a:ea typeface="Calibri" pitchFamily="34" charset="-122"/>
                <a:cs typeface="Calibri" pitchFamily="34" charset="-120"/>
              </a:rPr>
              <a:t> tawāzun · balance · balanced</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إِصْلَاحٌ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‎اصلاح‎ </a:t>
            </a:r>
            <a:pPr indent="0" marL="0">
              <a:buNone/>
            </a:pPr>
            <a:r>
              <a:rPr lang="en-US" sz="950" b="1" dirty="0">
                <a:solidFill>
                  <a:srgbClr val="2E8B57"/>
                </a:solidFill>
                <a:latin typeface="Calibri" pitchFamily="34" charset="0"/>
                <a:ea typeface="Calibri" pitchFamily="34" charset="-122"/>
                <a:cs typeface="Calibri" pitchFamily="34" charset="-120"/>
              </a:rPr>
              <a:t> islāh · reform, correction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سَمَاعٌ</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‎سماعت‎ </a:t>
            </a:r>
            <a:pPr indent="0" marL="0">
              <a:buNone/>
            </a:pPr>
            <a:r>
              <a:rPr lang="en-US" sz="950" b="1" dirty="0">
                <a:solidFill>
                  <a:srgbClr val="2E8B57"/>
                </a:solidFill>
                <a:latin typeface="Calibri" pitchFamily="34" charset="0"/>
                <a:ea typeface="Calibri" pitchFamily="34" charset="-122"/>
                <a:cs typeface="Calibri" pitchFamily="34" charset="-120"/>
              </a:rPr>
              <a:t> samāat · Arabic: hearing (listening) · Urdu: a court hearing</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50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Listening for argument structure (1 of 2)</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الاسْتِمَاعُ لِبِنْيَةِ الحُجَّةِ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listening for argument structure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als-ti-mā-ʿu li-bin-ya-ti al-ḥuj-ja-ti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الأُطْرُوحَةُ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thesis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al-uṭ-rū-ḥa-tu</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الأُطْرُوحَاتُ</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5" name="Shape 3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إِشَارَةُ التَّسْلِيمِ</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concession signal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i-shā-ra-tu at-tas-lī-mi</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إِشَارَاتُ التَّسْلِيمِ</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7" name="Shape 44"/>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ghayra anna.</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إِشَارَةُ الرَّدِّ</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refutation signal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i-shā-ra-tu ar-rad-di</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50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Listening for argument structure (2 of 2)</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مَوْقِفُ المُتَحَدِّثِ</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speaker's position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maw-qi-fu al-mu-ta-ḥad-di-thi</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مَوْقِفُ المُتَحَدِّثَةِ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التَّنَبُّؤُ بِمَا يَلِي</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predicting what follows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at-ta-nab-bu-ʾu bi-mā ya-lī</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7" name="Shape 34"/>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39" name="Shape 36"/>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مُتَوَازِنٌ</a:t>
            </a:r>
            <a:endParaRPr lang="ar-SA" sz="3000" dirty="0"/>
          </a:p>
        </p:txBody>
      </p:sp>
      <p:sp>
        <p:nvSpPr>
          <p:cNvPr id="42" name="Text 39"/>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balanced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mu-ta-wā-zi-nun</a:t>
            </a:r>
            <a:endParaRPr lang="en-US" sz="1350" dirty="0"/>
          </a:p>
        </p:txBody>
      </p:sp>
      <p:sp>
        <p:nvSpPr>
          <p:cNvPr id="43" name="Shape 40"/>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مُتَوَازِنَةٌ</a:t>
            </a:r>
            <a:endParaRPr lang="ar-SA" sz="150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9" name="Shape 46"/>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51" name="Shape 4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مُنْحَازٌ</a:t>
            </a:r>
            <a:endParaRPr lang="ar-SA" sz="3000" dirty="0"/>
          </a:p>
        </p:txBody>
      </p:sp>
      <p:sp>
        <p:nvSpPr>
          <p:cNvPr id="54" name="Text 5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partisan / one-sided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mun-ḥā-zun</a:t>
            </a:r>
            <a:endParaRPr lang="en-US" sz="1350" dirty="0"/>
          </a:p>
        </p:txBody>
      </p:sp>
      <p:sp>
        <p:nvSpPr>
          <p:cNvPr id="55" name="Shape 52"/>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7" name="Text 54"/>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مُنْحَازَةٌ</a:t>
            </a:r>
            <a:endParaRPr lang="ar-SA" sz="150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50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Social issues content heard (1 of 2)</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التَّفَاوُتُ الاجْتِمَاعِيُّ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social inequality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at-ta-fā-wu-tu alj-ti-mā-ʿiy-yu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الفَجْوَةُ الرَّقْمِيَّةُ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digital divide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al-faj-wa-tu ar-raq-miy-ya-tu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تَمْكِينُ الشَّبَابِ</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youth empowerment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tam-kī-nu ash-sha-bā-bi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العَدَالَةُ الاجْتِمَاعِيَّةُ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social justice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al-ʿa-dā-la-tu alj-ti-mā-ʿiy-ya-tu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50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Social issues content heard (2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sg</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الإِصْلَاحَاتُ</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reforms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al-iṣ-lā-ḥā-tu</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8" name="Text 25"/>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إِصْلَاحٌ</a:t>
            </a:r>
            <a:endParaRPr lang="ar-SA" sz="150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الحَاجَةُ المُلِحَّةُ</a:t>
            </a:r>
            <a:endParaRPr lang="ar-SA" sz="3000" dirty="0"/>
          </a:p>
        </p:txBody>
      </p:sp>
      <p:sp>
        <p:nvSpPr>
          <p:cNvPr id="35" name="Text 3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pressing need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al-ḥā-ja-tu al-mu-liḥ-ḥa-tu</a:t>
            </a:r>
            <a:endParaRPr lang="en-US"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9" name="Shape 36"/>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الاسْتِقْرَارُ الاجْتِمَاعِيُّ</a:t>
            </a:r>
            <a:endParaRPr lang="ar-SA" sz="3000" dirty="0"/>
          </a:p>
        </p:txBody>
      </p:sp>
      <p:sp>
        <p:nvSpPr>
          <p:cNvPr id="42" name="Text 3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social stability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als-tiq-rā-ru alj-ti-mā-ʿiy-yu</a:t>
            </a:r>
            <a:endParaRPr lang="en-US" sz="1350" dirty="0"/>
          </a:p>
        </p:txBody>
      </p:sp>
      <p:sp>
        <p:nvSpPr>
          <p:cNvPr id="43" name="Shape 4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11312"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حُقُوقُ الإِنْسَانِ</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human rights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ḥu-qū-qu al-in-sā-ni</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50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markers by ear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Shape 17"/>
          <p:cNvSpPr/>
          <p:nvPr/>
        </p:nvSpPr>
        <p:spPr>
          <a:xfrm>
            <a:off x="8604504" y="1938528"/>
            <a:ext cx="1766621"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76662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Concession → indicative.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صَحِيحٌ أَنَّ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true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ṣa-ḥī-ḥun an-na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7" name="Shape 24"/>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Refutation.</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غَيْرَ أَنَّ</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ghay-ra an-na</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4" name="Shape 31"/>
          <p:cNvSpPr/>
          <p:nvPr/>
        </p:nvSpPr>
        <p:spPr>
          <a:xfrm>
            <a:off x="960120" y="1938528"/>
            <a:ext cx="1517904"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Subjunctive trigger.</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يَتَطَلَّبُ أَنْ</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requires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ya-ta-ṭal-la-bu an</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لَوْ … لَـ</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Type 2 conditional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law … la</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50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markers by ear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إِذَا … سَـ</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Type 1 conditional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i-dhā … sa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5" name="Shape 22"/>
          <p:cNvSpPr/>
          <p:nvPr/>
        </p:nvSpPr>
        <p:spPr>
          <a:xfrm>
            <a:off x="4782312" y="1938528"/>
            <a:ext cx="1393546"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Conclusion signal.</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وَبِنَاءً عَلَى مَا سَبَقَ</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based on the above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wa-bi-nā-ʾan ʿa-lā mā sa-ba-qa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2" name="Shape 29"/>
          <p:cNvSpPr/>
          <p:nvPr/>
        </p:nvSpPr>
        <p:spPr>
          <a:xfrm>
            <a:off x="960120" y="1938528"/>
            <a:ext cx="1517904"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Subjunctive trigger.</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يُصِرُّ عَلَى أَنْ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insists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yu-ṣir-ru ʿa-lā an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9" name="Shape 36"/>
          <p:cNvSpPr/>
          <p:nvPr/>
        </p:nvSpPr>
        <p:spPr>
          <a:xfrm>
            <a:off x="8604504" y="4279392"/>
            <a:ext cx="1517904"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Past-perfect marker.</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كَانَ قَدْ</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had done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kā-na qad</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50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SIGNAL → JOB → WHOSE VIEW (WEBSITE RULES 1–3, TABLE AND TEACHING POINT 1)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you hear, what it means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الإِشَارَةُ وَوَظِيفَتُهَا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022592" y="1810512"/>
            <a:ext cx="4636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listening)</a:t>
            </a:r>
            <a:endParaRPr lang="en-US" sz="1100" dirty="0"/>
          </a:p>
        </p:txBody>
      </p:sp>
      <p:sp>
        <p:nvSpPr>
          <p:cNvPr id="17" name="Text 14"/>
          <p:cNvSpPr txBox="1"/>
          <p:nvPr/>
        </p:nvSpPr>
        <p:spPr>
          <a:xfrm>
            <a:off x="528523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Whose view?</a:t>
            </a:r>
            <a:endParaRPr lang="en-US" sz="1100" dirty="0"/>
          </a:p>
        </p:txBody>
      </p:sp>
      <p:sp>
        <p:nvSpPr>
          <p:cNvPr id="18" name="Text 15"/>
          <p:cNvSpPr txBox="1"/>
          <p:nvPr/>
        </p:nvSpPr>
        <p:spPr>
          <a:xfrm>
            <a:off x="32735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It signals</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 hear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7040880" y="2267712"/>
            <a:ext cx="45994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أُطْرُوحَتِي أَنَّ التَّفَاوُتَ الاجْتِمَاعِيَّ يُهَدِّدُ الاسْتِقْرَارَ</a:t>
            </a:r>
            <a:endParaRPr lang="ar-SA" sz="1600" dirty="0"/>
          </a:p>
        </p:txBody>
      </p:sp>
      <p:sp>
        <p:nvSpPr>
          <p:cNvPr id="22" name="Text 19"/>
          <p:cNvSpPr txBox="1"/>
          <p:nvPr/>
        </p:nvSpPr>
        <p:spPr>
          <a:xfrm>
            <a:off x="532180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speaker</a:t>
            </a:r>
            <a:endParaRPr lang="en-US" sz="1100" dirty="0"/>
          </a:p>
        </p:txBody>
      </p:sp>
      <p:sp>
        <p:nvSpPr>
          <p:cNvPr id="23" name="Text 20"/>
          <p:cNvSpPr txBox="1"/>
          <p:nvPr/>
        </p:nvSpPr>
        <p:spPr>
          <a:xfrm>
            <a:off x="331012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thesis</a:t>
            </a:r>
            <a:endParaRPr lang="en-US" sz="1100" dirty="0"/>
          </a:p>
        </p:txBody>
      </p:sp>
      <p:sp>
        <p:nvSpPr>
          <p:cNvPr id="24" name="Text 21"/>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34" charset="0"/>
                <a:ea typeface="Amiri" pitchFamily="34" charset="-122"/>
                <a:cs typeface="Amiri" pitchFamily="34" charset="-120"/>
              </a:rPr>
              <a:t>أُطْرُوحَتِي أَنَّ</a:t>
            </a:r>
            <a:endParaRPr lang="ar-SA" sz="18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7040880" y="3004718"/>
            <a:ext cx="45994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أَكَّدَتِ الدِّرَاسَاتُ أَنَّ الفَجْوَةَ … تَتَّسِعُ</a:t>
            </a:r>
            <a:endParaRPr lang="ar-SA" sz="1600" dirty="0"/>
          </a:p>
        </p:txBody>
      </p:sp>
      <p:sp>
        <p:nvSpPr>
          <p:cNvPr id="29" name="Text 26"/>
          <p:cNvSpPr txBox="1"/>
          <p:nvPr/>
        </p:nvSpPr>
        <p:spPr>
          <a:xfrm>
            <a:off x="532180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studies</a:t>
            </a:r>
            <a:endParaRPr lang="en-US" sz="1100" dirty="0"/>
          </a:p>
        </p:txBody>
      </p:sp>
      <p:sp>
        <p:nvSpPr>
          <p:cNvPr id="30" name="Text 27"/>
          <p:cNvSpPr txBox="1"/>
          <p:nvPr/>
        </p:nvSpPr>
        <p:spPr>
          <a:xfrm>
            <a:off x="331012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evidence</a:t>
            </a:r>
            <a:endParaRPr lang="en-US" sz="1100" dirty="0"/>
          </a:p>
        </p:txBody>
      </p:sp>
      <p:sp>
        <p:nvSpPr>
          <p:cNvPr id="31" name="Text 28"/>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34" charset="0"/>
                <a:ea typeface="Amiri" pitchFamily="34" charset="-122"/>
                <a:cs typeface="Amiri" pitchFamily="34" charset="-120"/>
              </a:rPr>
              <a:t>أَكَّدَتِ الدِّرَاسَاتُ أَنَّ</a:t>
            </a:r>
            <a:endParaRPr lang="ar-SA" sz="1800" dirty="0"/>
          </a:p>
        </p:txBody>
      </p:sp>
      <p:sp>
        <p:nvSpPr>
          <p:cNvPr id="32" name="Shape 29"/>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3" name="Text 30"/>
          <p:cNvSpPr txBox="1"/>
          <p:nvPr/>
        </p:nvSpPr>
        <p:spPr>
          <a:xfrm>
            <a:off x="7040880" y="3741725"/>
            <a:ext cx="45994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صَحِيحٌ أَنَّ الإِصْلَاحَاتِ تَحْتَاجُ وَقْتًا طَوِيلًا</a:t>
            </a:r>
            <a:endParaRPr lang="ar-SA" sz="1600" dirty="0"/>
          </a:p>
        </p:txBody>
      </p:sp>
      <p:sp>
        <p:nvSpPr>
          <p:cNvPr id="34" name="Text 31"/>
          <p:cNvSpPr txBox="1"/>
          <p:nvPr/>
        </p:nvSpPr>
        <p:spPr>
          <a:xfrm>
            <a:off x="532180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OTHER side</a:t>
            </a:r>
            <a:endParaRPr lang="en-US" sz="1100" dirty="0"/>
          </a:p>
        </p:txBody>
      </p:sp>
      <p:sp>
        <p:nvSpPr>
          <p:cNvPr id="35" name="Text 32"/>
          <p:cNvSpPr txBox="1"/>
          <p:nvPr/>
        </p:nvSpPr>
        <p:spPr>
          <a:xfrm>
            <a:off x="331012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conceded point</a:t>
            </a:r>
            <a:endParaRPr lang="en-US" sz="1100" dirty="0"/>
          </a:p>
        </p:txBody>
      </p:sp>
      <p:sp>
        <p:nvSpPr>
          <p:cNvPr id="36" name="Text 33"/>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34" charset="0"/>
                <a:ea typeface="Amiri" pitchFamily="34" charset="-122"/>
                <a:cs typeface="Amiri" pitchFamily="34" charset="-120"/>
              </a:rPr>
              <a:t>صَحِيحٌ أَنَّ</a:t>
            </a:r>
            <a:endParaRPr lang="ar-SA" sz="1800" dirty="0"/>
          </a:p>
        </p:txBody>
      </p:sp>
      <p:sp>
        <p:nvSpPr>
          <p:cNvPr id="37" name="Shape 34"/>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7040880" y="4478731"/>
            <a:ext cx="45994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غَيْرَ أَنَّ الحَاجَةَ المُلِحَّةَ لَا تَتَحَمَّلُ الانْتِظَارَ</a:t>
            </a:r>
            <a:endParaRPr lang="ar-SA" sz="1600" dirty="0"/>
          </a:p>
        </p:txBody>
      </p:sp>
      <p:sp>
        <p:nvSpPr>
          <p:cNvPr id="41" name="Text 38"/>
          <p:cNvSpPr txBox="1"/>
          <p:nvPr/>
        </p:nvSpPr>
        <p:spPr>
          <a:xfrm>
            <a:off x="532180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speaker</a:t>
            </a:r>
            <a:endParaRPr lang="en-US" sz="1100" dirty="0"/>
          </a:p>
        </p:txBody>
      </p:sp>
      <p:sp>
        <p:nvSpPr>
          <p:cNvPr id="42" name="Text 39"/>
          <p:cNvSpPr txBox="1"/>
          <p:nvPr/>
        </p:nvSpPr>
        <p:spPr>
          <a:xfrm>
            <a:off x="331012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stronger point</a:t>
            </a:r>
            <a:endParaRPr lang="en-US" sz="1100" dirty="0"/>
          </a:p>
        </p:txBody>
      </p:sp>
      <p:sp>
        <p:nvSpPr>
          <p:cNvPr id="43" name="Text 40"/>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34" charset="0"/>
                <a:ea typeface="Amiri" pitchFamily="34" charset="-122"/>
                <a:cs typeface="Amiri" pitchFamily="34" charset="-120"/>
              </a:rPr>
              <a:t>غَيْرَ أَنَّ</a:t>
            </a:r>
            <a:endParaRPr lang="ar-SA" sz="1800" dirty="0"/>
          </a:p>
        </p:txBody>
      </p:sp>
      <p:sp>
        <p:nvSpPr>
          <p:cNvPr id="44" name="Shape 41"/>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7040880" y="5215738"/>
            <a:ext cx="45994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العَدَالَةُ الاجْتِمَاعِيَّةُ ضَرُورَةٌ لَا رَفَاهِيَةٌ</a:t>
            </a:r>
            <a:endParaRPr lang="ar-SA" sz="1600" dirty="0"/>
          </a:p>
        </p:txBody>
      </p:sp>
      <p:sp>
        <p:nvSpPr>
          <p:cNvPr id="48" name="Text 45"/>
          <p:cNvSpPr txBox="1"/>
          <p:nvPr/>
        </p:nvSpPr>
        <p:spPr>
          <a:xfrm>
            <a:off x="532180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speaker</a:t>
            </a:r>
            <a:endParaRPr lang="en-US" sz="1100" dirty="0"/>
          </a:p>
        </p:txBody>
      </p:sp>
      <p:sp>
        <p:nvSpPr>
          <p:cNvPr id="49" name="Text 46"/>
          <p:cNvSpPr txBox="1"/>
          <p:nvPr/>
        </p:nvSpPr>
        <p:spPr>
          <a:xfrm>
            <a:off x="331012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conclusion</a:t>
            </a:r>
            <a:endParaRPr lang="en-US" sz="1100" dirty="0"/>
          </a:p>
        </p:txBody>
      </p:sp>
      <p:sp>
        <p:nvSpPr>
          <p:cNvPr id="50" name="Text 47"/>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34" charset="0"/>
                <a:ea typeface="Amiri" pitchFamily="34" charset="-122"/>
                <a:cs typeface="Amiri" pitchFamily="34" charset="-120"/>
              </a:rPr>
              <a:t>وَبِنَاءً عَلَى مَا سَبَقَ</a:t>
            </a:r>
            <a:endParaRPr lang="ar-SA" sz="18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teaching point: once you hear ṣaḥīḥun anna, a concession is coming — and the stronger point follows soon after.</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50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THE ATTRIBUTION TRAP (WEBSITE TEACHING POINT 2, MISTAKE 1, QUIZ 4)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Whose view is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رَأْيُ 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CONCEDED · CORE</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الطَّرَفُ الآخَرُ</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صَحِيحٌ أَنَّ الإِصْلَاحَاتِ تَحْتَاجُ وَقْتًا.</a:t>
            </a:r>
            <a:endParaRPr lang="ar-SA" sz="22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True, reforms need time. (the OTHER side’s point)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not the speaker’s view</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REFUTED · CORE</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المُتَحَدِّثُ</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غَيْرَ أَنَّ الحَاجَةَ المُلِحَّةَ لَا تَتَحَمَّلُ الانْتِظَارَ.</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However, the pressing need cannot wait. (the SPEAKER)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real position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PREDICT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تَنَبَّأْ</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صَحِيحٌ أَنَّ … ← غَيْرَ أَنَّ …</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Hear the concession → expect the opposite.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answer is coming</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1: the point after ṣaḥīḥun anna is a concession to the other side — not the speaker’s final view.</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تَسْلِيمٌ بِرَأْيِ الطَّرَفِ الآخَرِ</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B83227"/>
                </a:solidFill>
                <a:latin typeface="Amiri" pitchFamily="34" charset="0"/>
                <a:ea typeface="Amiri" pitchFamily="34" charset="-122"/>
                <a:cs typeface="Amiri" pitchFamily="34" charset="-120"/>
              </a:rPr>
              <a:t>رَأْيُ المُتَحَدِّثِ النِّهَائِيُّ</a:t>
            </a:r>
            <a:endParaRPr lang="ar-SA" sz="17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50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CONDITIONALS AND TRIGGERS BY EAR (WEBSITE RULE 4, MISTAKE 2, QUIZ 5–7)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Wait for the marker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انْتَظِرِ العَلَامَةَ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05472" y="1810512"/>
            <a:ext cx="4453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listening)</a:t>
            </a:r>
            <a:endParaRPr lang="en-US" sz="1100" dirty="0"/>
          </a:p>
        </p:txBody>
      </p:sp>
      <p:sp>
        <p:nvSpPr>
          <p:cNvPr id="17" name="Text 14"/>
          <p:cNvSpPr txBox="1"/>
          <p:nvPr/>
        </p:nvSpPr>
        <p:spPr>
          <a:xfrm>
            <a:off x="48280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It means</a:t>
            </a:r>
            <a:endParaRPr lang="en-US" sz="1100" dirty="0"/>
          </a:p>
        </p:txBody>
      </p:sp>
      <p:sp>
        <p:nvSpPr>
          <p:cNvPr id="18" name="Text 15"/>
          <p:cNvSpPr txBox="1"/>
          <p:nvPr/>
        </p:nvSpPr>
        <p:spPr>
          <a:xfrm>
            <a:off x="309067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Then</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 hear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7223760" y="2267712"/>
            <a:ext cx="44165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إِذَا اسْتُثْمِرَ فِي التَّعْلِيمِ المُبَكِّرِ، سَتَضِيقُ الفَجْوَةُ</a:t>
            </a:r>
            <a:endParaRPr lang="ar-SA" sz="1600" dirty="0"/>
          </a:p>
        </p:txBody>
      </p:sp>
      <p:sp>
        <p:nvSpPr>
          <p:cNvPr id="22" name="Text 19"/>
          <p:cNvSpPr txBox="1"/>
          <p:nvPr/>
        </p:nvSpPr>
        <p:spPr>
          <a:xfrm>
            <a:off x="486460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real plan (Type 1)</a:t>
            </a:r>
            <a:endParaRPr lang="en-US" sz="1100" dirty="0"/>
          </a:p>
        </p:txBody>
      </p:sp>
      <p:sp>
        <p:nvSpPr>
          <p:cNvPr id="23" name="Text 20"/>
          <p:cNvSpPr txBox="1"/>
          <p:nvPr/>
        </p:nvSpPr>
        <p:spPr>
          <a:xfrm>
            <a:off x="3108960" y="2267712"/>
            <a:ext cx="1554480" cy="682142"/>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34" charset="0"/>
                <a:ea typeface="Amiri" pitchFamily="34" charset="-122"/>
                <a:cs typeface="Amiri" pitchFamily="34" charset="-120"/>
              </a:rPr>
              <a:t>سَـ</a:t>
            </a:r>
            <a:endParaRPr lang="ar-SA" sz="1800" dirty="0"/>
          </a:p>
        </p:txBody>
      </p:sp>
      <p:sp>
        <p:nvSpPr>
          <p:cNvPr id="24" name="Text 21"/>
          <p:cNvSpPr txBox="1"/>
          <p:nvPr/>
        </p:nvSpPr>
        <p:spPr>
          <a:xfrm>
            <a:off x="548640" y="2267712"/>
            <a:ext cx="2377440" cy="682142"/>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34" charset="0"/>
                <a:ea typeface="Amiri" pitchFamily="34" charset="-122"/>
                <a:cs typeface="Amiri" pitchFamily="34" charset="-120"/>
              </a:rPr>
              <a:t>إِذَا</a:t>
            </a:r>
            <a:pPr rtl="1" algn="ctr" indent="0" marL="0">
              <a:buNone/>
            </a:pPr>
            <a:r>
              <a:rPr lang="ar-SA" altLang="en-US" sz="1800" b="1" dirty="0">
                <a:solidFill>
                  <a:srgbClr val="1B3B6F"/>
                </a:solidFill>
                <a:latin typeface="Amiri" pitchFamily="34" charset="0"/>
                <a:ea typeface="Amiri" pitchFamily="34" charset="-122"/>
                <a:cs typeface="Amiri" pitchFamily="34" charset="-120"/>
              </a:rPr>
              <a:t> …</a:t>
            </a:r>
            <a:endParaRPr lang="ar-SA" sz="18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7223760" y="3004718"/>
            <a:ext cx="44165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لَوْ عُولِجَ التَّفَاوُتُ قَبْلَ عُقُودٍ، لَتَحَسَّنَ الوَضْعُ</a:t>
            </a:r>
            <a:endParaRPr lang="ar-SA" sz="1600" dirty="0"/>
          </a:p>
        </p:txBody>
      </p:sp>
      <p:sp>
        <p:nvSpPr>
          <p:cNvPr id="29" name="Text 26"/>
          <p:cNvSpPr txBox="1"/>
          <p:nvPr/>
        </p:nvSpPr>
        <p:spPr>
          <a:xfrm>
            <a:off x="486460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it did NOT happen (Type 2)</a:t>
            </a:r>
            <a:endParaRPr lang="en-US" sz="1100" dirty="0"/>
          </a:p>
        </p:txBody>
      </p:sp>
      <p:sp>
        <p:nvSpPr>
          <p:cNvPr id="30" name="Text 27"/>
          <p:cNvSpPr txBox="1"/>
          <p:nvPr/>
        </p:nvSpPr>
        <p:spPr>
          <a:xfrm>
            <a:off x="3108960" y="3004718"/>
            <a:ext cx="1554480" cy="682142"/>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34" charset="0"/>
                <a:ea typeface="Amiri" pitchFamily="34" charset="-122"/>
                <a:cs typeface="Amiri" pitchFamily="34" charset="-120"/>
              </a:rPr>
              <a:t>لَـ</a:t>
            </a:r>
            <a:endParaRPr lang="ar-SA" sz="1800" dirty="0"/>
          </a:p>
        </p:txBody>
      </p:sp>
      <p:sp>
        <p:nvSpPr>
          <p:cNvPr id="31" name="Text 28"/>
          <p:cNvSpPr txBox="1"/>
          <p:nvPr/>
        </p:nvSpPr>
        <p:spPr>
          <a:xfrm>
            <a:off x="548640" y="3004718"/>
            <a:ext cx="2377440" cy="682142"/>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34" charset="0"/>
                <a:ea typeface="Amiri" pitchFamily="34" charset="-122"/>
                <a:cs typeface="Amiri" pitchFamily="34" charset="-120"/>
              </a:rPr>
              <a:t>لَوْ</a:t>
            </a:r>
            <a:pPr rtl="1" algn="ctr" indent="0" marL="0">
              <a:buNone/>
            </a:pPr>
            <a:r>
              <a:rPr lang="ar-SA" altLang="en-US" sz="1800" b="1" dirty="0">
                <a:solidFill>
                  <a:srgbClr val="1B3B6F"/>
                </a:solidFill>
                <a:latin typeface="Amiri" pitchFamily="34" charset="0"/>
                <a:ea typeface="Amiri" pitchFamily="34" charset="-122"/>
                <a:cs typeface="Amiri" pitchFamily="34" charset="-120"/>
              </a:rPr>
              <a:t> …</a:t>
            </a:r>
            <a:endParaRPr lang="ar-SA" sz="18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7223760" y="3741725"/>
            <a:ext cx="44165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يَتَطَلَّبُ الوَضْعُ أَنْ تَتَحَرَّكَ الحُكُومَاتُ فَوْرًا</a:t>
            </a:r>
            <a:endParaRPr lang="ar-SA" sz="1600" dirty="0"/>
          </a:p>
        </p:txBody>
      </p:sp>
      <p:sp>
        <p:nvSpPr>
          <p:cNvPr id="36" name="Text 33"/>
          <p:cNvSpPr txBox="1"/>
          <p:nvPr/>
        </p:nvSpPr>
        <p:spPr>
          <a:xfrm>
            <a:off x="486460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demand (not done yet)</a:t>
            </a:r>
            <a:endParaRPr lang="en-US" sz="1100" dirty="0"/>
          </a:p>
        </p:txBody>
      </p:sp>
      <p:sp>
        <p:nvSpPr>
          <p:cNvPr id="37" name="Text 34"/>
          <p:cNvSpPr txBox="1"/>
          <p:nvPr/>
        </p:nvSpPr>
        <p:spPr>
          <a:xfrm>
            <a:off x="312724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verb in -a</a:t>
            </a:r>
            <a:endParaRPr lang="en-US" sz="1100" dirty="0"/>
          </a:p>
        </p:txBody>
      </p:sp>
      <p:sp>
        <p:nvSpPr>
          <p:cNvPr id="38" name="Text 35"/>
          <p:cNvSpPr txBox="1"/>
          <p:nvPr/>
        </p:nvSpPr>
        <p:spPr>
          <a:xfrm>
            <a:off x="548640" y="3741725"/>
            <a:ext cx="2377440" cy="682142"/>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34" charset="0"/>
                <a:ea typeface="Amiri" pitchFamily="34" charset="-122"/>
                <a:cs typeface="Amiri" pitchFamily="34" charset="-120"/>
              </a:rPr>
              <a:t>يَتَطَلَّبُ … أَنْ</a:t>
            </a:r>
            <a:endParaRPr lang="ar-SA" sz="18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7223760" y="4478731"/>
            <a:ext cx="44165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إِذَا اسْتُثْمِرَ فِي التَّعْلِيمِ … · لَوْ عُولِجَ التَّفَاوُتُ …</a:t>
            </a:r>
            <a:endParaRPr lang="ar-SA" sz="1600" dirty="0"/>
          </a:p>
        </p:txBody>
      </p:sp>
      <p:sp>
        <p:nvSpPr>
          <p:cNvPr id="41" name="Text 38"/>
          <p:cNvSpPr txBox="1"/>
          <p:nvPr/>
        </p:nvSpPr>
        <p:spPr>
          <a:xfrm>
            <a:off x="486460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passive past (no doer)</a:t>
            </a:r>
            <a:endParaRPr lang="en-US" sz="1100" dirty="0"/>
          </a:p>
        </p:txBody>
      </p:sp>
      <p:sp>
        <p:nvSpPr>
          <p:cNvPr id="42" name="Text 39"/>
          <p:cNvSpPr txBox="1"/>
          <p:nvPr/>
        </p:nvSpPr>
        <p:spPr>
          <a:xfrm>
            <a:off x="312724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 … i</a:t>
            </a:r>
            <a:endParaRPr lang="en-US" sz="1100" dirty="0"/>
          </a:p>
        </p:txBody>
      </p:sp>
      <p:sp>
        <p:nvSpPr>
          <p:cNvPr id="43" name="Text 40"/>
          <p:cNvSpPr txBox="1"/>
          <p:nvPr/>
        </p:nvSpPr>
        <p:spPr>
          <a:xfrm>
            <a:off x="548640" y="4478731"/>
            <a:ext cx="23774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اسْتُثْمِرَ · عُولِجَ</a:t>
            </a:r>
            <a:endParaRPr lang="ar-SA" sz="18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7223760" y="5215738"/>
            <a:ext cx="44165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العَدَالَةُ ضَرُورَةٌ لَا رَفَاهِيَةٌ</a:t>
            </a:r>
            <a:endParaRPr lang="ar-SA" sz="1600" dirty="0"/>
          </a:p>
        </p:txBody>
      </p:sp>
      <p:sp>
        <p:nvSpPr>
          <p:cNvPr id="46" name="Text 43"/>
          <p:cNvSpPr txBox="1"/>
          <p:nvPr/>
        </p:nvSpPr>
        <p:spPr>
          <a:xfrm>
            <a:off x="486460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X, not Y</a:t>
            </a:r>
            <a:endParaRPr lang="en-US" sz="1100" dirty="0"/>
          </a:p>
        </p:txBody>
      </p:sp>
      <p:sp>
        <p:nvSpPr>
          <p:cNvPr id="47" name="Text 44"/>
          <p:cNvSpPr txBox="1"/>
          <p:nvPr/>
        </p:nvSpPr>
        <p:spPr>
          <a:xfrm>
            <a:off x="312724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noun</a:t>
            </a:r>
            <a:endParaRPr lang="en-US" sz="1100" dirty="0"/>
          </a:p>
        </p:txBody>
      </p:sp>
      <p:sp>
        <p:nvSpPr>
          <p:cNvPr id="48" name="Text 45"/>
          <p:cNvSpPr txBox="1"/>
          <p:nvPr/>
        </p:nvSpPr>
        <p:spPr>
          <a:xfrm>
            <a:off x="548640" y="5215738"/>
            <a:ext cx="23774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 لَا …</a:t>
            </a:r>
            <a:endParaRPr lang="ar-SA" sz="18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 2: law with a la- result is a supposition — not a real plan.</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50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THE STRATEGY GUIDE (WEBSITE READING, MISTAKE 3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Before, during, after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قَبْلَ الاسْتِمَاعِ وَأَثْنَاءَهُ وَبَعْدَهُ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376672" y="1810512"/>
            <a:ext cx="6281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From the website strategy guide</a:t>
            </a:r>
            <a:endParaRPr lang="en-US" sz="1100" dirty="0"/>
          </a:p>
        </p:txBody>
      </p:sp>
      <p:sp>
        <p:nvSpPr>
          <p:cNvPr id="17" name="Text 14"/>
          <p:cNvSpPr txBox="1"/>
          <p:nvPr/>
        </p:nvSpPr>
        <p:spPr>
          <a:xfrm>
            <a:off x="208483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I do</a:t>
            </a:r>
            <a:endParaRPr lang="en-US" sz="1100" dirty="0"/>
          </a:p>
        </p:txBody>
      </p:sp>
      <p:sp>
        <p:nvSpPr>
          <p:cNvPr id="18" name="Text 15"/>
          <p:cNvSpPr txBox="1"/>
          <p:nvPr/>
        </p:nvSpPr>
        <p:spPr>
          <a:xfrm>
            <a:off x="530352" y="1810512"/>
            <a:ext cx="1408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Stage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5394960" y="2267712"/>
            <a:ext cx="62453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أَقْرَأُ الأَسْئِلَةَ وَأَتَتَبَّعُ بِنْيَةَ الحُجَّةِ لَا الكَلِمَاتِ المُفْرَدَةَ</a:t>
            </a:r>
            <a:endParaRPr lang="ar-SA" sz="1600" dirty="0"/>
          </a:p>
        </p:txBody>
      </p:sp>
      <p:sp>
        <p:nvSpPr>
          <p:cNvPr id="21" name="Text 18"/>
          <p:cNvSpPr txBox="1"/>
          <p:nvPr/>
        </p:nvSpPr>
        <p:spPr>
          <a:xfrm>
            <a:off x="212140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read the questions, label each one</a:t>
            </a:r>
            <a:endParaRPr lang="en-US" sz="1100" dirty="0"/>
          </a:p>
        </p:txBody>
      </p:sp>
      <p:sp>
        <p:nvSpPr>
          <p:cNvPr id="22" name="Text 19"/>
          <p:cNvSpPr txBox="1"/>
          <p:nvPr/>
        </p:nvSpPr>
        <p:spPr>
          <a:xfrm>
            <a:off x="566928" y="2267712"/>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before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5394960" y="3004718"/>
            <a:ext cx="62453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اسْتَمِعْ أَوَّلًا إِلَى الأُطْرُوحَةِ فِي المُقَدِّمَةِ</a:t>
            </a:r>
            <a:endParaRPr lang="ar-SA" sz="1600" dirty="0"/>
          </a:p>
        </p:txBody>
      </p:sp>
      <p:sp>
        <p:nvSpPr>
          <p:cNvPr id="27" name="Text 24"/>
          <p:cNvSpPr txBox="1"/>
          <p:nvPr/>
        </p:nvSpPr>
        <p:spPr>
          <a:xfrm>
            <a:off x="212140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catch the thesis</a:t>
            </a:r>
            <a:endParaRPr lang="en-US" sz="1100" dirty="0"/>
          </a:p>
        </p:txBody>
      </p:sp>
      <p:sp>
        <p:nvSpPr>
          <p:cNvPr id="28" name="Text 25"/>
          <p:cNvSpPr txBox="1"/>
          <p:nvPr/>
        </p:nvSpPr>
        <p:spPr>
          <a:xfrm>
            <a:off x="566928" y="3004718"/>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during 1</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5394960" y="3741725"/>
            <a:ext cx="62453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تَرَقَّبْ «صَحِيحٌ أَنَّ» … وَبَعْدَهَا يَأْتِي الرَّدُّ بِـ«غَيْرَ أَنَّ»</a:t>
            </a:r>
            <a:endParaRPr lang="ar-SA" sz="1600" dirty="0"/>
          </a:p>
        </p:txBody>
      </p:sp>
      <p:sp>
        <p:nvSpPr>
          <p:cNvPr id="33" name="Text 30"/>
          <p:cNvSpPr txBox="1"/>
          <p:nvPr/>
        </p:nvSpPr>
        <p:spPr>
          <a:xfrm>
            <a:off x="212140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concession → expect the refutation</a:t>
            </a:r>
            <a:endParaRPr lang="en-US" sz="1100" dirty="0"/>
          </a:p>
        </p:txBody>
      </p:sp>
      <p:sp>
        <p:nvSpPr>
          <p:cNvPr id="34" name="Text 31"/>
          <p:cNvSpPr txBox="1"/>
          <p:nvPr/>
        </p:nvSpPr>
        <p:spPr>
          <a:xfrm>
            <a:off x="566928" y="3741725"/>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during 2</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5394960" y="4478731"/>
            <a:ext cx="62453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تَرَقَّبْ «يَتَطَلَّبُ أَنْ» لِلْخَاتِمَةِ، وَ«لَوْ» مَعَ «لَـ» لِلشَّرْطِ الافْتِرَاضِيِّ</a:t>
            </a:r>
            <a:endParaRPr lang="ar-SA" sz="1600" dirty="0"/>
          </a:p>
        </p:txBody>
      </p:sp>
      <p:sp>
        <p:nvSpPr>
          <p:cNvPr id="37" name="Text 34"/>
          <p:cNvSpPr txBox="1"/>
          <p:nvPr/>
        </p:nvSpPr>
        <p:spPr>
          <a:xfrm>
            <a:off x="212140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trigger and conditional</a:t>
            </a:r>
            <a:endParaRPr lang="en-US" sz="1100" dirty="0"/>
          </a:p>
        </p:txBody>
      </p:sp>
      <p:sp>
        <p:nvSpPr>
          <p:cNvPr id="38" name="Text 35"/>
          <p:cNvSpPr txBox="1"/>
          <p:nvPr/>
        </p:nvSpPr>
        <p:spPr>
          <a:xfrm>
            <a:off x="566928" y="4478731"/>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during 3</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5394960" y="5215738"/>
            <a:ext cx="62453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فَإِذَا عَرَفْتَ البِنْيَةَ، تَنَبَّأْتَ بِمَا يَلِي، وَتَابَعْتَ الحُجَّةَ وَلَوْ فَاتَتْكَ كَلِمَاتٌ</a:t>
            </a:r>
            <a:endParaRPr lang="ar-SA" sz="1600" dirty="0"/>
          </a:p>
        </p:txBody>
      </p:sp>
      <p:sp>
        <p:nvSpPr>
          <p:cNvPr id="41" name="Text 38"/>
          <p:cNvSpPr txBox="1"/>
          <p:nvPr/>
        </p:nvSpPr>
        <p:spPr>
          <a:xfrm>
            <a:off x="212140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keep going if words slip past</a:t>
            </a:r>
            <a:endParaRPr lang="en-US" sz="1100" dirty="0"/>
          </a:p>
        </p:txBody>
      </p:sp>
      <p:sp>
        <p:nvSpPr>
          <p:cNvPr id="42" name="Text 39"/>
          <p:cNvSpPr txBox="1"/>
          <p:nvPr/>
        </p:nvSpPr>
        <p:spPr>
          <a:xfrm>
            <a:off x="566928" y="5215738"/>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after</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 3: do not chase every word — follow the structure, even when words slip past.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50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Hearing argument structure in fast speech</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سَمَاعُ بِنْيَةِ الحُجَّةِ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Find the thesis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introduction → position</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يُشَارُ إِلَى أَنَّ التَّفَاوُتَ يُهَدِّدُ الاسْتِقْرَارَ</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Concession signal</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ṣaḥīḥun anna → a conceded point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صَحِيحٌ أَنَّ الإِصْلَاحَاتِ تَحْتَاجُ وَقْتًا طَوِيلًا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Refutation signal</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ghayra anna → the stronger point</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غَيْرَ أَنَّ الحَاجَةَ المُلِحَّةَ لَا تَتَحَمَّلُ الانْتِظَارَ</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Trigger and conditionals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yataṭallabu an · idhā … sa- · law … la-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يَتَطَلَّبُ الوَضْعُ أَنْ تَتَحَرَّكَ الحُكُومَاتُ فَوْرًا   ·   لَوْ عُولِجَ التَّفَاوُتُ مُبَكِّرًا، لَتَحَسَّنَ الوَضْعُ</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50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thesis in an argumentative text?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conclusion only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none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introduction</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 signal in speech?</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point the speaker concedes</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speaker's own conclusion</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statistic</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غَيْرَ أَنَّ</a:t>
            </a:r>
            <a:pPr algn="l" indent="0" marL="0">
              <a:buNone/>
            </a:pPr>
            <a:r>
              <a:rPr lang="en-US" sz="1250" b="1" dirty="0">
                <a:solidFill>
                  <a:srgbClr val="1B3B6F"/>
                </a:solidFill>
                <a:latin typeface="Calibri" pitchFamily="34" charset="0"/>
                <a:ea typeface="Calibri" pitchFamily="34" charset="-122"/>
                <a:cs typeface="Calibri" pitchFamily="34" charset="-120"/>
              </a:rPr>
              <a:t> signal?</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Another concession</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speaker's stronger point (refutation)</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end</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Whose view is the point after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other side's, conceded by the speaker</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speaker's own conclusion</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one's</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50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thesis in an argumentative text?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conclusion only</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is none</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introduction</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thesis opens the text.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 signal in speech?</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point the speaker concedes</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speaker's own conclusion</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statistic</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صَحِيحٌ أَنَّ</a:t>
            </a:r>
            <a:pPr algn="l" indent="0" marL="0">
              <a:buNone/>
            </a:pPr>
            <a:r>
              <a:rPr lang="en-US" sz="1050" i="1" dirty="0">
                <a:solidFill>
                  <a:srgbClr val="8A6D1E"/>
                </a:solidFill>
                <a:latin typeface="Calibri" pitchFamily="34" charset="0"/>
                <a:ea typeface="Calibri" pitchFamily="34" charset="-122"/>
                <a:cs typeface="Calibri" pitchFamily="34" charset="-120"/>
              </a:rPr>
              <a:t> signals a conceded point.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غَيْرَ أَنَّ</a:t>
            </a:r>
            <a:pPr algn="l" indent="0" marL="0">
              <a:buNone/>
            </a:pPr>
            <a:r>
              <a:rPr lang="en-US" sz="1250" b="1" dirty="0">
                <a:solidFill>
                  <a:srgbClr val="1B3B6F"/>
                </a:solidFill>
                <a:latin typeface="Calibri" pitchFamily="34" charset="0"/>
                <a:ea typeface="Calibri" pitchFamily="34" charset="-122"/>
                <a:cs typeface="Calibri" pitchFamily="34" charset="-120"/>
              </a:rPr>
              <a:t> signal?</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Another concession</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speaker's stronger point (refutation)</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end</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غَيْرَ أَنَّ</a:t>
            </a:r>
            <a:pPr algn="l" indent="0" marL="0">
              <a:buNone/>
            </a:pPr>
            <a:r>
              <a:rPr lang="en-US" sz="1050" i="1" dirty="0">
                <a:solidFill>
                  <a:srgbClr val="8A6D1E"/>
                </a:solidFill>
                <a:latin typeface="Calibri" pitchFamily="34" charset="0"/>
                <a:ea typeface="Calibri" pitchFamily="34" charset="-122"/>
                <a:cs typeface="Calibri" pitchFamily="34" charset="-120"/>
              </a:rPr>
              <a:t> signals the refutation — the stronger point.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Whose view is the point after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other side's, conceded by the speaker</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speaker's own conclusion</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one's</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conceded point belongs to the other side.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50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plan my listening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Before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أَقْرَأُ الأَسْئِلَةَ وَأُحَدِّدُ العُنْصُرَ</a:t>
            </a:r>
            <a:endParaRPr lang="ar-SA" sz="19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Label.</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Thesis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C77700"/>
                </a:solidFill>
                <a:latin typeface="Amiri" pitchFamily="34" charset="0"/>
                <a:ea typeface="Amiri" pitchFamily="34" charset="-122"/>
                <a:cs typeface="Amiri" pitchFamily="34" charset="-120"/>
              </a:rPr>
              <a:t>الأُطْرُوحَةُ</a:t>
            </a:r>
            <a:pPr rtl="1" algn="ctr" indent="0" marL="0">
              <a:buNone/>
            </a:pPr>
            <a:r>
              <a:rPr lang="ar-SA" altLang="en-US" sz="2550" b="1" dirty="0">
                <a:solidFill>
                  <a:srgbClr val="1B3B6F"/>
                </a:solidFill>
                <a:latin typeface="Amiri" pitchFamily="34" charset="0"/>
                <a:ea typeface="Amiri" pitchFamily="34" charset="-122"/>
                <a:cs typeface="Amiri" pitchFamily="34" charset="-120"/>
              </a:rPr>
              <a:t> فِي المُقَدِّمَةِ</a:t>
            </a:r>
            <a:endParaRPr lang="ar-SA" sz="2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First claim.</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Concede → refute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«صَحِيحٌ أَنَّ»</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D6336C"/>
                </a:solidFill>
                <a:latin typeface="Amiri" pitchFamily="34" charset="0"/>
                <a:ea typeface="Amiri" pitchFamily="34" charset="-122"/>
                <a:cs typeface="Amiri" pitchFamily="34" charset="-120"/>
              </a:rPr>
              <a:t>«غَيْرَ أَنَّ»</a:t>
            </a:r>
            <a:endParaRPr lang="ar-SA" sz="24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Whose view?</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Close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«يَتَطَلَّبُ 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 </a:t>
            </a:r>
            <a:pPr rtl="1" algn="ctr" indent="0" marL="0">
              <a:buNone/>
            </a:pPr>
            <a:r>
              <a:rPr lang="ar-SA" altLang="en-US" sz="2100" b="1" dirty="0">
                <a:solidFill>
                  <a:srgbClr val="7B3FA0"/>
                </a:solidFill>
                <a:latin typeface="Amiri" pitchFamily="34" charset="0"/>
                <a:ea typeface="Amiri" pitchFamily="34" charset="-122"/>
                <a:cs typeface="Amiri" pitchFamily="34" charset="-120"/>
              </a:rPr>
              <a:t>«لَوْ» + «لَـ»</a:t>
            </a:r>
            <a:endParaRPr lang="ar-SA" sz="21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Wait for it.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THESIS</a:t>
            </a:r>
            <a:endParaRPr lang="en-US" sz="800" dirty="0"/>
          </a:p>
        </p:txBody>
      </p:sp>
      <p:sp>
        <p:nvSpPr>
          <p:cNvPr id="47" name="Shape 43"/>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CONCESSION</a:t>
            </a:r>
            <a:endParaRPr lang="en-US" sz="800" dirty="0"/>
          </a:p>
        </p:txBody>
      </p:sp>
      <p:sp>
        <p:nvSpPr>
          <p:cNvPr id="49" name="Shape 45"/>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REFUTATION</a:t>
            </a:r>
            <a:endParaRPr lang="en-US" sz="800" dirty="0"/>
          </a:p>
        </p:txBody>
      </p:sp>
      <p:sp>
        <p:nvSpPr>
          <p:cNvPr id="51" name="Shape 47"/>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TRIGGER</a:t>
            </a:r>
            <a:endParaRPr lang="en-US" sz="800" dirty="0"/>
          </a:p>
        </p:txBody>
      </p:sp>
      <p:sp>
        <p:nvSpPr>
          <p:cNvPr id="53" name="Shape 49"/>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TYPE 2</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قَبْلَ الاسْتِمَاعِ إِلَى نَصٍّ جَدَلِيٍّ، أَقْرَأُ الأَسْئِلَةَ وَأَتَتَبَّعُ بِنْيَةَ الحُجَّةِ لَا الكَلِمَاتِ المُفْرَدَةَ. أُصْغِي أَوَّلًا إِلَى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الأُطْرُوحَةِ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المُقَدِّمَةِ. ثُمَّ أَتَرَقَّبُ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«صَحِيحٌ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فَهِيَ تَسْلِيمٌ بِرَأْيِ الطَّرَفِ الآخَرِ، لَا رَأْيُ المُتَحَدِّثِ. وَبَعْدَهَا يَأْتِي الرَّدُّ بِـ</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«غَيْرَ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وَهُوَ المَوْقِفُ الأَقْوَى. وَأَتَرَقَّبُ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«يَتَطَلَّبُ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لِلْخَاتِمَةِ، وَ</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«لَوْ» مَعَ «لَـ»</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لِلشَّرْطِ الافْتِرَاضِيِّ.</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ea typeface="Calibri" pitchFamily="34" charset="-122"/>
                <a:cs typeface="Calibri" pitchFamily="34" charset="-120"/>
              </a:rPr>
              <a:t>Before listening to an argumentative text, I read the questions and follow the structure of the argument, not single words. I listen first for the thesis in the introduction. Then I wait for “ṣaḥīḥun anna”, which is a concession to the other side, not the speaker’s view. After it comes the response with “ghayra anna”, which is the stronger position. And I wait for “yataṭallabu an” for the conclusion, and “law” with “la-” for the hypothetical conditional.</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50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صَحِيحٌ أَنَّ الإِصْلَاحَاتِ تَحْتَاجُ وَقْتًا طَوِيلًا</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is true that reforms need a long time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Concession signal: ṣaḥīḥun anna.</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غَيْرَ أَنَّ الحَاجَةَ المُلِحَّةَ لَا تَتَحَمَّلُ الانْتِظَارَ</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however, the pressing need cannot bear waiting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Refutation signal: ghayra anna.</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يَتَطَلَّبُ الوَضْعُ أَنْ تَتَحَرَّكَ الحُكُومَاتُ فَوْرًا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situation requires governments to act immediately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Necessity trigger + subjunctive.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50</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REPORT WHAT YOU HEARD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Thesis + concession–refutation + conclusion</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تَقْرِيرٌ عَمَّا سَمِعْتَ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330184"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The thesis</a:t>
            </a:r>
            <a:endParaRPr lang="en-US" sz="1100" dirty="0"/>
          </a:p>
        </p:txBody>
      </p:sp>
      <p:sp>
        <p:nvSpPr>
          <p:cNvPr id="19" name="Text 16"/>
          <p:cNvSpPr txBox="1"/>
          <p:nvPr/>
        </p:nvSpPr>
        <p:spPr>
          <a:xfrm>
            <a:off x="4215384" y="1810512"/>
            <a:ext cx="3968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Conceded, then refuted</a:t>
            </a:r>
            <a:endParaRPr lang="en-US" sz="1100" dirty="0"/>
          </a:p>
        </p:txBody>
      </p:sp>
      <p:sp>
        <p:nvSpPr>
          <p:cNvPr id="20" name="Text 17"/>
          <p:cNvSpPr txBox="1"/>
          <p:nvPr/>
        </p:nvSpPr>
        <p:spPr>
          <a:xfrm>
            <a:off x="530352" y="1810512"/>
            <a:ext cx="3538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The conclusion</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348472" y="2267712"/>
            <a:ext cx="329184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أُطْرُوحَةُ المُتَحَدِّثِ أَنَّ التَّفَاوُتَ يُهَدِّدُ الاسْتِقْرَارَ</a:t>
            </a:r>
            <a:endParaRPr lang="ar-SA" sz="1500" dirty="0"/>
          </a:p>
        </p:txBody>
      </p:sp>
      <p:sp>
        <p:nvSpPr>
          <p:cNvPr id="23" name="Text 20"/>
          <p:cNvSpPr txBox="1"/>
          <p:nvPr/>
        </p:nvSpPr>
        <p:spPr>
          <a:xfrm>
            <a:off x="4233672" y="2267712"/>
            <a:ext cx="393192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وَسَلَّمَ بِـ«صَحِيحٌ أَنَّ الإِصْلَاحَاتِ تَحْتَاجُ وَقْتًا» ثُمَّ رَدَّ بِـ«غَيْرَ أَنَّ الحَاجَةَ مُلِحَّةٌ»</a:t>
            </a:r>
            <a:endParaRPr lang="ar-SA" sz="1400" dirty="0"/>
          </a:p>
        </p:txBody>
      </p:sp>
      <p:sp>
        <p:nvSpPr>
          <p:cNvPr id="24" name="Text 21"/>
          <p:cNvSpPr txBox="1"/>
          <p:nvPr/>
        </p:nvSpPr>
        <p:spPr>
          <a:xfrm>
            <a:off x="548640" y="2267712"/>
            <a:ext cx="350215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وَخَتَمَ بِـ«يَتَطَلَّبُ الوَضْعُ أَنْ تَتَحَرَّكَ الحُكُومَاتُ فَوْرًا»</a:t>
            </a:r>
            <a:endParaRPr lang="ar-SA" sz="15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348472" y="3054096"/>
            <a:ext cx="329184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أُطْرُوحَتُهُ أَنَّ الفَجْوَةَ الرَّقْمِيَّةَ تُعَمِّقُ عَدَمَ المُسَاوَاةِ</a:t>
            </a:r>
            <a:endParaRPr lang="ar-SA" sz="1500" dirty="0"/>
          </a:p>
        </p:txBody>
      </p:sp>
      <p:sp>
        <p:nvSpPr>
          <p:cNvPr id="29" name="Text 26"/>
          <p:cNvSpPr txBox="1"/>
          <p:nvPr/>
        </p:nvSpPr>
        <p:spPr>
          <a:xfrm>
            <a:off x="4233672" y="3054096"/>
            <a:ext cx="393192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وَسَلَّمَ بِأَنَّ الحَلَّ مُكْلِفٌ ثُمَّ رَدَّ بِـ«غَيْرَ أَنَّ الاسْتِقْرَارَ أَغْلَى»</a:t>
            </a:r>
            <a:endParaRPr lang="ar-SA" sz="1500" dirty="0"/>
          </a:p>
        </p:txBody>
      </p:sp>
      <p:sp>
        <p:nvSpPr>
          <p:cNvPr id="30" name="Text 27"/>
          <p:cNvSpPr txBox="1"/>
          <p:nvPr/>
        </p:nvSpPr>
        <p:spPr>
          <a:xfrm>
            <a:off x="548640" y="3054096"/>
            <a:ext cx="350215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وَخَتَمَ بِـ«وَبِنَاءً عَلَى مَا سَبَقَ، العَدَالَةُ ضَرُورَةٌ»</a:t>
            </a:r>
            <a:endParaRPr lang="ar-SA" sz="15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348472" y="3840480"/>
            <a:ext cx="329184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أُطْرُوحَتُهُ أَنَّ تَمْكِينَ الشَّبَابِ مِفْتَاحُ التَّغْيِيرِ</a:t>
            </a:r>
            <a:endParaRPr lang="ar-SA" sz="1500" dirty="0"/>
          </a:p>
        </p:txBody>
      </p:sp>
      <p:sp>
        <p:nvSpPr>
          <p:cNvPr id="33" name="Text 30"/>
          <p:cNvSpPr txBox="1"/>
          <p:nvPr/>
        </p:nvSpPr>
        <p:spPr>
          <a:xfrm>
            <a:off x="4233672" y="3840480"/>
            <a:ext cx="393192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وَسَلَّمَ بِبُطْءِ التَّغْيِيرِ ثُمَّ رَدَّ بِـ«مَعَ ذٰلِكَ لَا بَدِيلَ عَنْهُ»</a:t>
            </a:r>
            <a:endParaRPr lang="ar-SA" sz="1500" dirty="0"/>
          </a:p>
        </p:txBody>
      </p:sp>
      <p:sp>
        <p:nvSpPr>
          <p:cNvPr id="34" name="Text 31"/>
          <p:cNvSpPr txBox="1"/>
          <p:nvPr/>
        </p:nvSpPr>
        <p:spPr>
          <a:xfrm>
            <a:off x="548640" y="3840480"/>
            <a:ext cx="350215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وَخَتَمَ بِأَنَّهُ لَوْ عُولِجَ التَّفَاوُتُ مُبَكِّرًا لَتَحَسَّنَ الوَضْعُ</a:t>
            </a:r>
            <a:endParaRPr lang="ar-SA" sz="15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Say it, then write three different versions.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50</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Thesis, concession–refutation — or subjunctive / conditional?</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34" charset="0"/>
                <a:ea typeface="Amiri" pitchFamily="34" charset="-122"/>
                <a:cs typeface="Amiri" pitchFamily="34" charset="-120"/>
              </a:rPr>
              <a:t>يُشَارُ إِلَى أَنَّ التَّفَاوُتَ يُهَدِّدُ الاسْتِقْرَارَ</a:t>
            </a:r>
            <a:endParaRPr lang="ar-SA" sz="145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يَرَى المُتَحَدِّثُ أَنَّ العَدَالَةَ أَسَاسُ الاسْتِقْرَارِ</a:t>
            </a:r>
            <a:endParaRPr lang="ar-SA" sz="135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الأُطْرُوحَةُ أَنَّ تَمْكِينَ الشَّبَابِ مِفْتَاحُ التَّغْيِيرِ</a:t>
            </a:r>
            <a:endParaRPr lang="ar-SA" sz="13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34" charset="0"/>
                <a:ea typeface="Amiri" pitchFamily="34" charset="-122"/>
                <a:cs typeface="Amiri" pitchFamily="34" charset="-120"/>
              </a:rPr>
              <a:t>صَحِيحٌ أَنَّ الإِصْلَاحَاتِ تَحْتَاجُ وَقْتًا</a:t>
            </a:r>
            <a:endParaRPr lang="ar-SA" sz="175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غَيْرَ أَنَّ الحَاجَةَ المُلِحَّةَ لَا تَتَحَمَّلُ الانْتِظَارَ</a:t>
            </a:r>
            <a:endParaRPr lang="ar-SA" sz="13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 ذٰلِكَ، يَبْقَى التَّفَاوُتُ عَمِيقًا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34" charset="0"/>
                <a:ea typeface="Amiri" pitchFamily="34" charset="-122"/>
                <a:cs typeface="Amiri" pitchFamily="34" charset="-120"/>
              </a:rPr>
              <a:t>يَتَطَلَّبُ الوَضْعُ أَنْ تَتَحَرَّكَ الحُكُومَاتُ فَوْرًا</a:t>
            </a:r>
            <a:endParaRPr lang="ar-SA" sz="145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34" charset="0"/>
                <a:ea typeface="Amiri" pitchFamily="34" charset="-122"/>
                <a:cs typeface="Amiri" pitchFamily="34" charset="-120"/>
              </a:rPr>
              <a:t>لَوْ عُولِجَ التَّفَاوُتُ مُبَكِّرًا، لَتَحَسَّنَ الوَضْعُ</a:t>
            </a:r>
            <a:endParaRPr lang="ar-SA" sz="145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34" charset="0"/>
                <a:ea typeface="Amiri" pitchFamily="34" charset="-122"/>
                <a:cs typeface="Amiri" pitchFamily="34" charset="-120"/>
              </a:rPr>
              <a:t>إِذَا اسْتُثْمِرَ فِي التَّعْلِيمِ، سَتَضِيقُ الفَجْوَةُ</a:t>
            </a:r>
            <a:endParaRPr lang="ar-SA" sz="14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thesis</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concession / refutation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subjunctive / conditional</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50</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thesis</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يُشَارُ إِلَى أَنَّ التَّفَاوُتَ يُهَدِّدُ الاسْتِقْرَارَ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يَرَى المُتَحَدِّثُ أَنَّ العَدَالَةَ أَسَاسُ الاسْتِقْرَارِ</a:t>
            </a:r>
            <a:endParaRPr lang="ar-SA" sz="165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الأُطْرُوحَةُ أَنَّ تَمْكِينَ الشَّبَابِ مِفْتَاحُ التَّغْيِيرِ</a:t>
            </a:r>
            <a:endParaRPr lang="ar-SA" sz="165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concession / refutation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صَحِيحٌ أَنَّ الإِصْلَاحَاتِ تَحْتَاجُ وَقْتًا</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غَيْرَ أَنَّ الحَاجَةَ المُلِحَّةَ لَا تَتَحَمَّلُ الانْتِظَارَ</a:t>
            </a:r>
            <a:endParaRPr lang="ar-SA" sz="165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 ذٰلِكَ، يَبْقَى التَّفَاوُتُ عَمِيقًا</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subjunctive / conditional</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يَتَطَلَّبُ الوَضْعُ أَنْ تَتَحَرَّكَ الحُكُومَاتُ فَوْرًا</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عُولِجَ التَّفَاوُتُ مُبَكِّرًا، لَتَحَسَّنَ الوَضْعُ</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34" charset="0"/>
                <a:ea typeface="Amiri" pitchFamily="34" charset="-122"/>
                <a:cs typeface="Amiri" pitchFamily="34" charset="-120"/>
              </a:rPr>
              <a:t>إِذَا اسْتُثْمِرَ فِي التَّعْلِيمِ، سَتَضِيقُ الفَجْوَةُ</a:t>
            </a:r>
            <a:endParaRPr lang="ar-SA" sz="17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50</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signals a subjunctive conclusion?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صَحِيحٌ أَنَّ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يَتَطَلَّبُ أَنْ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يَتَطَلَّبُ الوَضْعُ أَنْ ___ الحُكُومَاتُ فَوْرًا.</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تَتَحَرَّكُ</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تَتَحَرَّكَ</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تَتَحَرَّكْ</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 </a:t>
            </a:r>
            <a:pPr algn="l" indent="0" marL="0">
              <a:buNone/>
            </a:pPr>
            <a:r>
              <a:rPr lang="ar-SA" altLang="en-US" sz="1650" b="1" dirty="0">
                <a:solidFill>
                  <a:srgbClr val="1B3B6F"/>
                </a:solidFill>
                <a:latin typeface="Amiri" pitchFamily="34" charset="0"/>
                <a:ea typeface="Amiri" pitchFamily="34" charset="-122"/>
                <a:cs typeface="Amiri" pitchFamily="34" charset="-120"/>
              </a:rPr>
              <a:t>لَـ</a:t>
            </a:r>
            <a:pPr algn="l" indent="0" marL="0">
              <a:buNone/>
            </a:pPr>
            <a:r>
              <a:rPr lang="en-US" sz="1250" b="1" dirty="0">
                <a:solidFill>
                  <a:srgbClr val="1B3B6F"/>
                </a:solidFill>
                <a:latin typeface="Calibri" pitchFamily="34" charset="0"/>
                <a:ea typeface="Calibri" pitchFamily="34" charset="-122"/>
                <a:cs typeface="Calibri" pitchFamily="34" charset="-120"/>
              </a:rPr>
              <a:t> result. The conditional is …</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real (Type 1)</a:t>
            </a:r>
            <a:endParaRPr lang="en-US" sz="12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hypothetical (Type 2)</a:t>
            </a:r>
            <a:endParaRPr lang="en-US" sz="12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command</a:t>
            </a:r>
            <a:endParaRPr lang="en-US" sz="12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conclusion signal ends the argument?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صَحِيحٌ أَنَّ</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وَبِنَاءً عَلَى مَا سَبَقَ</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50</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signals a subjunctive conclusion?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صَحِيحٌ أَنَّ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يَتَطَلَّبُ أَنْ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يَتَطَلَّبُ أَنْ</a:t>
            </a:r>
            <a:pPr algn="l" indent="0" marL="0">
              <a:buNone/>
            </a:pPr>
            <a:r>
              <a:rPr lang="en-US" sz="1050" i="1" dirty="0">
                <a:solidFill>
                  <a:srgbClr val="8A6D1E"/>
                </a:solidFill>
                <a:latin typeface="Calibri" pitchFamily="34" charset="0"/>
                <a:ea typeface="Calibri" pitchFamily="34" charset="-122"/>
                <a:cs typeface="Calibri" pitchFamily="34" charset="-120"/>
              </a:rPr>
              <a:t> signals a subjunctive conclusion.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يَتَطَلَّبُ الوَضْعُ أَنْ ___ الحُكُومَاتُ فَوْرًا.</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تَتَحَرَّكُ</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تَتَحَرَّكَ</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تَتَحَرَّكْ</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تَتَحَرَّكَ</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 </a:t>
            </a:r>
            <a:pPr algn="l" indent="0" marL="0">
              <a:buNone/>
            </a:pPr>
            <a:r>
              <a:rPr lang="ar-SA" altLang="en-US" sz="1650" b="1" dirty="0">
                <a:solidFill>
                  <a:srgbClr val="1B3B6F"/>
                </a:solidFill>
                <a:latin typeface="Amiri" pitchFamily="34" charset="0"/>
                <a:ea typeface="Amiri" pitchFamily="34" charset="-122"/>
                <a:cs typeface="Amiri" pitchFamily="34" charset="-120"/>
              </a:rPr>
              <a:t>لَـ</a:t>
            </a:r>
            <a:pPr algn="l" indent="0" marL="0">
              <a:buNone/>
            </a:pPr>
            <a:r>
              <a:rPr lang="en-US" sz="1250" b="1" dirty="0">
                <a:solidFill>
                  <a:srgbClr val="1B3B6F"/>
                </a:solidFill>
                <a:latin typeface="Calibri" pitchFamily="34" charset="0"/>
                <a:ea typeface="Calibri" pitchFamily="34" charset="-122"/>
                <a:cs typeface="Calibri" pitchFamily="34" charset="-120"/>
              </a:rPr>
              <a:t> result. The conditional is …</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real (Type 1)</a:t>
            </a:r>
            <a:endParaRPr lang="en-US" sz="12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hypothetical (Type 2)</a:t>
            </a:r>
            <a:endParaRPr lang="en-US" sz="12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command</a:t>
            </a:r>
            <a:endParaRPr lang="en-US" sz="12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result signals a counterfactual Type 2.</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conclusion signal ends the argument?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صَحِيحٌ أَنَّ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وَبِنَاءً عَلَى مَا سَبَقَ</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وَبِنَاءً عَلَى مَا سَبَقَ</a:t>
            </a:r>
            <a:pPr algn="l" indent="0" marL="0">
              <a:buNone/>
            </a:pPr>
            <a:r>
              <a:rPr lang="en-US" sz="1050" i="1" dirty="0">
                <a:solidFill>
                  <a:srgbClr val="8A6D1E"/>
                </a:solidFill>
                <a:latin typeface="Calibri" pitchFamily="34" charset="0"/>
                <a:ea typeface="Calibri" pitchFamily="34" charset="-122"/>
                <a:cs typeface="Calibri" pitchFamily="34" charset="-120"/>
              </a:rPr>
              <a:t> signals the conclusion.</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50</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سَمِعْتُ «صَحِيحٌ أَنَّ» فَعَرَفْتُ أَنَّهُ رَأْيُ المُتَحَدِّثِ النِّهَائِيُّ.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ṣaḥīḥun anna = the speaker’s view?</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سَمِعْتُ «لَوْ» فَظَنَنْتُهُ خُطَّةً وَاقِعِيَّةً.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law + la- = a real plan?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حَاوَلْتُ الْتِقَاطَ كُلِّ كَلِمَةٍ لِأَفْهَمَ الحُجَّةَ.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catching every word?</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50</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سَمِعْتُ «صَحِيحٌ أَنَّ» فَعَرَفْتُ أَنَّهُ رَأْيُ المُتَحَدِّثِ النِّهَائِيُّ.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سَمِعْتُ «صَحِيحٌ أَنَّ» فَعَرَفْتُ أَنَّهُ تَسْلِيمٌ بِرَأْيِ الطَّرَفِ الآخَرِ.</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صَحِيحٌ أَنَّ</a:t>
            </a:r>
            <a:pPr algn="l" indent="0" marL="0">
              <a:buNone/>
            </a:pPr>
            <a:r>
              <a:rPr lang="en-US" sz="1150" b="1" dirty="0">
                <a:solidFill>
                  <a:srgbClr val="1B3B6F"/>
                </a:solidFill>
                <a:latin typeface="Calibri" pitchFamily="34" charset="0"/>
                <a:ea typeface="Calibri" pitchFamily="34" charset="-122"/>
                <a:cs typeface="Calibri" pitchFamily="34" charset="-120"/>
              </a:rPr>
              <a:t> concedes the other side's point; the speaker's view follows </a:t>
            </a:r>
            <a:pPr algn="l" indent="0" marL="0">
              <a:buNone/>
            </a:pPr>
            <a:r>
              <a:rPr lang="ar-SA" altLang="en-US" sz="1500" b="1" dirty="0">
                <a:solidFill>
                  <a:srgbClr val="1B3B6F"/>
                </a:solidFill>
                <a:latin typeface="Amiri" pitchFamily="34" charset="0"/>
                <a:ea typeface="Amiri" pitchFamily="34" charset="-122"/>
                <a:cs typeface="Amiri" pitchFamily="34" charset="-120"/>
              </a:rPr>
              <a:t>غَيْرَ أَنَّ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سَمِعْتُ «لَوْ» فَظَنَنْتُهُ خُطَّةً وَاقِعِيَّةً.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lnSpc>
                <a:spcPct val="120000"/>
              </a:lnSpc>
              <a:buNone/>
            </a:pPr>
            <a:r>
              <a:rPr lang="ar-SA" altLang="en-US" sz="2150" b="1" dirty="0">
                <a:solidFill>
                  <a:srgbClr val="1E6B52"/>
                </a:solidFill>
                <a:latin typeface="Amiri" pitchFamily="34" charset="0"/>
                <a:ea typeface="Amiri" pitchFamily="34" charset="-122"/>
                <a:cs typeface="Amiri" pitchFamily="34" charset="-120"/>
              </a:rPr>
              <a:t>سَمِعْتُ «لَوْ» مَعَ نَتِيجَةٍ بِـ«لَـ» فَعَرَفْتُ أَنَّهُ افْتِرَاضٌ.</a:t>
            </a:r>
            <a:endParaRPr lang="ar-SA" sz="215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لَوْ</a:t>
            </a:r>
            <a:pPr algn="l" indent="0" marL="0">
              <a:buNone/>
            </a:pPr>
            <a:r>
              <a:rPr lang="en-US" sz="1150" b="1" dirty="0">
                <a:solidFill>
                  <a:srgbClr val="1B3B6F"/>
                </a:solidFill>
                <a:latin typeface="Calibri" pitchFamily="34" charset="0"/>
                <a:ea typeface="Calibri" pitchFamily="34" charset="-122"/>
                <a:cs typeface="Calibri" pitchFamily="34" charset="-120"/>
              </a:rPr>
              <a:t> with a </a:t>
            </a:r>
            <a:pPr algn="l" indent="0" marL="0">
              <a:buNone/>
            </a:pPr>
            <a:r>
              <a:rPr lang="ar-SA" altLang="en-US" sz="1500" b="1" dirty="0">
                <a:solidFill>
                  <a:srgbClr val="1B3B6F"/>
                </a:solidFill>
                <a:latin typeface="Amiri" pitchFamily="34" charset="0"/>
                <a:ea typeface="Amiri" pitchFamily="34" charset="-122"/>
                <a:cs typeface="Amiri" pitchFamily="34" charset="-120"/>
              </a:rPr>
              <a:t>لَـ</a:t>
            </a:r>
            <a:pPr algn="l" indent="0" marL="0">
              <a:buNone/>
            </a:pPr>
            <a:r>
              <a:rPr lang="en-US" sz="1150" b="1" dirty="0">
                <a:solidFill>
                  <a:srgbClr val="1B3B6F"/>
                </a:solidFill>
                <a:latin typeface="Calibri" pitchFamily="34" charset="0"/>
                <a:ea typeface="Calibri" pitchFamily="34" charset="-122"/>
                <a:cs typeface="Calibri" pitchFamily="34" charset="-120"/>
              </a:rPr>
              <a:t> result signals a counterfactual, not a real plan.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حَاوَلْتُ الْتِقَاطَ كُلِّ كَلِمَةٍ لِأَفْهَمَ الحُجَّةَ.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تَتَبَّعْتُ بِنْيَةَ الحُجَّةِ لِأَفْهَمَهَا وَلَوْ فَاتَتْنِي كَلِمَاتٌ.</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Following the argument's structure lets you keep up even when words slip past.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50</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1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Part 1: thesis, evidence, concession, refutation</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speaker's thesis?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Social inequality threatens stability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Inequality is beneficial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Inequality does not exist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evidence is cited?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gap is narrowing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no data</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Studies confirm the wealth gap is widening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concede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Reforms are impossible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Reforms are unnecessary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Reforms need time and huge resources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refutation (</a:t>
            </a:r>
            <a:pPr algn="l" indent="0" marL="0">
              <a:buNone/>
            </a:pPr>
            <a:r>
              <a:rPr lang="ar-SA" altLang="en-US" sz="1650" b="1" dirty="0">
                <a:solidFill>
                  <a:srgbClr val="1B3B6F"/>
                </a:solidFill>
                <a:latin typeface="Amiri" pitchFamily="34" charset="0"/>
                <a:ea typeface="Amiri" pitchFamily="34" charset="-122"/>
                <a:cs typeface="Amiri" pitchFamily="34" charset="-120"/>
              </a:rPr>
              <a:t>غَيْرَ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pressing social need cannot wait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need can wait indefinitely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no need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Label first: thesis · evidence · concession · refutation.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uṭrūḥatī anna · akkadat · ṣaḥīḥun anna · ghayra anna.</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50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يَقُولُ الأَكَادِيمِيُّ: أُطْرُوحَتِي أَنَّ التَّفَاوُتَ الاجْتِمَاعِيَّ يُهَدِّدُ الاسْتِقْرَارَ.</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academic says: my thesis is that social inequality threatens stability.</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أَكَّدَتِ الدِّرَاسَاتُ أَنَّ الفَجْوَةَ بَيْنَ الأَغْنِيَاءِ وَالفُقَرَاءِ تَتَّسِعُ.</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Studies have confirmed that the gap between rich and poor is widening.</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صَحِيحٌ أَنَّ الإِصْلَاحَاتِ تَحْتَاجُ وَقْتًا طَوِيلًا وَمَوَارِدَ ضَخْمَةً، غَيْرَ أَنَّ الحَاجَةَ الاجْتِمَاعِيَّةَ المُلِحَّةَ لَا تَتَحَمَّلُ الانْتِظَارَ.</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true that reforms need a long time and huge resources; however, the pressing social need cannot bear waiting.</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50</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speaker's thesis?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Social inequality threatens stability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Inequality is beneficial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Inequality does not exist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أُطْرُوحَتِي أَنَّ التَّفَاوُتَ الاجْتِمَاعِيَّ يُهَدِّدُ الاسْتِقْرَارَ.</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evidence is cited?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gap is narrowing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is no data</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Studies confirm the wealth gap is widening</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أَكَّدَتِ الدِّرَاسَاتُ أَنَّ الفَجْوَةَ بَيْنَ الأَغْنِيَاءِ وَالفُقَرَاءِ تَتَّسِعُ.</a:t>
            </a:r>
            <a:endParaRPr lang="ar-SA" sz="130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concede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Reforms are impossible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Reforms are unnecessary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Reforms need time and huge resources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صَحِيحٌ أَنَّ الإِصْلَاحَاتِ تَحْتَاجُ وَقْتًا طَوِيلًا وَمَوَارِدَ ضَخْمَةً.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refutation (</a:t>
            </a:r>
            <a:pPr algn="l" indent="0" marL="0">
              <a:buNone/>
            </a:pPr>
            <a:r>
              <a:rPr lang="ar-SA" altLang="en-US" sz="1650" b="1" dirty="0">
                <a:solidFill>
                  <a:srgbClr val="1B3B6F"/>
                </a:solidFill>
                <a:latin typeface="Amiri" pitchFamily="34" charset="0"/>
                <a:ea typeface="Amiri" pitchFamily="34" charset="-122"/>
                <a:cs typeface="Amiri" pitchFamily="34" charset="-120"/>
              </a:rPr>
              <a:t>غَيْرَ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pressing social need cannot wait</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need can wait indefinitely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is no need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غَيْرَ أَنَّ الحَاجَةَ الاجْتِمَاعِيَّةَ المُلِحَّةَ لَا تَتَحَمَّلُ الانْتِظَارَ.</a:t>
            </a:r>
            <a:endParaRPr lang="ar-SA" sz="130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Label first: thesis · evidence · concession · refutation.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uṭrūḥatī anna · akkadat · ṣaḥīḥun anna · ghayra anna.</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50</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2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Part 2: if, had, requires — the speaker’s stance</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counterfactual?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Had inequality been addressed decades ago, the situation would be much better</a:t>
            </a:r>
            <a:endParaRPr lang="en-US" sz="120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Timing makes no difference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situation cannot improve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subjunctive conclusion (</a:t>
            </a:r>
            <a:pPr algn="l" indent="0" marL="0">
              <a:buNone/>
            </a:pPr>
            <a:r>
              <a:rPr lang="ar-SA" altLang="en-US" sz="1650" b="1" dirty="0">
                <a:solidFill>
                  <a:srgbClr val="1B3B6F"/>
                </a:solidFill>
                <a:latin typeface="Amiri" pitchFamily="34" charset="0"/>
                <a:ea typeface="Amiri" pitchFamily="34" charset="-122"/>
                <a:cs typeface="Amiri" pitchFamily="34" charset="-120"/>
              </a:rPr>
              <a:t>يَتَطَلَّبُ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Governments should wait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action is required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situation requires governments to act immediately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the speaker's position balanced or partisan?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Purely partisan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no position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Balanced — it concedes before refuting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speaker's overall stance?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Social justice is a necessity, not a luxury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Social justice is a luxury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Social justice is impossible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happen if there is investment in early education?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gap will widen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gap will narrow gradually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will change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Label first: Type 2 · trigger · balance · stance · Type 1.</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law … la- · yataṭallabu an · wa-bināʾan · idhā … sa-.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50</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إِذَا اسْتُثْمِرَ فِي التَّعْلِيمِ المُبَكِّرِ، سَتَضِيقُ الفَجْوَةُ تَدْرِيجِيًّا. وَلَوْ عُولِجَ التَّفَاوُتُ قَبْلَ عُقُودٍ، لَتَحَسَّنَ الوَضْعُ كَثِيرًا.</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there is investment in early education, the gap will narrow gradually. And had inequality been addressed decades ago, the situation would have improved greatly.</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وَيَتَطَلَّبُ الوَضْعُ أَنْ تَتَحَرَّكَ الحُكُومَاتُ فَوْرًا.</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the situation requires governments to act immediately.</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وَبِنَاءً عَلَى مَا سَبَقَ، فَإِنَّ مَوْقِفِي وَاضِحٌ: العَدَالَةُ الاجْتِمَاعِيَّةُ ضَرُورَةٌ لَا رَفَاهِيَةٌ.</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Based on the above, my position is clear: social justice is a necessity, not a luxury.</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50</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counterfactual?</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Had inequality been addressed decades ago, the situation would be much better</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Timing makes no difference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situation cannot improve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لَوْ عُولِجَ التَّفَاوُتُ قَبْلَ عُقُودٍ، لَتَحَسَّنَ الوَضْعُ كَثِيرًا.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subjunctive conclusion (</a:t>
            </a:r>
            <a:pPr algn="l" indent="0" marL="0">
              <a:buNone/>
            </a:pPr>
            <a:r>
              <a:rPr lang="ar-SA" altLang="en-US" sz="1650" b="1" dirty="0">
                <a:solidFill>
                  <a:srgbClr val="1B3B6F"/>
                </a:solidFill>
                <a:latin typeface="Amiri" pitchFamily="34" charset="0"/>
                <a:ea typeface="Amiri" pitchFamily="34" charset="-122"/>
                <a:cs typeface="Amiri" pitchFamily="34" charset="-120"/>
              </a:rPr>
              <a:t>يَتَطَلَّبُ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Governments should wait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action is required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situation requires governments to act immediately</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يَتَطَلَّبُ الوَضْعُ أَنْ تَتَحَرَّكَ الحُكُومَاتُ فَوْرًا.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the speaker's position balanced or partisan?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Purely partisan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is no position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Balanced — it concedes before refuting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concedes (</a:t>
            </a:r>
            <a:pPr algn="l" indent="0" marL="0">
              <a:buNone/>
            </a:pPr>
            <a:r>
              <a:rPr lang="ar-SA" altLang="en-US" sz="1350" dirty="0">
                <a:solidFill>
                  <a:srgbClr val="8A6D1E"/>
                </a:solidFill>
                <a:latin typeface="Amiri" pitchFamily="34" charset="0"/>
                <a:ea typeface="Amiri" pitchFamily="34" charset="-122"/>
                <a:cs typeface="Amiri" pitchFamily="34" charset="-120"/>
              </a:rPr>
              <a:t>صَحِيحٌ أَنَّ</a:t>
            </a:r>
            <a:pPr algn="l" indent="0" marL="0">
              <a:buNone/>
            </a:pPr>
            <a:r>
              <a:rPr lang="en-US" sz="1050" i="1" dirty="0">
                <a:solidFill>
                  <a:srgbClr val="8A6D1E"/>
                </a:solidFill>
                <a:latin typeface="Calibri" pitchFamily="34" charset="0"/>
                <a:ea typeface="Calibri" pitchFamily="34" charset="-122"/>
                <a:cs typeface="Calibri" pitchFamily="34" charset="-120"/>
              </a:rPr>
              <a:t>) then refutes (</a:t>
            </a:r>
            <a:pPr algn="l" indent="0" marL="0">
              <a:buNone/>
            </a:pPr>
            <a:r>
              <a:rPr lang="ar-SA" altLang="en-US" sz="1350" dirty="0">
                <a:solidFill>
                  <a:srgbClr val="8A6D1E"/>
                </a:solidFill>
                <a:latin typeface="Amiri" pitchFamily="34" charset="0"/>
                <a:ea typeface="Amiri" pitchFamily="34" charset="-122"/>
                <a:cs typeface="Amiri" pitchFamily="34" charset="-120"/>
              </a:rPr>
              <a:t>غَيْرَ أَنَّ</a:t>
            </a:r>
            <a:pPr algn="l" indent="0" marL="0">
              <a:buNone/>
            </a:pPr>
            <a:r>
              <a:rPr lang="en-US" sz="1050" i="1" dirty="0">
                <a:solidFill>
                  <a:srgbClr val="8A6D1E"/>
                </a:solidFill>
                <a:latin typeface="Calibri" pitchFamily="34" charset="0"/>
                <a:ea typeface="Calibri" pitchFamily="34" charset="-122"/>
                <a:cs typeface="Calibri" pitchFamily="34" charset="-120"/>
              </a:rPr>
              <a:t>), so the position is balanced.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speaker's overall stance?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Social justice is a necessity, not a luxury</a:t>
            </a:r>
            <a:endParaRPr lang="en-US" sz="12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Social justice is a luxury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Social justice is impossible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العَدَالَةُ الاجْتِمَاعِيَّةُ ضَرُورَةٌ لَا رَفَاهِيَةٌ.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happen if there is investment in early education?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gap will widen</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gap will narrow gradually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will change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إِذَا اسْتُثْمِرَ فِي التَّعْلِيمِ المُبَكِّرِ، سَتَضِيقُ الفَجْوَةُ تَدْرِيجِيًّا.</a:t>
            </a:r>
            <a:endParaRPr lang="ar-SA" sz="130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Label first: Type 2 · trigger · balance · stance · Type 1.</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law … la- · yataṭallabu an · wa-bināʾan · idhā … sa-.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50</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Speaking: report the argument you heard</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أُطْرُوحَةُ المُتَحَدِّثِ؟</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بِمَ سَلَّمَ، وَكَيْفَ رَدَّ؟</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مَوْقِفُهُ مُتَوَازِنٌ أَمْ مُنْحَازٌ؟ وَلِمَاذَا؟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أُطْرُوحَةُ المُتَحَدِّثِ أَنَّ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سَلَّمَ بِأَنَّ ___ ، ثُمَّ رَدَّ بِأَنَّ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مَوْقِفُهُ ___ ، لِأَنَّهُ يُسَلِّمُ ثُمَّ يَرُدُّ.</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بِمَ سَلَّمَ المُتَحَدِّثُ؟</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did the speaker concede?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سَلَّمَ بِـ«صَحِيحٌ أَنَّ الإِصْلَاحَاتِ تَحْتَاجُ وَقْتًا»، وَهُوَ رَأْيُ الطَّرَفِ الآخَرِ.</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ea typeface="Calibri" pitchFamily="34" charset="-122"/>
                <a:cs typeface="Calibri" pitchFamily="34" charset="-120"/>
              </a:rPr>
              <a:t>He conceded “it is true that reforms need time” — that is the other side’s view.</a:t>
            </a:r>
            <a:endParaRPr lang="en-US" sz="8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50</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questions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Annotate five questions with the element (thesis / concession / refutation / trigger) you will listen for.</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annotate five questions with the argument element you will listen for.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1750" b="1" dirty="0">
                <a:solidFill>
                  <a:srgbClr val="C9780A"/>
                </a:solidFill>
                <a:latin typeface="Cambria" pitchFamily="34" charset="0"/>
                <a:ea typeface="Cambria" pitchFamily="34" charset="-122"/>
                <a:cs typeface="Cambria" pitchFamily="34" charset="-120"/>
              </a:rPr>
              <a:t>5 questions + whose view</a:t>
            </a:r>
            <a:endParaRPr lang="en-US" sz="175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whether each concession belongs to the other side or the speaker.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whether each point belongs to the other side or the speaker.</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Explain how the structure let you predict the refutation before hearing it.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explain your listening strategy — thesis, ṣaḥīḥun anna, ghayra anna, the trigger, law … la-.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50</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أَتَتَبَّعُ البِنْيَةَ لَا الكَلِمَاتِ المُفْرَدَةَ، لِأَنَّ ______ .</a:t>
            </a:r>
            <a:endParaRPr lang="ar-SA" sz="14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follow the structure, not single words, because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أَتَرَقَّبُ «يَتَطَلَّبُ أَنْ» لِـ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wait for “yataṭallabu an” for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مَعَ «لَـ» تَعْنِي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“law” with “la-” means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وَهٰكَذَا أَتَنَبَّأُ بِمَا يَلِي وَلَوْ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So I predict what follows, even if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قَبْلَ الاسْتِمَاعِ، أَقْرَأُ الأَسْئِلَةَ وَأُحَدِّدُ ______ .</a:t>
            </a:r>
            <a:endParaRPr lang="ar-SA" sz="16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Before listening, I read the questions.</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أُصْغِي أَوَّلًا إِلَى الأُطْرُوحَةِ فِي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listen first for the thesis in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«صَحِيحٌ أَنَّ» تَسْلِيمٌ بِرَأْيِ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“ṣaḥīḥun anna” is a concession to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«غَيْرَ أَنَّ» تَأْتِي بِـ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“ghayra anna” introduces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العُنْصُرَ المَطْلُوبَ  ·  المُقَدِّمَةِ  ·  الطَّرَفِ الآخَرِ  ·  المَوْقِفِ الأَقْوَى  ·  البِنْيَةَ تُسَاعِدُنِي عَلَى التَّنَبُّؤِ  ·  لِلْخَاتِمَةِ  ·  شَرْطًا افْتِرَاضِيًّا  ·  فَاتَتْنِي بَعْضُ الكَلِمَاتِ  ·  مُتَوَازِنٌ  ·  مُنْحَازٌ  ·  سَلَّمَ بِـ  ·  رَدَّ بِـ</a:t>
            </a:r>
            <a:endParaRPr lang="ar-SA" sz="13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50</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ea typeface="Calibri" pitchFamily="34" charset="-122"/>
                <a:cs typeface="Calibri" pitchFamily="34" charset="-120"/>
              </a:rPr>
              <a:t>Write eighty to ninety words explaining your listening strategy for argumentative texts. Describe how you find the thesis, hear ṣaḥīḥun anna as a concession and ghayra anna as the refutation, and catch a subjunctive trigger and a Type 2 conditional.</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rule that you follow the argument’s structure, not single words.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ṣaḥīḥun anna signals a concession to the other side.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ghayra anna signals the speaker’s stronger point.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How you catch a subjunctive trigger and a Type 2 conditional.</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أَتَتَبَّعُ بِنْيَةَ الحُجَّةِ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follow the structure of the argument</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الكَلِمَاتِ المُفْرَدَةَ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not single words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تَسْلِيمٌ بِرَأْيِ الطَّرَفِ الآخَرِ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concession to the other side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وَهُوَ المَوْقِفُ الأَقْوَى</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which is the stronger position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وَلَوْ فَاتَتْنِي بَعْضُ الكَلِمَاتِ</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even if some words escape me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50</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قَبْلَ الاسْتِمَاعِ إِلَى نَصٍّ جَدَلِيٍّ، أَقْرَأُ الأَسْئِلَةَ وَأَتَتَبَّعُ بِنْيَةَ الحُجَّةِ لَا الكَلِمَاتِ المُفْرَدَةَ. أُصْغِي أَوَّلًا إِلَى الأُطْرُوحَةِ فِي المُقَدِّمَةِ. ثُمَّ أَتَرَقَّبُ «صَحِيحٌ أَنَّ»، فَهِيَ تَسْلِيمٌ بِرَأْيِ الطَّرَفِ الآخَرِ، لَا رَأْيُ المُتَحَدِّثِ. وَبَعْدَهَا يَأْتِي الرَّدُّ بِـ«غَيْرَ أَنَّ»، وَهُوَ المَوْقِفُ الأَقْوَى. وَأَتَرَقَّبُ «يَتَطَلَّبُ أَنْ» لِلْخَاتِمَةِ، وَ«لَوْ» مَعَ «لَـ» لِلشَّرْطِ الافْتِرَاضِيِّ. وَهٰكَذَا أَتَنَبَّأُ بِمَا يَلِي وَأُتَابِعُ الحُجَّةَ وَلَوْ فَاتَتْنِي بَعْضُ الكَلِمَاتِ.</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Before listening to an argumentative text, I read the questions and follow the structure of the argument, not single words. I listen first for the thesis in the introduction. Then I wait for “ṣaḥīḥun anna”, which is a concession to the other side, not the speaker’s view. After it comes the response with “ghayra anna”, which is the stronger position. I wait for “yataṭallabu an” for the conclusion, and “law” with “la-” for the hypothetical conditional. In this way I predict what follows and follow the argument, even if some words escape me.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structure, not single words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ṣaḥīḥun anna: the other side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ghayra anna: the stronger position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law + la-: hypothetical</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50</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Before listening, I labelled each question: thesis, concession, refutation or trigger.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caught the thesis in the introduction.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the point after ṣaḥīḥun anna to the OTHER side.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waited for sa- / la- before deciding the conditional.</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predicted the refutation and judged the speaker: balanced or partisan.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50</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 signal in speech?</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point the speaker concedes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speaker's own conclusion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statistic</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غَيْرَ أَنَّ</a:t>
            </a:r>
            <a:pPr algn="l" indent="0" marL="0">
              <a:buNone/>
            </a:pPr>
            <a:r>
              <a:rPr lang="en-US" sz="1250" b="1" dirty="0">
                <a:solidFill>
                  <a:srgbClr val="1B3B6F"/>
                </a:solidFill>
                <a:latin typeface="Calibri" pitchFamily="34" charset="0"/>
                <a:ea typeface="Calibri" pitchFamily="34" charset="-122"/>
                <a:cs typeface="Calibri" pitchFamily="34" charset="-120"/>
              </a:rPr>
              <a:t> signal?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Another concession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speaker's stronger point (refutation)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end</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 </a:t>
            </a:r>
            <a:pPr algn="l" indent="0" marL="0">
              <a:buNone/>
            </a:pPr>
            <a:r>
              <a:rPr lang="ar-SA" altLang="en-US" sz="1650" b="1" dirty="0">
                <a:solidFill>
                  <a:srgbClr val="1B3B6F"/>
                </a:solidFill>
                <a:latin typeface="Amiri" pitchFamily="34" charset="0"/>
                <a:ea typeface="Amiri" pitchFamily="34" charset="-122"/>
                <a:cs typeface="Amiri" pitchFamily="34" charset="-120"/>
              </a:rPr>
              <a:t>لَـ</a:t>
            </a:r>
            <a:pPr algn="l" indent="0" marL="0">
              <a:buNone/>
            </a:pPr>
            <a:r>
              <a:rPr lang="en-US" sz="1250" b="1" dirty="0">
                <a:solidFill>
                  <a:srgbClr val="1B3B6F"/>
                </a:solidFill>
                <a:latin typeface="Calibri" pitchFamily="34" charset="0"/>
                <a:ea typeface="Calibri" pitchFamily="34" charset="-122"/>
                <a:cs typeface="Calibri" pitchFamily="34" charset="-120"/>
              </a:rPr>
              <a:t> result. The conditional is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hypothetical (Type 2)</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real (Type 1)</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command</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50</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 signal in speech?</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point the speaker concedes</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speaker's own conclusion</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statistic</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صَحِيحٌ أَنَّ</a:t>
            </a:r>
            <a:pPr algn="l" indent="0" marL="0">
              <a:buNone/>
            </a:pPr>
            <a:r>
              <a:rPr lang="en-US" sz="1050" i="1" dirty="0">
                <a:solidFill>
                  <a:srgbClr val="8A6D1E"/>
                </a:solidFill>
                <a:latin typeface="Calibri" pitchFamily="34" charset="0"/>
                <a:ea typeface="Calibri" pitchFamily="34" charset="-122"/>
                <a:cs typeface="Calibri" pitchFamily="34" charset="-120"/>
              </a:rPr>
              <a:t> signals a conceded point.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غَيْرَ أَنَّ</a:t>
            </a:r>
            <a:pPr algn="l" indent="0" marL="0">
              <a:buNone/>
            </a:pPr>
            <a:r>
              <a:rPr lang="en-US" sz="1250" b="1" dirty="0">
                <a:solidFill>
                  <a:srgbClr val="1B3B6F"/>
                </a:solidFill>
                <a:latin typeface="Calibri" pitchFamily="34" charset="0"/>
                <a:ea typeface="Calibri" pitchFamily="34" charset="-122"/>
                <a:cs typeface="Calibri" pitchFamily="34" charset="-120"/>
              </a:rPr>
              <a:t> signal?</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Another concession</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speaker's stronger point (refutation)</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end</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غَيْرَ أَنَّ</a:t>
            </a:r>
            <a:pPr algn="l" indent="0" marL="0">
              <a:buNone/>
            </a:pPr>
            <a:r>
              <a:rPr lang="en-US" sz="1050" i="1" dirty="0">
                <a:solidFill>
                  <a:srgbClr val="8A6D1E"/>
                </a:solidFill>
                <a:latin typeface="Calibri" pitchFamily="34" charset="0"/>
                <a:ea typeface="Calibri" pitchFamily="34" charset="-122"/>
                <a:cs typeface="Calibri" pitchFamily="34" charset="-120"/>
              </a:rPr>
              <a:t> signals the refutation.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 </a:t>
            </a:r>
            <a:pPr algn="l" indent="0" marL="0">
              <a:buNone/>
            </a:pPr>
            <a:r>
              <a:rPr lang="ar-SA" altLang="en-US" sz="1650" b="1" dirty="0">
                <a:solidFill>
                  <a:srgbClr val="1B3B6F"/>
                </a:solidFill>
                <a:latin typeface="Amiri" pitchFamily="34" charset="0"/>
                <a:ea typeface="Amiri" pitchFamily="34" charset="-122"/>
                <a:cs typeface="Amiri" pitchFamily="34" charset="-120"/>
              </a:rPr>
              <a:t>لَـ</a:t>
            </a:r>
            <a:pPr algn="l" indent="0" marL="0">
              <a:buNone/>
            </a:pPr>
            <a:r>
              <a:rPr lang="en-US" sz="1250" b="1" dirty="0">
                <a:solidFill>
                  <a:srgbClr val="1B3B6F"/>
                </a:solidFill>
                <a:latin typeface="Calibri" pitchFamily="34" charset="0"/>
                <a:ea typeface="Calibri" pitchFamily="34" charset="-122"/>
                <a:cs typeface="Calibri" pitchFamily="34" charset="-120"/>
              </a:rPr>
              <a:t> result. The conditional is …</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hypothetical (Type 2)</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real (Type 1)</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command</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result signals a counterfactual Type 2.</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50</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Reading: a listening strategy guide</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لِتَنْجَحَ فِي الاسْتِمَاعِ إِلَى النُّصُوصِ الجَدَلِيَّةِ، تَتَبَّعْ بِنْيَةَ الحُجَّةِ لَا الكَلِمَاتِ المُفْرَدَةَ. اسْتَمِعْ أَوَّلًا إِلَى الأُطْرُوحَةِ فِي المُقَدِّمَةِ. ثُمَّ تَرَقَّبْ «صَحِيحٌ أَنَّ»؛ فَهِيَ إِشَارَةٌ إِلَى تَسْلِيمٍ بِرَأْيِ الطَّرَفِ الآخَرِ، لَا إِلَى رَأْيِ المُتَحَدِّثِ نَفْسِهِ. وَبَعْدَهَا يَأْتِي الرَّدُّ بِـ«غَيْرَ أَنَّ» أَوْ «مَعَ ذٰلِكَ»، وَهُوَ المَوْقِفُ الأَقْوَى. وَتَرَقَّبْ مُسَبِّبَ النَّصْبِ مِثْلَ «يَتَطَلَّبُ أَنْ» لِلْخَاتِمَةِ، وَ«لَوْ» مَعَ «لَـ» لِلشَّرْطِ الافْتِرَاضِيِّ. فَإِذَا عَرَفْتَ البِنْيَةَ، تَنَبَّأْتَ بِمَا يَلِي، وَتَابَعْتَ الحُجَّةَ وَلَوْ فَاتَتْكَ كَلِمَاتٌ.</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أُطْرُوحَتِي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thesis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تَتَّسِعُ</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widening</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تَتَحَمَّلُ</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cannot bear</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الانْتِظَارَ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waiting</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تَدْرِيجِيًّا</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gradually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عُولِجَ</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was treated, addressed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قَبْلَ عُقُودٍ</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decades ago</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فَوْرًا</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immediately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رَفَاهِيَةٌ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luxury</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تَرَقَّبْ</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look out for!</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50</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follow in an argumentative text?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single word</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argument's structure, not individual words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the first word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 signal?</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speaker's own conclusion</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statistic</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concession to the other side, not the speaker's view</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comes after the concession?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refutation with </a:t>
            </a:r>
            <a:pPr algn="l" indent="0" marL="0">
              <a:buNone/>
            </a:pPr>
            <a:r>
              <a:rPr lang="ar-SA" altLang="en-US" sz="1650" dirty="0">
                <a:solidFill>
                  <a:srgbClr val="1F2A37"/>
                </a:solidFill>
                <a:latin typeface="Amiri" pitchFamily="34" charset="0"/>
                <a:ea typeface="Amiri" pitchFamily="34" charset="-122"/>
                <a:cs typeface="Amiri" pitchFamily="34" charset="-120"/>
              </a:rPr>
              <a:t>غَيْرَ أَنَّ</a:t>
            </a:r>
            <a:pPr algn="l" indent="0" marL="0">
              <a:buNone/>
            </a:pPr>
            <a:r>
              <a:rPr lang="en-US" sz="1250" dirty="0">
                <a:solidFill>
                  <a:srgbClr val="1F2A37"/>
                </a:solidFill>
                <a:latin typeface="Calibri" pitchFamily="34" charset="0"/>
                <a:ea typeface="Calibri" pitchFamily="34" charset="-122"/>
                <a:cs typeface="Calibri" pitchFamily="34" charset="-120"/>
              </a:rPr>
              <a:t> — the stronger position</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Another thesis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Silence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marker signals the subjunctive conclusion?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صَحِيحٌ أَنَّ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يَتَطَلَّبُ أَنْ</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knowing the structure useful?</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 can predict what follows and keep up if words slip past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replaces listening</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only decorative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50</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follow in an argumentative text?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single word</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argument's structure, not individual words</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the first word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تَتَبَّعْ بِنْيَةَ الحُجَّةِ لَا الكَلِمَاتِ المُفْرَدَةَ.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 signal?</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speaker's own conclusion</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statistic</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concession to the other side, not the speaker's view</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إِشَارَةٌ إِلَى تَسْلِيمٍ بِرَأْيِ الطَّرَفِ الآخَرِ.</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comes after the concession?</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refutation with </a:t>
            </a:r>
            <a:pPr algn="l" indent="0" marL="0">
              <a:buNone/>
            </a:pPr>
            <a:r>
              <a:rPr lang="ar-SA" altLang="en-US" sz="1500" b="1" dirty="0">
                <a:solidFill>
                  <a:srgbClr val="1F2A37"/>
                </a:solidFill>
                <a:latin typeface="Amiri" pitchFamily="34" charset="0"/>
                <a:ea typeface="Amiri" pitchFamily="34" charset="-122"/>
                <a:cs typeface="Amiri" pitchFamily="34" charset="-120"/>
              </a:rPr>
              <a:t>غَيْرَ أَنَّ</a:t>
            </a:r>
            <a:pPr algn="l" indent="0" marL="0">
              <a:buNone/>
            </a:pPr>
            <a:r>
              <a:rPr lang="en-US" sz="1150" b="1" dirty="0">
                <a:solidFill>
                  <a:srgbClr val="1F2A37"/>
                </a:solidFill>
                <a:latin typeface="Calibri" pitchFamily="34" charset="0"/>
                <a:ea typeface="Calibri" pitchFamily="34" charset="-122"/>
                <a:cs typeface="Calibri" pitchFamily="34" charset="-120"/>
              </a:rPr>
              <a:t> — the stronger position</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Another thesis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Silence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يَأْتِي الرَّدُّ بِـ«غَيْرَ أَنَّ» … وَهُوَ المَوْقِفُ الأَقْوَى.</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marker signals the subjunctive conclusion?</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صَحِيحٌ أَنَّ</a:t>
            </a:r>
            <a:endParaRPr lang="ar-SA" sz="170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يَتَطَلَّبُ أَنْ</a:t>
            </a:r>
            <a:endParaRPr lang="ar-SA" sz="17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تَرَقَّبْ مُسَبِّبَ النَّصْبِ مِثْلَ «يَتَطَلَّبُ أَنْ» لِلْخَاتِمَةِ.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knowing the structure useful?</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You can predict what follows and keep up if words slip past</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replaces listening</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only decorative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فَإِذَا عَرَفْتَ البِنْيَةَ، تَنَبَّأْتَ بِمَا يَلِي.</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50</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Listening Mission — Follow the Argument</a:t>
            </a:r>
            <a:endParaRPr lang="en-US" sz="23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Structure: where is the thesis?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conclusion only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introduction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nowhere</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Signal:</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صَحِيحٌ أَنَّ</a:t>
            </a:r>
            <a:pPr algn="l" indent="0" marL="0">
              <a:buNone/>
            </a:pPr>
            <a:r>
              <a:rPr lang="en-US" sz="1450" b="1" dirty="0">
                <a:solidFill>
                  <a:srgbClr val="1F2A37"/>
                </a:solidFill>
                <a:latin typeface="Calibri" pitchFamily="34" charset="0"/>
                <a:ea typeface="Calibri" pitchFamily="34" charset="-122"/>
                <a:cs typeface="Calibri" pitchFamily="34" charset="-120"/>
              </a:rPr>
              <a:t> marks …</a:t>
            </a:r>
            <a:endParaRPr lang="en-US" sz="145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concession</a:t>
            </a:r>
            <a:endParaRPr lang="en-US" sz="12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speaker's conclusion</a:t>
            </a:r>
            <a:endParaRPr lang="en-US" sz="12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statistic</a:t>
            </a:r>
            <a:endParaRPr lang="en-US" sz="12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7" name="Text 44"/>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Signal:</a:t>
            </a:r>
            <a:endParaRPr lang="en-US" sz="1200" dirty="0"/>
          </a:p>
        </p:txBody>
      </p:sp>
      <p:sp>
        <p:nvSpPr>
          <p:cNvPr id="48" name="Text 45"/>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غَيْرَ أَنَّ</a:t>
            </a:r>
            <a:pPr algn="l" indent="0" marL="0">
              <a:buNone/>
            </a:pPr>
            <a:r>
              <a:rPr lang="en-US" sz="1450" b="1" dirty="0">
                <a:solidFill>
                  <a:srgbClr val="1F2A37"/>
                </a:solidFill>
                <a:latin typeface="Calibri" pitchFamily="34" charset="0"/>
                <a:ea typeface="Calibri" pitchFamily="34" charset="-122"/>
                <a:cs typeface="Calibri" pitchFamily="34" charset="-120"/>
              </a:rPr>
              <a:t> marks …</a:t>
            </a:r>
            <a:endParaRPr lang="en-US" sz="1450" dirty="0"/>
          </a:p>
        </p:txBody>
      </p:sp>
      <p:sp>
        <p:nvSpPr>
          <p:cNvPr id="49" name="Shape 46"/>
          <p:cNvSpPr/>
          <p:nvPr/>
        </p:nvSpPr>
        <p:spPr>
          <a:xfrm>
            <a:off x="8278368" y="25328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concession</a:t>
            </a:r>
            <a:endParaRPr lang="en-US" sz="1250" dirty="0"/>
          </a:p>
        </p:txBody>
      </p:sp>
      <p:sp>
        <p:nvSpPr>
          <p:cNvPr id="52" name="Shape 49"/>
          <p:cNvSpPr/>
          <p:nvPr/>
        </p:nvSpPr>
        <p:spPr>
          <a:xfrm>
            <a:off x="8278368" y="29900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thesis</a:t>
            </a:r>
            <a:endParaRPr lang="en-US" sz="1250" dirty="0"/>
          </a:p>
        </p:txBody>
      </p:sp>
      <p:sp>
        <p:nvSpPr>
          <p:cNvPr id="55" name="Shape 52"/>
          <p:cNvSpPr/>
          <p:nvPr/>
        </p:nvSpPr>
        <p:spPr>
          <a:xfrm>
            <a:off x="8278368" y="3447288"/>
            <a:ext cx="256032" cy="256032"/>
          </a:xfrm>
          <a:prstGeom prst="ellipse">
            <a:avLst/>
          </a:prstGeom>
          <a:solidFill>
            <a:srgbClr val="F4F1EA"/>
          </a:solidFill>
          <a:ln w="12700">
            <a:solidFill>
              <a:srgbClr val="F4F1EA"/>
            </a:solidFill>
            <a:prstDash val="solid"/>
          </a:ln>
        </p:spPr>
      </p:sp>
      <p:sp>
        <p:nvSpPr>
          <p:cNvPr id="56" name="Text 53"/>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refutation</a:t>
            </a:r>
            <a:endParaRPr lang="en-US" sz="1250" dirty="0"/>
          </a:p>
        </p:txBody>
      </p:sp>
      <p:sp>
        <p:nvSpPr>
          <p:cNvPr id="58" name="Shape 5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85216"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1" name="Text 58"/>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Attribution: the point after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 belongs to …</a:t>
            </a:r>
            <a:endParaRPr lang="en-US" sz="125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speaker's conclusion</a:t>
            </a:r>
            <a:endParaRPr lang="en-US" sz="12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one</a:t>
            </a:r>
            <a:endParaRPr lang="en-US" sz="12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other side</a:t>
            </a:r>
            <a:endParaRPr lang="en-US" sz="12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Trigger: which marks a subjunctive conclusion?</a:t>
            </a:r>
            <a:endParaRPr lang="en-US" sz="125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يَتَطَلَّبُ أَنْ</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صَحِيحٌ أَنَّ</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7" name="Text 8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Subjunctive: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الوَضْعُ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الحُكُومَاتُ فَوْرًا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تَتَحَرَّكُ</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تَتَحَرَّكَ</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تَتَحَرَّكْ</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50</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Structure: where is the thesis?</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conclusion only</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introduction</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nowhere</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thesis opens the text.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Signal:</a:t>
            </a:r>
            <a:endParaRPr lang="en-US" sz="1200" dirty="0"/>
          </a:p>
        </p:txBody>
      </p:sp>
      <p:sp>
        <p:nvSpPr>
          <p:cNvPr id="35" name="Text 33"/>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صَحِيحٌ أَنَّ</a:t>
            </a:r>
            <a:pPr algn="l" indent="0" marL="0">
              <a:buNone/>
            </a:pPr>
            <a:r>
              <a:rPr lang="en-US" sz="1450" b="1" dirty="0">
                <a:solidFill>
                  <a:srgbClr val="1F2A37"/>
                </a:solidFill>
                <a:latin typeface="Calibri" pitchFamily="34" charset="0"/>
                <a:ea typeface="Calibri" pitchFamily="34" charset="-122"/>
                <a:cs typeface="Calibri" pitchFamily="34" charset="-120"/>
              </a:rPr>
              <a:t> marks …</a:t>
            </a:r>
            <a:endParaRPr lang="en-US" sz="145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concession</a:t>
            </a:r>
            <a:endParaRPr lang="en-US" sz="125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speaker's conclusion</a:t>
            </a:r>
            <a:endParaRPr lang="en-US" sz="125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statistic</a:t>
            </a:r>
            <a:endParaRPr lang="en-US" sz="125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صَحِيحٌ أَنَّ</a:t>
            </a:r>
            <a:pPr algn="l" indent="0" marL="0">
              <a:buNone/>
            </a:pPr>
            <a:r>
              <a:rPr lang="en-US" sz="1050" i="1" dirty="0">
                <a:solidFill>
                  <a:srgbClr val="8A6D1E"/>
                </a:solidFill>
                <a:latin typeface="Calibri" pitchFamily="34" charset="0"/>
                <a:ea typeface="Calibri" pitchFamily="34" charset="-122"/>
                <a:cs typeface="Calibri" pitchFamily="34" charset="-120"/>
              </a:rPr>
              <a:t> marks a concession.</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8"/>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Signal:</a:t>
            </a:r>
            <a:endParaRPr lang="en-US" sz="1200" dirty="0"/>
          </a:p>
        </p:txBody>
      </p:sp>
      <p:sp>
        <p:nvSpPr>
          <p:cNvPr id="51" name="Text 49"/>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غَيْرَ أَنَّ</a:t>
            </a:r>
            <a:pPr algn="l" indent="0" marL="0">
              <a:buNone/>
            </a:pPr>
            <a:r>
              <a:rPr lang="en-US" sz="1450" b="1" dirty="0">
                <a:solidFill>
                  <a:srgbClr val="1F2A37"/>
                </a:solidFill>
                <a:latin typeface="Calibri" pitchFamily="34" charset="0"/>
                <a:ea typeface="Calibri" pitchFamily="34" charset="-122"/>
                <a:cs typeface="Calibri" pitchFamily="34" charset="-120"/>
              </a:rPr>
              <a:t> marks …</a:t>
            </a:r>
            <a:endParaRPr lang="en-US" sz="1450" dirty="0"/>
          </a:p>
        </p:txBody>
      </p:sp>
      <p:sp>
        <p:nvSpPr>
          <p:cNvPr id="52" name="Shape 50"/>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2"/>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concession</a:t>
            </a:r>
            <a:endParaRPr lang="en-US" sz="1250" dirty="0"/>
          </a:p>
        </p:txBody>
      </p:sp>
      <p:sp>
        <p:nvSpPr>
          <p:cNvPr id="55"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5"/>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thesis</a:t>
            </a:r>
            <a:endParaRPr lang="en-US" sz="1250" dirty="0"/>
          </a:p>
        </p:txBody>
      </p:sp>
      <p:sp>
        <p:nvSpPr>
          <p:cNvPr id="58" name="Shape 56"/>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9" name="Shape 57"/>
          <p:cNvSpPr/>
          <p:nvPr/>
        </p:nvSpPr>
        <p:spPr>
          <a:xfrm>
            <a:off x="8278368" y="3233928"/>
            <a:ext cx="256032" cy="256032"/>
          </a:xfrm>
          <a:prstGeom prst="ellipse">
            <a:avLst/>
          </a:prstGeom>
          <a:solidFill>
            <a:srgbClr val="2E8B57"/>
          </a:solidFill>
          <a:ln w="12700">
            <a:solidFill>
              <a:srgbClr val="2E8B57"/>
            </a:solidFill>
            <a:prstDash val="solid"/>
          </a:ln>
        </p:spPr>
      </p:sp>
      <p:sp>
        <p:nvSpPr>
          <p:cNvPr id="60" name="Text 58"/>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1" name="Text 59"/>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refutation</a:t>
            </a:r>
            <a:endParaRPr lang="en-US" sz="1250" dirty="0"/>
          </a:p>
        </p:txBody>
      </p:sp>
      <p:sp>
        <p:nvSpPr>
          <p:cNvPr id="62" name="Text 6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غَيْرَ أَنَّ</a:t>
            </a:r>
            <a:pPr algn="l" indent="0" marL="0">
              <a:buNone/>
            </a:pPr>
            <a:r>
              <a:rPr lang="en-US" sz="1050" i="1" dirty="0">
                <a:solidFill>
                  <a:srgbClr val="8A6D1E"/>
                </a:solidFill>
                <a:latin typeface="Calibri" pitchFamily="34" charset="0"/>
                <a:ea typeface="Calibri" pitchFamily="34" charset="-122"/>
                <a:cs typeface="Calibri" pitchFamily="34" charset="-120"/>
              </a:rPr>
              <a:t> marks the refutation.</a:t>
            </a:r>
            <a:endParaRPr lang="en-US" sz="1050" dirty="0"/>
          </a:p>
        </p:txBody>
      </p:sp>
      <p:sp>
        <p:nvSpPr>
          <p:cNvPr id="63" name="Shape 6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2"/>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Attribution: the point after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 belongs to …</a:t>
            </a:r>
            <a:endParaRPr lang="en-US" sz="1250" dirty="0"/>
          </a:p>
        </p:txBody>
      </p:sp>
      <p:sp>
        <p:nvSpPr>
          <p:cNvPr id="67"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7"/>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speaker's conclusion</a:t>
            </a:r>
            <a:endParaRPr lang="en-US" sz="1250" dirty="0"/>
          </a:p>
        </p:txBody>
      </p:sp>
      <p:sp>
        <p:nvSpPr>
          <p:cNvPr id="70"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70"/>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one</a:t>
            </a:r>
            <a:endParaRPr lang="en-US" sz="1250" dirty="0"/>
          </a:p>
        </p:txBody>
      </p:sp>
      <p:sp>
        <p:nvSpPr>
          <p:cNvPr id="73"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4"/>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other side</a:t>
            </a:r>
            <a:endParaRPr lang="en-US" sz="1250" dirty="0"/>
          </a:p>
        </p:txBody>
      </p:sp>
      <p:sp>
        <p:nvSpPr>
          <p:cNvPr id="77"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conceded point belongs to the other side.</a:t>
            </a:r>
            <a:endParaRPr lang="en-US" sz="1050" dirty="0"/>
          </a:p>
        </p:txBody>
      </p:sp>
      <p:sp>
        <p:nvSpPr>
          <p:cNvPr id="78"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1" name="Text 7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Trigger: which marks a subjunctive conclusion?</a:t>
            </a:r>
            <a:endParaRPr lang="en-US" sz="125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يَتَطَلَّبُ أَنْ</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صَحِيحٌ أَنَّ</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يَتَطَلَّبُ أَنْ</a:t>
            </a:r>
            <a:pPr algn="l" indent="0" marL="0">
              <a:buNone/>
            </a:pPr>
            <a:r>
              <a:rPr lang="en-US" sz="1050" i="1" dirty="0">
                <a:solidFill>
                  <a:srgbClr val="8A6D1E"/>
                </a:solidFill>
                <a:latin typeface="Calibri" pitchFamily="34" charset="0"/>
                <a:ea typeface="Calibri" pitchFamily="34" charset="-122"/>
                <a:cs typeface="Calibri" pitchFamily="34" charset="-120"/>
              </a:rPr>
              <a:t> marks a subjunctive conclusion.</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6" name="Text 9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Subjunctive: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الوَضْعُ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الحُكُومَاتُ فَوْرًا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تَتَحَرَّكُ</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تَتَحَرَّكَ</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تَتَحَرَّكْ</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تَتَحَرَّكَ</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50</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P5-L11: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P5-L11 · Consolidation — Speaking Preparation and P5 Complete Review</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الطَّلَاقَةُ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fluency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التِّلْقَائِيَّةُ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spontaneity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الأَدَاءُ تَحْتَ الضَّغْطِ</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performance under pressure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التَّشْكِيلُ الدَّقِيقُ</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precise vowelling</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الثِّقَةُ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confidence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P5 structure is hardest for you to SAY without notes —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أَصْعَبُ تَرْكِيبٍ عَلَيَّ هُوَ ______ ، لِأَنَّ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Listen to a short Arabic opinion clip and note the thesis and one concession.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Note whose view each point is (the speaker or the other side).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an 80–90-word listening strategy.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49 / 50</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P5-L10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P5-L11 · Consolidation — Speaking Preparation and P5 Complete Review</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تَرْسِيخُ الوَحْدَةِ — إِعْدَادُ التَّحَدُّثِ</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follow the shape, not every word — thesis first; ṣaḥīḥun anna = the OTHER side; ghayra anna = the speaker; wait for sa- / la-; yataṭallabu an = the demand; wa-bināʾan ʿalā mā sabaqa = the end.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P5-L10 · Listening — Social Issues and Opinions Texts</dc:title>
  <dc:subject>PptxGenJS Presentation</dc:subject>
  <dc:creator>Al Madina Online School · Arabic Department</dc:creator>
  <cp:lastModifiedBy>Al Madina Online School · Arabic Department</cp:lastModifiedBy>
  <cp:revision>1</cp:revision>
  <dcterms:created xsi:type="dcterms:W3CDTF">2026-10-10T23:16:47Z</dcterms:created>
  <dcterms:modified xsi:type="dcterms:W3CDTF">2026-10-10T23:16:47Z</dcterms:modified>
</cp:coreProperties>
</file>