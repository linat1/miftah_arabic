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P5 Social Issues and Opinions › P5-L07. The website lesson “Constructing a Balanced Argument — The Art of Arabic Essay Writing”: vocabulary, grammar rules and quiz, patterns, common mistakes, sorter, listening, reading, speaking prompts and model, writing task and model, differentiation, final check and the lesson mission. Picture match: website visual game “Constructing a Balanced Argument — The Art of Arabic Essay Writing”.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a thesis, one piece of evidence and one concession–refutation pair (website Core). Develop: add a Type 2 and a conclusion connector (120 words). Stretch: 130 words with the full architecture and a subjunctive conclusion.
• This is the consolidating lesson of P5’s writing strand: students may choose ANY social issue from P5-L01 to L06 (poverty, migration, gender equality, digital society, global justice, youth). Encourage them to reuse their own earlier paragraphs.
• Faith link (optional): «ادْعُ إِلَى سَبِيلِ رَبِّكَ بِالحِكْمَةِ وَالمَوْعِظَةِ الحَسَنَةِ، وَجَادِلْهُمْ بِالَّتِي هِيَ أَحْسَنُ» (al-Naḥl 16:125) — argue in the best way; and «قُلْ هَاتُوا بُرْهَانَكُمْ إِنْ كُنْتُمْ صَادِقِينَ» (al-Baqara 2:111) — bring your evidence.
• Grammar links: ṣaḥīḥun anna … ghayra anna (P5-L01) · an + -a triggers (P5-L03 to L05) · Type 2 (P3-L05) · wa-bināʾan ʿalā mā sabaqa (P5-L05).
• TEACHER-WRITTEN ITEMS: waṣl alif shown without a kasra; لِكَيْ always written with its sukūn; two doubled concessions corrected (live builder: بِالرَّغْمِ مِنْ … غَيْرَ أَنَّ → … فَإِنَّ; sorter: بِالرَّغْمِ مِنْ … مَعَ ذٰلِكَ تَبْقَى → … تَبْقَى); rule formulas, writing prompt and checklist in transliteration; sorter headings in transliteration; game cards 0, 2 and 4 not used; the architecture, pair, anna / an and connector tables are teacher-built from the website texts.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P5-L06. Questions 4–5 retrieve the past perfect and yuʿīdu taʿrīfa (P5-L06) — both can live inside today’s essay.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An essay is not a list of opinions — it is a building: every paragraph has a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تمہید, رائے and مقالہ are shared — you already know the essay words. Careful: Urdu دلیل = an argument, but Arabic الدَّلِيلُ = the EVIDENCE that proves it (the argument = الحُجَّةُ). Urdu خاتمہ = an end / ending (e.g. of a problem); Arabic الخَاتِمَةُ = the CONCLUSION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Essay architecture (website vocabulary (1 of 2)). Hear → Say → See → Use. Transliteration is printed for Core students (cover it for Develop/Stretch).
Essay architecture: التَّمْهِيدُ → طَرْحُ الحُجَّةِ → نَقِيضُ الحُجَّةِ → الرَّدُّ عَلَى الحُجَّةِ المُضَادَّةِ → الخَاتِمَةُ. These five words ARE your essay plan — label your paragraphs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Essay architecture (website vocabulary (2 of 2)). Hear → Say → See → Use. Transliteration is printed for Core students (cover it for Develop/Stretch).
Essay architecture: التَّمْهِيدُ → طَرْحُ الحُجَّةِ → نَقِيضُ الحُجَّةِ → الرَّدُّ عَلَى الحُجَّةِ المُضَادَّةِ → الخَاتِمَةُ. These five words ARE your essay plan — label your paragraphs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Concession and refutation (website vocabulary (1 of 2)). Hear → Say → See → Use. Transliteration is printed for Core students (cover it for Develop/Stretch).
Concede: صَحِيحٌ أَنَّ · لَا يُمْكِنُ إِنْكَارُ أَنَّ · بِالرَّغْمِ مِنْ + noun. Refute: غَيْرَ أَنَّ · مَعَ ذٰلِكَ. Contrast: فِي المُقَابِلِ · وَعَلَى النَّقِيضِ مِنْ ذٰلِكَ. Conclude: وَفِي ضَوْءِ مَا سَبَقَ. One concession word + one refutation word per pair — never two of the same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Concession and refutation (website vocabulary (2 of 2)). Hear → Say → See → Use. Transliteration is printed for Core students (cover it for Develop/Stretch).
FLEX: teach if time allows; otherwise these are on the website vocabulary tab for homework.
Concede: صَحِيحٌ أَنَّ · لَا يُمْكِنُ إِنْكَارُ أَنَّ · بِالرَّغْمِ مِنْ + noun. Refute: غَيْرَ أَنَّ · مَعَ ذٰلِكَ. Contrast: فِي المُقَابِلِ · وَعَلَى النَّقِيضِ مِنْ ذٰلِكَ. Conclude: وَفِي ضَوْءِ مَا سَبَقَ. One concession word + one refutation word per pair — never two of the same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Argument register (website vocabulary (1 of 2)). Hear → Say → See → Use. Transliteration is printed for Core students (cover it for Develop/Stretch).
FLEX: teach if time allows; otherwise these are on the website vocabulary tab for homework.
Register: تُفْضِي إِلَى (leads to) and يَفُوقُ التَّكْلِفَةَ (outweighs the cost) are the formal verbs that turn evidence into argument. الحِيَادُ الأَكَادِيمِيُّ = academic neutrality — the tone of the whole 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Argument register (website vocabulary (2 of 2)). Hear → Say → See → Use. Transliteration is printed for Core students (cover it for Develop/Stretch).
FLEX: teach if time allows; otherwise these are on the website vocabulary tab for homework.
Register: تُفْضِي إِلَى (leads to) and يَفُوقُ التَّكْلِفَةَ (outweighs the cost) are the formal verbs that turn evidence into argument. الحِيَادُ الأَكَادِيمِيُّ = academic neutrality — the tone of the whole 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the website table (“Paragraph · Job · Marker”), teaching point 1 (“Every paragraph has a structural job”), quiz 1 and quiz 8.
Planning routine (2 min, every essay): write P1–P4 down the margin, and next to each its marker. Only then write sentences.
The Type 2 (law … la-) can sit in P3 or just before P4 — the website checklist asks for one “within the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“Concession” and “Refutation”, teaching point 2 (“The concession–refutation pair is the peak move”) and mistake 2.
WEBSITE CORRECTION: the website live builder has «بِالرَّغْمِ مِنَ التَّكْلِفَةِ، غَيْرَ أَنَّ …» and the sorter «بِالرَّغْمِ مِنَ التَّقَدُّمِ، مَعَ ذٰلِكَ تَبْقَى …». Both double the concession (like English “Despite the cost, however, …”). In this deck they read «… فَإِنَّ …» and «… تَبْقَى …».
After غَيْرَ أَنَّ / فَإِنَّ the next noun is in -a (الفَجْوَةَ · الاسْتِثْمَارَ); after مَعَ ذٰلِكَ a normal verbal sentence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mistakes 1 and 3, quiz 5 and 6, mission rounds 4, 6 and 10.
Memory hook: أَنَّ has a shadda and a NOUN after it (أَنَّ التَّطْوِيرَ …) and states a FACT → the verb stays -u. أَنْ has a sukūn, a VERB straight after it, and points to an AIM or a demand → the verb takes -a.
The essay uses both: facts in P1–P3 (anna), proposals in P4 (an). That is why the conclusion of every P5 essay has a verb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website vocabulary groups 2–3, the listening and mission rounds 3, 8 and 9.
Range tip for Stretch: use a DIFFERENT connector from each row — six different connectors in 130 words is exactly the Range the mark scheme rewards.
Row 3 (example) is teacher-built from the vocabulary; all other examples are from the website 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“Move thesis → evidence → concession (صَحِيحٌ أَنَّ) → refutation (غَيْرَ أَنَّ) → conclusion (وَبِنَاءً عَلَى مَا سَبَقَ + subjunctive), giving each paragraph its role.”
• Thesis and evidence: State the thesis, then support it with cited evidence.
• Concession: Concede the counter-argument honestly.
• Refutation: Answer the concession with the stronger point.
• Conclusion: Synthesise and propose with a subjunctive.
Website common error: Concession without refutation (conceding and then never answering), or a conclusion that adds a new point instead of synthesising. Every concession needs a غَيْرَ أَنَّ, and the conclusion draws the argument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reading and writing model. Think aloud: “P1, my claim: yushāru ilā anna. P2, my proof: akkada l-bāḥithūna anna — a fact, so -u. P3, I’m fair: ṣaḥīḥun anna … yastalzimU (fact, -u) — then I answer: ghayra anna. P4, I propose: wa-bināʾan ʿalā mā sabaqa … an tuwajjihA (aim,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Constructing a Balanced Argument — The Art of Arabic Essay Writing”)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 simple argument moves. Upgrade each card to P5 register: أَرَى أَنَّ → يُشَارُ إِلَى أَنَّ · مِنْ جِهَةٍ … وَمِنْ جِهَةٍ أُخْرَى → صَحِيحٌ أَنَّ … غَيْرَ أَنَّ · فِي الخِتَامِ → وَبِنَاءً عَلَى مَا سَبَقَ.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Constructing a Balanced Argument — The Art of Arabic Essay Writing”)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 simple argument moves. Upgrade each card to P5 register: أَرَى أَنَّ → يُشَارُ إِلَى أَنَّ · مِنْ جِهَةٍ … وَمِنْ جِهَةٍ أُخْرَى → صَحِيحٌ أَنَّ … غَيْرَ أَنَّ · فِي الخِتَامِ → وَبِنَاءً عَلَى مَا سَبَقَ.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the website live builder: “Build an essay spine from a thesis, a concession-refutation pair and a conclusion.” Website feedback: any three different combinations work.
Correction: column 2 row 3 reads «بِالرَّغْمِ مِنَ التَّكْلِفَةِ، فَإِنَّ …» (the website has «… غَيْرَ أَنَّ …», a doubled concession — see Grammar Part 2).
Core: read row 1 across. Develop: which column-2 pair uses maʿa dhālika? Stretch: insert a Type 2 between columns 2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Note: lā yumkinu inkāru anna is filed under thesis here (an emphatic claim) — but it can also concede. Then put one card from each column in order to make a mini-essay.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Note: lā yumkinu inkāru anna is filed under thesis here (an emphatic claim) — but it can also concede. Then put one card from each column in order to make a mini-essay.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5. Develop / Stretch: all 5 — and list the essay parts in the order the teacher names them.
Listen 1: just listen. Listen 2: note answers. Then chat the letters.
Support: after the second listening, show the read-along slide (Arabic + English, line by line) for Core students.
SCRIPT (read aloud):
يَقُولُ المُعَلِّمُ: المَقَالُ الحِجَاجِيُّ المُمْتَازُ لَيْسَ قَائِمَةَ آرَاءٍ، بَلْ بِنْيَةٌ مُتَكَامِلَةٌ. تَبْدَأُ بِالتَّمْهِيدِ وَطَرْحِ الأُطْرُوحَةِ، ثُمَّ تُقَدِّمُ الأَدِلَّةَ بِالاسْتِشْهَادِ وَالإِحْصَاءَاتِ. بَعْدَ ذٰلِكَ يَأْتِي نَقِيضُ الحُجَّةِ: صَحِيحٌ أَنَّ لِلطَّرَفِ الآخَرِ وِجْهَةَ نَظَرٍ، غَيْرَ أَنَّ الوَاقِعَ يُثْبِتُ عَكْسَ ذٰلِكَ. لَا يُمْكِنُ إِنْكَارُ أَنَّ التَّطْوِيرَ مُكْلِفٌ، مَعَ ذٰلِكَ يَفُوقُ العَائِدُ التَّكْلِفَةَ. وَتُخْتَمُ بِخَاتِمَةٍ: وَبِنَاءً عَلَى مَا سَبَقَ، يَتَطَلَّبُ التَّقَدُّمُ أَنْ تُوَجِّهَ الحُكُومَاتُ اسْتِثْمَارَاتِهَا نَحْوَ الإِنْسَانِ. مَنْ يُتْقِنُ هٰذِهِ البِنْيَةَ يَكْتُبُ فِي أَيِّ مَوْضُوعٍ حِجَاجِيٍّ.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وَكَيْفَ تَرُدُّ؟ (Refutation + conclusion)
B: غَيْرَ أَنَّ العَائِدَ يَفُوقُ التَّكْلِفَةَ، وَبِنَاءً عَلَى مَا سَبَقَ يَتَطَلَّبُ التَّقَدُّمُ أَنْ نَسْتَثْمِرَ فِي التَّعْلِيمِ. (غَيْرَ أَنَّ + conclusion)
Website prompts and model. Pair task: “essay plan in 90 seconds” — A chooses a P5 topic (L01–L06) and gives the thesis + evidence; B gives the concession–refutation; together they say the conclusion. Swap topics. To a girl: أُطْرُوحَتُكِ وَدَلِيلُكِ · تَرُدِّينَ · تَخْتِمِينَ.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a thesis, one piece of evidence, and one concession-refutation pair. · Develop — Add a Type 2 counterfactual and a conclusion connector; reach 120 words. · Stretch — Reach 130 words with the full architecture and a subjunctive conclusion.
Website writing task (Stretch): Write a 120–130-word argumentative essay on a social issue from P5-L01 to L06. Move thesis → evidence → concession (ṣaḥīḥun anna) → refutation (ghayra anna) → conclusion (wa-bināʾan ʿalā mā sabaqa + a verb in -a), giving each paragraph its structural role.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يُشَارُ إِلَى أَنَّ … إِذْ يُمَثِّلُ (P1) · أَكَّدَ البَاحِثُونَ أَنَّ … يُفْضِي إِلَى (P2) · صَحِيحٌ أَنَّ … يَسْتَلْزِمُ … غَيْرَ أَنَّ … يَفُوقُ · لَا يُمْكِنُ إِنْكَارُ أَنَّ … مَعَ ذٰلِكَ (P3) · لَوْ وُجِّهَتْ … لَكَانَ · وَبِنَاءً عَلَى مَا سَبَقَ … أَنْ تُوَجِّهَ … لِكَيْ يَنْعَمَ (P4).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(P5-L08 · Reading — Social Issues Texts) will spend class time USING this language, so students prepare it tonight — short, simple, easy to access (school guidance: “Simple, Short, Interesting, Relevant, Easy to access”). The five words come from the website P5-L08 vocabulary (reading social-issue texts).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P5  ·  P5-L07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P5-L07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Constructing a Balanced Argument — The Art of Arabic Essay Writing</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150" b="1" dirty="0">
                <a:solidFill>
                  <a:srgbClr val="D4AF37"/>
                </a:solidFill>
                <a:latin typeface="Amiri" pitchFamily="2" charset="-78"/>
                <a:ea typeface="Amiri" pitchFamily="2" charset="-78"/>
                <a:cs typeface="Amiri" pitchFamily="2" charset="-78"/>
              </a:rPr>
              <a:t>بِنَاءُ الحُجَّةِ المُتَوَازِنَةِ — فَنُّ الكِتَابَةِ المَقَالِيَّةِ العَرَبِيَّةِ</a:t>
            </a:r>
            <a:endParaRPr lang="ar-SA" sz="315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Build the IGCSE Grade A essay — thesis (yushāru ilā anna) → evidence (akkada … anna) → concession (ṣaḥīḥun anna + indicative) → refutation (ghayra anna / maʿa dhālika) → conclusion (wa-bināʾan ʿalā mā sabaqa + an + -a).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P5-L07 · Progression P5 · Social Issues and Opinions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P5 › P5-L07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000" dirty="0">
                <a:solidFill>
                  <a:srgbClr val="1F2A37"/>
                </a:solidFill>
                <a:latin typeface="Calibri" pitchFamily="34" charset="0"/>
                <a:cs typeface="Amiri" pitchFamily="2" charset="-78"/>
              </a:rPr>
              <a:t>The four-paragraph essay architecture, the concession–refutation pair, anna + indicative vs an + subjunctive, the connector bank.</a:t>
            </a:r>
            <a:endParaRPr lang="en-US" sz="10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Match argument moves to pictures, build an essay spine, sort thesis / concession / conclusion.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P5-L08.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التَّمْهِيدُ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conclusion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introduction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evidence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نَقِيضُ الحُجَّةِ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counter-argument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main argument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weak opinion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الخَاتِمَةُ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title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thesis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conclusion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كَانَتِ الأَجْيَالُ السَّابِقَةُ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كَافَحَتْ مِنْ أَجْلِ الاسْتِقْلَالِ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سَـ</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قَدْ</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يُعِيدُ الشَّبَابُ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النَّاشِطِيَّةِ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تَعْرِيفَ</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تَعْرِيفُ</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تَعْرِيفِ</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التَّمْهِيدُ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conclusion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introduction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evidence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(P5-L06).</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نَقِيضُ الحُجَّةِ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counter-argument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main argument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weak opinion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(P5-L06).</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الخَاتِمَةُ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title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thesis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conclusion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(P5-L06).</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كَانَتِ الأَجْيَالُ السَّابِقَةُ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كَافَحَتْ مِنْ أَجْلِ الاسْتِقْلَالِ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سَـ</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قَدْ</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P5-L06: the past perfect needs qad.</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يُعِيدُ الشَّبَابُ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النَّاشِطِيَّةِ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تَعْرِيفَ</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تَعْرِيفُ</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تَعْرِيفِ</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P5-L06: the object takes -a.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An essay is not a list of opinions — it is a building: every paragraph has a job.</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C77700"/>
                </a:solidFill>
                <a:latin typeface="Amiri" pitchFamily="2" charset="-78"/>
                <a:ea typeface="Amiri" pitchFamily="2" charset="-78"/>
                <a:cs typeface="Amiri" pitchFamily="2" charset="-78"/>
              </a:rPr>
              <a:t>يُشَارُ إِلَى أَنَّ</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صَحِيحٌ أَنَّ</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غَيْرَ أَنَّ</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وَبِنَاءً عَلَى مَا سَبَقَ</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Master the architecture of a formal Arabic argumentative essay.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Move from thesis to evidence to concession to refutation to conclusion.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full range of concession and refutation connectors.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model essay in which every paragraph carries its structural role.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the 4 paragraph jobs.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one concession–refutation pair.</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tell anna + indicative from an + -a.</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a Type 2 and a conclusion connector.</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6 different connectors correctly.</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130-word argumentative essay.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Essay architecture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Concession and refutation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Argument register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تَمْهِيدٌ</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‎تمہید‎ </a:t>
            </a:r>
            <a:pPr indent="0" marL="0">
              <a:buNone/>
            </a:pPr>
            <a:r>
              <a:rPr lang="en-US" sz="950" b="1" dirty="0">
                <a:solidFill>
                  <a:srgbClr val="2E8B57"/>
                </a:solidFill>
                <a:latin typeface="Calibri" pitchFamily="34" charset="0"/>
                <a:cs typeface="Amiri" pitchFamily="2" charset="-78"/>
              </a:rPr>
              <a:t> tamhīd · an introduction, preamble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دَلِيلٌ</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‎دلیل‎ </a:t>
            </a:r>
            <a:pPr indent="0" marL="0">
              <a:buNone/>
            </a:pPr>
            <a:r>
              <a:rPr lang="en-US" sz="950" b="1" dirty="0">
                <a:solidFill>
                  <a:srgbClr val="2E8B57"/>
                </a:solidFill>
                <a:latin typeface="Calibri" pitchFamily="34" charset="0"/>
                <a:cs typeface="Amiri" pitchFamily="2" charset="-78"/>
              </a:rPr>
              <a:t> dalīl · Arabic: evidence, proof · Urdu: an argument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رَأْيٌ</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‎رائے‎ </a:t>
            </a:r>
            <a:pPr indent="0" marL="0">
              <a:buNone/>
            </a:pPr>
            <a:r>
              <a:rPr lang="en-US" sz="950" b="1" dirty="0">
                <a:solidFill>
                  <a:srgbClr val="2E8B57"/>
                </a:solidFill>
                <a:latin typeface="Calibri" pitchFamily="34" charset="0"/>
                <a:cs typeface="Amiri" pitchFamily="2" charset="-78"/>
              </a:rPr>
              <a:t> rāy · an opinion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مَقَالٌ · مَقَالَةٌ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‎مقالہ‎ </a:t>
            </a:r>
            <a:pPr indent="0" marL="0">
              <a:buNone/>
            </a:pPr>
            <a:r>
              <a:rPr lang="en-US" sz="950" b="1" dirty="0">
                <a:solidFill>
                  <a:srgbClr val="2E8B57"/>
                </a:solidFill>
                <a:latin typeface="Calibri" pitchFamily="34" charset="0"/>
                <a:cs typeface="Amiri" pitchFamily="2" charset="-78"/>
              </a:rPr>
              <a:t> maqāla · an essay, article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خَاتِمَةٌ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‎خاتمہ‎ </a:t>
            </a:r>
            <a:pPr indent="0" marL="0">
              <a:buNone/>
            </a:pPr>
            <a:r>
              <a:rPr lang="en-US" sz="950" b="1" dirty="0">
                <a:solidFill>
                  <a:srgbClr val="2E8B57"/>
                </a:solidFill>
                <a:latin typeface="Calibri" pitchFamily="34" charset="0"/>
                <a:cs typeface="Amiri" pitchFamily="2" charset="-78"/>
              </a:rPr>
              <a:t> khātima · Arabic: a conclusion · Urdu: an end, abolition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Essay architecture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التَّمْهِيدُ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introduction / preamble</a:t>
            </a:r>
            <a:endParaRPr lang="en-US" sz="1350" dirty="0"/>
          </a:p>
          <a:p>
            <a:pPr indent="0" marL="0">
              <a:buNone/>
            </a:pPr>
            <a:r>
              <a:rPr lang="en-US" sz="1100" i="1" dirty="0">
                <a:solidFill>
                  <a:srgbClr val="5A6472"/>
                </a:solidFill>
                <a:latin typeface="Calibri" pitchFamily="34" charset="0"/>
                <a:cs typeface="Amiri" pitchFamily="2" charset="-78"/>
              </a:rPr>
              <a:t>at-tam-hī-du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طَرْحُ الحُجَّةِ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presenting the argument</a:t>
            </a:r>
            <a:endParaRPr lang="en-US" sz="1350" dirty="0"/>
          </a:p>
          <a:p>
            <a:pPr indent="0" marL="0">
              <a:buNone/>
            </a:pPr>
            <a:r>
              <a:rPr lang="en-US" sz="1100" i="1" dirty="0">
                <a:solidFill>
                  <a:srgbClr val="5A6472"/>
                </a:solidFill>
                <a:latin typeface="Calibri" pitchFamily="34" charset="0"/>
                <a:cs typeface="Amiri" pitchFamily="2" charset="-78"/>
              </a:rPr>
              <a:t>ṭar-ḥu al-ḥuj-ja-ti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نَقِيضُ الحُجَّةِ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counter-argument</a:t>
            </a:r>
            <a:endParaRPr lang="en-US" sz="1350" dirty="0"/>
          </a:p>
          <a:p>
            <a:pPr indent="0" marL="0">
              <a:buNone/>
            </a:pPr>
            <a:r>
              <a:rPr lang="en-US" sz="1100" i="1" dirty="0">
                <a:solidFill>
                  <a:srgbClr val="5A6472"/>
                </a:solidFill>
                <a:latin typeface="Calibri" pitchFamily="34" charset="0"/>
                <a:cs typeface="Amiri" pitchFamily="2" charset="-78"/>
              </a:rPr>
              <a:t>na-qī-ḍu al-ḥuj-ja-ti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الرَّدُّ عَلَى الحُجَّةِ المُضَادَّةِ</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responding to the counter-argument</a:t>
            </a:r>
            <a:endParaRPr lang="en-US" sz="1350" dirty="0"/>
          </a:p>
          <a:p>
            <a:pPr indent="0" marL="0">
              <a:buNone/>
            </a:pPr>
            <a:r>
              <a:rPr lang="en-US" sz="1100" i="1" dirty="0">
                <a:solidFill>
                  <a:srgbClr val="5A6472"/>
                </a:solidFill>
                <a:latin typeface="Calibri" pitchFamily="34" charset="0"/>
                <a:cs typeface="Amiri" pitchFamily="2" charset="-78"/>
              </a:rPr>
              <a:t>ar-rad-du ʿa-lā al-ḥuj-ja-ti al-mu-ḍād-da-ti</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Essay architecture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الخَاتِمَةُ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conclusion</a:t>
            </a:r>
            <a:endParaRPr lang="en-US" sz="1350" dirty="0"/>
          </a:p>
          <a:p>
            <a:pPr indent="0" marL="0">
              <a:buNone/>
            </a:pPr>
            <a:r>
              <a:rPr lang="en-US" sz="1100" i="1" dirty="0">
                <a:solidFill>
                  <a:srgbClr val="5A6472"/>
                </a:solidFill>
                <a:latin typeface="Calibri" pitchFamily="34" charset="0"/>
                <a:cs typeface="Amiri" pitchFamily="2" charset="-78"/>
              </a:rPr>
              <a:t>al-khā-ti-ma-tu</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الخَوَاتِمُ</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المَوْقِفُ المُتَوَازِنُ</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balanced position</a:t>
            </a:r>
            <a:endParaRPr lang="en-US" sz="1350" dirty="0"/>
          </a:p>
          <a:p>
            <a:pPr indent="0" marL="0">
              <a:buNone/>
            </a:pPr>
            <a:r>
              <a:rPr lang="en-US" sz="1100" i="1" dirty="0">
                <a:solidFill>
                  <a:srgbClr val="5A6472"/>
                </a:solidFill>
                <a:latin typeface="Calibri" pitchFamily="34" charset="0"/>
                <a:cs typeface="Amiri" pitchFamily="2" charset="-78"/>
              </a:rPr>
              <a:t>al-maw-qi-fu al-mu-ta-wā-zi-nu</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5" name="Shape 32"/>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7" name="Text 3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الرَّأْيُ المُعَلَّلُ</a:t>
            </a:r>
            <a:endParaRPr lang="ar-SA" sz="3000" dirty="0"/>
          </a:p>
        </p:txBody>
      </p:sp>
      <p:sp>
        <p:nvSpPr>
          <p:cNvPr id="38" name="Text 3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reasoned opinion</a:t>
            </a:r>
            <a:endParaRPr lang="en-US" sz="1350" dirty="0"/>
          </a:p>
          <a:p>
            <a:pPr indent="0" marL="0">
              <a:buNone/>
            </a:pPr>
            <a:r>
              <a:rPr lang="en-US" sz="1100" i="1" dirty="0">
                <a:solidFill>
                  <a:srgbClr val="5A6472"/>
                </a:solidFill>
                <a:latin typeface="Calibri" pitchFamily="34" charset="0"/>
                <a:cs typeface="Amiri" pitchFamily="2" charset="-78"/>
              </a:rPr>
              <a:t>ar-raʾ-yu al-mu-ʿal-la-lu</a:t>
            </a:r>
            <a:endParaRPr lang="en-US" sz="1350" dirty="0"/>
          </a:p>
        </p:txBody>
      </p:sp>
      <p:sp>
        <p:nvSpPr>
          <p:cNvPr id="39" name="Shape 36"/>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الآرَاءُ المُعَلَّلَةُ</a:t>
            </a:r>
            <a:endParaRPr lang="ar-SA" sz="150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5" name="Text 4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الإِقْنَاعُ بِالدَّلِيلِ</a:t>
            </a:r>
            <a:endParaRPr lang="ar-SA" sz="3000" dirty="0"/>
          </a:p>
        </p:txBody>
      </p:sp>
      <p:sp>
        <p:nvSpPr>
          <p:cNvPr id="46" name="Text 4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persuasion through evidence</a:t>
            </a:r>
            <a:endParaRPr lang="en-US" sz="1350" dirty="0"/>
          </a:p>
          <a:p>
            <a:pPr indent="0" marL="0">
              <a:buNone/>
            </a:pPr>
            <a:r>
              <a:rPr lang="en-US" sz="1100" i="1" dirty="0">
                <a:solidFill>
                  <a:srgbClr val="5A6472"/>
                </a:solidFill>
                <a:latin typeface="Calibri" pitchFamily="34" charset="0"/>
                <a:cs typeface="Amiri" pitchFamily="2" charset="-78"/>
              </a:rPr>
              <a:t>al-iq-nā-ʿu bild-da-lī-li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Concession and refutation (1 of 2)</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Concession.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صَحِيحٌ أَنَّ … لٰكِنْ</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true that … but</a:t>
            </a:r>
            <a:endParaRPr lang="en-US" sz="1350" dirty="0"/>
          </a:p>
          <a:p>
            <a:pPr indent="0" marL="0">
              <a:buNone/>
            </a:pPr>
            <a:r>
              <a:rPr lang="en-US" sz="1100" i="1" dirty="0">
                <a:solidFill>
                  <a:srgbClr val="5A6472"/>
                </a:solidFill>
                <a:latin typeface="Calibri" pitchFamily="34" charset="0"/>
                <a:cs typeface="Amiri" pitchFamily="2" charset="-78"/>
              </a:rPr>
              <a:t>ṣa-ḥī-ḥun an-na … lā-kin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7" name="Shape 24"/>
          <p:cNvSpPr/>
          <p:nvPr/>
        </p:nvSpPr>
        <p:spPr>
          <a:xfrm>
            <a:off x="4782312" y="1938528"/>
            <a:ext cx="958291"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Concession.</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يُمْكِنُ إِنْكَارُ أَنَّ</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cannot be denied that</a:t>
            </a:r>
            <a:endParaRPr lang="en-US" sz="1350" dirty="0"/>
          </a:p>
          <a:p>
            <a:pPr indent="0" marL="0">
              <a:buNone/>
            </a:pPr>
            <a:r>
              <a:rPr lang="en-US" sz="1100" i="1" dirty="0">
                <a:solidFill>
                  <a:srgbClr val="5A6472"/>
                </a:solidFill>
                <a:latin typeface="Calibri" pitchFamily="34" charset="0"/>
                <a:cs typeface="Amiri" pitchFamily="2" charset="-78"/>
              </a:rPr>
              <a:t>lā yum-ki-nu in-kā-ru an-na</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6" name="Shape 33"/>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verbal noun.</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بِالرَّغْمِ مِنْ</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despite</a:t>
            </a:r>
            <a:endParaRPr lang="en-US" sz="1350" dirty="0"/>
          </a:p>
          <a:p>
            <a:pPr indent="0" marL="0">
              <a:buNone/>
            </a:pPr>
            <a:r>
              <a:rPr lang="en-US" sz="1100" i="1" dirty="0">
                <a:solidFill>
                  <a:srgbClr val="5A6472"/>
                </a:solidFill>
                <a:latin typeface="Calibri" pitchFamily="34" charset="0"/>
                <a:cs typeface="Amiri" pitchFamily="2" charset="-78"/>
              </a:rPr>
              <a:t>bilr-ragh-mi min</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5" name="Shape 42"/>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Refutation.</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غَيْرَ أَنَّ</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however</a:t>
            </a:r>
            <a:endParaRPr lang="en-US" sz="1350" dirty="0"/>
          </a:p>
          <a:p>
            <a:pPr indent="0" marL="0">
              <a:buNone/>
            </a:pPr>
            <a:r>
              <a:rPr lang="en-US" sz="1100" i="1" dirty="0">
                <a:solidFill>
                  <a:srgbClr val="5A6472"/>
                </a:solidFill>
                <a:latin typeface="Calibri" pitchFamily="34" charset="0"/>
                <a:cs typeface="Amiri" pitchFamily="2" charset="-78"/>
              </a:rPr>
              <a:t>ghay-ra an-na</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Concession and refutation (2 of 2)</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Refutation.</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 ذٰلِكَ</a:t>
            </a:r>
            <a:endParaRPr lang="ar-SA" sz="3000" dirty="0"/>
          </a:p>
        </p:txBody>
      </p:sp>
      <p:sp>
        <p:nvSpPr>
          <p:cNvPr id="25" name="Text 22"/>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nonetheless</a:t>
            </a:r>
            <a:endParaRPr lang="en-US" sz="1350" dirty="0"/>
          </a:p>
          <a:p>
            <a:pPr indent="0" marL="0">
              <a:buNone/>
            </a:pPr>
            <a:r>
              <a:rPr lang="en-US" sz="1100" i="1" dirty="0">
                <a:solidFill>
                  <a:srgbClr val="5A6472"/>
                </a:solidFill>
                <a:latin typeface="Calibri" pitchFamily="34" charset="0"/>
                <a:cs typeface="Amiri" pitchFamily="2" charset="-78"/>
              </a:rPr>
              <a:t>ma-ʿa dhā-li-ka</a:t>
            </a:r>
            <a:endParaRPr lang="en-US" sz="1350" dirty="0"/>
          </a:p>
        </p:txBody>
      </p:sp>
      <p:sp>
        <p:nvSpPr>
          <p:cNvPr id="26" name="Shape 23"/>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4389120" y="1920240"/>
            <a:ext cx="310896" cy="310896"/>
          </a:xfrm>
          <a:prstGeom prst="ellipse">
            <a:avLst/>
          </a:prstGeom>
          <a:solidFill>
            <a:srgbClr val="F4F1EA"/>
          </a:solidFill>
          <a:ln w="12700">
            <a:solidFill>
              <a:srgbClr val="F4F1EA"/>
            </a:solidFill>
            <a:prstDash val="solid"/>
          </a:ln>
        </p:spPr>
      </p:sp>
      <p:sp>
        <p:nvSpPr>
          <p:cNvPr id="28" name="Text 25"/>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المُقَابِلِ</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fī al-mu-qā-bi-li</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وَعَلَى النَّقِيضِ مِنْ ذٰلِكَ</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contrary to that</a:t>
            </a:r>
            <a:endParaRPr lang="en-US" sz="1350" dirty="0"/>
          </a:p>
          <a:p>
            <a:pPr indent="0" marL="0">
              <a:buNone/>
            </a:pPr>
            <a:r>
              <a:rPr lang="en-US" sz="1100" i="1" dirty="0">
                <a:solidFill>
                  <a:srgbClr val="5A6472"/>
                </a:solidFill>
                <a:latin typeface="Calibri" pitchFamily="34" charset="0"/>
                <a:cs typeface="Amiri" pitchFamily="2" charset="-78"/>
              </a:rPr>
              <a:t>wa-ʿa-lā an-na-qī-ḍi min dhā-li-ka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9" name="Shape 36"/>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Conclusion.</a:t>
            </a:r>
            <a:endParaRPr lang="en-US" sz="8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وَفِي ضَوْءِ مَا سَبَقَ</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light of the above</a:t>
            </a:r>
            <a:endParaRPr lang="en-US" sz="1350" dirty="0"/>
          </a:p>
          <a:p>
            <a:pPr indent="0" marL="0">
              <a:buNone/>
            </a:pPr>
            <a:r>
              <a:rPr lang="en-US" sz="1100" i="1" dirty="0">
                <a:solidFill>
                  <a:srgbClr val="5A6472"/>
                </a:solidFill>
                <a:latin typeface="Calibri" pitchFamily="34" charset="0"/>
                <a:cs typeface="Amiri" pitchFamily="2" charset="-78"/>
              </a:rPr>
              <a:t>wa-fī ḍaw-ʾi mā sa-ba-qa</a:t>
            </a:r>
            <a:endParaRPr lang="en-US"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Argument register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الحُجَّةُ الدَّاحِضَةُ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refuting argument</a:t>
            </a:r>
            <a:endParaRPr lang="en-US" sz="1350" dirty="0"/>
          </a:p>
          <a:p>
            <a:pPr indent="0" marL="0">
              <a:buNone/>
            </a:pPr>
            <a:r>
              <a:rPr lang="en-US" sz="1100" i="1" dirty="0">
                <a:solidFill>
                  <a:srgbClr val="5A6472"/>
                </a:solidFill>
                <a:latin typeface="Calibri" pitchFamily="34" charset="0"/>
                <a:cs typeface="Amiri" pitchFamily="2" charset="-78"/>
              </a:rPr>
              <a:t>al-ḥuj-ja-tu ad-dā-ḥi-ḍa-tu</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الحُجَجُ الدَّاحِضَةُ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وِجْهَةُ النَّظَرِ المُعَارِضَةُ</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opposing viewpoint</a:t>
            </a:r>
            <a:endParaRPr lang="en-US" sz="1350" dirty="0"/>
          </a:p>
          <a:p>
            <a:pPr indent="0" marL="0">
              <a:buNone/>
            </a:pPr>
            <a:r>
              <a:rPr lang="en-US" sz="1100" i="1" dirty="0">
                <a:solidFill>
                  <a:srgbClr val="5A6472"/>
                </a:solidFill>
                <a:latin typeface="Calibri" pitchFamily="34" charset="0"/>
                <a:cs typeface="Amiri" pitchFamily="2" charset="-78"/>
              </a:rPr>
              <a:t>wij-ha-tu an-na-ẓa-ri al-mu-ʿā-ri-ḍa-tu</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5" name="Text 3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التَّعْلِيلُ</a:t>
            </a:r>
            <a:endParaRPr lang="ar-SA" sz="3000" dirty="0"/>
          </a:p>
        </p:txBody>
      </p:sp>
      <p:sp>
        <p:nvSpPr>
          <p:cNvPr id="36" name="Text 3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reasoning / justification</a:t>
            </a:r>
            <a:endParaRPr lang="en-US" sz="1350" dirty="0"/>
          </a:p>
          <a:p>
            <a:pPr indent="0" marL="0">
              <a:buNone/>
            </a:pPr>
            <a:r>
              <a:rPr lang="en-US" sz="1100" i="1" dirty="0">
                <a:solidFill>
                  <a:srgbClr val="5A6472"/>
                </a:solidFill>
                <a:latin typeface="Calibri" pitchFamily="34" charset="0"/>
                <a:cs typeface="Amiri" pitchFamily="2" charset="-78"/>
              </a:rPr>
              <a:t>at-taʿ-lī-lu</a:t>
            </a:r>
            <a:endParaRPr lang="en-US"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0" name="Shape 37"/>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she (it) · he</a:t>
            </a:r>
            <a:endParaRPr lang="en-US" sz="8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تُفْضِي إِلَى</a:t>
            </a:r>
            <a:endParaRPr lang="ar-SA" sz="3000" dirty="0"/>
          </a:p>
        </p:txBody>
      </p:sp>
      <p:sp>
        <p:nvSpPr>
          <p:cNvPr id="45" name="Text 4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leads to</a:t>
            </a:r>
            <a:endParaRPr lang="en-US" sz="1350" dirty="0"/>
          </a:p>
          <a:p>
            <a:pPr indent="0" marL="0">
              <a:buNone/>
            </a:pPr>
            <a:r>
              <a:rPr lang="en-US" sz="1100" i="1" dirty="0">
                <a:solidFill>
                  <a:srgbClr val="5A6472"/>
                </a:solidFill>
                <a:latin typeface="Calibri" pitchFamily="34" charset="0"/>
                <a:cs typeface="Amiri" pitchFamily="2" charset="-78"/>
              </a:rPr>
              <a:t>tuf-ḍī i-lā</a:t>
            </a:r>
            <a:endParaRPr lang="en-US" sz="1350" dirty="0"/>
          </a:p>
        </p:txBody>
      </p:sp>
      <p:sp>
        <p:nvSpPr>
          <p:cNvPr id="46" name="Shape 43"/>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he / it (m.)</a:t>
            </a:r>
            <a:endParaRPr lang="en-US" sz="700" dirty="0"/>
          </a:p>
        </p:txBody>
      </p:sp>
      <p:sp>
        <p:nvSpPr>
          <p:cNvPr id="48" name="Text 45"/>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يُفْضِي إِلَى</a:t>
            </a:r>
            <a:endParaRPr lang="ar-SA"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Argument register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الحِيَادُ الأَكَادِيمِيُّ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academic neutrality</a:t>
            </a:r>
            <a:endParaRPr lang="en-US" sz="1350" dirty="0"/>
          </a:p>
          <a:p>
            <a:pPr indent="0" marL="0">
              <a:buNone/>
            </a:pPr>
            <a:r>
              <a:rPr lang="en-US" sz="1100" i="1" dirty="0">
                <a:solidFill>
                  <a:srgbClr val="5A6472"/>
                </a:solidFill>
                <a:latin typeface="Calibri" pitchFamily="34" charset="0"/>
                <a:cs typeface="Amiri" pitchFamily="2" charset="-78"/>
              </a:rPr>
              <a:t>al-ḥi-yā-du al-a-kā-dī-miy-yu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الاسْتِشْهَادُ بِالأَدِلَّةِ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citing evidence</a:t>
            </a:r>
            <a:endParaRPr lang="en-US" sz="1350" dirty="0"/>
          </a:p>
          <a:p>
            <a:pPr indent="0" marL="0">
              <a:buNone/>
            </a:pPr>
            <a:r>
              <a:rPr lang="en-US" sz="1100" i="1" dirty="0">
                <a:solidFill>
                  <a:srgbClr val="5A6472"/>
                </a:solidFill>
                <a:latin typeface="Calibri" pitchFamily="34" charset="0"/>
                <a:cs typeface="Amiri" pitchFamily="2" charset="-78"/>
              </a:rPr>
              <a:t>als-tish-hā-du bil-ʾa-dil-la-ti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0" name="Shape 27"/>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يَفُوقُ التَّكْلِفَةَ</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outweighs the cost</a:t>
            </a:r>
            <a:endParaRPr lang="en-US" sz="1350" dirty="0"/>
          </a:p>
          <a:p>
            <a:pPr indent="0" marL="0">
              <a:buNone/>
            </a:pPr>
            <a:r>
              <a:rPr lang="en-US" sz="1100" i="1" dirty="0">
                <a:solidFill>
                  <a:srgbClr val="5A6472"/>
                </a:solidFill>
                <a:latin typeface="Calibri" pitchFamily="34" charset="0"/>
                <a:cs typeface="Amiri" pitchFamily="2" charset="-78"/>
              </a:rPr>
              <a:t>ya-fū-qu at-tak-li-fa-ta</a:t>
            </a:r>
            <a:endParaRPr lang="en-US" sz="1350" dirty="0"/>
          </a:p>
        </p:txBody>
      </p:sp>
      <p:sp>
        <p:nvSpPr>
          <p:cNvPr id="36" name="Shape 3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8" name="Text 35"/>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تَفُوقُ التَّكْلِفَةَ</a:t>
            </a:r>
            <a:endParaRPr lang="ar-SA"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2" name="Shape 39"/>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4" name="Text 4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الرَّكِيزَةُ الأَسَاسِيَّةُ</a:t>
            </a:r>
            <a:endParaRPr lang="ar-SA" sz="3000" dirty="0"/>
          </a:p>
        </p:txBody>
      </p:sp>
      <p:sp>
        <p:nvSpPr>
          <p:cNvPr id="45" name="Text 4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fundamental pillar</a:t>
            </a:r>
            <a:endParaRPr lang="en-US" sz="1350" dirty="0"/>
          </a:p>
          <a:p>
            <a:pPr indent="0" marL="0">
              <a:buNone/>
            </a:pPr>
            <a:r>
              <a:rPr lang="en-US" sz="1100" i="1" dirty="0">
                <a:solidFill>
                  <a:srgbClr val="5A6472"/>
                </a:solidFill>
                <a:latin typeface="Calibri" pitchFamily="34" charset="0"/>
                <a:cs typeface="Amiri" pitchFamily="2" charset="-78"/>
              </a:rPr>
              <a:t>ar-ra-kī-za-tu al-a-sā-siy-ya-tu</a:t>
            </a:r>
            <a:endParaRPr lang="en-US" sz="1350" dirty="0"/>
          </a:p>
        </p:txBody>
      </p:sp>
      <p:sp>
        <p:nvSpPr>
          <p:cNvPr id="46" name="Shape 43"/>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8" name="Text 45"/>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الرَّكَائِزُ الأَسَاسِيَّةُ</a:t>
            </a:r>
            <a:endParaRPr lang="ar-SA" sz="15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THE ESSAY ARCHITECTURE (WEBSITE TABLE, TEACHING POINT 1 AND QUIZ 1 / 8)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paragraphs, four jobs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بِنْيَةُ المَقَالِ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473952" y="1810512"/>
            <a:ext cx="5184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model essay)</a:t>
            </a:r>
            <a:endParaRPr lang="en-US" sz="1100" dirty="0"/>
          </a:p>
        </p:txBody>
      </p:sp>
      <p:sp>
        <p:nvSpPr>
          <p:cNvPr id="17" name="Text 14"/>
          <p:cNvSpPr txBox="1"/>
          <p:nvPr/>
        </p:nvSpPr>
        <p:spPr>
          <a:xfrm>
            <a:off x="37307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Marker</a:t>
            </a:r>
            <a:endParaRPr lang="en-US" sz="1100" dirty="0"/>
          </a:p>
        </p:txBody>
      </p:sp>
      <p:sp>
        <p:nvSpPr>
          <p:cNvPr id="18" name="Text 15"/>
          <p:cNvSpPr txBox="1"/>
          <p:nvPr/>
        </p:nvSpPr>
        <p:spPr>
          <a:xfrm>
            <a:off x="190195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Job</a:t>
            </a:r>
            <a:endParaRPr lang="en-US" sz="1100" dirty="0"/>
          </a:p>
        </p:txBody>
      </p:sp>
      <p:sp>
        <p:nvSpPr>
          <p:cNvPr id="19" name="Text 16"/>
          <p:cNvSpPr txBox="1"/>
          <p:nvPr/>
        </p:nvSpPr>
        <p:spPr>
          <a:xfrm>
            <a:off x="530352" y="1810512"/>
            <a:ext cx="1225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Paragraph</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6492240" y="2267712"/>
            <a:ext cx="514807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يُشَارُ إِلَى أَنَّ التَّعْلِيمَ مِنْ أَكْثَرِ القَضَايَا إِلْحَاحًا</a:t>
            </a:r>
            <a:endParaRPr lang="ar-SA" sz="1600" dirty="0"/>
          </a:p>
        </p:txBody>
      </p:sp>
      <p:sp>
        <p:nvSpPr>
          <p:cNvPr id="22" name="Text 19"/>
          <p:cNvSpPr txBox="1"/>
          <p:nvPr/>
        </p:nvSpPr>
        <p:spPr>
          <a:xfrm>
            <a:off x="3749040" y="2267712"/>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ea typeface="Amiri" pitchFamily="2" charset="-78"/>
                <a:cs typeface="Amiri" pitchFamily="2" charset="-78"/>
              </a:rPr>
              <a:t>يُشَارُ إِلَى أَنَّ</a:t>
            </a:r>
            <a:endParaRPr lang="ar-SA" sz="1800" dirty="0"/>
          </a:p>
        </p:txBody>
      </p:sp>
      <p:sp>
        <p:nvSpPr>
          <p:cNvPr id="23" name="Text 20"/>
          <p:cNvSpPr txBox="1"/>
          <p:nvPr/>
        </p:nvSpPr>
        <p:spPr>
          <a:xfrm>
            <a:off x="1938528" y="2267712"/>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thesis</a:t>
            </a:r>
            <a:endParaRPr lang="en-US" sz="1100" dirty="0"/>
          </a:p>
        </p:txBody>
      </p:sp>
      <p:sp>
        <p:nvSpPr>
          <p:cNvPr id="24" name="Text 21"/>
          <p:cNvSpPr txBox="1"/>
          <p:nvPr/>
        </p:nvSpPr>
        <p:spPr>
          <a:xfrm>
            <a:off x="566928" y="2267712"/>
            <a:ext cx="11887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6492240" y="3004718"/>
            <a:ext cx="514807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أَكَّدَ البَاحِثُونَ أَنَّ الاسْتِثْمَارَ فِي التَّعْلِيمِ يُفْضِي إِلَى نُمُوٍّ</a:t>
            </a:r>
            <a:endParaRPr lang="ar-SA" sz="1600" dirty="0"/>
          </a:p>
        </p:txBody>
      </p:sp>
      <p:sp>
        <p:nvSpPr>
          <p:cNvPr id="29" name="Text 26"/>
          <p:cNvSpPr txBox="1"/>
          <p:nvPr/>
        </p:nvSpPr>
        <p:spPr>
          <a:xfrm>
            <a:off x="3749040" y="300471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7B3FA0"/>
                </a:solidFill>
                <a:latin typeface="Amiri" pitchFamily="2" charset="-78"/>
                <a:ea typeface="Amiri" pitchFamily="2" charset="-78"/>
                <a:cs typeface="Amiri" pitchFamily="2" charset="-78"/>
              </a:rPr>
              <a:t>أَكَّدَ … أَنَّ</a:t>
            </a:r>
            <a:endParaRPr lang="ar-SA" sz="1800" dirty="0"/>
          </a:p>
        </p:txBody>
      </p:sp>
      <p:sp>
        <p:nvSpPr>
          <p:cNvPr id="30" name="Text 27"/>
          <p:cNvSpPr txBox="1"/>
          <p:nvPr/>
        </p:nvSpPr>
        <p:spPr>
          <a:xfrm>
            <a:off x="1938528" y="300471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evidence</a:t>
            </a:r>
            <a:endParaRPr lang="en-US" sz="1100" dirty="0"/>
          </a:p>
        </p:txBody>
      </p:sp>
      <p:sp>
        <p:nvSpPr>
          <p:cNvPr id="31" name="Text 28"/>
          <p:cNvSpPr txBox="1"/>
          <p:nvPr/>
        </p:nvSpPr>
        <p:spPr>
          <a:xfrm>
            <a:off x="566928" y="3004718"/>
            <a:ext cx="11887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6492240" y="3741725"/>
            <a:ext cx="514807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صَحِيحٌ أَنَّ تَطْوِيرَ المَنْظُومَةِ يَسْتَلْزِمُ مَوَارِدَ ضَخْمَةً،</a:t>
            </a:r>
            <a:endParaRPr lang="ar-SA" sz="1600" dirty="0"/>
          </a:p>
        </p:txBody>
      </p:sp>
      <p:sp>
        <p:nvSpPr>
          <p:cNvPr id="36" name="Text 33"/>
          <p:cNvSpPr txBox="1"/>
          <p:nvPr/>
        </p:nvSpPr>
        <p:spPr>
          <a:xfrm>
            <a:off x="3749040" y="3741725"/>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2" charset="-78"/>
                <a:ea typeface="Amiri" pitchFamily="2" charset="-78"/>
                <a:cs typeface="Amiri" pitchFamily="2" charset="-78"/>
              </a:rPr>
              <a:t>صَحِيحٌ أَنَّ</a:t>
            </a:r>
            <a:endParaRPr lang="ar-SA" sz="1800" dirty="0"/>
          </a:p>
        </p:txBody>
      </p:sp>
      <p:sp>
        <p:nvSpPr>
          <p:cNvPr id="37" name="Text 34"/>
          <p:cNvSpPr txBox="1"/>
          <p:nvPr/>
        </p:nvSpPr>
        <p:spPr>
          <a:xfrm>
            <a:off x="1938528" y="3741725"/>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concession</a:t>
            </a:r>
            <a:endParaRPr lang="en-US" sz="1100" dirty="0"/>
          </a:p>
        </p:txBody>
      </p:sp>
      <p:sp>
        <p:nvSpPr>
          <p:cNvPr id="38" name="Text 35"/>
          <p:cNvSpPr txBox="1"/>
          <p:nvPr/>
        </p:nvSpPr>
        <p:spPr>
          <a:xfrm>
            <a:off x="566928" y="3741725"/>
            <a:ext cx="11887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6492240" y="4478731"/>
            <a:ext cx="514807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غَيْرَ أَنَّ العَائِدَ يَفُوقُ التَّكْلِفَةَ بِأَشْوَاطٍ.</a:t>
            </a:r>
            <a:endParaRPr lang="ar-SA" sz="1600" dirty="0"/>
          </a:p>
        </p:txBody>
      </p:sp>
      <p:sp>
        <p:nvSpPr>
          <p:cNvPr id="43" name="Text 40"/>
          <p:cNvSpPr txBox="1"/>
          <p:nvPr/>
        </p:nvSpPr>
        <p:spPr>
          <a:xfrm>
            <a:off x="3749040" y="4478731"/>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ea typeface="Amiri" pitchFamily="2" charset="-78"/>
                <a:cs typeface="Amiri" pitchFamily="2" charset="-78"/>
              </a:rPr>
              <a:t>غَيْرَ أَنَّ</a:t>
            </a:r>
            <a:endParaRPr lang="ar-SA" sz="1800" dirty="0"/>
          </a:p>
        </p:txBody>
      </p:sp>
      <p:sp>
        <p:nvSpPr>
          <p:cNvPr id="44" name="Text 41"/>
          <p:cNvSpPr txBox="1"/>
          <p:nvPr/>
        </p:nvSpPr>
        <p:spPr>
          <a:xfrm>
            <a:off x="1938528" y="4478731"/>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refutation</a:t>
            </a:r>
            <a:endParaRPr lang="en-US" sz="1100" dirty="0"/>
          </a:p>
        </p:txBody>
      </p:sp>
      <p:sp>
        <p:nvSpPr>
          <p:cNvPr id="45" name="Text 42"/>
          <p:cNvSpPr txBox="1"/>
          <p:nvPr/>
        </p:nvSpPr>
        <p:spPr>
          <a:xfrm>
            <a:off x="566928" y="4478731"/>
            <a:ext cx="11887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a:t>
            </a:r>
            <a:endParaRPr lang="en-US" sz="11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6492240" y="5215738"/>
            <a:ext cx="514807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وَبِنَاءً عَلَى مَا سَبَقَ، يَتَطَلَّبُ التَّقَدُّمُ أَنْ تُوَجِّهَ الحُكُومَاتُ …</a:t>
            </a:r>
            <a:endParaRPr lang="ar-SA" sz="1600" dirty="0"/>
          </a:p>
        </p:txBody>
      </p:sp>
      <p:sp>
        <p:nvSpPr>
          <p:cNvPr id="48" name="Text 45"/>
          <p:cNvSpPr txBox="1"/>
          <p:nvPr/>
        </p:nvSpPr>
        <p:spPr>
          <a:xfrm>
            <a:off x="3749040" y="521573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ea typeface="Amiri" pitchFamily="2" charset="-78"/>
                <a:cs typeface="Amiri" pitchFamily="2" charset="-78"/>
              </a:rPr>
              <a:t>وَبِنَاءً عَلَى مَا سَبَقَ</a:t>
            </a:r>
            <a:endParaRPr lang="ar-SA" sz="1800" dirty="0"/>
          </a:p>
        </p:txBody>
      </p:sp>
      <p:sp>
        <p:nvSpPr>
          <p:cNvPr id="49" name="Text 46"/>
          <p:cNvSpPr txBox="1"/>
          <p:nvPr/>
        </p:nvSpPr>
        <p:spPr>
          <a:xfrm>
            <a:off x="1938528" y="521573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conclusion</a:t>
            </a:r>
            <a:endParaRPr lang="en-US" sz="1100" dirty="0"/>
          </a:p>
        </p:txBody>
      </p:sp>
      <p:sp>
        <p:nvSpPr>
          <p:cNvPr id="50" name="Text 47"/>
          <p:cNvSpPr txBox="1"/>
          <p:nvPr/>
        </p:nvSpPr>
        <p:spPr>
          <a:xfrm>
            <a:off x="566928" y="5215738"/>
            <a:ext cx="11887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P4</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naming each paragraph’s job as you plan is what turns assertion into argument.</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THE CONCESSION–REFUTATION PAIR (WEBSITE RULES 2–3, TEACHING POINT 2, MISTAKE 2)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Concede — then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التَّسْلِيمُ ثُمَّ الرَّدُّ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1658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PAIR 1 · CORE</a:t>
            </a:r>
            <a:endParaRPr lang="en-US" sz="850" dirty="0"/>
          </a:p>
        </p:txBody>
      </p:sp>
      <p:sp>
        <p:nvSpPr>
          <p:cNvPr id="18" name="Text 15"/>
          <p:cNvSpPr txBox="1"/>
          <p:nvPr/>
        </p:nvSpPr>
        <p:spPr>
          <a:xfrm>
            <a:off x="9444228"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صَحِيحٌ أَنَّ … غَيْرَ أَنَّ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صَحِيحٌ أَنَّ التِّقْنِيَّةَ تُوَفِّرُ فُرَصًا، غَيْرَ أَنَّ الفَجْوَةَ قَائِمَةٌ.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True, technology offers opportunities; however, the gap remains.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ṣaḥīḥun anna … ghayra anna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7160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PAIR 2 · DEVELOP</a:t>
            </a:r>
            <a:endParaRPr lang="en-US" sz="850" dirty="0"/>
          </a:p>
        </p:txBody>
      </p:sp>
      <p:sp>
        <p:nvSpPr>
          <p:cNvPr id="26" name="Text 23"/>
          <p:cNvSpPr txBox="1"/>
          <p:nvPr/>
        </p:nvSpPr>
        <p:spPr>
          <a:xfrm>
            <a:off x="5830824" y="1874520"/>
            <a:ext cx="1944624" cy="365760"/>
          </a:xfrm>
          <a:prstGeom prst="rect">
            <a:avLst/>
          </a:prstGeom>
          <a:noFill/>
          <a:ln/>
        </p:spPr>
        <p:txBody>
          <a:bodyPr wrap="square" lIns="0" tIns="0" rIns="0" bIns="0" rtlCol="0" anchor="ctr"/>
          <a:lstStyle/>
          <a:p>
            <a:pPr rtl="1" algn="r" indent="0" marL="0">
              <a:buNone/>
            </a:pPr>
            <a:r>
              <a:rPr lang="ar-SA" altLang="en-US" sz="1500" b="1" dirty="0">
                <a:solidFill>
                  <a:srgbClr val="8A6D1E"/>
                </a:solidFill>
                <a:latin typeface="Amiri" pitchFamily="2" charset="-78"/>
                <a:ea typeface="Amiri" pitchFamily="2" charset="-78"/>
                <a:cs typeface="Amiri" pitchFamily="2" charset="-78"/>
              </a:rPr>
              <a:t>لَا يُمْكِنُ إِنْكَارُ أَنَّ … مَعَ ذٰلِكَ</a:t>
            </a:r>
            <a:endParaRPr lang="ar-SA" sz="15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لَا يُمْكِنُ إِنْكَارُ أَنَّ التَّطْوِيرَ مُكْلِفٌ، مَعَ ذٰلِكَ يَفُوقُ العَائِدُ التَّكْلِفَةَ.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Undeniably it is costly; nonetheless the return outweighs the cost.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lā yumkinu inkāru anna … maʿa dhālika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7160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PAIR 3 · STRETCH</a:t>
            </a:r>
            <a:endParaRPr lang="en-US" sz="850" dirty="0"/>
          </a:p>
        </p:txBody>
      </p:sp>
      <p:sp>
        <p:nvSpPr>
          <p:cNvPr id="34" name="Text 31"/>
          <p:cNvSpPr txBox="1"/>
          <p:nvPr/>
        </p:nvSpPr>
        <p:spPr>
          <a:xfrm>
            <a:off x="2011680"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بِالرَّغْمِ مِنْ … فَإِنَّ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050" b="1" dirty="0">
                <a:solidFill>
                  <a:srgbClr val="1B3B6F"/>
                </a:solidFill>
                <a:latin typeface="Amiri" pitchFamily="2" charset="-78"/>
                <a:ea typeface="Amiri" pitchFamily="2" charset="-78"/>
                <a:cs typeface="Amiri" pitchFamily="2" charset="-78"/>
              </a:rPr>
              <a:t>بِالرَّغْمِ مِنَ التَّكْلِفَةِ، فَإِنَّ الاسْتِثْمَارَ فِي الإِنْسَانِ لَا بَدِيلَ عَنْهُ.</a:t>
            </a:r>
            <a:endParaRPr lang="ar-SA" sz="20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Despite the cost, investing in people is irreplaceable.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bi-l-raghmi min + noun, fa-inna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Mistake 2: answer a concession with ghayra anna, not wa-. After bi-l-raghmi min use fa-inna.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1B3B6F"/>
                </a:solidFill>
                <a:latin typeface="Amiri" pitchFamily="2" charset="-78"/>
                <a:ea typeface="Amiri" pitchFamily="2" charset="-78"/>
                <a:cs typeface="Amiri" pitchFamily="2" charset="-78"/>
              </a:rPr>
              <a:t>غَيْرَ أَنَّ الفَجْوَةَ</a:t>
            </a:r>
            <a:endParaRPr lang="ar-SA" sz="25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وَالفَجْوَةُ</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بِالرَّغْمِ مِنْ …، فَإِنَّ</a:t>
            </a:r>
            <a:endParaRPr lang="ar-SA" sz="20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B83227"/>
                </a:solidFill>
                <a:latin typeface="Amiri" pitchFamily="2" charset="-78"/>
                <a:ea typeface="Amiri" pitchFamily="2" charset="-78"/>
                <a:cs typeface="Amiri" pitchFamily="2" charset="-78"/>
              </a:rPr>
              <a:t>بِالرَّغْمِ مِنْ …، غَيْرَ أَنَّ</a:t>
            </a:r>
            <a:endParaRPr lang="ar-SA" sz="17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ANNA + INDICATIVE VS AN + SUBJUNCTIVE (WEBSITE MISTAKES 1 AND 3, QUIZ 5–6)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Anna -u or an -a?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أَنَّ أَمْ أَنْ؟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291072" y="1810512"/>
            <a:ext cx="5367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7" name="Text 14"/>
          <p:cNvSpPr txBox="1"/>
          <p:nvPr/>
        </p:nvSpPr>
        <p:spPr>
          <a:xfrm>
            <a:off x="455371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8" name="Text 15"/>
          <p:cNvSpPr txBox="1"/>
          <p:nvPr/>
        </p:nvSpPr>
        <p:spPr>
          <a:xfrm>
            <a:off x="309067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Type</a:t>
            </a:r>
            <a:endParaRPr lang="en-US" sz="1100" dirty="0"/>
          </a:p>
        </p:txBody>
      </p:sp>
      <p:sp>
        <p:nvSpPr>
          <p:cNvPr id="19" name="Text 16"/>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Trigger</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6309360" y="2267712"/>
            <a:ext cx="533095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صَحِيحٌ أَنَّ التَّطْوِيرَ </a:t>
            </a:r>
            <a:pPr rtl="1" algn="ctr" indent="0" marL="0">
              <a:buNone/>
            </a:pPr>
            <a:r>
              <a:rPr lang="ar-SA" altLang="en-US" sz="1600" b="1" dirty="0">
                <a:solidFill>
                  <a:srgbClr val="1D5FBF"/>
                </a:solidFill>
                <a:latin typeface="Amiri" pitchFamily="2" charset="-78"/>
                <a:ea typeface="Amiri" pitchFamily="2" charset="-78"/>
                <a:cs typeface="Amiri" pitchFamily="2" charset="-78"/>
              </a:rPr>
              <a:t>يَسْتَلْزِمُ</a:t>
            </a:r>
            <a:pPr rtl="1" algn="ctr" indent="0" marL="0">
              <a:buNone/>
            </a:pPr>
            <a:r>
              <a:rPr lang="ar-SA" altLang="en-US" sz="1600" b="1" dirty="0">
                <a:solidFill>
                  <a:srgbClr val="1B3B6F"/>
                </a:solidFill>
                <a:latin typeface="Amiri" pitchFamily="2" charset="-78"/>
                <a:ea typeface="Amiri" pitchFamily="2" charset="-78"/>
                <a:cs typeface="Amiri" pitchFamily="2" charset="-78"/>
              </a:rPr>
              <a:t> مَوَارِدَ ضَخْمَةً</a:t>
            </a:r>
            <a:endParaRPr lang="ar-SA" sz="1600" dirty="0"/>
          </a:p>
        </p:txBody>
      </p:sp>
      <p:sp>
        <p:nvSpPr>
          <p:cNvPr id="22" name="Text 19"/>
          <p:cNvSpPr txBox="1"/>
          <p:nvPr/>
        </p:nvSpPr>
        <p:spPr>
          <a:xfrm>
            <a:off x="4572000" y="2267712"/>
            <a:ext cx="1554480" cy="682142"/>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2" charset="-78"/>
                <a:ea typeface="Amiri" pitchFamily="2" charset="-78"/>
                <a:cs typeface="Amiri" pitchFamily="2" charset="-78"/>
              </a:rPr>
              <a:t>يَسْتَلْزِمُ</a:t>
            </a:r>
            <a:endParaRPr lang="ar-SA" sz="1900" dirty="0"/>
          </a:p>
        </p:txBody>
      </p:sp>
      <p:sp>
        <p:nvSpPr>
          <p:cNvPr id="23" name="Text 20"/>
          <p:cNvSpPr txBox="1"/>
          <p:nvPr/>
        </p:nvSpPr>
        <p:spPr>
          <a:xfrm>
            <a:off x="3127248" y="2267712"/>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fact (-u)</a:t>
            </a:r>
            <a:endParaRPr lang="en-US" sz="1100" dirty="0"/>
          </a:p>
        </p:txBody>
      </p:sp>
      <p:sp>
        <p:nvSpPr>
          <p:cNvPr id="24" name="Text 21"/>
          <p:cNvSpPr txBox="1"/>
          <p:nvPr/>
        </p:nvSpPr>
        <p:spPr>
          <a:xfrm>
            <a:off x="548640" y="2267712"/>
            <a:ext cx="2377440" cy="682142"/>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2" charset="-78"/>
                <a:ea typeface="Amiri" pitchFamily="2" charset="-78"/>
                <a:cs typeface="Amiri" pitchFamily="2" charset="-78"/>
              </a:rPr>
              <a:t>صَحِيحٌ أَنَّ</a:t>
            </a:r>
            <a:endParaRPr lang="ar-SA" sz="18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6309360" y="3004718"/>
            <a:ext cx="533095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أَكَّدَ البَاحِثُونَ أَنَّ الاسْتِثْمَارَ </a:t>
            </a:r>
            <a:pPr rtl="1" algn="ctr" indent="0" marL="0">
              <a:buNone/>
            </a:pPr>
            <a:r>
              <a:rPr lang="ar-SA" altLang="en-US" sz="1600" b="1" dirty="0">
                <a:solidFill>
                  <a:srgbClr val="1D5FBF"/>
                </a:solidFill>
                <a:latin typeface="Amiri" pitchFamily="2" charset="-78"/>
                <a:ea typeface="Amiri" pitchFamily="2" charset="-78"/>
                <a:cs typeface="Amiri" pitchFamily="2" charset="-78"/>
              </a:rPr>
              <a:t>يُفْضِي</a:t>
            </a:r>
            <a:pPr rtl="1" algn="ctr" indent="0" marL="0">
              <a:buNone/>
            </a:pPr>
            <a:r>
              <a:rPr lang="ar-SA" altLang="en-US" sz="1600" b="1" dirty="0">
                <a:solidFill>
                  <a:srgbClr val="1B3B6F"/>
                </a:solidFill>
                <a:latin typeface="Amiri" pitchFamily="2" charset="-78"/>
                <a:ea typeface="Amiri" pitchFamily="2" charset="-78"/>
                <a:cs typeface="Amiri" pitchFamily="2" charset="-78"/>
              </a:rPr>
              <a:t> إِلَى نُمُوٍّ</a:t>
            </a:r>
            <a:endParaRPr lang="ar-SA" sz="1600" dirty="0"/>
          </a:p>
        </p:txBody>
      </p:sp>
      <p:sp>
        <p:nvSpPr>
          <p:cNvPr id="29" name="Text 26"/>
          <p:cNvSpPr txBox="1"/>
          <p:nvPr/>
        </p:nvSpPr>
        <p:spPr>
          <a:xfrm>
            <a:off x="4572000" y="3004718"/>
            <a:ext cx="1554480" cy="682142"/>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2" charset="-78"/>
                <a:ea typeface="Amiri" pitchFamily="2" charset="-78"/>
                <a:cs typeface="Amiri" pitchFamily="2" charset="-78"/>
              </a:rPr>
              <a:t>يُفْضِي</a:t>
            </a:r>
            <a:endParaRPr lang="ar-SA" sz="1900" dirty="0"/>
          </a:p>
        </p:txBody>
      </p:sp>
      <p:sp>
        <p:nvSpPr>
          <p:cNvPr id="30" name="Text 27"/>
          <p:cNvSpPr txBox="1"/>
          <p:nvPr/>
        </p:nvSpPr>
        <p:spPr>
          <a:xfrm>
            <a:off x="3127248" y="3004718"/>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fact (-u)</a:t>
            </a:r>
            <a:endParaRPr lang="en-US" sz="1100" dirty="0"/>
          </a:p>
        </p:txBody>
      </p:sp>
      <p:sp>
        <p:nvSpPr>
          <p:cNvPr id="31" name="Text 28"/>
          <p:cNvSpPr txBox="1"/>
          <p:nvPr/>
        </p:nvSpPr>
        <p:spPr>
          <a:xfrm>
            <a:off x="548640" y="3004718"/>
            <a:ext cx="2377440" cy="682142"/>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2" charset="-78"/>
                <a:ea typeface="Amiri" pitchFamily="2" charset="-78"/>
                <a:cs typeface="Amiri" pitchFamily="2" charset="-78"/>
              </a:rPr>
              <a:t>أَكَّدَ … أَنَّ</a:t>
            </a:r>
            <a:endParaRPr lang="ar-SA" sz="1800" dirty="0"/>
          </a:p>
        </p:txBody>
      </p:sp>
      <p:sp>
        <p:nvSpPr>
          <p:cNvPr id="32" name="Shape 29"/>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3" name="Text 30"/>
          <p:cNvSpPr txBox="1"/>
          <p:nvPr/>
        </p:nvSpPr>
        <p:spPr>
          <a:xfrm>
            <a:off x="6309360" y="3741725"/>
            <a:ext cx="533095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يَتَطَلَّبُ التَّقَدُّمُ أَنْ </a:t>
            </a:r>
            <a:pPr rtl="1" algn="ctr" indent="0" marL="0">
              <a:buNone/>
            </a:pPr>
            <a:r>
              <a:rPr lang="ar-SA" altLang="en-US" sz="1600" b="1" dirty="0">
                <a:solidFill>
                  <a:srgbClr val="D6336C"/>
                </a:solidFill>
                <a:latin typeface="Amiri" pitchFamily="2" charset="-78"/>
                <a:ea typeface="Amiri" pitchFamily="2" charset="-78"/>
                <a:cs typeface="Amiri" pitchFamily="2" charset="-78"/>
              </a:rPr>
              <a:t>تُوَجِّهَ</a:t>
            </a:r>
            <a:pPr rtl="1" algn="ctr" indent="0" marL="0">
              <a:buNone/>
            </a:pPr>
            <a:r>
              <a:rPr lang="ar-SA" altLang="en-US" sz="1600" b="1" dirty="0">
                <a:solidFill>
                  <a:srgbClr val="1B3B6F"/>
                </a:solidFill>
                <a:latin typeface="Amiri" pitchFamily="2" charset="-78"/>
                <a:ea typeface="Amiri" pitchFamily="2" charset="-78"/>
                <a:cs typeface="Amiri" pitchFamily="2" charset="-78"/>
              </a:rPr>
              <a:t> الحُكُومَاتُ اسْتِثْمَارَاتِهَا</a:t>
            </a:r>
            <a:endParaRPr lang="ar-SA" sz="1600" dirty="0"/>
          </a:p>
        </p:txBody>
      </p:sp>
      <p:sp>
        <p:nvSpPr>
          <p:cNvPr id="34" name="Text 31"/>
          <p:cNvSpPr txBox="1"/>
          <p:nvPr/>
        </p:nvSpPr>
        <p:spPr>
          <a:xfrm>
            <a:off x="4572000" y="3741725"/>
            <a:ext cx="1554480" cy="682142"/>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ea typeface="Amiri" pitchFamily="2" charset="-78"/>
                <a:cs typeface="Amiri" pitchFamily="2" charset="-78"/>
              </a:rPr>
              <a:t>تُوَجِّهَ</a:t>
            </a:r>
            <a:endParaRPr lang="ar-SA" sz="1900" dirty="0"/>
          </a:p>
        </p:txBody>
      </p:sp>
      <p:sp>
        <p:nvSpPr>
          <p:cNvPr id="35" name="Text 32"/>
          <p:cNvSpPr txBox="1"/>
          <p:nvPr/>
        </p:nvSpPr>
        <p:spPr>
          <a:xfrm>
            <a:off x="3127248" y="3741725"/>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aim (-a)</a:t>
            </a:r>
            <a:endParaRPr lang="en-US" sz="1100" dirty="0"/>
          </a:p>
        </p:txBody>
      </p:sp>
      <p:sp>
        <p:nvSpPr>
          <p:cNvPr id="36" name="Text 33"/>
          <p:cNvSpPr txBox="1"/>
          <p:nvPr/>
        </p:nvSpPr>
        <p:spPr>
          <a:xfrm>
            <a:off x="548640" y="3741725"/>
            <a:ext cx="2377440" cy="682142"/>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ea typeface="Amiri" pitchFamily="2" charset="-78"/>
                <a:cs typeface="Amiri" pitchFamily="2" charset="-78"/>
              </a:rPr>
              <a:t>يَتَطَلَّبُ … أَنْ</a:t>
            </a:r>
            <a:endParaRPr lang="ar-SA" sz="1800" dirty="0"/>
          </a:p>
        </p:txBody>
      </p:sp>
      <p:sp>
        <p:nvSpPr>
          <p:cNvPr id="37" name="Shape 34"/>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6309360" y="4478731"/>
            <a:ext cx="533095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لِكَيْ </a:t>
            </a:r>
            <a:pPr rtl="1" algn="ctr" indent="0" marL="0">
              <a:buNone/>
            </a:pPr>
            <a:r>
              <a:rPr lang="ar-SA" altLang="en-US" sz="1600" b="1" dirty="0">
                <a:solidFill>
                  <a:srgbClr val="D6336C"/>
                </a:solidFill>
                <a:latin typeface="Amiri" pitchFamily="2" charset="-78"/>
                <a:ea typeface="Amiri" pitchFamily="2" charset="-78"/>
                <a:cs typeface="Amiri" pitchFamily="2" charset="-78"/>
              </a:rPr>
              <a:t>يَنْعَمَ</a:t>
            </a:r>
            <a:pPr rtl="1" algn="ctr" indent="0" marL="0">
              <a:buNone/>
            </a:pPr>
            <a:r>
              <a:rPr lang="ar-SA" altLang="en-US" sz="1600" b="1" dirty="0">
                <a:solidFill>
                  <a:srgbClr val="1B3B6F"/>
                </a:solidFill>
                <a:latin typeface="Amiri" pitchFamily="2" charset="-78"/>
                <a:ea typeface="Amiri" pitchFamily="2" charset="-78"/>
                <a:cs typeface="Amiri" pitchFamily="2" charset="-78"/>
              </a:rPr>
              <a:t> الجَمِيعُ بِفُرَصٍ مُتَكَافِئَةٍ</a:t>
            </a:r>
            <a:endParaRPr lang="ar-SA" sz="1600" dirty="0"/>
          </a:p>
        </p:txBody>
      </p:sp>
      <p:sp>
        <p:nvSpPr>
          <p:cNvPr id="41" name="Text 38"/>
          <p:cNvSpPr txBox="1"/>
          <p:nvPr/>
        </p:nvSpPr>
        <p:spPr>
          <a:xfrm>
            <a:off x="4572000" y="4478731"/>
            <a:ext cx="1554480" cy="682142"/>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ea typeface="Amiri" pitchFamily="2" charset="-78"/>
                <a:cs typeface="Amiri" pitchFamily="2" charset="-78"/>
              </a:rPr>
              <a:t>يَنْعَمَ</a:t>
            </a:r>
            <a:endParaRPr lang="ar-SA" sz="1900" dirty="0"/>
          </a:p>
        </p:txBody>
      </p:sp>
      <p:sp>
        <p:nvSpPr>
          <p:cNvPr id="42" name="Text 39"/>
          <p:cNvSpPr txBox="1"/>
          <p:nvPr/>
        </p:nvSpPr>
        <p:spPr>
          <a:xfrm>
            <a:off x="3127248" y="4478731"/>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aim (-a)</a:t>
            </a:r>
            <a:endParaRPr lang="en-US" sz="1100" dirty="0"/>
          </a:p>
        </p:txBody>
      </p:sp>
      <p:sp>
        <p:nvSpPr>
          <p:cNvPr id="43" name="Text 40"/>
          <p:cNvSpPr txBox="1"/>
          <p:nvPr/>
        </p:nvSpPr>
        <p:spPr>
          <a:xfrm>
            <a:off x="548640" y="4478731"/>
            <a:ext cx="2377440" cy="682142"/>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ea typeface="Amiri" pitchFamily="2" charset="-78"/>
                <a:cs typeface="Amiri" pitchFamily="2" charset="-78"/>
              </a:rPr>
              <a:t>لِكَيْ</a:t>
            </a:r>
            <a:endParaRPr lang="ar-SA" sz="18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6309360" y="5215738"/>
            <a:ext cx="533095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 أَنَّ … يَسْتَلْزِمَ · ✗ أَنْ تُوَجِّهُ → ✓ يَسْتَلْزِمُ · تُوَجِّهَ</a:t>
            </a:r>
            <a:endParaRPr lang="ar-SA" sz="1600" dirty="0"/>
          </a:p>
        </p:txBody>
      </p:sp>
      <p:sp>
        <p:nvSpPr>
          <p:cNvPr id="46" name="Text 43"/>
          <p:cNvSpPr txBox="1"/>
          <p:nvPr/>
        </p:nvSpPr>
        <p:spPr>
          <a:xfrm>
            <a:off x="459028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3127248" y="5215738"/>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mixed up</a:t>
            </a:r>
            <a:endParaRPr lang="en-US" sz="1100" dirty="0"/>
          </a:p>
        </p:txBody>
      </p:sp>
      <p:sp>
        <p:nvSpPr>
          <p:cNvPr id="48" name="Text 45"/>
          <p:cNvSpPr txBox="1"/>
          <p:nvPr/>
        </p:nvSpPr>
        <p:spPr>
          <a:xfrm>
            <a:off x="566928" y="5215738"/>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mistakes 1 and 3: after anna (a fact) the verb ends in -u; after an (an aim) it ends in -a.</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THE CONNECTOR BANK BY JOB (WEBSITE VOCABULARY, LISTENING AND MISSION)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right connector for each job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الرَّوَابِطُ وَوَظَائِفُهَا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022592" y="1810512"/>
            <a:ext cx="4636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2176272" y="1810512"/>
            <a:ext cx="4700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Connectors (website vocabulary)</a:t>
            </a:r>
            <a:endParaRPr lang="en-US" sz="1100" dirty="0"/>
          </a:p>
        </p:txBody>
      </p:sp>
      <p:sp>
        <p:nvSpPr>
          <p:cNvPr id="18" name="Text 15"/>
          <p:cNvSpPr txBox="1"/>
          <p:nvPr/>
        </p:nvSpPr>
        <p:spPr>
          <a:xfrm>
            <a:off x="530352"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Job</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040880" y="2267712"/>
            <a:ext cx="459943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يُمْكِنُ إِنْكَارُ أَنَّ بَعْضَ الإِصْلَاحَاتِ تَعَثَّرَتْ</a:t>
            </a:r>
            <a:endParaRPr lang="ar-SA" sz="1600" dirty="0"/>
          </a:p>
        </p:txBody>
      </p:sp>
      <p:sp>
        <p:nvSpPr>
          <p:cNvPr id="21" name="Text 18"/>
          <p:cNvSpPr txBox="1"/>
          <p:nvPr/>
        </p:nvSpPr>
        <p:spPr>
          <a:xfrm>
            <a:off x="2194560" y="2267712"/>
            <a:ext cx="4663440" cy="682142"/>
          </a:xfrm>
          <a:prstGeom prst="rect">
            <a:avLst/>
          </a:prstGeom>
          <a:noFill/>
          <a:ln/>
        </p:spPr>
        <p:txBody>
          <a:bodyPr wrap="square" lIns="0" tIns="0" rIns="0" bIns="0" rtlCol="0" anchor="ctr"/>
          <a:lstStyle/>
          <a:p>
            <a:pPr rtl="1" algn="ctr" indent="0" marL="0">
              <a:buNone/>
            </a:pPr>
            <a:r>
              <a:rPr lang="ar-SA" altLang="en-US" sz="1700" b="1" dirty="0">
                <a:solidFill>
                  <a:srgbClr val="1D5FBF"/>
                </a:solidFill>
                <a:latin typeface="Amiri" pitchFamily="2" charset="-78"/>
                <a:ea typeface="Amiri" pitchFamily="2" charset="-78"/>
                <a:cs typeface="Amiri" pitchFamily="2" charset="-78"/>
              </a:rPr>
              <a:t>صَحِيحٌ أَنَّ</a:t>
            </a:r>
            <a:pPr rtl="1" algn="ctr" indent="0" marL="0">
              <a:buNone/>
            </a:pPr>
            <a:r>
              <a:rPr lang="ar-SA" altLang="en-US" sz="1700" b="1" dirty="0">
                <a:solidFill>
                  <a:srgbClr val="1B3B6F"/>
                </a:solidFill>
                <a:latin typeface="Amiri" pitchFamily="2" charset="-78"/>
                <a:cs typeface="Amiri" pitchFamily="2" charset="-78"/>
              </a:rPr>
              <a:t> · </a:t>
            </a:r>
            <a:pPr rtl="1" algn="ctr" indent="0" marL="0">
              <a:buNone/>
            </a:pPr>
            <a:r>
              <a:rPr lang="ar-SA" altLang="en-US" sz="1700" b="1" dirty="0">
                <a:solidFill>
                  <a:srgbClr val="1D5FBF"/>
                </a:solidFill>
                <a:latin typeface="Amiri" pitchFamily="2" charset="-78"/>
                <a:ea typeface="Amiri" pitchFamily="2" charset="-78"/>
                <a:cs typeface="Amiri" pitchFamily="2" charset="-78"/>
              </a:rPr>
              <a:t>لَا يُمْكِنُ إِنْكَارُ أَنَّ</a:t>
            </a:r>
            <a:pPr rtl="1" algn="ctr" indent="0" marL="0">
              <a:buNone/>
            </a:pPr>
            <a:r>
              <a:rPr lang="ar-SA" altLang="en-US" sz="1700" b="1" dirty="0">
                <a:solidFill>
                  <a:srgbClr val="1B3B6F"/>
                </a:solidFill>
                <a:latin typeface="Amiri" pitchFamily="2" charset="-78"/>
                <a:cs typeface="Amiri" pitchFamily="2" charset="-78"/>
              </a:rPr>
              <a:t> · </a:t>
            </a:r>
            <a:pPr rtl="1" algn="ctr" indent="0" marL="0">
              <a:buNone/>
            </a:pPr>
            <a:r>
              <a:rPr lang="ar-SA" altLang="en-US" sz="1700" b="1" dirty="0">
                <a:solidFill>
                  <a:srgbClr val="1D5FBF"/>
                </a:solidFill>
                <a:latin typeface="Amiri" pitchFamily="2" charset="-78"/>
                <a:ea typeface="Amiri" pitchFamily="2" charset="-78"/>
                <a:cs typeface="Amiri" pitchFamily="2" charset="-78"/>
              </a:rPr>
              <a:t>بِالرَّغْمِ مِنْ</a:t>
            </a:r>
            <a:endParaRPr lang="ar-SA" sz="1700" dirty="0"/>
          </a:p>
        </p:txBody>
      </p:sp>
      <p:sp>
        <p:nvSpPr>
          <p:cNvPr id="22" name="Text 19"/>
          <p:cNvSpPr txBox="1"/>
          <p:nvPr/>
        </p:nvSpPr>
        <p:spPr>
          <a:xfrm>
            <a:off x="566928" y="2267712"/>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concede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040880" y="3004718"/>
            <a:ext cx="459943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مَعَ ذٰلِكَ تَبْقَى الأَوْلَوِيَّةُ وَاضِحَةً</a:t>
            </a:r>
            <a:endParaRPr lang="ar-SA" sz="1600" dirty="0"/>
          </a:p>
        </p:txBody>
      </p:sp>
      <p:sp>
        <p:nvSpPr>
          <p:cNvPr id="27" name="Text 24"/>
          <p:cNvSpPr txBox="1"/>
          <p:nvPr/>
        </p:nvSpPr>
        <p:spPr>
          <a:xfrm>
            <a:off x="2194560" y="3004718"/>
            <a:ext cx="4663440" cy="682142"/>
          </a:xfrm>
          <a:prstGeom prst="rect">
            <a:avLst/>
          </a:prstGeom>
          <a:noFill/>
          <a:ln/>
        </p:spPr>
        <p:txBody>
          <a:bodyPr wrap="square" lIns="0" tIns="0" rIns="0" bIns="0" rtlCol="0" anchor="ctr"/>
          <a:lstStyle/>
          <a:p>
            <a:pPr rtl="1" algn="ctr" indent="0" marL="0">
              <a:buNone/>
            </a:pPr>
            <a:r>
              <a:rPr lang="ar-SA" altLang="en-US" sz="1700" b="1" dirty="0">
                <a:solidFill>
                  <a:srgbClr val="D6336C"/>
                </a:solidFill>
                <a:latin typeface="Amiri" pitchFamily="2" charset="-78"/>
                <a:ea typeface="Amiri" pitchFamily="2" charset="-78"/>
                <a:cs typeface="Amiri" pitchFamily="2" charset="-78"/>
              </a:rPr>
              <a:t>غَيْرَ أَنَّ</a:t>
            </a:r>
            <a:pPr rtl="1" algn="ctr" indent="0" marL="0">
              <a:buNone/>
            </a:pPr>
            <a:r>
              <a:rPr lang="ar-SA" altLang="en-US" sz="1700" b="1" dirty="0">
                <a:solidFill>
                  <a:srgbClr val="1B3B6F"/>
                </a:solidFill>
                <a:latin typeface="Amiri" pitchFamily="2" charset="-78"/>
                <a:cs typeface="Amiri" pitchFamily="2" charset="-78"/>
              </a:rPr>
              <a:t> · </a:t>
            </a:r>
            <a:pPr rtl="1" algn="ctr" indent="0" marL="0">
              <a:buNone/>
            </a:pPr>
            <a:r>
              <a:rPr lang="ar-SA" altLang="en-US" sz="1700" b="1" dirty="0">
                <a:solidFill>
                  <a:srgbClr val="D6336C"/>
                </a:solidFill>
                <a:latin typeface="Amiri" pitchFamily="2" charset="-78"/>
                <a:ea typeface="Amiri" pitchFamily="2" charset="-78"/>
                <a:cs typeface="Amiri" pitchFamily="2" charset="-78"/>
              </a:rPr>
              <a:t>مَعَ ذٰلِكَ</a:t>
            </a:r>
            <a:pPr rtl="1" algn="ctr" indent="0" marL="0">
              <a:buNone/>
            </a:pPr>
            <a:r>
              <a:rPr lang="ar-SA" altLang="en-US" sz="1700" b="1" dirty="0">
                <a:solidFill>
                  <a:srgbClr val="1B3B6F"/>
                </a:solidFill>
                <a:latin typeface="Amiri" pitchFamily="2" charset="-78"/>
                <a:cs typeface="Amiri" pitchFamily="2" charset="-78"/>
              </a:rPr>
              <a:t> · </a:t>
            </a:r>
            <a:pPr rtl="1" algn="ctr" indent="0" marL="0">
              <a:buNone/>
            </a:pPr>
            <a:r>
              <a:rPr lang="ar-SA" altLang="en-US" sz="1700" b="1" dirty="0">
                <a:solidFill>
                  <a:srgbClr val="D6336C"/>
                </a:solidFill>
                <a:latin typeface="Amiri" pitchFamily="2" charset="-78"/>
                <a:ea typeface="Amiri" pitchFamily="2" charset="-78"/>
                <a:cs typeface="Amiri" pitchFamily="2" charset="-78"/>
              </a:rPr>
              <a:t>لٰكِنْ</a:t>
            </a:r>
            <a:endParaRPr lang="ar-SA" sz="1700" dirty="0"/>
          </a:p>
        </p:txBody>
      </p:sp>
      <p:sp>
        <p:nvSpPr>
          <p:cNvPr id="28" name="Text 25"/>
          <p:cNvSpPr txBox="1"/>
          <p:nvPr/>
        </p:nvSpPr>
        <p:spPr>
          <a:xfrm>
            <a:off x="566928" y="3004718"/>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refute</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040880" y="3741725"/>
            <a:ext cx="459943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المُقَابِلِ، يُفْضِي الإِهْمَالُ إِلَى التَّفَاوُتِ</a:t>
            </a:r>
            <a:endParaRPr lang="ar-SA" sz="1600" dirty="0"/>
          </a:p>
        </p:txBody>
      </p:sp>
      <p:sp>
        <p:nvSpPr>
          <p:cNvPr id="33" name="Text 30"/>
          <p:cNvSpPr txBox="1"/>
          <p:nvPr/>
        </p:nvSpPr>
        <p:spPr>
          <a:xfrm>
            <a:off x="2194560" y="3741725"/>
            <a:ext cx="4663440" cy="682142"/>
          </a:xfrm>
          <a:prstGeom prst="rect">
            <a:avLst/>
          </a:prstGeom>
          <a:noFill/>
          <a:ln/>
        </p:spPr>
        <p:txBody>
          <a:bodyPr wrap="square" lIns="0" tIns="0" rIns="0" bIns="0" rtlCol="0" anchor="ctr"/>
          <a:lstStyle/>
          <a:p>
            <a:pPr rtl="1" algn="ctr" indent="0" marL="0">
              <a:buNone/>
            </a:pPr>
            <a:r>
              <a:rPr lang="ar-SA" altLang="en-US" sz="1700" b="1" dirty="0">
                <a:solidFill>
                  <a:srgbClr val="7B3FA0"/>
                </a:solidFill>
                <a:latin typeface="Amiri" pitchFamily="2" charset="-78"/>
                <a:ea typeface="Amiri" pitchFamily="2" charset="-78"/>
                <a:cs typeface="Amiri" pitchFamily="2" charset="-78"/>
              </a:rPr>
              <a:t>فِي المُقَابِلِ</a:t>
            </a:r>
            <a:pPr rtl="1" algn="ctr" indent="0" marL="0">
              <a:buNone/>
            </a:pPr>
            <a:r>
              <a:rPr lang="ar-SA" altLang="en-US" sz="1700" b="1" dirty="0">
                <a:solidFill>
                  <a:srgbClr val="1B3B6F"/>
                </a:solidFill>
                <a:latin typeface="Amiri" pitchFamily="2" charset="-78"/>
                <a:cs typeface="Amiri" pitchFamily="2" charset="-78"/>
              </a:rPr>
              <a:t> · </a:t>
            </a:r>
            <a:pPr rtl="1" algn="ctr" indent="0" marL="0">
              <a:buNone/>
            </a:pPr>
            <a:r>
              <a:rPr lang="ar-SA" altLang="en-US" sz="1700" b="1" dirty="0">
                <a:solidFill>
                  <a:srgbClr val="7B3FA0"/>
                </a:solidFill>
                <a:latin typeface="Amiri" pitchFamily="2" charset="-78"/>
                <a:ea typeface="Amiri" pitchFamily="2" charset="-78"/>
                <a:cs typeface="Amiri" pitchFamily="2" charset="-78"/>
              </a:rPr>
              <a:t>وَعَلَى النَّقِيضِ مِنْ ذٰلِكَ</a:t>
            </a:r>
            <a:endParaRPr lang="ar-SA" sz="1700" dirty="0"/>
          </a:p>
        </p:txBody>
      </p:sp>
      <p:sp>
        <p:nvSpPr>
          <p:cNvPr id="34" name="Text 31"/>
          <p:cNvSpPr txBox="1"/>
          <p:nvPr/>
        </p:nvSpPr>
        <p:spPr>
          <a:xfrm>
            <a:off x="566928" y="3741725"/>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contrast</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7040880" y="4478731"/>
            <a:ext cx="459943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العَائِدُ </a:t>
            </a:r>
            <a:pPr rtl="1" algn="ctr" indent="0" marL="0">
              <a:buNone/>
            </a:pPr>
            <a:r>
              <a:rPr lang="ar-SA" altLang="en-US" sz="1600" b="1" dirty="0">
                <a:solidFill>
                  <a:srgbClr val="C77700"/>
                </a:solidFill>
                <a:latin typeface="Amiri" pitchFamily="2" charset="-78"/>
                <a:ea typeface="Amiri" pitchFamily="2" charset="-78"/>
                <a:cs typeface="Amiri" pitchFamily="2" charset="-78"/>
              </a:rPr>
              <a:t>يَفُوقُ التَّكْلِفَةَ</a:t>
            </a:r>
            <a:pPr rtl="1" algn="ctr" indent="0" marL="0">
              <a:buNone/>
            </a:pPr>
            <a:r>
              <a:rPr lang="ar-SA" altLang="en-US" sz="1600" b="1" dirty="0">
                <a:solidFill>
                  <a:srgbClr val="1B3B6F"/>
                </a:solidFill>
                <a:latin typeface="Amiri" pitchFamily="2" charset="-78"/>
                <a:ea typeface="Amiri" pitchFamily="2" charset="-78"/>
                <a:cs typeface="Amiri" pitchFamily="2" charset="-78"/>
              </a:rPr>
              <a:t> بِأَشْوَاطٍ</a:t>
            </a:r>
            <a:endParaRPr lang="ar-SA" sz="1600" dirty="0"/>
          </a:p>
        </p:txBody>
      </p:sp>
      <p:sp>
        <p:nvSpPr>
          <p:cNvPr id="37" name="Text 34"/>
          <p:cNvSpPr txBox="1"/>
          <p:nvPr/>
        </p:nvSpPr>
        <p:spPr>
          <a:xfrm>
            <a:off x="2194560" y="4478731"/>
            <a:ext cx="4663440" cy="682142"/>
          </a:xfrm>
          <a:prstGeom prst="rect">
            <a:avLst/>
          </a:prstGeom>
          <a:noFill/>
          <a:ln/>
        </p:spPr>
        <p:txBody>
          <a:bodyPr wrap="square" lIns="0" tIns="0" rIns="0" bIns="0" rtlCol="0" anchor="ctr"/>
          <a:lstStyle/>
          <a:p>
            <a:pPr rtl="1" algn="ctr" indent="0" marL="0">
              <a:buNone/>
            </a:pPr>
            <a:r>
              <a:rPr lang="ar-SA" altLang="en-US" sz="1700" b="1" dirty="0">
                <a:solidFill>
                  <a:srgbClr val="C77700"/>
                </a:solidFill>
                <a:latin typeface="Amiri" pitchFamily="2" charset="-78"/>
                <a:ea typeface="Amiri" pitchFamily="2" charset="-78"/>
                <a:cs typeface="Amiri" pitchFamily="2" charset="-78"/>
              </a:rPr>
              <a:t>يُشَارُ إِلَى أَنَّ</a:t>
            </a:r>
            <a:pPr rtl="1" algn="ctr" indent="0" marL="0">
              <a:buNone/>
            </a:pPr>
            <a:r>
              <a:rPr lang="ar-SA" altLang="en-US" sz="1700" b="1" dirty="0">
                <a:solidFill>
                  <a:srgbClr val="1B3B6F"/>
                </a:solidFill>
                <a:latin typeface="Amiri" pitchFamily="2" charset="-78"/>
                <a:cs typeface="Amiri" pitchFamily="2" charset="-78"/>
              </a:rPr>
              <a:t> · </a:t>
            </a:r>
            <a:pPr rtl="1" algn="ctr" indent="0" marL="0">
              <a:buNone/>
            </a:pPr>
            <a:r>
              <a:rPr lang="ar-SA" altLang="en-US" sz="1700" b="1" dirty="0">
                <a:solidFill>
                  <a:srgbClr val="C77700"/>
                </a:solidFill>
                <a:latin typeface="Amiri" pitchFamily="2" charset="-78"/>
                <a:ea typeface="Amiri" pitchFamily="2" charset="-78"/>
                <a:cs typeface="Amiri" pitchFamily="2" charset="-78"/>
              </a:rPr>
              <a:t>أَكَّدَ … أَنَّ</a:t>
            </a:r>
            <a:pPr rtl="1" algn="ctr" indent="0" marL="0">
              <a:buNone/>
            </a:pPr>
            <a:r>
              <a:rPr lang="ar-SA" altLang="en-US" sz="1700" b="1" dirty="0">
                <a:solidFill>
                  <a:srgbClr val="1B3B6F"/>
                </a:solidFill>
                <a:latin typeface="Amiri" pitchFamily="2" charset="-78"/>
                <a:cs typeface="Amiri" pitchFamily="2" charset="-78"/>
              </a:rPr>
              <a:t> · </a:t>
            </a:r>
            <a:pPr rtl="1" algn="ctr" indent="0" marL="0">
              <a:buNone/>
            </a:pPr>
            <a:r>
              <a:rPr lang="ar-SA" altLang="en-US" sz="1700" b="1" dirty="0">
                <a:solidFill>
                  <a:srgbClr val="C77700"/>
                </a:solidFill>
                <a:latin typeface="Amiri" pitchFamily="2" charset="-78"/>
                <a:ea typeface="Amiri" pitchFamily="2" charset="-78"/>
                <a:cs typeface="Amiri" pitchFamily="2" charset="-78"/>
              </a:rPr>
              <a:t>تُفْضِي إِلَى</a:t>
            </a:r>
            <a:endParaRPr lang="ar-SA" sz="1700" dirty="0"/>
          </a:p>
        </p:txBody>
      </p:sp>
      <p:sp>
        <p:nvSpPr>
          <p:cNvPr id="38" name="Text 35"/>
          <p:cNvSpPr txBox="1"/>
          <p:nvPr/>
        </p:nvSpPr>
        <p:spPr>
          <a:xfrm>
            <a:off x="566928" y="4478731"/>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evidence</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7040880" y="5215738"/>
            <a:ext cx="459943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وَفِي ضَوْءِ مَا سَبَقَ، يَبْقَى التَّعْلِيمُ أَوْلَوِيَّةً</a:t>
            </a:r>
            <a:endParaRPr lang="ar-SA" sz="1600" dirty="0"/>
          </a:p>
        </p:txBody>
      </p:sp>
      <p:sp>
        <p:nvSpPr>
          <p:cNvPr id="41" name="Text 38"/>
          <p:cNvSpPr txBox="1"/>
          <p:nvPr/>
        </p:nvSpPr>
        <p:spPr>
          <a:xfrm>
            <a:off x="2194560" y="5215738"/>
            <a:ext cx="4663440" cy="682142"/>
          </a:xfrm>
          <a:prstGeom prst="rect">
            <a:avLst/>
          </a:prstGeom>
          <a:noFill/>
          <a:ln/>
        </p:spPr>
        <p:txBody>
          <a:bodyPr wrap="square" lIns="0" tIns="0" rIns="0" bIns="0" rtlCol="0" anchor="ctr"/>
          <a:lstStyle/>
          <a:p>
            <a:pPr rtl="1" algn="ctr" indent="0" marL="0">
              <a:buNone/>
            </a:pPr>
            <a:r>
              <a:rPr lang="ar-SA" altLang="en-US" sz="1700" b="1" dirty="0">
                <a:solidFill>
                  <a:srgbClr val="0E7C86"/>
                </a:solidFill>
                <a:latin typeface="Amiri" pitchFamily="2" charset="-78"/>
                <a:ea typeface="Amiri" pitchFamily="2" charset="-78"/>
                <a:cs typeface="Amiri" pitchFamily="2" charset="-78"/>
              </a:rPr>
              <a:t>وَبِنَاءً عَلَى مَا سَبَقَ</a:t>
            </a:r>
            <a:pPr rtl="1" algn="ctr" indent="0" marL="0">
              <a:buNone/>
            </a:pPr>
            <a:r>
              <a:rPr lang="ar-SA" altLang="en-US" sz="1700" b="1" dirty="0">
                <a:solidFill>
                  <a:srgbClr val="1B3B6F"/>
                </a:solidFill>
                <a:latin typeface="Amiri" pitchFamily="2" charset="-78"/>
                <a:cs typeface="Amiri" pitchFamily="2" charset="-78"/>
              </a:rPr>
              <a:t> · </a:t>
            </a:r>
            <a:pPr rtl="1" algn="ctr" indent="0" marL="0">
              <a:buNone/>
            </a:pPr>
            <a:r>
              <a:rPr lang="ar-SA" altLang="en-US" sz="1700" b="1" dirty="0">
                <a:solidFill>
                  <a:srgbClr val="0E7C86"/>
                </a:solidFill>
                <a:latin typeface="Amiri" pitchFamily="2" charset="-78"/>
                <a:ea typeface="Amiri" pitchFamily="2" charset="-78"/>
                <a:cs typeface="Amiri" pitchFamily="2" charset="-78"/>
              </a:rPr>
              <a:t>وَفِي ضَوْءِ مَا سَبَقَ</a:t>
            </a:r>
            <a:pPr rtl="1" algn="ctr" indent="0" marL="0">
              <a:buNone/>
            </a:pPr>
            <a:r>
              <a:rPr lang="ar-SA" altLang="en-US" sz="1700" b="1" dirty="0">
                <a:solidFill>
                  <a:srgbClr val="1B3B6F"/>
                </a:solidFill>
                <a:latin typeface="Amiri" pitchFamily="2" charset="-78"/>
                <a:cs typeface="Amiri" pitchFamily="2" charset="-78"/>
              </a:rPr>
              <a:t> · </a:t>
            </a:r>
            <a:pPr rtl="1" algn="ctr" indent="0" marL="0">
              <a:buNone/>
            </a:pPr>
            <a:r>
              <a:rPr lang="ar-SA" altLang="en-US" sz="1700" b="1" dirty="0">
                <a:solidFill>
                  <a:srgbClr val="0E7C86"/>
                </a:solidFill>
                <a:latin typeface="Amiri" pitchFamily="2" charset="-78"/>
                <a:ea typeface="Amiri" pitchFamily="2" charset="-78"/>
                <a:cs typeface="Amiri" pitchFamily="2" charset="-78"/>
              </a:rPr>
              <a:t>وَخُلَاصَةُ القَوْلِ</a:t>
            </a:r>
            <a:endParaRPr lang="ar-SA" sz="1700" dirty="0"/>
          </a:p>
        </p:txBody>
      </p:sp>
      <p:sp>
        <p:nvSpPr>
          <p:cNvPr id="42" name="Text 39"/>
          <p:cNvSpPr txBox="1"/>
          <p:nvPr/>
        </p:nvSpPr>
        <p:spPr>
          <a:xfrm>
            <a:off x="566928" y="5215738"/>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conclude</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mission: a bare wa- or thumma cannot refute or conclude — choose the connector by its JOB.</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The argumentative essay architecture</a:t>
            </a:r>
            <a:endParaRPr lang="en-US" sz="24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بِنْيَةُ المَقَالِ الحِجَاجِيِّ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Thesis and evidence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yushāru ilā anna · akkada … anna</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يُشَارُ إِلَى أَنَّ التَّعْلِيمَ رَكِيزَةٌ أَسَاسِيَّةٌ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Concession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ṣaḥīḥun anna + indicative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صَحِيحٌ أَنَّ تَطْوِيرَ التَّعْلِيمِ يَسْتَلْزِمُ مَوَارِدَ ضَخْمَةً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Refutation</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ghayra anna · maʿa dhālika</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غَيْرَ أَنَّ العَائِدَ الاجْتِمَاعِيَّ يَفُوقُ التَّكْلِفَةَ بِأَشْوَاطٍ</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Conclusion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wa-bināʾan ʿalā mā sabaqa + an + -a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وَبِنَاءً عَلَى مَا سَبَقَ، يَتَطَلَّبُ التَّقَدُّمُ أَنْ تُوَجِّهَ الحُكُومَاتُ اسْتِثْمَارَاتِهَا نَحْوَ التَّعْلِيمِ</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job of the first paragraph?</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conclude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concede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state the thesis</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concedes the counter-argument?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صَحِيحٌ أَنَّ</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يُشَارُ إِلَى أَنَّ</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وَبِنَاءً عَلَى مَا سَبَقَ</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refutes it?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غَيْرَ أَنَّ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opens the conclusion?</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وَبِنَاءً عَلَى مَا سَبَقَ</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صَحِيحٌ أَنَّ</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بِالرَّغْمِ مِنْ</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job of the first paragraph?</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conclude</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concede</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state the thesis</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 states the thesis.</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concedes the counter-argument?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صَحِيحٌ أَنَّ</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يُشَارُ إِلَى أَنَّ</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وَبِنَاءً عَلَى مَا سَبَقَ</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concedes the counter-argument.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refutes it?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غَيْرَ أَنَّ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لِكَيْ</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غَيْرَ أَنَّ</a:t>
            </a:r>
            <a:pPr algn="l" indent="0" marL="0">
              <a:buNone/>
            </a:pPr>
            <a:r>
              <a:rPr lang="en-US" sz="1050" i="1" dirty="0">
                <a:solidFill>
                  <a:srgbClr val="8A6D1E"/>
                </a:solidFill>
                <a:latin typeface="Calibri" pitchFamily="34" charset="0"/>
                <a:cs typeface="Amiri" pitchFamily="2" charset="-78"/>
              </a:rPr>
              <a:t> refutes the concession.</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opens the conclusion?</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وَبِنَاءً عَلَى مَا سَبَقَ</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صَحِيحٌ أَنَّ</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بِالرَّغْمِ مِنْ</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وَبِنَاءً عَلَى مَا سَبَقَ</a:t>
            </a:r>
            <a:pPr algn="l" indent="0" marL="0">
              <a:buNone/>
            </a:pPr>
            <a:r>
              <a:rPr lang="en-US" sz="1050" i="1" dirty="0">
                <a:solidFill>
                  <a:srgbClr val="8A6D1E"/>
                </a:solidFill>
                <a:latin typeface="Calibri" pitchFamily="34" charset="0"/>
                <a:cs typeface="Amiri" pitchFamily="2" charset="-78"/>
              </a:rPr>
              <a:t> opens the conclusion.</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build a Grade A essay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P1 · Thesis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C77700"/>
                </a:solidFill>
                <a:latin typeface="Amiri" pitchFamily="2" charset="-78"/>
                <a:ea typeface="Amiri" pitchFamily="2" charset="-78"/>
                <a:cs typeface="Amiri" pitchFamily="2" charset="-78"/>
              </a:rPr>
              <a:t>يُشَارُ إِلَى أَنَّ</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Claim.</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P2 · Evidence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7B3FA0"/>
                </a:solidFill>
                <a:latin typeface="Amiri" pitchFamily="2" charset="-78"/>
                <a:ea typeface="Amiri" pitchFamily="2" charset="-78"/>
                <a:cs typeface="Amiri" pitchFamily="2" charset="-78"/>
              </a:rPr>
              <a:t>أَكَّدَ</a:t>
            </a:r>
            <a:pPr rtl="1" algn="ctr" indent="0" marL="0">
              <a:buNone/>
            </a:pPr>
            <a:r>
              <a:rPr lang="ar-SA" altLang="en-US" sz="2800" b="1" dirty="0">
                <a:solidFill>
                  <a:srgbClr val="1B3B6F"/>
                </a:solidFill>
                <a:latin typeface="Amiri" pitchFamily="2" charset="-78"/>
                <a:ea typeface="Amiri" pitchFamily="2" charset="-78"/>
                <a:cs typeface="Amiri" pitchFamily="2" charset="-78"/>
              </a:rPr>
              <a:t> البَاحِثُونَ </a:t>
            </a:r>
            <a:pPr rtl="1" algn="ctr" indent="0" marL="0">
              <a:buNone/>
            </a:pPr>
            <a:r>
              <a:rPr lang="ar-SA" altLang="en-US" sz="2800" b="1" dirty="0">
                <a:solidFill>
                  <a:srgbClr val="7B3FA0"/>
                </a:solidFill>
                <a:latin typeface="Amiri" pitchFamily="2" charset="-78"/>
                <a:ea typeface="Amiri" pitchFamily="2" charset="-78"/>
                <a:cs typeface="Amiri" pitchFamily="2" charset="-78"/>
              </a:rPr>
              <a:t>أَنَّ</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Cite.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P3 · Balance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D5FBF"/>
                </a:solidFill>
                <a:latin typeface="Amiri" pitchFamily="2" charset="-78"/>
                <a:ea typeface="Amiri" pitchFamily="2" charset="-78"/>
                <a:cs typeface="Amiri" pitchFamily="2" charset="-78"/>
              </a:rPr>
              <a:t>صَحِيحٌ أَنَّ</a:t>
            </a:r>
            <a:pPr rtl="1" algn="ctr" indent="0" marL="0">
              <a:buNone/>
            </a:pPr>
            <a:r>
              <a:rPr lang="ar-SA" altLang="en-US" sz="2700" b="1" dirty="0">
                <a:solidFill>
                  <a:srgbClr val="1B3B6F"/>
                </a:solidFill>
                <a:latin typeface="Amiri" pitchFamily="2" charset="-78"/>
                <a:cs typeface="Amiri" pitchFamily="2" charset="-78"/>
              </a:rPr>
              <a:t> … </a:t>
            </a:r>
            <a:pPr rtl="1" algn="ctr" indent="0" marL="0">
              <a:buNone/>
            </a:pPr>
            <a:r>
              <a:rPr lang="ar-SA" altLang="en-US" sz="2700" b="1" dirty="0">
                <a:solidFill>
                  <a:srgbClr val="D6336C"/>
                </a:solidFill>
                <a:latin typeface="Amiri" pitchFamily="2" charset="-78"/>
                <a:ea typeface="Amiri" pitchFamily="2" charset="-78"/>
                <a:cs typeface="Amiri" pitchFamily="2" charset="-78"/>
              </a:rPr>
              <a:t>غَيْرَ أَنَّ</a:t>
            </a:r>
            <a:pPr rtl="1" algn="ctr" indent="0" marL="0">
              <a:buNone/>
            </a:pPr>
            <a:r>
              <a:rPr lang="ar-SA" altLang="en-US" sz="2700" b="1" dirty="0">
                <a:solidFill>
                  <a:srgbClr val="1B3B6F"/>
                </a:solidFill>
                <a:latin typeface="Amiri" pitchFamily="2" charset="-78"/>
                <a:cs typeface="Amiri" pitchFamily="2" charset="-78"/>
              </a:rPr>
              <a:t> …</a:t>
            </a:r>
            <a:endParaRPr lang="ar-SA" sz="27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Concede, answer.</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P4 · Close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algn="ctr" indent="0" marL="0">
              <a:buNone/>
            </a:pPr>
            <a:r>
              <a:rPr lang="ar-SA" altLang="en-US" sz="3450" b="1" dirty="0">
                <a:solidFill>
                  <a:srgbClr val="1B3B6F"/>
                </a:solidFill>
                <a:latin typeface="Amiri" pitchFamily="2" charset="-78"/>
                <a:ea typeface="Amiri" pitchFamily="2" charset="-78"/>
                <a:cs typeface="Amiri" pitchFamily="2" charset="-78"/>
              </a:rPr>
              <a:t>وَبِنَاءً عَلَى مَا سَبَقَ … أَنْ</a:t>
            </a:r>
            <a:pPr algn="ctr" indent="0" marL="0">
              <a:buNone/>
            </a:pPr>
            <a:r>
              <a:rPr lang="en-US" sz="2650" b="1" dirty="0">
                <a:solidFill>
                  <a:srgbClr val="1B3B6F"/>
                </a:solidFill>
                <a:latin typeface="Calibri" pitchFamily="34" charset="0"/>
                <a:cs typeface="Amiri" pitchFamily="2" charset="-78"/>
              </a:rPr>
              <a:t> + -a</a:t>
            </a:r>
            <a:endParaRPr lang="en-US" sz="26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Propose.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C77700"/>
          </a:solidFill>
          <a:ln w="12700">
            <a:solidFill>
              <a:srgbClr val="C77700"/>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THESIS</a:t>
            </a:r>
            <a:endParaRPr lang="en-US" sz="800" dirty="0"/>
          </a:p>
        </p:txBody>
      </p:sp>
      <p:sp>
        <p:nvSpPr>
          <p:cNvPr id="47" name="Shape 43"/>
          <p:cNvSpPr/>
          <p:nvPr/>
        </p:nvSpPr>
        <p:spPr>
          <a:xfrm>
            <a:off x="7552944"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EVIDENCE</a:t>
            </a:r>
            <a:endParaRPr lang="en-US" sz="800" dirty="0"/>
          </a:p>
        </p:txBody>
      </p:sp>
      <p:sp>
        <p:nvSpPr>
          <p:cNvPr id="49" name="Shape 45"/>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CONCESSION</a:t>
            </a:r>
            <a:endParaRPr lang="en-US" sz="800" dirty="0"/>
          </a:p>
        </p:txBody>
      </p:sp>
      <p:sp>
        <p:nvSpPr>
          <p:cNvPr id="51" name="Shape 47"/>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REFUTATION</a:t>
            </a:r>
            <a:endParaRPr lang="en-US" sz="800" dirty="0"/>
          </a:p>
        </p:txBody>
      </p:sp>
      <p:sp>
        <p:nvSpPr>
          <p:cNvPr id="53" name="Shape 49"/>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CONCLUSION</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يُشَارُ إِلَى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التَّعْلِيمَ مِنْ أَكْثَرِ القَضَايَا إِلْحَاحًا فِي العَالَمِ العَرَبِيِّ المُعَاصِرِ.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أَكَّدَ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البَاحِثُونَ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الاسْتِثْمَارَ فِي التَّعْلِيمِ يُفْضِي إِلَى نُمُوٍّ اقْتِصَادِيٍّ مُسْتَدَامٍ.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صَحِيحٌ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تَطْوِيرَ المَنْظُومَةِ التَّعْلِيمِيَّةِ يَسْتَلْزِمُ مَوَارِدَ ضَخْمَةً،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غَيْرَ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العَائِدَ يَفُوقُ التَّكْلِفَةَ بِأَشْوَاطٍ.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وَبِنَاءً عَلَى مَا سَبَقَ</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يَتَطَلَّبُ التَّقَدُّمُ الحَقِيقِيُّ أَنْ تُوَجِّهَ الحُكُومَاتُ اسْتِثْمَارَاتِهَا نَحْوَ الإِنْسَانِ.</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00" i="1" dirty="0">
                <a:solidFill>
                  <a:srgbClr val="5A6472"/>
                </a:solidFill>
                <a:latin typeface="Calibri" pitchFamily="34" charset="0"/>
                <a:cs typeface="Amiri" pitchFamily="2" charset="-78"/>
              </a:rPr>
              <a:t>It is noted that education is one of the most pressing issues in the contemporary Arab world. Researchers have confirmed that investing in education leads to sustainable economic growth. It is true that developing the education system requires huge resources; however, the return far outweighs the cost. Based on the above, real progress requires governments to direct their investments towards people.</a:t>
            </a:r>
            <a:endParaRPr lang="en-US" sz="90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لَا يُمْكِنُ إِنْكَارُ أَنَّ التَّعْلِيمَ يُمَثِّلُ الرَّكِيزَةَ الأَسَاسِيَّةَ لِأَيِّ مُجْتَمَعٍ عَادِلٍ</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cannot be denied that education is the fundamental pillar of any just society</a:t>
            </a:r>
            <a:endParaRPr lang="en-US" sz="1250" dirty="0"/>
          </a:p>
          <a:p>
            <a:pPr indent="0" marL="0">
              <a:buNone/>
            </a:pPr>
            <a:r>
              <a:rPr lang="en-US" sz="1050" i="1" dirty="0">
                <a:solidFill>
                  <a:srgbClr val="8A6D1E"/>
                </a:solidFill>
                <a:latin typeface="Calibri" pitchFamily="34" charset="0"/>
                <a:cs typeface="Amiri" pitchFamily="2" charset="-78"/>
              </a:rPr>
              <a:t>Concession opener.</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صَحِيحٌ أَنَّ تَطْوِيرَ التَّعْلِيمِ يَسْتَلْزِمُ مَوَارِدَ، غَيْرَ أَنَّ العَائِدَ يَفُوقُ التَّكْلِفَةَ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is true that developing education requires resources; however, the return outweighs the cost</a:t>
            </a:r>
            <a:endParaRPr lang="en-US" sz="1250" dirty="0"/>
          </a:p>
          <a:p>
            <a:pPr indent="0" marL="0">
              <a:buNone/>
            </a:pPr>
            <a:r>
              <a:rPr lang="en-US" sz="1050" i="1" dirty="0">
                <a:solidFill>
                  <a:srgbClr val="8A6D1E"/>
                </a:solidFill>
                <a:latin typeface="Calibri" pitchFamily="34" charset="0"/>
                <a:cs typeface="Amiri" pitchFamily="2" charset="-78"/>
              </a:rPr>
              <a:t>Concession-refutation pair.</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وَبِنَاءً عَلَى مَا سَبَقَ، يَتَطَلَّبُ التَّقَدُّمُ أَنْ تُوَجِّهَ الحُكُومَاتُ اسْتِثْمَارَاتِهَا</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based on the above, progress requires governments to direct their investments</a:t>
            </a:r>
            <a:endParaRPr lang="en-US" sz="1250" dirty="0"/>
          </a:p>
          <a:p>
            <a:pPr indent="0" marL="0">
              <a:buNone/>
            </a:pPr>
            <a:r>
              <a:rPr lang="en-US" sz="1050" i="1" dirty="0">
                <a:solidFill>
                  <a:srgbClr val="8A6D1E"/>
                </a:solidFill>
                <a:latin typeface="Calibri" pitchFamily="34" charset="0"/>
                <a:cs typeface="Amiri" pitchFamily="2" charset="-78"/>
              </a:rPr>
              <a:t>Conclusion + subjunctive.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CONSTRUCTING A BALANCED ARGUMENT — THE ART OF ARABIC ESSAY WRITING”</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Argument moves: match the picture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الحُجَّةَ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claim + reason</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two sides</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conclusion</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الخِتَامِ، أَرَى أَنَّ الحَلَّ يَحْتَاجُ إِلَى التَّعَاوُنِ.</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أَرَى أَنَّ التَّعْلِيمَ مُهِمٌّ لِأَنَّهُ يَفْتَحُ الفُرَصَ.</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 جِهَةٍ هُنَاكَ فَوَائِدُ، وَمِنْ جِهَةٍ أُخْرَى هُنَاكَ تَحَدِّيَاتٌ.</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الحُجَّةَ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claim + reason</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أَرَى أَنَّ التَّعْلِيمَ مُهِمٌّ لِأَنَّهُ يَفْتَحُ الفُرَصَ.</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think education is important because it opens up opportunities.</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two sides</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مِنْ جِهَةٍ هُنَاكَ فَوَائِدُ، وَمِنْ جِهَةٍ أُخْرَى هُنَاكَ تَحَدِّيَاتٌ.</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On the one hand there are benefits; on the other there are challenges.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conclusion</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فِي الخِتَامِ، أَرَى أَنَّ الحَلَّ يَحْتَاجُ إِلَى التَّعَاوُنِ.</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In conclusion, I think the solution needs cooperation.</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BUILD AN ESSAY SPINE (WEBSITE LIVE BUILDER, ONE ITEM CORRECTED)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Thesis + balance + conclusion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عَمُودَ المَقَالِ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558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Thesis / evidence</a:t>
            </a:r>
            <a:endParaRPr lang="en-US" sz="1100" dirty="0"/>
          </a:p>
        </p:txBody>
      </p:sp>
      <p:sp>
        <p:nvSpPr>
          <p:cNvPr id="17" name="Text 14"/>
          <p:cNvSpPr txBox="1"/>
          <p:nvPr/>
        </p:nvSpPr>
        <p:spPr>
          <a:xfrm>
            <a:off x="430682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Concession + refutation</a:t>
            </a:r>
            <a:endParaRPr lang="en-US" sz="1100" dirty="0"/>
          </a:p>
        </p:txBody>
      </p:sp>
      <p:sp>
        <p:nvSpPr>
          <p:cNvPr id="18" name="Text 15"/>
          <p:cNvSpPr txBox="1"/>
          <p:nvPr/>
        </p:nvSpPr>
        <p:spPr>
          <a:xfrm>
            <a:off x="53035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Conclusion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074152" y="2267712"/>
            <a:ext cx="3566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يُشَارُ إِلَى أَنَّ التَّعْلِيمَ مِنْ أَكْثَرِ القَضَايَا إِلْحَاحًا فِي عَالَمِنَا</a:t>
            </a:r>
            <a:endParaRPr lang="ar-SA" sz="1400" dirty="0"/>
          </a:p>
        </p:txBody>
      </p:sp>
      <p:sp>
        <p:nvSpPr>
          <p:cNvPr id="21" name="Text 18"/>
          <p:cNvSpPr txBox="1"/>
          <p:nvPr/>
        </p:nvSpPr>
        <p:spPr>
          <a:xfrm>
            <a:off x="4325112" y="2267712"/>
            <a:ext cx="3566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صَحِيحٌ أَنَّ التَّطْوِيرَ يَسْتَلْزِمُ مَوَارِدَ ضَخْمَةً، غَيْرَ أَنَّ العَائِدَ يَفُوقُ التَّكْلِفَةَ</a:t>
            </a:r>
            <a:endParaRPr lang="ar-SA" sz="1400" dirty="0"/>
          </a:p>
        </p:txBody>
      </p:sp>
      <p:sp>
        <p:nvSpPr>
          <p:cNvPr id="22" name="Text 19"/>
          <p:cNvSpPr txBox="1"/>
          <p:nvPr/>
        </p:nvSpPr>
        <p:spPr>
          <a:xfrm>
            <a:off x="548640" y="2267712"/>
            <a:ext cx="3593592"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وَبِنَاءً عَلَى مَا سَبَقَ، يَتَطَلَّبُ التَّقَدُّمُ أَنْ تُوَجِّهَ الحُكُومَاتُ اسْتِثْمَارَاتِهَا نَحْوَ التَّعْلِيمِ</a:t>
            </a:r>
            <a:endParaRPr lang="ar-SA" sz="1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074152" y="3054096"/>
            <a:ext cx="3566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أَكَّدَ البَاحِثُونَ أَنَّ الاسْتِثْمَارَ فِي التَّعْلِيمِ يُفْضِي إِلَى نُمُوٍّ مُسْتَدَامٍ</a:t>
            </a:r>
            <a:endParaRPr lang="ar-SA" sz="1400" dirty="0"/>
          </a:p>
        </p:txBody>
      </p:sp>
      <p:sp>
        <p:nvSpPr>
          <p:cNvPr id="27" name="Text 24"/>
          <p:cNvSpPr txBox="1"/>
          <p:nvPr/>
        </p:nvSpPr>
        <p:spPr>
          <a:xfrm>
            <a:off x="4325112" y="3054096"/>
            <a:ext cx="3566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صَحِيحٌ أَنَّ بَعْضَ الإِصْلَاحَاتِ تَعَثَّرَتْ، مَعَ ذٰلِكَ تَبْقَى الأَوْلَوِيَّةُ وَاضِحَةً</a:t>
            </a:r>
            <a:endParaRPr lang="ar-SA" sz="1400" dirty="0"/>
          </a:p>
        </p:txBody>
      </p:sp>
      <p:sp>
        <p:nvSpPr>
          <p:cNvPr id="28" name="Text 25"/>
          <p:cNvSpPr txBox="1"/>
          <p:nvPr/>
        </p:nvSpPr>
        <p:spPr>
          <a:xfrm>
            <a:off x="548640" y="3054096"/>
            <a:ext cx="3593592"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وَخُلَاصَةُ القَوْلِ، لَا تَقَدُّمَ حَقِيقِيًّا دُونَ اسْتِثْمَارٍ فِي الإِنْسَانِ</a:t>
            </a:r>
            <a:endParaRPr lang="ar-SA" sz="14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074152" y="3840480"/>
            <a:ext cx="3566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لَا يُمْكِنُ إِنْكَارُ أَنَّ التَّعْلِيمَ يُمَثِّلُ الرَّكِيزَةَ الأَسَاسِيَّةَ لِلْمُجْتَمَعِ</a:t>
            </a:r>
            <a:endParaRPr lang="ar-SA" sz="1400" dirty="0"/>
          </a:p>
        </p:txBody>
      </p:sp>
      <p:sp>
        <p:nvSpPr>
          <p:cNvPr id="31" name="Text 28"/>
          <p:cNvSpPr txBox="1"/>
          <p:nvPr/>
        </p:nvSpPr>
        <p:spPr>
          <a:xfrm>
            <a:off x="4325112" y="3840480"/>
            <a:ext cx="3566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بِالرَّغْمِ مِنَ التَّكْلِفَةِ، فَإِنَّ الاسْتِثْمَارَ فِي الإِنْسَانِ لَا بَدِيلَ عَنْهُ</a:t>
            </a:r>
            <a:endParaRPr lang="ar-SA" sz="1400" dirty="0"/>
          </a:p>
        </p:txBody>
      </p:sp>
      <p:sp>
        <p:nvSpPr>
          <p:cNvPr id="32" name="Text 29"/>
          <p:cNvSpPr txBox="1"/>
          <p:nvPr/>
        </p:nvSpPr>
        <p:spPr>
          <a:xfrm>
            <a:off x="548640" y="3840480"/>
            <a:ext cx="359359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وَفِي ضَوْءِ مَا سَبَقَ، يَبْقَى التَّعْلِيمُ أَوْلَوِيَّةً لَا غِنَى عَنْهَا</a:t>
            </a:r>
            <a:endParaRPr lang="ar-SA" sz="15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Then label each part with its job: P1 · P3 · P4.</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Thesis, balance — or conclusion?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200" b="1" dirty="0">
                <a:solidFill>
                  <a:srgbClr val="1B3B6F"/>
                </a:solidFill>
                <a:latin typeface="Amiri" pitchFamily="2" charset="-78"/>
                <a:ea typeface="Amiri" pitchFamily="2" charset="-78"/>
                <a:cs typeface="Amiri" pitchFamily="2" charset="-78"/>
              </a:rPr>
              <a:t>يُشَارُ إِلَى أَنَّ القَضِيَّةَ مِنْ أَكْثَرِ القَضَايَا إِلْحَاحًا</a:t>
            </a:r>
            <a:endParaRPr lang="ar-SA" sz="12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ea typeface="Amiri" pitchFamily="2" charset="-78"/>
                <a:cs typeface="Amiri" pitchFamily="2" charset="-78"/>
              </a:rPr>
              <a:t>أَكَّدَ البَاحِثُونَ أَنَّ العَائِدَ يَفُوقُ التَّكْلِفَةَ</a:t>
            </a:r>
            <a:endParaRPr lang="ar-SA" sz="14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لَا يُمْكِنُ إِنْكَارُ أَنَّ التَّعْلِيمَ رَكِيزَةٌ أَسَاسِيَّةٌ</a:t>
            </a:r>
            <a:endParaRPr lang="ar-SA" sz="135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lnSpc>
                <a:spcPct val="120000"/>
              </a:lnSpc>
              <a:buNone/>
            </a:pPr>
            <a:r>
              <a:rPr lang="ar-SA" altLang="en-US" sz="1100" b="1" dirty="0">
                <a:solidFill>
                  <a:srgbClr val="1B3B6F"/>
                </a:solidFill>
                <a:latin typeface="Amiri" pitchFamily="2" charset="-78"/>
                <a:ea typeface="Amiri" pitchFamily="2" charset="-78"/>
                <a:cs typeface="Amiri" pitchFamily="2" charset="-78"/>
              </a:rPr>
              <a:t>صَحِيحٌ أَنَّ التَّطْوِيرَ يَسْتَلْزِمُ مَوَارِدَ، غَيْرَ أَنَّ العَائِدَ أَكْبَرُ</a:t>
            </a:r>
            <a:endParaRPr lang="ar-SA" sz="11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lnSpc>
                <a:spcPct val="120000"/>
              </a:lnSpc>
              <a:buNone/>
            </a:pPr>
            <a:r>
              <a:rPr lang="ar-SA" altLang="en-US" sz="1100" b="1" dirty="0">
                <a:solidFill>
                  <a:srgbClr val="1B3B6F"/>
                </a:solidFill>
                <a:latin typeface="Amiri" pitchFamily="2" charset="-78"/>
                <a:ea typeface="Amiri" pitchFamily="2" charset="-78"/>
                <a:cs typeface="Amiri" pitchFamily="2" charset="-78"/>
              </a:rPr>
              <a:t>صَحِيحٌ أَنَّ التِّقْنِيَّةَ تُوَفِّرُ فُرَصًا، غَيْرَ أَنَّ الفَجْوَةَ قَائِمَةٌ</a:t>
            </a:r>
            <a:endParaRPr lang="ar-SA" sz="11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بِالرَّغْمِ مِنَ التَّقَدُّمِ، تَبْقَى تَحَدِّيَاتٌ جَوْهَرِيَّةٌ</a:t>
            </a:r>
            <a:endParaRPr lang="ar-SA" sz="135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lnSpc>
                <a:spcPct val="120000"/>
              </a:lnSpc>
              <a:buNone/>
            </a:pPr>
            <a:r>
              <a:rPr lang="ar-SA" altLang="en-US" sz="1100" b="1" dirty="0">
                <a:solidFill>
                  <a:srgbClr val="1B3B6F"/>
                </a:solidFill>
                <a:latin typeface="Amiri" pitchFamily="2" charset="-78"/>
                <a:ea typeface="Amiri" pitchFamily="2" charset="-78"/>
                <a:cs typeface="Amiri" pitchFamily="2" charset="-78"/>
              </a:rPr>
              <a:t>وَبِنَاءً عَلَى مَا سَبَقَ، يَتَطَلَّبُ التَّقَدُّمُ أَنْ تُوَجِّهَ الحُكُومَاتُ اسْتِثْمَارَاتِهَا</a:t>
            </a:r>
            <a:endParaRPr lang="ar-SA" sz="11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100" b="1" dirty="0">
                <a:solidFill>
                  <a:srgbClr val="1B3B6F"/>
                </a:solidFill>
                <a:latin typeface="Amiri" pitchFamily="2" charset="-78"/>
                <a:ea typeface="Amiri" pitchFamily="2" charset="-78"/>
                <a:cs typeface="Amiri" pitchFamily="2" charset="-78"/>
              </a:rPr>
              <a:t>وَخُلَاصَةُ القَوْلِ، لَا تَقَدُّمَ دُونَ اسْتِثْمَارٍ فِي الإِنْسَانِ</a:t>
            </a:r>
            <a:endParaRPr lang="ar-SA" sz="11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ea typeface="Amiri" pitchFamily="2" charset="-78"/>
                <a:cs typeface="Amiri" pitchFamily="2" charset="-78"/>
              </a:rPr>
              <a:t>وَفِي ضَوْءِ مَا سَبَقَ، يَبْقَى التَّعْلِيمُ أَوْلَوِيَّةً</a:t>
            </a:r>
            <a:endParaRPr lang="ar-SA" sz="14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thesis / evidence</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concession + refutation</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conclusion</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thesis / evidence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يُشَارُ إِلَى أَنَّ القَضِيَّةَ مِنْ أَكْثَرِ القَضَايَا إِلْحَاحًا</a:t>
            </a:r>
            <a:endParaRPr lang="ar-SA" sz="15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أَكَّدَ البَاحِثُونَ أَنَّ العَائِدَ يَفُوقُ التَّكْلِفَةَ</a:t>
            </a:r>
            <a:endParaRPr lang="ar-SA" sz="175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لَا يُمْكِنُ إِنْكَارُ أَنَّ التَّعْلِيمَ رَكِيزَةٌ أَسَاسِيَّةٌ</a:t>
            </a:r>
            <a:endParaRPr lang="ar-SA" sz="165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concession + refutation</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صَحِيحٌ أَنَّ التَّطْوِيرَ يَسْتَلْزِمُ مَوَارِدَ، غَيْرَ أَنَّ العَائِدَ أَكْبَرُ</a:t>
            </a:r>
            <a:endParaRPr lang="ar-SA" sz="13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صَحِيحٌ أَنَّ التِّقْنِيَّةَ تُوَفِّرُ فُرَصًا، غَيْرَ أَنَّ الفَجْوَةَ قَائِمَةٌ</a:t>
            </a:r>
            <a:endParaRPr lang="ar-SA" sz="135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بِالرَّغْمِ مِنَ التَّقَدُّمِ، تَبْقَى تَحَدِّيَاتٌ جَوْهَرِيَّةٌ</a:t>
            </a:r>
            <a:endParaRPr lang="ar-SA" sz="17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conclusion</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lnSpc>
                <a:spcPct val="120000"/>
              </a:lnSpc>
              <a:buNone/>
            </a:pPr>
            <a:r>
              <a:rPr lang="ar-SA" altLang="en-US" sz="1100" b="1" dirty="0">
                <a:solidFill>
                  <a:srgbClr val="1B3B6F"/>
                </a:solidFill>
                <a:latin typeface="Amiri" pitchFamily="2" charset="-78"/>
                <a:ea typeface="Amiri" pitchFamily="2" charset="-78"/>
                <a:cs typeface="Amiri" pitchFamily="2" charset="-78"/>
              </a:rPr>
              <a:t>وَبِنَاءً عَلَى مَا سَبَقَ، يَتَطَلَّبُ التَّقَدُّمُ أَنْ تُوَجِّهَ الحُكُومَاتُ اسْتِثْمَارَاتِهَا</a:t>
            </a:r>
            <a:endParaRPr lang="ar-SA" sz="11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ea typeface="Amiri" pitchFamily="2" charset="-78"/>
                <a:cs typeface="Amiri" pitchFamily="2" charset="-78"/>
              </a:rPr>
              <a:t>وَخُلَاصَةُ القَوْلِ، لَا تَقَدُّمَ دُونَ اسْتِثْمَارٍ فِي الإِنْسَانِ</a:t>
            </a:r>
            <a:endParaRPr lang="ar-SA" sz="14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وَفِي ضَوْءِ مَا سَبَقَ، يَبْقَى التَّعْلِيمُ أَوْلَوِيَّةً</a:t>
            </a:r>
            <a:endParaRPr lang="ar-SA" sz="17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concession:</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100" b="1" dirty="0">
                <a:solidFill>
                  <a:srgbClr val="1F2A37"/>
                </a:solidFill>
                <a:latin typeface="Amiri" pitchFamily="2" charset="-78"/>
                <a:ea typeface="Amiri" pitchFamily="2" charset="-78"/>
                <a:cs typeface="Amiri" pitchFamily="2" charset="-78"/>
              </a:rPr>
              <a:t>صَحِيحٌ أَنَّ التَّطْوِيرَ ___ مَوَارِدَ، غَيْرَ أَنَّ العَائِدَ أَكْبَرُ.</a:t>
            </a:r>
            <a:endParaRPr lang="ar-SA" sz="11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يَسْتَلْزِمَ</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لِيَسْتَلْزِمْ</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يَسْتَلْزِمُ</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conclusion:</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وَبِنَاءً عَلَى مَا سَبَقَ، يَتَطَلَّبُ التَّقَدُّمُ أَنْ ___ الحُكُومَاتُ اسْتِثْمَارَاتِهَا.</a:t>
            </a:r>
            <a:endParaRPr lang="ar-SA" sz="1000" dirty="0"/>
          </a:p>
        </p:txBody>
      </p:sp>
      <p:sp>
        <p:nvSpPr>
          <p:cNvPr id="36" name="Shape 33"/>
          <p:cNvSpPr/>
          <p:nvPr/>
        </p:nvSpPr>
        <p:spPr>
          <a:xfrm>
            <a:off x="6368796"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تُوَجِّهُ</a:t>
            </a:r>
            <a:endParaRPr lang="ar-SA" sz="2050" dirty="0"/>
          </a:p>
        </p:txBody>
      </p:sp>
      <p:sp>
        <p:nvSpPr>
          <p:cNvPr id="39" name="Shape 36"/>
          <p:cNvSpPr/>
          <p:nvPr/>
        </p:nvSpPr>
        <p:spPr>
          <a:xfrm>
            <a:off x="6368796"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تُوَجِّهَ</a:t>
            </a:r>
            <a:endParaRPr lang="ar-SA" sz="2050" dirty="0"/>
          </a:p>
        </p:txBody>
      </p:sp>
      <p:sp>
        <p:nvSpPr>
          <p:cNvPr id="42" name="Shape 39"/>
          <p:cNvSpPr/>
          <p:nvPr/>
        </p:nvSpPr>
        <p:spPr>
          <a:xfrm>
            <a:off x="6368796"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تُوَجِّهْ</a:t>
            </a:r>
            <a:endParaRPr lang="ar-SA" sz="2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concession-refutation pair demonstrate?</a:t>
            </a:r>
            <a:endParaRPr lang="en-US" sz="125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Indecision</a:t>
            </a:r>
            <a:endParaRPr lang="en-US" sz="12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ability to weigh two ideas and choose the stronger</a:t>
            </a:r>
            <a:endParaRPr lang="en-US" sz="12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lack of evidence</a:t>
            </a:r>
            <a:endParaRPr lang="en-US" sz="1250" dirty="0"/>
          </a:p>
        </p:txBody>
      </p:sp>
      <p:sp>
        <p:nvSpPr>
          <p:cNvPr id="58" name="Shape 5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6313932"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1" name="Text 58"/>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sequence is the correct essay architecture?</a:t>
            </a:r>
            <a:endParaRPr lang="en-US" sz="125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conclusion → thesis → evidence</a:t>
            </a:r>
            <a:endParaRPr lang="en-US" sz="12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concession → conclusion → thesis</a:t>
            </a:r>
            <a:endParaRPr lang="en-US" sz="12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thesis → evidence → concession → refutation → conclusion</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concession:</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100" b="1" dirty="0">
                <a:solidFill>
                  <a:srgbClr val="1F2A37"/>
                </a:solidFill>
                <a:latin typeface="Amiri" pitchFamily="2" charset="-78"/>
                <a:ea typeface="Amiri" pitchFamily="2" charset="-78"/>
                <a:cs typeface="Amiri" pitchFamily="2" charset="-78"/>
              </a:rPr>
              <a:t>صَحِيحٌ أَنَّ التَّطْوِيرَ ___ مَوَارِدَ، غَيْرَ أَنَّ العَائِدَ أَكْبَرُ.</a:t>
            </a:r>
            <a:endParaRPr lang="ar-SA" sz="11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يَسْتَلْزِمَ</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لِيَسْتَلْزِمْ</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يَسْتَلْزِمُ</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the verb is indicative: </a:t>
            </a:r>
            <a:pPr algn="l" indent="0" marL="0">
              <a:buNone/>
            </a:pPr>
            <a:r>
              <a:rPr lang="ar-SA" altLang="en-US" sz="1350" dirty="0">
                <a:solidFill>
                  <a:srgbClr val="8A6D1E"/>
                </a:solidFill>
                <a:latin typeface="Amiri" pitchFamily="2" charset="-78"/>
                <a:ea typeface="Amiri" pitchFamily="2" charset="-78"/>
                <a:cs typeface="Amiri" pitchFamily="2" charset="-78"/>
              </a:rPr>
              <a:t>يَسْتَلْزِمُ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conclusion:</a:t>
            </a:r>
            <a:endParaRPr lang="en-US" sz="1200" dirty="0"/>
          </a:p>
        </p:txBody>
      </p:sp>
      <p:sp>
        <p:nvSpPr>
          <p:cNvPr id="37" name="Text 34"/>
          <p:cNvSpPr txBox="1"/>
          <p:nvPr/>
        </p:nvSpPr>
        <p:spPr>
          <a:xfrm>
            <a:off x="9052011" y="1883664"/>
            <a:ext cx="2570013"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وَبِنَاءً عَلَى مَا سَبَقَ، يَتَطَلَّبُ التَّقَدُّمُ أَنْ ___ الحُكُومَاتُ اسْتِثْمَارَاتِهَا.</a:t>
            </a:r>
            <a:endParaRPr lang="ar-SA" sz="1000" dirty="0"/>
          </a:p>
        </p:txBody>
      </p:sp>
      <p:sp>
        <p:nvSpPr>
          <p:cNvPr id="38" name="Shape 35"/>
          <p:cNvSpPr/>
          <p:nvPr/>
        </p:nvSpPr>
        <p:spPr>
          <a:xfrm>
            <a:off x="6368796" y="2490216"/>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0" name="Text 37"/>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تُوَجِّهُ</a:t>
            </a:r>
            <a:endParaRPr lang="ar-SA" sz="1700" dirty="0"/>
          </a:p>
        </p:txBody>
      </p:sp>
      <p:sp>
        <p:nvSpPr>
          <p:cNvPr id="41" name="Shape 38"/>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2" name="Shape 39"/>
          <p:cNvSpPr/>
          <p:nvPr/>
        </p:nvSpPr>
        <p:spPr>
          <a:xfrm>
            <a:off x="6368796" y="2862072"/>
            <a:ext cx="256032" cy="256032"/>
          </a:xfrm>
          <a:prstGeom prst="ellipse">
            <a:avLst/>
          </a:prstGeom>
          <a:solidFill>
            <a:srgbClr val="2E8B57"/>
          </a:solidFill>
          <a:ln w="12700">
            <a:solidFill>
              <a:srgbClr val="2E8B57"/>
            </a:solidFill>
            <a:prstDash val="solid"/>
          </a:ln>
        </p:spPr>
      </p:sp>
      <p:sp>
        <p:nvSpPr>
          <p:cNvPr id="43" name="Text 4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4" name="Text 41"/>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تُوَجِّهَ</a:t>
            </a:r>
            <a:endParaRPr lang="ar-SA" sz="1700" dirty="0"/>
          </a:p>
        </p:txBody>
      </p:sp>
      <p:sp>
        <p:nvSpPr>
          <p:cNvPr id="45" name="Shape 42"/>
          <p:cNvSpPr/>
          <p:nvPr/>
        </p:nvSpPr>
        <p:spPr>
          <a:xfrm>
            <a:off x="6368796" y="3233928"/>
            <a:ext cx="256032" cy="256032"/>
          </a:xfrm>
          <a:prstGeom prst="ellipse">
            <a:avLst/>
          </a:prstGeom>
          <a:solidFill>
            <a:srgbClr val="C9CED6"/>
          </a:solidFill>
          <a:ln w="12700">
            <a:solidFill>
              <a:srgbClr val="C9CED6"/>
            </a:solidFill>
            <a:prstDash val="solid"/>
          </a:ln>
        </p:spPr>
      </p:sp>
      <p:sp>
        <p:nvSpPr>
          <p:cNvPr id="46" name="Text 43"/>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7" name="Text 44"/>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تُوَجِّهْ</a:t>
            </a:r>
            <a:endParaRPr lang="ar-SA" sz="1700" dirty="0"/>
          </a:p>
        </p:txBody>
      </p:sp>
      <p:sp>
        <p:nvSpPr>
          <p:cNvPr id="48" name="Text 45"/>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ea typeface="Amiri" pitchFamily="2" charset="-78"/>
                <a:cs typeface="Amiri" pitchFamily="2" charset="-78"/>
              </a:rPr>
              <a:t>تُوَجِّهَ</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9" name="Shape 46"/>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85216" y="4288536"/>
            <a:ext cx="310896" cy="310896"/>
          </a:xfrm>
          <a:prstGeom prst="ellipse">
            <a:avLst/>
          </a:prstGeom>
          <a:solidFill>
            <a:srgbClr val="1B3B6F"/>
          </a:solidFill>
          <a:ln w="12700">
            <a:solidFill>
              <a:srgbClr val="1B3B6F"/>
            </a:solidFill>
            <a:prstDash val="solid"/>
          </a:ln>
        </p:spPr>
      </p:sp>
      <p:sp>
        <p:nvSpPr>
          <p:cNvPr id="51" name="Text 4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2" name="Text 49"/>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concession-refutation pair demonstrate?</a:t>
            </a:r>
            <a:endParaRPr lang="en-US" sz="1250" dirty="0"/>
          </a:p>
        </p:txBody>
      </p:sp>
      <p:sp>
        <p:nvSpPr>
          <p:cNvPr id="53" name="Shape 50"/>
          <p:cNvSpPr/>
          <p:nvPr/>
        </p:nvSpPr>
        <p:spPr>
          <a:xfrm>
            <a:off x="640080" y="4831080"/>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2"/>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Indecision</a:t>
            </a:r>
            <a:endParaRPr lang="en-US" sz="1250" dirty="0"/>
          </a:p>
        </p:txBody>
      </p:sp>
      <p:sp>
        <p:nvSpPr>
          <p:cNvPr id="56" name="Shape 5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202936"/>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9" name="Text 56"/>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ability to weigh two ideas and choose the stronger</a:t>
            </a:r>
            <a:endParaRPr lang="en-US" sz="1250" dirty="0"/>
          </a:p>
        </p:txBody>
      </p:sp>
      <p:sp>
        <p:nvSpPr>
          <p:cNvPr id="60" name="Shape 57"/>
          <p:cNvSpPr/>
          <p:nvPr/>
        </p:nvSpPr>
        <p:spPr>
          <a:xfrm>
            <a:off x="640080" y="5574792"/>
            <a:ext cx="256032" cy="256032"/>
          </a:xfrm>
          <a:prstGeom prst="ellipse">
            <a:avLst/>
          </a:prstGeom>
          <a:solidFill>
            <a:srgbClr val="C9CED6"/>
          </a:solidFill>
          <a:ln w="12700">
            <a:solidFill>
              <a:srgbClr val="C9CED6"/>
            </a:solidFill>
            <a:prstDash val="solid"/>
          </a:ln>
        </p:spPr>
      </p:sp>
      <p:sp>
        <p:nvSpPr>
          <p:cNvPr id="61" name="Text 5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2" name="Text 59"/>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lack of evidence</a:t>
            </a:r>
            <a:endParaRPr lang="en-US" sz="1250" dirty="0"/>
          </a:p>
        </p:txBody>
      </p:sp>
      <p:sp>
        <p:nvSpPr>
          <p:cNvPr id="63" name="Text 6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shows critical thinking — weighing competing ideas.</a:t>
            </a:r>
            <a:endParaRPr lang="en-US" sz="1050" dirty="0"/>
          </a:p>
        </p:txBody>
      </p:sp>
      <p:sp>
        <p:nvSpPr>
          <p:cNvPr id="64" name="Shape 6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6313932"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7" name="Text 6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sequence is the correct essay architecture?</a:t>
            </a:r>
            <a:endParaRPr lang="en-US" sz="125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conclusion → thesis → evidence</a:t>
            </a:r>
            <a:endParaRPr lang="en-US" sz="125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concession → conclusion → thesis</a:t>
            </a:r>
            <a:endParaRPr lang="en-US" sz="125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thesis → evidence → concession → refutation → conclusion</a:t>
            </a:r>
            <a:endParaRPr lang="en-US" sz="125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essay moves thesis → evidence → concession → refutation → conclusion.</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صَحِيحٌ أَنَّ التَّطْوِيرَ يَسْتَلْزِمَ مَوَارِدَ ضَخْمَةً.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ṣaḥīḥun anna … yastalzima?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2800" b="1" dirty="0">
                <a:solidFill>
                  <a:srgbClr val="B83227"/>
                </a:solidFill>
                <a:latin typeface="Amiri" pitchFamily="2" charset="-78"/>
                <a:ea typeface="Amiri" pitchFamily="2" charset="-78"/>
                <a:cs typeface="Amiri" pitchFamily="2" charset="-78"/>
              </a:rPr>
              <a:t>صَحِيحٌ أَنَّ التِّقْنِيَّةَ تُوَفِّرُ فُرَصًا، وَالفَجْوَةُ الرَّقْمِيَّةُ قَائِمَةٌ.</a:t>
            </a:r>
            <a:endParaRPr lang="ar-SA" sz="28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t>
            </a:r>
            <a:pPr algn="l" indent="0" marL="0">
              <a:buNone/>
            </a:pPr>
            <a:r>
              <a:rPr lang="ar-SA" altLang="en-US" sz="1700" dirty="0">
                <a:solidFill>
                  <a:srgbClr val="5A6472"/>
                </a:solidFill>
                <a:latin typeface="Amiri" pitchFamily="2" charset="-78"/>
                <a:ea typeface="Amiri" pitchFamily="2" charset="-78"/>
                <a:cs typeface="Amiri" pitchFamily="2" charset="-78"/>
              </a:rPr>
              <a:t>،</a:t>
            </a:r>
            <a:pPr algn="l" indent="0" marL="0">
              <a:buNone/>
            </a:pPr>
            <a:r>
              <a:rPr lang="en-US" sz="1300" i="1" dirty="0">
                <a:solidFill>
                  <a:srgbClr val="5A6472"/>
                </a:solidFill>
                <a:latin typeface="Calibri" pitchFamily="34" charset="0"/>
                <a:cs typeface="Amiri" pitchFamily="2" charset="-78"/>
              </a:rPr>
              <a:t> wa-l-fajwa?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lnSpc>
                <a:spcPct val="120000"/>
              </a:lnSpc>
              <a:buNone/>
            </a:pPr>
            <a:r>
              <a:rPr lang="ar-SA" altLang="en-US" sz="2250" b="1" dirty="0">
                <a:solidFill>
                  <a:srgbClr val="B83227"/>
                </a:solidFill>
                <a:latin typeface="Amiri" pitchFamily="2" charset="-78"/>
                <a:ea typeface="Amiri" pitchFamily="2" charset="-78"/>
                <a:cs typeface="Amiri" pitchFamily="2" charset="-78"/>
              </a:rPr>
              <a:t>وَبِنَاءً عَلَى مَا سَبَقَ، يَتَطَلَّبُ التَّقَدُّمُ أَنْ تُوَجِّهُ الحُكُومَاتُ اسْتِثْمَارَاتِهَا.</a:t>
            </a:r>
            <a:endParaRPr lang="ar-SA" sz="225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 tuwajjihu?</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صَحِيحٌ أَنَّ التَّطْوِيرَ يَسْتَلْزِمَ مَوَارِدَ ضَخْمَةً.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صَحِيحٌ أَنَّ التَّطْوِيرَ يَسْتَلْزِمُ مَوَارِدَ ضَخْمَةً.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ea typeface="Amiri" pitchFamily="2" charset="-78"/>
                <a:cs typeface="Amiri" pitchFamily="2" charset="-78"/>
              </a:rPr>
              <a:t>صَحِيحٌ أَنَّ</a:t>
            </a:r>
            <a:pPr algn="l" indent="0" marL="0">
              <a:buNone/>
            </a:pPr>
            <a:r>
              <a:rPr lang="en-US" sz="1150" b="1" dirty="0">
                <a:solidFill>
                  <a:srgbClr val="1B3B6F"/>
                </a:solidFill>
                <a:latin typeface="Calibri" pitchFamily="34" charset="0"/>
                <a:cs typeface="Amiri" pitchFamily="2" charset="-78"/>
              </a:rPr>
              <a:t> the verb is indicative: </a:t>
            </a:r>
            <a:pPr algn="l" indent="0" marL="0">
              <a:buNone/>
            </a:pPr>
            <a:r>
              <a:rPr lang="ar-SA" altLang="en-US" sz="1500" b="1" dirty="0">
                <a:solidFill>
                  <a:srgbClr val="1B3B6F"/>
                </a:solidFill>
                <a:latin typeface="Amiri" pitchFamily="2" charset="-78"/>
                <a:ea typeface="Amiri" pitchFamily="2" charset="-78"/>
                <a:cs typeface="Amiri" pitchFamily="2" charset="-78"/>
              </a:rPr>
              <a:t>يَسْتَلْزِمُ</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صَحِيحٌ أَنَّ التِّقْنِيَّةَ تُوَفِّرُ فُرَصًا، وَالفَجْوَةُ الرَّقْمِيَّةُ قَائِمَةٌ.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صَحِيحٌ أَنَّ التِّقْنِيَّةَ تُوَفِّرُ فُرَصًا، غَيْرَ أَنَّ الفَجْوَةَ الرَّقْمِيَّةَ قَائِمَةٌ.</a:t>
            </a:r>
            <a:endParaRPr lang="ar-SA" sz="21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concession must be answered by a refutation connector (</a:t>
            </a:r>
            <a:pPr algn="l" indent="0" marL="0">
              <a:buNone/>
            </a:pPr>
            <a:r>
              <a:rPr lang="ar-SA" altLang="en-US" sz="1500" b="1" dirty="0">
                <a:solidFill>
                  <a:srgbClr val="1B3B6F"/>
                </a:solidFill>
                <a:latin typeface="Amiri" pitchFamily="2" charset="-78"/>
                <a:ea typeface="Amiri" pitchFamily="2" charset="-78"/>
                <a:cs typeface="Amiri" pitchFamily="2" charset="-78"/>
              </a:rPr>
              <a:t>غَيْرَ أَنَّ</a:t>
            </a:r>
            <a:pPr algn="l" indent="0" marL="0">
              <a:buNone/>
            </a:pPr>
            <a:r>
              <a:rPr lang="en-US" sz="1150" b="1" dirty="0">
                <a:solidFill>
                  <a:srgbClr val="1B3B6F"/>
                </a:solidFill>
                <a:latin typeface="Calibri" pitchFamily="34" charset="0"/>
                <a:cs typeface="Amiri" pitchFamily="2" charset="-78"/>
              </a:rPr>
              <a:t>), not a bare </a:t>
            </a:r>
            <a:pPr algn="l" indent="0" marL="0">
              <a:buNone/>
            </a:pPr>
            <a:r>
              <a:rPr lang="ar-SA" altLang="en-US" sz="1500" b="1" dirty="0">
                <a:solidFill>
                  <a:srgbClr val="1B3B6F"/>
                </a:solidFill>
                <a:latin typeface="Amiri" pitchFamily="2" charset="-78"/>
                <a:ea typeface="Amiri" pitchFamily="2" charset="-78"/>
                <a:cs typeface="Amiri" pitchFamily="2" charset="-78"/>
              </a:rPr>
              <a:t>وَ</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وَبِنَاءً عَلَى مَا سَبَقَ، يَتَطَلَّبُ التَّقَدُّمُ أَنْ تُوَجِّهُ الحُكُومَاتُ اسْتِثْمَارَاتِهَا.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وَبِنَاءً عَلَى مَا سَبَقَ، يَتَطَلَّبُ التَّقَدُّمُ أَنْ تُوَجِّهَ الحُكُومَاتُ اسْتِثْمَارَاتِهَا.</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the verb is subjunctive: </a:t>
            </a:r>
            <a:pPr algn="l" indent="0" marL="0">
              <a:buNone/>
            </a:pPr>
            <a:r>
              <a:rPr lang="ar-SA" altLang="en-US" sz="1500" b="1" dirty="0">
                <a:solidFill>
                  <a:srgbClr val="1B3B6F"/>
                </a:solidFill>
                <a:latin typeface="Amiri" pitchFamily="2" charset="-78"/>
                <a:ea typeface="Amiri" pitchFamily="2" charset="-78"/>
                <a:cs typeface="Amiri" pitchFamily="2" charset="-78"/>
              </a:rPr>
              <a:t>تُوَجِّهَ</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Listening: a teacher on essay architecture</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teacher say an excellent essay is?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integrated structure, not a list of opinions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list of opinions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single paragraph</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comes after the thesis?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conclusion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Evidence, cited with statistics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counter-argument handled?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Accepted fully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Conceded with </a:t>
            </a:r>
            <a:pPr algn="l" indent="0" marL="0">
              <a:buNone/>
            </a:pPr>
            <a:r>
              <a:rPr lang="ar-SA" altLang="en-US" sz="1650" dirty="0">
                <a:solidFill>
                  <a:srgbClr val="1F2A37"/>
                </a:solidFill>
                <a:latin typeface="Amiri" pitchFamily="2" charset="-78"/>
                <a:ea typeface="Amiri" pitchFamily="2" charset="-78"/>
                <a:cs typeface="Amiri" pitchFamily="2" charset="-78"/>
              </a:rPr>
              <a:t>صَحِيحٌ أَنَّ</a:t>
            </a:r>
            <a:pPr algn="l" indent="0" marL="0">
              <a:buNone/>
            </a:pPr>
            <a:r>
              <a:rPr lang="en-US" sz="1250" dirty="0">
                <a:solidFill>
                  <a:srgbClr val="1F2A37"/>
                </a:solidFill>
                <a:latin typeface="Calibri" pitchFamily="34" charset="0"/>
                <a:cs typeface="Amiri" pitchFamily="2" charset="-78"/>
              </a:rPr>
              <a:t> then refuted with </a:t>
            </a:r>
            <a:pPr algn="l" indent="0" marL="0">
              <a:buNone/>
            </a:pPr>
            <a:r>
              <a:rPr lang="ar-SA" altLang="en-US" sz="1650" dirty="0">
                <a:solidFill>
                  <a:srgbClr val="1F2A37"/>
                </a:solidFill>
                <a:latin typeface="Amiri" pitchFamily="2" charset="-78"/>
                <a:ea typeface="Amiri" pitchFamily="2" charset="-78"/>
                <a:cs typeface="Amiri" pitchFamily="2" charset="-78"/>
              </a:rPr>
              <a:t>غَيْرَ أَنَّ</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cost conceded then answered?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cannot be denied it is costly, nonetheless the return outweighs it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cost is ignored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cost ends the argument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essay close?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new argument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t>
            </a:r>
            <a:pPr algn="l" indent="0" marL="0">
              <a:buNone/>
            </a:pPr>
            <a:r>
              <a:rPr lang="ar-SA" altLang="en-US" sz="1650" dirty="0">
                <a:solidFill>
                  <a:srgbClr val="1F2A37"/>
                </a:solidFill>
                <a:latin typeface="Amiri" pitchFamily="2" charset="-78"/>
                <a:ea typeface="Amiri" pitchFamily="2" charset="-78"/>
                <a:cs typeface="Amiri" pitchFamily="2" charset="-78"/>
              </a:rPr>
              <a:t>وَبِنَاءً عَلَى مَا سَبَقَ</a:t>
            </a:r>
            <a:pPr algn="l" indent="0" marL="0">
              <a:buNone/>
            </a:pPr>
            <a:r>
              <a:rPr lang="en-US" sz="1250" dirty="0">
                <a:solidFill>
                  <a:srgbClr val="1F2A37"/>
                </a:solidFill>
                <a:latin typeface="Calibri" pitchFamily="34" charset="0"/>
                <a:cs typeface="Amiri" pitchFamily="2" charset="-78"/>
              </a:rPr>
              <a:t> + a subjunctive proposal</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question</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buNone/>
            </a:pPr>
            <a:r>
              <a:rPr lang="en-US" sz="1250" dirty="0">
                <a:solidFill>
                  <a:srgbClr val="1E6B52"/>
                </a:solidFill>
                <a:latin typeface="Calibri" pitchFamily="34" charset="0"/>
                <a:cs typeface="Amiri" pitchFamily="2" charset="-78"/>
              </a:rPr>
              <a:t>Listen for: ṣaḥīḥun anna · ghayra anna · maʿa dhālika · wa-bināʾan ʿalā mā sabaqa.</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يَقُولُ المُعَلِّمُ: المَقَالُ الحِجَاجِيُّ المُمْتَازُ لَيْسَ قَائِمَةَ آرَاءٍ، بَلْ بِنْيَةٌ مُتَكَامِلَةٌ.</a:t>
            </a:r>
            <a:endParaRPr lang="ar-SA" sz="19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teacher says: an excellent argumentative essay is not a list of opinions but an integrated structure.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ea typeface="Amiri" pitchFamily="2" charset="-78"/>
                <a:cs typeface="Amiri" pitchFamily="2" charset="-78"/>
              </a:rPr>
              <a:t>تَبْدَأُ بِالتَّمْهِيدِ وَطَرْحِ الأُطْرُوحَةِ، ثُمَّ تُقَدِّمُ الأَدِلَّةَ بِالاسْتِشْهَادِ وَالإِحْصَاءَاتِ.</a:t>
            </a:r>
            <a:endParaRPr lang="ar-SA" sz="19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 begin with the introduction and the thesis, then present the evidence with citations and statistics.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بَعْدَ ذٰلِكَ يَأْتِي نَقِيضُ الحُجَّةِ: صَحِيحٌ أَنَّ لِلطَّرَفِ الآخَرِ وِجْهَةَ نَظَرٍ، غَيْرَ أَنَّ الوَاقِعَ يُثْبِتُ عَكْسَ ذٰلِكَ.</a:t>
            </a:r>
            <a:endParaRPr lang="ar-SA" sz="16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that comes the counter-argument: it is true that the other side has a point of view; however, reality proves the opposite.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 يُمْكِنُ إِنْكَارُ أَنَّ التَّطْوِيرَ مُكْلِفٌ، مَعَ ذٰلِكَ يَفُوقُ العَائِدُ التَّكْلِفَةَ.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cannot be denied that development is costly; nonetheless, the return outweighs the cost.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وَتُخْتَمُ بِخَاتِمَةٍ: وَبِنَاءً عَلَى مَا سَبَقَ، يَتَطَلَّبُ التَّقَدُّمُ أَنْ تُوَجِّهَ الحُكُومَاتُ اسْتِثْمَارَاتِهَا نَحْوَ الإِنْسَانِ. مَنْ يُتْقِنُ هٰذِهِ البِنْيَةَ يَكْتُبُ فِي أَيِّ مَوْضُوعٍ حِجَاجِيٍّ.</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It closes with a conclusion: based on the above, progress requires governments to direct their investments towards people. Whoever masters this structure can write on any argumentative topic.</a:t>
            </a:r>
            <a:endParaRPr lang="en-US" sz="12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teacher say an excellent essay is?</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An integrated structure, not a list of opinions</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list of opinions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single paragraph</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ea typeface="Amiri" pitchFamily="2" charset="-78"/>
                <a:cs typeface="Amiri" pitchFamily="2" charset="-78"/>
              </a:rPr>
              <a:t>المَقَالُ الحِجَاجِيُّ المُمْتَازُ لَيْسَ قَائِمَةَ آرَاءٍ، بَلْ بِنْيَةٌ مُتَكَامِلَةٌ.</a:t>
            </a:r>
            <a:endParaRPr lang="ar-SA" sz="120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comes after the thesis?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conclusion</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Evidence, cited with statistics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ثُمَّ تُقَدِّمُ الأَدِلَّةَ بِالاسْتِشْهَادِ وَالإِحْصَاءَاتِ.</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counter-argument handled?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Accepted fully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Conceded with </a:t>
            </a:r>
            <a:pPr algn="l" indent="0" marL="0">
              <a:buNone/>
            </a:pPr>
            <a:r>
              <a:rPr lang="ar-SA" altLang="en-US" sz="1500" b="1" dirty="0">
                <a:solidFill>
                  <a:srgbClr val="1F2A37"/>
                </a:solidFill>
                <a:latin typeface="Amiri" pitchFamily="2" charset="-78"/>
                <a:ea typeface="Amiri" pitchFamily="2" charset="-78"/>
                <a:cs typeface="Amiri" pitchFamily="2" charset="-78"/>
              </a:rPr>
              <a:t>صَحِيحٌ أَنَّ</a:t>
            </a:r>
            <a:pPr algn="l" indent="0" marL="0">
              <a:buNone/>
            </a:pPr>
            <a:r>
              <a:rPr lang="en-US" sz="1150" b="1" dirty="0">
                <a:solidFill>
                  <a:srgbClr val="1F2A37"/>
                </a:solidFill>
                <a:latin typeface="Calibri" pitchFamily="34" charset="0"/>
                <a:cs typeface="Amiri" pitchFamily="2" charset="-78"/>
              </a:rPr>
              <a:t> then refuted with </a:t>
            </a:r>
            <a:pPr algn="l" indent="0" marL="0">
              <a:buNone/>
            </a:pPr>
            <a:r>
              <a:rPr lang="ar-SA" altLang="en-US" sz="1500" b="1" dirty="0">
                <a:solidFill>
                  <a:srgbClr val="1F2A37"/>
                </a:solidFill>
                <a:latin typeface="Amiri" pitchFamily="2" charset="-78"/>
                <a:ea typeface="Amiri" pitchFamily="2" charset="-78"/>
                <a:cs typeface="Amiri" pitchFamily="2" charset="-78"/>
              </a:rPr>
              <a:t>غَيْرَ أَنَّ</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صَحِيحٌ أَنَّ … غَيْرَ أَنَّ الوَاقِعَ يُثْبِتُ عَكْسَ ذٰلِكَ.</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cost conceded then answered?</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cannot be denied it is costly, nonetheless the return outweighs it</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cost is ignored</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cost ends the argument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لَا يُمْكِنُ إِنْكَارُ أَنَّ التَّطْوِيرَ مُكْلِفٌ، مَعَ ذٰلِكَ يَفُوقُ العَائِدُ التَّكْلِفَةَ.</a:t>
            </a:r>
            <a:endParaRPr lang="ar-SA" sz="11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essay close?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new argument</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With </a:t>
            </a:r>
            <a:pPr algn="l" indent="0" marL="0">
              <a:buNone/>
            </a:pPr>
            <a:r>
              <a:rPr lang="ar-SA" altLang="en-US" sz="1500" b="1" dirty="0">
                <a:solidFill>
                  <a:srgbClr val="1F2A37"/>
                </a:solidFill>
                <a:latin typeface="Amiri" pitchFamily="2" charset="-78"/>
                <a:ea typeface="Amiri" pitchFamily="2" charset="-78"/>
                <a:cs typeface="Amiri" pitchFamily="2" charset="-78"/>
              </a:rPr>
              <a:t>وَبِنَاءً عَلَى مَا سَبَقَ</a:t>
            </a:r>
            <a:pPr algn="l" indent="0" marL="0">
              <a:buNone/>
            </a:pPr>
            <a:r>
              <a:rPr lang="en-US" sz="1150" b="1" dirty="0">
                <a:solidFill>
                  <a:srgbClr val="1F2A37"/>
                </a:solidFill>
                <a:latin typeface="Calibri" pitchFamily="34" charset="0"/>
                <a:cs typeface="Amiri" pitchFamily="2" charset="-78"/>
              </a:rPr>
              <a:t> + a subjunctive proposal</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question</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100" dirty="0">
                <a:solidFill>
                  <a:srgbClr val="8A6D1E"/>
                </a:solidFill>
                <a:latin typeface="Amiri" pitchFamily="2" charset="-78"/>
                <a:ea typeface="Amiri" pitchFamily="2" charset="-78"/>
                <a:cs typeface="Amiri" pitchFamily="2" charset="-78"/>
              </a:rPr>
              <a:t>وَبِنَاءً عَلَى مَا سَبَقَ، يَتَطَلَّبُ التَّقَدُّمُ أَنْ تُوَجِّهَ الحُكُومَاتُ اسْتِثْمَارَاتِهَا.</a:t>
            </a:r>
            <a:endParaRPr lang="ar-SA" sz="110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buNone/>
            </a:pPr>
            <a:r>
              <a:rPr lang="en-US" sz="1250" dirty="0">
                <a:solidFill>
                  <a:srgbClr val="1E6B52"/>
                </a:solidFill>
                <a:latin typeface="Calibri" pitchFamily="34" charset="0"/>
                <a:cs typeface="Amiri" pitchFamily="2" charset="-78"/>
              </a:rPr>
              <a:t>Listen for: ṣaḥīḥun anna · ghayra anna · maʿa dhālika · wa-bināʾan ʿalā mā sabaqa.</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Speaking: walk through your essay plan</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أُطْرُوحَتُكَ وَدَلِيلُكَ؟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نَقِيضُ الحُجَّةِ، وَكَيْفَ تَرُدُّ عَلَيْهِ؟</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تَخْتِمُ بِرَابِطٍ خِتَامِيٍّ وَفِعْلٍ مَنْصُوبٍ؟</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D5FBF"/>
                </a:solidFill>
                <a:latin typeface="Amiri" pitchFamily="2" charset="-78"/>
                <a:ea typeface="Amiri" pitchFamily="2" charset="-78"/>
                <a:cs typeface="Amiri" pitchFamily="2" charset="-78"/>
              </a:rPr>
              <a:t>يُشَارُ إِلَى أَنَّ ___ ، وَأَكَّدَ البَاحِثُونَ أَنَّ ___ .</a:t>
            </a:r>
            <a:endParaRPr lang="ar-SA" sz="13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صَحِيحٌ أَنَّ ___ ، غَيْرَ أَنَّ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ea typeface="Amiri" pitchFamily="2" charset="-78"/>
                <a:cs typeface="Amiri" pitchFamily="2" charset="-78"/>
              </a:rPr>
              <a:t>وَبِنَاءً عَلَى مَا سَبَقَ، يَتَطَلَّبُ التَّقَدُّمُ أَنْ ___ .</a:t>
            </a:r>
            <a:endParaRPr lang="ar-SA" sz="13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نَقِيضُ الحُجَّةِ؟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the counter-argument?</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صَحِيحٌ أَنَّ التَّطْوِيرَ يَسْتَلْزِمُ مَوَارِدَ ضَخْمَةً.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It is true that development requires huge resources.</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3–4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thesis, one piece of evidence, and one concession-refutation pair.</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a thesis, one piece of evidence and one concession–refutation pair.</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120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Type 2 counterfactual and a conclusion connector; reach 120 words.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Type 2 counterfactual and a conclusion connector.</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120–130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Reach 130 words with the full architecture and a subjunctive conclusion.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Stretch: the full architecture and a subjunctive conclusion.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يُمْكِنُ إِنْكَارُ أَنَّ ______ ، مَعَ ذٰلِكَ ______ .</a:t>
            </a:r>
            <a:endParaRPr lang="ar-SA" sz="16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cannot be denied that …; nonetheless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بِالرَّغْمِ مِنْ ______ ، فَإِنَّ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Despite …,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وُجِّهَتِ ______ مُبَكِّرًا، لَكَانَ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Had … been directed earlier,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وَبِنَاءً عَلَى مَا سَبَقَ، يَتَطَلَّبُ التَّقَدُّمُ أَنْ ______ .</a:t>
            </a:r>
            <a:endParaRPr lang="ar-SA" sz="15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P4 · Based on the above, progress requires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يُشَارُ إِلَى أَنَّ ______ مِنْ أَكْثَرِ القَضَايَا إِلْحَاحًا.</a:t>
            </a:r>
            <a:endParaRPr lang="ar-SA" sz="155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P1 · It is noted that … is one of the most pressing issues.</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أَكَّدَ البَاحِثُونَ أَنَّ ______ يُفْضِي إِلَى ______ .</a:t>
            </a:r>
            <a:endParaRPr lang="ar-SA" sz="165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P2 · Researchers confirmed that … leads to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صَحِيحٌ أَنَّ ______ يَسْتَلْزِمُ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P3 · It is true that … requires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غَيْرَ أَنَّ العَائِدَ يَفُوقُ التَّكْلِفَةَ بِأَشْوَاطٍ.</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P3 · … however, the return outweighs the cost.</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B3B6F"/>
                </a:solidFill>
                <a:latin typeface="Amiri" pitchFamily="2" charset="-78"/>
                <a:ea typeface="Amiri" pitchFamily="2" charset="-78"/>
                <a:cs typeface="Amiri" pitchFamily="2" charset="-78"/>
              </a:rPr>
              <a:t>التَّعْلِيمَ  ·  الاسْتِثْمَارَ فِي التَّعْلِيمِ  ·  نُمُوٍّ اقْتِصَادِيٍّ مُسْتَدَامٍ  ·  تَطْوِيرَ المَنْظُومَةِ  ·  مَوَارِدَ ضَخْمَةً  ·  بَعْضَ الإِصْلَاحَاتِ تَعَثَّرَتْ  ·  تَبْقَى الأَوْلَوِيَّةُ وَاضِحَةً  ·  التَّكْلِفَةِ  ·  المِيزَانِيَّاتُ  ·  التَّقَدُّمُ أَسْرَعَ  ·  تُوَجِّهَ الحُكُومَاتُ اسْتِثْمَارَاتِهَا  ·  تَقْلِيصِ التَّفَاوُتِ</a:t>
            </a:r>
            <a:endParaRPr lang="ar-SA" sz="10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Write a 120–130-word argumentative essay on a social issue from P5-L01 to L06. Move thesis → evidence → concession (ṣaḥīḥun anna) → refutation (ghayra anna) → conclusion (wa-bināʾan ʿalā mā sabaqa + a verb in -a), giving each paragraph its structural role.</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thesis (yushāru ilā anna) and cited evidence (akkada … anna).</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genuine concession (ṣaḥīḥun anna) answered by a refutation (ghayra anna).</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Type 2 counterfactual within the analysis.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conclusion (wa-bināʾan ʿalā mā sabaqa) + a verb in -a; 120–130 words.</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 يُمَثِّلُ الرَّكِيزَةَ الأَسَاسِيَّةَ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since it represents the fundamental pillar</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وَإِلَى تَقْلِيصِ التَّفَاوُتِ الاجْتِمَاعِيِّ</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to reducing social inequality</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بِأَشْوَاطٍ</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by far</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أَسْرَعَ وَأَعْمَقَ</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faster and deeper</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بِفُرَصٍ مُتَكَافِئَةٍ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 equal opportunities</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050" dirty="0">
                <a:solidFill>
                  <a:srgbClr val="1F2A37"/>
                </a:solidFill>
                <a:latin typeface="Amiri" pitchFamily="2" charset="-78"/>
                <a:ea typeface="Amiri" pitchFamily="2" charset="-78"/>
                <a:cs typeface="Amiri" pitchFamily="2" charset="-78"/>
              </a:rPr>
              <a:t>يُشَارُ إِلَى أَنَّ التَّعْلِيمَ مِنْ أَكْثَرِ القَضَايَا إِلْحَاحًا فِي العَالَمِ العَرَبِيِّ المُعَاصِرِ، إِذْ يُمَثِّلُ الرَّكِيزَةَ الأَسَاسِيَّةَ لِأَيِّ مُجْتَمَعٍ عَادِلٍ. أَكَّدَ البَاحِثُونَ أَنَّ الاسْتِثْمَارَ فِي التَّعْلِيمِ يُفْضِي إِلَى نُمُوٍّ اقْتِصَادِيٍّ مُسْتَدَامٍ وَإِلَى تَقْلِيصِ التَّفَاوُتِ الاجْتِمَاعِيِّ. صَحِيحٌ أَنَّ تَطْوِيرَ المَنْظُومَةِ التَّعْلِيمِيَّةِ يَسْتَلْزِمُ مَوَارِدَ ضَخْمَةً، غَيْرَ أَنَّ العَائِدَ الاجْتِمَاعِيَّ وَالاقْتِصَادِيَّ يَفُوقُ التَّكْلِفَةَ بِأَشْوَاطٍ. لَا يُمْكِنُ إِنْكَارُ أَنَّ بَعْضَ الإِصْلَاحَاتِ تَعَثَّرَتْ، مَعَ ذٰلِكَ تَبْقَى الأَوْلَوِيَّةُ وَاضِحَةً. وَلَوْ وُجِّهَتِ المِيزَانِيَّاتُ نَحْوَ التَّعْلِيمِ مُبَكِّرًا، لَكَانَ التَّقَدُّمُ أَسْرَعَ وَأَعْمَقَ. وَبِنَاءً عَلَى مَا سَبَقَ، يَتَطَلَّبُ التَّقَدُّمُ الحَقِيقِيُّ أَنْ تُوَجِّهَ الحُكُومَاتُ اسْتِثْمَارَاتِهَا نَحْوَ الإِنْسَانِ لِكَيْ يَنْعَمَ الجَمِيعُ بِفُرَصٍ مُتَكَافِئَةٍ.</a:t>
            </a:r>
            <a:endParaRPr lang="ar-SA" sz="20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It is noted that education is one of the most pressing issues in the Arab world, since it is the pillar of any just society. Researchers have confirmed that investing in education leads to sustainable growth and reduces social inequality. It is true that developing the system requires huge resources; however, the return far outweighs the cost. Undeniably, some reforms have stumbled; nonetheless, the priority remains clear. Had budgets been directed towards education earlier, progress would have been faster and deeper. Based on the above, real progress requires governments to invest in people so that everyone enjoys equal opportunities.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yushāru ilā anna (thesis)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akkada … anna (evidence)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ṣaḥīḥun anna … ghayra anna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wa-bināʾan … an tuwajjiha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essay has 4 jobs in order: thesis, evidence, balance, conclusion.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concession is answered by ghayra anna or maʿa dhālika.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anna my verb ends in -u; after an it ends in -a.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a Type 2 (law … la-) inside the analysis.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6 different connectors and 120–130 words.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concedes the counter-argument?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صَحِيحٌ أَنَّ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يُشَارُ إِلَى أَنَّ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وَبِنَاءً عَلَى مَا سَبَقَ</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refutes it?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غَيْرَ أَنَّ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opens the conclusion?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وَبِنَاءً عَلَى مَا سَبَقَ</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صَحِيحٌ أَنَّ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بِالرَّغْمِ مِنْ</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concedes the counter-argument?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صَحِيحٌ أَنَّ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يُشَارُ إِلَى أَنَّ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وَبِنَاءً عَلَى مَا سَبَقَ</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concedes the counter-argument.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refutes it?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لِأَنَّ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غَيْرَ أَنَّ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لِكَيْ</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غَيْرَ أَنَّ</a:t>
            </a:r>
            <a:pPr algn="l" indent="0" marL="0">
              <a:buNone/>
            </a:pPr>
            <a:r>
              <a:rPr lang="en-US" sz="1050" i="1" dirty="0">
                <a:solidFill>
                  <a:srgbClr val="8A6D1E"/>
                </a:solidFill>
                <a:latin typeface="Calibri" pitchFamily="34" charset="0"/>
                <a:cs typeface="Amiri" pitchFamily="2" charset="-78"/>
              </a:rPr>
              <a:t> refutes the concession.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opens the conclusion?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وَبِنَاءً عَلَى مَا سَبَقَ</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صَحِيحٌ أَنَّ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بِالرَّغْمِ مِنْ</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وَبِنَاءً عَلَى مَا سَبَقَ</a:t>
            </a:r>
            <a:pPr algn="l" indent="0" marL="0">
              <a:buNone/>
            </a:pPr>
            <a:r>
              <a:rPr lang="en-US" sz="1050" i="1" dirty="0">
                <a:solidFill>
                  <a:srgbClr val="8A6D1E"/>
                </a:solidFill>
                <a:latin typeface="Calibri" pitchFamily="34" charset="0"/>
                <a:cs typeface="Amiri" pitchFamily="2" charset="-78"/>
              </a:rPr>
              <a:t> opens the conclusion.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Reading: an annotated model essay (extract)</a:t>
            </a:r>
            <a:endParaRPr lang="en-US" sz="21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يُشَارُ إِلَى أَنَّ التَّعْلِيمَ مِنْ أَكْثَرِ القَضَايَا إِلْحَاحًا فِي العَالَمِ العَرَبِيِّ المُعَاصِرِ. أَكَّدَ البَاحِثُونَ أَنَّ الاسْتِثْمَارَ فِي التَّعْلِيمِ يُفْضِي إِلَى نُمُوٍّ اقْتِصَادِيٍّ مُسْتَدَامٍ. صَحِيحٌ أَنَّ تَطْوِيرَ المَنْظُومَةِ التَّعْلِيمِيَّةِ يَسْتَلْزِمُ مَوَارِدَ ضَخْمَةً، غَيْرَ أَنَّ العَائِدَ الاجْتِمَاعِيَّ وَالاقْتِصَادِيَّ يَفُوقُ التَّكْلِفَةَ بِأَشْوَاطٍ. لَا يُمْكِنُ إِنْكَارُ أَنَّ بَعْضَ الإِصْلَاحَاتِ تَعَثَّرَتْ، مَعَ ذٰلِكَ تَبْقَى الأَوْلَوِيَّةُ وَاضِحَةً. وَلَوْ وُجِّهَتِ المِيزَانِيَّاتُ نَحْوَ التَّعْلِيمِ مُبَكِّرًا، لَكَانَ التَّقَدُّمُ أَسْرَعَ. وَبِنَاءً عَلَى مَا سَبَقَ، يَتَطَلَّبُ التَّقَدُّمُ الحَقِيقِيُّ أَنْ تُوَجِّهَ الحُكُومَاتُ اسْتِثْمَارَاتِهَا نَحْوَ الإِنْسَانِ.</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إِلْحَاحًا</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urgency (most pressing)</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المُعَاصِرِ</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contemporary</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مُسْتَدَامٍ</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sustainable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المَنْظُومَةِ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system</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يَسْتَلْزِمُ</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requires, entails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ضَخْمَةً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huge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العَائِدَ</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return, yield</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بِأَشْوَاطٍ</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by far</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تَعَثَّرَتْ</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stumbled, faltered</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المِيزَانِيَّاتُ</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budgets</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thesis of the essay?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Education is unimportant</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Education is one of the most pressing issues in the Arab world</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Education is only for the rich</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supports it?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Education has no effect</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Growth harms education</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Investing in education leads to sustainable economic growth</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concede (</a:t>
            </a:r>
            <a:pPr algn="l" indent="0" marL="0">
              <a:buNone/>
            </a:pPr>
            <a:r>
              <a:rPr lang="ar-SA" altLang="en-US" sz="1650" b="1" dirty="0">
                <a:solidFill>
                  <a:srgbClr val="1B3B6F"/>
                </a:solidFill>
                <a:latin typeface="Amiri" pitchFamily="2" charset="-78"/>
                <a:ea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developing the system requires huge resources</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education is worthless</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growth is impossible</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writer refute it (</a:t>
            </a:r>
            <a:pPr algn="l" indent="0" marL="0">
              <a:buNone/>
            </a:pPr>
            <a:r>
              <a:rPr lang="ar-SA" altLang="en-US" sz="1650" b="1" dirty="0">
                <a:solidFill>
                  <a:srgbClr val="1B3B6F"/>
                </a:solidFill>
                <a:latin typeface="Amiri" pitchFamily="2" charset="-78"/>
                <a:ea typeface="Amiri" pitchFamily="2" charset="-78"/>
                <a:cs typeface="Amiri" pitchFamily="2" charset="-78"/>
              </a:rPr>
              <a:t>غَيْرَ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cost cannot be met</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social and economic return far outweighs the cost</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no return</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essay conclude (</a:t>
            </a:r>
            <a:pPr algn="l" indent="0" marL="0">
              <a:buNone/>
            </a:pPr>
            <a:r>
              <a:rPr lang="ar-SA" altLang="en-US" sz="1650" b="1" dirty="0">
                <a:solidFill>
                  <a:srgbClr val="1B3B6F"/>
                </a:solidFill>
                <a:latin typeface="Amiri" pitchFamily="2" charset="-78"/>
                <a:ea typeface="Amiri" pitchFamily="2" charset="-78"/>
                <a:cs typeface="Amiri" pitchFamily="2" charset="-78"/>
              </a:rPr>
              <a:t>وَبِنَاءً عَلَى مَا سَبَقَ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Governments must direct their investments toward people</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should change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Investment should stop</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thesis of the essay?</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Education is unimportant</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Education is one of the most pressing issues in the Arab world</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Education is only for the rich</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يُشَارُ إِلَى أَنَّ التَّعْلِيمَ مِنْ أَكْثَرِ القَضَايَا إِلْحَاحًا.</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supports it?</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Education has no effect</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Growth harms education</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Investing in education leads to sustainable economic growth</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000" dirty="0">
                <a:solidFill>
                  <a:srgbClr val="8A6D1E"/>
                </a:solidFill>
                <a:latin typeface="Amiri" pitchFamily="2" charset="-78"/>
                <a:ea typeface="Amiri" pitchFamily="2" charset="-78"/>
                <a:cs typeface="Amiri" pitchFamily="2" charset="-78"/>
              </a:rPr>
              <a:t>أَكَّدَ البَاحِثُونَ أَنَّ الاسْتِثْمَارَ فِي التَّعْلِيمِ يُفْضِي إِلَى نُمُوٍّ اقْتِصَادِيٍّ مُسْتَدَامٍ.</a:t>
            </a:r>
            <a:endParaRPr lang="ar-SA" sz="100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concede (</a:t>
            </a:r>
            <a:pPr algn="l" indent="0" marL="0">
              <a:buNone/>
            </a:pPr>
            <a:r>
              <a:rPr lang="ar-SA" altLang="en-US" sz="1650" b="1" dirty="0">
                <a:solidFill>
                  <a:srgbClr val="1B3B6F"/>
                </a:solidFill>
                <a:latin typeface="Amiri" pitchFamily="2" charset="-78"/>
                <a:ea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That developing the system requires huge resources</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education is worthless</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growth is impossible</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صَحِيحٌ أَنَّ تَطْوِيرَ المَنْظُومَةِ التَّعْلِيمِيَّةِ يَسْتَلْزِمُ مَوَارِدَ ضَخْمَةً.</a:t>
            </a:r>
            <a:endParaRPr lang="ar-SA" sz="130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writer refute it (</a:t>
            </a:r>
            <a:pPr algn="l" indent="0" marL="0">
              <a:buNone/>
            </a:pPr>
            <a:r>
              <a:rPr lang="ar-SA" altLang="en-US" sz="1650" b="1" dirty="0">
                <a:solidFill>
                  <a:srgbClr val="1B3B6F"/>
                </a:solidFill>
                <a:latin typeface="Amiri" pitchFamily="2" charset="-78"/>
                <a:ea typeface="Amiri" pitchFamily="2" charset="-78"/>
                <a:cs typeface="Amiri" pitchFamily="2" charset="-78"/>
              </a:rPr>
              <a:t>غَيْرَ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cost cannot be met</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social and economic return far outweighs the cost</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is no return</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ea typeface="Amiri" pitchFamily="2" charset="-78"/>
                <a:cs typeface="Amiri" pitchFamily="2" charset="-78"/>
              </a:rPr>
              <a:t>غَيْرَ أَنَّ العَائِدَ الاجْتِمَاعِيَّ وَالاقْتِصَادِيَّ يَفُوقُ التَّكْلِفَةَ بِأَشْوَاطٍ.</a:t>
            </a:r>
            <a:endParaRPr lang="ar-SA" sz="120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essay conclude (</a:t>
            </a:r>
            <a:pPr algn="l" indent="0" marL="0">
              <a:buNone/>
            </a:pPr>
            <a:r>
              <a:rPr lang="ar-SA" altLang="en-US" sz="1650" b="1" dirty="0">
                <a:solidFill>
                  <a:srgbClr val="1B3B6F"/>
                </a:solidFill>
                <a:latin typeface="Amiri" pitchFamily="2" charset="-78"/>
                <a:ea typeface="Amiri" pitchFamily="2" charset="-78"/>
                <a:cs typeface="Amiri" pitchFamily="2" charset="-78"/>
              </a:rPr>
              <a:t>وَبِنَاءً عَلَى مَا سَبَقَ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Governments must direct their investments toward people</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should change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Investment should stop</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ea typeface="Amiri" pitchFamily="2" charset="-78"/>
                <a:cs typeface="Amiri" pitchFamily="2" charset="-78"/>
              </a:rPr>
              <a:t>يَتَطَلَّبُ التَّقَدُّمُ الحَقِيقِيُّ أَنْ تُوَجِّهَ الحُكُومَاتُ اسْتِثْمَارَاتِهَا نَحْوَ الإِنْسَانِ.</a:t>
            </a:r>
            <a:endParaRPr lang="ar-SA" sz="10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Essay Mission — Build the Architecture</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Job: the first paragraph states …</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conclusion</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thesis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concession</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Concession: which structure concedes?</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صَحِيحٌ أَنَّ</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يُشَارُ إِلَى أَنَّ</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Refutation: which connector refutes?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غَيْرَ أَنَّ</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Concession verb: complete — </a:t>
            </a:r>
            <a:pPr algn="l" indent="0" marL="0">
              <a:buNone/>
            </a:pPr>
            <a:r>
              <a:rPr lang="ar-SA" altLang="en-US" sz="1650" b="1" dirty="0">
                <a:solidFill>
                  <a:srgbClr val="1B3B6F"/>
                </a:solidFill>
                <a:latin typeface="Amiri" pitchFamily="2" charset="-78"/>
                <a:ea typeface="Amiri" pitchFamily="2" charset="-78"/>
                <a:cs typeface="Amiri" pitchFamily="2" charset="-78"/>
              </a:rPr>
              <a:t>صَحِيحٌ أَنَّ التَّطْوِيرَ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مَوَارِدَ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يَسْتَلْزِمَ</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لِيَسْتَلْزِمْ</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يَسْتَلْزِمُ</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Conclusion: which opens the final synthesis?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وَبِنَاءً عَلَى مَا سَبَقَ</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صَحِيحٌ أَنَّ</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بِالرَّغْمِ مِنْ</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Conclusion verb: complete — </a:t>
            </a:r>
            <a:pPr algn="l" indent="0" marL="0">
              <a:buNone/>
            </a:pPr>
            <a:r>
              <a:rPr lang="ar-SA" altLang="en-US" sz="1450" b="1" dirty="0">
                <a:solidFill>
                  <a:srgbClr val="1B3B6F"/>
                </a:solidFill>
                <a:latin typeface="Amiri" pitchFamily="2" charset="-78"/>
                <a:ea typeface="Amiri" pitchFamily="2" charset="-78"/>
                <a:cs typeface="Amiri" pitchFamily="2" charset="-78"/>
              </a:rPr>
              <a:t>يَتَطَلَّبُ التَّقَدُّمُ أَنْ</a:t>
            </a:r>
            <a:pPr algn="l" indent="0" marL="0">
              <a:buNone/>
            </a:pPr>
            <a:r>
              <a:rPr lang="en-US" sz="1100" b="1" dirty="0">
                <a:solidFill>
                  <a:srgbClr val="1B3B6F"/>
                </a:solidFill>
                <a:latin typeface="Calibri" pitchFamily="34" charset="0"/>
                <a:cs typeface="Amiri" pitchFamily="2" charset="-78"/>
              </a:rPr>
              <a:t> ___ </a:t>
            </a:r>
            <a:pPr algn="l" indent="0" marL="0">
              <a:buNone/>
            </a:pPr>
            <a:r>
              <a:rPr lang="ar-SA" altLang="en-US" sz="1450" b="1" dirty="0">
                <a:solidFill>
                  <a:srgbClr val="1B3B6F"/>
                </a:solidFill>
                <a:latin typeface="Amiri" pitchFamily="2" charset="-78"/>
                <a:ea typeface="Amiri" pitchFamily="2" charset="-78"/>
                <a:cs typeface="Amiri" pitchFamily="2" charset="-78"/>
              </a:rPr>
              <a:t>الحُكُومَاتُ اسْتِثْمَارَاتِهَا</a:t>
            </a:r>
            <a:pPr algn="l" indent="0" marL="0">
              <a:buNone/>
            </a:pPr>
            <a:r>
              <a:rPr lang="en-US" sz="1100" b="1" dirty="0">
                <a:solidFill>
                  <a:srgbClr val="1B3B6F"/>
                </a:solidFill>
                <a:latin typeface="Calibri" pitchFamily="34" charset="0"/>
                <a:cs typeface="Amiri" pitchFamily="2" charset="-78"/>
              </a:rPr>
              <a:t>.</a:t>
            </a:r>
            <a:endParaRPr lang="en-US" sz="110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تُوَجِّهُ</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تُوَجِّهَ</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تُوَجِّهْ</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Job: the first paragraph states …</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conclusion</a:t>
            </a:r>
            <a:endParaRPr lang="en-US" sz="125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thesis</a:t>
            </a:r>
            <a:endParaRPr lang="en-US" sz="125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concession</a:t>
            </a:r>
            <a:endParaRPr lang="en-US" sz="125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 states the thesis.</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Concession: which structure concedes?</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صَحِيحٌ أَنَّ</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يُشَارُ إِلَى أَنَّ</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لِكَيْ</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concedes the counter-argument.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Refutation: which connector refutes?</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غَيْرَ أَنَّ</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غَيْرَ أَنَّ</a:t>
            </a:r>
            <a:pPr algn="l" indent="0" marL="0">
              <a:buNone/>
            </a:pPr>
            <a:r>
              <a:rPr lang="en-US" sz="1050" i="1" dirty="0">
                <a:solidFill>
                  <a:srgbClr val="8A6D1E"/>
                </a:solidFill>
                <a:latin typeface="Calibri" pitchFamily="34" charset="0"/>
                <a:cs typeface="Amiri" pitchFamily="2" charset="-78"/>
              </a:rPr>
              <a:t> refutes the concession.</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Concession verb: complete — </a:t>
            </a:r>
            <a:pPr algn="l" indent="0" marL="0">
              <a:buNone/>
            </a:pPr>
            <a:r>
              <a:rPr lang="ar-SA" altLang="en-US" sz="1650" b="1" dirty="0">
                <a:solidFill>
                  <a:srgbClr val="1B3B6F"/>
                </a:solidFill>
                <a:latin typeface="Amiri" pitchFamily="2" charset="-78"/>
                <a:ea typeface="Amiri" pitchFamily="2" charset="-78"/>
                <a:cs typeface="Amiri" pitchFamily="2" charset="-78"/>
              </a:rPr>
              <a:t>صَحِيحٌ أَنَّ التَّطْوِيرَ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مَوَارِدَ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يَسْتَلْزِمَ</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لِيَسْتَلْزِمْ</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يَسْتَلْزِمُ</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the verb is indicative: </a:t>
            </a:r>
            <a:pPr algn="l" indent="0" marL="0">
              <a:buNone/>
            </a:pPr>
            <a:r>
              <a:rPr lang="ar-SA" altLang="en-US" sz="1350" dirty="0">
                <a:solidFill>
                  <a:srgbClr val="8A6D1E"/>
                </a:solidFill>
                <a:latin typeface="Amiri" pitchFamily="2" charset="-78"/>
                <a:ea typeface="Amiri" pitchFamily="2" charset="-78"/>
                <a:cs typeface="Amiri" pitchFamily="2" charset="-78"/>
              </a:rPr>
              <a:t>يَسْتَلْزِمُ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Conclusion: which opens the final synthesis?</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وَبِنَاءً عَلَى مَا سَبَقَ</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صَحِيحٌ أَنَّ</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بِالرَّغْمِ مِنْ</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وَبِنَاءً عَلَى مَا سَبَقَ</a:t>
            </a:r>
            <a:pPr algn="l" indent="0" marL="0">
              <a:buNone/>
            </a:pPr>
            <a:r>
              <a:rPr lang="en-US" sz="1050" i="1" dirty="0">
                <a:solidFill>
                  <a:srgbClr val="8A6D1E"/>
                </a:solidFill>
                <a:latin typeface="Calibri" pitchFamily="34" charset="0"/>
                <a:cs typeface="Amiri" pitchFamily="2" charset="-78"/>
              </a:rPr>
              <a:t> opens the conclusion.</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Conclusion verb: complete — </a:t>
            </a:r>
            <a:pPr algn="l" indent="0" marL="0">
              <a:buNone/>
            </a:pPr>
            <a:r>
              <a:rPr lang="ar-SA" altLang="en-US" sz="1450" b="1" dirty="0">
                <a:solidFill>
                  <a:srgbClr val="1B3B6F"/>
                </a:solidFill>
                <a:latin typeface="Amiri" pitchFamily="2" charset="-78"/>
                <a:ea typeface="Amiri" pitchFamily="2" charset="-78"/>
                <a:cs typeface="Amiri" pitchFamily="2" charset="-78"/>
              </a:rPr>
              <a:t>يَتَطَلَّبُ التَّقَدُّمُ أَنْ</a:t>
            </a:r>
            <a:pPr algn="l" indent="0" marL="0">
              <a:buNone/>
            </a:pPr>
            <a:r>
              <a:rPr lang="en-US" sz="1100" b="1" dirty="0">
                <a:solidFill>
                  <a:srgbClr val="1B3B6F"/>
                </a:solidFill>
                <a:latin typeface="Calibri" pitchFamily="34" charset="0"/>
                <a:cs typeface="Amiri" pitchFamily="2" charset="-78"/>
              </a:rPr>
              <a:t> ___ </a:t>
            </a:r>
            <a:pPr algn="l" indent="0" marL="0">
              <a:buNone/>
            </a:pPr>
            <a:r>
              <a:rPr lang="ar-SA" altLang="en-US" sz="1450" b="1" dirty="0">
                <a:solidFill>
                  <a:srgbClr val="1B3B6F"/>
                </a:solidFill>
                <a:latin typeface="Amiri" pitchFamily="2" charset="-78"/>
                <a:ea typeface="Amiri" pitchFamily="2" charset="-78"/>
                <a:cs typeface="Amiri" pitchFamily="2" charset="-78"/>
              </a:rPr>
              <a:t>الحُكُومَاتُ اسْتِثْمَارَاتِهَا</a:t>
            </a:r>
            <a:pPr algn="l" indent="0" marL="0">
              <a:buNone/>
            </a:pPr>
            <a:r>
              <a:rPr lang="en-US" sz="1100" b="1" dirty="0">
                <a:solidFill>
                  <a:srgbClr val="1B3B6F"/>
                </a:solidFill>
                <a:latin typeface="Calibri" pitchFamily="34" charset="0"/>
                <a:cs typeface="Amiri" pitchFamily="2" charset="-78"/>
              </a:rPr>
              <a:t>.</a:t>
            </a:r>
            <a:endParaRPr lang="en-US" sz="110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تُوَجِّهُ</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تُوَجِّهَ</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تُوَجِّهْ</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ea typeface="Amiri" pitchFamily="2" charset="-78"/>
                <a:cs typeface="Amiri" pitchFamily="2" charset="-78"/>
              </a:rPr>
              <a:t>تُوَجِّهَ</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P5-L07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P5-L08: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P5-L08 · Reading — Social Issues Texts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نَصٌّ جَدَلِيٌّ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argumentative text</a:t>
            </a:r>
            <a:pPr indent="0" marL="0">
              <a:buNone/>
            </a:pPr>
            <a:r>
              <a:rPr lang="ar-SA" sz="1000" i="1" dirty="0">
                <a:solidFill>
                  <a:srgbClr val="5A6472"/>
                </a:solidFill>
                <a:latin typeface="Calibri" pitchFamily="34" charset="0"/>
                <a:ea typeface="Amiri" pitchFamily="2" charset="-78"/>
                <a:cs typeface="Amiri" pitchFamily="2" charset="-78"/>
              </a:rPr>
              <a:t>  pl. نُصُوصٌ جَدَلِيَّةٌ</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التَّحَيُّزُ فِي الطَّرْحِ</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bias in presentation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مَوْثُوقِيَّةُ المَصْدَرِ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source reliability</a:t>
            </a:r>
            <a:pPr indent="0" marL="0">
              <a:buNone/>
            </a:pPr>
            <a:r>
              <a:rPr lang="ar-SA" sz="1000" i="1" dirty="0">
                <a:solidFill>
                  <a:srgbClr val="5A6472"/>
                </a:solidFill>
                <a:latin typeface="Calibri" pitchFamily="34" charset="0"/>
                <a:ea typeface="Amiri" pitchFamily="2" charset="-78"/>
                <a:cs typeface="Amiri" pitchFamily="2" charset="-78"/>
              </a:rPr>
              <a:t>  pl. المَصَادِرُ</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القَرِينَةُ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contextual clue</a:t>
            </a:r>
            <a:pPr indent="0" marL="0">
              <a:buNone/>
            </a:pPr>
            <a:r>
              <a:rPr lang="ar-SA" sz="1000" i="1" dirty="0">
                <a:solidFill>
                  <a:srgbClr val="5A6472"/>
                </a:solidFill>
                <a:latin typeface="Calibri" pitchFamily="34" charset="0"/>
                <a:ea typeface="Amiri" pitchFamily="2" charset="-78"/>
                <a:cs typeface="Amiri" pitchFamily="2" charset="-78"/>
              </a:rPr>
              <a:t>  pl. القَرَائِنُ</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يَسْتَدْعِي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calls for, necessitates</a:t>
            </a:r>
            <a:pPr indent="0" marL="0">
              <a:buNone/>
            </a:pPr>
            <a:r>
              <a:rPr lang="ar-SA" sz="1000" i="1" dirty="0">
                <a:solidFill>
                  <a:srgbClr val="5A6472"/>
                </a:solidFill>
                <a:latin typeface="Calibri" pitchFamily="34" charset="0"/>
                <a:ea typeface="Amiri" pitchFamily="2" charset="-78"/>
                <a:cs typeface="Amiri" pitchFamily="2" charset="-78"/>
              </a:rPr>
              <a:t>  f. تَسْتَدْعِي</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can you tell whether a text is biased?</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أَعْرِفُ أَنَّ النَّصَّ مُتَحَيِّزٌ عِنْدَمَا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thesis, one piece of evidence and one concession–refutation pair on a P5 topic.</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a Type 2 and a conclusion connector (120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120–130-word argumentative essay.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P5-L07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cs typeface="Amiri" pitchFamily="2" charset="-78"/>
              </a:rPr>
              <a:t>P5-L08 · Reading — Social Issues Texts</a:t>
            </a:r>
            <a:endParaRPr lang="en-US" sz="26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قِرَاءَةُ نُصُوصِ القَضَايَا الاجْتِمَاعِيَّةِ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thesis → evidence → concession → refutation → conclusion. Every ṣaḥīḥun anna needs its ghayra anna; anna (fact) + -u, an (aim) + -a; and the conclusion proposes, it never adds a new point.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P5-L07 · Constructing a Balanced Argument — The Art of Arabic Essay Writing</dc:title>
  <dc:subject>PptxGenJS Presentation</dc:subject>
  <dc:creator>Al Madina Online School · Arabic Department</dc:creator>
  <cp:lastModifiedBy>Al Madina Online School · Arabic Department</cp:lastModifiedBy>
  <cp:revision>1</cp:revision>
  <dcterms:created xsi:type="dcterms:W3CDTF">2026-10-11T06:43:28Z</dcterms:created>
  <dcterms:modified xsi:type="dcterms:W3CDTF">2026-10-11T06:43:28Z</dcterms:modified>
</cp:coreProperties>
</file>