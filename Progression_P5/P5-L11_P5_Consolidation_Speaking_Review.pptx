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P5-L11. The website lesson “Consolidation — Speaking Preparation and P5 Complete Review”: vocabulary, grammar rules and quiz, patterns, common mistakes, sorter, listening, reading, speaking prompts and model, writing task and model, differentiation, final check and the lesson mission. Picture match: website visual game “Consolidation — Speaking Preparation and P5 Complete Review”.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P5-L12 assessment (topic conversation on social issues + a role play at a social-justice conference). The website names the most common P5 slip: anna where a trigger needs an (يُطَالِبُ بِأَنَّ ✗).
• Core: correct six P5 errors and write three sentences from memory (website Core). Develop: add a concession–refutation pair and a Type 2. Stretch: answer the concession and Type 2 questions fluently and spontaneously.
• Praise the journey: students now control the concession–refutation pair, eight subjunctive triggers, both conditionals, the past perfect, reported speech, the passive and formal conclusions — the full toolkit for P6 (the IGCSE Bridge).
• Website teaching point 1 is today’s accuracy rule: a TRIGGER takes an + a verb in -a; a REPORTING verb takes anna + a noun. Teaching point 2: never carry the -a into the concession.
• TEACHER-WRITTEN ITEMS: waṣl alif shown without a kasra; لِكَيْ always written with its sukūn; يَصِرُّ → يُصِرُّ throughout; rule formulas, vocabulary notes, pattern tips, writing prompt and checklist in transliteration; sorter headings in transliteration; the an / anna, concession, spine and assessment tables are teacher-built from the website texts and the P5-L12 assessment; the repair table adds two earlier P5 mistakes;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P5-L10. Questions 4–5 retrieve the listening signals of P5-L10 — today students produce them spontaneously.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letter changes everything: an (sukūn) + a verb in -a after a trigger; anna (shadda) + a noun after a reporting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طلاقت, تلفظ and اصلاح are shared — today is a day of اصلاح (correcting our slips). Two traps: Urdu اعتماد = confidence, but Arabic الاعْتِمَادُ = reliance (confidence = الثِّقَةُ); Urdu مشق = practice, but Arabic مَشَقَّةٌ = hardship (practice = تَمْرِينٌ). So: التَّمْرِينُ يَبْنِي الثِّقَةَ.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P5 error zones (website vocabulary (1 of 2)). Hear → Say → See → Use. Transliteration is printed for Core students (cover it for Develop/Stretch).
The P5 error zones — name your slip before you fix it: أَنْ vs أَنَّ · the indicative after صَحِيحٌ أَنَّ · the subjunctive conclusion · لَامُ الجَوَابِ (the la- of the Type 2 result) · past-perfect agreement (كَانَتِ الأَجْيَالُ … نَاضَلَتْ).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P5 error zones (website vocabulary (2 of 2)). Hear → Say → See → Use. Transliteration is printed for Core students (cover it for Develop/Stretch).
The P5 error zones — name your slip before you fix it: أَنْ vs أَنَّ · the indicative after صَحِيحٌ أَنَّ · the subjunctive conclusion · لَامُ الجَوَابِ (the la- of the Type 2 result) · past-perfect agreement (كَانَتِ الأَجْيَالُ … نَاضَلَتْ).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complete P5 spine (website vocabulary (1 of 2)). Hear → Say → See → Use. Transliteration is printed for Core students (cover it for Develop/Stretch).
The complete P5 spine: concession–refutation (L01) · the humanitarian passive (L02) · insist / demand / call (L03) · prohibit / permit (L04) · refuse + conclusion connectors (L05) · the past perfect (L06) · the essay (L07–L09).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complete P5 spine (website vocabulary (2 of 2)). Hear → Say → See → Use. Transliteration is printed for Core students (cover it for Develop/Stretch).
The complete P5 spine: concession–refutation (L01) · the humanitarian passive (L02) · insist / demand / call (L03) · prohibit / permit (L04) · refuse + conclusion connectors (L05) · the past perfect (L06) · the essay (L07–L09).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التِّلْقَائِيَّةُ (spontaneity) — answering without notes; الارْتِجَالُ (improvising) — building the concession–refutation on the spot. The P5-L12 role play is set at مُؤْتَمَرُ العَدَالَةِ الاجْتِمَاعِيَّةِ.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التِّلْقَائِيَّةُ (spontaneity) — answering without notes; الارْتِجَالُ (improvising) — building the concession–refutation on the spot. The P5-L12 role play is set at مُؤْتَمَرُ العَدَالَةِ الاجْتِمَاعِيَّةِ.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“an vs anna”, teaching point 1, the website table and mistake 1; the sorter is built on the same contrast.
Quick test: what comes NEXT? A verb → أَنْ (sukūn) and the verb ends in -a. A noun → أَنَّ (shadda) and the noun ends in -a (it is the “subject” of anna).
Triggers met in P5: يُصِرُّ عَلَى · يُطَالِبُ بِـ · يَدْعُو إِلَى · يَمْنَعُ · يُبِيحُ · يَرْفُضُ · يَتَطَلَّبُ · يَنْبَغِي · مِنَ الضَّرُورِيِّ. Reporting verbs: أَكَّدَ · يُشَارُ إِلَى · يُثْبِتُ · يَرَى.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“Concession → indicative”, teaching point 2 (“ṣaḥīḥun anna keeps the indicative”), mistake 2 and quiz 3–4.
Cards 1–2 use the SAME verb (يَتَطَلَّبُ) in two roles: in card 1 it is the main verb of a fact (-u); in card 2 it is the trigger, and the verb AFTER أَنْ takes -a.
Card 3 (Stretch): غَيْرَ أَنَّهَا — anna + a pronoun when the subject is already known (here: technology). Exactly the model answer to topic question 2 of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website vocabulary group “The complete P5 spine”, with one model sentence per structure from P5-L01 to L09.
Revision game (3 min): teacher calls a lesson number; students say a sentence with that structure on a social issue of their choice.
Row 4 agreement (website quiz 7): كَانَتِ الأَجْيَالُ … نَاضَلَتْ — both verbs feminine for a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three topic-conversation questions and the four role-play tasks of the P5-L12 assessment (website L12 data), matched to the structure each one invites.
Speaking rule: hear the question → choose the structure BEFORE you answer. A law question demands law … la-; a “do you think …?” question invites ṣaḥīḥun anna … ghayra anna; a “what does it require?” task demands yataṭallabu an + -a.
Role-play task 1 also expects evidence and reported speech: أَكَّدَتِ الدِّرَاسَاتُ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“Targeted error correction: أَنْ vs أَنَّ, the indicative after صَحِيحٌ أَنَّ, the subjunctive conclusion, and the Type 2 لَـ result.”
• an vs anna: أَنْ introduces a subjunctive; أَنَّ introduces a reported fact.
• Concession → indicative: The conceded situation is real, so indicative.
• Subjunctive conclusion: Close formally with a subjunctive trigger.
• Type 2 result: The result verb carries a لَـ prefix.
Website common error: Writing أَنَّ where a trigger needs أَنْ, a subjunctive after صَحِيحٌ أَنَّ, or a conclusion without the subjunctive. Match أَنْ to triggers, keep the concession indicative, and close with a fatḥa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(mock conversation), spoken aloud as an exam answer. Think aloud: “Topic 2 is a ‘do you think’ question, so I concede first — ṣaḥīḥun anna + -u — then ghayra anna-hā. I add a demand: bi-AN tuwaffirA. Topic 3 is a law question, so the result MUST start with LA-. And I close formally.”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1–4 are the website reading’s repairs (and mistakes 1–3); rows 5–6 recycle mistakes from P5-L05 and P5-L06. Cover columns 2–3; pairs fix each slip and NAME the zone.
Core: rows 1–3. Develop: all six. Stretch: write two new slips of their own for a partner to repair.
Then each student writes their ONE priority error zone in the chat — collect for L12. (Website reading item 5: غَيْرَ أَنَّ must come AFTER the concession, never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 answer from a concession-refutation pair, a demand and a Type 2 hypothesis.). Website feedback: Each concession-refutation pair, demand and hypothesis is accurate on its own, so any three different combinations work.
Use it as oral rehearsal: one student reads a combination as an exam answer; the partner names each structure and checks every an / 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an (sukūn) and anna (shadda).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an (sukūn) and anna (shadda).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هَلْ تَعْتَقِدُ أَنَّ الفَجْوَةَ الرَّقْمِيَّةَ تُعَمِّقُ عَدَمَ المُسَاوَاةِ؟ الطَّالِبُ: صَحِيحٌ أَنَّ التِّقْنِيَّةَ تُوَفِّرُ فُرَصًا هَائِلَةً، غَيْرَ أَنَّهَا تُعَمِّقُ الفَجْوَةَ بَيْنَ مَنْ يَمْلِكُونَ وَمَنْ لَا يَمْلِكُونَ. المُعَلِّمُ: وَمَا الحَلُّ؟ الطَّالِبُ: يُطَالِبُ الخُبَرَاءُ بِأَنْ تُوَفِّرَ الدُّوَلُ بُنْيَةً تَحْتِيَّةً رَقْمِيَّةً لِلْجَمِيعِ. المُعَلِّمُ: لَوْ كُنْتَ فِي مَوْقِعِ السُّلْطَةِ، مَاذَا كُنْتَ سَتُغَيِّرُ؟ الطَّالِبُ: لَوْ كُنْتُ فِي مَوْقِعِ السُّلْطَةِ، لَاسْتَثْمَرْتُ فِي التَّعْلِيمِ الرَّقْمِيِّ أَوَّلًا. المُعَلِّمُ: وَكَيْفَ تَخْتِمُ؟ الطَّالِبُ: وَبِنَاءً عَلَى مَا سَبَقَ، يَتَطَلَّبُ الأَمْرُ أَنْ تَتَحَرَّكَ الحُكُومَاتُ بِسُرْعَةٍ. المُعَلِّمُ: أَجْوِبَةٌ مُتَوَازِنَةٌ اسْتَعْمَلْتَ فِيهَا التَّسْلِيمَ وَالرَّدَّ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كُنْتَ مَسْؤُولًا؟ (Q — Type 2)
B: لَوْ كُنْتُ مَسْؤُولًا، لَاسْتَثْمَرْتُ فِي التَّعْلِيمِ الرَّقْمِيِّ أَوَّلًا. (Type 2 conditional)
Website prompts and model — the topic-conversation questions. Pairs: examiner / candidate, 30–40 seconds per answer, then swap. The examiner ticks Structure · Reason · Extra. Then a 2-minute role play (P5-L12 tasks, a social-justice conference): introduce the issue with evidence (أَكَّدَتِ الدِّرَاسَاتُ أَنَّ) · concede (صَحِيحٌ أَنَّ) · refute (غَيْرَ أَنَّ) · say what the solution requires (يَتَطَلَّبُ أَنْ). To a girl: تَعْتَقِدِينَ · كُنْتِ مَسْؤُولَةً · سَتُغَيِّرِينَ.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P5 errors and write three sentences from memory. · Develop — Add a concession-refutation pair and a Type 2 conditional. · Stretch — Deliver fluent answers to the concession and Type 2 questions spontaneously.
Website writing task (Stretch): Write eighty to ninety words preparing for the P5 topic conversation. Answer two of the assessment questions, using a concession–refutation (ṣaḥīḥun anna … ghayra anna), a Type 2 conditional and a subjunctive conclusion, with an and anna used correctly.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صَحِيحٌ أَنَّ … لَيْسَتْ … غَيْرَ أَنَّهَا تُعَمِّقُ · يُطَالِبُ … بِأَنْ تُوَفِّرَ (an + -a) · أَكَّدُوا أَنَّ التَّعْلِيمَ (anna + noun) · لَوْ كُنْتُ … لَاسْتَثْمَرْتُ · وَبِنَاءً عَلَى مَا سَبَقَ … أَنْ تَتَحَرَّكَ … لِكَيْ تَضِيقَ.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(P5-L12 · P5 Review and Unit Assessment) will spend class time USING this language, so students prepare it tonight — short, simple, easy to access (school guidance: “Simple, Short, Interesting, Relevant, Easy to access”). The five words prepare students for the P5-L12 assessment (its parts, the topic questions and the role play).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Consolidation — Speaking Preparation and P5 Complete Review</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2" charset="-78"/>
                <a:cs typeface="Amiri" pitchFamily="2" charset="-78"/>
              </a:rPr>
              <a:t>تَرْسِيخُ الوَحْدَةِ — إِعْدَادُ التَّحَدُّثِ وَالمُرَاجَعَةُ الشَّامِلَةُ</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Repair the P5 error zones (an + -a after a trigger vs anna + noun after a reporting verb · -u after ṣaḥīḥun anna · -a in the conclusion · la- in the Type 2 result), revise the whole P5 spine, and rehearse the topic conversation and role play.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P5-L11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 zones, revise the P5 spine, answer each question with its required structure.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cs typeface="Amiri" pitchFamily="2" charset="-78"/>
              </a:rPr>
              <a:t>Repair the slips, build an assessment answer, sort an / anna / concession, hear a mock conversation.</a:t>
            </a:r>
            <a:endParaRPr lang="en-US" sz="11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freedom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speech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التِّلْقَائِيَّةُ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spontaneity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repetition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الأَدَاءُ تَحْتَ الضَّغْطِ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calm rehearsal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written test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performance under pressure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point after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conclusion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other side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
            </a:r>
            <a:pPr algn="l" indent="0" marL="0">
              <a:buNone/>
            </a:pPr>
            <a:r>
              <a:rPr lang="ar-SA" altLang="en-US" sz="1550" b="1" dirty="0">
                <a:solidFill>
                  <a:srgbClr val="1B3B6F"/>
                </a:solidFill>
                <a:latin typeface="Amiri" pitchFamily="2" charset="-78"/>
                <a:cs typeface="Amiri" pitchFamily="2" charset="-78"/>
              </a:rPr>
              <a:t>لَوْ عُولِجَ التَّفَاوُتُ مُبَكِّرًا، لَتَحَسَّنَ الوَضْعُ</a:t>
            </a:r>
            <a:pPr algn="l" indent="0" marL="0">
              <a:buNone/>
            </a:pPr>
            <a:r>
              <a:rPr lang="en-US" sz="1200" b="1" dirty="0">
                <a:solidFill>
                  <a:srgbClr val="1B3B6F"/>
                </a:solidFill>
                <a:latin typeface="Calibri" pitchFamily="34" charset="0"/>
                <a:cs typeface="Amiri" pitchFamily="2" charset="-78"/>
              </a:rPr>
              <a:t>» means the early treatment …</a:t>
            </a:r>
            <a:endParaRPr lang="en-US" sz="12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did not happen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happened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will happen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freedom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speech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التِّلْقَائِيَّةُ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spontaneity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repetition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الأَدَاءُ تَحْتَ الضَّغْطِ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calm rehearsal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written test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performance under pressure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point after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conclusion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other side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P5-L10: a concession.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t>
            </a:r>
            <a:pPr algn="l" indent="0" marL="0">
              <a:buNone/>
            </a:pPr>
            <a:r>
              <a:rPr lang="ar-SA" altLang="en-US" sz="1550" b="1" dirty="0">
                <a:solidFill>
                  <a:srgbClr val="1B3B6F"/>
                </a:solidFill>
                <a:latin typeface="Amiri" pitchFamily="2" charset="-78"/>
                <a:cs typeface="Amiri" pitchFamily="2" charset="-78"/>
              </a:rPr>
              <a:t>لَوْ عُولِجَ التَّفَاوُتُ مُبَكِّرًا، لَتَحَسَّنَ الوَضْعُ</a:t>
            </a:r>
            <a:pPr algn="l" indent="0" marL="0">
              <a:buNone/>
            </a:pPr>
            <a:r>
              <a:rPr lang="en-US" sz="1200" b="1" dirty="0">
                <a:solidFill>
                  <a:srgbClr val="1B3B6F"/>
                </a:solidFill>
                <a:latin typeface="Calibri" pitchFamily="34" charset="0"/>
                <a:cs typeface="Amiri" pitchFamily="2" charset="-78"/>
              </a:rPr>
              <a:t>» means the early treatment …</a:t>
            </a:r>
            <a:endParaRPr lang="en-US" sz="12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did not happen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happened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will happen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P5-L10: law … la- = it did not happen.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One letter changes everything: an (sukūn) + a verb in -a after a trigger; anna (shadda) + a noun after a reporting verb.</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يُطَالِبُ </a:t>
            </a:r>
            <a:pPr rtl="1" algn="ctr" indent="0" marL="0">
              <a:lnSpc>
                <a:spcPct val="120000"/>
              </a:lnSpc>
              <a:buNone/>
            </a:pPr>
            <a:r>
              <a:rPr lang="ar-SA" altLang="en-US" sz="1950" b="1" dirty="0">
                <a:solidFill>
                  <a:srgbClr val="D6336C"/>
                </a:solidFill>
                <a:latin typeface="Amiri" pitchFamily="2" charset="-78"/>
                <a:cs typeface="Amiri" pitchFamily="2" charset="-78"/>
              </a:rPr>
              <a:t>بِأَنْ</a:t>
            </a:r>
            <a:pPr rtl="1" algn="ctr" indent="0" marL="0">
              <a:lnSpc>
                <a:spcPct val="120000"/>
              </a:lnSpc>
              <a:buNone/>
            </a:pPr>
            <a:r>
              <a:rPr lang="ar-SA" altLang="en-US" sz="1950" b="1" dirty="0">
                <a:solidFill>
                  <a:srgbClr val="1B3B6F"/>
                </a:solidFill>
                <a:latin typeface="Amiri" pitchFamily="2" charset="-78"/>
                <a:cs typeface="Amiri" pitchFamily="2" charset="-78"/>
              </a:rPr>
              <a:t> تُوَقِّعَ · أَكَّدَ </a:t>
            </a:r>
            <a:pPr rtl="1" algn="ctr" indent="0" marL="0">
              <a:lnSpc>
                <a:spcPct val="120000"/>
              </a:lnSpc>
              <a:buNone/>
            </a:pPr>
            <a:r>
              <a:rPr lang="ar-SA" altLang="en-US" sz="1950" b="1" dirty="0">
                <a:solidFill>
                  <a:srgbClr val="1D5FBF"/>
                </a:solidFill>
                <a:latin typeface="Amiri" pitchFamily="2" charset="-78"/>
                <a:cs typeface="Amiri" pitchFamily="2" charset="-78"/>
              </a:rPr>
              <a:t>أَنَّ</a:t>
            </a:r>
            <a:pPr rtl="1" algn="ctr" indent="0" marL="0">
              <a:lnSpc>
                <a:spcPct val="120000"/>
              </a:lnSpc>
              <a:buNone/>
            </a:pPr>
            <a:r>
              <a:rPr lang="ar-SA" altLang="en-US" sz="1950" b="1" dirty="0">
                <a:solidFill>
                  <a:srgbClr val="1B3B6F"/>
                </a:solidFill>
                <a:latin typeface="Amiri" pitchFamily="2" charset="-78"/>
                <a:cs typeface="Amiri" pitchFamily="2" charset="-78"/>
              </a:rPr>
              <a:t> الفَجْوَةَ تَتَّسِعُ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twelve most common P5 errors, led by an vs anna.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concession (ṣaḥīḥun anna) and refutation (ghayra anna) spontaneously in speech.</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the extended subjunctive triggers and both conditionals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Prepare five topic-conversation answers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correct 6 P5 slips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choose an or anna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with ṣaḥīḥun anna … ghayra anna unprompted.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the law question with la-.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all 3 topic questions with the structure each invites.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run the 4 role-play tasks fluently.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P5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complete P5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‎طلاقت‎ </a:t>
            </a:r>
            <a:pPr indent="0" marL="0">
              <a:buNone/>
            </a:pPr>
            <a:r>
              <a:rPr lang="en-US" sz="950" b="1" dirty="0">
                <a:solidFill>
                  <a:srgbClr val="2E8B57"/>
                </a:solidFill>
                <a:latin typeface="Calibri" pitchFamily="34" charset="0"/>
                <a:cs typeface="Amiri" pitchFamily="2" charset="-78"/>
              </a:rPr>
              <a:t> talāqat · fluency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تَلَفُّظٌ</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‎تلفظ‎ </a:t>
            </a:r>
            <a:pPr indent="0" marL="0">
              <a:buNone/>
            </a:pPr>
            <a:r>
              <a:rPr lang="en-US" sz="950" b="1" dirty="0">
                <a:solidFill>
                  <a:srgbClr val="2E8B57"/>
                </a:solidFill>
                <a:latin typeface="Calibri" pitchFamily="34" charset="0"/>
                <a:cs typeface="Amiri" pitchFamily="2" charset="-78"/>
              </a:rPr>
              <a:t> talaffuz · pronunciation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‎اعتماد‎ </a:t>
            </a:r>
            <a:pPr indent="0" marL="0">
              <a:buNone/>
            </a:pPr>
            <a:r>
              <a:rPr lang="en-US" sz="950" b="1" dirty="0">
                <a:solidFill>
                  <a:srgbClr val="2E8B57"/>
                </a:solidFill>
                <a:latin typeface="Calibri" pitchFamily="34" charset="0"/>
                <a:cs typeface="Amiri" pitchFamily="2" charset="-78"/>
              </a:rPr>
              <a:t> etimād · confidence (Arabic اعْتِمَادٌ = reliance)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تَمْرِينٌ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‎مشق‎ </a:t>
            </a:r>
            <a:pPr indent="0" marL="0">
              <a:buNone/>
            </a:pPr>
            <a:r>
              <a:rPr lang="en-US" sz="950" b="1" dirty="0">
                <a:solidFill>
                  <a:srgbClr val="2E8B57"/>
                </a:solidFill>
                <a:latin typeface="Calibri" pitchFamily="34" charset="0"/>
                <a:cs typeface="Amiri" pitchFamily="2" charset="-78"/>
              </a:rPr>
              <a:t> mashq · practice (Arabic مَشَقَّةٌ = hardship)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إِصْلَاحٌ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‎اصلاح‎ </a:t>
            </a:r>
            <a:pPr indent="0" marL="0">
              <a:buNone/>
            </a:pPr>
            <a:r>
              <a:rPr lang="en-US" sz="950" b="1" dirty="0">
                <a:solidFill>
                  <a:srgbClr val="2E8B57"/>
                </a:solidFill>
                <a:latin typeface="Calibri" pitchFamily="34" charset="0"/>
                <a:cs typeface="Amiri" pitchFamily="2" charset="-78"/>
              </a:rPr>
              <a:t> islāh · correction, reform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P5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 verb.</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 (لِلنَّصْبِ)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أَنْ (subjunctive introducer)</a:t>
            </a:r>
            <a:endParaRPr lang="en-US" sz="1350" dirty="0"/>
          </a:p>
          <a:p>
            <a:pPr indent="0" marL="0">
              <a:buNone/>
            </a:pPr>
            <a:r>
              <a:rPr lang="en-US" sz="1100" i="1" dirty="0">
                <a:solidFill>
                  <a:srgbClr val="5A6472"/>
                </a:solidFill>
                <a:latin typeface="Calibri" pitchFamily="34" charset="0"/>
                <a:cs typeface="Amiri" pitchFamily="2" charset="-78"/>
              </a:rPr>
              <a:t>an (liln-naṣ-bi)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noun clause.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 (لِلْخَبَرِ)</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أَنَّ (reported-fact introducer)</a:t>
            </a:r>
            <a:endParaRPr lang="en-US" sz="1350" dirty="0"/>
          </a:p>
          <a:p>
            <a:pPr indent="0" marL="0">
              <a:buNone/>
            </a:pPr>
            <a:r>
              <a:rPr lang="en-US" sz="1100" i="1" dirty="0">
                <a:solidFill>
                  <a:srgbClr val="5A6472"/>
                </a:solidFill>
                <a:latin typeface="Calibri" pitchFamily="34" charset="0"/>
                <a:cs typeface="Amiri" pitchFamily="2" charset="-78"/>
              </a:rPr>
              <a:t>an-na (lil-kha-ba-ri)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المُثْبَتُ بَعْدَ صَحِيحٌ أَنَّ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indicative after صَحِيحٌ أَنَّ</a:t>
            </a:r>
            <a:endParaRPr lang="en-US" sz="1350" dirty="0"/>
          </a:p>
          <a:p>
            <a:pPr indent="0" marL="0">
              <a:buNone/>
            </a:pPr>
            <a:r>
              <a:rPr lang="en-US" sz="1100" i="1" dirty="0">
                <a:solidFill>
                  <a:srgbClr val="5A6472"/>
                </a:solidFill>
                <a:latin typeface="Calibri" pitchFamily="34" charset="0"/>
                <a:cs typeface="Amiri" pitchFamily="2" charset="-78"/>
              </a:rPr>
              <a:t>al-muth-ba-tu baʿ-da ṣa-ḥī-ḥun an-na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After the concession.</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مَوْضِعُ غَيْرَ أَنَّ</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placement of غَيْرَ أَنَّ</a:t>
            </a:r>
            <a:endParaRPr lang="en-US" sz="1350" dirty="0"/>
          </a:p>
          <a:p>
            <a:pPr indent="0" marL="0">
              <a:buNone/>
            </a:pPr>
            <a:r>
              <a:rPr lang="en-US" sz="1100" i="1" dirty="0">
                <a:solidFill>
                  <a:srgbClr val="5A6472"/>
                </a:solidFill>
                <a:latin typeface="Calibri" pitchFamily="34" charset="0"/>
                <a:cs typeface="Amiri" pitchFamily="2" charset="-78"/>
              </a:rPr>
              <a:t>maw-ḍi-ʿu ghay-ra an-na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P5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wa-bināʾan … an.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الخَاتِمَةُ المَنْصُوبَةُ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conclusion</a:t>
            </a:r>
            <a:endParaRPr lang="en-US" sz="1350" dirty="0"/>
          </a:p>
          <a:p>
            <a:pPr indent="0" marL="0">
              <a:buNone/>
            </a:pPr>
            <a:r>
              <a:rPr lang="en-US" sz="1100" i="1" dirty="0">
                <a:solidFill>
                  <a:srgbClr val="5A6472"/>
                </a:solidFill>
                <a:latin typeface="Calibri" pitchFamily="34" charset="0"/>
                <a:cs typeface="Amiri" pitchFamily="2" charset="-78"/>
              </a:rPr>
              <a:t>al-khā-ti-ma-tu al-man-ṣū-ba-tu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Type 2.</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لَامُ الجَوَابِ</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لَـ of the result</a:t>
            </a:r>
            <a:endParaRPr lang="en-US" sz="1350" dirty="0"/>
          </a:p>
          <a:p>
            <a:pPr indent="0" marL="0">
              <a:buNone/>
            </a:pPr>
            <a:r>
              <a:rPr lang="en-US" sz="1100" i="1" dirty="0">
                <a:solidFill>
                  <a:srgbClr val="5A6472"/>
                </a:solidFill>
                <a:latin typeface="Calibri" pitchFamily="34" charset="0"/>
                <a:cs typeface="Amiri" pitchFamily="2" charset="-78"/>
              </a:rPr>
              <a:t>lā-mu al-ja-wā-bi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مُطَابَقَةُ المَاضِي التَّامِّ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past-perfect agreement</a:t>
            </a:r>
            <a:endParaRPr lang="en-US" sz="1350" dirty="0"/>
          </a:p>
          <a:p>
            <a:pPr indent="0" marL="0">
              <a:buNone/>
            </a:pPr>
            <a:r>
              <a:rPr lang="en-US" sz="1100" i="1" dirty="0">
                <a:solidFill>
                  <a:srgbClr val="5A6472"/>
                </a:solidFill>
                <a:latin typeface="Calibri" pitchFamily="34" charset="0"/>
                <a:cs typeface="Amiri" pitchFamily="2" charset="-78"/>
              </a:rPr>
              <a:t>mu-ṭā-ba-qa-tu al-mā-ḍī at-tām-mi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التَّشْكِيلُ الدَّقِيقُ</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vowelling</a:t>
            </a:r>
            <a:endParaRPr lang="en-US" sz="1350" dirty="0"/>
          </a:p>
          <a:p>
            <a:pPr indent="0" marL="0">
              <a:buNone/>
            </a:pPr>
            <a:r>
              <a:rPr lang="en-US" sz="1100" i="1" dirty="0">
                <a:solidFill>
                  <a:srgbClr val="5A6472"/>
                </a:solidFill>
                <a:latin typeface="Calibri" pitchFamily="34" charset="0"/>
                <a:cs typeface="Amiri" pitchFamily="2" charset="-78"/>
              </a:rPr>
              <a:t>at-tash-kī-lu ad-da-qī-qu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complete P5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بِنْيَةُ التَّسْلِيمِ وَالرَّدِّ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concession-refutation</a:t>
            </a:r>
            <a:endParaRPr lang="en-US" sz="1350" dirty="0"/>
          </a:p>
          <a:p>
            <a:pPr indent="0" marL="0">
              <a:buNone/>
            </a:pPr>
            <a:r>
              <a:rPr lang="en-US" sz="1100" i="1" dirty="0">
                <a:solidFill>
                  <a:srgbClr val="5A6472"/>
                </a:solidFill>
                <a:latin typeface="Calibri" pitchFamily="34" charset="0"/>
                <a:cs typeface="Amiri" pitchFamily="2" charset="-78"/>
              </a:rPr>
              <a:t>bin-ya-tu at-tas-lī-mi wālr-rad-di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ṣaḥīḥun anna … ghayra anna.</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المُسَبِّبَاتُ المُوَسَّعَةُ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triggers</a:t>
            </a:r>
            <a:endParaRPr lang="en-US" sz="1350" dirty="0"/>
          </a:p>
          <a:p>
            <a:pPr indent="0" marL="0">
              <a:buNone/>
            </a:pPr>
            <a:r>
              <a:rPr lang="en-US" sz="1100" i="1" dirty="0">
                <a:solidFill>
                  <a:srgbClr val="5A6472"/>
                </a:solidFill>
                <a:latin typeface="Calibri" pitchFamily="34" charset="0"/>
                <a:cs typeface="Amiri" pitchFamily="2" charset="-78"/>
              </a:rPr>
              <a:t>al-mu-sab-bi-bā-tu al-mu-was-sa-ʿa-tu</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المُسَبِّبُ المُوَسَّعُ</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رَوَابِطُ الخِتَامِ</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conclusion connectors</a:t>
            </a:r>
            <a:endParaRPr lang="en-US" sz="1350" dirty="0"/>
          </a:p>
          <a:p>
            <a:pPr indent="0" marL="0">
              <a:buNone/>
            </a:pPr>
            <a:r>
              <a:rPr lang="en-US" sz="1100" i="1" dirty="0">
                <a:solidFill>
                  <a:srgbClr val="5A6472"/>
                </a:solidFill>
                <a:latin typeface="Calibri" pitchFamily="34" charset="0"/>
                <a:cs typeface="Amiri" pitchFamily="2" charset="-78"/>
              </a:rPr>
              <a:t>ra-wā-bi-ṭu al-khi-tā-mi</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رَابِطُ الخِتَامِ</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Shape 4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dual · sg</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نَوْعَا الشَّرْطِ</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both conditional types</a:t>
            </a:r>
            <a:endParaRPr lang="en-US" sz="1350" dirty="0"/>
          </a:p>
          <a:p>
            <a:pPr indent="0" marL="0">
              <a:buNone/>
            </a:pPr>
            <a:r>
              <a:rPr lang="en-US" sz="1100" i="1" dirty="0">
                <a:solidFill>
                  <a:srgbClr val="5A6472"/>
                </a:solidFill>
                <a:latin typeface="Calibri" pitchFamily="34" charset="0"/>
                <a:cs typeface="Amiri" pitchFamily="2" charset="-78"/>
              </a:rPr>
              <a:t>naw-ʿā ash-shar-ṭi</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نَوْعُ الشَّرْطِ</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complete P5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الكَلَامُ المَنْقُولُ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المَاضِي التَّامُّ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960120" y="1938528"/>
            <a:ext cx="164226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yuhajjaru / yuraḥḥalu.</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المَبْنِيُّ لِلْمَجْهُولِ الإِنْسَانِيُّ</a:t>
            </a:r>
            <a:endParaRPr lang="ar-SA" sz="29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humanitarian passive</a:t>
            </a:r>
            <a:endParaRPr lang="en-US" sz="1350" dirty="0"/>
          </a:p>
          <a:p>
            <a:pPr indent="0" marL="0">
              <a:buNone/>
            </a:pPr>
            <a:r>
              <a:rPr lang="en-US" sz="1100" i="1" dirty="0">
                <a:solidFill>
                  <a:srgbClr val="5A6472"/>
                </a:solidFill>
                <a:latin typeface="Calibri" pitchFamily="34" charset="0"/>
                <a:cs typeface="Amiri" pitchFamily="2" charset="-78"/>
              </a:rPr>
              <a:t>al-mab-niy-yu lil-maj-hū-li al-in-sā-niy-yu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التَّرْكِيبُ الحِجَاجِيُّ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argumentative construction</a:t>
            </a:r>
            <a:endParaRPr lang="en-US" sz="1350" dirty="0"/>
          </a:p>
          <a:p>
            <a:pPr indent="0" marL="0">
              <a:buNone/>
            </a:pPr>
            <a:r>
              <a:rPr lang="en-US" sz="1100" i="1" dirty="0">
                <a:solidFill>
                  <a:srgbClr val="5A6472"/>
                </a:solidFill>
                <a:latin typeface="Calibri" pitchFamily="34" charset="0"/>
                <a:cs typeface="Amiri" pitchFamily="2" charset="-78"/>
              </a:rPr>
              <a:t>at-tar-kī-bu al-ḥi-jā-jiy-yu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التَّحَدُّثُ بِحُجَجٍ مُتَوَازِنَةٍ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speaking with balanced arguments</a:t>
            </a:r>
            <a:endParaRPr lang="en-US" sz="1350" dirty="0"/>
          </a:p>
          <a:p>
            <a:pPr indent="0" marL="0">
              <a:buNone/>
            </a:pPr>
            <a:r>
              <a:rPr lang="en-US" sz="1100" i="1" dirty="0">
                <a:solidFill>
                  <a:srgbClr val="5A6472"/>
                </a:solidFill>
                <a:latin typeface="Calibri" pitchFamily="34" charset="0"/>
                <a:cs typeface="Amiri" pitchFamily="2" charset="-78"/>
              </a:rPr>
              <a:t>at-ta-ḥad-du-thu bi-ḥu-ja-jin mu-ta-wā-zi-na-tin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الارْتِجَالُ بِالتَّسْلِيمِ وَالرَّدِّ</a:t>
            </a:r>
            <a:endParaRPr lang="ar-SA" sz="29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improvising concession and refutation</a:t>
            </a:r>
            <a:endParaRPr lang="en-US" sz="1350" dirty="0"/>
          </a:p>
          <a:p>
            <a:pPr indent="0" marL="0">
              <a:buNone/>
            </a:pPr>
            <a:r>
              <a:rPr lang="en-US" sz="1100" i="1" dirty="0">
                <a:solidFill>
                  <a:srgbClr val="5A6472"/>
                </a:solidFill>
                <a:latin typeface="Calibri" pitchFamily="34" charset="0"/>
                <a:cs typeface="Amiri" pitchFamily="2" charset="-78"/>
              </a:rPr>
              <a:t>alr-ti-jā-lu bilt-tas-lī-mi wālr-rad-di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التِّلْقَائِيَّةُ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spontaneity</a:t>
            </a:r>
            <a:endParaRPr lang="en-US" sz="1350" dirty="0"/>
          </a:p>
          <a:p>
            <a:pPr indent="0" marL="0">
              <a:buNone/>
            </a:pPr>
            <a:r>
              <a:rPr lang="en-US" sz="1100" i="1" dirty="0">
                <a:solidFill>
                  <a:srgbClr val="5A6472"/>
                </a:solidFill>
                <a:latin typeface="Calibri" pitchFamily="34" charset="0"/>
                <a:cs typeface="Amiri" pitchFamily="2" charset="-78"/>
              </a:rPr>
              <a:t>at-til-qā-ʾiy-ya-tu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الطَّلَاقَةُ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مُؤْتَمَرُ العَدَالَةِ الاجْتِمَاعِيَّةِ</a:t>
            </a:r>
            <a:endParaRPr lang="ar-SA" sz="28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social-justice conference</a:t>
            </a:r>
            <a:endParaRPr lang="en-US" sz="1350" dirty="0"/>
          </a:p>
          <a:p>
            <a:pPr indent="0" marL="0">
              <a:buNone/>
            </a:pPr>
            <a:r>
              <a:rPr lang="en-US" sz="1100" i="1" dirty="0">
                <a:solidFill>
                  <a:srgbClr val="5A6472"/>
                </a:solidFill>
                <a:latin typeface="Calibri" pitchFamily="34" charset="0"/>
                <a:cs typeface="Amiri" pitchFamily="2" charset="-78"/>
              </a:rPr>
              <a:t>muʾ-ta-ma-ru al-ʿa-dā-la-ti alj-ti-mā-ʿiy-ya-ti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الأَدَاءُ تَحْتَ الضَّغْطِ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performance under pressure</a:t>
            </a:r>
            <a:endParaRPr lang="en-US" sz="1350" dirty="0"/>
          </a:p>
          <a:p>
            <a:pPr indent="0" marL="0">
              <a:buNone/>
            </a:pPr>
            <a:r>
              <a:rPr lang="en-US" sz="1100" i="1" dirty="0">
                <a:solidFill>
                  <a:srgbClr val="5A6472"/>
                </a:solidFill>
                <a:latin typeface="Calibri" pitchFamily="34" charset="0"/>
                <a:cs typeface="Amiri" pitchFamily="2" charset="-78"/>
              </a:rPr>
              <a:t>al-a-dā-ʾu taḥ-ta aḍ-ḍagh-ṭi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P6.</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الاسْتِعْدَادُ لِلْجِسْرِ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preparing for the Bridge</a:t>
            </a:r>
            <a:endParaRPr lang="en-US" sz="1350" dirty="0"/>
          </a:p>
          <a:p>
            <a:pPr indent="0" marL="0">
              <a:buNone/>
            </a:pPr>
            <a:r>
              <a:rPr lang="en-US" sz="1100" i="1" dirty="0">
                <a:solidFill>
                  <a:srgbClr val="5A6472"/>
                </a:solidFill>
                <a:latin typeface="Calibri" pitchFamily="34" charset="0"/>
                <a:cs typeface="Amiri" pitchFamily="2" charset="-78"/>
              </a:rPr>
              <a:t>als-tiʿ-dā-du lil-jis-ri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الثِّقَةُ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confidence</a:t>
            </a:r>
            <a:endParaRPr lang="en-US" sz="1350" dirty="0"/>
          </a:p>
          <a:p>
            <a:pPr indent="0" marL="0">
              <a:buNone/>
            </a:pPr>
            <a:r>
              <a:rPr lang="en-US" sz="1100" i="1" dirty="0">
                <a:solidFill>
                  <a:srgbClr val="5A6472"/>
                </a:solidFill>
                <a:latin typeface="Calibri" pitchFamily="34" charset="0"/>
                <a:cs typeface="Amiri" pitchFamily="2" charset="-78"/>
              </a:rPr>
              <a:t>ath-thi-qa-tu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AN VS ANNA (WEBSITE RULE 1, TEACHING POINT 1, TABLE AND MISTAKE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letter,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8280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it</a:t>
            </a:r>
            <a:endParaRPr lang="en-US" sz="1100" dirty="0"/>
          </a:p>
        </p:txBody>
      </p:sp>
      <p:sp>
        <p:nvSpPr>
          <p:cNvPr id="18" name="Text 15"/>
          <p:cNvSpPr txBox="1"/>
          <p:nvPr/>
        </p:nvSpPr>
        <p:spPr>
          <a:xfrm>
            <a:off x="32735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Before it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949440" y="2267712"/>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يُطَالِبُ النَّاشِطُونَ بِأَنْ </a:t>
            </a:r>
            <a:pPr rtl="1" algn="ctr" indent="0" marL="0">
              <a:buNone/>
            </a:pPr>
            <a:r>
              <a:rPr lang="ar-SA" altLang="en-US" sz="1600" b="1" dirty="0">
                <a:solidFill>
                  <a:srgbClr val="D6336C"/>
                </a:solidFill>
                <a:latin typeface="Amiri" pitchFamily="2" charset="-78"/>
                <a:cs typeface="Amiri" pitchFamily="2" charset="-78"/>
              </a:rPr>
              <a:t>تُوَقِّعَ</a:t>
            </a:r>
            <a:pPr rtl="1" algn="ctr" indent="0" marL="0">
              <a:buNone/>
            </a:pPr>
            <a:r>
              <a:rPr lang="ar-SA" altLang="en-US" sz="1600" b="1" dirty="0">
                <a:solidFill>
                  <a:srgbClr val="1B3B6F"/>
                </a:solidFill>
                <a:latin typeface="Amiri" pitchFamily="2" charset="-78"/>
                <a:cs typeface="Amiri" pitchFamily="2" charset="-78"/>
              </a:rPr>
              <a:t> الدُّوَلُ</a:t>
            </a:r>
            <a:endParaRPr lang="ar-SA" sz="1600" dirty="0"/>
          </a:p>
        </p:txBody>
      </p:sp>
      <p:sp>
        <p:nvSpPr>
          <p:cNvPr id="22" name="Text 19"/>
          <p:cNvSpPr txBox="1"/>
          <p:nvPr/>
        </p:nvSpPr>
        <p:spPr>
          <a:xfrm>
            <a:off x="48646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verb in -a</a:t>
            </a:r>
            <a:endParaRPr lang="en-US" sz="1100" dirty="0"/>
          </a:p>
        </p:txBody>
      </p:sp>
      <p:sp>
        <p:nvSpPr>
          <p:cNvPr id="23" name="Text 20"/>
          <p:cNvSpPr txBox="1"/>
          <p:nvPr/>
        </p:nvSpPr>
        <p:spPr>
          <a:xfrm>
            <a:off x="3291840" y="2267712"/>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أَنْ</a:t>
            </a:r>
            <a:endParaRPr lang="ar-SA" sz="20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trigger: </a:t>
            </a:r>
            <a:pPr algn="l" indent="0" marL="0">
              <a:buNone/>
            </a:pPr>
            <a:r>
              <a:rPr lang="ar-SA" altLang="en-US" sz="1450" dirty="0">
                <a:solidFill>
                  <a:srgbClr val="5A6472"/>
                </a:solidFill>
                <a:latin typeface="Amiri" pitchFamily="2" charset="-78"/>
                <a:cs typeface="Amiri" pitchFamily="2" charset="-78"/>
              </a:rPr>
              <a:t>يُطَالِبُ بِـ</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949440" y="3004718"/>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أَكَّدَ الخَبِيرُ أَنَّ </a:t>
            </a:r>
            <a:pPr rtl="1" algn="ctr" indent="0" marL="0">
              <a:buNone/>
            </a:pPr>
            <a:r>
              <a:rPr lang="ar-SA" altLang="en-US" sz="1600" b="1" dirty="0">
                <a:solidFill>
                  <a:srgbClr val="1D5FBF"/>
                </a:solidFill>
                <a:latin typeface="Amiri" pitchFamily="2" charset="-78"/>
                <a:cs typeface="Amiri" pitchFamily="2" charset="-78"/>
              </a:rPr>
              <a:t>الفَجْوَةَ</a:t>
            </a:r>
            <a:pPr rtl="1" algn="ctr" indent="0" marL="0">
              <a:buNone/>
            </a:pPr>
            <a:r>
              <a:rPr lang="ar-SA" altLang="en-US" sz="1600" b="1" dirty="0">
                <a:solidFill>
                  <a:srgbClr val="1B3B6F"/>
                </a:solidFill>
                <a:latin typeface="Amiri" pitchFamily="2" charset="-78"/>
                <a:cs typeface="Amiri" pitchFamily="2" charset="-78"/>
              </a:rPr>
              <a:t> تَتَّسِعُ</a:t>
            </a:r>
            <a:endParaRPr lang="ar-SA" sz="1600" dirty="0"/>
          </a:p>
        </p:txBody>
      </p:sp>
      <p:sp>
        <p:nvSpPr>
          <p:cNvPr id="29" name="Text 26"/>
          <p:cNvSpPr txBox="1"/>
          <p:nvPr/>
        </p:nvSpPr>
        <p:spPr>
          <a:xfrm>
            <a:off x="48646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noun (-a) + verb</a:t>
            </a:r>
            <a:endParaRPr lang="en-US" sz="1100" dirty="0"/>
          </a:p>
        </p:txBody>
      </p:sp>
      <p:sp>
        <p:nvSpPr>
          <p:cNvPr id="30" name="Text 27"/>
          <p:cNvSpPr txBox="1"/>
          <p:nvPr/>
        </p:nvSpPr>
        <p:spPr>
          <a:xfrm>
            <a:off x="3291840" y="3004718"/>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أَنَّ</a:t>
            </a:r>
            <a:endParaRPr lang="ar-SA" sz="20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reporting verb: </a:t>
            </a:r>
            <a:pPr algn="l" indent="0" marL="0">
              <a:buNone/>
            </a:pPr>
            <a:r>
              <a:rPr lang="ar-SA" altLang="en-US" sz="1450" dirty="0">
                <a:solidFill>
                  <a:srgbClr val="5A6472"/>
                </a:solidFill>
                <a:latin typeface="Amiri" pitchFamily="2" charset="-78"/>
                <a:cs typeface="Amiri" pitchFamily="2" charset="-78"/>
              </a:rPr>
              <a:t>أَكَّدَ</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949440" y="3741725"/>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يَمْنَعُ القَانُونُ أَنْ </a:t>
            </a:r>
            <a:pPr rtl="1" algn="ctr" indent="0" marL="0">
              <a:buNone/>
            </a:pPr>
            <a:r>
              <a:rPr lang="ar-SA" altLang="en-US" sz="1600" b="1" dirty="0">
                <a:solidFill>
                  <a:srgbClr val="D6336C"/>
                </a:solidFill>
                <a:latin typeface="Amiri" pitchFamily="2" charset="-78"/>
                <a:cs typeface="Amiri" pitchFamily="2" charset="-78"/>
              </a:rPr>
              <a:t>تُبَاعَ</a:t>
            </a:r>
            <a:pPr rtl="1" algn="ctr" indent="0" marL="0">
              <a:buNone/>
            </a:pPr>
            <a:r>
              <a:rPr lang="ar-SA" altLang="en-US" sz="1600" b="1" dirty="0">
                <a:solidFill>
                  <a:srgbClr val="1B3B6F"/>
                </a:solidFill>
                <a:latin typeface="Amiri" pitchFamily="2" charset="-78"/>
                <a:cs typeface="Amiri" pitchFamily="2" charset="-78"/>
              </a:rPr>
              <a:t> البَيَانَاتُ</a:t>
            </a:r>
            <a:endParaRPr lang="ar-SA" sz="1600" dirty="0"/>
          </a:p>
        </p:txBody>
      </p:sp>
      <p:sp>
        <p:nvSpPr>
          <p:cNvPr id="36" name="Text 33"/>
          <p:cNvSpPr txBox="1"/>
          <p:nvPr/>
        </p:nvSpPr>
        <p:spPr>
          <a:xfrm>
            <a:off x="48646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verb in -a</a:t>
            </a:r>
            <a:endParaRPr lang="en-US" sz="1100" dirty="0"/>
          </a:p>
        </p:txBody>
      </p:sp>
      <p:sp>
        <p:nvSpPr>
          <p:cNvPr id="37" name="Text 34"/>
          <p:cNvSpPr txBox="1"/>
          <p:nvPr/>
        </p:nvSpPr>
        <p:spPr>
          <a:xfrm>
            <a:off x="3291840" y="3741725"/>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أَنْ</a:t>
            </a:r>
            <a:endParaRPr lang="ar-SA" sz="20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trigger: </a:t>
            </a:r>
            <a:pPr algn="l" indent="0" marL="0">
              <a:buNone/>
            </a:pPr>
            <a:r>
              <a:rPr lang="ar-SA" altLang="en-US" sz="1450" dirty="0">
                <a:solidFill>
                  <a:srgbClr val="5A6472"/>
                </a:solidFill>
                <a:latin typeface="Amiri" pitchFamily="2" charset="-78"/>
                <a:cs typeface="Amiri" pitchFamily="2" charset="-78"/>
              </a:rPr>
              <a:t>يَمْنَعُ</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949440" y="4478731"/>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يُشَارُ إِلَى أَنَّ </a:t>
            </a:r>
            <a:pPr rtl="1" algn="ctr" indent="0" marL="0">
              <a:buNone/>
            </a:pPr>
            <a:r>
              <a:rPr lang="ar-SA" altLang="en-US" sz="1600" b="1" dirty="0">
                <a:solidFill>
                  <a:srgbClr val="1D5FBF"/>
                </a:solidFill>
                <a:latin typeface="Amiri" pitchFamily="2" charset="-78"/>
                <a:cs typeface="Amiri" pitchFamily="2" charset="-78"/>
              </a:rPr>
              <a:t>التَّفَاوُتَ</a:t>
            </a:r>
            <a:pPr rtl="1" algn="ctr" indent="0" marL="0">
              <a:buNone/>
            </a:pPr>
            <a:r>
              <a:rPr lang="ar-SA" altLang="en-US" sz="1600" b="1" dirty="0">
                <a:solidFill>
                  <a:srgbClr val="1B3B6F"/>
                </a:solidFill>
                <a:latin typeface="Amiri" pitchFamily="2" charset="-78"/>
                <a:cs typeface="Amiri" pitchFamily="2" charset="-78"/>
              </a:rPr>
              <a:t> يُهَدِّدُ الاسْتِقْرَارَ</a:t>
            </a:r>
            <a:endParaRPr lang="ar-SA" sz="1600" dirty="0"/>
          </a:p>
        </p:txBody>
      </p:sp>
      <p:sp>
        <p:nvSpPr>
          <p:cNvPr id="41" name="Text 38"/>
          <p:cNvSpPr txBox="1"/>
          <p:nvPr/>
        </p:nvSpPr>
        <p:spPr>
          <a:xfrm>
            <a:off x="48646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noun (-a) + verb</a:t>
            </a:r>
            <a:endParaRPr lang="en-US" sz="1100" dirty="0"/>
          </a:p>
        </p:txBody>
      </p:sp>
      <p:sp>
        <p:nvSpPr>
          <p:cNvPr id="42" name="Text 39"/>
          <p:cNvSpPr txBox="1"/>
          <p:nvPr/>
        </p:nvSpPr>
        <p:spPr>
          <a:xfrm>
            <a:off x="3291840" y="4478731"/>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أَنَّ</a:t>
            </a:r>
            <a:endParaRPr lang="ar-SA" sz="20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report: </a:t>
            </a:r>
            <a:pPr algn="l" indent="0" marL="0">
              <a:buNone/>
            </a:pPr>
            <a:r>
              <a:rPr lang="ar-SA" altLang="en-US" sz="1450" dirty="0">
                <a:solidFill>
                  <a:srgbClr val="5A6472"/>
                </a:solidFill>
                <a:latin typeface="Amiri" pitchFamily="2" charset="-78"/>
                <a:cs typeface="Amiri" pitchFamily="2" charset="-78"/>
              </a:rPr>
              <a:t>يُشَارُ إِلَى</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949440" y="5215738"/>
            <a:ext cx="46908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 بِأَنَّ تُوَقِّعَ → ✓ بِأَنْ تُوَقِّعَ</a:t>
            </a:r>
            <a:endParaRPr lang="ar-SA" sz="1600" dirty="0"/>
          </a:p>
        </p:txBody>
      </p:sp>
      <p:sp>
        <p:nvSpPr>
          <p:cNvPr id="46" name="Text 43"/>
          <p:cNvSpPr txBox="1"/>
          <p:nvPr/>
        </p:nvSpPr>
        <p:spPr>
          <a:xfrm>
            <a:off x="4864608" y="5215738"/>
            <a:ext cx="192024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3291840" y="5215738"/>
            <a:ext cx="13716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 أَنْ</a:t>
            </a:r>
            <a:endParaRPr lang="ar-SA" sz="2000" dirty="0"/>
          </a:p>
        </p:txBody>
      </p:sp>
      <p:sp>
        <p:nvSpPr>
          <p:cNvPr id="48" name="Text 45"/>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 يُطَالِبُ بِأَنَّ</a:t>
            </a:r>
            <a:endParaRPr lang="ar-SA" sz="18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a trigger takes an + subjunctive; a reporting verb takes anna + noun. Mixing them is the most common P5 slip.</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KEEP THE CONCESSION INDICATIVE (WEBSITE RULE 2, TEACHING POINT 2, MISTAKE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-u, aim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المُثْبَتُ بَعْدَ صَحِيحٌ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CONCESSION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cs typeface="Amiri" pitchFamily="2" charset="-78"/>
              </a:rPr>
              <a:t>صَحِيحٌ أَنَّ</a:t>
            </a:r>
            <a:pPr algn="l" indent="0" marL="0">
              <a:buNone/>
            </a:pPr>
            <a:r>
              <a:rPr lang="en-US" sz="1600" b="1" dirty="0">
                <a:solidFill>
                  <a:srgbClr val="8A6D1E"/>
                </a:solidFill>
                <a:latin typeface="Calibri" pitchFamily="34" charset="0"/>
                <a:cs typeface="Amiri" pitchFamily="2" charset="-78"/>
              </a:rPr>
              <a:t> + -u</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صَحِيحٌ أَنَّ التَّعْلِيمَ يَتَطَلَّبُ مَوَارِدَ ضَخْمَةً.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True, education requires huge resources. (a fact)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yataṭallabU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TRIGGER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cs typeface="Amiri" pitchFamily="2" charset="-78"/>
              </a:rPr>
              <a:t>يَتَطَلَّبُ أَنْ</a:t>
            </a:r>
            <a:pPr algn="l" indent="0" marL="0">
              <a:buNone/>
            </a:pPr>
            <a:r>
              <a:rPr lang="en-US" sz="1600" b="1" dirty="0">
                <a:solidFill>
                  <a:srgbClr val="8A6D1E"/>
                </a:solidFill>
                <a:latin typeface="Calibri" pitchFamily="34" charset="0"/>
                <a:cs typeface="Amiri" pitchFamily="2" charset="-78"/>
              </a:rPr>
              <a:t> + -a</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يَتَطَلَّبُ الأَمْرُ أَنْ تَتَحَرَّكَ الحُكُومَاتُ.</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requires governments to act. (an aim)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tataḥarrakA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PRONOUN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غَيْرَ 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صَحِيحٌ أَنَّ لِلتِّقْنِيَّةِ فَوَائِدَ، غَيْرَ أَنَّهَا تُعَمِّقُ الفَجْوَةَ.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True, technology has benefits; however, it deepens the gap.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-hā (it)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do not carry the -a into the concession — the conceded situation is real.</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صَحِيحٌ أَنَّ التَّعْلِيمَ يَتَطَلَّبُ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صَحِيحٌ أَنَّ التَّعْلِيمَ يَتَطَلَّبَ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COMPLETE P5 SPINE (WEBSITE VOCABULARY GROUP 2 AND P5-L01 TO L09)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Everything P5 gave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العَمُودُ الفِقْرِيُّ لِلْوَحْدَةِ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462272" y="1810512"/>
            <a:ext cx="7196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a:t>
            </a:r>
            <a:endParaRPr lang="en-US" sz="1100" dirty="0"/>
          </a:p>
        </p:txBody>
      </p:sp>
      <p:sp>
        <p:nvSpPr>
          <p:cNvPr id="17" name="Text 14"/>
          <p:cNvSpPr txBox="1"/>
          <p:nvPr/>
        </p:nvSpPr>
        <p:spPr>
          <a:xfrm>
            <a:off x="1719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8" name="Text 15"/>
          <p:cNvSpPr txBox="1"/>
          <p:nvPr/>
        </p:nvSpPr>
        <p:spPr>
          <a:xfrm>
            <a:off x="53035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4480560" y="2267712"/>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cs typeface="Amiri" pitchFamily="2" charset="-78"/>
              </a:rPr>
              <a:t>صَحِيحٌ أَنَّ</a:t>
            </a:r>
            <a:pPr rtl="1" algn="ctr" indent="0" marL="0">
              <a:buNone/>
            </a:pPr>
            <a:r>
              <a:rPr lang="ar-SA" altLang="en-US" sz="1600" b="1" dirty="0">
                <a:solidFill>
                  <a:srgbClr val="1B3B6F"/>
                </a:solidFill>
                <a:latin typeface="Amiri" pitchFamily="2" charset="-78"/>
                <a:cs typeface="Amiri" pitchFamily="2" charset="-78"/>
              </a:rPr>
              <a:t> الإِصْلَاحَ يَتَطَلَّبُ مَوَارِدَ، </a:t>
            </a:r>
            <a:pPr rtl="1" algn="ctr" indent="0" marL="0">
              <a:buNone/>
            </a:pPr>
            <a:r>
              <a:rPr lang="ar-SA" altLang="en-US" sz="1600" b="1" dirty="0">
                <a:solidFill>
                  <a:srgbClr val="D6336C"/>
                </a:solidFill>
                <a:latin typeface="Amiri" pitchFamily="2" charset="-78"/>
                <a:cs typeface="Amiri" pitchFamily="2" charset="-78"/>
              </a:rPr>
              <a:t>غَيْرَ أَنَّ</a:t>
            </a:r>
            <a:pPr rtl="1" algn="ctr" indent="0" marL="0">
              <a:buNone/>
            </a:pPr>
            <a:r>
              <a:rPr lang="ar-SA" altLang="en-US" sz="1600" b="1" dirty="0">
                <a:solidFill>
                  <a:srgbClr val="1B3B6F"/>
                </a:solidFill>
                <a:latin typeface="Amiri" pitchFamily="2" charset="-78"/>
                <a:cs typeface="Amiri" pitchFamily="2" charset="-78"/>
              </a:rPr>
              <a:t> العَائِدَ أَكْبَرُ</a:t>
            </a:r>
            <a:endParaRPr lang="ar-SA" sz="1600" dirty="0"/>
          </a:p>
        </p:txBody>
      </p:sp>
      <p:sp>
        <p:nvSpPr>
          <p:cNvPr id="21" name="Text 18"/>
          <p:cNvSpPr txBox="1"/>
          <p:nvPr/>
        </p:nvSpPr>
        <p:spPr>
          <a:xfrm>
            <a:off x="175564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concession–refutation</a:t>
            </a:r>
            <a:endParaRPr lang="en-US" sz="1100" dirty="0"/>
          </a:p>
        </p:txBody>
      </p:sp>
      <p:sp>
        <p:nvSpPr>
          <p:cNvPr id="22" name="Text 19"/>
          <p:cNvSpPr txBox="1"/>
          <p:nvPr/>
        </p:nvSpPr>
        <p:spPr>
          <a:xfrm>
            <a:off x="56692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L01 · L07</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4480560" y="2881884"/>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يُهَجَّرُ المَدَنِيُّونَ · يُنْتَهَكُ القَانُونُ · تُلْزَمُ الدُّوَلُ بِالامْتِثَالِ</a:t>
            </a:r>
            <a:endParaRPr lang="ar-SA" sz="1600" dirty="0"/>
          </a:p>
        </p:txBody>
      </p:sp>
      <p:sp>
        <p:nvSpPr>
          <p:cNvPr id="27" name="Text 24"/>
          <p:cNvSpPr txBox="1"/>
          <p:nvPr/>
        </p:nvSpPr>
        <p:spPr>
          <a:xfrm>
            <a:off x="175564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passive</a:t>
            </a:r>
            <a:endParaRPr lang="en-US" sz="1100" dirty="0"/>
          </a:p>
        </p:txBody>
      </p:sp>
      <p:sp>
        <p:nvSpPr>
          <p:cNvPr id="28" name="Text 25"/>
          <p:cNvSpPr txBox="1"/>
          <p:nvPr/>
        </p:nvSpPr>
        <p:spPr>
          <a:xfrm>
            <a:off x="56692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L02 · L05</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4480560" y="3496056"/>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يُصِرُّ عَلَى أَنْ · يُطَالِبُ بِأَنْ · يَمْنَعُ أَنْ · يَرْفُضُ أَنْ </a:t>
            </a:r>
            <a:pPr rtl="1" algn="ctr" indent="0" marL="0">
              <a:buNone/>
            </a:pPr>
            <a:r>
              <a:rPr lang="ar-SA" altLang="en-US" sz="1600" b="1" dirty="0">
                <a:solidFill>
                  <a:srgbClr val="D6336C"/>
                </a:solidFill>
                <a:latin typeface="Amiri" pitchFamily="2" charset="-78"/>
                <a:cs typeface="Amiri" pitchFamily="2" charset="-78"/>
              </a:rPr>
              <a:t>تَسْتَمِرَّ</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31" name="Text 28"/>
          <p:cNvSpPr txBox="1"/>
          <p:nvPr/>
        </p:nvSpPr>
        <p:spPr>
          <a:xfrm>
            <a:off x="175564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extended triggers + -a</a:t>
            </a:r>
            <a:endParaRPr lang="en-US" sz="1100" dirty="0"/>
          </a:p>
        </p:txBody>
      </p:sp>
      <p:sp>
        <p:nvSpPr>
          <p:cNvPr id="32" name="Text 29"/>
          <p:cNvSpPr txBox="1"/>
          <p:nvPr/>
        </p:nvSpPr>
        <p:spPr>
          <a:xfrm>
            <a:off x="56692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 · L04 · L05</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4480560" y="4110228"/>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C77700"/>
                </a:solidFill>
                <a:latin typeface="Amiri" pitchFamily="2" charset="-78"/>
                <a:cs typeface="Amiri" pitchFamily="2" charset="-78"/>
              </a:rPr>
              <a:t>كَانَتِ</a:t>
            </a:r>
            <a:pPr rtl="1" algn="ctr" indent="0" marL="0">
              <a:buNone/>
            </a:pPr>
            <a:r>
              <a:rPr lang="ar-SA" altLang="en-US" sz="1600" b="1" dirty="0">
                <a:solidFill>
                  <a:srgbClr val="1B3B6F"/>
                </a:solidFill>
                <a:latin typeface="Amiri" pitchFamily="2" charset="-78"/>
                <a:cs typeface="Amiri" pitchFamily="2" charset="-78"/>
              </a:rPr>
              <a:t> الأَجْيَالُ السَّابِقَةُ </a:t>
            </a:r>
            <a:pPr rtl="1" algn="ctr" indent="0" marL="0">
              <a:buNone/>
            </a:pPr>
            <a:r>
              <a:rPr lang="ar-SA" altLang="en-US" sz="1600" b="1" dirty="0">
                <a:solidFill>
                  <a:srgbClr val="C77700"/>
                </a:solidFill>
                <a:latin typeface="Amiri" pitchFamily="2" charset="-78"/>
                <a:cs typeface="Amiri" pitchFamily="2" charset="-78"/>
              </a:rPr>
              <a:t>قَدْ</a:t>
            </a:r>
            <a:pPr rtl="1" algn="ctr" indent="0" marL="0">
              <a:buNone/>
            </a:pPr>
            <a:r>
              <a:rPr lang="ar-SA" altLang="en-US" sz="1600" b="1" dirty="0">
                <a:solidFill>
                  <a:srgbClr val="1B3B6F"/>
                </a:solidFill>
                <a:latin typeface="Amiri" pitchFamily="2" charset="-78"/>
                <a:cs typeface="Amiri" pitchFamily="2" charset="-78"/>
              </a:rPr>
              <a:t> نَاضَلَتْ مِنْ أَجْلِ الحُقُوقِ</a:t>
            </a:r>
            <a:endParaRPr lang="ar-SA" sz="1600" dirty="0"/>
          </a:p>
        </p:txBody>
      </p:sp>
      <p:sp>
        <p:nvSpPr>
          <p:cNvPr id="37" name="Text 34"/>
          <p:cNvSpPr txBox="1"/>
          <p:nvPr/>
        </p:nvSpPr>
        <p:spPr>
          <a:xfrm>
            <a:off x="175564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38" name="Text 35"/>
          <p:cNvSpPr txBox="1"/>
          <p:nvPr/>
        </p:nvSpPr>
        <p:spPr>
          <a:xfrm>
            <a:off x="56692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L06</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4480560" y="4724400"/>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0E7C86"/>
                </a:solidFill>
                <a:latin typeface="Amiri" pitchFamily="2" charset="-78"/>
                <a:cs typeface="Amiri" pitchFamily="2" charset="-78"/>
              </a:rPr>
              <a:t>إِذَا</a:t>
            </a:r>
            <a:pPr rtl="1" algn="ctr" indent="0" marL="0">
              <a:buNone/>
            </a:pPr>
            <a:r>
              <a:rPr lang="ar-SA" altLang="en-US" sz="1600" b="1" dirty="0">
                <a:solidFill>
                  <a:srgbClr val="1B3B6F"/>
                </a:solidFill>
                <a:latin typeface="Amiri" pitchFamily="2" charset="-78"/>
                <a:cs typeface="Amiri" pitchFamily="2" charset="-78"/>
              </a:rPr>
              <a:t> اسْتُثْمِرَ … </a:t>
            </a:r>
            <a:pPr rtl="1" algn="ctr" indent="0" marL="0">
              <a:buNone/>
            </a:pPr>
            <a:r>
              <a:rPr lang="ar-SA" altLang="en-US" sz="1600" b="1" dirty="0">
                <a:solidFill>
                  <a:srgbClr val="0E7C86"/>
                </a:solidFill>
                <a:latin typeface="Amiri" pitchFamily="2" charset="-78"/>
                <a:cs typeface="Amiri" pitchFamily="2" charset="-78"/>
              </a:rPr>
              <a:t>سَتَضِيقُ</a:t>
            </a:r>
            <a:pPr rtl="1" algn="ctr" indent="0" marL="0">
              <a:buNone/>
            </a:pPr>
            <a:r>
              <a:rPr lang="ar-SA" altLang="en-US" sz="1600" b="1" dirty="0">
                <a:solidFill>
                  <a:srgbClr val="1B3B6F"/>
                </a:solidFill>
                <a:latin typeface="Amiri" pitchFamily="2" charset="-78"/>
                <a:cs typeface="Amiri" pitchFamily="2" charset="-78"/>
              </a:rPr>
              <a:t> · </a:t>
            </a:r>
            <a:pPr rtl="1" algn="ctr" indent="0" marL="0">
              <a:buNone/>
            </a:pPr>
            <a:r>
              <a:rPr lang="ar-SA" altLang="en-US" sz="1600" b="1" dirty="0">
                <a:solidFill>
                  <a:srgbClr val="7B3FA0"/>
                </a:solidFill>
                <a:latin typeface="Amiri" pitchFamily="2" charset="-78"/>
                <a:cs typeface="Amiri" pitchFamily="2" charset="-78"/>
              </a:rPr>
              <a:t>لَوْ</a:t>
            </a:r>
            <a:pPr rtl="1" algn="ctr" indent="0" marL="0">
              <a:buNone/>
            </a:pPr>
            <a:r>
              <a:rPr lang="ar-SA" altLang="en-US" sz="1600" b="1" dirty="0">
                <a:solidFill>
                  <a:srgbClr val="1B3B6F"/>
                </a:solidFill>
                <a:latin typeface="Amiri" pitchFamily="2" charset="-78"/>
                <a:cs typeface="Amiri" pitchFamily="2" charset="-78"/>
              </a:rPr>
              <a:t> عُولِجَ … </a:t>
            </a:r>
            <a:pPr rtl="1" algn="ctr" indent="0" marL="0">
              <a:buNone/>
            </a:pPr>
            <a:r>
              <a:rPr lang="ar-SA" altLang="en-US" sz="1600" b="1" dirty="0">
                <a:solidFill>
                  <a:srgbClr val="7B3FA0"/>
                </a:solidFill>
                <a:latin typeface="Amiri" pitchFamily="2" charset="-78"/>
                <a:cs typeface="Amiri" pitchFamily="2" charset="-78"/>
              </a:rPr>
              <a:t>لَتَحَسَّنَ</a:t>
            </a:r>
            <a:endParaRPr lang="ar-SA" sz="1600" dirty="0"/>
          </a:p>
        </p:txBody>
      </p:sp>
      <p:sp>
        <p:nvSpPr>
          <p:cNvPr id="41" name="Text 38"/>
          <p:cNvSpPr txBox="1"/>
          <p:nvPr/>
        </p:nvSpPr>
        <p:spPr>
          <a:xfrm>
            <a:off x="175564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conditionals</a:t>
            </a:r>
            <a:endParaRPr lang="en-US" sz="1100" dirty="0"/>
          </a:p>
        </p:txBody>
      </p:sp>
      <p:sp>
        <p:nvSpPr>
          <p:cNvPr id="42" name="Text 39"/>
          <p:cNvSpPr txBox="1"/>
          <p:nvPr/>
        </p:nvSpPr>
        <p:spPr>
          <a:xfrm>
            <a:off x="56692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 · P4</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4480560" y="5338572"/>
            <a:ext cx="7159752" cy="559308"/>
          </a:xfrm>
          <a:prstGeom prst="rect">
            <a:avLst/>
          </a:prstGeom>
          <a:noFill/>
          <a:ln/>
        </p:spPr>
        <p:txBody>
          <a:bodyPr wrap="square" lIns="0" tIns="0" rIns="0" bIns="0" rtlCol="0" anchor="ctr"/>
          <a:lstStyle/>
          <a:p>
            <a:pPr rtl="1" algn="ctr" indent="0" marL="0">
              <a:buNone/>
            </a:pPr>
            <a:r>
              <a:rPr lang="ar-SA" altLang="en-US" sz="1600" b="1" dirty="0">
                <a:solidFill>
                  <a:srgbClr val="0E7C86"/>
                </a:solidFill>
                <a:latin typeface="Amiri" pitchFamily="2" charset="-78"/>
                <a:cs typeface="Amiri" pitchFamily="2" charset="-78"/>
              </a:rPr>
              <a:t>وَبِنَاءً عَلَى مَا سَبَقَ</a:t>
            </a:r>
            <a:pPr rtl="1" algn="ctr" indent="0" marL="0">
              <a:buNone/>
            </a:pPr>
            <a:r>
              <a:rPr lang="ar-SA" altLang="en-US" sz="1600" b="1" dirty="0">
                <a:solidFill>
                  <a:srgbClr val="1B3B6F"/>
                </a:solidFill>
                <a:latin typeface="Amiri" pitchFamily="2" charset="-78"/>
                <a:cs typeface="Amiri" pitchFamily="2" charset="-78"/>
              </a:rPr>
              <a:t>، يَتَطَلَّبُ الأَمْرُ أَنْ تَتَحَرَّكَ الحُكُومَاتُ</a:t>
            </a:r>
            <a:endParaRPr lang="ar-SA" sz="1600" dirty="0"/>
          </a:p>
        </p:txBody>
      </p:sp>
      <p:sp>
        <p:nvSpPr>
          <p:cNvPr id="45" name="Text 42"/>
          <p:cNvSpPr txBox="1"/>
          <p:nvPr/>
        </p:nvSpPr>
        <p:spPr>
          <a:xfrm>
            <a:off x="175564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conclusion</a:t>
            </a:r>
            <a:endParaRPr lang="en-US" sz="1100" dirty="0"/>
          </a:p>
        </p:txBody>
      </p:sp>
      <p:sp>
        <p:nvSpPr>
          <p:cNvPr id="46" name="Text 43"/>
          <p:cNvSpPr txBox="1"/>
          <p:nvPr/>
        </p:nvSpPr>
        <p:spPr>
          <a:xfrm>
            <a:off x="56692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 · L09</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“the shared lesson is that every structure has a precise marker.”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ASSESSMENT QUESTIONS AND WHAT EACH ONE INVITES (P5-L12 TOPIC + ROLE PLAY)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Answer with the structure it invites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لِكُلِّ سُؤَالٍ تَرْكِيبُهُ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61996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8" name="Text 15"/>
          <p:cNvSpPr txBox="1"/>
          <p:nvPr/>
        </p:nvSpPr>
        <p:spPr>
          <a:xfrm>
            <a:off x="19933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 task</a:t>
            </a:r>
            <a:endParaRPr lang="en-US" sz="1100" dirty="0"/>
          </a:p>
        </p:txBody>
      </p:sp>
      <p:sp>
        <p:nvSpPr>
          <p:cNvPr id="19" name="Text 16"/>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Task</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321040" y="2267712"/>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يُشَكِّلُ … أَكْبَرَ تَحَدٍّ، إِذْ تُشِيرُ …</a:t>
            </a:r>
            <a:endParaRPr lang="ar-SA" sz="1600" dirty="0"/>
          </a:p>
        </p:txBody>
      </p:sp>
      <p:sp>
        <p:nvSpPr>
          <p:cNvPr id="22" name="Text 19"/>
          <p:cNvSpPr txBox="1"/>
          <p:nvPr/>
        </p:nvSpPr>
        <p:spPr>
          <a:xfrm>
            <a:off x="62362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argument + evidence</a:t>
            </a:r>
            <a:endParaRPr lang="en-US" sz="1100" dirty="0"/>
          </a:p>
        </p:txBody>
      </p:sp>
      <p:sp>
        <p:nvSpPr>
          <p:cNvPr id="23" name="Text 20"/>
          <p:cNvSpPr txBox="1"/>
          <p:nvPr/>
        </p:nvSpPr>
        <p:spPr>
          <a:xfrm>
            <a:off x="2011680" y="2267712"/>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مَا أَكْبَرُ تَحَدٍّ اجْتِمَاعِيٍّ يُوَاجِهُ العَالَمَ العَرَبِيَّ؟</a:t>
            </a:r>
            <a:endParaRPr lang="ar-SA" sz="1600" dirty="0"/>
          </a:p>
        </p:txBody>
      </p:sp>
      <p:sp>
        <p:nvSpPr>
          <p:cNvPr id="24" name="Text 21"/>
          <p:cNvSpPr txBox="1"/>
          <p:nvPr/>
        </p:nvSpPr>
        <p:spPr>
          <a:xfrm>
            <a:off x="5669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321040" y="3004718"/>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cs typeface="Amiri" pitchFamily="2" charset="-78"/>
              </a:rPr>
              <a:t>صَحِيحٌ أَنَّ</a:t>
            </a:r>
            <a:pPr rtl="1" algn="ctr" indent="0" marL="0">
              <a:buNone/>
            </a:pPr>
            <a:r>
              <a:rPr lang="ar-SA" altLang="en-US" sz="1600" b="1" dirty="0">
                <a:solidFill>
                  <a:srgbClr val="1B3B6F"/>
                </a:solidFill>
                <a:latin typeface="Amiri" pitchFamily="2" charset="-78"/>
                <a:cs typeface="Amiri" pitchFamily="2" charset="-78"/>
              </a:rPr>
              <a:t> … </a:t>
            </a:r>
            <a:pPr rtl="1" algn="ctr" indent="0" marL="0">
              <a:buNone/>
            </a:pPr>
            <a:r>
              <a:rPr lang="ar-SA" altLang="en-US" sz="1600" b="1" dirty="0">
                <a:solidFill>
                  <a:srgbClr val="D6336C"/>
                </a:solidFill>
                <a:latin typeface="Amiri" pitchFamily="2" charset="-78"/>
                <a:cs typeface="Amiri" pitchFamily="2" charset="-78"/>
              </a:rPr>
              <a:t>غَيْرَ أَنَّهَا</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29" name="Text 26"/>
          <p:cNvSpPr txBox="1"/>
          <p:nvPr/>
        </p:nvSpPr>
        <p:spPr>
          <a:xfrm>
            <a:off x="62362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concession–refutation</a:t>
            </a:r>
            <a:endParaRPr lang="en-US" sz="1100" dirty="0"/>
          </a:p>
        </p:txBody>
      </p:sp>
      <p:sp>
        <p:nvSpPr>
          <p:cNvPr id="30" name="Text 27"/>
          <p:cNvSpPr txBox="1"/>
          <p:nvPr/>
        </p:nvSpPr>
        <p:spPr>
          <a:xfrm>
            <a:off x="2011680" y="3004718"/>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هَلْ تُعَمِّقُ التِّكْنُولُوجِيَا عَدَمَ المُسَاوَاةِ؟</a:t>
            </a:r>
            <a:endParaRPr lang="ar-SA" sz="1600" dirty="0"/>
          </a:p>
        </p:txBody>
      </p:sp>
      <p:sp>
        <p:nvSpPr>
          <p:cNvPr id="31" name="Text 28"/>
          <p:cNvSpPr txBox="1"/>
          <p:nvPr/>
        </p:nvSpPr>
        <p:spPr>
          <a:xfrm>
            <a:off x="5669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321040" y="3741725"/>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7B3FA0"/>
                </a:solidFill>
                <a:latin typeface="Amiri" pitchFamily="2" charset="-78"/>
                <a:cs typeface="Amiri" pitchFamily="2" charset="-78"/>
              </a:rPr>
              <a:t>لَوْ</a:t>
            </a:r>
            <a:pPr rtl="1" algn="ctr" indent="0" marL="0">
              <a:buNone/>
            </a:pPr>
            <a:r>
              <a:rPr lang="ar-SA" altLang="en-US" sz="1600" b="1" dirty="0">
                <a:solidFill>
                  <a:srgbClr val="1B3B6F"/>
                </a:solidFill>
                <a:latin typeface="Amiri" pitchFamily="2" charset="-78"/>
                <a:cs typeface="Amiri" pitchFamily="2" charset="-78"/>
              </a:rPr>
              <a:t> كُنْتُ … </a:t>
            </a:r>
            <a:pPr rtl="1" algn="ctr" indent="0" marL="0">
              <a:buNone/>
            </a:pPr>
            <a:r>
              <a:rPr lang="ar-SA" altLang="en-US" sz="1600" b="1" dirty="0">
                <a:solidFill>
                  <a:srgbClr val="7B3FA0"/>
                </a:solidFill>
                <a:latin typeface="Amiri" pitchFamily="2" charset="-78"/>
                <a:cs typeface="Amiri" pitchFamily="2" charset="-78"/>
              </a:rPr>
              <a:t>لَاسْتَثْمَرْتُ</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36" name="Text 33"/>
          <p:cNvSpPr txBox="1"/>
          <p:nvPr/>
        </p:nvSpPr>
        <p:spPr>
          <a:xfrm>
            <a:off x="62362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7" name="Text 34"/>
          <p:cNvSpPr txBox="1"/>
          <p:nvPr/>
        </p:nvSpPr>
        <p:spPr>
          <a:xfrm>
            <a:off x="2011680" y="3741725"/>
            <a:ext cx="40233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لَوْ كُنْتَ فِي مَوْقِعِ السُّلْطَةِ، مَاذَا كُنْتَ سَتُغَيِّرُ؟</a:t>
            </a:r>
            <a:endParaRPr lang="ar-SA" sz="1600" dirty="0"/>
          </a:p>
        </p:txBody>
      </p:sp>
      <p:sp>
        <p:nvSpPr>
          <p:cNvPr id="38" name="Text 35"/>
          <p:cNvSpPr txBox="1"/>
          <p:nvPr/>
        </p:nvSpPr>
        <p:spPr>
          <a:xfrm>
            <a:off x="5669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321040" y="4478731"/>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صَحِيحٌ أَنَّ … غَيْرَ أَنَّ …</a:t>
            </a:r>
            <a:endParaRPr lang="ar-SA" sz="1600" dirty="0"/>
          </a:p>
        </p:txBody>
      </p:sp>
      <p:sp>
        <p:nvSpPr>
          <p:cNvPr id="43" name="Text 40"/>
          <p:cNvSpPr txBox="1"/>
          <p:nvPr/>
        </p:nvSpPr>
        <p:spPr>
          <a:xfrm>
            <a:off x="62362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 refutation</a:t>
            </a:r>
            <a:endParaRPr lang="en-US" sz="1100" dirty="0"/>
          </a:p>
        </p:txBody>
      </p:sp>
      <p:sp>
        <p:nvSpPr>
          <p:cNvPr id="44" name="Text 41"/>
          <p:cNvSpPr txBox="1"/>
          <p:nvPr/>
        </p:nvSpPr>
        <p:spPr>
          <a:xfrm>
            <a:off x="202996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with the other side, then give your strongest point</a:t>
            </a:r>
            <a:endParaRPr lang="en-US" sz="1100" dirty="0"/>
          </a:p>
        </p:txBody>
      </p:sp>
      <p:sp>
        <p:nvSpPr>
          <p:cNvPr id="45" name="Text 42"/>
          <p:cNvSpPr txBox="1"/>
          <p:nvPr/>
        </p:nvSpPr>
        <p:spPr>
          <a:xfrm>
            <a:off x="5669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2–3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321040" y="5215738"/>
            <a:ext cx="33192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يَتَطَلَّبُ الحَلُّ أَنْ </a:t>
            </a:r>
            <a:pPr rtl="1" algn="ctr" indent="0" marL="0">
              <a:buNone/>
            </a:pPr>
            <a:r>
              <a:rPr lang="ar-SA" altLang="en-US" sz="1600" b="1" dirty="0">
                <a:solidFill>
                  <a:srgbClr val="D6336C"/>
                </a:solidFill>
                <a:latin typeface="Amiri" pitchFamily="2" charset="-78"/>
                <a:cs typeface="Amiri" pitchFamily="2" charset="-78"/>
              </a:rPr>
              <a:t>نُعِيدَ</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48" name="Text 45"/>
          <p:cNvSpPr txBox="1"/>
          <p:nvPr/>
        </p:nvSpPr>
        <p:spPr>
          <a:xfrm>
            <a:off x="623620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yataṭallabu an + -a</a:t>
            </a:r>
            <a:endParaRPr lang="en-US" sz="1100" dirty="0"/>
          </a:p>
        </p:txBody>
      </p:sp>
      <p:sp>
        <p:nvSpPr>
          <p:cNvPr id="49" name="Text 46"/>
          <p:cNvSpPr txBox="1"/>
          <p:nvPr/>
        </p:nvSpPr>
        <p:spPr>
          <a:xfrm>
            <a:off x="202996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the solution requires</a:t>
            </a:r>
            <a:endParaRPr lang="en-US" sz="1100" dirty="0"/>
          </a:p>
        </p:txBody>
      </p:sp>
      <p:sp>
        <p:nvSpPr>
          <p:cNvPr id="50" name="Text 47"/>
          <p:cNvSpPr txBox="1"/>
          <p:nvPr/>
        </p:nvSpPr>
        <p:spPr>
          <a:xfrm>
            <a:off x="5669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P5-L12 role play: a social-justice conference — introduce the issue, concede, refute, state what the solution requires.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Repairing the P5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إِصْلَاحُ أَخْطَاءِ الوَحْدَةِ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an vs anna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an + verb in -a · anna + noun clause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يُطَالِبُ بِأَنْ تُوَقِّعَ الدُّوَلُ   ·   أَكَّدَ أَنَّ الفَجْوَةَ تَتَّسِعُ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Concession → indicative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verb in -u</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صَحِيحٌ أَنَّ التَّعْلِيمَ يَتَطَلَّبُ مَوَارِدَ ضَخْمَةً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Subjunctive conclusion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an +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وَبِنَاءً عَلَى مَا سَبَقَ، يَتَطَلَّبُ الأَمْرُ أَنْ تَتَحَرَّكَ الحُكُومَاتُ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Type 2 result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عُولِجَ التَّفَاوُتُ مُبَكِّرًا، لَتَحَسَّنَ الوَضْعُ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يُطَالِبُ النَّاشِطُونَ بِأَنَّ تُوَقِّعَ الدُّوَلُ.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يُطَالِبُ النَّاشِطُونَ أَنَّ تُوَقِّعَ الدُّوَلُ.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يُطَالِبُ النَّاشِطُونَ بِأَنْ تُوَقِّعَ الدُّوَلُ.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 الخَبِيرُ أَنَّ الفَجْوَةَ تَتَّسِعُ.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 الخَبِيرُ أَنْ الفَجْوَةَ تَتَّسِعُ.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 الخَبِيرُ أَنْ تَتَّسِعَ الفَجْوَةُ.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concession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 التَّعْلِيمَ يَتَطَلَّبُ مَوَارِدَ.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 التَّعْلِيمَ يَتَطَلَّبَ مَوَارِدَ.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 التَّعْلِيمَ يَتَطَلَّبَ مَوَارِدَ.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يُطَالِبُ النَّاشِطُونَ بِأَنَّ تُوَقِّعَ الدُّوَلُ.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يُطَالِبُ النَّاشِطُونَ أَنَّ تُوَقِّعَ الدُّوَلُ.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يُطَالِبُ النَّاشِطُونَ بِأَنْ تُوَقِّعَ الدُّوَلُ.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takes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 </a:t>
            </a:r>
            <a:pPr algn="l" indent="0" marL="0">
              <a:buNone/>
            </a:pPr>
            <a:r>
              <a:rPr lang="ar-SA" altLang="en-US" sz="1350" dirty="0">
                <a:solidFill>
                  <a:srgbClr val="8A6D1E"/>
                </a:solidFill>
                <a:latin typeface="Amiri" pitchFamily="2" charset="-78"/>
                <a:cs typeface="Amiri" pitchFamily="2" charset="-78"/>
              </a:rPr>
              <a:t>بِأَنْ تُوَقِّعَ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أَكَّدَ الخَبِيرُ أَنَّ الفَجْوَةَ تَتَّسِعُ.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أَكَّدَ الخَبِيرُ أَنْ الفَجْوَةَ تَتَّسِعُ.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أَكَّدَ الخَبِيرُ أَنْ تَتَّسِعَ الفَجْوَةُ.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takes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a noun clause.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indicative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a real point, so the verb is indicative.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concession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صَحِيحٌ أَنَّ التَّعْلِيمَ يَتَطَلَّبُ مَوَارِدَ.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صَحِيحٌ أَنَّ التَّعْلِيمَ يَتَطَلَّبَ مَوَارِدَ.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صَحِيحٌ أَنْ التَّعْلِيمَ يَتَطَلَّبَ مَوَارِدَ.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answer the assessment questions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Topic 2</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صَحِيحٌ 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غَيْرَ أَنَّهَا</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Concede, refute.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Demand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يُطَالِبُ … </a:t>
            </a:r>
            <a:pPr rtl="1" algn="ctr" indent="0" marL="0">
              <a:buNone/>
            </a:pPr>
            <a:r>
              <a:rPr lang="ar-SA" altLang="en-US" sz="2700" b="1" dirty="0">
                <a:solidFill>
                  <a:srgbClr val="0E7C86"/>
                </a:solidFill>
                <a:latin typeface="Amiri" pitchFamily="2" charset="-78"/>
                <a:cs typeface="Amiri" pitchFamily="2" charset="-78"/>
              </a:rPr>
              <a:t>بِأَنْ تُوَفِّرَ</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Topic 3</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7B3FA0"/>
                </a:solidFill>
                <a:latin typeface="Amiri" pitchFamily="2" charset="-78"/>
                <a:cs typeface="Amiri" pitchFamily="2" charset="-78"/>
              </a:rPr>
              <a:t>لَوْ كُنْتُ</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7B3FA0"/>
                </a:solidFill>
                <a:latin typeface="Amiri" pitchFamily="2" charset="-78"/>
                <a:cs typeface="Amiri" pitchFamily="2" charset="-78"/>
              </a:rPr>
              <a:t>لَاسْتَثْمَرْتُ</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C77700"/>
                </a:solidFill>
                <a:latin typeface="Amiri" pitchFamily="2" charset="-78"/>
                <a:cs typeface="Amiri" pitchFamily="2" charset="-78"/>
              </a:rPr>
              <a:t>وَبِنَاءً عَلَى مَا سَبَقَ</a:t>
            </a:r>
            <a:pPr rtl="1" algn="ctr" indent="0" marL="0">
              <a:buNone/>
            </a:pPr>
            <a:r>
              <a:rPr lang="ar-SA" altLang="en-US" sz="2100" b="1" dirty="0">
                <a:solidFill>
                  <a:srgbClr val="1B3B6F"/>
                </a:solidFill>
                <a:latin typeface="Amiri" pitchFamily="2" charset="-78"/>
                <a:cs typeface="Amiri" pitchFamily="2" charset="-78"/>
              </a:rPr>
              <a:t> … أَنْ …</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CONCESSION</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REFUTATION</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TRIGGER</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CONCLUSION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cs typeface="Amiri" pitchFamily="2" charset="-78"/>
              </a:rPr>
              <a:t>صَحِيحٌ أَنَّ</a:t>
            </a:r>
            <a:pPr rtl="1" algn="r" indent="0" marL="0">
              <a:lnSpc>
                <a:spcPct val="120000"/>
              </a:lnSpc>
              <a:buNone/>
            </a:pPr>
            <a:r>
              <a:rPr lang="ar-SA" altLang="en-US" sz="1400" b="1" dirty="0">
                <a:solidFill>
                  <a:srgbClr val="1B3B6F"/>
                </a:solidFill>
                <a:latin typeface="Amiri" pitchFamily="2" charset="-78"/>
                <a:cs typeface="Amiri" pitchFamily="2" charset="-78"/>
              </a:rPr>
              <a:t> التِّقْنِيَّةَ تُوَفِّرُ فُرَصًا هَائِلَةً، </a:t>
            </a:r>
            <a:pPr rtl="1" algn="r" indent="0" marL="0">
              <a:lnSpc>
                <a:spcPct val="120000"/>
              </a:lnSpc>
              <a:buNone/>
            </a:pPr>
            <a:r>
              <a:rPr lang="ar-SA" altLang="en-US" sz="1400" b="1" dirty="0">
                <a:solidFill>
                  <a:srgbClr val="D6336C"/>
                </a:solidFill>
                <a:latin typeface="Amiri" pitchFamily="2" charset="-78"/>
                <a:cs typeface="Amiri" pitchFamily="2" charset="-78"/>
              </a:rPr>
              <a:t>غَيْرَ أَنَّهَا</a:t>
            </a:r>
            <a:pPr rtl="1" algn="r" indent="0" marL="0">
              <a:lnSpc>
                <a:spcPct val="120000"/>
              </a:lnSpc>
              <a:buNone/>
            </a:pPr>
            <a:r>
              <a:rPr lang="ar-SA" altLang="en-US" sz="1400" b="1" dirty="0">
                <a:solidFill>
                  <a:srgbClr val="1B3B6F"/>
                </a:solidFill>
                <a:latin typeface="Amiri" pitchFamily="2" charset="-78"/>
                <a:cs typeface="Amiri" pitchFamily="2" charset="-78"/>
              </a:rPr>
              <a:t> تُعَمِّقُ الفَجْوَةَ بَيْنَ مَنْ يَمْلِكُونَ وَمَنْ لَا يَمْلِكُونَ. وَيُطَالِبُ الخُبَرَاءُ </a:t>
            </a:r>
            <a:pPr rtl="1" algn="r" indent="0" marL="0">
              <a:lnSpc>
                <a:spcPct val="120000"/>
              </a:lnSpc>
              <a:buNone/>
            </a:pPr>
            <a:r>
              <a:rPr lang="ar-SA" altLang="en-US" sz="1400" b="1" dirty="0">
                <a:solidFill>
                  <a:srgbClr val="0E7C86"/>
                </a:solidFill>
                <a:latin typeface="Amiri" pitchFamily="2" charset="-78"/>
                <a:cs typeface="Amiri" pitchFamily="2" charset="-78"/>
              </a:rPr>
              <a:t>بِأَنْ تُوَفِّرَ</a:t>
            </a:r>
            <a:pPr rtl="1" algn="r" indent="0" marL="0">
              <a:lnSpc>
                <a:spcPct val="120000"/>
              </a:lnSpc>
              <a:buNone/>
            </a:pPr>
            <a:r>
              <a:rPr lang="ar-SA" altLang="en-US" sz="1400" b="1" dirty="0">
                <a:solidFill>
                  <a:srgbClr val="1B3B6F"/>
                </a:solidFill>
                <a:latin typeface="Amiri" pitchFamily="2" charset="-78"/>
                <a:cs typeface="Amiri" pitchFamily="2" charset="-78"/>
              </a:rPr>
              <a:t> الدُّوَلُ بُنْيَةً تَحْتِيَّةً رَقْمِيَّةً لِلْجَمِيعِ. </a:t>
            </a:r>
            <a:pPr rtl="1" algn="r" indent="0" marL="0">
              <a:lnSpc>
                <a:spcPct val="120000"/>
              </a:lnSpc>
              <a:buNone/>
            </a:pPr>
            <a:r>
              <a:rPr lang="ar-SA" altLang="en-US" sz="1400" b="1" dirty="0">
                <a:solidFill>
                  <a:srgbClr val="7B3FA0"/>
                </a:solidFill>
                <a:latin typeface="Amiri" pitchFamily="2" charset="-78"/>
                <a:cs typeface="Amiri" pitchFamily="2" charset="-78"/>
              </a:rPr>
              <a:t>وَلَوْ كُنْتُ</a:t>
            </a:r>
            <a:pPr rtl="1" algn="r" indent="0" marL="0">
              <a:lnSpc>
                <a:spcPct val="120000"/>
              </a:lnSpc>
              <a:buNone/>
            </a:pPr>
            <a:r>
              <a:rPr lang="ar-SA" altLang="en-US" sz="1400" b="1" dirty="0">
                <a:solidFill>
                  <a:srgbClr val="1B3B6F"/>
                </a:solidFill>
                <a:latin typeface="Amiri" pitchFamily="2" charset="-78"/>
                <a:cs typeface="Amiri" pitchFamily="2" charset="-78"/>
              </a:rPr>
              <a:t> فِي مَوْقِعِ السُّلْطَةِ، </a:t>
            </a:r>
            <a:pPr rtl="1" algn="r" indent="0" marL="0">
              <a:lnSpc>
                <a:spcPct val="120000"/>
              </a:lnSpc>
              <a:buNone/>
            </a:pPr>
            <a:r>
              <a:rPr lang="ar-SA" altLang="en-US" sz="1400" b="1" dirty="0">
                <a:solidFill>
                  <a:srgbClr val="7B3FA0"/>
                </a:solidFill>
                <a:latin typeface="Amiri" pitchFamily="2" charset="-78"/>
                <a:cs typeface="Amiri" pitchFamily="2" charset="-78"/>
              </a:rPr>
              <a:t>لَاسْتَثْمَرْتُ</a:t>
            </a:r>
            <a:pPr rtl="1" algn="r" indent="0" marL="0">
              <a:lnSpc>
                <a:spcPct val="120000"/>
              </a:lnSpc>
              <a:buNone/>
            </a:pPr>
            <a:r>
              <a:rPr lang="ar-SA" altLang="en-US" sz="1400" b="1" dirty="0">
                <a:solidFill>
                  <a:srgbClr val="1B3B6F"/>
                </a:solidFill>
                <a:latin typeface="Amiri" pitchFamily="2" charset="-78"/>
                <a:cs typeface="Amiri" pitchFamily="2" charset="-78"/>
              </a:rPr>
              <a:t> فِي التَّعْلِيمِ الرَّقْمِيِّ أَوَّلًا. </a:t>
            </a:r>
            <a:pPr rtl="1" algn="r" indent="0" marL="0">
              <a:lnSpc>
                <a:spcPct val="120000"/>
              </a:lnSpc>
              <a:buNone/>
            </a:pPr>
            <a:r>
              <a:rPr lang="ar-SA" altLang="en-US" sz="1400" b="1" dirty="0">
                <a:solidFill>
                  <a:srgbClr val="C77700"/>
                </a:solidFill>
                <a:latin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cs typeface="Amiri" pitchFamily="2" charset="-78"/>
              </a:rPr>
              <a:t>، يَتَطَلَّبُ الأَمْرُ أَنْ تَتَحَرَّكَ الحُكُومَاتُ بِسُرْعَةٍ.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It is true that technology offers enormous opportunities; however, it deepens the gap between those who have and those who do not. Experts demand that states provide digital infrastructure for all. And if I were in a position of power, I would invest in digital education first. Based on the above, the matter requires governments to act quickly.</a:t>
            </a:r>
            <a:endParaRPr lang="en-US" sz="10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يُطَالِبُ النَّاشِطُونَ بِأَنْ تُوَقِّعَ الدُّوَلُ، وَأَكَّدُوا أَنَّ الوَقْتَ يَنْفَدُ</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activists demand that states sign — and they confirmed that time is running out</a:t>
            </a:r>
            <a:endParaRPr lang="en-US" sz="1250" dirty="0"/>
          </a:p>
          <a:p>
            <a:pPr indent="0" marL="0">
              <a:buNone/>
            </a:pPr>
            <a:r>
              <a:rPr lang="en-US" sz="1050" i="1" dirty="0">
                <a:solidFill>
                  <a:srgbClr val="8A6D1E"/>
                </a:solidFill>
                <a:latin typeface="Calibri" pitchFamily="34" charset="0"/>
                <a:cs typeface="Amiri" pitchFamily="2" charset="-78"/>
              </a:rPr>
              <a:t>an (trigger) vs anna (report).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صَحِيحٌ أَنَّ الإِصْلَاحَ يَتَطَلَّبُ مَوَارِدَ، غَيْرَ أَنَّ العَائِدَ أَكْبَرُ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true that reform requires resources; however, the return is greater</a:t>
            </a:r>
            <a:endParaRPr lang="en-US" sz="1250" dirty="0"/>
          </a:p>
          <a:p>
            <a:pPr indent="0" marL="0">
              <a:buNone/>
            </a:pPr>
            <a:r>
              <a:rPr lang="en-US" sz="1050" i="1" dirty="0">
                <a:solidFill>
                  <a:srgbClr val="8A6D1E"/>
                </a:solidFill>
                <a:latin typeface="Calibri" pitchFamily="34" charset="0"/>
                <a:cs typeface="Amiri" pitchFamily="2" charset="-78"/>
              </a:rPr>
              <a:t>Concession indicative + refutation.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وَبِنَاءً عَلَى مَا سَبَقَ، يَتَطَلَّبُ الأَمْرُ أَنْ تَتَحَرَّكَ الحُكُومَاتُ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based on the above, the matter requires governments to act</a:t>
            </a:r>
            <a:endParaRPr lang="en-US" sz="1250" dirty="0"/>
          </a:p>
          <a:p>
            <a:pPr indent="0" marL="0">
              <a:buNone/>
            </a:pPr>
            <a:r>
              <a:rPr lang="en-US" sz="1050" i="1" dirty="0">
                <a:solidFill>
                  <a:srgbClr val="8A6D1E"/>
                </a:solidFill>
                <a:latin typeface="Calibri" pitchFamily="34" charset="0"/>
                <a:cs typeface="Amiri" pitchFamily="2" charset="-78"/>
              </a:rPr>
              <a:t>Subjunctive conclusion.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REPAIR THE SLIPS (WEBSITE MISTAKES + EARLIER P5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17" name="Text 14"/>
          <p:cNvSpPr txBox="1"/>
          <p:nvPr/>
        </p:nvSpPr>
        <p:spPr>
          <a:xfrm>
            <a:off x="45537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vs anna</a:t>
            </a:r>
            <a:endParaRPr lang="en-US" sz="1100" dirty="0"/>
          </a:p>
        </p:txBody>
      </p:sp>
      <p:sp>
        <p:nvSpPr>
          <p:cNvPr id="21" name="Text 18"/>
          <p:cNvSpPr txBox="1"/>
          <p:nvPr/>
        </p:nvSpPr>
        <p:spPr>
          <a:xfrm>
            <a:off x="4572000" y="2267712"/>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يُطَالِبُ النَّاشِطُونَ بِأَنْ تُوَقِّعَ الدُّوَلُ.</a:t>
            </a:r>
            <a:endParaRPr lang="ar-SA" sz="1700" dirty="0"/>
          </a:p>
        </p:txBody>
      </p:sp>
      <p:sp>
        <p:nvSpPr>
          <p:cNvPr id="22" name="Text 19"/>
          <p:cNvSpPr txBox="1"/>
          <p:nvPr/>
        </p:nvSpPr>
        <p:spPr>
          <a:xfrm>
            <a:off x="548640" y="2267712"/>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يُطَالِبُ النَّاشِطُونَ بِأَنَّ تُوَقِّعَ الدُّوَلُ.</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-u</a:t>
            </a:r>
            <a:endParaRPr lang="en-US" sz="1100" dirty="0"/>
          </a:p>
        </p:txBody>
      </p:sp>
      <p:sp>
        <p:nvSpPr>
          <p:cNvPr id="27" name="Text 24"/>
          <p:cNvSpPr txBox="1"/>
          <p:nvPr/>
        </p:nvSpPr>
        <p:spPr>
          <a:xfrm>
            <a:off x="4572000" y="2881884"/>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صَحِيحٌ أَنَّ التَّعْلِيمَ يَتَطَلَّبُ مَوَارِدَ.</a:t>
            </a:r>
            <a:endParaRPr lang="ar-SA" sz="1700" dirty="0"/>
          </a:p>
        </p:txBody>
      </p:sp>
      <p:sp>
        <p:nvSpPr>
          <p:cNvPr id="28" name="Text 25"/>
          <p:cNvSpPr txBox="1"/>
          <p:nvPr/>
        </p:nvSpPr>
        <p:spPr>
          <a:xfrm>
            <a:off x="548640" y="2881884"/>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صَحِيحٌ أَنَّ التَّعْلِيمَ يَتَطَلَّبَ مَوَارِدَ.</a:t>
            </a:r>
            <a:endParaRPr lang="ar-SA" sz="17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 -a</a:t>
            </a:r>
            <a:endParaRPr lang="en-US" sz="1100" dirty="0"/>
          </a:p>
        </p:txBody>
      </p:sp>
      <p:sp>
        <p:nvSpPr>
          <p:cNvPr id="33" name="Text 30"/>
          <p:cNvSpPr txBox="1"/>
          <p:nvPr/>
        </p:nvSpPr>
        <p:spPr>
          <a:xfrm>
            <a:off x="4572000" y="3496056"/>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يَتَطَلَّبُ الأَمْرُ أَنْ تَتَحَرَّكَ الحُكُومَاتُ.</a:t>
            </a:r>
            <a:endParaRPr lang="ar-SA" sz="1700" dirty="0"/>
          </a:p>
        </p:txBody>
      </p:sp>
      <p:sp>
        <p:nvSpPr>
          <p:cNvPr id="34" name="Text 31"/>
          <p:cNvSpPr txBox="1"/>
          <p:nvPr/>
        </p:nvSpPr>
        <p:spPr>
          <a:xfrm>
            <a:off x="548640" y="3496056"/>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يَتَطَلَّبُ الأَمْرُ أَنْ تَتَحَرَّكُ الحُكُومَاتُ.</a:t>
            </a:r>
            <a:endParaRPr lang="ar-SA" sz="17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la-</a:t>
            </a:r>
            <a:endParaRPr lang="en-US" sz="1100" dirty="0"/>
          </a:p>
        </p:txBody>
      </p:sp>
      <p:sp>
        <p:nvSpPr>
          <p:cNvPr id="39" name="Text 36"/>
          <p:cNvSpPr txBox="1"/>
          <p:nvPr/>
        </p:nvSpPr>
        <p:spPr>
          <a:xfrm>
            <a:off x="4572000" y="4110228"/>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لَوْ عُولِجَ التَّفَاوُتُ مُبَكِّرًا، لَتَحَسَّنَ الوَضْعُ.</a:t>
            </a:r>
            <a:endParaRPr lang="ar-SA" sz="1700" dirty="0"/>
          </a:p>
        </p:txBody>
      </p:sp>
      <p:sp>
        <p:nvSpPr>
          <p:cNvPr id="40" name="Text 37"/>
          <p:cNvSpPr txBox="1"/>
          <p:nvPr/>
        </p:nvSpPr>
        <p:spPr>
          <a:xfrm>
            <a:off x="548640" y="4110228"/>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لَوْ عُولِجَ التَّفَاوُتُ مُبَكِّرًا، تَحَسَّنَ الوَضْعُ.</a:t>
            </a:r>
            <a:endParaRPr lang="ar-SA" sz="17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yulzamu bi- (L05)</a:t>
            </a:r>
            <a:endParaRPr lang="en-US" sz="1100" dirty="0"/>
          </a:p>
        </p:txBody>
      </p:sp>
      <p:sp>
        <p:nvSpPr>
          <p:cNvPr id="43" name="Text 40"/>
          <p:cNvSpPr txBox="1"/>
          <p:nvPr/>
        </p:nvSpPr>
        <p:spPr>
          <a:xfrm>
            <a:off x="4572000" y="4724400"/>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تُلْزَمُ الدُّوَلُ بِالامْتِثَالِ.</a:t>
            </a:r>
            <a:endParaRPr lang="ar-SA" sz="1700" dirty="0"/>
          </a:p>
        </p:txBody>
      </p:sp>
      <p:sp>
        <p:nvSpPr>
          <p:cNvPr id="44" name="Text 41"/>
          <p:cNvSpPr txBox="1"/>
          <p:nvPr/>
        </p:nvSpPr>
        <p:spPr>
          <a:xfrm>
            <a:off x="548640" y="4724400"/>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تُلْزَمُ الدُّوَلُ عَلَى الامْتِثَالِ.</a:t>
            </a:r>
            <a:endParaRPr lang="ar-SA" sz="17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-a (L06)</a:t>
            </a:r>
            <a:endParaRPr lang="en-US" sz="1100" dirty="0"/>
          </a:p>
        </p:txBody>
      </p:sp>
      <p:sp>
        <p:nvSpPr>
          <p:cNvPr id="47" name="Text 44"/>
          <p:cNvSpPr txBox="1"/>
          <p:nvPr/>
        </p:nvSpPr>
        <p:spPr>
          <a:xfrm>
            <a:off x="4572000" y="5338572"/>
            <a:ext cx="402336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يُعِيدُ الشَّبَابُ تَعْرِيفَ النَّاشِطِيَّةِ.</a:t>
            </a:r>
            <a:endParaRPr lang="ar-SA" sz="1700" dirty="0"/>
          </a:p>
        </p:txBody>
      </p:sp>
      <p:sp>
        <p:nvSpPr>
          <p:cNvPr id="48" name="Text 45"/>
          <p:cNvSpPr txBox="1"/>
          <p:nvPr/>
        </p:nvSpPr>
        <p:spPr>
          <a:xfrm>
            <a:off x="548640" y="5338572"/>
            <a:ext cx="38404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يُعِيدُ الشَّبَابُ تَعْرِيفُ النَّاشِطِيَّةِ.</a:t>
            </a:r>
            <a:endParaRPr lang="ar-SA" sz="17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“the shared lesson is that every structure has a precise marker.”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ASSESSMENT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Concession + demand + hypothesis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Concession–refutation</a:t>
            </a:r>
            <a:endParaRPr lang="en-US" sz="1100" dirty="0"/>
          </a:p>
        </p:txBody>
      </p:sp>
      <p:sp>
        <p:nvSpPr>
          <p:cNvPr id="19" name="Text 16"/>
          <p:cNvSpPr txBox="1"/>
          <p:nvPr/>
        </p:nvSpPr>
        <p:spPr>
          <a:xfrm>
            <a:off x="412394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Demand (an + -a)</a:t>
            </a:r>
            <a:endParaRPr lang="en-US" sz="1100" dirty="0"/>
          </a:p>
        </p:txBody>
      </p:sp>
      <p:sp>
        <p:nvSpPr>
          <p:cNvPr id="20" name="Text 17"/>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Type 2 / conclusion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7799832" y="2267712"/>
            <a:ext cx="384048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صَحِيحٌ أَنَّ التِّقْنِيَّةَ تُوَفِّرُ فُرَصًا، غَيْرَ أَنَّهَا تُعَمِّقُ الفَجْوَةَ الرَّقْمِيَّةَ</a:t>
            </a:r>
            <a:endParaRPr lang="ar-SA" sz="1400" dirty="0"/>
          </a:p>
        </p:txBody>
      </p:sp>
      <p:sp>
        <p:nvSpPr>
          <p:cNvPr id="23" name="Text 20"/>
          <p:cNvSpPr txBox="1"/>
          <p:nvPr/>
        </p:nvSpPr>
        <p:spPr>
          <a:xfrm>
            <a:off x="414223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وَيُطَالِبُ الخُبَرَاءُ بِأَنْ تُوَفِّرَ الدُّوَلُ بُنْيَةً تَحْتِيَّةً لِلْجَمِيعِ</a:t>
            </a:r>
            <a:endParaRPr lang="ar-SA" sz="1450" dirty="0"/>
          </a:p>
        </p:txBody>
      </p:sp>
      <p:sp>
        <p:nvSpPr>
          <p:cNvPr id="24" name="Text 21"/>
          <p:cNvSpPr txBox="1"/>
          <p:nvPr/>
        </p:nvSpPr>
        <p:spPr>
          <a:xfrm>
            <a:off x="548640" y="2267712"/>
            <a:ext cx="341071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وَلَوْ كُنْتُ مَسْؤُولًا، لَاسْتَثْمَرْتُ فِي التَّعْلِيمِ الرَّقْمِيِّ أَوَّلًا</a:t>
            </a:r>
            <a:endParaRPr lang="ar-SA" sz="1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صَحِيحٌ أَنَّ الإِصْلَاحَاتِ تَحْتَاجُ وَقْتًا، غَيْرَ أَنَّ الحَاجَةَ مُلِحَّةٌ</a:t>
            </a:r>
            <a:endParaRPr lang="ar-SA" sz="1500" dirty="0"/>
          </a:p>
        </p:txBody>
      </p:sp>
      <p:sp>
        <p:nvSpPr>
          <p:cNvPr id="29" name="Text 26"/>
          <p:cNvSpPr txBox="1"/>
          <p:nvPr/>
        </p:nvSpPr>
        <p:spPr>
          <a:xfrm>
            <a:off x="4142232" y="3054096"/>
            <a:ext cx="347472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وَيُصِرُّ النَّاشِطُونَ عَلَى أَنْ تُطَبَّقَ العَدَالَةُ بِالتَّسَاوِي</a:t>
            </a:r>
            <a:endParaRPr lang="ar-SA" sz="1500" dirty="0"/>
          </a:p>
        </p:txBody>
      </p:sp>
      <p:sp>
        <p:nvSpPr>
          <p:cNvPr id="30" name="Text 27"/>
          <p:cNvSpPr txBox="1"/>
          <p:nvPr/>
        </p:nvSpPr>
        <p:spPr>
          <a:xfrm>
            <a:off x="548640" y="3054096"/>
            <a:ext cx="341071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وَلَوْ عُولِجَ التَّفَاوُتُ مُبَكِّرًا، لَتَحَسَّنَ الوَضْعُ</a:t>
            </a:r>
            <a:endParaRPr lang="ar-SA" sz="15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صَحِيحٌ أَنَّ لِلْهِجْرَةِ تَحَدِّيَاتٍ، غَيْرَ أَنَّهَا تُثْرِي المُجْتَمَعَاتِ</a:t>
            </a:r>
            <a:endParaRPr lang="ar-SA" sz="1500" dirty="0"/>
          </a:p>
        </p:txBody>
      </p:sp>
      <p:sp>
        <p:nvSpPr>
          <p:cNvPr id="33" name="Text 30"/>
          <p:cNvSpPr txBox="1"/>
          <p:nvPr/>
        </p:nvSpPr>
        <p:spPr>
          <a:xfrm>
            <a:off x="4142232" y="3840480"/>
            <a:ext cx="347472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وَيَدْعُو المُخْتَصُّونَ إِلَى أَنْ يُعَادَ تَوْزِيعُ الفُرَصِ</a:t>
            </a:r>
            <a:endParaRPr lang="ar-SA" sz="1500" dirty="0"/>
          </a:p>
        </p:txBody>
      </p:sp>
      <p:sp>
        <p:nvSpPr>
          <p:cNvPr id="34" name="Text 31"/>
          <p:cNvSpPr txBox="1"/>
          <p:nvPr/>
        </p:nvSpPr>
        <p:spPr>
          <a:xfrm>
            <a:off x="548640" y="3840480"/>
            <a:ext cx="341071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وَبِنَاءً عَلَى مَا سَبَقَ، يَتَطَلَّبُ الأَمْرُ أَنْ تَتَحَرَّكَ الحُكُومَاتُ</a:t>
            </a:r>
            <a:endParaRPr lang="ar-SA" sz="14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an + -a, anna + noun — or concession -u?</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يُطَالِبُ النَّاشِطُونَ بِأَنْ تُوَقِّعَ الدُّوَلُ</a:t>
            </a:r>
            <a:endParaRPr lang="ar-SA" sz="17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150" b="1" dirty="0">
                <a:solidFill>
                  <a:srgbClr val="1B3B6F"/>
                </a:solidFill>
                <a:latin typeface="Amiri" pitchFamily="2" charset="-78"/>
                <a:cs typeface="Amiri" pitchFamily="2" charset="-78"/>
              </a:rPr>
              <a:t>يُصِرُّ المُدَافِعُونَ عَلَى أَنْ تَحْصُلَ المَرْأَةُ عَلَى حُقُوقِهَا</a:t>
            </a:r>
            <a:endParaRPr lang="ar-SA" sz="11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يَمْنَعُ القَانُونُ أَنْ تُبَاعَ البَيَانَاتُ</a:t>
            </a:r>
            <a:endParaRPr lang="ar-SA" sz="17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 الخَبِيرُ أَنَّ الفَجْوَةَ تَتَّسِعُ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cs typeface="Amiri" pitchFamily="2" charset="-78"/>
              </a:rPr>
              <a:t>يُشَارُ إِلَى أَنَّ التَّفَاوُتَ يُهَدِّدُ الاسْتِقْرَارَ</a:t>
            </a:r>
            <a:endParaRPr lang="ar-SA" sz="14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يُثْبِتُ الوَاقِعُ أَنَّ الحَاجَةَ مُلِحَّةٌ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التَّعْلِيمَ يَتَطَلَّبُ مَوَارِدَ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صَحِيحٌ أَنَّ الإِصْلَاحَاتِ تَحْتَاجُ وَقْتًا</a:t>
            </a:r>
            <a:endParaRPr lang="ar-SA" sz="17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التِّقْنِيَّةَ تُوَفِّرُ فُرَصًا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(trigger + verb in -a)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anna (reported fact)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concession → verb in -u</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(trigger + verb in -a)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يُطَالِبُ النَّاشِطُونَ بِأَنْ تُوَقِّعَ الدُّوَلُ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cs typeface="Amiri" pitchFamily="2" charset="-78"/>
              </a:rPr>
              <a:t>يُصِرُّ المُدَافِعُونَ عَلَى أَنْ تَحْصُلَ المَرْأَةُ عَلَى حُقُوقِهَا</a:t>
            </a:r>
            <a:endParaRPr lang="ar-SA" sz="14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يَمْنَعُ القَانُونُ أَنْ تُبَاعَ البَيَانَاتُ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anna (reported fact)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 الخَبِيرُ أَنَّ الفَجْوَةَ تَتَّسِعُ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يُشَارُ إِلَى أَنَّ التَّفَاوُتَ يُهَدِّدُ الاسْتِقْرَارَ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يُثْبِتُ الوَاقِعُ أَنَّ الحَاجَةَ مُلِحَّةٌ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concession → verb in -u</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التَّعْلِيمَ يَتَطَلَّبُ مَوَارِدَ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الإِصْلَاحَاتِ تَحْتَاجُ وَقْتًا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صَحِيحٌ أَنَّ التِّقْنِيَّةَ تُوَفِّرُ فُرَصًا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subjunctive conclusion: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وَبِنَاءً عَلَى مَا سَبَقَ، يَتَطَلَّبُ الأَمْرُ أَنْ ___ الحُكُومَاتُ.</a:t>
            </a:r>
            <a:endParaRPr lang="ar-SA" sz="11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عُولِجَ التَّفَاوُتُ مُبَكِّرًا، ___ الوَضْعُ.</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سَيَتَحَسَّنُ</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لَتَحَسَّنَ</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يَتَحَسَّنُ</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(for a feminine subject)?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الأَجْيَالُ قَدْ نَاضَلَ.</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الأَجْيَالُ قَدْ نَاضَلَتْ.</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الأَجْيَالُ قَدْ نَاضَلَتْ.</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concession question well?</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التِّقْنِيَّةُ مُفِيدَةٌ فَقَطْ.</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التِّقْنِيَّةُ ضَارَّةٌ فَقَطْ.</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 لِلتِّقْنِيَّةِ فَوَائِدَ، غَيْرَ أَنَّهَا تُعَمِّقُ الفَجْوَةَ.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subjunctive conclusion: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وَبِنَاءً عَلَى مَا سَبَقَ، يَتَطَلَّبُ الأَمْرُ أَنْ ___ الحُكُومَاتُ.</a:t>
            </a:r>
            <a:endParaRPr lang="ar-SA" sz="11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تَتَحَرَّكُ</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تَتَحَرَّكْ</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تَتَحَرَّكَ</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تَتَحَرَّكَ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عُولِجَ التَّفَاوُتُ مُبَكِّرًا، ___ الوَضْعُ.</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سَيَتَحَسَّنُ</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لَتَحَسَّنَ</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يَتَحَسَّنُ</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(for a feminine subject)?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 الأَجْيَالُ قَدْ نَاضَلَ.</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الأَجْيَالُ قَدْ نَاضَلَتْ.</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الأَجْيَالُ قَدْ نَاضَلَتْ.</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نَاضَلَتْ</a:t>
            </a:r>
            <a:pPr algn="l" indent="0" marL="0">
              <a:buNone/>
            </a:pPr>
            <a:r>
              <a:rPr lang="en-US" sz="1050" i="1" dirty="0">
                <a:solidFill>
                  <a:srgbClr val="8A6D1E"/>
                </a:solidFill>
                <a:latin typeface="Calibri" pitchFamily="34" charset="0"/>
                <a:cs typeface="Amiri" pitchFamily="2" charset="-78"/>
              </a:rPr>
              <a:t> both agree with the feminine subject.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concession question well?</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التِّقْنِيَّةُ مُفِيدَةٌ فَقَطْ.</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التِّقْنِيَّةُ ضَارَّةٌ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صَحِيحٌ أَنَّ لِلتِّقْنِيَّةِ فَوَائِدَ، غَيْرَ أَنَّهَا تُعَمِّقُ الفَجْوَةَ.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concession question is answered with </a:t>
            </a:r>
            <a:pPr algn="l" indent="0" marL="0">
              <a:buNone/>
            </a:pPr>
            <a:r>
              <a:rPr lang="ar-SA" altLang="en-US" sz="1350" dirty="0">
                <a:solidFill>
                  <a:srgbClr val="8A6D1E"/>
                </a:solidFill>
                <a:latin typeface="Amiri" pitchFamily="2" charset="-78"/>
                <a:cs typeface="Amiri" pitchFamily="2" charset="-78"/>
              </a:rPr>
              <a:t>صَحِيحٌ أَنَّ … غَيْرَ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يُطَالِبُ النَّاشِطُونَ بِأَنَّ تُوَقِّعَ الدُّوَلُ الاتِّفَاقَ.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yuṭālibu bi-anna?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صَحِيحٌ أَنَّ التَّعْلِيمَ يَتَطَلَّبَ مَوَارِدَ ضَخْمَةً.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ṣaḥīḥun anna … yataṭallaba?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850" b="1" dirty="0">
                <a:solidFill>
                  <a:srgbClr val="B83227"/>
                </a:solidFill>
                <a:latin typeface="Amiri" pitchFamily="2" charset="-78"/>
                <a:cs typeface="Amiri" pitchFamily="2" charset="-78"/>
              </a:rPr>
              <a:t>وَبِنَاءً عَلَى مَا سَبَقَ، يَتَطَلَّبُ الأَمْرُ أَنْ تَتَحَرَّكُ الحُكُومَاتُ.</a:t>
            </a:r>
            <a:endParaRPr lang="ar-SA" sz="28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taḥassana?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يُطَالِبُ النَّاشِطُونَ بِأَنَّ تُوَقِّعَ الدُّوَلُ الاتِّفَاقَ.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cs typeface="Amiri" pitchFamily="2" charset="-78"/>
              </a:rPr>
              <a:t>يُطَالِبُ النَّاشِطُونَ بِأَنْ تُوَقِّعَ الدُّوَلُ الاتِّفَاقَ.</a:t>
            </a:r>
            <a:endParaRPr lang="ar-SA" sz="23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subjunctive trigger takes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صَحِيحٌ أَنَّ التَّعْلِيمَ يَتَطَلَّبَ مَوَارِدَ ضَخْمَةً.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صَحِيحٌ أَنَّ التَّعْلِيمَ يَتَطَلَّبُ مَوَارِدَ ضَخْمَةً.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صَحِيحٌ أَنَّ</a:t>
            </a:r>
            <a:pPr algn="l" indent="0" marL="0">
              <a:buNone/>
            </a:pPr>
            <a:r>
              <a:rPr lang="en-US" sz="1150" b="1" dirty="0">
                <a:solidFill>
                  <a:srgbClr val="1B3B6F"/>
                </a:solidFill>
                <a:latin typeface="Calibri" pitchFamily="34" charset="0"/>
                <a:cs typeface="Amiri" pitchFamily="2" charset="-78"/>
              </a:rPr>
              <a:t> the verb is indicative: </a:t>
            </a:r>
            <a:pPr algn="l" indent="0" marL="0">
              <a:buNone/>
            </a:pPr>
            <a:r>
              <a:rPr lang="ar-SA" altLang="en-US" sz="1500" b="1" dirty="0">
                <a:solidFill>
                  <a:srgbClr val="1B3B6F"/>
                </a:solidFill>
                <a:latin typeface="Amiri" pitchFamily="2" charset="-78"/>
                <a:cs typeface="Amiri" pitchFamily="2" charset="-78"/>
              </a:rPr>
              <a:t>يَتَطَلَّبُ</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وَبِنَاءً عَلَى مَا سَبَقَ، يَتَطَلَّبُ الأَمْرُ أَنْ تَتَحَرَّكُ الحُكُومَاتُ.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وَبِنَاءً عَلَى مَا سَبَقَ، يَتَطَلَّبُ الأَمْرُ أَنْ تَتَحَرَّكَ الحُكُومَاتُ.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cs typeface="Amiri" pitchFamily="2" charset="-78"/>
              </a:rPr>
              <a:t>تَتَحَرَّكَ</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Listening: a mock social-issues topic conversation</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answer the digital-divide question?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Concedes the tech offers opportunities, then refutes that it deepens the gap</a:t>
            </a:r>
            <a:endParaRPr lang="en-US" sz="12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Says tech is purely good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Says tech is purely bad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experts demand (</a:t>
            </a:r>
            <a:pPr algn="l" indent="0" marL="0">
              <a:buNone/>
            </a:pPr>
            <a:r>
              <a:rPr lang="ar-SA" altLang="en-US" sz="1650" b="1" dirty="0">
                <a:solidFill>
                  <a:srgbClr val="1B3B6F"/>
                </a:solidFill>
                <a:latin typeface="Amiri" pitchFamily="2" charset="-78"/>
                <a:cs typeface="Amiri" pitchFamily="2" charset="-78"/>
              </a:rPr>
              <a:t>يُطَالِبُ بِأَنْ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technology be banned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gap widen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states provide digital infrastructure for all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being in power?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Power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would do nothing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would invest in digital education first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conclude?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must act quickly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needs to change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wait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answers using concession and refutation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ṣaḥīḥun anna · ghayra anna-hā · bi-an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المُعَلِّمُ: هَلْ تَعْتَقِدُ أَنَّ الفَجْوَةَ الرَّقْمِيَّةَ تُعَمِّقُ عَدَمَ المُسَاوَاةِ؟ الطَّالِبُ: صَحِيحٌ أَنَّ التِّقْنِيَّةَ تُوَفِّرُ فُرَصًا هَائِلَةً، غَيْرَ أَنَّهَا تُعَمِّقُ الفَجْوَةَ بَيْنَ مَنْ يَمْلِكُونَ وَمَنْ لَا يَمْلِكُونَ.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Teacher: Do you think the digital divide deepens inequality? Student: It is true that technology offers enormous opportunities; however, it deepens the gap between those who have and those who do not.</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المُعَلِّمُ: وَمَا الحَلُّ؟ الطَّالِبُ: يُطَالِبُ الخُبَرَاءُ بِأَنْ تُوَفِّرَ الدُّوَلُ بُنْيَةً تَحْتِيَّةً رَقْمِيَّةً لِلْجَمِيعِ.</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And what is the solution? Student: Experts demand that states provide digital infrastructure for all.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المُعَلِّمُ: لَوْ كُنْتَ فِي مَوْقِعِ السُّلْطَةِ، مَاذَا كُنْتَ سَتُغَيِّرُ؟ الطَّالِبُ: لَوْ كُنْتُ فِي مَوْقِعِ السُّلْطَةِ، لَاسْتَثْمَرْتُ فِي التَّعْلِيمِ الرَّقْمِيِّ أَوَّلًا.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If you were in a position of power, what would you change? Student: If I were in a position of power, I would invest in digital education first.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المُعَلِّمُ: وَكَيْفَ تَخْتِمُ؟ الطَّالِبُ: وَبِنَاءً عَلَى مَا سَبَقَ، يَتَطَلَّبُ الأَمْرُ أَنْ تَتَحَرَّكَ الحُكُومَاتُ بِسُرْعَةٍ.</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And how do you conclude? Student: Based on the above, the matter requires governments to act quickly.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المُعَلِّمُ: أَجْوِبَةٌ مُتَوَازِنَةٌ اسْتَعْمَلْتَ فِيهَا التَّسْلِيمَ وَالرَّدَّ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Balanced answers in which you used concession and refutation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answer the digital-divide question?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Concedes the tech offers opportunities, then refutes that it deepens the gap</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Says tech is purely good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Says tech is purely bad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صَحِيحٌ أَنَّ التِّقْنِيَّةَ تُوَفِّرُ فُرَصًا … غَيْرَ أَنَّهَا تُعَمِّقُ الفَجْوَةَ.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experts demand (</a:t>
            </a:r>
            <a:pPr algn="l" indent="0" marL="0">
              <a:buNone/>
            </a:pPr>
            <a:r>
              <a:rPr lang="ar-SA" altLang="en-US" sz="1650" b="1" dirty="0">
                <a:solidFill>
                  <a:srgbClr val="1B3B6F"/>
                </a:solidFill>
                <a:latin typeface="Amiri" pitchFamily="2" charset="-78"/>
                <a:cs typeface="Amiri" pitchFamily="2" charset="-78"/>
              </a:rPr>
              <a:t>يُطَالِبُ بِأَنْ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technology be banned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gap widen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states provide digital infrastructure for all</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يُطَالِبُ الخُبَرَاءُ بِأَنْ تُوَفِّرَ الدُّوَلُ بُنْيَةً تَحْتِيَّةً رَقْمِيَّةً لِلْجَمِيعِ.</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being in power?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Power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would do nothing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student would invest in digital education first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لَوْ كُنْتُ فِي مَوْقِعِ السُّلْطَةِ، لَاسْتَثْمَرْتُ فِي التَّعْلِيمِ الرَّقْمِيِّ أَوَّلًا.</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conclude?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Governments must act quickly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needs to change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should wait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وَبِنَاءً عَلَى مَا سَبَقَ، يَتَطَلَّبُ الأَمْرُ أَنْ تَتَحَرَّكَ الحُكُومَاتُ بِسُرْعَةٍ.</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Balanced answers using concession and refutation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اسْتَعْمَلْتَ فِيهَا التَّسْلِيمَ وَالرَّدَّ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ṣaḥīḥun anna · ghayra anna-hā · bi-an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أَكْبَرُ تَحَدٍّ اجْتِمَاعِيٍّ يُوَاجِهُ العَالَمَ العَرَبِيَّ؟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تَعْتَقِدُ أَنَّ الفَجْوَةَ الرَّقْمِيَّةَ تُعَمِّقُ عَدَمَ المُسَاوَاةِ؟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كُنْتَ مَسْؤُولًا عَنِ السِّيَاسَاتِ الاجْتِمَاعِيَّةِ، مَاذَا كُنْتَ سَتُغَيِّرُ أَوَّلًا؟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يُشَكِّلُ ___ أَكْبَرَ تَحَدٍّ،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صَحِيحٌ أَنَّ ___ ، غَيْرَ أَنَّهَا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كُنْتُ مَسْؤُولًا، لَاسْتَثْمَرْتُ فِي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تُعَمِّقُ الفَجْوَةُ الرَّقْمِيَّةُ عَدَمَ المُسَاوَاةِ؟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Does the digital divide deepen inequality?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صَحِيحٌ أَنَّ التِّقْنِيَّةَ تُوَفِّرُ فُرَصًا، غَيْرَ أَنَّهَا تُعَمِّقُ الفَجْوَةَ.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It is true that technology offers opportunities; however, it deepens the gap.</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Correct six P5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correct six P5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2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concession-refutation pair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concession–refutation pair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fluent answers to the concession and Type 2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answer two assessment questions with a concession–refutation, a Type 2 and a subjunctive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صَحِيحٌ أَنَّ ______ ، غَيْرَ أَنَّهَا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true that …; however, 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كُنْتُ مَسْؤُولًا، لَاسْتَثْمَرْتُ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were in charge, I would invest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الأَجْيَالُ قَدْ نَاضَلَتْ مِنْ أَجْلِ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Earlier generations had struggled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وَبِنَاءً عَلَى مَا سَبَقَ، يَتَطَلَّبُ الأَمْرُ أَنْ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Based on the above,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يُشَكِّلُ ______ أَكْبَرَ تَحَدٍّ اجْتِمَاعِيٍّ، لِأَنَّ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biggest social challenge,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أَكَّدَتِ الدِّرَاسَاتُ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Studies confirmed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يُطَالِبُ الخُبَرَاءُ بِأَنْ تُوَفِّرَ الدُّوَلُ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Experts demand that states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يَتَطَلَّبُ الأَمْرُ أَنْ تَتَحَرَّكَ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requires governments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B3B6F"/>
                </a:solidFill>
                <a:latin typeface="Amiri" pitchFamily="2" charset="-78"/>
                <a:cs typeface="Amiri" pitchFamily="2" charset="-78"/>
              </a:rPr>
              <a:t>الفَجْوَةُ الرَّقْمِيَّةُ  ·  التَّفَاوُتُ الاجْتِمَاعِيُّ  ·  بَطَالَةُ الشَّبَابِ  ·  بُنْيَةً تَحْتِيَّةً رَقْمِيَّةً  ·  الحُكُومَاتُ بِسُرْعَةٍ  ·  التِّقْنِيَّةَ تُوَفِّرُ فُرَصًا  ·  تُعَمِّقُ الفَجْوَةَ  ·  التَّعْلِيمِ الرَّقْمِيِّ  ·  المَدَارِسِ النَّائِيَةِ  ·  الحُقُوقِ  ·  حَقٌّ لَا امْتِيَازٌ  ·  لِكَيْ تَضِيقَ الفَجْوَةُ</a:t>
            </a:r>
            <a:endParaRPr lang="ar-SA"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eighty to ninety words preparing for the P5 topic conversation. Answer two of the assessment questions, using a concession–refutation (ṣaḥīḥun anna … ghayra anna), a Type 2 conditional and a subjunctive conclusion, with an and anna used correctly.</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 (ṣaḥīḥun anna + indicative) answered by a refutation (ghayra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before a subjunctive and anna before a reported fact.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conditional with the la-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subjunctive conclusion (wa-bināʾan ʿalā mā sabaqa … an …).</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لَيْسَتْ وَلِيدَةَ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not new (not born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بَيْنَ مَنْ يَمْلِكُونَ الوُصُولَ وَمَنْ لَا يَمْلِكُونَهُ</a:t>
            </a:r>
            <a:endParaRPr lang="ar-SA" sz="17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between those who have access and those who do not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حَقٌّ لَا امْتِيَازٌ</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right, not a privilege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المَدَارِسِ النَّائِيَةِ أَوَّلًا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remote schools first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لِكَيْ تَضِيقَ الفَجْوَةُ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the gap narrows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صَحِيحٌ أَنَّ الفَجْوَةَ الرَّقْمِيَّةَ لَيْسَتْ وَلِيدَةَ اليَوْمِ، غَيْرَ أَنَّهَا تُعَمِّقُ عَدَمَ المُسَاوَاةِ بَيْنَ مَنْ يَمْلِكُونَ الوُصُولَ وَمَنْ لَا يَمْلِكُونَهُ. وَيُطَالِبُ الخُبَرَاءُ بِأَنْ تُوَفِّرَ الدُّوَلُ بُنْيَةً تَحْتِيَّةً رَقْمِيَّةً لِلْجَمِيعِ، وَأَكَّدُوا أَنَّ التَّعْلِيمَ الرَّقْمِيَّ حَقٌّ لَا امْتِيَازٌ. وَلَوْ كُنْتُ مَسْؤُولًا عَنِ السِّيَاسَاتِ، لَاسْتَثْمَرْتُ فِي المَدَارِسِ النَّائِيَةِ أَوَّلًا. وَبِنَاءً عَلَى مَا سَبَقَ، يَتَطَلَّبُ الأَمْرُ أَنْ تَتَحَرَّكَ الحُكُومَاتُ بِسُرْعَةٍ لِكَيْ تَضِيقَ الفَجْوَةُ.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true that the digital divide is not new; however, it deepens inequality between those who have access and those who do not. Experts demand that states provide digital infrastructure for all, and they confirmed that digital education is a right, not a privilege. If I were responsible for policy, I would invest in remote schools first. Based on the above, the matter requires governments to act quickly so that the gap narrows.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 ghayra anna-hā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bi-an tuwaffira · akkadū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kuntu … la-stathmartu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 an tataḥarraka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 trigger I used an + a verb in -a; after a reporting verb, anna + a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ṣaḥīḥun anna my verb ends in -u.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concession is answered by ghayra anna (never before it).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has la-; my conclusion verb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each assessment question with the structure it invites,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يُطَالِبُ النَّاشِطُونَ بِأَنْ تُوَقِّعَ الدُّوَلُ.</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يُطَالِبُ النَّاشِطُونَ بِأَنَّ تُوَقِّعَ الدُّوَلُ.</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يُطَالِبُ النَّاشِطُونَ أَنَّ تُوَقِّعَ الدُّوَلُ.</a:t>
            </a:r>
            <a:endParaRPr lang="ar-SA" sz="19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conclusion: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2" charset="-78"/>
                <a:cs typeface="Amiri" pitchFamily="2" charset="-78"/>
              </a:rPr>
              <a:t>يُطَالِبُ النَّاشِطُونَ بِأَنْ تُوَقِّعَ الدُّوَلُ.</a:t>
            </a:r>
            <a:endParaRPr lang="ar-SA" sz="19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cs typeface="Amiri" pitchFamily="2" charset="-78"/>
              </a:rPr>
              <a:t>يُطَالِبُ النَّاشِطُونَ بِأَنَّ تُوَقِّعَ الدُّوَلُ.</a:t>
            </a:r>
            <a:endParaRPr lang="ar-SA" sz="19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cs typeface="Amiri" pitchFamily="2" charset="-78"/>
              </a:rPr>
              <a:t>يُطَالِبُ النَّاشِطُونَ أَنَّ تُوَقِّعَ الدُّوَلُ.</a:t>
            </a:r>
            <a:endParaRPr lang="ar-SA" sz="19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takes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indicative</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a real point, so the verb is indicative.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conclusion: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تَتَحَرَّكَ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تَتَحَرَّكُ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تَتَحَرَّكْ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تَتَحَرَّكَ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150" dirty="0">
                <a:solidFill>
                  <a:srgbClr val="1F2A37"/>
                </a:solidFill>
                <a:latin typeface="Amiri" pitchFamily="2" charset="-78"/>
                <a:cs typeface="Amiri" pitchFamily="2" charset="-78"/>
              </a:rPr>
              <a:t>تَحْتَوِي هٰذِهِ القَائِمَةُ عَلَى أَخْطَاءٍ شَائِعَةٍ فِي السَّنَةِ التَّاسِعَةِ. الأَوَّلُ فِي التَّمْيِيزِ بَيْنَ أَنْ وَأَنَّ: «يُطَالِبُ النَّاشِطُونَ بِأَنَّ تُوَقِّعَ الدُّوَلُ» — وَالصَّوَابُ «بِأَنْ تُوَقِّعَ»، لِأَنَّ المُسَبِّبَ يَأْخُذُ أَنْ وَالنَّصْبَ. الثَّانِي فِي مُثْبَتِ التَّسْلِيمِ: «صَحِيحٌ أَنَّ التَّعْلِيمَ يَتَطَلَّبَ مَوَارِدَ» — وَالصَّوَابُ «يَتَطَلَّبُ» بِالرَّفْعِ، لِأَنَّ التَّسْلِيمَ يَصِفُ وَاقِعًا. الثَّالِثُ فِي الخَاتِمَةِ: «وَبِنَاءً عَلَى مَا سَبَقَ، يَتَطَلَّبُ الأَمْرُ أَنْ تَتَحَرَّكُ الحُكُومَاتُ» — وَالصَّوَابُ «تَتَحَرَّكَ». الرَّابِعُ فِي جَوَابِ لَوْ: «لَوْ عُولِجَ التَّفَاوُتُ مُبَكِّرًا، تَحَسَّنَ الوَضْعُ» — وَالصَّوَابُ «لَتَحَسَّنَ». الخَامِسُ فِي مَوْضِعِ الرَّدِّ: يَجِبُ أَنْ يَأْتِيَ «غَيْرَ أَنَّ» بَعْدَ التَّسْلِيمِ لَا قَبْلَهُ. وَالدَّرْسُ المُشْتَرَكُ أَنَّ لِكُلِّ بِنْيَةٍ عَلَامَةً دَقِيقَةً.</a:t>
            </a:r>
            <a:endParaRPr lang="ar-SA" sz="21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تَحْتَوِي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contains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القَائِمَةُ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أَخْطَاءٍ شَائِعَةٍ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common errors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وَالصَّوَابُ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the correct form is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التَّمْيِيزِ بَيْنَ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distinguishing between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بِالرَّفْعِ</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-u (indicative)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جَوَابِ لَوْ</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result of law</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مَوْضِعِ الرَّدِّ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place of the refutation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مَوْقِعِ السُّلْطَةِ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position of power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تِلْقَائِيًّا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spontaneously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يُطَالِبُ النَّاشِطُونَ بِأَنَّ تُوَقِّعَ</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 تُوَقِّعُ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 تُوَقِّعَ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تُوَقِّعَ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صَحِيحٌ أَنَّ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يَتَطَلَّبَ</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يَتَطَلَّبْ</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يَتَطَلَّبُ</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conclusion verb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2 result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تَحَسَّنَ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لَتَحَسَّنَ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سَيَتَحَسَّنُ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 come?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concession, not before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the concession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very start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يُطَالِبُ النَّاشِطُونَ بِأَنَّ تُوَقِّعَ</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 تُوَقِّعُ</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بِأَنْ تُوَقِّعَ</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تُوَقِّعَ</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takes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 </a:t>
            </a:r>
            <a:pPr algn="l" indent="0" marL="0">
              <a:buNone/>
            </a:pPr>
            <a:r>
              <a:rPr lang="ar-SA" altLang="en-US" sz="1350" dirty="0">
                <a:solidFill>
                  <a:srgbClr val="8A6D1E"/>
                </a:solidFill>
                <a:latin typeface="Amiri" pitchFamily="2" charset="-78"/>
                <a:cs typeface="Amiri" pitchFamily="2" charset="-78"/>
              </a:rPr>
              <a:t>بِأَنْ تُوَقِّعَ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صَحِيحٌ أَنَّ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يَتَطَلَّبَ</a:t>
            </a:r>
            <a:pPr algn="l" indent="0" marL="0">
              <a:buNone/>
            </a:pPr>
            <a:r>
              <a:rPr lang="en-US" sz="1250" dirty="0">
                <a:solidFill>
                  <a:srgbClr val="9AA1AB"/>
                </a:solidFill>
                <a:latin typeface="Calibri" pitchFamily="34" charset="0"/>
                <a:cs typeface="Amiri" pitchFamily="2" charset="-78"/>
              </a:rPr>
              <a:t> (subjunctive)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يَتَطَلَّبْ</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يَتَطَلَّبُ</a:t>
            </a:r>
            <a:pPr algn="l" indent="0" marL="0">
              <a:buNone/>
            </a:pPr>
            <a:r>
              <a:rPr lang="en-US" sz="1250" b="1" dirty="0">
                <a:solidFill>
                  <a:srgbClr val="1F2A37"/>
                </a:solidFill>
                <a:latin typeface="Calibri" pitchFamily="34" charset="0"/>
                <a:cs typeface="Amiri" pitchFamily="2" charset="-78"/>
              </a:rPr>
              <a:t> (indicative)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conclusion verb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تَتَحَرَّكَ</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تَتَحَرَّكُ</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تَتَحَرَّكْ</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تَتَحَرَّكَ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2 result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تَحَسَّنَ</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لَتَحَسَّنَ</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سَيَتَحَسَّنُ</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a:t>
            </a:r>
            <a:pPr algn="l" indent="0" marL="0">
              <a:buNone/>
            </a:pPr>
            <a:r>
              <a:rPr lang="ar-SA" altLang="en-US" sz="1650" b="1" dirty="0">
                <a:solidFill>
                  <a:srgbClr val="1B3B6F"/>
                </a:solidFill>
                <a:latin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 come?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the concession, not before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the concession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very start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يَجِبُ أَنْ يَأْتِيَ «غَيْرَ أَنَّ» بَعْدَ التَّسْلِيمِ.</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Mastery Mission — The P5 Error Zones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cs typeface="Amiri" pitchFamily="2" charset="-78"/>
              </a:rPr>
              <a:t>يُطَالِبُ النَّاشِطُونَ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تُوَقِّعَ الدُّوَلُ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cs typeface="Amiri" pitchFamily="2" charset="-78"/>
              </a:rPr>
              <a:t>أَكَّدَ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الفَجْوَةَ تَتَّسِعُ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complete — </a:t>
            </a:r>
            <a:pPr algn="l" indent="0" marL="0">
              <a:buNone/>
            </a:pPr>
            <a:r>
              <a:rPr lang="ar-SA" altLang="en-US" sz="1650" b="1" dirty="0">
                <a:solidFill>
                  <a:srgbClr val="1B3B6F"/>
                </a:solidFill>
                <a:latin typeface="Amiri" pitchFamily="2" charset="-78"/>
                <a:cs typeface="Amiri" pitchFamily="2" charset="-78"/>
              </a:rPr>
              <a:t>صَحِيحٌ أَنَّ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يَتَطَلَّبَ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يَتَطَلَّبْ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يَتَطَلَّبُ</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Conclusion: complete —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تَتَحَرَّكَ</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عُولِجَ التَّفَاوُتُ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الوَضْعُ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لَتَحَسَّنَ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سَيَتَحَسَّنُ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تَحَسَّنَ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Trigger: complete — </a:t>
            </a:r>
            <a:pPr algn="l" indent="0" marL="0">
              <a:buNone/>
            </a:pPr>
            <a:r>
              <a:rPr lang="ar-SA" altLang="en-US" sz="1650" b="1" dirty="0">
                <a:solidFill>
                  <a:srgbClr val="1B3B6F"/>
                </a:solidFill>
                <a:latin typeface="Amiri" pitchFamily="2" charset="-78"/>
                <a:cs typeface="Amiri" pitchFamily="2" charset="-78"/>
              </a:rPr>
              <a:t>يَمْنَعُ القَانُونُ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تُبَاعَ البَيَانَاتُ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cs typeface="Amiri" pitchFamily="2" charset="-78"/>
              </a:rPr>
              <a:t>يُطَالِبُ النَّاشِطُونَ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تُوَقِّعَ الدُّوَلُ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بِأَنْ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takes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 </a:t>
            </a:r>
            <a:pPr algn="l" indent="0" marL="0">
              <a:buNone/>
            </a:pPr>
            <a:r>
              <a:rPr lang="ar-SA" altLang="en-US" sz="1350" dirty="0">
                <a:solidFill>
                  <a:srgbClr val="8A6D1E"/>
                </a:solidFill>
                <a:latin typeface="Amiri" pitchFamily="2" charset="-78"/>
                <a:cs typeface="Amiri" pitchFamily="2" charset="-78"/>
              </a:rPr>
              <a:t>بِأَنْ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cs typeface="Amiri" pitchFamily="2" charset="-78"/>
              </a:rPr>
              <a:t>أَكَّدَ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الفَجْوَةَ تَتَّسِعُ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takes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a noun clause.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Concession: complete — </a:t>
            </a:r>
            <a:pPr algn="l" indent="0" marL="0">
              <a:buNone/>
            </a:pPr>
            <a:r>
              <a:rPr lang="ar-SA" altLang="en-US" sz="1650" b="1" dirty="0">
                <a:solidFill>
                  <a:srgbClr val="1B3B6F"/>
                </a:solidFill>
                <a:latin typeface="Amiri" pitchFamily="2" charset="-78"/>
                <a:cs typeface="Amiri" pitchFamily="2" charset="-78"/>
              </a:rPr>
              <a:t>صَحِيحٌ أَنَّ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يَتَطَلَّبَ</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يَتَطَلَّبْ</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يَتَطَلَّبُ</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 </a:t>
            </a:r>
            <a:pPr algn="l" indent="0" marL="0">
              <a:buNone/>
            </a:pPr>
            <a:r>
              <a:rPr lang="ar-SA" altLang="en-US" sz="1350" dirty="0">
                <a:solidFill>
                  <a:srgbClr val="8A6D1E"/>
                </a:solidFill>
                <a:latin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Conclusion: complete —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تَتَحَرَّكُ</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تَتَحَرَّكْ</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تَتَحَرَّكَ</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تَتَحَرَّكَ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عُولِجَ التَّفَاوُتُ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الوَضْعُ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لَتَحَسَّنَ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سَيَتَحَسَّنُ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تَحَسَّنَ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Trigger: complete — </a:t>
            </a:r>
            <a:pPr algn="l" indent="0" marL="0">
              <a:buNone/>
            </a:pPr>
            <a:r>
              <a:rPr lang="ar-SA" altLang="en-US" sz="1650" b="1" dirty="0">
                <a:solidFill>
                  <a:srgbClr val="1B3B6F"/>
                </a:solidFill>
                <a:latin typeface="Amiri" pitchFamily="2" charset="-78"/>
                <a:cs typeface="Amiri" pitchFamily="2" charset="-78"/>
              </a:rPr>
              <a:t>يَمْنَعُ القَانُونُ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تُبَاعَ البَيَانَاتُ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يَمْنَعُ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P5-L12 · P5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en-US" sz="1000" i="1" dirty="0">
                <a:solidFill>
                  <a:srgbClr val="5A6472"/>
                </a:solidFill>
                <a:latin typeface="Calibri" pitchFamily="34" charset="0"/>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لَعِبُ الأَدْوَارِ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المَوْقِفُ المُضَادُّ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opposing position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عَلَامَةُ الدِّقَّةِ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accuracy mark</a:t>
            </a:r>
            <a:pPr indent="0" marL="0">
              <a:buNone/>
            </a:pPr>
            <a:r>
              <a:rPr lang="en-US" sz="1000" i="1" dirty="0">
                <a:solidFill>
                  <a:srgbClr val="5A6472"/>
                </a:solidFill>
                <a:latin typeface="Calibri" pitchFamily="34" charset="0"/>
                <a:cs typeface="Amiri" pitchFamily="2" charset="-78"/>
              </a:rPr>
              <a:t>  pl. عَلَامَاتٌ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يُعَالِجُ</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addresses, treats</a:t>
            </a:r>
            <a:pPr indent="0" marL="0">
              <a:buNone/>
            </a:pPr>
            <a:r>
              <a:rPr lang="en-US" sz="1000" i="1" dirty="0">
                <a:solidFill>
                  <a:srgbClr val="5A6472"/>
                </a:solidFill>
                <a:latin typeface="Calibri" pitchFamily="34" charset="0"/>
                <a:cs typeface="Amiri" pitchFamily="2" charset="-78"/>
              </a:rPr>
              <a:t>  f. تُعَالِجُ</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يُشَكِّلُ … أَكْبَرَ تَحَدٍّ · صَحِيحٌ أَنَّ … غَيْرَ أَنَّ … · لَوْ كُنْتُ … لَـ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six P5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an-sentence, an anna-sentence, a concession–refutation and a Type 2;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P5-L12 · P5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 trigger → an + verb in -A; a report → anna + noun; ṣaḥīḥun anna keeps -U; answer it with ghayra anna; law … LA-; close with wa-bināʾan ʿalā mā sabaqa + -a — and answer each question with the structure it invites.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P5-L11 · Consolidation — Speaking Preparation and P5 Complete Review</dc:title>
  <dc:subject>PptxGenJS Presentation</dc:subject>
  <dc:creator>Al Madina Online School · Arabic Department</dc:creator>
  <cp:lastModifiedBy>Al Madina Online School · Arabic Department</cp:lastModifiedBy>
  <cp:revision>1</cp:revision>
  <dcterms:created xsi:type="dcterms:W3CDTF">2026-10-11T06:43:31Z</dcterms:created>
  <dcterms:modified xsi:type="dcterms:W3CDTF">2026-10-11T06:43:31Z</dcterms:modified>
</cp:coreProperties>
</file>