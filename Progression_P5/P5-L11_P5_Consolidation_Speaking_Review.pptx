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P5-L11. The website lesson “Consolidation — Speaking Preparation and P5 Complete Review”: vocabulary, grammar rules and quiz, patterns, common mistakes, sorter, listening, reading, speaking prompts and model, writing task and model, differentiation, final check and the lesson mission. Picture match: website visual game “Consolidation — Speaking Preparation and P5 Complete Review”.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CONSOLIDATION + SPEAKING REHEARSAL for the P5-L12 assessment (topic conversation on social issues + a role play at a social-justice conference). The website names the most common P5 slip: anna where a trigger needs an (يُطَالِبُ بِأَنَّ ✗).
• Core: correct six P5 errors and write three sentences from memory (website Core). Develop: add a concession–refutation pair and a Type 2. Stretch: answer the concession and Type 2 questions fluently and spontaneously.
• Praise the journey: students now control the concession–refutation pair, eight subjunctive triggers, both conditionals, the past perfect, reported speech, the passive and formal conclusions — the full toolkit for P6 (the IGCSE Bridge).
• Website teaching point 1 is today’s accuracy rule: a TRIGGER takes an + a verb in -a; a REPORTING verb takes anna + a noun. Teaching point 2: never carry the -a into the concession.
• TEACHER-WRITTEN ITEMS: waṣl alif shown without a kasra; لِكَيْ always written with its sukūn; يَصِرُّ → يُصِرُّ throughout; rule formulas, vocabulary notes, pattern tips, writing prompt and checklist in transliteration; sorter headings in transliteration; the an / anna, concession, spine and assessment tables are teacher-built from the website texts and the P5-L12 assessment; the repair table adds two earlier P5 mistakes; no visual game.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P5-L10. Questions 4–5 retrieve the listening signals of P5-L10 — today students produce them spontaneously.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letter changes everything: an (sukūn) + a verb in -a after a trigger; anna (shadda) + a noun after a reporting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طلاقت, تلفظ and اصلاح are shared — today is a day of اصلاح (correcting our slips). Two traps: Urdu اعتماد = confidence, but Arabic الاعْتِمَادُ = reliance (confidence = الثِّقَةُ); Urdu مشق = practice, but Arabic مَشَقَّةٌ = hardship (practice = تَمْرِينٌ). So: التَّمْرِينُ يَبْنِي الثِّقَةَ.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P5 error zones (website vocabulary (1 of 2)). Hear → Say → See → Use. Transliteration is printed for Core students (cover it for Develop/Stretch).
The P5 error zones — name your slip before you fix it: أَنْ vs أَنَّ · the indicative after صَحِيحٌ أَنَّ · the subjunctive conclusion · لَامُ الجَوَابِ (the la- of the Type 2 result) · past-perfect agreement (كَانَتِ الأَجْيَالُ … نَاضَلَتْ).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P5 error zones (website vocabulary (2 of 2)). Hear → Say → See → Use. Transliteration is printed for Core students (cover it for Develop/Stretch).
The P5 error zones — name your slip before you fix it: أَنْ vs أَنَّ · the indicative after صَحِيحٌ أَنَّ · the subjunctive conclusion · لَامُ الجَوَابِ (the la- of the Type 2 result) · past-perfect agreement (كَانَتِ الأَجْيَالُ … نَاضَلَتْ).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complete P5 spine (website vocabulary (1 of 2)). Hear → Say → See → Use. Transliteration is printed for Core students (cover it for Develop/Stretch).
The complete P5 spine: concession–refutation (L01) · the humanitarian passive (L02) · insist / demand / call (L03) · prohibit / permit (L04) · refuse + conclusion connectors (L05) · the past perfect (L06) · the essay (L07–L09).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complete P5 spine (website vocabulary (2 of 2)). Hear → Say → See → Use. Transliteration is printed for Core students (cover it for Develop/Stretch).
The complete P5 spine: concession–refutation (L01) · the humanitarian passive (L02) · insist / demand / call (L03) · prohibit / permit (L04) · refuse + conclusion connectors (L05) · the past perfect (L06) · the essay (L07–L09).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Speaking fluency (website vocabulary (1 of 2)). Hear → Say → See → Use. Transliteration is printed for Core students (cover it for Develop/Stretch).
FLEX: teach if time allows; otherwise these are on the website vocabulary tab for homework.
Speaking fluency: التِّلْقَائِيَّةُ (spontaneity) — answering without notes; الارْتِجَالُ (improvising) — building the concession–refutation on the spot. The P5-L12 role play is set at مُؤْتَمَرُ العَدَالَةِ الاجْتِمَاعِيَّةِ.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Speaking fluency (website vocabulary (2 of 2)). Hear → Say → See → Use. Transliteration is printed for Core students (cover it for Develop/Stretch).
FLEX: teach if time allows; otherwise these are on the website vocabulary tab for homework.
Speaking fluency: التِّلْقَائِيَّةُ (spontaneity) — answering without notes; الارْتِجَالُ (improvising) — building the concession–refutation on the spot. The P5-L12 role play is set at مُؤْتَمَرُ العَدَالَةِ الاجْتِمَاعِيَّةِ.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“an vs anna”, teaching point 1, the website table and mistake 1; the sorter is built on the same contrast.
Quick test: what comes NEXT? A verb → أَنْ (sukūn) and the verb ends in -a. A noun → أَنَّ (shadda) and the noun ends in -a (it is the “subject” of anna).
Triggers met in P5: يُصِرُّ عَلَى · يُطَالِبُ بِـ · يَدْعُو إِلَى · يَمْنَعُ · يُبِيحُ · يَرْفُضُ · يَتَطَلَّبُ · يَنْبَغِي · مِنَ الضَّرُورِيِّ. Reporting verbs: أَكَّدَ · يُشَارُ إِلَى · يُثْبِتُ · يَرَى.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“Concession → indicative”, teaching point 2 (“ṣaḥīḥun anna keeps the indicative”), mistake 2 and quiz 3–4.
Cards 1–2 use the SAME verb (يَتَطَلَّبُ) in two roles: in card 1 it is the main verb of a fact (-u); in card 2 it is the trigger, and the verb AFTER أَنْ takes -a.
Card 3 (Stretch): غَيْرَ أَنَّهَا — anna + a pronoun when the subject is already known (here: technology). Exactly the model answer to topic question 2 of the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the website vocabulary group “The complete P5 spine”, with one model sentence per structure from P5-L01 to L09.
Revision game (3 min): teacher calls a lesson number; students say a sentence with that structure on a social issue of their choice.
Row 4 agreement (website quiz 7): كَانَتِ الأَجْيَالُ … نَاضَلَتْ — both verbs feminine for a non-human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the three topic-conversation questions and the four role-play tasks of the P5-L12 assessment (website L12 data), matched to the structure each one invites.
Speaking rule: hear the question → choose the structure BEFORE you answer. A law question demands law … la-; a “do you think …?” question invites ṣaḥīḥun anna … ghayra anna; a “what does it require?” task demands yataṭallabu an + -a.
Role-play task 1 also expects evidence and reported speech: أَكَّدَتِ الدِّرَاسَاتُ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“Targeted error correction: أَنْ vs أَنَّ, the indicative after صَحِيحٌ أَنَّ, the subjunctive conclusion, and the Type 2 لَـ result.”
• an vs anna: أَنْ introduces a subjunctive; أَنَّ introduces a reported fact.
• Concession → indicative: The conceded situation is real, so indicative.
• Subjunctive conclusion: Close formally with a subjunctive trigger.
• Type 2 result: The result verb carries a لَـ prefix.
Website common error: Writing أَنَّ where a trigger needs أَنْ, a subjunctive after صَحِيحٌ أَنَّ, or a conclusion without the subjunctive. Match أَنْ to triggers, keep the concession indicative, and close with a fatḥa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(mock conversation), spoken aloud as an exam answer. Think aloud: “Topic 2 is a ‘do you think’ question, so I concede first — ṣaḥīḥun anna + -u — then ghayra anna-hā. I add a demand: bi-AN tuwaffirA. Topic 3 is a law question, so the result MUST start with LA-. And I close formally.” Do it twice — the second time faster, as fluent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rows 1–4 are the website reading’s repairs (and mistakes 1–3); rows 5–6 recycle mistakes from P5-L05 and P5-L06. Cover columns 2–3; pairs fix each slip and NAME the zone.
Core: rows 1–3. Develop: all six. Stretch: write two new slips of their own for a partner to repair.
Then each student writes their ONE priority error zone in the chat — collect for L12. (Website reading item 5: غَيْرَ أَنَّ must come AFTER the concession, never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an assessment answer from a concession-refutation pair, a demand and a Type 2 hypothesis.). Website feedback: Each concession-refutation pair, demand and hypothesis is accurate on its own, so any three different combinations work.
Use it as oral rehearsal: one student reads a combination as an exam answer; the partner names each structure and checks every an / 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full sentence for each card as fast as possible — and stress every an (sukūn) and anna (shadda).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full sentence for each card as fast as possible — and stress every an (sukūn) and anna (shadda).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the student’s Type 2 sentence word for word.
Listen 1: just listen. Listen 2: note answers. Then chat the letters.
Support: after the second listening, show the read-along slide (Arabic + English, line by line) for Core students.
SCRIPT (read aloud):
المُعَلِّمُ: هَلْ تَعْتَقِدُ أَنَّ الفَجْوَةَ الرَّقْمِيَّةَ تُعَمِّقُ عَدَمَ المُسَاوَاةِ؟ الطَّالِبُ: صَحِيحٌ أَنَّ التِّقْنِيَّةَ تُوَفِّرُ فُرَصًا هَائِلَةً، غَيْرَ أَنَّهَا تُعَمِّقُ الفَجْوَةَ بَيْنَ مَنْ يَمْلِكُونَ وَمَنْ لَا يَمْلِكُونَ. المُعَلِّمُ: وَمَا الحَلُّ؟ الطَّالِبُ: يُطَالِبُ الخُبَرَاءُ بِأَنْ تُوَفِّرَ الدُّوَلُ بُنْيَةً تَحْتِيَّةً رَقْمِيَّةً لِلْجَمِيعِ. المُعَلِّمُ: لَوْ كُنْتَ فِي مَوْقِعِ السُّلْطَةِ، مَاذَا كُنْتَ سَتُغَيِّرُ؟ الطَّالِبُ: لَوْ كُنْتُ فِي مَوْقِعِ السُّلْطَةِ، لَاسْتَثْمَرْتُ فِي التَّعْلِيمِ الرَّقْمِيِّ أَوَّلًا. المُعَلِّمُ: وَكَيْفَ تَخْتِمُ؟ الطَّالِبُ: وَبِنَاءً عَلَى مَا سَبَقَ، يَتَطَلَّبُ الأَمْرُ أَنْ تَتَحَرَّكَ الحُكُومَاتُ بِسُرْعَةٍ. المُعَلِّمُ: أَجْوِبَةٌ مُتَوَازِنَةٌ اسْتَعْمَلْتَ فِيهَا التَّسْلِيمَ وَالرَّدَّ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كُنْتَ مَسْؤُولًا؟ (Q — Type 2)
B: لَوْ كُنْتُ مَسْؤُولًا، لَاسْتَثْمَرْتُ فِي التَّعْلِيمِ الرَّقْمِيِّ أَوَّلًا. (Type 2 conditional)
Website prompts and model — the topic-conversation questions. Pairs: examiner / candidate, 30–40 seconds per answer, then swap. The examiner ticks Structure · Reason · Extra. Then a 2-minute role play (P5-L12 tasks, a social-justice conference): introduce the issue with evidence (أَكَّدَتِ الدِّرَاسَاتُ أَنَّ) · concede (صَحِيحٌ أَنَّ) · refute (غَيْرَ أَنَّ) · say what the solution requires (يَتَطَلَّبُ أَنْ). To a girl: تَعْتَقِدِينَ · كُنْتِ مَسْؤُولَةً · سَتُغَيِّرِينَ.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Correct six P5 errors and write three sentences from memory. · Develop — Add a concession-refutation pair and a Type 2 conditional. · Stretch — Deliver fluent answers to the concession and Type 2 questions spontaneously.
Website writing task (Stretch): Write eighty to ninety words preparing for the P5 topic conversation. Answer two of the assessment questions, using a concession–refutation (ṣaḥīḥun anna … ghayra anna), a Type 2 conditional and a subjunctive conclusion, with an and anna used correctly.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صَحِيحٌ أَنَّ … لَيْسَتْ … غَيْرَ أَنَّهَا تُعَمِّقُ · يُطَالِبُ … بِأَنْ تُوَفِّرَ (an + -a) · أَكَّدُوا أَنَّ التَّعْلِيمَ (anna + noun) · لَوْ كُنْتُ … لَاسْتَثْمَرْتُ · وَبِنَاءً عَلَى مَا سَبَقَ … أَنْ تَتَحَرَّكَ … لِكَيْ تَضِيقَ.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(P5-L12 · P5 Review and Unit Assessment) will spend class time USING this language, so students prepare it tonight — short, simple, easy to access (school guidance: “Simple, Short, Interesting, Relevant, Easy to access”). The five words prepare students for the P5-L12 assessment (its parts, the topic questions and the role play).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P5  ·  P5-L11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P5-L11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Consolidation — Speaking Preparation and P5 Complete Review</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500" b="1" dirty="0">
                <a:solidFill>
                  <a:srgbClr val="D4AF37"/>
                </a:solidFill>
                <a:latin typeface="Amiri" pitchFamily="2" charset="-78"/>
                <a:ea typeface="Amiri" pitchFamily="2" charset="-78"/>
                <a:cs typeface="Amiri" pitchFamily="2" charset="-78"/>
              </a:rPr>
              <a:t>تَرْسِيخُ الوَحْدَةِ — إِعْدَادُ التَّحَدُّثِ وَالمُرَاجَعَةُ الشَّامِلَةُ</a:t>
            </a:r>
            <a:endParaRPr lang="ar-SA" sz="35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Repair the P5 error zones (an + -a after a trigger vs anna + noun after a reporting verb · -u after ṣaḥīḥun anna · -a in the conclusion · la- in the Type 2 result), revise the whole P5 spine, and rehearse the topic conversation and role play.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P5-L11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P5 › P5-L11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Fix the error zones, revise the P5 spine, answer each question with its required structure.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100" dirty="0">
                <a:solidFill>
                  <a:srgbClr val="1F2A37"/>
                </a:solidFill>
                <a:latin typeface="Calibri" pitchFamily="34" charset="0"/>
                <a:cs typeface="Amiri" pitchFamily="2" charset="-78"/>
              </a:rPr>
              <a:t>Repair the slips, build an assessment answer, sort an / anna / concession, hear a mock conversation.</a:t>
            </a:r>
            <a:endParaRPr lang="en-US" sz="11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P5-L12.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freedom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fluency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speech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التِّلْقَائِيَّةُ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spontaneity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repetition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الأَدَاءُ تَحْتَ الضَّغْطِ</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calm rehearsal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written test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performance under pressure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point after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belongs to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conclusion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other side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t>
            </a:r>
            <a:pPr algn="l" indent="0" marL="0">
              <a:buNone/>
            </a:pPr>
            <a:r>
              <a:rPr lang="ar-SA" altLang="en-US" sz="1550" b="1" dirty="0">
                <a:solidFill>
                  <a:srgbClr val="1B3B6F"/>
                </a:solidFill>
                <a:latin typeface="Amiri" pitchFamily="2" charset="-78"/>
                <a:ea typeface="Amiri" pitchFamily="2" charset="-78"/>
                <a:cs typeface="Amiri" pitchFamily="2" charset="-78"/>
              </a:rPr>
              <a:t>لَوْ عُولِجَ التَّفَاوُتُ مُبَكِّرًا، لَتَحَسَّنَ الوَضْعُ</a:t>
            </a:r>
            <a:pPr algn="l" indent="0" marL="0">
              <a:buNone/>
            </a:pPr>
            <a:r>
              <a:rPr lang="en-US" sz="1200" b="1" dirty="0">
                <a:solidFill>
                  <a:srgbClr val="1B3B6F"/>
                </a:solidFill>
                <a:latin typeface="Calibri" pitchFamily="34" charset="0"/>
                <a:cs typeface="Amiri" pitchFamily="2" charset="-78"/>
              </a:rPr>
              <a:t>» means the early treatment …</a:t>
            </a:r>
            <a:endParaRPr lang="en-US" sz="120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did not happen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happened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will happen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freedom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fluency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long speech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التِّلْقَائِيَّةُ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spontaneity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repetition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silence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الأَدَاءُ تَحْتَ الضَّغْطِ</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calm rehearsal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written test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performance under pressure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point after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belongs to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conclusion</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one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other side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P5-L10: a concession.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t>
            </a:r>
            <a:pPr algn="l" indent="0" marL="0">
              <a:buNone/>
            </a:pPr>
            <a:r>
              <a:rPr lang="ar-SA" altLang="en-US" sz="1550" b="1" dirty="0">
                <a:solidFill>
                  <a:srgbClr val="1B3B6F"/>
                </a:solidFill>
                <a:latin typeface="Amiri" pitchFamily="2" charset="-78"/>
                <a:ea typeface="Amiri" pitchFamily="2" charset="-78"/>
                <a:cs typeface="Amiri" pitchFamily="2" charset="-78"/>
              </a:rPr>
              <a:t>لَوْ عُولِجَ التَّفَاوُتُ مُبَكِّرًا، لَتَحَسَّنَ الوَضْعُ</a:t>
            </a:r>
            <a:pPr algn="l" indent="0" marL="0">
              <a:buNone/>
            </a:pPr>
            <a:r>
              <a:rPr lang="en-US" sz="1200" b="1" dirty="0">
                <a:solidFill>
                  <a:srgbClr val="1B3B6F"/>
                </a:solidFill>
                <a:latin typeface="Calibri" pitchFamily="34" charset="0"/>
                <a:cs typeface="Amiri" pitchFamily="2" charset="-78"/>
              </a:rPr>
              <a:t>» means the early treatment …</a:t>
            </a:r>
            <a:endParaRPr lang="en-US" sz="120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did not happen</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happened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will happen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P5-L10: law … la- = it did not happen.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One letter changes everything: an (sukūn) + a verb in -a after a trigger; anna (shadda) + a noun after a reporting verb.</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يُطَالِبُ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بِأَنْ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تُوَقِّعَ · أَكَّدَ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أَنَّ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الفَجْوَةَ تَتَّسِعُ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Correct the twelve most common P5 errors, led by an vs anna.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concession (ṣaḥīḥun anna) and refutation (ghayra anna) spontaneously in speech.</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Retrieve the extended subjunctive triggers and both conditionals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Prepare five topic-conversation answers to assessment standard.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correct 6 P5 slips and name the zone.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choose an or anna correctly.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with ṣaḥīḥun anna … ghayra anna unprompted.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the law question with la-.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answer all 3 topic questions with the structure each invites.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run the 4 role-play tasks fluently.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P5 error zones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The complete P5 spine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Speaking fluency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طَلَاقَةٌ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‎طلاقت‎ </a:t>
            </a:r>
            <a:pPr indent="0" marL="0">
              <a:buNone/>
            </a:pPr>
            <a:r>
              <a:rPr lang="en-US" sz="950" b="1" dirty="0">
                <a:solidFill>
                  <a:srgbClr val="2E8B57"/>
                </a:solidFill>
                <a:latin typeface="Calibri" pitchFamily="34" charset="0"/>
                <a:cs typeface="Amiri" pitchFamily="2" charset="-78"/>
              </a:rPr>
              <a:t> talāqat · fluency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تَلَفُّظٌ</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‎تلفظ‎ </a:t>
            </a:r>
            <a:pPr indent="0" marL="0">
              <a:buNone/>
            </a:pPr>
            <a:r>
              <a:rPr lang="en-US" sz="950" b="1" dirty="0">
                <a:solidFill>
                  <a:srgbClr val="2E8B57"/>
                </a:solidFill>
                <a:latin typeface="Calibri" pitchFamily="34" charset="0"/>
                <a:cs typeface="Amiri" pitchFamily="2" charset="-78"/>
              </a:rPr>
              <a:t> talaffuz · pronunciation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ثِقَةٌ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‎اعتماد‎ </a:t>
            </a:r>
            <a:pPr indent="0" marL="0">
              <a:buNone/>
            </a:pPr>
            <a:r>
              <a:rPr lang="ar-SA" sz="950" b="1" dirty="0">
                <a:solidFill>
                  <a:srgbClr val="2E8B57"/>
                </a:solidFill>
                <a:latin typeface="Calibri" pitchFamily="34" charset="0"/>
                <a:ea typeface="Amiri" pitchFamily="2" charset="-78"/>
                <a:cs typeface="Amiri" pitchFamily="2" charset="-78"/>
              </a:rPr>
              <a:t> etimād · confidence (Arabic اعْتِمَادٌ = reliance)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تَمْرِينٌ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‎مشق‎ </a:t>
            </a:r>
            <a:pPr indent="0" marL="0">
              <a:buNone/>
            </a:pPr>
            <a:r>
              <a:rPr lang="ar-SA" sz="950" b="1" dirty="0">
                <a:solidFill>
                  <a:srgbClr val="2E8B57"/>
                </a:solidFill>
                <a:latin typeface="Calibri" pitchFamily="34" charset="0"/>
                <a:ea typeface="Amiri" pitchFamily="2" charset="-78"/>
                <a:cs typeface="Amiri" pitchFamily="2" charset="-78"/>
              </a:rPr>
              <a:t> mashq · practice (Arabic مَشَقَّةٌ = hardship)</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إِصْلَاحٌ</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‎اصلاح‎ </a:t>
            </a:r>
            <a:pPr indent="0" marL="0">
              <a:buNone/>
            </a:pPr>
            <a:r>
              <a:rPr lang="en-US" sz="950" b="1" dirty="0">
                <a:solidFill>
                  <a:srgbClr val="2E8B57"/>
                </a:solidFill>
                <a:latin typeface="Calibri" pitchFamily="34" charset="0"/>
                <a:cs typeface="Amiri" pitchFamily="2" charset="-78"/>
              </a:rPr>
              <a:t> islāh · correction, reform</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P5 error zones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455725"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subjunctive verb.</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 (لِلنَّصْبِ)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أَنْ (subjunctive introducer)</a:t>
            </a:r>
            <a:endParaRPr lang="en-US" sz="1350" dirty="0"/>
          </a:p>
          <a:p>
            <a:pPr indent="0" marL="0">
              <a:buNone/>
            </a:pPr>
            <a:r>
              <a:rPr lang="en-US" sz="1100" i="1" dirty="0">
                <a:solidFill>
                  <a:srgbClr val="5A6472"/>
                </a:solidFill>
                <a:latin typeface="Calibri" pitchFamily="34" charset="0"/>
                <a:cs typeface="Amiri" pitchFamily="2" charset="-78"/>
              </a:rPr>
              <a:t>an (liln-naṣ-bi)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noun clause.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 (لِلْخَبَرِ)</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أَنَّ (reported-fact introducer)</a:t>
            </a:r>
            <a:endParaRPr lang="en-US" sz="1350" dirty="0"/>
          </a:p>
          <a:p>
            <a:pPr indent="0" marL="0">
              <a:buNone/>
            </a:pPr>
            <a:r>
              <a:rPr lang="en-US" sz="1100" i="1" dirty="0">
                <a:solidFill>
                  <a:srgbClr val="5A6472"/>
                </a:solidFill>
                <a:latin typeface="Calibri" pitchFamily="34" charset="0"/>
                <a:cs typeface="Amiri" pitchFamily="2" charset="-78"/>
              </a:rPr>
              <a:t>an-na (lil-kha-ba-ri)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المُثْبَتُ بَعْدَ صَحِيحٌ أَنَّ</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the indicative after صَحِيحٌ أَنَّ</a:t>
            </a:r>
            <a:endParaRPr lang="en-US" sz="1350" dirty="0"/>
          </a:p>
          <a:p>
            <a:pPr indent="0" marL="0">
              <a:buNone/>
            </a:pPr>
            <a:r>
              <a:rPr lang="en-US" sz="1100" i="1" dirty="0">
                <a:solidFill>
                  <a:srgbClr val="5A6472"/>
                </a:solidFill>
                <a:latin typeface="Calibri" pitchFamily="34" charset="0"/>
                <a:cs typeface="Amiri" pitchFamily="2" charset="-78"/>
              </a:rPr>
              <a:t>al-muth-ba-tu baʿ-da ṣa-ḥī-ḥun an-na</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3" name="Shape 40"/>
          <p:cNvSpPr/>
          <p:nvPr/>
        </p:nvSpPr>
        <p:spPr>
          <a:xfrm>
            <a:off x="8604504" y="4279392"/>
            <a:ext cx="1580083"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After the concession.</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مَوْضِعُ غَيْرَ أَنَّ</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the placement of غَيْرَ أَنَّ</a:t>
            </a:r>
            <a:endParaRPr lang="en-US" sz="1350" dirty="0"/>
          </a:p>
          <a:p>
            <a:pPr indent="0" marL="0">
              <a:buNone/>
            </a:pPr>
            <a:r>
              <a:rPr lang="en-US" sz="1100" i="1" dirty="0">
                <a:solidFill>
                  <a:srgbClr val="5A6472"/>
                </a:solidFill>
                <a:latin typeface="Calibri" pitchFamily="34" charset="0"/>
                <a:cs typeface="Amiri" pitchFamily="2" charset="-78"/>
              </a:rPr>
              <a:t>maw-ḍi-ʿu ghay-ra an-na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P5 error zones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wa-bināʾan … an.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الخَاتِمَةُ المَنْصُوبَةُ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conclusion</a:t>
            </a:r>
            <a:endParaRPr lang="en-US" sz="1350" dirty="0"/>
          </a:p>
          <a:p>
            <a:pPr indent="0" marL="0">
              <a:buNone/>
            </a:pPr>
            <a:r>
              <a:rPr lang="en-US" sz="1100" i="1" dirty="0">
                <a:solidFill>
                  <a:srgbClr val="5A6472"/>
                </a:solidFill>
                <a:latin typeface="Calibri" pitchFamily="34" charset="0"/>
                <a:cs typeface="Amiri" pitchFamily="2" charset="-78"/>
              </a:rPr>
              <a:t>al-khā-ti-ma-tu al-man-ṣū-ba-tu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7" name="Shape 24"/>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Type 2.</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لَامُ الجَوَابِ</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the لَـ of the result</a:t>
            </a:r>
            <a:endParaRPr lang="en-US" sz="1350" dirty="0"/>
          </a:p>
          <a:p>
            <a:pPr indent="0" marL="0">
              <a:buNone/>
            </a:pPr>
            <a:r>
              <a:rPr lang="en-US" sz="1100" i="1" dirty="0">
                <a:solidFill>
                  <a:srgbClr val="5A6472"/>
                </a:solidFill>
                <a:latin typeface="Calibri" pitchFamily="34" charset="0"/>
                <a:cs typeface="Amiri" pitchFamily="2" charset="-78"/>
              </a:rPr>
              <a:t>lā-mu al-ja-wā-bi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مُطَابَقَةُ المَاضِي التَّامِّ</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past-perfect agreement</a:t>
            </a:r>
            <a:endParaRPr lang="en-US" sz="1350" dirty="0"/>
          </a:p>
          <a:p>
            <a:pPr indent="0" marL="0">
              <a:buNone/>
            </a:pPr>
            <a:r>
              <a:rPr lang="en-US" sz="1100" i="1" dirty="0">
                <a:solidFill>
                  <a:srgbClr val="5A6472"/>
                </a:solidFill>
                <a:latin typeface="Calibri" pitchFamily="34" charset="0"/>
                <a:cs typeface="Amiri" pitchFamily="2" charset="-78"/>
              </a:rPr>
              <a:t>mu-ṭā-ba-qa-tu al-mā-ḍī at-tām-mi</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التَّشْكِيلُ الدَّقِيقُ</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precise vowelling</a:t>
            </a:r>
            <a:endParaRPr lang="en-US" sz="1350" dirty="0"/>
          </a:p>
          <a:p>
            <a:pPr indent="0" marL="0">
              <a:buNone/>
            </a:pPr>
            <a:r>
              <a:rPr lang="en-US" sz="1100" i="1" dirty="0">
                <a:solidFill>
                  <a:srgbClr val="5A6472"/>
                </a:solidFill>
                <a:latin typeface="Calibri" pitchFamily="34" charset="0"/>
                <a:cs typeface="Amiri" pitchFamily="2" charset="-78"/>
              </a:rPr>
              <a:t>at-tash-kī-lu ad-da-qī-qu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complete P5 spine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بِنْيَةُ التَّسْلِيمِ وَالرَّدِّ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concession-refutation</a:t>
            </a:r>
            <a:endParaRPr lang="en-US" sz="1350" dirty="0"/>
          </a:p>
          <a:p>
            <a:pPr indent="0" marL="0">
              <a:buNone/>
            </a:pPr>
            <a:r>
              <a:rPr lang="en-US" sz="1100" i="1" dirty="0">
                <a:solidFill>
                  <a:srgbClr val="5A6472"/>
                </a:solidFill>
                <a:latin typeface="Calibri" pitchFamily="34" charset="0"/>
                <a:cs typeface="Amiri" pitchFamily="2" charset="-78"/>
              </a:rPr>
              <a:t>bin-ya-tu at-tas-lī-mi wālr-rad-di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ṣaḥīḥun anna … ghayra anna.</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6" name="Shape 2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المُسَبِّبَاتُ المُوَسَّعَةُ</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extended triggers</a:t>
            </a:r>
            <a:endParaRPr lang="en-US" sz="1350" dirty="0"/>
          </a:p>
          <a:p>
            <a:pPr indent="0" marL="0">
              <a:buNone/>
            </a:pPr>
            <a:r>
              <a:rPr lang="en-US" sz="1100" i="1" dirty="0">
                <a:solidFill>
                  <a:srgbClr val="5A6472"/>
                </a:solidFill>
                <a:latin typeface="Calibri" pitchFamily="34" charset="0"/>
                <a:cs typeface="Amiri" pitchFamily="2" charset="-78"/>
              </a:rPr>
              <a:t>al-mu-sab-bi-bā-tu al-mu-was-sa-ʿa-tu</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المُسَبِّبُ المُوَسَّعُ</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رَوَابِطُ الخِتَامِ</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conclusion connectors</a:t>
            </a:r>
            <a:endParaRPr lang="en-US" sz="1350" dirty="0"/>
          </a:p>
          <a:p>
            <a:pPr indent="0" marL="0">
              <a:buNone/>
            </a:pPr>
            <a:r>
              <a:rPr lang="en-US" sz="1100" i="1" dirty="0">
                <a:solidFill>
                  <a:srgbClr val="5A6472"/>
                </a:solidFill>
                <a:latin typeface="Calibri" pitchFamily="34" charset="0"/>
                <a:cs typeface="Amiri" pitchFamily="2" charset="-78"/>
              </a:rPr>
              <a:t>ra-wā-bi-ṭu al-khi-tā-mi</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رَابِطُ الخِتَامِ</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8" name="Shape 45"/>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dual · sg</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نَوْعَا الشَّرْطِ</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both conditional types</a:t>
            </a:r>
            <a:endParaRPr lang="en-US" sz="1350" dirty="0"/>
          </a:p>
          <a:p>
            <a:pPr indent="0" marL="0">
              <a:buNone/>
            </a:pPr>
            <a:r>
              <a:rPr lang="en-US" sz="1100" i="1" dirty="0">
                <a:solidFill>
                  <a:srgbClr val="5A6472"/>
                </a:solidFill>
                <a:latin typeface="Calibri" pitchFamily="34" charset="0"/>
                <a:cs typeface="Amiri" pitchFamily="2" charset="-78"/>
              </a:rPr>
              <a:t>naw-ʿā ash-shar-ṭi</a:t>
            </a:r>
            <a:endParaRPr lang="en-US" sz="1350" dirty="0"/>
          </a:p>
        </p:txBody>
      </p:sp>
      <p:sp>
        <p:nvSpPr>
          <p:cNvPr id="54" name="Shape 5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6" name="Text 5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نَوْعُ الشَّرْطِ</a:t>
            </a:r>
            <a:endParaRPr lang="ar-SA" sz="15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complete P5 spine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الكَلَامُ المَنْقُولُ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reported speech</a:t>
            </a:r>
            <a:endParaRPr lang="en-US" sz="1350" dirty="0"/>
          </a:p>
          <a:p>
            <a:pPr indent="0" marL="0">
              <a:buNone/>
            </a:pPr>
            <a:r>
              <a:rPr lang="en-US" sz="1100" i="1" dirty="0">
                <a:solidFill>
                  <a:srgbClr val="5A6472"/>
                </a:solidFill>
                <a:latin typeface="Calibri" pitchFamily="34" charset="0"/>
                <a:cs typeface="Amiri" pitchFamily="2" charset="-78"/>
              </a:rPr>
              <a:t>al-ka-lā-mu al-man-qū-lu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المَاضِي التَّامُّ</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past perfect</a:t>
            </a:r>
            <a:endParaRPr lang="en-US" sz="1350" dirty="0"/>
          </a:p>
          <a:p>
            <a:pPr indent="0" marL="0">
              <a:buNone/>
            </a:pPr>
            <a:r>
              <a:rPr lang="en-US" sz="1100" i="1" dirty="0">
                <a:solidFill>
                  <a:srgbClr val="5A6472"/>
                </a:solidFill>
                <a:latin typeface="Calibri" pitchFamily="34" charset="0"/>
                <a:cs typeface="Amiri" pitchFamily="2" charset="-78"/>
              </a:rPr>
              <a:t>al-mā-ḍī at-tām-mu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960120" y="1938528"/>
            <a:ext cx="164226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yuhajjaru / yuraḥḥalu.</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ea typeface="Amiri" pitchFamily="2" charset="-78"/>
                <a:cs typeface="Amiri" pitchFamily="2" charset="-78"/>
              </a:rPr>
              <a:t>المَبْنِيُّ لِلْمَجْهُولِ الإِنْسَانِيُّ</a:t>
            </a:r>
            <a:endParaRPr lang="ar-SA" sz="29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humanitarian passive</a:t>
            </a:r>
            <a:endParaRPr lang="en-US" sz="1350" dirty="0"/>
          </a:p>
          <a:p>
            <a:pPr indent="0" marL="0">
              <a:buNone/>
            </a:pPr>
            <a:r>
              <a:rPr lang="en-US" sz="1100" i="1" dirty="0">
                <a:solidFill>
                  <a:srgbClr val="5A6472"/>
                </a:solidFill>
                <a:latin typeface="Calibri" pitchFamily="34" charset="0"/>
                <a:cs typeface="Amiri" pitchFamily="2" charset="-78"/>
              </a:rPr>
              <a:t>al-mab-niy-yu lil-maj-hū-li al-in-sā-niy-yu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التَّرْكِيبُ الحِجَاجِيُّ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argumentative construction</a:t>
            </a:r>
            <a:endParaRPr lang="en-US" sz="1350" dirty="0"/>
          </a:p>
          <a:p>
            <a:pPr indent="0" marL="0">
              <a:buNone/>
            </a:pPr>
            <a:r>
              <a:rPr lang="en-US" sz="1100" i="1" dirty="0">
                <a:solidFill>
                  <a:srgbClr val="5A6472"/>
                </a:solidFill>
                <a:latin typeface="Calibri" pitchFamily="34" charset="0"/>
                <a:cs typeface="Amiri" pitchFamily="2" charset="-78"/>
              </a:rPr>
              <a:t>at-tar-kī-bu al-ḥi-jā-jiy-yu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fluency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التَّحَدُّثُ بِحُجَجٍ مُتَوَازِنَةٍ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speaking with balanced arguments</a:t>
            </a:r>
            <a:endParaRPr lang="en-US" sz="1350" dirty="0"/>
          </a:p>
          <a:p>
            <a:pPr indent="0" marL="0">
              <a:buNone/>
            </a:pPr>
            <a:r>
              <a:rPr lang="en-US" sz="1100" i="1" dirty="0">
                <a:solidFill>
                  <a:srgbClr val="5A6472"/>
                </a:solidFill>
                <a:latin typeface="Calibri" pitchFamily="34" charset="0"/>
                <a:cs typeface="Amiri" pitchFamily="2" charset="-78"/>
              </a:rPr>
              <a:t>at-ta-ḥad-du-thu bi-ḥu-ja-jin mu-ta-wā-zi-na-tin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ea typeface="Amiri" pitchFamily="2" charset="-78"/>
                <a:cs typeface="Amiri" pitchFamily="2" charset="-78"/>
              </a:rPr>
              <a:t>الارْتِجَالُ بِالتَّسْلِيمِ وَالرَّدِّ</a:t>
            </a:r>
            <a:endParaRPr lang="ar-SA" sz="29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improvising concession and refutation</a:t>
            </a:r>
            <a:endParaRPr lang="en-US" sz="1350" dirty="0"/>
          </a:p>
          <a:p>
            <a:pPr indent="0" marL="0">
              <a:buNone/>
            </a:pPr>
            <a:r>
              <a:rPr lang="en-US" sz="1100" i="1" dirty="0">
                <a:solidFill>
                  <a:srgbClr val="5A6472"/>
                </a:solidFill>
                <a:latin typeface="Calibri" pitchFamily="34" charset="0"/>
                <a:cs typeface="Amiri" pitchFamily="2" charset="-78"/>
              </a:rPr>
              <a:t>alr-ti-jā-lu bilt-tas-lī-mi wālr-rad-di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التِّلْقَائِيَّةُ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spontaneity</a:t>
            </a:r>
            <a:endParaRPr lang="en-US" sz="1350" dirty="0"/>
          </a:p>
          <a:p>
            <a:pPr indent="0" marL="0">
              <a:buNone/>
            </a:pPr>
            <a:r>
              <a:rPr lang="en-US" sz="1100" i="1" dirty="0">
                <a:solidFill>
                  <a:srgbClr val="5A6472"/>
                </a:solidFill>
                <a:latin typeface="Calibri" pitchFamily="34" charset="0"/>
                <a:cs typeface="Amiri" pitchFamily="2" charset="-78"/>
              </a:rPr>
              <a:t>at-til-qā-ʾiy-ya-tu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الطَّلَاقَةُ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fluency</a:t>
            </a:r>
            <a:endParaRPr lang="en-US" sz="1350" dirty="0"/>
          </a:p>
          <a:p>
            <a:pPr indent="0" marL="0">
              <a:buNone/>
            </a:pPr>
            <a:r>
              <a:rPr lang="en-US" sz="1100" i="1" dirty="0">
                <a:solidFill>
                  <a:srgbClr val="5A6472"/>
                </a:solidFill>
                <a:latin typeface="Calibri" pitchFamily="34" charset="0"/>
                <a:cs typeface="Amiri" pitchFamily="2" charset="-78"/>
              </a:rPr>
              <a:t>aṭ-ṭa-lā-qa-tu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fluency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مُؤْتَمَرُ العَدَالَةِ الاجْتِمَاعِيَّةِ</a:t>
            </a:r>
            <a:endParaRPr lang="ar-SA" sz="28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social-justice conference</a:t>
            </a:r>
            <a:endParaRPr lang="en-US" sz="1350" dirty="0"/>
          </a:p>
          <a:p>
            <a:pPr indent="0" marL="0">
              <a:buNone/>
            </a:pPr>
            <a:r>
              <a:rPr lang="en-US" sz="1100" i="1" dirty="0">
                <a:solidFill>
                  <a:srgbClr val="5A6472"/>
                </a:solidFill>
                <a:latin typeface="Calibri" pitchFamily="34" charset="0"/>
                <a:cs typeface="Amiri" pitchFamily="2" charset="-78"/>
              </a:rPr>
              <a:t>muʾ-ta-ma-ru al-ʿa-dā-la-ti alj-ti-mā-ʿiy-ya-ti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الأَدَاءُ تَحْتَ الضَّغْطِ</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performance under pressure</a:t>
            </a:r>
            <a:endParaRPr lang="en-US" sz="1350" dirty="0"/>
          </a:p>
          <a:p>
            <a:pPr indent="0" marL="0">
              <a:buNone/>
            </a:pPr>
            <a:r>
              <a:rPr lang="en-US" sz="1100" i="1" dirty="0">
                <a:solidFill>
                  <a:srgbClr val="5A6472"/>
                </a:solidFill>
                <a:latin typeface="Calibri" pitchFamily="34" charset="0"/>
                <a:cs typeface="Amiri" pitchFamily="2" charset="-78"/>
              </a:rPr>
              <a:t>al-a-dā-ʾu taḥ-ta aḍ-ḍagh-ṭi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Shape 27"/>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P6.</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الاسْتِعْدَادُ لِلْجِسْرِ</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preparing for the Bridge</a:t>
            </a:r>
            <a:endParaRPr lang="en-US" sz="1350" dirty="0"/>
          </a:p>
          <a:p>
            <a:pPr indent="0" marL="0">
              <a:buNone/>
            </a:pPr>
            <a:r>
              <a:rPr lang="en-US" sz="1100" i="1" dirty="0">
                <a:solidFill>
                  <a:srgbClr val="5A6472"/>
                </a:solidFill>
                <a:latin typeface="Calibri" pitchFamily="34" charset="0"/>
                <a:cs typeface="Amiri" pitchFamily="2" charset="-78"/>
              </a:rPr>
              <a:t>als-tiʿ-dā-du lil-jis-ri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الثِّقَةُ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confidence</a:t>
            </a:r>
            <a:endParaRPr lang="en-US" sz="1350" dirty="0"/>
          </a:p>
          <a:p>
            <a:pPr indent="0" marL="0">
              <a:buNone/>
            </a:pPr>
            <a:r>
              <a:rPr lang="en-US" sz="1100" i="1" dirty="0">
                <a:solidFill>
                  <a:srgbClr val="5A6472"/>
                </a:solidFill>
                <a:latin typeface="Calibri" pitchFamily="34" charset="0"/>
                <a:cs typeface="Amiri" pitchFamily="2" charset="-78"/>
              </a:rPr>
              <a:t>ath-thi-qa-tu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AN VS ANNA (WEBSITE RULE 1, TEACHING POINT 1, TABLE AND MISTAKE 1)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letter, two systems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 أَمْ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482803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it</a:t>
            </a:r>
            <a:endParaRPr lang="en-US" sz="1100" dirty="0"/>
          </a:p>
        </p:txBody>
      </p:sp>
      <p:sp>
        <p:nvSpPr>
          <p:cNvPr id="18" name="Text 15"/>
          <p:cNvSpPr txBox="1"/>
          <p:nvPr/>
        </p:nvSpPr>
        <p:spPr>
          <a:xfrm>
            <a:off x="327355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Before it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949440" y="2267712"/>
            <a:ext cx="46908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يُطَالِبُ النَّاشِطُونَ بِأَنْ </a:t>
            </a:r>
            <a:pPr rtl="1" algn="ctr" indent="0" marL="0">
              <a:buNone/>
            </a:pPr>
            <a:r>
              <a:rPr lang="ar-SA" altLang="en-US" sz="1600" b="1" dirty="0">
                <a:solidFill>
                  <a:srgbClr val="D6336C"/>
                </a:solidFill>
                <a:latin typeface="Amiri" pitchFamily="2" charset="-78"/>
                <a:ea typeface="Amiri" pitchFamily="2" charset="-78"/>
                <a:cs typeface="Amiri" pitchFamily="2" charset="-78"/>
              </a:rPr>
              <a:t>تُوَقِّعَ</a:t>
            </a:r>
            <a:pPr rtl="1" algn="ctr" indent="0" marL="0">
              <a:buNone/>
            </a:pPr>
            <a:r>
              <a:rPr lang="ar-SA" altLang="en-US" sz="1600" b="1" dirty="0">
                <a:solidFill>
                  <a:srgbClr val="1B3B6F"/>
                </a:solidFill>
                <a:latin typeface="Amiri" pitchFamily="2" charset="-78"/>
                <a:ea typeface="Amiri" pitchFamily="2" charset="-78"/>
                <a:cs typeface="Amiri" pitchFamily="2" charset="-78"/>
              </a:rPr>
              <a:t> الدُّوَلُ</a:t>
            </a:r>
            <a:endParaRPr lang="ar-SA" sz="1600" dirty="0"/>
          </a:p>
        </p:txBody>
      </p:sp>
      <p:sp>
        <p:nvSpPr>
          <p:cNvPr id="22" name="Text 19"/>
          <p:cNvSpPr txBox="1"/>
          <p:nvPr/>
        </p:nvSpPr>
        <p:spPr>
          <a:xfrm>
            <a:off x="486460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verb in -a</a:t>
            </a:r>
            <a:endParaRPr lang="en-US" sz="1100" dirty="0"/>
          </a:p>
        </p:txBody>
      </p:sp>
      <p:sp>
        <p:nvSpPr>
          <p:cNvPr id="23" name="Text 20"/>
          <p:cNvSpPr txBox="1"/>
          <p:nvPr/>
        </p:nvSpPr>
        <p:spPr>
          <a:xfrm>
            <a:off x="3291840" y="2267712"/>
            <a:ext cx="13716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أَنْ</a:t>
            </a:r>
            <a:endParaRPr lang="ar-SA" sz="2000" dirty="0"/>
          </a:p>
        </p:txBody>
      </p:sp>
      <p:sp>
        <p:nvSpPr>
          <p:cNvPr id="24" name="Text 21"/>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trigger: </a:t>
            </a:r>
            <a:pPr algn="l" indent="0" marL="0">
              <a:buNone/>
            </a:pPr>
            <a:r>
              <a:rPr lang="ar-SA" altLang="en-US" sz="1450" dirty="0">
                <a:solidFill>
                  <a:srgbClr val="5A6472"/>
                </a:solidFill>
                <a:latin typeface="Amiri" pitchFamily="2" charset="-78"/>
                <a:ea typeface="Amiri" pitchFamily="2" charset="-78"/>
                <a:cs typeface="Amiri" pitchFamily="2" charset="-78"/>
              </a:rPr>
              <a:t>يُطَالِبُ بِـ</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949440" y="3004718"/>
            <a:ext cx="46908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أَكَّدَ الخَبِيرُ أَنَّ </a:t>
            </a:r>
            <a:pPr rtl="1" algn="ctr" indent="0" marL="0">
              <a:buNone/>
            </a:pPr>
            <a:r>
              <a:rPr lang="ar-SA" altLang="en-US" sz="1600" b="1" dirty="0">
                <a:solidFill>
                  <a:srgbClr val="1D5FBF"/>
                </a:solidFill>
                <a:latin typeface="Amiri" pitchFamily="2" charset="-78"/>
                <a:ea typeface="Amiri" pitchFamily="2" charset="-78"/>
                <a:cs typeface="Amiri" pitchFamily="2" charset="-78"/>
              </a:rPr>
              <a:t>الفَجْوَةَ</a:t>
            </a:r>
            <a:pPr rtl="1" algn="ctr" indent="0" marL="0">
              <a:buNone/>
            </a:pPr>
            <a:r>
              <a:rPr lang="ar-SA" altLang="en-US" sz="1600" b="1" dirty="0">
                <a:solidFill>
                  <a:srgbClr val="1B3B6F"/>
                </a:solidFill>
                <a:latin typeface="Amiri" pitchFamily="2" charset="-78"/>
                <a:ea typeface="Amiri" pitchFamily="2" charset="-78"/>
                <a:cs typeface="Amiri" pitchFamily="2" charset="-78"/>
              </a:rPr>
              <a:t> تَتَّسِعُ</a:t>
            </a:r>
            <a:endParaRPr lang="ar-SA" sz="1600" dirty="0"/>
          </a:p>
        </p:txBody>
      </p:sp>
      <p:sp>
        <p:nvSpPr>
          <p:cNvPr id="29" name="Text 26"/>
          <p:cNvSpPr txBox="1"/>
          <p:nvPr/>
        </p:nvSpPr>
        <p:spPr>
          <a:xfrm>
            <a:off x="486460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noun (-a) + verb</a:t>
            </a:r>
            <a:endParaRPr lang="en-US" sz="1100" dirty="0"/>
          </a:p>
        </p:txBody>
      </p:sp>
      <p:sp>
        <p:nvSpPr>
          <p:cNvPr id="30" name="Text 27"/>
          <p:cNvSpPr txBox="1"/>
          <p:nvPr/>
        </p:nvSpPr>
        <p:spPr>
          <a:xfrm>
            <a:off x="3291840" y="3004718"/>
            <a:ext cx="137160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أَنَّ</a:t>
            </a:r>
            <a:endParaRPr lang="ar-SA" sz="2000" dirty="0"/>
          </a:p>
        </p:txBody>
      </p:sp>
      <p:sp>
        <p:nvSpPr>
          <p:cNvPr id="31" name="Text 28"/>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reporting verb: </a:t>
            </a:r>
            <a:pPr algn="l" indent="0" marL="0">
              <a:buNone/>
            </a:pPr>
            <a:r>
              <a:rPr lang="ar-SA" altLang="en-US" sz="1450" dirty="0">
                <a:solidFill>
                  <a:srgbClr val="5A6472"/>
                </a:solidFill>
                <a:latin typeface="Amiri" pitchFamily="2" charset="-78"/>
                <a:ea typeface="Amiri" pitchFamily="2" charset="-78"/>
                <a:cs typeface="Amiri" pitchFamily="2" charset="-78"/>
              </a:rPr>
              <a:t>أَكَّدَ</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949440" y="3741725"/>
            <a:ext cx="46908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يَمْنَعُ القَانُونُ أَنْ </a:t>
            </a:r>
            <a:pPr rtl="1" algn="ctr" indent="0" marL="0">
              <a:buNone/>
            </a:pPr>
            <a:r>
              <a:rPr lang="ar-SA" altLang="en-US" sz="1600" b="1" dirty="0">
                <a:solidFill>
                  <a:srgbClr val="D6336C"/>
                </a:solidFill>
                <a:latin typeface="Amiri" pitchFamily="2" charset="-78"/>
                <a:ea typeface="Amiri" pitchFamily="2" charset="-78"/>
                <a:cs typeface="Amiri" pitchFamily="2" charset="-78"/>
              </a:rPr>
              <a:t>تُبَاعَ</a:t>
            </a:r>
            <a:pPr rtl="1" algn="ctr" indent="0" marL="0">
              <a:buNone/>
            </a:pPr>
            <a:r>
              <a:rPr lang="ar-SA" altLang="en-US" sz="1600" b="1" dirty="0">
                <a:solidFill>
                  <a:srgbClr val="1B3B6F"/>
                </a:solidFill>
                <a:latin typeface="Amiri" pitchFamily="2" charset="-78"/>
                <a:ea typeface="Amiri" pitchFamily="2" charset="-78"/>
                <a:cs typeface="Amiri" pitchFamily="2" charset="-78"/>
              </a:rPr>
              <a:t> البَيَانَاتُ</a:t>
            </a:r>
            <a:endParaRPr lang="ar-SA" sz="1600" dirty="0"/>
          </a:p>
        </p:txBody>
      </p:sp>
      <p:sp>
        <p:nvSpPr>
          <p:cNvPr id="36" name="Text 33"/>
          <p:cNvSpPr txBox="1"/>
          <p:nvPr/>
        </p:nvSpPr>
        <p:spPr>
          <a:xfrm>
            <a:off x="486460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verb in -a</a:t>
            </a:r>
            <a:endParaRPr lang="en-US" sz="1100" dirty="0"/>
          </a:p>
        </p:txBody>
      </p:sp>
      <p:sp>
        <p:nvSpPr>
          <p:cNvPr id="37" name="Text 34"/>
          <p:cNvSpPr txBox="1"/>
          <p:nvPr/>
        </p:nvSpPr>
        <p:spPr>
          <a:xfrm>
            <a:off x="3291840" y="3741725"/>
            <a:ext cx="13716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أَنْ</a:t>
            </a:r>
            <a:endParaRPr lang="ar-SA" sz="2000" dirty="0"/>
          </a:p>
        </p:txBody>
      </p:sp>
      <p:sp>
        <p:nvSpPr>
          <p:cNvPr id="38" name="Text 35"/>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trigger: </a:t>
            </a:r>
            <a:pPr algn="l" indent="0" marL="0">
              <a:buNone/>
            </a:pPr>
            <a:r>
              <a:rPr lang="ar-SA" altLang="en-US" sz="1450" dirty="0">
                <a:solidFill>
                  <a:srgbClr val="5A6472"/>
                </a:solidFill>
                <a:latin typeface="Amiri" pitchFamily="2" charset="-78"/>
                <a:ea typeface="Amiri" pitchFamily="2" charset="-78"/>
                <a:cs typeface="Amiri" pitchFamily="2" charset="-78"/>
              </a:rPr>
              <a:t>يَمْنَعُ</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949440" y="4478731"/>
            <a:ext cx="46908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يُشَارُ إِلَى أَنَّ </a:t>
            </a:r>
            <a:pPr rtl="1" algn="ctr" indent="0" marL="0">
              <a:buNone/>
            </a:pPr>
            <a:r>
              <a:rPr lang="ar-SA" altLang="en-US" sz="1600" b="1" dirty="0">
                <a:solidFill>
                  <a:srgbClr val="1D5FBF"/>
                </a:solidFill>
                <a:latin typeface="Amiri" pitchFamily="2" charset="-78"/>
                <a:ea typeface="Amiri" pitchFamily="2" charset="-78"/>
                <a:cs typeface="Amiri" pitchFamily="2" charset="-78"/>
              </a:rPr>
              <a:t>التَّفَاوُتَ</a:t>
            </a:r>
            <a:pPr rtl="1" algn="ctr" indent="0" marL="0">
              <a:buNone/>
            </a:pPr>
            <a:r>
              <a:rPr lang="ar-SA" altLang="en-US" sz="1600" b="1" dirty="0">
                <a:solidFill>
                  <a:srgbClr val="1B3B6F"/>
                </a:solidFill>
                <a:latin typeface="Amiri" pitchFamily="2" charset="-78"/>
                <a:ea typeface="Amiri" pitchFamily="2" charset="-78"/>
                <a:cs typeface="Amiri" pitchFamily="2" charset="-78"/>
              </a:rPr>
              <a:t> يُهَدِّدُ الاسْتِقْرَارَ</a:t>
            </a:r>
            <a:endParaRPr lang="ar-SA" sz="1600" dirty="0"/>
          </a:p>
        </p:txBody>
      </p:sp>
      <p:sp>
        <p:nvSpPr>
          <p:cNvPr id="41" name="Text 38"/>
          <p:cNvSpPr txBox="1"/>
          <p:nvPr/>
        </p:nvSpPr>
        <p:spPr>
          <a:xfrm>
            <a:off x="486460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noun (-a) + verb</a:t>
            </a:r>
            <a:endParaRPr lang="en-US" sz="1100" dirty="0"/>
          </a:p>
        </p:txBody>
      </p:sp>
      <p:sp>
        <p:nvSpPr>
          <p:cNvPr id="42" name="Text 39"/>
          <p:cNvSpPr txBox="1"/>
          <p:nvPr/>
        </p:nvSpPr>
        <p:spPr>
          <a:xfrm>
            <a:off x="3291840" y="4478731"/>
            <a:ext cx="137160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أَنَّ</a:t>
            </a:r>
            <a:endParaRPr lang="ar-SA" sz="2000" dirty="0"/>
          </a:p>
        </p:txBody>
      </p:sp>
      <p:sp>
        <p:nvSpPr>
          <p:cNvPr id="43" name="Text 40"/>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report: </a:t>
            </a:r>
            <a:pPr algn="l" indent="0" marL="0">
              <a:buNone/>
            </a:pPr>
            <a:r>
              <a:rPr lang="ar-SA" altLang="en-US" sz="1450" dirty="0">
                <a:solidFill>
                  <a:srgbClr val="5A6472"/>
                </a:solidFill>
                <a:latin typeface="Amiri" pitchFamily="2" charset="-78"/>
                <a:ea typeface="Amiri" pitchFamily="2" charset="-78"/>
                <a:cs typeface="Amiri" pitchFamily="2" charset="-78"/>
              </a:rPr>
              <a:t>يُشَارُ إِلَى</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949440" y="5215738"/>
            <a:ext cx="46908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بِأَنَّ تُوَقِّعَ → ✓ بِأَنْ تُوَقِّعَ</a:t>
            </a:r>
            <a:endParaRPr lang="ar-SA" sz="1600" dirty="0"/>
          </a:p>
        </p:txBody>
      </p:sp>
      <p:sp>
        <p:nvSpPr>
          <p:cNvPr id="46" name="Text 43"/>
          <p:cNvSpPr txBox="1"/>
          <p:nvPr/>
        </p:nvSpPr>
        <p:spPr>
          <a:xfrm>
            <a:off x="4864608" y="5215738"/>
            <a:ext cx="192024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3291840" y="5215738"/>
            <a:ext cx="13716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 أَنْ</a:t>
            </a:r>
            <a:endParaRPr lang="ar-SA" sz="2000" dirty="0"/>
          </a:p>
        </p:txBody>
      </p:sp>
      <p:sp>
        <p:nvSpPr>
          <p:cNvPr id="48" name="Text 45"/>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يُطَالِبُ بِأَنَّ</a:t>
            </a:r>
            <a:endParaRPr lang="ar-SA" sz="18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a trigger takes an + subjunctive; a reporting verb takes anna + noun. Mixing them is the most common P5 slip.</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KEEP THE CONCESSION INDICATIVE (WEBSITE RULE 2, TEACHING POINT 2, MISTAKE 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Fact -u, aim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المُثْبَتُ بَعْدَ صَحِيحٌ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CONCESSION · CORE</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2" charset="-78"/>
                <a:ea typeface="Amiri" pitchFamily="2" charset="-78"/>
                <a:cs typeface="Amiri" pitchFamily="2" charset="-78"/>
              </a:rPr>
              <a:t>صَحِيحٌ أَنَّ</a:t>
            </a:r>
            <a:pPr algn="l" indent="0" marL="0">
              <a:buNone/>
            </a:pPr>
            <a:r>
              <a:rPr lang="en-US" sz="1600" b="1" dirty="0">
                <a:solidFill>
                  <a:srgbClr val="8A6D1E"/>
                </a:solidFill>
                <a:latin typeface="Calibri" pitchFamily="34" charset="0"/>
                <a:cs typeface="Amiri" pitchFamily="2" charset="-78"/>
              </a:rPr>
              <a:t> + -u</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صَحِيحٌ أَنَّ التَّعْلِيمَ يَتَطَلَّبُ مَوَارِدَ ضَخْمَةً.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True, education requires huge resources. (a fact)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yataṭallabU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TRIGGER · CORE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2" charset="-78"/>
                <a:ea typeface="Amiri" pitchFamily="2" charset="-78"/>
                <a:cs typeface="Amiri" pitchFamily="2" charset="-78"/>
              </a:rPr>
              <a:t>يَتَطَلَّبُ أَنْ</a:t>
            </a:r>
            <a:pPr algn="l" indent="0" marL="0">
              <a:buNone/>
            </a:pPr>
            <a:r>
              <a:rPr lang="en-US" sz="1600" b="1" dirty="0">
                <a:solidFill>
                  <a:srgbClr val="8A6D1E"/>
                </a:solidFill>
                <a:latin typeface="Calibri" pitchFamily="34" charset="0"/>
                <a:cs typeface="Amiri" pitchFamily="2" charset="-78"/>
              </a:rPr>
              <a:t> + -a</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يَتَطَلَّبُ الأَمْرُ أَنْ تَتَحَرَّكَ الحُكُومَاتُ.</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requires governments to act. (an aim)</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tataḥarrakA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PRONOUN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غَيْرَ أَنَّهَا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صَحِيحٌ أَنَّ لِلتِّقْنِيَّةِ فَوَائِدَ، غَيْرَ أَنَّهَا تُعَمِّقُ الفَجْوَةَ.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True, technology has benefits; however, it deepens the gap.</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-hā (it)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do not carry the -a into the concession — the conceded situation is real.</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صَحِيحٌ أَنَّ التَّعْلِيمَ يَتَطَلَّبُ</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صَحِيحٌ أَنَّ التَّعْلِيمَ يَتَطَلَّبَ</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COMPLETE P5 SPINE (WEBSITE VOCABULARY GROUP 2 AND P5-L01 TO L09)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Everything P5 gave you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العَمُودُ الفِقْرِيُّ لِلْوَحْدَةِ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462272" y="1810512"/>
            <a:ext cx="7196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sentence</a:t>
            </a:r>
            <a:endParaRPr lang="en-US" sz="1100" dirty="0"/>
          </a:p>
        </p:txBody>
      </p:sp>
      <p:sp>
        <p:nvSpPr>
          <p:cNvPr id="17" name="Text 14"/>
          <p:cNvSpPr txBox="1"/>
          <p:nvPr/>
        </p:nvSpPr>
        <p:spPr>
          <a:xfrm>
            <a:off x="17190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8" name="Text 15"/>
          <p:cNvSpPr txBox="1"/>
          <p:nvPr/>
        </p:nvSpPr>
        <p:spPr>
          <a:xfrm>
            <a:off x="53035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4480560" y="2267712"/>
            <a:ext cx="7159752" cy="559308"/>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2" charset="-78"/>
                <a:ea typeface="Amiri" pitchFamily="2" charset="-78"/>
                <a:cs typeface="Amiri" pitchFamily="2" charset="-78"/>
              </a:rPr>
              <a:t>صَحِيحٌ أَنَّ</a:t>
            </a:r>
            <a:pPr rtl="1" algn="ctr" indent="0" marL="0">
              <a:buNone/>
            </a:pPr>
            <a:r>
              <a:rPr lang="ar-SA" altLang="en-US" sz="1600" b="1" dirty="0">
                <a:solidFill>
                  <a:srgbClr val="1B3B6F"/>
                </a:solidFill>
                <a:latin typeface="Amiri" pitchFamily="2" charset="-78"/>
                <a:ea typeface="Amiri" pitchFamily="2" charset="-78"/>
                <a:cs typeface="Amiri" pitchFamily="2" charset="-78"/>
              </a:rPr>
              <a:t> الإِصْلَاحَ يَتَطَلَّبُ مَوَارِدَ، </a:t>
            </a:r>
            <a:pPr rtl="1" algn="ctr" indent="0" marL="0">
              <a:buNone/>
            </a:pPr>
            <a:r>
              <a:rPr lang="ar-SA" altLang="en-US" sz="1600" b="1" dirty="0">
                <a:solidFill>
                  <a:srgbClr val="D6336C"/>
                </a:solidFill>
                <a:latin typeface="Amiri" pitchFamily="2" charset="-78"/>
                <a:ea typeface="Amiri" pitchFamily="2" charset="-78"/>
                <a:cs typeface="Amiri" pitchFamily="2" charset="-78"/>
              </a:rPr>
              <a:t>غَيْرَ أَنَّ</a:t>
            </a:r>
            <a:pPr rtl="1" algn="ctr" indent="0" marL="0">
              <a:buNone/>
            </a:pPr>
            <a:r>
              <a:rPr lang="ar-SA" altLang="en-US" sz="1600" b="1" dirty="0">
                <a:solidFill>
                  <a:srgbClr val="1B3B6F"/>
                </a:solidFill>
                <a:latin typeface="Amiri" pitchFamily="2" charset="-78"/>
                <a:ea typeface="Amiri" pitchFamily="2" charset="-78"/>
                <a:cs typeface="Amiri" pitchFamily="2" charset="-78"/>
              </a:rPr>
              <a:t> العَائِدَ أَكْبَرُ</a:t>
            </a:r>
            <a:endParaRPr lang="ar-SA" sz="1600" dirty="0"/>
          </a:p>
        </p:txBody>
      </p:sp>
      <p:sp>
        <p:nvSpPr>
          <p:cNvPr id="21" name="Text 18"/>
          <p:cNvSpPr txBox="1"/>
          <p:nvPr/>
        </p:nvSpPr>
        <p:spPr>
          <a:xfrm>
            <a:off x="175564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concession–refutation</a:t>
            </a:r>
            <a:endParaRPr lang="en-US" sz="1100" dirty="0"/>
          </a:p>
        </p:txBody>
      </p:sp>
      <p:sp>
        <p:nvSpPr>
          <p:cNvPr id="22" name="Text 19"/>
          <p:cNvSpPr txBox="1"/>
          <p:nvPr/>
        </p:nvSpPr>
        <p:spPr>
          <a:xfrm>
            <a:off x="566928" y="226771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L01 · L07</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4480560" y="2881884"/>
            <a:ext cx="7159752"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يُهَجَّرُ المَدَنِيُّونَ · يُنْتَهَكُ القَانُونُ · تُلْزَمُ الدُّوَلُ بِالامْتِثَالِ</a:t>
            </a:r>
            <a:endParaRPr lang="ar-SA" sz="1600" dirty="0"/>
          </a:p>
        </p:txBody>
      </p:sp>
      <p:sp>
        <p:nvSpPr>
          <p:cNvPr id="27" name="Text 24"/>
          <p:cNvSpPr txBox="1"/>
          <p:nvPr/>
        </p:nvSpPr>
        <p:spPr>
          <a:xfrm>
            <a:off x="175564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passive</a:t>
            </a:r>
            <a:endParaRPr lang="en-US" sz="1100" dirty="0"/>
          </a:p>
        </p:txBody>
      </p:sp>
      <p:sp>
        <p:nvSpPr>
          <p:cNvPr id="28" name="Text 25"/>
          <p:cNvSpPr txBox="1"/>
          <p:nvPr/>
        </p:nvSpPr>
        <p:spPr>
          <a:xfrm>
            <a:off x="566928" y="2881884"/>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L02 · L05</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4480560" y="3496056"/>
            <a:ext cx="7159752"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يُصِرُّ عَلَى أَنْ · يُطَالِبُ بِأَنْ · يَمْنَعُ أَنْ · يَرْفُضُ أَنْ </a:t>
            </a:r>
            <a:pPr rtl="1" algn="ctr" indent="0" marL="0">
              <a:buNone/>
            </a:pPr>
            <a:r>
              <a:rPr lang="ar-SA" altLang="en-US" sz="1600" b="1" dirty="0">
                <a:solidFill>
                  <a:srgbClr val="D6336C"/>
                </a:solidFill>
                <a:latin typeface="Amiri" pitchFamily="2" charset="-78"/>
                <a:ea typeface="Amiri" pitchFamily="2" charset="-78"/>
                <a:cs typeface="Amiri" pitchFamily="2" charset="-78"/>
              </a:rPr>
              <a:t>تَسْتَمِرَّ</a:t>
            </a:r>
            <a:pPr rtl="1" algn="ctr" indent="0" marL="0">
              <a:buNone/>
            </a:pPr>
            <a:r>
              <a:rPr lang="ar-SA" altLang="en-US" sz="1600" b="1" dirty="0">
                <a:solidFill>
                  <a:srgbClr val="1B3B6F"/>
                </a:solidFill>
                <a:latin typeface="Amiri" pitchFamily="2" charset="-78"/>
                <a:cs typeface="Amiri" pitchFamily="2" charset="-78"/>
              </a:rPr>
              <a:t> …</a:t>
            </a:r>
            <a:endParaRPr lang="ar-SA" sz="1600" dirty="0"/>
          </a:p>
        </p:txBody>
      </p:sp>
      <p:sp>
        <p:nvSpPr>
          <p:cNvPr id="31" name="Text 28"/>
          <p:cNvSpPr txBox="1"/>
          <p:nvPr/>
        </p:nvSpPr>
        <p:spPr>
          <a:xfrm>
            <a:off x="175564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extended triggers + -a</a:t>
            </a:r>
            <a:endParaRPr lang="en-US" sz="1100" dirty="0"/>
          </a:p>
        </p:txBody>
      </p:sp>
      <p:sp>
        <p:nvSpPr>
          <p:cNvPr id="32" name="Text 29"/>
          <p:cNvSpPr txBox="1"/>
          <p:nvPr/>
        </p:nvSpPr>
        <p:spPr>
          <a:xfrm>
            <a:off x="566928" y="3496056"/>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L03 · L04 · L05</a:t>
            </a:r>
            <a:endParaRPr lang="en-US" sz="1100" dirty="0"/>
          </a:p>
        </p:txBody>
      </p:sp>
      <p:sp>
        <p:nvSpPr>
          <p:cNvPr id="33" name="Shape 3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4480560" y="4110228"/>
            <a:ext cx="7159752" cy="559308"/>
          </a:xfrm>
          <a:prstGeom prst="rect">
            <a:avLst/>
          </a:prstGeom>
          <a:noFill/>
          <a:ln/>
        </p:spPr>
        <p:txBody>
          <a:bodyPr wrap="square" lIns="0" tIns="0" rIns="0" bIns="0" rtlCol="0" anchor="ctr"/>
          <a:lstStyle/>
          <a:p>
            <a:pPr rtl="1" algn="ctr" indent="0" marL="0">
              <a:buNone/>
            </a:pPr>
            <a:r>
              <a:rPr lang="ar-SA" altLang="en-US" sz="1600" b="1" dirty="0">
                <a:solidFill>
                  <a:srgbClr val="C77700"/>
                </a:solidFill>
                <a:latin typeface="Amiri" pitchFamily="2" charset="-78"/>
                <a:ea typeface="Amiri" pitchFamily="2" charset="-78"/>
                <a:cs typeface="Amiri" pitchFamily="2" charset="-78"/>
              </a:rPr>
              <a:t>كَانَتِ</a:t>
            </a:r>
            <a:pPr rtl="1" algn="ctr" indent="0" marL="0">
              <a:buNone/>
            </a:pPr>
            <a:r>
              <a:rPr lang="ar-SA" altLang="en-US" sz="1600" b="1" dirty="0">
                <a:solidFill>
                  <a:srgbClr val="1B3B6F"/>
                </a:solidFill>
                <a:latin typeface="Amiri" pitchFamily="2" charset="-78"/>
                <a:ea typeface="Amiri" pitchFamily="2" charset="-78"/>
                <a:cs typeface="Amiri" pitchFamily="2" charset="-78"/>
              </a:rPr>
              <a:t> الأَجْيَالُ السَّابِقَةُ </a:t>
            </a:r>
            <a:pPr rtl="1" algn="ctr" indent="0" marL="0">
              <a:buNone/>
            </a:pPr>
            <a:r>
              <a:rPr lang="ar-SA" altLang="en-US" sz="1600" b="1" dirty="0">
                <a:solidFill>
                  <a:srgbClr val="C77700"/>
                </a:solidFill>
                <a:latin typeface="Amiri" pitchFamily="2" charset="-78"/>
                <a:ea typeface="Amiri" pitchFamily="2" charset="-78"/>
                <a:cs typeface="Amiri" pitchFamily="2" charset="-78"/>
              </a:rPr>
              <a:t>قَدْ</a:t>
            </a:r>
            <a:pPr rtl="1" algn="ctr" indent="0" marL="0">
              <a:buNone/>
            </a:pPr>
            <a:r>
              <a:rPr lang="ar-SA" altLang="en-US" sz="1600" b="1" dirty="0">
                <a:solidFill>
                  <a:srgbClr val="1B3B6F"/>
                </a:solidFill>
                <a:latin typeface="Amiri" pitchFamily="2" charset="-78"/>
                <a:ea typeface="Amiri" pitchFamily="2" charset="-78"/>
                <a:cs typeface="Amiri" pitchFamily="2" charset="-78"/>
              </a:rPr>
              <a:t> نَاضَلَتْ مِنْ أَجْلِ الحُقُوقِ</a:t>
            </a:r>
            <a:endParaRPr lang="ar-SA" sz="1600" dirty="0"/>
          </a:p>
        </p:txBody>
      </p:sp>
      <p:sp>
        <p:nvSpPr>
          <p:cNvPr id="37" name="Text 34"/>
          <p:cNvSpPr txBox="1"/>
          <p:nvPr/>
        </p:nvSpPr>
        <p:spPr>
          <a:xfrm>
            <a:off x="175564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38" name="Text 35"/>
          <p:cNvSpPr txBox="1"/>
          <p:nvPr/>
        </p:nvSpPr>
        <p:spPr>
          <a:xfrm>
            <a:off x="566928" y="4110228"/>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L06</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4480560" y="4724400"/>
            <a:ext cx="7159752" cy="559308"/>
          </a:xfrm>
          <a:prstGeom prst="rect">
            <a:avLst/>
          </a:prstGeom>
          <a:noFill/>
          <a:ln/>
        </p:spPr>
        <p:txBody>
          <a:bodyPr wrap="square" lIns="0" tIns="0" rIns="0" bIns="0" rtlCol="0" anchor="ctr"/>
          <a:lstStyle/>
          <a:p>
            <a:pPr rtl="1" algn="ctr" indent="0" marL="0">
              <a:buNone/>
            </a:pPr>
            <a:r>
              <a:rPr lang="ar-SA" altLang="en-US" sz="1600" b="1" dirty="0">
                <a:solidFill>
                  <a:srgbClr val="0E7C86"/>
                </a:solidFill>
                <a:latin typeface="Amiri" pitchFamily="2" charset="-78"/>
                <a:ea typeface="Amiri" pitchFamily="2" charset="-78"/>
                <a:cs typeface="Amiri" pitchFamily="2" charset="-78"/>
              </a:rPr>
              <a:t>إِذَا</a:t>
            </a:r>
            <a:pPr rtl="1" algn="ctr" indent="0" marL="0">
              <a:buNone/>
            </a:pPr>
            <a:r>
              <a:rPr lang="ar-SA" altLang="en-US" sz="1600" b="1" dirty="0">
                <a:solidFill>
                  <a:srgbClr val="1B3B6F"/>
                </a:solidFill>
                <a:latin typeface="Amiri" pitchFamily="2" charset="-78"/>
                <a:ea typeface="Amiri" pitchFamily="2" charset="-78"/>
                <a:cs typeface="Amiri" pitchFamily="2" charset="-78"/>
              </a:rPr>
              <a:t> اسْتُثْمِرَ … </a:t>
            </a:r>
            <a:pPr rtl="1" algn="ctr" indent="0" marL="0">
              <a:buNone/>
            </a:pPr>
            <a:r>
              <a:rPr lang="ar-SA" altLang="en-US" sz="1600" b="1" dirty="0">
                <a:solidFill>
                  <a:srgbClr val="0E7C86"/>
                </a:solidFill>
                <a:latin typeface="Amiri" pitchFamily="2" charset="-78"/>
                <a:ea typeface="Amiri" pitchFamily="2" charset="-78"/>
                <a:cs typeface="Amiri" pitchFamily="2" charset="-78"/>
              </a:rPr>
              <a:t>سَتَضِيقُ</a:t>
            </a:r>
            <a:pPr rtl="1" algn="ctr" indent="0" marL="0">
              <a:buNone/>
            </a:pPr>
            <a:r>
              <a:rPr lang="ar-SA" altLang="en-US" sz="1600" b="1" dirty="0">
                <a:solidFill>
                  <a:srgbClr val="1B3B6F"/>
                </a:solidFill>
                <a:latin typeface="Amiri" pitchFamily="2" charset="-78"/>
                <a:cs typeface="Amiri" pitchFamily="2" charset="-78"/>
              </a:rPr>
              <a:t> · </a:t>
            </a:r>
            <a:pPr rtl="1" algn="ctr" indent="0" marL="0">
              <a:buNone/>
            </a:pPr>
            <a:r>
              <a:rPr lang="ar-SA" altLang="en-US" sz="1600" b="1" dirty="0">
                <a:solidFill>
                  <a:srgbClr val="7B3FA0"/>
                </a:solidFill>
                <a:latin typeface="Amiri" pitchFamily="2" charset="-78"/>
                <a:ea typeface="Amiri" pitchFamily="2" charset="-78"/>
                <a:cs typeface="Amiri" pitchFamily="2" charset="-78"/>
              </a:rPr>
              <a:t>لَوْ</a:t>
            </a:r>
            <a:pPr rtl="1" algn="ctr" indent="0" marL="0">
              <a:buNone/>
            </a:pPr>
            <a:r>
              <a:rPr lang="ar-SA" altLang="en-US" sz="1600" b="1" dirty="0">
                <a:solidFill>
                  <a:srgbClr val="1B3B6F"/>
                </a:solidFill>
                <a:latin typeface="Amiri" pitchFamily="2" charset="-78"/>
                <a:ea typeface="Amiri" pitchFamily="2" charset="-78"/>
                <a:cs typeface="Amiri" pitchFamily="2" charset="-78"/>
              </a:rPr>
              <a:t> عُولِجَ … </a:t>
            </a:r>
            <a:pPr rtl="1" algn="ctr" indent="0" marL="0">
              <a:buNone/>
            </a:pPr>
            <a:r>
              <a:rPr lang="ar-SA" altLang="en-US" sz="1600" b="1" dirty="0">
                <a:solidFill>
                  <a:srgbClr val="7B3FA0"/>
                </a:solidFill>
                <a:latin typeface="Amiri" pitchFamily="2" charset="-78"/>
                <a:ea typeface="Amiri" pitchFamily="2" charset="-78"/>
                <a:cs typeface="Amiri" pitchFamily="2" charset="-78"/>
              </a:rPr>
              <a:t>لَتَحَسَّنَ</a:t>
            </a:r>
            <a:endParaRPr lang="ar-SA" sz="1600" dirty="0"/>
          </a:p>
        </p:txBody>
      </p:sp>
      <p:sp>
        <p:nvSpPr>
          <p:cNvPr id="41" name="Text 38"/>
          <p:cNvSpPr txBox="1"/>
          <p:nvPr/>
        </p:nvSpPr>
        <p:spPr>
          <a:xfrm>
            <a:off x="175564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conditionals</a:t>
            </a:r>
            <a:endParaRPr lang="en-US" sz="1100" dirty="0"/>
          </a:p>
        </p:txBody>
      </p:sp>
      <p:sp>
        <p:nvSpPr>
          <p:cNvPr id="42" name="Text 39"/>
          <p:cNvSpPr txBox="1"/>
          <p:nvPr/>
        </p:nvSpPr>
        <p:spPr>
          <a:xfrm>
            <a:off x="566928" y="4724400"/>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 · P4</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4480560" y="5338572"/>
            <a:ext cx="7159752" cy="559308"/>
          </a:xfrm>
          <a:prstGeom prst="rect">
            <a:avLst/>
          </a:prstGeom>
          <a:noFill/>
          <a:ln/>
        </p:spPr>
        <p:txBody>
          <a:bodyPr wrap="square" lIns="0" tIns="0" rIns="0" bIns="0" rtlCol="0" anchor="ctr"/>
          <a:lstStyle/>
          <a:p>
            <a:pPr rtl="1" algn="ctr" indent="0" marL="0">
              <a:buNone/>
            </a:pPr>
            <a:r>
              <a:rPr lang="ar-SA" altLang="en-US" sz="1600" b="1" dirty="0">
                <a:solidFill>
                  <a:srgbClr val="0E7C86"/>
                </a:solidFill>
                <a:latin typeface="Amiri" pitchFamily="2" charset="-78"/>
                <a:ea typeface="Amiri" pitchFamily="2" charset="-78"/>
                <a:cs typeface="Amiri" pitchFamily="2" charset="-78"/>
              </a:rPr>
              <a:t>وَبِنَاءً عَلَى مَا سَبَقَ</a:t>
            </a:r>
            <a:pPr rtl="1" algn="ctr" indent="0" marL="0">
              <a:buNone/>
            </a:pPr>
            <a:r>
              <a:rPr lang="ar-SA" altLang="en-US" sz="1600" b="1" dirty="0">
                <a:solidFill>
                  <a:srgbClr val="1B3B6F"/>
                </a:solidFill>
                <a:latin typeface="Amiri" pitchFamily="2" charset="-78"/>
                <a:ea typeface="Amiri" pitchFamily="2" charset="-78"/>
                <a:cs typeface="Amiri" pitchFamily="2" charset="-78"/>
              </a:rPr>
              <a:t>، يَتَطَلَّبُ الأَمْرُ أَنْ تَتَحَرَّكَ الحُكُومَاتُ</a:t>
            </a:r>
            <a:endParaRPr lang="ar-SA" sz="1600" dirty="0"/>
          </a:p>
        </p:txBody>
      </p:sp>
      <p:sp>
        <p:nvSpPr>
          <p:cNvPr id="45" name="Text 42"/>
          <p:cNvSpPr txBox="1"/>
          <p:nvPr/>
        </p:nvSpPr>
        <p:spPr>
          <a:xfrm>
            <a:off x="175564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formal conclusion</a:t>
            </a:r>
            <a:endParaRPr lang="en-US" sz="1100" dirty="0"/>
          </a:p>
        </p:txBody>
      </p:sp>
      <p:sp>
        <p:nvSpPr>
          <p:cNvPr id="46" name="Text 43"/>
          <p:cNvSpPr txBox="1"/>
          <p:nvPr/>
        </p:nvSpPr>
        <p:spPr>
          <a:xfrm>
            <a:off x="566928" y="533857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L05 · L09</a:t>
            </a:r>
            <a:endParaRPr lang="en-US" sz="1100" dirty="0"/>
          </a:p>
        </p:txBody>
      </p:sp>
      <p:sp>
        <p:nvSpPr>
          <p:cNvPr id="47" name="Shape 44"/>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reading: “the shared lesson is that every structure has a precise marker.”</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ASSESSMENT QUESTIONS AND WHAT EACH ONE INVITES (P5-L12 TOPIC + ROLE PLAY)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Answer with the structure it invites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لِكُلِّ سُؤَالٍ تَرْكِيبُهُ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027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619963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Required</a:t>
            </a:r>
            <a:endParaRPr lang="en-US" sz="1100" dirty="0"/>
          </a:p>
        </p:txBody>
      </p:sp>
      <p:sp>
        <p:nvSpPr>
          <p:cNvPr id="18" name="Text 15"/>
          <p:cNvSpPr txBox="1"/>
          <p:nvPr/>
        </p:nvSpPr>
        <p:spPr>
          <a:xfrm>
            <a:off x="19933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 task</a:t>
            </a:r>
            <a:endParaRPr lang="en-US" sz="1100" dirty="0"/>
          </a:p>
        </p:txBody>
      </p:sp>
      <p:sp>
        <p:nvSpPr>
          <p:cNvPr id="19" name="Text 16"/>
          <p:cNvSpPr txBox="1"/>
          <p:nvPr/>
        </p:nvSpPr>
        <p:spPr>
          <a:xfrm>
            <a:off x="530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Task</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321040" y="2267712"/>
            <a:ext cx="33192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يُشَكِّلُ … أَكْبَرَ تَحَدٍّ، إِذْ تُشِيرُ …</a:t>
            </a:r>
            <a:endParaRPr lang="ar-SA" sz="1600" dirty="0"/>
          </a:p>
        </p:txBody>
      </p:sp>
      <p:sp>
        <p:nvSpPr>
          <p:cNvPr id="22" name="Text 19"/>
          <p:cNvSpPr txBox="1"/>
          <p:nvPr/>
        </p:nvSpPr>
        <p:spPr>
          <a:xfrm>
            <a:off x="623620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argument + evidence</a:t>
            </a:r>
            <a:endParaRPr lang="en-US" sz="1100" dirty="0"/>
          </a:p>
        </p:txBody>
      </p:sp>
      <p:sp>
        <p:nvSpPr>
          <p:cNvPr id="23" name="Text 20"/>
          <p:cNvSpPr txBox="1"/>
          <p:nvPr/>
        </p:nvSpPr>
        <p:spPr>
          <a:xfrm>
            <a:off x="2011680" y="2267712"/>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أَكْبَرُ تَحَدٍّ اجْتِمَاعِيٍّ يُوَاجِهُ العَالَمَ العَرَبِيَّ؟</a:t>
            </a:r>
            <a:endParaRPr lang="ar-SA" sz="1600" dirty="0"/>
          </a:p>
        </p:txBody>
      </p:sp>
      <p:sp>
        <p:nvSpPr>
          <p:cNvPr id="24" name="Text 21"/>
          <p:cNvSpPr txBox="1"/>
          <p:nvPr/>
        </p:nvSpPr>
        <p:spPr>
          <a:xfrm>
            <a:off x="56692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Topic 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321040" y="3004718"/>
            <a:ext cx="3319272" cy="682142"/>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2" charset="-78"/>
                <a:ea typeface="Amiri" pitchFamily="2" charset="-78"/>
                <a:cs typeface="Amiri" pitchFamily="2" charset="-78"/>
              </a:rPr>
              <a:t>صَحِيحٌ أَنَّ</a:t>
            </a:r>
            <a:pPr rtl="1" algn="ctr" indent="0" marL="0">
              <a:buNone/>
            </a:pPr>
            <a:r>
              <a:rPr lang="ar-SA" altLang="en-US" sz="1600" b="1" dirty="0">
                <a:solidFill>
                  <a:srgbClr val="1B3B6F"/>
                </a:solidFill>
                <a:latin typeface="Amiri" pitchFamily="2" charset="-78"/>
                <a:cs typeface="Amiri" pitchFamily="2" charset="-78"/>
              </a:rPr>
              <a:t> … </a:t>
            </a:r>
            <a:pPr rtl="1" algn="ctr" indent="0" marL="0">
              <a:buNone/>
            </a:pPr>
            <a:r>
              <a:rPr lang="ar-SA" altLang="en-US" sz="1600" b="1" dirty="0">
                <a:solidFill>
                  <a:srgbClr val="D6336C"/>
                </a:solidFill>
                <a:latin typeface="Amiri" pitchFamily="2" charset="-78"/>
                <a:ea typeface="Amiri" pitchFamily="2" charset="-78"/>
                <a:cs typeface="Amiri" pitchFamily="2" charset="-78"/>
              </a:rPr>
              <a:t>غَيْرَ أَنَّهَا</a:t>
            </a:r>
            <a:pPr rtl="1" algn="ctr" indent="0" marL="0">
              <a:buNone/>
            </a:pPr>
            <a:r>
              <a:rPr lang="ar-SA" altLang="en-US" sz="1600" b="1" dirty="0">
                <a:solidFill>
                  <a:srgbClr val="1B3B6F"/>
                </a:solidFill>
                <a:latin typeface="Amiri" pitchFamily="2" charset="-78"/>
                <a:cs typeface="Amiri" pitchFamily="2" charset="-78"/>
              </a:rPr>
              <a:t> …</a:t>
            </a:r>
            <a:endParaRPr lang="ar-SA" sz="1600" dirty="0"/>
          </a:p>
        </p:txBody>
      </p:sp>
      <p:sp>
        <p:nvSpPr>
          <p:cNvPr id="29" name="Text 26"/>
          <p:cNvSpPr txBox="1"/>
          <p:nvPr/>
        </p:nvSpPr>
        <p:spPr>
          <a:xfrm>
            <a:off x="623620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concession–refutation</a:t>
            </a:r>
            <a:endParaRPr lang="en-US" sz="1100" dirty="0"/>
          </a:p>
        </p:txBody>
      </p:sp>
      <p:sp>
        <p:nvSpPr>
          <p:cNvPr id="30" name="Text 27"/>
          <p:cNvSpPr txBox="1"/>
          <p:nvPr/>
        </p:nvSpPr>
        <p:spPr>
          <a:xfrm>
            <a:off x="2011680" y="3004718"/>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تُعَمِّقُ التِّكْنُولُوجِيَا عَدَمَ المُسَاوَاةِ؟</a:t>
            </a:r>
            <a:endParaRPr lang="ar-SA" sz="1600" dirty="0"/>
          </a:p>
        </p:txBody>
      </p:sp>
      <p:sp>
        <p:nvSpPr>
          <p:cNvPr id="31" name="Text 28"/>
          <p:cNvSpPr txBox="1"/>
          <p:nvPr/>
        </p:nvSpPr>
        <p:spPr>
          <a:xfrm>
            <a:off x="56692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Topic 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321040" y="3741725"/>
            <a:ext cx="3319272" cy="682142"/>
          </a:xfrm>
          <a:prstGeom prst="rect">
            <a:avLst/>
          </a:prstGeom>
          <a:noFill/>
          <a:ln/>
        </p:spPr>
        <p:txBody>
          <a:bodyPr wrap="square" lIns="0" tIns="0" rIns="0" bIns="0" rtlCol="0" anchor="ctr"/>
          <a:lstStyle/>
          <a:p>
            <a:pPr rtl="1" algn="ctr" indent="0" marL="0">
              <a:buNone/>
            </a:pPr>
            <a:r>
              <a:rPr lang="ar-SA" altLang="en-US" sz="1600" b="1" dirty="0">
                <a:solidFill>
                  <a:srgbClr val="7B3FA0"/>
                </a:solidFill>
                <a:latin typeface="Amiri" pitchFamily="2" charset="-78"/>
                <a:ea typeface="Amiri" pitchFamily="2" charset="-78"/>
                <a:cs typeface="Amiri" pitchFamily="2" charset="-78"/>
              </a:rPr>
              <a:t>لَوْ</a:t>
            </a:r>
            <a:pPr rtl="1" algn="ctr" indent="0" marL="0">
              <a:buNone/>
            </a:pPr>
            <a:r>
              <a:rPr lang="ar-SA" altLang="en-US" sz="1600" b="1" dirty="0">
                <a:solidFill>
                  <a:srgbClr val="1B3B6F"/>
                </a:solidFill>
                <a:latin typeface="Amiri" pitchFamily="2" charset="-78"/>
                <a:ea typeface="Amiri" pitchFamily="2" charset="-78"/>
                <a:cs typeface="Amiri" pitchFamily="2" charset="-78"/>
              </a:rPr>
              <a:t> كُنْتُ … </a:t>
            </a:r>
            <a:pPr rtl="1" algn="ctr" indent="0" marL="0">
              <a:buNone/>
            </a:pPr>
            <a:r>
              <a:rPr lang="ar-SA" altLang="en-US" sz="1600" b="1" dirty="0">
                <a:solidFill>
                  <a:srgbClr val="7B3FA0"/>
                </a:solidFill>
                <a:latin typeface="Amiri" pitchFamily="2" charset="-78"/>
                <a:ea typeface="Amiri" pitchFamily="2" charset="-78"/>
                <a:cs typeface="Amiri" pitchFamily="2" charset="-78"/>
              </a:rPr>
              <a:t>لَاسْتَثْمَرْتُ</a:t>
            </a:r>
            <a:pPr rtl="1" algn="ctr" indent="0" marL="0">
              <a:buNone/>
            </a:pPr>
            <a:r>
              <a:rPr lang="ar-SA" altLang="en-US" sz="1600" b="1" dirty="0">
                <a:solidFill>
                  <a:srgbClr val="1B3B6F"/>
                </a:solidFill>
                <a:latin typeface="Amiri" pitchFamily="2" charset="-78"/>
                <a:cs typeface="Amiri" pitchFamily="2" charset="-78"/>
              </a:rPr>
              <a:t> …</a:t>
            </a:r>
            <a:endParaRPr lang="ar-SA" sz="1600" dirty="0"/>
          </a:p>
        </p:txBody>
      </p:sp>
      <p:sp>
        <p:nvSpPr>
          <p:cNvPr id="36" name="Text 33"/>
          <p:cNvSpPr txBox="1"/>
          <p:nvPr/>
        </p:nvSpPr>
        <p:spPr>
          <a:xfrm>
            <a:off x="623620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37" name="Text 34"/>
          <p:cNvSpPr txBox="1"/>
          <p:nvPr/>
        </p:nvSpPr>
        <p:spPr>
          <a:xfrm>
            <a:off x="2011680" y="3741725"/>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لَوْ كُنْتَ فِي مَوْقِعِ السُّلْطَةِ، مَاذَا كُنْتَ سَتُغَيِّرُ؟</a:t>
            </a:r>
            <a:endParaRPr lang="ar-SA" sz="1600" dirty="0"/>
          </a:p>
        </p:txBody>
      </p:sp>
      <p:sp>
        <p:nvSpPr>
          <p:cNvPr id="38" name="Text 35"/>
          <p:cNvSpPr txBox="1"/>
          <p:nvPr/>
        </p:nvSpPr>
        <p:spPr>
          <a:xfrm>
            <a:off x="56692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Topic 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321040" y="4478731"/>
            <a:ext cx="33192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صَحِيحٌ أَنَّ … غَيْرَ أَنَّ …</a:t>
            </a:r>
            <a:endParaRPr lang="ar-SA" sz="1600" dirty="0"/>
          </a:p>
        </p:txBody>
      </p:sp>
      <p:sp>
        <p:nvSpPr>
          <p:cNvPr id="43" name="Text 40"/>
          <p:cNvSpPr txBox="1"/>
          <p:nvPr/>
        </p:nvSpPr>
        <p:spPr>
          <a:xfrm>
            <a:off x="623620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 + refutation</a:t>
            </a:r>
            <a:endParaRPr lang="en-US" sz="1100" dirty="0"/>
          </a:p>
        </p:txBody>
      </p:sp>
      <p:sp>
        <p:nvSpPr>
          <p:cNvPr id="44" name="Text 41"/>
          <p:cNvSpPr txBox="1"/>
          <p:nvPr/>
        </p:nvSpPr>
        <p:spPr>
          <a:xfrm>
            <a:off x="2029968" y="4478731"/>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 with the other side, then give your strongest point</a:t>
            </a:r>
            <a:endParaRPr lang="en-US" sz="1100" dirty="0"/>
          </a:p>
        </p:txBody>
      </p:sp>
      <p:sp>
        <p:nvSpPr>
          <p:cNvPr id="45" name="Text 42"/>
          <p:cNvSpPr txBox="1"/>
          <p:nvPr/>
        </p:nvSpPr>
        <p:spPr>
          <a:xfrm>
            <a:off x="56692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2–3</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321040" y="5215738"/>
            <a:ext cx="33192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يَتَطَلَّبُ الحَلُّ أَنْ </a:t>
            </a:r>
            <a:pPr rtl="1" algn="ctr" indent="0" marL="0">
              <a:buNone/>
            </a:pPr>
            <a:r>
              <a:rPr lang="ar-SA" altLang="en-US" sz="1600" b="1" dirty="0">
                <a:solidFill>
                  <a:srgbClr val="D6336C"/>
                </a:solidFill>
                <a:latin typeface="Amiri" pitchFamily="2" charset="-78"/>
                <a:ea typeface="Amiri" pitchFamily="2" charset="-78"/>
                <a:cs typeface="Amiri" pitchFamily="2" charset="-78"/>
              </a:rPr>
              <a:t>نُعِيدَ</a:t>
            </a:r>
            <a:pPr rtl="1" algn="ctr" indent="0" marL="0">
              <a:buNone/>
            </a:pPr>
            <a:r>
              <a:rPr lang="ar-SA" altLang="en-US" sz="1600" b="1" dirty="0">
                <a:solidFill>
                  <a:srgbClr val="1B3B6F"/>
                </a:solidFill>
                <a:latin typeface="Amiri" pitchFamily="2" charset="-78"/>
                <a:cs typeface="Amiri" pitchFamily="2" charset="-78"/>
              </a:rPr>
              <a:t> …</a:t>
            </a:r>
            <a:endParaRPr lang="ar-SA" sz="1600" dirty="0"/>
          </a:p>
        </p:txBody>
      </p:sp>
      <p:sp>
        <p:nvSpPr>
          <p:cNvPr id="48" name="Text 45"/>
          <p:cNvSpPr txBox="1"/>
          <p:nvPr/>
        </p:nvSpPr>
        <p:spPr>
          <a:xfrm>
            <a:off x="623620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yataṭallabu an + -a</a:t>
            </a:r>
            <a:endParaRPr lang="en-US" sz="1100" dirty="0"/>
          </a:p>
        </p:txBody>
      </p:sp>
      <p:sp>
        <p:nvSpPr>
          <p:cNvPr id="49" name="Text 46"/>
          <p:cNvSpPr txBox="1"/>
          <p:nvPr/>
        </p:nvSpPr>
        <p:spPr>
          <a:xfrm>
            <a:off x="2029968" y="521573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the solution requires</a:t>
            </a:r>
            <a:endParaRPr lang="en-US" sz="1100" dirty="0"/>
          </a:p>
        </p:txBody>
      </p:sp>
      <p:sp>
        <p:nvSpPr>
          <p:cNvPr id="50" name="Text 47"/>
          <p:cNvSpPr txBox="1"/>
          <p:nvPr/>
        </p:nvSpPr>
        <p:spPr>
          <a:xfrm>
            <a:off x="56692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4</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P5-L12 role play: a social-justice conference — introduce the issue, concede, refute, state what the solution requires.</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Repairing the P5 error zones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إِصْلَاحُ أَخْطَاءِ الوَحْدَةِ الشَّائِعَةِ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an vs anna</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an + verb in -a · anna + noun clause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يُطَالِبُ بِأَنْ تُوَقِّعَ الدُّوَلُ   ·   أَكَّدَ أَنَّ الفَجْوَةَ تَتَّسِعُ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Concession → indicative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ṣaḥīḥun anna + verb in -u</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صَحِيحٌ أَنَّ التَّعْلِيمَ يَتَطَلَّبُ مَوَارِدَ ضَخْمَةً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Subjunctive conclusion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wa-bināʾan ʿalā mā sabaqa + an + -a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وَبِنَاءً عَلَى مَا سَبَقَ، يَتَطَلَّبُ الأَمْرُ أَنْ تَتَحَرَّكَ الحُكُومَاتُ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Type 2 result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عُولِجَ التَّفَاوُتُ مُبَكِّرًا، لَتَحَسَّنَ الوَضْعُ</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يُطَالِبُ النَّاشِطُونَ بِأَنَّ تُوَقِّعَ الدُّوَلُ.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يُطَالِبُ النَّاشِطُونَ أَنَّ تُوَقِّعَ الدُّوَلُ.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يُطَالِبُ النَّاشِطُونَ بِأَنْ تُوَقِّعَ الدُّوَلُ.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أَكَّدَ الخَبِيرُ أَنَّ الفَجْوَةَ تَتَّسِعُ.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أَكَّدَ الخَبِيرُ أَنْ الفَجْوَةَ تَتَّسِعُ.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أَكَّدَ الخَبِيرُ أَنْ تَتَّسِعَ الفَجْوَةُ.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mood follows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indicative</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jussive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concession is correct?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 التَّعْلِيمَ يَتَطَلَّبُ مَوَارِدَ.</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 التَّعْلِيمَ يَتَطَلَّبَ مَوَارِدَ.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 التَّعْلِيمَ يَتَطَلَّبَ مَوَارِدَ.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يُطَالِبُ النَّاشِطُونَ بِأَنَّ تُوَقِّعَ الدُّوَلُ.</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يُطَالِبُ النَّاشِطُونَ أَنَّ تُوَقِّعَ الدُّوَلُ.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يُطَالِبُ النَّاشِطُونَ بِأَنْ تُوَقِّعَ الدُّوَلُ.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trigger takes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 subjunctive: </a:t>
            </a:r>
            <a:pPr algn="l" indent="0" marL="0">
              <a:buNone/>
            </a:pPr>
            <a:r>
              <a:rPr lang="ar-SA" altLang="en-US" sz="1350" dirty="0">
                <a:solidFill>
                  <a:srgbClr val="8A6D1E"/>
                </a:solidFill>
                <a:latin typeface="Amiri" pitchFamily="2" charset="-78"/>
                <a:ea typeface="Amiri" pitchFamily="2" charset="-78"/>
                <a:cs typeface="Amiri" pitchFamily="2" charset="-78"/>
              </a:rPr>
              <a:t>بِأَنْ تُوَقِّعَ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أَكَّدَ الخَبِيرُ أَنَّ الفَجْوَةَ تَتَّسِعُ.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أَكَّدَ الخَبِيرُ أَنْ الفَجْوَةَ تَتَّسِعُ.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أَكَّدَ الخَبِيرُ أَنْ تَتَّسِعَ الفَجْوَةُ.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reporting verb takes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 a noun clause.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mood follows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subjunctive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indicative</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jussive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concedes a real point, so the verb is indicative.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concession is correct?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صَحِيحٌ أَنَّ التَّعْلِيمَ يَتَطَلَّبُ مَوَارِدَ.</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صَحِيحٌ أَنَّ التَّعْلِيمَ يَتَطَلَّبَ مَوَارِدَ.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صَحِيحٌ أَنْ التَّعْلِيمَ يَتَطَلَّبَ مَوَارِدَ.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the verb is indicative: </a:t>
            </a:r>
            <a:pPr algn="l" indent="0" marL="0">
              <a:buNone/>
            </a:pPr>
            <a:r>
              <a:rPr lang="ar-SA" altLang="en-US" sz="1350" dirty="0">
                <a:solidFill>
                  <a:srgbClr val="8A6D1E"/>
                </a:solidFill>
                <a:latin typeface="Amiri" pitchFamily="2" charset="-78"/>
                <a:ea typeface="Amiri" pitchFamily="2" charset="-78"/>
                <a:cs typeface="Amiri" pitchFamily="2" charset="-78"/>
              </a:rPr>
              <a:t>يَتَطَلَّبُ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Watch me answer the assessment questions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Topic 2</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صَحِيحٌ أَنَّ</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غَيْرَ أَنَّهَا</a:t>
            </a:r>
            <a:pPr rtl="1" algn="ctr" indent="0" marL="0">
              <a:buNone/>
            </a:pPr>
            <a:r>
              <a:rPr lang="ar-SA" altLang="en-US" sz="2400" b="1" dirty="0">
                <a:solidFill>
                  <a:srgbClr val="1B3B6F"/>
                </a:solidFill>
                <a:latin typeface="Amiri" pitchFamily="2" charset="-78"/>
                <a:cs typeface="Amiri" pitchFamily="2" charset="-78"/>
              </a:rPr>
              <a:t> …</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Concede, refute.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Demand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يُطَالِبُ … </a:t>
            </a:r>
            <a:pPr rtl="1" algn="ctr" indent="0" marL="0">
              <a:buNone/>
            </a:pPr>
            <a:r>
              <a:rPr lang="ar-SA" altLang="en-US" sz="2700" b="1" dirty="0">
                <a:solidFill>
                  <a:srgbClr val="0E7C86"/>
                </a:solidFill>
                <a:latin typeface="Amiri" pitchFamily="2" charset="-78"/>
                <a:ea typeface="Amiri" pitchFamily="2" charset="-78"/>
                <a:cs typeface="Amiri" pitchFamily="2" charset="-78"/>
              </a:rPr>
              <a:t>بِأَنْ تُوَفِّرَ</a:t>
            </a:r>
            <a:pPr rtl="1" algn="ctr" indent="0" marL="0">
              <a:buNone/>
            </a:pPr>
            <a:r>
              <a:rPr lang="ar-SA" altLang="en-US" sz="2700" b="1" dirty="0">
                <a:solidFill>
                  <a:srgbClr val="1B3B6F"/>
                </a:solidFill>
                <a:latin typeface="Amiri" pitchFamily="2" charset="-78"/>
                <a:cs typeface="Amiri" pitchFamily="2" charset="-78"/>
              </a:rPr>
              <a:t> …</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Topic 3</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7B3FA0"/>
                </a:solidFill>
                <a:latin typeface="Amiri" pitchFamily="2" charset="-78"/>
                <a:ea typeface="Amiri" pitchFamily="2" charset="-78"/>
                <a:cs typeface="Amiri" pitchFamily="2" charset="-78"/>
              </a:rPr>
              <a:t>لَوْ كُنْتُ</a:t>
            </a:r>
            <a:pPr rtl="1" algn="ctr" indent="0" marL="0">
              <a:buNone/>
            </a:pPr>
            <a:r>
              <a:rPr lang="ar-SA" altLang="en-US" sz="2550" b="1" dirty="0">
                <a:solidFill>
                  <a:srgbClr val="1B3B6F"/>
                </a:solidFill>
                <a:latin typeface="Amiri" pitchFamily="2" charset="-78"/>
                <a:cs typeface="Amiri" pitchFamily="2" charset="-78"/>
              </a:rPr>
              <a:t> … </a:t>
            </a:r>
            <a:pPr rtl="1" algn="ctr" indent="0" marL="0">
              <a:buNone/>
            </a:pPr>
            <a:r>
              <a:rPr lang="ar-SA" altLang="en-US" sz="2550" b="1" dirty="0">
                <a:solidFill>
                  <a:srgbClr val="7B3FA0"/>
                </a:solidFill>
                <a:latin typeface="Amiri" pitchFamily="2" charset="-78"/>
                <a:ea typeface="Amiri" pitchFamily="2" charset="-78"/>
                <a:cs typeface="Amiri" pitchFamily="2" charset="-78"/>
              </a:rPr>
              <a:t>لَاسْتَثْمَرْتُ</a:t>
            </a:r>
            <a:pPr rtl="1" algn="ctr" indent="0" marL="0">
              <a:buNone/>
            </a:pPr>
            <a:r>
              <a:rPr lang="ar-SA" altLang="en-US" sz="2550" b="1" dirty="0">
                <a:solidFill>
                  <a:srgbClr val="1B3B6F"/>
                </a:solidFill>
                <a:latin typeface="Amiri" pitchFamily="2" charset="-78"/>
                <a:cs typeface="Amiri" pitchFamily="2" charset="-78"/>
              </a:rPr>
              <a:t> …</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C77700"/>
                </a:solidFill>
                <a:latin typeface="Amiri" pitchFamily="2" charset="-78"/>
                <a:ea typeface="Amiri" pitchFamily="2" charset="-78"/>
                <a:cs typeface="Amiri" pitchFamily="2" charset="-78"/>
              </a:rPr>
              <a:t>وَبِنَاءً عَلَى مَا سَبَقَ</a:t>
            </a:r>
            <a:pPr rtl="1" algn="ctr" indent="0" marL="0">
              <a:buNone/>
            </a:pPr>
            <a:r>
              <a:rPr lang="ar-SA" altLang="en-US" sz="2100" b="1" dirty="0">
                <a:solidFill>
                  <a:srgbClr val="1B3B6F"/>
                </a:solidFill>
                <a:latin typeface="Amiri" pitchFamily="2" charset="-78"/>
                <a:ea typeface="Amiri" pitchFamily="2" charset="-78"/>
                <a:cs typeface="Amiri" pitchFamily="2" charset="-78"/>
              </a:rPr>
              <a:t> … أَنْ …</a:t>
            </a:r>
            <a:endParaRPr lang="ar-SA" sz="21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Formal.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CONCESSION</a:t>
            </a:r>
            <a:endParaRPr lang="en-US" sz="800" dirty="0"/>
          </a:p>
        </p:txBody>
      </p:sp>
      <p:sp>
        <p:nvSpPr>
          <p:cNvPr id="47" name="Shape 43"/>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REFUTATION</a:t>
            </a:r>
            <a:endParaRPr lang="en-US" sz="800" dirty="0"/>
          </a:p>
        </p:txBody>
      </p:sp>
      <p:sp>
        <p:nvSpPr>
          <p:cNvPr id="49" name="Shape 45"/>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TRIGGER</a:t>
            </a:r>
            <a:endParaRPr lang="en-US" sz="800" dirty="0"/>
          </a:p>
        </p:txBody>
      </p:sp>
      <p:sp>
        <p:nvSpPr>
          <p:cNvPr id="51" name="Shape 47"/>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3" name="Shape 49"/>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CONCLUSION</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صَحِيحٌ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التِّقْنِيَّةَ تُوَفِّرُ فُرَصًا هَائِلَةً،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غَيْرَ أَنَّهَا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تُعَمِّقُ الفَجْوَةَ بَيْنَ مَنْ يَمْلِكُونَ وَمَنْ لَا يَمْلِكُونَ. وَيُطَالِبُ الخُبَرَاءُ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بِأَنْ تُوَفِّرَ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الدُّوَلُ بُنْيَةً تَحْتِيَّةً رَقْمِيَّةً لِلْجَمِيعِ.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وَلَوْ كُنْتُ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مَوْقِعِ السُّلْطَةِ،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لَاسْتَثْمَرْتُ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التَّعْلِيمِ الرَّقْمِيِّ أَوَّلًا.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وَبِنَاءً عَلَى مَا سَبَقَ</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يَتَطَلَّبُ الأَمْرُ أَنْ تَتَحَرَّكَ الحُكُومَاتُ بِسُرْعَةٍ.</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cs typeface="Amiri" pitchFamily="2" charset="-78"/>
              </a:rPr>
              <a:t>It is true that technology offers enormous opportunities; however, it deepens the gap between those who have and those who do not. Experts demand that states provide digital infrastructure for all. And if I were in a position of power, I would invest in digital education first. Based on the above, the matter requires governments to act quickly.</a:t>
            </a:r>
            <a:endParaRPr lang="en-US" sz="10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يُطَالِبُ النَّاشِطُونَ بِأَنْ تُوَقِّعَ الدُّوَلُ، وَأَكَّدُوا أَنَّ الوَقْتَ يَنْفَدُ</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activists demand that states sign — and they confirmed that time is running out</a:t>
            </a:r>
            <a:endParaRPr lang="en-US" sz="1250" dirty="0"/>
          </a:p>
          <a:p>
            <a:pPr indent="0" marL="0">
              <a:buNone/>
            </a:pPr>
            <a:r>
              <a:rPr lang="en-US" sz="1050" i="1" dirty="0">
                <a:solidFill>
                  <a:srgbClr val="8A6D1E"/>
                </a:solidFill>
                <a:latin typeface="Calibri" pitchFamily="34" charset="0"/>
                <a:cs typeface="Amiri" pitchFamily="2" charset="-78"/>
              </a:rPr>
              <a:t>an (trigger) vs anna (report).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صَحِيحٌ أَنَّ الإِصْلَاحَ يَتَطَلَّبُ مَوَارِدَ، غَيْرَ أَنَّ العَائِدَ أَكْبَرُ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true that reform requires resources; however, the return is greater</a:t>
            </a:r>
            <a:endParaRPr lang="en-US" sz="1250" dirty="0"/>
          </a:p>
          <a:p>
            <a:pPr indent="0" marL="0">
              <a:buNone/>
            </a:pPr>
            <a:r>
              <a:rPr lang="en-US" sz="1050" i="1" dirty="0">
                <a:solidFill>
                  <a:srgbClr val="8A6D1E"/>
                </a:solidFill>
                <a:latin typeface="Calibri" pitchFamily="34" charset="0"/>
                <a:cs typeface="Amiri" pitchFamily="2" charset="-78"/>
              </a:rPr>
              <a:t>Concession indicative + refutation.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وَبِنَاءً عَلَى مَا سَبَقَ، يَتَطَلَّبُ الأَمْرُ أَنْ تَتَحَرَّكَ الحُكُومَاتُ</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based on the above, the matter requires governments to act</a:t>
            </a:r>
            <a:endParaRPr lang="en-US" sz="1250" dirty="0"/>
          </a:p>
          <a:p>
            <a:pPr indent="0" marL="0">
              <a:buNone/>
            </a:pPr>
            <a:r>
              <a:rPr lang="en-US" sz="1050" i="1" dirty="0">
                <a:solidFill>
                  <a:srgbClr val="8A6D1E"/>
                </a:solidFill>
                <a:latin typeface="Calibri" pitchFamily="34" charset="0"/>
                <a:cs typeface="Amiri" pitchFamily="2" charset="-78"/>
              </a:rPr>
              <a:t>Subjunctive conclusion.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REPAIR THE SLIPS (WEBSITE MISTAKES + EARLIER P5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it, fix it, name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وَسَمِّ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Zone</a:t>
            </a:r>
            <a:endParaRPr lang="en-US" sz="1100" dirty="0"/>
          </a:p>
        </p:txBody>
      </p:sp>
      <p:sp>
        <p:nvSpPr>
          <p:cNvPr id="17" name="Text 14"/>
          <p:cNvSpPr txBox="1"/>
          <p:nvPr/>
        </p:nvSpPr>
        <p:spPr>
          <a:xfrm>
            <a:off x="455371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Correct</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Slip</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vs anna</a:t>
            </a:r>
            <a:endParaRPr lang="en-US" sz="1100" dirty="0"/>
          </a:p>
        </p:txBody>
      </p:sp>
      <p:sp>
        <p:nvSpPr>
          <p:cNvPr id="21" name="Text 18"/>
          <p:cNvSpPr txBox="1"/>
          <p:nvPr/>
        </p:nvSpPr>
        <p:spPr>
          <a:xfrm>
            <a:off x="4572000" y="2267712"/>
            <a:ext cx="402336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يُطَالِبُ النَّاشِطُونَ بِأَنْ تُوَقِّعَ الدُّوَلُ.</a:t>
            </a:r>
            <a:endParaRPr lang="ar-SA" sz="1700" dirty="0"/>
          </a:p>
        </p:txBody>
      </p:sp>
      <p:sp>
        <p:nvSpPr>
          <p:cNvPr id="22" name="Text 19"/>
          <p:cNvSpPr txBox="1"/>
          <p:nvPr/>
        </p:nvSpPr>
        <p:spPr>
          <a:xfrm>
            <a:off x="548640" y="2267712"/>
            <a:ext cx="38404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يُطَالِبُ النَّاشِطُونَ بِأَنَّ تُوَقِّعَ الدُّوَلُ.</a:t>
            </a:r>
            <a:endParaRPr lang="ar-SA" sz="17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 -u</a:t>
            </a:r>
            <a:endParaRPr lang="en-US" sz="1100" dirty="0"/>
          </a:p>
        </p:txBody>
      </p:sp>
      <p:sp>
        <p:nvSpPr>
          <p:cNvPr id="27" name="Text 24"/>
          <p:cNvSpPr txBox="1"/>
          <p:nvPr/>
        </p:nvSpPr>
        <p:spPr>
          <a:xfrm>
            <a:off x="4572000" y="2881884"/>
            <a:ext cx="402336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صَحِيحٌ أَنَّ التَّعْلِيمَ يَتَطَلَّبُ مَوَارِدَ.</a:t>
            </a:r>
            <a:endParaRPr lang="ar-SA" sz="1700" dirty="0"/>
          </a:p>
        </p:txBody>
      </p:sp>
      <p:sp>
        <p:nvSpPr>
          <p:cNvPr id="28" name="Text 25"/>
          <p:cNvSpPr txBox="1"/>
          <p:nvPr/>
        </p:nvSpPr>
        <p:spPr>
          <a:xfrm>
            <a:off x="548640" y="2881884"/>
            <a:ext cx="38404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صَحِيحٌ أَنَّ التَّعْلِيمَ يَتَطَلَّبَ مَوَارِدَ.</a:t>
            </a:r>
            <a:endParaRPr lang="ar-SA" sz="17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conclusion -a</a:t>
            </a:r>
            <a:endParaRPr lang="en-US" sz="1100" dirty="0"/>
          </a:p>
        </p:txBody>
      </p:sp>
      <p:sp>
        <p:nvSpPr>
          <p:cNvPr id="33" name="Text 30"/>
          <p:cNvSpPr txBox="1"/>
          <p:nvPr/>
        </p:nvSpPr>
        <p:spPr>
          <a:xfrm>
            <a:off x="4572000" y="3496056"/>
            <a:ext cx="402336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يَتَطَلَّبُ الأَمْرُ أَنْ تَتَحَرَّكَ الحُكُومَاتُ.</a:t>
            </a:r>
            <a:endParaRPr lang="ar-SA" sz="1700" dirty="0"/>
          </a:p>
        </p:txBody>
      </p:sp>
      <p:sp>
        <p:nvSpPr>
          <p:cNvPr id="34" name="Text 31"/>
          <p:cNvSpPr txBox="1"/>
          <p:nvPr/>
        </p:nvSpPr>
        <p:spPr>
          <a:xfrm>
            <a:off x="548640" y="3496056"/>
            <a:ext cx="38404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يَتَطَلَّبُ الأَمْرُ أَنْ تَتَحَرَّكُ الحُكُومَاتُ.</a:t>
            </a:r>
            <a:endParaRPr lang="ar-SA" sz="17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 la-</a:t>
            </a:r>
            <a:endParaRPr lang="en-US" sz="1100" dirty="0"/>
          </a:p>
        </p:txBody>
      </p:sp>
      <p:sp>
        <p:nvSpPr>
          <p:cNvPr id="39" name="Text 36"/>
          <p:cNvSpPr txBox="1"/>
          <p:nvPr/>
        </p:nvSpPr>
        <p:spPr>
          <a:xfrm>
            <a:off x="4572000" y="4110228"/>
            <a:ext cx="402336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لَوْ عُولِجَ التَّفَاوُتُ مُبَكِّرًا، لَتَحَسَّنَ الوَضْعُ.</a:t>
            </a:r>
            <a:endParaRPr lang="ar-SA" sz="1700" dirty="0"/>
          </a:p>
        </p:txBody>
      </p:sp>
      <p:sp>
        <p:nvSpPr>
          <p:cNvPr id="40" name="Text 37"/>
          <p:cNvSpPr txBox="1"/>
          <p:nvPr/>
        </p:nvSpPr>
        <p:spPr>
          <a:xfrm>
            <a:off x="548640" y="4110228"/>
            <a:ext cx="38404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لَوْ عُولِجَ التَّفَاوُتُ مُبَكِّرًا، تَحَسَّنَ الوَضْعُ.</a:t>
            </a:r>
            <a:endParaRPr lang="ar-SA" sz="17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yulzamu bi- (L05)</a:t>
            </a:r>
            <a:endParaRPr lang="en-US" sz="1100" dirty="0"/>
          </a:p>
        </p:txBody>
      </p:sp>
      <p:sp>
        <p:nvSpPr>
          <p:cNvPr id="43" name="Text 40"/>
          <p:cNvSpPr txBox="1"/>
          <p:nvPr/>
        </p:nvSpPr>
        <p:spPr>
          <a:xfrm>
            <a:off x="4572000" y="4724400"/>
            <a:ext cx="402336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تُلْزَمُ الدُّوَلُ بِالامْتِثَالِ.</a:t>
            </a:r>
            <a:endParaRPr lang="ar-SA" sz="1700" dirty="0"/>
          </a:p>
        </p:txBody>
      </p:sp>
      <p:sp>
        <p:nvSpPr>
          <p:cNvPr id="44" name="Text 41"/>
          <p:cNvSpPr txBox="1"/>
          <p:nvPr/>
        </p:nvSpPr>
        <p:spPr>
          <a:xfrm>
            <a:off x="548640" y="4724400"/>
            <a:ext cx="38404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تُلْزَمُ الدُّوَلُ عَلَى الامْتِثَالِ.</a:t>
            </a:r>
            <a:endParaRPr lang="ar-SA" sz="17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 -a (L06)</a:t>
            </a:r>
            <a:endParaRPr lang="en-US" sz="1100" dirty="0"/>
          </a:p>
        </p:txBody>
      </p:sp>
      <p:sp>
        <p:nvSpPr>
          <p:cNvPr id="47" name="Text 44"/>
          <p:cNvSpPr txBox="1"/>
          <p:nvPr/>
        </p:nvSpPr>
        <p:spPr>
          <a:xfrm>
            <a:off x="4572000" y="5338572"/>
            <a:ext cx="402336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يُعِيدُ الشَّبَابُ تَعْرِيفَ النَّاشِطِيَّةِ.</a:t>
            </a:r>
            <a:endParaRPr lang="ar-SA" sz="1700" dirty="0"/>
          </a:p>
        </p:txBody>
      </p:sp>
      <p:sp>
        <p:nvSpPr>
          <p:cNvPr id="48" name="Text 45"/>
          <p:cNvSpPr txBox="1"/>
          <p:nvPr/>
        </p:nvSpPr>
        <p:spPr>
          <a:xfrm>
            <a:off x="548640" y="5338572"/>
            <a:ext cx="38404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يُعِيدُ الشَّبَابُ تَعْرِيفُ النَّاشِطِيَّةِ.</a:t>
            </a:r>
            <a:endParaRPr lang="ar-SA" sz="17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reading: “the shared lesson is that every structure has a precise marker.”</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ASSESSMENT ANSWER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Concession + demand + hypothesis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جَوَابَكَ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778154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Concession–refutation</a:t>
            </a:r>
            <a:endParaRPr lang="en-US" sz="1100" dirty="0"/>
          </a:p>
        </p:txBody>
      </p:sp>
      <p:sp>
        <p:nvSpPr>
          <p:cNvPr id="19" name="Text 16"/>
          <p:cNvSpPr txBox="1"/>
          <p:nvPr/>
        </p:nvSpPr>
        <p:spPr>
          <a:xfrm>
            <a:off x="412394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Demand (an + -a)</a:t>
            </a:r>
            <a:endParaRPr lang="en-US" sz="1100" dirty="0"/>
          </a:p>
        </p:txBody>
      </p:sp>
      <p:sp>
        <p:nvSpPr>
          <p:cNvPr id="20" name="Text 17"/>
          <p:cNvSpPr txBox="1"/>
          <p:nvPr/>
        </p:nvSpPr>
        <p:spPr>
          <a:xfrm>
            <a:off x="53035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Type 2 / conclusion</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7799832" y="2267712"/>
            <a:ext cx="384048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صَحِيحٌ أَنَّ التِّقْنِيَّةَ تُوَفِّرُ فُرَصًا، غَيْرَ أَنَّهَا تُعَمِّقُ الفَجْوَةَ الرَّقْمِيَّةَ</a:t>
            </a:r>
            <a:endParaRPr lang="ar-SA" sz="1400" dirty="0"/>
          </a:p>
        </p:txBody>
      </p:sp>
      <p:sp>
        <p:nvSpPr>
          <p:cNvPr id="23" name="Text 20"/>
          <p:cNvSpPr txBox="1"/>
          <p:nvPr/>
        </p:nvSpPr>
        <p:spPr>
          <a:xfrm>
            <a:off x="414223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وَيُطَالِبُ الخُبَرَاءُ بِأَنْ تُوَفِّرَ الدُّوَلُ بُنْيَةً تَحْتِيَّةً لِلْجَمِيعِ</a:t>
            </a:r>
            <a:endParaRPr lang="ar-SA" sz="1450" dirty="0"/>
          </a:p>
        </p:txBody>
      </p:sp>
      <p:sp>
        <p:nvSpPr>
          <p:cNvPr id="24" name="Text 21"/>
          <p:cNvSpPr txBox="1"/>
          <p:nvPr/>
        </p:nvSpPr>
        <p:spPr>
          <a:xfrm>
            <a:off x="548640" y="2267712"/>
            <a:ext cx="341071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وَلَوْ كُنْتُ مَسْؤُولًا، لَاسْتَثْمَرْتُ فِي التَّعْلِيمِ الرَّقْمِيِّ أَوَّلًا</a:t>
            </a:r>
            <a:endParaRPr lang="ar-SA" sz="1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799832" y="3054096"/>
            <a:ext cx="384048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صَحِيحٌ أَنَّ الإِصْلَاحَاتِ تَحْتَاجُ وَقْتًا، غَيْرَ أَنَّ الحَاجَةَ مُلِحَّةٌ</a:t>
            </a:r>
            <a:endParaRPr lang="ar-SA" sz="1500" dirty="0"/>
          </a:p>
        </p:txBody>
      </p:sp>
      <p:sp>
        <p:nvSpPr>
          <p:cNvPr id="29" name="Text 26"/>
          <p:cNvSpPr txBox="1"/>
          <p:nvPr/>
        </p:nvSpPr>
        <p:spPr>
          <a:xfrm>
            <a:off x="4142232" y="3054096"/>
            <a:ext cx="347472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وَيُصِرُّ النَّاشِطُونَ عَلَى أَنْ تُطَبَّقَ العَدَالَةُ بِالتَّسَاوِي</a:t>
            </a:r>
            <a:endParaRPr lang="ar-SA" sz="1500" dirty="0"/>
          </a:p>
        </p:txBody>
      </p:sp>
      <p:sp>
        <p:nvSpPr>
          <p:cNvPr id="30" name="Text 27"/>
          <p:cNvSpPr txBox="1"/>
          <p:nvPr/>
        </p:nvSpPr>
        <p:spPr>
          <a:xfrm>
            <a:off x="548640" y="3054096"/>
            <a:ext cx="341071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وَلَوْ عُولِجَ التَّفَاوُتُ مُبَكِّرًا، لَتَحَسَّنَ الوَضْعُ</a:t>
            </a:r>
            <a:endParaRPr lang="ar-SA" sz="15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799832" y="3840480"/>
            <a:ext cx="384048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صَحِيحٌ أَنَّ لِلْهِجْرَةِ تَحَدِّيَاتٍ، غَيْرَ أَنَّهَا تُثْرِي المُجْتَمَعَاتِ</a:t>
            </a:r>
            <a:endParaRPr lang="ar-SA" sz="1500" dirty="0"/>
          </a:p>
        </p:txBody>
      </p:sp>
      <p:sp>
        <p:nvSpPr>
          <p:cNvPr id="33" name="Text 30"/>
          <p:cNvSpPr txBox="1"/>
          <p:nvPr/>
        </p:nvSpPr>
        <p:spPr>
          <a:xfrm>
            <a:off x="4142232" y="3840480"/>
            <a:ext cx="347472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وَيَدْعُو المُخْتَصُّونَ إِلَى أَنْ يُعَادَ تَوْزِيعُ الفُرَصِ</a:t>
            </a:r>
            <a:endParaRPr lang="ar-SA" sz="1500" dirty="0"/>
          </a:p>
        </p:txBody>
      </p:sp>
      <p:sp>
        <p:nvSpPr>
          <p:cNvPr id="34" name="Text 31"/>
          <p:cNvSpPr txBox="1"/>
          <p:nvPr/>
        </p:nvSpPr>
        <p:spPr>
          <a:xfrm>
            <a:off x="548640" y="3840480"/>
            <a:ext cx="341071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وَبِنَاءً عَلَى مَا سَبَقَ، يَتَطَلَّبُ الأَمْرُ أَنْ تَتَحَرَّكَ الحُكُومَاتُ</a:t>
            </a:r>
            <a:endParaRPr lang="ar-SA" sz="14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aloud as one fluent answer.</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an + -a, anna + noun — or concession -u?</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يُطَالِبُ النَّاشِطُونَ بِأَنْ تُوَقِّعَ الدُّوَلُ</a:t>
            </a:r>
            <a:endParaRPr lang="ar-SA" sz="17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150" b="1" dirty="0">
                <a:solidFill>
                  <a:srgbClr val="1B3B6F"/>
                </a:solidFill>
                <a:latin typeface="Amiri" pitchFamily="2" charset="-78"/>
                <a:ea typeface="Amiri" pitchFamily="2" charset="-78"/>
                <a:cs typeface="Amiri" pitchFamily="2" charset="-78"/>
              </a:rPr>
              <a:t>يُصِرُّ المُدَافِعُونَ عَلَى أَنْ تَحْصُلَ المَرْأَةُ عَلَى حُقُوقِهَا</a:t>
            </a:r>
            <a:endParaRPr lang="ar-SA" sz="115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يَمْنَعُ القَانُونُ أَنْ تُبَاعَ البَيَانَاتُ</a:t>
            </a:r>
            <a:endParaRPr lang="ar-SA" sz="17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أَكَّدَ الخَبِيرُ أَنَّ الفَجْوَةَ تَتَّسِعُ</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يُشَارُ إِلَى أَنَّ التَّفَاوُتَ يُهَدِّدُ الاسْتِقْرَارَ</a:t>
            </a:r>
            <a:endParaRPr lang="ar-SA" sz="14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يُثْبِتُ الوَاقِعُ أَنَّ الحَاجَةَ مُلِحَّةٌ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صَحِيحٌ أَنَّ التَّعْلِيمَ يَتَطَلَّبُ مَوَارِدَ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صَحِيحٌ أَنَّ الإِصْلَاحَاتِ تَحْتَاجُ وَقْتًا</a:t>
            </a:r>
            <a:endParaRPr lang="ar-SA" sz="17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صَحِيحٌ أَنَّ التِّقْنِيَّةَ تُوَفِّرُ فُرَصًا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an (trigger + verb in -a)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anna (reported fact)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concession → verb in -u</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an (trigger + verb in -a)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يُطَالِبُ النَّاشِطُونَ بِأَنْ تُوَقِّعَ الدُّوَلُ</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يُصِرُّ المُدَافِعُونَ عَلَى أَنْ تَحْصُلَ المَرْأَةُ عَلَى حُقُوقِهَا</a:t>
            </a:r>
            <a:endParaRPr lang="ar-SA" sz="145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يَمْنَعُ القَانُونُ أَنْ تُبَاعَ البَيَانَاتُ</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anna (reported fact)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أَكَّدَ الخَبِيرُ أَنَّ الفَجْوَةَ تَتَّسِعُ</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يُشَارُ إِلَى أَنَّ التَّفَاوُتَ يُهَدِّدُ الاسْتِقْرَارَ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يُثْبِتُ الوَاقِعُ أَنَّ الحَاجَةَ مُلِحَّةٌ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concession → verb in -u</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صَحِيحٌ أَنَّ التَّعْلِيمَ يَتَطَلَّبُ مَوَارِدَ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صَحِيحٌ أَنَّ الإِصْلَاحَاتِ تَحْتَاجُ وَقْتًا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صَحِيحٌ أَنَّ التِّقْنِيَّةَ تُوَفِّرُ فُرَصًا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subjunctive conclusion:</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وَبِنَاءً عَلَى مَا سَبَقَ، يَتَطَلَّبُ الأَمْرُ أَنْ ___ الحُكُومَاتُ.</a:t>
            </a:r>
            <a:endParaRPr lang="ar-SA" sz="11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تَتَحَرَّكُ</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تَتَحَرَّكْ</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تَتَحَرَّكَ</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لَوْ عُولِجَ التَّفَاوُتُ مُبَكِّرًا، ___ الوَضْعُ.</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سَيَتَحَسَّنُ</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لَتَحَسَّنَ</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يَتَحَسَّنُ</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past perfect agrees (for a feminine subject)?</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الأَجْيَالُ قَدْ نَاضَلَ.</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الأَجْيَالُ قَدْ نَاضَلَتْ.</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الأَجْيَالُ قَدْ نَاضَلَتْ.</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concession question well?</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التِّقْنِيَّةُ مُفِيدَةٌ فَقَطْ.</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التِّقْنِيَّةُ ضَارَّةٌ فَقَطْ.</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 لِلتِّقْنِيَّةِ فَوَائِدَ، غَيْرَ أَنَّهَا تُعَمِّقُ الفَجْوَةَ.</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subjunctive conclusion:</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وَبِنَاءً عَلَى مَا سَبَقَ، يَتَطَلَّبُ الأَمْرُ أَنْ ___ الحُكُومَاتُ.</a:t>
            </a:r>
            <a:endParaRPr lang="ar-SA" sz="11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تَتَحَرَّكُ</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تَتَحَرَّكْ</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تَتَحَرَّكَ</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تَتَحَرَّكَ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لَوْ عُولِجَ التَّفَاوُتُ مُبَكِّرًا، ___ الوَضْعُ.</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سَيَتَحَسَّنُ</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لَتَحَسَّنَ</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يَتَحَسَّنُ</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past perfect agrees (for a feminine subject)?</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 الأَجْيَالُ قَدْ نَاضَلَ.</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 الأَجْيَالُ قَدْ نَاضَلَتْ.</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الأَجْيَالُ قَدْ نَاضَلَتْ.</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كَانَتْ</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نَاضَلَتْ</a:t>
            </a:r>
            <a:pPr algn="l" indent="0" marL="0">
              <a:buNone/>
            </a:pPr>
            <a:r>
              <a:rPr lang="en-US" sz="1050" i="1" dirty="0">
                <a:solidFill>
                  <a:srgbClr val="8A6D1E"/>
                </a:solidFill>
                <a:latin typeface="Calibri" pitchFamily="34" charset="0"/>
                <a:cs typeface="Amiri" pitchFamily="2" charset="-78"/>
              </a:rPr>
              <a:t> both agree with the feminine subject.</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concession question well?</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التِّقْنِيَّةُ مُفِيدَةٌ فَقَطْ.</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التِّقْنِيَّةُ ضَارَّةٌ فَقَطْ.</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صَحِيحٌ أَنَّ لِلتِّقْنِيَّةِ فَوَائِدَ، غَيْرَ أَنَّهَا تُعَمِّقُ الفَجْوَةَ.</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concession question is answered with </a:t>
            </a:r>
            <a:pPr algn="l" indent="0" marL="0">
              <a:buNone/>
            </a:pPr>
            <a:r>
              <a:rPr lang="ar-SA" altLang="en-US" sz="1350" dirty="0">
                <a:solidFill>
                  <a:srgbClr val="8A6D1E"/>
                </a:solidFill>
                <a:latin typeface="Amiri" pitchFamily="2" charset="-78"/>
                <a:ea typeface="Amiri" pitchFamily="2" charset="-78"/>
                <a:cs typeface="Amiri" pitchFamily="2" charset="-78"/>
              </a:rPr>
              <a:t>صَحِيحٌ أَنَّ … غَيْرَ 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يُطَالِبُ النَّاشِطُونَ بِأَنَّ تُوَقِّعَ الدُّوَلُ الاتِّفَاقَ.</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yuṭālibu bi-anna?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صَحِيحٌ أَنَّ التَّعْلِيمَ يَتَطَلَّبَ مَوَارِدَ ضَخْمَةً.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ṣaḥīḥun anna … yataṭallaba?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2850" b="1" dirty="0">
                <a:solidFill>
                  <a:srgbClr val="B83227"/>
                </a:solidFill>
                <a:latin typeface="Amiri" pitchFamily="2" charset="-78"/>
                <a:ea typeface="Amiri" pitchFamily="2" charset="-78"/>
                <a:cs typeface="Amiri" pitchFamily="2" charset="-78"/>
              </a:rPr>
              <a:t>وَبِنَاءً عَلَى مَا سَبَقَ، يَتَطَلَّبُ الأَمْرُ أَنْ تَتَحَرَّكُ الحُكُومَاتُ.</a:t>
            </a:r>
            <a:endParaRPr lang="ar-SA" sz="285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taḥassana?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يُطَالِبُ النَّاشِطُونَ بِأَنَّ تُوَقِّعَ الدُّوَلُ الاتِّفَاقَ.</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E6B52"/>
                </a:solidFill>
                <a:latin typeface="Amiri" pitchFamily="2" charset="-78"/>
                <a:ea typeface="Amiri" pitchFamily="2" charset="-78"/>
                <a:cs typeface="Amiri" pitchFamily="2" charset="-78"/>
              </a:rPr>
              <a:t>يُطَالِبُ النَّاشِطُونَ بِأَنْ تُوَقِّعَ الدُّوَلُ الاتِّفَاقَ.</a:t>
            </a:r>
            <a:endParaRPr lang="ar-SA" sz="235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subjunctive trigger takes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صَحِيحٌ أَنَّ التَّعْلِيمَ يَتَطَلَّبَ مَوَارِدَ ضَخْمَةً.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صَحِيحٌ أَنَّ التَّعْلِيمَ يَتَطَلَّبُ مَوَارِدَ ضَخْمَةً.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صَحِيحٌ أَنَّ</a:t>
            </a:r>
            <a:pPr algn="l" indent="0" marL="0">
              <a:buNone/>
            </a:pPr>
            <a:r>
              <a:rPr lang="en-US" sz="1150" b="1" dirty="0">
                <a:solidFill>
                  <a:srgbClr val="1B3B6F"/>
                </a:solidFill>
                <a:latin typeface="Calibri" pitchFamily="34" charset="0"/>
                <a:cs typeface="Amiri" pitchFamily="2" charset="-78"/>
              </a:rPr>
              <a:t> the verb is indicative: </a:t>
            </a:r>
            <a:pPr algn="l" indent="0" marL="0">
              <a:buNone/>
            </a:pPr>
            <a:r>
              <a:rPr lang="ar-SA" altLang="en-US" sz="1500" b="1" dirty="0">
                <a:solidFill>
                  <a:srgbClr val="1B3B6F"/>
                </a:solidFill>
                <a:latin typeface="Amiri" pitchFamily="2" charset="-78"/>
                <a:ea typeface="Amiri" pitchFamily="2" charset="-78"/>
                <a:cs typeface="Amiri" pitchFamily="2" charset="-78"/>
              </a:rPr>
              <a:t>يَتَطَلَّبُ</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وَبِنَاءً عَلَى مَا سَبَقَ، يَتَطَلَّبُ الأَمْرُ أَنْ تَتَحَرَّكُ الحُكُومَاتُ.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وَبِنَاءً عَلَى مَا سَبَقَ، يَتَطَلَّبُ الأَمْرُ أَنْ تَتَحَرَّكَ الحُكُومَاتُ.</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ea typeface="Amiri" pitchFamily="2" charset="-78"/>
                <a:cs typeface="Amiri" pitchFamily="2" charset="-78"/>
              </a:rPr>
              <a:t>تَتَحَرَّكَ</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Listening: a mock social-issues topic conversation</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answer the digital-divide question?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Concedes the tech offers opportunities, then refutes that it deepens the gap</a:t>
            </a:r>
            <a:endParaRPr lang="en-US" sz="12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Says tech is purely good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Says tech is purely bad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experts demand (</a:t>
            </a:r>
            <a:pPr algn="l" indent="0" marL="0">
              <a:buNone/>
            </a:pPr>
            <a:r>
              <a:rPr lang="ar-SA" altLang="en-US" sz="1650" b="1" dirty="0">
                <a:solidFill>
                  <a:srgbClr val="1B3B6F"/>
                </a:solidFill>
                <a:latin typeface="Amiri" pitchFamily="2" charset="-78"/>
                <a:ea typeface="Amiri" pitchFamily="2" charset="-78"/>
                <a:cs typeface="Amiri" pitchFamily="2" charset="-78"/>
              </a:rPr>
              <a:t>يُطَالِبُ بِأَنْ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technology be banned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gap widen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states provide digital infrastructure for all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answer about being in power?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Power makes no difference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would do nothing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would invest in digital education first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conclude?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must act quickly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needs to change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should wait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teacher praise?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answer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Balanced answers using concession and refutation spontaneously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memorised list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ṣaḥīḥun anna · ghayra anna-hā · bi-an · law … la-.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المُعَلِّمُ: هَلْ تَعْتَقِدُ أَنَّ الفَجْوَةَ الرَّقْمِيَّةَ تُعَمِّقُ عَدَمَ المُسَاوَاةِ؟ الطَّالِبُ: صَحِيحٌ أَنَّ التِّقْنِيَّةَ تُوَفِّرُ فُرَصًا هَائِلَةً، غَيْرَ أَنَّهَا تُعَمِّقُ الفَجْوَةَ بَيْنَ مَنْ يَمْلِكُونَ وَمَنْ لَا يَمْلِكُونَ.</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Teacher: Do you think the digital divide deepens inequality? Student: It is true that technology offers enormous opportunities; however, it deepens the gap between those who have and those who do not.</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المُعَلِّمُ: وَمَا الحَلُّ؟ الطَّالِبُ: يُطَالِبُ الخُبَرَاءُ بِأَنْ تُوَفِّرَ الدُّوَلُ بُنْيَةً تَحْتِيَّةً رَقْمِيَّةً لِلْجَمِيعِ.</a:t>
            </a:r>
            <a:endParaRPr lang="ar-SA" sz="16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And what is the solution? Student: Experts demand that states provide digital infrastructure for all.</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المُعَلِّمُ: لَوْ كُنْتَ فِي مَوْقِعِ السُّلْطَةِ، مَاذَا كُنْتَ سَتُغَيِّرُ؟ الطَّالِبُ: لَوْ كُنْتُ فِي مَوْقِعِ السُّلْطَةِ، لَاسْتَثْمَرْتُ فِي التَّعْلِيمِ الرَّقْمِيِّ أَوَّلًا.</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If you were in a position of power, what would you change? Student: If I were in a position of power, I would invest in digital education first.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المُعَلِّمُ: وَكَيْفَ تَخْتِمُ؟ الطَّالِبُ: وَبِنَاءً عَلَى مَا سَبَقَ، يَتَطَلَّبُ الأَمْرُ أَنْ تَتَحَرَّكَ الحُكُومَاتُ بِسُرْعَةٍ.</a:t>
            </a:r>
            <a:endParaRPr lang="ar-SA" sz="16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And how do you conclude? Student: Based on the above, the matter requires governments to act quickly.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المُعَلِّمُ: أَجْوِبَةٌ مُتَوَازِنَةٌ اسْتَعْمَلْتَ فِيهَا التَّسْلِيمَ وَالرَّدَّ تِلْقَائِيًّا.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Balanced answers in which you used concession and refutation spontaneously.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answer the digital-divide question?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Concedes the tech offers opportunities, then refutes that it deepens the gap</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Says tech is purely good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Says tech is purely bad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صَحِيحٌ أَنَّ التِّقْنِيَّةَ تُوَفِّرُ فُرَصًا … غَيْرَ أَنَّهَا تُعَمِّقُ الفَجْوَةَ.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experts demand (</a:t>
            </a:r>
            <a:pPr algn="l" indent="0" marL="0">
              <a:buNone/>
            </a:pPr>
            <a:r>
              <a:rPr lang="ar-SA" altLang="en-US" sz="1650" b="1" dirty="0">
                <a:solidFill>
                  <a:srgbClr val="1B3B6F"/>
                </a:solidFill>
                <a:latin typeface="Amiri" pitchFamily="2" charset="-78"/>
                <a:ea typeface="Amiri" pitchFamily="2" charset="-78"/>
                <a:cs typeface="Amiri" pitchFamily="2" charset="-78"/>
              </a:rPr>
              <a:t>يُطَالِبُ بِأَنْ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technology be banned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gap widen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That states provide digital infrastructure for all</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يُطَالِبُ الخُبَرَاءُ بِأَنْ تُوَفِّرَ الدُّوَلُ بُنْيَةً تَحْتِيَّةً رَقْمِيَّةً لِلْجَمِيعِ.</a:t>
            </a:r>
            <a:endParaRPr lang="ar-SA"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answer about being in power?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Power makes no difference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student would do nothing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student would invest in digital education first</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لَوْ كُنْتُ فِي مَوْقِعِ السُّلْطَةِ، لَاسْتَثْمَرْتُ فِي التَّعْلِيمِ الرَّقْمِيِّ أَوَّلًا.</a:t>
            </a:r>
            <a:endParaRPr lang="ar-SA" sz="12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conclude?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Governments must act quickly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needs to change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Governments should wait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وَبِنَاءً عَلَى مَا سَبَقَ، يَتَطَلَّبُ الأَمْرُ أَنْ تَتَحَرَّكَ الحُكُومَاتُ بِسُرْعَةٍ.</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teacher praise?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answer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Balanced answers using concession and refutation spontaneously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memorised list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اسْتَعْمَلْتَ فِيهَا التَّسْلِيمَ وَالرَّدَّ تِلْقَائِيًّا.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ṣaḥīḥun anna · ghayra anna-hā · bi-an · law … la-.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Speaking: the five assessment questions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أَكْبَرُ تَحَدٍّ اجْتِمَاعِيٍّ يُوَاجِهُ العَالَمَ العَرَبِيَّ؟ وَلِمَاذَا؟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تَعْتَقِدُ أَنَّ الفَجْوَةَ الرَّقْمِيَّةَ تُعَمِّقُ عَدَمَ المُسَاوَاةِ؟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كُنْتَ مَسْؤُولًا عَنِ السِّيَاسَاتِ الاجْتِمَاعِيَّةِ، مَاذَا كُنْتَ سَتُغَيِّرُ أَوَّلًا؟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يُشَكِّلُ ___ أَكْبَرَ تَحَدٍّ، لِأَنَّ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صَحِيحٌ أَنَّ ___ ، غَيْرَ أَنَّهَا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لَوْ كُنْتُ مَسْؤُولًا، لَاسْتَثْمَرْتُ فِي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تُعَمِّقُ الفَجْوَةُ الرَّقْمِيَّةُ عَدَمَ المُسَاوَاةِ؟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Does the digital divide deepen inequality?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صَحِيحٌ أَنَّ التِّقْنِيَّةَ تُوَفِّرُ فُرَصًا، غَيْرَ أَنَّهَا تُعَمِّقُ الفَجْوَةَ.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It is true that technology offers opportunities; however, it deepens the gap.</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+ 3</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Correct six P5 errors and write three sentences from memory.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correct six P5 errors and write three sentences from memory.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2 structures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concession-refutation pair and a Type 2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concession–refutation pair and a Type 2 conditional.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Deliver fluent answers to the concession and Type 2 questions spontaneously.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answer two assessment questions with a concession–refutation, a Type 2 and a subjunctive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صَحِيحٌ أَنَّ ______ ، غَيْرَ أَنَّهَا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true that …; however, it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كُنْتُ مَسْؤُولًا، لَاسْتَثْمَرْتُ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were in charge, I would invest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كَانَتِ الأَجْيَالُ قَدْ نَاضَلَتْ مِنْ أَجْلِ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Earlier generations had struggled for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وَبِنَاءً عَلَى مَا سَبَقَ، يَتَطَلَّبُ الأَمْرُ أَنْ ______ .</a:t>
            </a:r>
            <a:endParaRPr lang="ar-SA" sz="16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Based on the above,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يُشَكِّلُ ______ أَكْبَرَ تَحَدٍّ اجْتِمَاعِيٍّ، لِأَنَّ ______ .</a:t>
            </a:r>
            <a:endParaRPr lang="ar-SA" sz="15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the biggest social challenge, because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أَكَّدَتِ الدِّرَاسَاتُ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Studies confirmed that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يُطَالِبُ الخُبَرَاءُ بِأَنْ تُوَفِّرَ الدُّوَلُ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Experts demand that states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يَتَطَلَّبُ الأَمْرُ أَنْ تَتَحَرَّكَ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requires governments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100" b="1" dirty="0">
                <a:solidFill>
                  <a:srgbClr val="1B3B6F"/>
                </a:solidFill>
                <a:latin typeface="Amiri" pitchFamily="2" charset="-78"/>
                <a:ea typeface="Amiri" pitchFamily="2" charset="-78"/>
                <a:cs typeface="Amiri" pitchFamily="2" charset="-78"/>
              </a:rPr>
              <a:t>الفَجْوَةُ الرَّقْمِيَّةُ  ·  التَّفَاوُتُ الاجْتِمَاعِيُّ  ·  بَطَالَةُ الشَّبَابِ  ·  بُنْيَةً تَحْتِيَّةً رَقْمِيَّةً  ·  الحُكُومَاتُ بِسُرْعَةٍ  ·  التِّقْنِيَّةَ تُوَفِّرُ فُرَصًا  ·  تُعَمِّقُ الفَجْوَةَ  ·  التَّعْلِيمِ الرَّقْمِيِّ  ·  المَدَارِسِ النَّائِيَةِ  ·  الحُقُوقِ  ·  حَقٌّ لَا امْتِيَازٌ  ·  لِكَيْ تَضِيقَ الفَجْوَةُ</a:t>
            </a:r>
            <a:endParaRPr lang="ar-SA"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eighty to ninety words preparing for the P5 topic conversation. Answer two of the assessment questions, using a concession–refutation (ṣaḥīḥun anna … ghayra anna), a Type 2 conditional and a subjunctive conclusion, with an and anna used correctly.</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concession (ṣaḥīḥun anna + indicative) answered by a refutation (ghayra anna).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an before a subjunctive and anna before a reported fact.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2 conditional with the la- result.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subjunctive conclusion (wa-bināʾan ʿalā mā sabaqa … an …).</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لَيْسَتْ وَلِيدَةَ اليَوْمِ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is not new (not born today)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بَيْنَ مَنْ يَمْلِكُونَ الوُصُولَ وَمَنْ لَا يَمْلِكُونَهُ</a:t>
            </a:r>
            <a:endParaRPr lang="ar-SA" sz="17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between those who have access and those who do not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حَقٌّ لَا امْتِيَازٌ</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right, not a privilege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المَدَارِسِ النَّائِيَةِ أَوَّلًا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remote schools first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لِكَيْ تَضِيقَ الفَجْوَةُ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that the gap narrows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صَحِيحٌ أَنَّ الفَجْوَةَ الرَّقْمِيَّةَ لَيْسَتْ وَلِيدَةَ اليَوْمِ، غَيْرَ أَنَّهَا تُعَمِّقُ عَدَمَ المُسَاوَاةِ بَيْنَ مَنْ يَمْلِكُونَ الوُصُولَ وَمَنْ لَا يَمْلِكُونَهُ. وَيُطَالِبُ الخُبَرَاءُ بِأَنْ تُوَفِّرَ الدُّوَلُ بُنْيَةً تَحْتِيَّةً رَقْمِيَّةً لِلْجَمِيعِ، وَأَكَّدُوا أَنَّ التَّعْلِيمَ الرَّقْمِيَّ حَقٌّ لَا امْتِيَازٌ. وَلَوْ كُنْتُ مَسْؤُولًا عَنِ السِّيَاسَاتِ، لَاسْتَثْمَرْتُ فِي المَدَارِسِ النَّائِيَةِ أَوَّلًا. وَبِنَاءً عَلَى مَا سَبَقَ، يَتَطَلَّبُ الأَمْرُ أَنْ تَتَحَرَّكَ الحُكُومَاتُ بِسُرْعَةٍ لِكَيْ تَضِيقَ الفَجْوَةُ.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It is true that the digital divide is not new; however, it deepens inequality between those who have access and those who do not. Experts demand that states provide digital infrastructure for all, and they confirmed that digital education is a right, not a privilege. If I were responsible for policy, I would invest in remote schools first. Based on the above, the matter requires governments to act quickly so that the gap narrows.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ṣaḥīḥun anna … ghayra anna-hā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bi-an tuwaffira · akkadū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kuntu … la-stathmartu</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wa-bināʾan … an tataḥarraka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 trigger I used an + a verb in -a; after a reporting verb, anna + a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ṣaḥīḥun anna my verb ends in -u.</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concession is answered by ghayra anna (never before it).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Type 2 result has la-; my conclusion verb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each assessment question with the structure it invites, and named my priority error.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يُطَالِبُ النَّاشِطُونَ بِأَنْ تُوَقِّعَ الدُّوَلُ.</a:t>
            </a:r>
            <a:endParaRPr lang="ar-SA" sz="19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يُطَالِبُ النَّاشِطُونَ بِأَنَّ تُوَقِّعَ الدُّوَلُ.</a:t>
            </a:r>
            <a:endParaRPr lang="ar-SA" sz="19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يُطَالِبُ النَّاشِطُونَ أَنَّ تُوَقِّعَ الدُّوَلُ.</a:t>
            </a:r>
            <a:endParaRPr lang="ar-SA" sz="19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mood follows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indicative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jussive</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conclusion: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الحُكُومَاتُ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تَتَحَرَّكَ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تَتَحَرَّكُ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تَتَحَرَّكْ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950" b="1" dirty="0">
                <a:solidFill>
                  <a:srgbClr val="1F2A37"/>
                </a:solidFill>
                <a:latin typeface="Amiri" pitchFamily="2" charset="-78"/>
                <a:ea typeface="Amiri" pitchFamily="2" charset="-78"/>
                <a:cs typeface="Amiri" pitchFamily="2" charset="-78"/>
              </a:rPr>
              <a:t>يُطَالِبُ النَّاشِطُونَ بِأَنْ تُوَقِّعَ الدُّوَلُ.</a:t>
            </a:r>
            <a:endParaRPr lang="ar-SA" sz="19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9AA1AB"/>
                </a:solidFill>
                <a:latin typeface="Amiri" pitchFamily="2" charset="-78"/>
                <a:ea typeface="Amiri" pitchFamily="2" charset="-78"/>
                <a:cs typeface="Amiri" pitchFamily="2" charset="-78"/>
              </a:rPr>
              <a:t>يُطَالِبُ النَّاشِطُونَ بِأَنَّ تُوَقِّعَ الدُّوَلُ.</a:t>
            </a:r>
            <a:endParaRPr lang="ar-SA" sz="19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9AA1AB"/>
                </a:solidFill>
                <a:latin typeface="Amiri" pitchFamily="2" charset="-78"/>
                <a:ea typeface="Amiri" pitchFamily="2" charset="-78"/>
                <a:cs typeface="Amiri" pitchFamily="2" charset="-78"/>
              </a:rPr>
              <a:t>يُطَالِبُ النَّاشِطُونَ أَنَّ تُوَقِّعَ الدُّوَلُ.</a:t>
            </a:r>
            <a:endParaRPr lang="ar-SA" sz="19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trigger takes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 subjunctive.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mood follows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subjunctive</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indicative</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jussive</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concedes a real point, so the verb is indicative.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conclusion: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الحُكُومَاتُ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تَتَحَرَّكَ</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تَتَحَرَّكُ</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تَتَحَرَّكْ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تَتَحَرَّكَ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twelve sentences to repair</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150" dirty="0">
                <a:solidFill>
                  <a:srgbClr val="1F2A37"/>
                </a:solidFill>
                <a:latin typeface="Amiri" pitchFamily="2" charset="-78"/>
                <a:ea typeface="Amiri" pitchFamily="2" charset="-78"/>
                <a:cs typeface="Amiri" pitchFamily="2" charset="-78"/>
              </a:rPr>
              <a:t>تَحْتَوِي هٰذِهِ القَائِمَةُ عَلَى أَخْطَاءٍ شَائِعَةٍ فِي السَّنَةِ التَّاسِعَةِ. الأَوَّلُ فِي التَّمْيِيزِ بَيْنَ أَنْ وَأَنَّ: «يُطَالِبُ النَّاشِطُونَ بِأَنَّ تُوَقِّعَ الدُّوَلُ» — وَالصَّوَابُ «بِأَنْ تُوَقِّعَ»، لِأَنَّ المُسَبِّبَ يَأْخُذُ أَنْ وَالنَّصْبَ. الثَّانِي فِي مُثْبَتِ التَّسْلِيمِ: «صَحِيحٌ أَنَّ التَّعْلِيمَ يَتَطَلَّبَ مَوَارِدَ» — وَالصَّوَابُ «يَتَطَلَّبُ» بِالرَّفْعِ، لِأَنَّ التَّسْلِيمَ يَصِفُ وَاقِعًا. الثَّالِثُ فِي الخَاتِمَةِ: «وَبِنَاءً عَلَى مَا سَبَقَ، يَتَطَلَّبُ الأَمْرُ أَنْ تَتَحَرَّكُ الحُكُومَاتُ» — وَالصَّوَابُ «تَتَحَرَّكَ». الرَّابِعُ فِي جَوَابِ لَوْ: «لَوْ عُولِجَ التَّفَاوُتُ مُبَكِّرًا، تَحَسَّنَ الوَضْعُ» — وَالصَّوَابُ «لَتَحَسَّنَ». الخَامِسُ فِي مَوْضِعِ الرَّدِّ: يَجِبُ أَنْ يَأْتِيَ «غَيْرَ أَنَّ» بَعْدَ التَّسْلِيمِ لَا قَبْلَهُ. وَالدَّرْسُ المُشْتَرَكُ أَنَّ لِكُلِّ بِنْيَةٍ عَلَامَةً دَقِيقَةً.</a:t>
            </a:r>
            <a:endParaRPr lang="ar-SA" sz="21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تَحْتَوِي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contains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القَائِمَةُ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list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أَخْطَاءٍ شَائِعَةٍ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common errors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وَالصَّوَابُ</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and the correct form is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التَّمْيِيزِ بَيْنَ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distinguishing between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بِالرَّفْعِ</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 -u (indicative)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جَوَابِ لَوْ</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result of law</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مَوْضِعِ الرَّدِّ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place of the refutation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مَوْقِعِ السُّلْطَةِ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position of power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تِلْقَائِيًّا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spontaneously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يُطَالِبُ النَّاشِطُونَ بِأَنَّ تُوَقِّعَ</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 تُوَقِّعُ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 تُوَقِّعَ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تُوَقِّعَ</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التَّعْلِيمَ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مَوَارِدَ</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يَتَطَلَّبَ</a:t>
            </a:r>
            <a:pPr algn="l" indent="0" marL="0">
              <a:buNone/>
            </a:pPr>
            <a:r>
              <a:rPr lang="en-US" sz="1250" dirty="0">
                <a:solidFill>
                  <a:srgbClr val="1F2A37"/>
                </a:solidFill>
                <a:latin typeface="Calibri" pitchFamily="34" charset="0"/>
                <a:cs typeface="Amiri" pitchFamily="2" charset="-78"/>
              </a:rPr>
              <a:t> (subjunctive)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يَتَطَلَّبْ</a:t>
            </a:r>
            <a:pPr algn="l" indent="0" marL="0">
              <a:buNone/>
            </a:pPr>
            <a:r>
              <a:rPr lang="en-US" sz="1250" dirty="0">
                <a:solidFill>
                  <a:srgbClr val="1F2A37"/>
                </a:solidFill>
                <a:latin typeface="Calibri" pitchFamily="34" charset="0"/>
                <a:cs typeface="Amiri" pitchFamily="2" charset="-78"/>
              </a:rPr>
              <a:t> (jussive)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يَتَطَلَّبُ</a:t>
            </a:r>
            <a:pPr algn="l" indent="0" marL="0">
              <a:buNone/>
            </a:pPr>
            <a:r>
              <a:rPr lang="en-US" sz="1250" dirty="0">
                <a:solidFill>
                  <a:srgbClr val="1F2A37"/>
                </a:solidFill>
                <a:latin typeface="Calibri" pitchFamily="34" charset="0"/>
                <a:cs typeface="Amiri" pitchFamily="2" charset="-78"/>
              </a:rPr>
              <a:t> (indicative)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conclusion verb corrected?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تَتَحَرَّكَ</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تَتَحَرَّكُ</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تَتَحَرَّكْ</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Type 2 result corrected?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تَحَسَّنَ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لَتَحَسَّنَ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سَيَتَحَسَّنُ</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should </a:t>
            </a:r>
            <a:pPr algn="l" indent="0" marL="0">
              <a:buNone/>
            </a:pPr>
            <a:r>
              <a:rPr lang="ar-SA" altLang="en-US" sz="1650" b="1" dirty="0">
                <a:solidFill>
                  <a:srgbClr val="1B3B6F"/>
                </a:solidFill>
                <a:latin typeface="Amiri" pitchFamily="2" charset="-78"/>
                <a:ea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 come?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the concession, not before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the concession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very start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يُطَالِبُ النَّاشِطُونَ بِأَنَّ تُوَقِّعَ</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بِأَنَّ تُوَقِّعُ</a:t>
            </a:r>
            <a:endParaRPr lang="ar-SA" sz="170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بِأَنْ تُوَقِّعَ</a:t>
            </a:r>
            <a:endParaRPr lang="ar-SA" sz="17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 تُوَقِّعَ</a:t>
            </a:r>
            <a:endParaRPr lang="ar-SA" sz="170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trigger takes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 subjunctive: </a:t>
            </a:r>
            <a:pPr algn="l" indent="0" marL="0">
              <a:buNone/>
            </a:pPr>
            <a:r>
              <a:rPr lang="ar-SA" altLang="en-US" sz="1350" dirty="0">
                <a:solidFill>
                  <a:srgbClr val="8A6D1E"/>
                </a:solidFill>
                <a:latin typeface="Amiri" pitchFamily="2" charset="-78"/>
                <a:ea typeface="Amiri" pitchFamily="2" charset="-78"/>
                <a:cs typeface="Amiri" pitchFamily="2" charset="-78"/>
              </a:rPr>
              <a:t>بِأَنْ تُوَقِّعَ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التَّعْلِيمَ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مَوَارِدَ</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يَتَطَلَّبَ</a:t>
            </a:r>
            <a:pPr algn="l" indent="0" marL="0">
              <a:buNone/>
            </a:pPr>
            <a:r>
              <a:rPr lang="en-US" sz="1250" dirty="0">
                <a:solidFill>
                  <a:srgbClr val="9AA1AB"/>
                </a:solidFill>
                <a:latin typeface="Calibri" pitchFamily="34" charset="0"/>
                <a:cs typeface="Amiri" pitchFamily="2" charset="-78"/>
              </a:rPr>
              <a:t> (subjunctive)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يَتَطَلَّبْ</a:t>
            </a:r>
            <a:pPr algn="l" indent="0" marL="0">
              <a:buNone/>
            </a:pPr>
            <a:r>
              <a:rPr lang="en-US" sz="1250" dirty="0">
                <a:solidFill>
                  <a:srgbClr val="9AA1AB"/>
                </a:solidFill>
                <a:latin typeface="Calibri" pitchFamily="34" charset="0"/>
                <a:cs typeface="Amiri" pitchFamily="2" charset="-78"/>
              </a:rPr>
              <a:t> (jussive)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يَتَطَلَّبُ</a:t>
            </a:r>
            <a:pPr algn="l" indent="0" marL="0">
              <a:buNone/>
            </a:pPr>
            <a:r>
              <a:rPr lang="en-US" sz="1250" b="1" dirty="0">
                <a:solidFill>
                  <a:srgbClr val="1F2A37"/>
                </a:solidFill>
                <a:latin typeface="Calibri" pitchFamily="34" charset="0"/>
                <a:cs typeface="Amiri" pitchFamily="2" charset="-78"/>
              </a:rPr>
              <a:t> (indicative)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the verb is indicative: </a:t>
            </a:r>
            <a:pPr algn="l" indent="0" marL="0">
              <a:buNone/>
            </a:pPr>
            <a:r>
              <a:rPr lang="ar-SA" altLang="en-US" sz="1350" dirty="0">
                <a:solidFill>
                  <a:srgbClr val="8A6D1E"/>
                </a:solidFill>
                <a:latin typeface="Amiri" pitchFamily="2" charset="-78"/>
                <a:ea typeface="Amiri" pitchFamily="2" charset="-78"/>
                <a:cs typeface="Amiri" pitchFamily="2" charset="-78"/>
              </a:rPr>
              <a:t>يَتَطَلَّبُ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conclusion verb corrected?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تَتَحَرَّكَ</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تَتَحَرَّكُ</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تَتَحَرَّكْ</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تَتَحَرَّكَ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Type 2 result corrected?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تَحَسَّنَ</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لَتَحَسَّنَ</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سَيَتَحَسَّنُ</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should </a:t>
            </a:r>
            <a:pPr algn="l" indent="0" marL="0">
              <a:buNone/>
            </a:pPr>
            <a:r>
              <a:rPr lang="ar-SA" altLang="en-US" sz="1650" b="1" dirty="0">
                <a:solidFill>
                  <a:srgbClr val="1B3B6F"/>
                </a:solidFill>
                <a:latin typeface="Amiri" pitchFamily="2" charset="-78"/>
                <a:ea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 come?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the concession, not before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 the concession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very start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يَجِبُ أَنْ يَأْتِيَ «غَيْرَ أَنَّ» بَعْدَ التَّسْلِيمِ.</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Mastery Mission — The P5 Error Zones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vs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complete — </a:t>
            </a:r>
            <a:pPr algn="l" indent="0" marL="0">
              <a:buNone/>
            </a:pPr>
            <a:r>
              <a:rPr lang="ar-SA" altLang="en-US" sz="1650" b="1" dirty="0">
                <a:solidFill>
                  <a:srgbClr val="1B3B6F"/>
                </a:solidFill>
                <a:latin typeface="Amiri" pitchFamily="2" charset="-78"/>
                <a:ea typeface="Amiri" pitchFamily="2" charset="-78"/>
                <a:cs typeface="Amiri" pitchFamily="2" charset="-78"/>
              </a:rPr>
              <a:t>يُطَالِبُ النَّاشِطُونَ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تُوَقِّعَ الدُّوَلُ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vs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complete — </a:t>
            </a:r>
            <a:pPr algn="l" indent="0" marL="0">
              <a:buNone/>
            </a:pPr>
            <a:r>
              <a:rPr lang="ar-SA" altLang="en-US" sz="1650" b="1" dirty="0">
                <a:solidFill>
                  <a:srgbClr val="1B3B6F"/>
                </a:solidFill>
                <a:latin typeface="Amiri" pitchFamily="2" charset="-78"/>
                <a:ea typeface="Amiri" pitchFamily="2" charset="-78"/>
                <a:cs typeface="Amiri" pitchFamily="2" charset="-78"/>
              </a:rPr>
              <a:t>أَكَّدَ الخَبِيرُ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الفَجْوَةَ تَتَّسِعُ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Concession: complete —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التَّعْلِيمَ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مَوَارِدَ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Conclusion: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الحُكُومَاتُ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تَتَحَرَّكُ</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تَتَحَرَّكْ</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تَتَحَرَّكَ</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ea typeface="Amiri" pitchFamily="2" charset="-78"/>
                <a:cs typeface="Amiri" pitchFamily="2" charset="-78"/>
              </a:rPr>
              <a:t>لَوْ عُولِجَ التَّفَاوُتُ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الوَضْعُ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لَتَحَسَّنَ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سَيَتَحَسَّنُ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تَحَسَّنَ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Trigger: complete — </a:t>
            </a:r>
            <a:pPr algn="l" indent="0" marL="0">
              <a:buNone/>
            </a:pPr>
            <a:r>
              <a:rPr lang="ar-SA" altLang="en-US" sz="1650" b="1" dirty="0">
                <a:solidFill>
                  <a:srgbClr val="1B3B6F"/>
                </a:solidFill>
                <a:latin typeface="Amiri" pitchFamily="2" charset="-78"/>
                <a:ea typeface="Amiri" pitchFamily="2" charset="-78"/>
                <a:cs typeface="Amiri" pitchFamily="2" charset="-78"/>
              </a:rPr>
              <a:t>يَمْنَعُ القَانُونُ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تُبَاعَ البَيَانَاتُ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vs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complete — </a:t>
            </a:r>
            <a:pPr algn="l" indent="0" marL="0">
              <a:buNone/>
            </a:pPr>
            <a:r>
              <a:rPr lang="ar-SA" altLang="en-US" sz="1650" b="1" dirty="0">
                <a:solidFill>
                  <a:srgbClr val="1B3B6F"/>
                </a:solidFill>
                <a:latin typeface="Amiri" pitchFamily="2" charset="-78"/>
                <a:ea typeface="Amiri" pitchFamily="2" charset="-78"/>
                <a:cs typeface="Amiri" pitchFamily="2" charset="-78"/>
              </a:rPr>
              <a:t>يُطَالِبُ النَّاشِطُونَ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تُوَقِّعَ الدُّوَلُ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بِأَنَّ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بِأَنْ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trigger takes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 subjunctive: </a:t>
            </a:r>
            <a:pPr algn="l" indent="0" marL="0">
              <a:buNone/>
            </a:pPr>
            <a:r>
              <a:rPr lang="ar-SA" altLang="en-US" sz="1350" dirty="0">
                <a:solidFill>
                  <a:srgbClr val="8A6D1E"/>
                </a:solidFill>
                <a:latin typeface="Amiri" pitchFamily="2" charset="-78"/>
                <a:ea typeface="Amiri" pitchFamily="2" charset="-78"/>
                <a:cs typeface="Amiri" pitchFamily="2" charset="-78"/>
              </a:rPr>
              <a:t>بِأَنْ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vs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complete — </a:t>
            </a:r>
            <a:pPr algn="l" indent="0" marL="0">
              <a:buNone/>
            </a:pPr>
            <a:r>
              <a:rPr lang="ar-SA" altLang="en-US" sz="1650" b="1" dirty="0">
                <a:solidFill>
                  <a:srgbClr val="1B3B6F"/>
                </a:solidFill>
                <a:latin typeface="Amiri" pitchFamily="2" charset="-78"/>
                <a:ea typeface="Amiri" pitchFamily="2" charset="-78"/>
                <a:cs typeface="Amiri" pitchFamily="2" charset="-78"/>
              </a:rPr>
              <a:t>أَكَّدَ الخَبِيرُ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الفَجْوَةَ تَتَّسِعُ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بِأَنْ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reporting verb takes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 a noun clause.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Concession: complete —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التَّعْلِيمَ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مَوَارِدَ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يَتَطَلَّبَ</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يَتَطَلَّبْ</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يَتَطَلَّبُ</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the verb is indicative: </a:t>
            </a:r>
            <a:pPr algn="l" indent="0" marL="0">
              <a:buNone/>
            </a:pPr>
            <a:r>
              <a:rPr lang="ar-SA" altLang="en-US" sz="1350" dirty="0">
                <a:solidFill>
                  <a:srgbClr val="8A6D1E"/>
                </a:solidFill>
                <a:latin typeface="Amiri" pitchFamily="2" charset="-78"/>
                <a:ea typeface="Amiri" pitchFamily="2" charset="-78"/>
                <a:cs typeface="Amiri" pitchFamily="2" charset="-78"/>
              </a:rPr>
              <a:t>يَتَطَلَّبُ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Conclusion: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الحُكُومَاتُ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تَتَحَرَّكُ</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تَتَحَرَّكْ</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تَتَحَرَّكَ</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تَتَحَرَّكَ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ea typeface="Amiri" pitchFamily="2" charset="-78"/>
                <a:cs typeface="Amiri" pitchFamily="2" charset="-78"/>
              </a:rPr>
              <a:t>لَوْ عُولِجَ التَّفَاوُتُ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الوَضْعُ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لَتَحَسَّنَ</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سَيَتَحَسَّنُ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تَحَسَّنَ</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Trigger: complete — </a:t>
            </a:r>
            <a:pPr algn="l" indent="0" marL="0">
              <a:buNone/>
            </a:pPr>
            <a:r>
              <a:rPr lang="ar-SA" altLang="en-US" sz="1650" b="1" dirty="0">
                <a:solidFill>
                  <a:srgbClr val="1B3B6F"/>
                </a:solidFill>
                <a:latin typeface="Amiri" pitchFamily="2" charset="-78"/>
                <a:ea typeface="Amiri" pitchFamily="2" charset="-78"/>
                <a:cs typeface="Amiri" pitchFamily="2" charset="-78"/>
              </a:rPr>
              <a:t>يَمْنَعُ القَانُونُ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تُبَاعَ البَيَانَاتُ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بِأَنَّ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يَمْنَعُ</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 subjunctive.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P5-L12: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P5-L12 · P5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ar-SA" sz="1000" i="1" dirty="0">
                <a:solidFill>
                  <a:srgbClr val="5A6472"/>
                </a:solidFill>
                <a:latin typeface="Calibri" pitchFamily="34" charset="0"/>
                <a:ea typeface="Amiri" pitchFamily="2" charset="-78"/>
                <a:cs typeface="Amiri" pitchFamily="2" charset="-78"/>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لَعِبُ الأَدْوَارِ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role play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المَوْقِفُ المُضَادُّ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opposing position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عَلَامَةُ الدِّقَّةِ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accuracy mark</a:t>
            </a:r>
            <a:pPr indent="0" marL="0">
              <a:buNone/>
            </a:pPr>
            <a:r>
              <a:rPr lang="ar-SA" sz="1000" i="1" dirty="0">
                <a:solidFill>
                  <a:srgbClr val="5A6472"/>
                </a:solidFill>
                <a:latin typeface="Calibri" pitchFamily="34" charset="0"/>
                <a:ea typeface="Amiri" pitchFamily="2" charset="-78"/>
                <a:cs typeface="Amiri" pitchFamily="2" charset="-78"/>
              </a:rPr>
              <a:t>  pl. عَلَامَاتٌ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يُعَالِجُ</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addresses, treats</a:t>
            </a:r>
            <a:pPr indent="0" marL="0">
              <a:buNone/>
            </a:pPr>
            <a:r>
              <a:rPr lang="ar-SA" sz="1000" i="1" dirty="0">
                <a:solidFill>
                  <a:srgbClr val="5A6472"/>
                </a:solidFill>
                <a:latin typeface="Calibri" pitchFamily="34" charset="0"/>
                <a:ea typeface="Amiri" pitchFamily="2" charset="-78"/>
                <a:cs typeface="Amiri" pitchFamily="2" charset="-78"/>
              </a:rPr>
              <a:t>  f. تُعَالِجُ</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answers to the three topic-conversation questions — each with its required structure and a reason.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يُشَكِّلُ … أَكْبَرَ تَحَدٍّ · صَحِيحٌ أَنَّ … غَيْرَ أَنَّ … · لَوْ كُنْتُ … لَـ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Correct six P5 errors and write three spine sentences from memory.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an an-sentence, an anna-sentence, a concession–refutation and a Type 2; check each against the spine table.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answer to two assessment questions; record it aloud.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P5-L11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P5-L12 · P5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 trigger → an + verb in -A; a report → anna + noun; ṣaḥīḥun anna keeps -U; answer it with ghayra anna; law … LA-; close with wa-bināʾan ʿalā mā sabaqa + -a — and answer each question with the structure it invites.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P5-L11 · Consolidation — Speaking Preparation and P5 Complete Review</dc:title>
  <dc:subject>PptxGenJS Presentation</dc:subject>
  <dc:creator>Al Madina Online School · Arabic Department</dc:creator>
  <cp:lastModifiedBy>Al Madina Online School · Arabic Department</cp:lastModifiedBy>
  <cp:revision>1</cp:revision>
  <dcterms:created xsi:type="dcterms:W3CDTF">2026-10-11T06:43:31Z</dcterms:created>
  <dcterms:modified xsi:type="dcterms:W3CDTF">2026-10-11T06:43:31Z</dcterms:modified>
</cp:coreProperties>
</file>