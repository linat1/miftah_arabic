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P5-L06. The website lesson “Youth and Society — The Arab Generation's Challenges and Power”: vocabulary, grammar rules and quiz, patterns, common mistakes, sorter, listening, reading, speaking prompts and model, writing task and model, differentiation, final check and the lesson mission. Picture match: website visual game “Youth and Society — The Arab Generation's Challenges and Power”.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past-perfect sentence about an earlier generation and one present sentence about today (website Core). Develop: add yuʿīdu taʿrīfa and a Type 1 (110 words). Stretch: 120 words with both conditionals and a conclusion connector + a verb in -a.
• Sensitivity: the Arab Spring is a politically contested topic, and youth unemployment or migration may touch students’ own families. Keep the focus on language and on youth agency; no student should have to state a political position.
• Faith link (optional): the youth of the Cave — «إِنَّهُمْ فِتْيَةٌ آمَنُوا بِرَبِّهِمْ وَزِدْنَاهُمْ هُدًى» (al-Kahf 18:13); and the hadith «اغْتَنِمْ خَمْسًا قَبْلَ خَمْسٍ: شَبَابَكَ قَبْلَ هَرَمِكَ …» — youth as a trust and an opportunity.
• Grammar links: past perfect kāna … qad (P3, P5-L05) · ammā … fa- (P2) · yuʿīdu tashkīla (P5-L04) · Type 1 / Type 2 (P3-L05) · wa-bināʾan ʿalā mā sabaqa (P5-L05).
• TEACHER-WRITTEN ITEMS: waṣl alif shown without a kasra; لِكَيْ always written with its sukūn; الناشِطِيَّةِ vowelled in one teaching point; rule formulas, pattern tips, writing prompt and checklist in transliteration; sorter headings in transliteration; game cards 1, 2 and 4 not used; the past-perfect, then → now, redefine and futures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P5-L05. Questions 4–5 retrieve the refusal trigger and the formal conclusion (P5-L05) — today’s essay closes the same way.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Then and now: what earlier generations HAD done (kānat … qad) — and what today’s youth DO (ammā … 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مستقبل and سیاست are shared. Three traps: Urdu تعریف = praise, but Arabic التَّعْرِيفُ = a DEFINITION — so يُعِيدُ تَعْرِيفَ = re-defines (not re-praises). Urdu معاشرہ = society, but in Arabic society is المُجْتَمَعُ. Urdu انقلاب = a revolution; in Arabic انْقِلَابٌ is usually a military 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Intergenerational narrative (website vocabulary (1 of 2)). Hear → Say → See → Use. Transliteration is printed for Core students (cover it for Develop/Stretch).
Then and now: كَانَتِ الأَجْيَالُ السَّابِقَةُ قَدْ + past (had …) — the generations (non-human plural) take the feminine كَانَتْ … كَافَحَتْ. With جِيلٌ or الشَّبَابُ use the masculine: كَانَ الشَّبَابُ قَدْ أَطْلَقَ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Intergenerational narrative (website vocabulary (2 of 2)). Hear → Say → See → Use. Transliteration is printed for Core students (cover it for Develop/Stretch).
Then and now: كَانَتِ الأَجْيَالُ السَّابِقَةُ قَدْ + past (had …) — the generations (non-human plural) take the feminine كَانَتْ … كَافَحَتْ. With جِيلٌ or الشَّبَابُ use the masculine: كَانَ الشَّبَابُ قَدْ أَطْلَقَ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Youth challenges and power (website vocabulary (1 of 2)). Hear → Say → See → Use. Transliteration is printed for Core students (cover it for Develop/Stretch).
Challenges and power: الإِحْبَاطُ (frustration) and ضَغْطُ الأَقْرَانِ (peer pressure) vs الطُّمُوحُ (ambition) and صَوْتُ الشَّبَابِ (the youth voice) — a ready-made concession–refutation.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Youth challenges and power (website vocabulary (2 of 2)). Hear → Say → See → Use. Transliteration is printed for Core students (cover it for Develop/Stretch).
FLEX: teach if time allows; otherwise these are on the website vocabulary tab for homework.
Challenges and power: الإِحْبَاطُ (frustration) and ضَغْطُ الأَقْرَانِ (peer pressure) vs الطُّمُوحُ (ambition) and صَوْتُ الشَّبَابِ (the youth voice) — a ready-made concession–refutation.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Change verbs and futures (website vocabulary (1 of 2)). Hear → Say → See → Use. Transliteration is printed for Core students (cover it for Develop/Stretch).
FLEX: teach if time allows; otherwise these are on the website vocabulary tab for homework.
Change verbs: يُسْهِمُ فِي تَغْيِيرِ (contributes to changing) and يُعِيدُ تَعْرِيفَ both put a noun in -a or an iḍāfa straight after the verb. يَصُوغُ مُسْتَقْبَلَهُ = shapes its future — the closing image of the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Change verbs and futures (website vocabulary (2 of 2)). Hear → Say → See → Use. Transliteration is printed for Core students (cover it for Develop/Stretch).
FLEX: teach if time allows; otherwise these are on the website vocabulary tab for homework.
Change verbs: يُسْهِمُ فِي تَغْيِيرِ (contributes to changing) and يُعِيدُ تَعْرِيفَ both put a noun in -a or an iḍāfa straight after the verb. يَصُوغُ مُسْتَقْبَلَهُ = shapes its future — the closing image of the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“Earlier generation”, teaching point 1 (“The past perfect gives the argument historical depth”) and mistake 1.
Agreement: الأَجْيَالُ (non-human plural) → feminine singular كَانَتْ … كَافَحَتْ. شَبَابُ … (treated as one group, masculine) → كَانَ … حَلِمَ / أَطْلَقَ.
Why the past perfect? It sets the earlier generation BEHIND today’s story — a “had” before the “now”. Without قَدْ the sentence loses that depth (and the website marks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“Earlier generation” and “Today’s reality”, teaching point 1 (“The tense contrast is the narrative”), quiz 2 and quiz 8.
أَمَّا … فَـ = as for … (then): the فَـ is compulsory and sticks to the next word (فَيُكَافِحُ · فَيُعِيدُ). Students met it in P2; here it carries the whole then → now contrast.
Read the three cards right to left as ONE paragraph: past perfect → ammā … fa- → redefine. That is the heart of today’s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“Redefine”, teaching point 2 (“تَعْرِيفَ is the object of يُعِيدُ, so it carries a fatḥa”), mistake 2 and quiz 4.
Three endings in one phrase: يُعِيدُ (verb, -u) · الشَّبَابُ (subject, -u) · تَعْرِيفَ (object, -a) · النَّاشِطِيَّةِ (iḍāfa, -i).
Row 3: after أَنْ the VERB changes too — أَنْ يُعِيدَ (subjunctive -a), but تَعْرِيفَ is still the object. Two different -a’s, as in P5-L04.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“Youth futures”, mistake 3, the listening and the writing model.
Row 2 = a real policy (if governments open doors, they WILL gain legitimacy). Row 3 = what could have been (had unemployment been lower, migration WOULD have fallen).
Note: the website sorter files the Type 2 under “Future (conditional)” — discuss: is law … la- about the future, or about an unreal present / past? (It is unreal — a good Stretch question.)
Row 4: يَبْقَى … شَرْطًا أَسَاسِيًّا — yabqā (remains), like kāna, makes its predicate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“Open with what earlier generations had done (past perfect), contrast with today (present), redefine with يُعِيدُ تَعْرِيفَ, and analyse futures with both conditional types.”
• Earlier generation: What an earlier generation had done.
• Today’s reality: Contrast with the present generation.
• Redefine: How the generation reshapes an idea.
• Youth futures: Analyse futures with both conditional types.
Website common error: Dropping قَدْ from the past perfect, or a nominative object after يُعِيدُ. Keep كَانَتْ … قَدْ, and the object of يُعِيدُ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listening and writing model. Think aloud: “Evidence first: tushīru … ilā anna. Then: kānati l-ajyālu … QAD kāfaḥat — don’t drop qad. Now: ammā l-yawma, FA-yuʿīdu … taʿrīfA (object, -a). What could have been: law … LA-tarājaʿat. Close: wa-bināʾan ʿalā mā sabaqa.”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Youth and Society — The Arab Generation's Challenges and Power”)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4 not used — waṣl kasra). Card 3 already has an + -a: يُمْكِنُ أَنْ تُحْدِثَ. Upgrade each card into a P5 sentence: كَانَتِ الأَجْيَالُ السَّابِقَةُ قَدْ … أَمَّا شَبَابُ اليَوْمِ فَلَهُمْ طُمُوحَاتٌ … · لَوْ كَانَتِ البَطَالَةُ أَقَلَّ، لَـ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Youth and Society — The Arab Generation's Challenges and Power”)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4 not used — waṣl kasra). Card 3 already has an + -a: يُمْكِنُ أَنْ تُحْدِثَ. Upgrade each card into a P5 sentence: كَانَتِ الأَجْيَالُ السَّابِقَةُ قَدْ … أَمَّا شَبَابُ اليَوْمِ فَلَهُمْ طُمُوحَاتٌ … · لَوْ كَانَتِ البَطَالَةُ أَقَلَّ، لَـ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generational line from a past-perfect background, a present reality and a future conditional.” Website feedback: any three different combinations work.
Core: read row 1 across. Develop: column 1 row 2 (masculine كَانَ … قَدْ أَطْلَقَ) — why not كَانَتْ? Stretch: replace column 3 with your own conclusion + a verb in -a: مِنَ الضَّرُورِيِّ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pair one “earlier” card with one “today” card using ammā … fa- to make a then → now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pair one “earlier” card with one “today” card using ammā … fa- to make a then → now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note the two past-perfect sentences (one feminine, one masculine).
Listen 1: just listen. Listen 2: note answers. Then chat the letters.
Support: after the second listening, show the read-along slide (Arabic + English, line by line) for Core students.
SCRIPT (read aloud):
يَقُولُ المُحَلِّلُ: تُشِيرُ الإِحْصَاءَاتُ إِلَى أَنَّ سِتِّينَ بِالمِئَةِ مِنْ سُكَّانِ العَالَمِ العَرَبِيِّ دُونَ الثَّلَاثِينَ عَامًا. وَأَكَّدَ تَقْرِيرُ التَّنْمِيَةِ البَشَرِيَّةِ أَنَّ الشَّبَابَ يَمْلِكُونَ طَاقَاتٍ إِبْدَاعِيَّةً هَائِلَةً. كَانَتِ الأَجْيَالُ السَّابِقَةُ قَدْ كَافَحَتْ مِنْ أَجْلِ الاسْتِقْلَالِ الوَطَنِيِّ، وَكَانَ شَبَابُ العَقْدِ المَاضِي قَدْ أَطْلَقَ شَرَارَةَ الرَّبِيعِ العَرَبِيِّ. أَمَّا شَبَابُ اليَوْمِ، فَيُعِيدُ تَعْرِيفَ النَّاشِطِيَّةِ عَبْرَ الوَسَائِطِ الرَّقْمِيَّةِ. إِذَا أَتَاحَتِ الحُكُومَاتُ فُرَصَ المُشَارَكَةِ، سَتَكْتَسِبُ شَرْعِيَّةً أَوْسَعَ. وَلَوْ كَانَتِ البَطَالَةُ أَقَلَّ، لَتَرَاجَعَتْ مَوْجَاتُ الهِجْرَةِ. وَبِنَاءً عَلَى مَا سَبَقَ، يَبْقَى تَمْكِينُ الشَّبَابِ شَرْطًا أَسَاسِيًّا لِأَيِّ تَنْمِيَةٍ.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وَشَبَابُ اليَوْمِ؟ (Present + redefine)
B: أَمَّا اليَوْمَ، فَيُعِيدُ الشَّبَابُ تَعْرِيفَ النَّاشِطِيَّةِ عَبْرَ الوَسَائِطِ الرَّقْمِيَّةِ. (يُعِيدُ تَعْرِيفَ)
Website prompts and model. Pair task: “grandparent and grandchild” — A (the grandparent) answers with kānat … qad; B (today’s youth) replies ammā l-yawma, fa- … and adds a Type 1 about the future. Stretch stem: sa- + yaṣūghūna = they will shape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one past-perfect sentence about an earlier generation and one present sentence about today. · Develop — Add يُعِيدُ تَعْرِيفَ and a Type 1 conditional; reach 110 words. · Stretch — Reach 120 words with both conditionals and a conclusion connector + subjunctive.
Website writing task (Stretch): Write a 110–120-word youth-empowerment analysis. Open with reported statistics, use the past perfect for earlier generations, contrast with today’s youth (yuʿīdu taʿrīfa), analyse futures with both conditional types, and close with a conclusion connector + a verb in -a.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تُشِيرُ … إِلَى أَنَّ · أَكَّدَ … أَنَّ · كَانَتِ الأَجْيَالُ … قَدْ وَاجَهَتْ · كَانَ الشَّبَابُ قَدْ أَطْلَقَ … لِكَيْ يَبْنِيَ · أَمَّا اليَوْمَ، فَيُعِيدُ … تَعْرِيفَ · إِذَا أَتَاحَتْ … سَتَكْتَسِبُ · لَوْ كَانَتْ … لَكَانَتْ · وَبِنَاءً عَلَى مَا سَبَقَ … أَنْ يُعِيدَ … لِكَيْ يُسْهِمَ.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(P5-L07 · Constructing a Balanced Argument — The Art of Arabic Essay Writing) will spend class time USING this language, so students prepare it tonight — short, simple, easy to access (school guidance: “Simple, Short, Interesting, Relevant, Easy to access”). The five words come from the website P5-L07 vocabulary (essay construction).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Youth and Society — The Arab Generation’s Challenges and Power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200" b="1" dirty="0">
                <a:solidFill>
                  <a:srgbClr val="D4AF37"/>
                </a:solidFill>
                <a:latin typeface="Amiri" pitchFamily="2" charset="-78"/>
                <a:cs typeface="Amiri" pitchFamily="2" charset="-78"/>
              </a:rPr>
              <a:t>الشَّبَابُ وَالمُجْتَمَعُ — تَحَدِّيَاتُ جِيلِ الشَّبَابِ العَرَبِيِّ وَقُدْرَتُهُ</a:t>
            </a:r>
            <a:endParaRPr lang="ar-SA" sz="32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Give an argument historical depth — kānati l-ajyālu l-sābiqatu qad + past for what earlier generations had done, ammā … fa- + present for today, yuʿīdu taʿrīfa + an object in -a, and both conditional types for youth futures.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P5-L06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The intergenerational past perfect, ammā … fa- + present, yuʿīdu taʿrīfa + object, youth futures with both conditionals.</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youth pictures, build a generational line, sort earlier / today / future.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جِيلُ الشَّبَابِ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youth club</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youth generation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young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المُشَارَكَةُ السِّيَاسِيَّةُ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political participation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political party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a meal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الطُّمُوحُ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frustration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patience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ambition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يَرْفُضُ النَّاشِطُونَ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ازْدِوَاجِيَّةُ المَعَايِيرِ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تَسْتَمِرُّ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اسْتَمَرَّتْ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تَسْتَمِرَّ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closes an essay?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وَبِنَاءً عَلَى مَا سَبَقَ</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وَأَيْضًا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جِيلُ الشَّبَابِ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youth club</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youth generation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young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المُشَارَكَةُ السِّيَاسِيَّةُ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political participation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political party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sharing a meal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الطُّمُوحُ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frustration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patience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ambition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يَرْفُضُ النَّاشِطُونَ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ازْدِوَاجِيَّةُ المَعَايِيرِ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تَسْتَمِرُّ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اسْتَمَرَّتْ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تَسْتَمِرَّ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P5-L05: yarfuḍu an +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closes an essay?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وَبِنَاءً عَلَى مَا سَبَقَ</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وَأَيْضًا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P5-L05: a formal conclusion connector.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Then and now: what earlier generations HAD done (kānat … qad) — and what today’s youth DO (ammā … fa-).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كَانَتِ</a:t>
            </a:r>
            <a:pPr rtl="1" algn="ctr" indent="0" marL="0">
              <a:lnSpc>
                <a:spcPct val="120000"/>
              </a:lnSpc>
              <a:buNone/>
            </a:pPr>
            <a:r>
              <a:rPr lang="ar-SA" altLang="en-US" sz="1950" b="1" dirty="0">
                <a:solidFill>
                  <a:srgbClr val="1B3B6F"/>
                </a:solidFill>
                <a:latin typeface="Amiri" pitchFamily="2" charset="-78"/>
                <a:cs typeface="Amiri" pitchFamily="2" charset="-78"/>
              </a:rPr>
              <a:t> الأَجْيَالُ </a:t>
            </a:r>
            <a:pPr rtl="1" algn="ctr" indent="0" marL="0">
              <a:lnSpc>
                <a:spcPct val="120000"/>
              </a:lnSpc>
              <a:buNone/>
            </a:pPr>
            <a:r>
              <a:rPr lang="ar-SA" altLang="en-US" sz="1950" b="1" dirty="0">
                <a:solidFill>
                  <a:srgbClr val="1D5FBF"/>
                </a:solidFill>
                <a:latin typeface="Amiri" pitchFamily="2" charset="-78"/>
                <a:cs typeface="Amiri" pitchFamily="2" charset="-78"/>
              </a:rPr>
              <a:t>قَدْ</a:t>
            </a:r>
            <a:pPr rtl="1" algn="ctr" indent="0" marL="0">
              <a:lnSpc>
                <a:spcPct val="120000"/>
              </a:lnSpc>
              <a:buNone/>
            </a:pPr>
            <a:r>
              <a:rPr lang="ar-SA" altLang="en-US" sz="1950" b="1" dirty="0">
                <a:solidFill>
                  <a:srgbClr val="1B3B6F"/>
                </a:solidFill>
                <a:latin typeface="Amiri" pitchFamily="2" charset="-78"/>
                <a:cs typeface="Amiri" pitchFamily="2" charset="-78"/>
              </a:rPr>
              <a:t> كَافَحَتْ … </a:t>
            </a:r>
            <a:pPr rtl="1" algn="ctr" indent="0" marL="0">
              <a:lnSpc>
                <a:spcPct val="120000"/>
              </a:lnSpc>
              <a:buNone/>
            </a:pPr>
            <a:r>
              <a:rPr lang="ar-SA" altLang="en-US" sz="1950" b="1" dirty="0">
                <a:solidFill>
                  <a:srgbClr val="0E7C86"/>
                </a:solidFill>
                <a:latin typeface="Amiri" pitchFamily="2" charset="-78"/>
                <a:cs typeface="Amiri" pitchFamily="2" charset="-78"/>
              </a:rPr>
              <a:t>أَمَّا</a:t>
            </a:r>
            <a:pPr rtl="1" algn="ctr" indent="0" marL="0">
              <a:lnSpc>
                <a:spcPct val="120000"/>
              </a:lnSpc>
              <a:buNone/>
            </a:pPr>
            <a:r>
              <a:rPr lang="ar-SA" altLang="en-US" sz="1950" b="1" dirty="0">
                <a:solidFill>
                  <a:srgbClr val="1B3B6F"/>
                </a:solidFill>
                <a:latin typeface="Amiri" pitchFamily="2" charset="-78"/>
                <a:cs typeface="Amiri" pitchFamily="2" charset="-78"/>
              </a:rPr>
              <a:t> شَبَابُ اليَوْمِ </a:t>
            </a:r>
            <a:pPr rtl="1" algn="ctr" indent="0" marL="0">
              <a:lnSpc>
                <a:spcPct val="120000"/>
              </a:lnSpc>
              <a:buNone/>
            </a:pPr>
            <a:r>
              <a:rPr lang="ar-SA" altLang="en-US" sz="1950" b="1" dirty="0">
                <a:solidFill>
                  <a:srgbClr val="0E7C86"/>
                </a:solidFill>
                <a:latin typeface="Amiri" pitchFamily="2" charset="-78"/>
                <a:cs typeface="Amiri" pitchFamily="2" charset="-78"/>
              </a:rPr>
              <a:t>فَـ</a:t>
            </a:r>
            <a:pPr rtl="1" algn="ctr" indent="0" marL="0">
              <a:lnSpc>
                <a:spcPct val="120000"/>
              </a:lnSpc>
              <a:buNone/>
            </a:pPr>
            <a:r>
              <a:rPr lang="ar-SA" altLang="en-US" sz="1950" b="1" dirty="0">
                <a:solidFill>
                  <a:srgbClr val="1B3B6F"/>
                </a:solidFill>
                <a:latin typeface="Amiri" pitchFamily="2" charset="-78"/>
                <a:cs typeface="Amiri" pitchFamily="2" charset="-78"/>
              </a:rPr>
              <a:t>يُعِيدُ تَعْرِيفَ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youth challenges and empowerment with formal intergenerational language.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past perfect for what earlier generations had done.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yuʿīdu taʿrīfa for how today’s youth redefine roles.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youth futures with both conditional types and a conclusion connector.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youth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 past-perfect sentence about an earlier generation.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with today: ammā … fa- +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yuʿīdu taʿrīfa + an object in -a.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analyse youth futures with both conditionals.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120-word youth-empowerment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Intergenerational narrative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Youth challenges and power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Change verbs and futures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تَعْرِيفٌ</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‎تعریف‎ </a:t>
            </a:r>
            <a:pPr indent="0" marL="0">
              <a:buNone/>
            </a:pPr>
            <a:r>
              <a:rPr lang="en-US" sz="950" b="1" dirty="0">
                <a:solidFill>
                  <a:srgbClr val="2E8B57"/>
                </a:solidFill>
                <a:latin typeface="Calibri" pitchFamily="34" charset="0"/>
                <a:cs typeface="Amiri" pitchFamily="2" charset="-78"/>
              </a:rPr>
              <a:t> tārīf · Arabic: a definition · Urdu: praise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مُسْتَقْبَلٌ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‎مستقبل‎ </a:t>
            </a:r>
            <a:pPr indent="0" marL="0">
              <a:buNone/>
            </a:pPr>
            <a:r>
              <a:rPr lang="en-US" sz="950" b="1" dirty="0">
                <a:solidFill>
                  <a:srgbClr val="2E8B57"/>
                </a:solidFill>
                <a:latin typeface="Calibri" pitchFamily="34" charset="0"/>
                <a:cs typeface="Amiri" pitchFamily="2" charset="-78"/>
              </a:rPr>
              <a:t> mustaqbil · the future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سِيَاسَةٌ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‎سیاست‎ </a:t>
            </a:r>
            <a:pPr indent="0" marL="0">
              <a:buNone/>
            </a:pPr>
            <a:r>
              <a:rPr lang="en-US" sz="950" b="1" dirty="0">
                <a:solidFill>
                  <a:srgbClr val="2E8B57"/>
                </a:solidFill>
                <a:latin typeface="Calibri" pitchFamily="34" charset="0"/>
                <a:cs typeface="Amiri" pitchFamily="2" charset="-78"/>
              </a:rPr>
              <a:t> siyāsat · politics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مُجْتَمَعٌ</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‎معاشرہ‎ </a:t>
            </a:r>
            <a:pPr indent="0" marL="0">
              <a:buNone/>
            </a:pPr>
            <a:r>
              <a:rPr lang="en-US" sz="950" b="1" dirty="0">
                <a:solidFill>
                  <a:srgbClr val="2E8B57"/>
                </a:solidFill>
                <a:latin typeface="Calibri" pitchFamily="34" charset="0"/>
                <a:cs typeface="Amiri" pitchFamily="2" charset="-78"/>
              </a:rPr>
              <a:t> muāshara · Arabic society = مُجْتَمَعٌ (Arabic مُعَاشَرَةٌ = companionship)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انْقِلَابٌ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‎انقلاب‎ </a:t>
            </a:r>
            <a:pPr indent="0" marL="0">
              <a:buNone/>
            </a:pPr>
            <a:r>
              <a:rPr lang="en-US" sz="950" b="1" dirty="0">
                <a:solidFill>
                  <a:srgbClr val="2E8B57"/>
                </a:solidFill>
                <a:latin typeface="Calibri" pitchFamily="34" charset="0"/>
                <a:cs typeface="Amiri" pitchFamily="2" charset="-78"/>
              </a:rPr>
              <a:t> inqilāb · Arabic: a coup · Urdu: a revolution (Arabic ثَوْرَةٌ)</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Intergenerational narrative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perfect.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cs typeface="Amiri" pitchFamily="2" charset="-78"/>
              </a:rPr>
              <a:t>كَانَتِ الأَجْيَالُ السَّابِقَةُ قَدْ</a:t>
            </a:r>
            <a:endParaRPr lang="ar-SA" sz="29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earlier generations had …</a:t>
            </a:r>
            <a:endParaRPr lang="en-US" sz="1350" dirty="0"/>
          </a:p>
          <a:p>
            <a:pPr indent="0" marL="0">
              <a:buNone/>
            </a:pPr>
            <a:r>
              <a:rPr lang="en-US" sz="1100" i="1" dirty="0">
                <a:solidFill>
                  <a:srgbClr val="5A6472"/>
                </a:solidFill>
                <a:latin typeface="Calibri" pitchFamily="34" charset="0"/>
                <a:cs typeface="Amiri" pitchFamily="2" charset="-78"/>
              </a:rPr>
              <a:t>kā-na-ti al-aj-yā-lu as-sā-bi-qa-tu qad</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جِيلُ مَا بَعْدَ الاسْتِعْمَارِ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post-colonial generation</a:t>
            </a:r>
            <a:endParaRPr lang="en-US" sz="1350" dirty="0"/>
          </a:p>
          <a:p>
            <a:pPr indent="0" marL="0">
              <a:buNone/>
            </a:pPr>
            <a:r>
              <a:rPr lang="en-US" sz="1100" i="1" dirty="0">
                <a:solidFill>
                  <a:srgbClr val="5A6472"/>
                </a:solidFill>
                <a:latin typeface="Calibri" pitchFamily="34" charset="0"/>
                <a:cs typeface="Amiri" pitchFamily="2" charset="-78"/>
              </a:rPr>
              <a:t>jī-lu mā baʿ-da als-tiʿ-mā-ri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يُعِيدُ تَعْرِيفَ</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redefines</a:t>
            </a:r>
            <a:endParaRPr lang="en-US" sz="1350" dirty="0"/>
          </a:p>
          <a:p>
            <a:pPr indent="0" marL="0">
              <a:buNone/>
            </a:pPr>
            <a:r>
              <a:rPr lang="en-US" sz="1100" i="1" dirty="0">
                <a:solidFill>
                  <a:srgbClr val="5A6472"/>
                </a:solidFill>
                <a:latin typeface="Calibri" pitchFamily="34" charset="0"/>
                <a:cs typeface="Amiri" pitchFamily="2" charset="-78"/>
              </a:rPr>
              <a:t>yu-ʿī-du taʿ-rī-fa</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0" name="Text 3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تُعِيدُ تَعْرِيفَ</a:t>
            </a:r>
            <a:endParaRPr lang="ar-SA"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التَّحَوُّلَاتُ السِّيَاسِيَّةُ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political transformations</a:t>
            </a:r>
            <a:endParaRPr lang="en-US" sz="1350" dirty="0"/>
          </a:p>
          <a:p>
            <a:pPr indent="0" marL="0">
              <a:buNone/>
            </a:pPr>
            <a:r>
              <a:rPr lang="en-US" sz="1100" i="1" dirty="0">
                <a:solidFill>
                  <a:srgbClr val="5A6472"/>
                </a:solidFill>
                <a:latin typeface="Calibri" pitchFamily="34" charset="0"/>
                <a:cs typeface="Amiri" pitchFamily="2" charset="-78"/>
              </a:rPr>
              <a:t>at-ta-ḥaw-wu-lā-tu as-si-yā-siy-ya-tu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Intergenerational narrative (2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جِيلُ الشَّبَابِ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youth generation</a:t>
            </a:r>
            <a:endParaRPr lang="en-US" sz="1350" dirty="0"/>
          </a:p>
          <a:p>
            <a:pPr indent="0" marL="0">
              <a:buNone/>
            </a:pPr>
            <a:r>
              <a:rPr lang="en-US" sz="1100" i="1" dirty="0">
                <a:solidFill>
                  <a:srgbClr val="5A6472"/>
                </a:solidFill>
                <a:latin typeface="Calibri" pitchFamily="34" charset="0"/>
                <a:cs typeface="Amiri" pitchFamily="2" charset="-78"/>
              </a:rPr>
              <a:t>jī-lu ash-sha-bā-bi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أَجْيَالُ الشَّبَابِ</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الرَّبِيعُ العَرَبِيُّ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Arab Spring</a:t>
            </a:r>
            <a:endParaRPr lang="en-US" sz="1350" dirty="0"/>
          </a:p>
          <a:p>
            <a:pPr indent="0" marL="0">
              <a:buNone/>
            </a:pPr>
            <a:r>
              <a:rPr lang="en-US" sz="1100" i="1" dirty="0">
                <a:solidFill>
                  <a:srgbClr val="5A6472"/>
                </a:solidFill>
                <a:latin typeface="Calibri" pitchFamily="34" charset="0"/>
                <a:cs typeface="Amiri" pitchFamily="2" charset="-78"/>
              </a:rPr>
              <a:t>ar-ra-bī-ʿu al-ʿa-ra-biy-yu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يَقُودُ التَّغْيِيرَ</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change</a:t>
            </a:r>
            <a:endParaRPr lang="en-US" sz="1350" dirty="0"/>
          </a:p>
          <a:p>
            <a:pPr indent="0" marL="0">
              <a:buNone/>
            </a:pPr>
            <a:r>
              <a:rPr lang="en-US" sz="1100" i="1" dirty="0">
                <a:solidFill>
                  <a:srgbClr val="5A6472"/>
                </a:solidFill>
                <a:latin typeface="Calibri" pitchFamily="34" charset="0"/>
                <a:cs typeface="Amiri" pitchFamily="2" charset="-78"/>
              </a:rPr>
              <a:t>ya-qū-du at-tagh-yī-ra</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3" name="Text 40"/>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تَقُودُ التَّغْيِيرَ</a:t>
            </a:r>
            <a:endParaRPr lang="ar-SA"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التَّضَامُنُ الشَّبَابِيُّ</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youth solidarity</a:t>
            </a:r>
            <a:endParaRPr lang="en-US" sz="1350" dirty="0"/>
          </a:p>
          <a:p>
            <a:pPr indent="0" marL="0">
              <a:buNone/>
            </a:pPr>
            <a:r>
              <a:rPr lang="en-US" sz="1100" i="1" dirty="0">
                <a:solidFill>
                  <a:srgbClr val="5A6472"/>
                </a:solidFill>
                <a:latin typeface="Calibri" pitchFamily="34" charset="0"/>
                <a:cs typeface="Amiri" pitchFamily="2" charset="-78"/>
              </a:rPr>
              <a:t>at-ta-ḍā-mu-nu ash-sha-bā-biy-yu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Youth challenges and power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الإِحْبَاطُ</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frustration</a:t>
            </a:r>
            <a:endParaRPr lang="en-US" sz="1350" dirty="0"/>
          </a:p>
          <a:p>
            <a:pPr indent="0" marL="0">
              <a:buNone/>
            </a:pPr>
            <a:r>
              <a:rPr lang="en-US" sz="1100" i="1" dirty="0">
                <a:solidFill>
                  <a:srgbClr val="5A6472"/>
                </a:solidFill>
                <a:latin typeface="Calibri" pitchFamily="34" charset="0"/>
                <a:cs typeface="Amiri" pitchFamily="2" charset="-78"/>
              </a:rPr>
              <a:t>al-iḥ-bā-ṭu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الطُّمُوحُ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ambition</a:t>
            </a:r>
            <a:endParaRPr lang="en-US" sz="1350" dirty="0"/>
          </a:p>
          <a:p>
            <a:pPr indent="0" marL="0">
              <a:buNone/>
            </a:pPr>
            <a:r>
              <a:rPr lang="en-US" sz="1100" i="1" dirty="0">
                <a:solidFill>
                  <a:srgbClr val="5A6472"/>
                </a:solidFill>
                <a:latin typeface="Calibri" pitchFamily="34" charset="0"/>
                <a:cs typeface="Amiri" pitchFamily="2" charset="-78"/>
              </a:rPr>
              <a:t>aṭ-ṭu-mū-ḥu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المُشَارَكَةُ السِّيَاسِيَّةُ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political participation</a:t>
            </a:r>
            <a:endParaRPr lang="en-US" sz="1350" dirty="0"/>
          </a:p>
          <a:p>
            <a:pPr indent="0" marL="0">
              <a:buNone/>
            </a:pPr>
            <a:r>
              <a:rPr lang="en-US" sz="1100" i="1" dirty="0">
                <a:solidFill>
                  <a:srgbClr val="5A6472"/>
                </a:solidFill>
                <a:latin typeface="Calibri" pitchFamily="34" charset="0"/>
                <a:cs typeface="Amiri" pitchFamily="2" charset="-78"/>
              </a:rPr>
              <a:t>al-mu-shā-ra-ka-tu as-si-yā-siy-ya-tu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المُجْتَمَعُ المَدَنِيُّ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civil society</a:t>
            </a:r>
            <a:endParaRPr lang="en-US" sz="1350" dirty="0"/>
          </a:p>
          <a:p>
            <a:pPr indent="0" marL="0">
              <a:buNone/>
            </a:pPr>
            <a:r>
              <a:rPr lang="en-US" sz="1100" i="1" dirty="0">
                <a:solidFill>
                  <a:srgbClr val="5A6472"/>
                </a:solidFill>
                <a:latin typeface="Calibri" pitchFamily="34" charset="0"/>
                <a:cs typeface="Amiri" pitchFamily="2" charset="-78"/>
              </a:rPr>
              <a:t>al-muj-ta-ma-ʿu al-ma-da-niy-yu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Youth challenges and power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ضَغْطُ الأَقْرَانِ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peer pressure</a:t>
            </a:r>
            <a:endParaRPr lang="en-US" sz="1350" dirty="0"/>
          </a:p>
          <a:p>
            <a:pPr indent="0" marL="0">
              <a:buNone/>
            </a:pPr>
            <a:r>
              <a:rPr lang="en-US" sz="1100" i="1" dirty="0">
                <a:solidFill>
                  <a:srgbClr val="5A6472"/>
                </a:solidFill>
                <a:latin typeface="Calibri" pitchFamily="34" charset="0"/>
                <a:cs typeface="Amiri" pitchFamily="2" charset="-78"/>
              </a:rPr>
              <a:t>ḍagh-ṭu al-aq-rā-ni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الانْفِصَالُ عَنِ المُجْتَمَعِ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disengagement</a:t>
            </a:r>
            <a:endParaRPr lang="en-US" sz="1350" dirty="0"/>
          </a:p>
          <a:p>
            <a:pPr indent="0" marL="0">
              <a:buNone/>
            </a:pPr>
            <a:r>
              <a:rPr lang="en-US" sz="1100" i="1" dirty="0">
                <a:solidFill>
                  <a:srgbClr val="5A6472"/>
                </a:solidFill>
                <a:latin typeface="Calibri" pitchFamily="34" charset="0"/>
                <a:cs typeface="Amiri" pitchFamily="2" charset="-78"/>
              </a:rPr>
              <a:t>aln-fi-ṣā-lu ʿa-ni al-muj-ta-ma-ʿi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صَوْتُ الشَّبَابِ</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youth voice</a:t>
            </a:r>
            <a:endParaRPr lang="en-US" sz="1350" dirty="0"/>
          </a:p>
          <a:p>
            <a:pPr indent="0" marL="0">
              <a:buNone/>
            </a:pPr>
            <a:r>
              <a:rPr lang="en-US" sz="1100" i="1" dirty="0">
                <a:solidFill>
                  <a:srgbClr val="5A6472"/>
                </a:solidFill>
                <a:latin typeface="Calibri" pitchFamily="34" charset="0"/>
                <a:cs typeface="Amiri" pitchFamily="2" charset="-78"/>
              </a:rPr>
              <a:t>ṣaw-tu ash-sha-bā-bi</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أَصْوَاتُ الشَّبَابِ</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الإِبْدَاعُ الاجْتِمَاعِيُّ</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creativity</a:t>
            </a:r>
            <a:endParaRPr lang="en-US" sz="1350" dirty="0"/>
          </a:p>
          <a:p>
            <a:pPr indent="0" marL="0">
              <a:buNone/>
            </a:pPr>
            <a:r>
              <a:rPr lang="en-US" sz="1100" i="1" dirty="0">
                <a:solidFill>
                  <a:srgbClr val="5A6472"/>
                </a:solidFill>
                <a:latin typeface="Calibri" pitchFamily="34" charset="0"/>
                <a:cs typeface="Amiri" pitchFamily="2" charset="-78"/>
              </a:rPr>
              <a:t>al-ib-dā-ʿu alj-ti-mā-ʿiy-yu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Change verbs and futures (1 of 2)</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يُشَارِكُ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participates in</a:t>
            </a:r>
            <a:endParaRPr lang="en-US" sz="1350" dirty="0"/>
          </a:p>
          <a:p>
            <a:pPr indent="0" marL="0">
              <a:buNone/>
            </a:pPr>
            <a:r>
              <a:rPr lang="en-US" sz="1100" i="1" dirty="0">
                <a:solidFill>
                  <a:srgbClr val="5A6472"/>
                </a:solidFill>
                <a:latin typeface="Calibri" pitchFamily="34" charset="0"/>
                <a:cs typeface="Amiri" pitchFamily="2" charset="-78"/>
              </a:rPr>
              <a:t>yu-shā-ri-ku fī</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تُشَارِكُ فِي</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يُسْهِمُ فِي تَغْيِيرِ</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contributes to changing</a:t>
            </a:r>
            <a:endParaRPr lang="en-US" sz="1350" dirty="0"/>
          </a:p>
          <a:p>
            <a:pPr indent="0" marL="0">
              <a:buNone/>
            </a:pPr>
            <a:r>
              <a:rPr lang="en-US" sz="1100" i="1" dirty="0">
                <a:solidFill>
                  <a:srgbClr val="5A6472"/>
                </a:solidFill>
                <a:latin typeface="Calibri" pitchFamily="34" charset="0"/>
                <a:cs typeface="Amiri" pitchFamily="2" charset="-78"/>
              </a:rPr>
              <a:t>yus-hi-mu fī tagh-yī-ri</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تُسْهِمُ فِي تَغْيِيرِ</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يَقُودُ</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a:t>
            </a:r>
            <a:endParaRPr lang="en-US" sz="1350" dirty="0"/>
          </a:p>
          <a:p>
            <a:pPr indent="0" marL="0">
              <a:buNone/>
            </a:pPr>
            <a:r>
              <a:rPr lang="en-US" sz="1100" i="1" dirty="0">
                <a:solidFill>
                  <a:srgbClr val="5A6472"/>
                </a:solidFill>
                <a:latin typeface="Calibri" pitchFamily="34" charset="0"/>
                <a:cs typeface="Amiri" pitchFamily="2" charset="-78"/>
              </a:rPr>
              <a:t>ya-qū-du</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تَقُودُ</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النَّاشِطُونَ الشَّبَابُ</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youth activists</a:t>
            </a:r>
            <a:endParaRPr lang="en-US" sz="1350" dirty="0"/>
          </a:p>
          <a:p>
            <a:pPr indent="0" marL="0">
              <a:buNone/>
            </a:pPr>
            <a:r>
              <a:rPr lang="en-US" sz="1100" i="1" dirty="0">
                <a:solidFill>
                  <a:srgbClr val="5A6472"/>
                </a:solidFill>
                <a:latin typeface="Calibri" pitchFamily="34" charset="0"/>
                <a:cs typeface="Amiri" pitchFamily="2" charset="-78"/>
              </a:rPr>
              <a:t>an-nā-shi-ṭū-na ash-sha-bā-bu</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58" name="Text 5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النَّاشِطَاتُ الشَّابَّاتُ</a:t>
            </a:r>
            <a:endParaRPr lang="ar-SA"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Change verbs and futures (2 of 2)</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الطَّاقَاتُ الإِبْدَاعِيَّةُ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creative energies</a:t>
            </a:r>
            <a:endParaRPr lang="en-US" sz="1350" dirty="0"/>
          </a:p>
          <a:p>
            <a:pPr indent="0" marL="0">
              <a:buNone/>
            </a:pPr>
            <a:r>
              <a:rPr lang="en-US" sz="1100" i="1" dirty="0">
                <a:solidFill>
                  <a:srgbClr val="5A6472"/>
                </a:solidFill>
                <a:latin typeface="Calibri" pitchFamily="34" charset="0"/>
                <a:cs typeface="Amiri" pitchFamily="2" charset="-78"/>
              </a:rPr>
              <a:t>aṭ-ṭā-qā-tu al-ib-dā-ʿiy-ya-tu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المَنَافِذُ المُنَاسِبَةُ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right outlets</a:t>
            </a:r>
            <a:endParaRPr lang="en-US" sz="1350" dirty="0"/>
          </a:p>
          <a:p>
            <a:pPr indent="0" marL="0">
              <a:buNone/>
            </a:pPr>
            <a:r>
              <a:rPr lang="en-US" sz="1100" i="1" dirty="0">
                <a:solidFill>
                  <a:srgbClr val="5A6472"/>
                </a:solidFill>
                <a:latin typeface="Calibri" pitchFamily="34" charset="0"/>
                <a:cs typeface="Amiri" pitchFamily="2" charset="-78"/>
              </a:rPr>
              <a:t>al-ma-nā-fi-dhu al-mu-nā-si-ba-tu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يَصُوغُ مُسْتَقْبَلَهُ</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shapes its future</a:t>
            </a:r>
            <a:endParaRPr lang="en-US" sz="1350" dirty="0"/>
          </a:p>
          <a:p>
            <a:pPr indent="0" marL="0">
              <a:buNone/>
            </a:pPr>
            <a:r>
              <a:rPr lang="en-US" sz="1100" i="1" dirty="0">
                <a:solidFill>
                  <a:srgbClr val="5A6472"/>
                </a:solidFill>
                <a:latin typeface="Calibri" pitchFamily="34" charset="0"/>
                <a:cs typeface="Amiri" pitchFamily="2" charset="-78"/>
              </a:rPr>
              <a:t>ya-ṣū-ghu mus-taq-ba-la-hu</a:t>
            </a:r>
            <a:endParaRPr lang="en-US" sz="1350" dirty="0"/>
          </a:p>
        </p:txBody>
      </p:sp>
      <p:sp>
        <p:nvSpPr>
          <p:cNvPr id="36" name="Shape 3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8" name="Text 3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تَصُوغُ مُسْتَقْبَلَهَا</a:t>
            </a:r>
            <a:endParaRPr lang="ar-SA" sz="1500" dirty="0"/>
          </a:p>
        </p:txBody>
      </p:sp>
      <p:sp>
        <p:nvSpPr>
          <p:cNvPr id="39" name="Shape 3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1" name="Text 38"/>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يَصُوغُونَ مُسْتَقْبَلَهُمْ</a:t>
            </a:r>
            <a:endParaRPr lang="ar-SA"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شَرْطٌ أَسَاسِيٌّ</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basic condition</a:t>
            </a:r>
            <a:endParaRPr lang="en-US" sz="1350" dirty="0"/>
          </a:p>
          <a:p>
            <a:pPr indent="0" marL="0">
              <a:buNone/>
            </a:pPr>
            <a:r>
              <a:rPr lang="en-US" sz="1100" i="1" dirty="0">
                <a:solidFill>
                  <a:srgbClr val="5A6472"/>
                </a:solidFill>
                <a:latin typeface="Calibri" pitchFamily="34" charset="0"/>
                <a:cs typeface="Amiri" pitchFamily="2" charset="-78"/>
              </a:rPr>
              <a:t>shar-ṭun a-sā-siy-yun</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شُرُوطٌ أَسَاسِيَّةٌ</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INTERGENERATIONAL PAST PERFECT (WEBSITE RULE 1, TEACHING POINT 1 AND MISTAKE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What earlier generations had done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كَانَ … قَدْ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2259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8280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qad + past</a:t>
            </a:r>
            <a:endParaRPr lang="en-US" sz="1100" dirty="0"/>
          </a:p>
        </p:txBody>
      </p:sp>
      <p:sp>
        <p:nvSpPr>
          <p:cNvPr id="18" name="Text 15"/>
          <p:cNvSpPr txBox="1"/>
          <p:nvPr/>
        </p:nvSpPr>
        <p:spPr>
          <a:xfrm>
            <a:off x="32735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kāna / kānat</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040880" y="2267712"/>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كَانَتِ الأَجْيَالُ السَّابِقَةُ قَدْ كَافَحَتْ مِنْ أَجْلِ الاسْتِقْلَالِ</a:t>
            </a:r>
            <a:endParaRPr lang="ar-SA" sz="1600" dirty="0"/>
          </a:p>
        </p:txBody>
      </p:sp>
      <p:sp>
        <p:nvSpPr>
          <p:cNvPr id="22" name="Text 19"/>
          <p:cNvSpPr txBox="1"/>
          <p:nvPr/>
        </p:nvSpPr>
        <p:spPr>
          <a:xfrm>
            <a:off x="4846320" y="2267712"/>
            <a:ext cx="201168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قَدْ</a:t>
            </a:r>
            <a:pPr rtl="1" algn="ctr" indent="0" marL="0">
              <a:buNone/>
            </a:pPr>
            <a:r>
              <a:rPr lang="ar-SA" altLang="en-US" sz="1900" b="1" dirty="0">
                <a:solidFill>
                  <a:srgbClr val="1B3B6F"/>
                </a:solidFill>
                <a:latin typeface="Amiri" pitchFamily="2" charset="-78"/>
                <a:cs typeface="Amiri" pitchFamily="2" charset="-78"/>
              </a:rPr>
              <a:t> كَافَحَتْ</a:t>
            </a:r>
            <a:endParaRPr lang="ar-SA" sz="1900" dirty="0"/>
          </a:p>
        </p:txBody>
      </p:sp>
      <p:sp>
        <p:nvSpPr>
          <p:cNvPr id="23" name="Text 20"/>
          <p:cNvSpPr txBox="1"/>
          <p:nvPr/>
        </p:nvSpPr>
        <p:spPr>
          <a:xfrm>
            <a:off x="3291840" y="2267712"/>
            <a:ext cx="137160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كَانَتِ</a:t>
            </a:r>
            <a:endParaRPr lang="ar-SA" sz="1900" dirty="0"/>
          </a:p>
        </p:txBody>
      </p:sp>
      <p:sp>
        <p:nvSpPr>
          <p:cNvPr id="24" name="Text 21"/>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الأَجْيَالُ السَّابِقَةُ</a:t>
            </a:r>
            <a:pPr algn="l" indent="0" marL="0">
              <a:buNone/>
            </a:pPr>
            <a:r>
              <a:rPr lang="en-US" sz="1100" dirty="0">
                <a:solidFill>
                  <a:srgbClr val="5A6472"/>
                </a:solidFill>
                <a:latin typeface="Calibri" pitchFamily="34" charset="0"/>
                <a:cs typeface="Amiri" pitchFamily="2" charset="-78"/>
              </a:rPr>
              <a:t> (f.)</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040880" y="3004718"/>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كَانَتِ الأَجْيَالُ قَدْ وَاجَهَتْ تَحَدِّيَاتِ التَّنْمِيَةِ</a:t>
            </a:r>
            <a:endParaRPr lang="ar-SA" sz="1600" dirty="0"/>
          </a:p>
        </p:txBody>
      </p:sp>
      <p:sp>
        <p:nvSpPr>
          <p:cNvPr id="29" name="Text 26"/>
          <p:cNvSpPr txBox="1"/>
          <p:nvPr/>
        </p:nvSpPr>
        <p:spPr>
          <a:xfrm>
            <a:off x="4846320" y="3004718"/>
            <a:ext cx="201168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قَدْ</a:t>
            </a:r>
            <a:pPr rtl="1" algn="ctr" indent="0" marL="0">
              <a:buNone/>
            </a:pPr>
            <a:r>
              <a:rPr lang="ar-SA" altLang="en-US" sz="1900" b="1" dirty="0">
                <a:solidFill>
                  <a:srgbClr val="1B3B6F"/>
                </a:solidFill>
                <a:latin typeface="Amiri" pitchFamily="2" charset="-78"/>
                <a:cs typeface="Amiri" pitchFamily="2" charset="-78"/>
              </a:rPr>
              <a:t> وَاجَهَتْ</a:t>
            </a:r>
            <a:endParaRPr lang="ar-SA" sz="1900" dirty="0"/>
          </a:p>
        </p:txBody>
      </p:sp>
      <p:sp>
        <p:nvSpPr>
          <p:cNvPr id="30" name="Text 27"/>
          <p:cNvSpPr txBox="1"/>
          <p:nvPr/>
        </p:nvSpPr>
        <p:spPr>
          <a:xfrm>
            <a:off x="3291840" y="3004718"/>
            <a:ext cx="137160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كَانَتِ</a:t>
            </a:r>
            <a:endParaRPr lang="ar-SA" sz="1900" dirty="0"/>
          </a:p>
        </p:txBody>
      </p:sp>
      <p:sp>
        <p:nvSpPr>
          <p:cNvPr id="31" name="Text 28"/>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الأَجْيَالُ</a:t>
            </a:r>
            <a:pPr algn="l" indent="0" marL="0">
              <a:buNone/>
            </a:pPr>
            <a:r>
              <a:rPr lang="en-US" sz="1100" dirty="0">
                <a:solidFill>
                  <a:srgbClr val="5A6472"/>
                </a:solidFill>
                <a:latin typeface="Calibri" pitchFamily="34" charset="0"/>
                <a:cs typeface="Amiri" pitchFamily="2" charset="-78"/>
              </a:rPr>
              <a:t> (f.)</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7040880" y="3741725"/>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كَانَ شَبَابُ السَّبْعِينِيَّاتِ قَدْ حَلِمَ بِالتَّحَرُّرِ</a:t>
            </a:r>
            <a:endParaRPr lang="ar-SA" sz="1600" dirty="0"/>
          </a:p>
        </p:txBody>
      </p:sp>
      <p:sp>
        <p:nvSpPr>
          <p:cNvPr id="36" name="Text 33"/>
          <p:cNvSpPr txBox="1"/>
          <p:nvPr/>
        </p:nvSpPr>
        <p:spPr>
          <a:xfrm>
            <a:off x="4846320" y="3741725"/>
            <a:ext cx="201168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قَدْ</a:t>
            </a:r>
            <a:pPr rtl="1" algn="ctr" indent="0" marL="0">
              <a:buNone/>
            </a:pPr>
            <a:r>
              <a:rPr lang="ar-SA" altLang="en-US" sz="1900" b="1" dirty="0">
                <a:solidFill>
                  <a:srgbClr val="1B3B6F"/>
                </a:solidFill>
                <a:latin typeface="Amiri" pitchFamily="2" charset="-78"/>
                <a:cs typeface="Amiri" pitchFamily="2" charset="-78"/>
              </a:rPr>
              <a:t> حَلِمَ</a:t>
            </a:r>
            <a:endParaRPr lang="ar-SA" sz="1900" dirty="0"/>
          </a:p>
        </p:txBody>
      </p:sp>
      <p:sp>
        <p:nvSpPr>
          <p:cNvPr id="37" name="Text 34"/>
          <p:cNvSpPr txBox="1"/>
          <p:nvPr/>
        </p:nvSpPr>
        <p:spPr>
          <a:xfrm>
            <a:off x="3291840" y="3741725"/>
            <a:ext cx="137160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كَانَ</a:t>
            </a:r>
            <a:endParaRPr lang="ar-SA" sz="1900" dirty="0"/>
          </a:p>
        </p:txBody>
      </p:sp>
      <p:sp>
        <p:nvSpPr>
          <p:cNvPr id="38" name="Text 35"/>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شَبَابُ السَّبْعِينِيَّاتِ</a:t>
            </a:r>
            <a:pPr algn="l" indent="0" marL="0">
              <a:buNone/>
            </a:pPr>
            <a:r>
              <a:rPr lang="en-US" sz="1100" dirty="0">
                <a:solidFill>
                  <a:srgbClr val="5A6472"/>
                </a:solidFill>
                <a:latin typeface="Calibri" pitchFamily="34" charset="0"/>
                <a:cs typeface="Amiri" pitchFamily="2" charset="-78"/>
              </a:rPr>
              <a:t> (m.)</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040880" y="4478731"/>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كَانَ شَبَابُ العَقْدِ المَاضِي قَدْ أَطْلَقَ شَرَارَةَ الرَّبِيعِ العَرَبِيِّ</a:t>
            </a:r>
            <a:endParaRPr lang="ar-SA" sz="1600" dirty="0"/>
          </a:p>
        </p:txBody>
      </p:sp>
      <p:sp>
        <p:nvSpPr>
          <p:cNvPr id="41" name="Text 38"/>
          <p:cNvSpPr txBox="1"/>
          <p:nvPr/>
        </p:nvSpPr>
        <p:spPr>
          <a:xfrm>
            <a:off x="4846320" y="4478731"/>
            <a:ext cx="201168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قَدْ</a:t>
            </a:r>
            <a:pPr rtl="1" algn="ctr" indent="0" marL="0">
              <a:buNone/>
            </a:pPr>
            <a:r>
              <a:rPr lang="ar-SA" altLang="en-US" sz="1900" b="1" dirty="0">
                <a:solidFill>
                  <a:srgbClr val="1B3B6F"/>
                </a:solidFill>
                <a:latin typeface="Amiri" pitchFamily="2" charset="-78"/>
                <a:cs typeface="Amiri" pitchFamily="2" charset="-78"/>
              </a:rPr>
              <a:t> أَطْلَقَ</a:t>
            </a:r>
            <a:endParaRPr lang="ar-SA" sz="1900" dirty="0"/>
          </a:p>
        </p:txBody>
      </p:sp>
      <p:sp>
        <p:nvSpPr>
          <p:cNvPr id="42" name="Text 39"/>
          <p:cNvSpPr txBox="1"/>
          <p:nvPr/>
        </p:nvSpPr>
        <p:spPr>
          <a:xfrm>
            <a:off x="3291840" y="4478731"/>
            <a:ext cx="137160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كَانَ</a:t>
            </a:r>
            <a:endParaRPr lang="ar-SA" sz="1900" dirty="0"/>
          </a:p>
        </p:txBody>
      </p:sp>
      <p:sp>
        <p:nvSpPr>
          <p:cNvPr id="43" name="Text 40"/>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شَبَابُ العَقْدِ المَاضِي</a:t>
            </a:r>
            <a:pPr algn="l" indent="0" marL="0">
              <a:buNone/>
            </a:pPr>
            <a:r>
              <a:rPr lang="en-US" sz="1100" dirty="0">
                <a:solidFill>
                  <a:srgbClr val="5A6472"/>
                </a:solidFill>
                <a:latin typeface="Calibri" pitchFamily="34" charset="0"/>
                <a:cs typeface="Amiri" pitchFamily="2" charset="-78"/>
              </a:rPr>
              <a:t> (m.)</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7040880" y="5215738"/>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 كَانَتِ الأَجْيَالُ السَّابِقَةُ كَافَحَتْ → ✓ … </a:t>
            </a:r>
            <a:pPr rtl="1" algn="ctr" indent="0" marL="0">
              <a:buNone/>
            </a:pPr>
            <a:r>
              <a:rPr lang="ar-SA" altLang="en-US" sz="1600" b="1" dirty="0">
                <a:solidFill>
                  <a:srgbClr val="1D5FBF"/>
                </a:solidFill>
                <a:latin typeface="Amiri" pitchFamily="2" charset="-78"/>
                <a:cs typeface="Amiri" pitchFamily="2" charset="-78"/>
              </a:rPr>
              <a:t>قَدْ</a:t>
            </a:r>
            <a:pPr rtl="1" algn="ctr" indent="0" marL="0">
              <a:buNone/>
            </a:pPr>
            <a:r>
              <a:rPr lang="ar-SA" altLang="en-US" sz="1600" b="1" dirty="0">
                <a:solidFill>
                  <a:srgbClr val="1B3B6F"/>
                </a:solidFill>
                <a:latin typeface="Amiri" pitchFamily="2" charset="-78"/>
                <a:cs typeface="Amiri" pitchFamily="2" charset="-78"/>
              </a:rPr>
              <a:t> كَافَحَتْ</a:t>
            </a:r>
            <a:endParaRPr lang="ar-SA" sz="1600" dirty="0"/>
          </a:p>
        </p:txBody>
      </p:sp>
      <p:sp>
        <p:nvSpPr>
          <p:cNvPr id="46" name="Text 43"/>
          <p:cNvSpPr txBox="1"/>
          <p:nvPr/>
        </p:nvSpPr>
        <p:spPr>
          <a:xfrm>
            <a:off x="4846320" y="5215738"/>
            <a:ext cx="20116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 كَافَحَتْ</a:t>
            </a:r>
            <a:endParaRPr lang="ar-SA" sz="1900" dirty="0"/>
          </a:p>
        </p:txBody>
      </p:sp>
      <p:sp>
        <p:nvSpPr>
          <p:cNvPr id="47" name="Text 44"/>
          <p:cNvSpPr txBox="1"/>
          <p:nvPr/>
        </p:nvSpPr>
        <p:spPr>
          <a:xfrm>
            <a:off x="3291840" y="5215738"/>
            <a:ext cx="13716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كَانَتِ</a:t>
            </a:r>
            <a:endParaRPr lang="ar-SA" sz="1900" dirty="0"/>
          </a:p>
        </p:txBody>
      </p:sp>
      <p:sp>
        <p:nvSpPr>
          <p:cNvPr id="48" name="Text 45"/>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no qad</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the past perfect needs qad between kānat and the past verb.</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THEN → NOW (WEBSITE RULES 1–3, TEACHING POINT 1, QUIZ 2 AND 8)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Then — as for today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أَمَّا … فَـ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THEN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كَانَتْ … قَدْ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كَانَتِ الأَجْيَالُ السَّابِقَةُ قَدْ كَافَحَتْ مِنْ أَجْلِ الاسْتِقْلَالِ.</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Earlier generations had struggled for independence.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perfect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NOW · DEVELOP</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أَمَّا … فَـ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أَمَّا شَبَابُ اليَوْمِ، فَيُكَافِحُ مِنْ أَجْلِ الشَّفَافِيَّةِ.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for today’s youth, they struggle for transparency.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ammā … fa- + present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REDEFINE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فَيُعِيدُ تَعْرِيفَ</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أَمَّا اليَوْمَ، فَيُعِيدُ الشَّبَابُ تَعْرِيفَ المُشَارَكَةِ المَدَنِيَّةِ.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Today, youth redefine civic participation.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fa- + yuʿīdu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2: after ammā, the second half opens with fa- and a PRESENT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أَمَّا شَبَابُ اليَوْمِ، فَيُكَافِحُ</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cs typeface="Amiri" pitchFamily="2" charset="-78"/>
              </a:rPr>
              <a:t>وَشَبَابُ اليَوْمِ كَافَحَ</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YUʿĪDU TAʿRĪFA + AN OBJECT (WEBSITE RULE 3, TEACHING POINT 2, MISTAKE 2 AND QUIZ 4)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Redefine: the object takes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يُعِيدُ 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1996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what is redefined</a:t>
            </a:r>
            <a:endParaRPr lang="en-US" sz="1100" dirty="0"/>
          </a:p>
        </p:txBody>
      </p:sp>
      <p:sp>
        <p:nvSpPr>
          <p:cNvPr id="18" name="Text 15"/>
          <p:cNvSpPr txBox="1"/>
          <p:nvPr/>
        </p:nvSpPr>
        <p:spPr>
          <a:xfrm>
            <a:off x="446227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Object (-a)</a:t>
            </a:r>
            <a:endParaRPr lang="en-US" sz="1100" dirty="0"/>
          </a:p>
        </p:txBody>
      </p:sp>
      <p:sp>
        <p:nvSpPr>
          <p:cNvPr id="19" name="Text 16"/>
          <p:cNvSpPr txBox="1"/>
          <p:nvPr/>
        </p:nvSpPr>
        <p:spPr>
          <a:xfrm>
            <a:off x="245059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20" name="Text 17"/>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861364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today’s youth redefine activism</a:t>
            </a:r>
            <a:endParaRPr lang="en-US" sz="1100" dirty="0"/>
          </a:p>
        </p:txBody>
      </p:sp>
      <p:sp>
        <p:nvSpPr>
          <p:cNvPr id="23" name="Text 20"/>
          <p:cNvSpPr txBox="1"/>
          <p:nvPr/>
        </p:nvSpPr>
        <p:spPr>
          <a:xfrm>
            <a:off x="6217920" y="2267712"/>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النَّاشِطِيَّةِ</a:t>
            </a:r>
            <a:endParaRPr lang="ar-SA" sz="1800" dirty="0"/>
          </a:p>
        </p:txBody>
      </p:sp>
      <p:sp>
        <p:nvSpPr>
          <p:cNvPr id="24" name="Text 21"/>
          <p:cNvSpPr txBox="1"/>
          <p:nvPr/>
        </p:nvSpPr>
        <p:spPr>
          <a:xfrm>
            <a:off x="4480560" y="2267712"/>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تَعْرِيفَ</a:t>
            </a:r>
            <a:endParaRPr lang="ar-SA" sz="1900" dirty="0"/>
          </a:p>
        </p:txBody>
      </p:sp>
      <p:sp>
        <p:nvSpPr>
          <p:cNvPr id="25" name="Text 22"/>
          <p:cNvSpPr txBox="1"/>
          <p:nvPr/>
        </p:nvSpPr>
        <p:spPr>
          <a:xfrm>
            <a:off x="2468880" y="2267712"/>
            <a:ext cx="1828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شَبَابُ اليَوْمِ</a:t>
            </a:r>
            <a:endParaRPr lang="ar-SA" sz="1800" dirty="0"/>
          </a:p>
        </p:txBody>
      </p:sp>
      <p:sp>
        <p:nvSpPr>
          <p:cNvPr id="26" name="Text 23"/>
          <p:cNvSpPr txBox="1"/>
          <p:nvPr/>
        </p:nvSpPr>
        <p:spPr>
          <a:xfrm>
            <a:off x="548640" y="2267712"/>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يُعِيدُ</a:t>
            </a:r>
            <a:endParaRPr lang="ar-SA" sz="19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861364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youth redefine civic participation</a:t>
            </a:r>
            <a:endParaRPr lang="en-US" sz="1100" dirty="0"/>
          </a:p>
        </p:txBody>
      </p:sp>
      <p:sp>
        <p:nvSpPr>
          <p:cNvPr id="31" name="Text 28"/>
          <p:cNvSpPr txBox="1"/>
          <p:nvPr/>
        </p:nvSpPr>
        <p:spPr>
          <a:xfrm>
            <a:off x="6217920" y="3004718"/>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المُشَارَكَةِ المَدَنِيَّةِ</a:t>
            </a:r>
            <a:endParaRPr lang="ar-SA" sz="1800" dirty="0"/>
          </a:p>
        </p:txBody>
      </p:sp>
      <p:sp>
        <p:nvSpPr>
          <p:cNvPr id="32" name="Text 29"/>
          <p:cNvSpPr txBox="1"/>
          <p:nvPr/>
        </p:nvSpPr>
        <p:spPr>
          <a:xfrm>
            <a:off x="4480560" y="3004718"/>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تَعْرِيفَ</a:t>
            </a:r>
            <a:endParaRPr lang="ar-SA" sz="1900" dirty="0"/>
          </a:p>
        </p:txBody>
      </p:sp>
      <p:sp>
        <p:nvSpPr>
          <p:cNvPr id="33" name="Text 30"/>
          <p:cNvSpPr txBox="1"/>
          <p:nvPr/>
        </p:nvSpPr>
        <p:spPr>
          <a:xfrm>
            <a:off x="2468880" y="3004718"/>
            <a:ext cx="1828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الشَّبَابُ</a:t>
            </a:r>
            <a:endParaRPr lang="ar-SA" sz="1800" dirty="0"/>
          </a:p>
        </p:txBody>
      </p:sp>
      <p:sp>
        <p:nvSpPr>
          <p:cNvPr id="34" name="Text 31"/>
          <p:cNvSpPr txBox="1"/>
          <p:nvPr/>
        </p:nvSpPr>
        <p:spPr>
          <a:xfrm>
            <a:off x="548640" y="3004718"/>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يُعِيدُ</a:t>
            </a:r>
            <a:endParaRPr lang="ar-SA" sz="19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861364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 society (should) redefine youth’s role</a:t>
            </a:r>
            <a:endParaRPr lang="en-US" sz="1100" dirty="0"/>
          </a:p>
        </p:txBody>
      </p:sp>
      <p:sp>
        <p:nvSpPr>
          <p:cNvPr id="39" name="Text 36"/>
          <p:cNvSpPr txBox="1"/>
          <p:nvPr/>
        </p:nvSpPr>
        <p:spPr>
          <a:xfrm>
            <a:off x="6217920" y="3741725"/>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دَوْرِ الشَّبَابِ</a:t>
            </a:r>
            <a:endParaRPr lang="ar-SA" sz="1800" dirty="0"/>
          </a:p>
        </p:txBody>
      </p:sp>
      <p:sp>
        <p:nvSpPr>
          <p:cNvPr id="40" name="Text 37"/>
          <p:cNvSpPr txBox="1"/>
          <p:nvPr/>
        </p:nvSpPr>
        <p:spPr>
          <a:xfrm>
            <a:off x="4480560" y="3741725"/>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تَعْرِيفَ</a:t>
            </a:r>
            <a:endParaRPr lang="ar-SA" sz="1900" dirty="0"/>
          </a:p>
        </p:txBody>
      </p:sp>
      <p:sp>
        <p:nvSpPr>
          <p:cNvPr id="41" name="Text 38"/>
          <p:cNvSpPr txBox="1"/>
          <p:nvPr/>
        </p:nvSpPr>
        <p:spPr>
          <a:xfrm>
            <a:off x="2468880" y="3741725"/>
            <a:ext cx="1828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المُجْتَمَعُ</a:t>
            </a:r>
            <a:endParaRPr lang="ar-SA" sz="1800" dirty="0"/>
          </a:p>
        </p:txBody>
      </p:sp>
      <p:sp>
        <p:nvSpPr>
          <p:cNvPr id="42" name="Text 39"/>
          <p:cNvSpPr txBox="1"/>
          <p:nvPr/>
        </p:nvSpPr>
        <p:spPr>
          <a:xfrm>
            <a:off x="548640" y="3741725"/>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أَنْ </a:t>
            </a:r>
            <a:pPr rtl="1" algn="ctr" indent="0" marL="0">
              <a:buNone/>
            </a:pPr>
            <a:r>
              <a:rPr lang="ar-SA" altLang="en-US" sz="1900" b="1" dirty="0">
                <a:solidFill>
                  <a:srgbClr val="0E7C86"/>
                </a:solidFill>
                <a:latin typeface="Amiri" pitchFamily="2" charset="-78"/>
                <a:cs typeface="Amiri" pitchFamily="2" charset="-78"/>
              </a:rPr>
              <a:t>يُعِيدَ</a:t>
            </a:r>
            <a:endParaRPr lang="ar-SA" sz="19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861364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 reshapes the job market (P5-L04)</a:t>
            </a:r>
            <a:endParaRPr lang="en-US" sz="1100" dirty="0"/>
          </a:p>
        </p:txBody>
      </p:sp>
      <p:sp>
        <p:nvSpPr>
          <p:cNvPr id="45" name="Text 42"/>
          <p:cNvSpPr txBox="1"/>
          <p:nvPr/>
        </p:nvSpPr>
        <p:spPr>
          <a:xfrm>
            <a:off x="6217920" y="4478731"/>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سُوقِ العَمَلِ</a:t>
            </a:r>
            <a:endParaRPr lang="ar-SA" sz="1800" dirty="0"/>
          </a:p>
        </p:txBody>
      </p:sp>
      <p:sp>
        <p:nvSpPr>
          <p:cNvPr id="46" name="Text 43"/>
          <p:cNvSpPr txBox="1"/>
          <p:nvPr/>
        </p:nvSpPr>
        <p:spPr>
          <a:xfrm>
            <a:off x="4480560" y="4478731"/>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تَشْكِيلَ</a:t>
            </a:r>
            <a:endParaRPr lang="ar-SA" sz="1900" dirty="0"/>
          </a:p>
        </p:txBody>
      </p:sp>
      <p:sp>
        <p:nvSpPr>
          <p:cNvPr id="47" name="Text 44"/>
          <p:cNvSpPr txBox="1"/>
          <p:nvPr/>
        </p:nvSpPr>
        <p:spPr>
          <a:xfrm>
            <a:off x="2468880" y="4478731"/>
            <a:ext cx="1828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الذَّكَاءُ الاصْطِنَاعِيُّ</a:t>
            </a:r>
            <a:endParaRPr lang="ar-SA" sz="1800" dirty="0"/>
          </a:p>
        </p:txBody>
      </p:sp>
      <p:sp>
        <p:nvSpPr>
          <p:cNvPr id="48" name="Text 45"/>
          <p:cNvSpPr txBox="1"/>
          <p:nvPr/>
        </p:nvSpPr>
        <p:spPr>
          <a:xfrm>
            <a:off x="548640" y="4478731"/>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يُعِيدُ</a:t>
            </a:r>
            <a:endParaRPr lang="ar-SA" sz="19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861364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taʿrīfa (object, -a)</a:t>
            </a:r>
            <a:endParaRPr lang="en-US" sz="1100" dirty="0"/>
          </a:p>
        </p:txBody>
      </p:sp>
      <p:sp>
        <p:nvSpPr>
          <p:cNvPr id="51" name="Text 48"/>
          <p:cNvSpPr txBox="1"/>
          <p:nvPr/>
        </p:nvSpPr>
        <p:spPr>
          <a:xfrm>
            <a:off x="6217920" y="5215738"/>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النَّاشِطِيَّةِ</a:t>
            </a:r>
            <a:endParaRPr lang="ar-SA" sz="1800" dirty="0"/>
          </a:p>
        </p:txBody>
      </p:sp>
      <p:sp>
        <p:nvSpPr>
          <p:cNvPr id="52" name="Text 49"/>
          <p:cNvSpPr txBox="1"/>
          <p:nvPr/>
        </p:nvSpPr>
        <p:spPr>
          <a:xfrm>
            <a:off x="4480560" y="5215738"/>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 تَعْرِيفُ</a:t>
            </a:r>
            <a:endParaRPr lang="ar-SA" sz="1900" dirty="0"/>
          </a:p>
        </p:txBody>
      </p:sp>
      <p:sp>
        <p:nvSpPr>
          <p:cNvPr id="53" name="Text 50"/>
          <p:cNvSpPr txBox="1"/>
          <p:nvPr/>
        </p:nvSpPr>
        <p:spPr>
          <a:xfrm>
            <a:off x="2468880" y="5215738"/>
            <a:ext cx="1828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الشَّبَابُ</a:t>
            </a:r>
            <a:endParaRPr lang="ar-SA" sz="1800" dirty="0"/>
          </a:p>
        </p:txBody>
      </p:sp>
      <p:sp>
        <p:nvSpPr>
          <p:cNvPr id="54" name="Text 51"/>
          <p:cNvSpPr txBox="1"/>
          <p:nvPr/>
        </p:nvSpPr>
        <p:spPr>
          <a:xfrm>
            <a:off x="548640" y="5215738"/>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 يُعِيدُ</a:t>
            </a:r>
            <a:endParaRPr lang="ar-SA" sz="19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yuʿīdu … taʿrīfu ✗ → taʿrīfa ✓. The noun after taʿrīfa is genitive (-i): an iḍāfa.</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YOUTH FUTURES (WEBSITE RULE 4, MISTAKE 3, LISTENING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statistics to futures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مُسْتَقْبَلُ الشَّبَابِ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a:t>
            </a:r>
            <a:endParaRPr lang="en-US" sz="1100" dirty="0"/>
          </a:p>
        </p:txBody>
      </p:sp>
      <p:sp>
        <p:nvSpPr>
          <p:cNvPr id="17" name="Text 14"/>
          <p:cNvSpPr txBox="1"/>
          <p:nvPr/>
        </p:nvSpPr>
        <p:spPr>
          <a:xfrm>
            <a:off x="263347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619488" y="2267712"/>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tushīru ilā anna</a:t>
            </a:r>
            <a:endParaRPr lang="en-US" sz="1100" dirty="0"/>
          </a:p>
        </p:txBody>
      </p:sp>
      <p:sp>
        <p:nvSpPr>
          <p:cNvPr id="21" name="Text 18"/>
          <p:cNvSpPr txBox="1"/>
          <p:nvPr/>
        </p:nvSpPr>
        <p:spPr>
          <a:xfrm>
            <a:off x="2651760" y="2267712"/>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تُشِيرُ</a:t>
            </a:r>
            <a:pPr rtl="1" algn="ctr" indent="0" marL="0">
              <a:buNone/>
            </a:pPr>
            <a:r>
              <a:rPr lang="ar-SA" altLang="en-US" sz="1700" b="1" dirty="0">
                <a:solidFill>
                  <a:srgbClr val="1B3B6F"/>
                </a:solidFill>
                <a:latin typeface="Amiri" pitchFamily="2" charset="-78"/>
                <a:cs typeface="Amiri" pitchFamily="2" charset="-78"/>
              </a:rPr>
              <a:t> الإِحْصَاءَاتُ </a:t>
            </a:r>
            <a:pPr rtl="1" algn="ctr" indent="0" marL="0">
              <a:buNone/>
            </a:pPr>
            <a:r>
              <a:rPr lang="ar-SA" altLang="en-US" sz="1700" b="1" dirty="0">
                <a:solidFill>
                  <a:srgbClr val="C77700"/>
                </a:solidFill>
                <a:latin typeface="Amiri" pitchFamily="2" charset="-78"/>
                <a:cs typeface="Amiri" pitchFamily="2" charset="-78"/>
              </a:rPr>
              <a:t>إِلَى أَنَّ</a:t>
            </a:r>
            <a:pPr rtl="1" algn="ctr" indent="0" marL="0">
              <a:buNone/>
            </a:pPr>
            <a:r>
              <a:rPr lang="ar-SA" altLang="en-US" sz="1700" b="1" dirty="0">
                <a:solidFill>
                  <a:srgbClr val="1B3B6F"/>
                </a:solidFill>
                <a:latin typeface="Amiri" pitchFamily="2" charset="-78"/>
                <a:cs typeface="Amiri" pitchFamily="2" charset="-78"/>
              </a:rPr>
              <a:t> سِتِّينَ بِالمِئَةِ مِنْ سُكَّانِ العَالَمِ العَرَبِيِّ دُونَ الثَّلَاثِينَ</a:t>
            </a:r>
            <a:endParaRPr lang="ar-SA" sz="17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statistics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619488" y="3004718"/>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27" name="Text 24"/>
          <p:cNvSpPr txBox="1"/>
          <p:nvPr/>
        </p:nvSpPr>
        <p:spPr>
          <a:xfrm>
            <a:off x="2651760" y="3004718"/>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cs typeface="Amiri" pitchFamily="2" charset="-78"/>
              </a:rPr>
              <a:t>إِذَا</a:t>
            </a:r>
            <a:pPr rtl="1" algn="ctr" indent="0" marL="0">
              <a:buNone/>
            </a:pPr>
            <a:r>
              <a:rPr lang="ar-SA" altLang="en-US" sz="1700" b="1" dirty="0">
                <a:solidFill>
                  <a:srgbClr val="1B3B6F"/>
                </a:solidFill>
                <a:latin typeface="Amiri" pitchFamily="2" charset="-78"/>
                <a:cs typeface="Amiri" pitchFamily="2" charset="-78"/>
              </a:rPr>
              <a:t> أَتَاحَتِ الحُكُومَاتُ فُرَصَ المُشَارَكَةِ، </a:t>
            </a:r>
            <a:pPr rtl="1" algn="ctr" indent="0" marL="0">
              <a:buNone/>
            </a:pPr>
            <a:r>
              <a:rPr lang="ar-SA" altLang="en-US" sz="1700" b="1" dirty="0">
                <a:solidFill>
                  <a:srgbClr val="0E7C86"/>
                </a:solidFill>
                <a:latin typeface="Amiri" pitchFamily="2" charset="-78"/>
                <a:cs typeface="Amiri" pitchFamily="2" charset="-78"/>
              </a:rPr>
              <a:t>سَتَكْتَسِبُ</a:t>
            </a:r>
            <a:pPr rtl="1" algn="ctr" indent="0" marL="0">
              <a:buNone/>
            </a:pPr>
            <a:r>
              <a:rPr lang="ar-SA" altLang="en-US" sz="1700" b="1" dirty="0">
                <a:solidFill>
                  <a:srgbClr val="1B3B6F"/>
                </a:solidFill>
                <a:latin typeface="Amiri" pitchFamily="2" charset="-78"/>
                <a:cs typeface="Amiri" pitchFamily="2" charset="-78"/>
              </a:rPr>
              <a:t> شَرْعِيَّةً أَوْسَعَ</a:t>
            </a:r>
            <a:endParaRPr lang="ar-SA" sz="17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619488" y="3741725"/>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a:t>
            </a:r>
            <a:endParaRPr lang="en-US" sz="1100" dirty="0"/>
          </a:p>
        </p:txBody>
      </p:sp>
      <p:sp>
        <p:nvSpPr>
          <p:cNvPr id="31" name="Text 28"/>
          <p:cNvSpPr txBox="1"/>
          <p:nvPr/>
        </p:nvSpPr>
        <p:spPr>
          <a:xfrm>
            <a:off x="2651760" y="3741725"/>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لَوْ</a:t>
            </a:r>
            <a:pPr rtl="1" algn="ctr" indent="0" marL="0">
              <a:buNone/>
            </a:pPr>
            <a:r>
              <a:rPr lang="ar-SA" altLang="en-US" sz="1700" b="1" dirty="0">
                <a:solidFill>
                  <a:srgbClr val="1B3B6F"/>
                </a:solidFill>
                <a:latin typeface="Amiri" pitchFamily="2" charset="-78"/>
                <a:cs typeface="Amiri" pitchFamily="2" charset="-78"/>
              </a:rPr>
              <a:t> كَانَتِ البَطَالَةُ أَقَلَّ، </a:t>
            </a:r>
            <a:pPr rtl="1" algn="ctr" indent="0" marL="0">
              <a:buNone/>
            </a:pPr>
            <a:r>
              <a:rPr lang="ar-SA" altLang="en-US" sz="1700" b="1" dirty="0">
                <a:solidFill>
                  <a:srgbClr val="7B3FA0"/>
                </a:solidFill>
                <a:latin typeface="Amiri" pitchFamily="2" charset="-78"/>
                <a:cs typeface="Amiri" pitchFamily="2" charset="-78"/>
              </a:rPr>
              <a:t>لَتَرَاجَعَتْ</a:t>
            </a:r>
            <a:pPr rtl="1" algn="ctr" indent="0" marL="0">
              <a:buNone/>
            </a:pPr>
            <a:r>
              <a:rPr lang="ar-SA" altLang="en-US" sz="1700" b="1" dirty="0">
                <a:solidFill>
                  <a:srgbClr val="1B3B6F"/>
                </a:solidFill>
                <a:latin typeface="Amiri" pitchFamily="2" charset="-78"/>
                <a:cs typeface="Amiri" pitchFamily="2" charset="-78"/>
              </a:rPr>
              <a:t> مَوْجَاتُ الهِجْرَةِ</a:t>
            </a:r>
            <a:endParaRPr lang="ar-SA" sz="1700" dirty="0"/>
          </a:p>
        </p:txBody>
      </p:sp>
      <p:sp>
        <p:nvSpPr>
          <p:cNvPr id="32" name="Text 29"/>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619488" y="4478731"/>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yabqā + -an</a:t>
            </a:r>
            <a:endParaRPr lang="en-US" sz="1100" dirty="0"/>
          </a:p>
        </p:txBody>
      </p:sp>
      <p:sp>
        <p:nvSpPr>
          <p:cNvPr id="37" name="Text 34"/>
          <p:cNvSpPr txBox="1"/>
          <p:nvPr/>
        </p:nvSpPr>
        <p:spPr>
          <a:xfrm>
            <a:off x="2651760" y="4478731"/>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cs typeface="Amiri" pitchFamily="2" charset="-78"/>
              </a:rPr>
              <a:t>، يَبْقَى تَمْكِينُ الشَّبَابِ شَرْطًا أَسَاسِيًّا</a:t>
            </a:r>
            <a:endParaRPr lang="ar-SA" sz="1700" dirty="0"/>
          </a:p>
        </p:txBody>
      </p:sp>
      <p:sp>
        <p:nvSpPr>
          <p:cNvPr id="38" name="Text 35"/>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619488" y="5215738"/>
            <a:ext cx="20391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li-kay + -a</a:t>
            </a:r>
            <a:endParaRPr lang="en-US" sz="1100" dirty="0"/>
          </a:p>
        </p:txBody>
      </p:sp>
      <p:sp>
        <p:nvSpPr>
          <p:cNvPr id="41" name="Text 38"/>
          <p:cNvSpPr txBox="1"/>
          <p:nvPr/>
        </p:nvSpPr>
        <p:spPr>
          <a:xfrm>
            <a:off x="2651760" y="5215738"/>
            <a:ext cx="67665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 الضَّرُورِيِّ أَنْ يُعِيدَ المُجْتَمَعُ تَعْرِيفَ دَوْرِ الشَّبَابِ </a:t>
            </a:r>
            <a:pPr rtl="1" algn="ctr" indent="0" marL="0">
              <a:buNone/>
            </a:pPr>
            <a:r>
              <a:rPr lang="ar-SA" altLang="en-US" sz="1700" b="1" dirty="0">
                <a:solidFill>
                  <a:srgbClr val="1D5FBF"/>
                </a:solidFill>
                <a:latin typeface="Amiri" pitchFamily="2" charset="-78"/>
                <a:cs typeface="Amiri" pitchFamily="2" charset="-78"/>
              </a:rPr>
              <a:t>لِكَيْ</a:t>
            </a:r>
            <a:pPr rtl="1" algn="ctr" indent="0" marL="0">
              <a:buNone/>
            </a:pPr>
            <a:r>
              <a:rPr lang="ar-SA" altLang="en-US" sz="1700" b="1" dirty="0">
                <a:solidFill>
                  <a:srgbClr val="1B3B6F"/>
                </a:solidFill>
                <a:latin typeface="Amiri" pitchFamily="2" charset="-78"/>
                <a:cs typeface="Amiri" pitchFamily="2" charset="-78"/>
              </a:rPr>
              <a:t> يُسْهِمَ فِي صِيَاغَةِ مُسْتَقْبَلِهِ</a:t>
            </a:r>
            <a:endParaRPr lang="ar-SA" sz="1700" dirty="0"/>
          </a:p>
        </p:txBody>
      </p:sp>
      <p:sp>
        <p:nvSpPr>
          <p:cNvPr id="42" name="Text 39"/>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purpose</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law … sa-tarājaʿat ✗ → la-tarājaʿat ✓ — a Type 2 result takes la-.</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intergenerational past perfect</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المَاضِي التَّامُّ بَيْنَ الأَجْيَالِ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Earlier generation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kānati l-ajyālu … qad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كَانَتِ الأَجْيَالُ السَّابِقَةُ قَدْ كَافَحَتْ مِنْ أَجْلِ الاسْتِقْلَالِ</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Today’s reality</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ammā … fa- + present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أَمَّا شَبَابُ اليَوْمِ، فَيُكَافِحُ مِنْ أَجْلِ الشَّفَافِيَّةِ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Redefine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yuʿīdu taʿrīfa +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يُعِيدُ شَبَابُ اليَوْمِ تَعْرِيفَ النَّاشِطِيَّةِ الاجْتِمَاعِيَّةِ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Youth futures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كَانَتِ البَطَالَةُ أَقَلَّ، لَتَرَاجَعَتِ الهِجْرَةُ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gives an argument historical depth?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تُكَافِحُ الأَجْيَالُ اليَوْمَ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سَتُكَافِحُ الأَجْيَالُ غَدًا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الأَجْيَالُ السَّابِقَةُ قَدْ كَافَحَتْ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contrast today's generation?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شَبَابُ اليَوْمِ، فَيُكَافِحُ …</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وَشَبَابُ اليَوْمِ كَافَحَ …</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كَافَحَ شَبَابُ اليَوْمِ …</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“redefines”?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يَعْرِفُ</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 تَعْرِيفَ</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يُعَرِّفُ عَنْ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case is the object of </a:t>
            </a:r>
            <a:pPr algn="l" indent="0" marL="0">
              <a:buNone/>
            </a:pPr>
            <a:r>
              <a:rPr lang="ar-SA" altLang="en-US" sz="1650" b="1" dirty="0">
                <a:solidFill>
                  <a:srgbClr val="1B3B6F"/>
                </a:solidFill>
                <a:latin typeface="Amiri" pitchFamily="2" charset="-78"/>
                <a:cs typeface="Amiri" pitchFamily="2" charset="-78"/>
              </a:rPr>
              <a:t>يُعِيدُ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Accusative (fatḥa)</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Nominative (ḍamma)</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Genitive (kasra)</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gives an argument historical depth?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تُكَافِحُ الأَجْيَالُ اليَوْمَ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سَتُكَافِحُ الأَجْيَالُ غَدًا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الأَجْيَالُ السَّابِقَةُ قَدْ كَافَحَتْ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situates earlier generations.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contrast today's generation?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 شَبَابُ اليَوْمِ، فَيُكَافِحُ …</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وَشَبَابُ اليَوْمِ كَافَحَ …</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كَافَحَ شَبَابُ اليَوْمِ …</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 … فَـ</a:t>
            </a:r>
            <a:pPr algn="l" indent="0" marL="0">
              <a:buNone/>
            </a:pPr>
            <a:r>
              <a:rPr lang="en-US" sz="1050" i="1" dirty="0">
                <a:solidFill>
                  <a:srgbClr val="8A6D1E"/>
                </a:solidFill>
                <a:latin typeface="Calibri" pitchFamily="34" charset="0"/>
                <a:cs typeface="Amiri" pitchFamily="2" charset="-78"/>
              </a:rPr>
              <a:t> + present contrasts today's reality.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“redefines”?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يَعْرِفُ</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يُعِيدُ تَعْرِيفَ</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يُعَرِّفُ عَنْ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يُعِيدُ تَعْرِيفَ</a:t>
            </a:r>
            <a:pPr algn="l" indent="0" marL="0">
              <a:buNone/>
            </a:pPr>
            <a:r>
              <a:rPr lang="en-US" sz="1050" i="1" dirty="0">
                <a:solidFill>
                  <a:srgbClr val="8A6D1E"/>
                </a:solidFill>
                <a:latin typeface="Calibri" pitchFamily="34" charset="0"/>
                <a:cs typeface="Amiri" pitchFamily="2" charset="-78"/>
              </a:rPr>
              <a:t> means redefines.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case is the object of </a:t>
            </a:r>
            <a:pPr algn="l" indent="0" marL="0">
              <a:buNone/>
            </a:pPr>
            <a:r>
              <a:rPr lang="ar-SA" altLang="en-US" sz="1650" b="1" dirty="0">
                <a:solidFill>
                  <a:srgbClr val="1B3B6F"/>
                </a:solidFill>
                <a:latin typeface="Amiri" pitchFamily="2" charset="-78"/>
                <a:cs typeface="Amiri" pitchFamily="2" charset="-78"/>
              </a:rPr>
              <a:t>يُعِيدُ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Accusative (fatḥa)</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Nominative (ḍamma)</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Genitive (kasra)</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a:t>
            </a:r>
            <a:pPr algn="l" indent="0" marL="0">
              <a:buNone/>
            </a:pPr>
            <a:r>
              <a:rPr lang="ar-SA" altLang="en-US" sz="1350" dirty="0">
                <a:solidFill>
                  <a:srgbClr val="8A6D1E"/>
                </a:solidFill>
                <a:latin typeface="Amiri" pitchFamily="2" charset="-78"/>
                <a:cs typeface="Amiri" pitchFamily="2" charset="-78"/>
              </a:rPr>
              <a:t>تَعْرِيفَ</a:t>
            </a:r>
            <a:pPr algn="l" indent="0" marL="0">
              <a:buNone/>
            </a:pPr>
            <a:r>
              <a:rPr lang="en-US" sz="1050" i="1" dirty="0">
                <a:solidFill>
                  <a:srgbClr val="8A6D1E"/>
                </a:solidFill>
                <a:latin typeface="Calibri" pitchFamily="34" charset="0"/>
                <a:cs typeface="Amiri" pitchFamily="2" charset="-78"/>
              </a:rPr>
              <a:t> takes a fatḥa.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write a youth-empowerment analysis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Statistics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cs typeface="Amiri" pitchFamily="2" charset="-78"/>
              </a:rPr>
              <a:t>تُشِيرُ</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cs typeface="Amiri" pitchFamily="2" charset="-78"/>
              </a:rPr>
              <a:t>إِلَى أَنَّ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Evidence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D5FBF"/>
                </a:solidFill>
                <a:latin typeface="Amiri" pitchFamily="2" charset="-78"/>
                <a:cs typeface="Amiri" pitchFamily="2" charset="-78"/>
              </a:rPr>
              <a:t>كَانَتِ</a:t>
            </a:r>
            <a:pPr rtl="1" algn="ctr" indent="0" marL="0">
              <a:buNone/>
            </a:pPr>
            <a:r>
              <a:rPr lang="ar-SA" altLang="en-US" sz="2550" b="1" dirty="0">
                <a:solidFill>
                  <a:srgbClr val="1B3B6F"/>
                </a:solidFill>
                <a:latin typeface="Amiri" pitchFamily="2" charset="-78"/>
                <a:cs typeface="Amiri" pitchFamily="2" charset="-78"/>
              </a:rPr>
              <a:t> الأَجْيَالُ … </a:t>
            </a:r>
            <a:pPr rtl="1" algn="ctr" indent="0" marL="0">
              <a:buNone/>
            </a:pPr>
            <a:r>
              <a:rPr lang="ar-SA" altLang="en-US" sz="2550" b="1" dirty="0">
                <a:solidFill>
                  <a:srgbClr val="1D5FBF"/>
                </a:solidFill>
                <a:latin typeface="Amiri" pitchFamily="2" charset="-78"/>
                <a:cs typeface="Amiri" pitchFamily="2" charset="-78"/>
              </a:rPr>
              <a:t>قَدْ</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Now</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cs typeface="Amiri" pitchFamily="2" charset="-78"/>
              </a:rPr>
              <a:t>أَمَّا</a:t>
            </a:r>
            <a:pPr rtl="1" algn="ctr" indent="0" marL="0">
              <a:lnSpc>
                <a:spcPct val="120000"/>
              </a:lnSpc>
              <a:buNone/>
            </a:pPr>
            <a:r>
              <a:rPr lang="ar-SA" altLang="en-US" sz="2000" b="1" dirty="0">
                <a:solidFill>
                  <a:srgbClr val="1B3B6F"/>
                </a:solidFill>
                <a:latin typeface="Amiri" pitchFamily="2" charset="-78"/>
                <a:cs typeface="Amiri" pitchFamily="2" charset="-78"/>
              </a:rPr>
              <a:t> اليَوْمَ، </a:t>
            </a:r>
            <a:pPr rtl="1" algn="ctr" indent="0" marL="0">
              <a:lnSpc>
                <a:spcPct val="120000"/>
              </a:lnSpc>
              <a:buNone/>
            </a:pPr>
            <a:r>
              <a:rPr lang="ar-SA" altLang="en-US" sz="2000" b="1" dirty="0">
                <a:solidFill>
                  <a:srgbClr val="0E7C86"/>
                </a:solidFill>
                <a:latin typeface="Amiri" pitchFamily="2" charset="-78"/>
                <a:cs typeface="Amiri" pitchFamily="2" charset="-78"/>
              </a:rPr>
              <a:t>فَيُعِيدُ</a:t>
            </a:r>
            <a:pPr rtl="1" algn="ctr" indent="0" marL="0">
              <a:lnSpc>
                <a:spcPct val="120000"/>
              </a:lnSpc>
              <a:buNone/>
            </a:pPr>
            <a:r>
              <a:rPr lang="ar-SA" altLang="en-US" sz="2000" b="1" dirty="0">
                <a:solidFill>
                  <a:srgbClr val="1B3B6F"/>
                </a:solidFill>
                <a:latin typeface="Amiri" pitchFamily="2" charset="-78"/>
                <a:cs typeface="Amiri" pitchFamily="2" charset="-78"/>
              </a:rPr>
              <a:t> … </a:t>
            </a:r>
            <a:pPr rtl="1" algn="ctr" indent="0" marL="0">
              <a:lnSpc>
                <a:spcPct val="120000"/>
              </a:lnSpc>
              <a:buNone/>
            </a:pPr>
            <a:r>
              <a:rPr lang="ar-SA" altLang="en-US" sz="2000" b="1" dirty="0">
                <a:solidFill>
                  <a:srgbClr val="D6336C"/>
                </a:solidFill>
                <a:latin typeface="Amiri" pitchFamily="2" charset="-78"/>
                <a:cs typeface="Amiri" pitchFamily="2" charset="-78"/>
              </a:rPr>
              <a:t>تَعْرِيفَ</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in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7B3FA0"/>
                </a:solidFill>
                <a:latin typeface="Amiri" pitchFamily="2" charset="-78"/>
                <a:cs typeface="Amiri" pitchFamily="2" charset="-78"/>
              </a:rPr>
              <a:t>لَوْ</a:t>
            </a:r>
            <a:pPr rtl="1" algn="ctr" indent="0" marL="0">
              <a:lnSpc>
                <a:spcPct val="120000"/>
              </a:lnSpc>
              <a:buNone/>
            </a:pPr>
            <a:r>
              <a:rPr lang="ar-SA" altLang="en-US" sz="1900" b="1" dirty="0">
                <a:solidFill>
                  <a:srgbClr val="1B3B6F"/>
                </a:solidFill>
                <a:latin typeface="Amiri" pitchFamily="2" charset="-78"/>
                <a:cs typeface="Amiri" pitchFamily="2" charset="-78"/>
              </a:rPr>
              <a:t> … </a:t>
            </a:r>
            <a:pPr rtl="1" algn="ctr" indent="0" marL="0">
              <a:lnSpc>
                <a:spcPct val="120000"/>
              </a:lnSpc>
              <a:buNone/>
            </a:pPr>
            <a:r>
              <a:rPr lang="ar-SA" altLang="en-US" sz="1900" b="1" dirty="0">
                <a:solidFill>
                  <a:srgbClr val="7B3FA0"/>
                </a:solidFill>
                <a:latin typeface="Amiri" pitchFamily="2" charset="-78"/>
                <a:cs typeface="Amiri" pitchFamily="2" charset="-78"/>
              </a:rPr>
              <a:t>لَـ</a:t>
            </a:r>
            <a:pPr rtl="1" algn="ctr" indent="0" marL="0">
              <a:lnSpc>
                <a:spcPct val="120000"/>
              </a:lnSpc>
              <a:buNone/>
            </a:pPr>
            <a:r>
              <a:rPr lang="ar-SA" altLang="en-US" sz="1900" b="1" dirty="0">
                <a:solidFill>
                  <a:srgbClr val="1B3B6F"/>
                </a:solidFill>
                <a:latin typeface="Amiri" pitchFamily="2" charset="-78"/>
                <a:cs typeface="Amiri" pitchFamily="2" charset="-78"/>
              </a:rPr>
              <a:t> · </a:t>
            </a:r>
            <a:pPr rtl="1" algn="ctr" indent="0" marL="0">
              <a:lnSpc>
                <a:spcPct val="120000"/>
              </a:lnSpc>
              <a:buNone/>
            </a:pPr>
            <a:r>
              <a:rPr lang="ar-SA" altLang="en-US" sz="1900" b="1" dirty="0">
                <a:solidFill>
                  <a:srgbClr val="D6336C"/>
                </a:solidFill>
                <a:latin typeface="Amiri" pitchFamily="2" charset="-78"/>
                <a:cs typeface="Amiri" pitchFamily="2" charset="-78"/>
              </a:rPr>
              <a:t>وَبِنَاءً عَلَى مَا سَبَقَ</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Close.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STATISTICS</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THEN</a:t>
            </a:r>
            <a:endParaRPr lang="en-US" sz="800" dirty="0"/>
          </a:p>
        </p:txBody>
      </p:sp>
      <p:sp>
        <p:nvSpPr>
          <p:cNvPr id="49" name="Shape 45"/>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NOW</a:t>
            </a:r>
            <a:endParaRPr lang="en-US" sz="800" dirty="0"/>
          </a:p>
        </p:txBody>
      </p:sp>
      <p:sp>
        <p:nvSpPr>
          <p:cNvPr id="51" name="Shape 47"/>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REDEFINE / CLOSE</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cs typeface="Amiri" pitchFamily="2" charset="-78"/>
              </a:rPr>
              <a:t>تُشِيرُ</a:t>
            </a:r>
            <a:pPr rtl="1" algn="r" indent="0" marL="0">
              <a:lnSpc>
                <a:spcPct val="120000"/>
              </a:lnSpc>
              <a:buNone/>
            </a:pPr>
            <a:r>
              <a:rPr lang="ar-SA" altLang="en-US" sz="1400" b="1" dirty="0">
                <a:solidFill>
                  <a:srgbClr val="1B3B6F"/>
                </a:solidFill>
                <a:latin typeface="Amiri" pitchFamily="2" charset="-78"/>
                <a:cs typeface="Amiri" pitchFamily="2" charset="-78"/>
              </a:rPr>
              <a:t> الإِحْصَاءَاتُ </a:t>
            </a:r>
            <a:pPr rtl="1" algn="r" indent="0" marL="0">
              <a:lnSpc>
                <a:spcPct val="120000"/>
              </a:lnSpc>
              <a:buNone/>
            </a:pPr>
            <a:r>
              <a:rPr lang="ar-SA" altLang="en-US" sz="1400" b="1" dirty="0">
                <a:solidFill>
                  <a:srgbClr val="C77700"/>
                </a:solidFill>
                <a:latin typeface="Amiri" pitchFamily="2" charset="-78"/>
                <a:cs typeface="Amiri" pitchFamily="2" charset="-78"/>
              </a:rPr>
              <a:t>إِلَى أَنَّ</a:t>
            </a:r>
            <a:pPr rtl="1" algn="r" indent="0" marL="0">
              <a:lnSpc>
                <a:spcPct val="120000"/>
              </a:lnSpc>
              <a:buNone/>
            </a:pPr>
            <a:r>
              <a:rPr lang="ar-SA" altLang="en-US" sz="1400" b="1" dirty="0">
                <a:solidFill>
                  <a:srgbClr val="1B3B6F"/>
                </a:solidFill>
                <a:latin typeface="Amiri" pitchFamily="2" charset="-78"/>
                <a:cs typeface="Amiri" pitchFamily="2" charset="-78"/>
              </a:rPr>
              <a:t> سِتِّينَ بِالمِئَةِ مِنْ سُكَّانِ العَالَمِ العَرَبِيِّ دُونَ الثَّلَاثِينَ عَامًا. </a:t>
            </a:r>
            <a:pPr rtl="1" algn="r" indent="0" marL="0">
              <a:lnSpc>
                <a:spcPct val="120000"/>
              </a:lnSpc>
              <a:buNone/>
            </a:pPr>
            <a:r>
              <a:rPr lang="ar-SA" altLang="en-US" sz="1400" b="1" dirty="0">
                <a:solidFill>
                  <a:srgbClr val="1D5FBF"/>
                </a:solidFill>
                <a:latin typeface="Amiri" pitchFamily="2" charset="-78"/>
                <a:cs typeface="Amiri" pitchFamily="2" charset="-78"/>
              </a:rPr>
              <a:t>كَانَتِ</a:t>
            </a:r>
            <a:pPr rtl="1" algn="r" indent="0" marL="0">
              <a:lnSpc>
                <a:spcPct val="120000"/>
              </a:lnSpc>
              <a:buNone/>
            </a:pPr>
            <a:r>
              <a:rPr lang="ar-SA" altLang="en-US" sz="1400" b="1" dirty="0">
                <a:solidFill>
                  <a:srgbClr val="1B3B6F"/>
                </a:solidFill>
                <a:latin typeface="Amiri" pitchFamily="2" charset="-78"/>
                <a:cs typeface="Amiri" pitchFamily="2" charset="-78"/>
              </a:rPr>
              <a:t> الأَجْيَالُ السَّابِقَةُ </a:t>
            </a:r>
            <a:pPr rtl="1" algn="r" indent="0" marL="0">
              <a:lnSpc>
                <a:spcPct val="120000"/>
              </a:lnSpc>
              <a:buNone/>
            </a:pPr>
            <a:r>
              <a:rPr lang="ar-SA" altLang="en-US" sz="1400" b="1" dirty="0">
                <a:solidFill>
                  <a:srgbClr val="1D5FBF"/>
                </a:solidFill>
                <a:latin typeface="Amiri" pitchFamily="2" charset="-78"/>
                <a:cs typeface="Amiri" pitchFamily="2" charset="-78"/>
              </a:rPr>
              <a:t>قَدْ</a:t>
            </a:r>
            <a:pPr rtl="1" algn="r" indent="0" marL="0">
              <a:lnSpc>
                <a:spcPct val="120000"/>
              </a:lnSpc>
              <a:buNone/>
            </a:pPr>
            <a:r>
              <a:rPr lang="ar-SA" altLang="en-US" sz="1400" b="1" dirty="0">
                <a:solidFill>
                  <a:srgbClr val="1B3B6F"/>
                </a:solidFill>
                <a:latin typeface="Amiri" pitchFamily="2" charset="-78"/>
                <a:cs typeface="Amiri" pitchFamily="2" charset="-78"/>
              </a:rPr>
              <a:t> كَافَحَتْ مِنْ أَجْلِ الاسْتِقْلَالِ. </a:t>
            </a:r>
            <a:pPr rtl="1" algn="r" indent="0" marL="0">
              <a:lnSpc>
                <a:spcPct val="120000"/>
              </a:lnSpc>
              <a:buNone/>
            </a:pPr>
            <a:r>
              <a:rPr lang="ar-SA" altLang="en-US" sz="1400" b="1" dirty="0">
                <a:solidFill>
                  <a:srgbClr val="0E7C86"/>
                </a:solidFill>
                <a:latin typeface="Amiri" pitchFamily="2" charset="-78"/>
                <a:cs typeface="Amiri" pitchFamily="2" charset="-78"/>
              </a:rPr>
              <a:t>أَمَّا</a:t>
            </a:r>
            <a:pPr rtl="1" algn="r" indent="0" marL="0">
              <a:lnSpc>
                <a:spcPct val="120000"/>
              </a:lnSpc>
              <a:buNone/>
            </a:pPr>
            <a:r>
              <a:rPr lang="ar-SA" altLang="en-US" sz="1400" b="1" dirty="0">
                <a:solidFill>
                  <a:srgbClr val="1B3B6F"/>
                </a:solidFill>
                <a:latin typeface="Amiri" pitchFamily="2" charset="-78"/>
                <a:cs typeface="Amiri" pitchFamily="2" charset="-78"/>
              </a:rPr>
              <a:t> اليَوْمَ، </a:t>
            </a:r>
            <a:pPr rtl="1" algn="r" indent="0" marL="0">
              <a:lnSpc>
                <a:spcPct val="120000"/>
              </a:lnSpc>
              <a:buNone/>
            </a:pPr>
            <a:r>
              <a:rPr lang="ar-SA" altLang="en-US" sz="1400" b="1" dirty="0">
                <a:solidFill>
                  <a:srgbClr val="0E7C86"/>
                </a:solidFill>
                <a:latin typeface="Amiri" pitchFamily="2" charset="-78"/>
                <a:cs typeface="Amiri" pitchFamily="2" charset="-78"/>
              </a:rPr>
              <a:t>فَيُعِيدُ</a:t>
            </a:r>
            <a:pPr rtl="1" algn="r" indent="0" marL="0">
              <a:lnSpc>
                <a:spcPct val="120000"/>
              </a:lnSpc>
              <a:buNone/>
            </a:pPr>
            <a:r>
              <a:rPr lang="ar-SA" altLang="en-US" sz="1400" b="1" dirty="0">
                <a:solidFill>
                  <a:srgbClr val="1B3B6F"/>
                </a:solidFill>
                <a:latin typeface="Amiri" pitchFamily="2" charset="-78"/>
                <a:cs typeface="Amiri" pitchFamily="2" charset="-78"/>
              </a:rPr>
              <a:t> الشَّبَابُ </a:t>
            </a:r>
            <a:pPr rtl="1" algn="r" indent="0" marL="0">
              <a:lnSpc>
                <a:spcPct val="120000"/>
              </a:lnSpc>
              <a:buNone/>
            </a:pPr>
            <a:r>
              <a:rPr lang="ar-SA" altLang="en-US" sz="1400" b="1" dirty="0">
                <a:solidFill>
                  <a:srgbClr val="D6336C"/>
                </a:solidFill>
                <a:latin typeface="Amiri" pitchFamily="2" charset="-78"/>
                <a:cs typeface="Amiri" pitchFamily="2" charset="-78"/>
              </a:rPr>
              <a:t>تَعْرِيفَ</a:t>
            </a:r>
            <a:pPr rtl="1" algn="r" indent="0" marL="0">
              <a:lnSpc>
                <a:spcPct val="120000"/>
              </a:lnSpc>
              <a:buNone/>
            </a:pPr>
            <a:r>
              <a:rPr lang="ar-SA" altLang="en-US" sz="1400" b="1" dirty="0">
                <a:solidFill>
                  <a:srgbClr val="1B3B6F"/>
                </a:solidFill>
                <a:latin typeface="Amiri" pitchFamily="2" charset="-78"/>
                <a:cs typeface="Amiri" pitchFamily="2" charset="-78"/>
              </a:rPr>
              <a:t> النَّاشِطِيَّةِ عَبْرَ الوَسَائِطِ الرَّقْمِيَّةِ.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كَانَتِ البَطَالَةُ أَقَلَّ، </a:t>
            </a:r>
            <a:pPr rtl="1" algn="r" indent="0" marL="0">
              <a:lnSpc>
                <a:spcPct val="120000"/>
              </a:lnSpc>
              <a:buNone/>
            </a:pPr>
            <a:r>
              <a:rPr lang="ar-SA" altLang="en-US" sz="1400" b="1" dirty="0">
                <a:solidFill>
                  <a:srgbClr val="7B3FA0"/>
                </a:solidFill>
                <a:latin typeface="Amiri" pitchFamily="2" charset="-78"/>
                <a:cs typeface="Amiri" pitchFamily="2" charset="-78"/>
              </a:rPr>
              <a:t>لَتَرَاجَعَتْ</a:t>
            </a:r>
            <a:pPr rtl="1" algn="r" indent="0" marL="0">
              <a:lnSpc>
                <a:spcPct val="120000"/>
              </a:lnSpc>
              <a:buNone/>
            </a:pPr>
            <a:r>
              <a:rPr lang="ar-SA" altLang="en-US" sz="1400" b="1" dirty="0">
                <a:solidFill>
                  <a:srgbClr val="1B3B6F"/>
                </a:solidFill>
                <a:latin typeface="Amiri" pitchFamily="2" charset="-78"/>
                <a:cs typeface="Amiri" pitchFamily="2" charset="-78"/>
              </a:rPr>
              <a:t> مَوْجَاتُ الهِجْرَةِ. </a:t>
            </a:r>
            <a:pPr rtl="1" algn="r" indent="0" marL="0">
              <a:lnSpc>
                <a:spcPct val="120000"/>
              </a:lnSpc>
              <a:buNone/>
            </a:pPr>
            <a:r>
              <a:rPr lang="ar-SA" altLang="en-US" sz="1400" b="1" dirty="0">
                <a:solidFill>
                  <a:srgbClr val="D6336C"/>
                </a:solidFill>
                <a:latin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cs typeface="Amiri" pitchFamily="2" charset="-78"/>
              </a:rPr>
              <a:t>، يَبْقَى تَمْكِينُ الشَّبَابِ شَرْطًا أَسَاسِيًّا لِأَيِّ تَنْمِيَةٍ.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50" i="1" dirty="0">
                <a:solidFill>
                  <a:srgbClr val="5A6472"/>
                </a:solidFill>
                <a:latin typeface="Calibri" pitchFamily="34" charset="0"/>
                <a:cs typeface="Amiri" pitchFamily="2" charset="-78"/>
              </a:rPr>
              <a:t>Statistics indicate that sixty per cent of the Arab world’s population is under thirty. Earlier generations had struggled for independence. Today, however, young people are redefining activism through digital media. Had unemployment been lower, migration waves would have receded. Based on the above, empowering youth remains a basic condition for any development.</a:t>
            </a:r>
            <a:endParaRPr lang="en-US" sz="95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كَانَتِ الأَجْيَالُ السَّابِقَةُ قَدْ كَافَحَتْ مِنْ أَجْلِ الاسْتِقْلَالِ الوَطَنِيِّ</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earlier generations had struggled for national independence</a:t>
            </a:r>
            <a:endParaRPr lang="en-US" sz="1250" dirty="0"/>
          </a:p>
          <a:p>
            <a:pPr indent="0" marL="0">
              <a:buNone/>
            </a:pPr>
            <a:r>
              <a:rPr lang="en-US" sz="1050" i="1" dirty="0">
                <a:solidFill>
                  <a:srgbClr val="8A6D1E"/>
                </a:solidFill>
                <a:latin typeface="Calibri" pitchFamily="34" charset="0"/>
                <a:cs typeface="Amiri" pitchFamily="2" charset="-78"/>
              </a:rPr>
              <a:t>Intergenerational past perfect.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أَمَّا شَبَابُ اليَوْمِ، فَيُكَافِحُ مِنْ أَجْلِ الشَّفَافِيَّةِ وَالمُشَارَكَةِ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today’s youth, they struggle for transparency and participation</a:t>
            </a:r>
            <a:endParaRPr lang="en-US" sz="1250" dirty="0"/>
          </a:p>
          <a:p>
            <a:pPr indent="0" marL="0">
              <a:buNone/>
            </a:pPr>
            <a:r>
              <a:rPr lang="en-US" sz="1050" i="1" dirty="0">
                <a:solidFill>
                  <a:srgbClr val="8A6D1E"/>
                </a:solidFill>
                <a:latin typeface="Calibri" pitchFamily="34" charset="0"/>
                <a:cs typeface="Amiri" pitchFamily="2" charset="-78"/>
              </a:rPr>
              <a:t>Present-tense contrast.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يُعِيدُ شَبَابُ اليَوْمِ تَعْرِيفَ النَّاشِطِيَّةِ الاجْتِمَاعِيَّةِ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today’s youth are redefining social activism</a:t>
            </a:r>
            <a:endParaRPr lang="en-US" sz="1250" dirty="0"/>
          </a:p>
          <a:p>
            <a:pPr indent="0" marL="0">
              <a:buNone/>
            </a:pPr>
            <a:r>
              <a:rPr lang="en-US" sz="1050" i="1" dirty="0">
                <a:solidFill>
                  <a:srgbClr val="8A6D1E"/>
                </a:solidFill>
                <a:latin typeface="Calibri" pitchFamily="34" charset="0"/>
                <a:cs typeface="Amiri" pitchFamily="2" charset="-78"/>
              </a:rPr>
              <a:t>yuʿīdu taʿrīfa + object.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YOUTH AND SOCIETY — THE ARAB GENERATION'S CHALLENGES AND POWER”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Young lives: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الشَّبَابُ وَالمُجْتَمَعُ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ambition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unemployment</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youth initiatives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البَطَالَةُ تَحَدٍّ لِبَعْضِ الشَّبَابِ.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المُبَادَرَاتُ الشَّبَابِيَّةُ يُمْكِنُ أَنْ تُحْدِثَ تَغْيِيرًا.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لِلشَّبَابِ طُمُوحَاتٌ كَبِيرَةٌ.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الشَّبَابُ وَالمُجْتَمَعُ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ambition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لِلشَّبَابِ طُمُوحَاتٌ كَبِيرَةٌ.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Young people have big ambitions.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unemployment</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البَطَالَةُ تَحَدٍّ لِبَعْضِ الشَّبَابِ.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Unemployment is a challenge for some young people.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youth initiatives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المُبَادَرَاتُ الشَّبَابِيَّةُ يُمْكِنُ أَنْ تُحْدِثَ تَغْيِيرًا.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Youth initiatives can bring about change.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GENERATIONAL LINE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Then + now +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سَطْرًا عَبْرَ الأَجْيَالِ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Then (past perfect)</a:t>
            </a:r>
            <a:endParaRPr lang="en-US" sz="1100" dirty="0"/>
          </a:p>
        </p:txBody>
      </p:sp>
      <p:sp>
        <p:nvSpPr>
          <p:cNvPr id="17" name="Text 14"/>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Now (ammā … fa-)</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Future / conclusion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كَانَتِ الأَجْيَالُ السَّابِقَةُ قَدْ كَافَحَتْ مِنْ أَجْلِ الاسْتِقْلَالِ</a:t>
            </a:r>
            <a:endParaRPr lang="ar-SA" sz="1500" dirty="0"/>
          </a:p>
        </p:txBody>
      </p:sp>
      <p:sp>
        <p:nvSpPr>
          <p:cNvPr id="21" name="Text 18"/>
          <p:cNvSpPr txBox="1"/>
          <p:nvPr/>
        </p:nvSpPr>
        <p:spPr>
          <a:xfrm>
            <a:off x="432511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أَمَّا شَبَابُ اليَوْمِ، فَيُعِيدُ تَعْرِيفَ النَّاشِطِيَّةِ الاجْتِمَاعِيَّةِ</a:t>
            </a:r>
            <a:endParaRPr lang="ar-SA" sz="15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وَإِذَا أُتِيحَتْ لَهُمْ فُرَصُ المُشَارَكَةِ، سَيَصُوغُونَ مُسْتَقْبَلَهُمْ</a:t>
            </a:r>
            <a:endParaRPr lang="ar-SA" sz="15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كَانَ شَبَابُ العَقْدِ المَاضِي قَدْ أَطْلَقَ شَرَارَةَ الرَّبِيعِ العَرَبِيِّ</a:t>
            </a:r>
            <a:endParaRPr lang="ar-SA" sz="1400" dirty="0"/>
          </a:p>
        </p:txBody>
      </p:sp>
      <p:sp>
        <p:nvSpPr>
          <p:cNvPr id="27" name="Text 24"/>
          <p:cNvSpPr txBox="1"/>
          <p:nvPr/>
        </p:nvSpPr>
        <p:spPr>
          <a:xfrm>
            <a:off x="432511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أَمَّا اليَوْمَ، فَيَقُودُ الشَّبَابُ مَوْجَاتِ التَّغْيِيرِ الرَّقْمِيِّ</a:t>
            </a:r>
            <a:endParaRPr lang="ar-SA" sz="16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وَلَوْ كَانَتِ البَطَالَةُ أَقَلَّ، لَتَرَاجَعَتْ مَوْجَاتُ الهِجْرَةِ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كَانَتِ الأَجْيَالُ قَدْ وَاجَهَتْ تَحَدِّيَاتِ الاسْتِعْمَارِ وَالتَّنْمِيَةِ</a:t>
            </a:r>
            <a:endParaRPr lang="ar-SA" sz="1500" dirty="0"/>
          </a:p>
        </p:txBody>
      </p:sp>
      <p:sp>
        <p:nvSpPr>
          <p:cNvPr id="31" name="Text 28"/>
          <p:cNvSpPr txBox="1"/>
          <p:nvPr/>
        </p:nvSpPr>
        <p:spPr>
          <a:xfrm>
            <a:off x="432511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أَمَّا اليَوْمَ، فَيُسْهِمُ الشَّبَابُ فِي تَغْيِيرِ مُجْتَمَعَاتِهِمْ</a:t>
            </a:r>
            <a:endParaRPr lang="ar-SA" sz="160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وَبِنَاءً عَلَى مَا سَبَقَ، يَبْقَى تَمْكِينُ الشَّبَابِ شَرْطًا أَسَاسِيًّا</a:t>
            </a:r>
            <a:endParaRPr lang="ar-SA" sz="15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circle qad, the fa- after ammā, and the la- or sa- in your future.</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Earlier generation, today — or future?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كَانَتِ الأَجْيَالُ السَّابِقَةُ قَدْ كَافَحَتْ لِلاِسْتِقْلَالِ</a:t>
            </a:r>
            <a:endParaRPr lang="ar-SA" sz="12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كَانَ شَبَابُ السَّبْعِينِيَّاتِ قَدْ حَلِمَ بِالتَّحَرُّرِ</a:t>
            </a:r>
            <a:endParaRPr lang="ar-SA" sz="14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كَانَتِ الأَجْيَالُ قَدْ وَاجَهَتْ تَحَدِّيَاتِ التَّنْمِيَةِ</a:t>
            </a:r>
            <a:endParaRPr lang="ar-SA" sz="13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أَمَّا شَبَابُ اليَوْمِ، فَيُكَافِحُ مِنْ أَجْلِ الشَّفَافِيَّةِ</a:t>
            </a:r>
            <a:endParaRPr lang="ar-SA" sz="13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يُعِيدُ الشَّبَابُ تَعْرِيفَ النَّاشِطِيَّةِ الاجْتِمَاعِيَّةِ</a:t>
            </a:r>
            <a:endParaRPr lang="ar-SA" sz="13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يَقُودُ الشَّبَابُ اليَوْمَ مَوْجَاتِ التَّغْيِيرِ الرَّقْمِيِّ</a:t>
            </a:r>
            <a:endParaRPr lang="ar-SA" sz="13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150" b="1" dirty="0">
                <a:solidFill>
                  <a:srgbClr val="1B3B6F"/>
                </a:solidFill>
                <a:latin typeface="Amiri" pitchFamily="2" charset="-78"/>
                <a:cs typeface="Amiri" pitchFamily="2" charset="-78"/>
              </a:rPr>
              <a:t>إِذَا أَتَاحَتِ الحُكُومَاتُ الفُرَصَ، سَتَكْتَسِبُ شَرْعِيَّةً أَوْسَعَ</a:t>
            </a:r>
            <a:endParaRPr lang="ar-SA" sz="11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cs typeface="Amiri" pitchFamily="2" charset="-78"/>
              </a:rPr>
              <a:t>لَوْ كَانَتِ البَطَالَةُ أَقَلَّ، لَتَرَاجَعَتِ الهِجْرَةُ</a:t>
            </a:r>
            <a:endParaRPr lang="ar-SA" sz="14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إِذَا شَارَكَ الشَّبَابُ سِيَاسِيًّا، سَيَصُوغُونَ مُسْتَقْبَلَهُمْ</a:t>
            </a:r>
            <a:endParaRPr lang="ar-SA" sz="12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earlier generation (past perfect)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today (present)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(conditional)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earlier generation (past perfect)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كَانَتِ الأَجْيَالُ السَّابِقَةُ قَدْ كَافَحَتْ لِلاِسْتِقْلَالِ</a:t>
            </a:r>
            <a:endParaRPr lang="ar-SA" sz="16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 شَبَابُ السَّبْعِينِيَّاتِ قَدْ حَلِمَ بِالتَّحَرُّرِ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كَانَتِ الأَجْيَالُ قَدْ وَاجَهَتْ تَحَدِّيَاتِ التَّنْمِيَةِ</a:t>
            </a:r>
            <a:endParaRPr lang="ar-SA" sz="17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today (present)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أَمَّا شَبَابُ اليَوْمِ، فَيُكَافِحُ مِنْ أَجْلِ الشَّفَافِيَّةِ</a:t>
            </a:r>
            <a:endParaRPr lang="ar-SA" sz="165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يُعِيدُ الشَّبَابُ تَعْرِيفَ النَّاشِطِيَّةِ الاجْتِمَاعِيَّةِ</a:t>
            </a:r>
            <a:endParaRPr lang="ar-SA" sz="165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يَقُودُ الشَّبَابُ اليَوْمَ مَوْجَاتِ التَّغْيِيرِ الرَّقْمِيِّ</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(conditional)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إِذَا أَتَاحَتِ الحُكُومَاتُ الفُرَصَ، سَتَكْتَسِبُ شَرْعِيَّةً أَوْسَعَ</a:t>
            </a:r>
            <a:endParaRPr lang="ar-SA" sz="145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لَوْ كَانَتِ البَطَالَةُ أَقَلَّ، لَتَرَاجَعَتِ الهِجْرَةُ</a:t>
            </a:r>
            <a:endParaRPr lang="ar-SA" sz="175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إِذَا شَارَكَ الشَّبَابُ سِيَاسِيًّا، سَيَصُوغُونَ مُسْتَقْبَلَهُمْ</a:t>
            </a:r>
            <a:endParaRPr lang="ar-SA" sz="15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cs typeface="Amiri" pitchFamily="2" charset="-78"/>
              </a:rPr>
              <a:t>الأَجْيَالُ السَّابِقَةُ قَدْ كَافَحَتْ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إِذَا أَتَاحَتِ الحُكُومَاتُ الفُرَصَ، ___ شَرْعِيَّةً أَوْسَعَ.</a:t>
            </a:r>
            <a:endParaRPr lang="ar-SA" sz="12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لَاكْتَسَبَتْ</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سَتَكْتَسِبُ</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تَكْتَسِبُ</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لَوْ كَانَتِ البَطَالَةُ أَقَلَّ، ___ الهِجْرَةُ.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سَتَتَرَاجَعُ</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لَتَرَاجَعَتِ</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تَتَرَاجَعُ</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generational contrast?</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الأَجْيَالُ تُكَافِحُ دَائِمًا.</a:t>
            </a:r>
            <a:endParaRPr lang="ar-SA" sz="16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سَنُكَافِحُ فِي المُسْتَقْبَلِ.</a:t>
            </a:r>
            <a:endParaRPr lang="ar-SA" sz="16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كَانَتِ الأَجْيَالُ قَدْ كَافَحَتْ لِلاِسْتِقْلَالِ، أَمَّا اليَوْمَ فَنُكَافِحُ لِلشَّفَافِيَّةِ.</a:t>
            </a:r>
            <a:endParaRPr lang="ar-SA" sz="16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cs typeface="Amiri" pitchFamily="2" charset="-78"/>
              </a:rPr>
              <a:t>الأَجْيَالُ السَّابِقَةُ قَدْ كَافَحَتْ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سَـ</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uses </a:t>
            </a:r>
            <a:pPr algn="l" indent="0" marL="0">
              <a:buNone/>
            </a:pPr>
            <a:r>
              <a:rPr lang="ar-SA" altLang="en-US" sz="1350" dirty="0">
                <a:solidFill>
                  <a:srgbClr val="8A6D1E"/>
                </a:solidFill>
                <a:latin typeface="Amiri" pitchFamily="2" charset="-78"/>
                <a:cs typeface="Amiri" pitchFamily="2" charset="-78"/>
              </a:rPr>
              <a:t>كَانَتْ …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إِذَا أَتَاحَتِ الحُكُومَاتُ الفُرَصَ، ___ شَرْعِيَّةً أَوْسَعَ.</a:t>
            </a:r>
            <a:endParaRPr lang="ar-SA" sz="12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لَاكْتَسَبَتْ</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سَتَكْتَسِبُ</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تَكْتَسِبُ</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لَوْ كَانَتِ البَطَالَةُ أَقَلَّ، ___ الهِجْرَةُ.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سَتَتَرَاجَعُ</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لَتَرَاجَعَتِ</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تَتَرَاجَعُ</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generational contrast?</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الأَجْيَالُ تُكَافِحُ دَائِمًا.</a:t>
            </a:r>
            <a:endParaRPr lang="ar-SA" sz="16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سَنُكَافِحُ فِي المُسْتَقْبَلِ.</a:t>
            </a:r>
            <a:endParaRPr lang="ar-SA" sz="16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كَانَتِ الأَجْيَالُ قَدْ كَافَحَتْ لِلاِسْتِقْلَالِ، أَمَّا اليَوْمَ فَنُكَافِحُ لِلشَّفَافِيَّةِ.</a:t>
            </a:r>
            <a:endParaRPr lang="ar-SA" sz="16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perfect for the earlier generation, present for today.</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كَانَتِ الأَجْيَالُ السَّابِقَةُ كَافَحَتْ مِنْ أَجْلِ الاسْتِقْلَالِ.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kānat … kāfaḥat (no qad)?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يُعِيدُ الشَّبَابُ تَعْرِيفُ النَّاشِطِيَّةِ.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yuʿīdu … taʿrīfu?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كَانَتِ البَطَالَةُ أَقَلَّ، سَتَرَاجَعَتِ الهِجْرَةُ.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sa-tarājaʿat?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كَانَتِ الأَجْيَالُ السَّابِقَةُ كَافَحَتْ مِنْ أَجْلِ الاسْتِقْلَالِ.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كَانَتِ الأَجْيَالُ السَّابِقَةُ قَدْ كَافَحَتْ مِنْ أَجْلِ الاسْتِقْلَالِ.</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past perfect needs </a:t>
            </a:r>
            <a:pPr algn="l" indent="0" marL="0">
              <a:buNone/>
            </a:pPr>
            <a:r>
              <a:rPr lang="ar-SA" altLang="en-US" sz="1500" b="1" dirty="0">
                <a:solidFill>
                  <a:srgbClr val="1B3B6F"/>
                </a:solidFill>
                <a:latin typeface="Amiri" pitchFamily="2" charset="-78"/>
                <a:cs typeface="Amiri" pitchFamily="2" charset="-78"/>
              </a:rPr>
              <a:t>قَدْ</a:t>
            </a:r>
            <a:pPr algn="l" indent="0" marL="0">
              <a:buNone/>
            </a:pPr>
            <a:r>
              <a:rPr lang="en-US" sz="1150" b="1" dirty="0">
                <a:solidFill>
                  <a:srgbClr val="1B3B6F"/>
                </a:solidFill>
                <a:latin typeface="Calibri" pitchFamily="34" charset="0"/>
                <a:cs typeface="Amiri" pitchFamily="2" charset="-78"/>
              </a:rPr>
              <a:t> between </a:t>
            </a:r>
            <a:pPr algn="l" indent="0" marL="0">
              <a:buNone/>
            </a:pPr>
            <a:r>
              <a:rPr lang="ar-SA" altLang="en-US" sz="1500" b="1" dirty="0">
                <a:solidFill>
                  <a:srgbClr val="1B3B6F"/>
                </a:solidFill>
                <a:latin typeface="Amiri" pitchFamily="2" charset="-78"/>
                <a:cs typeface="Amiri" pitchFamily="2" charset="-78"/>
              </a:rPr>
              <a:t>كَانَتْ</a:t>
            </a:r>
            <a:pPr algn="l" indent="0" marL="0">
              <a:buNone/>
            </a:pPr>
            <a:r>
              <a:rPr lang="en-US" sz="1150" b="1" dirty="0">
                <a:solidFill>
                  <a:srgbClr val="1B3B6F"/>
                </a:solidFill>
                <a:latin typeface="Calibri" pitchFamily="34" charset="0"/>
                <a:cs typeface="Amiri" pitchFamily="2" charset="-78"/>
              </a:rPr>
              <a:t> and the past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يُعِيدُ الشَّبَابُ تَعْرِيفُ النَّاشِطِيَّةِ.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يُعِيدُ الشَّبَابُ تَعْرِيفَ النَّاشِطِيَّةِ.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تَعْرِيفَ</a:t>
            </a:r>
            <a:pPr algn="l" indent="0" marL="0">
              <a:buNone/>
            </a:pPr>
            <a:r>
              <a:rPr lang="en-US" sz="1150" b="1" dirty="0">
                <a:solidFill>
                  <a:srgbClr val="1B3B6F"/>
                </a:solidFill>
                <a:latin typeface="Calibri" pitchFamily="34" charset="0"/>
                <a:cs typeface="Amiri" pitchFamily="2" charset="-78"/>
              </a:rPr>
              <a:t> is the object of </a:t>
            </a:r>
            <a:pPr algn="l" indent="0" marL="0">
              <a:buNone/>
            </a:pPr>
            <a:r>
              <a:rPr lang="ar-SA" altLang="en-US" sz="1500" b="1" dirty="0">
                <a:solidFill>
                  <a:srgbClr val="1B3B6F"/>
                </a:solidFill>
                <a:latin typeface="Amiri" pitchFamily="2" charset="-78"/>
                <a:cs typeface="Amiri" pitchFamily="2" charset="-78"/>
              </a:rPr>
              <a:t>يُعِيدُ</a:t>
            </a:r>
            <a:pPr algn="l" indent="0" marL="0">
              <a:buNone/>
            </a:pPr>
            <a:r>
              <a:rPr lang="en-US" sz="1150" b="1" dirty="0">
                <a:solidFill>
                  <a:srgbClr val="1B3B6F"/>
                </a:solidFill>
                <a:latin typeface="Calibri" pitchFamily="34" charset="0"/>
                <a:cs typeface="Amiri" pitchFamily="2" charset="-78"/>
              </a:rPr>
              <a:t>, so it takes a fatḥa.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لَوْ كَانَتِ البَطَالَةُ أَقَلَّ، سَتَرَاجَعَتِ الهِجْرَةُ.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لَوْ كَانَتِ البَطَالَةُ أَقَلَّ، لَتَرَاجَعَتِ الهِجْرَةُ.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the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prefix, not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Listening: a development analyst on Arab youth</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proportion of the Arab world is under 30?</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Sixty per cent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Sixteen per cent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 per cent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earlier generations done (past perfect)?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Ignored politics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 the region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Struggled for national independence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today's youth do differently (</a:t>
            </a:r>
            <a:pPr algn="l" indent="0" marL="0">
              <a:buNone/>
            </a:pPr>
            <a:r>
              <a:rPr lang="ar-SA" altLang="en-US" sz="1650" b="1" dirty="0">
                <a:solidFill>
                  <a:srgbClr val="1B3B6F"/>
                </a:solidFill>
                <a:latin typeface="Amiri" pitchFamily="2" charset="-78"/>
                <a:cs typeface="Amiri" pitchFamily="2" charset="-78"/>
              </a:rPr>
              <a:t>يُعِيدُ تَعْرِيفَ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Rejects all activism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Repeats the past exactly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Redefines activism through digital media</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unemployment been lower, migration waves would have receded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Unemployment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Migration cannot fall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analyst conclude?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Youth empowerment is unnecessary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Youth empowerment remains a basic condition for any development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Development needs no youth</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kānat … qad · ammā … fa-yuʿīdu taʿrīfa · law … la-.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يَقُولُ المُحَلِّلُ: تُشِيرُ الإِحْصَاءَاتُ إِلَى أَنَّ سِتِّينَ بِالمِئَةِ مِنْ سُكَّانِ العَالَمِ العَرَبِيِّ دُونَ الثَّلَاثِينَ عَامًا.</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analyst says: statistics indicate that sixty per cent of the Arab world’s population is under thirty.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وَأَكَّدَ تَقْرِيرُ التَّنْمِيَةِ البَشَرِيَّةِ أَنَّ الشَّبَابَ يَمْلِكُونَ طَاقَاتٍ إِبْدَاعِيَّةً هَائِلَةً.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Human Development Report confirmed that young people possess enormous creative energies.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كَانَتِ الأَجْيَالُ السَّابِقَةُ قَدْ كَافَحَتْ مِنْ أَجْلِ الاسْتِقْلَالِ الوَطَنِيِّ، وَكَانَ شَبَابُ العَقْدِ المَاضِي قَدْ أَطْلَقَ شَرَارَةَ الرَّبِيعِ العَرَبِيِّ.</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Earlier generations had struggled for national independence, and the youth of the last decade had lit the spark of the Arab Spring.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أَمَّا شَبَابُ اليَوْمِ، فَيُعِيدُ تَعْرِيفَ النَّاشِطِيَّةِ عَبْرَ الوَسَائِطِ الرَّقْمِيَّةِ. إِذَا أَتَاحَتِ الحُكُومَاتُ فُرَصَ المُشَارَكَةِ، سَتَكْتَسِبُ شَرْعِيَّةً أَوْسَعَ.</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As for today’s youth, they are redefining activism through digital media. If governments open up opportunities to participate, they will gain wider legitimacy.</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وَلَوْ كَانَتِ البَطَالَةُ أَقَلَّ، لَتَرَاجَعَتْ مَوْجَاتُ الهِجْرَةِ. وَبِنَاءً عَلَى مَا سَبَقَ، يَبْقَى تَمْكِينُ الشَّبَابِ شَرْطًا أَسَاسِيًّا لِأَيِّ تَنْمِيَةٍ.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unemployment been lower, migration waves would have receded. Based on the above, empowering youth remains a basic condition for any development.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proportion of the Arab world is under 30?</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Sixty per cent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Sixteen per cent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 per cent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سِتِّينَ بِالمِئَةِ مِنْ سُكَّانِ العَالَمِ العَرَبِيِّ دُونَ الثَّلَاثِينَ عَامًا.</a:t>
            </a:r>
            <a:endParaRPr lang="ar-SA"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earlier generations done (past perfect)?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Ignored politics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 the region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Struggled for national independence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كَانَتِ الأَجْيَالُ السَّابِقَةُ قَدْ كَافَحَتْ مِنْ أَجْلِ الاسْتِقْلَالِ الوَطَنِيِّ.</a:t>
            </a:r>
            <a:endParaRPr lang="ar-SA" sz="12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today's youth do differently (</a:t>
            </a:r>
            <a:pPr algn="l" indent="0" marL="0">
              <a:buNone/>
            </a:pPr>
            <a:r>
              <a:rPr lang="ar-SA" altLang="en-US" sz="1650" b="1" dirty="0">
                <a:solidFill>
                  <a:srgbClr val="1B3B6F"/>
                </a:solidFill>
                <a:latin typeface="Amiri" pitchFamily="2" charset="-78"/>
                <a:cs typeface="Amiri" pitchFamily="2" charset="-78"/>
              </a:rPr>
              <a:t>يُعِيدُ تَعْرِيفَ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Rejects all activism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Repeats the past exactly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Redefines activism through digital media</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يُعِيدُ تَعْرِيفَ النَّاشِطِيَّةِ عَبْرَ الوَسَائِطِ الرَّقْمِيَّةِ.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unemployment been lower, migration waves would have receded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Unemployment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Migration cannot fall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كَانَتِ البَطَالَةُ أَقَلَّ، لَتَرَاجَعَتْ مَوْجَاتُ الهِجْرَةِ.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analyst conclude?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Youth empowerment is unnecessary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Youth empowerment remains a basic condition for any development</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Development needs no youth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وَبِنَاءً عَلَى مَا سَبَقَ، يَبْقَى تَمْكِينُ الشَّبَابِ شَرْطًا أَسَاسِيًّا لِأَيِّ تَنْمِيَةٍ.</a:t>
            </a:r>
            <a:endParaRPr lang="ar-SA" sz="11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kānat … qad · ammā … fa-yuʿīdu taʿrīfa · law … la-.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across the generations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الَّذِي كَانَتِ الأَجْيَالُ السَّابِقَةُ قَدْ فَعَلَتْهُ؟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يُعِيدُ شَبَابُ اليَوْمِ تَعْرِيفَ المُشَارَكَةِ؟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سَيَحْدُثُ إِذَا أُتِيحَتْ لِلشَّبَابِ الفُرَصُ؟</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كَانَتِ الأَجْيَالُ السَّابِقَةُ قَدْ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أَمَّا اليَوْمَ، فَيُعِيدُ الشَّبَابُ تَعْرِيفَ ___ .</a:t>
            </a:r>
            <a:endParaRPr lang="ar-SA" sz="15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إِذَا أُتِيحَتْ لِلشَّبَابِ الفُرَصُ، سَيَصُوغُونَ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الَّذِي كَانَتِ الأَجْيَالُ السَّابِقَةُ قَدْ فَعَلَتْهُ؟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earlier generations done?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كَانَتِ الأَجْيَالُ السَّابِقَةُ قَدْ كَافَحَتْ مِنْ أَجْلِ الاسْتِقْلَالِ.</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Earlier generations had struggled for independence.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one past-perfect sentence about an earlier generation and one present sentence about today.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past-perfect sentence about an earlier generation and one present sentence about today.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110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t>
            </a:r>
            <a:pPr algn="l" indent="0" marL="0">
              <a:buNone/>
            </a:pPr>
            <a:r>
              <a:rPr lang="ar-SA" altLang="en-US" sz="1800" b="1" dirty="0">
                <a:solidFill>
                  <a:srgbClr val="1F2A37"/>
                </a:solidFill>
                <a:latin typeface="Amiri" pitchFamily="2" charset="-78"/>
                <a:cs typeface="Amiri" pitchFamily="2" charset="-78"/>
              </a:rPr>
              <a:t>يُعِيدُ تَعْرِيفَ</a:t>
            </a:r>
            <a:pPr algn="l" indent="0" marL="0">
              <a:buNone/>
            </a:pPr>
            <a:r>
              <a:rPr lang="en-US" sz="1400" b="1" dirty="0">
                <a:solidFill>
                  <a:srgbClr val="1F2A37"/>
                </a:solidFill>
                <a:latin typeface="Calibri" pitchFamily="34" charset="0"/>
                <a:cs typeface="Amiri" pitchFamily="2" charset="-78"/>
              </a:rPr>
              <a:t> and a Type 1 conditional; reach 110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yuʿīdu taʿrīfa and a Type 1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120 words with both conditionals and a conclusion connector +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Stretch: both conditionals and a conclusion connector + a verb in -a.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تُشِيرُ الإِحْصَاءَاتُ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Statistics indicate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إِذَا أَتَاحَتِ الحُكُومَاتُ ______ ، سَتَكْتَسِبُ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governments open up …, they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كَانَتِ البَطَالَةُ أَقَلَّ، لَتَرَاجَعَتْ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unemployment been lower,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وَبِنَاءً عَلَى مَا سَبَقَ، مِنَ الضَّرُورِيِّ أَنْ ______ .</a:t>
            </a:r>
            <a:endParaRPr lang="ar-SA" sz="16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Based on the above, it is essential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كَانَتِ الأَجْيَالُ السَّابِقَةُ قَدْ كَافَحَتْ مِنْ أَجْلِ ______ .</a:t>
            </a:r>
            <a:endParaRPr lang="ar-SA" sz="14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Earlier generations had struggled for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كَانَتِ الأَجْيَالُ قَدْ وَاجَهَتْ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Earlier generations had faced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أَمَّا شَبَابُ اليَوْمِ، فَيُكَافِحُ مِنْ أَجْلِ ______ .</a:t>
            </a:r>
            <a:endParaRPr lang="ar-SA" sz="17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today’s youth, they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يُعِيدُ الشَّبَابُ تَعْرِيفَ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Young people are redefining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الاسْتِقْلَالِ الوَطَنِيِّ  ·  تَحَدِّيَاتِ الاسْتِعْمَارِ وَالتَّنْمِيَةِ  ·  الشَّفَافِيَّةِ وَالمُشَارَكَةِ  ·  النَّاشِطِيَّةِ الاجْتِمَاعِيَّةِ  ·  المُشَارَكَةِ المَدَنِيَّةِ  ·  دُونَ الثَّلَاثِينَ  ·  فُرَصَ المُشَارَكَةِ  ·  شَرْعِيَّةً أَوْسَعَ  ·  مَوْجَاتُ الهِجْرَةِ  ·  دَوْرِ الشَّبَابِ  ·  صَوْتُ الشَّبَابِ  ·  الطَّاقَاتُ الإِبْدَاعِيَّةُ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110–120-word youth-empowerment analysis. Open with reported statistics, use the past perfect for earlier generations, contrast with today’s youth (yuʿīdu taʿrīfa), analyse futures with both conditional types, and close with a conclusion connector + a verb in -a.</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reported-statistics opening.</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intergenerational past perfect (kānat … qad) contrasted with the present (ammā … fa-).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yuʿīdu taʿrīfa with an object in -a, and both conditional types.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connector (wa-bināʾan ʿalā mā sabaqa) + a necessity subjunctive.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طَاقَاتٍ إِبْدَاعِيَّةً هَائِلَةً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enormous creative energies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أَطْلَقَ شَرَارَةَ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lit the spark of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عَبْرَ الوَسَائِطِ الرَّقْمِيَّةِ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through digital media</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شَرْعِيَّةً شَعْبِيَّةً أَوْسَعَ</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wider popular legitimacy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لِكَيْ يُسْهِمَ فِي صِيَاغَةِ مُسْتَقْبَلِهِ</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it contributes to shaping its future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100" dirty="0">
                <a:solidFill>
                  <a:srgbClr val="1F2A37"/>
                </a:solidFill>
                <a:latin typeface="Amiri" pitchFamily="2" charset="-78"/>
                <a:cs typeface="Amiri" pitchFamily="2" charset="-78"/>
              </a:rPr>
              <a:t>تُشِيرُ الإِحْصَاءَاتُ إِلَى أَنَّ سِتِّينَ بِالمِئَةِ مِنْ سُكَّانِ العَالَمِ العَرَبِيِّ دُونَ الثَّلَاثِينَ عَامًا، وَأَكَّدَ تَقْرِيرُ التَّنْمِيَةِ البَشَرِيَّةِ أَنَّ الشَّبَابَ يَمْلِكُونَ طَاقَاتٍ إِبْدَاعِيَّةً هَائِلَةً. كَانَتِ الأَجْيَالُ السَّابِقَةُ قَدْ وَاجَهَتْ تَحَدِّيَاتِ الاسْتِعْمَارِ وَالتَّنْمِيَةِ، وَكَانَ الشَّبَابُ قَدْ أَطْلَقَ شَرَارَةَ الرَّبِيعِ العَرَبِيِّ لِكَيْ يَبْنِيَ مُجْتَمَعًا أَعْدَلَ. أَمَّا اليَوْمَ، فَيُعِيدُ الشَّبَابُ تَعْرِيفَ النَّاشِطِيَّةِ عَبْرَ الوَسَائِطِ الرَّقْمِيَّةِ. إِذَا أَتَاحَتِ الحُكُومَاتُ فُرَصَ المُشَارَكَةِ الفِعْلِيَّةِ، سَتَكْتَسِبُ شَرْعِيَّةً شَعْبِيَّةً أَوْسَعَ. وَلَوْ كَانَتِ البَطَالَةُ بَيْنَ الشَّبَابِ أَقَلَّ، لَكَانَتْ مَوْجَاتُ الهِجْرَةِ أَقَلَّ حَجْمًا. وَبِنَاءً عَلَى مَا سَبَقَ، مِنَ الضَّرُورِيِّ أَنْ يُعِيدَ المُجْتَمَعُ تَعْرِيفَ دَوْرِ الشَّبَابِ لِكَيْ يُسْهِمَ فِي صِيَاغَةِ مُسْتَقْبَلِهِ.</a:t>
            </a:r>
            <a:endParaRPr lang="ar-SA" sz="21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Sixty per cent of Arabs are under thirty, and a UN report confirmed that young people possess enormous creative energies. Earlier generations had faced the challenges of colonialism and development, and young people had lit the spark of the Arab Spring in order to build a fairer society. Today, young people are redefining activism through digital media. If governments open up real participation, they will gain wider legitimacy. Had youth unemployment been lower, migration waves would have been smaller. Based on the above, it is essential that society redefine the role of youth so that it contributes to shaping its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tushīru … ilā anna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kānat … qad wājahat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ammā … fa-yuʿīdu taʿrīfa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la-kānat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perfect has kānat (or kāna) + qad + a past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then and now with ammā … fa- + a present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yuʿīdu, taʿrīfa ends in -a and the next noun in -i.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starts with la- (not 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conditionals and closed with a connector + a verb in -a.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gives an argument historical depth?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كَانَتِ الأَجْيَالُ السَّابِقَةُ قَدْ كَافَحَتْ</a:t>
            </a:r>
            <a:endParaRPr lang="ar-SA" sz="20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تُكَافِحُ الأَجْيَالُ اليَوْمَ</a:t>
            </a:r>
            <a:endParaRPr lang="ar-SA" sz="20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سَتُكَافِحُ الأَجْيَالُ غَدًا</a:t>
            </a:r>
            <a:endParaRPr lang="ar-SA" sz="20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“redefines”?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يَعْرِفُ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 تَعْرِيفَ</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يُعَرِّفُ عَنْ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cs typeface="Amiri" pitchFamily="2" charset="-78"/>
              </a:rPr>
              <a:t>الأَجْيَالُ السَّابِقَةُ قَدْ كَافَحَتْ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gives an argument historical depth?</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كَانَتِ الأَجْيَالُ السَّابِقَةُ قَدْ كَافَحَتْ</a:t>
            </a:r>
            <a:endParaRPr lang="ar-SA" sz="20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تُكَافِحُ الأَجْيَالُ اليَوْمَ</a:t>
            </a:r>
            <a:endParaRPr lang="ar-SA" sz="20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سَتُكَافِحُ الأَجْيَالُ غَدًا</a:t>
            </a:r>
            <a:endParaRPr lang="ar-SA" sz="20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situates earlier generations.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“redefines”?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يَعْرِفُ</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يُعِيدُ تَعْرِيفَ</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يُعَرِّفُ عَنْ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يُعِيدُ تَعْرِيفَ</a:t>
            </a:r>
            <a:pPr algn="l" indent="0" marL="0">
              <a:buNone/>
            </a:pPr>
            <a:r>
              <a:rPr lang="en-US" sz="1050" i="1" dirty="0">
                <a:solidFill>
                  <a:srgbClr val="8A6D1E"/>
                </a:solidFill>
                <a:latin typeface="Calibri" pitchFamily="34" charset="0"/>
                <a:cs typeface="Amiri" pitchFamily="2" charset="-78"/>
              </a:rPr>
              <a:t> means redefines.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cs typeface="Amiri" pitchFamily="2" charset="-78"/>
              </a:rPr>
              <a:t>الأَجْيَالُ السَّابِقَةُ قَدْ كَافَحَتْ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كَانَتِ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سَـ</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إِذَا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uses </a:t>
            </a:r>
            <a:pPr algn="l" indent="0" marL="0">
              <a:buNone/>
            </a:pPr>
            <a:r>
              <a:rPr lang="ar-SA" altLang="en-US" sz="1350" dirty="0">
                <a:solidFill>
                  <a:srgbClr val="8A6D1E"/>
                </a:solidFill>
                <a:latin typeface="Amiri" pitchFamily="2" charset="-78"/>
                <a:cs typeface="Amiri" pitchFamily="2" charset="-78"/>
              </a:rPr>
              <a:t>كَانَتْ …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Reading: a youth-empowerment analysis (extract)</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يُشَكِّلُ الشَّبَابُ أَكْبَرَ ثَرْوَةٍ فِي العَالَمِ العَرَبِيِّ وَأَكْثَرَهَا إِهْمَالًا. تُشِيرُ الإِحْصَاءَاتُ إِلَى أَنَّ الشَّبَابَ يَمْلِكُونَ طَاقَاتٍ إِبْدَاعِيَّةً تَحْتَاجُ إِلَى المَنَافِذِ المُنَاسِبَةِ. كَانَتِ الأَجْيَالُ السَّابِقَةُ قَدْ وَاجَهَتْ تَحَدِّيَاتِ الاسْتِعْمَارِ وَالتَّنْمِيَةِ، وَكَانَ الشَّبَابُ قَدْ أَطْلَقَ شَرَارَةَ التَّغْيِيرِ لِكَيْ يَبْنِيَ مُجْتَمَعًا أَعْدَلَ. أَمَّا اليَوْمَ، فَيُعِيدُ الشَّبَابُ تَعْرِيفَ المُشَارَكَةِ المَدَنِيَّةِ. إِذَا أَتَاحَتِ الحُكُومَاتُ فُرَصَ المُشَارَكَةِ الفِعْلِيَّةِ، سَتَكْتَسِبُ شَرْعِيَّةً شَعْبِيَّةً. وَلَوْ كَانَتِ البَطَالَةُ أَقَلَّ، لَكَانَتِ الهِجْرَةُ أَقَلَّ حَجْمًا. وَبِنَاءً عَلَى مَا سَبَقَ، مِنَ الضَّرُورِيِّ أَنْ يُعِيدَ المُجْتَمَعُ تَعْرِيفَ دَوْرِ الشَّبَابِ.</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سِتِّينَ بِالمِئَةِ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sixty per cent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دُونَ الثَّلَاثِينَ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under thirty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يَمْلِكُونَ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possess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هَائِلَةً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enormous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شَرَارَةَ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spark</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الوَسَائِطِ</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media, channels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شَرْعِيَّةً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legitimacy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تَمْكِينُ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empowering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إِهْمَالًا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neglect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صِيَاغَةِ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shaping, drafting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youth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burden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the greatest and most neglected wealth in the Arab world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small minority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earlier generations faced (past perfect)?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at all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prosperity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challenges of colonialism and development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today's youth do (</a:t>
            </a:r>
            <a:pPr algn="l" indent="0" marL="0">
              <a:buNone/>
            </a:pPr>
            <a:r>
              <a:rPr lang="ar-SA" altLang="en-US" sz="1650" b="1" dirty="0">
                <a:solidFill>
                  <a:srgbClr val="1B3B6F"/>
                </a:solidFill>
                <a:latin typeface="Amiri" pitchFamily="2" charset="-78"/>
                <a:cs typeface="Amiri" pitchFamily="2" charset="-78"/>
              </a:rPr>
              <a:t>يُعِيدُ تَعْرِيفَ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Redefines civic participation</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Abandons participation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Repeats the past</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forward-looking claim?</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Participation is pointless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If governments allow real participation, they will gain popular legitimacy</a:t>
            </a:r>
            <a:endParaRPr lang="en-US" sz="12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Legitimacy cannot grow</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extract conclude?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Society must redefine the role of youth</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Youth have no role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needs to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youth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burden</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As the greatest and most neglected wealth in the Arab world</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small minority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يُشَكِّلُ الشَّبَابُ أَكْبَرَ ثَرْوَةٍ فِي العَالَمِ العَرَبِيِّ وَأَكْثَرَهَا إِهْمَالًا.</a:t>
            </a:r>
            <a:endParaRPr lang="ar-SA" sz="12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earlier generations faced (past perfect)?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at all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prosperity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challenges of colonialism and development</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كَانَتِ الأَجْيَالُ السَّابِقَةُ قَدْ وَاجَهَتْ تَحَدِّيَاتِ الاسْتِعْمَارِ وَالتَّنْمِيَةِ.</a:t>
            </a:r>
            <a:endParaRPr lang="ar-SA" sz="11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today's youth do (</a:t>
            </a:r>
            <a:pPr algn="l" indent="0" marL="0">
              <a:buNone/>
            </a:pPr>
            <a:r>
              <a:rPr lang="ar-SA" altLang="en-US" sz="1650" b="1" dirty="0">
                <a:solidFill>
                  <a:srgbClr val="1B3B6F"/>
                </a:solidFill>
                <a:latin typeface="Amiri" pitchFamily="2" charset="-78"/>
                <a:cs typeface="Amiri" pitchFamily="2" charset="-78"/>
              </a:rPr>
              <a:t>يُعِيدُ تَعْرِيفَ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Redefines civic participation</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Abandons participation</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Repeats the past</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اليَوْمَ، فَيُعِيدُ الشَّبَابُ تَعْرِيفَ المُشَارَكَةِ المَدَنِيَّةِ.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forward-looking claim?</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Participation is pointless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governments allow real participation, they will gain popular legitimacy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Legitimacy cannot grow</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cs typeface="Amiri" pitchFamily="2" charset="-78"/>
              </a:rPr>
              <a:t>إِذَا أَتَاحَتِ الحُكُومَاتُ فُرَصَ المُشَارَكَةِ الفِعْلِيَّةِ، سَتَكْتَسِبُ شَرْعِيَّةً شَعْبِيَّةً.</a:t>
            </a:r>
            <a:endParaRPr lang="ar-SA" sz="11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extract conclude?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Society must redefine the role of youth</a:t>
            </a:r>
            <a:endParaRPr lang="en-US" sz="12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Youth have no role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needs to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الضَّرُورِيِّ أَنْ يُعِيدَ المُجْتَمَعُ تَعْرِيفَ دَوْرِ الشَّبَابِ.</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Generations Mission — Past Perfect to Future</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Depth: which situates an earlier generation?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تُكَافِحُ الأَجْيَالُ الآنَ</a:t>
            </a:r>
            <a:endParaRPr lang="ar-SA" sz="200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كَانَتِ الأَجْيَالُ السَّابِقَةُ قَدْ كَافَحَتْ</a:t>
            </a:r>
            <a:endParaRPr lang="ar-SA" sz="20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سَتُكَافِحُ الأَجْيَالُ</a:t>
            </a:r>
            <a:endParaRPr lang="ar-SA" sz="20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cs typeface="Amiri" pitchFamily="2" charset="-78"/>
              </a:rPr>
              <a:t>الأَجْيَالُ السَّابِقَةُ قَدْ كَافَحَتْ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which keeps </a:t>
            </a:r>
            <a:pPr algn="l" indent="0" marL="0">
              <a:buNone/>
            </a:pPr>
            <a:r>
              <a:rPr lang="ar-SA" altLang="en-US" sz="1650" b="1" dirty="0">
                <a:solidFill>
                  <a:srgbClr val="1B3B6F"/>
                </a:solidFill>
                <a:latin typeface="Amiri" pitchFamily="2" charset="-78"/>
                <a:cs typeface="Amiri" pitchFamily="2" charset="-78"/>
              </a:rPr>
              <a:t>قَدْ</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الشَّبَابُ أَطْلَقَ الشَّرَارَةَ.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الشَّبَابُ قَدْ يُطْلِقُ الشَّرَارَةَ.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الشَّبَابُ قَدْ أَطْلَقَ الشَّرَارَةَ.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how do you mark today's reality?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وَشَبَابُ اليَوْمِ كَافَحَ …</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كَافَحَ الشَّبَابُ …</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شَبَابُ اليَوْمِ، فَيُكَافِحُ …</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Redefine: which verb means “redefines”?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 تَعْرِيفَ</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يَعْرِفُ</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يُعَرِّفُ عَنْ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cs typeface="Amiri" pitchFamily="2" charset="-78"/>
              </a:rPr>
              <a:t>يُعِيدُ الشَّبَابُ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النَّاشِطِيَّةِ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تَعْرِيفُ</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تَعْرِيفَ</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تَعْرِيفِ</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Depth: which situates an earlier generation?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تُكَافِحُ الأَجْيَالُ الآنَ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الأَجْيَالُ السَّابِقَةُ قَدْ كَافَحَتْ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سَتُكَافِحُ الأَجْيَالُ</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situates the earlier generation.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cs typeface="Amiri" pitchFamily="2" charset="-78"/>
              </a:rPr>
              <a:t>الأَجْيَالُ السَّابِقَةُ قَدْ كَافَحَتْ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uses </a:t>
            </a:r>
            <a:pPr algn="l" indent="0" marL="0">
              <a:buNone/>
            </a:pPr>
            <a:r>
              <a:rPr lang="ar-SA" altLang="en-US" sz="1350" dirty="0">
                <a:solidFill>
                  <a:srgbClr val="8A6D1E"/>
                </a:solidFill>
                <a:latin typeface="Amiri" pitchFamily="2" charset="-78"/>
                <a:cs typeface="Amiri" pitchFamily="2" charset="-78"/>
              </a:rPr>
              <a:t>كَانَتْ …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which keeps </a:t>
            </a:r>
            <a:pPr algn="l" indent="0" marL="0">
              <a:buNone/>
            </a:pPr>
            <a:r>
              <a:rPr lang="ar-SA" altLang="en-US" sz="1650" b="1" dirty="0">
                <a:solidFill>
                  <a:srgbClr val="1B3B6F"/>
                </a:solidFill>
                <a:latin typeface="Amiri" pitchFamily="2" charset="-78"/>
                <a:cs typeface="Amiri" pitchFamily="2" charset="-78"/>
              </a:rPr>
              <a:t>قَدْ</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الشَّبَابُ أَطْلَقَ الشَّرَارَةَ.</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الشَّبَابُ قَدْ يُطْلِقُ الشَّرَارَةَ.</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الشَّبَابُ قَدْ أَطْلَقَ الشَّرَارَةَ.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keeps </a:t>
            </a:r>
            <a:pPr algn="l" indent="0" marL="0">
              <a:buNone/>
            </a:pPr>
            <a:r>
              <a:rPr lang="ar-SA" altLang="en-US" sz="1350" dirty="0">
                <a:solidFill>
                  <a:srgbClr val="8A6D1E"/>
                </a:solidFill>
                <a:latin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between </a:t>
            </a:r>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and the past verb.</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how do you mark today's reality?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وَشَبَابُ اليَوْمِ كَافَحَ …</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كَافَحَ الشَّبَابُ …</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 شَبَابُ اليَوْمِ، فَيُكَافِحُ …</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 … فَـ</a:t>
            </a:r>
            <a:pPr algn="l" indent="0" marL="0">
              <a:buNone/>
            </a:pPr>
            <a:r>
              <a:rPr lang="en-US" sz="1050" i="1" dirty="0">
                <a:solidFill>
                  <a:srgbClr val="8A6D1E"/>
                </a:solidFill>
                <a:latin typeface="Calibri" pitchFamily="34" charset="0"/>
                <a:cs typeface="Amiri" pitchFamily="2" charset="-78"/>
              </a:rPr>
              <a:t> + present marks today's reality.</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Redefine: which verb means “redefines”?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يُعِيدُ تَعْرِيفَ</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يَعْرِفُ</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يُعَرِّفُ عَنْ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يُعِيدُ تَعْرِيفَ</a:t>
            </a:r>
            <a:pPr algn="l" indent="0" marL="0">
              <a:buNone/>
            </a:pPr>
            <a:r>
              <a:rPr lang="en-US" sz="1050" i="1" dirty="0">
                <a:solidFill>
                  <a:srgbClr val="8A6D1E"/>
                </a:solidFill>
                <a:latin typeface="Calibri" pitchFamily="34" charset="0"/>
                <a:cs typeface="Amiri" pitchFamily="2" charset="-78"/>
              </a:rPr>
              <a:t> means redefines.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cs typeface="Amiri" pitchFamily="2" charset="-78"/>
              </a:rPr>
              <a:t>يُعِيدُ الشَّبَابُ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النَّاشِطِيَّةِ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تَعْرِيفُ</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تَعْرِيفَ</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تَعْرِيفِ</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of </a:t>
            </a:r>
            <a:pPr algn="l" indent="0" marL="0">
              <a:buNone/>
            </a:pPr>
            <a:r>
              <a:rPr lang="ar-SA" altLang="en-US" sz="1350" dirty="0">
                <a:solidFill>
                  <a:srgbClr val="8A6D1E"/>
                </a:solidFill>
                <a:latin typeface="Amiri" pitchFamily="2" charset="-78"/>
                <a:cs typeface="Amiri" pitchFamily="2" charset="-78"/>
              </a:rPr>
              <a:t>يُعِيدُ</a:t>
            </a:r>
            <a:pPr algn="l" indent="0" marL="0">
              <a:buNone/>
            </a:pPr>
            <a:r>
              <a:rPr lang="en-US" sz="1050" i="1" dirty="0">
                <a:solidFill>
                  <a:srgbClr val="8A6D1E"/>
                </a:solidFill>
                <a:latin typeface="Calibri" pitchFamily="34" charset="0"/>
                <a:cs typeface="Amiri" pitchFamily="2" charset="-78"/>
              </a:rPr>
              <a:t> takes a fatḥa: </a:t>
            </a:r>
            <a:pPr algn="l" indent="0" marL="0">
              <a:buNone/>
            </a:pPr>
            <a:r>
              <a:rPr lang="ar-SA" altLang="en-US" sz="1350" dirty="0">
                <a:solidFill>
                  <a:srgbClr val="8A6D1E"/>
                </a:solidFill>
                <a:latin typeface="Amiri" pitchFamily="2" charset="-78"/>
                <a:cs typeface="Amiri" pitchFamily="2" charset="-78"/>
              </a:rPr>
              <a:t>تَعْرِيفَ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P5-L06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P5-L07 · Constructing a Balanced Argument — The Art of Arabic Essay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التَّمْهِيدُ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introduction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نَقِيضُ الحُجَّةِ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counter-argument</a:t>
            </a:r>
            <a:pPr indent="0" marL="0">
              <a:buNone/>
            </a:pPr>
            <a:r>
              <a:rPr lang="en-US" sz="1000" i="1" dirty="0">
                <a:solidFill>
                  <a:srgbClr val="5A6472"/>
                </a:solidFill>
                <a:latin typeface="Calibri" pitchFamily="34" charset="0"/>
                <a:cs typeface="Amiri" pitchFamily="2" charset="-78"/>
              </a:rPr>
              <a:t>  pl. الحُجَجُ</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الخَاتِمَةُ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conclusion</a:t>
            </a:r>
            <a:pPr indent="0" marL="0">
              <a:buNone/>
            </a:pPr>
            <a:r>
              <a:rPr lang="en-US" sz="1000" i="1" dirty="0">
                <a:solidFill>
                  <a:srgbClr val="5A6472"/>
                </a:solidFill>
                <a:latin typeface="Calibri" pitchFamily="34" charset="0"/>
                <a:cs typeface="Amiri" pitchFamily="2" charset="-78"/>
              </a:rPr>
              <a:t>  pl. الخَوَاتِمُ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يُمْكِنُ إِنْكَارُ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cannot be denied that</a:t>
            </a:r>
            <a:pPr indent="0" marL="0">
              <a:buNone/>
            </a:pPr>
            <a:r>
              <a:rPr lang="en-US" sz="1000" i="1" dirty="0">
                <a:solidFill>
                  <a:srgbClr val="5A6472"/>
                </a:solidFill>
                <a:latin typeface="Calibri" pitchFamily="34" charset="0"/>
                <a:cs typeface="Amiri" pitchFamily="2" charset="-78"/>
              </a:rPr>
              <a:t>  + noun in -a</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ضَوْءِ مَا سَبَقَ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light of the above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makes an essay convincing?</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يَكُونُ المَقَالُ مُقْنِعًا عِنْدَمَا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past-perfect sentence about your grandparents’ generation and one present sentence about yours.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yuʿīdu taʿrīfa and a Type 1 conditional (110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youth-empowerment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P5-L07 · Constructing a Balanced Argument — The Art of Arabic Essay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فَنُّ كِتَابَةِ المَقَالِ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kānat … QAD + past for what earlier generations HAD done; ammā … FA- + present for today; yuʿīdu taʿrīfA + noun-i; idhā … sa- / law … la- for the futures.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P5-L06 · Youth and Society — The Arab Generation’s Challenges and Power</dc:title>
  <dc:subject>PptxGenJS Presentation</dc:subject>
  <dc:creator>Al Madina Online School · Arabic Department</dc:creator>
  <cp:lastModifiedBy>Al Madina Online School · Arabic Department</cp:lastModifiedBy>
  <cp:revision>1</cp:revision>
  <dcterms:created xsi:type="dcterms:W3CDTF">2026-10-11T06:43:28Z</dcterms:created>
  <dcterms:modified xsi:type="dcterms:W3CDTF">2026-10-11T06:43:28Z</dcterms:modified>
</cp:coreProperties>
</file>