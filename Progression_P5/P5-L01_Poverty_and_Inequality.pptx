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P5-L01. The website lesson “Poverty and Inequality — Analysing Social Disparities”: vocabulary, grammar rules and quiz, patterns, common mistakes, sorter, listening, reading, speaking prompts and model, writing task and model, differentiation, final check and the lesson mission. Picture match: website visual game “Poverty and Inequality — Analysing Social Disparities”.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concession (ṣaḥīḥun anna) answered by one refutation (ghayra anna) (website Core). Develop: add a Type 2 and reach 100 words. Stretch: 110 words with a formal conclusion and a necessity subjunctive.
• SENSITIVITY: some students or their families may know hardship first-hand. Keep the discussion at the level of societies and policies, never individuals in the class; never ask students about their own family income.
• Faith link (optional): «كَيْ لَا يَكُونَ دُولَةً بَيْنَ الأَغْنِيَاءِ مِنْكُمْ» (al-Ḥashr 59:7) — wealth should not circulate only among the rich. Notice: kay lā yakūna — a purpose clause with the verb in -a! Zakāt is the Qur’anic model of “wealth redistribution”.
• New in P5: the concession–refutation move. Old tools reused: Type 2 (P3-L05), yataṭallabu an (P4), passives (P4-L02/L05), reported statistics (P3-L06 / P4).
• Accuracy: the UN Economic and Social Commission for Western Asia (ESCWA) has estimated well over 100 million people in Arab countries living in poverty (figures vary by method and year) — the website figure is safe.
• TEACHER-WRITTEN ITEMS: waṣl alif shown without a kasra; لِكَيْ always written with its sukūn; rule headings, formulas, a pattern tip, the writing prompt and checklist in English and transliteration; sorter headings in transliteration; game cards 1, 3 and 5 not used; the move, real-vs-required, paragraph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P4-L12. Questions 4–5 retrieve the necessity subjunctive and the Type 2 (P4) — both return in today’s analysis and conclusion.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Strong arguments are fair: first admit what is true — then say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مساوات and محروم are shared (محرومی = deprivation). Careful: Urdu عدالت is a law COURT; Arabic العَدَالَةُ الاجْتِمَاعِيَّةُ is social JUSTICE (a court = مَحْكَمَةٌ). Urdu فقیر is often a beggar or a Sufi; Arabic فَقِيرٌ simply means a poor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concession-refutation architecture (website vocabulary (1 of 2)). Hear → Say → See → Use. Transliteration is printed for Core students (cover it for Develop/Stretch).
The concession–refutation architecture: CONCEDE (صَحِيحٌ أَنَّ · لَا يُمْكِنُ إِنْكَارُ أَنَّ) → REFUTE (غَيْرَ أَنَّ · مَعَ ذٰلِكَ · بِالرَّغْمِ مِنْ + maṣdar) → CONCLUDE (وَبِنَاءً عَلَى مَا سَبَقَ). After أَنَّ comes a noun in -a: أَنَّ الاقْتِصَادَ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concession-refutation architecture (website vocabulary (2 of 2)). Hear → Say → See → Use. Transliteration is printed for Core students (cover it for Develop/Stretch).
The concession–refutation architecture: CONCEDE (صَحِيحٌ أَنَّ · لَا يُمْكِنُ إِنْكَارُ أَنَّ) → REFUTE (غَيْرَ أَنَّ · مَعَ ذٰلِكَ · بِالرَّغْمِ مِنْ + maṣdar) → CONCLUDE (وَبِنَاءً عَلَى مَا سَبَقَ). After أَنَّ comes a noun in -a: أَنَّ الاقْتِصَادَ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Poverty and inequality (website vocabulary (1 of 2)). Hear → Say → See → Use. Transliteration is printed for Core students (cover it for Develop/Stretch).
Poverty and inequality: الهُوَّةُ = the gap, the chasm (literally an abyss) · حَدُّ الفَقْرِ = the poverty line · التَّهْمِيشُ = pushing people to the margins (هَامِشٌ =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Poverty and inequality (website vocabulary (2 of 2)). Hear → Say → See → Use. Transliteration is printed for Core students (cover it for Develop/Stretch).
FLEX: teach if time allows; otherwise these are on the website vocabulary tab for homework.
Poverty and inequality: الهُوَّةُ = the gap, the chasm (literally an abyss) · حَدُّ الفَقْرِ = the poverty line · التَّهْمِيشُ = pushing people to the margins (هَامِشٌ =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register (website vocabulary (1 of 2)). Hear → Say → See → Use. Transliteration is printed for Core students (cover it for Develop/Stretch).
FLEX: teach if time allows; otherwise these are on the website vocabulary tab for homework.
Academic register: يَرْزَحُ تَحْتَ (to groan under a heavy load) is far stronger than يَعِيشُ فِي. يُحْرَمُ مِنْ is a passive (P4-L02). بِنْيَوِيٌّ (structural) and جِهَازِيٌّ (systemic) describe problems built into society, not individual bad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register (website vocabulary (2 of 2)). Hear → Say → See → Use. Transliteration is printed for Core students (cover it for Develop/Stretch).
FLEX: teach if time allows; otherwise these are on the website vocabulary tab for homework.
Academic register: يَرْزَحُ تَحْتَ (to groan under a heavy load) is far stronger than يَعِيشُ فِي. يُحْرَمُ مِنْ is a passive (P4-L02). بِنْيَوِيٌّ (structural) and جِهَازِيٌّ (systemic) describe problems built into society, not individual bad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“Concede” and “Refute”, teaching point 1 (“Concession then refutation is one two-step move”), the vocabulary group and mistake 2. Row 5 is teacher-built from the vocabulary note (بِالرَّغْمِ مِنْ + verbal noun).
Why concede at all? Because examiners reward an argument that answers the other side — it shows maturity and control.
After أَنَّ (with shadda) comes a NOUN in -a: أَنَّ نِسَبَ · أَنَّ الفُرَصَ · أَنَّ التَّفَاوُتَ. Keep غَيْرَ أَنَّ (formal) for writing; لٰكِنَّ is fine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point 2 (“ṣaḥīḥun anna takes the indicative — the concession is real”) and mistake 1.
The P4 rule still holds: the -a ending marks something wanted or required. A concession admits something that IS (or WAS) true, so its verb is normal: نَمَا (past) or يَنْمُو (present, ending in -ū).
Card 3 links P4 and P5: anna (shadda) introduces a fact about a noun; an (sukūn) introduces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1–4, the website table and the writing model. This is the backbone of every P5 paragraph.
Move 3 is the honest heart of the argument: “it could have been different” → so policy matters. Move 4 turns analysis into a proposal.
اتِّسَاعًا = in width (tamyīz): ازْدَادَتِ الهُوَّةُ اتِّسَاعًا = the gap grew wider. The writing model also adds a P4 purpose clause at the end: لِكَيْ يَحْظَى الجَمِيعُ بِفُرَصٍ مُتَكَافِئَةٍ.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vocabulary group “Academic register”.
Row 1: وَطْأَةٌ = the crushing weight (of poverty). Row 3: مِمَّا = “which (fact)” — it links a result to the whole previous sentence; دَوَّامَةٌ = a whirlpool, a vicious circle.
Stretch: rewrite a plain sentence of their own in this register: الفُقَرَاءُ لَيْسَ عِنْدَهُمْ تَعْلِيمٌ → يُحْرَمُ الفُقَرَاءُ مِنْ فُرَصِ التَّعْلِيمِ.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“Concede a real situation with صَحِيحٌ أَنَّ + indicative, refute it with غَيْرَ أَنَّ, then analyse with a Type 2 conditional and close with a necessity subjunctive.”
• Concede: Concede a real point that actually holds.
• Refute: Answer the concession with the counter-argument.
• Analyse: A Type 2 counterfactual argues the situation could differ.
• Conclude: Close formally and propose a subjunctive solution.
Website common error: Putting a subjunctive verb after صَحِيحٌ أَنَّ, or using an informal contrast (لٰكِنْ / وَ) instead of غَيْرَ أَنَّ. The concession is real, so the verb is indicative, and the refutation uses the formal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“Evidence first: tushīru … ilā ANNA. Then I am fair: ṣaḥīḥun ANNA … namā — it really happened, so no -a. Then my real point: GHAYRA anna. Then: could it have been different? law … LA-kānat. Finally: wa-bināʾan ʿalā mā sabaqa — yataṭallabu AN tuʿīdA.”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Poverty and Inequality — Analysing Social Disparities”)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5 not used — waṣl kasra). Then turn each card into a concession–refutation: صَحِيحٌ أَنَّ المُسْتَشْفَيَاتِ كَثُرَتْ، غَيْرَ أَنَّ الوُصُولَ إِلَيْهَا غَيْرُ مُتَسَاوٍ.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Poverty and Inequality — Analysing Social Disparities”)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5 not used — waṣl kasra). Then turn each card into a concession–refutation: صَحِيحٌ أَنَّ المُسْتَشْفَيَاتِ كَثُرَتْ، غَيْرَ أَنَّ الوُصُولَ إِلَيْهَا غَيْرُ مُتَسَاوٍ.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paragraph line from a concession, a refutation and a proposed solution.” Website feedback: any three different combinations work.
Core: read row 1 across. Develop: label column 3 — necessity (rows 1–2) or Type 2 (row 3). Stretch: write your own concession–refutation about education or health.
Column 3 row 2: يَنْبَغِي أَنْ تُوَسَّعَ = should be widened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one fair, three-step argument — and read it aloud with a pause before ghayra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one fair, three-step argument — and read it aloud with a pause before ghayra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label each sentence: evidence · concede · refute · analyse · conclude.
Listen 1: just listen. Listen 2: note answers. Then chat the letters.
Support: after the second listening, show the read-along slide (Arabic + English, line by line) for Core students.
SCRIPT (read aloud):
تَقُولُ المُحَلِّلَةُ: تُشِيرُ تَقَارِيرُ الأُمَمِ المُتَّحِدَةِ إِلَى أَنَّ أَكْثَرَ مِنْ مِئَةِ مِلْيُونِ عَرَبِيٍّ يَعِيشُونَ تَحْتَ حَدِّ الفَقْرِ. صَحِيحٌ أَنَّ الاقْتِصَادَ العَرَبِيَّ نَمَا فِي العُقُودِ الأَخِيرَةِ، غَيْرَ أَنَّ الهُوَّةَ بَيْنَ الأَغْنِيَاءِ وَالفُقَرَاءِ ازْدَادَتِ اتِّسَاعًا. يَرْزَحُ كَثِيرُونَ تَحْتَ وَطْأَةِ الفَقْرِ المُدْقِعِ، وَيُحْرَمُ الأَطْفَالُ مِنْ فُرَصِ التَّعْلِيمِ. وَلَوْ كَانَتْ سِيَاسَاتُ إِعَادَةِ تَوْزِيعِ الثَّرْوَةِ أَكْثَرَ فَاعِلِيَّةً، لَكَانَتِ المُعَدَّلَاتُ أَقَلَّ بِكَثِيرٍ. وَبِنَاءً عَلَى مَا سَبَقَ، يَتَطَلَّبُ الأَمْرُ أَنْ تُعِيدَ الحُكُومَاتُ النَّظَرَ فِي سِيَاسَاتِهَا الضَّرِيبِيَّةِ.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تَدْحَضُهَا؟ (Refutation)
B: غَيْرَ أَنَّ الهُوَّةَ ازْدَادَتْ، وَيَتَطَلَّبُ الأَمْرُ أَنْ تُعِيدَ الدَّوْلَةُ تَوْزِيعَ الثَّرْوَةِ. (غَيْرَ أَنَّ + subjunctive solution)
Website prompts and model. Pair task: “fair debate” — A states a gain (ṣaḥīḥun anna …), B answers with ghayra anna …, A closes with a solution (yataṭallabu al-amru an …). Swap. Keep it about society, not anyone’s family. To a girl: تُسَلِّمِينَ · تَدْحَضِينَهَا · تَقْتَرِحِينَهُ.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concession (صَحِيحٌ أَنَّ) answered by one refutation (غَيْرَ أَنَّ). · Develop — Add a Type 2 counterfactual and reach 100 words. · Stretch — Reach 110 words with a formal conclusion and a necessity subjunctive.
Website writing task (Stretch): Write a 100–110-word social-inequality analysis. Open with reported statistics, concede a real gain with ṣaḥīḥun anna + an indicative verb, refute it with ghayra anna, add a Type 2 counterfactual, and conclude with wa-bināʾan ʿalā mā sabaqa + a necessity subjunctive.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 إِلَى أَنَّ · صَحِيحٌ أَنَّ … نَمَا · غَيْرَ أَنَّ … ازْدَادَتِ اتِّسَاعًا · يَرْزَحُ … تَحْتَ وَطْأَةِ · يُحْرَمُ … مِنْ · مِمَّا يُسْهِمُ فِي تَعْمِيقِ · لَوْ كَانَتْ … لَكَانَتِ · وَبِنَاءً عَلَى مَا سَبَقَ · يَتَطَلَّبُ … أَنْ تُعِيدَ · لِكَيْ يَحْظَى.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(P5-L02 · Migration and Displacement — A Global Crisis in Arabic) will spend class time USING this language, so students prepare it tonight — short, simple, easy to access (school guidance: “Simple, Short, Interesting, Relevant, Easy to access”). The five words come from the website P5-L02 vocabulary (migration and displacement). Teacher note: approach this topic with care — some students may have refugee or migrant backgrounds.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Poverty and Inequality — Analysing Social Disparities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cs typeface="Amiri" pitchFamily="2" charset="-78"/>
              </a:rPr>
              <a:t>الفَقْرُ وَعَدَمُ المُسَاوَاةِ — تَحْلِيلُ التَّفَاوُتَاتِ الاجْتِمَاعِيَّةِ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like an academic: concede a real point with ṣaḥīḥun anna (+ a real, indicative verb), refute it with ghayra anna, analyse with law … la-, and conclude with wa-bināʾan ʿalā mā sabaqa + yataṭallabu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P5-L01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Concede → refute, real (indicative) vs required (subjunctive), the four-move paragraph, academic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pictures of inequality, build a concession–refutation, sort concede / refute / conclude.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necessary that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فَقْرٌ مُدْقِعٌ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extreme poverty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poor harvest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low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البَطَالَةُ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heroism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unemployment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مِيزَانِيَّةً أَكْبَرَ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نُخَصِّصُ</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خَصَّصْنَا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نُخَصِّصَ</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لَنَجَحْنَا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سَنَنْجَحُ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necessary that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true that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فَقْرٌ مُدْقِعٌ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extreme poverty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poor harvest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low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البَطَالَةُ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heroism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unemployment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مِيزَانِيَّةً أَكْبَرَ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نُخَصِّصُ</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خَصَّصْنَا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نُخَصِّصَ</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لَنَجَحْنَا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سَنَنْجَحُ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نَجَحْنَا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Strong arguments are fair: first admit what is true — then say “however”.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cs typeface="Amiri" pitchFamily="2" charset="-78"/>
              </a:rPr>
              <a:t> الاقْتِصَادَ نَمَا، </a:t>
            </a:r>
            <a:pPr rtl="1" algn="ctr" indent="0" marL="0">
              <a:lnSpc>
                <a:spcPct val="120000"/>
              </a:lnSpc>
              <a:buNone/>
            </a:pPr>
            <a:r>
              <a:rPr lang="ar-SA" altLang="en-US" sz="1950" b="1" dirty="0">
                <a:solidFill>
                  <a:srgbClr val="D6336C"/>
                </a:solidFill>
                <a:latin typeface="Amiri" pitchFamily="2" charset="-78"/>
                <a:cs typeface="Amiri" pitchFamily="2" charset="-78"/>
              </a:rPr>
              <a:t>غَيْرَ أَنَّ</a:t>
            </a:r>
            <a:pPr rtl="1" algn="ctr" indent="0" marL="0">
              <a:lnSpc>
                <a:spcPct val="120000"/>
              </a:lnSpc>
              <a:buNone/>
            </a:pPr>
            <a:r>
              <a:rPr lang="ar-SA" altLang="en-US" sz="1950" b="1" dirty="0">
                <a:solidFill>
                  <a:srgbClr val="1B3B6F"/>
                </a:solidFill>
                <a:latin typeface="Amiri" pitchFamily="2" charset="-78"/>
                <a:cs typeface="Amiri" pitchFamily="2" charset="-78"/>
              </a:rPr>
              <a:t> الهُوَّةَ ازْدَادَتْ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poverty and inequality with precise social-science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Concede a real situation with ṣaḥīḥun anna + an indicative verb.</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Refute it with the formal connector ghayra anna.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with a Type 2 and conclude with a necessity subjunctive.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inequality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concede with ṣaḥīḥun anna and refute with ghayra anna.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the conceded verb real (indicative).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Type 2 analysis.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wa-bināʾan ʿalā mā sabaqa + an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110-word inequality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concession-refutation architecture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Poverty and inequality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فَقْرٌ · فَقِيرٌ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‎فقیر‎ </a:t>
            </a:r>
            <a:pPr indent="0" marL="0">
              <a:buNone/>
            </a:pPr>
            <a:r>
              <a:rPr lang="en-US" sz="950" b="1" dirty="0">
                <a:solidFill>
                  <a:srgbClr val="2E8B57"/>
                </a:solidFill>
                <a:latin typeface="Calibri" pitchFamily="34" charset="0"/>
                <a:cs typeface="Amiri" pitchFamily="2" charset="-78"/>
              </a:rPr>
              <a:t> faqīr · Arabic: a poor person · Urdu: a beggar, a dervish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غَنِيٌّ · أَغْنِيَاءُ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‎غنی‎ </a:t>
            </a:r>
            <a:pPr indent="0" marL="0">
              <a:buNone/>
            </a:pPr>
            <a:r>
              <a:rPr lang="en-US" sz="950" b="1" dirty="0">
                <a:solidFill>
                  <a:srgbClr val="2E8B57"/>
                </a:solidFill>
                <a:latin typeface="Calibri" pitchFamily="34" charset="0"/>
                <a:cs typeface="Amiri" pitchFamily="2" charset="-78"/>
              </a:rPr>
              <a:t> ghanī · rich (al-Ghanī — the Self-Sufficient)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عَدَالَةٌ · عَدْلٌ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‎عدالت‎ </a:t>
            </a:r>
            <a:pPr indent="0" marL="0">
              <a:buNone/>
            </a:pPr>
            <a:r>
              <a:rPr lang="en-US" sz="950" b="1" dirty="0">
                <a:solidFill>
                  <a:srgbClr val="2E8B57"/>
                </a:solidFill>
                <a:latin typeface="Calibri" pitchFamily="34" charset="0"/>
                <a:cs typeface="Amiri" pitchFamily="2" charset="-78"/>
              </a:rPr>
              <a:t> adālat · Arabic: justice · Urdu: a law court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مُسَاوَاةٌ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‎مساوات‎ </a:t>
            </a:r>
            <a:pPr indent="0" marL="0">
              <a:buNone/>
            </a:pPr>
            <a:r>
              <a:rPr lang="en-US" sz="950" b="1" dirty="0">
                <a:solidFill>
                  <a:srgbClr val="2E8B57"/>
                </a:solidFill>
                <a:latin typeface="Calibri" pitchFamily="34" charset="0"/>
                <a:cs typeface="Amiri" pitchFamily="2" charset="-78"/>
              </a:rPr>
              <a:t> musāwāt · equality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حِرْمَانٌ · مَحْرُومٌ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‎محروم‎ </a:t>
            </a:r>
            <a:pPr indent="0" marL="0">
              <a:buNone/>
            </a:pPr>
            <a:r>
              <a:rPr lang="en-US" sz="950" b="1" dirty="0">
                <a:solidFill>
                  <a:srgbClr val="2E8B57"/>
                </a:solidFill>
                <a:latin typeface="Calibri" pitchFamily="34" charset="0"/>
                <a:cs typeface="Amiri" pitchFamily="2" charset="-78"/>
              </a:rPr>
              <a:t> mahrūm · deprivation · deprived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The concession-refutation architecture (1 of 2)</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صَحِيحٌ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true that (concession)</a:t>
            </a:r>
            <a:endParaRPr lang="en-US" sz="1350" dirty="0"/>
          </a:p>
          <a:p>
            <a:pPr indent="0" marL="0">
              <a:buNone/>
            </a:pPr>
            <a:r>
              <a:rPr lang="en-US" sz="1100" i="1" dirty="0">
                <a:solidFill>
                  <a:srgbClr val="5A6472"/>
                </a:solidFill>
                <a:latin typeface="Calibri" pitchFamily="34" charset="0"/>
                <a:cs typeface="Amiri" pitchFamily="2" charset="-78"/>
              </a:rPr>
              <a:t>ṣa-ḥī-ḥun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 indicative — a real situation.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 / yet (refutation)</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Formal refutation connector.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 connector.</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ذٰلِكَ</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verbal noun.</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بِالرَّغْمِ مِنْ</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bilr-ragh-mi min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The concession-refutation architecture (2 of 2)</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يُمْكِنُ إِنْكَارُ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وَبِنَاءً عَلَى مَا سَبَقَ</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التَّفَاوُتُ الطَّبَقِيُّ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class inequality</a:t>
            </a:r>
            <a:endParaRPr lang="en-US" sz="1350" dirty="0"/>
          </a:p>
          <a:p>
            <a:pPr indent="0" marL="0">
              <a:buNone/>
            </a:pPr>
            <a:r>
              <a:rPr lang="en-US" sz="1100" i="1" dirty="0">
                <a:solidFill>
                  <a:srgbClr val="5A6472"/>
                </a:solidFill>
                <a:latin typeface="Calibri" pitchFamily="34" charset="0"/>
                <a:cs typeface="Amiri" pitchFamily="2" charset="-78"/>
              </a:rPr>
              <a:t>at-ta-fā-wu-tu aṭ-ṭa-ba-qiy-yu</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الحُجَّةُ المُضَادَّةُ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counter-argument</a:t>
            </a:r>
            <a:endParaRPr lang="en-US" sz="1350" dirty="0"/>
          </a:p>
          <a:p>
            <a:pPr indent="0" marL="0">
              <a:buNone/>
            </a:pPr>
            <a:r>
              <a:rPr lang="en-US" sz="1100" i="1" dirty="0">
                <a:solidFill>
                  <a:srgbClr val="5A6472"/>
                </a:solidFill>
                <a:latin typeface="Calibri" pitchFamily="34" charset="0"/>
                <a:cs typeface="Amiri" pitchFamily="2" charset="-78"/>
              </a:rPr>
              <a:t>al-ḥuj-ja-tu al-mu-ḍād-da-tu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Poverty and inequality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فَقْرٌ مُدْقِعٌ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extreme poverty</a:t>
            </a:r>
            <a:endParaRPr lang="en-US" sz="1350" dirty="0"/>
          </a:p>
          <a:p>
            <a:pPr indent="0" marL="0">
              <a:buNone/>
            </a:pPr>
            <a:r>
              <a:rPr lang="en-US" sz="1100" i="1" dirty="0">
                <a:solidFill>
                  <a:srgbClr val="5A6472"/>
                </a:solidFill>
                <a:latin typeface="Calibri" pitchFamily="34" charset="0"/>
                <a:cs typeface="Amiri" pitchFamily="2" charset="-78"/>
              </a:rPr>
              <a:t>faq-run mud-qi-ʿun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cs typeface="Amiri" pitchFamily="2" charset="-78"/>
              </a:rPr>
              <a:t>الهُوَّةُ بَيْنَ الأَغْنِيَاءِ وَالفُقَرَاءِ</a:t>
            </a:r>
            <a:endParaRPr lang="ar-SA" sz="245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wealth gap</a:t>
            </a:r>
            <a:endParaRPr lang="en-US" sz="1350" dirty="0"/>
          </a:p>
          <a:p>
            <a:pPr indent="0" marL="0">
              <a:buNone/>
            </a:pPr>
            <a:r>
              <a:rPr lang="en-US" sz="1100" i="1" dirty="0">
                <a:solidFill>
                  <a:srgbClr val="5A6472"/>
                </a:solidFill>
                <a:latin typeface="Calibri" pitchFamily="34" charset="0"/>
                <a:cs typeface="Amiri" pitchFamily="2" charset="-78"/>
              </a:rPr>
              <a:t>al-huw-wa-tu bay-na al-agh-ni-yā-ʾi wāl-fu-qa-rā-ʾi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حَدُّ الفَقْرِ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poverty line</a:t>
            </a:r>
            <a:endParaRPr lang="en-US" sz="1350" dirty="0"/>
          </a:p>
          <a:p>
            <a:pPr indent="0" marL="0">
              <a:buNone/>
            </a:pPr>
            <a:r>
              <a:rPr lang="en-US" sz="1100" i="1" dirty="0">
                <a:solidFill>
                  <a:srgbClr val="5A6472"/>
                </a:solidFill>
                <a:latin typeface="Calibri" pitchFamily="34" charset="0"/>
                <a:cs typeface="Amiri" pitchFamily="2" charset="-78"/>
              </a:rPr>
              <a:t>ḥad-du al-faq-ri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البَطَالَةُ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unemployment</a:t>
            </a:r>
            <a:endParaRPr lang="en-US" sz="1350" dirty="0"/>
          </a:p>
          <a:p>
            <a:pPr indent="0" marL="0">
              <a:buNone/>
            </a:pPr>
            <a:r>
              <a:rPr lang="en-US" sz="1100" i="1" dirty="0">
                <a:solidFill>
                  <a:srgbClr val="5A6472"/>
                </a:solidFill>
                <a:latin typeface="Calibri" pitchFamily="34" charset="0"/>
                <a:cs typeface="Amiri" pitchFamily="2" charset="-78"/>
              </a:rPr>
              <a:t>al-ba-ṭā-la-tu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Poverty and inequality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التَّهْمِيشُ الاجْتِمَاعِيُّ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marginalisation</a:t>
            </a:r>
            <a:endParaRPr lang="en-US" sz="1350" dirty="0"/>
          </a:p>
          <a:p>
            <a:pPr indent="0" marL="0">
              <a:buNone/>
            </a:pPr>
            <a:r>
              <a:rPr lang="en-US" sz="1100" i="1" dirty="0">
                <a:solidFill>
                  <a:srgbClr val="5A6472"/>
                </a:solidFill>
                <a:latin typeface="Calibri" pitchFamily="34" charset="0"/>
                <a:cs typeface="Amiri" pitchFamily="2" charset="-78"/>
              </a:rPr>
              <a:t>at-tah-mī-shu alj-ti-mā-ʿiy-yu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الحِرْمَانُ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deprivation</a:t>
            </a:r>
            <a:endParaRPr lang="en-US" sz="1350" dirty="0"/>
          </a:p>
          <a:p>
            <a:pPr indent="0" marL="0">
              <a:buNone/>
            </a:pPr>
            <a:r>
              <a:rPr lang="en-US" sz="1100" i="1" dirty="0">
                <a:solidFill>
                  <a:srgbClr val="5A6472"/>
                </a:solidFill>
                <a:latin typeface="Calibri" pitchFamily="34" charset="0"/>
                <a:cs typeface="Amiri" pitchFamily="2" charset="-78"/>
              </a:rPr>
              <a:t>al-ḥir-mā-nu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العَدَالَةُ الاجْتِمَاعِيَّةُ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justice</a:t>
            </a:r>
            <a:endParaRPr lang="en-US" sz="1350" dirty="0"/>
          </a:p>
          <a:p>
            <a:pPr indent="0" marL="0">
              <a:buNone/>
            </a:pPr>
            <a:r>
              <a:rPr lang="en-US" sz="1100" i="1" dirty="0">
                <a:solidFill>
                  <a:srgbClr val="5A6472"/>
                </a:solidFill>
                <a:latin typeface="Calibri" pitchFamily="34" charset="0"/>
                <a:cs typeface="Amiri" pitchFamily="2" charset="-78"/>
              </a:rPr>
              <a:t>al-ʿa-dā-la-tu alj-ti-mā-ʿiy-ya-tu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إِعَادَةُ تَوْزِيعِ الثَّرْوَةِ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wealth redistribution</a:t>
            </a:r>
            <a:endParaRPr lang="en-US" sz="1350" dirty="0"/>
          </a:p>
          <a:p>
            <a:pPr indent="0" marL="0">
              <a:buNone/>
            </a:pPr>
            <a:r>
              <a:rPr lang="en-US" sz="1100" i="1" dirty="0">
                <a:solidFill>
                  <a:srgbClr val="5A6472"/>
                </a:solidFill>
                <a:latin typeface="Calibri" pitchFamily="34" charset="0"/>
                <a:cs typeface="Amiri" pitchFamily="2" charset="-78"/>
              </a:rPr>
              <a:t>i-ʿā-da-tu taw-zī-ʿi ath-thar-wa-ti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يَرْزَحُ تَحْتَ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suffers under</a:t>
            </a:r>
            <a:endParaRPr lang="en-US" sz="1350" dirty="0"/>
          </a:p>
          <a:p>
            <a:pPr indent="0" marL="0">
              <a:buNone/>
            </a:pPr>
            <a:r>
              <a:rPr lang="en-US" sz="1100" i="1" dirty="0">
                <a:solidFill>
                  <a:srgbClr val="5A6472"/>
                </a:solidFill>
                <a:latin typeface="Calibri" pitchFamily="34" charset="0"/>
                <a:cs typeface="Amiri" pitchFamily="2" charset="-78"/>
              </a:rPr>
              <a:t>yar-za-ḥu taḥ-ta</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تَرْزَحُ تَحْتَ</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يُحْرَمُ مِنْ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deprived of</a:t>
            </a:r>
            <a:endParaRPr lang="en-US" sz="1350" dirty="0"/>
          </a:p>
          <a:p>
            <a:pPr indent="0" marL="0">
              <a:buNone/>
            </a:pPr>
            <a:r>
              <a:rPr lang="en-US" sz="1100" i="1" dirty="0">
                <a:solidFill>
                  <a:srgbClr val="5A6472"/>
                </a:solidFill>
                <a:latin typeface="Calibri" pitchFamily="34" charset="0"/>
                <a:cs typeface="Amiri" pitchFamily="2" charset="-78"/>
              </a:rPr>
              <a:t>yuḥ-ra-mu min</a:t>
            </a:r>
            <a:endParaRPr lang="en-US" sz="1350" dirty="0"/>
          </a:p>
        </p:txBody>
      </p:sp>
      <p:sp>
        <p:nvSpPr>
          <p:cNvPr id="38" name="Shape 3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0" name="Text 37"/>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يُحْرَمُونَ مِنْ</a:t>
            </a:r>
            <a:endParaRPr lang="ar-SA" sz="1350" dirty="0"/>
          </a:p>
        </p:txBody>
      </p:sp>
      <p:sp>
        <p:nvSpPr>
          <p:cNvPr id="41" name="Shape 3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تُحْرَمُ مِنْ</a:t>
            </a:r>
            <a:endParaRPr lang="ar-SA" sz="1500" dirty="0"/>
          </a:p>
        </p:txBody>
      </p:sp>
      <p:sp>
        <p:nvSpPr>
          <p:cNvPr id="44" name="Shape 4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1920240"/>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7" name="Shape 4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بِنْيَوِيٌّ</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structural</a:t>
            </a:r>
            <a:endParaRPr lang="en-US" sz="1350" dirty="0"/>
          </a:p>
          <a:p>
            <a:pPr indent="0" marL="0">
              <a:buNone/>
            </a:pPr>
            <a:r>
              <a:rPr lang="en-US" sz="1100" i="1" dirty="0">
                <a:solidFill>
                  <a:srgbClr val="5A6472"/>
                </a:solidFill>
                <a:latin typeface="Calibri" pitchFamily="34" charset="0"/>
                <a:cs typeface="Amiri" pitchFamily="2" charset="-78"/>
              </a:rPr>
              <a:t>bin-ya-wiy-yun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بِنْيَوِيَّةٌ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جِهَازِيٌّ</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systemic</a:t>
            </a:r>
            <a:endParaRPr lang="en-US" sz="1350" dirty="0"/>
          </a:p>
          <a:p>
            <a:pPr indent="0" marL="0">
              <a:buNone/>
            </a:pPr>
            <a:r>
              <a:rPr lang="en-US" sz="1100" i="1" dirty="0">
                <a:solidFill>
                  <a:srgbClr val="5A6472"/>
                </a:solidFill>
                <a:latin typeface="Calibri" pitchFamily="34" charset="0"/>
                <a:cs typeface="Amiri" pitchFamily="2" charset="-78"/>
              </a:rPr>
              <a:t>ji-hā-ziy-yun</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جِهَازِيَّةٌ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التَّنَقُّلُ الاجْتِمَاعِيُّ الصَّاعِدُ</a:t>
            </a:r>
            <a:endParaRPr lang="ar-SA" sz="29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upward social mobility</a:t>
            </a:r>
            <a:endParaRPr lang="en-US" sz="1350" dirty="0"/>
          </a:p>
          <a:p>
            <a:pPr indent="0" marL="0">
              <a:buNone/>
            </a:pPr>
            <a:r>
              <a:rPr lang="en-US" sz="1100" i="1" dirty="0">
                <a:solidFill>
                  <a:srgbClr val="5A6472"/>
                </a:solidFill>
                <a:latin typeface="Calibri" pitchFamily="34" charset="0"/>
                <a:cs typeface="Amiri" pitchFamily="2" charset="-78"/>
              </a:rPr>
              <a:t>at-ta-naq-qu-lu alj-ti-mā-ʿiy-yu aṣ-ṣā-ʿi-du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شَبَكَةُ الأَمَانِ الاجْتِمَاعِيِّ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social safety net</a:t>
            </a:r>
            <a:endParaRPr lang="en-US" sz="1350" dirty="0"/>
          </a:p>
          <a:p>
            <a:pPr indent="0" marL="0">
              <a:buNone/>
            </a:pPr>
            <a:r>
              <a:rPr lang="en-US" sz="1100" i="1" dirty="0">
                <a:solidFill>
                  <a:srgbClr val="5A6472"/>
                </a:solidFill>
                <a:latin typeface="Calibri" pitchFamily="34" charset="0"/>
                <a:cs typeface="Amiri" pitchFamily="2" charset="-78"/>
              </a:rPr>
              <a:t>sha-ba-ka-tu al-a-mā-ni alj-ti-mā-ʿiy-yi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يُسْهِمُ فِي تَعْمِيقِ</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 deepening</a:t>
            </a:r>
            <a:endParaRPr lang="en-US" sz="1350" dirty="0"/>
          </a:p>
          <a:p>
            <a:pPr indent="0" marL="0">
              <a:buNone/>
            </a:pPr>
            <a:r>
              <a:rPr lang="en-US" sz="1100" i="1" dirty="0">
                <a:solidFill>
                  <a:srgbClr val="5A6472"/>
                </a:solidFill>
                <a:latin typeface="Calibri" pitchFamily="34" charset="0"/>
                <a:cs typeface="Amiri" pitchFamily="2" charset="-78"/>
              </a:rPr>
              <a:t>yus-hi-mu fī taʿ-mī-qi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تُسْهِمُ فِي تَعْمِيقِ</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مُسَاوَاةٌ فِي الفُرَصِ</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equality of opportunity</a:t>
            </a:r>
            <a:endParaRPr lang="en-US" sz="1350" dirty="0"/>
          </a:p>
          <a:p>
            <a:pPr indent="0" marL="0">
              <a:buNone/>
            </a:pPr>
            <a:r>
              <a:rPr lang="en-US" sz="1100" i="1" dirty="0">
                <a:solidFill>
                  <a:srgbClr val="5A6472"/>
                </a:solidFill>
                <a:latin typeface="Calibri" pitchFamily="34" charset="0"/>
                <a:cs typeface="Amiri" pitchFamily="2" charset="-78"/>
              </a:rPr>
              <a:t>mu-sā-wā-tun fī al-fu-ra-ṣi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CONCEDE, THEN REFUTE (WEBSITE RULES 1–2, TEACHING POINT 1 AND VOCABULARY)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Admit it — then answer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التَّسْلِيمُ ثُمَّ الدَّحْضُ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5683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82803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0848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9" name="Text 16"/>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675120" y="2267712"/>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صَحِيحٌ أَنَّ نِسَبَ التَّعْلِيمِ </a:t>
            </a:r>
            <a:pPr rtl="1" algn="ctr" indent="0" marL="0">
              <a:buNone/>
            </a:pPr>
            <a:r>
              <a:rPr lang="ar-SA" altLang="en-US" sz="1700" b="1" dirty="0">
                <a:solidFill>
                  <a:srgbClr val="1D5FBF"/>
                </a:solidFill>
                <a:latin typeface="Amiri" pitchFamily="2" charset="-78"/>
                <a:cs typeface="Amiri" pitchFamily="2" charset="-78"/>
              </a:rPr>
              <a:t>ارْتَفَعَتْ</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2" name="Text 19"/>
          <p:cNvSpPr txBox="1"/>
          <p:nvPr/>
        </p:nvSpPr>
        <p:spPr>
          <a:xfrm>
            <a:off x="486460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real verb</a:t>
            </a:r>
            <a:endParaRPr lang="en-US" sz="1100" dirty="0"/>
          </a:p>
        </p:txBody>
      </p:sp>
      <p:sp>
        <p:nvSpPr>
          <p:cNvPr id="23" name="Text 20"/>
          <p:cNvSpPr txBox="1"/>
          <p:nvPr/>
        </p:nvSpPr>
        <p:spPr>
          <a:xfrm>
            <a:off x="2103120" y="2267712"/>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صَحِيحٌ أَنَّ</a:t>
            </a:r>
            <a:endParaRPr lang="ar-SA" sz="1900" dirty="0"/>
          </a:p>
        </p:txBody>
      </p:sp>
      <p:sp>
        <p:nvSpPr>
          <p:cNvPr id="24" name="Text 21"/>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675120" y="3004718"/>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لَا يُمْكِنُ إِنْكَارُ أَنَّ التَّعْلِيمَ </a:t>
            </a:r>
            <a:pPr rtl="1" algn="ctr" indent="0" marL="0">
              <a:buNone/>
            </a:pPr>
            <a:r>
              <a:rPr lang="ar-SA" altLang="en-US" sz="1700" b="1" dirty="0">
                <a:solidFill>
                  <a:srgbClr val="1D5FBF"/>
                </a:solidFill>
                <a:latin typeface="Amiri" pitchFamily="2" charset="-78"/>
                <a:cs typeface="Amiri" pitchFamily="2" charset="-78"/>
              </a:rPr>
              <a:t>تَوَسَّعَ</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9" name="Text 26"/>
          <p:cNvSpPr txBox="1"/>
          <p:nvPr/>
        </p:nvSpPr>
        <p:spPr>
          <a:xfrm>
            <a:off x="486460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real verb</a:t>
            </a:r>
            <a:endParaRPr lang="en-US" sz="1100" dirty="0"/>
          </a:p>
        </p:txBody>
      </p:sp>
      <p:sp>
        <p:nvSpPr>
          <p:cNvPr id="30" name="Text 27"/>
          <p:cNvSpPr txBox="1"/>
          <p:nvPr/>
        </p:nvSpPr>
        <p:spPr>
          <a:xfrm>
            <a:off x="2103120" y="300471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لَا يُمْكِنُ إِنْكَارُ أَنَّ</a:t>
            </a:r>
            <a:endParaRPr lang="ar-SA" sz="1900" dirty="0"/>
          </a:p>
        </p:txBody>
      </p:sp>
      <p:sp>
        <p:nvSpPr>
          <p:cNvPr id="31" name="Text 28"/>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 (strong)</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675120" y="3741725"/>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غَيْرَ أَنَّ الفُرَصَ لَا تَزَالُ غَيْرَ مُتَكَافِئَةٍ.</a:t>
            </a:r>
            <a:endParaRPr lang="ar-SA" sz="1700" dirty="0"/>
          </a:p>
        </p:txBody>
      </p:sp>
      <p:sp>
        <p:nvSpPr>
          <p:cNvPr id="34" name="Text 31"/>
          <p:cNvSpPr txBox="1"/>
          <p:nvPr/>
        </p:nvSpPr>
        <p:spPr>
          <a:xfrm>
            <a:off x="486460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counter-point</a:t>
            </a:r>
            <a:endParaRPr lang="en-US" sz="1100" dirty="0"/>
          </a:p>
        </p:txBody>
      </p:sp>
      <p:sp>
        <p:nvSpPr>
          <p:cNvPr id="35" name="Text 32"/>
          <p:cNvSpPr txBox="1"/>
          <p:nvPr/>
        </p:nvSpPr>
        <p:spPr>
          <a:xfrm>
            <a:off x="2103120" y="3741725"/>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غَيْرَ أَنَّ</a:t>
            </a:r>
            <a:endParaRPr lang="ar-SA" sz="1900" dirty="0"/>
          </a:p>
        </p:txBody>
      </p:sp>
      <p:sp>
        <p:nvSpPr>
          <p:cNvPr id="36" name="Text 33"/>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675120" y="4478731"/>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مَعَ ذٰلِكَ، يُحْرَمُ الفُقَرَاءُ مِنَ الفُرَصِ.</a:t>
            </a:r>
            <a:endParaRPr lang="ar-SA" sz="1700" dirty="0"/>
          </a:p>
        </p:txBody>
      </p:sp>
      <p:sp>
        <p:nvSpPr>
          <p:cNvPr id="41" name="Text 38"/>
          <p:cNvSpPr txBox="1"/>
          <p:nvPr/>
        </p:nvSpPr>
        <p:spPr>
          <a:xfrm>
            <a:off x="486460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full sentence</a:t>
            </a:r>
            <a:endParaRPr lang="en-US" sz="1100" dirty="0"/>
          </a:p>
        </p:txBody>
      </p:sp>
      <p:sp>
        <p:nvSpPr>
          <p:cNvPr id="42" name="Text 39"/>
          <p:cNvSpPr txBox="1"/>
          <p:nvPr/>
        </p:nvSpPr>
        <p:spPr>
          <a:xfrm>
            <a:off x="2103120" y="4478731"/>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مَعَ ذٰلِكَ</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43" name="Text 40"/>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675120" y="5215738"/>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بِالرَّغْمِ مِنْ </a:t>
            </a:r>
            <a:pPr rtl="1" algn="ctr" indent="0" marL="0">
              <a:buNone/>
            </a:pPr>
            <a:r>
              <a:rPr lang="ar-SA" altLang="en-US" sz="1700" b="1" dirty="0">
                <a:solidFill>
                  <a:srgbClr val="D6336C"/>
                </a:solidFill>
                <a:latin typeface="Amiri" pitchFamily="2" charset="-78"/>
                <a:cs typeface="Amiri" pitchFamily="2" charset="-78"/>
              </a:rPr>
              <a:t>نُمُوِّ</a:t>
            </a:r>
            <a:pPr rtl="1" algn="ctr" indent="0" marL="0">
              <a:buNone/>
            </a:pPr>
            <a:r>
              <a:rPr lang="ar-SA" altLang="en-US" sz="1700" b="1" dirty="0">
                <a:solidFill>
                  <a:srgbClr val="1B3B6F"/>
                </a:solidFill>
                <a:latin typeface="Amiri" pitchFamily="2" charset="-78"/>
                <a:cs typeface="Amiri" pitchFamily="2" charset="-78"/>
              </a:rPr>
              <a:t> الاقْتِصَادِ، ازْدَادَ الفَقْرُ.</a:t>
            </a:r>
            <a:endParaRPr lang="ar-SA" sz="1700" dirty="0"/>
          </a:p>
        </p:txBody>
      </p:sp>
      <p:sp>
        <p:nvSpPr>
          <p:cNvPr id="46" name="Text 43"/>
          <p:cNvSpPr txBox="1"/>
          <p:nvPr/>
        </p:nvSpPr>
        <p:spPr>
          <a:xfrm>
            <a:off x="486460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maṣdar</a:t>
            </a:r>
            <a:endParaRPr lang="en-US" sz="1100" dirty="0"/>
          </a:p>
        </p:txBody>
      </p:sp>
      <p:sp>
        <p:nvSpPr>
          <p:cNvPr id="47" name="Text 44"/>
          <p:cNvSpPr txBox="1"/>
          <p:nvPr/>
        </p:nvSpPr>
        <p:spPr>
          <a:xfrm>
            <a:off x="2103120" y="521573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بِالرَّغْمِ مِنْ</a:t>
            </a:r>
            <a:endParaRPr lang="ar-SA" sz="1900" dirty="0"/>
          </a:p>
        </p:txBody>
      </p:sp>
      <p:sp>
        <p:nvSpPr>
          <p:cNvPr id="48" name="Text 45"/>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a:t>
            </a:r>
            <a:pPr algn="l" indent="0" marL="0">
              <a:buNone/>
            </a:pPr>
            <a:r>
              <a:rPr lang="ar-SA" altLang="en-US" sz="1500" b="1" dirty="0">
                <a:solidFill>
                  <a:srgbClr val="1B3B6F"/>
                </a:solidFill>
                <a:latin typeface="Amiri" pitchFamily="2" charset="-78"/>
                <a:cs typeface="Amiri" pitchFamily="2" charset="-78"/>
              </a:rPr>
              <a:t>، وَالتَّفَاوُتُ ازْدَادَ</a:t>
            </a:r>
            <a:pPr algn="l" indent="0" marL="0">
              <a:buNone/>
            </a:pPr>
            <a:r>
              <a:rPr lang="en-US" sz="1150" b="1" dirty="0">
                <a:solidFill>
                  <a:srgbClr val="1B3B6F"/>
                </a:solidFill>
                <a:latin typeface="Calibri" pitchFamily="34" charset="0"/>
                <a:cs typeface="Amiri" pitchFamily="2" charset="-78"/>
              </a:rPr>
              <a:t> ✗ (a bare wa- is too weak) → …</a:t>
            </a:r>
            <a:pPr algn="l" indent="0" marL="0">
              <a:buNone/>
            </a:pPr>
            <a:r>
              <a:rPr lang="ar-SA" altLang="en-US" sz="1500" b="1" dirty="0">
                <a:solidFill>
                  <a:srgbClr val="1B3B6F"/>
                </a:solidFill>
                <a:latin typeface="Amiri" pitchFamily="2" charset="-78"/>
                <a:cs typeface="Amiri" pitchFamily="2" charset="-78"/>
              </a:rPr>
              <a:t>، غَيْرَ أَنَّ التَّفَاوُتَ ازْدَادَ</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REAL VS REQUIRED (WEBSITE TEACHING POINT 2 AND MISTAKE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The concession is real — the solution is not yet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الوَاقِعُ وَالمَطْلُوبُ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 INDICATIVE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صَحِيحٌ أَنَّ … 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صَحِيحٌ أَنَّ الاقْتِصَادَ العَرَبِيَّ نَمَا فِي العُقُودِ الأَخِيرَةِ.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true that the Arab economy has grown in recent decades.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happened → no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REQUIRED · SUBJUNCTIVE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يَتَطَلَّبُ … أَنْ تُعِيدَ</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يَتَطَلَّبُ الأَمْرُ أَنْ تُعِيدَ الحُكُومَاتُ تَوْزِيعَ الثَّرْوَةِ.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requires governments to redistribute wealth.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done yet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ANNA ≠ AN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 اسْمٌ · أَنْ + فِعْلٌ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صَحِيحٌ أَنَّ النُّمُوَّ تَحَقَّقَ · يَنْبَغِي أَنْ نُحَقِّقَ العَدَالَةَ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anna + a noun (real) · an + a verb in -a (required)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words, two jobs.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a conceded fact is real — no subjunctive.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صَحِيحٌ أَنَّ الاقْتِصَادَ نَمَا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صَحِيحٌ أَنَّ الاقْتِصَادَ يَنْمُوَ</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FOUR-MOVE PARAGRAPH (WEBSITE RULES 1–4, TABLE AND WRITING MODEL)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Concede → refute → analyse → conclude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الحَرَكَاتُ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553712" y="1810512"/>
            <a:ext cx="7104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writing model)</a:t>
            </a:r>
            <a:endParaRPr lang="en-US" sz="1100" dirty="0"/>
          </a:p>
        </p:txBody>
      </p:sp>
      <p:sp>
        <p:nvSpPr>
          <p:cNvPr id="17" name="Text 14"/>
          <p:cNvSpPr txBox="1"/>
          <p:nvPr/>
        </p:nvSpPr>
        <p:spPr>
          <a:xfrm>
            <a:off x="2176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572000" y="2267712"/>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صَحِيحٌ أَنَّ</a:t>
            </a:r>
            <a:pPr rtl="1" algn="ctr" indent="0" marL="0">
              <a:buNone/>
            </a:pPr>
            <a:r>
              <a:rPr lang="ar-SA" altLang="en-US" sz="1700" b="1" dirty="0">
                <a:solidFill>
                  <a:srgbClr val="1B3B6F"/>
                </a:solidFill>
                <a:latin typeface="Amiri" pitchFamily="2" charset="-78"/>
                <a:cs typeface="Amiri" pitchFamily="2" charset="-78"/>
              </a:rPr>
              <a:t> الاقْتِصَادَ العَرَبِيَّ نَمَا وَارْتَفَعَتْ نِسَبُ التَّعْلِيمِ،</a:t>
            </a:r>
            <a:endParaRPr lang="ar-SA" sz="1700" dirty="0"/>
          </a:p>
        </p:txBody>
      </p:sp>
      <p:sp>
        <p:nvSpPr>
          <p:cNvPr id="21" name="Text 18"/>
          <p:cNvSpPr txBox="1"/>
          <p:nvPr/>
        </p:nvSpPr>
        <p:spPr>
          <a:xfrm>
            <a:off x="221284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ṣaḥīḥun anna</a:t>
            </a:r>
            <a:endParaRPr lang="en-US" sz="1100" dirty="0"/>
          </a:p>
        </p:txBody>
      </p:sp>
      <p:sp>
        <p:nvSpPr>
          <p:cNvPr id="22" name="Text 19"/>
          <p:cNvSpPr txBox="1"/>
          <p:nvPr/>
        </p:nvSpPr>
        <p:spPr>
          <a:xfrm>
            <a:off x="566928"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572000" y="3054096"/>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غَيْرَ أَنَّ</a:t>
            </a:r>
            <a:pPr rtl="1" algn="ctr" indent="0" marL="0">
              <a:buNone/>
            </a:pPr>
            <a:r>
              <a:rPr lang="ar-SA" altLang="en-US" sz="1700" b="1" dirty="0">
                <a:solidFill>
                  <a:srgbClr val="1B3B6F"/>
                </a:solidFill>
                <a:latin typeface="Amiri" pitchFamily="2" charset="-78"/>
                <a:cs typeface="Amiri" pitchFamily="2" charset="-78"/>
              </a:rPr>
              <a:t> الهُوَّةَ بَيْنَ الأَغْنِيَاءِ وَالفُقَرَاءِ ازْدَادَتِ اتِّسَاعًا.</a:t>
            </a:r>
            <a:endParaRPr lang="ar-SA" sz="1700" dirty="0"/>
          </a:p>
        </p:txBody>
      </p:sp>
      <p:sp>
        <p:nvSpPr>
          <p:cNvPr id="27" name="Text 24"/>
          <p:cNvSpPr txBox="1"/>
          <p:nvPr/>
        </p:nvSpPr>
        <p:spPr>
          <a:xfrm>
            <a:off x="221284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anna</a:t>
            </a:r>
            <a:endParaRPr lang="en-US" sz="1100" dirty="0"/>
          </a:p>
        </p:txBody>
      </p:sp>
      <p:sp>
        <p:nvSpPr>
          <p:cNvPr id="28" name="Text 25"/>
          <p:cNvSpPr txBox="1"/>
          <p:nvPr/>
        </p:nvSpPr>
        <p:spPr>
          <a:xfrm>
            <a:off x="566928"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refute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572000" y="3840480"/>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وَلَوْ</a:t>
            </a:r>
            <a:pPr rtl="1" algn="ctr" indent="0" marL="0">
              <a:buNone/>
            </a:pPr>
            <a:r>
              <a:rPr lang="ar-SA" altLang="en-US" sz="1700" b="1" dirty="0">
                <a:solidFill>
                  <a:srgbClr val="1B3B6F"/>
                </a:solidFill>
                <a:latin typeface="Amiri" pitchFamily="2" charset="-78"/>
                <a:cs typeface="Amiri" pitchFamily="2" charset="-78"/>
              </a:rPr>
              <a:t> كَانَتْ سِيَاسَاتُ إِعَادَةِ تَوْزِيعِ الثَّرْوَةِ أَكْثَرَ فَاعِلِيَّةً، </a:t>
            </a:r>
            <a:pPr rtl="1" algn="ctr" indent="0" marL="0">
              <a:buNone/>
            </a:pPr>
            <a:r>
              <a:rPr lang="ar-SA" altLang="en-US" sz="1700" b="1" dirty="0">
                <a:solidFill>
                  <a:srgbClr val="7B3FA0"/>
                </a:solidFill>
                <a:latin typeface="Amiri" pitchFamily="2" charset="-78"/>
                <a:cs typeface="Amiri" pitchFamily="2" charset="-78"/>
              </a:rPr>
              <a:t>لَكَانَتِ</a:t>
            </a:r>
            <a:pPr rtl="1" algn="ctr" indent="0" marL="0">
              <a:buNone/>
            </a:pPr>
            <a:r>
              <a:rPr lang="ar-SA" altLang="en-US" sz="1700" b="1" dirty="0">
                <a:solidFill>
                  <a:srgbClr val="1B3B6F"/>
                </a:solidFill>
                <a:latin typeface="Amiri" pitchFamily="2" charset="-78"/>
                <a:cs typeface="Amiri" pitchFamily="2" charset="-78"/>
              </a:rPr>
              <a:t> المُعَدَّلَاتُ أَقَلَّ.</a:t>
            </a:r>
            <a:endParaRPr lang="ar-SA" sz="1700" dirty="0"/>
          </a:p>
        </p:txBody>
      </p:sp>
      <p:sp>
        <p:nvSpPr>
          <p:cNvPr id="33" name="Text 30"/>
          <p:cNvSpPr txBox="1"/>
          <p:nvPr/>
        </p:nvSpPr>
        <p:spPr>
          <a:xfrm>
            <a:off x="221284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4" name="Text 31"/>
          <p:cNvSpPr txBox="1"/>
          <p:nvPr/>
        </p:nvSpPr>
        <p:spPr>
          <a:xfrm>
            <a:off x="566928"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analyse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4572000" y="4626864"/>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يَتَطَلَّبُ تَحْقِيقُ العَدَالَةِ أَنْ </a:t>
            </a:r>
            <a:pPr rtl="1" algn="ctr" indent="0" marL="0">
              <a:buNone/>
            </a:pPr>
            <a:r>
              <a:rPr lang="ar-SA" altLang="en-US" sz="1700" b="1" dirty="0">
                <a:solidFill>
                  <a:srgbClr val="0E7C86"/>
                </a:solidFill>
                <a:latin typeface="Amiri" pitchFamily="2" charset="-78"/>
                <a:cs typeface="Amiri" pitchFamily="2" charset="-78"/>
              </a:rPr>
              <a:t>تُعِيدَ</a:t>
            </a:r>
            <a:pPr rtl="1" algn="ctr" indent="0" marL="0">
              <a:buNone/>
            </a:pPr>
            <a:r>
              <a:rPr lang="ar-SA" altLang="en-US" sz="1700" b="1" dirty="0">
                <a:solidFill>
                  <a:srgbClr val="1B3B6F"/>
                </a:solidFill>
                <a:latin typeface="Amiri" pitchFamily="2" charset="-78"/>
                <a:cs typeface="Amiri" pitchFamily="2" charset="-78"/>
              </a:rPr>
              <a:t> الحُكُومَاتُ النَّظَرَ …</a:t>
            </a:r>
            <a:endParaRPr lang="ar-SA" sz="1700" dirty="0"/>
          </a:p>
        </p:txBody>
      </p:sp>
      <p:sp>
        <p:nvSpPr>
          <p:cNvPr id="37" name="Text 34"/>
          <p:cNvSpPr txBox="1"/>
          <p:nvPr/>
        </p:nvSpPr>
        <p:spPr>
          <a:xfrm>
            <a:off x="221284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wa-bināʾan … + an</a:t>
            </a:r>
            <a:endParaRPr lang="en-US" sz="1100" dirty="0"/>
          </a:p>
        </p:txBody>
      </p:sp>
      <p:sp>
        <p:nvSpPr>
          <p:cNvPr id="38" name="Text 35"/>
          <p:cNvSpPr txBox="1"/>
          <p:nvPr/>
        </p:nvSpPr>
        <p:spPr>
          <a:xfrm>
            <a:off x="566928"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conclude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sa-tarājaʿa ✗ → law … la-tarājaʿa ✓. The Type 2 result always takes la-.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ACADEMIC REGISTER OF INEQUALITY (WEBSITE LISTENING, READING AND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social scientist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عِلْمِ الاجْتِمَاعِ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Instead of …</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yaʿīshu fī</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يَرْزَحُ</a:t>
            </a:r>
            <a:pPr rtl="1" algn="ctr" indent="0" marL="0">
              <a:buNone/>
            </a:pPr>
            <a:r>
              <a:rPr lang="ar-SA" altLang="en-US" sz="1800" b="1" dirty="0">
                <a:solidFill>
                  <a:srgbClr val="1B3B6F"/>
                </a:solidFill>
                <a:latin typeface="Amiri" pitchFamily="2" charset="-78"/>
                <a:cs typeface="Amiri" pitchFamily="2" charset="-78"/>
              </a:rPr>
              <a:t> كَثِيرُونَ </a:t>
            </a:r>
            <a:pPr rtl="1" algn="ctr" indent="0" marL="0">
              <a:buNone/>
            </a:pPr>
            <a:r>
              <a:rPr lang="ar-SA" altLang="en-US" sz="1800" b="1" dirty="0">
                <a:solidFill>
                  <a:srgbClr val="D6336C"/>
                </a:solidFill>
                <a:latin typeface="Amiri" pitchFamily="2" charset="-78"/>
                <a:cs typeface="Amiri" pitchFamily="2" charset="-78"/>
              </a:rPr>
              <a:t>تَحْتَ وَطْأَةِ</a:t>
            </a:r>
            <a:pPr rtl="1" algn="ctr" indent="0" marL="0">
              <a:buNone/>
            </a:pPr>
            <a:r>
              <a:rPr lang="ar-SA" altLang="en-US" sz="1800" b="1" dirty="0">
                <a:solidFill>
                  <a:srgbClr val="1B3B6F"/>
                </a:solidFill>
                <a:latin typeface="Amiri" pitchFamily="2" charset="-78"/>
                <a:cs typeface="Amiri" pitchFamily="2" charset="-78"/>
              </a:rPr>
              <a:t> الفَقْرِ المُدْقِعِ</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suffer under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ladayhim</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a:t>
            </a:r>
            <a:pPr rtl="1" algn="ctr" indent="0" marL="0">
              <a:buNone/>
            </a:pPr>
            <a:r>
              <a:rPr lang="ar-SA" altLang="en-US" sz="1800" b="1" dirty="0">
                <a:solidFill>
                  <a:srgbClr val="7B3FA0"/>
                </a:solidFill>
                <a:latin typeface="Amiri" pitchFamily="2" charset="-78"/>
                <a:cs typeface="Amiri" pitchFamily="2" charset="-78"/>
              </a:rPr>
              <a:t>يُحْرَمُ</a:t>
            </a:r>
            <a:pPr rtl="1" algn="ctr" indent="0" marL="0">
              <a:buNone/>
            </a:pPr>
            <a:r>
              <a:rPr lang="ar-SA" altLang="en-US" sz="1800" b="1" dirty="0">
                <a:solidFill>
                  <a:srgbClr val="1B3B6F"/>
                </a:solidFill>
                <a:latin typeface="Amiri" pitchFamily="2" charset="-78"/>
                <a:cs typeface="Amiri" pitchFamily="2" charset="-78"/>
              </a:rPr>
              <a:t> الأَطْفَالُ </a:t>
            </a:r>
            <a:pPr rtl="1" algn="ctr" indent="0" marL="0">
              <a:buNone/>
            </a:pPr>
            <a:r>
              <a:rPr lang="ar-SA" altLang="en-US" sz="1800" b="1" dirty="0">
                <a:solidFill>
                  <a:srgbClr val="7B3FA0"/>
                </a:solidFill>
                <a:latin typeface="Amiri" pitchFamily="2" charset="-78"/>
                <a:cs typeface="Amiri" pitchFamily="2" charset="-78"/>
              </a:rPr>
              <a:t>مِنْ</a:t>
            </a:r>
            <a:pPr rtl="1" algn="ctr" indent="0" marL="0">
              <a:buNone/>
            </a:pPr>
            <a:r>
              <a:rPr lang="ar-SA" altLang="en-US" sz="1800" b="1" dirty="0">
                <a:solidFill>
                  <a:srgbClr val="1B3B6F"/>
                </a:solidFill>
                <a:latin typeface="Amiri" pitchFamily="2" charset="-78"/>
                <a:cs typeface="Amiri" pitchFamily="2" charset="-78"/>
              </a:rPr>
              <a:t> فُرَصِ التَّعْلِيمِ</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deprived of</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wa-hādhā sayyiʾ</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مِمَّا يُسْهِمُ فِي تَعْمِيقِ</a:t>
            </a:r>
            <a:pPr rtl="1" algn="ctr" indent="0" marL="0">
              <a:buNone/>
            </a:pPr>
            <a:r>
              <a:rPr lang="ar-SA" altLang="en-US" sz="1800" b="1" dirty="0">
                <a:solidFill>
                  <a:srgbClr val="1B3B6F"/>
                </a:solidFill>
                <a:latin typeface="Amiri" pitchFamily="2" charset="-78"/>
                <a:cs typeface="Amiri" pitchFamily="2" charset="-78"/>
              </a:rPr>
              <a:t> دَوَّامَةِ الحِرْمَانِ</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deepens</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kabīr</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الفَقْرِ </a:t>
            </a:r>
            <a:pPr rtl="1" algn="ctr" indent="0" marL="0">
              <a:buNone/>
            </a:pPr>
            <a:r>
              <a:rPr lang="ar-SA" altLang="en-US" sz="1800" b="1" dirty="0">
                <a:solidFill>
                  <a:srgbClr val="C77700"/>
                </a:solidFill>
                <a:latin typeface="Amiri" pitchFamily="2" charset="-78"/>
                <a:cs typeface="Amiri" pitchFamily="2" charset="-78"/>
              </a:rPr>
              <a:t>البِنْيَوِيِّ</a:t>
            </a:r>
            <a:pPr rtl="1" algn="ctr" indent="0" marL="0">
              <a:buNone/>
            </a:pPr>
            <a:r>
              <a:rPr lang="ar-SA" altLang="en-US" sz="1800" b="1" dirty="0">
                <a:solidFill>
                  <a:srgbClr val="1B3B6F"/>
                </a:solidFill>
                <a:latin typeface="Amiri" pitchFamily="2" charset="-78"/>
                <a:cs typeface="Amiri" pitchFamily="2" charset="-78"/>
              </a:rPr>
              <a:t> · التَّهْمِيشَ </a:t>
            </a:r>
            <a:pPr rtl="1" algn="ctr" indent="0" marL="0">
              <a:buNone/>
            </a:pPr>
            <a:r>
              <a:rPr lang="ar-SA" altLang="en-US" sz="1800" b="1" dirty="0">
                <a:solidFill>
                  <a:srgbClr val="C77700"/>
                </a:solidFill>
                <a:latin typeface="Amiri" pitchFamily="2" charset="-78"/>
                <a:cs typeface="Amiri" pitchFamily="2" charset="-78"/>
              </a:rPr>
              <a:t>الجِهَازِيَّ</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structural · systemic</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mushkila kabīra</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التَّفَاوُتُ الاجْتِمَاعِيُّ </a:t>
            </a:r>
            <a:pPr rtl="1" algn="ctr" indent="0" marL="0">
              <a:buNone/>
            </a:pPr>
            <a:r>
              <a:rPr lang="ar-SA" altLang="en-US" sz="1800" b="1" dirty="0">
                <a:solidFill>
                  <a:srgbClr val="0E7C86"/>
                </a:solidFill>
                <a:latin typeface="Amiri" pitchFamily="2" charset="-78"/>
                <a:cs typeface="Amiri" pitchFamily="2" charset="-78"/>
              </a:rPr>
              <a:t>مِنْ أَخْطَرِ التَّحَدِّيَاتِ</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gravest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Academic Arabic replaces everyday verbs with precise, weighty ones — and adds an adjective that explains the CAUSE (structural, systemic).</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concession-refutation architecture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بِنْيَةُ التَّسْلِيمِ وَالدَّحْضِ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Concede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a real (indicative)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صَحِيحٌ أَنَّ الاقْتِصَادَ العَرَبِيَّ نَمَا فِي العُقُودِ الأَخِيرَةِ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Refute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ghayra anna + the counter-argument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غَيْرَ أَنَّ الهُوَّةَ بَيْنَ الأَغْنِيَاءِ وَالفُقَرَاءِ ازْدَادَتِ اتِّسَاعًا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Analyse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كَانَتْ سِيَاسَاتُ الحِمَايَةِ أَقْوَى، لَكَانَتْ مُعَدَّلَاتُ الفَقْرِ أَقَلَّ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Conclude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yataṭallabu an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وَبِنَاءً عَلَى مَا سَبَقَ، يَتَطَلَّبُ الأَمْرُ أَنْ تُعِيدَ الحُكُومَاتُ تَوْزِيعَ الثَّرْوَةِ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 التَّفَاوُتَ ازْدَادَ.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نَمَا الاقْتِصَادُ لَتَحَسَّنَ الوَضْعُ.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الاقْتِصَادَ نَمَا.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 (a real situation)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صَحِيحٌ أَنَّ التَّعْلِيمَ ___ ، غَيْرَ أَنَّ الفُرَصَ غَيْرُ مُتَكَافِئَةٍ.</a:t>
            </a:r>
            <a:endParaRPr lang="ar-SA" sz="10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يَتَحَسَّنَ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لِيَتَحَسَّنْ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أَنَّ التَّفَاوُتَ ازْدَادَ.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نَمَا الاقْتِصَادُ لَتَحَسَّنَ الوَضْعُ.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 أَنَّ الاقْتِصَادَ نَمَا.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 indicative concedes a real point.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غَيْرَ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the formal refutation connector.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 (a real situation)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stays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صَحِيحٌ أَنَّ التَّعْلِيمَ ___ ، غَيْرَ أَنَّ الفُرَصَ غَيْرُ مُتَكَافِئَةٍ.</a:t>
            </a:r>
            <a:endParaRPr lang="ar-SA" sz="10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تَحَسَّنَ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يَتَحَسَّنَ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لِيَتَحَسَّنْ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indicative/past: </a:t>
            </a:r>
            <a:pPr algn="l" indent="0" marL="0">
              <a:buNone/>
            </a:pPr>
            <a:r>
              <a:rPr lang="ar-SA" altLang="en-US" sz="1350" dirty="0">
                <a:solidFill>
                  <a:srgbClr val="8A6D1E"/>
                </a:solidFill>
                <a:latin typeface="Amiri" pitchFamily="2" charset="-78"/>
                <a:cs typeface="Amiri" pitchFamily="2" charset="-78"/>
              </a:rPr>
              <a:t>تَحَسَّنَ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Watch me write an inequality analysis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تُشِيرُ</a:t>
            </a:r>
            <a:pPr rtl="1" algn="ctr" indent="0" marL="0">
              <a:buNone/>
            </a:pPr>
            <a:r>
              <a:rPr lang="ar-SA" altLang="en-US" sz="2200" b="1" dirty="0">
                <a:solidFill>
                  <a:srgbClr val="1B3B6F"/>
                </a:solidFill>
                <a:latin typeface="Amiri" pitchFamily="2" charset="-78"/>
                <a:cs typeface="Amiri" pitchFamily="2" charset="-78"/>
              </a:rPr>
              <a:t> التَّقَارِيرُ </a:t>
            </a:r>
            <a:pPr rtl="1" algn="ctr" indent="0" marL="0">
              <a:buNone/>
            </a:pPr>
            <a:r>
              <a:rPr lang="ar-SA" altLang="en-US" sz="2200" b="1" dirty="0">
                <a:solidFill>
                  <a:srgbClr val="C77700"/>
                </a:solidFill>
                <a:latin typeface="Amiri" pitchFamily="2" charset="-78"/>
                <a:cs typeface="Amiri" pitchFamily="2" charset="-78"/>
              </a:rPr>
              <a:t>إِلَى أَنَّ</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Numbers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Concede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صَحِيحٌ أَنَّ</a:t>
            </a:r>
            <a:pPr rtl="1" algn="ctr" indent="0" marL="0">
              <a:buNone/>
            </a:pPr>
            <a:r>
              <a:rPr lang="ar-SA" altLang="en-US" sz="2800" b="1" dirty="0">
                <a:solidFill>
                  <a:srgbClr val="1B3B6F"/>
                </a:solidFill>
                <a:latin typeface="Amiri" pitchFamily="2" charset="-78"/>
                <a:cs typeface="Amiri" pitchFamily="2" charset="-78"/>
              </a:rPr>
              <a:t> … نَمَا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Real → no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غَيْرَ أَنَّ</a:t>
            </a:r>
            <a:pPr rtl="1" algn="ctr" indent="0" marL="0">
              <a:buNone/>
            </a:pPr>
            <a:r>
              <a:rPr lang="ar-SA" altLang="en-US" sz="2800" b="1" dirty="0">
                <a:solidFill>
                  <a:srgbClr val="1B3B6F"/>
                </a:solidFill>
                <a:latin typeface="Amiri" pitchFamily="2" charset="-78"/>
                <a:cs typeface="Amiri" pitchFamily="2" charset="-78"/>
              </a:rPr>
              <a:t> الهُوَّةَ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However.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Analyse + 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cs typeface="Amiri" pitchFamily="2" charset="-78"/>
              </a:rPr>
              <a:t>لَوْ</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7B3FA0"/>
                </a:solidFill>
                <a:latin typeface="Amiri" pitchFamily="2" charset="-78"/>
                <a:cs typeface="Amiri" pitchFamily="2" charset="-78"/>
              </a:rPr>
              <a:t>لَكَانَتِ</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0E7C86"/>
                </a:solidFill>
                <a:latin typeface="Amiri" pitchFamily="2" charset="-78"/>
                <a:cs typeface="Amiri" pitchFamily="2" charset="-78"/>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 · 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CONCEDE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REFUTE</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CONCLUDE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تُشِيرُ</a:t>
            </a:r>
            <a:pPr rtl="1" algn="r" indent="0" marL="0">
              <a:lnSpc>
                <a:spcPct val="120000"/>
              </a:lnSpc>
              <a:buNone/>
            </a:pPr>
            <a:r>
              <a:rPr lang="ar-SA" altLang="en-US" sz="1400" b="1" dirty="0">
                <a:solidFill>
                  <a:srgbClr val="1B3B6F"/>
                </a:solidFill>
                <a:latin typeface="Amiri" pitchFamily="2" charset="-78"/>
                <a:cs typeface="Amiri" pitchFamily="2" charset="-78"/>
              </a:rPr>
              <a:t> تَقَارِيرُ الأُمَمِ المُتَّحِدَةِ </a:t>
            </a:r>
            <a:pPr rtl="1" algn="r" indent="0" marL="0">
              <a:lnSpc>
                <a:spcPct val="120000"/>
              </a:lnSpc>
              <a:buNone/>
            </a:pPr>
            <a:r>
              <a:rPr lang="ar-SA" altLang="en-US" sz="1400" b="1" dirty="0">
                <a:solidFill>
                  <a:srgbClr val="C77700"/>
                </a:solidFill>
                <a:latin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cs typeface="Amiri" pitchFamily="2" charset="-78"/>
              </a:rPr>
              <a:t> أَكْثَرَ مِنْ مِئَةِ مِلْيُونِ عَرَبِيٍّ يَعِيشُونَ تَحْتَ حَدِّ الفَقْرِ. </a:t>
            </a:r>
            <a:pPr rtl="1" algn="r" indent="0" marL="0">
              <a:lnSpc>
                <a:spcPct val="120000"/>
              </a:lnSpc>
              <a:buNone/>
            </a:pPr>
            <a:r>
              <a:rPr lang="ar-SA" altLang="en-US" sz="1400" b="1" dirty="0">
                <a:solidFill>
                  <a:srgbClr val="1D5FBF"/>
                </a:solidFill>
                <a:latin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cs typeface="Amiri" pitchFamily="2" charset="-78"/>
              </a:rPr>
              <a:t> الاقْتِصَادَ العَرَبِيَّ نَمَا، </a:t>
            </a:r>
            <a:pPr rtl="1" algn="r" indent="0" marL="0">
              <a:lnSpc>
                <a:spcPct val="120000"/>
              </a:lnSpc>
              <a:buNone/>
            </a:pPr>
            <a:r>
              <a:rPr lang="ar-SA" altLang="en-US" sz="1400" b="1" dirty="0">
                <a:solidFill>
                  <a:srgbClr val="D6336C"/>
                </a:solidFill>
                <a:latin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cs typeface="Amiri" pitchFamily="2" charset="-78"/>
              </a:rPr>
              <a:t> الهُوَّةَ بَيْنَ الأَغْنِيَاءِ وَالفُقَرَاءِ ازْدَادَتِ اتِّسَاعًا. </a:t>
            </a:r>
            <a:pPr rtl="1" algn="r" indent="0" marL="0">
              <a:lnSpc>
                <a:spcPct val="120000"/>
              </a:lnSpc>
              <a:buNone/>
            </a:pPr>
            <a:r>
              <a:rPr lang="ar-SA" altLang="en-US" sz="1400" b="1" dirty="0">
                <a:solidFill>
                  <a:srgbClr val="7B3FA0"/>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كَانَتْ سِيَاسَاتُ التَّوْزِيعِ أَكْثَرَ فَاعِلِيَّةً، </a:t>
            </a:r>
            <a:pPr rtl="1" algn="r" indent="0" marL="0">
              <a:lnSpc>
                <a:spcPct val="120000"/>
              </a:lnSpc>
              <a:buNone/>
            </a:pPr>
            <a:r>
              <a:rPr lang="ar-SA" altLang="en-US" sz="1400" b="1" dirty="0">
                <a:solidFill>
                  <a:srgbClr val="7B3FA0"/>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المُعَدَّلَاتُ أَقَلَّ. </a:t>
            </a:r>
            <a:pPr rtl="1" algn="r" indent="0" marL="0">
              <a:lnSpc>
                <a:spcPct val="120000"/>
              </a:lnSpc>
              <a:buNone/>
            </a:pPr>
            <a:r>
              <a:rPr lang="ar-SA" altLang="en-US" sz="1400" b="1" dirty="0">
                <a:solidFill>
                  <a:srgbClr val="0E7C86"/>
                </a:solidFill>
                <a:latin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cs typeface="Amiri" pitchFamily="2" charset="-78"/>
              </a:rPr>
              <a:t>، يَتَطَلَّبُ الأَمْرُ أَنْ تُعِيدَ الحُكُومَاتُ النَّظَرَ فِي سِيَاسَاتِهَا.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UN reports indicate that more than 100 million Arabs live below the poverty line. It is true that the Arab economy has grown; however, the gap between rich and poor has grown wider. Had distribution policies been more effective, the rates would be lower. Based on the above, governments need to review their policies.</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صَحِيحٌ أَنَّ الاقْتِصَادَ نَمَا، غَيْرَ أَنَّ التَّفَاوُتَ الطَّبَقِيَّ ازْدَادَ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the economy has grown; however, class inequality has increased</a:t>
            </a:r>
            <a:endParaRPr lang="en-US" sz="1250" dirty="0"/>
          </a:p>
          <a:p>
            <a:pPr indent="0" marL="0">
              <a:buNone/>
            </a:pPr>
            <a:r>
              <a:rPr lang="en-US" sz="1050" i="1" dirty="0">
                <a:solidFill>
                  <a:srgbClr val="8A6D1E"/>
                </a:solidFill>
                <a:latin typeface="Calibri" pitchFamily="34" charset="0"/>
                <a:cs typeface="Amiri" pitchFamily="2" charset="-78"/>
              </a:rPr>
              <a:t>Concession then refutation.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يَرْزَحُ كَثِيرُونَ تَحْتَ وَطْأَةِ الفَقْرِ المُدْقِعِ</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many suffer under the weight of extreme poverty</a:t>
            </a:r>
            <a:endParaRPr lang="en-US" sz="1250" dirty="0"/>
          </a:p>
          <a:p>
            <a:pPr indent="0" marL="0">
              <a:buNone/>
            </a:pPr>
            <a:r>
              <a:rPr lang="en-US" sz="1050" i="1" dirty="0">
                <a:solidFill>
                  <a:srgbClr val="8A6D1E"/>
                </a:solidFill>
                <a:latin typeface="Calibri" pitchFamily="34" charset="0"/>
                <a:cs typeface="Amiri" pitchFamily="2" charset="-78"/>
              </a:rPr>
              <a:t>The formal verb yarzaḥu taḥta.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لَوْ كَانَتْ سِيَاسَاتُ الحِمَايَةِ أَقْوَى، لَكَانَتْ مُعَدَّلَاتُ الفَقْرِ أَقَلَّ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protection policies been stronger, poverty rates would be lower</a:t>
            </a:r>
            <a:endParaRPr lang="en-US" sz="1250" dirty="0"/>
          </a:p>
          <a:p>
            <a:pPr indent="0" marL="0">
              <a:buNone/>
            </a:pPr>
            <a:r>
              <a:rPr lang="en-US" sz="1050" i="1" dirty="0">
                <a:solidFill>
                  <a:srgbClr val="8A6D1E"/>
                </a:solidFill>
                <a:latin typeface="Calibri" pitchFamily="34" charset="0"/>
                <a:cs typeface="Amiri" pitchFamily="2" charset="-78"/>
              </a:rPr>
              <a:t>Type 2 social analysis.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POVERTY AND INEQUALITY — ANALYSING SOCIAL DISPARITIES”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Faces of inequality: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عَدَمُ 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wealth gap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healthcare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الوُصُولُ إِلَى الرِّعَايَةِ الصِّحِّيَّةِ غَيْرُ مُتَسَاوٍ.</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يَخْتَلِفُ مُسْتَوَى السَّكَنِ بَيْنَ الأُسَرِ.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هُنَاكَ فَجْوَةٌ كَبِيرَةٌ بَيْنَ الأَغْنِيَاءِ وَالفُقَرَاءِ.</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عَدَمُ 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wealth gap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هُنَاكَ فَجْوَةٌ كَبِيرَةٌ بَيْنَ الأَغْنِيَاءِ وَالفُقَرَاءِ.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There is a large gap between the rich and the poor.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healthcare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الوُصُولُ إِلَى الرِّعَايَةِ الصِّحِّيَّةِ غَيْرُ مُتَسَاوٍ.</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Access to healthcare is unequal.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يَخْتَلِفُ مُسْتَوَى السَّكَنِ بَيْنَ الأُسَرِ.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standard of housing differs between families.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 CONCESSION–REFUTATION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Concede + refute + solve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ثُمَّ ادْحَضْ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Concede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Refute (ghayra anna)</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Solution / analysis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صَحِيحٌ أَنَّ الاقْتِصَادَ العَرَبِيَّ نَمَا فِي العُقُودِ الأَخِيرَةِ</a:t>
            </a:r>
            <a:endParaRPr lang="ar-SA" sz="15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غَيْرَ أَنَّ الهُوَّةَ بَيْنَ الأَغْنِيَاءِ وَالفُقَرَاءِ ازْدَادَتِ اتِّسَاعًا</a:t>
            </a:r>
            <a:endParaRPr lang="ar-SA" sz="145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وَيَتَطَلَّبُ الأَمْرُ أَنْ تُعِيدَ الحُكُومَاتُ تَوْزِيعَ الثَّرْوَةِ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صَحِيحٌ أَنَّ نِسَبَ التَّعْلِيمِ ارْتَفَعَتْ بِوُضُوحٍ</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غَيْرَ أَنَّ التَّهْمِيشَ الجِهَازِيَّ لَا يَزَالُ قَائِمًا</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وَبِنَاءً عَلَى مَا سَبَقَ يَنْبَغِي أَنْ تُوَسَّعَ شَبَكَةُ الأَمَانِ</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لَا يُمْكِنُ إِنْكَارُ أَنَّ الفُرَصَ تَوَسَّعَتْ نِسْبِيًّا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غَيْرَ أَنَّ كَثِيرِينَ يُحْرَمُونَ مِنْ فُرَصِ التَّعْلِيمِ</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قَوِيَتِ السِّيَاسَاتُ لَتَرَاجَعَتْ مُعَدَّلَاتُ الفَقْرِ</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check: is the conceded verb real (no -a)? Does the solution verb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Concession, refutation — or analysis / conclusion?</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الاقْتِصَادَ نَمَا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لَا يُمْكِنُ إِنْكَارُ أَنَّ التَّعْلِيمَ تَوَسَّعَ</a:t>
            </a:r>
            <a:endParaRPr lang="ar-SA" sz="17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الفُرَصَ زَادَتْ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أَنَّ الهُوَّةَ ازْدَادَتِ اتِّسَاعًا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غَيْرَ أَنَّ التَّهْمِيشَ لَا يَزَالُ قَائِمًا</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مَعَ ذٰلِكَ، يُحْرَمُ الفُقَرَاءُ مِنَ الفُرَصِ</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لَوْ كَانَتِ السِّيَاسَاتُ أَقْوَى، لَتَرَاجَعَ الفَقْرُ</a:t>
            </a:r>
            <a:endParaRPr lang="ar-SA" sz="14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وَبِنَاءً عَلَى مَا سَبَقَ، يَتَطَلَّبُ الأَمْرُ إِصْلَاحًا</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cs typeface="Amiri" pitchFamily="2" charset="-78"/>
              </a:rPr>
              <a:t>يَتَطَلَّبُ الأَمْرُ أَنْ تُعِيدَ الحُكُومَاتُ تَوْزِيعَ الثَّرْوَةِ</a:t>
            </a:r>
            <a:endParaRPr lang="ar-SA" sz="12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concession (ṣaḥīḥun anna)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refutation (ghayra anna)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analysis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concession (ṣaḥīḥun anna)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الاقْتِصَادَ نَمَا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يُمْكِنُ إِنْكَارُ أَنَّ التَّعْلِيمَ تَوَسَّعَ</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الفُرَصَ زَادَتْ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refutation (ghayra anna)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أَنَّ الهُوَّةَ ازْدَادَتِ اتِّسَاعًا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أَنَّ التَّهْمِيشَ لَا يَزَالُ قَائِمًا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ذٰلِكَ، يُحْرَمُ الفُقَرَاءُ مِنَ الفُرَصِ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analysis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لَوْ كَانَتِ السِّيَاسَاتُ أَقْوَى، لَتَرَاجَعَ الفَقْرُ</a:t>
            </a:r>
            <a:endParaRPr lang="ar-SA" sz="175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وَبِنَاءً عَلَى مَا سَبَقَ، يَتَطَلَّبُ الأَمْرُ إِصْلَاحًا</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يَتَطَلَّبُ الأَمْرُ أَنْ تُعِيدَ الحُكُومَاتُ تَوْزِيعَ الثَّرْوَةِ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concede before refuting?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weakens the argument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only decorative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answers the other side and strengthens the argument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analysis:</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لَوْ كَانَتْ شَبَكَةُ الأَمَانِ أَقْوَى، ___ الفَقْرُ.</a:t>
            </a:r>
            <a:endParaRPr lang="ar-SA" sz="14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سَيَتَرَاجَعُ</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لَتَرَاجَعَ</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يَتَرَاجَعُ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“suffers under” in a formal register?</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يَعِيشُ 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يَرْزَحُ تَحْتَ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يَبْقَى مَعَ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deprived of”?</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يَحْرِمُ 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حَرَمَ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يُحْرَمُ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concede before refuting?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weakens the argument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only decorative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answers the other side and strengthens the argument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Conceding then refuting is the signature of formal argument.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analysis:</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لَوْ كَانَتْ شَبَكَةُ الأَمَانِ أَقْوَى، ___ الفَقْرُ.</a:t>
            </a:r>
            <a:endParaRPr lang="ar-SA" sz="14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سَيَتَرَاجَعُ</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لَتَرَاجَعَ</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يَتَرَاجَعُ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“suffers under” in a formal register?</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يَعِيشُ 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يَرْزَحُ تَحْتَ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يَبْقَى مَعَ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يَرْزَحُ تَحْتَ</a:t>
            </a:r>
            <a:pPr algn="l" indent="0" marL="0">
              <a:buNone/>
            </a:pPr>
            <a:r>
              <a:rPr lang="en-US" sz="1050" i="1" dirty="0">
                <a:solidFill>
                  <a:srgbClr val="8A6D1E"/>
                </a:solidFill>
                <a:latin typeface="Calibri" pitchFamily="34" charset="0"/>
                <a:cs typeface="Amiri" pitchFamily="2" charset="-78"/>
              </a:rPr>
              <a:t> is the formal verb.</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deprived of”?</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يَحْرِمُ 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حَرَمَ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يُحْرَمُ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يُحْرَمُ مِنْ</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صَحِيحٌ أَنَّ الاقْتِصَادَ يَنْمُوَ، غَيْرَ أَنَّ التَّفَاوُتَ ازْدَادَ.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yanmuwa?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صَحِيحٌ أَنَّ الاقْتِصَادَ نَمَا، وَالتَّفَاوُتُ ازْدَادَ.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 wa-l-tafāwutu?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كَانَتْ شَبَكَةُ الأَمَانِ أَقْوَى، سَتَرَاجَعَ الفَقْرُ.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صَحِيحٌ أَنَّ الاقْتِصَادَ يَنْمُوَ، غَيْرَ أَنَّ التَّفَاوُتَ ازْدَادَ.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صَحِيحٌ أَنَّ الاقْتِصَادَ نَمَا، غَيْرَ أَنَّ التَّفَاوُتَ ازْدَادَ.</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concedes a real point, so the verb is indicative/past, not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صَحِيحٌ أَنَّ الاقْتِصَادَ نَمَا، وَالتَّفَاوُتُ ازْدَادَ.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صَحِيحٌ أَنَّ الاقْتِصَادَ نَمَا، غَيْرَ أَنَّ التَّفَاوُتَ ازْدَادَ.</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refutation needs the formal connector </a:t>
            </a:r>
            <a:pPr algn="l" indent="0" marL="0">
              <a:buNone/>
            </a:pPr>
            <a:r>
              <a:rPr lang="ar-SA" altLang="en-US" sz="1500" b="1" dirty="0">
                <a:solidFill>
                  <a:srgbClr val="1B3B6F"/>
                </a:solidFill>
                <a:latin typeface="Amiri" pitchFamily="2" charset="-78"/>
                <a:cs typeface="Amiri" pitchFamily="2" charset="-78"/>
              </a:rPr>
              <a:t>غَيْرَ أَنَّ</a:t>
            </a:r>
            <a:pPr algn="l" indent="0" marL="0">
              <a:buNone/>
            </a:pPr>
            <a:r>
              <a:rPr lang="en-US" sz="1150" b="1" dirty="0">
                <a:solidFill>
                  <a:srgbClr val="1B3B6F"/>
                </a:solidFill>
                <a:latin typeface="Calibri" pitchFamily="34" charset="0"/>
                <a:cs typeface="Amiri" pitchFamily="2" charset="-78"/>
              </a:rPr>
              <a:t>, not a bare </a:t>
            </a:r>
            <a:pPr algn="l" indent="0" marL="0">
              <a:buNone/>
            </a:pPr>
            <a:r>
              <a:rPr lang="ar-SA" altLang="en-US" sz="1500" b="1" dirty="0">
                <a:solidFill>
                  <a:srgbClr val="1B3B6F"/>
                </a:solidFill>
                <a:latin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كَانَتْ شَبَكَةُ الأَمَانِ أَقْوَى، سَتَرَاجَعَ الفَقْرُ.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cs typeface="Amiri" pitchFamily="2" charset="-78"/>
              </a:rPr>
              <a:t>لَوْ كَانَتْ شَبَكَةُ الأَمَانِ أَقْوَى، لَتَرَاجَعَ الفَقْرُ.</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a social-policy analyst on inequality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UN reports indicate?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 100 million Arabs live below the poverty 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Poverty has been eliminated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reliable figures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analyst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poverty is falling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inequality has ended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Arab economy has grown in recent decades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refute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has narrowed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Growth solved inequality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wealth gap has widened despite that growth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redistribution policies been more effective, rates would be far lower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Redistribution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Rates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conclude is required?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needs to change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review their tax policies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Taxes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tushīru ilā anna · ṣaḥīḥun anna · ghayra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تَقُولُ المُحَلِّلَةُ: تُشِيرُ تَقَارِيرُ الأُمَمِ المُتَّحِدَةِ إِلَى أَنَّ أَكْثَرَ مِنْ مِئَةِ مِلْيُونِ عَرَبِيٍّ يَعِيشُونَ تَحْتَ حَدِّ الفَقْرِ.</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analyst says: UN reports indicate that more than 100 million Arabs live below the poverty line.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صَحِيحٌ أَنَّ الاقْتِصَادَ العَرَبِيَّ نَمَا فِي العُقُودِ الأَخِيرَةِ، غَيْرَ أَنَّ الهُوَّةَ بَيْنَ الأَغْنِيَاءِ وَالفُقَرَاءِ ازْدَادَتِ اتِّسَاعًا.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 the Arab economy has grown in recent decades; however, the gap between rich and poor has grown wider.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يَرْزَحُ كَثِيرُونَ تَحْتَ وَطْأَةِ الفَقْرِ المُدْقِعِ، وَيُحْرَمُ الأَطْفَالُ مِنْ فُرَصِ التَّعْلِيمِ.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suffer under the weight of extreme poverty, and children are deprived of educational opportunities.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وَلَوْ كَانَتْ سِيَاسَاتُ إِعَادَةِ تَوْزِيعِ الثَّرْوَةِ أَكْثَرَ فَاعِلِيَّةً، لَكَانَتِ المُعَدَّلَاتُ أَقَلَّ بِكَثِيرٍ.</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wealth-redistribution policies been more effective, the rates would be far lower.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وَبِنَاءً عَلَى مَا سَبَقَ، يَتَطَلَّبُ الأَمْرُ أَنْ تُعِيدَ الحُكُومَاتُ النَّظَرَ فِي سِيَاسَاتِهَا الضَّرِيبِيَّةِ.</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governments need to review their tax policies.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UN reports indicate?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Over 100 million Arabs live below the poverty line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Poverty has been eliminated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reliable figures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cs typeface="Amiri" pitchFamily="2" charset="-78"/>
              </a:rPr>
              <a:t>تُشِيرُ تَقَارِيرُ الأُمَمِ المُتَّحِدَةِ إِلَى أَنَّ أَكْثَرَ مِنْ مِئَةِ مِلْيُونِ عَرَبِيٍّ يَعِيشُونَ تَحْتَ حَدِّ الفَقْرِ.</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analyst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poverty is falling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inequality has ended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the Arab economy has grown in recent decades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الاقْتِصَادَ العَرَبِيَّ نَمَا فِي العُقُودِ الأَخِيرَةِ.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refute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has narrowed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Growth solved inequality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wealth gap has widened despite that growth</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غَيْرَ أَنَّ الهُوَّةَ بَيْنَ الأَغْنِيَاءِ وَالفُقَرَاءِ ازْدَادَتِ اتِّسَاعًا.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redistribution policies been more effective, rates would be far lower</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Redistribution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Rates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لَوْ كَانَتْ سِيَاسَاتُ إِعَادَةِ تَوْزِيعِ الثَّرْوَةِ أَكْثَرَ فَاعِلِيَّةً، لَكَانَتِ المُعَدَّلَاتُ أَقَلَّ.</a:t>
            </a:r>
            <a:endParaRPr lang="ar-SA" sz="10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conclude is required?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needs to change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should review their tax policies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Taxes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يَتَطَلَّبُ الأَمْرُ أَنْ تُعِيدَ الحُكُومَاتُ النَّظَرَ فِي سِيَاسَاتِهَا الضَّرِيبِيَّةِ.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tushīru ilā anna · ṣaḥīḥun anna · ghayra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build a concession-refutation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النُّقْطَةُ الَّتِي تُسَلِّمُ بِهَا بِـ«صَحِيحٌ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تَدْحَضُهَا بِـ«غَيْرَ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الحَلُّ الَّذِي تَقْتَرِحُهُ بِـ«يَتَطَلَّبُ الأَمْرُ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صَحِيحٌ أَنَّ ___ ، غَيْرَ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كَانَتِ السِّيَاسَاتُ أَقْوَى، لَتَرَاجَعَ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وَبِنَاءً عَلَى مَا سَبَقَ، يَتَطَلَّبُ الأَمْرُ أَنْ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النُّقْطَةُ الَّتِي تُسَلِّمُ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point do you concede?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صَحِيحٌ أَنَّ الاقْتِصَادَ نَمَا وَارْتَفَعَتْ نِسَبُ التَّعْلِيمِ.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It is true that the economy has grown and education rates have risen.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concession (</a:t>
            </a:r>
            <a:pPr algn="l" indent="0" marL="0">
              <a:buNone/>
            </a:pPr>
            <a:r>
              <a:rPr lang="ar-SA" altLang="en-US" sz="1800" b="1" dirty="0">
                <a:solidFill>
                  <a:srgbClr val="1F2A37"/>
                </a:solidFill>
                <a:latin typeface="Amiri" pitchFamily="2" charset="-78"/>
                <a:cs typeface="Amiri" pitchFamily="2" charset="-78"/>
              </a:rPr>
              <a:t>صَحِيحٌ أَنَّ</a:t>
            </a:r>
            <a:pPr algn="l" indent="0" marL="0">
              <a:buNone/>
            </a:pPr>
            <a:r>
              <a:rPr lang="en-US" sz="1400" b="1" dirty="0">
                <a:solidFill>
                  <a:srgbClr val="1F2A37"/>
                </a:solidFill>
                <a:latin typeface="Calibri" pitchFamily="34" charset="0"/>
                <a:cs typeface="Amiri" pitchFamily="2" charset="-78"/>
              </a:rPr>
              <a:t>) answered by one refutation (</a:t>
            </a:r>
            <a:pPr algn="l" indent="0" marL="0">
              <a:buNone/>
            </a:pPr>
            <a:r>
              <a:rPr lang="ar-SA" altLang="en-US" sz="1800" b="1" dirty="0">
                <a:solidFill>
                  <a:srgbClr val="1F2A37"/>
                </a:solidFill>
                <a:latin typeface="Amiri" pitchFamily="2" charset="-78"/>
                <a:cs typeface="Amiri" pitchFamily="2" charset="-78"/>
              </a:rPr>
              <a:t>غَيْرَ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concession (ṣaḥīḥun anna) answered by one refutation (ghayra 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2 counterfactual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2 counterfactual and reach 100 words.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110 words with a formal conclusion and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statistics, concession, refutation, Type 2 and a formal conclusion with a necessity subjunctive.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تُشِيرُ التَّقَارِيرُ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Reports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لَوْ كَانَتِ السِّيَاسَاتُ أَكْثَرَ فَاعِلِيَّةً، لَكَانَتِ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policies been more effective,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وَبِنَاءً عَلَى مَا سَبَقَ، يَتَطَلَّبُ الأَمْرُ أَنْ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requires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يَحْظَى الجَمِيعُ بِفُرَصٍ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that everyone enjoys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صَحِيحٌ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however,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يَرْزَحُ كَثِيرُونَ تَحْتَ وَطْأَةِ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suffer under the weight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يُحْرَمُ الأَطْفَالُ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are deprived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cs typeface="Amiri" pitchFamily="2" charset="-78"/>
              </a:rPr>
              <a:t>الاقْتِصَادَ نَمَا  ·  نِسَبَ التَّعْلِيمِ ارْتَفَعَتْ  ·  الهُوَّةَ ازْدَادَتِ اتِّسَاعًا  ·  الفُرَصَ غَيْرُ مُتَكَافِئَةٍ  ·  الفَقْرِ المُدْقِعِ  ·  فُرَصِ التَّعْلِيمِ  ·  الرِّعَايَةِ الصِّحِّيَّةِ  ·  المُعَدَّلَاتُ أَقَلَّ  ·  تُعِيدَ الحُكُومَاتُ تَوْزِيعَ الثَّرْوَةِ  ·  فُرَصٍ مُتَكَافِئَةٍ  ·  شَبَكَةُ الأَمَانِ  ·  العَدَالَةِ الاجْتِمَاعِيَّةِ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100–110-word social-inequality analysis. Open with reported statistics, concede a real gain with ṣaḥīḥun anna + an indicative verb, refute it with ghayra anna, add a Type 2 counterfactual, and conclude with wa-bināʾan ʿalā mā sabaqa + a necessity subjunctive.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reported-statistics opening (tushīru … ilā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with ṣaḥīḥun anna + an indicative verb and a refutation with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formal verbs yarzaḥu taḥta / yuḥramu min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conclusion (wa-bināʾan ʿalā mā sabaqa) with a necessity subjunctive.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ازْدَادَتِ اتِّسَاعًا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grew wider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 وَطْأَةِ الفَقْرِ البِنْيَوِيِّ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under the weight of structural poverty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مِمَّا يُسْهِمُ فِي تَعْمِيقِ دَوَّامَةِ الحِرْمَانِ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deepens the cycle of deprivation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فَاعِلِيَّةً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effective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يَحْظَى الجَمِيعُ بِفُرَصٍ مُتَكَافِئَةٍ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everyone enjoys equal opportunities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cs typeface="Amiri" pitchFamily="2" charset="-78"/>
              </a:rPr>
              <a:t>تُشِيرُ تَقَارِيرُ الأُمَمِ المُتَّحِدَةِ إِلَى أَنَّ أَكْثَرَ مِنْ مِئَةِ مِلْيُونِ عَرَبِيٍّ يَعِيشُونَ تَحْتَ حَدِّ الفَقْرِ. صَحِيحٌ أَنَّ الاقْتِصَادَ العَرَبِيَّ نَمَا وَارْتَفَعَتْ نِسَبُ التَّعْلِيمِ فِي العُقُودِ الأَخِيرَةِ، غَيْرَ أَنَّ الهُوَّةَ بَيْنَ الأَغْنِيَاءِ وَالفُقَرَاءِ ازْدَادَتِ اتِّسَاعًا. يَرْزَحُ كَثِيرُونَ تَحْتَ وَطْأَةِ الفَقْرِ البِنْيَوِيِّ، وَيُحْرَمُ الأَطْفَالُ مِنْ فُرَصِ التَّعْلِيمِ وَالرِّعَايَةِ، مِمَّا يُسْهِمُ فِي تَعْمِيقِ دَوَّامَةِ الحِرْمَانِ. وَلَوْ كَانَتْ سِيَاسَاتُ إِعَادَةِ تَوْزِيعِ الثَّرْوَةِ أَكْثَرَ فَاعِلِيَّةً، لَكَانَتِ المُعَدَّلَاتُ أَقَلَّ بِكَثِيرٍ. وَبِنَاءً عَلَى مَا سَبَقَ، يَتَطَلَّبُ تَحْقِيقُ العَدَالَةِ الاجْتِمَاعِيَّةِ أَنْ تُعِيدَ الحُكُومَاتُ النَّظَرَ فِي سِيَاسَاتِهَا الضَّرِيبِيَّةِ لِكَيْ يَحْظَى الجَمِيعُ بِفُرَصٍ مُتَكَافِئَةٍ.</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UN reports indicate that more than 100 million Arabs live below the poverty line. It is true that the Arab economy has grown and education rates have risen in recent decades; however, the gap between rich and poor has grown wider. Many suffer under the weight of structural poverty, and children are deprived of education and care, which deepens the cycle of deprivation. Had wealth-redistribution policies been more effective, the rates would be far lower. Based on the above, achieving social justice requires governments to review their tax policies so that everyone enjoys equal opportunities.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tushīru … ilā anna (evidence)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la-kānat (Type 2)</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tuʿīda · li-kay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conceded with ṣaḥīḥun anna and refuted with ghayra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anna I put a noun in -a (anna l-iqtiṣāda).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conceded verb is real (no -a); my solution verb after an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yarzaḥu taḥta / yuḥramu min and closed with wa-bināʾan ʿalā mā sabaqa.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الاقْتِصَادَ نَمَا.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 التَّفَاوُتَ ازْدَادَ.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نَمَا الاقْتِصَادُ لَتَحَسَّنَ الوَضْعُ.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صَحِيحٌ أَنَّ الاقْتِصَادَ نَمَا.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غَيْرَ أَنَّ التَّفَاوُتَ ازْدَادَ.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لَوْ نَمَا الاقْتِصَادُ لَتَحَسَّنَ الوَضْعُ.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 indicative concedes a real point.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the formal refutation connector.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concession is real, so the verb stays indicative.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Reading: a social-inequality analysis (extract)</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يُعَدُّ التَّفَاوُتُ الاجْتِمَاعِيُّ مِنْ أَخْطَرِ التَّحَدِّيَاتِ فِي العَالَمِ العَرَبِيِّ. صَحِيحٌ أَنَّ نِسَبَ التَّعْلِيمِ ارْتَفَعَتْ، غَيْرَ أَنَّ الفُرَصَ لَا تَزَالُ غَيْرَ مُتَكَافِئَةٍ. يَرْزَحُ كَثِيرُونَ تَحْتَ وَطْأَةِ الفَقْرِ البِنْيَوِيِّ، وَيُحْرَمُونَ مِنَ الرِّعَايَةِ الصِّحِّيَّةِ، مِمَّا يُسْهِمُ فِي تَعْمِيقِ دَوَّامَةِ الحِرْمَانِ. وَأَكَّدَتْ مُنَظَّمَةٌ دَوْلِيَّةٌ أَنَّ التَّهْمِيشَ الجِهَازِيَّ يُقَلِّصُ التَّنَقُّلَ الاجْتِمَاعِيَّ الصَّاعِدَ. وَلَوْ كَانَتْ شَبَكَةُ الأَمَانِ الاجْتِمَاعِيِّ أَوْسَعَ، لَتَقَلَّصَتِ الهُوَّةُ. وَبِنَاءً عَلَى مَا سَبَقَ، يَتَطَلَّبُ تَحْقِيقُ العَدَالَةِ أَنْ تُعِيدَ الدَّوْلَةُ تَوْزِيعَ الفُرَصِ.</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التَّفَاوُتُ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inequality, disparity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مُتَكَافِئَةٍ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equal (opportunities)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وَطْأَةِ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weight, burden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الرِّعَايَةِ الصِّحِّيَّةِ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healthcare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دَوَّامَةِ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vicious circle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مُنَظَّمَةٌ دَوْلِيَّةٌ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organisation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يُقَلِّصُ</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reduces, shrinks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أَوْسَعَ</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لَتَقَلَّصَتِ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would have shrunk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تَحْقِيقُ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achieving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with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opportunities are equal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education rates have risen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poverty has ended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now equal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failed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still unequal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structural poverty lead to?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Deepening the cycle of deprivation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Ending deprivation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Raising incomes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international organisation confirm?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Mobility is unaffected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Systemic marginalisation reduces upward mobility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Marginalisation helps mobility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state must redistribute opportunities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should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already fair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with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opportunities are equal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education rates have risen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poverty has ended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نِسَبَ التَّعْلِيمِ ارْتَفَعَتْ.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are now equal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failed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Opportunities are still unequal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غَيْرَ أَنَّ الفُرَصَ لَا تَزَالُ غَيْرَ مُتَكَافِئَةٍ.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structural poverty lead to?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Deepening the cycle of deprivation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Ending deprivation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Raising incomes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مِمَّا يُسْهِمُ فِي تَعْمِيقِ دَوَّامَةِ الحِرْمَانِ.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international organisation confirm?</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Mobility is unaffected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Systemic marginalisation reduces upward mobility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Marginalisation helps mobility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أَكَّدَتْ مُنَظَّمَةٌ دَوْلِيَّةٌ أَنَّ التَّهْمِيشَ الجِهَازِيَّ يُقَلِّصُ التَّنَقُّلَ الاجْتِمَاعِيَّ الصَّاعِدَ.</a:t>
            </a:r>
            <a:endParaRPr lang="ar-SA" sz="10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state must redistribute opportunities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should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are already fair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تَحْقِيقُ العَدَالَةِ أَنْ تُعِيدَ الدَّوْلَةُ تَوْزِيعَ الفُرَصِ.</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Argument Mission — Concede, Then Refute</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صَحِيحٌ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refutation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غَيْرَ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refutation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Concede: complete — </a:t>
            </a:r>
            <a:pPr algn="l" indent="0" marL="0">
              <a:buNone/>
            </a:pPr>
            <a:r>
              <a:rPr lang="ar-SA" altLang="en-US" sz="1500" b="1" dirty="0">
                <a:solidFill>
                  <a:srgbClr val="1B3B6F"/>
                </a:solidFill>
                <a:latin typeface="Amiri" pitchFamily="2" charset="-78"/>
                <a:cs typeface="Amiri" pitchFamily="2" charset="-78"/>
              </a:rPr>
              <a:t>صَحِيحٌ أَنَّ التَّعْلِيمَ</a:t>
            </a:r>
            <a:pPr algn="l" indent="0" marL="0">
              <a:buNone/>
            </a:pPr>
            <a:r>
              <a:rPr lang="en-US" sz="1150" b="1" dirty="0">
                <a:solidFill>
                  <a:srgbClr val="1B3B6F"/>
                </a:solidFill>
                <a:latin typeface="Calibri" pitchFamily="34" charset="0"/>
                <a:cs typeface="Amiri" pitchFamily="2" charset="-78"/>
              </a:rPr>
              <a:t> ___ </a:t>
            </a:r>
            <a:pPr algn="l" indent="0" marL="0">
              <a:buNone/>
            </a:pPr>
            <a:r>
              <a:rPr lang="ar-SA" altLang="en-US" sz="1500" b="1" dirty="0">
                <a:solidFill>
                  <a:srgbClr val="1B3B6F"/>
                </a:solidFill>
                <a:latin typeface="Amiri" pitchFamily="2" charset="-78"/>
                <a:cs typeface="Amiri" pitchFamily="2" charset="-78"/>
              </a:rPr>
              <a:t>، غَيْرَ أَنَّ الفُرَصَ غَيْرُ مُتَكَافِئَةٍ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يَتَوَسَّعَ</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لِيَتَوَسَّعْ</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تَوَسَّعَ</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Refute: which correctly opens the counter-argument?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وَالهُوَّةُ ازْدَادَتْ.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الهُوَّةَ ازْدَادَتْ.</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 الهُوَّةَ ازْدَادَتْ.</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Analyse: complete — </a:t>
            </a:r>
            <a:pPr algn="l" indent="0" marL="0">
              <a:buNone/>
            </a:pPr>
            <a:r>
              <a:rPr lang="ar-SA" altLang="en-US" sz="1650" b="1" dirty="0">
                <a:solidFill>
                  <a:srgbClr val="1B3B6F"/>
                </a:solidFill>
                <a:latin typeface="Amiri" pitchFamily="2" charset="-78"/>
                <a:cs typeface="Amiri" pitchFamily="2" charset="-78"/>
              </a:rPr>
              <a:t>لَوْ كَانَتِ السِّيَاسَاتُ أَقْوَى،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الفَقْرُ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لَتَرَاجَعَ</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سَيَتَرَاجَعُ</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يَتَرَاجَعُ</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Conclude: complete —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 تَوْزِيعَ الثَّرْوَةِ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تُعِيدُ</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تُعِيدَ</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تُعِيدْ</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صَحِيحٌ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refutation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غَيْرَ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refutation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introduces the counter-argument.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Concede: complete — </a:t>
            </a:r>
            <a:pPr algn="l" indent="0" marL="0">
              <a:buNone/>
            </a:pPr>
            <a:r>
              <a:rPr lang="ar-SA" altLang="en-US" sz="1500" b="1" dirty="0">
                <a:solidFill>
                  <a:srgbClr val="1B3B6F"/>
                </a:solidFill>
                <a:latin typeface="Amiri" pitchFamily="2" charset="-78"/>
                <a:cs typeface="Amiri" pitchFamily="2" charset="-78"/>
              </a:rPr>
              <a:t>صَحِيحٌ أَنَّ التَّعْلِيمَ</a:t>
            </a:r>
            <a:pPr algn="l" indent="0" marL="0">
              <a:buNone/>
            </a:pPr>
            <a:r>
              <a:rPr lang="en-US" sz="1150" b="1" dirty="0">
                <a:solidFill>
                  <a:srgbClr val="1B3B6F"/>
                </a:solidFill>
                <a:latin typeface="Calibri" pitchFamily="34" charset="0"/>
                <a:cs typeface="Amiri" pitchFamily="2" charset="-78"/>
              </a:rPr>
              <a:t> ___ </a:t>
            </a:r>
            <a:pPr algn="l" indent="0" marL="0">
              <a:buNone/>
            </a:pPr>
            <a:r>
              <a:rPr lang="ar-SA" altLang="en-US" sz="1500" b="1" dirty="0">
                <a:solidFill>
                  <a:srgbClr val="1B3B6F"/>
                </a:solidFill>
                <a:latin typeface="Amiri" pitchFamily="2" charset="-78"/>
                <a:cs typeface="Amiri" pitchFamily="2" charset="-78"/>
              </a:rPr>
              <a:t>، غَيْرَ أَنَّ الفُرَصَ غَيْرُ مُتَكَافِئَةٍ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يَتَوَسَّعَ</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لِيَتَوَسَّعْ</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تَوَسَّعَ</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indicative/past: </a:t>
            </a:r>
            <a:pPr algn="l" indent="0" marL="0">
              <a:buNone/>
            </a:pPr>
            <a:r>
              <a:rPr lang="ar-SA" altLang="en-US" sz="1350" dirty="0">
                <a:solidFill>
                  <a:srgbClr val="8A6D1E"/>
                </a:solidFill>
                <a:latin typeface="Amiri" pitchFamily="2" charset="-78"/>
                <a:cs typeface="Amiri" pitchFamily="2" charset="-78"/>
              </a:rPr>
              <a:t>تَوَسَّعَ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Refute: which correctly opens the counter-argument?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وَالهُوَّةُ ازْدَادَتْ.</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الهُوَّةَ ازْدَادَتْ.</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غَيْرَ أَنَّ الهُوَّةَ ازْدَادَتْ.</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refutation uses </a:t>
            </a:r>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Analyse: complete — </a:t>
            </a:r>
            <a:pPr algn="l" indent="0" marL="0">
              <a:buNone/>
            </a:pPr>
            <a:r>
              <a:rPr lang="ar-SA" altLang="en-US" sz="1650" b="1" dirty="0">
                <a:solidFill>
                  <a:srgbClr val="1B3B6F"/>
                </a:solidFill>
                <a:latin typeface="Amiri" pitchFamily="2" charset="-78"/>
                <a:cs typeface="Amiri" pitchFamily="2" charset="-78"/>
              </a:rPr>
              <a:t>لَوْ كَانَتِ السِّيَاسَاتُ أَقْوَى،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الفَقْرُ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لَتَرَاجَعَ</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سَيَتَرَاجَعُ</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يَتَرَاجَعُ</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Conclude: complete —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 تَوْزِيعَ الثَّرْوَةِ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تُعِيدُ</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تُعِيدَ</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تُعِيدْ</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P5-L02 · Migration and Displacement — A Global Crisis in Arabic</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هِجْرَةٌ اضْطِرَارِيَّةٌ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forced migration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نُزُوحٌ دَاخِلِيٌّ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internal displacement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طَالِبُ لُجُوءٍ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asylum seeker</a:t>
            </a:r>
            <a:pPr indent="0" marL="0">
              <a:buNone/>
            </a:pPr>
            <a:r>
              <a:rPr lang="en-US" sz="1000" i="1" dirty="0">
                <a:solidFill>
                  <a:srgbClr val="5A6472"/>
                </a:solidFill>
                <a:latin typeface="Calibri" pitchFamily="34" charset="0"/>
                <a:cs typeface="Amiri" pitchFamily="2" charset="-78"/>
              </a:rPr>
              <a:t>  pl. طَالِبُو لُجُوءٍ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مُخَيَّمُ اللَّاجِئِينَ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refugee camp</a:t>
            </a:r>
            <a:pPr indent="0" marL="0">
              <a:buNone/>
            </a:pPr>
            <a:r>
              <a:rPr lang="en-US" sz="1000" i="1" dirty="0">
                <a:solidFill>
                  <a:srgbClr val="5A6472"/>
                </a:solidFill>
                <a:latin typeface="Calibri" pitchFamily="34" charset="0"/>
                <a:cs typeface="Amiri" pitchFamily="2" charset="-78"/>
              </a:rPr>
              <a:t>  pl. مُخَيَّمَاتٌ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يُهَجَّرُ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displaced</a:t>
            </a:r>
            <a:pPr indent="0" marL="0">
              <a:buNone/>
            </a:pPr>
            <a:r>
              <a:rPr lang="en-US" sz="1000" i="1" dirty="0">
                <a:solidFill>
                  <a:srgbClr val="5A6472"/>
                </a:solidFill>
                <a:latin typeface="Calibri" pitchFamily="34" charset="0"/>
                <a:cs typeface="Amiri" pitchFamily="2" charset="-78"/>
              </a:rPr>
              <a:t>  passive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people leave their homes? Give one reason and one “however”.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صَحِيحٌ أَنَّ بَعْضَ النَّاسِ يُهَاجِرُونَ لِلْعَمَلِ،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two concession–refutation pairs about inequality (ṣaḥīḥun anna … ghayra anna …).</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2 analysis and reach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inequality analysis with a formal conclusion.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P5-L02 · Migration and Displacement — A Global Crisis in Arabic</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الهِجْرَةُ وَالتَّهْجِيرُ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be fair, then firm — ṣaḥīḥun anna + a REAL verb (no -a) · ghayra anna + your point · law … la- to show it could be different · wa-bināʾan ʿalā mā sabaqa +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P5-L01 · Poverty and Inequality — Analysing Social Disparities</dc:title>
  <dc:subject>PptxGenJS Presentation</dc:subject>
  <dc:creator>Al Madina Online School · Arabic Department</dc:creator>
  <cp:lastModifiedBy>Al Madina Online School · Arabic Department</cp:lastModifiedBy>
  <cp:revision>1</cp:revision>
  <dcterms:created xsi:type="dcterms:W3CDTF">2026-10-11T06:43:24Z</dcterms:created>
  <dcterms:modified xsi:type="dcterms:W3CDTF">2026-10-11T06:43:24Z</dcterms:modified>
</cp:coreProperties>
</file>