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P5 Social Issues and Opinions › P5-L01. The website lesson “Poverty and Inequality — Analysing Social Disparities”: vocabulary, grammar rules and quiz, patterns, common mistakes, sorter, listening, reading, speaking prompts and model, writing task and model, differentiation, final check and the lesson mission. Picture match: website visual game “Poverty and Inequality — Analysing Social Disparities”.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concession (ṣaḥīḥun anna) answered by one refutation (ghayra anna) (website Core). Develop: add a Type 2 and reach 100 words. Stretch: 110 words with a formal conclusion and a necessity subjunctive.
• SENSITIVITY: some students or their families may know hardship first-hand. Keep the discussion at the level of societies and policies, never individuals in the class; never ask students about their own family income.
• Faith link (optional): «كَيْ لَا يَكُونَ دُولَةً بَيْنَ الأَغْنِيَاءِ مِنْكُمْ» (al-Ḥashr 59:7) — wealth should not circulate only among the rich. Notice: kay lā yakūna — a purpose clause with the verb in -a! Zakāt is the Qur’anic model of “wealth redistribution”.
• New in P5: the concession–refutation move. Old tools reused: Type 2 (P3-L05), yataṭallabu an (P4), passives (P4-L02/L05), reported statistics (P3-L06 / P4).
• Accuracy: the UN Economic and Social Commission for Western Asia (ESCWA) has estimated well over 100 million people in Arab countries living in poverty (figures vary by method and year) — the website figure is safe.
• TEACHER-WRITTEN ITEMS: waṣl alif shown without a kasra; لِكَيْ always written with its sukūn; rule headings, formulas, a pattern tip, the writing prompt and checklist in English and transliteration; sorter headings in transliteration; game cards 1, 3 and 5 not used; the move, real-vs-required, paragraph and register tables are teacher-built from the website texts.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P4-L12. Questions 4–5 retrieve the necessity subjunctive and the Type 2 (P4) — both return in today’s analysis and conclusion.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Strong arguments are fair: first admit what is true — then say “however”.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مساوات and محروم are shared (محرومی = deprivation). Careful: Urdu عدالت is a law COURT; Arabic العَدَالَةُ الاجْتِمَاعِيَّةُ is social JUSTICE (a court = مَحْكَمَةٌ). Urdu فقیر is often a beggar or a Sufi; Arabic فَقِيرٌ simply means a poor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concession-refutation architecture (website vocabulary (1 of 2)). Hear → Say → See → Use. Transliteration is printed for Core students (cover it for Develop/Stretch).
The concession–refutation architecture: CONCEDE (صَحِيحٌ أَنَّ · لَا يُمْكِنُ إِنْكَارُ أَنَّ) → REFUTE (غَيْرَ أَنَّ · مَعَ ذٰلِكَ · بِالرَّغْمِ مِنْ + maṣdar) → CONCLUDE (وَبِنَاءً عَلَى مَا سَبَقَ). After أَنَّ comes a noun in -a: أَنَّ الاقْتِصَادَ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concession-refutation architecture (website vocabulary (2 of 2)). Hear → Say → See → Use. Transliteration is printed for Core students (cover it for Develop/Stretch).
The concession–refutation architecture: CONCEDE (صَحِيحٌ أَنَّ · لَا يُمْكِنُ إِنْكَارُ أَنَّ) → REFUTE (غَيْرَ أَنَّ · مَعَ ذٰلِكَ · بِالرَّغْمِ مِنْ + maṣdar) → CONCLUDE (وَبِنَاءً عَلَى مَا سَبَقَ). After أَنَّ comes a noun in -a: أَنَّ الاقْتِصَادَ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Poverty and inequality (website vocabulary (1 of 2)). Hear → Say → See → Use. Transliteration is printed for Core students (cover it for Develop/Stretch).
Poverty and inequality: الهُوَّةُ = the gap, the chasm (literally an abyss) · حَدُّ الفَقْرِ = the poverty line · التَّهْمِيشُ = pushing people to the margins (هَامِشٌ =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Poverty and inequality (website vocabulary (2 of 2)). Hear → Say → See → Use. Transliteration is printed for Core students (cover it for Develop/Stretch).
FLEX: teach if time allows; otherwise these are on the website vocabulary tab for homework.
Poverty and inequality: الهُوَّةُ = the gap, the chasm (literally an abyss) · حَدُّ الفَقْرِ = the poverty line · التَّهْمِيشُ = pushing people to the margins (هَامِشٌ =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register (website vocabulary (1 of 2)). Hear → Say → See → Use. Transliteration is printed for Core students (cover it for Develop/Stretch).
FLEX: teach if time allows; otherwise these are on the website vocabulary tab for homework.
Academic register: يَرْزَحُ تَحْتَ (to groan under a heavy load) is far stronger than يَعِيشُ فِي. يُحْرَمُ مِنْ is a passive (P4-L02). بِنْيَوِيٌّ (structural) and جِهَازِيٌّ (systemic) describe problems built into society, not individual bad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register (website vocabulary (2 of 2)). Hear → Say → See → Use. Transliteration is printed for Core students (cover it for Develop/Stretch).
FLEX: teach if time allows; otherwise these are on the website vocabulary tab for homework.
Academic register: يَرْزَحُ تَحْتَ (to groan under a heavy load) is far stronger than يَعِيشُ فِي. يُحْرَمُ مِنْ is a passive (P4-L02). بِنْيَوِيٌّ (structural) and جِهَازِيٌّ (systemic) describe problems built into society, not individual bad luck.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“Concede” and “Refute”, teaching point 1 (“Concession then refutation is one two-step move”), the vocabulary group and mistake 2. Row 5 is teacher-built from the vocabulary note (بِالرَّغْمِ مِنْ + verbal noun).
Why concede at all? Because examiners reward an argument that answers the other side — it shows maturity and control.
After أَنَّ (with shadda) comes a NOUN in -a: أَنَّ نِسَبَ · أَنَّ الفُرَصَ · أَنَّ التَّفَاوُتَ. Keep غَيْرَ أَنَّ (formal) for writing; لٰكِنَّ is fine in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teaching point 2 (“ṣaḥīḥun anna takes the indicative — the concession is real”) and mistake 1.
The P4 rule still holds: the -a ending marks something wanted or required. A concession admits something that IS (or WAS) true, so its verb is normal: نَمَا (past) or يَنْمُو (present, ending in -ū).
Card 3 links P4 and P5: anna (shadda) introduces a fact about a noun; an (sukūn) introduces a verb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1–4, the website table and the writing model. This is the backbone of every P5 paragraph.
Move 3 is the honest heart of the argument: “it could have been different” → so policy matters. Move 4 turns analysis into a proposal.
اتِّسَاعًا = in width (tamyīz): ازْدَادَتِ الهُوَّةُ اتِّسَاعًا = the gap grew wider. The writing model also adds a P4 purpose clause at the end: لِكَيْ يَحْظَى الجَمِيعُ بِفُرَصٍ مُتَكَافِئَةٍ.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register tools from the website listening, reading and vocabulary group “Academic register”.
Row 1: وَطْأَةٌ = the crushing weight (of poverty). Row 3: مِمَّا = “which (fact)” — it links a result to the whole previous sentence; دَوَّامَةٌ = a whirlpool, a vicious circle.
Stretch: rewrite a plain sentence of their own in this register: الفُقَرَاءُ لَيْسَ عِنْدَهُمْ تَعْلِيمٌ → يُحْرَمُ الفُقَرَاءُ مِنْ فُرَصِ التَّعْلِيمِ.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“Concede a real situation with صَحِيحٌ أَنَّ + indicative, refute it with غَيْرَ أَنَّ, then analyse with a Type 2 conditional and close with a necessity subjunctive.”
• Concede: Concede a real point that actually holds.
• Refute: Answer the concession with the counter-argument.
• Analyse: A Type 2 counterfactual argues the situation could differ.
• Conclude: Close formally and propose a subjunctive solution.
Website common error: Putting a subjunctive verb after صَحِيحٌ أَنَّ, or using an informal contrast (لٰكِنْ / وَ) instead of غَيْرَ أَنَّ. The concession is real, so the verb is indicative, and the refutation uses the formal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“Evidence first: tushīru … ilā ANNA. Then I am fair: ṣaḥīḥun ANNA … namā — it really happened, so no -a. Then my real point: GHAYRA anna. Then: could it have been different? law … LA-kānat. Finally: wa-bināʾan ʿalā mā sabaqa — yataṭallabu AN tuʿīdA.”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Poverty and Inequality — Analysing Social Disparities”)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5 not used — waṣl kasra). Then turn each card into a concession–refutation: صَحِيحٌ أَنَّ المُسْتَشْفَيَاتِ كَثُرَتْ، غَيْرَ أَنَّ الوُصُولَ إِلَيْهَا غَيْرُ مُتَسَاوٍ.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Poverty and Inequality — Analysing Social Disparities”)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card 5 not used — waṣl kasra). Then turn each card into a concession–refutation: صَحِيحٌ أَنَّ المُسْتَشْفَيَاتِ كَثُرَتْ، غَيْرَ أَنَّ الوُصُولَ إِلَيْهَا غَيْرُ مُتَسَاوٍ.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paragraph line from a concession, a refutation and a proposed solution.” Website feedback: any three different combinations work.
Core: read row 1 across. Develop: label column 3 — necessity (rows 1–2) or Type 2 (row 3). Stretch: write your own concession–refutation about education or health.
Column 3 row 2: يَنْبَغِي أَنْ تُوَسَّعَ = should be widened (passive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one fair, three-step argument — and read it aloud with a pause before ghayra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join one card from each column into one fair, three-step argument — and read it aloud with a pause before ghayra 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label each sentence: evidence · concede · refute · analyse · conclude.
Listen 1: just listen. Listen 2: note answers. Then chat the letters.
Support: after the second listening, show the read-along slide (Arabic + English, line by line) for Core students.
SCRIPT (read aloud):
تَقُولُ المُحَلِّلَةُ: تُشِيرُ تَقَارِيرُ الأُمَمِ المُتَّحِدَةِ إِلَى أَنَّ أَكْثَرَ مِنْ مِئَةِ مِلْيُونِ عَرَبِيٍّ يَعِيشُونَ تَحْتَ حَدِّ الفَقْرِ. صَحِيحٌ أَنَّ الاقْتِصَادَ العَرَبِيَّ نَمَا فِي العُقُودِ الأَخِيرَةِ، غَيْرَ أَنَّ الهُوَّةَ بَيْنَ الأَغْنِيَاءِ وَالفُقَرَاءِ ازْدَادَتِ اتِّسَاعًا. يَرْزَحُ كَثِيرُونَ تَحْتَ وَطْأَةِ الفَقْرِ المُدْقِعِ، وَيُحْرَمُ الأَطْفَالُ مِنْ فُرَصِ التَّعْلِيمِ. وَلَوْ كَانَتْ سِيَاسَاتُ إِعَادَةِ تَوْزِيعِ الثَّرْوَةِ أَكْثَرَ فَاعِلِيَّةً، لَكَانَتِ المُعَدَّلَاتُ أَقَلَّ بِكَثِيرٍ. وَبِنَاءً عَلَى مَا سَبَقَ، يَتَطَلَّبُ الأَمْرُ أَنْ تُعِيدَ الحُكُومَاتُ النَّظَرَ فِي سِيَاسَاتِهَا الضَّرِيبِيَّةِ.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تَدْحَضُهَا؟ (Refutation)
B: غَيْرَ أَنَّ الهُوَّةَ ازْدَادَتْ، وَيَتَطَلَّبُ الأَمْرُ أَنْ تُعِيدَ الدَّوْلَةُ تَوْزِيعَ الثَّرْوَةِ. (غَيْرَ أَنَّ + subjunctive solution)
Website prompts and model. Pair task: “fair debate” — A states a gain (ṣaḥīḥun anna …), B answers with ghayra anna …, A closes with a solution (yataṭallabu al-amru an …). Swap. Keep it about society, not anyone’s family. To a girl: تُسَلِّمِينَ · تَدْحَضِينَهَا · تَقْتَرِحِينَهُ.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one concession (صَحِيحٌ أَنَّ) answered by one refutation (غَيْرَ أَنَّ). · Develop — Add a Type 2 counterfactual and reach 100 words. · Stretch — Reach 110 words with a formal conclusion and a necessity subjunctive.
Website writing task (Stretch): Write a 100–110-word social-inequality analysis. Open with reported statistics, concede a real gain with ṣaḥīḥun anna + an indicative verb, refute it with ghayra anna, add a Type 2 counterfactual, and conclude with wa-bināʾan ʿalā mā sabaqa + a necessity subjunctive.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تُشِيرُ … إِلَى أَنَّ · صَحِيحٌ أَنَّ … نَمَا · غَيْرَ أَنَّ … ازْدَادَتِ اتِّسَاعًا · يَرْزَحُ … تَحْتَ وَطْأَةِ · يُحْرَمُ … مِنْ · مِمَّا يُسْهِمُ فِي تَعْمِيقِ · لَوْ كَانَتْ … لَكَانَتِ · وَبِنَاءً عَلَى مَا سَبَقَ · يَتَطَلَّبُ … أَنْ تُعِيدَ · لِكَيْ يَحْظَى.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(P5-L02 · Migration and Displacement — A Global Crisis in Arabic) will spend class time USING this language, so students prepare it tonight — short, simple, easy to access (school guidance: “Simple, Short, Interesting, Relevant, Easy to access”). The five words come from the website P5-L02 vocabulary (migration and displacement). Teacher note: approach this topic with care — some students may have refugee or migrant backgrounds.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9  ·  PROGRESSION P5  ·  P5-L01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P5-L01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Poverty and Inequality — Analysing Social Disparities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34" charset="0"/>
                <a:ea typeface="Amiri" pitchFamily="34" charset="-122"/>
                <a:cs typeface="Amiri" pitchFamily="34" charset="-120"/>
              </a:rPr>
              <a:t>الفَقْرُ وَعَدَمُ المُسَاوَاةِ — تَحْلِيلُ التَّفَاوُتَاتِ الاجْتِمَاعِيَّةِ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Argue like an academic: concede a real point with ṣaḥīḥun anna (+ a real, indicative verb), refute it with ghayra anna, analyse with law … la-, and conclude with wa-bināʾan ʿalā mā sabaqa + yataṭallabu an + a verb in -a.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P5-L01 · Progression P5 · Social Issues and Opinions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Progression › P5 › P5-L01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ea typeface="Calibri" pitchFamily="34" charset="-122"/>
                <a:cs typeface="Calibri" pitchFamily="34" charset="-120"/>
              </a:rPr>
              <a:t>Concede → refute, real (indicative) vs required (subjunctive), the four-move paragraph, academic register.</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Match pictures of inequality, build a concession–refutation, sort concede / refute / conclude.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P5-L02.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necessary that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true that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فَقْرٌ مُدْقِعٌ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extreme poverty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poor harvest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low price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البَطَالَةُ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heroism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holiday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unemployment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مِيزَانِيَّةً أَكْبَرَ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نُخَصِّصُ</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خَصَّصْنَا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نُخَصِّصَ</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بَدَأْنَا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لَنَجَحْنَا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سَنَنْجَحُ</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نَجَحْنَا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necessary that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is true that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 that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فَقْرٌ مُدْقِعٌ</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extreme poverty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poor harvest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low price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البَطَالَةُ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heroism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holiday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unemployment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(P4-L12).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مِيزَانِيَّةً أَكْبَرَ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نُخَصِّصُ</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خَصَّصْنَا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نُخَصِّصَ</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 an + a verb in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لَوْ بَدَأْنَا مُبَكِّرًا،</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لَنَجَحْنَا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سَنَنْجَحُ</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نَجَحْنَا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P4: law … la-.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Strong arguments are fair: first admit what is true — then say “however”.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صَحِيحٌ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الاقْتِصَادَ نَمَا،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غَيْرَ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الهُوَّةَ ازْدَادَتْ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poverty and inequality with precise social-science vocabulary.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Concede a real situation with ṣaḥīḥun anna + an indicative verb.</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Refute it with the formal connector ghayra anna.</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Analyse with a Type 2 and conclude with a necessity subjunctive.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8 inequality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concede with ṣaḥīḥun anna and refute with ghayra anna.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keep the conceded verb real (indicative).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a Type 2 analysis.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close with wa-bināʾan ʿalā mā sabaqa + an + -a.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110-word inequality analysis.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concession-refutation architecture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Poverty and inequality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register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فَقْرٌ · فَقِيرٌ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‎فقیر‎ </a:t>
            </a:r>
            <a:pPr indent="0" marL="0">
              <a:buNone/>
            </a:pPr>
            <a:r>
              <a:rPr lang="en-US" sz="950" b="1" dirty="0">
                <a:solidFill>
                  <a:srgbClr val="2E8B57"/>
                </a:solidFill>
                <a:latin typeface="Calibri" pitchFamily="34" charset="0"/>
                <a:ea typeface="Calibri" pitchFamily="34" charset="-122"/>
                <a:cs typeface="Calibri" pitchFamily="34" charset="-120"/>
              </a:rPr>
              <a:t> faqīr · Arabic: a poor person · Urdu: a beggar, a dervish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غَنِيٌّ · أَغْنِيَاءُ</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‎غنی‎ </a:t>
            </a:r>
            <a:pPr indent="0" marL="0">
              <a:buNone/>
            </a:pPr>
            <a:r>
              <a:rPr lang="en-US" sz="950" b="1" dirty="0">
                <a:solidFill>
                  <a:srgbClr val="2E8B57"/>
                </a:solidFill>
                <a:latin typeface="Calibri" pitchFamily="34" charset="0"/>
                <a:ea typeface="Calibri" pitchFamily="34" charset="-122"/>
                <a:cs typeface="Calibri" pitchFamily="34" charset="-120"/>
              </a:rPr>
              <a:t> ghanī · rich (al-Ghanī — the Self-Sufficient)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عَدَالَةٌ · عَدْلٌ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‎عدالت‎ </a:t>
            </a:r>
            <a:pPr indent="0" marL="0">
              <a:buNone/>
            </a:pPr>
            <a:r>
              <a:rPr lang="en-US" sz="950" b="1" dirty="0">
                <a:solidFill>
                  <a:srgbClr val="2E8B57"/>
                </a:solidFill>
                <a:latin typeface="Calibri" pitchFamily="34" charset="0"/>
                <a:ea typeface="Calibri" pitchFamily="34" charset="-122"/>
                <a:cs typeface="Calibri" pitchFamily="34" charset="-120"/>
              </a:rPr>
              <a:t> adālat · Arabic: justice · Urdu: a law court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مُسَاوَاةٌ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‎مساوات‎ </a:t>
            </a:r>
            <a:pPr indent="0" marL="0">
              <a:buNone/>
            </a:pPr>
            <a:r>
              <a:rPr lang="en-US" sz="950" b="1" dirty="0">
                <a:solidFill>
                  <a:srgbClr val="2E8B57"/>
                </a:solidFill>
                <a:latin typeface="Calibri" pitchFamily="34" charset="0"/>
                <a:ea typeface="Calibri" pitchFamily="34" charset="-122"/>
                <a:cs typeface="Calibri" pitchFamily="34" charset="-120"/>
              </a:rPr>
              <a:t> musāwāt · equality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حِرْمَانٌ · مَحْرُومٌ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‎محروم‎ </a:t>
            </a:r>
            <a:pPr indent="0" marL="0">
              <a:buNone/>
            </a:pPr>
            <a:r>
              <a:rPr lang="en-US" sz="950" b="1" dirty="0">
                <a:solidFill>
                  <a:srgbClr val="2E8B57"/>
                </a:solidFill>
                <a:latin typeface="Calibri" pitchFamily="34" charset="0"/>
                <a:ea typeface="Calibri" pitchFamily="34" charset="-122"/>
                <a:cs typeface="Calibri" pitchFamily="34" charset="-120"/>
              </a:rPr>
              <a:t> mahrūm · deprivation · deprived</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The concession-refutation architecture (1 of 2)</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صَحِيحٌ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true that (concession)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ṣa-ḥī-ḥun an-na</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 indicative — a real situation.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أَنَّ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however / yet (refutation)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ghay-ra an-na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Formal refutation connector.</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Refutation connector.</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ذٰلِكَ</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nevertheless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dhā-li-ka</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3" name="Shape 4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 verbal noun.</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بِالرَّغْمِ مِنْ</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despite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bilr-ragh-mi min</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The concession-refutation architecture (2 of 2)</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Shape 15"/>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Concession.</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يُمْكِنُ إِنْكَارُ أَنَّ</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cannot be denied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yum-ki-nu in-kā-ru an-na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7" name="Shape 24"/>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Formal conclusion.</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وَبِنَاءً عَلَى مَا سَبَقَ</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based on the above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wa-bi-nā-ʾan ʿa-lā mā sa-ba-qa</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التَّفَاوُتُ الطَّبَقِيُّ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class inequality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at-ta-fā-wu-tu aṭ-ṭa-ba-qiy-yu</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الحُجَّةُ المُضَادَّةُ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counter-argument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al-ḥuj-ja-tu al-mu-ḍād-da-tu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Poverty and inequality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فَقْرٌ مُدْقِعٌ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extreme poverty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faq-run mud-qi-ʿun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450" b="1" dirty="0">
                <a:solidFill>
                  <a:srgbClr val="1B3B6F"/>
                </a:solidFill>
                <a:latin typeface="Amiri" pitchFamily="34" charset="0"/>
                <a:ea typeface="Amiri" pitchFamily="34" charset="-122"/>
                <a:cs typeface="Amiri" pitchFamily="34" charset="-120"/>
              </a:rPr>
              <a:t>الهُوَّةُ بَيْنَ الأَغْنِيَاءِ وَالفُقَرَاءِ</a:t>
            </a:r>
            <a:endParaRPr lang="ar-SA" sz="245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wealth gap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al-huw-wa-tu bay-na al-agh-ni-yā-ʾi wāl-fu-qa-rā-ʾi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حَدُّ الفَقْرِ</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poverty line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ḥad-du al-faq-ri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البَطَالَةُ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unemployment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al-ba-ṭā-la-tu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Poverty and inequality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التَّهْمِيشُ الاجْتِمَاعِيُّ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marginalisation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at-tah-mī-shu alj-ti-mā-ʿiy-yu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الحِرْمَانُ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deprivation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al-ḥir-mā-nu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العَدَالَةُ الاجْتِمَاعِيَّةُ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social justice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al-ʿa-dā-la-tu alj-ti-mā-ʿiy-ya-tu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إِعَادَةُ تَوْزِيعِ الثَّرْوَةِ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wealth redistribution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i-ʿā-da-tu taw-zī-ʿi ath-thar-wa-ti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register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Shape 17"/>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يَرْزَحُ تَحْتَ</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suffers under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yar-za-ḥu taḥ-ta</a:t>
            </a:r>
            <a:endParaRPr lang="en-US" sz="1350" dirty="0"/>
          </a:p>
        </p:txBody>
      </p:sp>
      <p:sp>
        <p:nvSpPr>
          <p:cNvPr id="26" name="Shape 23"/>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28" name="Text 25"/>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تَرْزَحُ تَحْتَ</a:t>
            </a:r>
            <a:endParaRPr lang="ar-SA" sz="1350" dirty="0"/>
          </a:p>
        </p:txBody>
      </p:sp>
      <p:sp>
        <p:nvSpPr>
          <p:cNvPr id="29" name="Shape 26"/>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389120"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2" name="Shape 29"/>
          <p:cNvSpPr/>
          <p:nvPr/>
        </p:nvSpPr>
        <p:spPr>
          <a:xfrm>
            <a:off x="4782312" y="1938528"/>
            <a:ext cx="1207008"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4782312"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 they</a:t>
            </a:r>
            <a:endParaRPr lang="en-US" sz="800" dirty="0"/>
          </a:p>
        </p:txBody>
      </p:sp>
      <p:sp>
        <p:nvSpPr>
          <p:cNvPr id="34" name="Shape 3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يُحْرَمُ مِنْ</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deprived of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yuḥ-ra-mu min</a:t>
            </a:r>
            <a:endParaRPr lang="en-US" sz="1350" dirty="0"/>
          </a:p>
        </p:txBody>
      </p:sp>
      <p:sp>
        <p:nvSpPr>
          <p:cNvPr id="38" name="Shape 35"/>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they</a:t>
            </a:r>
            <a:endParaRPr lang="en-US" sz="700" dirty="0"/>
          </a:p>
        </p:txBody>
      </p:sp>
      <p:sp>
        <p:nvSpPr>
          <p:cNvPr id="40" name="Text 37"/>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يُحْرَمُونَ مِنْ</a:t>
            </a:r>
            <a:endParaRPr lang="ar-SA" sz="1350" dirty="0"/>
          </a:p>
        </p:txBody>
      </p:sp>
      <p:sp>
        <p:nvSpPr>
          <p:cNvPr id="41" name="Shape 38"/>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تُحْرَمُ مِنْ</a:t>
            </a:r>
            <a:endParaRPr lang="ar-SA" sz="1500" dirty="0"/>
          </a:p>
        </p:txBody>
      </p:sp>
      <p:sp>
        <p:nvSpPr>
          <p:cNvPr id="44" name="Shape 4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66928" y="1920240"/>
            <a:ext cx="310896" cy="310896"/>
          </a:xfrm>
          <a:prstGeom prst="ellipse">
            <a:avLst/>
          </a:prstGeom>
          <a:solidFill>
            <a:srgbClr val="F4F1EA"/>
          </a:solidFill>
          <a:ln w="12700">
            <a:solidFill>
              <a:srgbClr val="F4F1EA"/>
            </a:solidFill>
            <a:prstDash val="solid"/>
          </a:ln>
        </p:spPr>
      </p:sp>
      <p:sp>
        <p:nvSpPr>
          <p:cNvPr id="46" name="Text 4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7" name="Shape 44"/>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49" name="Text 4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بِنْيَوِيٌّ</a:t>
            </a:r>
            <a:endParaRPr lang="ar-SA" sz="3000" dirty="0"/>
          </a:p>
        </p:txBody>
      </p:sp>
      <p:sp>
        <p:nvSpPr>
          <p:cNvPr id="50" name="Text 4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structural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bin-ya-wiy-yun</a:t>
            </a:r>
            <a:endParaRPr lang="en-US" sz="1350" dirty="0"/>
          </a:p>
        </p:txBody>
      </p:sp>
      <p:sp>
        <p:nvSpPr>
          <p:cNvPr id="51" name="Shape 4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3" name="Text 5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بِنْيَوِيَّةٌ</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7" name="Shape 5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جِهَازِيٌّ</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systemic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ji-hā-ziy-yun</a:t>
            </a:r>
            <a:endParaRPr lang="en-US" sz="1350" dirty="0"/>
          </a:p>
        </p:txBody>
      </p:sp>
      <p:sp>
        <p:nvSpPr>
          <p:cNvPr id="61" name="Shape 5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جِهَازِيَّةٌ</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register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34" charset="0"/>
                <a:ea typeface="Amiri" pitchFamily="34" charset="-122"/>
                <a:cs typeface="Amiri" pitchFamily="34" charset="-120"/>
              </a:rPr>
              <a:t>التَّنَقُّلُ الاجْتِمَاعِيُّ الصَّاعِدُ</a:t>
            </a:r>
            <a:endParaRPr lang="ar-SA" sz="29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upward social mobility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at-ta-naq-qu-lu alj-ti-mā-ʿiy-yu aṣ-ṣā-ʿi-du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شَبَكَةُ الأَمَانِ الاجْتِمَاعِيِّ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social safety net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sha-ba-ka-tu al-a-mā-ni alj-ti-mā-ʿiy-yi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0" name="Shape 27"/>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he · she (it)</a:t>
            </a:r>
            <a:endParaRPr lang="en-US" sz="800" dirty="0"/>
          </a:p>
        </p:txBody>
      </p:sp>
      <p:sp>
        <p:nvSpPr>
          <p:cNvPr id="32" name="Text 2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يُسْهِمُ فِي تَعْمِيقِ</a:t>
            </a:r>
            <a:endParaRPr lang="ar-SA" sz="3000" dirty="0"/>
          </a:p>
        </p:txBody>
      </p:sp>
      <p:sp>
        <p:nvSpPr>
          <p:cNvPr id="33" name="Text 3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contributes to deepening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yus-hi-mu fī taʿ-mī-qi</a:t>
            </a:r>
            <a:endParaRPr lang="en-US" sz="1350" dirty="0"/>
          </a:p>
        </p:txBody>
      </p:sp>
      <p:sp>
        <p:nvSpPr>
          <p:cNvPr id="34" name="Shape 3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she / it (f.)</a:t>
            </a:r>
            <a:endParaRPr lang="en-US" sz="700" dirty="0"/>
          </a:p>
        </p:txBody>
      </p:sp>
      <p:sp>
        <p:nvSpPr>
          <p:cNvPr id="36" name="Text 3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تُسْهِمُ فِي تَعْمِيقِ</a:t>
            </a:r>
            <a:endParaRPr lang="ar-SA"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مُسَاوَاةٌ فِي الفُرَصِ</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equality of opportunity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mu-sā-wā-tun fī al-fu-ra-ṣi</a:t>
            </a:r>
            <a:endParaRPr lang="en-US" sz="13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CONCEDE, THEN REFUTE (WEBSITE RULES 1–2, TEACHING POINT 1 AND VOCABULARY)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Admit it — then answer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التَّسْلِيمُ ثُمَّ الدَّحْضُ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656832" y="1810512"/>
            <a:ext cx="5001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482803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follows</a:t>
            </a:r>
            <a:endParaRPr lang="en-US" sz="1100" dirty="0"/>
          </a:p>
        </p:txBody>
      </p:sp>
      <p:sp>
        <p:nvSpPr>
          <p:cNvPr id="18" name="Text 15"/>
          <p:cNvSpPr txBox="1"/>
          <p:nvPr/>
        </p:nvSpPr>
        <p:spPr>
          <a:xfrm>
            <a:off x="20848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19" name="Text 16"/>
          <p:cNvSpPr txBox="1"/>
          <p:nvPr/>
        </p:nvSpPr>
        <p:spPr>
          <a:xfrm>
            <a:off x="530352" y="1810512"/>
            <a:ext cx="1408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6675120" y="2267712"/>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صَحِيحٌ أَنَّ نِسَبَ التَّعْلِيمِ </a:t>
            </a:r>
            <a:pPr rtl="1" algn="ctr" indent="0" marL="0">
              <a:buNone/>
            </a:pPr>
            <a:r>
              <a:rPr lang="ar-SA" altLang="en-US" sz="1700" b="1" dirty="0">
                <a:solidFill>
                  <a:srgbClr val="1D5FBF"/>
                </a:solidFill>
                <a:latin typeface="Amiri" pitchFamily="34" charset="0"/>
                <a:ea typeface="Amiri" pitchFamily="34" charset="-122"/>
                <a:cs typeface="Amiri" pitchFamily="34" charset="-120"/>
              </a:rPr>
              <a:t>ارْتَفَعَتْ</a:t>
            </a:r>
            <a:pPr rtl="1" algn="ctr" indent="0" marL="0">
              <a:buNone/>
            </a:pPr>
            <a:r>
              <a:rPr lang="ar-SA" altLang="en-US" sz="1700" b="1" dirty="0">
                <a:solidFill>
                  <a:srgbClr val="1B3B6F"/>
                </a:solidFill>
                <a:latin typeface="Amiri" pitchFamily="34" charset="0"/>
                <a:ea typeface="Amiri" pitchFamily="34" charset="-122"/>
                <a:cs typeface="Amiri" pitchFamily="34" charset="-120"/>
              </a:rPr>
              <a:t>،</a:t>
            </a:r>
            <a:endParaRPr lang="ar-SA" sz="1700" dirty="0"/>
          </a:p>
        </p:txBody>
      </p:sp>
      <p:sp>
        <p:nvSpPr>
          <p:cNvPr id="22" name="Text 19"/>
          <p:cNvSpPr txBox="1"/>
          <p:nvPr/>
        </p:nvSpPr>
        <p:spPr>
          <a:xfrm>
            <a:off x="4864608" y="2267712"/>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 real verb</a:t>
            </a:r>
            <a:endParaRPr lang="en-US" sz="1100" dirty="0"/>
          </a:p>
        </p:txBody>
      </p:sp>
      <p:sp>
        <p:nvSpPr>
          <p:cNvPr id="23" name="Text 20"/>
          <p:cNvSpPr txBox="1"/>
          <p:nvPr/>
        </p:nvSpPr>
        <p:spPr>
          <a:xfrm>
            <a:off x="2103120" y="2267712"/>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صَحِيحٌ أَنَّ</a:t>
            </a:r>
            <a:endParaRPr lang="ar-SA" sz="1900" dirty="0"/>
          </a:p>
        </p:txBody>
      </p:sp>
      <p:sp>
        <p:nvSpPr>
          <p:cNvPr id="24" name="Text 21"/>
          <p:cNvSpPr txBox="1"/>
          <p:nvPr/>
        </p:nvSpPr>
        <p:spPr>
          <a:xfrm>
            <a:off x="566928" y="2267712"/>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concede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6675120" y="3004718"/>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لَا يُمْكِنُ إِنْكَارُ أَنَّ التَّعْلِيمَ </a:t>
            </a:r>
            <a:pPr rtl="1" algn="ctr" indent="0" marL="0">
              <a:buNone/>
            </a:pPr>
            <a:r>
              <a:rPr lang="ar-SA" altLang="en-US" sz="1700" b="1" dirty="0">
                <a:solidFill>
                  <a:srgbClr val="1D5FBF"/>
                </a:solidFill>
                <a:latin typeface="Amiri" pitchFamily="34" charset="0"/>
                <a:ea typeface="Amiri" pitchFamily="34" charset="-122"/>
                <a:cs typeface="Amiri" pitchFamily="34" charset="-120"/>
              </a:rPr>
              <a:t>تَوَسَّعَ</a:t>
            </a:r>
            <a:pPr rtl="1" algn="ctr" indent="0" marL="0">
              <a:buNone/>
            </a:pPr>
            <a:r>
              <a:rPr lang="ar-SA" altLang="en-US" sz="1700" b="1" dirty="0">
                <a:solidFill>
                  <a:srgbClr val="1B3B6F"/>
                </a:solidFill>
                <a:latin typeface="Amiri" pitchFamily="34" charset="0"/>
                <a:ea typeface="Amiri" pitchFamily="34" charset="-122"/>
                <a:cs typeface="Amiri" pitchFamily="34" charset="-120"/>
              </a:rPr>
              <a:t>،</a:t>
            </a:r>
            <a:endParaRPr lang="ar-SA" sz="1700" dirty="0"/>
          </a:p>
        </p:txBody>
      </p:sp>
      <p:sp>
        <p:nvSpPr>
          <p:cNvPr id="29" name="Text 26"/>
          <p:cNvSpPr txBox="1"/>
          <p:nvPr/>
        </p:nvSpPr>
        <p:spPr>
          <a:xfrm>
            <a:off x="4864608" y="300471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 real verb</a:t>
            </a:r>
            <a:endParaRPr lang="en-US" sz="1100" dirty="0"/>
          </a:p>
        </p:txBody>
      </p:sp>
      <p:sp>
        <p:nvSpPr>
          <p:cNvPr id="30" name="Text 27"/>
          <p:cNvSpPr txBox="1"/>
          <p:nvPr/>
        </p:nvSpPr>
        <p:spPr>
          <a:xfrm>
            <a:off x="2103120" y="300471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1D5FBF"/>
                </a:solidFill>
                <a:latin typeface="Amiri" pitchFamily="34" charset="0"/>
                <a:ea typeface="Amiri" pitchFamily="34" charset="-122"/>
                <a:cs typeface="Amiri" pitchFamily="34" charset="-120"/>
              </a:rPr>
              <a:t>لَا يُمْكِنُ إِنْكَارُ أَنَّ</a:t>
            </a:r>
            <a:endParaRPr lang="ar-SA" sz="1900" dirty="0"/>
          </a:p>
        </p:txBody>
      </p:sp>
      <p:sp>
        <p:nvSpPr>
          <p:cNvPr id="31" name="Text 28"/>
          <p:cNvSpPr txBox="1"/>
          <p:nvPr/>
        </p:nvSpPr>
        <p:spPr>
          <a:xfrm>
            <a:off x="566928" y="300471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concede (strong)</a:t>
            </a:r>
            <a:endParaRPr lang="en-US" sz="1100" dirty="0"/>
          </a:p>
        </p:txBody>
      </p:sp>
      <p:sp>
        <p:nvSpPr>
          <p:cNvPr id="32" name="Shape 29"/>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3" name="Text 30"/>
          <p:cNvSpPr txBox="1"/>
          <p:nvPr/>
        </p:nvSpPr>
        <p:spPr>
          <a:xfrm>
            <a:off x="6675120" y="3741725"/>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غَيْرَ أَنَّ الفُرَصَ لَا تَزَالُ غَيْرَ مُتَكَافِئَةٍ.</a:t>
            </a:r>
            <a:endParaRPr lang="ar-SA" sz="1700" dirty="0"/>
          </a:p>
        </p:txBody>
      </p:sp>
      <p:sp>
        <p:nvSpPr>
          <p:cNvPr id="34" name="Text 31"/>
          <p:cNvSpPr txBox="1"/>
          <p:nvPr/>
        </p:nvSpPr>
        <p:spPr>
          <a:xfrm>
            <a:off x="4864608" y="3741725"/>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noun + counter-point</a:t>
            </a:r>
            <a:endParaRPr lang="en-US" sz="1100" dirty="0"/>
          </a:p>
        </p:txBody>
      </p:sp>
      <p:sp>
        <p:nvSpPr>
          <p:cNvPr id="35" name="Text 32"/>
          <p:cNvSpPr txBox="1"/>
          <p:nvPr/>
        </p:nvSpPr>
        <p:spPr>
          <a:xfrm>
            <a:off x="2103120" y="3741725"/>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غَيْرَ أَنَّ</a:t>
            </a:r>
            <a:endParaRPr lang="ar-SA" sz="1900" dirty="0"/>
          </a:p>
        </p:txBody>
      </p:sp>
      <p:sp>
        <p:nvSpPr>
          <p:cNvPr id="36" name="Text 33"/>
          <p:cNvSpPr txBox="1"/>
          <p:nvPr/>
        </p:nvSpPr>
        <p:spPr>
          <a:xfrm>
            <a:off x="566928" y="3741725"/>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refute</a:t>
            </a:r>
            <a:endParaRPr lang="en-US" sz="1100" dirty="0"/>
          </a:p>
        </p:txBody>
      </p:sp>
      <p:sp>
        <p:nvSpPr>
          <p:cNvPr id="37" name="Shape 34"/>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6675120" y="4478731"/>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مَعَ ذٰلِكَ، يُحْرَمُ الفُقَرَاءُ مِنَ الفُرَصِ.</a:t>
            </a:r>
            <a:endParaRPr lang="ar-SA" sz="1700" dirty="0"/>
          </a:p>
        </p:txBody>
      </p:sp>
      <p:sp>
        <p:nvSpPr>
          <p:cNvPr id="41" name="Text 38"/>
          <p:cNvSpPr txBox="1"/>
          <p:nvPr/>
        </p:nvSpPr>
        <p:spPr>
          <a:xfrm>
            <a:off x="4864608" y="4478731"/>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full sentence</a:t>
            </a:r>
            <a:endParaRPr lang="en-US" sz="1100" dirty="0"/>
          </a:p>
        </p:txBody>
      </p:sp>
      <p:sp>
        <p:nvSpPr>
          <p:cNvPr id="42" name="Text 39"/>
          <p:cNvSpPr txBox="1"/>
          <p:nvPr/>
        </p:nvSpPr>
        <p:spPr>
          <a:xfrm>
            <a:off x="2103120" y="4478731"/>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مَعَ ذٰلِكَ</a:t>
            </a:r>
            <a:pPr rtl="1" algn="ctr" indent="0" marL="0">
              <a:buNone/>
            </a:pPr>
            <a:r>
              <a:rPr lang="ar-SA" altLang="en-US" sz="1900" b="1" dirty="0">
                <a:solidFill>
                  <a:srgbClr val="1B3B6F"/>
                </a:solidFill>
                <a:latin typeface="Amiri" pitchFamily="34" charset="0"/>
                <a:ea typeface="Amiri" pitchFamily="34" charset="-122"/>
                <a:cs typeface="Amiri" pitchFamily="34" charset="-120"/>
              </a:rPr>
              <a:t>،</a:t>
            </a:r>
            <a:endParaRPr lang="ar-SA" sz="1900" dirty="0"/>
          </a:p>
        </p:txBody>
      </p:sp>
      <p:sp>
        <p:nvSpPr>
          <p:cNvPr id="43" name="Text 40"/>
          <p:cNvSpPr txBox="1"/>
          <p:nvPr/>
        </p:nvSpPr>
        <p:spPr>
          <a:xfrm>
            <a:off x="566928" y="4478731"/>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refute</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6675120" y="5215738"/>
            <a:ext cx="496519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بِالرَّغْمِ مِنْ </a:t>
            </a:r>
            <a:pPr rtl="1" algn="ctr" indent="0" marL="0">
              <a:buNone/>
            </a:pPr>
            <a:r>
              <a:rPr lang="ar-SA" altLang="en-US" sz="1700" b="1" dirty="0">
                <a:solidFill>
                  <a:srgbClr val="D6336C"/>
                </a:solidFill>
                <a:latin typeface="Amiri" pitchFamily="34" charset="0"/>
                <a:ea typeface="Amiri" pitchFamily="34" charset="-122"/>
                <a:cs typeface="Amiri" pitchFamily="34" charset="-120"/>
              </a:rPr>
              <a:t>نُمُوِّ</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الاقْتِصَادِ، ازْدَادَ الفَقْرُ.</a:t>
            </a:r>
            <a:endParaRPr lang="ar-SA" sz="1700" dirty="0"/>
          </a:p>
        </p:txBody>
      </p:sp>
      <p:sp>
        <p:nvSpPr>
          <p:cNvPr id="46" name="Text 43"/>
          <p:cNvSpPr txBox="1"/>
          <p:nvPr/>
        </p:nvSpPr>
        <p:spPr>
          <a:xfrm>
            <a:off x="4864608" y="5215738"/>
            <a:ext cx="16459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maṣdar</a:t>
            </a:r>
            <a:endParaRPr lang="en-US" sz="1100" dirty="0"/>
          </a:p>
        </p:txBody>
      </p:sp>
      <p:sp>
        <p:nvSpPr>
          <p:cNvPr id="47" name="Text 44"/>
          <p:cNvSpPr txBox="1"/>
          <p:nvPr/>
        </p:nvSpPr>
        <p:spPr>
          <a:xfrm>
            <a:off x="2103120" y="5215738"/>
            <a:ext cx="2560320" cy="682142"/>
          </a:xfrm>
          <a:prstGeom prst="rect">
            <a:avLst/>
          </a:prstGeom>
          <a:noFill/>
          <a:ln/>
        </p:spPr>
        <p:txBody>
          <a:bodyPr wrap="square" lIns="0" tIns="0" rIns="0" bIns="0" rtlCol="0" anchor="ctr"/>
          <a:lstStyle/>
          <a:p>
            <a:pPr rtl="1" algn="ctr" indent="0" marL="0">
              <a:buNone/>
            </a:pPr>
            <a:r>
              <a:rPr lang="ar-SA" altLang="en-US" sz="1900" b="1" dirty="0">
                <a:solidFill>
                  <a:srgbClr val="D6336C"/>
                </a:solidFill>
                <a:latin typeface="Amiri" pitchFamily="34" charset="0"/>
                <a:ea typeface="Amiri" pitchFamily="34" charset="-122"/>
                <a:cs typeface="Amiri" pitchFamily="34" charset="-120"/>
              </a:rPr>
              <a:t>بِالرَّغْمِ مِنْ</a:t>
            </a:r>
            <a:endParaRPr lang="ar-SA" sz="1900" dirty="0"/>
          </a:p>
        </p:txBody>
      </p:sp>
      <p:sp>
        <p:nvSpPr>
          <p:cNvPr id="48" name="Text 45"/>
          <p:cNvSpPr txBox="1"/>
          <p:nvPr/>
        </p:nvSpPr>
        <p:spPr>
          <a:xfrm>
            <a:off x="566928" y="5215738"/>
            <a:ext cx="13716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refute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2: …</a:t>
            </a:r>
            <a:pPr algn="l" indent="0" marL="0">
              <a:buNone/>
            </a:pPr>
            <a:r>
              <a:rPr lang="ar-SA" altLang="en-US" sz="1500" b="1" dirty="0">
                <a:solidFill>
                  <a:srgbClr val="1B3B6F"/>
                </a:solidFill>
                <a:latin typeface="Amiri" pitchFamily="34" charset="0"/>
                <a:ea typeface="Amiri" pitchFamily="34" charset="-122"/>
                <a:cs typeface="Amiri" pitchFamily="34" charset="-120"/>
              </a:rPr>
              <a:t>، وَالتَّفَاوُتُ ازْدَادَ</a:t>
            </a:r>
            <a:pPr algn="l" indent="0" marL="0">
              <a:buNone/>
            </a:pPr>
            <a:r>
              <a:rPr lang="en-US" sz="1150" b="1" dirty="0">
                <a:solidFill>
                  <a:srgbClr val="1B3B6F"/>
                </a:solidFill>
                <a:latin typeface="Calibri" pitchFamily="34" charset="0"/>
                <a:ea typeface="Calibri" pitchFamily="34" charset="-122"/>
                <a:cs typeface="Calibri" pitchFamily="34" charset="-120"/>
              </a:rPr>
              <a:t> ✗ (a bare wa- is too weak) → …</a:t>
            </a:r>
            <a:pPr algn="l" indent="0" marL="0">
              <a:buNone/>
            </a:pPr>
            <a:r>
              <a:rPr lang="ar-SA" altLang="en-US" sz="1500" b="1" dirty="0">
                <a:solidFill>
                  <a:srgbClr val="1B3B6F"/>
                </a:solidFill>
                <a:latin typeface="Amiri" pitchFamily="34" charset="0"/>
                <a:ea typeface="Amiri" pitchFamily="34" charset="-122"/>
                <a:cs typeface="Amiri" pitchFamily="34" charset="-120"/>
              </a:rPr>
              <a:t>، غَيْرَ أَنَّ التَّفَاوُتَ ازْدَادَ</a:t>
            </a:r>
            <a:pPr algn="l" indent="0" marL="0">
              <a:buNone/>
            </a:pPr>
            <a:r>
              <a:rPr lang="en-US" sz="1150" b="1" dirty="0">
                <a:solidFill>
                  <a:srgbClr val="1B3B6F"/>
                </a:solidFill>
                <a:latin typeface="Calibri" pitchFamily="34" charset="0"/>
                <a:ea typeface="Calibri" pitchFamily="34" charset="-122"/>
                <a:cs typeface="Calibri" pitchFamily="34" charset="-120"/>
              </a:rPr>
              <a:t> ✓.</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REAL VS REQUIRED (WEBSITE TEACHING POINT 2 AND MISTAKE 1)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The concession is real — the solution is not yet</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الوَاقِعُ وَالمَطْلُوبُ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92024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 INDICATIVE · CORE</a:t>
            </a:r>
            <a:endParaRPr lang="en-US" sz="850" dirty="0"/>
          </a:p>
        </p:txBody>
      </p:sp>
      <p:sp>
        <p:nvSpPr>
          <p:cNvPr id="18" name="Text 15"/>
          <p:cNvSpPr txBox="1"/>
          <p:nvPr/>
        </p:nvSpPr>
        <p:spPr>
          <a:xfrm>
            <a:off x="10198608"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صَحِيحٌ أَنَّ … 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صَحِيحٌ أَنَّ الاقْتِصَادَ العَرَبِيَّ نَمَا فِي العُقُودِ الأَخِيرَةِ.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is true that the Arab economy has grown in recent decades.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It happened → no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81758"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REQUIRED · SUBJUNCTIVE · DEVELOP</a:t>
            </a:r>
            <a:endParaRPr lang="en-US" sz="850" dirty="0"/>
          </a:p>
        </p:txBody>
      </p:sp>
      <p:sp>
        <p:nvSpPr>
          <p:cNvPr id="26" name="Text 23"/>
          <p:cNvSpPr txBox="1"/>
          <p:nvPr/>
        </p:nvSpPr>
        <p:spPr>
          <a:xfrm>
            <a:off x="6640982" y="1874520"/>
            <a:ext cx="1134466"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34" charset="0"/>
                <a:ea typeface="Amiri" pitchFamily="34" charset="-122"/>
                <a:cs typeface="Amiri" pitchFamily="34" charset="-120"/>
              </a:rPr>
              <a:t>يَتَطَلَّبُ … أَنْ تُعِيدَ</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يَتَطَلَّبُ الأَمْرُ أَنْ تُعِيدَ الحُكُومَاتُ تَوْزِيعَ الثَّرْوَةِ.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requires governments to redistribute wealth.</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Not done yet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ANNA ≠ AN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 اسْمٌ · أَنْ + فِعْلٌ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صَحِيحٌ أَنَّ النُّمُوَّ تَحَقَّقَ · يَنْبَغِي أَنْ نُحَقِّقَ العَدَالَةَ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anna + a noun (real) · an + a verb in -a (required)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words, two jobs.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1: a conceded fact is real — no subjunctive.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صَحِيحٌ أَنَّ الاقْتِصَادَ نَمَا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صَحِيحٌ أَنَّ الاقْتِصَادَ يَنْمُوَ</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THE FOUR-MOVE PARAGRAPH (WEBSITE RULES 1–4, TABLE AND WRITING MODEL)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Concede → refute → analyse → conclude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الحَرَكَاتُ الأَرْبَعُ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553712" y="1810512"/>
            <a:ext cx="71048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writing model)</a:t>
            </a:r>
            <a:endParaRPr lang="en-US" sz="1100" dirty="0"/>
          </a:p>
        </p:txBody>
      </p:sp>
      <p:sp>
        <p:nvSpPr>
          <p:cNvPr id="17" name="Text 14"/>
          <p:cNvSpPr txBox="1"/>
          <p:nvPr/>
        </p:nvSpPr>
        <p:spPr>
          <a:xfrm>
            <a:off x="21762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Marker</a:t>
            </a:r>
            <a:endParaRPr lang="en-US" sz="1100" dirty="0"/>
          </a:p>
        </p:txBody>
      </p:sp>
      <p:sp>
        <p:nvSpPr>
          <p:cNvPr id="18" name="Text 15"/>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Move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572000" y="2267712"/>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الاقْتِصَادَ العَرَبِيَّ نَمَا وَارْتَفَعَتْ نِسَبُ التَّعْلِيمِ،</a:t>
            </a:r>
            <a:endParaRPr lang="ar-SA" sz="1700" dirty="0"/>
          </a:p>
        </p:txBody>
      </p:sp>
      <p:sp>
        <p:nvSpPr>
          <p:cNvPr id="21" name="Text 18"/>
          <p:cNvSpPr txBox="1"/>
          <p:nvPr/>
        </p:nvSpPr>
        <p:spPr>
          <a:xfrm>
            <a:off x="221284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ṣaḥīḥun anna</a:t>
            </a:r>
            <a:endParaRPr lang="en-US" sz="1100" dirty="0"/>
          </a:p>
        </p:txBody>
      </p:sp>
      <p:sp>
        <p:nvSpPr>
          <p:cNvPr id="22" name="Text 19"/>
          <p:cNvSpPr txBox="1"/>
          <p:nvPr/>
        </p:nvSpPr>
        <p:spPr>
          <a:xfrm>
            <a:off x="566928" y="2267712"/>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concede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572000" y="3054096"/>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الهُوَّةَ بَيْنَ الأَغْنِيَاءِ وَالفُقَرَاءِ ازْدَادَتِ اتِّسَاعًا.</a:t>
            </a:r>
            <a:endParaRPr lang="ar-SA" sz="1700" dirty="0"/>
          </a:p>
        </p:txBody>
      </p:sp>
      <p:sp>
        <p:nvSpPr>
          <p:cNvPr id="27" name="Text 24"/>
          <p:cNvSpPr txBox="1"/>
          <p:nvPr/>
        </p:nvSpPr>
        <p:spPr>
          <a:xfrm>
            <a:off x="221284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ghayra anna</a:t>
            </a:r>
            <a:endParaRPr lang="en-US" sz="1100" dirty="0"/>
          </a:p>
        </p:txBody>
      </p:sp>
      <p:sp>
        <p:nvSpPr>
          <p:cNvPr id="28" name="Text 25"/>
          <p:cNvSpPr txBox="1"/>
          <p:nvPr/>
        </p:nvSpPr>
        <p:spPr>
          <a:xfrm>
            <a:off x="566928" y="3054096"/>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refute</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572000" y="3840480"/>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34" charset="0"/>
                <a:ea typeface="Amiri" pitchFamily="34" charset="-122"/>
                <a:cs typeface="Amiri" pitchFamily="34" charset="-120"/>
              </a:rPr>
              <a:t>وَلَوْ</a:t>
            </a:r>
            <a:pPr rtl="1" algn="ctr" indent="0" marL="0">
              <a:buNone/>
            </a:pPr>
            <a:r>
              <a:rPr lang="ar-SA" altLang="en-US" sz="1700" b="1" dirty="0">
                <a:solidFill>
                  <a:srgbClr val="1B3B6F"/>
                </a:solidFill>
                <a:latin typeface="Amiri" pitchFamily="34" charset="0"/>
                <a:ea typeface="Amiri" pitchFamily="34" charset="-122"/>
                <a:cs typeface="Amiri" pitchFamily="34" charset="-120"/>
              </a:rPr>
              <a:t> كَانَتْ سِيَاسَاتُ إِعَادَةِ تَوْزِيعِ الثَّرْوَةِ أَكْثَرَ فَاعِلِيَّةً، </a:t>
            </a:r>
            <a:pPr rtl="1" algn="ctr" indent="0" marL="0">
              <a:buNone/>
            </a:pPr>
            <a:r>
              <a:rPr lang="ar-SA" altLang="en-US" sz="1700" b="1" dirty="0">
                <a:solidFill>
                  <a:srgbClr val="7B3FA0"/>
                </a:solidFill>
                <a:latin typeface="Amiri" pitchFamily="34" charset="0"/>
                <a:ea typeface="Amiri" pitchFamily="34" charset="-122"/>
                <a:cs typeface="Amiri" pitchFamily="34" charset="-120"/>
              </a:rPr>
              <a:t>لَكَانَتِ</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المُعَدَّلَاتُ أَقَلَّ.</a:t>
            </a:r>
            <a:endParaRPr lang="ar-SA" sz="1700" dirty="0"/>
          </a:p>
        </p:txBody>
      </p:sp>
      <p:sp>
        <p:nvSpPr>
          <p:cNvPr id="33" name="Text 30"/>
          <p:cNvSpPr txBox="1"/>
          <p:nvPr/>
        </p:nvSpPr>
        <p:spPr>
          <a:xfrm>
            <a:off x="221284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law … la-</a:t>
            </a:r>
            <a:endParaRPr lang="en-US" sz="1100" dirty="0"/>
          </a:p>
        </p:txBody>
      </p:sp>
      <p:sp>
        <p:nvSpPr>
          <p:cNvPr id="34" name="Text 31"/>
          <p:cNvSpPr txBox="1"/>
          <p:nvPr/>
        </p:nvSpPr>
        <p:spPr>
          <a:xfrm>
            <a:off x="566928" y="3840480"/>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analyse</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4572000" y="4626864"/>
            <a:ext cx="7068312" cy="731520"/>
          </a:xfrm>
          <a:prstGeom prst="rect">
            <a:avLst/>
          </a:prstGeom>
          <a:noFill/>
          <a:ln/>
        </p:spPr>
        <p:txBody>
          <a:bodyPr wrap="square" lIns="0" tIns="0" rIns="0" bIns="0" rtlCol="0" anchor="ctr"/>
          <a:lstStyle/>
          <a:p>
            <a:pPr rtl="1" algn="ctr" indent="0" marL="0">
              <a:buNone/>
            </a:pPr>
            <a:r>
              <a:rPr lang="ar-SA" altLang="en-US" sz="1700" b="1" dirty="0">
                <a:solidFill>
                  <a:srgbClr val="0E7C86"/>
                </a:solidFill>
                <a:latin typeface="Amiri" pitchFamily="34" charset="0"/>
                <a:ea typeface="Amiri" pitchFamily="34" charset="-122"/>
                <a:cs typeface="Amiri" pitchFamily="34" charset="-120"/>
              </a:rPr>
              <a:t>وَبِنَاءً عَلَى مَا سَبَقَ</a:t>
            </a:r>
            <a:pPr rtl="1" algn="ctr" indent="0" marL="0">
              <a:buNone/>
            </a:pPr>
            <a:r>
              <a:rPr lang="ar-SA" altLang="en-US" sz="1700" b="1" dirty="0">
                <a:solidFill>
                  <a:srgbClr val="1B3B6F"/>
                </a:solidFill>
                <a:latin typeface="Amiri" pitchFamily="34" charset="0"/>
                <a:ea typeface="Amiri" pitchFamily="34" charset="-122"/>
                <a:cs typeface="Amiri" pitchFamily="34" charset="-120"/>
              </a:rPr>
              <a:t>، يَتَطَلَّبُ تَحْقِيقُ العَدَالَةِ أَنْ </a:t>
            </a:r>
            <a:pPr rtl="1" algn="ctr" indent="0" marL="0">
              <a:buNone/>
            </a:pPr>
            <a:r>
              <a:rPr lang="ar-SA" altLang="en-US" sz="1700" b="1" dirty="0">
                <a:solidFill>
                  <a:srgbClr val="0E7C86"/>
                </a:solidFill>
                <a:latin typeface="Amiri" pitchFamily="34" charset="0"/>
                <a:ea typeface="Amiri" pitchFamily="34" charset="-122"/>
                <a:cs typeface="Amiri" pitchFamily="34" charset="-120"/>
              </a:rPr>
              <a:t>تُعِيدَ</a:t>
            </a:r>
            <a:pPr rtl="1" algn="ctr" indent="0" marL="0">
              <a:buNone/>
            </a:pPr>
            <a:r>
              <a:rPr lang="ar-SA" altLang="en-US" sz="1700" b="1" dirty="0">
                <a:solidFill>
                  <a:srgbClr val="1B3B6F"/>
                </a:solidFill>
                <a:latin typeface="Amiri" pitchFamily="34" charset="0"/>
                <a:ea typeface="Amiri" pitchFamily="34" charset="-122"/>
                <a:cs typeface="Amiri" pitchFamily="34" charset="-120"/>
              </a:rPr>
              <a:t> الحُكُومَاتُ النَّظَرَ …</a:t>
            </a:r>
            <a:endParaRPr lang="ar-SA" sz="1700" dirty="0"/>
          </a:p>
        </p:txBody>
      </p:sp>
      <p:sp>
        <p:nvSpPr>
          <p:cNvPr id="37" name="Text 34"/>
          <p:cNvSpPr txBox="1"/>
          <p:nvPr/>
        </p:nvSpPr>
        <p:spPr>
          <a:xfrm>
            <a:off x="221284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wa-bināʾan … + an</a:t>
            </a:r>
            <a:endParaRPr lang="en-US" sz="1100" dirty="0"/>
          </a:p>
        </p:txBody>
      </p:sp>
      <p:sp>
        <p:nvSpPr>
          <p:cNvPr id="38" name="Text 35"/>
          <p:cNvSpPr txBox="1"/>
          <p:nvPr/>
        </p:nvSpPr>
        <p:spPr>
          <a:xfrm>
            <a:off x="566928" y="4626864"/>
            <a:ext cx="1463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conclude</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3: law … sa-tarājaʿa ✗ → law … la-tarājaʿa ✓. The Type 2 result always takes la-.</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THE ACADEMIC REGISTER OF INEQUALITY (WEBSITE LISTENING, READING AND VOCABULARY)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Sound like a social scientist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لُغَةُ عِلْمِ الاجْتِمَاعِ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Instead of …</a:t>
            </a:r>
            <a:endParaRPr lang="en-US" sz="1100" dirty="0"/>
          </a:p>
        </p:txBody>
      </p:sp>
      <p:sp>
        <p:nvSpPr>
          <p:cNvPr id="17" name="Text 14"/>
          <p:cNvSpPr txBox="1"/>
          <p:nvPr/>
        </p:nvSpPr>
        <p:spPr>
          <a:xfrm>
            <a:off x="272491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 texts)</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yaʿīshu fī</a:t>
            </a:r>
            <a:endParaRPr lang="en-US" sz="1100" dirty="0"/>
          </a:p>
        </p:txBody>
      </p:sp>
      <p:sp>
        <p:nvSpPr>
          <p:cNvPr id="21" name="Text 18"/>
          <p:cNvSpPr txBox="1"/>
          <p:nvPr/>
        </p:nvSpPr>
        <p:spPr>
          <a:xfrm>
            <a:off x="274320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D6336C"/>
                </a:solidFill>
                <a:latin typeface="Amiri" pitchFamily="34" charset="0"/>
                <a:ea typeface="Amiri" pitchFamily="34" charset="-122"/>
                <a:cs typeface="Amiri" pitchFamily="34" charset="-120"/>
              </a:rPr>
              <a:t>يَرْزَحُ</a:t>
            </a:r>
            <a:pPr rtl="1" algn="ctr" indent="0" marL="0">
              <a:buNone/>
            </a:pPr>
            <a:r>
              <a:rPr lang="ar-SA" altLang="en-US" sz="1800" b="1" dirty="0">
                <a:solidFill>
                  <a:srgbClr val="1B3B6F"/>
                </a:solidFill>
                <a:latin typeface="Amiri" pitchFamily="34" charset="0"/>
                <a:ea typeface="Amiri" pitchFamily="34" charset="-122"/>
                <a:cs typeface="Amiri" pitchFamily="34" charset="-120"/>
              </a:rPr>
              <a:t> كَثِيرُونَ </a:t>
            </a:r>
            <a:pPr rtl="1" algn="ctr" indent="0" marL="0">
              <a:buNone/>
            </a:pPr>
            <a:r>
              <a:rPr lang="ar-SA" altLang="en-US" sz="1800" b="1" dirty="0">
                <a:solidFill>
                  <a:srgbClr val="D6336C"/>
                </a:solidFill>
                <a:latin typeface="Amiri" pitchFamily="34" charset="0"/>
                <a:ea typeface="Amiri" pitchFamily="34" charset="-122"/>
                <a:cs typeface="Amiri" pitchFamily="34" charset="-120"/>
              </a:rPr>
              <a:t>تَحْتَ وَطْأَةِ</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الفَقْرِ المُدْقِعِ</a:t>
            </a:r>
            <a:endParaRPr lang="ar-SA" sz="1800" dirty="0"/>
          </a:p>
        </p:txBody>
      </p:sp>
      <p:sp>
        <p:nvSpPr>
          <p:cNvPr id="22" name="Text 19"/>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suffer under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laysa ladayhim</a:t>
            </a:r>
            <a:endParaRPr lang="en-US" sz="1100" dirty="0"/>
          </a:p>
        </p:txBody>
      </p:sp>
      <p:sp>
        <p:nvSpPr>
          <p:cNvPr id="27" name="Text 24"/>
          <p:cNvSpPr txBox="1"/>
          <p:nvPr/>
        </p:nvSpPr>
        <p:spPr>
          <a:xfrm>
            <a:off x="274320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وَ</a:t>
            </a:r>
            <a:pPr rtl="1" algn="ctr" indent="0" marL="0">
              <a:buNone/>
            </a:pPr>
            <a:r>
              <a:rPr lang="ar-SA" altLang="en-US" sz="1800" b="1" dirty="0">
                <a:solidFill>
                  <a:srgbClr val="7B3FA0"/>
                </a:solidFill>
                <a:latin typeface="Amiri" pitchFamily="34" charset="0"/>
                <a:ea typeface="Amiri" pitchFamily="34" charset="-122"/>
                <a:cs typeface="Amiri" pitchFamily="34" charset="-120"/>
              </a:rPr>
              <a:t>يُحْرَمُ</a:t>
            </a:r>
            <a:pPr rtl="1" algn="ctr" indent="0" marL="0">
              <a:buNone/>
            </a:pPr>
            <a:r>
              <a:rPr lang="ar-SA" altLang="en-US" sz="1800" b="1" dirty="0">
                <a:solidFill>
                  <a:srgbClr val="1B3B6F"/>
                </a:solidFill>
                <a:latin typeface="Amiri" pitchFamily="34" charset="0"/>
                <a:ea typeface="Amiri" pitchFamily="34" charset="-122"/>
                <a:cs typeface="Amiri" pitchFamily="34" charset="-120"/>
              </a:rPr>
              <a:t> الأَطْفَالُ </a:t>
            </a:r>
            <a:pPr rtl="1" algn="ctr" indent="0" marL="0">
              <a:buNone/>
            </a:pPr>
            <a:r>
              <a:rPr lang="ar-SA" altLang="en-US" sz="1800" b="1" dirty="0">
                <a:solidFill>
                  <a:srgbClr val="7B3FA0"/>
                </a:solidFill>
                <a:latin typeface="Amiri" pitchFamily="34" charset="0"/>
                <a:ea typeface="Amiri" pitchFamily="34" charset="-122"/>
                <a:cs typeface="Amiri" pitchFamily="34" charset="-120"/>
              </a:rPr>
              <a:t>مِنْ</a:t>
            </a:r>
            <a:pPr rtl="1" algn="ctr" indent="0" marL="0">
              <a:buNone/>
            </a:pPr>
            <a:r>
              <a:rPr lang="ar-SA" altLang="en-US" sz="1800" b="1" dirty="0">
                <a:solidFill>
                  <a:srgbClr val="1B3B6F"/>
                </a:solidFill>
                <a:latin typeface="Amiri" pitchFamily="34" charset="0"/>
                <a:ea typeface="Amiri" pitchFamily="34" charset="-122"/>
                <a:cs typeface="Amiri" pitchFamily="34" charset="-120"/>
              </a:rPr>
              <a:t> فُرَصِ التَّعْلِيمِ</a:t>
            </a:r>
            <a:endParaRPr lang="ar-SA" sz="1800" dirty="0"/>
          </a:p>
        </p:txBody>
      </p:sp>
      <p:sp>
        <p:nvSpPr>
          <p:cNvPr id="28" name="Text 25"/>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are deprived of</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wa-hādhā sayyiʾ</a:t>
            </a:r>
            <a:endParaRPr lang="en-US" sz="1100" dirty="0"/>
          </a:p>
        </p:txBody>
      </p:sp>
      <p:sp>
        <p:nvSpPr>
          <p:cNvPr id="31" name="Text 28"/>
          <p:cNvSpPr txBox="1"/>
          <p:nvPr/>
        </p:nvSpPr>
        <p:spPr>
          <a:xfrm>
            <a:off x="274320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34" charset="0"/>
                <a:ea typeface="Amiri" pitchFamily="34" charset="-122"/>
                <a:cs typeface="Amiri" pitchFamily="34" charset="-120"/>
              </a:rPr>
              <a:t>مِمَّا يُسْهِمُ فِي تَعْمِيقِ</a:t>
            </a:r>
            <a:pPr rtl="1" algn="ctr" indent="0" marL="0">
              <a:buNone/>
            </a:pPr>
            <a:r>
              <a:rPr lang="ar-SA" altLang="en-US" sz="1800" b="1" dirty="0">
                <a:solidFill>
                  <a:srgbClr val="1B3B6F"/>
                </a:solidFill>
                <a:latin typeface="Amiri" pitchFamily="34" charset="0"/>
                <a:ea typeface="Amiri" pitchFamily="34" charset="-122"/>
                <a:cs typeface="Amiri" pitchFamily="34" charset="-120"/>
              </a:rPr>
              <a:t> دَوَّامَةِ الحِرْمَانِ</a:t>
            </a:r>
            <a:endParaRPr lang="ar-SA" sz="1800" dirty="0"/>
          </a:p>
        </p:txBody>
      </p:sp>
      <p:sp>
        <p:nvSpPr>
          <p:cNvPr id="32" name="Text 29"/>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which deepens</a:t>
            </a:r>
            <a:endParaRPr lang="en-US" sz="110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kabīr</a:t>
            </a:r>
            <a:endParaRPr lang="en-US" sz="1100" dirty="0"/>
          </a:p>
        </p:txBody>
      </p:sp>
      <p:sp>
        <p:nvSpPr>
          <p:cNvPr id="35" name="Text 32"/>
          <p:cNvSpPr txBox="1"/>
          <p:nvPr/>
        </p:nvSpPr>
        <p:spPr>
          <a:xfrm>
            <a:off x="274320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الفَقْرِ </a:t>
            </a:r>
            <a:pPr rtl="1" algn="ctr" indent="0" marL="0">
              <a:buNone/>
            </a:pPr>
            <a:r>
              <a:rPr lang="ar-SA" altLang="en-US" sz="1800" b="1" dirty="0">
                <a:solidFill>
                  <a:srgbClr val="C77700"/>
                </a:solidFill>
                <a:latin typeface="Amiri" pitchFamily="34" charset="0"/>
                <a:ea typeface="Amiri" pitchFamily="34" charset="-122"/>
                <a:cs typeface="Amiri" pitchFamily="34" charset="-120"/>
              </a:rPr>
              <a:t>البِنْيَوِيِّ</a:t>
            </a:r>
            <a:pPr rtl="1" algn="ctr" indent="0" marL="0">
              <a:buNone/>
            </a:pPr>
            <a:r>
              <a:rPr lang="ar-SA" altLang="en-US" sz="1800" b="1" dirty="0">
                <a:solidFill>
                  <a:srgbClr val="1B3B6F"/>
                </a:solidFill>
                <a:latin typeface="Amiri" pitchFamily="34" charset="0"/>
                <a:ea typeface="Amiri" pitchFamily="34" charset="-122"/>
                <a:cs typeface="Amiri" pitchFamily="34" charset="-120"/>
              </a:rPr>
              <a:t> · التَّهْمِيشَ </a:t>
            </a:r>
            <a:pPr rtl="1" algn="ctr" indent="0" marL="0">
              <a:buNone/>
            </a:pPr>
            <a:r>
              <a:rPr lang="ar-SA" altLang="en-US" sz="1800" b="1" dirty="0">
                <a:solidFill>
                  <a:srgbClr val="C77700"/>
                </a:solidFill>
                <a:latin typeface="Amiri" pitchFamily="34" charset="0"/>
                <a:ea typeface="Amiri" pitchFamily="34" charset="-122"/>
                <a:cs typeface="Amiri" pitchFamily="34" charset="-120"/>
              </a:rPr>
              <a:t>الجِهَازِيَّ</a:t>
            </a:r>
            <a:endParaRPr lang="ar-SA" sz="1800" dirty="0"/>
          </a:p>
        </p:txBody>
      </p:sp>
      <p:sp>
        <p:nvSpPr>
          <p:cNvPr id="36" name="Text 33"/>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structural · systemic</a:t>
            </a:r>
            <a:endParaRPr lang="en-US" sz="1100" dirty="0"/>
          </a:p>
        </p:txBody>
      </p:sp>
      <p:sp>
        <p:nvSpPr>
          <p:cNvPr id="37" name="Shape 3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mushkila kabīra</a:t>
            </a:r>
            <a:endParaRPr lang="en-US" sz="1100" dirty="0"/>
          </a:p>
        </p:txBody>
      </p:sp>
      <p:sp>
        <p:nvSpPr>
          <p:cNvPr id="39" name="Text 36"/>
          <p:cNvSpPr txBox="1"/>
          <p:nvPr/>
        </p:nvSpPr>
        <p:spPr>
          <a:xfrm>
            <a:off x="274320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يُعَدُّ التَّفَاوُتُ الاجْتِمَاعِيُّ </a:t>
            </a:r>
            <a:pPr rtl="1" algn="ctr" indent="0" marL="0">
              <a:buNone/>
            </a:pPr>
            <a:r>
              <a:rPr lang="ar-SA" altLang="en-US" sz="1800" b="1" dirty="0">
                <a:solidFill>
                  <a:srgbClr val="0E7C86"/>
                </a:solidFill>
                <a:latin typeface="Amiri" pitchFamily="34" charset="0"/>
                <a:ea typeface="Amiri" pitchFamily="34" charset="-122"/>
                <a:cs typeface="Amiri" pitchFamily="34" charset="-120"/>
              </a:rPr>
              <a:t>مِنْ أَخْطَرِ التَّحَدِّيَاتِ</a:t>
            </a:r>
            <a:endParaRPr lang="ar-SA" sz="1800" dirty="0"/>
          </a:p>
        </p:txBody>
      </p:sp>
      <p:sp>
        <p:nvSpPr>
          <p:cNvPr id="40" name="Text 37"/>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one of the gravest</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Academic Arabic replaces everyday verbs with precise, weighty ones — and adds an adjective that explains the CAUSE (structural, systemic).</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The concession-refutation architecture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بِنْيَةُ التَّسْلِيمِ وَالدَّحْضِ</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Concede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ṣaḥīḥun anna + a real (indicative) verb</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صَحِيحٌ أَنَّ الاقْتِصَادَ العَرَبِيَّ نَمَا فِي العُقُودِ الأَخِيرَةِ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Refute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ghayra anna + the counter-argument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غَيْرَ أَنَّ الهُوَّةَ بَيْنَ الأَغْنِيَاءِ وَالفُقَرَاءِ ازْدَادَتِ اتِّسَاعًا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Analyse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law + past → la-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كَانَتْ سِيَاسَاتُ الحِمَايَةِ أَقْوَى، لَكَانَتْ مُعَدَّلَاتُ الفَقْرِ أَقَلَّ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Conclude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wa-bināʾan ʿalā mā sabaqa · yataṭallabu an + verb in -a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وَبِنَاءً عَلَى مَا سَبَقَ، يَتَطَلَّبُ الأَمْرُ أَنْ تُعِيدَ الحُكُومَاتُ تَوْزِيعَ الثَّرْوَةِ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concedes a real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 التَّفَاوُتَ ازْدَادَ.</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نَمَا الاقْتِصَادُ لَتَحَسَّنَ الوَضْعُ.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الاقْتِصَادَ نَمَا.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the refutation?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 (a real situation)</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concession:</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صَحِيحٌ أَنَّ التَّعْلِيمَ ___ ، غَيْرَ أَنَّ الفُرَصَ غَيْرُ مُتَكَافِئَةٍ.</a:t>
            </a:r>
            <a:endParaRPr lang="ar-SA" sz="10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تَحَسَّنَ</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يَتَحَسَّنَ</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لِيَتَحَسَّنْ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concedes a real situation?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غَيْرَ أَنَّ التَّفَاوُتَ ازْدَادَ.</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نَمَا الاقْتِصَادُ لَتَحَسَّنَ الوَضْعُ.</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صَحِيحٌ أَنَّ الاقْتِصَادَ نَمَا.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 indicative concedes a real point.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the refutation?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 أَنَّ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صَحِيحٌ 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is the formal refutation connector.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subjunctive</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indicative (a real situation)</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jussive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a real point, so the verb stays indicative.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concession:</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صَحِيحٌ أَنَّ التَّعْلِيمَ ___ ، غَيْرَ أَنَّ الفُرَصَ غَيْرُ مُتَكَافِئَةٍ.</a:t>
            </a:r>
            <a:endParaRPr lang="ar-SA" sz="10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تَحَسَّنَ</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يَتَحَسَّنَ</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لِيَتَحَسَّنْ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indicative/past: </a:t>
            </a:r>
            <a:pPr algn="l" indent="0" marL="0">
              <a:buNone/>
            </a:pPr>
            <a:r>
              <a:rPr lang="ar-SA" altLang="en-US" sz="1350" dirty="0">
                <a:solidFill>
                  <a:srgbClr val="8A6D1E"/>
                </a:solidFill>
                <a:latin typeface="Amiri" pitchFamily="34" charset="0"/>
                <a:ea typeface="Amiri" pitchFamily="34" charset="-122"/>
                <a:cs typeface="Amiri" pitchFamily="34" charset="-120"/>
              </a:rPr>
              <a:t>تَحَسَّنَ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Watch me write an inequality analysis</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Evidence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34" charset="0"/>
                <a:ea typeface="Amiri" pitchFamily="34" charset="-122"/>
                <a:cs typeface="Amiri" pitchFamily="34" charset="-120"/>
              </a:rPr>
              <a:t>تُشِيرُ</a:t>
            </a:r>
            <a:pPr rtl="1" algn="ctr" indent="0" marL="0">
              <a:buNone/>
            </a:pPr>
            <a:r>
              <a:rPr lang="ar-SA" altLang="en-US" sz="2200" b="1" dirty="0">
                <a:solidFill>
                  <a:srgbClr val="1B3B6F"/>
                </a:solidFill>
                <a:latin typeface="Amiri" pitchFamily="34" charset="0"/>
                <a:ea typeface="Amiri" pitchFamily="34" charset="-122"/>
                <a:cs typeface="Amiri" pitchFamily="34" charset="-120"/>
              </a:rPr>
              <a:t> التَّقَارِيرُ </a:t>
            </a:r>
            <a:pPr rtl="1" algn="ctr" indent="0" marL="0">
              <a:buNone/>
            </a:pPr>
            <a:r>
              <a:rPr lang="ar-SA" altLang="en-US" sz="2200" b="1" dirty="0">
                <a:solidFill>
                  <a:srgbClr val="C77700"/>
                </a:solidFill>
                <a:latin typeface="Amiri" pitchFamily="34" charset="0"/>
                <a:ea typeface="Amiri" pitchFamily="34" charset="-122"/>
                <a:cs typeface="Amiri" pitchFamily="34" charset="-120"/>
              </a:rPr>
              <a:t>إِلَى أَنَّ</a:t>
            </a:r>
            <a:pPr rtl="1" algn="ctr" indent="0" marL="0">
              <a:buNone/>
            </a:pPr>
            <a:r>
              <a:rPr lang="ar-SA" altLang="en-US" sz="2200" b="1" dirty="0">
                <a:solidFill>
                  <a:srgbClr val="1B3B6F"/>
                </a:solidFill>
                <a:latin typeface="Amiri" pitchFamily="34" charset="0"/>
                <a:ea typeface="Amiri" pitchFamily="34" charset="-122"/>
                <a:cs typeface="Amiri" pitchFamily="34" charset="-120"/>
              </a:rPr>
              <a:t> …</a:t>
            </a:r>
            <a:endParaRPr lang="ar-SA" sz="22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Numbers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Concede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صَحِيحٌ 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 نَمَا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Real → no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Refute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غَيْرَ أَنَّ</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الهُوَّةَ …</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However.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Analyse + conclude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لَوْ</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7B3FA0"/>
                </a:solidFill>
                <a:latin typeface="Amiri" pitchFamily="34" charset="0"/>
                <a:ea typeface="Amiri" pitchFamily="34" charset="-122"/>
                <a:cs typeface="Amiri" pitchFamily="34" charset="-120"/>
              </a:rPr>
              <a:t>لَكَانَتِ</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وَبِنَاءً عَلَى مَا سَبَقَ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la- · an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7" name="Shape 43"/>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CONCEDE</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REFUTE</a:t>
            </a:r>
            <a:endParaRPr lang="en-US" sz="800" dirty="0"/>
          </a:p>
        </p:txBody>
      </p:sp>
      <p:sp>
        <p:nvSpPr>
          <p:cNvPr id="51" name="Shape 47"/>
          <p:cNvSpPr/>
          <p:nvPr/>
        </p:nvSpPr>
        <p:spPr>
          <a:xfrm>
            <a:off x="9528048"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CONCLUDE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تُشِيرُ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تَقَارِيرُ الأُمَمِ المُتَّحِدَةِ </a:t>
            </a:r>
            <a:pPr rtl="1" algn="r" indent="0" marL="0">
              <a:lnSpc>
                <a:spcPct val="120000"/>
              </a:lnSpc>
              <a:buNone/>
            </a:pPr>
            <a:r>
              <a:rPr lang="ar-SA" altLang="en-US" sz="1400" b="1" dirty="0">
                <a:solidFill>
                  <a:srgbClr val="C77700"/>
                </a:solidFill>
                <a:latin typeface="Amiri" pitchFamily="34" charset="0"/>
                <a:ea typeface="Amiri" pitchFamily="34" charset="-122"/>
                <a:cs typeface="Amiri" pitchFamily="34" charset="-120"/>
              </a:rPr>
              <a:t>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أَكْثَرَ مِنْ مِئَةِ مِلْيُونِ عَرَبِيٍّ يَعِيشُونَ تَحْتَ حَدِّ الفَقْرِ.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صَحِيحٌ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الاقْتِصَادَ العَرَبِيَّ نَمَا،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غَيْرَ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الهُوَّةَ بَيْنَ الأَغْنِيَاءِ وَالفُقَرَاءِ ازْدَادَتِ اتِّسَاعًا.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وَلَوْ</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كَانَتْ سِيَاسَاتُ التَّوْزِيعِ أَكْثَرَ فَاعِلِيَّةً،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لَكَانَتِ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المُعَدَّلَاتُ أَقَلَّ.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وَبِنَاءً عَلَى مَا سَبَقَ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يَتَطَلَّبُ الأَمْرُ أَنْ تُعِيدَ الحُكُومَاتُ النَّظَرَ فِي سِيَاسَاتِهَا.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UN reports indicate that more than 100 million Arabs live below the poverty line. It is true that the Arab economy has grown; however, the gap between rich and poor has grown wider. Had distribution policies been more effective, the rates would be lower. Based on the above, governments need to review their policies.</a:t>
            </a:r>
            <a:endParaRPr lang="en-US" sz="11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صَحِيحٌ أَنَّ الاقْتِصَادَ نَمَا، غَيْرَ أَنَّ التَّفَاوُتَ الطَّبَقِيَّ ازْدَادَ</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true that the economy has grown; however, class inequality has increased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Concession then refutation.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يَرْزَحُ كَثِيرُونَ تَحْتَ وَطْأَةِ الفَقْرِ المُدْقِعِ</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many suffer under the weight of extreme poverty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formal verb yarzaḥu taḥta.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لَوْ كَانَتْ سِيَاسَاتُ الحِمَايَةِ أَقْوَى، لَكَانَتْ مُعَدَّلَاتُ الفَقْرِ أَقَلَّ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had protection policies been stronger, poverty rates would be lower</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Type 2 social analysis.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POVERTY AND INEQUALITY — ANALYSING SOCIAL DISPARITIES”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Faces of inequality: match the picture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عَدَمُ 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wealth gap</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healthcare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housing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الوُصُولُ إِلَى الرِّعَايَةِ الصِّحِّيَّةِ غَيْرُ مُتَسَاوٍ.</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يَخْتَلِفُ مُسْتَوَى السَّكَنِ بَيْنَ الأُسَرِ.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هُنَاكَ فَجْوَةٌ كَبِيرَةٌ بَيْنَ الأَغْنِيَاءِ وَالفُقَرَاءِ.</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عَدَمُ المُسَاوَاةِ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the wealth gap</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هُنَاكَ فَجْوَةٌ كَبِيرَةٌ بَيْنَ الأَغْنِيَاءِ وَالفُقَرَاءِ.</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large gap between the rich and the poor.</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healthcare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الوُصُولُ إِلَى الرِّعَايَةِ الصِّحِّيَّةِ غَيْرُ مُتَسَاوٍ.</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Access to healthcare is unequal.</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housing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يَخْتَلِفُ مُسْتَوَى السَّكَنِ بَيْنَ الأُسَرِ.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standard of housing differs between families.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BUILD A CONCESSION–REFUTATION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Concede + refute + solve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ثُمَّ ادْحَضْ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 · Concede</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 · Refute (ghayra anna)</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 · Solution / analysis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34" charset="0"/>
                <a:ea typeface="Amiri" pitchFamily="34" charset="-122"/>
                <a:cs typeface="Amiri" pitchFamily="34" charset="-120"/>
              </a:rPr>
              <a:t>صَحِيحٌ أَنَّ الاقْتِصَادَ العَرَبِيَّ نَمَا فِي العُقُودِ الأَخِيرَةِ</a:t>
            </a:r>
            <a:endParaRPr lang="ar-SA" sz="15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34" charset="0"/>
                <a:ea typeface="Amiri" pitchFamily="34" charset="-122"/>
                <a:cs typeface="Amiri" pitchFamily="34" charset="-120"/>
              </a:rPr>
              <a:t>غَيْرَ أَنَّ الهُوَّةَ بَيْنَ الأَغْنِيَاءِ وَالفُقَرَاءِ ازْدَادَتِ اتِّسَاعًا</a:t>
            </a:r>
            <a:endParaRPr lang="ar-SA" sz="145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وَيَتَطَلَّبُ الأَمْرُ أَنْ تُعِيدَ الحُكُومَاتُ تَوْزِيعَ الثَّرْوَةِ</a:t>
            </a:r>
            <a:endParaRPr lang="ar-SA" sz="16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صَحِيحٌ أَنَّ نِسَبَ التَّعْلِيمِ ارْتَفَعَتْ بِوُضُوحٍ</a:t>
            </a:r>
            <a:endParaRPr lang="ar-SA" sz="16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غَيْرَ أَنَّ التَّهْمِيشَ الجِهَازِيَّ لَا يَزَالُ قَائِمًا</a:t>
            </a:r>
            <a:endParaRPr lang="ar-SA" sz="16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يَنْبَغِي أَنْ تُوَسَّعَ شَبَكَةُ الأَمَانِ</a:t>
            </a:r>
            <a:endParaRPr lang="ar-SA" sz="16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لَا يُمْكِنُ إِنْكَارُ أَنَّ الفُرَصَ تَوَسَّعَتْ نِسْبِيًّا</a:t>
            </a:r>
            <a:endParaRPr lang="ar-SA" sz="16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غَيْرَ أَنَّ كَثِيرِينَ يُحْرَمُونَ مِنْ فُرَصِ التَّعْلِيمِ</a:t>
            </a:r>
            <a:endParaRPr lang="ar-SA" sz="16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34" charset="0"/>
                <a:ea typeface="Amiri" pitchFamily="34" charset="-122"/>
                <a:cs typeface="Amiri" pitchFamily="34" charset="-120"/>
              </a:rPr>
              <a:t>وَلَوْ قَوِيَتِ السِّيَاسَاتُ لَتَرَاجَعَتْ مُعَدَّلَاتُ الفَقْرِ</a:t>
            </a:r>
            <a:endParaRPr lang="ar-SA" sz="16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Pick one from each column — any combination is accurate. Then check: is the conceded verb real (no -a)? Does the solution verb end in -a?</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Concession, refutation — or analysis / conclusion?</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الاقْتِصَادَ نَمَا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لَا يُمْكِنُ إِنْكَارُ أَنَّ التَّعْلِيمَ تَوَسَّعَ</a:t>
            </a:r>
            <a:endParaRPr lang="ar-SA" sz="17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الفُرَصَ زَادَتْ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أَنَّ الهُوَّةَ ازْدَادَتِ اتِّسَاعًا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غَيْرَ أَنَّ التَّهْمِيشَ لَا يَزَالُ قَائِمًا</a:t>
            </a:r>
            <a:endParaRPr lang="ar-SA" sz="175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مَعَ ذٰلِكَ، يُحْرَمُ الفُقَرَاءُ مِنَ الفُرَصِ</a:t>
            </a:r>
            <a:endParaRPr lang="ar-SA" sz="17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34" charset="0"/>
                <a:ea typeface="Amiri" pitchFamily="34" charset="-122"/>
                <a:cs typeface="Amiri" pitchFamily="34" charset="-120"/>
              </a:rPr>
              <a:t>لَوْ كَانَتِ السِّيَاسَاتُ أَقْوَى، لَتَرَاجَعَ الفَقْرُ</a:t>
            </a:r>
            <a:endParaRPr lang="ar-SA" sz="14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وَبِنَاءً عَلَى مَا سَبَقَ، يَتَطَلَّبُ الأَمْرُ إِصْلَاحًا</a:t>
            </a:r>
            <a:endParaRPr lang="ar-SA" sz="135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200" b="1" dirty="0">
                <a:solidFill>
                  <a:srgbClr val="1B3B6F"/>
                </a:solidFill>
                <a:latin typeface="Amiri" pitchFamily="34" charset="0"/>
                <a:ea typeface="Amiri" pitchFamily="34" charset="-122"/>
                <a:cs typeface="Amiri" pitchFamily="34" charset="-120"/>
              </a:rPr>
              <a:t>يَتَطَلَّبُ الأَمْرُ أَنْ تُعِيدَ الحُكُومَاتُ تَوْزِيعَ الثَّرْوَةِ</a:t>
            </a:r>
            <a:endParaRPr lang="ar-SA" sz="12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concession (ṣaḥīḥun anna)</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refutation (ghayra anna)</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analysis / conclusion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concession (ṣaḥīḥun anna)</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الاقْتِصَادَ نَمَا</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لَا يُمْكِنُ إِنْكَارُ أَنَّ التَّعْلِيمَ تَوَسَّعَ</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صَحِيحٌ أَنَّ الفُرَصَ زَادَتْ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refutation (ghayra anna)</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أَنَّ الهُوَّةَ ازْدَادَتِ اتِّسَاعًا</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غَيْرَ أَنَّ التَّهْمِيشَ لَا يَزَالُ قَائِمًا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مَعَ ذٰلِكَ، يُحْرَمُ الفُقَرَاءُ مِنَ الفُرَصِ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analysis / conclusion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34" charset="0"/>
                <a:ea typeface="Amiri" pitchFamily="34" charset="-122"/>
                <a:cs typeface="Amiri" pitchFamily="34" charset="-120"/>
              </a:rPr>
              <a:t>لَوْ كَانَتِ السِّيَاسَاتُ أَقْوَى، لَتَرَاجَعَ الفَقْرُ</a:t>
            </a:r>
            <a:endParaRPr lang="ar-SA" sz="175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34" charset="0"/>
                <a:ea typeface="Amiri" pitchFamily="34" charset="-122"/>
                <a:cs typeface="Amiri" pitchFamily="34" charset="-120"/>
              </a:rPr>
              <a:t>وَبِنَاءً عَلَى مَا سَبَقَ، يَتَطَلَّبُ الأَمْرُ إِصْلَاحًا</a:t>
            </a:r>
            <a:endParaRPr lang="ar-SA" sz="17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يَتَطَلَّبُ الأَمْرُ أَنْ تُعِيدَ الحُكُومَاتُ تَوْزِيعَ الثَّرْوَةِ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concede before refuting?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weakens the argument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only decorative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answers the other side and strengthens the argument</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 analysis:</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لَوْ كَانَتْ شَبَكَةُ الأَمَانِ أَقْوَى، ___ الفَقْرُ.</a:t>
            </a:r>
            <a:endParaRPr lang="ar-SA" sz="14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سَيَتَرَاجَعُ</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لَتَرَاجَعَ</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يَتَرَاجَعُ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“suffers under” in a formal register?</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يَعِيشُ فِي</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يَرْزَحُ تَحْتَ</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يَبْقَى مَعَ</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deprived of”?</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يَحْرِمُ مِنْ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حَرَمَ مِنْ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يُحْرَمُ مِنْ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concede before refuting?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weakens the argument</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only decorative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answers the other side and strengthens the argument</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Conceding then refuting is the signature of formal argument.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Type 2 analysis:</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لَوْ كَانَتْ شَبَكَةُ الأَمَانِ أَقْوَى، ___ الفَقْرُ.</a:t>
            </a:r>
            <a:endParaRPr lang="ar-SA" sz="14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سَيَتَرَاجَعُ</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لَتَرَاجَعَ</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يَتَرَاجَعُ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“suffers under” in a formal register?</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يَعِيشُ فِي</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يَرْزَحُ تَحْتَ</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يَبْقَى مَعَ</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يَرْزَحُ تَحْتَ</a:t>
            </a:r>
            <a:pPr algn="l" indent="0" marL="0">
              <a:buNone/>
            </a:pPr>
            <a:r>
              <a:rPr lang="en-US" sz="1050" i="1" dirty="0">
                <a:solidFill>
                  <a:srgbClr val="8A6D1E"/>
                </a:solidFill>
                <a:latin typeface="Calibri" pitchFamily="34" charset="0"/>
                <a:ea typeface="Calibri" pitchFamily="34" charset="-122"/>
                <a:cs typeface="Calibri" pitchFamily="34" charset="-120"/>
              </a:rPr>
              <a:t> is the formal verb.</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passive “is deprived of”?</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يَحْرِمُ مِنْ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حَرَمَ مِنْ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يُحْرَمُ مِنْ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يُحْرَمُ مِنْ</a:t>
            </a:r>
            <a:pPr algn="l" indent="0" marL="0">
              <a:buNone/>
            </a:pPr>
            <a:r>
              <a:rPr lang="en-US" sz="1050" i="1" dirty="0">
                <a:solidFill>
                  <a:srgbClr val="8A6D1E"/>
                </a:solidFill>
                <a:latin typeface="Calibri" pitchFamily="34" charset="0"/>
                <a:ea typeface="Calibri" pitchFamily="34" charset="-122"/>
                <a:cs typeface="Calibri" pitchFamily="34" charset="-120"/>
              </a:rPr>
              <a:t> is the passive.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صَحِيحٌ أَنَّ الاقْتِصَادَ يَنْمُوَ، غَيْرَ أَنَّ التَّفَاوُتَ ازْدَادَ.</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ṣaḥīḥun anna … yanmuwa?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صَحِيحٌ أَنَّ الاقْتِصَادَ نَمَا، وَالتَّفَاوُتُ ازْدَادَ.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 wa-l-tafāwutu?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كَانَتْ شَبَكَةُ الأَمَانِ أَقْوَى، سَتَرَاجَعَ الفَقْرُ.</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صَحِيحٌ أَنَّ الاقْتِصَادَ يَنْمُوَ، غَيْرَ أَنَّ التَّفَاوُتَ ازْدَادَ.</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صَحِيحٌ أَنَّ الاقْتِصَادَ نَمَا، غَيْرَ أَنَّ التَّفَاوُتَ ازْدَادَ.</a:t>
            </a:r>
            <a:endParaRPr lang="ar-SA" sz="21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صَحِيحٌ أَنَّ</a:t>
            </a:r>
            <a:pPr algn="l" indent="0" marL="0">
              <a:buNone/>
            </a:pPr>
            <a:r>
              <a:rPr lang="en-US" sz="1150" b="1" dirty="0">
                <a:solidFill>
                  <a:srgbClr val="1B3B6F"/>
                </a:solidFill>
                <a:latin typeface="Calibri" pitchFamily="34" charset="0"/>
                <a:ea typeface="Calibri" pitchFamily="34" charset="-122"/>
                <a:cs typeface="Calibri" pitchFamily="34" charset="-120"/>
              </a:rPr>
              <a:t> concedes a real point, so the verb is indicative/past, not subjunctive.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صَحِيحٌ أَنَّ الاقْتِصَادَ نَمَا، وَالتَّفَاوُتُ ازْدَادَ.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lnSpc>
                <a:spcPct val="120000"/>
              </a:lnSpc>
              <a:buNone/>
            </a:pPr>
            <a:r>
              <a:rPr lang="ar-SA" altLang="en-US" sz="2100" b="1" dirty="0">
                <a:solidFill>
                  <a:srgbClr val="1E6B52"/>
                </a:solidFill>
                <a:latin typeface="Amiri" pitchFamily="34" charset="0"/>
                <a:ea typeface="Amiri" pitchFamily="34" charset="-122"/>
                <a:cs typeface="Amiri" pitchFamily="34" charset="-120"/>
              </a:rPr>
              <a:t>صَحِيحٌ أَنَّ الاقْتِصَادَ نَمَا، غَيْرَ أَنَّ التَّفَاوُتَ ازْدَادَ.</a:t>
            </a:r>
            <a:endParaRPr lang="ar-SA" sz="21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refutation needs the formal connector </a:t>
            </a:r>
            <a:pPr algn="l" indent="0" marL="0">
              <a:buNone/>
            </a:pPr>
            <a:r>
              <a:rPr lang="ar-SA" altLang="en-US" sz="1500" b="1" dirty="0">
                <a:solidFill>
                  <a:srgbClr val="1B3B6F"/>
                </a:solidFill>
                <a:latin typeface="Amiri" pitchFamily="34" charset="0"/>
                <a:ea typeface="Amiri" pitchFamily="34" charset="-122"/>
                <a:cs typeface="Amiri" pitchFamily="34" charset="-120"/>
              </a:rPr>
              <a:t>غَيْرَ أَنَّ</a:t>
            </a:r>
            <a:pPr algn="l" indent="0" marL="0">
              <a:buNone/>
            </a:pPr>
            <a:r>
              <a:rPr lang="en-US" sz="1150" b="1" dirty="0">
                <a:solidFill>
                  <a:srgbClr val="1B3B6F"/>
                </a:solidFill>
                <a:latin typeface="Calibri" pitchFamily="34" charset="0"/>
                <a:ea typeface="Calibri" pitchFamily="34" charset="-122"/>
                <a:cs typeface="Calibri" pitchFamily="34" charset="-120"/>
              </a:rPr>
              <a:t>, not a bare </a:t>
            </a:r>
            <a:pPr algn="l" indent="0" marL="0">
              <a:buNone/>
            </a:pPr>
            <a:r>
              <a:rPr lang="ar-SA" altLang="en-US" sz="1500" b="1" dirty="0">
                <a:solidFill>
                  <a:srgbClr val="1B3B6F"/>
                </a:solidFill>
                <a:latin typeface="Amiri" pitchFamily="34" charset="0"/>
                <a:ea typeface="Amiri" pitchFamily="34" charset="-122"/>
                <a:cs typeface="Amiri" pitchFamily="34" charset="-120"/>
              </a:rPr>
              <a:t>وَ</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لَوْ كَانَتْ شَبَكَةُ الأَمَانِ أَقْوَى، سَتَرَاجَعَ الفَقْرُ.</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34" charset="0"/>
                <a:ea typeface="Amiri" pitchFamily="34" charset="-122"/>
                <a:cs typeface="Amiri" pitchFamily="34" charset="-120"/>
              </a:rPr>
              <a:t>لَوْ كَانَتْ شَبَكَةُ الأَمَانِ أَقْوَى، لَتَرَاجَعَ الفَقْرُ.</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the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prefix,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Listening: a social-policy analyst on inequality</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UN reports indicate?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Over 100 million Arabs live below the poverty line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Poverty has been eliminated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are no reliable figures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analyst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poverty is falling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inequality has ended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Arab economy has grown in recent decades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refute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gap has narrowed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Growth solved inequality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wealth gap has widened despite that growth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redistribution policies been more effective, rates would be far lower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Redistribution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Rates cannot fall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conclude is required?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needs to change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Governments should review their tax policies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Taxes should be abolished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tushīru ilā anna · ṣaḥīḥun anna · ghayra anna.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تَقُولُ المُحَلِّلَةُ: تُشِيرُ تَقَارِيرُ الأُمَمِ المُتَّحِدَةِ إِلَى أَنَّ أَكْثَرَ مِنْ مِئَةِ مِلْيُونِ عَرَبِيٍّ يَعِيشُونَ تَحْتَ حَدِّ الفَقْرِ.</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analyst says: UN reports indicate that more than 100 million Arabs live below the poverty line.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صَحِيحٌ أَنَّ الاقْتِصَادَ العَرَبِيَّ نَمَا فِي العُقُودِ الأَخِيرَةِ، غَيْرَ أَنَّ الهُوَّةَ بَيْنَ الأَغْنِيَاءِ وَالفُقَرَاءِ ازْدَادَتِ اتِّسَاعًا.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true that the Arab economy has grown in recent decades; however, the gap between rich and poor has grown wider.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يَرْزَحُ كَثِيرُونَ تَحْتَ وَطْأَةِ الفَقْرِ المُدْقِعِ، وَيُحْرَمُ الأَطْفَالُ مِنْ فُرَصِ التَّعْلِيمِ.</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suffer under the weight of extreme poverty, and children are deprived of educational opportunities.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وَلَوْ كَانَتْ سِيَاسَاتُ إِعَادَةِ تَوْزِيعِ الثَّرْوَةِ أَكْثَرَ فَاعِلِيَّةً، لَكَانَتِ المُعَدَّلَاتُ أَقَلَّ بِكَثِيرٍ.</a:t>
            </a:r>
            <a:endParaRPr lang="ar-SA" sz="18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wealth-redistribution policies been more effective, the rates would be far lower.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وَبِنَاءً عَلَى مَا سَبَقَ، يَتَطَلَّبُ الأَمْرُ أَنْ تُعِيدَ الحُكُومَاتُ النَّظَرَ فِي سِيَاسَاتِهَا الضَّرِيبِيَّةِ.</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Based on the above, governments need to review their tax policies.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UN reports indicate?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Over 100 million Arabs live below the poverty line</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Poverty has been eliminated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are no reliable figures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34" charset="0"/>
                <a:ea typeface="Amiri" pitchFamily="34" charset="-122"/>
                <a:cs typeface="Amiri" pitchFamily="34" charset="-120"/>
              </a:rPr>
              <a:t>تُشِيرُ تَقَارِيرُ الأُمَمِ المُتَّحِدَةِ إِلَى أَنَّ أَكْثَرَ مِنْ مِئَةِ مِلْيُونِ عَرَبِيٍّ يَعِيشُونَ تَحْتَ حَدِّ الفَقْرِ.</a:t>
            </a:r>
            <a:endParaRPr lang="ar-SA" sz="9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analyst concede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poverty is falling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inequality has ended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That the Arab economy has grown in recent decades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الاقْتِصَادَ العَرَبِيَّ نَمَا فِي العُقُودِ الأَخِيرَةِ.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refute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gap has narrowed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Growth solved inequality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wealth gap has widened despite that growth</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غَيْرَ أَنَّ الهُوَّةَ بَيْنَ الأَغْنِيَاءِ وَالفُقَرَاءِ ازْدَادَتِ اتِّسَاعًا.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Type 2 counterfactual?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redistribution policies been more effective, rates would be far lower</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Redistribution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Rates cannot fall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لَوْ كَانَتْ سِيَاسَاتُ إِعَادَةِ تَوْزِيعِ الثَّرْوَةِ أَكْثَرَ فَاعِلِيَّةً، لَكَانَتِ المُعَدَّلَاتُ أَقَلَّ.</a:t>
            </a:r>
            <a:endParaRPr lang="ar-SA" sz="10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conclude is required?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needs to change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Governments should review their tax policies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Taxes should be abolished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34" charset="0"/>
                <a:ea typeface="Amiri" pitchFamily="34" charset="-122"/>
                <a:cs typeface="Amiri" pitchFamily="34" charset="-120"/>
              </a:rPr>
              <a:t>يَتَطَلَّبُ الأَمْرُ أَنْ تُعِيدَ الحُكُومَاتُ النَّظَرَ فِي سِيَاسَاتِهَا الضَّرِيبِيَّةِ.</a:t>
            </a:r>
            <a:endParaRPr lang="ar-SA" sz="11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tushīru ilā anna · ṣaḥīḥun anna · ghayra anna.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build a concession-refutation</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النُّقْطَةُ الَّتِي تُسَلِّمُ بِهَا بِـ«صَحِيحٌ أَنَّ»؟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تَدْحَضُهَا بِـ«غَيْرَ أَنَّ»؟</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الحَلُّ الَّذِي تَقْتَرِحُهُ بِـ«يَتَطَلَّبُ الأَمْرُ أَنْ»؟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صَحِيحٌ أَنَّ ___ ، غَيْرَ 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لَوْ كَانَتِ السِّيَاسَاتُ أَقْوَى، لَتَرَاجَعَ ___ .</a:t>
            </a:r>
            <a:endParaRPr lang="ar-SA" sz="15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وَبِنَاءً عَلَى مَا سَبَقَ، يَتَطَلَّبُ الأَمْرُ أَنْ ___ .</a:t>
            </a:r>
            <a:endParaRPr lang="ar-SA" sz="14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النُّقْطَةُ الَّتِي تُسَلِّمُ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point do you concede?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صَحِيحٌ أَنَّ الاقْتِصَادَ نَمَا وَارْتَفَعَتْ نِسَبُ التَّعْلِيمِ.</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It is true that the economy has grown and education rates have risen.</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2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one concession (</a:t>
            </a:r>
            <a:pPr algn="l" indent="0" marL="0">
              <a:buNone/>
            </a:pPr>
            <a:r>
              <a:rPr lang="ar-SA" altLang="en-US" sz="1800" b="1" dirty="0">
                <a:solidFill>
                  <a:srgbClr val="1F2A37"/>
                </a:solidFill>
                <a:latin typeface="Amiri" pitchFamily="34" charset="0"/>
                <a:ea typeface="Amiri" pitchFamily="34" charset="-122"/>
                <a:cs typeface="Amiri" pitchFamily="34" charset="-120"/>
              </a:rPr>
              <a:t>صَحِيحٌ أَنَّ</a:t>
            </a:r>
            <a:pPr algn="l" indent="0" marL="0">
              <a:buNone/>
            </a:pPr>
            <a:r>
              <a:rPr lang="en-US" sz="1400" b="1" dirty="0">
                <a:solidFill>
                  <a:srgbClr val="1F2A37"/>
                </a:solidFill>
                <a:latin typeface="Calibri" pitchFamily="34" charset="0"/>
                <a:ea typeface="Calibri" pitchFamily="34" charset="-122"/>
                <a:cs typeface="Calibri" pitchFamily="34" charset="-120"/>
              </a:rPr>
              <a:t>) answered by one refutation (</a:t>
            </a:r>
            <a:pPr algn="l" indent="0" marL="0">
              <a:buNone/>
            </a:pPr>
            <a:r>
              <a:rPr lang="ar-SA" altLang="en-US" sz="1800" b="1" dirty="0">
                <a:solidFill>
                  <a:srgbClr val="1F2A37"/>
                </a:solidFill>
                <a:latin typeface="Amiri" pitchFamily="34" charset="0"/>
                <a:ea typeface="Amiri" pitchFamily="34" charset="-122"/>
                <a:cs typeface="Amiri" pitchFamily="34" charset="-120"/>
              </a:rPr>
              <a:t>غَيْرَ أَنَّ</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one concession (ṣaḥīḥun anna) answered by one refutation (ghayra anna).</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Type 2 counterfactual and reach 100 words.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a Type 2 counterfactual and reach 100 words.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Reach 110 words with a formal conclusion and a necessity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statistics, concession, refutation, Type 2 and a formal conclusion with a necessity subjunctive.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تُشِيرُ التَّقَارِيرُ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Reports indicate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00" b="1" dirty="0">
                <a:solidFill>
                  <a:srgbClr val="1B3B6F"/>
                </a:solidFill>
                <a:latin typeface="Amiri" pitchFamily="34" charset="0"/>
                <a:ea typeface="Amiri" pitchFamily="34" charset="-122"/>
                <a:cs typeface="Amiri" pitchFamily="34" charset="-120"/>
              </a:rPr>
              <a:t>لَوْ كَانَتِ السِّيَاسَاتُ أَكْثَرَ فَاعِلِيَّةً، لَكَانَتِ ______ .</a:t>
            </a:r>
            <a:endParaRPr lang="ar-SA" sz="15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Had policies been more effective,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وَبِنَاءً عَلَى مَا سَبَقَ، يَتَطَلَّبُ الأَمْرُ أَنْ ______ .</a:t>
            </a:r>
            <a:endParaRPr lang="ar-SA" sz="16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Based on the above, it requires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يَحْظَى الجَمِيعُ بِفُرَصٍ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so that everyone enjoys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صَحِيحٌ 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true that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however,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يَرْزَحُ كَثِيرُونَ تَحْتَ وَطْأَةِ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Many suffer under the weight of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يُحْرَمُ الأَطْفَالُ مِنْ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Children are deprived of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34" charset="0"/>
                <a:ea typeface="Amiri" pitchFamily="34" charset="-122"/>
                <a:cs typeface="Amiri" pitchFamily="34" charset="-120"/>
              </a:rPr>
              <a:t>الاقْتِصَادَ نَمَا  ·  نِسَبَ التَّعْلِيمِ ارْتَفَعَتْ  ·  الهُوَّةَ ازْدَادَتِ اتِّسَاعًا  ·  الفُرَصَ غَيْرُ مُتَكَافِئَةٍ  ·  الفَقْرِ المُدْقِعِ  ·  فُرَصِ التَّعْلِيمِ  ·  الرِّعَايَةِ الصِّحِّيَّةِ  ·  المُعَدَّلَاتُ أَقَلَّ  ·  تُعِيدَ الحُكُومَاتُ تَوْزِيعَ الثَّرْوَةِ  ·  فُرَصٍ مُتَكَافِئَةٍ  ·  شَبَكَةُ الأَمَانِ  ·  العَدَالَةِ الاجْتِمَاعِيَّةِ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Write a 100–110-word social-inequality analysis. Open with reported statistics, concede a real gain with ṣaḥīḥun anna + an indicative verb, refute it with ghayra anna, add a Type 2 counterfactual, and conclude with wa-bināʾan ʿalā mā sabaqa + a necessity subjunctive.</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reported-statistics opening (tushīru … ilā anna).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concession with ṣaḥīḥun anna + an indicative verb and a refutation with ghayra anna.</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formal verbs yarzaḥu taḥta / yuḥramu min and a Type 2 counterfactual.</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formal conclusion (wa-bināʾan ʿalā mā sabaqa) with a necessity subjunctive.</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ازْدَادَتِ اتِّسَاعًا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grew wider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 وَطْأَةِ الفَقْرِ البِنْيَوِيِّ</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under the weight of structural poverty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مِمَّا يُسْهِمُ فِي تَعْمِيقِ دَوَّامَةِ الحِرْمَانِ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which deepens the cycle of deprivation</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أَكْثَرَ فَاعِلِيَّةً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more effective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لِكَيْ يَحْظَى الجَمِيعُ بِفُرَصٍ مُتَكَافِئَةٍ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so that everyone enjoys equal opportunities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تُشِيرُ تَقَارِيرُ الأُمَمِ المُتَّحِدَةِ إِلَى أَنَّ أَكْثَرَ مِنْ مِئَةِ مِلْيُونِ عَرَبِيٍّ يَعِيشُونَ تَحْتَ حَدِّ الفَقْرِ. صَحِيحٌ أَنَّ الاقْتِصَادَ العَرَبِيَّ نَمَا وَارْتَفَعَتْ نِسَبُ التَّعْلِيمِ فِي العُقُودِ الأَخِيرَةِ، غَيْرَ أَنَّ الهُوَّةَ بَيْنَ الأَغْنِيَاءِ وَالفُقَرَاءِ ازْدَادَتِ اتِّسَاعًا. يَرْزَحُ كَثِيرُونَ تَحْتَ وَطْأَةِ الفَقْرِ البِنْيَوِيِّ، وَيُحْرَمُ الأَطْفَالُ مِنْ فُرَصِ التَّعْلِيمِ وَالرِّعَايَةِ، مِمَّا يُسْهِمُ فِي تَعْمِيقِ دَوَّامَةِ الحِرْمَانِ. وَلَوْ كَانَتْ سِيَاسَاتُ إِعَادَةِ تَوْزِيعِ الثَّرْوَةِ أَكْثَرَ فَاعِلِيَّةً، لَكَانَتِ المُعَدَّلَاتُ أَقَلَّ بِكَثِيرٍ. وَبِنَاءً عَلَى مَا سَبَقَ، يَتَطَلَّبُ تَحْقِيقُ العَدَالَةِ الاجْتِمَاعِيَّةِ أَنْ تُعِيدَ الحُكُومَاتُ النَّظَرَ فِي سِيَاسَاتِهَا الضَّرِيبِيَّةِ لِكَيْ يَحْظَى الجَمِيعُ بِفُرَصٍ مُتَكَافِئَةٍ.</a:t>
            </a:r>
            <a:endParaRPr lang="ar-SA" sz="22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UN reports indicate that more than 100 million Arabs live below the poverty line. It is true that the Arab economy has grown and education rates have risen in recent decades; however, the gap between rich and poor has grown wider. Many suffer under the weight of structural poverty, and children are deprived of education and care, which deepens the cycle of deprivation. Had wealth-redistribution policies been more effective, the rates would be far lower. Based on the above, achieving social justice requires governments to review their tax policies so that everyone enjoys equal opportunities.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tushīru … ilā anna (evidence)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ṣaḥīḥun anna … ghayra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law … la-kānat (Type 2)</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wa-bināʾan … an tuʿīda · li-kay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conceded with ṣaḥīḥun anna and refuted with ghayra anna.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anna I put a noun in -a (anna l-iqtiṣāda).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conceded verb is real (no -a); my solution verb after an ends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Type 2 result has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yarzaḥu taḥta / yuḥramu min and closed with wa-bināʾan ʿalā mā sabaqa.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concedes a real situation?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 الاقْتِصَادَ نَمَا.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 التَّفَاوُتَ ازْدَادَ.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نَمَا الاقْتِصَادُ لَتَحَسَّنَ الوَضْعُ.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the refutation?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صَحِيحٌ أَنَّ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subjunctive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jussive</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clause concedes a real situation?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صَحِيحٌ أَنَّ الاقْتِصَادَ نَمَا.</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غَيْرَ أَنَّ التَّفَاوُتَ ازْدَادَ.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لَوْ نَمَا الاقْتِصَادُ لَتَحَسَّنَ الوَضْعُ.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 indicative concedes a real point.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opens the refutation?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صَحِيحٌ أَنَّ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غَيْرَ أَنَّ</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is the formal refutation connector.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mood follows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indicative</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subjunctive</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jussive</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concession is real, so the verb stays indicative.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Reading: a social-inequality analysis (extract)</a:t>
            </a:r>
            <a:endParaRPr lang="en-US" sz="20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يُعَدُّ التَّفَاوُتُ الاجْتِمَاعِيُّ مِنْ أَخْطَرِ التَّحَدِّيَاتِ فِي العَالَمِ العَرَبِيِّ. صَحِيحٌ أَنَّ نِسَبَ التَّعْلِيمِ ارْتَفَعَتْ، غَيْرَ أَنَّ الفُرَصَ لَا تَزَالُ غَيْرَ مُتَكَافِئَةٍ. يَرْزَحُ كَثِيرُونَ تَحْتَ وَطْأَةِ الفَقْرِ البِنْيَوِيِّ، وَيُحْرَمُونَ مِنَ الرِّعَايَةِ الصِّحِّيَّةِ، مِمَّا يُسْهِمُ فِي تَعْمِيقِ دَوَّامَةِ الحِرْمَانِ. وَأَكَّدَتْ مُنَظَّمَةٌ دَوْلِيَّةٌ أَنَّ التَّهْمِيشَ الجِهَازِيَّ يُقَلِّصُ التَّنَقُّلَ الاجْتِمَاعِيَّ الصَّاعِدَ. وَلَوْ كَانَتْ شَبَكَةُ الأَمَانِ الاجْتِمَاعِيِّ أَوْسَعَ، لَتَقَلَّصَتِ الهُوَّةُ. وَبِنَاءً عَلَى مَا سَبَقَ، يَتَطَلَّبُ تَحْقِيقُ العَدَالَةِ أَنْ تُعِيدَ الدَّوْلَةُ تَوْزِيعَ الفُرَصِ.</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التَّفَاوُتُ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inequality, disparity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مُتَكَافِئَةٍ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equal (opportunities)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وَطْأَةِ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weight, burden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الرِّعَايَةِ الصِّحِّيَّةِ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healthcare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دَوَّامَةِ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vicious circle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مُنَظَّمَةٌ دَوْلِيَّةٌ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 international organisation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يُقَلِّصُ</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reduces, shrinks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أَوْسَعَ</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wider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لَتَقَلَّصَتِ</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would have shrunk</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تَحْقِيقُ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achieving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concede with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opportunities are equal</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education rates have risen</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poverty has ended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refuted by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Opportunities are now equal</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Education has failed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Opportunities are still unequal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structural poverty lead to?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Deepening the cycle of deprivation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Ending deprivation</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Raising incomes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international organisation confirm?</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Mobility is unaffected</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Systemic marginalisation reduces upward mobility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Marginalisation helps mobility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extract conclude?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state must redistribute opportunities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should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Opportunities are already fair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concede with </a:t>
            </a:r>
            <a:pPr algn="l" indent="0" marL="0">
              <a:buNone/>
            </a:pPr>
            <a:r>
              <a:rPr lang="ar-SA" altLang="en-US" sz="1650" b="1" dirty="0">
                <a:solidFill>
                  <a:srgbClr val="1B3B6F"/>
                </a:solidFill>
                <a:latin typeface="Amiri" pitchFamily="34" charset="0"/>
                <a:ea typeface="Amiri" pitchFamily="34" charset="-122"/>
                <a:cs typeface="Amiri" pitchFamily="34" charset="-120"/>
              </a:rPr>
              <a:t>صَحِيحٌ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opportunities are equal</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education rates have risen</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poverty has ended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صَحِيحٌ أَنَّ نِسَبَ التَّعْلِيمِ ارْتَفَعَتْ.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refuted by </a:t>
            </a:r>
            <a:pPr algn="l" indent="0" marL="0">
              <a:buNone/>
            </a:pPr>
            <a:r>
              <a:rPr lang="ar-SA" altLang="en-US" sz="1650" b="1" dirty="0">
                <a:solidFill>
                  <a:srgbClr val="1B3B6F"/>
                </a:solidFill>
                <a:latin typeface="Amiri" pitchFamily="34" charset="0"/>
                <a:ea typeface="Amiri" pitchFamily="34" charset="-122"/>
                <a:cs typeface="Amiri" pitchFamily="34" charset="-120"/>
              </a:rPr>
              <a:t>غَيْرَ 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Opportunities are now equal</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Education has failed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Opportunities are still unequal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غَيْرَ أَنَّ الفُرَصَ لَا تَزَالُ غَيْرَ مُتَكَافِئَةٍ.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structural poverty lead to?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Deepening the cycle of deprivation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Ending deprivation</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Raising incomes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مِمَّا يُسْهِمُ فِي تَعْمِيقِ دَوَّامَةِ الحِرْمَانِ.</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international organisation confirm?</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Mobility is unaffected</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Systemic marginalisation reduces upward mobility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Marginalisation helps mobility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34" charset="0"/>
                <a:ea typeface="Amiri" pitchFamily="34" charset="-122"/>
                <a:cs typeface="Amiri" pitchFamily="34" charset="-120"/>
              </a:rPr>
              <a:t>أَكَّدَتْ مُنَظَّمَةٌ دَوْلِيَّةٌ أَنَّ التَّهْمِيشَ الجِهَازِيَّ يُقَلِّصُ التَّنَقُّلَ الاجْتِمَاعِيَّ الصَّاعِدَ.</a:t>
            </a:r>
            <a:endParaRPr lang="ar-SA" sz="10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extract conclude?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The state must redistribute opportunities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should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Opportunities are already fair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يَتَطَلَّبُ تَحْقِيقُ العَدَالَةِ أَنْ تُعِيدَ الدَّوْلَةُ تَوْزِيعَ الفُرَصِ.</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Argument Mission — Concede, Then Refute</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Move:</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صَحِيحٌ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refutation</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condition</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Move: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غَيْرَ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refutation</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purpose</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Concede: complete — </a:t>
            </a:r>
            <a:pPr algn="l" indent="0" marL="0">
              <a:buNone/>
            </a:pPr>
            <a:r>
              <a:rPr lang="ar-SA" altLang="en-US" sz="1500" b="1" dirty="0">
                <a:solidFill>
                  <a:srgbClr val="1B3B6F"/>
                </a:solidFill>
                <a:latin typeface="Amiri" pitchFamily="34" charset="0"/>
                <a:ea typeface="Amiri" pitchFamily="34" charset="-122"/>
                <a:cs typeface="Amiri" pitchFamily="34" charset="-120"/>
              </a:rPr>
              <a:t>صَحِيحٌ أَنَّ التَّعْلِيمَ</a:t>
            </a:r>
            <a:pPr algn="l" indent="0" marL="0">
              <a:buNone/>
            </a:pPr>
            <a:r>
              <a:rPr lang="en-US" sz="1150" b="1" dirty="0">
                <a:solidFill>
                  <a:srgbClr val="1B3B6F"/>
                </a:solidFill>
                <a:latin typeface="Calibri" pitchFamily="34" charset="0"/>
                <a:ea typeface="Calibri" pitchFamily="34" charset="-122"/>
                <a:cs typeface="Calibri" pitchFamily="34" charset="-120"/>
              </a:rPr>
              <a:t> ___ </a:t>
            </a:r>
            <a:pPr algn="l" indent="0" marL="0">
              <a:buNone/>
            </a:pPr>
            <a:r>
              <a:rPr lang="ar-SA" altLang="en-US" sz="1500" b="1" dirty="0">
                <a:solidFill>
                  <a:srgbClr val="1B3B6F"/>
                </a:solidFill>
                <a:latin typeface="Amiri" pitchFamily="34" charset="0"/>
                <a:ea typeface="Amiri" pitchFamily="34" charset="-122"/>
                <a:cs typeface="Amiri" pitchFamily="34" charset="-120"/>
              </a:rPr>
              <a:t>، غَيْرَ أَنَّ الفُرَصَ غَيْرُ مُتَكَافِئَةٍ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يَتَوَسَّعَ</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لِيَتَوَسَّعْ</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تَوَسَّعَ</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Refute: which correctly opens the counter-argument?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وَالهُوَّةُ ازْدَادَتْ.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الهُوَّةَ ازْدَادَتْ.</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غَيْرَ أَنَّ الهُوَّةَ ازْدَادَتْ.</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Analyse: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كَانَتِ السِّيَاسَاتُ أَقْوَى،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الفَقْرُ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لَتَرَاجَعَ</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سَيَتَرَاجَعُ</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يَتَرَاجَعُ</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Conclude: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تَوْزِيعَ الثَّرْوَةِ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تُعِيدُ</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تُعِيدَ</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تُعِيدْ</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Move:</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صَحِيحٌ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refutation</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concession</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condition</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concedes a real point.</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Move:</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34" charset="0"/>
                <a:ea typeface="Amiri" pitchFamily="34" charset="-122"/>
                <a:cs typeface="Amiri" pitchFamily="34" charset="-120"/>
              </a:rPr>
              <a:t>غَيْرَ أَنَّ</a:t>
            </a:r>
            <a:pPr algn="l" indent="0" marL="0">
              <a:buNone/>
            </a:pPr>
            <a:r>
              <a:rPr lang="en-US" sz="1450" b="1" dirty="0">
                <a:solidFill>
                  <a:srgbClr val="1F2A37"/>
                </a:solidFill>
                <a:latin typeface="Calibri" pitchFamily="34" charset="0"/>
                <a:ea typeface="Calibri" pitchFamily="34" charset="-122"/>
                <a:cs typeface="Calibri" pitchFamily="34" charset="-120"/>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refutation</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concession</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purpose</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counter-argument.</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Concede: complete — </a:t>
            </a:r>
            <a:pPr algn="l" indent="0" marL="0">
              <a:buNone/>
            </a:pPr>
            <a:r>
              <a:rPr lang="ar-SA" altLang="en-US" sz="1500" b="1" dirty="0">
                <a:solidFill>
                  <a:srgbClr val="1B3B6F"/>
                </a:solidFill>
                <a:latin typeface="Amiri" pitchFamily="34" charset="0"/>
                <a:ea typeface="Amiri" pitchFamily="34" charset="-122"/>
                <a:cs typeface="Amiri" pitchFamily="34" charset="-120"/>
              </a:rPr>
              <a:t>صَحِيحٌ أَنَّ التَّعْلِيمَ</a:t>
            </a:r>
            <a:pPr algn="l" indent="0" marL="0">
              <a:buNone/>
            </a:pPr>
            <a:r>
              <a:rPr lang="en-US" sz="1150" b="1" dirty="0">
                <a:solidFill>
                  <a:srgbClr val="1B3B6F"/>
                </a:solidFill>
                <a:latin typeface="Calibri" pitchFamily="34" charset="0"/>
                <a:ea typeface="Calibri" pitchFamily="34" charset="-122"/>
                <a:cs typeface="Calibri" pitchFamily="34" charset="-120"/>
              </a:rPr>
              <a:t> ___ </a:t>
            </a:r>
            <a:pPr algn="l" indent="0" marL="0">
              <a:buNone/>
            </a:pPr>
            <a:r>
              <a:rPr lang="ar-SA" altLang="en-US" sz="1500" b="1" dirty="0">
                <a:solidFill>
                  <a:srgbClr val="1B3B6F"/>
                </a:solidFill>
                <a:latin typeface="Amiri" pitchFamily="34" charset="0"/>
                <a:ea typeface="Amiri" pitchFamily="34" charset="-122"/>
                <a:cs typeface="Amiri" pitchFamily="34" charset="-120"/>
              </a:rPr>
              <a:t>، غَيْرَ أَنَّ الفُرَصَ غَيْرُ مُتَكَافِئَةٍ</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يَتَوَسَّعَ</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لِيَتَوَسَّعْ</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تَوَسَّعَ</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صَحِيحٌ أَنَّ</a:t>
            </a:r>
            <a:pPr algn="l" indent="0" marL="0">
              <a:buNone/>
            </a:pPr>
            <a:r>
              <a:rPr lang="en-US" sz="1050" i="1" dirty="0">
                <a:solidFill>
                  <a:srgbClr val="8A6D1E"/>
                </a:solidFill>
                <a:latin typeface="Calibri" pitchFamily="34" charset="0"/>
                <a:ea typeface="Calibri" pitchFamily="34" charset="-122"/>
                <a:cs typeface="Calibri" pitchFamily="34" charset="-120"/>
              </a:rPr>
              <a:t> the verb is indicative/past: </a:t>
            </a:r>
            <a:pPr algn="l" indent="0" marL="0">
              <a:buNone/>
            </a:pPr>
            <a:r>
              <a:rPr lang="ar-SA" altLang="en-US" sz="1350" dirty="0">
                <a:solidFill>
                  <a:srgbClr val="8A6D1E"/>
                </a:solidFill>
                <a:latin typeface="Amiri" pitchFamily="34" charset="0"/>
                <a:ea typeface="Amiri" pitchFamily="34" charset="-122"/>
                <a:cs typeface="Amiri" pitchFamily="34" charset="-120"/>
              </a:rPr>
              <a:t>تَوَسَّعَ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Refute: which correctly opens the counter-argument?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وَالهُوَّةُ ازْدَادَتْ.</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الهُوَّةَ ازْدَادَتْ.</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غَيْرَ أَنَّ الهُوَّةَ ازْدَادَتْ.</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refutation uses </a:t>
            </a:r>
            <a:pPr algn="l" indent="0" marL="0">
              <a:buNone/>
            </a:pPr>
            <a:r>
              <a:rPr lang="ar-SA" altLang="en-US" sz="1350" dirty="0">
                <a:solidFill>
                  <a:srgbClr val="8A6D1E"/>
                </a:solidFill>
                <a:latin typeface="Amiri" pitchFamily="34" charset="0"/>
                <a:ea typeface="Amiri" pitchFamily="34" charset="-122"/>
                <a:cs typeface="Amiri" pitchFamily="34" charset="-120"/>
              </a:rPr>
              <a:t>غَيْرَ 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Analyse: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لَوْ كَانَتِ السِّيَاسَاتُ أَقْوَى،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الفَقْرُ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لَتَرَاجَعَ</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سَيَتَرَاجَعُ</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يَتَرَاجَعُ</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Type 2 result takes the </a:t>
            </a:r>
            <a:pPr algn="l" indent="0" marL="0">
              <a:buNone/>
            </a:pPr>
            <a:r>
              <a:rPr lang="ar-SA" altLang="en-US" sz="1350" dirty="0">
                <a:solidFill>
                  <a:srgbClr val="8A6D1E"/>
                </a:solidFill>
                <a:latin typeface="Amiri" pitchFamily="34" charset="0"/>
                <a:ea typeface="Amiri" pitchFamily="34" charset="-122"/>
                <a:cs typeface="Amiri" pitchFamily="34" charset="-120"/>
              </a:rPr>
              <a:t>لَـ</a:t>
            </a:r>
            <a:pPr algn="l" indent="0" marL="0">
              <a:buNone/>
            </a:pPr>
            <a:r>
              <a:rPr lang="en-US" sz="1050" i="1" dirty="0">
                <a:solidFill>
                  <a:srgbClr val="8A6D1E"/>
                </a:solidFill>
                <a:latin typeface="Calibri" pitchFamily="34" charset="0"/>
                <a:ea typeface="Calibri" pitchFamily="34" charset="-122"/>
                <a:cs typeface="Calibri" pitchFamily="34" charset="-120"/>
              </a:rPr>
              <a:t> prefix.</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Conclude: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يَتَطَلَّبُ الأَمْرُ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الحُكُومَاتُ تَوْزِيعَ الثَّرْوَةِ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تُعِيدُ</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تُعِيدَ</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تُعِيدْ</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تُعِيدَ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P5-L01 · Argument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P5-L02: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Progression P5 · Social Issues and Opinions · P5-L01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P5-L02 · Migration and Displacement — A Global Crisis in Arabic</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هِجْرَةٌ اضْطِرَارِيَّةٌ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forced migration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نُزُوحٌ دَاخِلِيٌّ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internal displacement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طَالِبُ لُجُوءٍ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asylum seeker</a:t>
            </a:r>
            <a:pPr indent="0" marL="0">
              <a:buNone/>
            </a:pPr>
            <a:r>
              <a:rPr lang="en-US" sz="1000" i="1" dirty="0">
                <a:solidFill>
                  <a:srgbClr val="5A6472"/>
                </a:solidFill>
                <a:latin typeface="Calibri" pitchFamily="34" charset="0"/>
                <a:ea typeface="Calibri" pitchFamily="34" charset="-122"/>
                <a:cs typeface="Calibri" pitchFamily="34" charset="-120"/>
              </a:rPr>
              <a:t>  pl. طَالِبُو لُجُوءٍ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مُخَيَّمُ اللَّاجِئِينَ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refugee camp</a:t>
            </a:r>
            <a:pPr indent="0" marL="0">
              <a:buNone/>
            </a:pPr>
            <a:r>
              <a:rPr lang="en-US" sz="1000" i="1" dirty="0">
                <a:solidFill>
                  <a:srgbClr val="5A6472"/>
                </a:solidFill>
                <a:latin typeface="Calibri" pitchFamily="34" charset="0"/>
                <a:ea typeface="Calibri" pitchFamily="34" charset="-122"/>
                <a:cs typeface="Calibri" pitchFamily="34" charset="-120"/>
              </a:rPr>
              <a:t>  pl. مُخَيَّمَاتٌ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يُهَجَّرُ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is displaced</a:t>
            </a:r>
            <a:pPr indent="0" marL="0">
              <a:buNone/>
            </a:pPr>
            <a:r>
              <a:rPr lang="en-US" sz="1000" i="1" dirty="0">
                <a:solidFill>
                  <a:srgbClr val="5A6472"/>
                </a:solidFill>
                <a:latin typeface="Calibri" pitchFamily="34" charset="0"/>
                <a:ea typeface="Calibri" pitchFamily="34" charset="-122"/>
                <a:cs typeface="Calibri" pitchFamily="34" charset="-120"/>
              </a:rPr>
              <a:t>  passive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Why do people leave their homes? Give one reason and one “however”.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صَحِيحٌ أَنَّ بَعْضَ النَّاسِ يُهَاجِرُونَ لِلْعَمَلِ،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two concession–refutation pairs about inequality (ṣaḥīḥun anna … ghayra anna …).</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Type 2 analysis and reach 100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100–110-word inequality analysis with a formal conclusion.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P5-L01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P5-L02 · Migration and Displacement — A Global Crisis in Arabic</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الهِجْرَةُ وَالتَّهْجِيرُ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be fair, then firm — ṣaḥīḥun anna + a REAL verb (no -a) · ghayra anna + your point · law … la- to show it could be different · wa-bināʾan ʿalā mā sabaqa + an + a verb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P5-L01 · Poverty and Inequality — Analysing Social Disparities</dc:title>
  <dc:subject>PptxGenJS Presentation</dc:subject>
  <dc:creator>Al Madina Online School · Arabic Department</dc:creator>
  <cp:lastModifiedBy>Al Madina Online School · Arabic Department</cp:lastModifiedBy>
  <cp:revision>1</cp:revision>
  <dcterms:created xsi:type="dcterms:W3CDTF">2026-10-10T22:46:25Z</dcterms:created>
  <dcterms:modified xsi:type="dcterms:W3CDTF">2026-10-10T22:46:25Z</dcterms:modified>
</cp:coreProperties>
</file>