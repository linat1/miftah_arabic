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P5 Social Issues and Opinions › P5-L09. The website lesson “Writing — Social Issues and Opinions (Paper 4 Extended Writing)”: vocabulary, grammar rules and quiz, patterns, common mistakes, sorter, listening, reading, speaking prompts and model, writing task and model, differentiation, final check and the lesson mission. Picture match: website visual game “Writing — Social Issues and Opinions (Paper 4 Extended Writing)”.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WRITING-SKILLS LESSON (IGCSE Paper 4 style): the website task — a 150–165-word argumentative essay — is the main You Do. It is the longest and most complex text of the whole programme; give students the full writing slot and let them choose any social issue from P5-L01 to L06.
• Core: the four-paragraph plan with the thesis and one concession–refutation pair (website Core). Develop: 150 words with both conditionals and a subjunctive trigger. Stretch: 165 words with all nine Range markers and a formal conclusion.
• The nine Range markers: reported speech · past perfect · Type 1 · Type 2 · purpose (li-kay) · necessity (yataṭallabu / yanbaghī an) · volition (yuṭālibu bi-an / yuṣirru ʿalā an) · concession (ṣaḥīḥun anna … ghayra anna) · conclusion connector. The website vocabulary lists eight; the past perfect is the ninth (writing checklist).
• Sensitivity: the website model is about migration — see the P5-L02 note; keep the language humanising (الوَافِدُونَ · المُهَاجِرُونَ).
• Faith link (optional): «يَا أَيُّهَا النَّاسُ إِنَّا خَلَقْنَاكُمْ مِنْ ذَكَرٍ وَأُنْثَى وَجَعَلْنَاكُمْ شُعُوبًا وَقَبَائِلَ لِتَعَارَفُوا» (al-Ḥujurāt 49:13) — diversity as a source of mutual knowledge.
• TEACHER-WRITTEN ITEMS: waṣl alif shown without a kasra; لِكَيْ always written with its sukūn; يَصِرُّ → يُصِرُّ; مُؤَشِّرَاتٍ نَحْوِيَّةً → نَحْوِيَّةٍ (listening); اندِمَاجٍ → انْدِمَاجٍ (writing model); two doubled concessions corrected (live builder and sorter, as in P5-L07); vocabulary notes, rule formulas, writing prompt and checklist in transliteration; sorter headings in transliteration; the plan, Range, thesis, trap and upgrade tables are teacher-built from the website texts; the website visual game is beginner-level and not used.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P5-L08. Questions 4–5 retrieve the reading skills of P5-L08 — today students switch from reading the architecture to building it.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Two marks at once: Task Completion rewards the ARGUMENT, Range rewards the GRAMMAR — plan both before you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تنوع, ثقافت, مہاجر and اقتصاد are shared — the website model essay is full of words you already know. Careful: Urdu ترقی = progress, but in Arabic progress is usually التَّقَدُّمُ (تَرَقٍّ = rising / promotion). So: يَتَطَلَّبُ التَّقَدُّمُ أَنْ … (progress requires that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nine P5 Range markers (website vocabulary (1 of 2)). Hear → Say → See → Use. Transliteration is printed for Core students (cover it for Develop/Stretch).
The Range markers — the names of the grammar you will be marked on. Learn them as a checklist: reported speech · Type 1 · Type 2 · purpose · necessity · volition · concession · conclusion connector (+ the past perfect = 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nine P5 Range markers (website vocabulary (2 of 2)). Hear → Say → See → Use. Transliteration is printed for Core students (cover it for Develop/Stretch).
The Range markers — the names of the grammar you will be marked on. Learn them as a checklist: reported speech · Type 1 · Type 2 · purpose · necessity · volition · concession · conclusion connector (+ the past perfect = 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Essay register (website vocabulary (1 of 2)). Hear → Say → See → Use. Transliteration is printed for Core students (cover it for Develop/Stretch).
Essay register: الأُطْرُوحَةُ (thesis) → الدَّلِيلُ (evidence) → نَقِيضُ الحُجَّةِ (counter-argument) → الرَّدُّ (refutation) → الخَاتِمَةُ (conclusion). الصَّوْتُ التَّحْلِيلِيُّ المُتَّزِنُ = the calm, balanced voice the examiner wants.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Essay register (website vocabulary (2 of 2)). Hear → Say → See → Use. Transliteration is printed for Core students (cover it for Develop/Stretch).
FLEX: teach if time allows; otherwise these are on the website vocabulary tab for homework.
Essay register: الأُطْرُوحَةُ (thesis) → الدَّلِيلُ (evidence) → نَقِيضُ الحُجَّةِ (counter-argument) → الرَّدُّ (refutation) → الخَاتِمَةُ (conclusion). الصَّوْتُ التَّحْلِيلِيُّ المُتَّزِنُ = the calm, balanced voice the examiner wants.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Social issues content (website vocabulary (1 of 2)). Hear → Say → See → Use. Transliteration is printed for Core students (cover it for Develop/Stretch).
FLEX: teach if time allows; otherwise these are on the website vocabulary tab for homework.
Content words from P5-L01 to L06 — pick ONE issue for your essay. يُثْرِي (enriches) takes a direct object: تُثْرِي الهِجْرَةُ المُجْتَمَعَاتِ. Its opposite in the model: تُضْعِفُ (weakens).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Social issues content (website vocabulary (2 of 2)). Hear → Say → See → Use. Transliteration is printed for Core students (cover it for Develop/Stretch).
FLEX: teach if time allows; otherwise these are on the website vocabulary tab for homework.
Content words from P5-L01 to L06 — pick ONE issue for your essay. يُثْرِي (enriches) takes a direct object: تُثْرِي الهِجْرَةُ المُجْتَمَعَاتِ. Its opposite in the model: تُضْعِفُ (weakens).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the website table (“Paragraph · Argument role · Range markers”), teaching point 1 (“TC rewards the argument; Range rewards the grammar”) and the website reading.
Planning routine (3 min): draw four boxes; in each, write the role on the left and the marker(s) on the right; tick each marker as you use it. Target words: P1 30 · P2 35 · P3 60 · P4 35 = 160.
Note: the website model puts both conditionals AFTER the concession (P3) — they analyse what could be done and what could have been.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the website vocabulary group “The nine P5 Range markers” and the website writing model (every row is from the model).
Teacher check: students write 1–9 in the margin and tick each one in their draft. A missing tick = a missing Range mark.
Row 4: يُطَالِبُ بِأَنْ تُوضَعَ — volition + a PASSIVE in -a (P5-L03). One sentence, two markers of sophistication.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quiz 8 and mission round 10 (“Which is a position, not just a topic?”), rule “Thesis + evidence” and mistake 3.
A thesis is a sentence someone could DISAGREE with. Test: can you add «… غَيْرَ أَنَّ بَعْضَهُمْ يَرَى العَكْسَ»? If yes, it is a thesis.
أَكْثَرَ مِمَّا = more than (+ verb): تُثْرِي … أَكْثَرَ مِمَّا تُضْعِفُهَا — a ready-made thesis frame for ANY issue: X يَنْفَعُ … أَكْثَرَ مِمَّا يَضُرُّ.
Website teaching point 2: “The most-missed element is the conclusion connector + subjunctive” — one sentence carries a Range marker AND an Accuracy marker.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website mistakes 1–2, the common error, quiz 7 and the website correction applied in this deck (row 4).
WEBSITE CORRECTION: the website live builder has «بِالرَّغْمِ مِنَ التَّحَدِّيَاتِ، غَيْرَ أَنَّ الفُرَصَ أَكْبَرُ» and the sorter «بِالرَّغْمِ مِنَ التَّقَدُّمِ، مَعَ ذٰلِكَ تَبْقَى …» — both double the concession (as in P5-L07). This deck reads «… فَإِنَّ …» and «… تَبْقَى …».
Proof-reading routine (3 min at the end): check every أَنَّ (-u), every أَنْ / لِكَيْ (-a), every صَحِيحٌ (answered?), every لَوْ (la-?).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“A synthesis: thesis and evidence, then a concession (صَحِيحٌ أَنَّ) answered by a refutation (غَيْرَ أَنَّ), both conditionals, a subjunctive trigger, and a formal conclusion.”
• Thesis + evidence: State a position and support it with cited evidence.
• Concession + refutation: Concede a real point, then answer it.
• Both conditionals: Recommend with a Type 1, reflect with a Type 2.
• Conclusion: Synthesise and propose with a subjunctive.
Website common error: A subjunctive after صَحِيحٌ أَنَّ, or an essay that concedes but never refutes, or one that ends without a conclusion connector + subjunctive. Keep the concession indicative, always answer it, and always close formally.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(4 min) — the website model, shortened. Think aloud with the plan visible: “P1 — a position, not a topic: … akthara mimmā tuḍʿifuhā. P2 — akkada … anna (tick 1) and kānat … qad (tick 2). P3 — ṣaḥīḥun anna + -u (tick), ghayra anna, then law … la- (tick). P4 — the most-missed sentence: wa-bināʾan ʿalā mā sabaqa + an tastathmirA (two ticks).” Count the ticks with the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an upgrade drill built from the website model. The left-hand sentences are accurate but show almost no Range — that is the point.
Core: rows 1–2. Develop: rows 1–4. Stretch: all five, then turn row 3 into a Type 2: لَوْ لَمْ تَسْتَفِدِ الدُّوَلُ مِنْ …، لَـ …
Row 5 is website mistake 3: وَأَخِيرًا is a weak opener — it lists, it does not synthesise.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(flex) — the website live builder: “Build an essay spine from a thesis, a concession-refutation pair and a conclusion.” Website feedback: any three different combinations work.
Correction: column 2 row 3 reads «بِالرَّغْمِ مِنَ التَّحَدِّيَاتِ، فَإِنَّ …» (the website has «… غَيْرَ أَنَّ …», a doubled concession — see Grammar Part 4).
Ask: which columns could come from DIFFERENT issues and still make one essay? (none — an essay keeps ONE issue; mixing is a TC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pick one card from each column about the SAME issue and join them into a mini-essay — thesis, balance,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pick one card from each column about the SAME issue and join them into a mini-essay — thesis, balance,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5. Develop / Stretch: all 5 — and write down the five Range markers the examiner names.
Listen 1: just listen. Listen 2: note answers. Then chat the letters.
Support: after the second listening, show the read-along slide (Arabic + English, line by line) for Core students.
SCRIPT (read aloud):
فِي الوَرَقَةِ الرَّابِعَةِ، يَبْلُغُ نَصُّ هٰذِهِ الوَحْدَةِ مِئَةً وَخَمْسِينَ إِلَى مِئَةٍ وَخَمْسٍ وَسِتِّينَ كَلِمَةً، وَهُوَ أَطْوَلُ نَصٍّ وَأَعْقَدُهُ فِي البَرْنَامَجِ. يُكَافِئُ إِتْمَامُ المُهِمَّةِ بِنْيَةَ الحُجَّةِ: أُطْرُوحَةٌ، فَدَلِيلٌ، فَتَسْلِيمٌ بِـ«صَحِيحٌ أَنَّ»، فَرَدٌّ بِـ«غَيْرَ أَنَّ»، فَخَاتِمَةٌ. أَمَّا النِّطَاقُ فَيُكَافِئُ تِسْعَةَ مُؤَشِّرَاتٍ نَحْوِيَّةٍ: كَلَامٌ مَنْقُولٌ، وَنَوْعَا الشَّرْطِ، وَمُسَبِّبَاتُ النَّصْبِ، وَبِنْيَةُ التَّسْلِيمِ، وَرَابِطُ الخِتَامِ. وَتَذَكَّرْ أَنَّ الفِعْلَ بَعْدَ «صَحِيحٌ أَنَّ» مُثْبَتٌ لِأَنَّهُ يَصِفُ وَاقِعًا. وَاخْتِمْ دَائِمًا بِـ«وَبِنَاءً عَلَى مَا سَبَقَ» وَفِعْلٍ مَنْصُوبٍ.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وَكَيْفَ تَخْتِمُ؟ (Conclusion)
B: صَحِيحٌ أَنَّ الانْدِمَاجَ يَسْتَغْرِقُ وَقْتًا، غَيْرَ أَنَّ العَائِدَ أَكْبَرُ، وَبِنَاءً عَلَى مَا سَبَقَ يَتَطَلَّبُ التَّقَدُّمُ أَنْ نَسْتَثْمِرَ فِي الانْدِمَاجِ. (Concession + refutation + conclusion)
Website prompts and model: students TALK THROUGH their plan with a partner before writing (2 min each). The partner counts the Range markers on their fingers — nine needed! To a girl: أُطْرُوحَتُكِ وَدَلِيلُكِ · تَرُدِّينَ · تَخْتِمِينَ.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the four-paragraph plan with the thesis and one concession–refutation pair. · Develop — Expand to 150 words with both conditionals and a subjunctive trigger. · Stretch — Reach 165 words with all nine Range markers and a formal conclusion.
Website writing task (Stretch): Write a 150–165-word argumentative essay on a social issue. Move thesis → evidence → concession (ṣaḥīḥun anna) → refutation (ghayra anna) → conclusion (wa-bināʾan ʿalā mā sabaqa + a verb in -a), placing all nine P5 Range markers.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 150 words). Range: يُشَارُ إِلَى أَنَّ (1) · أَكَّدَ … أَنَّ (1) · كَانَتْ … قَدِ اسْتَفَادَتْ (2) · صَحِيحٌ أَنَّ … غَيْرَ أَنَّ (8) · إِذَا أُحْسِنَتْ … سَيَنْدَمِجُ (3) · لَوْ فُتِحَتْ … لَتَجَنَّبْنَا (4) · يُطَالِبُ … بِأَنْ تُوضَعَ (7) · وَبِنَاءً عَلَى مَا سَبَقَ (9) · يَتَطَلَّبُ … أَنْ تَسْتَثْمِرَ (6) · لِكَيْ يَنْعَمَ (5).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(P5-L10 · Listening — Social Issues and Opinions Texts) will spend class time USING this language, so students prepare it tonight — short, simple, easy to access (school guidance: “Simple, Short, Interesting, Relevant, Easy to access”). The five words come from the website P5-L10 vocabulary (listening to social-issue texts).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P5  ·  P5-L09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P5-L09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Writing — Social Issues and Opinions (Paper 4 Extended Writing)</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150" b="1" dirty="0">
                <a:solidFill>
                  <a:srgbClr val="D4AF37"/>
                </a:solidFill>
                <a:latin typeface="Amiri" pitchFamily="34" charset="0"/>
                <a:ea typeface="Amiri" pitchFamily="34" charset="-122"/>
                <a:cs typeface="Amiri" pitchFamily="34" charset="-120"/>
              </a:rPr>
              <a:t>الكِتَابَةُ — القَضَايَا الاجْتِمَاعِيَّةُ وَالآرَاءُ (كِتَابَةٌ مُوَسَّعَةٌ)</a:t>
            </a:r>
            <a:endParaRPr lang="ar-SA" sz="315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Plan and write a 150–165-word argumentative essay: four paragraphs for Task Completion (thesis, evidence, concession–refutation, conclusion) and nine Range markers spread across them — ending with wa-bināʾan ʿalā mā sabaqa + a verb in -a.</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P5-L09 · Progression P5 · Social Issues and Opinions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P5 › P5-L09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P5-L09 · Writing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P5-L09</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four-paragraph plan, the nine Range markers, thesis vs topic, the accuracy traps.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Upgrade plain sentences, build an essay spine, sort thesis / concession / conclusion.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P5-L10.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P5-L09 · Writing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الأُطْرُوحَةُ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title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thesis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evidence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بِنْيَةُ التَّسْلِيمِ</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concession structure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building plan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conclusion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رَابِطُ الخِتَامِ</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final exam</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chain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conclusion connector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Gap-fill: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 الدَّوْلَةَ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إِجْرَاءَاتٍ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تَتَّخِذَ</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تَتَّخِذْ</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تَتَّخِذُ</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makes an argument balanced?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concession and a refutation</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one side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evidence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P5-L09 · Writing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الأُطْرُوحَةُ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title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thesis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evidence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(P5-L08).</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بِنْيَةُ التَّسْلِيمِ</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concession structure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building plan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conclusion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(P5-L08).</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رَابِطُ الخِتَامِ</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final exam</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chain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conclusion connector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(P5-L08).</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Gap-fill: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 الدَّوْلَةَ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إِجْرَاءَاتٍ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تَتَّخِذَ</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تَتَّخِذْ</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تَتَّخِذُ</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P5-L08: a conceded fact → -u.</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makes an argument balanced?</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concession and a refutation</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one side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evidence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P5-L08: two sides.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200" b="1" dirty="0">
                <a:solidFill>
                  <a:srgbClr val="1F2A37"/>
                </a:solidFill>
                <a:latin typeface="Calibri" pitchFamily="34" charset="0"/>
                <a:ea typeface="Calibri" pitchFamily="34" charset="-122"/>
                <a:cs typeface="Calibri" pitchFamily="34" charset="-120"/>
              </a:rPr>
              <a:t>Two marks at once: Task Completion rewards the ARGUMENT, Range rewards the GRAMMAR — plan both before you write.</a:t>
            </a:r>
            <a:endParaRPr lang="en-US" sz="12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إِتْمَامُ المُهِمَّةِ = بِنْيَةُ الحُجَّةِ · النِّطَاقُ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تِسْعَةُ مُؤَشِّرَاتٍ</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P5-L09 · Writing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Plan a four-paragraph argumentative essay: thesis, evidence, concession–refutation, conclusion.</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Place all nine P5 Range markers across the essay.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Concede a real point (ṣaḥīḥun anna + indicative) and refute it (ghayra anna).</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Close with wa-bināʾan ʿalā mā sabaqa + a subjunctive and reach 150–165 words.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plan four paragraphs with their jobs.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write a thesis and one concession–refutation pair.</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add both conditionals and a trigger.</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reach 150 words.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place all nine Range markers.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 165-word essay with a formal conclusion.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The nine P5 Range markers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Essay register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Social issues content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تَنَوُّعٌ</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‎تنوع‎ </a:t>
            </a:r>
            <a:pPr indent="0" marL="0">
              <a:buNone/>
            </a:pPr>
            <a:r>
              <a:rPr lang="en-US" sz="950" b="1" dirty="0">
                <a:solidFill>
                  <a:srgbClr val="2E8B57"/>
                </a:solidFill>
                <a:latin typeface="Calibri" pitchFamily="34" charset="0"/>
                <a:ea typeface="Calibri" pitchFamily="34" charset="-122"/>
                <a:cs typeface="Calibri" pitchFamily="34" charset="-120"/>
              </a:rPr>
              <a:t> tanawwu · diversity, variety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ثَقَافَةٌ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‎ثقافت‎ </a:t>
            </a:r>
            <a:pPr indent="0" marL="0">
              <a:buNone/>
            </a:pPr>
            <a:r>
              <a:rPr lang="en-US" sz="950" b="1" dirty="0">
                <a:solidFill>
                  <a:srgbClr val="2E8B57"/>
                </a:solidFill>
                <a:latin typeface="Calibri" pitchFamily="34" charset="0"/>
                <a:ea typeface="Calibri" pitchFamily="34" charset="-122"/>
                <a:cs typeface="Calibri" pitchFamily="34" charset="-120"/>
              </a:rPr>
              <a:t> saqāfat · culture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مُهَاجِرٌ</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‎مہاجر‎ </a:t>
            </a:r>
            <a:pPr indent="0" marL="0">
              <a:buNone/>
            </a:pPr>
            <a:r>
              <a:rPr lang="en-US" sz="950" b="1" dirty="0">
                <a:solidFill>
                  <a:srgbClr val="2E8B57"/>
                </a:solidFill>
                <a:latin typeface="Calibri" pitchFamily="34" charset="0"/>
                <a:ea typeface="Calibri" pitchFamily="34" charset="-122"/>
                <a:cs typeface="Calibri" pitchFamily="34" charset="-120"/>
              </a:rPr>
              <a:t> muhājir · a migrant</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اقْتِصَادٌ</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‎اقتصاد‎ </a:t>
            </a:r>
            <a:pPr indent="0" marL="0">
              <a:buNone/>
            </a:pPr>
            <a:r>
              <a:rPr lang="en-US" sz="950" b="1" dirty="0">
                <a:solidFill>
                  <a:srgbClr val="2E8B57"/>
                </a:solidFill>
                <a:latin typeface="Calibri" pitchFamily="34" charset="0"/>
                <a:ea typeface="Calibri" pitchFamily="34" charset="-122"/>
                <a:cs typeface="Calibri" pitchFamily="34" charset="-120"/>
              </a:rPr>
              <a:t> iqtisād · the economy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تَقَدُّمٌ</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‎ترقی‎ </a:t>
            </a:r>
            <a:pPr indent="0" marL="0">
              <a:buNone/>
            </a:pPr>
            <a:r>
              <a:rPr lang="en-US" sz="950" b="1" dirty="0">
                <a:solidFill>
                  <a:srgbClr val="2E8B57"/>
                </a:solidFill>
                <a:latin typeface="Calibri" pitchFamily="34" charset="0"/>
                <a:ea typeface="Calibri" pitchFamily="34" charset="-122"/>
                <a:cs typeface="Calibri" pitchFamily="34" charset="-120"/>
              </a:rPr>
              <a:t> taraqqī · progress (Arabic تَرَقٍّ = promotion, rising)</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nine P5 Range markers (1 of 2)</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1144829"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akkada … anna.</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الكَلَامُ المَنْقُولُ</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reported speech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al-ka-lā-mu al-man-qū-lu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7" name="Shape 24"/>
          <p:cNvSpPr/>
          <p:nvPr/>
        </p:nvSpPr>
        <p:spPr>
          <a:xfrm>
            <a:off x="4782312" y="1938528"/>
            <a:ext cx="958291"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idhā … sa-.</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شَرْطٌ مِنَ النَّوْعِ الأَوَّلِ</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Type 1 conditional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shar-ṭun mi-na an-naw-ʿi al-aw-wa-li</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6" name="Shape 33"/>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law … la-.</a:t>
            </a:r>
            <a:endParaRPr lang="en-US" sz="800" dirty="0"/>
          </a:p>
        </p:txBody>
      </p:sp>
      <p:sp>
        <p:nvSpPr>
          <p:cNvPr id="38" name="Shape 3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شَرْطٌ مِنَ النَّوْعِ الثَّانِي</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Type 2 conditional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shar-ṭun mi-na an-naw-ʿi ath-thā-nī</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5" name="Shape 42"/>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li-kay.</a:t>
            </a:r>
            <a:endParaRPr lang="en-US" sz="800" dirty="0"/>
          </a:p>
        </p:txBody>
      </p:sp>
      <p:sp>
        <p:nvSpPr>
          <p:cNvPr id="47" name="Shape 4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9" name="Text 4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مُسَبِّبُ الغَرَضِ</a:t>
            </a:r>
            <a:endParaRPr lang="ar-SA" sz="3000" dirty="0"/>
          </a:p>
        </p:txBody>
      </p:sp>
      <p:sp>
        <p:nvSpPr>
          <p:cNvPr id="50" name="Text 4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purpose trigger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mu-sab-bi-bu al-gha-ra-ḍi</a:t>
            </a:r>
            <a:endParaRPr lang="en-US"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nine P5 Range markers (2 of 2)</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مُسَبِّبُ الضَّرُورَةِ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necessity trigger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mu-sab-bi-bu aḍ-ḍa-rū-ra-ti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yataṭallabu / yanbaghī an.</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مُسَبِّبُ الإِرَادَةِ</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volition trigger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mu-sab-bi-bu al-i-rā-da-ti</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yuṭālibu / yuṣirru ʿalā an.</a:t>
            </a:r>
            <a:endParaRPr lang="en-US" sz="10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4" name="Shape 31"/>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ṣaḥīḥun anna.</a:t>
            </a:r>
            <a:endParaRPr lang="en-US" sz="800" dirty="0"/>
          </a:p>
        </p:txBody>
      </p:sp>
      <p:sp>
        <p:nvSpPr>
          <p:cNvPr id="36" name="Shape 3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8" name="Text 3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بِنْيَةُ التَّسْلِيمِ</a:t>
            </a:r>
            <a:endParaRPr lang="ar-SA" sz="3000" dirty="0"/>
          </a:p>
        </p:txBody>
      </p:sp>
      <p:sp>
        <p:nvSpPr>
          <p:cNvPr id="39" name="Text 3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concession structure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bin-ya-tu at-tas-lī-mi</a:t>
            </a:r>
            <a:endParaRPr lang="en-US" sz="135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43" name="Shape 4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5" name="Text 4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رَابِطُ الخِتَامِ</a:t>
            </a:r>
            <a:endParaRPr lang="ar-SA" sz="3000" dirty="0"/>
          </a:p>
        </p:txBody>
      </p:sp>
      <p:sp>
        <p:nvSpPr>
          <p:cNvPr id="46" name="Text 4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conclusion connector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rā-bi-ṭu al-khi-tā-mi</a:t>
            </a:r>
            <a:endParaRPr lang="en-US" sz="1350" dirty="0"/>
          </a:p>
        </p:txBody>
      </p:sp>
      <p:sp>
        <p:nvSpPr>
          <p:cNvPr id="47" name="Text 44"/>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wa-bināʾan ʿalā mā sabaqa.</a:t>
            </a:r>
            <a:endParaRPr lang="en-US" sz="10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Essay register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الكِتَابَةُ المَقَالِيَّةُ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essay writing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al-ki-tā-ba-tu al-ma-qā-liy-ya-tu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البِنْيَةُ البَلَاغِيَّةُ</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rhetorical structure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al-bin-ya-tu al-ba-lā-ghiy-ya-tu</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الصَّوْتُ التَّحْلِيلِيُّ المُتَّزِنُ</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balanced analytical voice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aṣ-ṣaw-tu at-taḥ-lī-liy-yu al-mut-ta-zi-nu</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33" name="Shape 30"/>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الأُطْرُوحَةُ</a:t>
            </a:r>
            <a:endParaRPr lang="ar-SA" sz="3000" dirty="0"/>
          </a:p>
        </p:txBody>
      </p:sp>
      <p:sp>
        <p:nvSpPr>
          <p:cNvPr id="38" name="Text 3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thesis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al-uṭ-rū-ḥa-tu</a:t>
            </a:r>
            <a:endParaRPr lang="en-US" sz="1350" dirty="0"/>
          </a:p>
        </p:txBody>
      </p:sp>
      <p:sp>
        <p:nvSpPr>
          <p:cNvPr id="39" name="Shape 36"/>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1" name="Text 38"/>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الأُطْرُوحَاتُ</a:t>
            </a:r>
            <a:endParaRPr lang="ar-SA" sz="15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P5-L09 · Writing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Essay register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الدَّلِيلُ</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evidence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ad-da-lī-lu</a:t>
            </a:r>
            <a:endParaRPr lang="en-US" sz="1350" dirty="0"/>
          </a:p>
        </p:txBody>
      </p:sp>
      <p:sp>
        <p:nvSpPr>
          <p:cNvPr id="26" name="Shape 23"/>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8" name="Text 25"/>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الأَدِلَّةُ</a:t>
            </a:r>
            <a:endParaRPr lang="ar-SA" sz="1500" dirty="0"/>
          </a:p>
        </p:txBody>
      </p:sp>
      <p:sp>
        <p:nvSpPr>
          <p:cNvPr id="29" name="Shape 26"/>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389120"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نَقِيضُ الحُجَّةِ</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counter-argument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na-qī-ḍu al-ḥuj-ja-ti</a:t>
            </a:r>
            <a:endParaRPr lang="en-US" sz="135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الرَّدُّ</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refutation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ar-rad-du</a:t>
            </a:r>
            <a:endParaRPr lang="en-US"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42" name="Shape 39"/>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4" name="Text 4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الخَاتِمَةُ</a:t>
            </a:r>
            <a:endParaRPr lang="ar-SA" sz="3000" dirty="0"/>
          </a:p>
        </p:txBody>
      </p:sp>
      <p:sp>
        <p:nvSpPr>
          <p:cNvPr id="45" name="Text 4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conclusion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al-khā-ti-ma-tu</a:t>
            </a:r>
            <a:endParaRPr lang="en-US" sz="1350" dirty="0"/>
          </a:p>
        </p:txBody>
      </p:sp>
      <p:sp>
        <p:nvSpPr>
          <p:cNvPr id="46" name="Shape 43"/>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8" name="Text 45"/>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الخَوَاتِمُ</a:t>
            </a:r>
            <a:endParaRPr lang="ar-SA" sz="15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P5-L09 · Writing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Social issues content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القَضِيَّةُ الاجْتِمَاعِيَّةُ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social issue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al-qa-ḍiy-ya-tu alj-ti-mā-ʿiy-ya-tu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التَّفَاوُتُ الاجْتِمَاعِيُّ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social inequality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at-ta-fā-wu-tu alj-ti-mā-ʿiy-yu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الفَجْوَةُ الرَّقْمِيَّةُ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digital divide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al-faj-wa-tu ar-raq-miy-ya-tu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تَمْكِينُ الشَّبَابِ</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youth empowerment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tam-kī-nu ash-sha-bā-bi</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P5-L09 · Writing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Social issues content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العَدَالَةُ الاجْتِمَاعِيَّةُ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social justice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al-ʿa-dā-la-tu alj-ti-mā-ʿiy-ya-tu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الهِجْرَةُ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migration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al-hij-ra-tu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0" name="Shape 27"/>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يُثْرِي</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enriches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yuth-rī</a:t>
            </a:r>
            <a:endParaRPr lang="en-US" sz="1350" dirty="0"/>
          </a:p>
        </p:txBody>
      </p:sp>
      <p:sp>
        <p:nvSpPr>
          <p:cNvPr id="36" name="Shape 3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38" name="Text 35"/>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تُثْرِي</a:t>
            </a:r>
            <a:endParaRPr lang="ar-SA"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42" name="Shape 39"/>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44" name="Shape 4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يُهَدِّدُ الاسْتِقْرَارَ</a:t>
            </a:r>
            <a:endParaRPr lang="ar-SA" sz="3000" dirty="0"/>
          </a:p>
        </p:txBody>
      </p:sp>
      <p:sp>
        <p:nvSpPr>
          <p:cNvPr id="47" name="Text 4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threatens stability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yu-had-di-du als-tiq-rā-ra</a:t>
            </a:r>
            <a:endParaRPr lang="en-US" sz="1350" dirty="0"/>
          </a:p>
        </p:txBody>
      </p:sp>
      <p:sp>
        <p:nvSpPr>
          <p:cNvPr id="48" name="Shape 45"/>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50" name="Text 47"/>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تُهَدِّدُ الاسْتِقْرَارَ</a:t>
            </a:r>
            <a:endParaRPr lang="ar-SA"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1 · THE FOUR-PARAGRAPH PLAN (WEBSITE TABLE, TEACHING POINT 1 AND READING)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ea typeface="Cambria" pitchFamily="34" charset="-122"/>
                <a:cs typeface="Cambria" pitchFamily="34" charset="-120"/>
              </a:rPr>
              <a:t>Plan the argument and the grammar together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خُطَّةُ المَقَالِ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016752" y="1810512"/>
            <a:ext cx="56418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 model essay)</a:t>
            </a:r>
            <a:endParaRPr lang="en-US" sz="1100" dirty="0"/>
          </a:p>
        </p:txBody>
      </p:sp>
      <p:sp>
        <p:nvSpPr>
          <p:cNvPr id="17" name="Text 14"/>
          <p:cNvSpPr txBox="1"/>
          <p:nvPr/>
        </p:nvSpPr>
        <p:spPr>
          <a:xfrm>
            <a:off x="345643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Range markers</a:t>
            </a:r>
            <a:endParaRPr lang="en-US" sz="1100" dirty="0"/>
          </a:p>
        </p:txBody>
      </p:sp>
      <p:sp>
        <p:nvSpPr>
          <p:cNvPr id="18" name="Text 15"/>
          <p:cNvSpPr txBox="1"/>
          <p:nvPr/>
        </p:nvSpPr>
        <p:spPr>
          <a:xfrm>
            <a:off x="14447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Argument role (TC)</a:t>
            </a:r>
            <a:endParaRPr lang="en-US" sz="1100" dirty="0"/>
          </a:p>
        </p:txBody>
      </p:sp>
      <p:sp>
        <p:nvSpPr>
          <p:cNvPr id="19" name="Text 16"/>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Para.</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6035040" y="2267712"/>
            <a:ext cx="5605272" cy="682142"/>
          </a:xfrm>
          <a:prstGeom prst="rect">
            <a:avLst/>
          </a:prstGeom>
          <a:noFill/>
          <a:ln/>
        </p:spPr>
        <p:txBody>
          <a:bodyPr wrap="square" lIns="0" tIns="0" rIns="0" bIns="0" rtlCol="0" anchor="ctr"/>
          <a:lstStyle/>
          <a:p>
            <a:pPr rtl="1" algn="ctr" indent="0" marL="0">
              <a:buNone/>
            </a:pPr>
            <a:r>
              <a:rPr lang="ar-SA" altLang="en-US" sz="1600" b="1" dirty="0">
                <a:solidFill>
                  <a:srgbClr val="C77700"/>
                </a:solidFill>
                <a:latin typeface="Amiri" pitchFamily="34" charset="0"/>
                <a:ea typeface="Amiri" pitchFamily="34" charset="-122"/>
                <a:cs typeface="Amiri" pitchFamily="34" charset="-120"/>
              </a:rPr>
              <a:t>يُشَارُ إِلَى أَنَّ</a:t>
            </a:r>
            <a:pPr rtl="1" algn="ctr" indent="0" marL="0">
              <a:buNone/>
            </a:pPr>
            <a:r>
              <a:rPr lang="ar-SA" altLang="en-US" sz="1600" b="1" dirty="0">
                <a:solidFill>
                  <a:srgbClr val="1B3B6F"/>
                </a:solidFill>
                <a:latin typeface="Amiri" pitchFamily="34" charset="0"/>
                <a:ea typeface="Amiri" pitchFamily="34" charset="-122"/>
                <a:cs typeface="Amiri" pitchFamily="34" charset="-120"/>
              </a:rPr>
              <a:t> الهِجْرَةَ تُثْرِي المُجْتَمَعَاتِ المُضِيفَةَ أَكْثَرَ مِمَّا تُضْعِفُهَا</a:t>
            </a:r>
            <a:endParaRPr lang="ar-SA" sz="1600" dirty="0"/>
          </a:p>
        </p:txBody>
      </p:sp>
      <p:sp>
        <p:nvSpPr>
          <p:cNvPr id="22" name="Text 19"/>
          <p:cNvSpPr txBox="1"/>
          <p:nvPr/>
        </p:nvSpPr>
        <p:spPr>
          <a:xfrm>
            <a:off x="3493008" y="2267712"/>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reported speech</a:t>
            </a:r>
            <a:endParaRPr lang="en-US" sz="1100" dirty="0"/>
          </a:p>
        </p:txBody>
      </p:sp>
      <p:sp>
        <p:nvSpPr>
          <p:cNvPr id="23" name="Text 20"/>
          <p:cNvSpPr txBox="1"/>
          <p:nvPr/>
        </p:nvSpPr>
        <p:spPr>
          <a:xfrm>
            <a:off x="1481328" y="2267712"/>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thesis</a:t>
            </a:r>
            <a:endParaRPr lang="en-US" sz="1100" dirty="0"/>
          </a:p>
        </p:txBody>
      </p:sp>
      <p:sp>
        <p:nvSpPr>
          <p:cNvPr id="24" name="Text 21"/>
          <p:cNvSpPr txBox="1"/>
          <p:nvPr/>
        </p:nvSpPr>
        <p:spPr>
          <a:xfrm>
            <a:off x="566928" y="2267712"/>
            <a:ext cx="7315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6035040" y="3004718"/>
            <a:ext cx="5605272" cy="682142"/>
          </a:xfrm>
          <a:prstGeom prst="rect">
            <a:avLst/>
          </a:prstGeom>
          <a:noFill/>
          <a:ln/>
        </p:spPr>
        <p:txBody>
          <a:bodyPr wrap="square" lIns="0" tIns="0" rIns="0" bIns="0" rtlCol="0" anchor="ctr"/>
          <a:lstStyle/>
          <a:p>
            <a:pPr rtl="1" algn="ctr" indent="0" marL="0">
              <a:buNone/>
            </a:pPr>
            <a:r>
              <a:rPr lang="ar-SA" altLang="en-US" sz="1600" b="1" dirty="0">
                <a:solidFill>
                  <a:srgbClr val="7B3FA0"/>
                </a:solidFill>
                <a:latin typeface="Amiri" pitchFamily="34" charset="0"/>
                <a:ea typeface="Amiri" pitchFamily="34" charset="-122"/>
                <a:cs typeface="Amiri" pitchFamily="34" charset="-120"/>
              </a:rPr>
              <a:t>أَكَّدَ</a:t>
            </a:r>
            <a:pPr rtl="1" algn="ctr" indent="0" marL="0">
              <a:buNone/>
            </a:pPr>
            <a:r>
              <a:rPr lang="ar-SA" altLang="en-US" sz="1600" b="1" dirty="0">
                <a:solidFill>
                  <a:srgbClr val="1B3B6F"/>
                </a:solidFill>
                <a:latin typeface="Amiri" pitchFamily="34" charset="0"/>
                <a:ea typeface="Amiri" pitchFamily="34" charset="-122"/>
                <a:cs typeface="Amiri" pitchFamily="34" charset="-120"/>
              </a:rPr>
              <a:t> البَاحِثُونَ </a:t>
            </a:r>
            <a:pPr rtl="1" algn="ctr" indent="0" marL="0">
              <a:buNone/>
            </a:pPr>
            <a:r>
              <a:rPr lang="ar-SA" altLang="en-US" sz="1600" b="1" dirty="0">
                <a:solidFill>
                  <a:srgbClr val="7B3FA0"/>
                </a:solidFill>
                <a:latin typeface="Amiri" pitchFamily="34" charset="0"/>
                <a:ea typeface="Amiri" pitchFamily="34" charset="-122"/>
                <a:cs typeface="Amiri" pitchFamily="34" charset="-120"/>
              </a:rPr>
              <a:t>أَنَّ</a:t>
            </a:r>
            <a:pPr rtl="1" algn="ctr" indent="0" marL="0">
              <a:buNone/>
            </a:pPr>
            <a:r>
              <a:rPr lang="ar-SA" altLang="en-US" sz="1600" b="1" dirty="0">
                <a:solidFill>
                  <a:srgbClr val="1B3B6F"/>
                </a:solidFill>
                <a:latin typeface="Amiri" pitchFamily="34" charset="0"/>
                <a:ea typeface="Amiri" pitchFamily="34" charset="-122"/>
                <a:cs typeface="Amiri" pitchFamily="34" charset="-120"/>
              </a:rPr>
              <a:t> … وَ</a:t>
            </a:r>
            <a:pPr rtl="1" algn="ctr" indent="0" marL="0">
              <a:buNone/>
            </a:pPr>
            <a:r>
              <a:rPr lang="ar-SA" altLang="en-US" sz="1600" b="1" dirty="0">
                <a:solidFill>
                  <a:srgbClr val="1D5FBF"/>
                </a:solidFill>
                <a:latin typeface="Amiri" pitchFamily="34" charset="0"/>
                <a:ea typeface="Amiri" pitchFamily="34" charset="-122"/>
                <a:cs typeface="Amiri" pitchFamily="34" charset="-120"/>
              </a:rPr>
              <a:t>كَانَتْ</a:t>
            </a:r>
            <a:pPr rtl="1" algn="ctr" indent="0" marL="0">
              <a:buNone/>
            </a:pPr>
            <a:r>
              <a:rPr lang="ar-SA" altLang="en-US" sz="1600" b="1" dirty="0">
                <a:solidFill>
                  <a:srgbClr val="1B3B6F"/>
                </a:solidFill>
                <a:latin typeface="Amiri" pitchFamily="34" charset="0"/>
                <a:ea typeface="Amiri" pitchFamily="34" charset="-122"/>
                <a:cs typeface="Amiri" pitchFamily="34" charset="-120"/>
              </a:rPr>
              <a:t> دُوَلٌ كَثِيرَةٌ </a:t>
            </a:r>
            <a:pPr rtl="1" algn="ctr" indent="0" marL="0">
              <a:buNone/>
            </a:pPr>
            <a:r>
              <a:rPr lang="ar-SA" altLang="en-US" sz="1600" b="1" dirty="0">
                <a:solidFill>
                  <a:srgbClr val="1D5FBF"/>
                </a:solidFill>
                <a:latin typeface="Amiri" pitchFamily="34" charset="0"/>
                <a:ea typeface="Amiri" pitchFamily="34" charset="-122"/>
                <a:cs typeface="Amiri" pitchFamily="34" charset="-120"/>
              </a:rPr>
              <a:t>قَدِ</a:t>
            </a:r>
            <a:pPr rtl="1" algn="ctr" indent="0" marL="0">
              <a:buNone/>
            </a:pPr>
            <a:r>
              <a:rPr lang="ar-SA" altLang="en-US" sz="1600" b="1" dirty="0">
                <a:solidFill>
                  <a:srgbClr val="1B3B6F"/>
                </a:solidFill>
                <a:latin typeface="Amiri" pitchFamily="34" charset="0"/>
                <a:ea typeface="Amiri" pitchFamily="34" charset="-122"/>
                <a:cs typeface="Amiri" pitchFamily="34" charset="-120"/>
              </a:rPr>
              <a:t> اسْتَفَادَتْ</a:t>
            </a:r>
            <a:endParaRPr lang="ar-SA" sz="1600" dirty="0"/>
          </a:p>
        </p:txBody>
      </p:sp>
      <p:sp>
        <p:nvSpPr>
          <p:cNvPr id="29" name="Text 26"/>
          <p:cNvSpPr txBox="1"/>
          <p:nvPr/>
        </p:nvSpPr>
        <p:spPr>
          <a:xfrm>
            <a:off x="3493008" y="3004718"/>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reported speech + past perfect</a:t>
            </a:r>
            <a:endParaRPr lang="en-US" sz="1100" dirty="0"/>
          </a:p>
        </p:txBody>
      </p:sp>
      <p:sp>
        <p:nvSpPr>
          <p:cNvPr id="30" name="Text 27"/>
          <p:cNvSpPr txBox="1"/>
          <p:nvPr/>
        </p:nvSpPr>
        <p:spPr>
          <a:xfrm>
            <a:off x="1481328" y="300471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evidence</a:t>
            </a:r>
            <a:endParaRPr lang="en-US" sz="1100" dirty="0"/>
          </a:p>
        </p:txBody>
      </p:sp>
      <p:sp>
        <p:nvSpPr>
          <p:cNvPr id="31" name="Text 28"/>
          <p:cNvSpPr txBox="1"/>
          <p:nvPr/>
        </p:nvSpPr>
        <p:spPr>
          <a:xfrm>
            <a:off x="566928" y="3004718"/>
            <a:ext cx="7315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6035040" y="3741725"/>
            <a:ext cx="5605272" cy="682142"/>
          </a:xfrm>
          <a:prstGeom prst="rect">
            <a:avLst/>
          </a:prstGeom>
          <a:noFill/>
          <a:ln/>
        </p:spPr>
        <p:txBody>
          <a:bodyPr wrap="square" lIns="0" tIns="0" rIns="0" bIns="0" rtlCol="0" anchor="ctr"/>
          <a:lstStyle/>
          <a:p>
            <a:pPr rtl="1" algn="ctr" indent="0" marL="0">
              <a:buNone/>
            </a:pPr>
            <a:r>
              <a:rPr lang="ar-SA" altLang="en-US" sz="1600" b="1" dirty="0">
                <a:solidFill>
                  <a:srgbClr val="1D5FBF"/>
                </a:solidFill>
                <a:latin typeface="Amiri" pitchFamily="34" charset="0"/>
                <a:ea typeface="Amiri" pitchFamily="34" charset="-122"/>
                <a:cs typeface="Amiri" pitchFamily="34" charset="-120"/>
              </a:rPr>
              <a:t>صَحِيحٌ أَنَّ</a:t>
            </a:r>
            <a:pPr rtl="1" algn="ctr" indent="0" marL="0">
              <a:buNone/>
            </a:pPr>
            <a:r>
              <a:rPr lang="ar-SA" altLang="en-US" sz="1600" b="1" dirty="0">
                <a:solidFill>
                  <a:srgbClr val="1B3B6F"/>
                </a:solidFill>
                <a:latin typeface="Amiri" pitchFamily="34" charset="0"/>
                <a:ea typeface="Amiri" pitchFamily="34" charset="-122"/>
                <a:cs typeface="Amiri" pitchFamily="34" charset="-120"/>
              </a:rPr>
              <a:t> الانْدِمَاجَ يَسْتَغْرِقُ وَقْتًا، </a:t>
            </a:r>
            <a:pPr rtl="1" algn="ctr" indent="0" marL="0">
              <a:buNone/>
            </a:pPr>
            <a:r>
              <a:rPr lang="ar-SA" altLang="en-US" sz="1600" b="1" dirty="0">
                <a:solidFill>
                  <a:srgbClr val="D6336C"/>
                </a:solidFill>
                <a:latin typeface="Amiri" pitchFamily="34" charset="0"/>
                <a:ea typeface="Amiri" pitchFamily="34" charset="-122"/>
                <a:cs typeface="Amiri" pitchFamily="34" charset="-120"/>
              </a:rPr>
              <a:t>غَيْرَ أَنَّ</a:t>
            </a:r>
            <a:pPr rtl="1" algn="ctr" indent="0" marL="0">
              <a:buNone/>
            </a:pPr>
            <a:r>
              <a:rPr lang="ar-SA" altLang="en-US" sz="1600" b="1" dirty="0">
                <a:solidFill>
                  <a:srgbClr val="1B3B6F"/>
                </a:solidFill>
                <a:latin typeface="Amiri" pitchFamily="34" charset="0"/>
                <a:ea typeface="Amiri" pitchFamily="34" charset="-122"/>
                <a:cs typeface="Amiri" pitchFamily="34" charset="-120"/>
              </a:rPr>
              <a:t> العَائِدَ يَفُوقُ التَّكْلِفَةَ</a:t>
            </a:r>
            <a:endParaRPr lang="ar-SA" sz="1600" dirty="0"/>
          </a:p>
        </p:txBody>
      </p:sp>
      <p:sp>
        <p:nvSpPr>
          <p:cNvPr id="36" name="Text 33"/>
          <p:cNvSpPr txBox="1"/>
          <p:nvPr/>
        </p:nvSpPr>
        <p:spPr>
          <a:xfrm>
            <a:off x="3493008" y="3741725"/>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ṣaḥīḥun anna … ghayra anna</a:t>
            </a:r>
            <a:endParaRPr lang="en-US" sz="1100" dirty="0"/>
          </a:p>
        </p:txBody>
      </p:sp>
      <p:sp>
        <p:nvSpPr>
          <p:cNvPr id="37" name="Text 34"/>
          <p:cNvSpPr txBox="1"/>
          <p:nvPr/>
        </p:nvSpPr>
        <p:spPr>
          <a:xfrm>
            <a:off x="1481328" y="3741725"/>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concession + refutation</a:t>
            </a:r>
            <a:endParaRPr lang="en-US" sz="1100" dirty="0"/>
          </a:p>
        </p:txBody>
      </p:sp>
      <p:sp>
        <p:nvSpPr>
          <p:cNvPr id="38" name="Text 35"/>
          <p:cNvSpPr txBox="1"/>
          <p:nvPr/>
        </p:nvSpPr>
        <p:spPr>
          <a:xfrm>
            <a:off x="566928" y="3741725"/>
            <a:ext cx="7315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P3</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6035040" y="4478731"/>
            <a:ext cx="5605272" cy="682142"/>
          </a:xfrm>
          <a:prstGeom prst="rect">
            <a:avLst/>
          </a:prstGeom>
          <a:noFill/>
          <a:ln/>
        </p:spPr>
        <p:txBody>
          <a:bodyPr wrap="square" lIns="0" tIns="0" rIns="0" bIns="0" rtlCol="0" anchor="ctr"/>
          <a:lstStyle/>
          <a:p>
            <a:pPr rtl="1" algn="ctr" indent="0" marL="0">
              <a:buNone/>
            </a:pPr>
            <a:r>
              <a:rPr lang="ar-SA" altLang="en-US" sz="1600" b="1" dirty="0">
                <a:solidFill>
                  <a:srgbClr val="0E7C86"/>
                </a:solidFill>
                <a:latin typeface="Amiri" pitchFamily="34" charset="0"/>
                <a:ea typeface="Amiri" pitchFamily="34" charset="-122"/>
                <a:cs typeface="Amiri" pitchFamily="34" charset="-120"/>
              </a:rPr>
              <a:t>إِذَا</a:t>
            </a:r>
            <a:pPr rtl="1" algn="ctr" indent="0" marL="0">
              <a:buNone/>
            </a:pPr>
            <a:r>
              <a:rPr lang="ar-SA" altLang="en-US" sz="1600" b="1" dirty="0">
                <a:solidFill>
                  <a:srgbClr val="1B3B6F"/>
                </a:solidFill>
                <a:latin typeface="Amiri" pitchFamily="34" charset="0"/>
                <a:ea typeface="Amiri" pitchFamily="34" charset="-122"/>
                <a:cs typeface="Amiri" pitchFamily="34" charset="-120"/>
              </a:rPr>
              <a:t> أُحْسِنَتِ … </a:t>
            </a:r>
            <a:pPr rtl="1" algn="ctr" indent="0" marL="0">
              <a:buNone/>
            </a:pPr>
            <a:r>
              <a:rPr lang="ar-SA" altLang="en-US" sz="1600" b="1" dirty="0">
                <a:solidFill>
                  <a:srgbClr val="0E7C86"/>
                </a:solidFill>
                <a:latin typeface="Amiri" pitchFamily="34" charset="0"/>
                <a:ea typeface="Amiri" pitchFamily="34" charset="-122"/>
                <a:cs typeface="Amiri" pitchFamily="34" charset="-120"/>
              </a:rPr>
              <a:t>سَيَنْدَمِجُ</a:t>
            </a:r>
            <a:pPr rtl="1" algn="ctr" indent="0" marL="0">
              <a:buNone/>
            </a:pPr>
            <a:r>
              <a:rPr lang="ar-SA" altLang="en-US" sz="1600" b="1" dirty="0">
                <a:solidFill>
                  <a:srgbClr val="1B3B6F"/>
                </a:solidFill>
                <a:latin typeface="Amiri" pitchFamily="34" charset="0"/>
                <a:ea typeface="Amiri" pitchFamily="34" charset="-122"/>
                <a:cs typeface="Amiri" pitchFamily="34" charset="-120"/>
              </a:rPr>
              <a:t> · </a:t>
            </a:r>
            <a:pPr rtl="1" algn="ctr" indent="0" marL="0">
              <a:buNone/>
            </a:pPr>
            <a:r>
              <a:rPr lang="ar-SA" altLang="en-US" sz="1600" b="1" dirty="0">
                <a:solidFill>
                  <a:srgbClr val="7B3FA0"/>
                </a:solidFill>
                <a:latin typeface="Amiri" pitchFamily="34" charset="0"/>
                <a:ea typeface="Amiri" pitchFamily="34" charset="-122"/>
                <a:cs typeface="Amiri" pitchFamily="34" charset="-120"/>
              </a:rPr>
              <a:t>لَوْ</a:t>
            </a:r>
            <a:pPr rtl="1" algn="ctr" indent="0" marL="0">
              <a:buNone/>
            </a:pPr>
            <a:r>
              <a:rPr lang="ar-SA" altLang="en-US" sz="1600" b="1" dirty="0">
                <a:solidFill>
                  <a:srgbClr val="1B3B6F"/>
                </a:solidFill>
                <a:latin typeface="Amiri" pitchFamily="34" charset="0"/>
                <a:ea typeface="Amiri" pitchFamily="34" charset="-122"/>
                <a:cs typeface="Amiri" pitchFamily="34" charset="-120"/>
              </a:rPr>
              <a:t> فُتِحَتْ … </a:t>
            </a:r>
            <a:pPr rtl="1" algn="ctr" indent="0" marL="0">
              <a:buNone/>
            </a:pPr>
            <a:r>
              <a:rPr lang="ar-SA" altLang="en-US" sz="1600" b="1" dirty="0">
                <a:solidFill>
                  <a:srgbClr val="7B3FA0"/>
                </a:solidFill>
                <a:latin typeface="Amiri" pitchFamily="34" charset="0"/>
                <a:ea typeface="Amiri" pitchFamily="34" charset="-122"/>
                <a:cs typeface="Amiri" pitchFamily="34" charset="-120"/>
              </a:rPr>
              <a:t>لَتَجَنَّبْنَا</a:t>
            </a:r>
            <a:endParaRPr lang="ar-SA" sz="1600" dirty="0"/>
          </a:p>
        </p:txBody>
      </p:sp>
      <p:sp>
        <p:nvSpPr>
          <p:cNvPr id="43" name="Text 40"/>
          <p:cNvSpPr txBox="1"/>
          <p:nvPr/>
        </p:nvSpPr>
        <p:spPr>
          <a:xfrm>
            <a:off x="3493008" y="4478731"/>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Type 1 + Type 2 + volition</a:t>
            </a:r>
            <a:endParaRPr lang="en-US" sz="1100" dirty="0"/>
          </a:p>
        </p:txBody>
      </p:sp>
      <p:sp>
        <p:nvSpPr>
          <p:cNvPr id="44" name="Text 41"/>
          <p:cNvSpPr txBox="1"/>
          <p:nvPr/>
        </p:nvSpPr>
        <p:spPr>
          <a:xfrm>
            <a:off x="1481328" y="4478731"/>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analysis</a:t>
            </a:r>
            <a:endParaRPr lang="en-US" sz="1100" dirty="0"/>
          </a:p>
        </p:txBody>
      </p:sp>
      <p:sp>
        <p:nvSpPr>
          <p:cNvPr id="45" name="Text 42"/>
          <p:cNvSpPr txBox="1"/>
          <p:nvPr/>
        </p:nvSpPr>
        <p:spPr>
          <a:xfrm>
            <a:off x="566928" y="4478731"/>
            <a:ext cx="7315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P3</a:t>
            </a:r>
            <a:endParaRPr lang="en-US" sz="11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6035040" y="5215738"/>
            <a:ext cx="5605272" cy="682142"/>
          </a:xfrm>
          <a:prstGeom prst="rect">
            <a:avLst/>
          </a:prstGeom>
          <a:noFill/>
          <a:ln/>
        </p:spPr>
        <p:txBody>
          <a:bodyPr wrap="square" lIns="0" tIns="0" rIns="0" bIns="0" rtlCol="0" anchor="ctr"/>
          <a:lstStyle/>
          <a:p>
            <a:pPr rtl="1" algn="ctr" indent="0" marL="0">
              <a:buNone/>
            </a:pPr>
            <a:r>
              <a:rPr lang="ar-SA" altLang="en-US" sz="1600" b="1" dirty="0">
                <a:solidFill>
                  <a:srgbClr val="0E7C86"/>
                </a:solidFill>
                <a:latin typeface="Amiri" pitchFamily="34" charset="0"/>
                <a:ea typeface="Amiri" pitchFamily="34" charset="-122"/>
                <a:cs typeface="Amiri" pitchFamily="34" charset="-120"/>
              </a:rPr>
              <a:t>وَبِنَاءً عَلَى مَا سَبَقَ</a:t>
            </a:r>
            <a:pPr rtl="1" algn="ctr" indent="0" marL="0">
              <a:buNone/>
            </a:pPr>
            <a:r>
              <a:rPr lang="ar-SA" altLang="en-US" sz="1600" b="1" dirty="0">
                <a:solidFill>
                  <a:srgbClr val="1B3B6F"/>
                </a:solidFill>
                <a:latin typeface="Amiri" pitchFamily="34" charset="0"/>
                <a:ea typeface="Amiri" pitchFamily="34" charset="-122"/>
                <a:cs typeface="Amiri" pitchFamily="34" charset="-120"/>
              </a:rPr>
              <a:t>، يَتَطَلَّبُ التَّقَدُّمُ أَنْ تَسْتَثْمِرَ … لِكَيْ يَنْعَمَ</a:t>
            </a:r>
            <a:endParaRPr lang="ar-SA" sz="1600" dirty="0"/>
          </a:p>
        </p:txBody>
      </p:sp>
      <p:sp>
        <p:nvSpPr>
          <p:cNvPr id="48" name="Text 45"/>
          <p:cNvSpPr txBox="1"/>
          <p:nvPr/>
        </p:nvSpPr>
        <p:spPr>
          <a:xfrm>
            <a:off x="3493008" y="5215738"/>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connector + necessity + purpose</a:t>
            </a:r>
            <a:endParaRPr lang="en-US" sz="1100" dirty="0"/>
          </a:p>
        </p:txBody>
      </p:sp>
      <p:sp>
        <p:nvSpPr>
          <p:cNvPr id="49" name="Text 46"/>
          <p:cNvSpPr txBox="1"/>
          <p:nvPr/>
        </p:nvSpPr>
        <p:spPr>
          <a:xfrm>
            <a:off x="1481328" y="521573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conclusion</a:t>
            </a:r>
            <a:endParaRPr lang="en-US" sz="1100" dirty="0"/>
          </a:p>
        </p:txBody>
      </p:sp>
      <p:sp>
        <p:nvSpPr>
          <p:cNvPr id="50" name="Text 47"/>
          <p:cNvSpPr txBox="1"/>
          <p:nvPr/>
        </p:nvSpPr>
        <p:spPr>
          <a:xfrm>
            <a:off x="566928" y="5215738"/>
            <a:ext cx="7315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P4</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teaching point: label where each paragraph’s argument role AND each Range marker will sit before you write.</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THE NINE RANGE MARKERS (WEBSITE VOCABULARY GROUP 1 AND WRITING MODEL)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Nine markers, nine ticks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مُؤَشِّرَاتُ النِّطَاقِ التِّسْعَةُ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650992" y="1810512"/>
            <a:ext cx="6007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From the website model essay</a:t>
            </a:r>
            <a:endParaRPr lang="en-US" sz="1100" dirty="0"/>
          </a:p>
        </p:txBody>
      </p:sp>
      <p:sp>
        <p:nvSpPr>
          <p:cNvPr id="17" name="Text 14"/>
          <p:cNvSpPr txBox="1"/>
          <p:nvPr/>
        </p:nvSpPr>
        <p:spPr>
          <a:xfrm>
            <a:off x="299923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Form</a:t>
            </a:r>
            <a:endParaRPr lang="en-US" sz="1100" dirty="0"/>
          </a:p>
        </p:txBody>
      </p:sp>
      <p:sp>
        <p:nvSpPr>
          <p:cNvPr id="18" name="Text 15"/>
          <p:cNvSpPr txBox="1"/>
          <p:nvPr/>
        </p:nvSpPr>
        <p:spPr>
          <a:xfrm>
            <a:off x="530352" y="1810512"/>
            <a:ext cx="2322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Markers</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5669280" y="2267712"/>
            <a:ext cx="597103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أَكَّدَ البَاحِثُونَ أَنَّ التَّنَوُّعَ يَرْفَعُ الإِنْتَاجِيَّةَ · كَانَتْ دُوَلٌ قَدِ اسْتَفَادَتْ</a:t>
            </a:r>
            <a:endParaRPr lang="ar-SA" sz="1600" dirty="0"/>
          </a:p>
        </p:txBody>
      </p:sp>
      <p:sp>
        <p:nvSpPr>
          <p:cNvPr id="21" name="Text 18"/>
          <p:cNvSpPr txBox="1"/>
          <p:nvPr/>
        </p:nvSpPr>
        <p:spPr>
          <a:xfrm>
            <a:off x="3017520" y="2267712"/>
            <a:ext cx="2468880" cy="682142"/>
          </a:xfrm>
          <a:prstGeom prst="rect">
            <a:avLst/>
          </a:prstGeom>
          <a:noFill/>
          <a:ln/>
        </p:spPr>
        <p:txBody>
          <a:bodyPr wrap="square" lIns="0" tIns="0" rIns="0" bIns="0" rtlCol="0" anchor="ctr"/>
          <a:lstStyle/>
          <a:p>
            <a:pPr rtl="1" algn="ctr" indent="0" marL="0">
              <a:buNone/>
            </a:pPr>
            <a:r>
              <a:rPr lang="ar-SA" altLang="en-US" sz="1700" b="1" dirty="0">
                <a:solidFill>
                  <a:srgbClr val="C77700"/>
                </a:solidFill>
                <a:latin typeface="Amiri" pitchFamily="34" charset="0"/>
                <a:ea typeface="Amiri" pitchFamily="34" charset="-122"/>
                <a:cs typeface="Amiri" pitchFamily="34" charset="-120"/>
              </a:rPr>
              <a:t>أَكَّدَ … أَنَّ</a:t>
            </a:r>
            <a:pPr rtl="1" algn="ctr" indent="0" marL="0">
              <a:buNone/>
            </a:pPr>
            <a:r>
              <a:rPr lang="ar-SA" altLang="en-US" sz="1700" b="1" dirty="0">
                <a:solidFill>
                  <a:srgbClr val="1B3B6F"/>
                </a:solidFill>
                <a:latin typeface="Amiri" pitchFamily="34" charset="0"/>
                <a:ea typeface="Amiri" pitchFamily="34" charset="-122"/>
                <a:cs typeface="Amiri" pitchFamily="34" charset="-120"/>
              </a:rPr>
              <a:t> · </a:t>
            </a:r>
            <a:pPr rtl="1" algn="ctr" indent="0" marL="0">
              <a:buNone/>
            </a:pPr>
            <a:r>
              <a:rPr lang="ar-SA" altLang="en-US" sz="1700" b="1" dirty="0">
                <a:solidFill>
                  <a:srgbClr val="1D5FBF"/>
                </a:solidFill>
                <a:latin typeface="Amiri" pitchFamily="34" charset="0"/>
                <a:ea typeface="Amiri" pitchFamily="34" charset="-122"/>
                <a:cs typeface="Amiri" pitchFamily="34" charset="-120"/>
              </a:rPr>
              <a:t>كَانَتْ … قَدْ</a:t>
            </a:r>
            <a:endParaRPr lang="ar-SA" sz="1700" dirty="0"/>
          </a:p>
        </p:txBody>
      </p:sp>
      <p:sp>
        <p:nvSpPr>
          <p:cNvPr id="22" name="Text 19"/>
          <p:cNvSpPr txBox="1"/>
          <p:nvPr/>
        </p:nvSpPr>
        <p:spPr>
          <a:xfrm>
            <a:off x="566928" y="2267712"/>
            <a:ext cx="22860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reported speech · 2 past perfect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5669280" y="3004718"/>
            <a:ext cx="597103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إِذَا أُحْسِنَتِ السِّيَاسَاتُ، سَيَنْدَمِجُ … · لَوْ فُتِحَتْ … لَتَجَنَّبْنَا …</a:t>
            </a:r>
            <a:endParaRPr lang="ar-SA" sz="1600" dirty="0"/>
          </a:p>
        </p:txBody>
      </p:sp>
      <p:sp>
        <p:nvSpPr>
          <p:cNvPr id="27" name="Text 24"/>
          <p:cNvSpPr txBox="1"/>
          <p:nvPr/>
        </p:nvSpPr>
        <p:spPr>
          <a:xfrm>
            <a:off x="3017520" y="3004718"/>
            <a:ext cx="2468880" cy="682142"/>
          </a:xfrm>
          <a:prstGeom prst="rect">
            <a:avLst/>
          </a:prstGeom>
          <a:noFill/>
          <a:ln/>
        </p:spPr>
        <p:txBody>
          <a:bodyPr wrap="square" lIns="0" tIns="0" rIns="0" bIns="0" rtlCol="0" anchor="ctr"/>
          <a:lstStyle/>
          <a:p>
            <a:pPr rtl="1" algn="ctr" indent="0" marL="0">
              <a:buNone/>
            </a:pPr>
            <a:r>
              <a:rPr lang="ar-SA" altLang="en-US" sz="1700" b="1" dirty="0">
                <a:solidFill>
                  <a:srgbClr val="0E7C86"/>
                </a:solidFill>
                <a:latin typeface="Amiri" pitchFamily="34" charset="0"/>
                <a:ea typeface="Amiri" pitchFamily="34" charset="-122"/>
                <a:cs typeface="Amiri" pitchFamily="34" charset="-120"/>
              </a:rPr>
              <a:t>إِذَا … سَـ</a:t>
            </a:r>
            <a:pPr rtl="1" algn="ctr" indent="0" marL="0">
              <a:buNone/>
            </a:pPr>
            <a:r>
              <a:rPr lang="ar-SA" altLang="en-US" sz="1700" b="1" dirty="0">
                <a:solidFill>
                  <a:srgbClr val="1B3B6F"/>
                </a:solidFill>
                <a:latin typeface="Amiri" pitchFamily="34" charset="0"/>
                <a:ea typeface="Amiri" pitchFamily="34" charset="-122"/>
                <a:cs typeface="Amiri" pitchFamily="34" charset="-120"/>
              </a:rPr>
              <a:t> · </a:t>
            </a:r>
            <a:pPr rtl="1" algn="ctr" indent="0" marL="0">
              <a:buNone/>
            </a:pPr>
            <a:r>
              <a:rPr lang="ar-SA" altLang="en-US" sz="1700" b="1" dirty="0">
                <a:solidFill>
                  <a:srgbClr val="7B3FA0"/>
                </a:solidFill>
                <a:latin typeface="Amiri" pitchFamily="34" charset="0"/>
                <a:ea typeface="Amiri" pitchFamily="34" charset="-122"/>
                <a:cs typeface="Amiri" pitchFamily="34" charset="-120"/>
              </a:rPr>
              <a:t>لَوْ … لَـ</a:t>
            </a:r>
            <a:endParaRPr lang="ar-SA" sz="1700" dirty="0"/>
          </a:p>
        </p:txBody>
      </p:sp>
      <p:sp>
        <p:nvSpPr>
          <p:cNvPr id="28" name="Text 25"/>
          <p:cNvSpPr txBox="1"/>
          <p:nvPr/>
        </p:nvSpPr>
        <p:spPr>
          <a:xfrm>
            <a:off x="566928" y="3004718"/>
            <a:ext cx="22860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Type 1 · 4 Type 2</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5669280" y="3741725"/>
            <a:ext cx="597103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يَتَطَلَّبُ التَّقَدُّمُ أَنْ تَسْتَثْمِرَ … لِكَيْ يَنْعَمَ الجَمِيعُ</a:t>
            </a:r>
            <a:endParaRPr lang="ar-SA" sz="1600" dirty="0"/>
          </a:p>
        </p:txBody>
      </p:sp>
      <p:sp>
        <p:nvSpPr>
          <p:cNvPr id="33" name="Text 30"/>
          <p:cNvSpPr txBox="1"/>
          <p:nvPr/>
        </p:nvSpPr>
        <p:spPr>
          <a:xfrm>
            <a:off x="3017520" y="3741725"/>
            <a:ext cx="2468880" cy="682142"/>
          </a:xfrm>
          <a:prstGeom prst="rect">
            <a:avLst/>
          </a:prstGeom>
          <a:noFill/>
          <a:ln/>
        </p:spPr>
        <p:txBody>
          <a:bodyPr wrap="square" lIns="0" tIns="0" rIns="0" bIns="0" rtlCol="0" anchor="ctr"/>
          <a:lstStyle/>
          <a:p>
            <a:pPr rtl="1" algn="ctr" indent="0" marL="0">
              <a:buNone/>
            </a:pPr>
            <a:r>
              <a:rPr lang="ar-SA" altLang="en-US" sz="1700" b="1" dirty="0">
                <a:solidFill>
                  <a:srgbClr val="D6336C"/>
                </a:solidFill>
                <a:latin typeface="Amiri" pitchFamily="34" charset="0"/>
                <a:ea typeface="Amiri" pitchFamily="34" charset="-122"/>
                <a:cs typeface="Amiri" pitchFamily="34" charset="-120"/>
              </a:rPr>
              <a:t>لِكَيْ</a:t>
            </a:r>
            <a:pPr rtl="1" algn="ctr" indent="0" marL="0">
              <a:buNone/>
            </a:pPr>
            <a:r>
              <a:rPr lang="ar-SA" altLang="en-US" sz="1700" b="1" dirty="0">
                <a:solidFill>
                  <a:srgbClr val="1B3B6F"/>
                </a:solidFill>
                <a:latin typeface="Amiri" pitchFamily="34" charset="0"/>
                <a:ea typeface="Amiri" pitchFamily="34" charset="-122"/>
                <a:cs typeface="Amiri" pitchFamily="34" charset="-120"/>
              </a:rPr>
              <a:t> · </a:t>
            </a:r>
            <a:pPr rtl="1" algn="ctr" indent="0" marL="0">
              <a:buNone/>
            </a:pPr>
            <a:r>
              <a:rPr lang="ar-SA" altLang="en-US" sz="1700" b="1" dirty="0">
                <a:solidFill>
                  <a:srgbClr val="D6336C"/>
                </a:solidFill>
                <a:latin typeface="Amiri" pitchFamily="34" charset="0"/>
                <a:ea typeface="Amiri" pitchFamily="34" charset="-122"/>
                <a:cs typeface="Amiri" pitchFamily="34" charset="-120"/>
              </a:rPr>
              <a:t>يَتَطَلَّبُ أَنْ</a:t>
            </a:r>
            <a:endParaRPr lang="ar-SA" sz="1700" dirty="0"/>
          </a:p>
        </p:txBody>
      </p:sp>
      <p:sp>
        <p:nvSpPr>
          <p:cNvPr id="34" name="Text 31"/>
          <p:cNvSpPr txBox="1"/>
          <p:nvPr/>
        </p:nvSpPr>
        <p:spPr>
          <a:xfrm>
            <a:off x="566928" y="3741725"/>
            <a:ext cx="22860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 purpose · 6 necessity</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5669280" y="4478731"/>
            <a:ext cx="597103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وَيُطَالِبُ الخُبَرَاءُ بِأَنْ تُوضَعَ بَرَامِجُ انْدِمَاجٍ فَاعِلَةٌ</a:t>
            </a:r>
            <a:endParaRPr lang="ar-SA" sz="1600" dirty="0"/>
          </a:p>
        </p:txBody>
      </p:sp>
      <p:sp>
        <p:nvSpPr>
          <p:cNvPr id="37" name="Text 34"/>
          <p:cNvSpPr txBox="1"/>
          <p:nvPr/>
        </p:nvSpPr>
        <p:spPr>
          <a:xfrm>
            <a:off x="3017520" y="4478731"/>
            <a:ext cx="2468880" cy="682142"/>
          </a:xfrm>
          <a:prstGeom prst="rect">
            <a:avLst/>
          </a:prstGeom>
          <a:noFill/>
          <a:ln/>
        </p:spPr>
        <p:txBody>
          <a:bodyPr wrap="square" lIns="0" tIns="0" rIns="0" bIns="0" rtlCol="0" anchor="ctr"/>
          <a:lstStyle/>
          <a:p>
            <a:pPr rtl="1" algn="ctr" indent="0" marL="0">
              <a:buNone/>
            </a:pPr>
            <a:r>
              <a:rPr lang="ar-SA" altLang="en-US" sz="1700" b="1" dirty="0">
                <a:solidFill>
                  <a:srgbClr val="D6336C"/>
                </a:solidFill>
                <a:latin typeface="Amiri" pitchFamily="34" charset="0"/>
                <a:ea typeface="Amiri" pitchFamily="34" charset="-122"/>
                <a:cs typeface="Amiri" pitchFamily="34" charset="-120"/>
              </a:rPr>
              <a:t>يُطَالِبُ بِأَنْ</a:t>
            </a:r>
            <a:endParaRPr lang="ar-SA" sz="1700" dirty="0"/>
          </a:p>
        </p:txBody>
      </p:sp>
      <p:sp>
        <p:nvSpPr>
          <p:cNvPr id="38" name="Text 35"/>
          <p:cNvSpPr txBox="1"/>
          <p:nvPr/>
        </p:nvSpPr>
        <p:spPr>
          <a:xfrm>
            <a:off x="566928" y="4478731"/>
            <a:ext cx="22860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7 volition</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5669280" y="5215738"/>
            <a:ext cx="597103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صَحِيحٌ أَنَّ الانْدِمَاجَ … غَيْرَ أَنَّ … · وَبِنَاءً عَلَى مَا سَبَقَ …</a:t>
            </a:r>
            <a:endParaRPr lang="ar-SA" sz="1600" dirty="0"/>
          </a:p>
        </p:txBody>
      </p:sp>
      <p:sp>
        <p:nvSpPr>
          <p:cNvPr id="41" name="Text 38"/>
          <p:cNvSpPr txBox="1"/>
          <p:nvPr/>
        </p:nvSpPr>
        <p:spPr>
          <a:xfrm>
            <a:off x="3017520" y="5215738"/>
            <a:ext cx="2468880" cy="682142"/>
          </a:xfrm>
          <a:prstGeom prst="rect">
            <a:avLst/>
          </a:prstGeom>
          <a:noFill/>
          <a:ln/>
        </p:spPr>
        <p:txBody>
          <a:bodyPr wrap="square" lIns="0" tIns="0" rIns="0" bIns="0" rtlCol="0" anchor="ctr"/>
          <a:lstStyle/>
          <a:p>
            <a:pPr rtl="1" algn="ctr" indent="0" marL="0">
              <a:buNone/>
            </a:pPr>
            <a:r>
              <a:rPr lang="ar-SA" altLang="en-US" sz="1700" b="1" dirty="0">
                <a:solidFill>
                  <a:srgbClr val="1D5FBF"/>
                </a:solidFill>
                <a:latin typeface="Amiri" pitchFamily="34" charset="0"/>
                <a:ea typeface="Amiri" pitchFamily="34" charset="-122"/>
                <a:cs typeface="Amiri" pitchFamily="34" charset="-120"/>
              </a:rPr>
              <a:t>صَحِيحٌ أَنَّ … غَيْرَ أَنَّ</a:t>
            </a:r>
            <a:pPr rtl="1" algn="ctr" indent="0" marL="0">
              <a:buNone/>
            </a:pPr>
            <a:r>
              <a:rPr lang="ar-SA" altLang="en-US" sz="1700" b="1" dirty="0">
                <a:solidFill>
                  <a:srgbClr val="1B3B6F"/>
                </a:solidFill>
                <a:latin typeface="Amiri" pitchFamily="34" charset="0"/>
                <a:ea typeface="Amiri" pitchFamily="34" charset="-122"/>
                <a:cs typeface="Amiri" pitchFamily="34" charset="-120"/>
              </a:rPr>
              <a:t> · </a:t>
            </a:r>
            <a:pPr rtl="1" algn="ctr" indent="0" marL="0">
              <a:buNone/>
            </a:pPr>
            <a:r>
              <a:rPr lang="ar-SA" altLang="en-US" sz="1700" b="1" dirty="0">
                <a:solidFill>
                  <a:srgbClr val="0E7C86"/>
                </a:solidFill>
                <a:latin typeface="Amiri" pitchFamily="34" charset="0"/>
                <a:ea typeface="Amiri" pitchFamily="34" charset="-122"/>
                <a:cs typeface="Amiri" pitchFamily="34" charset="-120"/>
              </a:rPr>
              <a:t>وَبِنَاءً …</a:t>
            </a:r>
            <a:endParaRPr lang="ar-SA" sz="1700" dirty="0"/>
          </a:p>
        </p:txBody>
      </p:sp>
      <p:sp>
        <p:nvSpPr>
          <p:cNvPr id="42" name="Text 39"/>
          <p:cNvSpPr txBox="1"/>
          <p:nvPr/>
        </p:nvSpPr>
        <p:spPr>
          <a:xfrm>
            <a:off x="566928" y="5215738"/>
            <a:ext cx="22860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8 concession · 9 conclusion</a:t>
            </a:r>
            <a:endParaRPr lang="en-US" sz="1100" dirty="0"/>
          </a:p>
        </p:txBody>
      </p:sp>
      <p:sp>
        <p:nvSpPr>
          <p:cNvPr id="43" name="Shape 4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Range rewards DISTINCT markers — nine different ones, not one repeated nine times (website quiz 2).</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3 · A THESIS, NOT A TOPIC (WEBSITE QUIZ 8, MISSION ROUND 10, RULE 1)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Take a position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أُطْرُوحَةٌ لَا مَوْضُوعٌ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P5-L09</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754380" cy="274320"/>
          </a:xfrm>
          <a:prstGeom prst="roundRect">
            <a:avLst>
              <a:gd name="adj" fmla="val 50000"/>
            </a:avLst>
          </a:prstGeom>
          <a:solidFill>
            <a:srgbClr val="C0386B"/>
          </a:solidFill>
          <a:ln w="12700">
            <a:solidFill>
              <a:srgbClr val="C0386B"/>
            </a:solidFill>
            <a:prstDash val="solid"/>
          </a:ln>
        </p:spPr>
      </p:sp>
      <p:sp>
        <p:nvSpPr>
          <p:cNvPr id="17" name="Text 14"/>
          <p:cNvSpPr txBox="1"/>
          <p:nvPr/>
        </p:nvSpPr>
        <p:spPr>
          <a:xfrm>
            <a:off x="8232648" y="1920240"/>
            <a:ext cx="7543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TOPIC ✗</a:t>
            </a:r>
            <a:endParaRPr lang="en-US" sz="850" dirty="0"/>
          </a:p>
        </p:txBody>
      </p:sp>
      <p:sp>
        <p:nvSpPr>
          <p:cNvPr id="18" name="Text 15"/>
          <p:cNvSpPr txBox="1"/>
          <p:nvPr/>
        </p:nvSpPr>
        <p:spPr>
          <a:xfrm>
            <a:off x="9032748" y="1874520"/>
            <a:ext cx="25618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مَوْضُوعٌ فَقَطْ</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الهِجْرَةُ مَوْضُوعٌ مُهِمٌّ.</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Migration is an important topic.</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no position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2344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4413504"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ANNOUNCEMENT ✗</a:t>
            </a:r>
            <a:endParaRPr lang="en-US" sz="850" dirty="0"/>
          </a:p>
        </p:txBody>
      </p:sp>
      <p:sp>
        <p:nvSpPr>
          <p:cNvPr id="26" name="Text 23"/>
          <p:cNvSpPr txBox="1"/>
          <p:nvPr/>
        </p:nvSpPr>
        <p:spPr>
          <a:xfrm>
            <a:off x="5693664"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إِعْلَانٌ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سَأَتَحَدَّثُ عَنِ الهِجْرَةِ.</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will talk about migration.</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no position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82296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8229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THESIS ✓</a:t>
            </a:r>
            <a:endParaRPr lang="en-US" sz="850" dirty="0"/>
          </a:p>
        </p:txBody>
      </p:sp>
      <p:sp>
        <p:nvSpPr>
          <p:cNvPr id="34" name="Text 31"/>
          <p:cNvSpPr txBox="1"/>
          <p:nvPr/>
        </p:nvSpPr>
        <p:spPr>
          <a:xfrm>
            <a:off x="1463040" y="1874520"/>
            <a:ext cx="24932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أُطْرُوحَةٌ</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الهِجْرَةُ تُثْرِي المُجْتَمَعَاتِ أَكْثَرَ مِمَّا تُضْعِفُهَا.</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Migration enriches societies more than it weakens them.</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 position to defend</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3: close formally — not with a weak opener.</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وَبِنَاءً عَلَى مَا سَبَقَ، يَتَطَلَّبُ التَّقَدُّمُ أَنْ …</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500" b="1" dirty="0">
                <a:solidFill>
                  <a:srgbClr val="B83227"/>
                </a:solidFill>
                <a:latin typeface="Amiri" pitchFamily="34" charset="0"/>
                <a:ea typeface="Amiri" pitchFamily="34" charset="-122"/>
                <a:cs typeface="Amiri" pitchFamily="34" charset="-120"/>
              </a:rPr>
              <a:t>وَأَخِيرًا، يَجِبُ …</a:t>
            </a:r>
            <a:endParaRPr lang="ar-SA" sz="25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4 · THE ACCURACY TRAPS (WEBSITE MISTAKES, COMMON ERROR AND CORRECTIONS)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Five traps to avoid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أَخْطَاءٌ شَائِعَةٌ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Rule</a:t>
            </a:r>
            <a:endParaRPr lang="en-US" sz="1100" dirty="0"/>
          </a:p>
        </p:txBody>
      </p:sp>
      <p:sp>
        <p:nvSpPr>
          <p:cNvPr id="17" name="Text 14"/>
          <p:cNvSpPr txBox="1"/>
          <p:nvPr/>
        </p:nvSpPr>
        <p:spPr>
          <a:xfrm>
            <a:off x="437083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 Right</a:t>
            </a:r>
            <a:endParaRPr lang="en-US" sz="1100" dirty="0"/>
          </a:p>
        </p:txBody>
      </p:sp>
      <p:sp>
        <p:nvSpPr>
          <p:cNvPr id="18" name="Text 15"/>
          <p:cNvSpPr txBox="1"/>
          <p:nvPr/>
        </p:nvSpPr>
        <p:spPr>
          <a:xfrm>
            <a:off x="53035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 Wrong</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430768" y="2267712"/>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anna (a fact) → -u</a:t>
            </a:r>
            <a:endParaRPr lang="en-US" sz="1100" dirty="0"/>
          </a:p>
        </p:txBody>
      </p:sp>
      <p:sp>
        <p:nvSpPr>
          <p:cNvPr id="21" name="Text 18"/>
          <p:cNvSpPr txBox="1"/>
          <p:nvPr/>
        </p:nvSpPr>
        <p:spPr>
          <a:xfrm>
            <a:off x="4389120" y="2267712"/>
            <a:ext cx="384048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صَحِيحٌ أَنَّ الانْدِمَاجَ </a:t>
            </a:r>
            <a:pPr rtl="1" algn="ctr" indent="0" marL="0">
              <a:buNone/>
            </a:pPr>
            <a:r>
              <a:rPr lang="ar-SA" altLang="en-US" sz="1600" b="1" dirty="0">
                <a:solidFill>
                  <a:srgbClr val="1D5FBF"/>
                </a:solidFill>
                <a:latin typeface="Amiri" pitchFamily="34" charset="0"/>
                <a:ea typeface="Amiri" pitchFamily="34" charset="-122"/>
                <a:cs typeface="Amiri" pitchFamily="34" charset="-120"/>
              </a:rPr>
              <a:t>يَسْتَغْرِقُ</a:t>
            </a:r>
            <a:pPr rtl="1" algn="ctr" indent="0" marL="0">
              <a:buNone/>
            </a:pPr>
            <a:r>
              <a:rPr lang="ar-SA" altLang="en-US" sz="1600" b="1" dirty="0">
                <a:solidFill>
                  <a:srgbClr val="1B3B6F"/>
                </a:solidFill>
                <a:latin typeface="Amiri" pitchFamily="34" charset="0"/>
                <a:ea typeface="Amiri" pitchFamily="34" charset="-122"/>
                <a:cs typeface="Amiri" pitchFamily="34" charset="-120"/>
              </a:rPr>
              <a:t> وَقْتًا</a:t>
            </a:r>
            <a:endParaRPr lang="ar-SA" sz="1600" dirty="0"/>
          </a:p>
        </p:txBody>
      </p:sp>
      <p:sp>
        <p:nvSpPr>
          <p:cNvPr id="22" name="Text 19"/>
          <p:cNvSpPr txBox="1"/>
          <p:nvPr/>
        </p:nvSpPr>
        <p:spPr>
          <a:xfrm>
            <a:off x="548640" y="2267712"/>
            <a:ext cx="365760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صَحِيحٌ أَنَّ الانْدِمَاجَ يَسْتَغْرِقَ وَقْتًا</a:t>
            </a:r>
            <a:endParaRPr lang="ar-SA" sz="1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430768" y="3004718"/>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 (an aim) → -a</a:t>
            </a:r>
            <a:endParaRPr lang="en-US" sz="1100" dirty="0"/>
          </a:p>
        </p:txBody>
      </p:sp>
      <p:sp>
        <p:nvSpPr>
          <p:cNvPr id="27" name="Text 24"/>
          <p:cNvSpPr txBox="1"/>
          <p:nvPr/>
        </p:nvSpPr>
        <p:spPr>
          <a:xfrm>
            <a:off x="4389120" y="3004718"/>
            <a:ext cx="384048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 أَنْ </a:t>
            </a:r>
            <a:pPr rtl="1" algn="ctr" indent="0" marL="0">
              <a:buNone/>
            </a:pPr>
            <a:r>
              <a:rPr lang="ar-SA" altLang="en-US" sz="1600" b="1" dirty="0">
                <a:solidFill>
                  <a:srgbClr val="D6336C"/>
                </a:solidFill>
                <a:latin typeface="Amiri" pitchFamily="34" charset="0"/>
                <a:ea typeface="Amiri" pitchFamily="34" charset="-122"/>
                <a:cs typeface="Amiri" pitchFamily="34" charset="-120"/>
              </a:rPr>
              <a:t>تَسْتَثْمِرَ</a:t>
            </a:r>
            <a:pPr rtl="1" algn="ctr" indent="0" marL="0">
              <a:buNone/>
            </a:pPr>
            <a:r>
              <a:rPr lang="ar-SA" altLang="en-US" sz="1600" b="1" dirty="0">
                <a:solidFill>
                  <a:srgbClr val="1B3B6F"/>
                </a:solidFill>
                <a:latin typeface="Amiri" pitchFamily="34" charset="0"/>
                <a:ea typeface="Amiri" pitchFamily="34" charset="-122"/>
                <a:cs typeface="Amiri" pitchFamily="34" charset="-120"/>
              </a:rPr>
              <a:t> الحُكُومَاتُ</a:t>
            </a:r>
            <a:endParaRPr lang="ar-SA" sz="1600" dirty="0"/>
          </a:p>
        </p:txBody>
      </p:sp>
      <p:sp>
        <p:nvSpPr>
          <p:cNvPr id="28" name="Text 25"/>
          <p:cNvSpPr txBox="1"/>
          <p:nvPr/>
        </p:nvSpPr>
        <p:spPr>
          <a:xfrm>
            <a:off x="548640" y="3004718"/>
            <a:ext cx="365760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 أَنْ تَسْتَثْمِرُ الحُكُومَاتُ</a:t>
            </a:r>
            <a:endParaRPr lang="ar-SA" sz="16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430768" y="3741725"/>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answer every concession</a:t>
            </a:r>
            <a:endParaRPr lang="en-US" sz="1100" dirty="0"/>
          </a:p>
        </p:txBody>
      </p:sp>
      <p:sp>
        <p:nvSpPr>
          <p:cNvPr id="33" name="Text 30"/>
          <p:cNvSpPr txBox="1"/>
          <p:nvPr/>
        </p:nvSpPr>
        <p:spPr>
          <a:xfrm>
            <a:off x="4389120" y="3741725"/>
            <a:ext cx="384048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صَحِيحٌ أَنَّ …، </a:t>
            </a:r>
            <a:pPr rtl="1" algn="ctr" indent="0" marL="0">
              <a:buNone/>
            </a:pPr>
            <a:r>
              <a:rPr lang="ar-SA" altLang="en-US" sz="1600" b="1" dirty="0">
                <a:solidFill>
                  <a:srgbClr val="D6336C"/>
                </a:solidFill>
                <a:latin typeface="Amiri" pitchFamily="34" charset="0"/>
                <a:ea typeface="Amiri" pitchFamily="34" charset="-122"/>
                <a:cs typeface="Amiri" pitchFamily="34" charset="-120"/>
              </a:rPr>
              <a:t>غَيْرَ أَنَّ</a:t>
            </a:r>
            <a:pPr rtl="1" algn="ctr" indent="0" marL="0">
              <a:buNone/>
            </a:pPr>
            <a:r>
              <a:rPr lang="ar-SA" altLang="en-US" sz="1600" b="1" dirty="0">
                <a:solidFill>
                  <a:srgbClr val="1B3B6F"/>
                </a:solidFill>
                <a:latin typeface="Amiri" pitchFamily="34" charset="0"/>
                <a:ea typeface="Amiri" pitchFamily="34" charset="-122"/>
                <a:cs typeface="Amiri" pitchFamily="34" charset="-120"/>
              </a:rPr>
              <a:t> العَائِدَ أَكْبَرُ</a:t>
            </a:r>
            <a:endParaRPr lang="ar-SA" sz="1600" dirty="0"/>
          </a:p>
        </p:txBody>
      </p:sp>
      <p:sp>
        <p:nvSpPr>
          <p:cNvPr id="34" name="Text 31"/>
          <p:cNvSpPr txBox="1"/>
          <p:nvPr/>
        </p:nvSpPr>
        <p:spPr>
          <a:xfrm>
            <a:off x="548640" y="3741725"/>
            <a:ext cx="365760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صَحِيحٌ أَنَّ …، وَالعَائِدُ أَكْبَرُ</a:t>
            </a:r>
            <a:endParaRPr lang="ar-SA" sz="16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8430768" y="4478731"/>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one concession word only</a:t>
            </a:r>
            <a:endParaRPr lang="en-US" sz="1100" dirty="0"/>
          </a:p>
        </p:txBody>
      </p:sp>
      <p:sp>
        <p:nvSpPr>
          <p:cNvPr id="37" name="Text 34"/>
          <p:cNvSpPr txBox="1"/>
          <p:nvPr/>
        </p:nvSpPr>
        <p:spPr>
          <a:xfrm>
            <a:off x="4389120" y="4478731"/>
            <a:ext cx="384048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بِالرَّغْمِ مِنَ التَّحَدِّيَاتِ، </a:t>
            </a:r>
            <a:pPr rtl="1" algn="ctr" indent="0" marL="0">
              <a:buNone/>
            </a:pPr>
            <a:r>
              <a:rPr lang="ar-SA" altLang="en-US" sz="1600" b="1" dirty="0">
                <a:solidFill>
                  <a:srgbClr val="0E7C86"/>
                </a:solidFill>
                <a:latin typeface="Amiri" pitchFamily="34" charset="0"/>
                <a:ea typeface="Amiri" pitchFamily="34" charset="-122"/>
                <a:cs typeface="Amiri" pitchFamily="34" charset="-120"/>
              </a:rPr>
              <a:t>فَإِنَّ</a:t>
            </a:r>
            <a:pPr rtl="1" algn="ctr" indent="0" marL="0">
              <a:buNone/>
            </a:pPr>
            <a:r>
              <a:rPr lang="ar-SA" altLang="en-US" sz="1600" b="1" dirty="0">
                <a:solidFill>
                  <a:srgbClr val="1B3B6F"/>
                </a:solidFill>
                <a:latin typeface="Amiri" pitchFamily="34" charset="0"/>
                <a:ea typeface="Amiri" pitchFamily="34" charset="-122"/>
                <a:cs typeface="Amiri" pitchFamily="34" charset="-120"/>
              </a:rPr>
              <a:t> …</a:t>
            </a:r>
            <a:endParaRPr lang="ar-SA" sz="1600" dirty="0"/>
          </a:p>
        </p:txBody>
      </p:sp>
      <p:sp>
        <p:nvSpPr>
          <p:cNvPr id="38" name="Text 35"/>
          <p:cNvSpPr txBox="1"/>
          <p:nvPr/>
        </p:nvSpPr>
        <p:spPr>
          <a:xfrm>
            <a:off x="548640" y="4478731"/>
            <a:ext cx="365760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بِالرَّغْمِ مِنَ التَّحَدِّيَاتِ، غَيْرَ أَنَّ …</a:t>
            </a:r>
            <a:endParaRPr lang="ar-SA" sz="16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8430768" y="5215738"/>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Type 2 → la- + past</a:t>
            </a:r>
            <a:endParaRPr lang="en-US" sz="1100" dirty="0"/>
          </a:p>
        </p:txBody>
      </p:sp>
      <p:sp>
        <p:nvSpPr>
          <p:cNvPr id="41" name="Text 38"/>
          <p:cNvSpPr txBox="1"/>
          <p:nvPr/>
        </p:nvSpPr>
        <p:spPr>
          <a:xfrm>
            <a:off x="4389120" y="5215738"/>
            <a:ext cx="384048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لَوْ فُتِحَتِ الأَبْوَابُ، </a:t>
            </a:r>
            <a:pPr rtl="1" algn="ctr" indent="0" marL="0">
              <a:buNone/>
            </a:pPr>
            <a:r>
              <a:rPr lang="ar-SA" altLang="en-US" sz="1600" b="1" dirty="0">
                <a:solidFill>
                  <a:srgbClr val="7B3FA0"/>
                </a:solidFill>
                <a:latin typeface="Amiri" pitchFamily="34" charset="0"/>
                <a:ea typeface="Amiri" pitchFamily="34" charset="-122"/>
                <a:cs typeface="Amiri" pitchFamily="34" charset="-120"/>
              </a:rPr>
              <a:t>لَتَجَنَّبْنَا</a:t>
            </a:r>
            <a:pPr rtl="1" algn="ctr" indent="0" marL="0">
              <a:buNone/>
            </a:pPr>
            <a:r>
              <a:rPr lang="ar-SA" altLang="en-US" sz="1600" b="1" dirty="0">
                <a:solidFill>
                  <a:srgbClr val="1B3B6F"/>
                </a:solidFill>
                <a:latin typeface="Amiri" pitchFamily="34" charset="0"/>
                <a:ea typeface="Amiri" pitchFamily="34" charset="-122"/>
                <a:cs typeface="Amiri" pitchFamily="34" charset="-120"/>
              </a:rPr>
              <a:t> …</a:t>
            </a:r>
            <a:endParaRPr lang="ar-SA" sz="1600" dirty="0"/>
          </a:p>
        </p:txBody>
      </p:sp>
      <p:sp>
        <p:nvSpPr>
          <p:cNvPr id="42" name="Text 39"/>
          <p:cNvSpPr txBox="1"/>
          <p:nvPr/>
        </p:nvSpPr>
        <p:spPr>
          <a:xfrm>
            <a:off x="548640" y="5215738"/>
            <a:ext cx="365760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لَوْ فُتِحَتِ الأَبْوَابُ، سَنَتَجَنَّبُ …</a:t>
            </a:r>
            <a:endParaRPr lang="ar-SA" sz="16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common error: a subjunctive after ṣaḥīḥun anna, a concession never answered, or no formal close.</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P5-L09 · Writing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Assembling the full P5 argumentative essay</a:t>
            </a:r>
            <a:endParaRPr lang="en-US" sz="21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تَرْكِيبُ المَقَالِ الحِجَاجِيِّ الكَامِلِ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P5-L09</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Thesis + evidence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yushāru ilā anna · akkada … anna</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يُشَارُ إِلَى أَنَّ الهِجْرَةَ تُثْرِي المُجْتَمَعَاتِ</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Concession + refutation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ṣaḥīḥun anna + -u · ghayra anna</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صَحِيحٌ أَنَّ الانْدِمَاجَ يَسْتَغْرِقُ وَقْتًا، غَيْرَ أَنَّ العَائِدَ أَكْبَرُ</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Both conditionals</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idhā … sa- · law … la-</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إِذَا أُحْسِنَتِ السِّيَاسَاتُ، سَيَنْدَمِجُ الوَافِدُونَ</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Conclusion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wa-bināʾan ʿalā mā sabaqa + an + -a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وَبِنَاءً عَلَى مَا سَبَقَ، يَتَطَلَّبُ التَّقَدُّمُ أَنْ تَسْتَثْمِرَ الحُكُومَاتُ فِي الإِنْسَانِ</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earns the Task Completion marks?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number of long words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handwriting</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argument architecture (thesis → conclusion)</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earns the Range marks?</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Nine distinct grammar markers</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repeated structure</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topic alone</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mood follows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subjunctive</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indicative</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jussive</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closes the essay?</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وَبِنَاءً عَلَى مَا سَبَقَ</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earns the Task Completion marks?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number of long words</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handwriting</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argument architecture (thesis → conclusion)</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 rewards the argument architecture.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earns the Range marks?</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Nine distinct grammar markers</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repeated structure</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topic alone</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Range rewards nine distinct grammar markers.</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mood follows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subjunctive</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indicative</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jussive</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صَحِيحٌ أَنَّ</a:t>
            </a:r>
            <a:pPr algn="l" indent="0" marL="0">
              <a:buNone/>
            </a:pPr>
            <a:r>
              <a:rPr lang="en-US" sz="1050" i="1" dirty="0">
                <a:solidFill>
                  <a:srgbClr val="8A6D1E"/>
                </a:solidFill>
                <a:latin typeface="Calibri" pitchFamily="34" charset="0"/>
                <a:ea typeface="Calibri" pitchFamily="34" charset="-122"/>
                <a:cs typeface="Calibri" pitchFamily="34" charset="-120"/>
              </a:rPr>
              <a:t> concedes a real point, so the verb is indicative.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closes the essay?</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وَبِنَاءً عَلَى مَا سَبَقَ</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وَبِنَاءً عَلَى مَا سَبَقَ</a:t>
            </a:r>
            <a:pPr algn="l" indent="0" marL="0">
              <a:buNone/>
            </a:pPr>
            <a:r>
              <a:rPr lang="en-US" sz="1050" i="1" dirty="0">
                <a:solidFill>
                  <a:srgbClr val="8A6D1E"/>
                </a:solidFill>
                <a:latin typeface="Calibri" pitchFamily="34" charset="0"/>
                <a:ea typeface="Calibri" pitchFamily="34" charset="-122"/>
                <a:cs typeface="Calibri" pitchFamily="34" charset="-120"/>
              </a:rPr>
              <a:t> closes the essay.</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ea typeface="Cambria" pitchFamily="34" charset="-122"/>
                <a:cs typeface="Cambria" pitchFamily="34" charset="-120"/>
              </a:rPr>
              <a:t>Watch me plan and write the opening and close</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P5-L09</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P1 · Thesis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C77700"/>
                </a:solidFill>
                <a:latin typeface="Amiri" pitchFamily="34" charset="0"/>
                <a:ea typeface="Amiri" pitchFamily="34" charset="-122"/>
                <a:cs typeface="Amiri" pitchFamily="34" charset="-120"/>
              </a:rPr>
              <a:t>يُشَارُ إِلَى أَنَّ</a:t>
            </a:r>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 … أَكْثَرَ مِمَّا …</a:t>
            </a:r>
            <a:endParaRPr lang="ar-SA" sz="20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position.</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P2 · Evidence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7B3FA0"/>
                </a:solidFill>
                <a:latin typeface="Amiri" pitchFamily="34" charset="0"/>
                <a:ea typeface="Amiri" pitchFamily="34" charset="-122"/>
                <a:cs typeface="Amiri" pitchFamily="34" charset="-120"/>
              </a:rPr>
              <a:t>أَكَّدَ</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7B3FA0"/>
                </a:solidFill>
                <a:latin typeface="Amiri" pitchFamily="34" charset="0"/>
                <a:ea typeface="Amiri" pitchFamily="34" charset="-122"/>
                <a:cs typeface="Amiri" pitchFamily="34" charset="-120"/>
              </a:rPr>
              <a:t>أَنَّ</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1D5FBF"/>
                </a:solidFill>
                <a:latin typeface="Amiri" pitchFamily="34" charset="0"/>
                <a:ea typeface="Amiri" pitchFamily="34" charset="-122"/>
                <a:cs typeface="Amiri" pitchFamily="34" charset="-120"/>
              </a:rPr>
              <a:t>كَانَتْ … قَدْ</a:t>
            </a:r>
            <a:endParaRPr lang="ar-SA" sz="24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markers.</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P3 · Balance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صَحِيحٌ أَنَّ</a:t>
            </a:r>
            <a:pPr rtl="1" algn="ctr" indent="0" marL="0">
              <a:buNone/>
            </a:pPr>
            <a:r>
              <a:rPr lang="ar-SA" altLang="en-US" sz="2100" b="1" dirty="0">
                <a:solidFill>
                  <a:srgbClr val="1B3B6F"/>
                </a:solidFill>
                <a:latin typeface="Amiri" pitchFamily="34" charset="0"/>
                <a:ea typeface="Amiri" pitchFamily="34" charset="-122"/>
                <a:cs typeface="Amiri" pitchFamily="34" charset="-120"/>
              </a:rPr>
              <a:t> … </a:t>
            </a:r>
            <a:pPr rtl="1" algn="ctr" indent="0" marL="0">
              <a:buNone/>
            </a:pPr>
            <a:r>
              <a:rPr lang="ar-SA" altLang="en-US" sz="2100" b="1" dirty="0">
                <a:solidFill>
                  <a:srgbClr val="D6336C"/>
                </a:solidFill>
                <a:latin typeface="Amiri" pitchFamily="34" charset="0"/>
                <a:ea typeface="Amiri" pitchFamily="34" charset="-122"/>
                <a:cs typeface="Amiri" pitchFamily="34" charset="-120"/>
              </a:rPr>
              <a:t>غَيْرَ أَنَّ</a:t>
            </a:r>
            <a:pPr rtl="1" algn="ctr" indent="0" marL="0">
              <a:buNone/>
            </a:pPr>
            <a:r>
              <a:rPr lang="ar-SA" altLang="en-US" sz="2100" b="1" dirty="0">
                <a:solidFill>
                  <a:srgbClr val="1B3B6F"/>
                </a:solidFill>
                <a:latin typeface="Amiri" pitchFamily="34" charset="0"/>
                <a:ea typeface="Amiri" pitchFamily="34" charset="-122"/>
                <a:cs typeface="Amiri" pitchFamily="34" charset="-120"/>
              </a:rPr>
              <a:t> · </a:t>
            </a:r>
            <a:pPr rtl="1" algn="ctr" indent="0" marL="0">
              <a:buNone/>
            </a:pPr>
            <a:r>
              <a:rPr lang="ar-SA" altLang="en-US" sz="2100" b="1" dirty="0">
                <a:solidFill>
                  <a:srgbClr val="7B3FA0"/>
                </a:solidFill>
                <a:latin typeface="Amiri" pitchFamily="34" charset="0"/>
                <a:ea typeface="Amiri" pitchFamily="34" charset="-122"/>
                <a:cs typeface="Amiri" pitchFamily="34" charset="-120"/>
              </a:rPr>
              <a:t>لَوْ</a:t>
            </a:r>
            <a:pPr rtl="1" algn="ctr" indent="0" marL="0">
              <a:buNone/>
            </a:pPr>
            <a:r>
              <a:rPr lang="ar-SA" altLang="en-US" sz="2100" b="1" dirty="0">
                <a:solidFill>
                  <a:srgbClr val="1B3B6F"/>
                </a:solidFill>
                <a:latin typeface="Amiri" pitchFamily="34" charset="0"/>
                <a:ea typeface="Amiri" pitchFamily="34" charset="-122"/>
                <a:cs typeface="Amiri" pitchFamily="34" charset="-120"/>
              </a:rPr>
              <a:t> …</a:t>
            </a:r>
            <a:endParaRPr lang="ar-SA" sz="21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Concede, answer.</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P4 · Close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0E7C86"/>
                </a:solidFill>
                <a:latin typeface="Amiri" pitchFamily="34" charset="0"/>
                <a:ea typeface="Amiri" pitchFamily="34" charset="-122"/>
                <a:cs typeface="Amiri" pitchFamily="34" charset="-120"/>
              </a:rPr>
              <a:t>وَبِنَاءً عَلَى مَا سَبَقَ</a:t>
            </a:r>
            <a:pPr rtl="1" algn="ctr" indent="0" marL="0">
              <a:buNone/>
            </a:pPr>
            <a:r>
              <a:rPr lang="ar-SA" altLang="en-US" sz="2700" b="1" dirty="0">
                <a:solidFill>
                  <a:srgbClr val="1B3B6F"/>
                </a:solidFill>
                <a:latin typeface="Amiri" pitchFamily="34" charset="0"/>
                <a:ea typeface="Amiri" pitchFamily="34" charset="-122"/>
                <a:cs typeface="Amiri" pitchFamily="34" charset="-120"/>
              </a:rPr>
              <a:t> …</a:t>
            </a:r>
            <a:endParaRPr lang="ar-SA" sz="27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an + -a!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6565392" y="4736592"/>
            <a:ext cx="914400" cy="237744"/>
          </a:xfrm>
          <a:prstGeom prst="roundRect">
            <a:avLst>
              <a:gd name="adj" fmla="val 50000"/>
            </a:avLst>
          </a:prstGeom>
          <a:solidFill>
            <a:srgbClr val="C77700"/>
          </a:solidFill>
          <a:ln w="12700">
            <a:solidFill>
              <a:srgbClr val="C77700"/>
            </a:solidFill>
            <a:prstDash val="solid"/>
          </a:ln>
        </p:spPr>
      </p:sp>
      <p:sp>
        <p:nvSpPr>
          <p:cNvPr id="46" name="Text 42"/>
          <p:cNvSpPr txBox="1"/>
          <p:nvPr/>
        </p:nvSpPr>
        <p:spPr>
          <a:xfrm>
            <a:off x="6565392"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THESIS</a:t>
            </a:r>
            <a:endParaRPr lang="en-US" sz="800" dirty="0"/>
          </a:p>
        </p:txBody>
      </p:sp>
      <p:sp>
        <p:nvSpPr>
          <p:cNvPr id="47" name="Shape 43"/>
          <p:cNvSpPr/>
          <p:nvPr/>
        </p:nvSpPr>
        <p:spPr>
          <a:xfrm>
            <a:off x="7552944" y="4736592"/>
            <a:ext cx="914400" cy="237744"/>
          </a:xfrm>
          <a:prstGeom prst="roundRect">
            <a:avLst>
              <a:gd name="adj" fmla="val 50000"/>
            </a:avLst>
          </a:prstGeom>
          <a:solidFill>
            <a:srgbClr val="7B3FA0"/>
          </a:solidFill>
          <a:ln w="12700">
            <a:solidFill>
              <a:srgbClr val="7B3FA0"/>
            </a:solidFill>
            <a:prstDash val="solid"/>
          </a:ln>
        </p:spPr>
      </p:sp>
      <p:sp>
        <p:nvSpPr>
          <p:cNvPr id="48" name="Text 44"/>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EVIDENCE</a:t>
            </a:r>
            <a:endParaRPr lang="en-US" sz="800" dirty="0"/>
          </a:p>
        </p:txBody>
      </p:sp>
      <p:sp>
        <p:nvSpPr>
          <p:cNvPr id="49" name="Shape 45"/>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BALANCE</a:t>
            </a:r>
            <a:endParaRPr lang="en-US" sz="800" dirty="0"/>
          </a:p>
        </p:txBody>
      </p:sp>
      <p:sp>
        <p:nvSpPr>
          <p:cNvPr id="51" name="Shape 47"/>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52" name="Text 48"/>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REFUTATION</a:t>
            </a:r>
            <a:endParaRPr lang="en-US" sz="800" dirty="0"/>
          </a:p>
        </p:txBody>
      </p:sp>
      <p:sp>
        <p:nvSpPr>
          <p:cNvPr id="53" name="Shape 49"/>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4" name="Text 50"/>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CONCLUSION</a:t>
            </a:r>
            <a:endParaRPr lang="en-US" sz="800" dirty="0"/>
          </a:p>
        </p:txBody>
      </p:sp>
      <p:sp>
        <p:nvSpPr>
          <p:cNvPr id="55" name="Text 51"/>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C77700"/>
                </a:solidFill>
                <a:latin typeface="Amiri" pitchFamily="34" charset="0"/>
                <a:ea typeface="Amiri" pitchFamily="34" charset="-122"/>
                <a:cs typeface="Amiri" pitchFamily="34" charset="-120"/>
              </a:rPr>
              <a:t>يُشَارُ إِلَى 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الهِجْرَةَ تُثْرِي المُجْتَمَعَاتِ المُضِيفَةَ أَكْثَرَ مِمَّا تُضْعِفُهَا.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أَكَّدَ</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البَاحِثُونَ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التَّنَوُّعَ يَرْفَعُ الإِنْتَاجِيَّةَ،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وَكَانَتْ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دُوَلٌ كَثِيرَةٌ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قَدِ</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اسْتَفَادَتْ مِنْ كَفَاءَاتِ الوَافِدِينَ.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صَحِيحٌ 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الانْدِمَاجَ يَسْتَغْرِقُ وَقْتًا،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غَيْرَ 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العَائِدَ يَفُوقُ التَّكْلِفَةَ.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وَلَوْ</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فُتِحَتْ أَبْوَابُ العَمَلِ مُبَكِّرًا،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لَتَجَنَّبْنَا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كَثِيرًا مِنَ التَّوَتُّرِ.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وَبِنَاءً عَلَى مَا سَبَقَ</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يَتَطَلَّبُ التَّقَدُّمُ أَنْ تَسْتَثْمِرَ الحُكُومَاتُ فِي الانْدِمَاجِ.</a:t>
            </a:r>
            <a:endParaRPr lang="ar-SA" sz="1400" dirty="0"/>
          </a:p>
        </p:txBody>
      </p:sp>
      <p:sp>
        <p:nvSpPr>
          <p:cNvPr id="56" name="Text 5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00" i="1" dirty="0">
                <a:solidFill>
                  <a:srgbClr val="5A6472"/>
                </a:solidFill>
                <a:latin typeface="Calibri" pitchFamily="34" charset="0"/>
                <a:ea typeface="Calibri" pitchFamily="34" charset="-122"/>
                <a:cs typeface="Calibri" pitchFamily="34" charset="-120"/>
              </a:rPr>
              <a:t>It is noted that migration enriches host societies more than it weakens them. Researchers have confirmed that diversity raises productivity, and many countries had benefited from the skills of newcomers. It is true that integration takes time; however, the return outweighs the cost. Had the doors to work been opened earlier, we would have avoided much tension. Based on the above, progress requires governments to invest in integration.</a:t>
            </a:r>
            <a:endParaRPr lang="en-US" sz="900" dirty="0"/>
          </a:p>
        </p:txBody>
      </p:sp>
      <p:sp>
        <p:nvSpPr>
          <p:cNvPr id="57"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P5-L09</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34" charset="0"/>
                <a:ea typeface="Amiri" pitchFamily="34" charset="-122"/>
                <a:cs typeface="Amiri" pitchFamily="34" charset="-120"/>
              </a:rPr>
              <a:t>يُشَارُ إِلَى أَنَّ الهِجْرَةَ تُثْرِي المُجْتَمَعَاتِ بِالتَّنَوُّعِ وَالطَّاقَاتِ</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it is noted that migration enriches societies with diversity and energies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Thesis + reported speech.</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34" charset="0"/>
                <a:ea typeface="Amiri" pitchFamily="34" charset="-122"/>
                <a:cs typeface="Amiri" pitchFamily="34" charset="-120"/>
              </a:rPr>
              <a:t>صَحِيحٌ أَنَّ الانْدِمَاجَ يَسْتَغْرِقُ وَقْتًا، غَيْرَ أَنَّ العَائِدَ يَفُوقُ التَّكْلِفَةَ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it is true that integration takes time; however, the return outweighs the cost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Concession-refutation pair.</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34" charset="0"/>
                <a:ea typeface="Amiri" pitchFamily="34" charset="-122"/>
                <a:cs typeface="Amiri" pitchFamily="34" charset="-120"/>
              </a:rPr>
              <a:t>وَبِنَاءً عَلَى مَا سَبَقَ، يَتَطَلَّبُ التَّقَدُّمُ أَنْ تَسْتَثْمِرَ الحُكُومَاتُ فِي الإِنْسَانِ</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based on the above, progress requires governments to invest in people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Conclusion + subjunctive.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UPGRADE THE SENTENCE (WEBSITE MODEL AND MISTAKES)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From plain to Paper 4</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حَسِّنِ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74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Marker</a:t>
            </a:r>
            <a:endParaRPr lang="en-US" sz="1100" dirty="0"/>
          </a:p>
        </p:txBody>
      </p:sp>
      <p:sp>
        <p:nvSpPr>
          <p:cNvPr id="17" name="Text 14"/>
          <p:cNvSpPr txBox="1"/>
          <p:nvPr/>
        </p:nvSpPr>
        <p:spPr>
          <a:xfrm>
            <a:off x="327355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Paper 4 sentence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Plain sentence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710928" y="2267712"/>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thesis + report</a:t>
            </a:r>
            <a:endParaRPr lang="en-US" sz="1100" dirty="0"/>
          </a:p>
        </p:txBody>
      </p:sp>
      <p:sp>
        <p:nvSpPr>
          <p:cNvPr id="21" name="Text 18"/>
          <p:cNvSpPr txBox="1"/>
          <p:nvPr/>
        </p:nvSpPr>
        <p:spPr>
          <a:xfrm>
            <a:off x="3291840" y="2267712"/>
            <a:ext cx="621792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يُشَارُ إِلَى أَنَّ الهِجْرَةَ تُثْرِي المُجْتَمَعَاتِ أَكْثَرَ مِمَّا تُضْعِفُهَا.</a:t>
            </a:r>
            <a:endParaRPr lang="ar-SA" sz="1700" dirty="0"/>
          </a:p>
        </p:txBody>
      </p:sp>
      <p:sp>
        <p:nvSpPr>
          <p:cNvPr id="22" name="Text 19"/>
          <p:cNvSpPr txBox="1"/>
          <p:nvPr/>
        </p:nvSpPr>
        <p:spPr>
          <a:xfrm>
            <a:off x="548640" y="2267712"/>
            <a:ext cx="256032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الهِجْرَةُ مُفِيدَةٌ.</a:t>
            </a:r>
            <a:endParaRPr lang="ar-SA" sz="19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710928" y="300471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concession</a:t>
            </a:r>
            <a:endParaRPr lang="en-US" sz="1100" dirty="0"/>
          </a:p>
        </p:txBody>
      </p:sp>
      <p:sp>
        <p:nvSpPr>
          <p:cNvPr id="27" name="Text 24"/>
          <p:cNvSpPr txBox="1"/>
          <p:nvPr/>
        </p:nvSpPr>
        <p:spPr>
          <a:xfrm>
            <a:off x="3291840" y="3004718"/>
            <a:ext cx="621792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صَحِيحٌ أَنَّ الانْدِمَاجَ يَسْتَغْرِقُ وَقْتًا، غَيْرَ أَنَّ العَائِدَ أَكْبَرُ.</a:t>
            </a:r>
            <a:endParaRPr lang="ar-SA" sz="1700" dirty="0"/>
          </a:p>
        </p:txBody>
      </p:sp>
      <p:sp>
        <p:nvSpPr>
          <p:cNvPr id="28" name="Text 25"/>
          <p:cNvSpPr txBox="1"/>
          <p:nvPr/>
        </p:nvSpPr>
        <p:spPr>
          <a:xfrm>
            <a:off x="548640" y="3004718"/>
            <a:ext cx="256032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الانْدِمَاجُ صَعْبٌ.</a:t>
            </a:r>
            <a:endParaRPr lang="ar-SA" sz="19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710928" y="3741725"/>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perfect</a:t>
            </a:r>
            <a:endParaRPr lang="en-US" sz="1100" dirty="0"/>
          </a:p>
        </p:txBody>
      </p:sp>
      <p:sp>
        <p:nvSpPr>
          <p:cNvPr id="33" name="Text 30"/>
          <p:cNvSpPr txBox="1"/>
          <p:nvPr/>
        </p:nvSpPr>
        <p:spPr>
          <a:xfrm>
            <a:off x="3291840" y="3741725"/>
            <a:ext cx="621792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وَكَانَتْ دُوَلٌ كَثِيرَةٌ قَدِ اسْتَفَادَتْ مِنْ كَفَاءَاتِ الوَافِدِينَ.</a:t>
            </a:r>
            <a:endParaRPr lang="ar-SA" sz="1700" dirty="0"/>
          </a:p>
        </p:txBody>
      </p:sp>
      <p:sp>
        <p:nvSpPr>
          <p:cNvPr id="34" name="Text 31"/>
          <p:cNvSpPr txBox="1"/>
          <p:nvPr/>
        </p:nvSpPr>
        <p:spPr>
          <a:xfrm>
            <a:off x="548640" y="3741725"/>
            <a:ext cx="256032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دُوَلٌ اسْتَفَادَتْ.</a:t>
            </a:r>
            <a:endParaRPr lang="ar-SA" sz="19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9710928" y="4478731"/>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volition</a:t>
            </a:r>
            <a:endParaRPr lang="en-US" sz="1100" dirty="0"/>
          </a:p>
        </p:txBody>
      </p:sp>
      <p:sp>
        <p:nvSpPr>
          <p:cNvPr id="37" name="Text 34"/>
          <p:cNvSpPr txBox="1"/>
          <p:nvPr/>
        </p:nvSpPr>
        <p:spPr>
          <a:xfrm>
            <a:off x="3291840" y="4478731"/>
            <a:ext cx="621792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وَيُطَالِبُ الخُبَرَاءُ بِأَنْ تُوضَعَ بَرَامِجُ انْدِمَاجٍ فَاعِلَةٌ.</a:t>
            </a:r>
            <a:endParaRPr lang="ar-SA" sz="1700" dirty="0"/>
          </a:p>
        </p:txBody>
      </p:sp>
      <p:sp>
        <p:nvSpPr>
          <p:cNvPr id="38" name="Text 35"/>
          <p:cNvSpPr txBox="1"/>
          <p:nvPr/>
        </p:nvSpPr>
        <p:spPr>
          <a:xfrm>
            <a:off x="548640" y="4478731"/>
            <a:ext cx="256032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نُرِيدُ بَرَامِجَ.</a:t>
            </a:r>
            <a:endParaRPr lang="ar-SA" sz="19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9710928" y="521573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conclusion</a:t>
            </a:r>
            <a:endParaRPr lang="en-US" sz="1100" dirty="0"/>
          </a:p>
        </p:txBody>
      </p:sp>
      <p:sp>
        <p:nvSpPr>
          <p:cNvPr id="41" name="Text 38"/>
          <p:cNvSpPr txBox="1"/>
          <p:nvPr/>
        </p:nvSpPr>
        <p:spPr>
          <a:xfrm>
            <a:off x="3291840" y="5215738"/>
            <a:ext cx="621792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وَبِنَاءً عَلَى مَا سَبَقَ، يَتَطَلَّبُ التَّقَدُّمُ أَنْ تَسْتَثْمِرَ الحُكُومَاتُ فِي الإِنْسَانِ.</a:t>
            </a:r>
            <a:endParaRPr lang="ar-SA" sz="1700" dirty="0"/>
          </a:p>
        </p:txBody>
      </p:sp>
      <p:sp>
        <p:nvSpPr>
          <p:cNvPr id="42" name="Text 39"/>
          <p:cNvSpPr txBox="1"/>
          <p:nvPr/>
        </p:nvSpPr>
        <p:spPr>
          <a:xfrm>
            <a:off x="548640" y="5215738"/>
            <a:ext cx="256032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وَأَخِيرًا، الاسْتِثْمَارُ مُهِمٌّ.</a:t>
            </a:r>
            <a:endParaRPr lang="ar-SA" sz="19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Cover the middle column: upgrade each plain sentence, then compare with the website model.</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Shape 8"/>
          <p:cNvSpPr/>
          <p:nvPr/>
        </p:nvSpPr>
        <p:spPr>
          <a:xfrm>
            <a:off x="6273698"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73698"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BUILD AN ESSAY SPINE (WEBSITE LIVE BUILDER, ONE ITEM CORRECTED)</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Thesis + balance + conclusion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عَمُودَ المَقَالِ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P5-L09</a:t>
            </a:r>
            <a:endParaRPr lang="en-US" sz="850" dirty="0"/>
          </a:p>
        </p:txBody>
      </p:sp>
      <p:sp>
        <p:nvSpPr>
          <p:cNvPr id="17" name="Shape 14"/>
          <p:cNvSpPr/>
          <p:nvPr/>
        </p:nvSpPr>
        <p:spPr>
          <a:xfrm>
            <a:off x="457200" y="1810512"/>
            <a:ext cx="11274552" cy="384048"/>
          </a:xfrm>
          <a:prstGeom prst="rect">
            <a:avLst/>
          </a:prstGeom>
          <a:solidFill>
            <a:srgbClr val="1B3B6F"/>
          </a:solidFill>
          <a:ln w="12700">
            <a:solidFill>
              <a:srgbClr val="1B3B6F"/>
            </a:solidFill>
            <a:prstDash val="solid"/>
          </a:ln>
        </p:spPr>
      </p:sp>
      <p:sp>
        <p:nvSpPr>
          <p:cNvPr id="18" name="Text 15"/>
          <p:cNvSpPr txBox="1"/>
          <p:nvPr/>
        </p:nvSpPr>
        <p:spPr>
          <a:xfrm>
            <a:off x="80558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 · Thesis / evidence</a:t>
            </a:r>
            <a:endParaRPr lang="en-US" sz="1100" dirty="0"/>
          </a:p>
        </p:txBody>
      </p:sp>
      <p:sp>
        <p:nvSpPr>
          <p:cNvPr id="19" name="Text 16"/>
          <p:cNvSpPr txBox="1"/>
          <p:nvPr/>
        </p:nvSpPr>
        <p:spPr>
          <a:xfrm>
            <a:off x="430682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 · Concession + refutation</a:t>
            </a:r>
            <a:endParaRPr lang="en-US" sz="1100" dirty="0"/>
          </a:p>
        </p:txBody>
      </p:sp>
      <p:sp>
        <p:nvSpPr>
          <p:cNvPr id="20" name="Text 17"/>
          <p:cNvSpPr txBox="1"/>
          <p:nvPr/>
        </p:nvSpPr>
        <p:spPr>
          <a:xfrm>
            <a:off x="53035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 · Conclusion</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8074152" y="2267712"/>
            <a:ext cx="3566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يُشَارُ إِلَى أَنَّ الهِجْرَةَ تُثْرِي المُجْتَمَعَاتِ أَكْثَرَ مِمَّا تُضْعِفُهَا</a:t>
            </a:r>
            <a:endParaRPr lang="ar-SA" sz="1400" dirty="0"/>
          </a:p>
        </p:txBody>
      </p:sp>
      <p:sp>
        <p:nvSpPr>
          <p:cNvPr id="23" name="Text 20"/>
          <p:cNvSpPr txBox="1"/>
          <p:nvPr/>
        </p:nvSpPr>
        <p:spPr>
          <a:xfrm>
            <a:off x="4325112" y="2267712"/>
            <a:ext cx="3566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صَحِيحٌ أَنَّ الانْدِمَاجَ يَسْتَغْرِقُ وَقْتًا، غَيْرَ أَنَّ العَائِدَ يَفُوقُ التَّكْلِفَةَ</a:t>
            </a:r>
            <a:endParaRPr lang="ar-SA" sz="1400" dirty="0"/>
          </a:p>
        </p:txBody>
      </p:sp>
      <p:sp>
        <p:nvSpPr>
          <p:cNvPr id="24" name="Text 21"/>
          <p:cNvSpPr txBox="1"/>
          <p:nvPr/>
        </p:nvSpPr>
        <p:spPr>
          <a:xfrm>
            <a:off x="548640" y="2267712"/>
            <a:ext cx="3593592"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وَبِنَاءً عَلَى مَا سَبَقَ، يَتَطَلَّبُ التَّقَدُّمُ أَنْ تَسْتَثْمِرَ الحُكُومَاتُ فِي الإِنْسَانِ</a:t>
            </a:r>
            <a:endParaRPr lang="ar-SA" sz="1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074152" y="3054096"/>
            <a:ext cx="3566160"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أَكَّدَ البَاحِثُونَ أَنَّ التَّنَوُّعَ الثَّقَافِيَّ يَرْفَعُ الإِنْتَاجِيَّةَ</a:t>
            </a:r>
            <a:endParaRPr lang="ar-SA" sz="1500" dirty="0"/>
          </a:p>
        </p:txBody>
      </p:sp>
      <p:sp>
        <p:nvSpPr>
          <p:cNvPr id="29" name="Text 26"/>
          <p:cNvSpPr txBox="1"/>
          <p:nvPr/>
        </p:nvSpPr>
        <p:spPr>
          <a:xfrm>
            <a:off x="4325112" y="3054096"/>
            <a:ext cx="3566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صَحِيحٌ أَنَّ التِّقْنِيَّةَ تُوَفِّرُ فُرَصًا، غَيْرَ أَنَّ الفَجْوَةَ الرَّقْمِيَّةَ قَائِمَةٌ</a:t>
            </a:r>
            <a:endParaRPr lang="ar-SA" sz="1400" dirty="0"/>
          </a:p>
        </p:txBody>
      </p:sp>
      <p:sp>
        <p:nvSpPr>
          <p:cNvPr id="30" name="Text 27"/>
          <p:cNvSpPr txBox="1"/>
          <p:nvPr/>
        </p:nvSpPr>
        <p:spPr>
          <a:xfrm>
            <a:off x="548640" y="3054096"/>
            <a:ext cx="359359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وَخُلَاصَةُ القَوْلِ، لَا عَدَالَةَ اجْتِمَاعِيَّةً دُونَ تَكَافُؤِ الفُرَصِ</a:t>
            </a:r>
            <a:endParaRPr lang="ar-SA" sz="150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074152" y="3840480"/>
            <a:ext cx="3566160" cy="731520"/>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34" charset="0"/>
                <a:ea typeface="Amiri" pitchFamily="34" charset="-122"/>
                <a:cs typeface="Amiri" pitchFamily="34" charset="-120"/>
              </a:rPr>
              <a:t>يُشَارُ إِلَى أَنَّ تَمْكِينَ الشَّبَابِ مِفْتَاحُ التَّغْيِيرِ الاجْتِمَاعِيِّ</a:t>
            </a:r>
            <a:endParaRPr lang="ar-SA" sz="1450" dirty="0"/>
          </a:p>
        </p:txBody>
      </p:sp>
      <p:sp>
        <p:nvSpPr>
          <p:cNvPr id="33" name="Text 30"/>
          <p:cNvSpPr txBox="1"/>
          <p:nvPr/>
        </p:nvSpPr>
        <p:spPr>
          <a:xfrm>
            <a:off x="4325112" y="3840480"/>
            <a:ext cx="3566160"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بِالرَّغْمِ مِنَ التَّحَدِّيَاتِ، فَإِنَّ الفُرَصَ أَكْبَرُ بِكَثِيرٍ</a:t>
            </a:r>
            <a:endParaRPr lang="ar-SA" sz="1500" dirty="0"/>
          </a:p>
        </p:txBody>
      </p:sp>
      <p:sp>
        <p:nvSpPr>
          <p:cNvPr id="34" name="Text 31"/>
          <p:cNvSpPr txBox="1"/>
          <p:nvPr/>
        </p:nvSpPr>
        <p:spPr>
          <a:xfrm>
            <a:off x="548640" y="3840480"/>
            <a:ext cx="3593592"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وَفِي ضَوْءِ مَا سَبَقَ، يَبْقَى تَمْكِينُ الشَّبَابِ أَوْلَوِيَّةً لَا غِنَى عَنْهَا</a:t>
            </a:r>
            <a:endParaRPr lang="ar-SA" sz="14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Pick one from each column — any combination is accurate. Say it, then write three different versions.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Thesis, balance — or conclusion?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P5-L09</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يُشَارُ إِلَى أَنَّ الهِجْرَةَ تُثْرِي المُجْتَمَعَاتِ</a:t>
            </a:r>
            <a:endParaRPr lang="ar-SA" sz="15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أَكَّدَ البَاحِثُونَ أَنَّ التَّنَوُّعَ يَرْفَعُ الإِنْتَاجِيَّةَ</a:t>
            </a:r>
            <a:endParaRPr lang="ar-SA" sz="135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250" b="1" dirty="0">
                <a:solidFill>
                  <a:srgbClr val="1B3B6F"/>
                </a:solidFill>
                <a:latin typeface="Amiri" pitchFamily="34" charset="0"/>
                <a:ea typeface="Amiri" pitchFamily="34" charset="-122"/>
                <a:cs typeface="Amiri" pitchFamily="34" charset="-120"/>
              </a:rPr>
              <a:t>يُشَارُ إِلَى أَنَّ الفَجْوَةَ الرَّقْمِيَّةَ تُعَمِّقُ التَّفَاوُتَ</a:t>
            </a:r>
            <a:endParaRPr lang="ar-SA" sz="125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lnSpc>
                <a:spcPct val="120000"/>
              </a:lnSpc>
              <a:buNone/>
            </a:pPr>
            <a:r>
              <a:rPr lang="ar-SA" altLang="en-US" sz="1100" b="1" dirty="0">
                <a:solidFill>
                  <a:srgbClr val="1B3B6F"/>
                </a:solidFill>
                <a:latin typeface="Amiri" pitchFamily="34" charset="0"/>
                <a:ea typeface="Amiri" pitchFamily="34" charset="-122"/>
                <a:cs typeface="Amiri" pitchFamily="34" charset="-120"/>
              </a:rPr>
              <a:t>صَحِيحٌ أَنَّ الانْدِمَاجَ يَسْتَغْرِقُ وَقْتًا، غَيْرَ أَنَّ العَائِدَ أَكْبَرُ</a:t>
            </a:r>
            <a:endParaRPr lang="ar-SA" sz="11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lnSpc>
                <a:spcPct val="120000"/>
              </a:lnSpc>
              <a:buNone/>
            </a:pPr>
            <a:r>
              <a:rPr lang="ar-SA" altLang="en-US" sz="1100" b="1" dirty="0">
                <a:solidFill>
                  <a:srgbClr val="1B3B6F"/>
                </a:solidFill>
                <a:latin typeface="Amiri" pitchFamily="34" charset="0"/>
                <a:ea typeface="Amiri" pitchFamily="34" charset="-122"/>
                <a:cs typeface="Amiri" pitchFamily="34" charset="-120"/>
              </a:rPr>
              <a:t>صَحِيحٌ أَنَّ التِّقْنِيَّةَ تُوَفِّرُ فُرَصًا، غَيْرَ أَنَّ الفَجْوَةَ قَائِمَةٌ</a:t>
            </a:r>
            <a:endParaRPr lang="ar-SA" sz="11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بِالرَّغْمِ مِنَ التَّقَدُّمِ، تَبْقَى تَحَدِّيَاتٌ</a:t>
            </a:r>
            <a:endParaRPr lang="ar-SA" sz="17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lnSpc>
                <a:spcPct val="120000"/>
              </a:lnSpc>
              <a:buNone/>
            </a:pPr>
            <a:r>
              <a:rPr lang="ar-SA" altLang="en-US" sz="1100" b="1" dirty="0">
                <a:solidFill>
                  <a:srgbClr val="1B3B6F"/>
                </a:solidFill>
                <a:latin typeface="Amiri" pitchFamily="34" charset="0"/>
                <a:ea typeface="Amiri" pitchFamily="34" charset="-122"/>
                <a:cs typeface="Amiri" pitchFamily="34" charset="-120"/>
              </a:rPr>
              <a:t>وَبِنَاءً عَلَى مَا سَبَقَ، يَتَطَلَّبُ التَّقَدُّمُ أَنْ نَسْتَثْمِرَ فِي الإِنْسَانِ</a:t>
            </a:r>
            <a:endParaRPr lang="ar-SA" sz="11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وَخُلَاصَةُ القَوْلِ، لَا عَدَالَةَ دُونَ تَكَافُؤِ الفُرَصِ</a:t>
            </a:r>
            <a:endParaRPr lang="ar-SA" sz="13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250" b="1" dirty="0">
                <a:solidFill>
                  <a:srgbClr val="1B3B6F"/>
                </a:solidFill>
                <a:latin typeface="Amiri" pitchFamily="34" charset="0"/>
                <a:ea typeface="Amiri" pitchFamily="34" charset="-122"/>
                <a:cs typeface="Amiri" pitchFamily="34" charset="-120"/>
              </a:rPr>
              <a:t>وَفِي ضَوْءِ مَا سَبَقَ، يَبْقَى تَمْكِينُ الشَّبَابِ أَوْلَوِيَّةً</a:t>
            </a:r>
            <a:endParaRPr lang="ar-SA" sz="125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thesis / evidence</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concession + refutation</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conclusion</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P5-L09</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thesis / evidence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يُشَارُ إِلَى أَنَّ الهِجْرَةَ تُثْرِي المُجْتَمَعَاتِ</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34" charset="0"/>
                <a:ea typeface="Amiri" pitchFamily="34" charset="-122"/>
                <a:cs typeface="Amiri" pitchFamily="34" charset="-120"/>
              </a:rPr>
              <a:t>أَكَّدَ البَاحِثُونَ أَنَّ التَّنَوُّعَ يَرْفَعُ الإِنْتَاجِيَّةَ</a:t>
            </a:r>
            <a:endParaRPr lang="ar-SA" sz="165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يُشَارُ إِلَى أَنَّ الفَجْوَةَ الرَّقْمِيَّةَ تُعَمِّقُ التَّفَاوُتَ</a:t>
            </a:r>
            <a:endParaRPr lang="ar-SA" sz="16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concession + refutation</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صَحِيحٌ أَنَّ الانْدِمَاجَ يَسْتَغْرِقُ وَقْتًا، غَيْرَ أَنَّ العَائِدَ أَكْبَرُ</a:t>
            </a:r>
            <a:endParaRPr lang="ar-SA" sz="13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صَحِيحٌ أَنَّ التِّقْنِيَّةَ تُوَفِّرُ فُرَصًا، غَيْرَ أَنَّ الفَجْوَةَ قَائِمَةٌ</a:t>
            </a:r>
            <a:endParaRPr lang="ar-SA" sz="135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بِالرَّغْمِ مِنَ التَّقَدُّمِ، تَبْقَى تَحَدِّيَاتٌ</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conclusion</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200" b="1" dirty="0">
                <a:solidFill>
                  <a:srgbClr val="1B3B6F"/>
                </a:solidFill>
                <a:latin typeface="Amiri" pitchFamily="34" charset="0"/>
                <a:ea typeface="Amiri" pitchFamily="34" charset="-122"/>
                <a:cs typeface="Amiri" pitchFamily="34" charset="-120"/>
              </a:rPr>
              <a:t>وَبِنَاءً عَلَى مَا سَبَقَ، يَتَطَلَّبُ التَّقَدُّمُ أَنْ نَسْتَثْمِرَ فِي الإِنْسَانِ</a:t>
            </a:r>
            <a:endParaRPr lang="ar-SA" sz="12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34" charset="0"/>
                <a:ea typeface="Amiri" pitchFamily="34" charset="-122"/>
                <a:cs typeface="Amiri" pitchFamily="34" charset="-120"/>
              </a:rPr>
              <a:t>وَخُلَاصَةُ القَوْلِ، لَا عَدَالَةَ دُونَ تَكَافُؤِ الفُرَصِ</a:t>
            </a:r>
            <a:endParaRPr lang="ar-SA" sz="165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34" charset="0"/>
                <a:ea typeface="Amiri" pitchFamily="34" charset="-122"/>
                <a:cs typeface="Amiri" pitchFamily="34" charset="-120"/>
              </a:rPr>
              <a:t>وَفِي ضَوْءِ مَا سَبَقَ، يَبْقَى تَمْكِينُ الشَّبَابِ أَوْلَوِيَّةً</a:t>
            </a:r>
            <a:endParaRPr lang="ar-SA" sz="15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concession:</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100" b="1" dirty="0">
                <a:solidFill>
                  <a:srgbClr val="1F2A37"/>
                </a:solidFill>
                <a:latin typeface="Amiri" pitchFamily="34" charset="0"/>
                <a:ea typeface="Amiri" pitchFamily="34" charset="-122"/>
                <a:cs typeface="Amiri" pitchFamily="34" charset="-120"/>
              </a:rPr>
              <a:t>صَحِيحٌ أَنَّ الانْدِمَاجَ ___ وَقْتًا، غَيْرَ أَنَّ العَائِدَ أَكْبَرُ.</a:t>
            </a:r>
            <a:endParaRPr lang="ar-SA" sz="11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يَسْتَغْرِقَ</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لِيَسْتَغْرِقْ</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يَسْتَغْرِقُ</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conclusion:</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وَبِنَاءً عَلَى مَا سَبَقَ، يَتَطَلَّبُ التَّقَدُّمُ أَنْ ___ الحُكُومَاتُ فِي الإِنْسَانِ.</a:t>
            </a:r>
            <a:endParaRPr lang="ar-SA" sz="1000" dirty="0"/>
          </a:p>
        </p:txBody>
      </p:sp>
      <p:sp>
        <p:nvSpPr>
          <p:cNvPr id="36" name="Shape 33"/>
          <p:cNvSpPr/>
          <p:nvPr/>
        </p:nvSpPr>
        <p:spPr>
          <a:xfrm>
            <a:off x="6368796"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تَسْتَثْمِرُ</a:t>
            </a:r>
            <a:endParaRPr lang="ar-SA" sz="2050" dirty="0"/>
          </a:p>
        </p:txBody>
      </p:sp>
      <p:sp>
        <p:nvSpPr>
          <p:cNvPr id="39" name="Shape 36"/>
          <p:cNvSpPr/>
          <p:nvPr/>
        </p:nvSpPr>
        <p:spPr>
          <a:xfrm>
            <a:off x="6368796"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تَسْتَثْمِرَ</a:t>
            </a:r>
            <a:endParaRPr lang="ar-SA" sz="2050" dirty="0"/>
          </a:p>
        </p:txBody>
      </p:sp>
      <p:sp>
        <p:nvSpPr>
          <p:cNvPr id="42" name="Shape 39"/>
          <p:cNvSpPr/>
          <p:nvPr/>
        </p:nvSpPr>
        <p:spPr>
          <a:xfrm>
            <a:off x="6368796"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تَسْتَثْمِرْ</a:t>
            </a:r>
            <a:endParaRPr lang="ar-SA" sz="2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Type 2:</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لَوْ فُتِحَتِ الأَبْوَابُ مُبَكِّرًا، ___ الأَزْمَةَ.</a:t>
            </a:r>
            <a:endParaRPr lang="ar-SA" sz="1450" dirty="0"/>
          </a:p>
        </p:txBody>
      </p:sp>
      <p:sp>
        <p:nvSpPr>
          <p:cNvPr id="50" name="Shape 47"/>
          <p:cNvSpPr/>
          <p:nvPr/>
        </p:nvSpPr>
        <p:spPr>
          <a:xfrm>
            <a:off x="640080" y="48737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سَنَتَجَنَّبُ</a:t>
            </a:r>
            <a:endParaRPr lang="ar-SA" sz="2050" dirty="0"/>
          </a:p>
        </p:txBody>
      </p:sp>
      <p:sp>
        <p:nvSpPr>
          <p:cNvPr id="53" name="Shape 50"/>
          <p:cNvSpPr/>
          <p:nvPr/>
        </p:nvSpPr>
        <p:spPr>
          <a:xfrm>
            <a:off x="640080" y="53309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لَتَجَنَّبْنَا</a:t>
            </a:r>
            <a:endParaRPr lang="ar-SA" sz="2050" dirty="0"/>
          </a:p>
        </p:txBody>
      </p:sp>
      <p:sp>
        <p:nvSpPr>
          <p:cNvPr id="56" name="Shape 53"/>
          <p:cNvSpPr/>
          <p:nvPr/>
        </p:nvSpPr>
        <p:spPr>
          <a:xfrm>
            <a:off x="640080" y="5788152"/>
            <a:ext cx="256032" cy="256032"/>
          </a:xfrm>
          <a:prstGeom prst="ellipse">
            <a:avLst/>
          </a:prstGeom>
          <a:solidFill>
            <a:srgbClr val="F4F1EA"/>
          </a:solidFill>
          <a:ln w="12700">
            <a:solidFill>
              <a:srgbClr val="F4F1EA"/>
            </a:solidFill>
            <a:prstDash val="solid"/>
          </a:ln>
        </p:spPr>
      </p:sp>
      <p:sp>
        <p:nvSpPr>
          <p:cNvPr id="57" name="Text 5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نَتَجَنَّبُ</a:t>
            </a:r>
            <a:endParaRPr lang="ar-SA" sz="2050" dirty="0"/>
          </a:p>
        </p:txBody>
      </p:sp>
      <p:sp>
        <p:nvSpPr>
          <p:cNvPr id="59" name="Shape 56"/>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6313932" y="4288536"/>
            <a:ext cx="310896" cy="310896"/>
          </a:xfrm>
          <a:prstGeom prst="ellipse">
            <a:avLst/>
          </a:prstGeom>
          <a:solidFill>
            <a:srgbClr val="1B3B6F"/>
          </a:solidFill>
          <a:ln w="12700">
            <a:solidFill>
              <a:srgbClr val="1B3B6F"/>
            </a:solidFill>
            <a:prstDash val="solid"/>
          </a:ln>
        </p:spPr>
      </p:sp>
      <p:sp>
        <p:nvSpPr>
          <p:cNvPr id="61" name="Text 58"/>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2" name="Text 59"/>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genuine thesis, not just a topic?</a:t>
            </a:r>
            <a:endParaRPr lang="en-US" sz="1250" dirty="0"/>
          </a:p>
        </p:txBody>
      </p:sp>
      <p:sp>
        <p:nvSpPr>
          <p:cNvPr id="63" name="Shape 60"/>
          <p:cNvSpPr/>
          <p:nvPr/>
        </p:nvSpPr>
        <p:spPr>
          <a:xfrm>
            <a:off x="6368796" y="48737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5" name="Text 62"/>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الهِجْرَةُ مَوْضُوعٌ مُهِمٌّ.</a:t>
            </a:r>
            <a:endParaRPr lang="ar-SA" sz="2050" dirty="0"/>
          </a:p>
        </p:txBody>
      </p:sp>
      <p:sp>
        <p:nvSpPr>
          <p:cNvPr id="66" name="Shape 63"/>
          <p:cNvSpPr/>
          <p:nvPr/>
        </p:nvSpPr>
        <p:spPr>
          <a:xfrm>
            <a:off x="6368796" y="53309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8" name="Text 65"/>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سَأَتَحَدَّثُ عَنِ الهِجْرَةِ.</a:t>
            </a:r>
            <a:endParaRPr lang="ar-SA" sz="2050" dirty="0"/>
          </a:p>
        </p:txBody>
      </p:sp>
      <p:sp>
        <p:nvSpPr>
          <p:cNvPr id="69" name="Shape 66"/>
          <p:cNvSpPr/>
          <p:nvPr/>
        </p:nvSpPr>
        <p:spPr>
          <a:xfrm>
            <a:off x="6368796" y="5788152"/>
            <a:ext cx="256032" cy="256032"/>
          </a:xfrm>
          <a:prstGeom prst="ellipse">
            <a:avLst/>
          </a:prstGeom>
          <a:solidFill>
            <a:srgbClr val="F4F1EA"/>
          </a:solidFill>
          <a:ln w="12700">
            <a:solidFill>
              <a:srgbClr val="F4F1EA"/>
            </a:solidFill>
            <a:prstDash val="solid"/>
          </a:ln>
        </p:spPr>
      </p:sp>
      <p:sp>
        <p:nvSpPr>
          <p:cNvPr id="70" name="Text 67"/>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1" name="Text 68"/>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الهِجْرَةُ تُثْرِي المُجْتَمَعَاتِ أَكْثَرَ مِمَّا تُضْعِفُهَا.</a:t>
            </a:r>
            <a:endParaRPr lang="ar-SA" sz="20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concession:</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100" b="1" dirty="0">
                <a:solidFill>
                  <a:srgbClr val="1F2A37"/>
                </a:solidFill>
                <a:latin typeface="Amiri" pitchFamily="34" charset="0"/>
                <a:ea typeface="Amiri" pitchFamily="34" charset="-122"/>
                <a:cs typeface="Amiri" pitchFamily="34" charset="-120"/>
              </a:rPr>
              <a:t>صَحِيحٌ أَنَّ الانْدِمَاجَ ___ وَقْتًا، غَيْرَ أَنَّ العَائِدَ أَكْبَرُ.</a:t>
            </a:r>
            <a:endParaRPr lang="ar-SA" sz="11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يَسْتَغْرِقَ</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لِيَسْتَغْرِقْ</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يَسْتَغْرِقُ</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صَحِيحٌ أَنَّ</a:t>
            </a:r>
            <a:pPr algn="l" indent="0" marL="0">
              <a:buNone/>
            </a:pPr>
            <a:r>
              <a:rPr lang="en-US" sz="1050" i="1" dirty="0">
                <a:solidFill>
                  <a:srgbClr val="8A6D1E"/>
                </a:solidFill>
                <a:latin typeface="Calibri" pitchFamily="34" charset="0"/>
                <a:ea typeface="Calibri" pitchFamily="34" charset="-122"/>
                <a:cs typeface="Calibri" pitchFamily="34" charset="-120"/>
              </a:rPr>
              <a:t> the verb is indicative: </a:t>
            </a:r>
            <a:pPr algn="l" indent="0" marL="0">
              <a:buNone/>
            </a:pPr>
            <a:r>
              <a:rPr lang="ar-SA" altLang="en-US" sz="1350" dirty="0">
                <a:solidFill>
                  <a:srgbClr val="8A6D1E"/>
                </a:solidFill>
                <a:latin typeface="Amiri" pitchFamily="34" charset="0"/>
                <a:ea typeface="Amiri" pitchFamily="34" charset="-122"/>
                <a:cs typeface="Amiri" pitchFamily="34" charset="-120"/>
              </a:rPr>
              <a:t>يَسْتَغْرِقُ</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6" name="Text 33"/>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conclusion:</a:t>
            </a:r>
            <a:endParaRPr lang="en-US" sz="1200" dirty="0"/>
          </a:p>
        </p:txBody>
      </p:sp>
      <p:sp>
        <p:nvSpPr>
          <p:cNvPr id="37" name="Text 34"/>
          <p:cNvSpPr txBox="1"/>
          <p:nvPr/>
        </p:nvSpPr>
        <p:spPr>
          <a:xfrm>
            <a:off x="9052011" y="1883664"/>
            <a:ext cx="2570013"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وَبِنَاءً عَلَى مَا سَبَقَ، يَتَطَلَّبُ التَّقَدُّمُ أَنْ ___ الحُكُومَاتُ فِي الإِنْسَانِ.</a:t>
            </a:r>
            <a:endParaRPr lang="ar-SA" sz="1000" dirty="0"/>
          </a:p>
        </p:txBody>
      </p:sp>
      <p:sp>
        <p:nvSpPr>
          <p:cNvPr id="38" name="Shape 35"/>
          <p:cNvSpPr/>
          <p:nvPr/>
        </p:nvSpPr>
        <p:spPr>
          <a:xfrm>
            <a:off x="6368796" y="2490216"/>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0" name="Text 37"/>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تَسْتَثْمِرُ</a:t>
            </a:r>
            <a:endParaRPr lang="ar-SA" sz="1700" dirty="0"/>
          </a:p>
        </p:txBody>
      </p:sp>
      <p:sp>
        <p:nvSpPr>
          <p:cNvPr id="41" name="Shape 38"/>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2" name="Shape 39"/>
          <p:cNvSpPr/>
          <p:nvPr/>
        </p:nvSpPr>
        <p:spPr>
          <a:xfrm>
            <a:off x="6368796" y="2862072"/>
            <a:ext cx="256032" cy="256032"/>
          </a:xfrm>
          <a:prstGeom prst="ellipse">
            <a:avLst/>
          </a:prstGeom>
          <a:solidFill>
            <a:srgbClr val="2E8B57"/>
          </a:solidFill>
          <a:ln w="12700">
            <a:solidFill>
              <a:srgbClr val="2E8B57"/>
            </a:solidFill>
            <a:prstDash val="solid"/>
          </a:ln>
        </p:spPr>
      </p:sp>
      <p:sp>
        <p:nvSpPr>
          <p:cNvPr id="43" name="Text 4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4" name="Text 41"/>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تَسْتَثْمِرَ</a:t>
            </a:r>
            <a:endParaRPr lang="ar-SA" sz="1700" dirty="0"/>
          </a:p>
        </p:txBody>
      </p:sp>
      <p:sp>
        <p:nvSpPr>
          <p:cNvPr id="45" name="Shape 42"/>
          <p:cNvSpPr/>
          <p:nvPr/>
        </p:nvSpPr>
        <p:spPr>
          <a:xfrm>
            <a:off x="6368796" y="3233928"/>
            <a:ext cx="256032" cy="256032"/>
          </a:xfrm>
          <a:prstGeom prst="ellipse">
            <a:avLst/>
          </a:prstGeom>
          <a:solidFill>
            <a:srgbClr val="C9CED6"/>
          </a:solidFill>
          <a:ln w="12700">
            <a:solidFill>
              <a:srgbClr val="C9CED6"/>
            </a:solidFill>
            <a:prstDash val="solid"/>
          </a:ln>
        </p:spPr>
      </p:sp>
      <p:sp>
        <p:nvSpPr>
          <p:cNvPr id="46" name="Text 43"/>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7" name="Text 44"/>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تَسْتَثْمِرْ</a:t>
            </a:r>
            <a:endParaRPr lang="ar-SA" sz="1700" dirty="0"/>
          </a:p>
        </p:txBody>
      </p:sp>
      <p:sp>
        <p:nvSpPr>
          <p:cNvPr id="48" name="Text 45"/>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the verb is subjunctive: </a:t>
            </a:r>
            <a:pPr algn="l" indent="0" marL="0">
              <a:buNone/>
            </a:pPr>
            <a:r>
              <a:rPr lang="ar-SA" altLang="en-US" sz="1350" dirty="0">
                <a:solidFill>
                  <a:srgbClr val="8A6D1E"/>
                </a:solidFill>
                <a:latin typeface="Amiri" pitchFamily="34" charset="0"/>
                <a:ea typeface="Amiri" pitchFamily="34" charset="-122"/>
                <a:cs typeface="Amiri" pitchFamily="34" charset="-120"/>
              </a:rPr>
              <a:t>تَسْتَثْمِرَ</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9" name="Shape 46"/>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85216" y="4288536"/>
            <a:ext cx="310896" cy="310896"/>
          </a:xfrm>
          <a:prstGeom prst="ellipse">
            <a:avLst/>
          </a:prstGeom>
          <a:solidFill>
            <a:srgbClr val="1B3B6F"/>
          </a:solidFill>
          <a:ln w="12700">
            <a:solidFill>
              <a:srgbClr val="1B3B6F"/>
            </a:solidFill>
            <a:prstDash val="solid"/>
          </a:ln>
        </p:spPr>
      </p:sp>
      <p:sp>
        <p:nvSpPr>
          <p:cNvPr id="51" name="Text 4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2" name="Text 49"/>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Type 2:</a:t>
            </a:r>
            <a:endParaRPr lang="en-US" sz="1200" dirty="0"/>
          </a:p>
        </p:txBody>
      </p:sp>
      <p:sp>
        <p:nvSpPr>
          <p:cNvPr id="53" name="Text 50"/>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لَوْ فُتِحَتِ الأَبْوَابُ مُبَكِّرًا، ___ الأَزْمَةَ.</a:t>
            </a:r>
            <a:endParaRPr lang="ar-SA" sz="1450" dirty="0"/>
          </a:p>
        </p:txBody>
      </p:sp>
      <p:sp>
        <p:nvSpPr>
          <p:cNvPr id="54" name="Shape 51"/>
          <p:cNvSpPr/>
          <p:nvPr/>
        </p:nvSpPr>
        <p:spPr>
          <a:xfrm>
            <a:off x="640080" y="4831080"/>
            <a:ext cx="256032" cy="256032"/>
          </a:xfrm>
          <a:prstGeom prst="ellipse">
            <a:avLst/>
          </a:prstGeom>
          <a:solidFill>
            <a:srgbClr val="C9CED6"/>
          </a:solidFill>
          <a:ln w="12700">
            <a:solidFill>
              <a:srgbClr val="C9CED6"/>
            </a:solidFill>
            <a:prstDash val="solid"/>
          </a:ln>
        </p:spPr>
      </p:sp>
      <p:sp>
        <p:nvSpPr>
          <p:cNvPr id="55" name="Text 5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6" name="Text 53"/>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سَنَتَجَنَّبُ</a:t>
            </a:r>
            <a:endParaRPr lang="ar-SA" sz="1700" dirty="0"/>
          </a:p>
        </p:txBody>
      </p:sp>
      <p:sp>
        <p:nvSpPr>
          <p:cNvPr id="57" name="Shape 54"/>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8" name="Shape 55"/>
          <p:cNvSpPr/>
          <p:nvPr/>
        </p:nvSpPr>
        <p:spPr>
          <a:xfrm>
            <a:off x="640080" y="5202936"/>
            <a:ext cx="256032" cy="256032"/>
          </a:xfrm>
          <a:prstGeom prst="ellipse">
            <a:avLst/>
          </a:prstGeom>
          <a:solidFill>
            <a:srgbClr val="2E8B57"/>
          </a:solidFill>
          <a:ln w="12700">
            <a:solidFill>
              <a:srgbClr val="2E8B57"/>
            </a:solidFill>
            <a:prstDash val="solid"/>
          </a:ln>
        </p:spPr>
      </p:sp>
      <p:sp>
        <p:nvSpPr>
          <p:cNvPr id="59" name="Text 5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60" name="Text 57"/>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لَتَجَنَّبْنَا</a:t>
            </a:r>
            <a:endParaRPr lang="ar-SA" sz="1700" dirty="0"/>
          </a:p>
        </p:txBody>
      </p:sp>
      <p:sp>
        <p:nvSpPr>
          <p:cNvPr id="61" name="Shape 58"/>
          <p:cNvSpPr/>
          <p:nvPr/>
        </p:nvSpPr>
        <p:spPr>
          <a:xfrm>
            <a:off x="640080" y="5574792"/>
            <a:ext cx="256032" cy="256032"/>
          </a:xfrm>
          <a:prstGeom prst="ellipse">
            <a:avLst/>
          </a:prstGeom>
          <a:solidFill>
            <a:srgbClr val="C9CED6"/>
          </a:solidFill>
          <a:ln w="12700">
            <a:solidFill>
              <a:srgbClr val="C9CED6"/>
            </a:solidFill>
            <a:prstDash val="solid"/>
          </a:ln>
        </p:spPr>
      </p:sp>
      <p:sp>
        <p:nvSpPr>
          <p:cNvPr id="62" name="Text 5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3" name="Text 60"/>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نَتَجَنَّبُ</a:t>
            </a:r>
            <a:endParaRPr lang="ar-SA" sz="1700" dirty="0"/>
          </a:p>
        </p:txBody>
      </p:sp>
      <p:sp>
        <p:nvSpPr>
          <p:cNvPr id="64" name="Text 61"/>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Type 2 result takes the </a:t>
            </a:r>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 prefix.</a:t>
            </a:r>
            <a:endParaRPr lang="en-US" sz="1050" dirty="0"/>
          </a:p>
        </p:txBody>
      </p:sp>
      <p:sp>
        <p:nvSpPr>
          <p:cNvPr id="65" name="Shape 6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6313932" y="4288536"/>
            <a:ext cx="310896" cy="310896"/>
          </a:xfrm>
          <a:prstGeom prst="ellipse">
            <a:avLst/>
          </a:prstGeom>
          <a:solidFill>
            <a:srgbClr val="1B3B6F"/>
          </a:solidFill>
          <a:ln w="12700">
            <a:solidFill>
              <a:srgbClr val="1B3B6F"/>
            </a:solidFill>
            <a:prstDash val="solid"/>
          </a:ln>
        </p:spPr>
      </p:sp>
      <p:sp>
        <p:nvSpPr>
          <p:cNvPr id="67" name="Text 6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8" name="Text 6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genuine thesis, not just a topic?</a:t>
            </a:r>
            <a:endParaRPr lang="en-US" sz="1250" dirty="0"/>
          </a:p>
        </p:txBody>
      </p:sp>
      <p:sp>
        <p:nvSpPr>
          <p:cNvPr id="69" name="Shape 66"/>
          <p:cNvSpPr/>
          <p:nvPr/>
        </p:nvSpPr>
        <p:spPr>
          <a:xfrm>
            <a:off x="6368796" y="4831080"/>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1" name="Text 68"/>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الهِجْرَةُ مَوْضُوعٌ مُهِمٌّ.</a:t>
            </a:r>
            <a:endParaRPr lang="ar-SA" sz="1700" dirty="0"/>
          </a:p>
        </p:txBody>
      </p:sp>
      <p:sp>
        <p:nvSpPr>
          <p:cNvPr id="72" name="Shape 69"/>
          <p:cNvSpPr/>
          <p:nvPr/>
        </p:nvSpPr>
        <p:spPr>
          <a:xfrm>
            <a:off x="6368796" y="5202936"/>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4" name="Text 71"/>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سَأَتَحَدَّثُ عَنِ الهِجْرَةِ.</a:t>
            </a:r>
            <a:endParaRPr lang="ar-SA" sz="1700" dirty="0"/>
          </a:p>
        </p:txBody>
      </p:sp>
      <p:sp>
        <p:nvSpPr>
          <p:cNvPr id="75" name="Shape 72"/>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6" name="Shape 73"/>
          <p:cNvSpPr/>
          <p:nvPr/>
        </p:nvSpPr>
        <p:spPr>
          <a:xfrm>
            <a:off x="6368796" y="5574792"/>
            <a:ext cx="256032" cy="256032"/>
          </a:xfrm>
          <a:prstGeom prst="ellipse">
            <a:avLst/>
          </a:prstGeom>
          <a:solidFill>
            <a:srgbClr val="2E8B57"/>
          </a:solidFill>
          <a:ln w="12700">
            <a:solidFill>
              <a:srgbClr val="2E8B57"/>
            </a:solidFill>
            <a:prstDash val="solid"/>
          </a:ln>
        </p:spPr>
      </p:sp>
      <p:sp>
        <p:nvSpPr>
          <p:cNvPr id="77" name="Text 74"/>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8" name="Text 75"/>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الهِجْرَةُ تُثْرِي المُجْتَمَعَاتِ أَكْثَرَ مِمَّا تُضْعِفُهَا.</a:t>
            </a:r>
            <a:endParaRPr lang="ar-SA" sz="1700" dirty="0"/>
          </a:p>
        </p:txBody>
      </p:sp>
      <p:sp>
        <p:nvSpPr>
          <p:cNvPr id="79" name="Text 76"/>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thesis states a position, not just names a topic.</a:t>
            </a:r>
            <a:endParaRPr lang="en-US" sz="10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2800" b="1" dirty="0">
                <a:solidFill>
                  <a:srgbClr val="B83227"/>
                </a:solidFill>
                <a:latin typeface="Amiri" pitchFamily="34" charset="0"/>
                <a:ea typeface="Amiri" pitchFamily="34" charset="-122"/>
                <a:cs typeface="Amiri" pitchFamily="34" charset="-120"/>
              </a:rPr>
              <a:t>صَحِيحٌ أَنَّ الانْدِمَاجَ يَسْتَغْرِقَ وَقْتًا، غَيْرَ أَنَّ العَائِدَ أَكْبَرُ.</a:t>
            </a:r>
            <a:endParaRPr lang="ar-SA" sz="28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ṣaḥīḥun anna … yastaghriqa?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صَحِيحٌ أَنَّ الانْدِمَاجَ يَسْتَغْرِقُ وَقْتًا، وَالعَائِدُ أَكْبَرُ.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t>
            </a:r>
            <a:pPr algn="l" indent="0" marL="0">
              <a:buNone/>
            </a:pPr>
            <a:r>
              <a:rPr lang="ar-SA" altLang="en-US" sz="1700" dirty="0">
                <a:solidFill>
                  <a:srgbClr val="5A6472"/>
                </a:solidFill>
                <a:latin typeface="Amiri" pitchFamily="34" charset="0"/>
                <a:ea typeface="Amiri" pitchFamily="34" charset="-122"/>
                <a:cs typeface="Amiri" pitchFamily="34" charset="-120"/>
              </a:rPr>
              <a:t>،</a:t>
            </a:r>
            <a:pPr algn="l" indent="0" marL="0">
              <a:buNone/>
            </a:pPr>
            <a:r>
              <a:rPr lang="en-US" sz="1300" i="1" dirty="0">
                <a:solidFill>
                  <a:srgbClr val="5A6472"/>
                </a:solidFill>
                <a:latin typeface="Calibri" pitchFamily="34" charset="0"/>
                <a:ea typeface="Calibri" pitchFamily="34" charset="-122"/>
                <a:cs typeface="Calibri" pitchFamily="34" charset="-120"/>
              </a:rPr>
              <a:t> wa-l-ʿāʾidu akbaru?</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وَأَخِيرًا، يَجِبُ الاسْتِثْمَارُ فِي الإِنْسَانِ.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wa-akhīran, yajibu …?</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48</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صَحِيحٌ أَنَّ الانْدِمَاجَ يَسْتَغْرِقَ وَقْتًا، غَيْرَ أَنَّ العَائِدَ أَكْبَرُ.</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34" charset="0"/>
                <a:ea typeface="Amiri" pitchFamily="34" charset="-122"/>
                <a:cs typeface="Amiri" pitchFamily="34" charset="-120"/>
              </a:rPr>
              <a:t>صَحِيحٌ أَنَّ الانْدِمَاجَ يَسْتَغْرِقُ وَقْتًا، غَيْرَ أَنَّ العَائِدَ أَكْبَرُ.</a:t>
            </a:r>
            <a:endParaRPr lang="ar-SA" sz="21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a:t>
            </a:r>
            <a:pPr algn="l" indent="0" marL="0">
              <a:buNone/>
            </a:pPr>
            <a:r>
              <a:rPr lang="ar-SA" altLang="en-US" sz="1500" b="1" dirty="0">
                <a:solidFill>
                  <a:srgbClr val="1B3B6F"/>
                </a:solidFill>
                <a:latin typeface="Amiri" pitchFamily="34" charset="0"/>
                <a:ea typeface="Amiri" pitchFamily="34" charset="-122"/>
                <a:cs typeface="Amiri" pitchFamily="34" charset="-120"/>
              </a:rPr>
              <a:t>صَحِيحٌ أَنَّ</a:t>
            </a:r>
            <a:pPr algn="l" indent="0" marL="0">
              <a:buNone/>
            </a:pPr>
            <a:r>
              <a:rPr lang="en-US" sz="1150" b="1" dirty="0">
                <a:solidFill>
                  <a:srgbClr val="1B3B6F"/>
                </a:solidFill>
                <a:latin typeface="Calibri" pitchFamily="34" charset="0"/>
                <a:ea typeface="Calibri" pitchFamily="34" charset="-122"/>
                <a:cs typeface="Calibri" pitchFamily="34" charset="-120"/>
              </a:rPr>
              <a:t> the verb is indicative: </a:t>
            </a:r>
            <a:pPr algn="l" indent="0" marL="0">
              <a:buNone/>
            </a:pPr>
            <a:r>
              <a:rPr lang="ar-SA" altLang="en-US" sz="1500" b="1" dirty="0">
                <a:solidFill>
                  <a:srgbClr val="1B3B6F"/>
                </a:solidFill>
                <a:latin typeface="Amiri" pitchFamily="34" charset="0"/>
                <a:ea typeface="Amiri" pitchFamily="34" charset="-122"/>
                <a:cs typeface="Amiri" pitchFamily="34" charset="-120"/>
              </a:rPr>
              <a:t>يَسْتَغْرِقُ</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صَحِيحٌ أَنَّ الانْدِمَاجَ يَسْتَغْرِقُ وَقْتًا، وَالعَائِدُ أَكْبَرُ.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34" charset="0"/>
                <a:ea typeface="Amiri" pitchFamily="34" charset="-122"/>
                <a:cs typeface="Amiri" pitchFamily="34" charset="-120"/>
              </a:rPr>
              <a:t>صَحِيحٌ أَنَّ الانْدِمَاجَ يَسْتَغْرِقُ وَقْتًا، غَيْرَ أَنَّ العَائِدَ أَكْبَرُ.</a:t>
            </a:r>
            <a:endParaRPr lang="ar-SA" sz="21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concession must be answered by a refutation connector (</a:t>
            </a:r>
            <a:pPr algn="l" indent="0" marL="0">
              <a:buNone/>
            </a:pPr>
            <a:r>
              <a:rPr lang="ar-SA" altLang="en-US" sz="1500" b="1" dirty="0">
                <a:solidFill>
                  <a:srgbClr val="1B3B6F"/>
                </a:solidFill>
                <a:latin typeface="Amiri" pitchFamily="34" charset="0"/>
                <a:ea typeface="Amiri" pitchFamily="34" charset="-122"/>
                <a:cs typeface="Amiri" pitchFamily="34" charset="-120"/>
              </a:rPr>
              <a:t>غَيْرَ أَنَّ</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وَأَخِيرًا، يَجِبُ الاسْتِثْمَارُ فِي الإِنْسَانِ.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34" charset="0"/>
                <a:ea typeface="Amiri" pitchFamily="34" charset="-122"/>
                <a:cs typeface="Amiri" pitchFamily="34" charset="-120"/>
              </a:rPr>
              <a:t>وَبِنَاءً عَلَى مَا سَبَقَ، يَتَطَلَّبُ التَّقَدُّمُ أَنْ تَسْتَثْمِرَ الحُكُومَاتُ فِي الإِنْسَانِ.</a:t>
            </a:r>
            <a:endParaRPr lang="ar-SA" sz="21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conclusion should use a formal connector and a subjunctive trigger, not a weak opener.</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48</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Listening: an examiner on the P5 essay</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is the P5 essay?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150 to 165 words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80 words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200 words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Task Completion reward?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word count only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topic only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argument structure: thesis → conclusion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grammar markers does Range reward?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Nine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mood follows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indicative (it describes a real situation)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subjunctive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jussive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should the essay close?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a new argument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a:t>
            </a:r>
            <a:pPr algn="l" indent="0" marL="0">
              <a:buNone/>
            </a:pPr>
            <a:r>
              <a:rPr lang="ar-SA" altLang="en-US" sz="1650" dirty="0">
                <a:solidFill>
                  <a:srgbClr val="1F2A37"/>
                </a:solidFill>
                <a:latin typeface="Amiri" pitchFamily="34" charset="0"/>
                <a:ea typeface="Amiri" pitchFamily="34" charset="-122"/>
                <a:cs typeface="Amiri" pitchFamily="34" charset="-120"/>
              </a:rPr>
              <a:t>وَبِنَاءً عَلَى مَا سَبَقَ</a:t>
            </a:r>
            <a:pPr algn="l" indent="0" marL="0">
              <a:buNone/>
            </a:pPr>
            <a:r>
              <a:rPr lang="en-US" sz="1250" dirty="0">
                <a:solidFill>
                  <a:srgbClr val="1F2A37"/>
                </a:solidFill>
                <a:latin typeface="Calibri" pitchFamily="34" charset="0"/>
                <a:ea typeface="Calibri" pitchFamily="34" charset="-122"/>
                <a:cs typeface="Calibri" pitchFamily="34" charset="-120"/>
              </a:rPr>
              <a:t> + a subjunctive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a question</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5.</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the word count · itmām al-muhimma · al-niṭāq · wa-bināʾan ʿalā mā sabaqa.</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48</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P5-L09</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فِي الوَرَقَةِ الرَّابِعَةِ، يَبْلُغُ نَصُّ هٰذِهِ الوَحْدَةِ مِئَةً وَخَمْسِينَ إِلَى مِئَةٍ وَخَمْسٍ وَسِتِّينَ كَلِمَةً، وَهُوَ أَطْوَلُ نَصٍّ وَأَعْقَدُهُ فِي البَرْنَامَجِ.</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Paper 4, this unit’s text reaches 150 to 165 words; it is the longest and most complex text in the programme.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يُكَافِئُ إِتْمَامُ المُهِمَّةِ بِنْيَةَ الحُجَّةِ: أُطْرُوحَةٌ، فَدَلِيلٌ، فَتَسْلِيمٌ بِـ«صَحِيحٌ أَنَّ»، فَرَدٌّ بِـ«غَيْرَ أَنَّ»، فَخَاتِمَةٌ.</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Task Completion rewards the structure of the argument: a thesis, then evidence, then a concession with “ṣaḥīḥun anna”, then a refutation with “ghayra anna”, then a conclusion.</a:t>
            </a:r>
            <a:endParaRPr lang="en-US" sz="120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أَمَّا النِّطَاقُ فَيُكَافِئُ تِسْعَةَ مُؤَشِّرَاتٍ نَحْوِيَّةٍ: كَلَامٌ مَنْقُولٌ، وَنَوْعَا الشَّرْطِ، وَمُسَبِّبَاتُ النَّصْبِ، وَبِنْيَةُ التَّسْلِيمِ، وَرَابِطُ الخِتَامِ.</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Range, however, rewards nine grammatical markers: reported speech, both types of conditional, the subjunctive triggers, the concession structure and the conclusion connector.</a:t>
            </a:r>
            <a:endParaRPr lang="en-US" sz="120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وَتَذَكَّرْ أَنَّ الفِعْلَ بَعْدَ «صَحِيحٌ أَنَّ» مُثْبَتٌ لِأَنَّهُ يَصِفُ وَاقِعًا.</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remember that the verb after “ṣaḥīḥun anna” is indicative, because it describes reality.</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وَاخْتِمْ دَائِمًا بِـ«وَبِنَاءً عَلَى مَا سَبَقَ» وَفِعْلٍ مَنْصُوبٍ.</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always close with “wa-bināʾan ʿalā mā sabaqa” and a subjunctive verb.</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48</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is the P5 essay?</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150 to 165 words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80 words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200 words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مِئَةً وَخَمْسِينَ إِلَى مِئَةٍ وَخَمْسٍ وَسِتِّينَ كَلِمَةً.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Task Completion reward?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word count only</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topic only</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argument structure: thesis → conclusion</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يُكَافِئُ إِتْمَامُ المُهِمَّةِ بِنْيَةَ الحُجَّةِ.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grammar markers does Range reward?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Three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Nine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يُكَافِئُ النِّطَاقُ تِسْعَةَ مُؤَشِّرَاتٍ نَحْوِيَّةٍ.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mood follows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indicative (it describes a real situation)</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subjunctive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jussive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الفِعْلُ بَعْدَ «صَحِيحٌ أَنَّ» مُثْبَتٌ لِأَنَّهُ يَصِفُ وَاقِعًا.</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should the essay close?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With a new argument</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With </a:t>
            </a:r>
            <a:pPr algn="l" indent="0" marL="0">
              <a:buNone/>
            </a:pPr>
            <a:r>
              <a:rPr lang="ar-SA" altLang="en-US" sz="1500" b="1" dirty="0">
                <a:solidFill>
                  <a:srgbClr val="1F2A37"/>
                </a:solidFill>
                <a:latin typeface="Amiri" pitchFamily="34" charset="0"/>
                <a:ea typeface="Amiri" pitchFamily="34" charset="-122"/>
                <a:cs typeface="Amiri" pitchFamily="34" charset="-120"/>
              </a:rPr>
              <a:t>وَبِنَاءً عَلَى مَا سَبَقَ</a:t>
            </a:r>
            <a:pPr algn="l" indent="0" marL="0">
              <a:buNone/>
            </a:pPr>
            <a:r>
              <a:rPr lang="en-US" sz="1150" b="1" dirty="0">
                <a:solidFill>
                  <a:srgbClr val="1F2A37"/>
                </a:solidFill>
                <a:latin typeface="Calibri" pitchFamily="34" charset="0"/>
                <a:ea typeface="Calibri" pitchFamily="34" charset="-122"/>
                <a:cs typeface="Calibri" pitchFamily="34" charset="-120"/>
              </a:rPr>
              <a:t> + a subjunctive</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With a question</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وَاخْتِمْ دَائِمًا بِـ«وَبِنَاءً عَلَى مَا سَبَقَ» وَفِعْلٍ مَنْصُوبٍ.</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5.</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the word count · itmām al-muhimma · al-niṭāq · wa-bināʾan ʿalā mā sabaqa.</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48</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P5-L09 · Writing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Speaking: talk through your essay plan</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P5-L09</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أُطْرُوحَتُكَ وَدَلِيلُكَ؟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نَقِيضُ الحُجَّةِ، وَكَيْفَ تَرُدُّ عَلَيْهِ؟</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تَخْتِمُ بِرَابِطٍ خِتَامِيٍّ وَفِعْلٍ مَنْصُوبٍ؟</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يُشَارُ إِلَى أَنَّ ___ أَكْثَرَ مِمَّا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صَحِيحٌ أَنَّ ___ ، غَيْرَ أَنَّ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34" charset="0"/>
                <a:ea typeface="Amiri" pitchFamily="34" charset="-122"/>
                <a:cs typeface="Amiri" pitchFamily="34" charset="-120"/>
              </a:rPr>
              <a:t>وَبِنَاءً عَلَى مَا سَبَقَ، يَتَطَلَّبُ التَّقَدُّمُ أَنْ ___ .</a:t>
            </a:r>
            <a:endParaRPr lang="ar-SA" sz="13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أُطْرُوحَتُكَ؟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is your thesis?</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يُشَارُ إِلَى أَنَّ الهِجْرَةَ تُثْرِي المُجْتَمَعَاتِ أَكْثَرَ مِمَّا تُضْعِفُهَا.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ea typeface="Calibri" pitchFamily="34" charset="-122"/>
                <a:cs typeface="Calibri" pitchFamily="34" charset="-120"/>
              </a:rPr>
              <a:t>It is noted that migration enriches societies more than it weakens them.</a:t>
            </a:r>
            <a:endParaRPr lang="en-US" sz="9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48</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P5-L09 · Writing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P5-L09</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4 paragraphs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the four-paragraph plan with the thesis and one concession–refutation pair.</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Core: the four-paragraph plan with the thesis and one concession–refutation pair.</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150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Expand to 150 words with both conditionals and a subjunctive trigger.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Develop: expand to 150 words with both conditionals and a subjunctive trigger.</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150–165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Reach 165 words with all nine Range markers and a formal conclusion.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Stretch: all nine Range markers and a formal conclusion.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48</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P5-L09</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34" charset="0"/>
                <a:ea typeface="Amiri" pitchFamily="34" charset="-122"/>
                <a:cs typeface="Amiri" pitchFamily="34" charset="-120"/>
              </a:rPr>
              <a:t>وَكَانَتْ دُوَلٌ كَثِيرَةٌ قَدِ اسْتَفَادَتْ مِنْ ______ .</a:t>
            </a:r>
            <a:endParaRPr lang="ar-SA" sz="17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Many countries had benefited from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أُحْسِنَتِ السِّيَاسَاتُ، سَيَنْدَمِجُ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policies are improved,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34" charset="0"/>
                <a:ea typeface="Amiri" pitchFamily="34" charset="-122"/>
                <a:cs typeface="Amiri" pitchFamily="34" charset="-120"/>
              </a:rPr>
              <a:t>لَوْ فُتِحَتْ ______ مُبَكِّرًا، لَتَجَنَّبْنَا ______ .</a:t>
            </a:r>
            <a:endParaRPr lang="ar-SA" sz="175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Had … been opened earlier, we would have avoided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وَيُطَالِبُ الخُبَرَاءُ بِأَنْ تُوضَعَ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Experts demand that … be set up.</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يُشَارُ إِلَى أَنَّ ______ أَكْثَرَ مِمَّا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P1 · It is noted that … more than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أَكَّدَ البَاحِثُونَ أَنَّ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P2 · Researchers confirmed that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صَحِيحٌ أَنَّ ______ ، غَيْرَ أَنَّ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P3 · It is true that …; however,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وَبِنَاءً عَلَى مَا سَبَقَ، يَتَطَلَّبُ التَّقَدُّمُ أَنْ ______ .</a:t>
            </a:r>
            <a:endParaRPr lang="ar-SA" sz="155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P4 · Based on the above, progress requires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B3B6F"/>
                </a:solidFill>
                <a:latin typeface="Amiri" pitchFamily="34" charset="0"/>
                <a:ea typeface="Amiri" pitchFamily="34" charset="-122"/>
                <a:cs typeface="Amiri" pitchFamily="34" charset="-120"/>
              </a:rPr>
              <a:t>الهِجْرَةَ تُثْرِي المُجْتَمَعَاتِ  ·  تُضْعِفُهَا  ·  التَّنَوُّعَ الثَّقَافِيَّ يَرْفَعُ الإِنْتَاجِيَّةَ  ·  كَفَاءَاتِ الوَافِدِينَ  ·  الانْدِمَاجَ يَسْتَغْرِقُ وَقْتًا  ·  العَائِدَ يَفُوقُ التَّكْلِفَةَ  ·  الوَافِدُونَ بِسُهُولَةٍ  ·  أَبْوَابُ العَمَلِ  ·  كَثِيرًا مِنَ التَّوَتُّرِ  ·  بَرَامِجُ انْدِمَاجٍ فَاعِلَةٌ  ·  تَسْتَثْمِرَ الحُكُومَاتُ فِي الإِنْسَانِ  ·  لِكَيْ يَنْعَمَ الجَمِيعُ بِالاسْتِقْرَارِ</a:t>
            </a:r>
            <a:endParaRPr lang="ar-SA" sz="10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48</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P5-L09</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 150–165-word argumentative essay on a social issue. Move thesis → evidence → concession (ṣaḥīḥun anna) → refutation (ghayra anna) → conclusion (wa-bināʾan ʿalā mā sabaqa + a verb in -a), placing all nine P5 Range markers.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clear thesis and cited evidence (reported speech).</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concession (ṣaḥīḥun anna + indicative) answered by a refutation (ghayra anna).</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Both conditional types, a subjunctive trigger and the past perfect.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conclusion connector (wa-bināʾan ʿalā mā sabaqa) + a verb in -a; 150–165 words.</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 تُضِيفُ إِلَيْهَا تَنَوُّعًا ثَقَافِيًّا</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since it adds cultural diversity to them</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وَيُثْرِي الحَيَاةَ العَامَّةَ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enriches public life</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وَيَسْتَلْزِمُ سِيَاسَاتٍ حَكِيمَةً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requires wise policies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وَيُسْهِمُونَ فِي التَّنْمِيَةِ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contribute to development</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بِالاسْتِقْرَارِ وَالازْدِهَارِ</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stability and prosperity</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48</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P5-L09 · Writing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50" dirty="0">
                <a:solidFill>
                  <a:srgbClr val="1F2A37"/>
                </a:solidFill>
                <a:latin typeface="Amiri" pitchFamily="34" charset="0"/>
                <a:ea typeface="Amiri" pitchFamily="34" charset="-122"/>
                <a:cs typeface="Amiri" pitchFamily="34" charset="-120"/>
              </a:rPr>
              <a:t>يُشَارُ إِلَى أَنَّ الهِجْرَةَ تُثْرِي المُجْتَمَعَاتِ المُضِيفَةَ أَكْثَرَ مِمَّا تُضْعِفُهَا، إِذْ تُضِيفُ إِلَيْهَا تَنَوُّعًا ثَقَافِيًّا وَطَاقَاتٍ بَشَرِيَّةً. أَكَّدَ البَاحِثُونَ أَنَّ التَّنَوُّعَ يَرْفَعُ الإِنْتَاجِيَّةَ وَيُثْرِي الحَيَاةَ العَامَّةَ، وَكَانَتْ دُوَلٌ كَثِيرَةٌ قَدِ اسْتَفَادَتْ مِنْ كَفَاءَاتِ الوَافِدِينَ. صَحِيحٌ أَنَّ الانْدِمَاجَ يَسْتَغْرِقُ وَقْتًا وَيَسْتَلْزِمُ سِيَاسَاتٍ حَكِيمَةً، غَيْرَ أَنَّ العَائِدَ الاقْتِصَادِيَّ وَالاجْتِمَاعِيَّ يَفُوقُ التَّكْلِفَةَ بِأَشْوَاطٍ. إِذَا أُحْسِنَتِ السِّيَاسَاتُ، سَيَنْدَمِجُ الوَافِدُونَ وَيُسْهِمُونَ فِي التَّنْمِيَةِ. وَلَوْ فُتِحَتْ أَبْوَابُ العَمَلِ مُبَكِّرًا، لَتَجَنَّبْنَا كَثِيرًا مِنَ التَّوَتُّرِ الاجْتِمَاعِيِّ. وَيُطَالِبُ الخُبَرَاءُ بِأَنْ تُوضَعَ بَرَامِجُ انْدِمَاجٍ فَاعِلَةٌ. وَبِنَاءً عَلَى مَا سَبَقَ، يَتَطَلَّبُ التَّقَدُّمُ أَنْ تَسْتَثْمِرَ الحُكُومَاتُ فِي الانْدِمَاجِ لِكَيْ يَنْعَمَ الجَمِيعُ بِالاسْتِقْرَارِ وَالازْدِهَارِ.</a:t>
            </a:r>
            <a:endParaRPr lang="ar-SA" sz="19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It is noted that migration enriches host societies more than it weakens them, adding cultural diversity and human energy. Researchers have confirmed that diversity raises productivity and enriches public life, and many countries had benefited from newcomers’ skills. It is true that integration takes time and requires wise policies; however, the economic and social return far outweighs the cost. If policies are improved, newcomers will integrate and contribute to development. Had work been opened to them earlier, we would have avoided much social tension. Experts demand effective integration programmes. Based on the above, progress requires governments to invest in integration so that everyone enjoys stability and prosperity.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akkada … anna · kānat … qad</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ṣaḥīḥun anna … ghayra anna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idhā … sa- · law … la-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wa-bināʾan … an tastathmira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P5-L09 · Writing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first sentence is a position, not just a topic.</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concession (-u) is answered by ghayra anna.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both conditionals and a subjunctive trigger.</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closed with wa-bināʾan ʿalā mā sabaqa + a verb in -a.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ticked all nine Range markers and wrote 150–165 words.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48</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P5-L09 · Writing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earns the Task Completion marks?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argument architecture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word count only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handwriting</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mood follows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subjunctive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indicative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jussive</a:t>
            </a:r>
            <a:endParaRPr lang="en-US" sz="12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genuine thesis, not just a topic?</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34" charset="0"/>
                <a:ea typeface="Amiri" pitchFamily="34" charset="-122"/>
                <a:cs typeface="Amiri" pitchFamily="34" charset="-120"/>
              </a:rPr>
              <a:t>الهِجْرَةُ تُثْرِي المُجْتَمَعَاتِ أَكْثَرَ مِمَّا تُضْعِفُهَا.</a:t>
            </a:r>
            <a:endParaRPr lang="ar-SA" sz="15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34" charset="0"/>
                <a:ea typeface="Amiri" pitchFamily="34" charset="-122"/>
                <a:cs typeface="Amiri" pitchFamily="34" charset="-120"/>
              </a:rPr>
              <a:t>الهِجْرَةُ مَوْضُوعٌ مُهِمٌّ.</a:t>
            </a:r>
            <a:endParaRPr lang="ar-SA" sz="15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34" charset="0"/>
                <a:ea typeface="Amiri" pitchFamily="34" charset="-122"/>
                <a:cs typeface="Amiri" pitchFamily="34" charset="-120"/>
              </a:rPr>
              <a:t>سَأَتَحَدَّثُ عَنِ الهِجْرَةِ.</a:t>
            </a:r>
            <a:endParaRPr lang="ar-SA" sz="150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48</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P5-L09 · Writing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earns the Task Completion marks?</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argument architecture</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word count only</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handwriting</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 rewards the argument architecture.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mood follows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subjunctive</a:t>
            </a:r>
            <a:endParaRPr lang="en-US" sz="12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indicative</a:t>
            </a:r>
            <a:endParaRPr lang="en-US" sz="12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jussive</a:t>
            </a:r>
            <a:endParaRPr lang="en-US" sz="12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صَحِيحٌ أَنَّ</a:t>
            </a:r>
            <a:pPr algn="l" indent="0" marL="0">
              <a:buNone/>
            </a:pPr>
            <a:r>
              <a:rPr lang="en-US" sz="1050" i="1" dirty="0">
                <a:solidFill>
                  <a:srgbClr val="8A6D1E"/>
                </a:solidFill>
                <a:latin typeface="Calibri" pitchFamily="34" charset="0"/>
                <a:ea typeface="Calibri" pitchFamily="34" charset="-122"/>
                <a:cs typeface="Calibri" pitchFamily="34" charset="-120"/>
              </a:rPr>
              <a:t> concedes a real point, so the verb is indicative.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genuine thesis, not just a topic?</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الهِجْرَةُ تُثْرِي المُجْتَمَعَاتِ أَكْثَرَ مِمَّا تُضْعِفُهَا.</a:t>
            </a:r>
            <a:endParaRPr lang="ar-SA" sz="150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34" charset="0"/>
                <a:ea typeface="Amiri" pitchFamily="34" charset="-122"/>
                <a:cs typeface="Amiri" pitchFamily="34" charset="-120"/>
              </a:rPr>
              <a:t>الهِجْرَةُ مَوْضُوعٌ مُهِمٌّ.</a:t>
            </a:r>
            <a:endParaRPr lang="ar-SA" sz="150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34" charset="0"/>
                <a:ea typeface="Amiri" pitchFamily="34" charset="-122"/>
                <a:cs typeface="Amiri" pitchFamily="34" charset="-120"/>
              </a:rPr>
              <a:t>سَأَتَحَدَّثُ عَنِ الهِجْرَةِ.</a:t>
            </a:r>
            <a:endParaRPr lang="ar-SA" sz="150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thesis states a position, not just names a topic.</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48</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ea typeface="Cambria" pitchFamily="34" charset="-122"/>
                <a:cs typeface="Cambria" pitchFamily="34" charset="-120"/>
              </a:rPr>
              <a:t>Reading: an annotated model essay (extract)</a:t>
            </a:r>
            <a:endParaRPr lang="en-US" sz="21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P5-L09</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يُشَارُ إِلَى أَنَّ الهِجْرَةَ تُثْرِي المُجْتَمَعَاتِ المُضِيفَةَ أَكْثَرَ مِمَّا تُضْعِفُهَا. أَكَّدَ البَاحِثُونَ أَنَّ التَّنَوُّعَ الثَّقَافِيَّ يَرْفَعُ الإِنْتَاجِيَّةَ وَيُثْرِي الحَيَاةَ العَامَّةَ. صَحِيحٌ أَنَّ الانْدِمَاجَ يَسْتَغْرِقُ وَقْتًا وَيَسْتَلْزِمُ سِيَاسَاتٍ حَكِيمَةً، غَيْرَ أَنَّ العَائِدَ الاقْتِصَادِيَّ وَالاجْتِمَاعِيَّ يَفُوقُ التَّكْلِفَةَ. وَكَانَتْ دُوَلٌ كَثِيرَةٌ قَدِ اسْتَفَادَتْ مِنْ كَفَاءَاتِ الوَافِدِينَ. إِذَا أُحْسِنَتِ السِّيَاسَاتُ، سَيَنْدَمِجُ الوَافِدُونَ بِسُهُولَةٍ. وَلَوْ فُتِحَتْ أَبْوَابُ العَمَلِ مُبَكِّرًا، لَتَجَنَّبْنَا كَثِيرًا مِنَ التَّوَتُّرِ. وَبِنَاءً عَلَى مَا سَبَقَ، يَتَطَلَّبُ التَّقَدُّمُ أَنْ تَسْتَثْمِرَ الحُكُومَاتُ فِي الانْدِمَاجِ لِكَيْ يَنْعَمَ الجَمِيعُ بِالاسْتِقْرَارِ.</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المُضِيفَةَ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host</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تُضْعِفُهَا</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weakens them</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الإِنْتَاجِيَّةَ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productivity</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كَفَاءَاتِ</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skills, competences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الوَافِدِينَ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newcomers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يَسْتَغْرِقُ</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takes (time)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حَكِيمَةً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wise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التَّوَتُّرِ</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tension</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فَاعِلَةٌ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effective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الازْدِهَارِ</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prosperity</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48</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thesis?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Migration only weakens societies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Migration enriches host societies more than it weakens them</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Migration has no effect</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evidence is cited?</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Diversity lowers productivity</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There is no evidence</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Cultural diversity raises productivity and enriches public life</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writer concede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Integration takes time and needs wise policies</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Migration is worthless</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Diversity is harmful</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2 counterfactual?</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Opening doors makes no difference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Had work doors opened earlier, much tension would have been avoided</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Tension cannot be reduced</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essay conclude?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Governments must invest in integration so all enjoy stability</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 needs to change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Integration should stop</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48</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thesis?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Migration only weakens societies</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Migration enriches host societies more than it weakens them</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Migration has no effect</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34" charset="0"/>
                <a:ea typeface="Amiri" pitchFamily="34" charset="-122"/>
                <a:cs typeface="Amiri" pitchFamily="34" charset="-120"/>
              </a:rPr>
              <a:t>يُشَارُ إِلَى أَنَّ الهِجْرَةَ تُثْرِي المُجْتَمَعَاتِ … أَكْثَرَ مِمَّا تُضْعِفُهَا.</a:t>
            </a:r>
            <a:endParaRPr lang="ar-SA" sz="12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evidence is cited?</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Diversity lowers productivity</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There is no evidence</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Cultural diversity raises productivity and enriches public life</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أَكَّدَ البَاحِثُونَ أَنَّ التَّنَوُّعَ الثَّقَافِيَّ يَرْفَعُ الإِنْتَاجِيَّةَ.</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writer concede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Integration takes time and needs wise policies</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Migration is worthless</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Diversity is harmful</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صَحِيحٌ أَنَّ الانْدِمَاجَ يَسْتَغْرِقُ وَقْتًا وَيَسْتَلْزِمُ سِيَاسَاتٍ حَكِيمَةً.</a:t>
            </a:r>
            <a:endParaRPr lang="ar-SA" sz="130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2 counterfactual?</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Opening doors makes no difference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Had work doors opened earlier, much tension would have been avoided</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Tension cannot be reduced</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لَوْ فُتِحَتْ أَبْوَابُ العَمَلِ مُبَكِّرًا، لَتَجَنَّبْنَا كَثِيرًا مِنَ التَّوَتُّرِ.</a:t>
            </a:r>
            <a:endParaRPr lang="ar-SA" sz="130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essay conclude?</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Governments must invest in integration so all enjoy stability</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 needs to change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Integration should stop</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يَتَطَلَّبُ التَّقَدُّمُ أَنْ تَسْتَثْمِرَ الحُكُومَاتُ فِي الانْدِمَاجِ.</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48</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ea typeface="Cambria" pitchFamily="34" charset="-122"/>
                <a:cs typeface="Cambria" pitchFamily="34" charset="-120"/>
              </a:rPr>
              <a:t>Essay Mission — Nine Markers, One Argument</a:t>
            </a:r>
            <a:endParaRPr lang="en-US" sz="21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Job: the essay opens with …</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conclusion</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thesis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concession</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Concession: which structure concedes?</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صَحِيحٌ أَنَّ</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يُشَارُ إِلَى أَنَّ</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لِكَيْ</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Refutation: which connector refutes?</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غَيْرَ أَنَّ</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Concession verb: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 الانْدِمَاجَ</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وَقْتًا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يَسْتَغْرِقَ</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لِيَسْتَغْرِقْ</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يَسْتَغْرِقُ</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Conclusion: which opens the final synthesis?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وَبِنَاءً عَلَى مَا سَبَقَ</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صَحِيحٌ أَنَّ</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بِالرَّغْمِ مِنْ</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Conclusion verb: complete — </a:t>
            </a:r>
            <a:pPr algn="l" indent="0" marL="0">
              <a:buNone/>
            </a:pPr>
            <a:r>
              <a:rPr lang="ar-SA" altLang="en-US" sz="1500" b="1" dirty="0">
                <a:solidFill>
                  <a:srgbClr val="1B3B6F"/>
                </a:solidFill>
                <a:latin typeface="Amiri" pitchFamily="34" charset="0"/>
                <a:ea typeface="Amiri" pitchFamily="34" charset="-122"/>
                <a:cs typeface="Amiri" pitchFamily="34" charset="-120"/>
              </a:rPr>
              <a:t>يَتَطَلَّبُ التَّقَدُّمُ أَنْ</a:t>
            </a:r>
            <a:pPr algn="l" indent="0" marL="0">
              <a:buNone/>
            </a:pPr>
            <a:r>
              <a:rPr lang="en-US" sz="1150" b="1" dirty="0">
                <a:solidFill>
                  <a:srgbClr val="1B3B6F"/>
                </a:solidFill>
                <a:latin typeface="Calibri" pitchFamily="34" charset="0"/>
                <a:ea typeface="Calibri" pitchFamily="34" charset="-122"/>
                <a:cs typeface="Calibri" pitchFamily="34" charset="-120"/>
              </a:rPr>
              <a:t> ___ </a:t>
            </a:r>
            <a:pPr algn="l" indent="0" marL="0">
              <a:buNone/>
            </a:pPr>
            <a:r>
              <a:rPr lang="ar-SA" altLang="en-US" sz="1500" b="1" dirty="0">
                <a:solidFill>
                  <a:srgbClr val="1B3B6F"/>
                </a:solidFill>
                <a:latin typeface="Amiri" pitchFamily="34" charset="0"/>
                <a:ea typeface="Amiri" pitchFamily="34" charset="-122"/>
                <a:cs typeface="Amiri" pitchFamily="34" charset="-120"/>
              </a:rPr>
              <a:t>الحُكُومَاتُ فِي الإِنْسَانِ</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تَسْتَثْمِرُ</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تَسْتَثْمِرَ</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تَسْتَثْمِرْ</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48</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P5-L09</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Job: the essay opens with …</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conclusion</a:t>
            </a:r>
            <a:endParaRPr lang="en-US" sz="125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thesis</a:t>
            </a:r>
            <a:endParaRPr lang="en-US" sz="125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concession</a:t>
            </a:r>
            <a:endParaRPr lang="en-US" sz="125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essay opens with a thesis.</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Concession: which structure concedes?</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صَحِيحٌ أَنَّ</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يُشَارُ إِلَى أَنَّ</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لِكَيْ</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صَحِيحٌ أَنَّ</a:t>
            </a:r>
            <a:pPr algn="l" indent="0" marL="0">
              <a:buNone/>
            </a:pPr>
            <a:r>
              <a:rPr lang="en-US" sz="1050" i="1" dirty="0">
                <a:solidFill>
                  <a:srgbClr val="8A6D1E"/>
                </a:solidFill>
                <a:latin typeface="Calibri" pitchFamily="34" charset="0"/>
                <a:ea typeface="Calibri" pitchFamily="34" charset="-122"/>
                <a:cs typeface="Calibri" pitchFamily="34" charset="-120"/>
              </a:rPr>
              <a:t> concedes the counter-argument.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Refutation: which connector refutes?</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ثُمَّ</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غَيْرَ أَنَّ</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غَيْرَ أَنَّ</a:t>
            </a:r>
            <a:pPr algn="l" indent="0" marL="0">
              <a:buNone/>
            </a:pPr>
            <a:r>
              <a:rPr lang="en-US" sz="1050" i="1" dirty="0">
                <a:solidFill>
                  <a:srgbClr val="8A6D1E"/>
                </a:solidFill>
                <a:latin typeface="Calibri" pitchFamily="34" charset="0"/>
                <a:ea typeface="Calibri" pitchFamily="34" charset="-122"/>
                <a:cs typeface="Calibri" pitchFamily="34" charset="-120"/>
              </a:rPr>
              <a:t> refutes the concession.</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Concession verb: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 الانْدِمَاجَ</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وَقْتًا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يَسْتَغْرِقَ</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لِيَسْتَغْرِقْ</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يَسْتَغْرِقُ</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صَحِيحٌ أَنَّ</a:t>
            </a:r>
            <a:pPr algn="l" indent="0" marL="0">
              <a:buNone/>
            </a:pPr>
            <a:r>
              <a:rPr lang="en-US" sz="1050" i="1" dirty="0">
                <a:solidFill>
                  <a:srgbClr val="8A6D1E"/>
                </a:solidFill>
                <a:latin typeface="Calibri" pitchFamily="34" charset="0"/>
                <a:ea typeface="Calibri" pitchFamily="34" charset="-122"/>
                <a:cs typeface="Calibri" pitchFamily="34" charset="-120"/>
              </a:rPr>
              <a:t> the verb is indicative: </a:t>
            </a:r>
            <a:pPr algn="l" indent="0" marL="0">
              <a:buNone/>
            </a:pPr>
            <a:r>
              <a:rPr lang="ar-SA" altLang="en-US" sz="1350" dirty="0">
                <a:solidFill>
                  <a:srgbClr val="8A6D1E"/>
                </a:solidFill>
                <a:latin typeface="Amiri" pitchFamily="34" charset="0"/>
                <a:ea typeface="Amiri" pitchFamily="34" charset="-122"/>
                <a:cs typeface="Amiri" pitchFamily="34" charset="-120"/>
              </a:rPr>
              <a:t>يَسْتَغْرِقُ</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Conclusion: which opens the final synthesis?</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وَبِنَاءً عَلَى مَا سَبَقَ</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صَحِيحٌ أَنَّ</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بِالرَّغْمِ مِنْ</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وَبِنَاءً عَلَى مَا سَبَقَ</a:t>
            </a:r>
            <a:pPr algn="l" indent="0" marL="0">
              <a:buNone/>
            </a:pPr>
            <a:r>
              <a:rPr lang="en-US" sz="1050" i="1" dirty="0">
                <a:solidFill>
                  <a:srgbClr val="8A6D1E"/>
                </a:solidFill>
                <a:latin typeface="Calibri" pitchFamily="34" charset="0"/>
                <a:ea typeface="Calibri" pitchFamily="34" charset="-122"/>
                <a:cs typeface="Calibri" pitchFamily="34" charset="-120"/>
              </a:rPr>
              <a:t> opens the conclusion.</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Conclusion verb: complete — </a:t>
            </a:r>
            <a:pPr algn="l" indent="0" marL="0">
              <a:buNone/>
            </a:pPr>
            <a:r>
              <a:rPr lang="ar-SA" altLang="en-US" sz="1500" b="1" dirty="0">
                <a:solidFill>
                  <a:srgbClr val="1B3B6F"/>
                </a:solidFill>
                <a:latin typeface="Amiri" pitchFamily="34" charset="0"/>
                <a:ea typeface="Amiri" pitchFamily="34" charset="-122"/>
                <a:cs typeface="Amiri" pitchFamily="34" charset="-120"/>
              </a:rPr>
              <a:t>يَتَطَلَّبُ التَّقَدُّمُ أَنْ</a:t>
            </a:r>
            <a:pPr algn="l" indent="0" marL="0">
              <a:buNone/>
            </a:pPr>
            <a:r>
              <a:rPr lang="en-US" sz="1150" b="1" dirty="0">
                <a:solidFill>
                  <a:srgbClr val="1B3B6F"/>
                </a:solidFill>
                <a:latin typeface="Calibri" pitchFamily="34" charset="0"/>
                <a:ea typeface="Calibri" pitchFamily="34" charset="-122"/>
                <a:cs typeface="Calibri" pitchFamily="34" charset="-120"/>
              </a:rPr>
              <a:t> ___ </a:t>
            </a:r>
            <a:pPr algn="l" indent="0" marL="0">
              <a:buNone/>
            </a:pPr>
            <a:r>
              <a:rPr lang="ar-SA" altLang="en-US" sz="1500" b="1" dirty="0">
                <a:solidFill>
                  <a:srgbClr val="1B3B6F"/>
                </a:solidFill>
                <a:latin typeface="Amiri" pitchFamily="34" charset="0"/>
                <a:ea typeface="Amiri" pitchFamily="34" charset="-122"/>
                <a:cs typeface="Amiri" pitchFamily="34" charset="-120"/>
              </a:rPr>
              <a:t>الحُكُومَاتُ فِي الإِنْسَانِ</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تَسْتَثْمِرُ</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تَسْتَثْمِرَ</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تَسْتَثْمِرْ</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the verb is subjunctive: </a:t>
            </a:r>
            <a:pPr algn="l" indent="0" marL="0">
              <a:buNone/>
            </a:pPr>
            <a:r>
              <a:rPr lang="ar-SA" altLang="en-US" sz="1350" dirty="0">
                <a:solidFill>
                  <a:srgbClr val="8A6D1E"/>
                </a:solidFill>
                <a:latin typeface="Amiri" pitchFamily="34" charset="0"/>
                <a:ea typeface="Amiri" pitchFamily="34" charset="-122"/>
                <a:cs typeface="Amiri" pitchFamily="34" charset="-120"/>
              </a:rPr>
              <a:t>تَسْتَثْمِرَ</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48</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P5-L09 · Writing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P5-L10: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P5-L10 · Listening — Social Issues and Opinions Texts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إِشَارَةُ التَّسْلِيمِ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concession signal</a:t>
            </a:r>
            <a:pPr indent="0" marL="0">
              <a:buNone/>
            </a:pPr>
            <a:r>
              <a:rPr lang="en-US" sz="1000" i="1" dirty="0">
                <a:solidFill>
                  <a:srgbClr val="5A6472"/>
                </a:solidFill>
                <a:latin typeface="Calibri" pitchFamily="34" charset="0"/>
                <a:ea typeface="Calibri" pitchFamily="34" charset="-122"/>
                <a:cs typeface="Calibri" pitchFamily="34" charset="-120"/>
              </a:rPr>
              <a:t>  pl. إِشَارَاتٌ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إِشَارَةُ الرَّدِّ</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refutation signal</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مَوْقِفُ المُتَحَدِّثِ</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speaker’s position</a:t>
            </a:r>
            <a:pPr indent="0" marL="0">
              <a:buNone/>
            </a:pPr>
            <a:r>
              <a:rPr lang="en-US" sz="1000" i="1" dirty="0">
                <a:solidFill>
                  <a:srgbClr val="5A6472"/>
                </a:solidFill>
                <a:latin typeface="Calibri" pitchFamily="34" charset="0"/>
                <a:ea typeface="Calibri" pitchFamily="34" charset="-122"/>
                <a:cs typeface="Calibri" pitchFamily="34" charset="-120"/>
              </a:rPr>
              <a:t>  f. المُتَحَدِّثَةِ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التَّنَبُّؤُ بِمَا يَلِي</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predicting what follows</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مُنْحَازٌ</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one-sided, partisan</a:t>
            </a:r>
            <a:pPr indent="0" marL="0">
              <a:buNone/>
            </a:pPr>
            <a:r>
              <a:rPr lang="en-US" sz="1000" i="1" dirty="0">
                <a:solidFill>
                  <a:srgbClr val="5A6472"/>
                </a:solidFill>
                <a:latin typeface="Calibri" pitchFamily="34" charset="0"/>
                <a:ea typeface="Calibri" pitchFamily="34" charset="-122"/>
                <a:cs typeface="Calibri" pitchFamily="34" charset="-120"/>
              </a:rPr>
              <a:t>  f. مُنْحَازَةٌ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When you hear “ṣaḥīḥun anna …”, what do you expect to hear next?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عِنْدَمَا أَسْمَعُ «صَحِيحٌ أَنَّ»، أَتَوَقَّعُ أَنْ أَسْمَعَ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the four-paragraph plan with the thesis and one concession–refutation pair.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Expand to 150 words with both conditionals and a subjunctive trigger.</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 150–165-word essay with all nine Range markers.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48</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P5-L09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P5-L10 · Listening — Social Issues and Opinions Texts</a:t>
            </a:r>
            <a:endParaRPr lang="en-US" sz="19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الاسْتِمَاعُ — القَضَايَا الاجْتِمَاعِيَّةُ وَالآرَاءُ</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plan BOTH marks — four paragraphs for the argument (thesis, evidence, balance, conclusion) and nine ticks for Range. Concession -u, answered by ghayra anna; close with wa-bināʾan ʿalā mā sabaqa + -a.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P5-L09 · Writing — Social Issues and Opinions (Paper 4 Extended Writing)</dc:title>
  <dc:subject>PptxGenJS Presentation</dc:subject>
  <dc:creator>Al Madina Online School · Arabic Department</dc:creator>
  <cp:lastModifiedBy>Al Madina Online School · Arabic Department</cp:lastModifiedBy>
  <cp:revision>1</cp:revision>
  <dcterms:created xsi:type="dcterms:W3CDTF">2026-10-10T23:13:58Z</dcterms:created>
  <dcterms:modified xsi:type="dcterms:W3CDTF">2026-10-10T23:13:58Z</dcterms:modified>
</cp:coreProperties>
</file>