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P5-L03. The website lesson “Gender Equality — Rights, Progress and Challenges”: vocabulary, grammar rules and quiz, patterns, common mistakes, sorter, listening, reading, speaking prompts and model, writing task and model, differentiation, final check and the lesson mission. Picture match: website visual game “Gender Equality — Rights, Progress and Challenges”.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sentence for each demand trigger with the correct preposition (website Core). Develop: add a concession–refutation pair (100 words). Stretch: 110 words with all three triggers, a passive and a Type 2.
• Framing (Islamic school): present this as a discussion of rights, dignity and opportunity. Faith link: «مَنْ عَمِلَ صَالِحًا مِنْ ذَكَرٍ أَوْ أُنْثَىٰ وَهُوَ مُؤْمِنٌ فَلَنُحْيِيَنَّهُ حَيَاةً طَيِّبَةً» (al-Naḥl 16:97) — equal dignity and reward. Khadīja (raḍiya Allāhu ʿanhā) ran a successful trade; ʿĀʾisha was a leading scholar. Keep debate respectful; some terms (e.g. النِّظَامُ الأَبَوِيُّ) are academic labels, not lesson content to dwell on.
• WEBSITE CORRECTION (important): the website spells “insists” يَصِرُّ throughout. The verb is Form IV: أَصَرَّ / يُصِرُّ عَلَى (with ḍamma). يَصِرُّ is a different word (to creak). All slides use يُصِرُّ.
• Sensitivity: the vocabulary includes العُنْفُ الأُسَرِيُّ (domestic violence). Mention it only as a policy term; follow safeguarding procedures if a student discloses anything.
• Grammar links: an + -a (P4) · fixed prepositions (P4-L06 / L09) · passives (P4-L02, P5-L02) · concession–refutation (P5-L01).
• TEACHER-WRITTEN ITEMS: waṣl alif shown without a kasra; لِكَيْ always written with its sukūn; spelling fix يَصِرُّ → يُصِرُّ throughout (Form IV); speaking question بِمَ يَصِرُّ → عَلَامَ يُصِرُّ; rule formulas, pattern tips, writing prompt and checklist in transliteration; sorter headings in transliteration; game cards 1, 2 and 3 not used; the trigger, preposition, -a and balance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P5-L02. Questions 4–5 retrieve the humanitarian passive and the negative Type 2 (P5-L02) — passives return today in -a: an tufaʿʿala.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trigger has its own preposition — and after the an,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حقوق، مطالبہ and اصرار are shared — note اصرار has a ṣād, so the verb is يُصِرُّ (Form IV). Careful: Urdu دعوت is usually an invitation to a meal; Arabic يَدْعُو إِلَى = calls for. Urdu تمثیل is an allegory; Arabic التَّمْثِيلُ السِّيَاسِيُّ = political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Insistence, demand and call triggers (website vocabulary (1 of 2)). Hear → Say → See → Use. Transliteration is printed for Core students (cover it for Develop/Stretch).
Insistence, demand and call: each verb has a FIXED preposition before أَنْ — يُصِرُّ عَلَى · يُطَالِبُ بِـ · يَدْعُو إِلَى. They can also take a noun: يُطَالِبُ بِحُقُوقِهِ · يَدْعُو إِلَى المُسَاوَاةِ. Spelling: يُصِرُّ (ḍamma) — the website prints يَصِرُّ.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Insistence, demand and call triggers (website vocabulary (2 of 2)). Hear → Say → See → Use. Transliteration is printed for Core students (cover it for Develop/Stretch).
Insistence, demand and call: each verb has a FIXED preposition before أَنْ — يُصِرُّ عَلَى · يُطَالِبُ بِـ · يَدْعُو إِلَى. They can also take a noun: يُطَالِبُ بِحُقُوقِهِ · يَدْعُو إِلَى المُسَاوَاةِ. Spelling: يُصِرُّ (ḍamma) — the website prints يَصِرُّ.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Gender equality (website vocabulary (1 of 2)). Hear → Say → See → Use. Transliteration is printed for Core students (cover it for Develop/Stretch).
Gender equality: academic vocabulary for a policy discussion. تَمْكِينٌ = empowerment (making able). القَوَالِبُ النَّمَطِيَّةُ = stereotypes (literally “pattern moulds”). المُعِيقَاتُ = obstacles,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Gender equality (website vocabulary (2 of 2)). Hear → Say → See → Use. Transliteration is printed for Core students (cover it for Develop/Stretch).
FLEX: teach if time allows; otherwise these are on the website vocabulary tab for homework.
Gender equality: academic vocabulary for a policy discussion. تَمْكِينٌ = empowerment (making able). القَوَالِبُ النَّمَطِيَّةُ = stereotypes (literally “pattern moulds”). المُعِيقَاتُ = obstacles, barriers.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Progress and struggle (website vocabulary (1 of 2)). Hear → Say → See → Use. Transliteration is printed for Core students (cover it for Develop/Stretch).
FLEX: teach if time allows; otherwise these are on the website vocabulary tab for homework.
Progress and struggle: إِنْجَازَاتٌ (achievements) and التَّقَدُّمُ التَّدْرِيجِيُّ (gradual progress) for the concession; العَمَلُ غَيْرُ المَأْجُورِ (unpaid work, e.g. caring at home) for the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Progress and struggle (website vocabulary (2 of 2)). Hear → Say → See → Use. Transliteration is printed for Core students (cover it for Develop/Stretch).
FLEX: teach if time allows; otherwise these are on the website vocabulary tab for homework.
Progress and struggle: إِنْجَازَاتٌ (achievements) and التَّقَدُّمُ التَّدْرِيجِيُّ (gradual progress) for the concession; العَمَلُ غَيْرُ المَأْجُورِ (unpaid work, e.g. caring at home) for the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“Insistence”, “Demand”, “Call”, the website table and teaching point 1. Rows 4–5 are teacher-built from the vocabulary (يُنَاضِلُ مِنْ أَجْلِ).
SPELLING: يُصِرُّ (yuṣirru), Form IV of صَرَّ — past أَصَرَّ, maṣdar إِصْرَارٌ (Urdu اصرار). The website writes يَصِرُّ, which is a different verb (to creak/squeak); we correct it everywhere.
Row 2: بِـ joins أَنْ in writing: بِأَنْ. Row 3: يَنْتَهِيَ — weak -ī shows the -a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teaching point 2 (“Mind the fixed preposition on each trigger”), mistakes 2–3 and the common error (يُصِرُّ بِأَنْ ✗ → يُصِرُّ عَلَى أَنْ ✓).
Memory hooks: insist ON (ʿalā) · demand WITH / FOR (bi-) · call TO (ilā). The website says getting the preposition right is part of the accuracy mark.
Cards 2–3 have PASSIVE verbs after an: تُغَيَّرَ (be changed) · تُكْسَرَ (be broken) — yu/tu-faʿʿal-a.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mistake 1, the sorter and the live builder (rows 2, 4, 5) and mission round 13 (يُعَاقَبَ, not يُعَاقِبَ — passive).
Row 2: تُفَعَّلَ = be activated (Form II passive). Row 4: تُسَدَّ = be closed (doubled verb سَدَّ). Row 5: يُعَاقَبَ عَلَى التَّمْيِيزِ = discrimination be punished (impersonal: “it be punished for discrimination”).
Stretch: change two active examples into passives: أَنْ تُطَبِّقَ الحُكُومَاتُ القَوَانِينَ → أَنْ تُطَبَّقَ القَوَانِينُ.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“Balance the argument”, the listening, reading and writing model.
Row 2: two subjects (the pay gap AND violence) → a DUAL verb: لَا يَزَالَانِ يُعِيقَانِ (they both still hinder). Nice Stretch detail.
Row 5: لَوْ + a passive (طُبِّقَتْ = were applied) → لَـ + past (لَضَاقَتْ = would have narrowed).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“Use the subjunctive after يُصِرُّ عَلَى أَنْ، يُطَالِبُ بِأَنْ، يَدْعُو إِلَى أَنْ, keeping each trigger's preposition and each verb's final fatḥa.”
• Insistence: Insists that a desired action happen.
• Demand: Demands that an action be taken.
• Call: Calls for a situation to change.
• Balance the argument: Concede progress, then refute with remaining challenges.
Website common error: Using an indicative verb after these triggers, or the wrong preposition (يُصِرُّ بِأَنْ instead of يُصِرُّ عَلَى أَنْ). Keep the fixed preposition and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“Concede: ṣaḥīḥun anna … ḥaqqaqat — real, no -a. Refute: ghayra anna. Insist ON: yuṣirru ʿALĀ an tanʿamA. Demand WITH: yuṭālibu BI-an tufaʿʿalA — passive, still -a. Could it be different? law ṭubbiqat … LA-ḍāqat.”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Gender Equality — Rights, Progress and Challenges”)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3 is a concession–refutation in simple form (تَحَقَّقَ تَقَدُّمٌ وَلٰكِنْ …) — upgrade it together: صَحِيحٌ أَنَّ تَقَدُّمًا تَحَقَّقَ، غَيْرَ أَنَّ التَّحَدِّيَاتِ لَا تَزَالُ قَائِمَةً. Card 1: أَنْ تَتَسَاوَى — the -a is hidden on a final alif maqṣūra.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Gender Equality — Rights, Progress and Challenges”)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3 is a concession–refutation in simple form (تَحَقَّقَ تَقَدُّمٌ وَلٰكِنْ …) — upgrade it together: صَحِيحٌ أَنَّ تَقَدُّمًا تَحَقَّقَ، غَيْرَ أَنَّ التَّحَدِّيَاتِ لَا تَزَالُ قَائِمَةً. Card 1: أَنْ تَتَسَاوَى — the -a is hidden on a final alif maqṣūra.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an advocacy line from an insistence, a demand and a call.” Website feedback: any three different combinations work.
Core: read row 1 across. Develop: find the four PASSIVE verbs in -a (تُطَبَّقَ · تُفَعَّلَ · تُسَدَّ · يُعَاقَبَ · تُكْسَرَ). Stretch: add a concession before the line (P5-L01).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cover the triggers and read only the endings: can partners name the trigger from the preposition alone (ʿalā · bi- ·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cover the triggers and read only the endings: can partners name the trigger from the preposition alone (ʿalā · bi- ·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 and write down each trigger with its preposition.
Listen 1: just listen. Listen 2: note answers. Then chat the letters.
Support: after the second listening, show the read-along slide (Arabic + English, line by line) for Core students.
SCRIPT (read aloud):
تَقُولُ النَّاشِطَةُ: تُشِيرُ التَّقَارِيرُ الدَّوْلِيَّةُ إِلَى أَنَّ تَمْكِينَ المَرْأَةِ العَرَبِيَّةِ شَهِدَ تَقَدُّمًا مَلْحُوظًا. صَحِيحٌ أَنَّ نِسْبَةَ المَرْأَةِ فِي البَرْلَمَانَاتِ ارْتَفَعَتْ، غَيْرَ أَنَّ تَحَدِّيَاتٍ جَوْهَرِيَّةً لَا تَزَالُ قَائِمَةً. تُحْرَمُ كَثِيرٌ مِنَ النِّسَاءِ مِنْ فُرَصِ القِيَادَةِ بِسَبَبِ المُعِيقَاتِ البِنْيَوِيَّةِ. يُصِرُّ المُدَافِعُونَ عَلَى أَنْ تَحْصُلَ المَرْأَةُ عَلَى فُرَصٍ مُتَسَاوِيَةٍ، وَيُطَالِبُ النَّاشِطُونَ بِأَنْ تُفَعَّلَ قَوَانِينُ المُسَاوَاةِ. وَتَدْعُو المُنَظَّمَاتُ إِلَى أَنْ يَنْتَهِيَ التَّمْيِيزُ القَائِمُ عَلَى النَّوْعِ. وَلَوْ طُبِّقَتِ القَوَانِينُ بِالتَّسَاوِي، لَضَاقَتْ فَجْوَةُ الأُجُورِ.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وَإِلَامَ تَدْعُو المُنَظَّمَاتُ؟ (Call)
B: تَدْعُو إِلَى أَنْ يَنْتَهِيَ العُنْفُ الأُسَرِيُّ وَأَنْ يُشَارِكَ الجِنْسَانِ فِي القَرَارِ. (يَدْعُو إِلَى أَنْ)
Website prompts and model. Note the question words carry the preposition too: عَلَامَ (= عَلَى + مَا) · بِمَ (= بِـ + مَا) · إِلَامَ (= إِلَى + مَا) — the answer repeats it! Pair task: a “rights conference” — each partner makes one insistence, one demand, one call. To a girl: تُصِرِّينَ · تُطَالِبِينَ · تَدْعِينَ.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one sentence for each demand trigger with the correct preposition. · Develop — Add a concession-refutation pair and reach 100 words. · Stretch — Reach 110 words with all three triggers, a passive and a Type 2 counterfactual.
Website writing task (Stretch): Write a 100–110-word balanced gender-equality argument. Concede progress with ṣaḥīḥun anna, refute with ghayra anna, then use all three demand triggers — yuṣirru ʿalā an, yuṭālibu bi-an, yadʿū ilā an — and add a Type 2 counterfactual.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تُشِيرُ … إِلَى أَنَّ · صَحِيحٌ أَنَّ … غَيْرَ أَنَّ … لَا يَزَالَانِ قَائِمَيْنِ · تُحْرَمُ … مِنْ · يُصِرُّ … عَلَى أَنْ تَنْعَمَ · يُطَالِبُ … بِأَنْ تُفَعَّلَ · تَدْعُو … إِلَى أَنْ يُشَارِكَ · لَوْ طُبِّقَتِ … لَضَاقَتْ.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(P5-L04 · Digital Society — Social Media, Privacy and the Digital Divide) will spend class time USING this language, so students prepare it tonight — short, simple, easy to access (school guidance: “Simple, Short, Interesting, Relevant, Easy to access”). The five words come from the website P5-L04 vocabulary (digital society).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Gender Equality — Rights, Progress and Challenges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cs typeface="Amiri" pitchFamily="2" charset="-78"/>
              </a:rPr>
              <a:t>المُسَاوَاةُ بَيْنَ الجِنْسَيْنِ — الحُقُوقُ وَالتَّقَدُّمُ وَالتَّحَدِّيَاتُ</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Speak the language of rights advocacy — yuṣirru ʿalā an (insists), yuṭālibu bi-an (demands), yadʿū ilā an (calls for), each with its own preposition and a verb in -a — inside a balanced argument: ṣaḥīḥun anna … ghayra anna … law … 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P5-L03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Three new triggers with their prepositions, verbs in -a incl. passives, a balanced argument.</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pictures of equality, build an advocacy line, sort insist / demand / call.</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المُسَاوَاةُ بَيْنَ الجِنْسَيْنِ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mixed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gender equality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sexes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فَجْوَةُ الأُجُورِ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pay gap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 increase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work break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يُطَالِبُ بِأَنْ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hopes that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fears that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demands that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humanitarian passive “is displaced”?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يُهَاجِرُ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هَجَّرَ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يُهَجَّرُ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لَوْ لَمْ تَنْدَلِعِ الحُرُوبُ،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المَلَايِينُ إِلَى الفِرَارِ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 اضْطُرَّ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سَيَضْطَرُّ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اضْطُرَّ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المُسَاوَاةُ بَيْنَ الجِنْسَيْنِ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mixed school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gender equality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sexes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فَجْوَةُ الأُجُورِ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pay gap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salary increase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work break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يُطَالِبُ بِأَنْ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hopes that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fears that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demands that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humanitarian passive “is displaced”?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يُهَاجِرُ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هَجَّرَ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يُهَجَّرُ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P5-L02: the person first.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لَوْ لَمْ تَنْدَلِعِ الحُرُوبُ،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المَلَايِينُ إِلَى الفِرَارِ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لَمَا اضْطُرَّ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سَيَضْطَرُّ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اضْطُرَّ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P5-L02: law lam … la-mā.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trigger has its own preposition — and after the an, the verb ends in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يُصِرُّ </a:t>
            </a:r>
            <a:pPr rtl="1" algn="ctr" indent="0" marL="0">
              <a:lnSpc>
                <a:spcPct val="120000"/>
              </a:lnSpc>
              <a:buNone/>
            </a:pPr>
            <a:r>
              <a:rPr lang="ar-SA" altLang="en-US" sz="1950" b="1" dirty="0">
                <a:solidFill>
                  <a:srgbClr val="1D5FBF"/>
                </a:solidFill>
                <a:latin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cs typeface="Amiri" pitchFamily="2" charset="-78"/>
              </a:rPr>
              <a:t> أَنْ </a:t>
            </a:r>
            <a:pPr rtl="1" algn="ctr" indent="0" marL="0">
              <a:lnSpc>
                <a:spcPct val="120000"/>
              </a:lnSpc>
              <a:buNone/>
            </a:pPr>
            <a:r>
              <a:rPr lang="ar-SA" altLang="en-US" sz="1950" b="1" dirty="0">
                <a:solidFill>
                  <a:srgbClr val="0E7C86"/>
                </a:solidFill>
                <a:latin typeface="Amiri" pitchFamily="2" charset="-78"/>
                <a:cs typeface="Amiri" pitchFamily="2" charset="-78"/>
              </a:rPr>
              <a:t>تَحْصُلَ</a:t>
            </a:r>
            <a:pPr rtl="1" algn="ctr" indent="0" marL="0">
              <a:lnSpc>
                <a:spcPct val="120000"/>
              </a:lnSpc>
              <a:buNone/>
            </a:pPr>
            <a:r>
              <a:rPr lang="ar-SA" altLang="en-US" sz="1950" b="1" dirty="0">
                <a:solidFill>
                  <a:srgbClr val="1B3B6F"/>
                </a:solidFill>
                <a:latin typeface="Amiri" pitchFamily="2" charset="-78"/>
                <a:cs typeface="Amiri" pitchFamily="2" charset="-78"/>
              </a:rPr>
              <a:t> · يُطَالِبُ </a:t>
            </a:r>
            <a:pPr rtl="1" algn="ctr" indent="0" marL="0">
              <a:lnSpc>
                <a:spcPct val="120000"/>
              </a:lnSpc>
              <a:buNone/>
            </a:pPr>
            <a:r>
              <a:rPr lang="ar-SA" altLang="en-US" sz="1950" b="1" dirty="0">
                <a:solidFill>
                  <a:srgbClr val="1D5FBF"/>
                </a:solidFill>
                <a:latin typeface="Amiri" pitchFamily="2" charset="-78"/>
                <a:cs typeface="Amiri" pitchFamily="2" charset="-78"/>
              </a:rPr>
              <a:t>بِـ</a:t>
            </a:r>
            <a:pPr rtl="1" algn="ctr" indent="0" marL="0">
              <a:lnSpc>
                <a:spcPct val="120000"/>
              </a:lnSpc>
              <a:buNone/>
            </a:pPr>
            <a:r>
              <a:rPr lang="ar-SA" altLang="en-US" sz="1950" b="1" dirty="0">
                <a:solidFill>
                  <a:srgbClr val="1B3B6F"/>
                </a:solidFill>
                <a:latin typeface="Amiri" pitchFamily="2" charset="-78"/>
                <a:cs typeface="Amiri" pitchFamily="2" charset="-78"/>
              </a:rPr>
              <a:t>أَنْ </a:t>
            </a:r>
            <a:pPr rtl="1" algn="ctr" indent="0" marL="0">
              <a:lnSpc>
                <a:spcPct val="120000"/>
              </a:lnSpc>
              <a:buNone/>
            </a:pPr>
            <a:r>
              <a:rPr lang="ar-SA" altLang="en-US" sz="1950" b="1" dirty="0">
                <a:solidFill>
                  <a:srgbClr val="0E7C86"/>
                </a:solidFill>
                <a:latin typeface="Amiri" pitchFamily="2" charset="-78"/>
                <a:cs typeface="Amiri" pitchFamily="2" charset="-78"/>
              </a:rPr>
              <a:t>تُوَقِّعَ</a:t>
            </a:r>
            <a:pPr rtl="1" algn="ctr" indent="0" marL="0">
              <a:lnSpc>
                <a:spcPct val="120000"/>
              </a:lnSpc>
              <a:buNone/>
            </a:pPr>
            <a:r>
              <a:rPr lang="ar-SA" altLang="en-US" sz="1950" b="1" dirty="0">
                <a:solidFill>
                  <a:srgbClr val="1B3B6F"/>
                </a:solidFill>
                <a:latin typeface="Amiri" pitchFamily="2" charset="-78"/>
                <a:cs typeface="Amiri" pitchFamily="2" charset="-78"/>
              </a:rPr>
              <a:t> · يَدْعُو </a:t>
            </a:r>
            <a:pPr rtl="1" algn="ctr" indent="0" marL="0">
              <a:lnSpc>
                <a:spcPct val="120000"/>
              </a:lnSpc>
              <a:buNone/>
            </a:pPr>
            <a:r>
              <a:rPr lang="ar-SA" altLang="en-US" sz="1950" b="1" dirty="0">
                <a:solidFill>
                  <a:srgbClr val="1D5FBF"/>
                </a:solidFill>
                <a:latin typeface="Amiri" pitchFamily="2" charset="-78"/>
                <a:cs typeface="Amiri" pitchFamily="2" charset="-78"/>
              </a:rPr>
              <a:t>إِلَى</a:t>
            </a:r>
            <a:pPr rtl="1" algn="ctr" indent="0" marL="0">
              <a:lnSpc>
                <a:spcPct val="120000"/>
              </a:lnSpc>
              <a:buNone/>
            </a:pPr>
            <a:r>
              <a:rPr lang="ar-SA" altLang="en-US" sz="1950" b="1" dirty="0">
                <a:solidFill>
                  <a:srgbClr val="1B3B6F"/>
                </a:solidFill>
                <a:latin typeface="Amiri" pitchFamily="2" charset="-78"/>
                <a:cs typeface="Amiri" pitchFamily="2" charset="-78"/>
              </a:rPr>
              <a:t> أَنْ </a:t>
            </a:r>
            <a:pPr rtl="1" algn="ctr" indent="0" marL="0">
              <a:lnSpc>
                <a:spcPct val="120000"/>
              </a:lnSpc>
              <a:buNone/>
            </a:pPr>
            <a:r>
              <a:rPr lang="ar-SA" altLang="en-US" sz="1950" b="1" dirty="0">
                <a:solidFill>
                  <a:srgbClr val="0E7C86"/>
                </a:solidFill>
                <a:latin typeface="Amiri" pitchFamily="2" charset="-78"/>
                <a:cs typeface="Amiri" pitchFamily="2" charset="-78"/>
              </a:rPr>
              <a:t>يَنْتَهِيَ</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Discuss gender equality with formal rights vocabulary and a balanced argument.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yuṣirru ʿalā an, yuṭālibu bi-an and yadʿū ilā an + a verb in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Balance conceded progress against remaining challenges.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each trigger’s preposition and every verb’s final -a.</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rights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each trigger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the verb after an in -a — even a passive.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balance progress and challenges.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all three triggers and a Type 2.</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balanced 110-word argument.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Insistence, demand and call triggers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Gender equality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Progress and struggle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حُقُوقٌ</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‎حقوق‎ </a:t>
            </a:r>
            <a:pPr indent="0" marL="0">
              <a:buNone/>
            </a:pPr>
            <a:r>
              <a:rPr lang="en-US" sz="950" b="1" dirty="0">
                <a:solidFill>
                  <a:srgbClr val="2E8B57"/>
                </a:solidFill>
                <a:latin typeface="Calibri" pitchFamily="34" charset="0"/>
                <a:cs typeface="Amiri" pitchFamily="2" charset="-78"/>
              </a:rPr>
              <a:t> huqūq · rights (ḥuqūq al-ʿibād)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مُطَالَبَةٌ · يُطَالِبُ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‎مطالبہ‎ </a:t>
            </a:r>
            <a:pPr indent="0" marL="0">
              <a:buNone/>
            </a:pPr>
            <a:r>
              <a:rPr lang="en-US" sz="950" b="1" dirty="0">
                <a:solidFill>
                  <a:srgbClr val="2E8B57"/>
                </a:solidFill>
                <a:latin typeface="Calibri" pitchFamily="34" charset="0"/>
                <a:cs typeface="Amiri" pitchFamily="2" charset="-78"/>
              </a:rPr>
              <a:t> mutālaba · a demand · demands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إِصْرَارٌ · يُصِرُّ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‎اصرار‎ </a:t>
            </a:r>
            <a:pPr indent="0" marL="0">
              <a:buNone/>
            </a:pPr>
            <a:r>
              <a:rPr lang="en-US" sz="950" b="1" dirty="0">
                <a:solidFill>
                  <a:srgbClr val="2E8B57"/>
                </a:solidFill>
                <a:latin typeface="Calibri" pitchFamily="34" charset="0"/>
                <a:cs typeface="Amiri" pitchFamily="2" charset="-78"/>
              </a:rPr>
              <a:t> isrār · insistence · insists</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دَعْوَةٌ · يَدْعُو</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‎دعوت‎ </a:t>
            </a:r>
            <a:pPr indent="0" marL="0">
              <a:buNone/>
            </a:pPr>
            <a:r>
              <a:rPr lang="en-US" sz="950" b="1" dirty="0">
                <a:solidFill>
                  <a:srgbClr val="2E8B57"/>
                </a:solidFill>
                <a:latin typeface="Calibri" pitchFamily="34" charset="0"/>
                <a:cs typeface="Amiri" pitchFamily="2" charset="-78"/>
              </a:rPr>
              <a:t> dāwat · Arabic: a call · Urdu: an invitation, a feast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تَمْثِيلٌ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‎تمثیل‎ </a:t>
            </a:r>
            <a:pPr indent="0" marL="0">
              <a:buNone/>
            </a:pPr>
            <a:r>
              <a:rPr lang="en-US" sz="950" b="1" dirty="0">
                <a:solidFill>
                  <a:srgbClr val="2E8B57"/>
                </a:solidFill>
                <a:latin typeface="Calibri" pitchFamily="34" charset="0"/>
                <a:cs typeface="Amiri" pitchFamily="2" charset="-78"/>
              </a:rPr>
              <a:t> tamsīl · Arabic: representation · Urdu: an allegory, a parable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Insistence, demand and call triggers (1 of 2)</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يُصِرُّ عَلَى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insists that</a:t>
            </a:r>
            <a:endParaRPr lang="en-US" sz="1350" dirty="0"/>
          </a:p>
          <a:p>
            <a:pPr indent="0" marL="0">
              <a:buNone/>
            </a:pPr>
            <a:r>
              <a:rPr lang="en-US" sz="1100" i="1" dirty="0">
                <a:solidFill>
                  <a:srgbClr val="5A6472"/>
                </a:solidFill>
                <a:latin typeface="Calibri" pitchFamily="34" charset="0"/>
                <a:cs typeface="Amiri" pitchFamily="2" charset="-78"/>
              </a:rPr>
              <a:t>yu-ṣir-ru ʿa-lā an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تُصِرُّ عَلَى أَنْ</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أُصِرُّ عَلَى أَنْ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يُطَالِبُ بِأَنْ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demands that</a:t>
            </a:r>
            <a:endParaRPr lang="en-US" sz="1350" dirty="0"/>
          </a:p>
          <a:p>
            <a:pPr indent="0" marL="0">
              <a:buNone/>
            </a:pPr>
            <a:r>
              <a:rPr lang="en-US" sz="1100" i="1" dirty="0">
                <a:solidFill>
                  <a:srgbClr val="5A6472"/>
                </a:solidFill>
                <a:latin typeface="Calibri" pitchFamily="34" charset="0"/>
                <a:cs typeface="Amiri" pitchFamily="2" charset="-78"/>
              </a:rPr>
              <a:t>yu-ṭā-li-bu bi-ʾan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تُطَالِبُ بِأَنْ</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أُطَالِبُ بِأَنْ</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يَدْعُو إِلَى أَنْ</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calls for that</a:t>
            </a:r>
            <a:endParaRPr lang="en-US" sz="1350" dirty="0"/>
          </a:p>
          <a:p>
            <a:pPr indent="0" marL="0">
              <a:buNone/>
            </a:pPr>
            <a:r>
              <a:rPr lang="en-US" sz="1100" i="1" dirty="0">
                <a:solidFill>
                  <a:srgbClr val="5A6472"/>
                </a:solidFill>
                <a:latin typeface="Calibri" pitchFamily="34" charset="0"/>
                <a:cs typeface="Amiri" pitchFamily="2" charset="-78"/>
              </a:rPr>
              <a:t>yad-ʿū i-lā an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تَدْعُو إِلَى أَنْ</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أَدْعُو إِلَى أَنْ</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يُنَاضِلُ مِنْ أَجْلِ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fights for</a:t>
            </a:r>
            <a:endParaRPr lang="en-US" sz="1350" dirty="0"/>
          </a:p>
          <a:p>
            <a:pPr indent="0" marL="0">
              <a:buNone/>
            </a:pPr>
            <a:r>
              <a:rPr lang="en-US" sz="1100" i="1" dirty="0">
                <a:solidFill>
                  <a:srgbClr val="5A6472"/>
                </a:solidFill>
                <a:latin typeface="Calibri" pitchFamily="34" charset="0"/>
                <a:cs typeface="Amiri" pitchFamily="2" charset="-78"/>
              </a:rPr>
              <a:t>yu-nā-ḍi-lu min aj-li</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تُنَاضِلُ مِنْ أَجْلِ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أُنَاضِلُ مِنْ أَجْلِ</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Insistence, demand and call triggers (2 of 2)</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64226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Beyond the core three.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المُسَبِّبُ المُوَسَّعُ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extended trigger</a:t>
            </a:r>
            <a:endParaRPr lang="en-US" sz="1350" dirty="0"/>
          </a:p>
          <a:p>
            <a:pPr indent="0" marL="0">
              <a:buNone/>
            </a:pPr>
            <a:r>
              <a:rPr lang="en-US" sz="1100" i="1" dirty="0">
                <a:solidFill>
                  <a:srgbClr val="5A6472"/>
                </a:solidFill>
                <a:latin typeface="Calibri" pitchFamily="34" charset="0"/>
                <a:cs typeface="Amiri" pitchFamily="2" charset="-78"/>
              </a:rPr>
              <a:t>al-mu-sab-bi-bu al-mu-was-sa-ʿu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صِيغَةُ المَطَالِبِ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demands register</a:t>
            </a:r>
            <a:endParaRPr lang="en-US" sz="1350" dirty="0"/>
          </a:p>
          <a:p>
            <a:pPr indent="0" marL="0">
              <a:buNone/>
            </a:pPr>
            <a:r>
              <a:rPr lang="en-US" sz="1100" i="1" dirty="0">
                <a:solidFill>
                  <a:srgbClr val="5A6472"/>
                </a:solidFill>
                <a:latin typeface="Calibri" pitchFamily="34" charset="0"/>
                <a:cs typeface="Amiri" pitchFamily="2" charset="-78"/>
              </a:rPr>
              <a:t>ṣī-gha-tu al-ma-ṭā-li-bi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فِعْلُ الإِصْرَارِ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verb of insistence</a:t>
            </a:r>
            <a:endParaRPr lang="en-US" sz="1350" dirty="0"/>
          </a:p>
          <a:p>
            <a:pPr indent="0" marL="0">
              <a:buNone/>
            </a:pPr>
            <a:r>
              <a:rPr lang="en-US" sz="1100" i="1" dirty="0">
                <a:solidFill>
                  <a:srgbClr val="5A6472"/>
                </a:solidFill>
                <a:latin typeface="Calibri" pitchFamily="34" charset="0"/>
                <a:cs typeface="Amiri" pitchFamily="2" charset="-78"/>
              </a:rPr>
              <a:t>fiʿ-lu al-iṣ-rā-ri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Takes بِـ.</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يَحْظَى بِـ</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enjoys / attains</a:t>
            </a:r>
            <a:endParaRPr lang="en-US" sz="1350" dirty="0"/>
          </a:p>
          <a:p>
            <a:pPr indent="0" marL="0">
              <a:buNone/>
            </a:pPr>
            <a:r>
              <a:rPr lang="en-US" sz="1100" i="1" dirty="0">
                <a:solidFill>
                  <a:srgbClr val="5A6472"/>
                </a:solidFill>
                <a:latin typeface="Calibri" pitchFamily="34" charset="0"/>
                <a:cs typeface="Amiri" pitchFamily="2" charset="-78"/>
              </a:rPr>
              <a:t>yaḥ-ẓā bi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Gender equality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المُسَاوَاةُ بَيْنَ الجِنْسَيْنِ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gender equality</a:t>
            </a:r>
            <a:endParaRPr lang="en-US" sz="1350" dirty="0"/>
          </a:p>
          <a:p>
            <a:pPr indent="0" marL="0">
              <a:buNone/>
            </a:pPr>
            <a:r>
              <a:rPr lang="en-US" sz="1100" i="1" dirty="0">
                <a:solidFill>
                  <a:srgbClr val="5A6472"/>
                </a:solidFill>
                <a:latin typeface="Calibri" pitchFamily="34" charset="0"/>
                <a:cs typeface="Amiri" pitchFamily="2" charset="-78"/>
              </a:rPr>
              <a:t>al-mu-sā-wā-tu bay-na al-jin-say-ni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تَمْكِينُ المَرْأَةِ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women's empowerment</a:t>
            </a:r>
            <a:endParaRPr lang="en-US" sz="1350" dirty="0"/>
          </a:p>
          <a:p>
            <a:pPr indent="0" marL="0">
              <a:buNone/>
            </a:pPr>
            <a:r>
              <a:rPr lang="en-US" sz="1100" i="1" dirty="0">
                <a:solidFill>
                  <a:srgbClr val="5A6472"/>
                </a:solidFill>
                <a:latin typeface="Calibri" pitchFamily="34" charset="0"/>
                <a:cs typeface="Amiri" pitchFamily="2" charset="-78"/>
              </a:rPr>
              <a:t>tam-kī-nu al-mar-ʾa-ti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فَجْوَةُ الأُجُورِ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gender pay gap</a:t>
            </a:r>
            <a:endParaRPr lang="en-US" sz="1350" dirty="0"/>
          </a:p>
          <a:p>
            <a:pPr indent="0" marL="0">
              <a:buNone/>
            </a:pPr>
            <a:r>
              <a:rPr lang="en-US" sz="1100" i="1" dirty="0">
                <a:solidFill>
                  <a:srgbClr val="5A6472"/>
                </a:solidFill>
                <a:latin typeface="Calibri" pitchFamily="34" charset="0"/>
                <a:cs typeface="Amiri" pitchFamily="2" charset="-78"/>
              </a:rPr>
              <a:t>faj-wa-tu al-u-jū-ri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التَّمْثِيلُ السِّيَاسِيُّ</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political representation</a:t>
            </a:r>
            <a:endParaRPr lang="en-US" sz="1350" dirty="0"/>
          </a:p>
          <a:p>
            <a:pPr indent="0" marL="0">
              <a:buNone/>
            </a:pPr>
            <a:r>
              <a:rPr lang="en-US" sz="1100" i="1" dirty="0">
                <a:solidFill>
                  <a:srgbClr val="5A6472"/>
                </a:solidFill>
                <a:latin typeface="Calibri" pitchFamily="34" charset="0"/>
                <a:cs typeface="Amiri" pitchFamily="2" charset="-78"/>
              </a:rPr>
              <a:t>at-tam-thī-lu as-si-yā-siy-yu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Gender equality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القَوَالِبُ النَّمَطِيَّةُ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stereotypes</a:t>
            </a:r>
            <a:endParaRPr lang="en-US" sz="1350" dirty="0"/>
          </a:p>
          <a:p>
            <a:pPr indent="0" marL="0">
              <a:buNone/>
            </a:pPr>
            <a:r>
              <a:rPr lang="en-US" sz="1100" i="1" dirty="0">
                <a:solidFill>
                  <a:srgbClr val="5A6472"/>
                </a:solidFill>
                <a:latin typeface="Calibri" pitchFamily="34" charset="0"/>
                <a:cs typeface="Amiri" pitchFamily="2" charset="-78"/>
              </a:rPr>
              <a:t>al-qa-wā-li-bu an-na-ma-ṭiy-ya-tu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قَالَبٌ نَمَطِيٌّ</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cs typeface="Amiri" pitchFamily="2" charset="-78"/>
              </a:rPr>
              <a:t>التَّمْيِيزُ القَائِمُ عَلَى النَّوْعِ</a:t>
            </a:r>
            <a:endParaRPr lang="ar-SA" sz="28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gender-based discrimination</a:t>
            </a:r>
            <a:endParaRPr lang="en-US" sz="1350" dirty="0"/>
          </a:p>
          <a:p>
            <a:pPr indent="0" marL="0">
              <a:buNone/>
            </a:pPr>
            <a:r>
              <a:rPr lang="en-US" sz="1100" i="1" dirty="0">
                <a:solidFill>
                  <a:srgbClr val="5A6472"/>
                </a:solidFill>
                <a:latin typeface="Calibri" pitchFamily="34" charset="0"/>
                <a:cs typeface="Amiri" pitchFamily="2" charset="-78"/>
              </a:rPr>
              <a:t>at-tam-yī-zu al-qā-ʾi-mu ʿa-lā an-naw-ʿi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النِّظَامُ الأَبَوِيُّ</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patriarchal system</a:t>
            </a:r>
            <a:endParaRPr lang="en-US" sz="1350" dirty="0"/>
          </a:p>
          <a:p>
            <a:pPr indent="0" marL="0">
              <a:buNone/>
            </a:pPr>
            <a:r>
              <a:rPr lang="en-US" sz="1100" i="1" dirty="0">
                <a:solidFill>
                  <a:srgbClr val="5A6472"/>
                </a:solidFill>
                <a:latin typeface="Calibri" pitchFamily="34" charset="0"/>
                <a:cs typeface="Amiri" pitchFamily="2" charset="-78"/>
              </a:rPr>
              <a:t>an-ni-ẓā-mu al-a-ba-wiy-yu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المُعِيقَاتُ البِنْيَوِيَّةُ</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structural barriers</a:t>
            </a:r>
            <a:endParaRPr lang="en-US" sz="1350" dirty="0"/>
          </a:p>
          <a:p>
            <a:pPr indent="0" marL="0">
              <a:buNone/>
            </a:pPr>
            <a:r>
              <a:rPr lang="en-US" sz="1100" i="1" dirty="0">
                <a:solidFill>
                  <a:srgbClr val="5A6472"/>
                </a:solidFill>
                <a:latin typeface="Calibri" pitchFamily="34" charset="0"/>
                <a:cs typeface="Amiri" pitchFamily="2" charset="-78"/>
              </a:rPr>
              <a:t>al-mu-ʿī-qā-tu al-bin-ya-wiy-ya-tu</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Progress and struggle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حُقُوقُ المَرْأَةِ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women's rights</a:t>
            </a:r>
            <a:endParaRPr lang="en-US" sz="1350" dirty="0"/>
          </a:p>
          <a:p>
            <a:pPr indent="0" marL="0">
              <a:buNone/>
            </a:pPr>
            <a:r>
              <a:rPr lang="en-US" sz="1100" i="1" dirty="0">
                <a:solidFill>
                  <a:srgbClr val="5A6472"/>
                </a:solidFill>
                <a:latin typeface="Calibri" pitchFamily="34" charset="0"/>
                <a:cs typeface="Amiri" pitchFamily="2" charset="-78"/>
              </a:rPr>
              <a:t>ḥu-qū-qu al-mar-ʾa-ti</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حَقٌّ</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إِنْجَازَاتُ المَرْأَةِ العَرَبِيَّةِ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 women's achievements</a:t>
            </a:r>
            <a:endParaRPr lang="en-US" sz="1350" dirty="0"/>
          </a:p>
          <a:p>
            <a:pPr indent="0" marL="0">
              <a:buNone/>
            </a:pPr>
            <a:r>
              <a:rPr lang="en-US" sz="1100" i="1" dirty="0">
                <a:solidFill>
                  <a:srgbClr val="5A6472"/>
                </a:solidFill>
                <a:latin typeface="Calibri" pitchFamily="34" charset="0"/>
                <a:cs typeface="Amiri" pitchFamily="2" charset="-78"/>
              </a:rPr>
              <a:t>in-jā-zā-tu al-mar-ʾa-ti al-ʿa-ra-biy-ya-ti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7" name="Shape 34"/>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نَاشِطَةُ حُقُوقٍ</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rights activist (f.)</a:t>
            </a:r>
            <a:endParaRPr lang="en-US" sz="1350" dirty="0"/>
          </a:p>
          <a:p>
            <a:pPr indent="0" marL="0">
              <a:buNone/>
            </a:pPr>
            <a:r>
              <a:rPr lang="en-US" sz="1100" i="1" dirty="0">
                <a:solidFill>
                  <a:srgbClr val="5A6472"/>
                </a:solidFill>
                <a:latin typeface="Calibri" pitchFamily="34" charset="0"/>
                <a:cs typeface="Amiri" pitchFamily="2" charset="-78"/>
              </a:rPr>
              <a:t>nā-shi-ṭa-tu ḥu-qū-qin</a:t>
            </a:r>
            <a:endParaRPr lang="en-US" sz="1350" dirty="0"/>
          </a:p>
        </p:txBody>
      </p:sp>
      <p:sp>
        <p:nvSpPr>
          <p:cNvPr id="41" name="Shape 3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 pl.</a:t>
            </a:r>
            <a:endParaRPr lang="en-US" sz="700" dirty="0"/>
          </a:p>
        </p:txBody>
      </p:sp>
      <p:sp>
        <p:nvSpPr>
          <p:cNvPr id="43" name="Text 40"/>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نَاشِطَاتٌ</a:t>
            </a:r>
            <a:endParaRPr lang="ar-SA" sz="1350" dirty="0"/>
          </a:p>
        </p:txBody>
      </p:sp>
      <p:sp>
        <p:nvSpPr>
          <p:cNvPr id="44" name="Shape 4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6" name="Text 4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نَاشِطُ حُقُوقٍ</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التَّقَدُّمُ التَّدْرِيجِيُّ</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gradual progress</a:t>
            </a:r>
            <a:endParaRPr lang="en-US" sz="1350" dirty="0"/>
          </a:p>
          <a:p>
            <a:pPr indent="0" marL="0">
              <a:buNone/>
            </a:pPr>
            <a:r>
              <a:rPr lang="en-US" sz="1100" i="1" dirty="0">
                <a:solidFill>
                  <a:srgbClr val="5A6472"/>
                </a:solidFill>
                <a:latin typeface="Calibri" pitchFamily="34" charset="0"/>
                <a:cs typeface="Amiri" pitchFamily="2" charset="-78"/>
              </a:rPr>
              <a:t>at-ta-qad-du-mu at-tad-rī-jiy-yu</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Progress and struggle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يُشَارِكُ فِي صُنْعِ القَرَارِ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participates in decision-making</a:t>
            </a:r>
            <a:endParaRPr lang="en-US" sz="1350" dirty="0"/>
          </a:p>
          <a:p>
            <a:pPr indent="0" marL="0">
              <a:buNone/>
            </a:pPr>
            <a:r>
              <a:rPr lang="en-US" sz="1100" i="1" dirty="0">
                <a:solidFill>
                  <a:srgbClr val="5A6472"/>
                </a:solidFill>
                <a:latin typeface="Calibri" pitchFamily="34" charset="0"/>
                <a:cs typeface="Amiri" pitchFamily="2" charset="-78"/>
              </a:rPr>
              <a:t>yu-shā-ri-ku fī ṣun-ʿi al-qa-rā-ri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العَمَلُ غَيْرُ المَأْجُورِ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unpaid labour</a:t>
            </a:r>
            <a:endParaRPr lang="en-US" sz="1350" dirty="0"/>
          </a:p>
          <a:p>
            <a:pPr indent="0" marL="0">
              <a:buNone/>
            </a:pPr>
            <a:r>
              <a:rPr lang="en-US" sz="1100" i="1" dirty="0">
                <a:solidFill>
                  <a:srgbClr val="5A6472"/>
                </a:solidFill>
                <a:latin typeface="Calibri" pitchFamily="34" charset="0"/>
                <a:cs typeface="Amiri" pitchFamily="2" charset="-78"/>
              </a:rPr>
              <a:t>al-ʿa-ma-lu ghay-ru al-maʾ-jū-ri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تَكَافُؤُ الفُرَصِ</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equality of opportunity</a:t>
            </a:r>
            <a:endParaRPr lang="en-US" sz="1350" dirty="0"/>
          </a:p>
          <a:p>
            <a:pPr indent="0" marL="0">
              <a:buNone/>
            </a:pPr>
            <a:r>
              <a:rPr lang="en-US" sz="1100" i="1" dirty="0">
                <a:solidFill>
                  <a:srgbClr val="5A6472"/>
                </a:solidFill>
                <a:latin typeface="Calibri" pitchFamily="34" charset="0"/>
                <a:cs typeface="Amiri" pitchFamily="2" charset="-78"/>
              </a:rPr>
              <a:t>ta-kā-fu-ʾu al-fu-ra-ṣi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العُنْفُ الأُسَرِيُّ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domestic violence</a:t>
            </a:r>
            <a:endParaRPr lang="en-US" sz="1350" dirty="0"/>
          </a:p>
          <a:p>
            <a:pPr indent="0" marL="0">
              <a:buNone/>
            </a:pPr>
            <a:r>
              <a:rPr lang="en-US" sz="1100" i="1" dirty="0">
                <a:solidFill>
                  <a:srgbClr val="5A6472"/>
                </a:solidFill>
                <a:latin typeface="Calibri" pitchFamily="34" charset="0"/>
                <a:cs typeface="Amiri" pitchFamily="2" charset="-78"/>
              </a:rPr>
              <a:t>al-ʿun-fu al-u-sa-riy-yu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THREE NEW TRIGGERS (WEBSITE RULES 1–3, TABLE AND TEACHING POINT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Insist, demand, call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الإِصْرَارُ وَالمُطَالَبَةُ وَالدَّعْوَةُ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559552" y="1810512"/>
            <a:ext cx="6099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00507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25420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Preposition</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577840" y="2267712"/>
            <a:ext cx="60624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يُصِرُّ المُدَافِعُونَ </a:t>
            </a:r>
            <a:pPr rtl="1" algn="ctr" indent="0" marL="0">
              <a:buNone/>
            </a:pPr>
            <a:r>
              <a:rPr lang="ar-SA" altLang="en-US" sz="1700" b="1" dirty="0">
                <a:solidFill>
                  <a:srgbClr val="1D5FBF"/>
                </a:solidFill>
                <a:latin typeface="Amiri" pitchFamily="2" charset="-78"/>
                <a:cs typeface="Amiri" pitchFamily="2" charset="-78"/>
              </a:rPr>
              <a:t>عَلَى</a:t>
            </a:r>
            <a:pPr rtl="1" algn="ctr" indent="0" marL="0">
              <a:buNone/>
            </a:pPr>
            <a:r>
              <a:rPr lang="ar-SA" altLang="en-US" sz="1700" b="1" dirty="0">
                <a:solidFill>
                  <a:srgbClr val="1B3B6F"/>
                </a:solidFill>
                <a:latin typeface="Amiri" pitchFamily="2" charset="-78"/>
                <a:cs typeface="Amiri" pitchFamily="2" charset="-78"/>
              </a:rPr>
              <a:t> أَنْ </a:t>
            </a:r>
            <a:pPr rtl="1" algn="ctr" indent="0" marL="0">
              <a:buNone/>
            </a:pPr>
            <a:r>
              <a:rPr lang="ar-SA" altLang="en-US" sz="1700" b="1" dirty="0">
                <a:solidFill>
                  <a:srgbClr val="0E7C86"/>
                </a:solidFill>
                <a:latin typeface="Amiri" pitchFamily="2" charset="-78"/>
                <a:cs typeface="Amiri" pitchFamily="2" charset="-78"/>
              </a:rPr>
              <a:t>تَحْصُلَ</a:t>
            </a:r>
            <a:pPr rtl="1" algn="ctr" indent="0" marL="0">
              <a:buNone/>
            </a:pPr>
            <a:r>
              <a:rPr lang="ar-SA" altLang="en-US" sz="1700" b="1" dirty="0">
                <a:solidFill>
                  <a:srgbClr val="1B3B6F"/>
                </a:solidFill>
                <a:latin typeface="Amiri" pitchFamily="2" charset="-78"/>
                <a:cs typeface="Amiri" pitchFamily="2" charset="-78"/>
              </a:rPr>
              <a:t> المَرْأَةُ عَلَى حُقُوقٍ مُتَسَاوِيَةٍ.</a:t>
            </a:r>
            <a:endParaRPr lang="ar-SA" sz="1700" dirty="0"/>
          </a:p>
        </p:txBody>
      </p:sp>
      <p:sp>
        <p:nvSpPr>
          <p:cNvPr id="22" name="Text 19"/>
          <p:cNvSpPr txBox="1"/>
          <p:nvPr/>
        </p:nvSpPr>
        <p:spPr>
          <a:xfrm>
            <a:off x="404164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insists</a:t>
            </a:r>
            <a:endParaRPr lang="en-US" sz="1100" dirty="0"/>
          </a:p>
        </p:txBody>
      </p:sp>
      <p:sp>
        <p:nvSpPr>
          <p:cNvPr id="23" name="Text 20"/>
          <p:cNvSpPr txBox="1"/>
          <p:nvPr/>
        </p:nvSpPr>
        <p:spPr>
          <a:xfrm>
            <a:off x="2560320" y="2267712"/>
            <a:ext cx="12801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عَلَى</a:t>
            </a:r>
            <a:pPr rtl="1" algn="ctr" indent="0" marL="0">
              <a:buNone/>
            </a:pPr>
            <a:r>
              <a:rPr lang="ar-SA" altLang="en-US" sz="2000" b="1" dirty="0">
                <a:solidFill>
                  <a:srgbClr val="1B3B6F"/>
                </a:solidFill>
                <a:latin typeface="Amiri" pitchFamily="2" charset="-78"/>
                <a:cs typeface="Amiri" pitchFamily="2" charset="-78"/>
              </a:rPr>
              <a:t> أَنْ</a:t>
            </a:r>
            <a:endParaRPr lang="ar-SA" sz="2000" dirty="0"/>
          </a:p>
        </p:txBody>
      </p:sp>
      <p:sp>
        <p:nvSpPr>
          <p:cNvPr id="24" name="Text 21"/>
          <p:cNvSpPr txBox="1"/>
          <p:nvPr/>
        </p:nvSpPr>
        <p:spPr>
          <a:xfrm>
            <a:off x="548640" y="2267712"/>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يُصِرُّ</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577840" y="3004718"/>
            <a:ext cx="60624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يُطَالِبُ النَّاشِطُونَ </a:t>
            </a:r>
            <a:pPr rtl="1" algn="ctr" indent="0" marL="0">
              <a:buNone/>
            </a:pPr>
            <a:r>
              <a:rPr lang="ar-SA" altLang="en-US" sz="1700" b="1" dirty="0">
                <a:solidFill>
                  <a:srgbClr val="1D5FBF"/>
                </a:solidFill>
                <a:latin typeface="Amiri" pitchFamily="2" charset="-78"/>
                <a:cs typeface="Amiri" pitchFamily="2" charset="-78"/>
              </a:rPr>
              <a:t>بِ</a:t>
            </a:r>
            <a:pPr rtl="1" algn="ctr" indent="0" marL="0">
              <a:buNone/>
            </a:pPr>
            <a:r>
              <a:rPr lang="ar-SA" altLang="en-US" sz="1700" b="1" dirty="0">
                <a:solidFill>
                  <a:srgbClr val="1B3B6F"/>
                </a:solidFill>
                <a:latin typeface="Amiri" pitchFamily="2" charset="-78"/>
                <a:cs typeface="Amiri" pitchFamily="2" charset="-78"/>
              </a:rPr>
              <a:t>أَنْ </a:t>
            </a:r>
            <a:pPr rtl="1" algn="ctr" indent="0" marL="0">
              <a:buNone/>
            </a:pPr>
            <a:r>
              <a:rPr lang="ar-SA" altLang="en-US" sz="1700" b="1" dirty="0">
                <a:solidFill>
                  <a:srgbClr val="0E7C86"/>
                </a:solidFill>
                <a:latin typeface="Amiri" pitchFamily="2" charset="-78"/>
                <a:cs typeface="Amiri" pitchFamily="2" charset="-78"/>
              </a:rPr>
              <a:t>تُوَقِّعَ</a:t>
            </a:r>
            <a:pPr rtl="1" algn="ctr" indent="0" marL="0">
              <a:buNone/>
            </a:pPr>
            <a:r>
              <a:rPr lang="ar-SA" altLang="en-US" sz="1700" b="1" dirty="0">
                <a:solidFill>
                  <a:srgbClr val="1B3B6F"/>
                </a:solidFill>
                <a:latin typeface="Amiri" pitchFamily="2" charset="-78"/>
                <a:cs typeface="Amiri" pitchFamily="2" charset="-78"/>
              </a:rPr>
              <a:t> الحُكُومَاتُ اتِّفَاقِيَّاتِ المُسَاوَاةِ.</a:t>
            </a:r>
            <a:endParaRPr lang="ar-SA" sz="1700" dirty="0"/>
          </a:p>
        </p:txBody>
      </p:sp>
      <p:sp>
        <p:nvSpPr>
          <p:cNvPr id="29" name="Text 26"/>
          <p:cNvSpPr txBox="1"/>
          <p:nvPr/>
        </p:nvSpPr>
        <p:spPr>
          <a:xfrm>
            <a:off x="404164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demands</a:t>
            </a:r>
            <a:endParaRPr lang="en-US" sz="1100" dirty="0"/>
          </a:p>
        </p:txBody>
      </p:sp>
      <p:sp>
        <p:nvSpPr>
          <p:cNvPr id="30" name="Text 27"/>
          <p:cNvSpPr txBox="1"/>
          <p:nvPr/>
        </p:nvSpPr>
        <p:spPr>
          <a:xfrm>
            <a:off x="2560320" y="3004718"/>
            <a:ext cx="12801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بِـ</a:t>
            </a:r>
            <a:pPr rtl="1" algn="ctr" indent="0" marL="0">
              <a:buNone/>
            </a:pPr>
            <a:r>
              <a:rPr lang="ar-SA" altLang="en-US" sz="2000" b="1" dirty="0">
                <a:solidFill>
                  <a:srgbClr val="1B3B6F"/>
                </a:solidFill>
                <a:latin typeface="Amiri" pitchFamily="2" charset="-78"/>
                <a:cs typeface="Amiri" pitchFamily="2" charset="-78"/>
              </a:rPr>
              <a:t>أَنْ</a:t>
            </a:r>
            <a:endParaRPr lang="ar-SA" sz="2000" dirty="0"/>
          </a:p>
        </p:txBody>
      </p:sp>
      <p:sp>
        <p:nvSpPr>
          <p:cNvPr id="31" name="Text 28"/>
          <p:cNvSpPr txBox="1"/>
          <p:nvPr/>
        </p:nvSpPr>
        <p:spPr>
          <a:xfrm>
            <a:off x="548640" y="300471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يُطَالِبُ</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5577840" y="3741725"/>
            <a:ext cx="60624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تَدْعُو المُنَظَّمَاتُ </a:t>
            </a:r>
            <a:pPr rtl="1" algn="ctr" indent="0" marL="0">
              <a:buNone/>
            </a:pPr>
            <a:r>
              <a:rPr lang="ar-SA" altLang="en-US" sz="1700" b="1" dirty="0">
                <a:solidFill>
                  <a:srgbClr val="1D5FBF"/>
                </a:solidFill>
                <a:latin typeface="Amiri" pitchFamily="2" charset="-78"/>
                <a:cs typeface="Amiri" pitchFamily="2" charset="-78"/>
              </a:rPr>
              <a:t>إِلَى</a:t>
            </a:r>
            <a:pPr rtl="1" algn="ctr" indent="0" marL="0">
              <a:buNone/>
            </a:pPr>
            <a:r>
              <a:rPr lang="ar-SA" altLang="en-US" sz="1700" b="1" dirty="0">
                <a:solidFill>
                  <a:srgbClr val="1B3B6F"/>
                </a:solidFill>
                <a:latin typeface="Amiri" pitchFamily="2" charset="-78"/>
                <a:cs typeface="Amiri" pitchFamily="2" charset="-78"/>
              </a:rPr>
              <a:t> أَنْ </a:t>
            </a:r>
            <a:pPr rtl="1" algn="ctr" indent="0" marL="0">
              <a:buNone/>
            </a:pPr>
            <a:r>
              <a:rPr lang="ar-SA" altLang="en-US" sz="1700" b="1" dirty="0">
                <a:solidFill>
                  <a:srgbClr val="0E7C86"/>
                </a:solidFill>
                <a:latin typeface="Amiri" pitchFamily="2" charset="-78"/>
                <a:cs typeface="Amiri" pitchFamily="2" charset="-78"/>
              </a:rPr>
              <a:t>يَنْتَهِيَ</a:t>
            </a:r>
            <a:pPr rtl="1" algn="ctr" indent="0" marL="0">
              <a:buNone/>
            </a:pPr>
            <a:r>
              <a:rPr lang="ar-SA" altLang="en-US" sz="1700" b="1" dirty="0">
                <a:solidFill>
                  <a:srgbClr val="1B3B6F"/>
                </a:solidFill>
                <a:latin typeface="Amiri" pitchFamily="2" charset="-78"/>
                <a:cs typeface="Amiri" pitchFamily="2" charset="-78"/>
              </a:rPr>
              <a:t> العُنْفُ الأُسَرِيُّ.</a:t>
            </a:r>
            <a:endParaRPr lang="ar-SA" sz="1700" dirty="0"/>
          </a:p>
        </p:txBody>
      </p:sp>
      <p:sp>
        <p:nvSpPr>
          <p:cNvPr id="36" name="Text 33"/>
          <p:cNvSpPr txBox="1"/>
          <p:nvPr/>
        </p:nvSpPr>
        <p:spPr>
          <a:xfrm>
            <a:off x="404164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calls for</a:t>
            </a:r>
            <a:endParaRPr lang="en-US" sz="1100" dirty="0"/>
          </a:p>
        </p:txBody>
      </p:sp>
      <p:sp>
        <p:nvSpPr>
          <p:cNvPr id="37" name="Text 34"/>
          <p:cNvSpPr txBox="1"/>
          <p:nvPr/>
        </p:nvSpPr>
        <p:spPr>
          <a:xfrm>
            <a:off x="2560320" y="3741725"/>
            <a:ext cx="12801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إِلَى</a:t>
            </a:r>
            <a:pPr rtl="1" algn="ctr" indent="0" marL="0">
              <a:buNone/>
            </a:pPr>
            <a:r>
              <a:rPr lang="ar-SA" altLang="en-US" sz="2000" b="1" dirty="0">
                <a:solidFill>
                  <a:srgbClr val="1B3B6F"/>
                </a:solidFill>
                <a:latin typeface="Amiri" pitchFamily="2" charset="-78"/>
                <a:cs typeface="Amiri" pitchFamily="2" charset="-78"/>
              </a:rPr>
              <a:t> أَنْ</a:t>
            </a:r>
            <a:endParaRPr lang="ar-SA" sz="2000" dirty="0"/>
          </a:p>
        </p:txBody>
      </p:sp>
      <p:sp>
        <p:nvSpPr>
          <p:cNvPr id="38" name="Text 35"/>
          <p:cNvSpPr txBox="1"/>
          <p:nvPr/>
        </p:nvSpPr>
        <p:spPr>
          <a:xfrm>
            <a:off x="548640" y="3741725"/>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يَدْعُو</a:t>
            </a:r>
            <a:endParaRPr lang="ar-SA" sz="20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5577840" y="4478731"/>
            <a:ext cx="60624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يُطَالِبُ </a:t>
            </a:r>
            <a:pPr rtl="1" algn="ctr" indent="0" marL="0">
              <a:buNone/>
            </a:pPr>
            <a:r>
              <a:rPr lang="ar-SA" altLang="en-US" sz="1700" b="1" dirty="0">
                <a:solidFill>
                  <a:srgbClr val="1D5FBF"/>
                </a:solidFill>
                <a:latin typeface="Amiri" pitchFamily="2" charset="-78"/>
                <a:cs typeface="Amiri" pitchFamily="2" charset="-78"/>
              </a:rPr>
              <a:t>بِ</a:t>
            </a:r>
            <a:pPr rtl="1" algn="ctr" indent="0" marL="0">
              <a:buNone/>
            </a:pPr>
            <a:r>
              <a:rPr lang="ar-SA" altLang="en-US" sz="1700" b="1" dirty="0">
                <a:solidFill>
                  <a:srgbClr val="1B3B6F"/>
                </a:solidFill>
                <a:latin typeface="Amiri" pitchFamily="2" charset="-78"/>
                <a:cs typeface="Amiri" pitchFamily="2" charset="-78"/>
              </a:rPr>
              <a:t>حُقُوقِهِ · تَدْعُو </a:t>
            </a:r>
            <a:pPr rtl="1" algn="ctr" indent="0" marL="0">
              <a:buNone/>
            </a:pPr>
            <a:r>
              <a:rPr lang="ar-SA" altLang="en-US" sz="1700" b="1" dirty="0">
                <a:solidFill>
                  <a:srgbClr val="1D5FBF"/>
                </a:solidFill>
                <a:latin typeface="Amiri" pitchFamily="2" charset="-78"/>
                <a:cs typeface="Amiri" pitchFamily="2" charset="-78"/>
              </a:rPr>
              <a:t>إِلَى</a:t>
            </a:r>
            <a:pPr rtl="1" algn="ctr" indent="0" marL="0">
              <a:buNone/>
            </a:pPr>
            <a:r>
              <a:rPr lang="ar-SA" altLang="en-US" sz="1700" b="1" dirty="0">
                <a:solidFill>
                  <a:srgbClr val="1B3B6F"/>
                </a:solidFill>
                <a:latin typeface="Amiri" pitchFamily="2" charset="-78"/>
                <a:cs typeface="Amiri" pitchFamily="2" charset="-78"/>
              </a:rPr>
              <a:t> المُسَاوَاةِ</a:t>
            </a:r>
            <a:endParaRPr lang="ar-SA" sz="1700" dirty="0"/>
          </a:p>
        </p:txBody>
      </p:sp>
      <p:sp>
        <p:nvSpPr>
          <p:cNvPr id="43" name="Text 40"/>
          <p:cNvSpPr txBox="1"/>
          <p:nvPr/>
        </p:nvSpPr>
        <p:spPr>
          <a:xfrm>
            <a:off x="404164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an</a:t>
            </a:r>
            <a:endParaRPr lang="en-US" sz="1100" dirty="0"/>
          </a:p>
        </p:txBody>
      </p:sp>
      <p:sp>
        <p:nvSpPr>
          <p:cNvPr id="44" name="Text 41"/>
          <p:cNvSpPr txBox="1"/>
          <p:nvPr/>
        </p:nvSpPr>
        <p:spPr>
          <a:xfrm>
            <a:off x="257860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noun</a:t>
            </a:r>
            <a:endParaRPr lang="en-US" sz="1100" dirty="0"/>
          </a:p>
        </p:txBody>
      </p:sp>
      <p:sp>
        <p:nvSpPr>
          <p:cNvPr id="45" name="Text 42"/>
          <p:cNvSpPr txBox="1"/>
          <p:nvPr/>
        </p:nvSpPr>
        <p:spPr>
          <a:xfrm>
            <a:off x="548640" y="4478731"/>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يُطَالِبُ / يَدْعُو</a:t>
            </a:r>
            <a:endParaRPr lang="ar-SA" sz="20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5577840" y="5215738"/>
            <a:ext cx="60624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تُنَاضِلُ النَّاشِطَاتُ </a:t>
            </a:r>
            <a:pPr rtl="1" algn="ctr" indent="0" marL="0">
              <a:buNone/>
            </a:pPr>
            <a:r>
              <a:rPr lang="ar-SA" altLang="en-US" sz="1700" b="1" dirty="0">
                <a:solidFill>
                  <a:srgbClr val="1D5FBF"/>
                </a:solidFill>
                <a:latin typeface="Amiri" pitchFamily="2" charset="-78"/>
                <a:cs typeface="Amiri" pitchFamily="2" charset="-78"/>
              </a:rPr>
              <a:t>مِنْ أَجْلِ</a:t>
            </a:r>
            <a:pPr rtl="1" algn="ctr" indent="0" marL="0">
              <a:buNone/>
            </a:pPr>
            <a:r>
              <a:rPr lang="ar-SA" altLang="en-US" sz="1700" b="1" dirty="0">
                <a:solidFill>
                  <a:srgbClr val="1B3B6F"/>
                </a:solidFill>
                <a:latin typeface="Amiri" pitchFamily="2" charset="-78"/>
                <a:cs typeface="Amiri" pitchFamily="2" charset="-78"/>
              </a:rPr>
              <a:t> تَكَافُؤِ الفُرَصِ.</a:t>
            </a:r>
            <a:endParaRPr lang="ar-SA" sz="1700" dirty="0"/>
          </a:p>
        </p:txBody>
      </p:sp>
      <p:sp>
        <p:nvSpPr>
          <p:cNvPr id="48" name="Text 45"/>
          <p:cNvSpPr txBox="1"/>
          <p:nvPr/>
        </p:nvSpPr>
        <p:spPr>
          <a:xfrm>
            <a:off x="404164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fights for</a:t>
            </a:r>
            <a:endParaRPr lang="en-US" sz="1100" dirty="0"/>
          </a:p>
        </p:txBody>
      </p:sp>
      <p:sp>
        <p:nvSpPr>
          <p:cNvPr id="49" name="Text 46"/>
          <p:cNvSpPr txBox="1"/>
          <p:nvPr/>
        </p:nvSpPr>
        <p:spPr>
          <a:xfrm>
            <a:off x="2560320" y="5215738"/>
            <a:ext cx="12801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مِنْ أَجْلِ</a:t>
            </a:r>
            <a:endParaRPr lang="ar-SA" sz="2000" dirty="0"/>
          </a:p>
        </p:txBody>
      </p:sp>
      <p:sp>
        <p:nvSpPr>
          <p:cNvPr id="50" name="Text 47"/>
          <p:cNvSpPr txBox="1"/>
          <p:nvPr/>
        </p:nvSpPr>
        <p:spPr>
          <a:xfrm>
            <a:off x="548640" y="5215738"/>
            <a:ext cx="182880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يُنَاضِلُ</a:t>
            </a:r>
            <a:endParaRPr lang="ar-SA" sz="20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 subjunctive is the mood of every DESIRED or REQUIRED action — so it extends to insisting, demanding and calling.</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RIGHT PREPOSITION (WEBSITE TEACHING POINT 2, MISTAKES 2–3 AND COMMON ERROR)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Each verb has its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لِكُلِّ فِعْلٍ حَرْفُهُ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ʿALĀ · CORE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يُصِرُّ عَلَى</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يُصِرُّ المُجْتَمَعُ عَلَى أَنْ يَنْتَهِيَ التَّمْيِيزُ.</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Society insists that discrimination end.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Firm ON your point.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BI- · CORE</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يُطَالِبُ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تُطَالِبُ النَّاشِطَاتُ بِأَنْ تُغَيَّرَ القَوَانِينُ.</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Activists demand that the laws be changed.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Demand WITH a claim.</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ILĀ · CORE</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يَدْعُو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تَدْعُو الحَمْلَةُ إِلَى أَنْ تُكْسَرَ القَوَالِبُ النَّمَطِيَّةُ.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campaign calls for stereotypes to be broken.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Call TOWARDS a goal.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mistakes 2–3: yuṭālibu takes bi-, yadʿū takes ilā.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يُطَالِبُ النَّاشِطُونَ بِأَنْ تُوَقِّعَ</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يُطَالِبُ النَّاشِطُونَ عَلَى أَنْ تُوَقِّعَ</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VERB AFTER THE TRIGGER, ACTIVE AND PASSIVE (WEBSITE SORTER, LIVE BUILDER AND TEXTS)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 verb in -a — even passives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cs typeface="Amiri" pitchFamily="2" charset="-78"/>
              </a:rPr>
              <a:t>المَنْصُوبُ المَبْنِيُّ لِلْمَعْلُومِ وَلِلْمَجْهُولِ</a:t>
            </a:r>
            <a:endParaRPr lang="ar-SA" sz="26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55371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245059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an (-a)</a:t>
            </a:r>
            <a:endParaRPr lang="en-US" sz="1100" dirty="0"/>
          </a:p>
        </p:txBody>
      </p:sp>
      <p:sp>
        <p:nvSpPr>
          <p:cNvPr id="19" name="Text 16"/>
          <p:cNvSpPr txBox="1"/>
          <p:nvPr/>
        </p:nvSpPr>
        <p:spPr>
          <a:xfrm>
            <a:off x="5303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Normal (-u)</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309360" y="2267712"/>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عَلَى أَنْ </a:t>
            </a:r>
            <a:pPr rtl="1" algn="ctr" indent="0" marL="0">
              <a:buNone/>
            </a:pPr>
            <a:r>
              <a:rPr lang="ar-SA" altLang="en-US" sz="1700" b="1" dirty="0">
                <a:solidFill>
                  <a:srgbClr val="0E7C86"/>
                </a:solidFill>
                <a:latin typeface="Amiri" pitchFamily="2" charset="-78"/>
                <a:cs typeface="Amiri" pitchFamily="2" charset="-78"/>
              </a:rPr>
              <a:t>تَحْصُلَ</a:t>
            </a:r>
            <a:pPr rtl="1" algn="ctr" indent="0" marL="0">
              <a:buNone/>
            </a:pPr>
            <a:r>
              <a:rPr lang="ar-SA" altLang="en-US" sz="1700" b="1" dirty="0">
                <a:solidFill>
                  <a:srgbClr val="1B3B6F"/>
                </a:solidFill>
                <a:latin typeface="Amiri" pitchFamily="2" charset="-78"/>
                <a:cs typeface="Amiri" pitchFamily="2" charset="-78"/>
              </a:rPr>
              <a:t> المَرْأَةُ عَلَى فُرَصٍ مُتَسَاوِيَةٍ</a:t>
            </a:r>
            <a:endParaRPr lang="ar-SA" sz="1700" dirty="0"/>
          </a:p>
        </p:txBody>
      </p:sp>
      <p:sp>
        <p:nvSpPr>
          <p:cNvPr id="22" name="Text 19"/>
          <p:cNvSpPr txBox="1"/>
          <p:nvPr/>
        </p:nvSpPr>
        <p:spPr>
          <a:xfrm>
            <a:off x="459028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active</a:t>
            </a:r>
            <a:endParaRPr lang="en-US" sz="1100" dirty="0"/>
          </a:p>
        </p:txBody>
      </p:sp>
      <p:sp>
        <p:nvSpPr>
          <p:cNvPr id="23" name="Text 20"/>
          <p:cNvSpPr txBox="1"/>
          <p:nvPr/>
        </p:nvSpPr>
        <p:spPr>
          <a:xfrm>
            <a:off x="2468880" y="2267712"/>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تَحْصُلَ</a:t>
            </a:r>
            <a:endParaRPr lang="ar-SA" sz="2000" dirty="0"/>
          </a:p>
        </p:txBody>
      </p:sp>
      <p:sp>
        <p:nvSpPr>
          <p:cNvPr id="24" name="Text 21"/>
          <p:cNvSpPr txBox="1"/>
          <p:nvPr/>
        </p:nvSpPr>
        <p:spPr>
          <a:xfrm>
            <a:off x="548640" y="2267712"/>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تَحْصُلُ</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309360" y="300471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بِأَنْ </a:t>
            </a:r>
            <a:pPr rtl="1" algn="ctr" indent="0" marL="0">
              <a:buNone/>
            </a:pPr>
            <a:r>
              <a:rPr lang="ar-SA" altLang="en-US" sz="1700" b="1" dirty="0">
                <a:solidFill>
                  <a:srgbClr val="7B3FA0"/>
                </a:solidFill>
                <a:latin typeface="Amiri" pitchFamily="2" charset="-78"/>
                <a:cs typeface="Amiri" pitchFamily="2" charset="-78"/>
              </a:rPr>
              <a:t>تُفَعَّلَ</a:t>
            </a:r>
            <a:pPr rtl="1" algn="ctr" indent="0" marL="0">
              <a:buNone/>
            </a:pPr>
            <a:r>
              <a:rPr lang="ar-SA" altLang="en-US" sz="1700" b="1" dirty="0">
                <a:solidFill>
                  <a:srgbClr val="1B3B6F"/>
                </a:solidFill>
                <a:latin typeface="Amiri" pitchFamily="2" charset="-78"/>
                <a:cs typeface="Amiri" pitchFamily="2" charset="-78"/>
              </a:rPr>
              <a:t> قَوَانِينُ المُسَاوَاةِ</a:t>
            </a:r>
            <a:endParaRPr lang="ar-SA" sz="1700" dirty="0"/>
          </a:p>
        </p:txBody>
      </p:sp>
      <p:sp>
        <p:nvSpPr>
          <p:cNvPr id="29" name="Text 26"/>
          <p:cNvSpPr txBox="1"/>
          <p:nvPr/>
        </p:nvSpPr>
        <p:spPr>
          <a:xfrm>
            <a:off x="459028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0" name="Text 27"/>
          <p:cNvSpPr txBox="1"/>
          <p:nvPr/>
        </p:nvSpPr>
        <p:spPr>
          <a:xfrm>
            <a:off x="2468880" y="3004718"/>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تُفَعَّلَ</a:t>
            </a:r>
            <a:endParaRPr lang="ar-SA" sz="2000" dirty="0"/>
          </a:p>
        </p:txBody>
      </p:sp>
      <p:sp>
        <p:nvSpPr>
          <p:cNvPr id="31" name="Text 28"/>
          <p:cNvSpPr txBox="1"/>
          <p:nvPr/>
        </p:nvSpPr>
        <p:spPr>
          <a:xfrm>
            <a:off x="548640" y="300471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تُفَعَّلُ</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309360" y="3741725"/>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إِلَى أَنْ </a:t>
            </a:r>
            <a:pPr rtl="1" algn="ctr" indent="0" marL="0">
              <a:buNone/>
            </a:pPr>
            <a:r>
              <a:rPr lang="ar-SA" altLang="en-US" sz="1700" b="1" dirty="0">
                <a:solidFill>
                  <a:srgbClr val="0E7C86"/>
                </a:solidFill>
                <a:latin typeface="Amiri" pitchFamily="2" charset="-78"/>
                <a:cs typeface="Amiri" pitchFamily="2" charset="-78"/>
              </a:rPr>
              <a:t>يَنْتَهِيَ</a:t>
            </a:r>
            <a:pPr rtl="1" algn="ctr" indent="0" marL="0">
              <a:buNone/>
            </a:pPr>
            <a:r>
              <a:rPr lang="ar-SA" altLang="en-US" sz="1700" b="1" dirty="0">
                <a:solidFill>
                  <a:srgbClr val="1B3B6F"/>
                </a:solidFill>
                <a:latin typeface="Amiri" pitchFamily="2" charset="-78"/>
                <a:cs typeface="Amiri" pitchFamily="2" charset="-78"/>
              </a:rPr>
              <a:t> التَّمْيِيزُ القَائِمُ عَلَى النَّوْعِ</a:t>
            </a:r>
            <a:endParaRPr lang="ar-SA" sz="1700" dirty="0"/>
          </a:p>
        </p:txBody>
      </p:sp>
      <p:sp>
        <p:nvSpPr>
          <p:cNvPr id="36" name="Text 33"/>
          <p:cNvSpPr txBox="1"/>
          <p:nvPr/>
        </p:nvSpPr>
        <p:spPr>
          <a:xfrm>
            <a:off x="459028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-ī</a:t>
            </a:r>
            <a:endParaRPr lang="en-US" sz="1100" dirty="0"/>
          </a:p>
        </p:txBody>
      </p:sp>
      <p:sp>
        <p:nvSpPr>
          <p:cNvPr id="37" name="Text 34"/>
          <p:cNvSpPr txBox="1"/>
          <p:nvPr/>
        </p:nvSpPr>
        <p:spPr>
          <a:xfrm>
            <a:off x="2468880" y="3741725"/>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يَنْتَهِيَ</a:t>
            </a:r>
            <a:endParaRPr lang="ar-SA" sz="2000" dirty="0"/>
          </a:p>
        </p:txBody>
      </p:sp>
      <p:sp>
        <p:nvSpPr>
          <p:cNvPr id="38" name="Text 35"/>
          <p:cNvSpPr txBox="1"/>
          <p:nvPr/>
        </p:nvSpPr>
        <p:spPr>
          <a:xfrm>
            <a:off x="548640" y="3741725"/>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يَنْتَهِي</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309360" y="4478731"/>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بِأَنْ </a:t>
            </a:r>
            <a:pPr rtl="1" algn="ctr" indent="0" marL="0">
              <a:buNone/>
            </a:pPr>
            <a:r>
              <a:rPr lang="ar-SA" altLang="en-US" sz="1700" b="1" dirty="0">
                <a:solidFill>
                  <a:srgbClr val="7B3FA0"/>
                </a:solidFill>
                <a:latin typeface="Amiri" pitchFamily="2" charset="-78"/>
                <a:cs typeface="Amiri" pitchFamily="2" charset="-78"/>
              </a:rPr>
              <a:t>تُسَدَّ</a:t>
            </a:r>
            <a:pPr rtl="1" algn="ctr" indent="0" marL="0">
              <a:buNone/>
            </a:pPr>
            <a:r>
              <a:rPr lang="ar-SA" altLang="en-US" sz="1700" b="1" dirty="0">
                <a:solidFill>
                  <a:srgbClr val="1B3B6F"/>
                </a:solidFill>
                <a:latin typeface="Amiri" pitchFamily="2" charset="-78"/>
                <a:cs typeface="Amiri" pitchFamily="2" charset="-78"/>
              </a:rPr>
              <a:t> فَجْوَةُ الأُجُورِ</a:t>
            </a:r>
            <a:endParaRPr lang="ar-SA" sz="1700" dirty="0"/>
          </a:p>
        </p:txBody>
      </p:sp>
      <p:sp>
        <p:nvSpPr>
          <p:cNvPr id="41" name="Text 38"/>
          <p:cNvSpPr txBox="1"/>
          <p:nvPr/>
        </p:nvSpPr>
        <p:spPr>
          <a:xfrm>
            <a:off x="459028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doubled</a:t>
            </a:r>
            <a:endParaRPr lang="en-US" sz="1100" dirty="0"/>
          </a:p>
        </p:txBody>
      </p:sp>
      <p:sp>
        <p:nvSpPr>
          <p:cNvPr id="42" name="Text 39"/>
          <p:cNvSpPr txBox="1"/>
          <p:nvPr/>
        </p:nvSpPr>
        <p:spPr>
          <a:xfrm>
            <a:off x="2468880" y="4478731"/>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تُسَدَّ</a:t>
            </a:r>
            <a:endParaRPr lang="ar-SA" sz="2000" dirty="0"/>
          </a:p>
        </p:txBody>
      </p:sp>
      <p:sp>
        <p:nvSpPr>
          <p:cNvPr id="43" name="Text 40"/>
          <p:cNvSpPr txBox="1"/>
          <p:nvPr/>
        </p:nvSpPr>
        <p:spPr>
          <a:xfrm>
            <a:off x="548640" y="4478731"/>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تُسَدُّ</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309360" y="521573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بِأَنْ </a:t>
            </a:r>
            <a:pPr rtl="1" algn="ctr" indent="0" marL="0">
              <a:buNone/>
            </a:pPr>
            <a:r>
              <a:rPr lang="ar-SA" altLang="en-US" sz="1700" b="1" dirty="0">
                <a:solidFill>
                  <a:srgbClr val="7B3FA0"/>
                </a:solidFill>
                <a:latin typeface="Amiri" pitchFamily="2" charset="-78"/>
                <a:cs typeface="Amiri" pitchFamily="2" charset="-78"/>
              </a:rPr>
              <a:t>يُعَاقَبَ</a:t>
            </a:r>
            <a:pPr rtl="1" algn="ctr" indent="0" marL="0">
              <a:buNone/>
            </a:pPr>
            <a:r>
              <a:rPr lang="ar-SA" altLang="en-US" sz="1700" b="1" dirty="0">
                <a:solidFill>
                  <a:srgbClr val="1B3B6F"/>
                </a:solidFill>
                <a:latin typeface="Amiri" pitchFamily="2" charset="-78"/>
                <a:cs typeface="Amiri" pitchFamily="2" charset="-78"/>
              </a:rPr>
              <a:t> عَلَى التَّمْيِيزِ</a:t>
            </a:r>
            <a:endParaRPr lang="ar-SA" sz="1700" dirty="0"/>
          </a:p>
        </p:txBody>
      </p:sp>
      <p:sp>
        <p:nvSpPr>
          <p:cNvPr id="46" name="Text 43"/>
          <p:cNvSpPr txBox="1"/>
          <p:nvPr/>
        </p:nvSpPr>
        <p:spPr>
          <a:xfrm>
            <a:off x="459028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impersonal passive</a:t>
            </a:r>
            <a:endParaRPr lang="en-US" sz="1100" dirty="0"/>
          </a:p>
        </p:txBody>
      </p:sp>
      <p:sp>
        <p:nvSpPr>
          <p:cNvPr id="47" name="Text 44"/>
          <p:cNvSpPr txBox="1"/>
          <p:nvPr/>
        </p:nvSpPr>
        <p:spPr>
          <a:xfrm>
            <a:off x="2468880" y="5215738"/>
            <a:ext cx="192024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يُعَاقَبَ</a:t>
            </a:r>
            <a:endParaRPr lang="ar-SA" sz="2000" dirty="0"/>
          </a:p>
        </p:txBody>
      </p:sp>
      <p:sp>
        <p:nvSpPr>
          <p:cNvPr id="48" name="Text 45"/>
          <p:cNvSpPr txBox="1"/>
          <p:nvPr/>
        </p:nvSpPr>
        <p:spPr>
          <a:xfrm>
            <a:off x="548640" y="5215738"/>
            <a:ext cx="17373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يُعَاقَبُ</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an taḥṣulu ✗ → an taḥṣula ✓. Passive or active, the verb after an ends in -a.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BALANCED ARGUMENT (WEBSITE RULE 4,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Progress — and what remains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التَّوَازُنُ فِي الحُجَّةِ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7" name="Text 14"/>
          <p:cNvSpPr txBox="1"/>
          <p:nvPr/>
        </p:nvSpPr>
        <p:spPr>
          <a:xfrm>
            <a:off x="2267712" y="1810512"/>
            <a:ext cx="7077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ṣaḥīḥun anna</a:t>
            </a:r>
            <a:endParaRPr lang="en-US" sz="1100" dirty="0"/>
          </a:p>
        </p:txBody>
      </p:sp>
      <p:sp>
        <p:nvSpPr>
          <p:cNvPr id="21" name="Text 18"/>
          <p:cNvSpPr txBox="1"/>
          <p:nvPr/>
        </p:nvSpPr>
        <p:spPr>
          <a:xfrm>
            <a:off x="2286000" y="2267712"/>
            <a:ext cx="704088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cs typeface="Amiri" pitchFamily="2" charset="-78"/>
              </a:rPr>
              <a:t>صَحِيحٌ أَنَّ</a:t>
            </a:r>
            <a:pPr rtl="1" algn="ctr" indent="0" marL="0">
              <a:buNone/>
            </a:pPr>
            <a:r>
              <a:rPr lang="ar-SA" altLang="en-US" sz="1700" b="1" dirty="0">
                <a:solidFill>
                  <a:srgbClr val="1B3B6F"/>
                </a:solidFill>
                <a:latin typeface="Amiri" pitchFamily="2" charset="-78"/>
                <a:cs typeface="Amiri" pitchFamily="2" charset="-78"/>
              </a:rPr>
              <a:t> نِسْبَةَ المَرْأَةِ فِي البَرْلَمَانَاتِ ارْتَفَعَتْ،</a:t>
            </a:r>
            <a:endParaRPr lang="ar-SA" sz="1700" dirty="0"/>
          </a:p>
        </p:txBody>
      </p:sp>
      <p:sp>
        <p:nvSpPr>
          <p:cNvPr id="22" name="Text 19"/>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concede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verb!</a:t>
            </a:r>
            <a:endParaRPr lang="en-US" sz="1100" dirty="0"/>
          </a:p>
        </p:txBody>
      </p:sp>
      <p:sp>
        <p:nvSpPr>
          <p:cNvPr id="27" name="Text 24"/>
          <p:cNvSpPr txBox="1"/>
          <p:nvPr/>
        </p:nvSpPr>
        <p:spPr>
          <a:xfrm>
            <a:off x="2286000" y="3004718"/>
            <a:ext cx="704088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غَيْرَ أَنَّ</a:t>
            </a:r>
            <a:pPr rtl="1" algn="ctr" indent="0" marL="0">
              <a:buNone/>
            </a:pPr>
            <a:r>
              <a:rPr lang="ar-SA" altLang="en-US" sz="1700" b="1" dirty="0">
                <a:solidFill>
                  <a:srgbClr val="1B3B6F"/>
                </a:solidFill>
                <a:latin typeface="Amiri" pitchFamily="2" charset="-78"/>
                <a:cs typeface="Amiri" pitchFamily="2" charset="-78"/>
              </a:rPr>
              <a:t> فَجْوَةَ الأُجُورِ وَالعُنْفَ الأُسَرِيَّ </a:t>
            </a:r>
            <a:pPr rtl="1" algn="ctr" indent="0" marL="0">
              <a:buNone/>
            </a:pPr>
            <a:r>
              <a:rPr lang="ar-SA" altLang="en-US" sz="1700" b="1" dirty="0">
                <a:solidFill>
                  <a:srgbClr val="D6336C"/>
                </a:solidFill>
                <a:latin typeface="Amiri" pitchFamily="2" charset="-78"/>
                <a:cs typeface="Amiri" pitchFamily="2" charset="-78"/>
              </a:rPr>
              <a:t>لَا يَزَالَانِ يُعِيقَانِ</a:t>
            </a:r>
            <a:pPr rtl="1" algn="ctr" indent="0" marL="0">
              <a:buNone/>
            </a:pPr>
            <a:r>
              <a:rPr lang="ar-SA" altLang="en-US" sz="1700" b="1" dirty="0">
                <a:solidFill>
                  <a:srgbClr val="1B3B6F"/>
                </a:solidFill>
                <a:latin typeface="Amiri" pitchFamily="2" charset="-78"/>
                <a:cs typeface="Amiri" pitchFamily="2" charset="-78"/>
              </a:rPr>
              <a:t> التَّقَدُّمَ.</a:t>
            </a:r>
            <a:endParaRPr lang="ar-SA" sz="1700" dirty="0"/>
          </a:p>
        </p:txBody>
      </p:sp>
      <p:sp>
        <p:nvSpPr>
          <p:cNvPr id="28" name="Text 25"/>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refute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3" name="Text 30"/>
          <p:cNvSpPr txBox="1"/>
          <p:nvPr/>
        </p:nvSpPr>
        <p:spPr>
          <a:xfrm>
            <a:off x="2286000" y="3741725"/>
            <a:ext cx="7040880"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تُحْرَمُ</a:t>
            </a:r>
            <a:pPr rtl="1" algn="ctr" indent="0" marL="0">
              <a:buNone/>
            </a:pPr>
            <a:r>
              <a:rPr lang="ar-SA" altLang="en-US" sz="1700" b="1" dirty="0">
                <a:solidFill>
                  <a:srgbClr val="1B3B6F"/>
                </a:solidFill>
                <a:latin typeface="Amiri" pitchFamily="2" charset="-78"/>
                <a:cs typeface="Amiri" pitchFamily="2" charset="-78"/>
              </a:rPr>
              <a:t> كَثِيرٌ مِنَ النِّسَاءِ مِنْ مَوَاقِعِ القِيَادَةِ</a:t>
            </a:r>
            <a:endParaRPr lang="ar-SA" sz="1700" dirty="0"/>
          </a:p>
        </p:txBody>
      </p:sp>
      <p:sp>
        <p:nvSpPr>
          <p:cNvPr id="34" name="Text 3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fact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triggers</a:t>
            </a:r>
            <a:endParaRPr lang="en-US" sz="1100" dirty="0"/>
          </a:p>
        </p:txBody>
      </p:sp>
      <p:sp>
        <p:nvSpPr>
          <p:cNvPr id="37" name="Text 34"/>
          <p:cNvSpPr txBox="1"/>
          <p:nvPr/>
        </p:nvSpPr>
        <p:spPr>
          <a:xfrm>
            <a:off x="2286000" y="4478731"/>
            <a:ext cx="70408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يُصِرُّ … عَلَى أَنْ … · يُطَالِبُ … بِأَنْ … · تَدْعُو … إِلَى أَنْ …</a:t>
            </a:r>
            <a:endParaRPr lang="ar-SA" sz="1700" dirty="0"/>
          </a:p>
        </p:txBody>
      </p:sp>
      <p:sp>
        <p:nvSpPr>
          <p:cNvPr id="38" name="Text 35"/>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advocacy</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 passive</a:t>
            </a:r>
            <a:endParaRPr lang="en-US" sz="1100" dirty="0"/>
          </a:p>
        </p:txBody>
      </p:sp>
      <p:sp>
        <p:nvSpPr>
          <p:cNvPr id="41" name="Text 38"/>
          <p:cNvSpPr txBox="1"/>
          <p:nvPr/>
        </p:nvSpPr>
        <p:spPr>
          <a:xfrm>
            <a:off x="2286000" y="5215738"/>
            <a:ext cx="704088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لَوْ</a:t>
            </a:r>
            <a:pPr rtl="1" algn="ctr" indent="0" marL="0">
              <a:buNone/>
            </a:pPr>
            <a:r>
              <a:rPr lang="ar-SA" altLang="en-US" sz="1700" b="1" dirty="0">
                <a:solidFill>
                  <a:srgbClr val="1B3B6F"/>
                </a:solidFill>
                <a:latin typeface="Amiri" pitchFamily="2" charset="-78"/>
                <a:cs typeface="Amiri" pitchFamily="2" charset="-78"/>
              </a:rPr>
              <a:t> طُبِّقَتِ القَوَانِينُ بِالتَّسَاوِي، </a:t>
            </a:r>
            <a:pPr rtl="1" algn="ctr" indent="0" marL="0">
              <a:buNone/>
            </a:pPr>
            <a:r>
              <a:rPr lang="ar-SA" altLang="en-US" sz="1700" b="1" dirty="0">
                <a:solidFill>
                  <a:srgbClr val="C77700"/>
                </a:solidFill>
                <a:latin typeface="Amiri" pitchFamily="2" charset="-78"/>
                <a:cs typeface="Amiri" pitchFamily="2" charset="-78"/>
              </a:rPr>
              <a:t>لَضَاقَتْ</a:t>
            </a:r>
            <a:pPr rtl="1" algn="ctr" indent="0" marL="0">
              <a:buNone/>
            </a:pPr>
            <a:r>
              <a:rPr lang="ar-SA" altLang="en-US" sz="1700" b="1" dirty="0">
                <a:solidFill>
                  <a:srgbClr val="1B3B6F"/>
                </a:solidFill>
                <a:latin typeface="Amiri" pitchFamily="2" charset="-78"/>
                <a:cs typeface="Amiri" pitchFamily="2" charset="-78"/>
              </a:rPr>
              <a:t> فَجْوَةُ الأُجُورِ.</a:t>
            </a:r>
            <a:endParaRPr lang="ar-SA" sz="1700" dirty="0"/>
          </a:p>
        </p:txBody>
      </p:sp>
      <p:sp>
        <p:nvSpPr>
          <p:cNvPr id="42" name="Text 39"/>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analyse</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balanced argument earns trust: name the real progress first — then the challenges, the demands and what could be different.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Extended subjunctive: insistence, demand and call</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000" b="1" dirty="0">
                <a:solidFill>
                  <a:srgbClr val="8A6D1E"/>
                </a:solidFill>
                <a:latin typeface="Amiri" pitchFamily="2" charset="-78"/>
                <a:cs typeface="Amiri" pitchFamily="2" charset="-78"/>
              </a:rPr>
              <a:t>المَنْصُوبُ المُوَسَّعُ: الإِصْرَارُ وَالمُطَالَبَةُ وَالدَّعْوَةُ</a:t>
            </a:r>
            <a:endParaRPr lang="ar-SA" sz="20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Insistence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yuṣirru ʿalā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يُصِرُّ المُدَافِعُونَ عَلَى أَنْ تَحْصُلَ المَرْأَةُ عَلَى حُقُوقٍ مُتَسَاوِيَةٍ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Demand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yuṭālibu bi-an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يُطَالِبُ النَّاشِطُونَ بِأَنْ تُوَقِّعَ الحُكُومَاتُ اتِّفَاقِيَّاتِ المُسَاوَاةِ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Call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yadʿū ilā an + verb in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تَدْعُو المُنَظَّمَاتُ إِلَى أَنْ يَنْتَهِيَ العُنْفُ الأُسَرِيُّ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Balance the argument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ghayra anna …</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صَحِيحٌ أَنَّ التَّمْكِينَ تَقَدَّمَ، غَيْرَ أَنَّ المُعِيقَاتِ لَا تَزَالُ قَائِمَةً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insistence?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يُصِرُّ عَلَى أَنْ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a demand?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يُطَالِبُ بِأَنْ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a call?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يَدْعُو إِلَى أَنْ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يُصِرُّ المُدَافِعُونَ عَلَى أَنْ ___ المَرْأَةُ عَلَى حُقُوقِهَا.</a:t>
            </a:r>
            <a:endParaRPr lang="ar-SA" sz="11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تَحْصُلَ</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تَحْصُلُ</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تَحْصُلْ</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insistence?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يُصِرُّ عَلَى أَنْ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يُصِرُّ عَلَى أَنْ</a:t>
            </a:r>
            <a:pPr algn="l" indent="0" marL="0">
              <a:buNone/>
            </a:pPr>
            <a:r>
              <a:rPr lang="en-US" sz="1050" i="1" dirty="0">
                <a:solidFill>
                  <a:srgbClr val="8A6D1E"/>
                </a:solidFill>
                <a:latin typeface="Calibri" pitchFamily="34" charset="0"/>
                <a:cs typeface="Amiri" pitchFamily="2" charset="-78"/>
              </a:rPr>
              <a:t> expresses insistence.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a demand?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يُطَالِبُ بِأَنْ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يَخْشَى 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يُطَالِبُ بِأَنْ</a:t>
            </a:r>
            <a:pPr algn="l" indent="0" marL="0">
              <a:buNone/>
            </a:pPr>
            <a:r>
              <a:rPr lang="en-US" sz="1050" i="1" dirty="0">
                <a:solidFill>
                  <a:srgbClr val="8A6D1E"/>
                </a:solidFill>
                <a:latin typeface="Calibri" pitchFamily="34" charset="0"/>
                <a:cs typeface="Amiri" pitchFamily="2" charset="-78"/>
              </a:rPr>
              <a:t> expresses a demand.</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a call?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يَدْعُو إِلَى أَنْ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يَدْعُو إِلَى أَنْ</a:t>
            </a:r>
            <a:pPr algn="l" indent="0" marL="0">
              <a:buNone/>
            </a:pPr>
            <a:r>
              <a:rPr lang="en-US" sz="1050" i="1" dirty="0">
                <a:solidFill>
                  <a:srgbClr val="8A6D1E"/>
                </a:solidFill>
                <a:latin typeface="Calibri" pitchFamily="34" charset="0"/>
                <a:cs typeface="Amiri" pitchFamily="2" charset="-78"/>
              </a:rPr>
              <a:t> expresses a call.</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150" b="1" dirty="0">
                <a:solidFill>
                  <a:srgbClr val="1F2A37"/>
                </a:solidFill>
                <a:latin typeface="Amiri" pitchFamily="2" charset="-78"/>
                <a:cs typeface="Amiri" pitchFamily="2" charset="-78"/>
              </a:rPr>
              <a:t>يُصِرُّ المُدَافِعُونَ عَلَى أَنْ ___ المَرْأَةُ عَلَى حُقُوقِهَا.</a:t>
            </a:r>
            <a:endParaRPr lang="ar-SA" sz="11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تَحْصُلَ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تَحْصُلُ</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تَحْصُلْ</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تَحْصُلَ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write a balanced argument</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Concede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D5FBF"/>
                </a:solidFill>
                <a:latin typeface="Amiri" pitchFamily="2" charset="-78"/>
                <a:cs typeface="Amiri" pitchFamily="2" charset="-78"/>
              </a:rPr>
              <a:t>صَحِيحٌ أَنَّ</a:t>
            </a:r>
            <a:pPr rtl="1" algn="ctr" indent="0" marL="0">
              <a:buNone/>
            </a:pPr>
            <a:r>
              <a:rPr lang="ar-SA" altLang="en-US" sz="2300" b="1" dirty="0">
                <a:solidFill>
                  <a:srgbClr val="1B3B6F"/>
                </a:solidFill>
                <a:latin typeface="Amiri" pitchFamily="2" charset="-78"/>
                <a:cs typeface="Amiri" pitchFamily="2" charset="-78"/>
              </a:rPr>
              <a:t> المَرْأَةَ حَقَّقَتْ …</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Real progress.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Refute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غَيْرَ أَنَّ</a:t>
            </a:r>
            <a:pPr rtl="1" algn="ctr" indent="0" marL="0">
              <a:buNone/>
            </a:pPr>
            <a:r>
              <a:rPr lang="ar-SA" altLang="en-US" sz="2400" b="1" dirty="0">
                <a:solidFill>
                  <a:srgbClr val="1B3B6F"/>
                </a:solidFill>
                <a:latin typeface="Amiri" pitchFamily="2" charset="-78"/>
                <a:cs typeface="Amiri" pitchFamily="2" charset="-78"/>
              </a:rPr>
              <a:t> … لَا يَزَالَانِ …</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However.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Advocate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يُصِرُّ … عَلَى أَنْ </a:t>
            </a:r>
            <a:pPr rtl="1" algn="ctr" indent="0" marL="0">
              <a:lnSpc>
                <a:spcPct val="120000"/>
              </a:lnSpc>
              <a:buNone/>
            </a:pPr>
            <a:r>
              <a:rPr lang="ar-SA" altLang="en-US" sz="1750" b="1" dirty="0">
                <a:solidFill>
                  <a:srgbClr val="0E7C86"/>
                </a:solidFill>
                <a:latin typeface="Amiri" pitchFamily="2" charset="-78"/>
                <a:cs typeface="Amiri" pitchFamily="2" charset="-78"/>
              </a:rPr>
              <a:t>تَنْعَمَ</a:t>
            </a:r>
            <a:pPr rtl="1" algn="ctr" indent="0" marL="0">
              <a:lnSpc>
                <a:spcPct val="120000"/>
              </a:lnSpc>
              <a:buNone/>
            </a:pPr>
            <a:r>
              <a:rPr lang="ar-SA" altLang="en-US" sz="1750" b="1" dirty="0">
                <a:solidFill>
                  <a:srgbClr val="1B3B6F"/>
                </a:solidFill>
                <a:latin typeface="Amiri" pitchFamily="2" charset="-78"/>
                <a:cs typeface="Amiri" pitchFamily="2" charset="-78"/>
              </a:rPr>
              <a:t> · بِأَنْ </a:t>
            </a:r>
            <a:pPr rtl="1" algn="ctr" indent="0" marL="0">
              <a:lnSpc>
                <a:spcPct val="120000"/>
              </a:lnSpc>
              <a:buNone/>
            </a:pPr>
            <a:r>
              <a:rPr lang="ar-SA" altLang="en-US" sz="1750" b="1" dirty="0">
                <a:solidFill>
                  <a:srgbClr val="0E7C86"/>
                </a:solidFill>
                <a:latin typeface="Amiri" pitchFamily="2" charset="-78"/>
                <a:cs typeface="Amiri" pitchFamily="2" charset="-78"/>
              </a:rPr>
              <a:t>تُفَعَّلَ</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Preposition +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Analyse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C77700"/>
                </a:solidFill>
                <a:latin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طُبِّقَتْ … </a:t>
            </a:r>
            <a:pPr rtl="1" algn="ctr" indent="0" marL="0">
              <a:buNone/>
            </a:pPr>
            <a:r>
              <a:rPr lang="ar-SA" altLang="en-US" sz="2800" b="1" dirty="0">
                <a:solidFill>
                  <a:srgbClr val="C77700"/>
                </a:solidFill>
                <a:latin typeface="Amiri" pitchFamily="2" charset="-78"/>
                <a:cs typeface="Amiri" pitchFamily="2" charset="-78"/>
              </a:rPr>
              <a:t>لَضَاقَتْ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CONCEDE</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REFUTE</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TRIGGER + -A</a:t>
            </a:r>
            <a:endParaRPr lang="en-US" sz="800" dirty="0"/>
          </a:p>
        </p:txBody>
      </p:sp>
      <p:sp>
        <p:nvSpPr>
          <p:cNvPr id="51" name="Shape 47"/>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cs typeface="Amiri" pitchFamily="2" charset="-78"/>
              </a:rPr>
              <a:t> المَرْأَةَ العَرَبِيَّةَ حَقَّقَتْ إِنْجَازَاتٍ فِي التَّعْلِيمِ وَالعَمَلِ، </a:t>
            </a:r>
            <a:pPr rtl="1" algn="r" indent="0" marL="0">
              <a:lnSpc>
                <a:spcPct val="120000"/>
              </a:lnSpc>
              <a:buNone/>
            </a:pPr>
            <a:r>
              <a:rPr lang="ar-SA" altLang="en-US" sz="1400" b="1" dirty="0">
                <a:solidFill>
                  <a:srgbClr val="D6336C"/>
                </a:solidFill>
                <a:latin typeface="Amiri" pitchFamily="2" charset="-78"/>
                <a:cs typeface="Amiri" pitchFamily="2" charset="-78"/>
              </a:rPr>
              <a:t>غَيْرَ أَنَّ</a:t>
            </a:r>
            <a:pPr rtl="1" algn="r" indent="0" marL="0">
              <a:lnSpc>
                <a:spcPct val="120000"/>
              </a:lnSpc>
              <a:buNone/>
            </a:pPr>
            <a:r>
              <a:rPr lang="ar-SA" altLang="en-US" sz="1400" b="1" dirty="0">
                <a:solidFill>
                  <a:srgbClr val="1B3B6F"/>
                </a:solidFill>
                <a:latin typeface="Amiri" pitchFamily="2" charset="-78"/>
                <a:cs typeface="Amiri" pitchFamily="2" charset="-78"/>
              </a:rPr>
              <a:t> فَجْوَةَ الأُجُورِ لَا تَزَالُ قَائِمَةً. يُصِرُّ المُدَافِعُونَ عَلَى أَنْ </a:t>
            </a:r>
            <a:pPr rtl="1" algn="r" indent="0" marL="0">
              <a:lnSpc>
                <a:spcPct val="120000"/>
              </a:lnSpc>
              <a:buNone/>
            </a:pPr>
            <a:r>
              <a:rPr lang="ar-SA" altLang="en-US" sz="1400" b="1" dirty="0">
                <a:solidFill>
                  <a:srgbClr val="0E7C86"/>
                </a:solidFill>
                <a:latin typeface="Amiri" pitchFamily="2" charset="-78"/>
                <a:cs typeface="Amiri" pitchFamily="2" charset="-78"/>
              </a:rPr>
              <a:t>تَنْعَمَ</a:t>
            </a:r>
            <a:pPr rtl="1" algn="r" indent="0" marL="0">
              <a:lnSpc>
                <a:spcPct val="120000"/>
              </a:lnSpc>
              <a:buNone/>
            </a:pPr>
            <a:r>
              <a:rPr lang="ar-SA" altLang="en-US" sz="1400" b="1" dirty="0">
                <a:solidFill>
                  <a:srgbClr val="1B3B6F"/>
                </a:solidFill>
                <a:latin typeface="Amiri" pitchFamily="2" charset="-78"/>
                <a:cs typeface="Amiri" pitchFamily="2" charset="-78"/>
              </a:rPr>
              <a:t> المَرْأَةُ بِحُقُوقِهَا كَامِلَةً، وَيُطَالِبُ المُجْتَمَعُ المَدَنِيُّ بِأَنْ </a:t>
            </a:r>
            <a:pPr rtl="1" algn="r" indent="0" marL="0">
              <a:lnSpc>
                <a:spcPct val="120000"/>
              </a:lnSpc>
              <a:buNone/>
            </a:pPr>
            <a:r>
              <a:rPr lang="ar-SA" altLang="en-US" sz="1400" b="1" dirty="0">
                <a:solidFill>
                  <a:srgbClr val="0E7C86"/>
                </a:solidFill>
                <a:latin typeface="Amiri" pitchFamily="2" charset="-78"/>
                <a:cs typeface="Amiri" pitchFamily="2" charset="-78"/>
              </a:rPr>
              <a:t>تُفَعَّلَ</a:t>
            </a:r>
            <a:pPr rtl="1" algn="r" indent="0" marL="0">
              <a:lnSpc>
                <a:spcPct val="120000"/>
              </a:lnSpc>
              <a:buNone/>
            </a:pPr>
            <a:r>
              <a:rPr lang="ar-SA" altLang="en-US" sz="1400" b="1" dirty="0">
                <a:solidFill>
                  <a:srgbClr val="1B3B6F"/>
                </a:solidFill>
                <a:latin typeface="Amiri" pitchFamily="2" charset="-78"/>
                <a:cs typeface="Amiri" pitchFamily="2" charset="-78"/>
              </a:rPr>
              <a:t> قَوَانِينُ المُسَاوَاةِ. </a:t>
            </a:r>
            <a:pPr rtl="1" algn="r" indent="0" marL="0">
              <a:lnSpc>
                <a:spcPct val="120000"/>
              </a:lnSpc>
              <a:buNone/>
            </a:pPr>
            <a:r>
              <a:rPr lang="ar-SA" altLang="en-US" sz="1400" b="1" dirty="0">
                <a:solidFill>
                  <a:srgbClr val="C7770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طُبِّقَتِ القَوَانِينُ بِالتَّسَاوِي، </a:t>
            </a:r>
            <a:pPr rtl="1" algn="r" indent="0" marL="0">
              <a:lnSpc>
                <a:spcPct val="120000"/>
              </a:lnSpc>
              <a:buNone/>
            </a:pPr>
            <a:r>
              <a:rPr lang="ar-SA" altLang="en-US" sz="1400" b="1" dirty="0">
                <a:solidFill>
                  <a:srgbClr val="C77700"/>
                </a:solidFill>
                <a:latin typeface="Amiri" pitchFamily="2" charset="-78"/>
                <a:cs typeface="Amiri" pitchFamily="2" charset="-78"/>
              </a:rPr>
              <a:t>لَضَاقَتْ</a:t>
            </a:r>
            <a:pPr rtl="1" algn="r" indent="0" marL="0">
              <a:lnSpc>
                <a:spcPct val="120000"/>
              </a:lnSpc>
              <a:buNone/>
            </a:pPr>
            <a:r>
              <a:rPr lang="ar-SA" altLang="en-US" sz="1400" b="1" dirty="0">
                <a:solidFill>
                  <a:srgbClr val="1B3B6F"/>
                </a:solidFill>
                <a:latin typeface="Amiri" pitchFamily="2" charset="-78"/>
                <a:cs typeface="Amiri" pitchFamily="2" charset="-78"/>
              </a:rPr>
              <a:t> فَجْوَةُ الأُجُورِ كَثِيرًا.</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It is true that Arab women have achieved gains in education and work; however, the pay gap still remains. Advocates insist that women enjoy their full rights, and civil society demands that equality laws be put into effect. Had the laws been applied equally, the pay gap would have narrowed greatly.</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يُصِرُّ المُدَافِعُونَ عَنْ حُقُوقِ المَرْأَةِ عَلَى أَنْ تَحْصُلَ عَلَى حُقُوقٍ مُتَسَاوِيَةٍ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advocates insist that women obtain equal rights</a:t>
            </a:r>
            <a:endParaRPr lang="en-US" sz="1250" dirty="0"/>
          </a:p>
          <a:p>
            <a:pPr indent="0" marL="0">
              <a:buNone/>
            </a:pPr>
            <a:r>
              <a:rPr lang="en-US" sz="1050" i="1" dirty="0">
                <a:solidFill>
                  <a:srgbClr val="8A6D1E"/>
                </a:solidFill>
                <a:latin typeface="Calibri" pitchFamily="34" charset="0"/>
                <a:cs typeface="Amiri" pitchFamily="2" charset="-78"/>
              </a:rPr>
              <a:t>Insistence: yuṣirru ʿalā an.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يُطَالِبُ النَّاشِطُونَ بِأَنْ تُوَقِّعَ الحُكُومَاتُ اتِّفَاقِيَّاتِ المُسَاوَاةِ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activists demand that governments sign equality agreements</a:t>
            </a:r>
            <a:endParaRPr lang="en-US" sz="1250" dirty="0"/>
          </a:p>
          <a:p>
            <a:pPr indent="0" marL="0">
              <a:buNone/>
            </a:pPr>
            <a:r>
              <a:rPr lang="en-US" sz="1050" i="1" dirty="0">
                <a:solidFill>
                  <a:srgbClr val="8A6D1E"/>
                </a:solidFill>
                <a:latin typeface="Calibri" pitchFamily="34" charset="0"/>
                <a:cs typeface="Amiri" pitchFamily="2" charset="-78"/>
              </a:rPr>
              <a:t>Demand: yuṭālibu bi-an.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تَدْعُو المُنَظَّمَاتُ إِلَى أَنْ يَنْتَهِيَ التَّمْيِيزُ القَائِمُ عَلَى النَّوْعِ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organisations call for gender-based discrimination to end</a:t>
            </a:r>
            <a:endParaRPr lang="en-US" sz="1250" dirty="0"/>
          </a:p>
          <a:p>
            <a:pPr indent="0" marL="0">
              <a:buNone/>
            </a:pPr>
            <a:r>
              <a:rPr lang="en-US" sz="1050" i="1" dirty="0">
                <a:solidFill>
                  <a:srgbClr val="8A6D1E"/>
                </a:solidFill>
                <a:latin typeface="Calibri" pitchFamily="34" charset="0"/>
                <a:cs typeface="Amiri" pitchFamily="2" charset="-78"/>
              </a:rPr>
              <a:t>Call: yadʿū ilā an.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GENDER EQUALITY — RIGHTS, PROGRESS AND CHALLENGES”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Equal rights: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المُسَاوَاةُ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equal education</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sharing at home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progress and challenges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تَحَقَّقَ تَقَدُّمٌ وَلٰكِنْ مَا زَالَتْ تَحَدِّيَاتٌ.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أَنْ تَتَسَاوَى فُرَصُ التَّعْلِيمِ.</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يُمْكِنُ تَقَاسُمُ المَسْؤُولِيَّاتِ المَنْزِلِيَّةِ.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المُسَاوَاةُ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equal education</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يَجِبُ أَنْ تَتَسَاوَى فُرَصُ التَّعْلِيمِ.</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Educational opportunities must be equal.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sharing at home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يُمْكِنُ تَقَاسُمُ المَسْؤُولِيَّاتِ المَنْزِلِيَّةِ.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Household responsibilities can be shared.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progress and challenges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تَحَقَّقَ تَقَدُّمٌ وَلٰكِنْ مَا زَالَتْ تَحَدِّيَاتٌ.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Progress has been made, but challenges remain.</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ADVOCACY LINE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Insist + demand + call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سَطْرًا حُقُوقِيًّا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Insistence (ʿalā an)</a:t>
            </a:r>
            <a:endParaRPr lang="en-US" sz="1100" dirty="0"/>
          </a:p>
        </p:txBody>
      </p:sp>
      <p:sp>
        <p:nvSpPr>
          <p:cNvPr id="17" name="Text 14"/>
          <p:cNvSpPr txBox="1"/>
          <p:nvPr/>
        </p:nvSpPr>
        <p:spPr>
          <a:xfrm>
            <a:off x="439826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Demand (bi-an)</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Call (ilā an)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يُصِرُّ المُدَافِعُونَ عَلَى أَنْ تَحْصُلَ المَرْأَةُ عَلَى فُرَصٍ مُتَسَاوِيَةٍ</a:t>
            </a:r>
            <a:endParaRPr lang="ar-SA" sz="1450" dirty="0"/>
          </a:p>
        </p:txBody>
      </p:sp>
      <p:sp>
        <p:nvSpPr>
          <p:cNvPr id="21" name="Text 18"/>
          <p:cNvSpPr txBox="1"/>
          <p:nvPr/>
        </p:nvSpPr>
        <p:spPr>
          <a:xfrm>
            <a:off x="441655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وَيُطَالِبُ النَّاشِطُونَ بِأَنْ تُفَعَّلَ قَوَانِينُ المُسَاوَاةِ</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وَتَدْعُو المُنَظَّمَاتُ إِلَى أَنْ يُشَارِكَ الجِنْسَانِ فِي صُنْعِ القَرَارِ</a:t>
            </a:r>
            <a:endParaRPr lang="ar-SA" sz="145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يُصِرُّ المُجْتَمَعُ عَلَى أَنْ يَنْتَهِيَ التَّمْيِيزُ القَائِمُ عَلَى النَّوْعِ</a:t>
            </a:r>
            <a:endParaRPr lang="ar-SA" sz="1400" dirty="0"/>
          </a:p>
        </p:txBody>
      </p:sp>
      <p:sp>
        <p:nvSpPr>
          <p:cNvPr id="27" name="Text 24"/>
          <p:cNvSpPr txBox="1"/>
          <p:nvPr/>
        </p:nvSpPr>
        <p:spPr>
          <a:xfrm>
            <a:off x="441655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وَيُطَالِبُ المُجْتَمَعُ المَدَنِيُّ بِأَنْ تُسَدَّ فَجْوَةُ الأُجُورِ</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وَتَدْعُو الحَمْلَةُ إِلَى أَنْ تُكْسَرَ القَوَالِبُ النَّمَطِيَّةُ</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يُصِرُّ الخُبَرَاءُ عَلَى أَنْ تُطَبَّقَ قَوَانِينُ المُسَاوَاةِ</a:t>
            </a:r>
            <a:endParaRPr lang="ar-SA" sz="1600" dirty="0"/>
          </a:p>
        </p:txBody>
      </p:sp>
      <p:sp>
        <p:nvSpPr>
          <p:cNvPr id="31" name="Text 28"/>
          <p:cNvSpPr txBox="1"/>
          <p:nvPr/>
        </p:nvSpPr>
        <p:spPr>
          <a:xfrm>
            <a:off x="441655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وَتُطَالِبُ النَّاشِطَاتُ بِأَنْ يُعَاقَبَ عَلَى التَّمْيِيزِ</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وَيَدْعُو التَّقْرِيرُ إِلَى أَنْ يَرْتَفِعَ التَّمْثِيلُ السِّيَاسِيُّ لِلْمَرْأَةِ</a:t>
            </a:r>
            <a:endParaRPr lang="ar-SA" sz="14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circle each preposition and each verb in -a — which ones are passive?</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Insistence, demand — or call?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150" b="1" dirty="0">
                <a:solidFill>
                  <a:srgbClr val="1B3B6F"/>
                </a:solidFill>
                <a:latin typeface="Amiri" pitchFamily="2" charset="-78"/>
                <a:cs typeface="Amiri" pitchFamily="2" charset="-78"/>
              </a:rPr>
              <a:t>يُصِرُّ المُدَافِعُونَ عَلَى أَنْ تَحْصُلَ المَرْأَةُ عَلَى حُقُوقِهَا</a:t>
            </a:r>
            <a:endParaRPr lang="ar-SA" sz="115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يُصِرُّ المُجْتَمَعُ عَلَى أَنْ يَنْتَهِيَ التَّمْيِيزُ</a:t>
            </a:r>
            <a:endParaRPr lang="ar-SA" sz="15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يُصِرُّ الخُبَرَاءُ عَلَى أَنْ تُطَبَّقَ القَوَانِينُ</a:t>
            </a:r>
            <a:endParaRPr lang="ar-SA" sz="15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150" b="1" dirty="0">
                <a:solidFill>
                  <a:srgbClr val="1B3B6F"/>
                </a:solidFill>
                <a:latin typeface="Amiri" pitchFamily="2" charset="-78"/>
                <a:cs typeface="Amiri" pitchFamily="2" charset="-78"/>
              </a:rPr>
              <a:t>يُطَالِبُ النَّاشِطُونَ بِأَنْ تُوَقِّعَ الحُكُومَاتُ الاتِّفَاقِيَّاتِ</a:t>
            </a:r>
            <a:endParaRPr lang="ar-SA" sz="11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تُطَالِبُ النَّاشِطَاتُ بِأَنْ تُغَيَّرَ القَوَانِينُ</a:t>
            </a:r>
            <a:endParaRPr lang="ar-SA" sz="15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يُطَالِبُ المُجْتَمَعُ المَدَنِيُّ بِأَنْ تُسَدَّ فَجْوَةُ الأُجُورِ</a:t>
            </a:r>
            <a:endParaRPr lang="ar-SA" sz="12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تَدْعُو المُنَظَّمَاتُ إِلَى أَنْ يَنْتَهِيَ العُنْفُ الأُسَرِيُّ</a:t>
            </a:r>
            <a:endParaRPr lang="ar-SA" sz="12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cs typeface="Amiri" pitchFamily="2" charset="-78"/>
              </a:rPr>
              <a:t>يَدْعُو التَّقْرِيرُ إِلَى أَنْ يَرْتَفِعَ التَّمْثِيلُ السِّيَاسِيُّ</a:t>
            </a:r>
            <a:endParaRPr lang="ar-SA" sz="12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تَدْعُو الحَمْلَةُ إِلَى أَنْ تُكْسَرَ القَوَالِبُ النَّمَطِيَّةُ</a:t>
            </a:r>
            <a:endParaRPr lang="ar-SA" sz="12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insistence (yuṣirru ʿalā)</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demand (yuṭālibu bi-)</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call (yadʿū ilā)</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insistence (yuṣirru ʿalā)</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يُصِرُّ المُدَافِعُونَ عَلَى أَنْ تَحْصُلَ المَرْأَةُ عَلَى حُقُوقِهَا</a:t>
            </a:r>
            <a:endParaRPr lang="ar-SA" sz="145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يُصِرُّ المُجْتَمَعُ عَلَى أَنْ يَنْتَهِيَ التَّمْيِيزُ</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يُصِرُّ الخُبَرَاءُ عَلَى أَنْ تُطَبَّقَ القَوَانِينُ</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demand (yuṭālibu bi-)</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cs typeface="Amiri" pitchFamily="2" charset="-78"/>
              </a:rPr>
              <a:t>يُطَالِبُ النَّاشِطُونَ بِأَنْ تُوَقِّعَ الحُكُومَاتُ الاتِّفَاقِيَّاتِ</a:t>
            </a:r>
            <a:endParaRPr lang="ar-SA" sz="145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تُطَالِبُ النَّاشِطَاتُ بِأَنْ تُغَيَّرَ القَوَانِينُ</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يُطَالِبُ المُجْتَمَعُ المَدَنِيُّ بِأَنْ تُسَدَّ فَجْوَةُ الأُجُورِ</a:t>
            </a:r>
            <a:endParaRPr lang="ar-SA" sz="15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call (yadʿū ilā)</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تَدْعُو المُنَظَّمَاتُ إِلَى أَنْ يَنْتَهِيَ العُنْفُ الأُسَرِيُّ</a:t>
            </a:r>
            <a:endParaRPr lang="ar-SA" sz="16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يَدْعُو التَّقْرِيرُ إِلَى أَنْ يَرْتَفِعَ التَّمْثِيلُ السِّيَاسِيُّ</a:t>
            </a:r>
            <a:endParaRPr lang="ar-SA" sz="15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تَدْعُو الحَمْلَةُ إِلَى أَنْ تُكْسَرَ القَوَالِبُ النَّمَطِيَّةُ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all three triggers?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indicative verb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verb</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subjunctive verb (final fatḥa)</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preposition:</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يُطَالِبُ النَّاشِطُونَ ___ أَنْ تُوَقِّعَ الحُكُومَاتُ.</a:t>
            </a:r>
            <a:endParaRPr lang="ar-SA" sz="14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preposition:</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تَدْعُو المُنَظَّمَاتُ ___ أَنْ يَنْتَهِيَ العُنْفُ.</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balances the argument?</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التَّمْكِينُ تَقَدَّمَ فَقَطْ.</a:t>
            </a:r>
            <a:endParaRPr lang="ar-SA" sz="20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المُعِيقَاتُ قَائِمَةٌ فَقَطْ.</a:t>
            </a:r>
            <a:endParaRPr lang="ar-SA" sz="20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 التَّمْكِينَ تَقَدَّمَ، غَيْرَ أَنَّ المُعِيقَاتِ قَائِمَةٌ.</a:t>
            </a:r>
            <a:endParaRPr lang="ar-SA" sz="20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all three triggers?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indicative verb</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past verb</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subjunctive verb (final fatḥa)</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of these triggers takes a subjunctive verb.</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preposition:</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يُطَالِبُ النَّاشِطُونَ ___ أَنْ تُوَقِّعَ الحُكُومَاتُ.</a:t>
            </a:r>
            <a:endParaRPr lang="ar-SA" sz="14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يُطَالِبُ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preposition:</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تَدْعُو المُنَظَّمَاتُ ___ أَنْ يَنْتَهِيَ العُنْفُ.</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يَدْعُو</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balances the argument?</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التَّمْكِينُ تَقَدَّمَ فَقَطْ.</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المُعِيقَاتُ قَائِمَةٌ فَقَطْ.</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صَحِيحٌ أَنَّ التَّمْكِينَ تَقَدَّمَ، غَيْرَ أَنَّ المُعِيقَاتِ قَائِمَةٌ.</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Conceding progress then refuting with challenges balances the argument.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يُصِرُّ المُدَافِعُونَ عَلَى أَنْ تَحْصُلُ المَرْأَةُ عَلَى حُقُوقِهَا.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taḥṣulu?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يُطَالِبُ النَّاشِطُونَ عَلَى أَنْ تُوَقِّعَ الحُكُومَاتُ.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yuṭālibu ʿalā?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تَدْعُو المُنَظَّمَاتُ بِأَنْ يَنْتَهِيَ العُنْفُ.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tadʿū bi-?</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يُصِرُّ المُدَافِعُونَ عَلَى أَنْ تَحْصُلُ المَرْأَةُ عَلَى حُقُوقِهَا.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يُصِرُّ المُدَافِعُونَ عَلَى أَنْ تَحْصُلَ المَرْأَةُ عَلَى حُقُوقِهَا.</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تَحْصُلَ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يُطَالِبُ النَّاشِطُونَ عَلَى أَنْ تُوَقِّعَ الحُكُومَاتُ.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يُطَالِبُ النَّاشِطُونَ بِأَنْ تُوَقِّعَ الحُكُومَاتُ.</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يُطَالِبُ</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 before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تَدْعُو المُنَظَّمَاتُ بِأَنْ يَنْتَهِيَ العُنْفُ.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تَدْعُو المُنَظَّمَاتُ إِلَى أَنْ يَنْتَهِيَ العُنْفُ.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يَدْعُو</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 before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Listening: a rights advocate on gender equality</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international reports indicate?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 women's empowerment has seen notable progress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progress has occurred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Reports are unavailable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conceded then refuted?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Challenges have all been solved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was no progress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Parliamentary representation rose, yet core challenges remain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advocates insist on (</a:t>
            </a:r>
            <a:pPr algn="l" indent="0" marL="0">
              <a:buNone/>
            </a:pPr>
            <a:r>
              <a:rPr lang="ar-SA" altLang="en-US" sz="1650" b="1" dirty="0">
                <a:solidFill>
                  <a:srgbClr val="1B3B6F"/>
                </a:solidFill>
                <a:latin typeface="Amiri" pitchFamily="2" charset="-78"/>
                <a:cs typeface="Amiri" pitchFamily="2" charset="-78"/>
              </a:rPr>
              <a:t>يُصِرُّ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laws be repealed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progress stop</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women attain equal opportunities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activists demand (</a:t>
            </a:r>
            <a:pPr algn="l" indent="0" marL="0">
              <a:buNone/>
            </a:pPr>
            <a:r>
              <a:rPr lang="ar-SA" altLang="en-US" sz="1650" b="1" dirty="0">
                <a:solidFill>
                  <a:srgbClr val="1B3B6F"/>
                </a:solidFill>
                <a:latin typeface="Amiri" pitchFamily="2" charset="-78"/>
                <a:cs typeface="Amiri" pitchFamily="2" charset="-78"/>
              </a:rPr>
              <a:t>يُطَالِبُ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equality laws be activated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laws be ignored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salaries fall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organisations call for (</a:t>
            </a:r>
            <a:pPr algn="l" indent="0" marL="0">
              <a:buNone/>
            </a:pPr>
            <a:r>
              <a:rPr lang="ar-SA" altLang="en-US" sz="1650" b="1" dirty="0">
                <a:solidFill>
                  <a:srgbClr val="1B3B6F"/>
                </a:solidFill>
                <a:latin typeface="Amiri" pitchFamily="2" charset="-78"/>
                <a:cs typeface="Amiri" pitchFamily="2" charset="-78"/>
              </a:rPr>
              <a:t>يَدْعُو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discrimination continue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gender-based discrimination end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reports stop</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ṣaḥīḥun anna · yuṣirru ʿalā · yuṭālibu bi- · tadʿū ilā.</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تَقُولُ النَّاشِطَةُ: تُشِيرُ التَّقَارِيرُ الدَّوْلِيَّةُ إِلَى أَنَّ تَمْكِينَ المَرْأَةِ العَرَبِيَّةِ شَهِدَ تَقَدُّمًا مَلْحُوظًا.</a:t>
            </a:r>
            <a:endParaRPr lang="ar-SA" sz="16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activist says: international reports indicate that the empowerment of Arab women has seen notable progress.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صَحِيحٌ أَنَّ نِسْبَةَ المَرْأَةِ فِي البَرْلَمَانَاتِ ارْتَفَعَتْ، غَيْرَ أَنَّ تَحَدِّيَاتٍ جَوْهَرِيَّةً لَا تَزَالُ قَائِمَةً. تُحْرَمُ كَثِيرٌ مِنَ النِّسَاءِ مِنْ فُرَصِ القِيَادَةِ بِسَبَبِ المُعِيقَاتِ البِنْيَوِيَّةِ.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It is true that the share of women in parliaments has risen; however, fundamental challenges remain. Many women are deprived of leadership opportunities because of structural barriers.</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يُصِرُّ المُدَافِعُونَ عَلَى أَنْ تَحْصُلَ المَرْأَةُ عَلَى فُرَصٍ مُتَسَاوِيَةٍ، وَيُطَالِبُ النَّاشِطُونَ بِأَنْ تُفَعَّلَ قَوَانِينُ المُسَاوَاةِ.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Advocates insist that women obtain equal opportunities, and activists demand that equality laws be put into effect.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وَتَدْعُو المُنَظَّمَاتُ إِلَى أَنْ يَنْتَهِيَ التَّمْيِيزُ القَائِمُ عَلَى النَّوْعِ.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organisations call for gender-based discrimination to end.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وَلَوْ طُبِّقَتِ القَوَانِينُ بِالتَّسَاوِي، لَضَاقَتْ فَجْوَةُ الأُجُورِ.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 laws been applied equally, the pay gap would have narrowed.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international reports indicate?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Arab women's empowerment has seen notable progress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progress has occurred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Reports are unavailable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950" dirty="0">
                <a:solidFill>
                  <a:srgbClr val="8A6D1E"/>
                </a:solidFill>
                <a:latin typeface="Amiri" pitchFamily="2" charset="-78"/>
                <a:cs typeface="Amiri" pitchFamily="2" charset="-78"/>
              </a:rPr>
              <a:t>تُشِيرُ التَّقَارِيرُ الدَّوْلِيَّةُ إِلَى أَنَّ تَمْكِينَ المَرْأَةِ العَرَبِيَّةِ شَهِدَ تَقَدُّمًا مَلْحُوظًا.</a:t>
            </a:r>
            <a:endParaRPr lang="ar-SA" sz="9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conceded then refuted?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Challenges have all been solved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was no progress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Parliamentary representation rose, yet core challenges remain</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lnSpc>
                <a:spcPct val="120000"/>
              </a:lnSpc>
              <a:buNone/>
            </a:pPr>
            <a:r>
              <a:rPr lang="ar-SA" altLang="en-US" sz="900" dirty="0">
                <a:solidFill>
                  <a:srgbClr val="8A6D1E"/>
                </a:solidFill>
                <a:latin typeface="Amiri" pitchFamily="2" charset="-78"/>
                <a:cs typeface="Amiri" pitchFamily="2" charset="-78"/>
              </a:rPr>
              <a:t>صَحِيحٌ أَنَّ نِسْبَةَ المَرْأَةِ فِي البَرْلَمَانَاتِ ارْتَفَعَتْ، غَيْرَ أَنَّ تَحَدِّيَاتٍ جَوْهَرِيَّةً لَا تَزَالُ قَائِمَةً.</a:t>
            </a:r>
            <a:endParaRPr lang="ar-SA" sz="9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advocates insist on (</a:t>
            </a:r>
            <a:pPr algn="l" indent="0" marL="0">
              <a:buNone/>
            </a:pPr>
            <a:r>
              <a:rPr lang="ar-SA" altLang="en-US" sz="1650" b="1" dirty="0">
                <a:solidFill>
                  <a:srgbClr val="1B3B6F"/>
                </a:solidFill>
                <a:latin typeface="Amiri" pitchFamily="2" charset="-78"/>
                <a:cs typeface="Amiri" pitchFamily="2" charset="-78"/>
              </a:rPr>
              <a:t>يُصِرُّ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laws be repealed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progress stop</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women attain equal opportunities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يُصِرُّ المُدَافِعُونَ عَلَى أَنْ تَحْصُلَ المَرْأَةُ عَلَى فُرَصٍ مُتَسَاوِيَةٍ.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activists demand (</a:t>
            </a:r>
            <a:pPr algn="l" indent="0" marL="0">
              <a:buNone/>
            </a:pPr>
            <a:r>
              <a:rPr lang="ar-SA" altLang="en-US" sz="1650" b="1" dirty="0">
                <a:solidFill>
                  <a:srgbClr val="1B3B6F"/>
                </a:solidFill>
                <a:latin typeface="Amiri" pitchFamily="2" charset="-78"/>
                <a:cs typeface="Amiri" pitchFamily="2" charset="-78"/>
              </a:rPr>
              <a:t>يُطَالِبُ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equality laws be activated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laws be ignored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salaries fall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يُطَالِبُ النَّاشِطُونَ بِأَنْ تُفَعَّلَ قَوَانِينُ المُسَاوَاةِ.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organisations call for (</a:t>
            </a:r>
            <a:pPr algn="l" indent="0" marL="0">
              <a:buNone/>
            </a:pPr>
            <a:r>
              <a:rPr lang="ar-SA" altLang="en-US" sz="1650" b="1" dirty="0">
                <a:solidFill>
                  <a:srgbClr val="1B3B6F"/>
                </a:solidFill>
                <a:latin typeface="Amiri" pitchFamily="2" charset="-78"/>
                <a:cs typeface="Amiri" pitchFamily="2" charset="-78"/>
              </a:rPr>
              <a:t>يَدْعُو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discrimination continue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gender-based discrimination end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reports stop</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تَدْعُو المُنَظَّمَاتُ إِلَى أَنْ يَنْتَهِيَ التَّمْيِيزُ القَائِمُ عَلَى النَّوْعِ.</a:t>
            </a:r>
            <a:endParaRPr lang="ar-SA" sz="12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ṣaḥīḥun anna · yuṣirru ʿalā · yuṭālibu bi- · tadʿū ilā.</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Speaking: make the demands argument</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عَلَامَ يُصِرُّ المُدَافِعُونَ عَنِ المُسَاوَاةِ؟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 يُطَالِبُ النَّاشِطُونَ؟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إِلَامَ تَدْعُو المُنَظَّمَاتُ؟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D5FBF"/>
                </a:solidFill>
                <a:latin typeface="Amiri" pitchFamily="2" charset="-78"/>
                <a:cs typeface="Amiri" pitchFamily="2" charset="-78"/>
              </a:rPr>
              <a:t>يُصِرُّونَ عَلَى أَنْ تَحْصُلَ المَرْأَةُ عَلَى ___ .</a:t>
            </a:r>
            <a:endParaRPr lang="ar-SA" sz="15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يُطَالِبُونَ بِأَنْ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تَدْعُو المُنَظَّمَاتُ إِلَى أَنْ ___ وَأَنْ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عَلَامَ يُصِرُّ المُدَافِعُونَ؟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the advocates insist 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يُصِرُّونَ عَلَى أَنْ تَحْصُلَ المَرْأَةُ عَلَى فُرَصٍ مُتَسَاوِيَةٍ.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They insist that women obtain equal opportunities.</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one sentence for each demand trigger with the correct preposition.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sentence for each demand trigger with the correct preposition.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concession-refutation pair and reach 100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concession–refutation pair.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110 words with all three triggers, a passive and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all three triggers, a passive and a Type 2 in a balanced argument.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صَحِيحٌ أَنَّ المَرْأَةَ حَقَّقَتْ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true that women have achieved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غَيْرَ أَنَّ ______ لَا تَزَالُ قَائِمَةً.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however, … still remains.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لَوْ طُبِّقَتِ القَوَانِينُ بِالتَّسَاوِي، لَضَاقَتْ ______ .</a:t>
            </a:r>
            <a:endParaRPr lang="ar-SA" sz="16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the laws been applied equally,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يُطَالِبُ المُجْتَمَعُ المَدَنِيُّ بِأَنْ تُفَعَّلَ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demand that the laws be put into effect.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يُصِرُّ المُدَافِعُونَ عَلَى أَنْ تَحْصُلَ المَرْأَةُ عَلَى ______ .</a:t>
            </a:r>
            <a:endParaRPr lang="ar-SA" sz="145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Advocates insist that women obtain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يُطَالِبُ النَّاشِطُونَ بِأَنْ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Activists demand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تَدْعُو المُنَظَّمَاتُ إِلَى أَنْ يَنْتَهِيَ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Organisations call for … to end.</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تُحْرَمُ كَثِيرٌ مِنَ النِّسَاءِ مِنْ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Many women are deprived of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حُقُوقٍ مُتَسَاوِيَةٍ  ·  فُرَصٍ مُتَسَاوِيَةٍ  ·  تُوَقِّعَ الحُكُومَاتُ الاتِّفَاقِيَّاتِ  ·  تُسَدَّ فَجْوَةُ الأُجُورِ  ·  العُنْفُ الأُسَرِيُّ  ·  التَّمْيِيزُ القَائِمُ عَلَى النَّوْعِ  ·  مَوَاقِعِ القِيَادَةِ  ·  إِنْجَازَاتٍ فِي التَّعْلِيمِ وَالعَمَلِ  ·  فَجْوَةَ الأُجُورِ  ·  قَوَانِينُ المُسَاوَاةِ  ·  يُشَارِكَ الجِنْسَانِ فِي صُنْعِ القَرَارِ  ·  تُكْسَرَ القَوَالِبُ النَّمَطِيَّةُ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100–110-word balanced gender-equality argument. Concede progress with ṣaḥīḥun anna, refute with ghayra anna, then use all three demand triggers — yuṣirru ʿalā an, yuṭālibu bi-an, yadʿū ilā an — and add a Type 2 counterfactual.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(ṣaḥīḥun anna) balanced by a refutation (ghayra anna).</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demand triggers, each with the correct preposition and a verb in -a.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passive (tuḥramu / yuʿāqabu) and a Type 2 counterfactual.</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argument covering both progress and challenges; 100–110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شَهِدَ تَقَدُّمًا مَلْحُوظًا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has seen notable progress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يَزَالَانِ قَائِمَيْنِ</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both still remain</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بِسَبَبِ المُعِيقَاتِ البِنْيَوِيَّةِ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of structural barriers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 تَنْعَمَ المَرْأَةُ بِحُقُوقِهَا كَامِلَةً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women enjoy their full rights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 يُشَارِكَ الجِنْسَانِ فِي صُنْعِ القَرَارِ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that both genders share in decision-making</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تُشِيرُ التَّقَارِيرُ الدَّوْلِيَّةُ إِلَى أَنَّ تَمْكِينَ المَرْأَةِ العَرَبِيَّةِ شَهِدَ تَقَدُّمًا مَلْحُوظًا فِي العُقُودِ الأَخِيرَةِ. صَحِيحٌ أَنَّ المَرْأَةَ حَقَّقَتْ إِنْجَازَاتٍ فِي التَّعْلِيمِ وَالتَّمْثِيلِ السِّيَاسِيِّ، غَيْرَ أَنَّ فَجْوَةَ الأُجُورِ وَالعُنْفَ الأُسَرِيَّ لَا يَزَالَانِ قَائِمَيْنِ. تُحْرَمُ كَثِيرٌ مِنَ النِّسَاءِ مِنْ مَوَاقِعِ القِيَادَةِ بِسَبَبِ المُعِيقَاتِ البِنْيَوِيَّةِ. يُصِرُّ المُدَافِعُونَ عَلَى أَنْ تَنْعَمَ المَرْأَةُ بِحُقُوقِهَا كَامِلَةً، وَيُطَالِبُ المُجْتَمَعُ المَدَنِيُّ بِأَنْ تُفَعَّلَ قَوَانِينُ المُسَاوَاةِ، وَتَدْعُو المُنَظَّمَاتُ إِلَى أَنْ يُشَارِكَ الجِنْسَانِ فِي صُنْعِ القَرَارِ. وَلَوْ طُبِّقَتِ القَوَانِينُ بِالتَّسَاوِي، لَضَاقَتْ فَجْوَةُ الأُجُورِ كَثِيرًا.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International reports indicate that the empowerment of Arab women has seen notable progress in recent decades. It is true that women have achieved gains in education and political representation; however, the pay gap and domestic violence both still remain. Many women are deprived of leadership positions because of structural barriers. Advocates insist that women enjoy their full rights, civil society demands that equality laws be put into effect, and organisations call for both genders to share in decision-making. Had the laws been applied equally, the pay gap would have narrowed greatly.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yuṣirru ʿalā an tanʿama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bi-an tufaʿʿala · ilā an yushārika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ṭubbiqat … la-ḍāqat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trigger has its preposition: yuṣirru ʿalā · yuṭālibu bi- · yadʿū ilā.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after an ends in -a.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progress (ṣaḥīḥun anna) with challenges (ghayra anna).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verbs after an also end in -a (an tufaʿʿala).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all three triggers and a Type 2 with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insistence?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يُصِرُّ عَلَى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does </a:t>
            </a:r>
            <a:pPr algn="l" indent="0" marL="0">
              <a:buNone/>
            </a:pPr>
            <a:r>
              <a:rPr lang="ar-SA" altLang="en-US" sz="1650" b="1" dirty="0">
                <a:solidFill>
                  <a:srgbClr val="1B3B6F"/>
                </a:solidFill>
                <a:latin typeface="Amiri" pitchFamily="2" charset="-78"/>
                <a:cs typeface="Amiri" pitchFamily="2" charset="-78"/>
              </a:rPr>
              <a:t>يُطَالِبُ</a:t>
            </a:r>
            <a:pPr algn="l" indent="0" marL="0">
              <a:buNone/>
            </a:pPr>
            <a:r>
              <a:rPr lang="en-US" sz="1250" b="1" dirty="0">
                <a:solidFill>
                  <a:srgbClr val="1B3B6F"/>
                </a:solidFill>
                <a:latin typeface="Calibri" pitchFamily="34" charset="0"/>
                <a:cs typeface="Amiri" pitchFamily="2" charset="-78"/>
              </a:rPr>
              <a:t> take before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تَدْعُو المُنَظَّمَاتُ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يَنْتَهِيَ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يَنْتَهِي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يَنْتَهِ</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expresses insistence?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يُصِرُّ عَلَى أَنْ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يَنْبَغِي 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لِكَيْ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يُصِرُّ عَلَى أَنْ</a:t>
            </a:r>
            <a:pPr algn="l" indent="0" marL="0">
              <a:buNone/>
            </a:pPr>
            <a:r>
              <a:rPr lang="en-US" sz="1050" i="1" dirty="0">
                <a:solidFill>
                  <a:srgbClr val="8A6D1E"/>
                </a:solidFill>
                <a:latin typeface="Calibri" pitchFamily="34" charset="0"/>
                <a:cs typeface="Amiri" pitchFamily="2" charset="-78"/>
              </a:rPr>
              <a:t> expresses insistence.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preposition does </a:t>
            </a:r>
            <a:pPr algn="l" indent="0" marL="0">
              <a:buNone/>
            </a:pPr>
            <a:r>
              <a:rPr lang="ar-SA" altLang="en-US" sz="1650" b="1" dirty="0">
                <a:solidFill>
                  <a:srgbClr val="1B3B6F"/>
                </a:solidFill>
                <a:latin typeface="Amiri" pitchFamily="2" charset="-78"/>
                <a:cs typeface="Amiri" pitchFamily="2" charset="-78"/>
              </a:rPr>
              <a:t>يُطَالِبُ</a:t>
            </a:r>
            <a:pPr algn="l" indent="0" marL="0">
              <a:buNone/>
            </a:pPr>
            <a:r>
              <a:rPr lang="en-US" sz="1250" b="1" dirty="0">
                <a:solidFill>
                  <a:srgbClr val="1B3B6F"/>
                </a:solidFill>
                <a:latin typeface="Calibri" pitchFamily="34" charset="0"/>
                <a:cs typeface="Amiri" pitchFamily="2" charset="-78"/>
              </a:rPr>
              <a:t> take before </a:t>
            </a:r>
            <a:pPr algn="l" indent="0" marL="0">
              <a:buNone/>
            </a:pPr>
            <a:r>
              <a:rPr lang="ar-SA" altLang="en-US" sz="1650" b="1" dirty="0">
                <a:solidFill>
                  <a:srgbClr val="1B3B6F"/>
                </a:solidFill>
                <a:latin typeface="Amiri" pitchFamily="2" charset="-78"/>
                <a:cs typeface="Amiri" pitchFamily="2" charset="-78"/>
              </a:rPr>
              <a:t>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يُطَالِبُ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تَدْعُو المُنَظَّمَاتُ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يَنْتَهِيَ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يَنْتَهِي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يَنْتَهِ</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يَنْتَهِيَ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a balanced gender-equality argument (extract)</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00" dirty="0">
                <a:solidFill>
                  <a:srgbClr val="1F2A37"/>
                </a:solidFill>
                <a:latin typeface="Amiri" pitchFamily="2" charset="-78"/>
                <a:cs typeface="Amiri" pitchFamily="2" charset="-78"/>
              </a:rPr>
              <a:t>يُعَدُّ تَمْكِينُ المَرْأَةِ مِنْ أَبْرَزِ قَضَايَا التَّنْمِيَةِ. صَحِيحٌ أَنَّ المَرْأَةَ العَرَبِيَّةَ حَقَّقَتْ إِنْجَازَاتٍ فِي التَّعْلِيمِ وَالعَمَلِ، غَيْرَ أَنَّ فَجْوَةَ الأُجُورِ وَالعُنْفَ الأُسَرِيَّ لَا يَزَالَانِ يُعِيقَانِ التَّقَدُّمَ. تُحْرَمُ كَثِيرٌ مِنَ النِّسَاءِ مِنْ مَوَاقِعِ القِيَادَةِ بِسَبَبِ القَوَالِبِ النَّمَطِيَّةِ. يُصِرُّ المُدَافِعُونَ عَلَى أَنْ تَنْعَمَ المَرْأَةُ بِحُقُوقِهَا كَامِلَةً، وَيُطَالِبُونَ بِأَنْ يُعَاقَبَ عَلَى التَّمْيِيزِ. وَتَدْعُو المُنَظَّمَاتُ إِلَى أَنْ يُشَارِكَ الجِنْسَانِ فِي صُنْعِ القَرَارِ. وَلَوْ ضَمِنَتِ الحُكُومَاتُ تَكَافُؤَ الفُرَصِ، لَارْتَفَعَ تَمْثِيلُ المَرْأَةِ فِي مَوَاقِعِ القَرَارِ.</a:t>
            </a:r>
            <a:endParaRPr lang="ar-SA" sz="24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أَبْرَزِ قَضَايَا</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most prominent issues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التَّنْمِيَةِ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development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يُعِيقَانِ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both hinder</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مَوَاقِعِ القِيَادَةِ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leadership positions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تَنْعَمَ بِـ</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enjoy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كَامِلَةً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full</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يُعَاقَبَ</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 punished</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الجِنْسَانِ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both genders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ضَمِنَتْ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guaranteed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لَارْتَفَعَ</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would have risen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with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Women have achieved nothing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 women have achieved gains in education and work</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men have progressed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refuted by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challenges are solved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Progress is complete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pay gap and domestic violence still hinder progress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advocates insist on (</a:t>
            </a:r>
            <a:pPr algn="l" indent="0" marL="0">
              <a:buNone/>
            </a:pPr>
            <a:r>
              <a:rPr lang="ar-SA" altLang="en-US" sz="1650" b="1" dirty="0">
                <a:solidFill>
                  <a:srgbClr val="1B3B6F"/>
                </a:solidFill>
                <a:latin typeface="Amiri" pitchFamily="2" charset="-78"/>
                <a:cs typeface="Amiri" pitchFamily="2" charset="-78"/>
              </a:rPr>
              <a:t>يُصِرُّ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women enjoy their full rights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rights be reduced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progress halt</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organisations call for (</a:t>
            </a:r>
            <a:pPr algn="l" indent="0" marL="0">
              <a:buNone/>
            </a:pPr>
            <a:r>
              <a:rPr lang="ar-SA" altLang="en-US" sz="1650" b="1" dirty="0">
                <a:solidFill>
                  <a:srgbClr val="1B3B6F"/>
                </a:solidFill>
                <a:latin typeface="Amiri" pitchFamily="2" charset="-78"/>
                <a:cs typeface="Amiri" pitchFamily="2" charset="-78"/>
              </a:rPr>
              <a:t>يَدْعُو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only one gender decide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both genders share in decision-making</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decisions stop</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Had governments ensured equal opportunity, representation would have risen</a:t>
            </a:r>
            <a:endParaRPr lang="en-US" sz="11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Opportunity makes no difference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Representation cannot rise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with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Women have achieved nothing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Arab women have achieved gains in education and work</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men have progressed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صَحِيحٌ أَنَّ المَرْأَةَ العَرَبِيَّةَ حَقَّقَتْ إِنْجَازَاتٍ فِي التَّعْلِيمِ وَالعَمَلِ.</a:t>
            </a:r>
            <a:endParaRPr lang="ar-SA" sz="12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refuted by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challenges are solved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Progress is complete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pay gap and domestic violence still hinder progress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غَيْرَ أَنَّ فَجْوَةَ الأُجُورِ وَالعُنْفَ الأُسَرِيَّ لَا يَزَالَانِ يُعِيقَانِ التَّقَدُّمَ.</a:t>
            </a:r>
            <a:endParaRPr lang="ar-SA" sz="11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advocates insist on (</a:t>
            </a:r>
            <a:pPr algn="l" indent="0" marL="0">
              <a:buNone/>
            </a:pPr>
            <a:r>
              <a:rPr lang="ar-SA" altLang="en-US" sz="1650" b="1" dirty="0">
                <a:solidFill>
                  <a:srgbClr val="1B3B6F"/>
                </a:solidFill>
                <a:latin typeface="Amiri" pitchFamily="2" charset="-78"/>
                <a:cs typeface="Amiri" pitchFamily="2" charset="-78"/>
              </a:rPr>
              <a:t>يُصِرُّ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women enjoy their full rights</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rights be reduced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progress halt</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يُصِرُّ المُدَافِعُونَ عَلَى أَنْ تَنْعَمَ المَرْأَةُ بِحُقُوقِهَا كَامِلَةً.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organisations call for (</a:t>
            </a:r>
            <a:pPr algn="l" indent="0" marL="0">
              <a:buNone/>
            </a:pPr>
            <a:r>
              <a:rPr lang="ar-SA" altLang="en-US" sz="1650" b="1" dirty="0">
                <a:solidFill>
                  <a:srgbClr val="1B3B6F"/>
                </a:solidFill>
                <a:latin typeface="Amiri" pitchFamily="2" charset="-78"/>
                <a:cs typeface="Amiri" pitchFamily="2" charset="-78"/>
              </a:rPr>
              <a:t>يَدْعُو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only one gender decide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both genders share in decision-making</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decisions stop</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تَدْعُو المُنَظَّمَاتُ إِلَى أَنْ يُشَارِكَ الجِنْسَانِ فِي صُنْعِ القَرَارِ.</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Had governments ensured equal opportunity, representation would have risen</a:t>
            </a:r>
            <a:endParaRPr lang="en-US" sz="11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Opportunity makes no difference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Representation cannot rise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لَوْ ضَمِنَتِ الحُكُومَاتُ تَكَافُؤَ الفُرَصِ، لَارْتَفَعَ تَمْثِيلُ المَرْأَةِ.</a:t>
            </a:r>
            <a:endParaRPr lang="ar-SA" sz="13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Advocacy Mission — Insist, Demand, Call</a:t>
            </a:r>
            <a:endParaRPr lang="en-US" sz="24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يُصِرُّ عَلَى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insistence</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fact</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يُطَالِبُ بِأَنْ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demand</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fear</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يَدْعُو إِلَى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condition</a:t>
            </a:r>
            <a:endParaRPr lang="en-US" sz="12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call</a:t>
            </a:r>
            <a:endParaRPr lang="en-US" sz="12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Insistence: complete — </a:t>
            </a:r>
            <a:pPr algn="l" indent="0" marL="0">
              <a:buNone/>
            </a:pPr>
            <a:r>
              <a:rPr lang="ar-SA" altLang="en-US" sz="1550" b="1" dirty="0">
                <a:solidFill>
                  <a:srgbClr val="1B3B6F"/>
                </a:solidFill>
                <a:latin typeface="Amiri" pitchFamily="2" charset="-78"/>
                <a:cs typeface="Amiri" pitchFamily="2" charset="-78"/>
              </a:rPr>
              <a:t>يُصِرُّ المُدَافِعُونَ عَلَى أَنْ</a:t>
            </a:r>
            <a:pPr algn="l" indent="0" marL="0">
              <a:buNone/>
            </a:pPr>
            <a:r>
              <a:rPr lang="en-US" sz="1200" b="1" dirty="0">
                <a:solidFill>
                  <a:srgbClr val="1B3B6F"/>
                </a:solidFill>
                <a:latin typeface="Calibri" pitchFamily="34" charset="0"/>
                <a:cs typeface="Amiri" pitchFamily="2" charset="-78"/>
              </a:rPr>
              <a:t> ___ </a:t>
            </a:r>
            <a:pPr algn="l" indent="0" marL="0">
              <a:buNone/>
            </a:pPr>
            <a:r>
              <a:rPr lang="ar-SA" altLang="en-US" sz="1550" b="1" dirty="0">
                <a:solidFill>
                  <a:srgbClr val="1B3B6F"/>
                </a:solidFill>
                <a:latin typeface="Amiri" pitchFamily="2" charset="-78"/>
                <a:cs typeface="Amiri" pitchFamily="2" charset="-78"/>
              </a:rPr>
              <a:t>المَرْأَةُ عَلَى حُقُوقِهَا</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63" name="Shape 60"/>
          <p:cNvSpPr/>
          <p:nvPr/>
        </p:nvSpPr>
        <p:spPr>
          <a:xfrm>
            <a:off x="640080"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تَحْصُلُ</a:t>
            </a:r>
            <a:endParaRPr lang="ar-SA" sz="2050" dirty="0"/>
          </a:p>
        </p:txBody>
      </p:sp>
      <p:sp>
        <p:nvSpPr>
          <p:cNvPr id="66" name="Shape 63"/>
          <p:cNvSpPr/>
          <p:nvPr/>
        </p:nvSpPr>
        <p:spPr>
          <a:xfrm>
            <a:off x="640080"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تَحْصُلْ</a:t>
            </a:r>
            <a:endParaRPr lang="ar-SA" sz="2050" dirty="0"/>
          </a:p>
        </p:txBody>
      </p:sp>
      <p:sp>
        <p:nvSpPr>
          <p:cNvPr id="69" name="Shape 66"/>
          <p:cNvSpPr/>
          <p:nvPr/>
        </p:nvSpPr>
        <p:spPr>
          <a:xfrm>
            <a:off x="640080"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تَحْصُلَ</a:t>
            </a:r>
            <a:endParaRPr lang="ar-SA" sz="2050" dirty="0"/>
          </a:p>
        </p:txBody>
      </p:sp>
      <p:sp>
        <p:nvSpPr>
          <p:cNvPr id="72" name="Shape 69"/>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4404360" y="4288536"/>
            <a:ext cx="310896" cy="310896"/>
          </a:xfrm>
          <a:prstGeom prst="ellipse">
            <a:avLst/>
          </a:prstGeom>
          <a:solidFill>
            <a:srgbClr val="1B3B6F"/>
          </a:solidFill>
          <a:ln w="12700">
            <a:solidFill>
              <a:srgbClr val="1B3B6F"/>
            </a:solidFill>
            <a:prstDash val="solid"/>
          </a:ln>
        </p:spPr>
      </p:sp>
      <p:sp>
        <p:nvSpPr>
          <p:cNvPr id="74" name="Text 71"/>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5" name="Text 72"/>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Demand: complete the preposition — </a:t>
            </a:r>
            <a:pPr algn="l" indent="0" marL="0">
              <a:buNone/>
            </a:pPr>
            <a:r>
              <a:rPr lang="ar-SA" altLang="en-US" sz="1450" b="1" dirty="0">
                <a:solidFill>
                  <a:srgbClr val="1B3B6F"/>
                </a:solidFill>
                <a:latin typeface="Amiri" pitchFamily="2" charset="-78"/>
                <a:cs typeface="Amiri" pitchFamily="2" charset="-78"/>
              </a:rPr>
              <a:t>يُطَالِبُ النَّاشِطُونَ</a:t>
            </a:r>
            <a:pPr algn="l" indent="0" marL="0">
              <a:buNone/>
            </a:pPr>
            <a:r>
              <a:rPr lang="en-US" sz="1100" b="1" dirty="0">
                <a:solidFill>
                  <a:srgbClr val="1B3B6F"/>
                </a:solidFill>
                <a:latin typeface="Calibri" pitchFamily="34" charset="0"/>
                <a:cs typeface="Amiri" pitchFamily="2" charset="-78"/>
              </a:rPr>
              <a:t> ___ </a:t>
            </a:r>
            <a:pPr algn="l" indent="0" marL="0">
              <a:buNone/>
            </a:pPr>
            <a:r>
              <a:rPr lang="ar-SA" altLang="en-US" sz="1450" b="1" dirty="0">
                <a:solidFill>
                  <a:srgbClr val="1B3B6F"/>
                </a:solidFill>
                <a:latin typeface="Amiri" pitchFamily="2" charset="-78"/>
                <a:cs typeface="Amiri" pitchFamily="2" charset="-78"/>
              </a:rPr>
              <a:t>أَنْ تُوَقِّعَ الحُكُومَاتُ</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85" name="Shape 8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223504" y="4288536"/>
            <a:ext cx="310896" cy="310896"/>
          </a:xfrm>
          <a:prstGeom prst="ellipse">
            <a:avLst/>
          </a:prstGeom>
          <a:solidFill>
            <a:srgbClr val="1B3B6F"/>
          </a:solidFill>
          <a:ln w="12700">
            <a:solidFill>
              <a:srgbClr val="1B3B6F"/>
            </a:solidFill>
            <a:prstDash val="solid"/>
          </a:ln>
        </p:spPr>
      </p:sp>
      <p:sp>
        <p:nvSpPr>
          <p:cNvPr id="87" name="Text 8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8" name="Text 8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Call: complete the preposition — </a:t>
            </a:r>
            <a:pPr algn="l" indent="0" marL="0">
              <a:buNone/>
            </a:pPr>
            <a:r>
              <a:rPr lang="ar-SA" altLang="en-US" sz="1650" b="1" dirty="0">
                <a:solidFill>
                  <a:srgbClr val="1B3B6F"/>
                </a:solidFill>
                <a:latin typeface="Amiri" pitchFamily="2" charset="-78"/>
                <a:cs typeface="Amiri" pitchFamily="2" charset="-78"/>
              </a:rPr>
              <a:t>تَدْعُو المُنَظَّمَاتُ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يَنْتَهِيَ العُنْفُ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يُصِرُّ عَلَى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insistence</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fact</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يُصِرُّ عَلَى أَنْ</a:t>
            </a:r>
            <a:pPr algn="l" indent="0" marL="0">
              <a:buNone/>
            </a:pPr>
            <a:r>
              <a:rPr lang="en-US" sz="1050" i="1" dirty="0">
                <a:solidFill>
                  <a:srgbClr val="8A6D1E"/>
                </a:solidFill>
                <a:latin typeface="Calibri" pitchFamily="34" charset="0"/>
                <a:cs typeface="Amiri" pitchFamily="2" charset="-78"/>
              </a:rPr>
              <a:t> signals insistence.</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يُطَالِبُ بِأَنْ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demand</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fear</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concession</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يُطَالِبُ بِأَنْ</a:t>
            </a:r>
            <a:pPr algn="l" indent="0" marL="0">
              <a:buNone/>
            </a:pPr>
            <a:r>
              <a:rPr lang="en-US" sz="1050" i="1" dirty="0">
                <a:solidFill>
                  <a:srgbClr val="8A6D1E"/>
                </a:solidFill>
                <a:latin typeface="Calibri" pitchFamily="34" charset="0"/>
                <a:cs typeface="Amiri" pitchFamily="2" charset="-78"/>
              </a:rPr>
              <a:t> signals a demand.</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يَدْعُو إِلَى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condition</a:t>
            </a:r>
            <a:endParaRPr lang="en-US" sz="125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call</a:t>
            </a:r>
            <a:endParaRPr lang="en-US" sz="125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يَدْعُو إِلَى أَنْ</a:t>
            </a:r>
            <a:pPr algn="l" indent="0" marL="0">
              <a:buNone/>
            </a:pPr>
            <a:r>
              <a:rPr lang="en-US" sz="1050" i="1" dirty="0">
                <a:solidFill>
                  <a:srgbClr val="8A6D1E"/>
                </a:solidFill>
                <a:latin typeface="Calibri" pitchFamily="34" charset="0"/>
                <a:cs typeface="Amiri" pitchFamily="2" charset="-78"/>
              </a:rPr>
              <a:t> signals a call.</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Insistence: complete — </a:t>
            </a:r>
            <a:pPr algn="l" indent="0" marL="0">
              <a:buNone/>
            </a:pPr>
            <a:r>
              <a:rPr lang="ar-SA" altLang="en-US" sz="1550" b="1" dirty="0">
                <a:solidFill>
                  <a:srgbClr val="1B3B6F"/>
                </a:solidFill>
                <a:latin typeface="Amiri" pitchFamily="2" charset="-78"/>
                <a:cs typeface="Amiri" pitchFamily="2" charset="-78"/>
              </a:rPr>
              <a:t>يُصِرُّ المُدَافِعُونَ عَلَى أَنْ</a:t>
            </a:r>
            <a:pPr algn="l" indent="0" marL="0">
              <a:buNone/>
            </a:pPr>
            <a:r>
              <a:rPr lang="en-US" sz="1200" b="1" dirty="0">
                <a:solidFill>
                  <a:srgbClr val="1B3B6F"/>
                </a:solidFill>
                <a:latin typeface="Calibri" pitchFamily="34" charset="0"/>
                <a:cs typeface="Amiri" pitchFamily="2" charset="-78"/>
              </a:rPr>
              <a:t> ___ </a:t>
            </a:r>
            <a:pPr algn="l" indent="0" marL="0">
              <a:buNone/>
            </a:pPr>
            <a:r>
              <a:rPr lang="ar-SA" altLang="en-US" sz="1550" b="1" dirty="0">
                <a:solidFill>
                  <a:srgbClr val="1B3B6F"/>
                </a:solidFill>
                <a:latin typeface="Amiri" pitchFamily="2" charset="-78"/>
                <a:cs typeface="Amiri" pitchFamily="2" charset="-78"/>
              </a:rPr>
              <a:t>المَرْأَةُ عَلَى حُقُوقِهَا</a:t>
            </a:r>
            <a:pPr algn="l" indent="0" marL="0">
              <a:buNone/>
            </a:pPr>
            <a:r>
              <a:rPr lang="en-US" sz="1200" b="1" dirty="0">
                <a:solidFill>
                  <a:srgbClr val="1B3B6F"/>
                </a:solidFill>
                <a:latin typeface="Calibri" pitchFamily="34" charset="0"/>
                <a:cs typeface="Amiri" pitchFamily="2" charset="-78"/>
              </a:rPr>
              <a:t>.</a:t>
            </a:r>
            <a:endParaRPr lang="en-US" sz="1200" dirty="0"/>
          </a:p>
        </p:txBody>
      </p:sp>
      <p:sp>
        <p:nvSpPr>
          <p:cNvPr id="68" name="Shape 66"/>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تَحْصُلُ</a:t>
            </a:r>
            <a:endParaRPr lang="ar-SA" sz="1700" dirty="0"/>
          </a:p>
        </p:txBody>
      </p:sp>
      <p:sp>
        <p:nvSpPr>
          <p:cNvPr id="71"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تَحْصُلْ</a:t>
            </a:r>
            <a:endParaRPr lang="ar-SA" sz="1700" dirty="0"/>
          </a:p>
        </p:txBody>
      </p:sp>
      <p:sp>
        <p:nvSpPr>
          <p:cNvPr id="74" name="Shape 72"/>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3"/>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5"/>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تَحْصُلَ</a:t>
            </a:r>
            <a:endParaRPr lang="ar-SA" sz="1700" dirty="0"/>
          </a:p>
        </p:txBody>
      </p:sp>
      <p:sp>
        <p:nvSpPr>
          <p:cNvPr id="78" name="Text 76"/>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تَحْصُلَ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8"/>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8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Demand: complete the preposition — </a:t>
            </a:r>
            <a:pPr algn="l" indent="0" marL="0">
              <a:buNone/>
            </a:pPr>
            <a:r>
              <a:rPr lang="ar-SA" altLang="en-US" sz="1450" b="1" dirty="0">
                <a:solidFill>
                  <a:srgbClr val="1B3B6F"/>
                </a:solidFill>
                <a:latin typeface="Amiri" pitchFamily="2" charset="-78"/>
                <a:cs typeface="Amiri" pitchFamily="2" charset="-78"/>
              </a:rPr>
              <a:t>يُطَالِبُ النَّاشِطُونَ</a:t>
            </a:r>
            <a:pPr algn="l" indent="0" marL="0">
              <a:buNone/>
            </a:pPr>
            <a:r>
              <a:rPr lang="en-US" sz="1100" b="1" dirty="0">
                <a:solidFill>
                  <a:srgbClr val="1B3B6F"/>
                </a:solidFill>
                <a:latin typeface="Calibri" pitchFamily="34" charset="0"/>
                <a:cs typeface="Amiri" pitchFamily="2" charset="-78"/>
              </a:rPr>
              <a:t> ___ </a:t>
            </a:r>
            <a:pPr algn="l" indent="0" marL="0">
              <a:buNone/>
            </a:pPr>
            <a:r>
              <a:rPr lang="ar-SA" altLang="en-US" sz="1450" b="1" dirty="0">
                <a:solidFill>
                  <a:srgbClr val="1B3B6F"/>
                </a:solidFill>
                <a:latin typeface="Amiri" pitchFamily="2" charset="-78"/>
                <a:cs typeface="Amiri" pitchFamily="2" charset="-78"/>
              </a:rPr>
              <a:t>أَنْ تُوَقِّعَ الحُكُومَاتُ</a:t>
            </a:r>
            <a:pPr algn="l" indent="0" marL="0">
              <a:buNone/>
            </a:pPr>
            <a:r>
              <a:rPr lang="en-US" sz="1100" b="1" dirty="0">
                <a:solidFill>
                  <a:srgbClr val="1B3B6F"/>
                </a:solidFill>
                <a:latin typeface="Calibri" pitchFamily="34" charset="0"/>
                <a:cs typeface="Amiri" pitchFamily="2" charset="-78"/>
              </a:rPr>
              <a:t>.</a:t>
            </a:r>
            <a:endParaRPr lang="en-US" sz="1100" dirty="0"/>
          </a:p>
        </p:txBody>
      </p:sp>
      <p:sp>
        <p:nvSpPr>
          <p:cNvPr id="83"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4"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5"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6"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87"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90"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1"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93"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يُطَالِبُ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4" name="Shape 92"/>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3"/>
          <p:cNvSpPr/>
          <p:nvPr/>
        </p:nvSpPr>
        <p:spPr>
          <a:xfrm>
            <a:off x="8223504" y="4288536"/>
            <a:ext cx="310896" cy="310896"/>
          </a:xfrm>
          <a:prstGeom prst="ellipse">
            <a:avLst/>
          </a:prstGeom>
          <a:solidFill>
            <a:srgbClr val="1B3B6F"/>
          </a:solidFill>
          <a:ln w="12700">
            <a:solidFill>
              <a:srgbClr val="1B3B6F"/>
            </a:solidFill>
            <a:prstDash val="solid"/>
          </a:ln>
        </p:spPr>
      </p:sp>
      <p:sp>
        <p:nvSpPr>
          <p:cNvPr id="96" name="Text 94"/>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7" name="Text 95"/>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Call: complete the preposition — </a:t>
            </a:r>
            <a:pPr algn="l" indent="0" marL="0">
              <a:buNone/>
            </a:pPr>
            <a:r>
              <a:rPr lang="ar-SA" altLang="en-US" sz="1650" b="1" dirty="0">
                <a:solidFill>
                  <a:srgbClr val="1B3B6F"/>
                </a:solidFill>
                <a:latin typeface="Amiri" pitchFamily="2" charset="-78"/>
                <a:cs typeface="Amiri" pitchFamily="2" charset="-78"/>
              </a:rPr>
              <a:t>تَدْعُو المُنَظَّمَاتُ</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يَنْتَهِيَ العُنْفُ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يَدْعُو</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before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P5-L03 · Advocacy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P5-L04 · Digital Society — Social Media, Privacy and the Digital Divide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الفَجْوَةُ الرَّقْمِيَّةُ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digital divide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خُصُوصِيَّةُ البَيَانَاتِ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data privacy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التَّنَمُّرُ الإِلِكْتُرُونِيُّ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cyberbullying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مَعْلُومَاتٌ مُضَلِّلَةٌ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misinformation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يَمْنَعُ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prohibits that</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many hours a day do you spend online? Is it too much?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أَقْضِي ______ سَاعَاتٍ يَوْمِيًّا عَلَى الإِنْتَرْنِتْ، وَأَرَى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sentence for each trigger: yuṣirru ʿalā an · yuṭālibu bi-an · yadʿū ilā an.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concession–refutation pair (100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balanced gender-equality argument.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P5-L04 · Digital Society — Social Media, Privacy and the Digital Divide</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المُجْتَمَعُ الرَّقْمِيُّ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insist ON (yuṣirru ʿalā an) · demand WITH (yuṭālibu bi-an) · call TO (yadʿū ilā an) — then a verb in -A, active or passive (an tufaʿʿalA) — and balance it: ṣaḥīḥun anna … ghayra anna.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P5-L03 · Gender Equality — Rights, Progress and Challenges</dc:title>
  <dc:subject>PptxGenJS Presentation</dc:subject>
  <dc:creator>Al Madina Online School · Arabic Department</dc:creator>
  <cp:lastModifiedBy>Al Madina Online School · Arabic Department</cp:lastModifiedBy>
  <cp:revision>1</cp:revision>
  <dcterms:created xsi:type="dcterms:W3CDTF">2026-10-11T06:43:26Z</dcterms:created>
  <dcterms:modified xsi:type="dcterms:W3CDTF">2026-10-11T06:43:26Z</dcterms:modified>
</cp:coreProperties>
</file>