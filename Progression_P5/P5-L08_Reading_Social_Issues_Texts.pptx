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P5-L08. The website lesson “Reading — Social Issues Texts”: vocabulary, grammar rules and quiz, patterns, common mistakes, sorter, listening, reading, speaking prompts and model, writing task and model, differentiation, final check and the lesson mission. Picture match: website visual game “Reading — Social Issues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text “a social-mobility argument” is the main You Do task. The grammar slides are a reading toolkit built on the concession–refutation and subjunctive work of P5-L01 to L07.
• Core: identify one concession and one refutation in the text (website Core). Develop: explain what each structure does for the argument. Stretch: a full R3 answer judging whether the argument is balanced, with two pieces of evidence.
• Exam link (Paper 2): R3 asks about the FUNCTION of a structure, not just its presence — «مَا الغَرَضُ مِنْ "صَحِيحٌ أَنَّ" هُنَا؟». Q4-style gap-fills hinge on the context: a conceded fact (-u) or a triggered aim (-a).
• Faith link (optional): «يَا أَيُّهَا الَّذِينَ آمَنُوا إِنْ جَاءَكُمْ فَاسِقٌ بِنَبَإٍ فَتَبَيَّنُوا» (al-Ḥujurāt 49:6) — check the source before you accept a claim: مَوْثُوقِيَّةُ المَصْدَرِ.
• Grammar links: ṣaḥīḥun anna … ghayra anna (P5-L01, L07) · anna + -u vs an + -a (P5-L07) · reading the subjunctive for meaning (P4-L08).
• TEACHER-WRITTEN ITEMS: waṣl alif shown without a kasra; لِكَيْ always written with its sukūn; long reading answer options shortened and “Which form?” dropped from gap-fill prompts; rule headings and formulas, pattern tips, writing prompt and checklist in transliteration; sorter headings in transliteration; the marker, gap-fill, R1–R4 and balance tables and the annotation table are teacher-built from the website texts; the website visual game is beginner-level and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P5-L07. Questions 4–5 retrieve anna + -u and the bi-l-raghmi min correction (P5-L07) — today students read these structures instead of writing them.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Don’t just read WHAT the writer says — read HOW the argument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جدل, منطق, بلاغت and مصدر are shared — students who studied Arabic grammar know مصدر as the verbal noun; here it also means a SOURCE (مَوْثُوقِيَّةُ المَصْدَرِ = source reliability). Careful: Urdu قرینہ = neatness / proper order, but Arabic القَرِينَةُ = the CLUE in the context that tells you which form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for argument (website vocabulary (1 of 2)). Hear → Say → See → Use. Transliteration is printed for Core students (cover it for Develop/Stretch).
Reading for argument — the words of an R3 answer: التَّسْلِيمُ بِالحُجَّةِ المُضَادَّةِ (conceding the counter-argument), التَّحَيُّزُ (bias), مَوْثُوقِيَّةُ المَصْدَرِ (source reliability). يُسَلِّمُ بِـ = concedes, يَرُدُّ عَلَى = responds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for argument (website vocabulary (2 of 2)). Hear → Say → See → Use. Transliteration is printed for Core students (cover it for Develop/Stretch).
Reading for argument — the words of an R3 answer: التَّسْلِيمُ بِالحُجَّةِ المُضَادَّةِ (conceding the counter-argument), التَّحَيُّزُ (bias), مَوْثُوقِيَّةُ المَصْدَرِ (source reliability). يُسَلِّمُ بِـ = concedes, يَرُدُّ عَلَى = responds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Structure markers to spot (website vocabulary (1 of 2)). Hear → Say → See → Use. Transliteration is printed for Core students (cover it for Develop/Stretch).
Structure markers to SPOT: concession (صَحِيحٌ أَنَّ · لَا يُمْكِنُ إِنْكَارُ أَنَّ · بِالرَّغْمِ مِنْ) → refutation (غَيْرَ أَنَّ · مَعَ ذٰلِكَ) → triggers (يَتَطَلَّبُ أَنْ · يَنْبَغِي أَنْ · لِكَيْ) that take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Structure markers to spot (website vocabulary (2 of 2)). Hear → Say → See → Use. Transliteration is printed for Core students (cover it for Develop/Stretch).
FLEX: teach if time allows; otherwise these are on the website vocabulary tab for homework.
Structure markers to SPOT: concession (صَحِيحٌ أَنَّ · لَا يُمْكِنُ إِنْكَارُ أَنَّ · بِالرَّغْمِ مِنْ) → refutation (غَيْرَ أَنَّ · مَعَ ذٰلِكَ) → triggers (يَتَطَلَّبُ أَنْ · يَنْبَغِي أَنْ · لِكَيْ) that take a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Gap-fill discrimination (website vocabulary (1 of 2)). Hear → Say → See → Use. Transliteration is printed for Core students (cover it for Develop/Stretch).
FLEX: teach if time allows; otherwise these are on the website vocabulary tab for homework.
Gap-fill words: الفِعْلُ المُثْبَتُ (the indicative, -u) in سِيَاقُ التَّسْلِيمِ; الفِعْلُ المَنْصُوبُ (the subjunctive, -a) in سِيَاقُ النَّصْبِ. القَرِينَةُ = the clue. يَسْتَدْعِي = calls for — a word to deduce from context (website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Gap-fill discrimination (website vocabulary (2 of 2)). Hear → Say → See → Use. Transliteration is printed for Core students (cover it for Develop/Stretch).
FLEX: teach if time allows; otherwise these are on the website vocabulary tab for homework.
Gap-fill words: الفِعْلُ المُثْبَتُ (the indicative, -u) in سِيَاقُ التَّسْلِيمِ; الفِعْلُ المَنْصُوبُ (the subjunctive, -a) in سِيَاقُ النَّصْبِ. القَرِينَةُ = the clue. يَسْتَدْعِي = calls for — a word to deduce from context (website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“Spot the concession” and “Spot the refutation”, teaching point 1, the website table and the website reading.
Reading routine before any question: underline the five markers in the text in five colours (thesis, evidence, concession, refutation, trigger). The text’s skeleton appears — exactly the P5-L07 essay architecture.
Vocabulary: التَّنَقُّلُ الاجْتِمَاعِيُّ الصَّاعِدُ = upward social mobility · المُعِيقَاتُ البِنْيَوِيَّةُ = structural barriers · تَحُولُ دُونَ =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“Concession → indicative” and “Trigger → subjunctive”, teaching point 2 (“Identify which context the gap sits in, then choose the form”), mistakes 1–2 and quiz 4–6.
Gap-fill routine: (1) cover the options; (2) look LEFT of the gap for the clue; (3) anna (shadda) + noun → the verb describes a FACT → -u; an / li-kay → an AIM or a demand → -a; (4) only now look at the options.
The same verb, two contexts: تَتَّخِذُ (the state IS taking measures) vs أَنْ تَتَّخِذَ (the state SHOULD take measures). The meaning tells you the mood.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website reading labels its six questions R1–R4; this table shows what each type needs, using the website text.
Website quiz 7: an R3 question asks about the FUNCTION (“What argumentative purpose does ṣaḥīḥun anna serve here?”), not the presence (“Find the word ṣaḥīḥun”).
Row 4: the reading also has لَا يُمْكِنُ إِنْكَارُ أَنَّ … مَعَ ذٰلِكَ — a SECOND concession–refutation pair; two pairs make the balance even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quiz 1 and 8, mistake 3, the mission (“a balanced argument concedes the other side, then refutes it”) and the website writing task.
Card 2 is a teacher-built example of a one-sided claim (absolute words: تَمَامًا · لَا شَيْءَ). Bias clues: absolute words, no concession, no cited source (التَّحَيُّزُ فِي الطَّرْحِ).
Stretch: an R3 judgement needs (1) a verdict, (2) the quoted structure, (3) its job — «الحُجَّةُ مُتَوَازِنَةٌ، لِأَنَّ الكَاتِبَ يُسَلِّمُ بِـ"صَحِيحٌ أَنَّ" ثُمَّ يَرُدُّ بِـ"غَيْرَ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“Identify concession and refutation markers, read their function, and choose the indicative after a concession versus the subjunctive after a trigger.”
• Spot the concession: A concession admits the opposing point.
• Spot the refutation: A refutation answers the concession.
• Concession → indicative: The conceded situation is real, so indicative.
• Trigger → subjunctive: The trigger forces the fatḥa.
Website common error: Putting a subjunctive after صَحِيحٌ أَنَّ, or an indicative after a trigger. Read the context: a conceded real situation is indicative; a triggered desired action is subjunctive.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“Verdict first: balanced or one-sided? Then prove it: quote the concession — the writer yusallimu bi- … Quote the refutation — yaruddu bi- ghayra anna … Then close with a conclusion connector. Verdict · quote · job ·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built from the website reading “a social-mobility argument”. Read the text aloud first, then fill columns 2–3 together, covering them.
Core: rows 1–3 (which job?). Develop: column 3 — why -u in row 2 but -a in row 5? Stretch: row 4 — how does the Type 2 add to the argument (an implied criticism: support was NOT directed early)?
Vocabulary: مِقْيَاسًا = a measure · تَكَافُؤِ الفُرَصِ = equal opportunities · الصُّعُودِ = rising, mobility.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argument-analysis line from a concession, a refutation and a mood judgement.” Website feedback: any three different combinations work.
Use it as oral rehearsal for the website writing task. Stretch: which column-2 quotation is NOT in the reading text? (row 3 — وَعَلَى النَّقِيضِ مِنْ ذٰلِكَ is from the sorter.)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the verb form in each card aloud: concession cards → -u (a real situation) · trigger cards → -a (a needed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the verb form in each card aloud: concession cards → -u (a real situation) · trigger cards → -a (a needed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the coach’s two-step gap-fill rule.
Listen 1: just listen. Listen 2: note answers. Then chat the letters.
Support: after the second listening, show the read-along slide (Arabic + English, line by line) for Core students.
SCRIPT (read aloud):
تَقُولُ المُدَرِّبَةُ: قِرَاءَةُ النُّصُوصِ الجَدَلِيَّةِ تَتَطَلَّبُ أَنْ تُمَيِّزَ لَا مَا يَقُولُهُ الكَاتِبُ فَحَسْبُ، بَلْ كَيْفَ يَبْنِي حُجَّتَهُ. الكَاتِبُ الَّذِي يَسْتَعْمِلُ «صَحِيحٌ أَنَّ» يُسَلِّمُ بِالرَّأْيِ الآخَرِ قَبْلَ الرَّدِّ عَلَيْهِ، وَهٰذَا يَدُلُّ عَلَى نُضْجٍ فِكْرِيٍّ. ابْحَثْ عَنِ التَّسْلِيمِ ثُمَّ عَنِ الرَّدِّ بِـ«غَيْرَ أَنَّ». وَفِي مِلْءِ الفَرَاغِ، إِذَا جَاءَ الفِعْلُ بَعْدَ «صَحِيحٌ أَنَّ» فَهُوَ مُثْبَتٌ لِأَنَّهُ يَصِفُ وَاقِعًا، أَمَّا بَعْدَ «يَتَطَلَّبُ» أَوْ «لِكَيْ» فَهُوَ مَنْصُوبٌ. حَدِّدِ القَرِينَةَ أَوَّلًا، ثُمَّ اخْتَرِ الصِّيغَةَ.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READING (main task): the website text “a social-mobility argument”. Before reading: underline the thesis, box ṣaḥīḥun anna and lā yumkinu inkāru anna, circle ghayra anna and maʿa dhālika, and mark every verb after an with -a.
Core: questions 1, 2 and 3 (R1–R3). Develop: all 6 + quote the words that prove each answer. Stretch: then write the R3 judgement in Arabic: «الحُجَّةُ مُتَوَازِنَةٌ، لِأَنَّ الكَاتِبَ يُسَلِّمُ بِـ… ثُمَّ يَرُدُّ بِـ…» (website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الحُجَّةُ مُتَوَازِنَةٌ؟ (Balance)
B: نَعَمْ، لِأَنَّهَا تُسَلِّمُ ثُمَّ تَرُدُّ بِـ«غَيْرَ أَنَّ» عَلَى المُعِيقَاتِ البِنْيَوِيَّةِ. (Concession + refutation)
Website prompts and model. Pairs take the three prompts in turn about the reading text — A asks, B answers with a quotation, then swap. To a girl: بِرَأْيِكِ.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Identify one concession and one refutation in the text. · Develop — Explain what each structure does for the argument. · Stretch — Write a full R3 answer judging whether the argument is balanced, with two pieces of evidence.
Website writing task (Stretch): Write an 80–90-word R3 analysis of the reading text. State whether the argument is balanced or one-sided, and support your judgement with at least two structures from the text (a concession, a refutation or a trigger).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أَرَى أَنَّ حُجَّةَ الكَاتِبِ مُتَوَازِنَةٌ · يُسَلِّمُ أَوَّلًا … حِينَ يَقُولُ «صَحِيحٌ أَنَّ …» · يَدُلُّ عَلَى نُضْجٍ فِكْرِيٍّ · ثُمَّ يَرُدُّ … بِـ«غَيْرَ أَنَّ …» · فَيُوَازِنُ بَيْنَ … · يَسْتَشْهِدُ · وَبِنَاءً عَلَى مَا سَبَقَ، أَعُدُّ النَّصَّ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(P5-L09 · Writing — Social Issues and Opinions (Paper 4 Extended Writing)) will spend class time USING this language, so students prepare it tonight — short, simple, easy to access (school guidance: “Simple, Short, Interesting, Relevant, Easy to access”). The five words come from the website P5-L09 vocabulary (extended writing on social issues).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Reading — Social Issues Texts</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القِرَاءَةُ — نُصُوصُ القَضَايَا الاجْتِمَاعِيَّةِ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an argument like an examiner: find the thesis (R1) and evidence (R2), spot ṣaḥīḥun anna … ghayra anna and explain what it does (R3), judge balanced vs one-sided, and in a gap choose -u after a concession and -a after a trigger (R4).</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P5-L08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Markers and their jobs, the -u / -a gap-fill by context, R1–R4 on the website text, balanced vs one-sided.</a:t>
            </a:r>
            <a:endParaRPr lang="en-US" sz="11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Annotate the key sentences of the text, build an analysis, sort concession / refutation / trigger.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نَصٌّ جَدَلِيٌّ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news report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argumentative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poem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التَّحَيُّزُ فِي الطَّرْحِ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bias in presentation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view</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introduction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مَوْثُوقِيَّةُ المَصْدَرِ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famous author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 source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source reliability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صَحِيحٌ أَنَّ التَّطْوِيرَ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مَوَارِدَ ضَخْمَةً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يَسْتَلْزِمَ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اسْتَلْزِمْ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يَسْتَلْزِمُ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بِالرَّغْمِ مِنَ التَّكْلِفَةِ،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الاسْتِثْمَارَ لَا بَدِيلَ عَنْهُ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فَإِنَّ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نَصٌّ جَدَلِيٌّ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news report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argumentative text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poem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التَّحَيُّزُ فِي الطَّرْحِ</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bias in presentation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balanced view</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introduction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مَوْثُوقِيَّةُ المَصْدَرِ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famous author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 source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source reliability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صَحِيحٌ أَنَّ التَّطْوِيرَ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مَوَارِدَ ضَخْمَةً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يَسْتَلْزِمَ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اسْتَلْزِمْ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يَسْتَلْزِمُ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P5-L07: after anna (a fact) → -u.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بِالرَّغْمِ مِنَ التَّكْلِفَةِ،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الاسْتِثْمَارَ لَا بَدِيلَ عَنْهُ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فَإِنَّ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غَيْرَ 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P5-L07: bi-l-raghmi min … fa-inna.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Don’t just read WHAT the writer says — read HOW the argument is built.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صَحِيحٌ أَنَّ</a:t>
            </a:r>
            <a:pPr rtl="1" algn="ctr" indent="0" marL="0">
              <a:lnSpc>
                <a:spcPct val="120000"/>
              </a:lnSpc>
              <a:buNone/>
            </a:pPr>
            <a:r>
              <a:rPr lang="ar-SA" altLang="en-US" sz="1950" b="1" dirty="0">
                <a:solidFill>
                  <a:srgbClr val="1B3B6F"/>
                </a:solidFill>
                <a:latin typeface="Amiri" pitchFamily="2" charset="-78"/>
                <a:cs typeface="Amiri" pitchFamily="2" charset="-78"/>
              </a:rPr>
              <a:t> = يُسَلِّمُ · </a:t>
            </a:r>
            <a:pPr rtl="1" algn="ctr" indent="0" marL="0">
              <a:lnSpc>
                <a:spcPct val="120000"/>
              </a:lnSpc>
              <a:buNone/>
            </a:pPr>
            <a:r>
              <a:rPr lang="ar-SA" altLang="en-US" sz="1950" b="1" dirty="0">
                <a:solidFill>
                  <a:srgbClr val="D6336C"/>
                </a:solidFill>
                <a:latin typeface="Amiri" pitchFamily="2" charset="-78"/>
                <a:cs typeface="Amiri" pitchFamily="2" charset="-78"/>
              </a:rPr>
              <a:t>غَيْرَ أَنَّ</a:t>
            </a:r>
            <a:pPr rtl="1" algn="ctr" indent="0" marL="0">
              <a:lnSpc>
                <a:spcPct val="120000"/>
              </a:lnSpc>
              <a:buNone/>
            </a:pPr>
            <a:r>
              <a:rPr lang="ar-SA" altLang="en-US" sz="1950" b="1" dirty="0">
                <a:solidFill>
                  <a:srgbClr val="1B3B6F"/>
                </a:solidFill>
                <a:latin typeface="Amiri" pitchFamily="2" charset="-78"/>
                <a:cs typeface="Amiri" pitchFamily="2" charset="-78"/>
              </a:rPr>
              <a:t> = يَرُدُّ · </a:t>
            </a:r>
            <a:pPr rtl="1" algn="ctr" indent="0" marL="0">
              <a:lnSpc>
                <a:spcPct val="120000"/>
              </a:lnSpc>
              <a:buNone/>
            </a:pPr>
            <a:r>
              <a:rPr lang="ar-SA" altLang="en-US" sz="1950" b="1" dirty="0">
                <a:solidFill>
                  <a:srgbClr val="0E7C86"/>
                </a:solidFill>
                <a:latin typeface="Amiri" pitchFamily="2" charset="-78"/>
                <a:cs typeface="Amiri" pitchFamily="2" charset="-78"/>
              </a:rPr>
              <a:t>أَنْ + فَتْحَةٌ</a:t>
            </a:r>
            <a:pPr rtl="1" algn="ctr" indent="0" marL="0">
              <a:lnSpc>
                <a:spcPct val="120000"/>
              </a:lnSpc>
              <a:buNone/>
            </a:pPr>
            <a:r>
              <a:rPr lang="ar-SA" altLang="en-US" sz="1950" b="1" dirty="0">
                <a:solidFill>
                  <a:srgbClr val="1B3B6F"/>
                </a:solidFill>
                <a:latin typeface="Amiri" pitchFamily="2" charset="-78"/>
                <a:cs typeface="Amiri" pitchFamily="2" charset="-78"/>
              </a:rPr>
              <a:t> = يَطْلُبُ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R1–R4 comprehension across social-issues texts.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concession (ṣaḥīḥun anna) and refutation (ghayra anna) and their argumentative function.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concession-indicative from subjunctive in a gap-fill.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whether an argument is balanced or one-sided.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thesis (R1) and the evidence (R2).</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spot one concession and one refutation.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what a concession does (R3).</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-u or -a in a gap (R4).</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judge if an argument is balanced or one-sided.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80–90-word R3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Reading for argument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Structure markers to spot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Gap-fill discrimination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جَدَلٌ · جَدَلِيٌّ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‎جدل‎ </a:t>
            </a:r>
            <a:pPr indent="0" marL="0">
              <a:buNone/>
            </a:pPr>
            <a:r>
              <a:rPr lang="en-US" sz="950" b="1" dirty="0">
                <a:solidFill>
                  <a:srgbClr val="2E8B57"/>
                </a:solidFill>
                <a:latin typeface="Calibri" pitchFamily="34" charset="0"/>
                <a:cs typeface="Amiri" pitchFamily="2" charset="-78"/>
              </a:rPr>
              <a:t> jadal · debate · argumentative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مَنْطِقٌ · مَنْطِقِيٌّ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‎منطق‎ </a:t>
            </a:r>
            <a:pPr indent="0" marL="0">
              <a:buNone/>
            </a:pPr>
            <a:r>
              <a:rPr lang="en-US" sz="950" b="1" dirty="0">
                <a:solidFill>
                  <a:srgbClr val="2E8B57"/>
                </a:solidFill>
                <a:latin typeface="Calibri" pitchFamily="34" charset="0"/>
                <a:cs typeface="Amiri" pitchFamily="2" charset="-78"/>
              </a:rPr>
              <a:t> mantiq · logic · logical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بَلَاغَةٌ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‎بلاغت‎ </a:t>
            </a:r>
            <a:pPr indent="0" marL="0">
              <a:buNone/>
            </a:pPr>
            <a:r>
              <a:rPr lang="en-US" sz="950" b="1" dirty="0">
                <a:solidFill>
                  <a:srgbClr val="2E8B57"/>
                </a:solidFill>
                <a:latin typeface="Calibri" pitchFamily="34" charset="0"/>
                <a:cs typeface="Amiri" pitchFamily="2" charset="-78"/>
              </a:rPr>
              <a:t> balāghat · eloquence, rhetoric</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مَصْدَرٌ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‎مصدر‎ </a:t>
            </a:r>
            <a:pPr indent="0" marL="0">
              <a:buNone/>
            </a:pPr>
            <a:r>
              <a:rPr lang="en-US" sz="950" b="1" dirty="0">
                <a:solidFill>
                  <a:srgbClr val="2E8B57"/>
                </a:solidFill>
                <a:latin typeface="Calibri" pitchFamily="34" charset="0"/>
                <a:cs typeface="Amiri" pitchFamily="2" charset="-78"/>
              </a:rPr>
              <a:t> masdar · a source (also: a verbal noun)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قَرِينَةٌ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‎قرینہ‎ </a:t>
            </a:r>
            <a:pPr indent="0" marL="0">
              <a:buNone/>
            </a:pPr>
            <a:r>
              <a:rPr lang="en-US" sz="950" b="1" dirty="0">
                <a:solidFill>
                  <a:srgbClr val="2E8B57"/>
                </a:solidFill>
                <a:latin typeface="Calibri" pitchFamily="34" charset="0"/>
                <a:cs typeface="Amiri" pitchFamily="2" charset="-78"/>
              </a:rPr>
              <a:t> qarīna · Arabic: a contextual clue · Urdu: neatness, order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for argument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نَصٌّ جَدَلِيٌّ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argumentative text</a:t>
            </a:r>
            <a:endParaRPr lang="en-US" sz="1350" dirty="0"/>
          </a:p>
          <a:p>
            <a:pPr indent="0" marL="0">
              <a:buNone/>
            </a:pPr>
            <a:r>
              <a:rPr lang="en-US" sz="1100" i="1" dirty="0">
                <a:solidFill>
                  <a:srgbClr val="5A6472"/>
                </a:solidFill>
                <a:latin typeface="Calibri" pitchFamily="34" charset="0"/>
                <a:cs typeface="Amiri" pitchFamily="2" charset="-78"/>
              </a:rPr>
              <a:t>naṣ-ṣun ja-da-liy-yun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نُصُوصٌ جَدَلِيَّةٌ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حُجَّةٌ مَنْطِقِيَّةٌ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logical argument</a:t>
            </a:r>
            <a:endParaRPr lang="en-US" sz="1350" dirty="0"/>
          </a:p>
          <a:p>
            <a:pPr indent="0" marL="0">
              <a:buNone/>
            </a:pPr>
            <a:r>
              <a:rPr lang="en-US" sz="1100" i="1" dirty="0">
                <a:solidFill>
                  <a:srgbClr val="5A6472"/>
                </a:solidFill>
                <a:latin typeface="Calibri" pitchFamily="34" charset="0"/>
                <a:cs typeface="Amiri" pitchFamily="2" charset="-78"/>
              </a:rPr>
              <a:t>ḥuj-ja-tun man-ṭi-qiy-ya-tun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حُجَجٌ مَنْطِقِيَّةٌ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أُسْلُوبُ الإِقْنَاعِ</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method of persuasion</a:t>
            </a:r>
            <a:endParaRPr lang="en-US" sz="1350" dirty="0"/>
          </a:p>
          <a:p>
            <a:pPr indent="0" marL="0">
              <a:buNone/>
            </a:pPr>
            <a:r>
              <a:rPr lang="en-US" sz="1100" i="1" dirty="0">
                <a:solidFill>
                  <a:srgbClr val="5A6472"/>
                </a:solidFill>
                <a:latin typeface="Calibri" pitchFamily="34" charset="0"/>
                <a:cs typeface="Amiri" pitchFamily="2" charset="-78"/>
              </a:rPr>
              <a:t>us-lū-bu al-iq-nā-ʿi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التَّسْلِيمُ بِالحُجَّةِ المُضَادَّةِ</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conceding the counter-argument</a:t>
            </a:r>
            <a:endParaRPr lang="en-US" sz="1350" dirty="0"/>
          </a:p>
          <a:p>
            <a:pPr indent="0" marL="0">
              <a:buNone/>
            </a:pPr>
            <a:r>
              <a:rPr lang="en-US" sz="1100" i="1" dirty="0">
                <a:solidFill>
                  <a:srgbClr val="5A6472"/>
                </a:solidFill>
                <a:latin typeface="Calibri" pitchFamily="34" charset="0"/>
                <a:cs typeface="Amiri" pitchFamily="2" charset="-78"/>
              </a:rPr>
              <a:t>at-tas-lī-mu bil-ḥuj-ja-ti al-mu-ḍād-da-ti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for argument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التَّحَيُّزُ فِي الطَّرْحِ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bias in presentation</a:t>
            </a:r>
            <a:endParaRPr lang="en-US" sz="1350" dirty="0"/>
          </a:p>
          <a:p>
            <a:pPr indent="0" marL="0">
              <a:buNone/>
            </a:pPr>
            <a:r>
              <a:rPr lang="en-US" sz="1100" i="1" dirty="0">
                <a:solidFill>
                  <a:srgbClr val="5A6472"/>
                </a:solidFill>
                <a:latin typeface="Calibri" pitchFamily="34" charset="0"/>
                <a:cs typeface="Amiri" pitchFamily="2" charset="-78"/>
              </a:rPr>
              <a:t>at-ta-ḥay-yu-zu fī aṭ-ṭar-ḥi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مَوْثُوقِيَّةُ المَصْدَرِ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source reliability</a:t>
            </a:r>
            <a:endParaRPr lang="en-US" sz="1350" dirty="0"/>
          </a:p>
          <a:p>
            <a:pPr indent="0" marL="0">
              <a:buNone/>
            </a:pPr>
            <a:r>
              <a:rPr lang="en-US" sz="1100" i="1" dirty="0">
                <a:solidFill>
                  <a:srgbClr val="5A6472"/>
                </a:solidFill>
                <a:latin typeface="Calibri" pitchFamily="34" charset="0"/>
                <a:cs typeface="Amiri" pitchFamily="2" charset="-78"/>
              </a:rPr>
              <a:t>maw-thū-qiy-ya-tu al-maṣ-da-ri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أُسْلُوبُ البَلَاغَةِ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rhetorical style</a:t>
            </a:r>
            <a:endParaRPr lang="en-US" sz="1350" dirty="0"/>
          </a:p>
          <a:p>
            <a:pPr indent="0" marL="0">
              <a:buNone/>
            </a:pPr>
            <a:r>
              <a:rPr lang="en-US" sz="1100" i="1" dirty="0">
                <a:solidFill>
                  <a:srgbClr val="5A6472"/>
                </a:solidFill>
                <a:latin typeface="Calibri" pitchFamily="34" charset="0"/>
                <a:cs typeface="Amiri" pitchFamily="2" charset="-78"/>
              </a:rPr>
              <a:t>us-lū-bu al-ba-lā-gha-ti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الاسْتِشْهَادُ بِالأَدِلَّةِ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citing evidence</a:t>
            </a:r>
            <a:endParaRPr lang="en-US" sz="1350" dirty="0"/>
          </a:p>
          <a:p>
            <a:pPr indent="0" marL="0">
              <a:buNone/>
            </a:pPr>
            <a:r>
              <a:rPr lang="en-US" sz="1100" i="1" dirty="0">
                <a:solidFill>
                  <a:srgbClr val="5A6472"/>
                </a:solidFill>
                <a:latin typeface="Calibri" pitchFamily="34" charset="0"/>
                <a:cs typeface="Amiri" pitchFamily="2" charset="-78"/>
              </a:rPr>
              <a:t>als-tish-hā-du bil-ʾa-dil-la-ti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Structure markers to spot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indicative.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صَحِيحٌ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true that (concession)</a:t>
            </a:r>
            <a:endParaRPr lang="en-US" sz="1350" dirty="0"/>
          </a:p>
          <a:p>
            <a:pPr indent="0" marL="0">
              <a:buNone/>
            </a:pPr>
            <a:r>
              <a:rPr lang="en-US" sz="1100" i="1" dirty="0">
                <a:solidFill>
                  <a:srgbClr val="5A6472"/>
                </a:solidFill>
                <a:latin typeface="Calibri" pitchFamily="34" charset="0"/>
                <a:cs typeface="Amiri" pitchFamily="2" charset="-78"/>
              </a:rPr>
              <a:t>ṣa-ḥī-ḥun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يُمْكِنُ إِنْكَارُ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Concession.</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بِالرَّغْمِ مِنْ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bilr-ragh-mi min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غَيْرَ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ghay-ra an-na</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Structure markers to spot (2 of 2)</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Refutation.</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 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nonetheless</a:t>
            </a:r>
            <a:endParaRPr lang="en-US" sz="1350" dirty="0"/>
          </a:p>
          <a:p>
            <a:pPr indent="0" marL="0">
              <a:buNone/>
            </a:pPr>
            <a:r>
              <a:rPr lang="en-US" sz="1100" i="1" dirty="0">
                <a:solidFill>
                  <a:srgbClr val="5A6472"/>
                </a:solidFill>
                <a:latin typeface="Calibri" pitchFamily="34" charset="0"/>
                <a:cs typeface="Amiri" pitchFamily="2" charset="-78"/>
              </a:rPr>
              <a:t>ma-ʿa dhā-li-ka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 trigger.</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يَتَطَلَّبُ أَنْ</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requires that</a:t>
            </a:r>
            <a:endParaRPr lang="en-US" sz="1350" dirty="0"/>
          </a:p>
          <a:p>
            <a:pPr indent="0" marL="0">
              <a:buNone/>
            </a:pPr>
            <a:r>
              <a:rPr lang="en-US" sz="1100" i="1" dirty="0">
                <a:solidFill>
                  <a:srgbClr val="5A6472"/>
                </a:solidFill>
                <a:latin typeface="Calibri" pitchFamily="34" charset="0"/>
                <a:cs typeface="Amiri" pitchFamily="2" charset="-78"/>
              </a:rPr>
              <a:t>ya-ta-ṭal-la-bu 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 trigger.</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يَنْبَغِي أَنْ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ought that</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1" name="Shape 38"/>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Subjunctive trigger.</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لِكَيْ</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Gap-fill discrimination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After a concession.</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المُثْبَتُ</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indicative verb</a:t>
            </a:r>
            <a:endParaRPr lang="en-US" sz="1350" dirty="0"/>
          </a:p>
          <a:p>
            <a:pPr indent="0" marL="0">
              <a:buNone/>
            </a:pPr>
            <a:r>
              <a:rPr lang="en-US" sz="1100" i="1" dirty="0">
                <a:solidFill>
                  <a:srgbClr val="5A6472"/>
                </a:solidFill>
                <a:latin typeface="Calibri" pitchFamily="34" charset="0"/>
                <a:cs typeface="Amiri" pitchFamily="2" charset="-78"/>
              </a:rPr>
              <a:t>al-fiʿ-lu al-muth-ba-tu</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9" name="Shape 26"/>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0" name="Text 27"/>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After a trigger.</a:t>
            </a:r>
            <a:endParaRPr lang="en-US" sz="800" dirty="0"/>
          </a:p>
        </p:txBody>
      </p:sp>
      <p:sp>
        <p:nvSpPr>
          <p:cNvPr id="31" name="Shape 28"/>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المَنْصُوبُ</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8" name="Shape 35"/>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indicative.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سِيَاقُ التَّسْلِيمِ</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concession context</a:t>
            </a:r>
            <a:endParaRPr lang="en-US" sz="1350" dirty="0"/>
          </a:p>
          <a:p>
            <a:pPr indent="0" marL="0">
              <a:buNone/>
            </a:pPr>
            <a:r>
              <a:rPr lang="en-US" sz="1100" i="1" dirty="0">
                <a:solidFill>
                  <a:srgbClr val="5A6472"/>
                </a:solidFill>
                <a:latin typeface="Calibri" pitchFamily="34" charset="0"/>
                <a:cs typeface="Amiri" pitchFamily="2" charset="-78"/>
              </a:rPr>
              <a:t>si-yā-qu at-tas-lī-mi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5" name="Shape 42"/>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سِيَاقُ النَّصْبِ</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subjunctive context</a:t>
            </a:r>
            <a:endParaRPr lang="en-US" sz="1350" dirty="0"/>
          </a:p>
          <a:p>
            <a:pPr indent="0" marL="0">
              <a:buNone/>
            </a:pPr>
            <a:r>
              <a:rPr lang="en-US" sz="1100" i="1" dirty="0">
                <a:solidFill>
                  <a:srgbClr val="5A6472"/>
                </a:solidFill>
                <a:latin typeface="Calibri" pitchFamily="34" charset="0"/>
                <a:cs typeface="Amiri" pitchFamily="2" charset="-78"/>
              </a:rPr>
              <a:t>si-yā-qu an-naṣ-bi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Gap-fill discrimination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المَوْقِفُ المُتَوَازِنُ</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balanced position</a:t>
            </a:r>
            <a:endParaRPr lang="en-US" sz="1350" dirty="0"/>
          </a:p>
          <a:p>
            <a:pPr indent="0" marL="0">
              <a:buNone/>
            </a:pPr>
            <a:r>
              <a:rPr lang="en-US" sz="1100" i="1" dirty="0">
                <a:solidFill>
                  <a:srgbClr val="5A6472"/>
                </a:solidFill>
                <a:latin typeface="Calibri" pitchFamily="34" charset="0"/>
                <a:cs typeface="Amiri" pitchFamily="2" charset="-78"/>
              </a:rPr>
              <a:t>al-maw-qi-fu al-mu-ta-wā-zi-nu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المَوَاقِفُ المُتَوَازِنَةُ</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الطَّرْحُ الأُحَادِيُّ</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one-sided presentation</a:t>
            </a:r>
            <a:endParaRPr lang="en-US" sz="1350" dirty="0"/>
          </a:p>
          <a:p>
            <a:pPr indent="0" marL="0">
              <a:buNone/>
            </a:pPr>
            <a:r>
              <a:rPr lang="en-US" sz="1100" i="1" dirty="0">
                <a:solidFill>
                  <a:srgbClr val="5A6472"/>
                </a:solidFill>
                <a:latin typeface="Calibri" pitchFamily="34" charset="0"/>
                <a:cs typeface="Amiri" pitchFamily="2" charset="-78"/>
              </a:rPr>
              <a:t>aṭ-ṭar-ḥu al-u-ḥā-diy-yu</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9" name="Shape 36"/>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القَرِينَةُ</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contextual clue</a:t>
            </a:r>
            <a:endParaRPr lang="en-US" sz="1350" dirty="0"/>
          </a:p>
          <a:p>
            <a:pPr indent="0" marL="0">
              <a:buNone/>
            </a:pPr>
            <a:r>
              <a:rPr lang="en-US" sz="1100" i="1" dirty="0">
                <a:solidFill>
                  <a:srgbClr val="5A6472"/>
                </a:solidFill>
                <a:latin typeface="Calibri" pitchFamily="34" charset="0"/>
                <a:cs typeface="Amiri" pitchFamily="2" charset="-78"/>
              </a:rPr>
              <a:t>al-qa-rī-na-tu</a:t>
            </a:r>
            <a:endParaRPr lang="en-US" sz="1350" dirty="0"/>
          </a:p>
        </p:txBody>
      </p:sp>
      <p:sp>
        <p:nvSpPr>
          <p:cNvPr id="45" name="Shape 42"/>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القَرَائِنُ</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1" name="Shape 48"/>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يَسْتَدْعِي</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calls for / necessitates</a:t>
            </a:r>
            <a:endParaRPr lang="en-US" sz="1350" dirty="0"/>
          </a:p>
          <a:p>
            <a:pPr indent="0" marL="0">
              <a:buNone/>
            </a:pPr>
            <a:r>
              <a:rPr lang="en-US" sz="1100" i="1" dirty="0">
                <a:solidFill>
                  <a:srgbClr val="5A6472"/>
                </a:solidFill>
                <a:latin typeface="Calibri" pitchFamily="34" charset="0"/>
                <a:cs typeface="Amiri" pitchFamily="2" charset="-78"/>
              </a:rPr>
              <a:t>yas-tad-ʿī</a:t>
            </a:r>
            <a:endParaRPr lang="en-US" sz="1350" dirty="0"/>
          </a:p>
        </p:txBody>
      </p:sp>
      <p:sp>
        <p:nvSpPr>
          <p:cNvPr id="57" name="Shape 54"/>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9" name="Text 56"/>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تَسْتَدْعِي</a:t>
            </a:r>
            <a:endParaRPr lang="ar-SA"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SPOT THE MARKER, NAME ITS JOB (WEBSITE RULES 1–2, TEACHING POINT 1 AND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marker has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العَلَامَةُ وَوَظِيفَتُهَا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0547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reading)</a:t>
            </a:r>
            <a:endParaRPr lang="en-US" sz="1100" dirty="0"/>
          </a:p>
        </p:txBody>
      </p:sp>
      <p:sp>
        <p:nvSpPr>
          <p:cNvPr id="17" name="Text 14"/>
          <p:cNvSpPr txBox="1"/>
          <p:nvPr/>
        </p:nvSpPr>
        <p:spPr>
          <a:xfrm>
            <a:off x="48280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the writer is doing</a:t>
            </a:r>
            <a:endParaRPr lang="en-US" sz="1100" dirty="0"/>
          </a:p>
        </p:txBody>
      </p:sp>
      <p:sp>
        <p:nvSpPr>
          <p:cNvPr id="18" name="Text 15"/>
          <p:cNvSpPr txBox="1"/>
          <p:nvPr/>
        </p:nvSpPr>
        <p:spPr>
          <a:xfrm>
            <a:off x="318211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7223760" y="2267712"/>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يُشَارُ إِلَى أَنَّ التَّنَقُّلَ الاجْتِمَاعِيَّ … مِقْيَاسٌ لِلْعَدَالَةِ</a:t>
            </a:r>
            <a:endParaRPr lang="ar-SA" sz="1600" dirty="0"/>
          </a:p>
        </p:txBody>
      </p:sp>
      <p:sp>
        <p:nvSpPr>
          <p:cNvPr id="22" name="Text 19"/>
          <p:cNvSpPr txBox="1"/>
          <p:nvPr/>
        </p:nvSpPr>
        <p:spPr>
          <a:xfrm>
            <a:off x="48646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states the claim</a:t>
            </a:r>
            <a:endParaRPr lang="en-US" sz="1100" dirty="0"/>
          </a:p>
        </p:txBody>
      </p:sp>
      <p:sp>
        <p:nvSpPr>
          <p:cNvPr id="23" name="Text 20"/>
          <p:cNvSpPr txBox="1"/>
          <p:nvPr/>
        </p:nvSpPr>
        <p:spPr>
          <a:xfrm>
            <a:off x="321868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a:t>
            </a:r>
            <a:endParaRPr lang="en-US" sz="1100" dirty="0"/>
          </a:p>
        </p:txBody>
      </p:sp>
      <p:sp>
        <p:nvSpPr>
          <p:cNvPr id="24" name="Text 21"/>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يُشَارُ إِلَى أَنَّ</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7223760" y="3004718"/>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أَكَّدَ البَاحِثُونَ أَنَّ التَّعْلِيمَ الجَيِّدَ يُفْضِي إِلَى فُرَصٍ</a:t>
            </a:r>
            <a:endParaRPr lang="ar-SA" sz="1600" dirty="0"/>
          </a:p>
        </p:txBody>
      </p:sp>
      <p:sp>
        <p:nvSpPr>
          <p:cNvPr id="29" name="Text 26"/>
          <p:cNvSpPr txBox="1"/>
          <p:nvPr/>
        </p:nvSpPr>
        <p:spPr>
          <a:xfrm>
            <a:off x="48646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cites an authority</a:t>
            </a:r>
            <a:endParaRPr lang="en-US" sz="1100" dirty="0"/>
          </a:p>
        </p:txBody>
      </p:sp>
      <p:sp>
        <p:nvSpPr>
          <p:cNvPr id="30" name="Text 27"/>
          <p:cNvSpPr txBox="1"/>
          <p:nvPr/>
        </p:nvSpPr>
        <p:spPr>
          <a:xfrm>
            <a:off x="321868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1" name="Text 28"/>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cs typeface="Amiri" pitchFamily="2" charset="-78"/>
              </a:rPr>
              <a:t>أَكَّدَ البَاحِثُونَ أَنَّ</a:t>
            </a:r>
            <a:endParaRPr lang="ar-SA" sz="18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7223760" y="3741725"/>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الدَّوْلَةَ تَتَّخِذُ إِجْرَاءَاتٍ لِدَعْمِ الفُقَرَاءِ</a:t>
            </a:r>
            <a:endParaRPr lang="ar-SA" sz="1600" dirty="0"/>
          </a:p>
        </p:txBody>
      </p:sp>
      <p:sp>
        <p:nvSpPr>
          <p:cNvPr id="34" name="Text 31"/>
          <p:cNvSpPr txBox="1"/>
          <p:nvPr/>
        </p:nvSpPr>
        <p:spPr>
          <a:xfrm>
            <a:off x="48646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admits the other side</a:t>
            </a:r>
            <a:endParaRPr lang="en-US" sz="1100" dirty="0"/>
          </a:p>
        </p:txBody>
      </p:sp>
      <p:sp>
        <p:nvSpPr>
          <p:cNvPr id="35" name="Text 32"/>
          <p:cNvSpPr txBox="1"/>
          <p:nvPr/>
        </p:nvSpPr>
        <p:spPr>
          <a:xfrm>
            <a:off x="321868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a:t>
            </a:r>
            <a:endParaRPr lang="en-US" sz="1100" dirty="0"/>
          </a:p>
        </p:txBody>
      </p:sp>
      <p:sp>
        <p:nvSpPr>
          <p:cNvPr id="36" name="Text 33"/>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صَحِيحٌ أَنَّ</a:t>
            </a:r>
            <a:endParaRPr lang="ar-SA" sz="18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7223760" y="4478731"/>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غَيْرَ أَنَّ المُعِيقَاتِ البِنْيَوِيَّةَ لَا تَزَالُ تَحُولُ دُونَ …</a:t>
            </a:r>
            <a:endParaRPr lang="ar-SA" sz="1600" dirty="0"/>
          </a:p>
        </p:txBody>
      </p:sp>
      <p:sp>
        <p:nvSpPr>
          <p:cNvPr id="41" name="Text 38"/>
          <p:cNvSpPr txBox="1"/>
          <p:nvPr/>
        </p:nvSpPr>
        <p:spPr>
          <a:xfrm>
            <a:off x="48646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answers it</a:t>
            </a:r>
            <a:endParaRPr lang="en-US" sz="1100" dirty="0"/>
          </a:p>
        </p:txBody>
      </p:sp>
      <p:sp>
        <p:nvSpPr>
          <p:cNvPr id="42" name="Text 39"/>
          <p:cNvSpPr txBox="1"/>
          <p:nvPr/>
        </p:nvSpPr>
        <p:spPr>
          <a:xfrm>
            <a:off x="321868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refutation</a:t>
            </a:r>
            <a:endParaRPr lang="en-US" sz="1100" dirty="0"/>
          </a:p>
        </p:txBody>
      </p:sp>
      <p:sp>
        <p:nvSpPr>
          <p:cNvPr id="43" name="Text 40"/>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غَيْرَ أَنَّ</a:t>
            </a:r>
            <a:endParaRPr lang="ar-SA" sz="18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7223760" y="5215738"/>
            <a:ext cx="441655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يَتَطَلَّبُ تَحْقِيقُ العَدَالَةِ أَنْ تُعِيدَ الدَّوْلَةُ تَوْزِيعَ الفُرَصِ</a:t>
            </a:r>
            <a:endParaRPr lang="ar-SA" sz="1600" dirty="0"/>
          </a:p>
        </p:txBody>
      </p:sp>
      <p:sp>
        <p:nvSpPr>
          <p:cNvPr id="48" name="Text 45"/>
          <p:cNvSpPr txBox="1"/>
          <p:nvPr/>
        </p:nvSpPr>
        <p:spPr>
          <a:xfrm>
            <a:off x="48646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demands an action</a:t>
            </a:r>
            <a:endParaRPr lang="en-US" sz="1100" dirty="0"/>
          </a:p>
        </p:txBody>
      </p:sp>
      <p:sp>
        <p:nvSpPr>
          <p:cNvPr id="49" name="Text 46"/>
          <p:cNvSpPr txBox="1"/>
          <p:nvPr/>
        </p:nvSpPr>
        <p:spPr>
          <a:xfrm>
            <a:off x="321868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trigger</a:t>
            </a:r>
            <a:endParaRPr lang="en-US" sz="1100" dirty="0"/>
          </a:p>
        </p:txBody>
      </p:sp>
      <p:sp>
        <p:nvSpPr>
          <p:cNvPr id="50" name="Text 47"/>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يَتَطَلَّبُ … أَنْ</a:t>
            </a:r>
            <a:endParaRPr lang="ar-SA" sz="18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spotting the concession–refutation pair tells you HOW the argument is built, not just what it claims.</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GAP-FILL: READ THE CLUE (WEBSITE RULES 3–4, TEACHING POINT 2, MISTAKES 1–2)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fact (-u) or an aim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سِيَاقُ التَّسْلِيمِ أَمْ سِيَاقُ النَّصْبِ؟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39712" y="1810512"/>
            <a:ext cx="4818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519379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32735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Context</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clue (</a:t>
            </a:r>
            <a:pPr algn="ctr" indent="0" marL="0">
              <a:buNone/>
            </a:pPr>
            <a:r>
              <a:rPr lang="ar-SA" altLang="en-US" sz="1450" b="1" dirty="0">
                <a:solidFill>
                  <a:srgbClr val="FFFFFF"/>
                </a:solidFill>
                <a:latin typeface="Amiri" pitchFamily="2" charset="-78"/>
                <a:cs typeface="Amiri" pitchFamily="2" charset="-78"/>
              </a:rPr>
              <a:t>القَرِينَةُ</a:t>
            </a:r>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858000" y="2267712"/>
            <a:ext cx="478231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الحُكُومَةَ </a:t>
            </a:r>
            <a:pPr rtl="1" algn="ctr" indent="0" marL="0">
              <a:buNone/>
            </a:pPr>
            <a:r>
              <a:rPr lang="ar-SA" altLang="en-US" sz="1600" b="1" dirty="0">
                <a:solidFill>
                  <a:srgbClr val="1D5FBF"/>
                </a:solidFill>
                <a:latin typeface="Amiri" pitchFamily="2" charset="-78"/>
                <a:cs typeface="Amiri" pitchFamily="2" charset="-78"/>
              </a:rPr>
              <a:t>تَتَّخِذُ</a:t>
            </a:r>
            <a:pPr rtl="1" algn="ctr" indent="0" marL="0">
              <a:buNone/>
            </a:pPr>
            <a:r>
              <a:rPr lang="ar-SA" altLang="en-US" sz="1600" b="1" dirty="0">
                <a:solidFill>
                  <a:srgbClr val="1B3B6F"/>
                </a:solidFill>
                <a:latin typeface="Amiri" pitchFamily="2" charset="-78"/>
                <a:cs typeface="Amiri" pitchFamily="2" charset="-78"/>
              </a:rPr>
              <a:t> إِجْرَاءَاتٍ</a:t>
            </a:r>
            <a:endParaRPr lang="ar-SA" sz="1600" dirty="0"/>
          </a:p>
        </p:txBody>
      </p:sp>
      <p:sp>
        <p:nvSpPr>
          <p:cNvPr id="22" name="Text 19"/>
          <p:cNvSpPr txBox="1"/>
          <p:nvPr/>
        </p:nvSpPr>
        <p:spPr>
          <a:xfrm>
            <a:off x="5212080" y="2267712"/>
            <a:ext cx="14630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تَتَّخِذُ</a:t>
            </a:r>
            <a:endParaRPr lang="ar-SA" sz="1900" dirty="0"/>
          </a:p>
        </p:txBody>
      </p:sp>
      <p:sp>
        <p:nvSpPr>
          <p:cNvPr id="23" name="Text 20"/>
          <p:cNvSpPr txBox="1"/>
          <p:nvPr/>
        </p:nvSpPr>
        <p:spPr>
          <a:xfrm>
            <a:off x="331012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real situation</a:t>
            </a:r>
            <a:endParaRPr lang="en-US" sz="1100" dirty="0"/>
          </a:p>
        </p:txBody>
      </p:sp>
      <p:sp>
        <p:nvSpPr>
          <p:cNvPr id="24" name="Text 21"/>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صَحِيحٌ أَنَّ</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858000" y="3004718"/>
            <a:ext cx="478231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لَا يُمْكِنُ إِنْكَارُ أَنَّ التَّقَدُّمَ </a:t>
            </a:r>
            <a:pPr rtl="1" algn="ctr" indent="0" marL="0">
              <a:buNone/>
            </a:pPr>
            <a:r>
              <a:rPr lang="ar-SA" altLang="en-US" sz="1600" b="1" dirty="0">
                <a:solidFill>
                  <a:srgbClr val="1D5FBF"/>
                </a:solidFill>
                <a:latin typeface="Amiri" pitchFamily="2" charset="-78"/>
                <a:cs typeface="Amiri" pitchFamily="2" charset="-78"/>
              </a:rPr>
              <a:t>يَتَحَقَّقُ</a:t>
            </a:r>
            <a:endParaRPr lang="ar-SA" sz="1600" dirty="0"/>
          </a:p>
        </p:txBody>
      </p:sp>
      <p:sp>
        <p:nvSpPr>
          <p:cNvPr id="29" name="Text 26"/>
          <p:cNvSpPr txBox="1"/>
          <p:nvPr/>
        </p:nvSpPr>
        <p:spPr>
          <a:xfrm>
            <a:off x="5212080" y="3004718"/>
            <a:ext cx="146304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cs typeface="Amiri" pitchFamily="2" charset="-78"/>
              </a:rPr>
              <a:t>يَتَحَقَّقُ</a:t>
            </a:r>
            <a:endParaRPr lang="ar-SA" sz="1900" dirty="0"/>
          </a:p>
        </p:txBody>
      </p:sp>
      <p:sp>
        <p:nvSpPr>
          <p:cNvPr id="30" name="Text 27"/>
          <p:cNvSpPr txBox="1"/>
          <p:nvPr/>
        </p:nvSpPr>
        <p:spPr>
          <a:xfrm>
            <a:off x="331012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real situation</a:t>
            </a:r>
            <a:endParaRPr lang="en-US" sz="1100" dirty="0"/>
          </a:p>
        </p:txBody>
      </p:sp>
      <p:sp>
        <p:nvSpPr>
          <p:cNvPr id="31" name="Text 28"/>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cs typeface="Amiri" pitchFamily="2" charset="-78"/>
              </a:rPr>
              <a:t>لَا يُمْكِنُ إِنْكَارُ أَنَّ</a:t>
            </a:r>
            <a:endParaRPr lang="ar-SA" sz="18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6858000" y="3741725"/>
            <a:ext cx="478231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مِنَ الضَّرُورِيِّ أَنْ </a:t>
            </a:r>
            <a:pPr rtl="1" algn="ctr" indent="0" marL="0">
              <a:buNone/>
            </a:pPr>
            <a:r>
              <a:rPr lang="ar-SA" altLang="en-US" sz="1600" b="1" dirty="0">
                <a:solidFill>
                  <a:srgbClr val="D6336C"/>
                </a:solidFill>
                <a:latin typeface="Amiri" pitchFamily="2" charset="-78"/>
                <a:cs typeface="Amiri" pitchFamily="2" charset="-78"/>
              </a:rPr>
              <a:t>تَتَّخِذَ</a:t>
            </a:r>
            <a:pPr rtl="1" algn="ctr" indent="0" marL="0">
              <a:buNone/>
            </a:pPr>
            <a:r>
              <a:rPr lang="ar-SA" altLang="en-US" sz="1600" b="1" dirty="0">
                <a:solidFill>
                  <a:srgbClr val="1B3B6F"/>
                </a:solidFill>
                <a:latin typeface="Amiri" pitchFamily="2" charset="-78"/>
                <a:cs typeface="Amiri" pitchFamily="2" charset="-78"/>
              </a:rPr>
              <a:t> الحُكُومَةُ إِجْرَاءَاتٍ</a:t>
            </a:r>
            <a:endParaRPr lang="ar-SA" sz="1600" dirty="0"/>
          </a:p>
        </p:txBody>
      </p:sp>
      <p:sp>
        <p:nvSpPr>
          <p:cNvPr id="34" name="Text 31"/>
          <p:cNvSpPr txBox="1"/>
          <p:nvPr/>
        </p:nvSpPr>
        <p:spPr>
          <a:xfrm>
            <a:off x="5212080" y="3741725"/>
            <a:ext cx="146304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تَتَّخِذَ</a:t>
            </a:r>
            <a:endParaRPr lang="ar-SA" sz="1900" dirty="0"/>
          </a:p>
        </p:txBody>
      </p:sp>
      <p:sp>
        <p:nvSpPr>
          <p:cNvPr id="35" name="Text 32"/>
          <p:cNvSpPr txBox="1"/>
          <p:nvPr/>
        </p:nvSpPr>
        <p:spPr>
          <a:xfrm>
            <a:off x="331012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needed action</a:t>
            </a:r>
            <a:endParaRPr lang="en-US" sz="1100" dirty="0"/>
          </a:p>
        </p:txBody>
      </p:sp>
      <p:sp>
        <p:nvSpPr>
          <p:cNvPr id="36" name="Text 33"/>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مِنَ الضَّرُورِيِّ أَنْ</a:t>
            </a:r>
            <a:endParaRPr lang="ar-SA" sz="1800" dirty="0"/>
          </a:p>
        </p:txBody>
      </p:sp>
      <p:sp>
        <p:nvSpPr>
          <p:cNvPr id="37" name="Shape 34"/>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858000" y="4478731"/>
            <a:ext cx="478231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يَتَطَلَّبُ الأَمْرُ أَنْ </a:t>
            </a:r>
            <a:pPr rtl="1" algn="ctr" indent="0" marL="0">
              <a:buNone/>
            </a:pPr>
            <a:r>
              <a:rPr lang="ar-SA" altLang="en-US" sz="1600" b="1" dirty="0">
                <a:solidFill>
                  <a:srgbClr val="D6336C"/>
                </a:solidFill>
                <a:latin typeface="Amiri" pitchFamily="2" charset="-78"/>
                <a:cs typeface="Amiri" pitchFamily="2" charset="-78"/>
              </a:rPr>
              <a:t>نُصْلِحَ</a:t>
            </a:r>
            <a:pPr rtl="1" algn="ctr" indent="0" marL="0">
              <a:buNone/>
            </a:pPr>
            <a:r>
              <a:rPr lang="ar-SA" altLang="en-US" sz="1600" b="1" dirty="0">
                <a:solidFill>
                  <a:srgbClr val="1B3B6F"/>
                </a:solidFill>
                <a:latin typeface="Amiri" pitchFamily="2" charset="-78"/>
                <a:cs typeface="Amiri" pitchFamily="2" charset="-78"/>
              </a:rPr>
              <a:t> النِّظَامَ</a:t>
            </a:r>
            <a:endParaRPr lang="ar-SA" sz="1600" dirty="0"/>
          </a:p>
        </p:txBody>
      </p:sp>
      <p:sp>
        <p:nvSpPr>
          <p:cNvPr id="41" name="Text 38"/>
          <p:cNvSpPr txBox="1"/>
          <p:nvPr/>
        </p:nvSpPr>
        <p:spPr>
          <a:xfrm>
            <a:off x="5212080" y="4478731"/>
            <a:ext cx="146304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نُصْلِحَ</a:t>
            </a:r>
            <a:endParaRPr lang="ar-SA" sz="1900" dirty="0"/>
          </a:p>
        </p:txBody>
      </p:sp>
      <p:sp>
        <p:nvSpPr>
          <p:cNvPr id="42" name="Text 39"/>
          <p:cNvSpPr txBox="1"/>
          <p:nvPr/>
        </p:nvSpPr>
        <p:spPr>
          <a:xfrm>
            <a:off x="331012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needed action</a:t>
            </a:r>
            <a:endParaRPr lang="en-US" sz="1100" dirty="0"/>
          </a:p>
        </p:txBody>
      </p:sp>
      <p:sp>
        <p:nvSpPr>
          <p:cNvPr id="43" name="Text 40"/>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يَتَطَلَّبُ … أَنْ</a:t>
            </a:r>
            <a:endParaRPr lang="ar-SA" sz="18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858000" y="5215738"/>
            <a:ext cx="478231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لِكَيْ </a:t>
            </a:r>
            <a:pPr rtl="1" algn="ctr" indent="0" marL="0">
              <a:buNone/>
            </a:pPr>
            <a:r>
              <a:rPr lang="ar-SA" altLang="en-US" sz="1600" b="1" dirty="0">
                <a:solidFill>
                  <a:srgbClr val="D6336C"/>
                </a:solidFill>
                <a:latin typeface="Amiri" pitchFamily="2" charset="-78"/>
                <a:cs typeface="Amiri" pitchFamily="2" charset="-78"/>
              </a:rPr>
              <a:t>تَتَحَقَّقَ</a:t>
            </a:r>
            <a:pPr rtl="1" algn="ctr" indent="0" marL="0">
              <a:buNone/>
            </a:pPr>
            <a:r>
              <a:rPr lang="ar-SA" altLang="en-US" sz="1600" b="1" dirty="0">
                <a:solidFill>
                  <a:srgbClr val="1B3B6F"/>
                </a:solidFill>
                <a:latin typeface="Amiri" pitchFamily="2" charset="-78"/>
                <a:cs typeface="Amiri" pitchFamily="2" charset="-78"/>
              </a:rPr>
              <a:t> العَدَالَةُ، يَجِبُ الإِصْلَاحُ</a:t>
            </a:r>
            <a:endParaRPr lang="ar-SA" sz="1600" dirty="0"/>
          </a:p>
        </p:txBody>
      </p:sp>
      <p:sp>
        <p:nvSpPr>
          <p:cNvPr id="46" name="Text 43"/>
          <p:cNvSpPr txBox="1"/>
          <p:nvPr/>
        </p:nvSpPr>
        <p:spPr>
          <a:xfrm>
            <a:off x="5212080" y="5215738"/>
            <a:ext cx="146304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تَتَحَقَّقَ</a:t>
            </a:r>
            <a:endParaRPr lang="ar-SA" sz="1900" dirty="0"/>
          </a:p>
        </p:txBody>
      </p:sp>
      <p:sp>
        <p:nvSpPr>
          <p:cNvPr id="47" name="Text 44"/>
          <p:cNvSpPr txBox="1"/>
          <p:nvPr/>
        </p:nvSpPr>
        <p:spPr>
          <a:xfrm>
            <a:off x="331012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purpose</a:t>
            </a:r>
            <a:endParaRPr lang="en-US" sz="1100" dirty="0"/>
          </a:p>
        </p:txBody>
      </p:sp>
      <p:sp>
        <p:nvSpPr>
          <p:cNvPr id="48" name="Text 45"/>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cs typeface="Amiri" pitchFamily="2" charset="-78"/>
              </a:rPr>
              <a:t>لِكَيْ</a:t>
            </a:r>
            <a:endParaRPr lang="ar-SA" sz="18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ṣaḥīḥun anna … tattakhidha ✗ → tattakhidhu ✓ · an tattakhidhu ✗ → tattakhidha ✓. Find the clue FIRST.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FOUR QUESTION TYPES ON THE WEBSITE READING (R1–R4)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Know what the question wants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أَنْوَاعُ الأَسْئِلَةِ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0003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 frame</a:t>
            </a:r>
            <a:endParaRPr lang="en-US" sz="1100" dirty="0"/>
          </a:p>
        </p:txBody>
      </p:sp>
      <p:sp>
        <p:nvSpPr>
          <p:cNvPr id="17" name="Text 14"/>
          <p:cNvSpPr txBox="1"/>
          <p:nvPr/>
        </p:nvSpPr>
        <p:spPr>
          <a:xfrm>
            <a:off x="4005072" y="1810512"/>
            <a:ext cx="5248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 in the website text</a:t>
            </a:r>
            <a:endParaRPr lang="en-US" sz="1100" dirty="0"/>
          </a:p>
        </p:txBody>
      </p:sp>
      <p:sp>
        <p:nvSpPr>
          <p:cNvPr id="18" name="Text 15"/>
          <p:cNvSpPr txBox="1"/>
          <p:nvPr/>
        </p:nvSpPr>
        <p:spPr>
          <a:xfrm>
            <a:off x="19019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 asks for …</a:t>
            </a:r>
            <a:endParaRPr lang="en-US" sz="1100" dirty="0"/>
          </a:p>
        </p:txBody>
      </p:sp>
      <p:sp>
        <p:nvSpPr>
          <p:cNvPr id="19" name="Text 16"/>
          <p:cNvSpPr txBox="1"/>
          <p:nvPr/>
        </p:nvSpPr>
        <p:spPr>
          <a:xfrm>
            <a:off x="53035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418320" y="2267712"/>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يَرَى الكَاتِبُ أَنَّ …</a:t>
            </a:r>
            <a:endParaRPr lang="ar-SA" sz="1600" dirty="0"/>
          </a:p>
        </p:txBody>
      </p:sp>
      <p:sp>
        <p:nvSpPr>
          <p:cNvPr id="22" name="Text 19"/>
          <p:cNvSpPr txBox="1"/>
          <p:nvPr/>
        </p:nvSpPr>
        <p:spPr>
          <a:xfrm>
            <a:off x="4023360" y="2267712"/>
            <a:ext cx="5212080" cy="682142"/>
          </a:xfrm>
          <a:prstGeom prst="rect">
            <a:avLst/>
          </a:prstGeom>
          <a:noFill/>
          <a:ln/>
        </p:spPr>
        <p:txBody>
          <a:bodyPr wrap="square" lIns="0" tIns="0" rIns="0" bIns="0" rtlCol="0" anchor="ctr"/>
          <a:lstStyle/>
          <a:p>
            <a:pPr rtl="1" algn="ctr" indent="0" marL="0">
              <a:buNone/>
            </a:pPr>
            <a:r>
              <a:rPr lang="ar-SA" altLang="en-US" sz="1600" b="1" dirty="0">
                <a:solidFill>
                  <a:srgbClr val="C77700"/>
                </a:solidFill>
                <a:latin typeface="Amiri" pitchFamily="2" charset="-78"/>
                <a:cs typeface="Amiri" pitchFamily="2" charset="-78"/>
              </a:rPr>
              <a:t>يُشَارُ إِلَى أَنَّ</a:t>
            </a:r>
            <a:pPr rtl="1" algn="ctr" indent="0" marL="0">
              <a:buNone/>
            </a:pPr>
            <a:r>
              <a:rPr lang="ar-SA" altLang="en-US" sz="1600" b="1" dirty="0">
                <a:solidFill>
                  <a:srgbClr val="1B3B6F"/>
                </a:solidFill>
                <a:latin typeface="Amiri" pitchFamily="2" charset="-78"/>
                <a:cs typeface="Amiri" pitchFamily="2" charset="-78"/>
              </a:rPr>
              <a:t> التَّنَقُّلَ … يُعَدُّ مِقْيَاسًا لِعَدَالَةِ أَيِّ مُجْتَمَعٍ</a:t>
            </a:r>
            <a:endParaRPr lang="ar-SA" sz="1600" dirty="0"/>
          </a:p>
        </p:txBody>
      </p:sp>
      <p:sp>
        <p:nvSpPr>
          <p:cNvPr id="23" name="Text 20"/>
          <p:cNvSpPr txBox="1"/>
          <p:nvPr/>
        </p:nvSpPr>
        <p:spPr>
          <a:xfrm>
            <a:off x="19385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thesis</a:t>
            </a:r>
            <a:endParaRPr lang="en-US" sz="1100" dirty="0"/>
          </a:p>
        </p:txBody>
      </p:sp>
      <p:sp>
        <p:nvSpPr>
          <p:cNvPr id="24" name="Text 21"/>
          <p:cNvSpPr txBox="1"/>
          <p:nvPr/>
        </p:nvSpPr>
        <p:spPr>
          <a:xfrm>
            <a:off x="566928" y="2267712"/>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418320" y="3004718"/>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يَسْتَشْهِدُ بِـ …</a:t>
            </a:r>
            <a:endParaRPr lang="ar-SA" sz="1600" dirty="0"/>
          </a:p>
        </p:txBody>
      </p:sp>
      <p:sp>
        <p:nvSpPr>
          <p:cNvPr id="29" name="Text 26"/>
          <p:cNvSpPr txBox="1"/>
          <p:nvPr/>
        </p:nvSpPr>
        <p:spPr>
          <a:xfrm>
            <a:off x="4023360" y="3004718"/>
            <a:ext cx="5212080" cy="682142"/>
          </a:xfrm>
          <a:prstGeom prst="rect">
            <a:avLst/>
          </a:prstGeom>
          <a:noFill/>
          <a:ln/>
        </p:spPr>
        <p:txBody>
          <a:bodyPr wrap="square" lIns="0" tIns="0" rIns="0" bIns="0" rtlCol="0" anchor="ctr"/>
          <a:lstStyle/>
          <a:p>
            <a:pPr rtl="1" algn="ctr" indent="0" marL="0">
              <a:buNone/>
            </a:pPr>
            <a:r>
              <a:rPr lang="ar-SA" altLang="en-US" sz="1600" b="1" dirty="0">
                <a:solidFill>
                  <a:srgbClr val="7B3FA0"/>
                </a:solidFill>
                <a:latin typeface="Amiri" pitchFamily="2" charset="-78"/>
                <a:cs typeface="Amiri" pitchFamily="2" charset="-78"/>
              </a:rPr>
              <a:t>أَكَّدَ البَاحِثُونَ أَنَّ</a:t>
            </a:r>
            <a:pPr rtl="1" algn="ctr" indent="0" marL="0">
              <a:buNone/>
            </a:pPr>
            <a:r>
              <a:rPr lang="ar-SA" altLang="en-US" sz="1600" b="1" dirty="0">
                <a:solidFill>
                  <a:srgbClr val="1B3B6F"/>
                </a:solidFill>
                <a:latin typeface="Amiri" pitchFamily="2" charset="-78"/>
                <a:cs typeface="Amiri" pitchFamily="2" charset="-78"/>
              </a:rPr>
              <a:t> التَّعْلِيمَ الجَيِّدَ يُفْضِي إِلَى فُرَصٍ أَوْسَعَ</a:t>
            </a:r>
            <a:endParaRPr lang="ar-SA" sz="1600" dirty="0"/>
          </a:p>
        </p:txBody>
      </p:sp>
      <p:sp>
        <p:nvSpPr>
          <p:cNvPr id="30" name="Text 27"/>
          <p:cNvSpPr txBox="1"/>
          <p:nvPr/>
        </p:nvSpPr>
        <p:spPr>
          <a:xfrm>
            <a:off x="19385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evidence</a:t>
            </a:r>
            <a:endParaRPr lang="en-US" sz="1100" dirty="0"/>
          </a:p>
        </p:txBody>
      </p:sp>
      <p:sp>
        <p:nvSpPr>
          <p:cNvPr id="31" name="Text 28"/>
          <p:cNvSpPr txBox="1"/>
          <p:nvPr/>
        </p:nvSpPr>
        <p:spPr>
          <a:xfrm>
            <a:off x="566928" y="300471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418320" y="3741725"/>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يُسَلِّمُ … ثُمَّ يَرُدُّ …</a:t>
            </a:r>
            <a:endParaRPr lang="ar-SA" sz="1600" dirty="0"/>
          </a:p>
        </p:txBody>
      </p:sp>
      <p:sp>
        <p:nvSpPr>
          <p:cNvPr id="36" name="Text 33"/>
          <p:cNvSpPr txBox="1"/>
          <p:nvPr/>
        </p:nvSpPr>
        <p:spPr>
          <a:xfrm>
            <a:off x="4023360" y="3741725"/>
            <a:ext cx="5212080" cy="682142"/>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cs typeface="Amiri" pitchFamily="2" charset="-78"/>
              </a:rPr>
              <a:t>صَحِيحٌ أَنَّ</a:t>
            </a:r>
            <a:pPr rtl="1" algn="ctr" indent="0" marL="0">
              <a:buNone/>
            </a:pPr>
            <a:r>
              <a:rPr lang="ar-SA" altLang="en-US" sz="1600" b="1" dirty="0">
                <a:solidFill>
                  <a:srgbClr val="1B3B6F"/>
                </a:solidFill>
                <a:latin typeface="Amiri" pitchFamily="2" charset="-78"/>
                <a:cs typeface="Amiri" pitchFamily="2" charset="-78"/>
              </a:rPr>
              <a:t> الدَّوْلَةَ تَتَّخِذُ إِجْرَاءَاتٍ … </a:t>
            </a:r>
            <a:pPr rtl="1" algn="ctr" indent="0" marL="0">
              <a:buNone/>
            </a:pPr>
            <a:r>
              <a:rPr lang="ar-SA" altLang="en-US" sz="1600" b="1" dirty="0">
                <a:solidFill>
                  <a:srgbClr val="D6336C"/>
                </a:solidFill>
                <a:latin typeface="Amiri" pitchFamily="2" charset="-78"/>
                <a:cs typeface="Amiri" pitchFamily="2" charset="-78"/>
              </a:rPr>
              <a:t>غَيْرَ أَنَّ</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37" name="Text 34"/>
          <p:cNvSpPr txBox="1"/>
          <p:nvPr/>
        </p:nvSpPr>
        <p:spPr>
          <a:xfrm>
            <a:off x="19385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structure’s purpose</a:t>
            </a:r>
            <a:endParaRPr lang="en-US" sz="1100" dirty="0"/>
          </a:p>
        </p:txBody>
      </p:sp>
      <p:sp>
        <p:nvSpPr>
          <p:cNvPr id="38" name="Text 35"/>
          <p:cNvSpPr txBox="1"/>
          <p:nvPr/>
        </p:nvSpPr>
        <p:spPr>
          <a:xfrm>
            <a:off x="566928" y="3741725"/>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418320" y="4478731"/>
            <a:ext cx="2221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الحُجَّةُ مُتَوَازِنَةٌ لِأَنَّ …</a:t>
            </a:r>
            <a:endParaRPr lang="ar-SA" sz="1600" dirty="0"/>
          </a:p>
        </p:txBody>
      </p:sp>
      <p:sp>
        <p:nvSpPr>
          <p:cNvPr id="41" name="Text 38"/>
          <p:cNvSpPr txBox="1"/>
          <p:nvPr/>
        </p:nvSpPr>
        <p:spPr>
          <a:xfrm>
            <a:off x="4041648" y="4478731"/>
            <a:ext cx="5212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 refutation + a Type 2 (</a:t>
            </a:r>
            <a:pPr algn="l" indent="0" marL="0">
              <a:buNone/>
            </a:pPr>
            <a:r>
              <a:rPr lang="ar-SA" altLang="en-US" sz="1450" dirty="0">
                <a:solidFill>
                  <a:srgbClr val="5A6472"/>
                </a:solidFill>
                <a:latin typeface="Amiri" pitchFamily="2" charset="-78"/>
                <a:cs typeface="Amiri" pitchFamily="2" charset="-78"/>
              </a:rPr>
              <a:t>لَوْ وُجِّهَ … لَتَحَسَّنَتْ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2" name="Text 39"/>
          <p:cNvSpPr txBox="1"/>
          <p:nvPr/>
        </p:nvSpPr>
        <p:spPr>
          <a:xfrm>
            <a:off x="19385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a:t>
            </a:r>
            <a:endParaRPr lang="en-US" sz="1100" dirty="0"/>
          </a:p>
        </p:txBody>
      </p:sp>
      <p:sp>
        <p:nvSpPr>
          <p:cNvPr id="43" name="Text 40"/>
          <p:cNvSpPr txBox="1"/>
          <p:nvPr/>
        </p:nvSpPr>
        <p:spPr>
          <a:xfrm>
            <a:off x="566928" y="4478731"/>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436608" y="5215738"/>
            <a:ext cx="2221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trigger → -a</a:t>
            </a:r>
            <a:endParaRPr lang="en-US" sz="1100" dirty="0"/>
          </a:p>
        </p:txBody>
      </p:sp>
      <p:sp>
        <p:nvSpPr>
          <p:cNvPr id="46" name="Text 43"/>
          <p:cNvSpPr txBox="1"/>
          <p:nvPr/>
        </p:nvSpPr>
        <p:spPr>
          <a:xfrm>
            <a:off x="4023360" y="5215738"/>
            <a:ext cx="52120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أَنْ </a:t>
            </a:r>
            <a:pPr rtl="1" algn="ctr" indent="0" marL="0">
              <a:buNone/>
            </a:pPr>
            <a:r>
              <a:rPr lang="ar-SA" altLang="en-US" sz="1600" b="1" dirty="0">
                <a:solidFill>
                  <a:srgbClr val="0E7C86"/>
                </a:solidFill>
                <a:latin typeface="Amiri" pitchFamily="2" charset="-78"/>
                <a:cs typeface="Amiri" pitchFamily="2" charset="-78"/>
              </a:rPr>
              <a:t>تُعِيدَ</a:t>
            </a:r>
            <a:pPr rtl="1" algn="ctr" indent="0" marL="0">
              <a:buNone/>
            </a:pPr>
            <a:r>
              <a:rPr lang="ar-SA" altLang="en-US" sz="1600" b="1" dirty="0">
                <a:solidFill>
                  <a:srgbClr val="1B3B6F"/>
                </a:solidFill>
                <a:latin typeface="Amiri" pitchFamily="2" charset="-78"/>
                <a:cs typeface="Amiri" pitchFamily="2" charset="-78"/>
              </a:rPr>
              <a:t> الدَّوْلَةُ تَوْزِيعَ الفُرَصِ لِكَيْ </a:t>
            </a:r>
            <a:pPr rtl="1" algn="ctr" indent="0" marL="0">
              <a:buNone/>
            </a:pPr>
            <a:r>
              <a:rPr lang="ar-SA" altLang="en-US" sz="1600" b="1" dirty="0">
                <a:solidFill>
                  <a:srgbClr val="0E7C86"/>
                </a:solidFill>
                <a:latin typeface="Amiri" pitchFamily="2" charset="-78"/>
                <a:cs typeface="Amiri" pitchFamily="2" charset="-78"/>
              </a:rPr>
              <a:t>يَصْعَدَ</a:t>
            </a:r>
            <a:pPr rtl="1" algn="ctr" indent="0" marL="0">
              <a:buNone/>
            </a:pPr>
            <a:r>
              <a:rPr lang="ar-SA" altLang="en-US" sz="1600" b="1" dirty="0">
                <a:solidFill>
                  <a:srgbClr val="1B3B6F"/>
                </a:solidFill>
                <a:latin typeface="Amiri" pitchFamily="2" charset="-78"/>
                <a:cs typeface="Amiri" pitchFamily="2" charset="-78"/>
              </a:rPr>
              <a:t> الجَمِيعُ</a:t>
            </a:r>
            <a:endParaRPr lang="ar-SA" sz="1600" dirty="0"/>
          </a:p>
        </p:txBody>
      </p:sp>
      <p:sp>
        <p:nvSpPr>
          <p:cNvPr id="47" name="Text 44"/>
          <p:cNvSpPr txBox="1"/>
          <p:nvPr/>
        </p:nvSpPr>
        <p:spPr>
          <a:xfrm>
            <a:off x="19385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verb form</a:t>
            </a:r>
            <a:endParaRPr lang="en-US" sz="1100" dirty="0"/>
          </a:p>
        </p:txBody>
      </p:sp>
      <p:sp>
        <p:nvSpPr>
          <p:cNvPr id="48" name="Text 45"/>
          <p:cNvSpPr txBox="1"/>
          <p:nvPr/>
        </p:nvSpPr>
        <p:spPr>
          <a:xfrm>
            <a:off x="566928" y="521573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R1–R2: find it. R3: explain what it DOES. R4: read the clue, then choose the form.</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BALANCED OR ONE-SIDED? (WEBSITE QUIZ 1 / 8, MISTAKE 3, MISSION)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Judge the argument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مُتَوَازِنَةٌ أَمْ أُحَادِيَّةٌ؟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BALANCED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تَسْلِيمٌ + رَدٌّ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صَحِيحٌ أَنَّ الدَّوْلَةَ تَتَّخِذُ إِجْرَاءَاتٍ، غَيْرَ أَنَّ المُعِيقَاتِ قَائِمَةٌ.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Concedes the state’s action, then answers it.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sides → balanced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ONE-SIDED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رَأْيٌ بِلَا تَسْلِيمٍ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الدَّوْلَةُ فَشِلَتْ تَمَامًا، وَلَا شَيْءَ تَغَيَّرَ.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state failed completely; nothing changed.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side → one-sided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R3 ANSWER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يَدُلُّ عَلَى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«صَحِيحٌ أَنَّ» يَدُلُّ عَلَى أَنَّ الكَاتِبَ يُسَلِّمُ بِالرَّأْيِ الآخَرِ.</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“ṣaḥīḥun anna” shows the writer concedes the other view.</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it + its job</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concession ENGAGES with the other view — it does not ignore it.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يُسَلِّمُ بِالرَّأْيِ الآخَرِ</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cs typeface="Amiri" pitchFamily="2" charset="-78"/>
              </a:rPr>
              <a:t>يَتَجَاهَلُ الرَّأْيَ الآخَرَ</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argument structure and the concession/subjunctive gap-fill</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قِرَاءَةُ بِنْيَةِ الحُجَّةِ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Spot the concession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lā yumkinu inkāru anna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التِّقْنِيَّةَ تُوَفِّرُ فُرَصًا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Spot the refutation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ghayra anna · maʿa dhālika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غَيْرَ أَنَّ الفَجْوَةَ الرَّقْمِيَّةَ تَحُولُ دُونَ ذٰلِكَ</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Concession → indicative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verb in -u</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الحُكُومَةَ تَتَّخِذُ إِجْرَاءَاتٍ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Trigger → subjunctive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yataṭallabu / yanbaghī / li-kay + verb in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الضَّرُورِيِّ أَنْ تَتَّخِذَ الحُكُومَةُ إِجْرَاءَاتٍ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concession structure signal about a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 argument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lack of evidence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engagement with the opposing view — a nuanced argument</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concession?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refutation?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بِالرَّغْمِ مِنْ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صَحِيحٌ أَنَّ الحُكُومَةَ ___ إِجْرَاءَاتٍ.</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concession structure signal about a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weak argument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lack of evidence</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engagement with the opposing view — a nuanced argument</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signals the writer engages with the counter-argument.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concession?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صَحِيحٌ أَنَّ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غَيْرَ 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is a concession marker.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refutation?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غَيْرَ 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بِالرَّغْمِ مِنْ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is a refutation marker.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صَحِيحٌ أَنَّ الحُكُومَةَ ___ إِجْرَاءَاتٍ.</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تَتَّخِذُ</a:t>
            </a:r>
            <a:pPr algn="l" indent="0" marL="0">
              <a:buNone/>
            </a:pPr>
            <a:r>
              <a:rPr lang="en-US" sz="1250" b="1" dirty="0">
                <a:solidFill>
                  <a:srgbClr val="1F2A37"/>
                </a:solidFill>
                <a:latin typeface="Calibri" pitchFamily="34" charset="0"/>
                <a:cs typeface="Amiri" pitchFamily="2" charset="-78"/>
              </a:rPr>
              <a:t> (indicative)</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describes a real situation, so the verb is indicative.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analyse the structure of an argument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الحُجَّةُ </a:t>
            </a:r>
            <a:pPr rtl="1" algn="ctr" indent="0" marL="0">
              <a:buNone/>
            </a:pPr>
            <a:r>
              <a:rPr lang="ar-SA" altLang="en-US" sz="2800" b="1" dirty="0">
                <a:solidFill>
                  <a:srgbClr val="0E7C86"/>
                </a:solidFill>
                <a:latin typeface="Amiri" pitchFamily="2" charset="-78"/>
                <a:cs typeface="Amiri" pitchFamily="2" charset="-78"/>
              </a:rPr>
              <a:t>مُتَوَازِنَةٌ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Judge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Concession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يُسَلِّمُ</a:t>
            </a:r>
            <a:pPr rtl="1" algn="ctr" indent="0" marL="0">
              <a:buNone/>
            </a:pPr>
            <a:r>
              <a:rPr lang="ar-SA" altLang="en-US" sz="2800" b="1" dirty="0">
                <a:solidFill>
                  <a:srgbClr val="1B3B6F"/>
                </a:solidFill>
                <a:latin typeface="Amiri" pitchFamily="2" charset="-78"/>
                <a:cs typeface="Amiri" pitchFamily="2" charset="-78"/>
              </a:rPr>
              <a:t> بِـ«صَحِيحٌ أَنَّ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Quote it.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Refutation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ثُمَّ </a:t>
            </a:r>
            <a:pPr rtl="1" algn="ctr" indent="0" marL="0">
              <a:buNone/>
            </a:pPr>
            <a:r>
              <a:rPr lang="ar-SA" altLang="en-US" sz="2700" b="1" dirty="0">
                <a:solidFill>
                  <a:srgbClr val="D6336C"/>
                </a:solidFill>
                <a:latin typeface="Amiri" pitchFamily="2" charset="-78"/>
                <a:cs typeface="Amiri" pitchFamily="2" charset="-78"/>
              </a:rPr>
              <a:t>يَرُدُّ</a:t>
            </a:r>
            <a:pPr rtl="1" algn="ctr" indent="0" marL="0">
              <a:buNone/>
            </a:pPr>
            <a:r>
              <a:rPr lang="ar-SA" altLang="en-US" sz="2700" b="1" dirty="0">
                <a:solidFill>
                  <a:srgbClr val="1B3B6F"/>
                </a:solidFill>
                <a:latin typeface="Amiri" pitchFamily="2" charset="-78"/>
                <a:cs typeface="Amiri" pitchFamily="2" charset="-78"/>
              </a:rPr>
              <a:t> بِـ«غَيْرَ أَنَّ …»</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Quote 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cs typeface="Amiri" pitchFamily="2" charset="-78"/>
              </a:rPr>
              <a:t>وَبِنَاءً عَلَى مَا سَبَقَ</a:t>
            </a:r>
            <a:pPr rtl="1" algn="ctr" indent="0" marL="0">
              <a:buNone/>
            </a:pPr>
            <a:r>
              <a:rPr lang="ar-SA" altLang="en-US" sz="2100" b="1" dirty="0">
                <a:solidFill>
                  <a:srgbClr val="1B3B6F"/>
                </a:solidFill>
                <a:latin typeface="Amiri" pitchFamily="2" charset="-78"/>
                <a:cs typeface="Amiri" pitchFamily="2" charset="-78"/>
              </a:rPr>
              <a:t>، أَعُدُّ …</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Conclude.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VERDICT</a:t>
            </a:r>
            <a:endParaRPr lang="en-US" sz="800" dirty="0"/>
          </a:p>
        </p:txBody>
      </p:sp>
      <p:sp>
        <p:nvSpPr>
          <p:cNvPr id="47" name="Shape 43"/>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CONCESSION</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REFUTATION</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CONCLUSION</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أَرَى أَنَّ حُجَّةَ الكَاتِبِ </a:t>
            </a:r>
            <a:pPr rtl="1" algn="r" indent="0" marL="0">
              <a:lnSpc>
                <a:spcPct val="120000"/>
              </a:lnSpc>
              <a:buNone/>
            </a:pPr>
            <a:r>
              <a:rPr lang="ar-SA" altLang="en-US" sz="1400" b="1" dirty="0">
                <a:solidFill>
                  <a:srgbClr val="0E7C86"/>
                </a:solidFill>
                <a:latin typeface="Amiri" pitchFamily="2" charset="-78"/>
                <a:cs typeface="Amiri" pitchFamily="2" charset="-78"/>
              </a:rPr>
              <a:t>مُتَوَازِنَةٌ</a:t>
            </a:r>
            <a:pPr rtl="1" algn="r" indent="0" marL="0">
              <a:lnSpc>
                <a:spcPct val="120000"/>
              </a:lnSpc>
              <a:buNone/>
            </a:pPr>
            <a:r>
              <a:rPr lang="ar-SA" altLang="en-US" sz="1400" b="1" dirty="0">
                <a:solidFill>
                  <a:srgbClr val="1B3B6F"/>
                </a:solidFill>
                <a:latin typeface="Amiri" pitchFamily="2" charset="-78"/>
                <a:cs typeface="Amiri" pitchFamily="2" charset="-78"/>
              </a:rPr>
              <a:t>، وَلَيْسَتْ أُحَادِيَّةً. فَهُوَ </a:t>
            </a:r>
            <a:pPr rtl="1" algn="r" indent="0" marL="0">
              <a:lnSpc>
                <a:spcPct val="120000"/>
              </a:lnSpc>
              <a:buNone/>
            </a:pPr>
            <a:r>
              <a:rPr lang="ar-SA" altLang="en-US" sz="1400" b="1" dirty="0">
                <a:solidFill>
                  <a:srgbClr val="1D5FBF"/>
                </a:solidFill>
                <a:latin typeface="Amiri" pitchFamily="2" charset="-78"/>
                <a:cs typeface="Amiri" pitchFamily="2" charset="-78"/>
              </a:rPr>
              <a:t>يُسَلِّمُ</a:t>
            </a:r>
            <a:pPr rtl="1" algn="r" indent="0" marL="0">
              <a:lnSpc>
                <a:spcPct val="120000"/>
              </a:lnSpc>
              <a:buNone/>
            </a:pPr>
            <a:r>
              <a:rPr lang="ar-SA" altLang="en-US" sz="1400" b="1" dirty="0">
                <a:solidFill>
                  <a:srgbClr val="1B3B6F"/>
                </a:solidFill>
                <a:latin typeface="Amiri" pitchFamily="2" charset="-78"/>
                <a:cs typeface="Amiri" pitchFamily="2" charset="-78"/>
              </a:rPr>
              <a:t> أَوَّلًا بِرَأْيٍ حَقِيقِيٍّ حِينَ يَقُولُ «صَحِيحٌ أَنَّ الدَّوْلَةَ تَتَّخِذُ إِجْرَاءَاتٍ لِدَعْمِ الفُقَرَاءِ». ثُمَّ </a:t>
            </a:r>
            <a:pPr rtl="1" algn="r" indent="0" marL="0">
              <a:lnSpc>
                <a:spcPct val="120000"/>
              </a:lnSpc>
              <a:buNone/>
            </a:pPr>
            <a:r>
              <a:rPr lang="ar-SA" altLang="en-US" sz="1400" b="1" dirty="0">
                <a:solidFill>
                  <a:srgbClr val="D6336C"/>
                </a:solidFill>
                <a:latin typeface="Amiri" pitchFamily="2" charset="-78"/>
                <a:cs typeface="Amiri" pitchFamily="2" charset="-78"/>
              </a:rPr>
              <a:t>يَرُدُّ</a:t>
            </a:r>
            <a:pPr rtl="1" algn="r" indent="0" marL="0">
              <a:lnSpc>
                <a:spcPct val="120000"/>
              </a:lnSpc>
              <a:buNone/>
            </a:pPr>
            <a:r>
              <a:rPr lang="ar-SA" altLang="en-US" sz="1400" b="1" dirty="0">
                <a:solidFill>
                  <a:srgbClr val="1B3B6F"/>
                </a:solidFill>
                <a:latin typeface="Amiri" pitchFamily="2" charset="-78"/>
                <a:cs typeface="Amiri" pitchFamily="2" charset="-78"/>
              </a:rPr>
              <a:t> عَلَى هٰذَا التَّسْلِيمِ بِـ«غَيْرَ أَنَّ المُعِيقَاتِ البِنْيَوِيَّةَ لَا تَزَالُ تَحُولُ دُونَ تَكَافُؤِ الفُرَصِ». </a:t>
            </a:r>
            <a:pPr rtl="1" algn="r" indent="0" marL="0">
              <a:lnSpc>
                <a:spcPct val="120000"/>
              </a:lnSpc>
              <a:buNone/>
            </a:pPr>
            <a:r>
              <a:rPr lang="ar-SA" altLang="en-US" sz="1400" b="1" dirty="0">
                <a:solidFill>
                  <a:srgbClr val="7B3FA0"/>
                </a:solidFill>
                <a:latin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cs typeface="Amiri" pitchFamily="2" charset="-78"/>
              </a:rPr>
              <a:t>، أَعُدُّ النَّصَّ نَمُوذَجًا لِلْحُجَّةِ المُتَوَازِنَةِ.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I think the writer’s argument is balanced, not one-sided. He first concedes a real point when he says “it is true that the state takes measures to support the poor”. Then he answers this concession with “however, structural barriers still prevent equal opportunities”. Based on the above, I consider the text a model of the balanced argument.</a:t>
            </a:r>
            <a:endParaRPr lang="en-US" sz="10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صَحِيحٌ أَنَّ التِّقْنِيَّةَ تُوَفِّرُ فُرَصًا هَائِلَةً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technology offers enormous opportunities</a:t>
            </a:r>
            <a:endParaRPr lang="en-US" sz="1250" dirty="0"/>
          </a:p>
          <a:p>
            <a:pPr indent="0" marL="0">
              <a:buNone/>
            </a:pPr>
            <a:r>
              <a:rPr lang="en-US" sz="1050" i="1" dirty="0">
                <a:solidFill>
                  <a:srgbClr val="8A6D1E"/>
                </a:solidFill>
                <a:latin typeface="Calibri" pitchFamily="34" charset="0"/>
                <a:cs typeface="Amiri" pitchFamily="2" charset="-78"/>
              </a:rPr>
              <a:t>Concession → indicative (tuwaffiru).</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غَيْرَ أَنَّ الفَجْوَةَ الرَّقْمِيَّةَ تَحُولُ دُونَ تَوْزِيعِهَا بِالتَّسَاوِي</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however, the digital divide prevents them being distributed equally</a:t>
            </a:r>
            <a:endParaRPr lang="en-US" sz="1250" dirty="0"/>
          </a:p>
          <a:p>
            <a:pPr indent="0" marL="0">
              <a:buNone/>
            </a:pPr>
            <a:r>
              <a:rPr lang="en-US" sz="1050" i="1" dirty="0">
                <a:solidFill>
                  <a:srgbClr val="8A6D1E"/>
                </a:solidFill>
                <a:latin typeface="Calibri" pitchFamily="34" charset="0"/>
                <a:cs typeface="Amiri" pitchFamily="2" charset="-78"/>
              </a:rPr>
              <a:t>Refutation with ghayra anna.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الضَّرُورِيِّ أَنْ تَتَّخِذَ الحُكُومَةُ إِجْرَاءَاتٍ عَاجِلَةً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essential that the government take urgent measures</a:t>
            </a:r>
            <a:endParaRPr lang="en-US" sz="1250" dirty="0"/>
          </a:p>
          <a:p>
            <a:pPr indent="0" marL="0">
              <a:buNone/>
            </a:pPr>
            <a:r>
              <a:rPr lang="en-US" sz="1050" i="1" dirty="0">
                <a:solidFill>
                  <a:srgbClr val="8A6D1E"/>
                </a:solidFill>
                <a:latin typeface="Calibri" pitchFamily="34" charset="0"/>
                <a:cs typeface="Amiri" pitchFamily="2" charset="-78"/>
              </a:rPr>
              <a:t>Trigger → subjunctive (tattakhidha).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ANNOTATE THE KEY SENTENCES (PREPARING THE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sentences, five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حَلِّلِ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form</a:t>
            </a:r>
            <a:endParaRPr lang="en-US" sz="1100" dirty="0"/>
          </a:p>
        </p:txBody>
      </p:sp>
      <p:sp>
        <p:nvSpPr>
          <p:cNvPr id="17" name="Text 14"/>
          <p:cNvSpPr txBox="1"/>
          <p:nvPr/>
        </p:nvSpPr>
        <p:spPr>
          <a:xfrm>
            <a:off x="65653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 · job</a:t>
            </a:r>
            <a:endParaRPr lang="en-US" sz="1100" dirty="0"/>
          </a:p>
        </p:txBody>
      </p:sp>
      <p:sp>
        <p:nvSpPr>
          <p:cNvPr id="18" name="Text 15"/>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the reading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979408" y="2267712"/>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yuʿaddu · -u</a:t>
            </a:r>
            <a:endParaRPr lang="en-US" sz="1100" dirty="0"/>
          </a:p>
        </p:txBody>
      </p:sp>
      <p:sp>
        <p:nvSpPr>
          <p:cNvPr id="21" name="Text 18"/>
          <p:cNvSpPr txBox="1"/>
          <p:nvPr/>
        </p:nvSpPr>
        <p:spPr>
          <a:xfrm>
            <a:off x="660196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 (R1)</a:t>
            </a:r>
            <a:endParaRPr lang="en-US" sz="1100" dirty="0"/>
          </a:p>
        </p:txBody>
      </p:sp>
      <p:sp>
        <p:nvSpPr>
          <p:cNvPr id="22" name="Text 19"/>
          <p:cNvSpPr txBox="1"/>
          <p:nvPr/>
        </p:nvSpPr>
        <p:spPr>
          <a:xfrm>
            <a:off x="548640" y="2267712"/>
            <a:ext cx="5852160" cy="682142"/>
          </a:xfrm>
          <a:prstGeom prst="rect">
            <a:avLst/>
          </a:prstGeom>
          <a:noFill/>
          <a:ln/>
        </p:spPr>
        <p:txBody>
          <a:bodyPr wrap="square" lIns="0" tIns="0" rIns="0" bIns="0" rtlCol="0" anchor="ctr"/>
          <a:lstStyle/>
          <a:p>
            <a:pPr rtl="1" algn="ctr" indent="0" marL="0">
              <a:buNone/>
            </a:pPr>
            <a:r>
              <a:rPr lang="ar-SA" altLang="en-US" sz="1600" b="1" dirty="0">
                <a:solidFill>
                  <a:srgbClr val="C77700"/>
                </a:solidFill>
                <a:latin typeface="Amiri" pitchFamily="2" charset="-78"/>
                <a:cs typeface="Amiri" pitchFamily="2" charset="-78"/>
              </a:rPr>
              <a:t>يُشَارُ إِلَى أَنَّ</a:t>
            </a:r>
            <a:pPr rtl="1" algn="ctr" indent="0" marL="0">
              <a:buNone/>
            </a:pPr>
            <a:r>
              <a:rPr lang="ar-SA" altLang="en-US" sz="1600" b="1" dirty="0">
                <a:solidFill>
                  <a:srgbClr val="1B3B6F"/>
                </a:solidFill>
                <a:latin typeface="Amiri" pitchFamily="2" charset="-78"/>
                <a:cs typeface="Amiri" pitchFamily="2" charset="-78"/>
              </a:rPr>
              <a:t> التَّنَقُّلَ الاجْتِمَاعِيَّ الصَّاعِدَ يُعَدُّ مِقْيَاسًا لِعَدَالَةِ أَيِّ مُجْتَمَعٍ.</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979408" y="300471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tattakhidhu · -u (fact)</a:t>
            </a:r>
            <a:endParaRPr lang="en-US" sz="1100" dirty="0"/>
          </a:p>
        </p:txBody>
      </p:sp>
      <p:sp>
        <p:nvSpPr>
          <p:cNvPr id="27" name="Text 24"/>
          <p:cNvSpPr txBox="1"/>
          <p:nvPr/>
        </p:nvSpPr>
        <p:spPr>
          <a:xfrm>
            <a:off x="660196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(R3)</a:t>
            </a:r>
            <a:endParaRPr lang="en-US" sz="1100" dirty="0"/>
          </a:p>
        </p:txBody>
      </p:sp>
      <p:sp>
        <p:nvSpPr>
          <p:cNvPr id="28" name="Text 25"/>
          <p:cNvSpPr txBox="1"/>
          <p:nvPr/>
        </p:nvSpPr>
        <p:spPr>
          <a:xfrm>
            <a:off x="548640" y="3004718"/>
            <a:ext cx="5852160" cy="682142"/>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cs typeface="Amiri" pitchFamily="2" charset="-78"/>
              </a:rPr>
              <a:t>صَحِيحٌ أَنَّ</a:t>
            </a:r>
            <a:pPr rtl="1" algn="ctr" indent="0" marL="0">
              <a:buNone/>
            </a:pPr>
            <a:r>
              <a:rPr lang="ar-SA" altLang="en-US" sz="1600" b="1" dirty="0">
                <a:solidFill>
                  <a:srgbClr val="1B3B6F"/>
                </a:solidFill>
                <a:latin typeface="Amiri" pitchFamily="2" charset="-78"/>
                <a:cs typeface="Amiri" pitchFamily="2" charset="-78"/>
              </a:rPr>
              <a:t> الدَّوْلَةَ تَتَّخِذُ إِجْرَاءَاتٍ لِدَعْمِ الفُقَرَاءِ،</a:t>
            </a:r>
            <a:endParaRPr lang="ar-SA" sz="1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979408" y="3741725"/>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taḥūlu · -u</a:t>
            </a:r>
            <a:endParaRPr lang="en-US" sz="1100" dirty="0"/>
          </a:p>
        </p:txBody>
      </p:sp>
      <p:sp>
        <p:nvSpPr>
          <p:cNvPr id="33" name="Text 30"/>
          <p:cNvSpPr txBox="1"/>
          <p:nvPr/>
        </p:nvSpPr>
        <p:spPr>
          <a:xfrm>
            <a:off x="660196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refutation (R3)</a:t>
            </a:r>
            <a:endParaRPr lang="en-US" sz="1100" dirty="0"/>
          </a:p>
        </p:txBody>
      </p:sp>
      <p:sp>
        <p:nvSpPr>
          <p:cNvPr id="34" name="Text 31"/>
          <p:cNvSpPr txBox="1"/>
          <p:nvPr/>
        </p:nvSpPr>
        <p:spPr>
          <a:xfrm>
            <a:off x="548640" y="3741725"/>
            <a:ext cx="5852160" cy="682142"/>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cs typeface="Amiri" pitchFamily="2" charset="-78"/>
              </a:rPr>
              <a:t>غَيْرَ أَنَّ</a:t>
            </a:r>
            <a:pPr rtl="1" algn="ctr" indent="0" marL="0">
              <a:buNone/>
            </a:pPr>
            <a:r>
              <a:rPr lang="ar-SA" altLang="en-US" sz="1600" b="1" dirty="0">
                <a:solidFill>
                  <a:srgbClr val="1B3B6F"/>
                </a:solidFill>
                <a:latin typeface="Amiri" pitchFamily="2" charset="-78"/>
                <a:cs typeface="Amiri" pitchFamily="2" charset="-78"/>
              </a:rPr>
              <a:t> المُعِيقَاتِ البِنْيَوِيَّةَ لَا تَزَالُ تَحُولُ دُونَ تَكَافُؤِ الفُرَصِ.</a:t>
            </a:r>
            <a:endParaRPr lang="ar-SA" sz="16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979408" y="4478731"/>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la- + past</a:t>
            </a:r>
            <a:endParaRPr lang="en-US" sz="1100" dirty="0"/>
          </a:p>
        </p:txBody>
      </p:sp>
      <p:sp>
        <p:nvSpPr>
          <p:cNvPr id="37" name="Text 34"/>
          <p:cNvSpPr txBox="1"/>
          <p:nvPr/>
        </p:nvSpPr>
        <p:spPr>
          <a:xfrm>
            <a:off x="660196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(analysis)</a:t>
            </a:r>
            <a:endParaRPr lang="en-US" sz="1100" dirty="0"/>
          </a:p>
        </p:txBody>
      </p:sp>
      <p:sp>
        <p:nvSpPr>
          <p:cNvPr id="38" name="Text 35"/>
          <p:cNvSpPr txBox="1"/>
          <p:nvPr/>
        </p:nvSpPr>
        <p:spPr>
          <a:xfrm>
            <a:off x="548640" y="4478731"/>
            <a:ext cx="5852160" cy="682142"/>
          </a:xfrm>
          <a:prstGeom prst="rect">
            <a:avLst/>
          </a:prstGeom>
          <a:noFill/>
          <a:ln/>
        </p:spPr>
        <p:txBody>
          <a:bodyPr wrap="square" lIns="0" tIns="0" rIns="0" bIns="0" rtlCol="0" anchor="ctr"/>
          <a:lstStyle/>
          <a:p>
            <a:pPr rtl="1" algn="ctr" indent="0" marL="0">
              <a:buNone/>
            </a:pPr>
            <a:r>
              <a:rPr lang="ar-SA" altLang="en-US" sz="1600" b="1" dirty="0">
                <a:solidFill>
                  <a:srgbClr val="7B3FA0"/>
                </a:solidFill>
                <a:latin typeface="Amiri" pitchFamily="2" charset="-78"/>
                <a:cs typeface="Amiri" pitchFamily="2" charset="-78"/>
              </a:rPr>
              <a:t>وَلَوْ</a:t>
            </a:r>
            <a:pPr rtl="1" algn="ctr" indent="0" marL="0">
              <a:buNone/>
            </a:pPr>
            <a:r>
              <a:rPr lang="ar-SA" altLang="en-US" sz="1600" b="1" dirty="0">
                <a:solidFill>
                  <a:srgbClr val="1B3B6F"/>
                </a:solidFill>
                <a:latin typeface="Amiri" pitchFamily="2" charset="-78"/>
                <a:cs typeface="Amiri" pitchFamily="2" charset="-78"/>
              </a:rPr>
              <a:t> وُجِّهَ الدَّعْمُ إِلَى التَّعْلِيمِ المُبَكِّرِ، </a:t>
            </a:r>
            <a:pPr rtl="1" algn="ctr" indent="0" marL="0">
              <a:buNone/>
            </a:pPr>
            <a:r>
              <a:rPr lang="ar-SA" altLang="en-US" sz="1600" b="1" dirty="0">
                <a:solidFill>
                  <a:srgbClr val="7B3FA0"/>
                </a:solidFill>
                <a:latin typeface="Amiri" pitchFamily="2" charset="-78"/>
                <a:cs typeface="Amiri" pitchFamily="2" charset="-78"/>
              </a:rPr>
              <a:t>لَتَحَسَّنَتْ</a:t>
            </a:r>
            <a:pPr rtl="1" algn="ctr" indent="0" marL="0">
              <a:buNone/>
            </a:pPr>
            <a:r>
              <a:rPr lang="ar-SA" altLang="en-US" sz="1600" b="1" dirty="0">
                <a:solidFill>
                  <a:srgbClr val="1B3B6F"/>
                </a:solidFill>
                <a:latin typeface="Amiri" pitchFamily="2" charset="-78"/>
                <a:cs typeface="Amiri" pitchFamily="2" charset="-78"/>
              </a:rPr>
              <a:t> فُرَصُ الصُّعُودِ.</a:t>
            </a:r>
            <a:endParaRPr lang="ar-SA" sz="16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979408" y="5215738"/>
            <a:ext cx="26791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tuʿīda · -a (aim)</a:t>
            </a:r>
            <a:endParaRPr lang="en-US" sz="1100" dirty="0"/>
          </a:p>
        </p:txBody>
      </p:sp>
      <p:sp>
        <p:nvSpPr>
          <p:cNvPr id="41" name="Text 38"/>
          <p:cNvSpPr txBox="1"/>
          <p:nvPr/>
        </p:nvSpPr>
        <p:spPr>
          <a:xfrm>
            <a:off x="660196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trigger (R4)</a:t>
            </a:r>
            <a:endParaRPr lang="en-US" sz="1100" dirty="0"/>
          </a:p>
        </p:txBody>
      </p:sp>
      <p:sp>
        <p:nvSpPr>
          <p:cNvPr id="42" name="Text 39"/>
          <p:cNvSpPr txBox="1"/>
          <p:nvPr/>
        </p:nvSpPr>
        <p:spPr>
          <a:xfrm>
            <a:off x="548640" y="5215738"/>
            <a:ext cx="5852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يَتَطَلَّبُ تَحْقِيقُ العَدَالَةِ </a:t>
            </a:r>
            <a:pPr rtl="1" algn="ctr" indent="0" marL="0">
              <a:buNone/>
            </a:pPr>
            <a:r>
              <a:rPr lang="ar-SA" altLang="en-US" sz="1600" b="1" dirty="0">
                <a:solidFill>
                  <a:srgbClr val="0E7C86"/>
                </a:solidFill>
                <a:latin typeface="Amiri" pitchFamily="2" charset="-78"/>
                <a:cs typeface="Amiri" pitchFamily="2" charset="-78"/>
              </a:rPr>
              <a:t>أَنْ تُعِيدَ</a:t>
            </a:r>
            <a:pPr rtl="1" algn="ctr" indent="0" marL="0">
              <a:buNone/>
            </a:pPr>
            <a:r>
              <a:rPr lang="ar-SA" altLang="en-US" sz="1600" b="1" dirty="0">
                <a:solidFill>
                  <a:srgbClr val="1B3B6F"/>
                </a:solidFill>
                <a:latin typeface="Amiri" pitchFamily="2" charset="-78"/>
                <a:cs typeface="Amiri" pitchFamily="2" charset="-78"/>
              </a:rPr>
              <a:t> الدَّوْلَةُ تَوْزِيعَ الفُرَصِ.</a:t>
            </a:r>
            <a:endParaRPr lang="ar-SA" sz="16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website reading uses exactly these sentences — this table is the plan for answering its R1–R4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ANALYSIS LINE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Concession + refutation + verdict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تَحْلِيلَكَ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 concession</a:t>
            </a:r>
            <a:endParaRPr lang="en-US" sz="1100" dirty="0"/>
          </a:p>
        </p:txBody>
      </p:sp>
      <p:sp>
        <p:nvSpPr>
          <p:cNvPr id="19" name="Text 16"/>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The refutation</a:t>
            </a:r>
            <a:endParaRPr lang="en-US" sz="1100" dirty="0"/>
          </a:p>
        </p:txBody>
      </p:sp>
      <p:sp>
        <p:nvSpPr>
          <p:cNvPr id="20" name="Text 17"/>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The verdict</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074152" y="2267712"/>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يُسَلِّمُ الكَاتِبُ بِـ«صَحِيحٌ أَنَّ الدَّوْلَةَ تَتَّخِذُ إِجْرَاءَاتٍ»</a:t>
            </a:r>
            <a:endParaRPr lang="ar-SA" sz="1500" dirty="0"/>
          </a:p>
        </p:txBody>
      </p:sp>
      <p:sp>
        <p:nvSpPr>
          <p:cNvPr id="23" name="Text 20"/>
          <p:cNvSpPr txBox="1"/>
          <p:nvPr/>
        </p:nvSpPr>
        <p:spPr>
          <a:xfrm>
            <a:off x="432511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ثُمَّ يَرُدُّ بِـ«غَيْرَ أَنَّ المُعِيقَاتِ البِنْيَوِيَّةَ لَا تَزَالُ قَائِمَةً»</a:t>
            </a:r>
            <a:endParaRPr lang="ar-SA" sz="1450" dirty="0"/>
          </a:p>
        </p:txBody>
      </p:sp>
      <p:sp>
        <p:nvSpPr>
          <p:cNvPr id="24" name="Text 21"/>
          <p:cNvSpPr txBox="1"/>
          <p:nvPr/>
        </p:nvSpPr>
        <p:spPr>
          <a:xfrm>
            <a:off x="548640" y="2267712"/>
            <a:ext cx="359359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وَلِذٰلِكَ أَعُدُّ الحُجَّةَ مُتَوَازِنَةً لَا أُحَادِيَّةً</a:t>
            </a:r>
            <a:endParaRPr lang="ar-SA" sz="15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0741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يُسَلِّمُ الكَاتِبُ بِـ«لَا يُمْكِنُ إِنْكَارُ أَنَّ بَعْضَ البَرَامِجِ نَجَحَتْ»</a:t>
            </a:r>
            <a:endParaRPr lang="ar-SA" sz="1450" dirty="0"/>
          </a:p>
        </p:txBody>
      </p:sp>
      <p:sp>
        <p:nvSpPr>
          <p:cNvPr id="29" name="Text 26"/>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ثُمَّ يَرُدُّ بِـ«مَعَ ذٰلِكَ يَبْقَى التَّفَاوُتُ عَمِيقًا»</a:t>
            </a:r>
            <a:endParaRPr lang="ar-SA" sz="1500" dirty="0"/>
          </a:p>
        </p:txBody>
      </p:sp>
      <p:sp>
        <p:nvSpPr>
          <p:cNvPr id="30" name="Text 27"/>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وَبِنَاءً عَلَى مَا سَبَقَ، يَظْهَرُ نُضْجُ الطَّرْحِ فِي بِنْيَتِهِ</a:t>
            </a:r>
            <a:endParaRPr lang="ar-SA" sz="15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يُسَلِّمُ الكَاتِبُ بِوِجْهَةِ النَّظَرِ المُعَارِضَةِ قَبْلَ الرَّدِّ</a:t>
            </a:r>
            <a:endParaRPr lang="ar-SA" sz="1500" dirty="0"/>
          </a:p>
        </p:txBody>
      </p:sp>
      <p:sp>
        <p:nvSpPr>
          <p:cNvPr id="33" name="Text 30"/>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ثُمَّ يَرُدُّ بِـ«وَعَلَى النَّقِيضِ مِنْ ذٰلِكَ يُثْبِتُ الوَاقِعُ العَكْسَ»</a:t>
            </a:r>
            <a:endParaRPr lang="ar-SA" sz="1500" dirty="0"/>
          </a:p>
        </p:txBody>
      </p:sp>
      <p:sp>
        <p:nvSpPr>
          <p:cNvPr id="34" name="Text 31"/>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وَخُلَاصَةُ القَوْلِ، النَّصُّ نَمُوذَجٌ لِلْحُجَّةِ المُتَوَازِنَةِ</a:t>
            </a:r>
            <a:endParaRPr lang="ar-SA" sz="15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Concession, refutation — or trigger?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صَحِيحٌ أَنَّ الحُكُومَةَ تَتَّخِذُ إِجْرَاءَاتٍ</a:t>
            </a:r>
            <a:endParaRPr lang="ar-SA" sz="17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لَا يُمْكِنُ إِنْكَارُ أَنَّ التَّقَدُّمَ يَتَحَقَّقُ</a:t>
            </a:r>
            <a:endParaRPr lang="ar-SA" sz="17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صَحِيحٌ أَنَّ التِّقْنِيَّةَ تُوَفِّرُ فُرَصًا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غَيْرَ أَنَّ الفَجْوَةَ لَا تَزَالُ قَائِمَةً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مَعَ ذٰلِكَ، تَبْقَى التَّحَدِّيَاتُ جَوْهَرِيَّةً</a:t>
            </a:r>
            <a:endParaRPr lang="ar-SA" sz="17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وَعَلَى النَّقِيضِ مِنْ ذٰلِكَ، يُثْبِتُ الوَاقِعُ العَكْسَ</a:t>
            </a:r>
            <a:endParaRPr lang="ar-SA" sz="13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مِنَ الضَّرُورِيِّ أَنْ تَتَّخِذَ الحُكُومَةُ إِجْرَاءَاتٍ</a:t>
            </a:r>
            <a:endParaRPr lang="ar-SA" sz="14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الأَمْرُ أَنْ نُصْلِحَ النِّظَامَ</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لِكَيْ تَتَحَقَّقَ العَدَالَةُ، يَجِبُ الإِصْلَاحُ</a:t>
            </a:r>
            <a:endParaRPr lang="ar-SA" sz="16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concession → verb in -u</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refutation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trigger → verb in -a</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concession → verb in -u</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صَحِيحٌ أَنَّ الحُكُومَةَ تَتَّخِذُ إِجْرَاءَاتٍ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يُمْكِنُ إِنْكَارُ أَنَّ التَّقَدُّمَ يَتَحَقَّقُ</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صَحِيحٌ أَنَّ التِّقْنِيَّةَ تُوَفِّرُ فُرَصًا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refutation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غَيْرَ أَنَّ الفَجْوَةَ لَا تَزَالُ قَائِمَةً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ذٰلِكَ، تَبْقَى التَّحَدِّيَاتُ جَوْهَرِيَّةً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وَعَلَى النَّقِيضِ مِنْ ذٰلِكَ، يُثْبِتُ الوَاقِعُ العَكْسَ</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trigger → verb in -a</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الضَّرُورِيِّ أَنْ تَتَّخِذَ الحُكُومَةُ إِجْرَاءَاتٍ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الأَمْرُ أَنْ نُصْلِحَ النِّظَامَ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تَتَحَقَّقَ العَدَالَةُ، يَجِبُ الإِصْلَاحُ</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مِنَ الضَّرُورِيِّ أَنْ ___ الحُكُومَةُ إِجْرَاءَاتٍ.</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لِكَيْ ___ العَدَالَةُ، يَجِبُ الإِصْلَاحُ.</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تَتَحَقَّقُ</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تَتَحَقَّقَ</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تَتَحَقَّقْ</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R3 question tests argument structure?</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Find the word </a:t>
            </a:r>
            <a:pPr algn="l" indent="0" marL="0">
              <a:buNone/>
            </a:pPr>
            <a:r>
              <a:rPr lang="ar-SA" altLang="en-US" sz="1650" dirty="0">
                <a:solidFill>
                  <a:srgbClr val="1F2A37"/>
                </a:solidFill>
                <a:latin typeface="Amiri" pitchFamily="2" charset="-78"/>
                <a:cs typeface="Amiri" pitchFamily="2" charset="-78"/>
              </a:rPr>
              <a:t>صَحِيحٌ</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argumentative purpose does </a:t>
            </a:r>
            <a:pPr algn="l" indent="0" marL="0">
              <a:buNone/>
            </a:pPr>
            <a:r>
              <a:rPr lang="ar-SA" altLang="en-US" sz="1650" dirty="0">
                <a:solidFill>
                  <a:srgbClr val="1F2A37"/>
                </a:solidFill>
                <a:latin typeface="Amiri" pitchFamily="2" charset="-78"/>
                <a:cs typeface="Amiri" pitchFamily="2" charset="-78"/>
              </a:rPr>
              <a:t>صَحِيحٌ أَنَّ</a:t>
            </a:r>
            <a:pPr algn="l" indent="0" marL="0">
              <a:buNone/>
            </a:pPr>
            <a:r>
              <a:rPr lang="en-US" sz="1250" dirty="0">
                <a:solidFill>
                  <a:srgbClr val="1F2A37"/>
                </a:solidFill>
                <a:latin typeface="Calibri" pitchFamily="34" charset="0"/>
                <a:cs typeface="Amiri" pitchFamily="2" charset="-78"/>
              </a:rPr>
              <a:t> serve here?</a:t>
            </a:r>
            <a:endParaRPr lang="en-US" sz="12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many words are in the text?</a:t>
            </a:r>
            <a:endParaRPr lang="en-US" sz="12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tells you an argument is balanced?</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only states one side</a:t>
            </a:r>
            <a:endParaRPr lang="en-US" sz="12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evidence</a:t>
            </a:r>
            <a:endParaRPr lang="en-US" sz="12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presents both a concession and a refutation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مِنَ الضَّرُورِيِّ أَنْ ___ الحُكُومَةُ إِجْرَاءَاتٍ.</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تَتَّخِذَ</a:t>
            </a:r>
            <a:pPr algn="l" indent="0" marL="0">
              <a:buNone/>
            </a:pPr>
            <a:r>
              <a:rPr lang="en-US" sz="1250" b="1" dirty="0">
                <a:solidFill>
                  <a:srgbClr val="1F2A37"/>
                </a:solidFill>
                <a:latin typeface="Calibri" pitchFamily="34" charset="0"/>
                <a:cs typeface="Amiri" pitchFamily="2" charset="-78"/>
              </a:rPr>
              <a:t> (subjunctive)</a:t>
            </a:r>
            <a:endParaRPr lang="en-US" sz="125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subjunctive trigger forces the fatḥa: </a:t>
            </a:r>
            <a:pPr algn="l" indent="0" marL="0">
              <a:buNone/>
            </a:pPr>
            <a:r>
              <a:rPr lang="ar-SA" altLang="en-US" sz="1350" dirty="0">
                <a:solidFill>
                  <a:srgbClr val="8A6D1E"/>
                </a:solidFill>
                <a:latin typeface="Amiri" pitchFamily="2" charset="-78"/>
                <a:cs typeface="Amiri" pitchFamily="2" charset="-78"/>
              </a:rPr>
              <a:t>تَتَّخِذَ</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لِكَيْ ___ العَدَالَةُ، يَجِبُ الإِصْلَاحُ.</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تَتَحَقَّقُ</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تَتَحَقَّقَ</a:t>
            </a:r>
            <a:pPr algn="l" indent="0" marL="0">
              <a:buNone/>
            </a:pPr>
            <a:r>
              <a:rPr lang="en-US" sz="1250" b="1" dirty="0">
                <a:solidFill>
                  <a:srgbClr val="1F2A37"/>
                </a:solidFill>
                <a:latin typeface="Calibri" pitchFamily="34" charset="0"/>
                <a:cs typeface="Amiri" pitchFamily="2" charset="-78"/>
              </a:rPr>
              <a:t> (subjunctive)</a:t>
            </a:r>
            <a:endParaRPr lang="en-US" sz="125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تَتَحَقَّقْ</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a subjunctive trigger: </a:t>
            </a:r>
            <a:pPr algn="l" indent="0" marL="0">
              <a:buNone/>
            </a:pPr>
            <a:r>
              <a:rPr lang="ar-SA" altLang="en-US" sz="1350" dirty="0">
                <a:solidFill>
                  <a:srgbClr val="8A6D1E"/>
                </a:solidFill>
                <a:latin typeface="Amiri" pitchFamily="2" charset="-78"/>
                <a:cs typeface="Amiri" pitchFamily="2" charset="-78"/>
              </a:rPr>
              <a:t>تَتَحَقَّقَ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R3 question tests argument structure?</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Find the word </a:t>
            </a:r>
            <a:pPr algn="l" indent="0" marL="0">
              <a:buNone/>
            </a:pPr>
            <a:r>
              <a:rPr lang="ar-SA" altLang="en-US" sz="1650" dirty="0">
                <a:solidFill>
                  <a:srgbClr val="9AA1AB"/>
                </a:solidFill>
                <a:latin typeface="Amiri" pitchFamily="2" charset="-78"/>
                <a:cs typeface="Amiri" pitchFamily="2" charset="-78"/>
              </a:rPr>
              <a:t>صَحِيحٌ</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What argumentative purpose does </a:t>
            </a:r>
            <a:pPr algn="l" indent="0" marL="0">
              <a:buNone/>
            </a:pPr>
            <a:r>
              <a:rPr lang="ar-SA" altLang="en-US" sz="1650" b="1" dirty="0">
                <a:solidFill>
                  <a:srgbClr val="1F2A37"/>
                </a:solidFill>
                <a:latin typeface="Amiri" pitchFamily="2" charset="-78"/>
                <a:cs typeface="Amiri" pitchFamily="2" charset="-78"/>
              </a:rPr>
              <a:t>صَحِيحٌ أَنَّ</a:t>
            </a:r>
            <a:pPr algn="l" indent="0" marL="0">
              <a:buNone/>
            </a:pPr>
            <a:r>
              <a:rPr lang="en-US" sz="1250" b="1" dirty="0">
                <a:solidFill>
                  <a:srgbClr val="1F2A37"/>
                </a:solidFill>
                <a:latin typeface="Calibri" pitchFamily="34" charset="0"/>
                <a:cs typeface="Amiri" pitchFamily="2" charset="-78"/>
              </a:rPr>
              <a:t> serve here?</a:t>
            </a:r>
            <a:endParaRPr lang="en-US" sz="125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many words are in the text?</a:t>
            </a:r>
            <a:endParaRPr lang="en-US" sz="125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R3 asks about the function of a structure, not just its presence.</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tells you an argument is balanced?</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only states one side</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evidence</a:t>
            </a:r>
            <a:endParaRPr lang="en-US" sz="12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presents both a concession and a refutation</a:t>
            </a:r>
            <a:endParaRPr lang="en-US" sz="12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balanced argument concedes the other side and then refutes it.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صَحِيحٌ أَنَّ الحُكُومَةَ تَتَّخِذَ إِجْرَاءَاتٍ.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tattakhidha?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الضَّرُورِيِّ أَنْ تَتَّخِذُ الحُكُومَةُ إِجْرَاءَاتٍ.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tattakhidhu?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cs typeface="Amiri" pitchFamily="2" charset="-78"/>
              </a:rPr>
              <a:t>«صَحِيحٌ أَنَّ» يَدُلُّ عَلَى أَنَّ الكَاتِبَ يَتَجَاهَلُ الرَّأْيَ الآخَرَ.</a:t>
            </a:r>
            <a:endParaRPr lang="ar-SA" sz="29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ignores?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صَحِيحٌ أَنَّ الحُكُومَةَ تَتَّخِذَ إِجْرَاءَاتٍ.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صَحِيحٌ أَنَّ الحُكُومَةَ تَتَّخِذُ إِجْرَاءَاتٍ.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describes a real situation, so the verb is indicative: </a:t>
            </a:r>
            <a:pPr algn="l" indent="0" marL="0">
              <a:buNone/>
            </a:pPr>
            <a:r>
              <a:rPr lang="ar-SA" altLang="en-US" sz="1500" b="1" dirty="0">
                <a:solidFill>
                  <a:srgbClr val="1B3B6F"/>
                </a:solidFill>
                <a:latin typeface="Amiri" pitchFamily="2" charset="-78"/>
                <a:cs typeface="Amiri" pitchFamily="2" charset="-78"/>
              </a:rPr>
              <a:t>تَتَّخِذُ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مِنَ الضَّرُورِيِّ أَنْ تَتَّخِذُ الحُكُومَةُ إِجْرَاءَاتٍ.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الضَّرُورِيِّ أَنْ تَتَّخِذَ الحُكُومَةُ إِجْرَاءَاتٍ.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subjunctive trigger forces the fatḥa: </a:t>
            </a:r>
            <a:pPr algn="l" indent="0" marL="0">
              <a:buNone/>
            </a:pPr>
            <a:r>
              <a:rPr lang="ar-SA" altLang="en-US" sz="1500" b="1" dirty="0">
                <a:solidFill>
                  <a:srgbClr val="1B3B6F"/>
                </a:solidFill>
                <a:latin typeface="Amiri" pitchFamily="2" charset="-78"/>
                <a:cs typeface="Amiri" pitchFamily="2" charset="-78"/>
              </a:rPr>
              <a:t>تَتَّخِذَ</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«صَحِيحٌ أَنَّ» يَدُلُّ عَلَى أَنَّ الكَاتِبَ يَتَجَاهَلُ الرَّأْيَ الآخَرَ.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«صَحِيحٌ أَنَّ» يَدُلُّ عَلَى أَنَّ الكَاتِبَ يُسَلِّمُ بِالرَّأْيِ الآخَرِ قَبْلَ الرَّدِّ عَلَيْهِ.</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engages with the opposing view; it does not ignore it.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a reading coach on argument structure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reading argumentative texts require?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Recognising not just what the writer says but how they build the argument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counting words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finding names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writer using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Ignores the other view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Repeats the thesis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Concedes the other view before refuting it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find the refutation?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for a statistic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for the title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for </a:t>
            </a:r>
            <a:pPr algn="l" indent="0" marL="0">
              <a:buNone/>
            </a:pPr>
            <a:r>
              <a:rPr lang="ar-SA" altLang="en-US" sz="1650" dirty="0">
                <a:solidFill>
                  <a:srgbClr val="1F2A37"/>
                </a:solidFill>
                <a:latin typeface="Amiri" pitchFamily="2" charset="-78"/>
                <a:cs typeface="Amiri" pitchFamily="2" charset="-78"/>
              </a:rPr>
              <a:t>غَيْرَ أَنَّ</a:t>
            </a:r>
            <a:pPr algn="l" indent="0" marL="0">
              <a:buNone/>
            </a:pPr>
            <a:r>
              <a:rPr lang="en-US" sz="1250" dirty="0">
                <a:solidFill>
                  <a:srgbClr val="1F2A37"/>
                </a:solidFill>
                <a:latin typeface="Calibri" pitchFamily="34" charset="0"/>
                <a:cs typeface="Amiri" pitchFamily="2" charset="-78"/>
              </a:rPr>
              <a:t> after the concession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in a gap-fill?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 (it describes a real situation)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يَتَطَلَّبُ / 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yusallimu · ghayra anna · muthbat (-u) · manṣūb (-a).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تَقُولُ المُدَرِّبَةُ: قِرَاءَةُ النُّصُوصِ الجَدَلِيَّةِ تَتَطَلَّبُ أَنْ تُمَيِّزَ لَا مَا يَقُولُهُ الكَاتِبُ فَحَسْبُ، بَلْ كَيْفَ يَبْنِي حُجَّتَهُ.</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 says: reading argumentative texts requires you to recognise not only what the writer says, but how he builds his argument.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الكَاتِبُ الَّذِي يَسْتَعْمِلُ «صَحِيحٌ أَنَّ» يُسَلِّمُ بِالرَّأْيِ الآخَرِ قَبْلَ الرَّدِّ عَلَيْهِ، وَهٰذَا يَدُلُّ عَلَى نُضْجٍ فِكْرِيٍّ.</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writer who uses “ṣaḥīḥun anna” concedes the other view before answering it, and this shows intellectual maturity.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ابْحَثْ عَنِ التَّسْلِيمِ ثُمَّ عَنِ الرَّدِّ بِـ«غَيْرَ أَنَّ».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Look for the concession, then for the response with “ghayra anna”.</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مِلْءِ الفَرَاغِ، إِذَا جَاءَ الفِعْلُ بَعْدَ «صَحِيحٌ أَنَّ» فَهُوَ مُثْبَتٌ لِأَنَّهُ يَصِفُ وَاقِعًا، أَمَّا بَعْدَ «يَتَطَلَّبُ» أَوْ «لِكَيْ» فَهُوَ مَنْصُوبٌ.</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gap-fill, if the verb comes after “ṣaḥīḥun anna” it is indicative, because it describes reality; after “yataṭallabu” or “li-kay” it is subjunctive.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حَدِّدِ القَرِينَةَ أَوَّلًا، ثُمَّ اخْتَرِ الصِّيغَةَ.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Identify the clue first, then choose the form.</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reading argumentative texts require?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Recognising not just what the writer says but how they build the argument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counting words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finding names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تَتَطَلَّبُ أَنْ تُمَيِّزَ لَا مَا يَقُولُهُ الكَاتِبُ فَحَسْبُ، بَلْ كَيْفَ يَبْنِي حُجَّتَهُ.</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writer using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Ignores the other view</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Repeats the thesis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Concedes the other view before refuting it</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يُسَلِّمُ بِالرَّأْيِ الآخَرِ قَبْلَ الرَّدِّ عَلَيْهِ.</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find the refutation?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 for a statistic</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Look for the title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Look for </a:t>
            </a:r>
            <a:pPr algn="l" indent="0" marL="0">
              <a:buNone/>
            </a:pPr>
            <a:r>
              <a:rPr lang="ar-SA" altLang="en-US" sz="1550" b="1" dirty="0">
                <a:solidFill>
                  <a:srgbClr val="1F2A37"/>
                </a:solidFill>
                <a:latin typeface="Amiri" pitchFamily="2" charset="-78"/>
                <a:cs typeface="Amiri" pitchFamily="2" charset="-78"/>
              </a:rPr>
              <a:t>غَيْرَ أَنَّ</a:t>
            </a:r>
            <a:pPr algn="l" indent="0" marL="0">
              <a:buNone/>
            </a:pPr>
            <a:r>
              <a:rPr lang="en-US" sz="1200" b="1" dirty="0">
                <a:solidFill>
                  <a:srgbClr val="1F2A37"/>
                </a:solidFill>
                <a:latin typeface="Calibri" pitchFamily="34" charset="0"/>
                <a:cs typeface="Amiri" pitchFamily="2" charset="-78"/>
              </a:rPr>
              <a:t> after the concession</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 عَنِ الرَّدِّ بِـ«غَيْرَ أَنَّ».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in a gap-fill?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indicative (it describes a real situation)</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إِذَا جَاءَ الفِعْلُ بَعْدَ «صَحِيحٌ أَنَّ» فَهُوَ مُثْبَتٌ.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يَتَطَلَّبُ / 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indicative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subjunctive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بَعْدَ «يَتَطَلَّبُ» أَوْ «لِكَيْ» فَهُوَ مَنْصُوبٌ.</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yusallimu · ghayra anna · muthbat (-u) · manṣūb (-a).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Reading: a social-mobility argument text (R1–R4)</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00" dirty="0">
                <a:solidFill>
                  <a:srgbClr val="1F2A37"/>
                </a:solidFill>
                <a:latin typeface="Amiri" pitchFamily="2" charset="-78"/>
                <a:cs typeface="Amiri" pitchFamily="2" charset="-78"/>
              </a:rPr>
              <a:t>يُشَارُ إِلَى أَنَّ التَّنَقُّلَ الاجْتِمَاعِيَّ الصَّاعِدَ يُعَدُّ مِقْيَاسًا لِعَدَالَةِ أَيِّ مُجْتَمَعٍ. أَكَّدَ البَاحِثُونَ أَنَّ التَّعْلِيمَ الجَيِّدَ يُفْضِي إِلَى فُرَصٍ أَوْسَعَ. صَحِيحٌ أَنَّ الدَّوْلَةَ تَتَّخِذُ إِجْرَاءَاتٍ لِدَعْمِ الفُقَرَاءِ، غَيْرَ أَنَّ المُعِيقَاتِ البِنْيَوِيَّةَ لَا تَزَالُ تَحُولُ دُونَ تَكَافُؤِ الفُرَصِ. لَا يُمْكِنُ إِنْكَارُ أَنَّ بَعْضَ البَرَامِجِ نَجَحَتْ، مَعَ ذٰلِكَ يَبْقَى التَّفَاوُتُ عَمِيقًا. وَلَوْ وُجِّهَ الدَّعْمُ إِلَى التَّعْلِيمِ المُبَكِّرِ، لَتَحَسَّنَتْ فُرَصُ الصُّعُودِ. وَبِنَاءً عَلَى مَا سَبَقَ، يَتَطَلَّبُ تَحْقِيقُ العَدَالَةِ أَنْ تُعِيدَ الدَّوْلَةُ تَوْزِيعَ الفُرَصِ لِكَيْ يَصْعَدَ الجَمِيعُ.</a:t>
            </a:r>
            <a:endParaRPr lang="ar-SA" sz="24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التَّنَقُّلَ الاجْتِمَاعِيَّ الصَّاعِدَ</a:t>
            </a:r>
            <a:endParaRPr lang="ar-SA" sz="125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upward social mobility</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مِقْيَاسًا</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measure</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يُفْضِي إِلَى</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leads to</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إِجْرَاءَاتٍ</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measures</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المُعِيقَاتِ البِنْيَوِيَّةَ</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structural barriers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تَحُولُ دُونَ</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prevent</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تَكَافُؤِ الفُرَصِ</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equal opportunities</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عَمِيقًا</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deep</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الصُّعُودِ</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rising, mobility</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نُضْجٍ فِكْرِيٍّ</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intellectual maturity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thesis?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Mobility is unimportant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Upward mobility measures a society’s justice</a:t>
            </a:r>
            <a:endParaRPr lang="en-US" sz="12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wealth matters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evidence is cited?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has no effect</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Opportunities are fixed</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education leads to wider opportunities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a concession structure and its purpose.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ṣaḥīḥun anna: concedes, then refutes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yushāru ilā anna: a thesis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 wujjiha: a conditional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Is the argument balanced or one-sided?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One-sided: only praises the state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concedes, then refutes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One-sided: only attacks the state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R4 — Gap-fill: </a:t>
            </a:r>
            <a:pPr algn="l" indent="0" marL="0">
              <a:buNone/>
            </a:pPr>
            <a:r>
              <a:rPr lang="ar-SA" altLang="en-US" sz="1250" b="1" dirty="0">
                <a:solidFill>
                  <a:srgbClr val="1B3B6F"/>
                </a:solidFill>
                <a:latin typeface="Amiri" pitchFamily="2" charset="-78"/>
                <a:cs typeface="Amiri" pitchFamily="2" charset="-78"/>
              </a:rPr>
              <a:t>يَتَطَلَّبُ تَحْقِيقُ العَدَالَةِ أَنْ</a:t>
            </a:r>
            <a:pPr algn="l" indent="0" marL="0">
              <a:buNone/>
            </a:pPr>
            <a:r>
              <a:rPr lang="en-US" sz="950" b="1" dirty="0">
                <a:solidFill>
                  <a:srgbClr val="1B3B6F"/>
                </a:solidFill>
                <a:latin typeface="Calibri" pitchFamily="34" charset="0"/>
                <a:cs typeface="Amiri" pitchFamily="2" charset="-78"/>
              </a:rPr>
              <a:t> ___ </a:t>
            </a:r>
            <a:pPr algn="l" indent="0" marL="0">
              <a:buNone/>
            </a:pPr>
            <a:r>
              <a:rPr lang="ar-SA" altLang="en-US" sz="1250" b="1" dirty="0">
                <a:solidFill>
                  <a:srgbClr val="1B3B6F"/>
                </a:solidFill>
                <a:latin typeface="Amiri" pitchFamily="2" charset="-78"/>
                <a:cs typeface="Amiri" pitchFamily="2" charset="-78"/>
              </a:rPr>
              <a:t>الدَّوْلَةُ تَوْزِيعَ الفُرَصِ</a:t>
            </a:r>
            <a:pPr algn="l" indent="0" marL="0">
              <a:buNone/>
            </a:pPr>
            <a:r>
              <a:rPr lang="en-US" sz="950" b="1" dirty="0">
                <a:solidFill>
                  <a:srgbClr val="1B3B6F"/>
                </a:solidFill>
                <a:latin typeface="Calibri" pitchFamily="34" charset="0"/>
                <a:cs typeface="Amiri" pitchFamily="2" charset="-78"/>
              </a:rPr>
              <a:t>.</a:t>
            </a:r>
            <a:endParaRPr lang="en-US" sz="9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تُعِيدَ</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R1 — What is the writer's main thesis?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Mobility is unimportant</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Upward mobility measures a society’s justice</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wealth matters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cs typeface="Amiri" pitchFamily="2" charset="-78"/>
              </a:rPr>
              <a:t>يُشَارُ إِلَى أَنَّ التَّنَقُّلَ الاجْتِمَاعِيَّ الصَّاعِدَ يُعَدُّ مِقْيَاسًا لِعَدَالَةِ أَيِّ مُجْتَمَعٍ.</a:t>
            </a:r>
            <a:endParaRPr lang="ar-SA" sz="90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R2 — What evidence is cited?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has no effect</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Opportunities are fixed</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Good education leads to wider opportunities</a:t>
            </a:r>
            <a:endParaRPr lang="en-US" sz="11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cs typeface="Amiri" pitchFamily="2" charset="-78"/>
              </a:rPr>
              <a:t>أَكَّدَ البَاحِثُونَ أَنَّ التَّعْلِيمَ الجَيِّدَ يُفْضِي إِلَى فُرَصٍ أَوْسَعَ.</a:t>
            </a:r>
            <a:endParaRPr lang="ar-SA" sz="9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Identify a concession structure and its purpose.</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ṣaḥīḥun anna: concedes, then refutes</a:t>
            </a:r>
            <a:endParaRPr lang="en-US" sz="11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yushāru ilā anna: a thesis</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 wujjiha: a conditional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state's action before the writer refutes it.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R3 — Is the argument balanced or one-sided?</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One-sided: only praises the state</a:t>
            </a:r>
            <a:endParaRPr lang="en-US" sz="11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Balanced: concedes, then refutes</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One-sided: only attacks the state</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concedes (</a:t>
            </a:r>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and refutes (</a:t>
            </a:r>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so it is balanced.</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R4 — 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تَتَّخِذُ</a:t>
            </a:r>
            <a:pPr algn="l" indent="0" marL="0">
              <a:buNone/>
            </a:pPr>
            <a:r>
              <a:rPr lang="en-US" sz="1250" b="1" dirty="0">
                <a:solidFill>
                  <a:srgbClr val="1F2A37"/>
                </a:solidFill>
                <a:latin typeface="Calibri" pitchFamily="34" charset="0"/>
                <a:cs typeface="Amiri" pitchFamily="2" charset="-78"/>
              </a:rPr>
              <a:t> (indicative)</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After </a:t>
            </a:r>
            <a:pPr algn="l" indent="0" marL="0">
              <a:buNone/>
            </a:pPr>
            <a:r>
              <a:rPr lang="ar-SA" altLang="en-US" sz="1300" dirty="0">
                <a:solidFill>
                  <a:srgbClr val="8A6D1E"/>
                </a:solidFill>
                <a:latin typeface="Amiri" pitchFamily="2" charset="-78"/>
                <a:cs typeface="Amiri" pitchFamily="2" charset="-78"/>
              </a:rPr>
              <a:t>صَحِيحٌ أَنَّ</a:t>
            </a:r>
            <a:pPr algn="l" indent="0" marL="0">
              <a:buNone/>
            </a:pPr>
            <a:r>
              <a:rPr lang="en-US" sz="1000" i="1" dirty="0">
                <a:solidFill>
                  <a:srgbClr val="8A6D1E"/>
                </a:solidFill>
                <a:latin typeface="Calibri" pitchFamily="34" charset="0"/>
                <a:cs typeface="Amiri" pitchFamily="2" charset="-78"/>
              </a:rPr>
              <a:t> the verb is indicative — it describes a real situation.</a:t>
            </a:r>
            <a:endParaRPr lang="en-US" sz="100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R4 — Gap-fill: </a:t>
            </a:r>
            <a:pPr algn="l" indent="0" marL="0">
              <a:buNone/>
            </a:pPr>
            <a:r>
              <a:rPr lang="ar-SA" altLang="en-US" sz="1250" b="1" dirty="0">
                <a:solidFill>
                  <a:srgbClr val="1B3B6F"/>
                </a:solidFill>
                <a:latin typeface="Amiri" pitchFamily="2" charset="-78"/>
                <a:cs typeface="Amiri" pitchFamily="2" charset="-78"/>
              </a:rPr>
              <a:t>يَتَطَلَّبُ تَحْقِيقُ العَدَالَةِ أَنْ</a:t>
            </a:r>
            <a:pPr algn="l" indent="0" marL="0">
              <a:buNone/>
            </a:pPr>
            <a:r>
              <a:rPr lang="en-US" sz="950" b="1" dirty="0">
                <a:solidFill>
                  <a:srgbClr val="1B3B6F"/>
                </a:solidFill>
                <a:latin typeface="Calibri" pitchFamily="34" charset="0"/>
                <a:cs typeface="Amiri" pitchFamily="2" charset="-78"/>
              </a:rPr>
              <a:t> ___ </a:t>
            </a:r>
            <a:pPr algn="l" indent="0" marL="0">
              <a:buNone/>
            </a:pPr>
            <a:r>
              <a:rPr lang="ar-SA" altLang="en-US" sz="1250" b="1" dirty="0">
                <a:solidFill>
                  <a:srgbClr val="1B3B6F"/>
                </a:solidFill>
                <a:latin typeface="Amiri" pitchFamily="2" charset="-78"/>
                <a:cs typeface="Amiri" pitchFamily="2" charset="-78"/>
              </a:rPr>
              <a:t>الدَّوْلَةُ تَوْزِيعَ الفُرَصِ</a:t>
            </a:r>
            <a:pPr algn="l" indent="0" marL="0">
              <a:buNone/>
            </a:pPr>
            <a:r>
              <a:rPr lang="en-US" sz="950" b="1" dirty="0">
                <a:solidFill>
                  <a:srgbClr val="1B3B6F"/>
                </a:solidFill>
                <a:latin typeface="Calibri" pitchFamily="34" charset="0"/>
                <a:cs typeface="Amiri" pitchFamily="2" charset="-78"/>
              </a:rPr>
              <a:t>.</a:t>
            </a:r>
            <a:endParaRPr lang="en-US" sz="9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تُعِيدُ</a:t>
            </a:r>
            <a:pPr algn="l" indent="0" marL="0">
              <a:buNone/>
            </a:pPr>
            <a:r>
              <a:rPr lang="en-US" sz="1250" dirty="0">
                <a:solidFill>
                  <a:srgbClr val="9AA1AB"/>
                </a:solidFill>
                <a:latin typeface="Calibri" pitchFamily="34" charset="0"/>
                <a:cs typeface="Amiri" pitchFamily="2" charset="-78"/>
              </a:rPr>
              <a:t> (indicative)</a:t>
            </a:r>
            <a:endParaRPr lang="en-US" sz="12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تُعِيدْ</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تُعِيدَ</a:t>
            </a:r>
            <a:pPr algn="l" indent="0" marL="0">
              <a:buNone/>
            </a:pPr>
            <a:r>
              <a:rPr lang="en-US" sz="1250" b="1" dirty="0">
                <a:solidFill>
                  <a:srgbClr val="1F2A37"/>
                </a:solidFill>
                <a:latin typeface="Calibri" pitchFamily="34" charset="0"/>
                <a:cs typeface="Amiri" pitchFamily="2" charset="-78"/>
              </a:rPr>
              <a:t> (subjunctive)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(with </a:t>
            </a:r>
            <a:pPr algn="l" indent="0" marL="0">
              <a:buNone/>
            </a:pPr>
            <a:r>
              <a:rPr lang="ar-SA" altLang="en-US" sz="1350" dirty="0">
                <a:solidFill>
                  <a:srgbClr val="8A6D1E"/>
                </a:solidFill>
                <a:latin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تُعِيدَ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the argument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الأُطْرُوحَةُ وَالدَّلِيلُ فِي النَّصِّ؟</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التَّسْلِيمُ وَأَيْنَ الرَّدُّ؟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الحُجَّةُ مُتَوَازِنَةٌ أَمْ أُحَادِيَّةٌ؟ وَلِمَاذَا؟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cs typeface="Amiri" pitchFamily="2" charset="-78"/>
              </a:rPr>
              <a:t>يَرَى الكَاتِبُ أَنَّ ___ ، وَيَسْتَشْهِدُ بِالبَاحِثِينَ.</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cs typeface="Amiri" pitchFamily="2" charset="-78"/>
              </a:rPr>
              <a:t>التَّسْلِيمُ: «صَحِيحٌ أَنَّ ___ »، وَالرَّدُّ: «غَيْرَ أَنَّ ___ ».</a:t>
            </a:r>
            <a:endParaRPr lang="ar-SA" sz="11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الحُجَّةُ ___ ، لِأَنَّهَا تُسَلِّمُ ثُمَّ تَرُدُّ عَلَى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أَيْنَ التَّسْلِيمُ؟</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is the concession?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«صَحِيحٌ أَنَّ الدَّوْلَةَ تَتَّخِذُ إِجْرَاءَاتٍ» تَسْلِيمٌ بِرَأْيٍ حَقِيقِيٍّ.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“It is true that the state takes measures” is a concession to a real point.</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one concession and one refutation in the text.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identify one concession and one refutation in the text.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40–50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what each structure does for the argument.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explain what each structure does for the argument.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R3 answer judging whether the argument is balanced, with two pieces of evidence.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R3 answer judging whether the argument is balanced, with two pieces of evidence.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أَرَى أَنَّ الحُجَّةَ مُتَوَازِنَةٌ، وَلَيْسَتْ أُحَادِيَّةً.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think the argument is balanced, not one-sided.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فَهُوَ يُسَلِّمُ أَوَّلًا بِـ ______ حِينَ يَقُولُ «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first concedes … when he says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يَرُدُّ عَلَى هٰذَا التَّسْلِيمِ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he answers this concession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وَهٰذَا يَدُلُّ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shows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يَرَى الكَاتِبُ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writer’s main view is that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التَّسْلِيمُ: «صَحِيحٌ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concession is: “It is true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الرَّدُّ: «غَيْرَ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refutation is: “However,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الفِعْلُ « ______ » مُثْبَتٌ لِأَنَّهُ يَصِفُ وَاقِعًا.</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verb “…” is indicative, because it describes reality.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cs typeface="Amiri" pitchFamily="2" charset="-78"/>
              </a:rPr>
              <a:t>التَّنَقُّلَ الاجْتِمَاعِيَّ مِقْيَاسٌ لِلْعَدَالَةِ  ·  الدَّوْلَةَ تَتَّخِذُ إِجْرَاءَاتٍ  ·  المُعِيقَاتِ البِنْيَوِيَّةَ  ·  بَعْضَ البَرَامِجِ نَجَحَتْ  ·  يَبْقَى التَّفَاوُتُ عَمِيقًا  ·  رَأْيٍ حَقِيقِيٍّ  ·  نُضْجٍ فِكْرِيٍّ  ·  مُتَوَازِنَةٌ  ·  أُحَادِيَّةٌ  ·  تَتَّخِذُ  ·  تُعِيدَ  ·  يَصْعَدَ</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an 80–90-word R3 analysis of the reading text. State whether the argument is balanced or one-sided, and support your judgement with at least two structures from the text (a concession, a refutation or a trigger).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judgement: balanced or one-sided.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named concession structure (ṣaḥīḥun anna / lā yumkinu inkāru anna).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named refutation (ghayra anna / maʿa dhālika).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explanation of what each structure does for the argument.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وَلَيْسَتْ أُحَادِيَّةً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not one-sided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يُسَلِّمُ أَوَّلًا بِرَأْيٍ حَقِيقِيٍّ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first concedes a real point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يَدُلُّ عَلَى نُضْجٍ فِكْرِيٍّ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shows intellectual maturity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فَيُوَازِنُ بَيْنَ الإِنْجَازِ وَالنَّقْصِ</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he balances achievement and shortfall</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نَمُوذَجًا لِلْحُجَّةِ المُتَوَازِنَةِ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model of the balanced argument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أَرَى أَنَّ حُجَّةَ الكَاتِبِ مُتَوَازِنَةٌ، وَلَيْسَتْ أُحَادِيَّةً. فَهُوَ يُسَلِّمُ أَوَّلًا بِرَأْيٍ حَقِيقِيٍّ حِينَ يَقُولُ «صَحِيحٌ أَنَّ الدَّوْلَةَ تَتَّخِذُ إِجْرَاءَاتٍ لِدَعْمِ الفُقَرَاءِ»، وَهٰذَا التَّسْلِيمُ يَدُلُّ عَلَى نُضْجٍ فِكْرِيٍّ. ثُمَّ يَرُدُّ عَلَى هٰذَا التَّسْلِيمِ بِـ«غَيْرَ أَنَّ المُعِيقَاتِ البِنْيَوِيَّةَ لَا تَزَالُ تَحُولُ دُونَ تَكَافُؤِ الفُرَصِ»، فَيُوَازِنُ بَيْنَ الإِنْجَازِ وَالنَّقْصِ. كَمَا يَسْتَشْهِدُ بِالبَاحِثِينَ وَيَخْتِمُ بِرَابِطٍ خِتَامِيٍّ وَفِعْلٍ مَنْصُوبٍ. وَبِنَاءً عَلَى مَا سَبَقَ، أَعُدُّ النَّصَّ نَمُوذَجًا لِلْحُجَّةِ المُتَوَازِنَةِ.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think the writer’s argument is balanced, not one-sided. He first concedes a real point when he says “it is true that the state takes measures to support the poor”, and this concession shows intellectual maturity. Then he answers it with “however, structural barriers still prevent equal opportunities”, balancing achievement and shortfall. He also cites researchers and closes with a conclusion connector and a subjunctive verb. Based on the above, I consider the text a model of the balanced argument.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verdict: mutawāzina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concession: ṣaḥīḥun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refutation: ghayra anna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its job: nuḍj fikrī</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found the thesis and the evidence and quoted them.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one concession and one refutation.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each structure does, not just where it is.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 a gap: after ṣaḥīḥun anna → -u; after an / li-kay →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verdict (balanced / one-sided) with two quotations.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concession?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refutation?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تَتَّخِذْ</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concession?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صَحِيحٌ 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غَيْرَ 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لِكَيْ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is a concession marker.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marker is a refutation?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صَحِيحٌ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غَيْرَ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يَتَطَلَّبُ 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is a refutation marker.</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تَتَّخِذُ</a:t>
            </a:r>
            <a:pPr algn="l" indent="0" marL="0">
              <a:buNone/>
            </a:pPr>
            <a:r>
              <a:rPr lang="en-US" sz="1250" b="1" dirty="0">
                <a:solidFill>
                  <a:srgbClr val="1F2A37"/>
                </a:solidFill>
                <a:latin typeface="Calibri" pitchFamily="34" charset="0"/>
                <a:cs typeface="Amiri" pitchFamily="2" charset="-78"/>
              </a:rPr>
              <a:t> (indicative)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تَتَّخِذْ</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describes a real situation, so the verb is indicative.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Reading Mission — Concession, Refutation, Mood</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Marker: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صَحِيحٌ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refutation</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Marker: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غَيْرَ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refutation</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Function: a concession structure shows …</a:t>
            </a:r>
            <a:endParaRPr lang="en-US" sz="12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ignores evidence</a:t>
            </a:r>
            <a:endParaRPr lang="en-US" sz="12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is informal</a:t>
            </a:r>
            <a:endParaRPr lang="en-US" sz="12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engages with the opposing view</a:t>
            </a:r>
            <a:endParaRPr lang="en-US" sz="12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62" name="Text 59"/>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صَحِيحٌ أَنَّ الحُكُومَةَ ___ إِجْرَاءَاتٍ.</a:t>
            </a:r>
            <a:endParaRPr lang="ar-SA" sz="1100" dirty="0"/>
          </a:p>
        </p:txBody>
      </p:sp>
      <p:sp>
        <p:nvSpPr>
          <p:cNvPr id="63" name="Shape 60"/>
          <p:cNvSpPr/>
          <p:nvPr/>
        </p:nvSpPr>
        <p:spPr>
          <a:xfrm>
            <a:off x="640080"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66" name="Shape 63"/>
          <p:cNvSpPr/>
          <p:nvPr/>
        </p:nvSpPr>
        <p:spPr>
          <a:xfrm>
            <a:off x="640080"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69" name="Shape 66"/>
          <p:cNvSpPr/>
          <p:nvPr/>
        </p:nvSpPr>
        <p:spPr>
          <a:xfrm>
            <a:off x="640080"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76" name="Text 73"/>
          <p:cNvSpPr txBox="1"/>
          <p:nvPr/>
        </p:nvSpPr>
        <p:spPr>
          <a:xfrm>
            <a:off x="6225845"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مِنَ الضَّرُورِيِّ أَنْ ___ الحُكُومَةُ إِجْرَاءَاتٍ.</a:t>
            </a:r>
            <a:endParaRPr lang="ar-SA" sz="1000" dirty="0"/>
          </a:p>
        </p:txBody>
      </p:sp>
      <p:sp>
        <p:nvSpPr>
          <p:cNvPr id="77" name="Shape 74"/>
          <p:cNvSpPr/>
          <p:nvPr/>
        </p:nvSpPr>
        <p:spPr>
          <a:xfrm>
            <a:off x="4459224" y="48737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9" name="Text 76"/>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80" name="Shape 77"/>
          <p:cNvSpPr/>
          <p:nvPr/>
        </p:nvSpPr>
        <p:spPr>
          <a:xfrm>
            <a:off x="4459224" y="53309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2" name="Text 79"/>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83" name="Shape 80"/>
          <p:cNvSpPr/>
          <p:nvPr/>
        </p:nvSpPr>
        <p:spPr>
          <a:xfrm>
            <a:off x="4459224" y="5788152"/>
            <a:ext cx="256032" cy="256032"/>
          </a:xfrm>
          <a:prstGeom prst="ellipse">
            <a:avLst/>
          </a:prstGeom>
          <a:solidFill>
            <a:srgbClr val="F4F1EA"/>
          </a:solidFill>
          <a:ln w="12700">
            <a:solidFill>
              <a:srgbClr val="F4F1EA"/>
            </a:solidFill>
            <a:prstDash val="solid"/>
          </a:ln>
        </p:spPr>
      </p:sp>
      <p:sp>
        <p:nvSpPr>
          <p:cNvPr id="84" name="Text 81"/>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5" name="Text 82"/>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86" name="Shape 83"/>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8223504" y="4288536"/>
            <a:ext cx="310896" cy="310896"/>
          </a:xfrm>
          <a:prstGeom prst="ellipse">
            <a:avLst/>
          </a:prstGeom>
          <a:solidFill>
            <a:srgbClr val="1B3B6F"/>
          </a:solidFill>
          <a:ln w="12700">
            <a:solidFill>
              <a:srgbClr val="1B3B6F"/>
            </a:solidFill>
            <a:prstDash val="solid"/>
          </a:ln>
        </p:spPr>
      </p:sp>
      <p:sp>
        <p:nvSpPr>
          <p:cNvPr id="88" name="Text 85"/>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9" name="Text 86"/>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90" name="Text 87"/>
          <p:cNvSpPr txBox="1"/>
          <p:nvPr/>
        </p:nvSpPr>
        <p:spPr>
          <a:xfrm>
            <a:off x="10044989"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cs typeface="Amiri" pitchFamily="2" charset="-78"/>
              </a:rPr>
              <a:t>لِكَيْ ___ العَدَالَةُ، يَجِبُ الإِصْلَاحُ.</a:t>
            </a:r>
            <a:endParaRPr lang="ar-SA" sz="1050" dirty="0"/>
          </a:p>
        </p:txBody>
      </p:sp>
      <p:sp>
        <p:nvSpPr>
          <p:cNvPr id="91" name="Shape 88"/>
          <p:cNvSpPr/>
          <p:nvPr/>
        </p:nvSpPr>
        <p:spPr>
          <a:xfrm>
            <a:off x="8278368" y="48737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3" name="Text 90"/>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تَتَحَقَّقُ</a:t>
            </a:r>
            <a:endParaRPr lang="ar-SA" sz="2050" dirty="0"/>
          </a:p>
        </p:txBody>
      </p:sp>
      <p:sp>
        <p:nvSpPr>
          <p:cNvPr id="94" name="Shape 91"/>
          <p:cNvSpPr/>
          <p:nvPr/>
        </p:nvSpPr>
        <p:spPr>
          <a:xfrm>
            <a:off x="8278368" y="53309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6" name="Text 93"/>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تَتَحَقَّقَ</a:t>
            </a:r>
            <a:endParaRPr lang="ar-SA" sz="2050" dirty="0"/>
          </a:p>
        </p:txBody>
      </p:sp>
      <p:sp>
        <p:nvSpPr>
          <p:cNvPr id="97" name="Shape 94"/>
          <p:cNvSpPr/>
          <p:nvPr/>
        </p:nvSpPr>
        <p:spPr>
          <a:xfrm>
            <a:off x="8278368" y="5788152"/>
            <a:ext cx="256032" cy="256032"/>
          </a:xfrm>
          <a:prstGeom prst="ellipse">
            <a:avLst/>
          </a:prstGeom>
          <a:solidFill>
            <a:srgbClr val="F4F1EA"/>
          </a:solidFill>
          <a:ln w="12700">
            <a:solidFill>
              <a:srgbClr val="F4F1EA"/>
            </a:solidFill>
            <a:prstDash val="solid"/>
          </a:ln>
        </p:spPr>
      </p:sp>
      <p:sp>
        <p:nvSpPr>
          <p:cNvPr id="98" name="Text 95"/>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9" name="Text 96"/>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تَتَحَقَّقْ</a:t>
            </a:r>
            <a:endParaRPr lang="ar-SA" sz="205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Marker: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صَحِيحٌ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refutation</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is a concession marker.</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Marker: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غَيْرَ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refutation</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is a refutation marker.</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Function: a concession structure shows …</a:t>
            </a:r>
            <a:endParaRPr lang="en-US" sz="12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ignores evidence</a:t>
            </a:r>
            <a:endParaRPr lang="en-US" sz="125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is informal</a:t>
            </a:r>
            <a:endParaRPr lang="en-US" sz="125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engages with the opposing view</a:t>
            </a:r>
            <a:endParaRPr lang="en-US" sz="115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shows engagement with the counter-argument.</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67" name="Text 6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صَحِيحٌ أَنَّ الحُكُومَةَ ___ إِجْرَاءَاتٍ.</a:t>
            </a:r>
            <a:endParaRPr lang="ar-SA" sz="1100" dirty="0"/>
          </a:p>
        </p:txBody>
      </p:sp>
      <p:sp>
        <p:nvSpPr>
          <p:cNvPr id="68" name="Shape 66"/>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71"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74" name="Shape 72"/>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3"/>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5"/>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تَتَّخِذُ</a:t>
            </a:r>
            <a:endParaRPr lang="ar-SA" sz="1700" dirty="0"/>
          </a:p>
        </p:txBody>
      </p:sp>
      <p:sp>
        <p:nvSpPr>
          <p:cNvPr id="78" name="Text 76"/>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describes a real situation: indicative </a:t>
            </a:r>
            <a:pPr algn="l" indent="0" marL="0">
              <a:buNone/>
            </a:pPr>
            <a:r>
              <a:rPr lang="ar-SA" altLang="en-US" sz="1350" dirty="0">
                <a:solidFill>
                  <a:srgbClr val="8A6D1E"/>
                </a:solidFill>
                <a:latin typeface="Amiri" pitchFamily="2" charset="-78"/>
                <a:cs typeface="Amiri" pitchFamily="2" charset="-78"/>
              </a:rPr>
              <a:t>تَتَّخِذُ</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8"/>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8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83" name="Text 81"/>
          <p:cNvSpPr txBox="1"/>
          <p:nvPr/>
        </p:nvSpPr>
        <p:spPr>
          <a:xfrm>
            <a:off x="6225845"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مِنَ الضَّرُورِيِّ أَنْ ___ الحُكُومَةُ إِجْرَاءَاتٍ.</a:t>
            </a:r>
            <a:endParaRPr lang="ar-SA" sz="1000" dirty="0"/>
          </a:p>
        </p:txBody>
      </p:sp>
      <p:sp>
        <p:nvSpPr>
          <p:cNvPr id="84" name="Shape 82"/>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3"/>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4"/>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5"/>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تَتَّخِذَ</a:t>
            </a:r>
            <a:endParaRPr lang="ar-SA" sz="1700" dirty="0"/>
          </a:p>
        </p:txBody>
      </p:sp>
      <p:sp>
        <p:nvSpPr>
          <p:cNvPr id="88" name="Shape 86"/>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8"/>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91" name="Shape 89"/>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90"/>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1"/>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94" name="Text 92"/>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subjunctive trigger forces the fatḥa: </a:t>
            </a:r>
            <a:pPr algn="l" indent="0" marL="0">
              <a:buNone/>
            </a:pPr>
            <a:r>
              <a:rPr lang="ar-SA" altLang="en-US" sz="1350" dirty="0">
                <a:solidFill>
                  <a:srgbClr val="8A6D1E"/>
                </a:solidFill>
                <a:latin typeface="Amiri" pitchFamily="2" charset="-78"/>
                <a:cs typeface="Amiri" pitchFamily="2" charset="-78"/>
              </a:rPr>
              <a:t>تَتَّخِذَ</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5" name="Shape 93"/>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4"/>
          <p:cNvSpPr/>
          <p:nvPr/>
        </p:nvSpPr>
        <p:spPr>
          <a:xfrm>
            <a:off x="8223504" y="4288536"/>
            <a:ext cx="310896" cy="310896"/>
          </a:xfrm>
          <a:prstGeom prst="ellipse">
            <a:avLst/>
          </a:prstGeom>
          <a:solidFill>
            <a:srgbClr val="1B3B6F"/>
          </a:solidFill>
          <a:ln w="12700">
            <a:solidFill>
              <a:srgbClr val="1B3B6F"/>
            </a:solidFill>
            <a:prstDash val="solid"/>
          </a:ln>
        </p:spPr>
      </p:sp>
      <p:sp>
        <p:nvSpPr>
          <p:cNvPr id="97" name="Text 95"/>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8" name="Text 96"/>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Gap-fill:</a:t>
            </a:r>
            <a:endParaRPr lang="en-US" sz="1200" dirty="0"/>
          </a:p>
        </p:txBody>
      </p:sp>
      <p:sp>
        <p:nvSpPr>
          <p:cNvPr id="99" name="Text 97"/>
          <p:cNvSpPr txBox="1"/>
          <p:nvPr/>
        </p:nvSpPr>
        <p:spPr>
          <a:xfrm>
            <a:off x="10044989"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cs typeface="Amiri" pitchFamily="2" charset="-78"/>
              </a:rPr>
              <a:t>لِكَيْ ___ العَدَالَةُ، يَجِبُ الإِصْلَاحُ.</a:t>
            </a:r>
            <a:endParaRPr lang="ar-SA" sz="1050" dirty="0"/>
          </a:p>
        </p:txBody>
      </p:sp>
      <p:sp>
        <p:nvSpPr>
          <p:cNvPr id="100" name="Shape 98"/>
          <p:cNvSpPr/>
          <p:nvPr/>
        </p:nvSpPr>
        <p:spPr>
          <a:xfrm>
            <a:off x="8278368" y="4831080"/>
            <a:ext cx="256032" cy="256032"/>
          </a:xfrm>
          <a:prstGeom prst="ellipse">
            <a:avLst/>
          </a:prstGeom>
          <a:solidFill>
            <a:srgbClr val="C9CED6"/>
          </a:solidFill>
          <a:ln w="12700">
            <a:solidFill>
              <a:srgbClr val="C9CED6"/>
            </a:solidFill>
            <a:prstDash val="solid"/>
          </a:ln>
        </p:spPr>
      </p:sp>
      <p:sp>
        <p:nvSpPr>
          <p:cNvPr id="101" name="Text 99"/>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2" name="Text 100"/>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تَتَحَقَّقُ</a:t>
            </a:r>
            <a:endParaRPr lang="ar-SA" sz="1700" dirty="0"/>
          </a:p>
        </p:txBody>
      </p:sp>
      <p:sp>
        <p:nvSpPr>
          <p:cNvPr id="103" name="Shape 101"/>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4" name="Shape 102"/>
          <p:cNvSpPr/>
          <p:nvPr/>
        </p:nvSpPr>
        <p:spPr>
          <a:xfrm>
            <a:off x="8278368" y="5202936"/>
            <a:ext cx="256032" cy="256032"/>
          </a:xfrm>
          <a:prstGeom prst="ellipse">
            <a:avLst/>
          </a:prstGeom>
          <a:solidFill>
            <a:srgbClr val="2E8B57"/>
          </a:solidFill>
          <a:ln w="12700">
            <a:solidFill>
              <a:srgbClr val="2E8B57"/>
            </a:solidFill>
            <a:prstDash val="solid"/>
          </a:ln>
        </p:spPr>
      </p:sp>
      <p:sp>
        <p:nvSpPr>
          <p:cNvPr id="105" name="Text 103"/>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6" name="Text 104"/>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تَتَحَقَّقَ</a:t>
            </a:r>
            <a:endParaRPr lang="ar-SA" sz="1700" dirty="0"/>
          </a:p>
        </p:txBody>
      </p:sp>
      <p:sp>
        <p:nvSpPr>
          <p:cNvPr id="107" name="Shape 105"/>
          <p:cNvSpPr/>
          <p:nvPr/>
        </p:nvSpPr>
        <p:spPr>
          <a:xfrm>
            <a:off x="8278368" y="5574792"/>
            <a:ext cx="256032" cy="256032"/>
          </a:xfrm>
          <a:prstGeom prst="ellipse">
            <a:avLst/>
          </a:prstGeom>
          <a:solidFill>
            <a:srgbClr val="C9CED6"/>
          </a:solidFill>
          <a:ln w="12700">
            <a:solidFill>
              <a:srgbClr val="C9CED6"/>
            </a:solidFill>
            <a:prstDash val="solid"/>
          </a:ln>
        </p:spPr>
      </p:sp>
      <p:sp>
        <p:nvSpPr>
          <p:cNvPr id="108" name="Text 106"/>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9" name="Text 107"/>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تَتَحَقَّقْ</a:t>
            </a:r>
            <a:endParaRPr lang="ar-SA" sz="1700" dirty="0"/>
          </a:p>
        </p:txBody>
      </p:sp>
      <p:sp>
        <p:nvSpPr>
          <p:cNvPr id="110" name="Text 10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a subjunctive trigger: </a:t>
            </a:r>
            <a:pPr algn="l" indent="0" marL="0">
              <a:buNone/>
            </a:pPr>
            <a:r>
              <a:rPr lang="ar-SA" altLang="en-US" sz="1350" dirty="0">
                <a:solidFill>
                  <a:srgbClr val="8A6D1E"/>
                </a:solidFill>
                <a:latin typeface="Amiri" pitchFamily="2" charset="-78"/>
                <a:cs typeface="Amiri" pitchFamily="2" charset="-78"/>
              </a:rPr>
              <a:t>تَتَحَقَّقَ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11" name="Text 10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P5-L09 · Writing — Social Issues and Opinions (Paper 4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الأُطْرُوحَةُ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thesis</a:t>
            </a:r>
            <a:pPr indent="0" marL="0">
              <a:buNone/>
            </a:pPr>
            <a:r>
              <a:rPr lang="en-US" sz="1000" i="1" dirty="0">
                <a:solidFill>
                  <a:srgbClr val="5A6472"/>
                </a:solidFill>
                <a:latin typeface="Calibri" pitchFamily="34" charset="0"/>
                <a:cs typeface="Amiri" pitchFamily="2" charset="-78"/>
              </a:rPr>
              <a:t>  pl. الأُطْرُوحَاتُ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بِنْيَةُ التَّسْلِيمِ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concession structure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رَابِطُ الخِتَامِ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 connector</a:t>
            </a:r>
            <a:pPr indent="0" marL="0">
              <a:buNone/>
            </a:pPr>
            <a:r>
              <a:rPr lang="en-US" sz="1000" i="1" dirty="0">
                <a:solidFill>
                  <a:srgbClr val="5A6472"/>
                </a:solidFill>
                <a:latin typeface="Calibri" pitchFamily="34" charset="0"/>
                <a:cs typeface="Amiri" pitchFamily="2" charset="-78"/>
              </a:rPr>
              <a:t>  pl. رَوَابِطُ</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يُثْرِي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enriches</a:t>
            </a:r>
            <a:pPr indent="0" marL="0">
              <a:buNone/>
            </a:pPr>
            <a:r>
              <a:rPr lang="en-US" sz="1000" i="1" dirty="0">
                <a:solidFill>
                  <a:srgbClr val="5A6472"/>
                </a:solidFill>
                <a:latin typeface="Calibri" pitchFamily="34" charset="0"/>
                <a:cs typeface="Amiri" pitchFamily="2" charset="-78"/>
              </a:rPr>
              <a:t>  f. تُثْرِي</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يُهَدِّدُ الاسْتِقْرَارَ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threatens stability</a:t>
            </a:r>
            <a:pPr indent="0" marL="0">
              <a:buNone/>
            </a:pPr>
            <a:r>
              <a:rPr lang="en-US" sz="1000" i="1" dirty="0">
                <a:solidFill>
                  <a:srgbClr val="5A6472"/>
                </a:solidFill>
                <a:latin typeface="Calibri" pitchFamily="34" charset="0"/>
                <a:cs typeface="Amiri" pitchFamily="2" charset="-78"/>
              </a:rPr>
              <a:t>  f. تُهَدِّدُ</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P5 social issue would you choose for an exam essay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أَخْتَارُ قَضِيَّةَ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Find one concession and one refutation in an Arabic opinion text and copy them.</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Explain what each structure does for the argument (40–50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R3 analysis of the reading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P5-L09 · Writing — Social Issues and Opinions (Paper 4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الكِتَابَةُ — القَضَايَا الاجْتِمَاعِيَّةُ وَالآرَاءُ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read HOW the argument is built — ṣaḥīḥun anna concedes, ghayra anna answers. In a gap, find the clue first: a conceded fact → -u; a trigger (an, li-kay) → -a. Balanced = both sides.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P5-L08 · Reading — Social Issues Texts</dc:title>
  <dc:subject>PptxGenJS Presentation</dc:subject>
  <dc:creator>Al Madina Online School · Arabic Department</dc:creator>
  <cp:lastModifiedBy>Al Madina Online School · Arabic Department</cp:lastModifiedBy>
  <cp:revision>1</cp:revision>
  <dcterms:created xsi:type="dcterms:W3CDTF">2026-10-11T06:43:29Z</dcterms:created>
  <dcterms:modified xsi:type="dcterms:W3CDTF">2026-10-11T06:43:29Z</dcterms:modified>
</cp:coreProperties>
</file>