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P5-L05. The website lesson “Global Justice — International Responsibility and the Arab World”: vocabulary, grammar rules and quiz, patterns, common mistakes, sorter, listening, reading, speaking prompts and model, writing task and model, differentiation, final check and the lesson mission. Picture match: website visual game “Global Justice — International Responsibility and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conclusion with wa-bināʾan ʿalā mā sabaqa and one refusal with yarfuḍu an (website Core). Develop: add a law passive and a Type 2 counterfactual (110 words). Stretch: 120 words with both conditionals, the past perfect and two conclusion connectors.
• Sensitivity: this lesson touches conflict zones, civilian suffering and massacres. Some students may have family affected by current conflicts. Keep the discussion on PRINCIPLES (law, accountability, equal standards), let students voice strong feelings respectfully, avoid graphic detail, and follow the school’s policy on contested political topics and safeguarding.
• Faith link (optional): «يَا أَيُّهَا الَّذِينَ آمَنُوا كُونُوا قَوَّامِينَ لِلَّهِ شُهَدَاءَ بِالقِسْطِ، وَلَا يَجْرِمَنَّكُمْ شَنَآنُ قَوْمٍ عَلَى أَلَّا تَعْدِلُوا» (al-Māʾida 5:8) — justice even towards those you dislike: the Qur’anic answer to double standards. Also «إِنَّ اللهَ يَأْمُرُ بِالعَدْلِ وَالإِحْسَانِ» (al-Naḥl 16:90).
• Grammar links: wa-bināʾan ʿalā mā sabaqa (P5-L01) · an + -a triggers (P5-L03, P5-L04) · passives (P5-L02) · past perfect kānat … qad and Type 1 / Type 2 (P3, P4).
• TEACHER-WRITTEN ITEMS: waṣl alif shown without a kasra; لِكَيْ always written with its sukūn; عَلَاوَةً → عِلَاوَةً in one quiz option; rule formulas, pattern tips, writing prompt and checklist in transliteration; sorter headings in transliteration; game cards 0, 3 and 5 not used; the conclusion, refusal, passive and toolkit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P5-L04. Questions 4–5 retrieve prohibition / permission + -a (P5-L04) — today refusal joins the same family: yarfuḍu an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essay ends by drawing everything together — and refusal is one more an +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قانون, خلاصہ and مسئولیت are shared — and Urdu خلاصہ gives you the conclusion connector وَخُلَاصَةُ القَوْلِ for free. Careful: Urdu عدالت = a court, but Arabic العَدَالَةُ = JUSTICE (a court = مَحْكَمَةٌ). Urdu حمایت = support; Arabic الحِمَايَةُ = PROTECTION (مَسْؤُولِيَّةُ الحِمَايَةِ = the responsibility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(1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(2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(1 of 2)). Hear → Say → See → Use. Transliteration is printed for Core students (cover it for Develop/Stretch).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(2 of 2)). Hear → Say → See → Use. Transliteration is printed for Core students (cover it for Develop/Stretch).
FLEX: teach if time allows; otherwise these are on the website vocabulary tab for homework.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(1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(2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“Conclusion connectors”, teaching point 1 and builder task 3 (“Formalise the conclusion”).
Three closing shapes to copy: يُعَدُّ … ضَرُورَةً (is considered a necessity) · مِنَ الضَّرُورِيِّ أَنْ + -a (necessity subjunctive) · لَا + noun + دُونَ (no X without Y: لَا عَدَالَةَ دُونَ مُحَاسَبَةٍ).
Row 5: the website mission contrasts the formal conclusion with وَأَيْضًا and ثُمَّ — fine in speech, too weak to close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“Refusal trigger”, teaching point 2 (“Refusal joins insistence, demand, prohibition and permission”), mistake 1 and the mission error spot.
The family so far: يُصِرُّ عَلَى أَنْ · يُطَالِبُ بِأَنْ · يَدْعُو إِلَى أَنْ (P5-L03) · يَمْنَعُ أَنْ · يُبِيحُ أَنْ (P5-L04) · يَرْفُضُ أَنْ (today). One rule for all six: an + -a.
Card 2: يَخْضَعُونَ → أَنْ يَخْضَعُوا — the plural -ūna loses its nūn (and gains a silent alif)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“International-law passives” (“The passive centres the law or the obligation”), the table, mistake 2, the sorter and the reading.
Pattern: passive present = yu- … -a- (yuntahaku · yulzamu · yuḥāsabu); passive past = u … i (ṭubbiqa). Row 4: لَمْ يُطَبَّقْ — the jussive after lam (sukūn).
Why passive? The report focuses on the LAW being violated, not on naming who did it — the neutral register of international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“Counterfactual analysis” (“A Type 2 exposes double standards”), mistake 3 and the writing model.
Row 3 vs row 4: Type 1 = a REAL possibility (idhā … sa-) · Type 2 = what SHOULD have happened (law … la-). The Type 2 is the sharpest tool against double standards: “had the law been applied equally …”.
Stretch students use all five rows in order — that IS the website writing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“Close with وَبِنَاءً عَلَى مَا سَبَقَ or وَخُلَاصَةُ القَوْلِ, use يَرْفُضُ أَنْ, form يُنْتَهَكُ and يُلْزَمُ بِـ, and analyse with a Type 2 counterfactual.”
• Conclusion connectors: Open the synthesising final sentence.
• Refusal trigger: States a refusal that a situation continue.
• International-law passives: The passive centres the law or the obligation.
• Counterfactual analysis: A Type 2 exposes double standards.
Website common error: Using a conclusion connector to add a new point rather than synthesise, or an indicative verb after يَرْفُضُ أَنْ. The connector closes the argument; the refusal trigger takes the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“Report first: yuʾakkidu … anna + the passive yuntahaku. Background: kānat … qad aqarrat. Now the refusal: yarfuḍu … an tastamirrA. The sharpest point: law ṭubbiqa … LA-kāna. And close — not a new point, a synthesis: wa-bināʾan ʿalā mā sabaqa + min al-ḍarūrī an yuṣlaḥA.”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P5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P5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justice line from a law passive, a refusal and a formal conclusion.” Website feedback: any three different combinations work.
Core: read row 1 across. Develop: column 2 row 2 (يُفْلِتَ — refusal + a verb in -a). Stretch: add a Type 2 between columns 2 and 3: وَلَوْ طُبِّقَ القَانُونُ بِالتَّسَاوِي، لَكَانَ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the two conclusion connectors at the end.
Listen 1: just listen. Listen 2: note answers. Then chat the letters.
Support: after the second listening, show the read-along slide (Arabic + English, line by line) for Core students.
SCRIPT (read aloud):
يَقُولُ الخَبِيرُ القَانُونِيُّ: يُؤَكِّدُ المُخْتَصُّونَ أَنَّ القَانُونَ الدَّوْلِيَّ الإِنْسَانِيَّ يُنْتَهَكُ بِشَكْلٍ مَنْهَجِيٍّ فِي مَنَاطِقِ النِّزَاعِ. وَيَكْمُنُ جَوْهَرُ الأَزْمَةِ فِي ازْدِوَاجِيَّةِ المَعَايِيرِ الَّتِي تُمَارِسُهَا بَعْضُ الدُّوَلِ الكُبْرَى. تُلْزَمُ الدُّوَلُ المُوَقِّعَةُ بِالامْتِثَالِ لِلْمُعَاهَدَاتِ، غَيْرَ أَنَّ التَّطْبِيقَ يَظَلُّ رَهِينًا بِالمَصَالِحِ السِّيَاسِيَّةِ. يَرْفُضُ كَثِيرٌ مِنَ النَّاشِطِينَ أَنْ تَسْتَمِرَّ هٰذِهِ الازْدِوَاجِيَّةُ. وَلَوْ طُبِّقَ القَانُونُ بِلَا ازْدِوَاجِيَّةٍ، لَكَانَتِ المَجَازِرُ أَقَلَّ حِدَّةً. وَبِنَاءً عَلَى مَا سَبَقَ، يُعَدُّ إِصْلَاحُ مَجْلِسِ الأَمْنِ خُطْوَةً لَا غِنَى عَنْهَا. وَخُلَاصَةُ القَوْلِ، لَا عَدَالَةَ عَالَمِيَّةً دُونَ مُحَاسَبَةٍ مُتَسَاوِيَةٍ.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وَبِنَاءً عَلَى مَا سَبَقَ، مِنَ الضَّرُورِيِّ أَنْ يُصْلَحَ النِّظَامُ الدَّوْلِيُّ. (Conclusion + subjunctive)
Website prompts and model. Pair task: “UN press conference” — A states the problem with a law passive; B refuses with yarfuḍu an …; together they close with wa-bināʾan ʿalā mā sabaqa. To a girl: صِفِيهَا · تَخْتِمِينَ حُجَّتَكِ.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conclusion with وَبِنَاءً عَلَى مَا سَبَقَ and one refusal with يَرْفُضُ أَنْ. · Develop — Add a law passive and a Type 2 counterfactual; reach 110 words. · Stretch — Reach 120 words with both conditionals, the past perfect and two conclusion connectors.
Website writing task (Stretch): 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يُؤَكِّدُ … أَنَّ … يُنْتَهَكُ · يُشَارُ إِلَى أَنَّ … لَمْ يُطَبَّقْ · كَانَتْ … قَدْ أَقَرَّتْ … لِكَيْ يُحْمَى · يَرْفُضُ … أَنْ تَسْتَمِرَّ · إِذَا الْتَزَمَتْ … سَيُحْدِثُ · لَوْ طُبِّقَ … لَكَانَتْ · وَبِنَاءً عَلَى مَا سَبَقَ … أَنْ يُصْلَحَ … لِكَيْ تَنْعَمَ.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(P5-L06 · Youth and Society — The Arab Generation’s Challenges and Power) will spend class time USING this language, so students prepare it tonight — short, simple, easy to access (school guidance: “Simple, Short, Interesting, Relevant, Easy to access”). The five words come from the website P5-L06 vocabulary (youth and society).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Global Justice — International Responsibility and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2" charset="-78"/>
                <a:cs typeface="Amiri" pitchFamily="2" charset="-78"/>
              </a:rPr>
              <a:t>العَدَالَةُ العَالَمِيَّةُ — المَسْؤُولِيَّةُ الدَّوْلِيَّةُ وَالعَالَمُ العَرَبِيُّ</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Close an argument like a UN report — wa-bināʾan ʿalā mā sabaqa and wa-khulāṣatu l-qawl, refuse with yarfuḍu an + a verb in -a, centre the law with the passives yuntahaku and yulzamu bi-, and expose double standards with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P5-L05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Formal conclusion connectors, yarfuḍu an + -a, the law passives yuntahaku / yulzamu bi-, Type 2 on double standards.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the justice pictures, build a justice line, sort conclusion / refusal / law passive.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national court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international justice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state border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 standards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languages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standards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fair punishment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prison escape film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impunity (escaping punishment)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يُبِيحُ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national court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international justice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state border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 standards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languages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standards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fair punishment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prison escape film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impunity (escaping punishment)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yamnaʿu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يُبِيحَ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يُبِيحُ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two an — two verbs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essay ends by drawing everything together — and refusal is one more an + -a trigger.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وَبِنَاءً عَلَى مَا سَبَقَ</a:t>
            </a:r>
            <a:pPr rtl="1" algn="ctr" indent="0" marL="0">
              <a:lnSpc>
                <a:spcPct val="120000"/>
              </a:lnSpc>
              <a:buNone/>
            </a:pPr>
            <a:r>
              <a:rPr lang="ar-SA" altLang="en-US" sz="1950" b="1" dirty="0">
                <a:solidFill>
                  <a:srgbClr val="1B3B6F"/>
                </a:solidFill>
                <a:latin typeface="Amiri" pitchFamily="2" charset="-78"/>
                <a:cs typeface="Amiri" pitchFamily="2" charset="-78"/>
              </a:rPr>
              <a:t>، … · يَرْفُضُ أَنْ </a:t>
            </a:r>
            <a:pPr rtl="1" algn="ctr" indent="0" marL="0">
              <a:lnSpc>
                <a:spcPct val="120000"/>
              </a:lnSpc>
              <a:buNone/>
            </a:pPr>
            <a:r>
              <a:rPr lang="ar-SA" altLang="en-US" sz="1950" b="1" dirty="0">
                <a:solidFill>
                  <a:srgbClr val="D6336C"/>
                </a:solidFill>
                <a:latin typeface="Amiri" pitchFamily="2" charset="-78"/>
                <a:cs typeface="Amiri" pitchFamily="2" charset="-78"/>
              </a:rPr>
              <a:t>تَسْتَمِرَّ</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global-justice issues with international-law and diplomacy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Close an argument with wa-bināʾan ʿalā mā sabaqa and wa-khulāṣatu l-qawl.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refusal trigger yarfuḍu an + a verb in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international-law passives yuntahaku and yulzamu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global-justice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close with wa-bināʾan ʿalā mā sabaqa.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yarfuḍu an + a verb in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yuntahaku and yulzamu bi-.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expose double standards with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120-word global-justice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Formal conclusion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Global justice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Law verbs and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عَدَالَةٌ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‎عدالت‎ </a:t>
            </a:r>
            <a:pPr indent="0" marL="0">
              <a:buNone/>
            </a:pPr>
            <a:r>
              <a:rPr lang="en-US" sz="950" b="1" dirty="0">
                <a:solidFill>
                  <a:srgbClr val="2E8B57"/>
                </a:solidFill>
                <a:latin typeface="Calibri" pitchFamily="34" charset="0"/>
                <a:cs typeface="Amiri" pitchFamily="2" charset="-78"/>
              </a:rPr>
              <a:t> adālat · Arabic: justice · Urdu: a court of law</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قَانُونٌ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‎قانون‎ </a:t>
            </a:r>
            <a:pPr indent="0" marL="0">
              <a:buNone/>
            </a:pPr>
            <a:r>
              <a:rPr lang="en-US" sz="950" b="1" dirty="0">
                <a:solidFill>
                  <a:srgbClr val="2E8B57"/>
                </a:solidFill>
                <a:latin typeface="Calibri" pitchFamily="34" charset="0"/>
                <a:cs typeface="Amiri" pitchFamily="2" charset="-78"/>
              </a:rPr>
              <a:t> qānūn · a law</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a summary (وَخُلَاصَةُ القَوْلِ = in summary)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‎مسئولیت‎ </a:t>
            </a:r>
            <a:pPr indent="0" marL="0">
              <a:buNone/>
            </a:pPr>
            <a:r>
              <a:rPr lang="en-US" sz="950" b="1" dirty="0">
                <a:solidFill>
                  <a:srgbClr val="2E8B57"/>
                </a:solidFill>
                <a:latin typeface="Calibri" pitchFamily="34" charset="0"/>
                <a:cs typeface="Amiri" pitchFamily="2" charset="-78"/>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حِمَايَةٌ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‎حمایت‎ </a:t>
            </a:r>
            <a:pPr indent="0" marL="0">
              <a:buNone/>
            </a:pPr>
            <a:r>
              <a:rPr lang="en-US" sz="950" b="1" dirty="0">
                <a:solidFill>
                  <a:srgbClr val="2E8B57"/>
                </a:solidFill>
                <a:latin typeface="Calibri" pitchFamily="34" charset="0"/>
                <a:cs typeface="Amiri" pitchFamily="2" charset="-78"/>
              </a:rPr>
              <a:t> himāyat · Arabic: protection · Urdu: support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وَبِنَاءً عَلَى مَا سَبَقَ</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76662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وَخُلَاصَةُ القَوْلِ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summary</a:t>
            </a:r>
            <a:endParaRPr lang="en-US" sz="1350" dirty="0"/>
          </a:p>
          <a:p>
            <a:pPr indent="0" marL="0">
              <a:buNone/>
            </a:pPr>
            <a:r>
              <a:rPr lang="en-US" sz="1100" i="1" dirty="0">
                <a:solidFill>
                  <a:srgbClr val="5A6472"/>
                </a:solidFill>
                <a:latin typeface="Calibri" pitchFamily="34" charset="0"/>
                <a:cs typeface="Amiri" pitchFamily="2" charset="-78"/>
              </a:rPr>
              <a:t>wa-khu-lā-ṣa-tu al-qaw-li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Linking connector.</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وَمِنَ المُنْطَلَقِ ذَاتِهِ</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same starting point</a:t>
            </a:r>
            <a:endParaRPr lang="en-US" sz="1350" dirty="0"/>
          </a:p>
          <a:p>
            <a:pPr indent="0" marL="0">
              <a:buNone/>
            </a:pPr>
            <a:r>
              <a:rPr lang="en-US" sz="1100" i="1" dirty="0">
                <a:solidFill>
                  <a:srgbClr val="5A6472"/>
                </a:solidFill>
                <a:latin typeface="Calibri" pitchFamily="34" charset="0"/>
                <a:cs typeface="Amiri" pitchFamily="2" charset="-78"/>
              </a:rPr>
              <a:t>wa-mi-na al-mun-ṭa-la-qi dhā-ti-hi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يَرْفُضُ أَنْ</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that / to</a:t>
            </a:r>
            <a:endParaRPr lang="en-US" sz="1350" dirty="0"/>
          </a:p>
          <a:p>
            <a:pPr indent="0" marL="0">
              <a:buNone/>
            </a:pPr>
            <a:r>
              <a:rPr lang="en-US" sz="1100" i="1" dirty="0">
                <a:solidFill>
                  <a:srgbClr val="5A6472"/>
                </a:solidFill>
                <a:latin typeface="Calibri" pitchFamily="34" charset="0"/>
                <a:cs typeface="Amiri" pitchFamily="2" charset="-78"/>
              </a:rPr>
              <a:t>yar-fu-ḍu an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تَرْفُضُ أَنْ</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4" name="Text 5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يَرْفُضُونَ أَنْ</a:t>
            </a:r>
            <a:endParaRPr lang="ar-SA"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المُسَبِّبُ المُوَسَّعُ</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a:t>
            </a:r>
            <a:endParaRPr lang="en-US" sz="1350" dirty="0"/>
          </a:p>
          <a:p>
            <a:pPr indent="0" marL="0">
              <a:buNone/>
            </a:pPr>
            <a:r>
              <a:rPr lang="en-US" sz="1100" i="1" dirty="0">
                <a:solidFill>
                  <a:srgbClr val="5A6472"/>
                </a:solidFill>
                <a:latin typeface="Calibri" pitchFamily="34" charset="0"/>
                <a:cs typeface="Amiri" pitchFamily="2" charset="-78"/>
              </a:rPr>
              <a:t>al-mu-sab-bi-bu al-mu-was-sa-ʿu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التَّرْكِيبُ المَقَالِيُّ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essay construction</a:t>
            </a:r>
            <a:endParaRPr lang="en-US" sz="1350" dirty="0"/>
          </a:p>
          <a:p>
            <a:pPr indent="0" marL="0">
              <a:buNone/>
            </a:pPr>
            <a:r>
              <a:rPr lang="en-US" sz="1100" i="1" dirty="0">
                <a:solidFill>
                  <a:srgbClr val="5A6472"/>
                </a:solidFill>
                <a:latin typeface="Calibri" pitchFamily="34" charset="0"/>
                <a:cs typeface="Amiri" pitchFamily="2" charset="-78"/>
              </a:rPr>
              <a:t>at-tar-kī-bu al-ma-qā-liy-yu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يُنْتَهَكُ</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violated</a:t>
            </a:r>
            <a:endParaRPr lang="en-US" sz="1350" dirty="0"/>
          </a:p>
          <a:p>
            <a:pPr indent="0" marL="0">
              <a:buNone/>
            </a:pPr>
            <a:r>
              <a:rPr lang="en-US" sz="1100" i="1" dirty="0">
                <a:solidFill>
                  <a:srgbClr val="5A6472"/>
                </a:solidFill>
                <a:latin typeface="Calibri" pitchFamily="34" charset="0"/>
                <a:cs typeface="Amiri" pitchFamily="2" charset="-78"/>
              </a:rPr>
              <a:t>yun-ta-ha-ku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تُنْتَهَكُ</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يُلْزَمُ بِـ</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obliged to</a:t>
            </a:r>
            <a:endParaRPr lang="en-US" sz="1350" dirty="0"/>
          </a:p>
          <a:p>
            <a:pPr indent="0" marL="0">
              <a:buNone/>
            </a:pPr>
            <a:r>
              <a:rPr lang="en-US" sz="1100" i="1" dirty="0">
                <a:solidFill>
                  <a:srgbClr val="5A6472"/>
                </a:solidFill>
                <a:latin typeface="Calibri" pitchFamily="34" charset="0"/>
                <a:cs typeface="Amiri" pitchFamily="2" charset="-78"/>
              </a:rPr>
              <a:t>yul-za-mu bi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تُلْزَمُ بِـ</a:t>
            </a:r>
            <a:endParaRPr lang="ar-SA" sz="135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1" name="Text 4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يُلْزَمُونَ بِـ</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العَدَالَةُ الدَّوْلِيَّةُ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justice</a:t>
            </a:r>
            <a:endParaRPr lang="en-US" sz="1350" dirty="0"/>
          </a:p>
          <a:p>
            <a:pPr indent="0" marL="0">
              <a:buNone/>
            </a:pPr>
            <a:r>
              <a:rPr lang="en-US" sz="1100" i="1" dirty="0">
                <a:solidFill>
                  <a:srgbClr val="5A6472"/>
                </a:solidFill>
                <a:latin typeface="Calibri" pitchFamily="34" charset="0"/>
                <a:cs typeface="Amiri" pitchFamily="2" charset="-78"/>
              </a:rPr>
              <a:t>al-ʿa-dā-la-tu ad-daw-liy-ya-tu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القَانُونُ الدَّوْلِيُّ الإِنْسَانِيُّ</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humanitarian law</a:t>
            </a:r>
            <a:endParaRPr lang="en-US" sz="1350" dirty="0"/>
          </a:p>
          <a:p>
            <a:pPr indent="0" marL="0">
              <a:buNone/>
            </a:pPr>
            <a:r>
              <a:rPr lang="en-US" sz="1100" i="1" dirty="0">
                <a:solidFill>
                  <a:srgbClr val="5A6472"/>
                </a:solidFill>
                <a:latin typeface="Calibri" pitchFamily="34" charset="0"/>
                <a:cs typeface="Amiri" pitchFamily="2" charset="-78"/>
              </a:rPr>
              <a:t>al-qā-nū-nu ad-daw-liy-yu al-in-sā-niy-yu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مَسْؤُولِيَّةُ الحِمَايَةِ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 to protect</a:t>
            </a:r>
            <a:endParaRPr lang="en-US" sz="1350" dirty="0"/>
          </a:p>
          <a:p>
            <a:pPr indent="0" marL="0">
              <a:buNone/>
            </a:pPr>
            <a:r>
              <a:rPr lang="en-US" sz="1100" i="1" dirty="0">
                <a:solidFill>
                  <a:srgbClr val="5A6472"/>
                </a:solidFill>
                <a:latin typeface="Calibri" pitchFamily="34" charset="0"/>
                <a:cs typeface="Amiri" pitchFamily="2" charset="-78"/>
              </a:rPr>
              <a:t>mas-ʾū-liy-ya-tu al-ḥi-mā-ya-ti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سِيَادَةُ الدَّوْلَةِ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state sovereignty</a:t>
            </a:r>
            <a:endParaRPr lang="en-US" sz="1350" dirty="0"/>
          </a:p>
          <a:p>
            <a:pPr indent="0" marL="0">
              <a:buNone/>
            </a:pPr>
            <a:r>
              <a:rPr lang="en-US" sz="1100" i="1" dirty="0">
                <a:solidFill>
                  <a:srgbClr val="5A6472"/>
                </a:solidFill>
                <a:latin typeface="Calibri" pitchFamily="34" charset="0"/>
                <a:cs typeface="Amiri" pitchFamily="2" charset="-78"/>
              </a:rPr>
              <a:t>si-yā-da-tu ad-daw-la-ti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مِيثَاقُ الأُمَمِ المُتَّحِدَةِ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UN Charter</a:t>
            </a:r>
            <a:endParaRPr lang="en-US" sz="1350" dirty="0"/>
          </a:p>
          <a:p>
            <a:pPr indent="0" marL="0">
              <a:buNone/>
            </a:pPr>
            <a:r>
              <a:rPr lang="en-US" sz="1100" i="1" dirty="0">
                <a:solidFill>
                  <a:srgbClr val="5A6472"/>
                </a:solidFill>
                <a:latin typeface="Calibri" pitchFamily="34" charset="0"/>
                <a:cs typeface="Amiri" pitchFamily="2" charset="-78"/>
              </a:rPr>
              <a:t>mī-thā-qu al-u-ma-mi al-mut-ta-ḥi-da-ti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ازْدِوَاجِيَّةُ المَعَايِيرِ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 standards</a:t>
            </a:r>
            <a:endParaRPr lang="en-US" sz="1350" dirty="0"/>
          </a:p>
          <a:p>
            <a:pPr indent="0" marL="0">
              <a:buNone/>
            </a:pPr>
            <a:r>
              <a:rPr lang="en-US" sz="1100" i="1" dirty="0">
                <a:solidFill>
                  <a:srgbClr val="5A6472"/>
                </a:solidFill>
                <a:latin typeface="Calibri" pitchFamily="34" charset="0"/>
                <a:cs typeface="Amiri" pitchFamily="2" charset="-78"/>
              </a:rPr>
              <a:t>az-di-wā-jiy-ya-tu al-ma-ʿā-yī-ri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الإِفْلَاتُ مِنَ العِقَابِ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impunity</a:t>
            </a:r>
            <a:endParaRPr lang="en-US" sz="1350" dirty="0"/>
          </a:p>
          <a:p>
            <a:pPr indent="0" marL="0">
              <a:buNone/>
            </a:pPr>
            <a:r>
              <a:rPr lang="en-US" sz="1100" i="1" dirty="0">
                <a:solidFill>
                  <a:srgbClr val="5A6472"/>
                </a:solidFill>
                <a:latin typeface="Calibri" pitchFamily="34" charset="0"/>
                <a:cs typeface="Amiri" pitchFamily="2" charset="-78"/>
              </a:rPr>
              <a:t>al-if-lā-tu mi-na al-ʿi-qā-bi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التَّضَامُنُ الدَّوْلِيُّ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solidarity</a:t>
            </a:r>
            <a:endParaRPr lang="en-US" sz="1350" dirty="0"/>
          </a:p>
          <a:p>
            <a:pPr indent="0" marL="0">
              <a:buNone/>
            </a:pPr>
            <a:r>
              <a:rPr lang="en-US" sz="1100" i="1" dirty="0">
                <a:solidFill>
                  <a:srgbClr val="5A6472"/>
                </a:solidFill>
                <a:latin typeface="Calibri" pitchFamily="34" charset="0"/>
                <a:cs typeface="Amiri" pitchFamily="2" charset="-78"/>
              </a:rPr>
              <a:t>at-ta-ḍā-mu-nu ad-daw-liy-yu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يَنْتَهِكُ</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violates</a:t>
            </a:r>
            <a:endParaRPr lang="en-US" sz="1350" dirty="0"/>
          </a:p>
          <a:p>
            <a:pPr indent="0" marL="0">
              <a:buNone/>
            </a:pPr>
            <a:r>
              <a:rPr lang="en-US" sz="1100" i="1" dirty="0">
                <a:solidFill>
                  <a:srgbClr val="5A6472"/>
                </a:solidFill>
                <a:latin typeface="Calibri" pitchFamily="34" charset="0"/>
                <a:cs typeface="Amiri" pitchFamily="2" charset="-78"/>
              </a:rPr>
              <a:t>yan-ta-hi-ku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تَنْتَهِكُ</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يَتَحَمَّلُ المَسْؤُولِيَّةَ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bears responsibility</a:t>
            </a:r>
            <a:endParaRPr lang="en-US" sz="1350" dirty="0"/>
          </a:p>
          <a:p>
            <a:pPr indent="0" marL="0">
              <a:buNone/>
            </a:pPr>
            <a:r>
              <a:rPr lang="en-US" sz="1100" i="1" dirty="0">
                <a:solidFill>
                  <a:srgbClr val="5A6472"/>
                </a:solidFill>
                <a:latin typeface="Calibri" pitchFamily="34" charset="0"/>
                <a:cs typeface="Amiri" pitchFamily="2" charset="-78"/>
              </a:rPr>
              <a:t>ya-ta-ḥam-ma-lu al-mas-ʾū-liy-ya-ta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تَتَحَمَّلُ المَسْؤُولِيَّةَ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يَرْفُضُ الامْتِثَالَ لِـ</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to comply with</a:t>
            </a:r>
            <a:endParaRPr lang="en-US" sz="1350" dirty="0"/>
          </a:p>
          <a:p>
            <a:pPr indent="0" marL="0">
              <a:buNone/>
            </a:pPr>
            <a:r>
              <a:rPr lang="en-US" sz="1100" i="1" dirty="0">
                <a:solidFill>
                  <a:srgbClr val="5A6472"/>
                </a:solidFill>
                <a:latin typeface="Calibri" pitchFamily="34" charset="0"/>
                <a:cs typeface="Amiri" pitchFamily="2" charset="-78"/>
              </a:rPr>
              <a:t>yar-fu-ḍu alm-ti-thā-la 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يُلْزِمُ بِـ</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obliges to</a:t>
            </a:r>
            <a:endParaRPr lang="en-US" sz="1350" dirty="0"/>
          </a:p>
          <a:p>
            <a:pPr indent="0" marL="0">
              <a:buNone/>
            </a:pPr>
            <a:r>
              <a:rPr lang="en-US" sz="1100" i="1" dirty="0">
                <a:solidFill>
                  <a:srgbClr val="5A6472"/>
                </a:solidFill>
                <a:latin typeface="Calibri" pitchFamily="34" charset="0"/>
                <a:cs typeface="Amiri" pitchFamily="2" charset="-78"/>
              </a:rPr>
              <a:t>yul-zi-mu bi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تُلْزِمُ بِـ</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قَرَارُ مَجْلِسِ الأَمْنِ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Security Council resolution</a:t>
            </a:r>
            <a:endParaRPr lang="en-US" sz="1350" dirty="0"/>
          </a:p>
          <a:p>
            <a:pPr indent="0" marL="0">
              <a:buNone/>
            </a:pPr>
            <a:r>
              <a:rPr lang="en-US" sz="1100" i="1" dirty="0">
                <a:solidFill>
                  <a:srgbClr val="5A6472"/>
                </a:solidFill>
                <a:latin typeface="Calibri" pitchFamily="34" charset="0"/>
                <a:cs typeface="Amiri" pitchFamily="2" charset="-78"/>
              </a:rPr>
              <a:t>qa-rā-ru maj-li-si al-am-ni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قَرَارَاتُ مَجْلِسِ الأَمْنِ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تَعْوِيضَاتُ الحَرْبِ</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 reparations</a:t>
            </a:r>
            <a:endParaRPr lang="en-US" sz="1350" dirty="0"/>
          </a:p>
          <a:p>
            <a:pPr indent="0" marL="0">
              <a:buNone/>
            </a:pPr>
            <a:r>
              <a:rPr lang="en-US" sz="1100" i="1" dirty="0">
                <a:solidFill>
                  <a:srgbClr val="5A6472"/>
                </a:solidFill>
                <a:latin typeface="Calibri" pitchFamily="34" charset="0"/>
                <a:cs typeface="Amiri" pitchFamily="2" charset="-78"/>
              </a:rPr>
              <a:t>taʿ-wī-ḍā-tu al-ḥar-bi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مَبْدَأٌ</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principle</a:t>
            </a:r>
            <a:endParaRPr lang="en-US" sz="1350" dirty="0"/>
          </a:p>
          <a:p>
            <a:pPr indent="0" marL="0">
              <a:buNone/>
            </a:pPr>
            <a:r>
              <a:rPr lang="en-US" sz="1100" i="1" dirty="0">
                <a:solidFill>
                  <a:srgbClr val="5A6472"/>
                </a:solidFill>
                <a:latin typeface="Calibri" pitchFamily="34" charset="0"/>
                <a:cs typeface="Amiri" pitchFamily="2" charset="-78"/>
              </a:rPr>
              <a:t>mab-da-ʾun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مَبَادِئُ</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المُحَاسَبَةُ الدَّوْلِيَّةُ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accountability</a:t>
            </a:r>
            <a:endParaRPr lang="en-US" sz="1350" dirty="0"/>
          </a:p>
          <a:p>
            <a:pPr indent="0" marL="0">
              <a:buNone/>
            </a:pPr>
            <a:r>
              <a:rPr lang="en-US" sz="1100" i="1" dirty="0">
                <a:solidFill>
                  <a:srgbClr val="5A6472"/>
                </a:solidFill>
                <a:latin typeface="Calibri" pitchFamily="34" charset="0"/>
                <a:cs typeface="Amiri" pitchFamily="2" charset="-78"/>
              </a:rPr>
              <a:t>al-mu-ḥā-sa-ba-tu ad-daw-liy-ya-tu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FORMAL CONCLUSION CONNECTORS (WEBSITE RULE 1, TEACHING POINT 1, BUILDER TASK 3)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Close it like a UN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الخَاتِمَةُ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 (website texts)</a:t>
            </a:r>
            <a:endParaRPr lang="en-US" sz="1100" dirty="0"/>
          </a:p>
        </p:txBody>
      </p:sp>
      <p:sp>
        <p:nvSpPr>
          <p:cNvPr id="17" name="Text 14"/>
          <p:cNvSpPr txBox="1"/>
          <p:nvPr/>
        </p:nvSpPr>
        <p:spPr>
          <a:xfrm>
            <a:off x="35478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486400" y="2267712"/>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يُعَدُّ إِصْلَاحُ مَجْلِسِ الأَمْنِ ضَرُورَةً.</a:t>
            </a:r>
            <a:endParaRPr lang="ar-SA" sz="1700" dirty="0"/>
          </a:p>
        </p:txBody>
      </p:sp>
      <p:sp>
        <p:nvSpPr>
          <p:cNvPr id="21" name="Text 18"/>
          <p:cNvSpPr txBox="1"/>
          <p:nvPr/>
        </p:nvSpPr>
        <p:spPr>
          <a:xfrm>
            <a:off x="35844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based on the above</a:t>
            </a:r>
            <a:endParaRPr lang="en-US" sz="1100" dirty="0"/>
          </a:p>
        </p:txBody>
      </p:sp>
      <p:sp>
        <p:nvSpPr>
          <p:cNvPr id="22" name="Text 19"/>
          <p:cNvSpPr txBox="1"/>
          <p:nvPr/>
        </p:nvSpPr>
        <p:spPr>
          <a:xfrm>
            <a:off x="548640" y="2267712"/>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وَبِنَاءً عَلَى مَا سَبَقَ</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486400" y="300471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مِنَ الضَّرُورِيِّ أَنْ </a:t>
            </a:r>
            <a:pPr rtl="1" algn="ctr" indent="0" marL="0">
              <a:buNone/>
            </a:pPr>
            <a:r>
              <a:rPr lang="ar-SA" altLang="en-US" sz="1700" b="1" dirty="0">
                <a:solidFill>
                  <a:srgbClr val="D6336C"/>
                </a:solidFill>
                <a:latin typeface="Amiri" pitchFamily="2" charset="-78"/>
                <a:cs typeface="Amiri" pitchFamily="2" charset="-78"/>
              </a:rPr>
              <a:t>يُصْلَحَ</a:t>
            </a:r>
            <a:pPr rtl="1" algn="ctr" indent="0" marL="0">
              <a:buNone/>
            </a:pPr>
            <a:r>
              <a:rPr lang="ar-SA" altLang="en-US" sz="1700" b="1" dirty="0">
                <a:solidFill>
                  <a:srgbClr val="1B3B6F"/>
                </a:solidFill>
                <a:latin typeface="Amiri" pitchFamily="2" charset="-78"/>
                <a:cs typeface="Amiri" pitchFamily="2" charset="-78"/>
              </a:rPr>
              <a:t> النِّظَامُ الدَّوْلِيُّ.</a:t>
            </a:r>
            <a:endParaRPr lang="ar-SA" sz="1700" dirty="0"/>
          </a:p>
        </p:txBody>
      </p:sp>
      <p:sp>
        <p:nvSpPr>
          <p:cNvPr id="27" name="Text 24"/>
          <p:cNvSpPr txBox="1"/>
          <p:nvPr/>
        </p:nvSpPr>
        <p:spPr>
          <a:xfrm>
            <a:off x="35844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necessity -a</a:t>
            </a:r>
            <a:endParaRPr lang="en-US" sz="1100" dirty="0"/>
          </a:p>
        </p:txBody>
      </p:sp>
      <p:sp>
        <p:nvSpPr>
          <p:cNvPr id="28" name="Text 25"/>
          <p:cNvSpPr txBox="1"/>
          <p:nvPr/>
        </p:nvSpPr>
        <p:spPr>
          <a:xfrm>
            <a:off x="548640" y="300471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وَبِنَاءً عَلَى مَا سَبَقَ</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486400" y="3741725"/>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وَخُلَاصَةُ القَوْلِ</a:t>
            </a:r>
            <a:pPr rtl="1" algn="ctr" indent="0" marL="0">
              <a:buNone/>
            </a:pPr>
            <a:r>
              <a:rPr lang="ar-SA" altLang="en-US" sz="1700" b="1" dirty="0">
                <a:solidFill>
                  <a:srgbClr val="1B3B6F"/>
                </a:solidFill>
                <a:latin typeface="Amiri" pitchFamily="2" charset="-78"/>
                <a:cs typeface="Amiri" pitchFamily="2" charset="-78"/>
              </a:rPr>
              <a:t>، لَا عَدَالَةَ دُونَ مُحَاسَبَةٍ.</a:t>
            </a:r>
            <a:endParaRPr lang="ar-SA" sz="1700" dirty="0"/>
          </a:p>
        </p:txBody>
      </p:sp>
      <p:sp>
        <p:nvSpPr>
          <p:cNvPr id="33" name="Text 30"/>
          <p:cNvSpPr txBox="1"/>
          <p:nvPr/>
        </p:nvSpPr>
        <p:spPr>
          <a:xfrm>
            <a:off x="35844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summary</a:t>
            </a:r>
            <a:endParaRPr lang="en-US" sz="1100" dirty="0"/>
          </a:p>
        </p:txBody>
      </p:sp>
      <p:sp>
        <p:nvSpPr>
          <p:cNvPr id="34" name="Text 31"/>
          <p:cNvSpPr txBox="1"/>
          <p:nvPr/>
        </p:nvSpPr>
        <p:spPr>
          <a:xfrm>
            <a:off x="548640" y="3741725"/>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وَخُلَاصَةُ القَوْلِ</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486400" y="4478731"/>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وَمِنَ المُنْطَلَقِ ذَاتِهِ</a:t>
            </a:r>
            <a:pPr rtl="1" algn="ctr" indent="0" marL="0">
              <a:buNone/>
            </a:pPr>
            <a:r>
              <a:rPr lang="ar-SA" altLang="en-US" sz="1700" b="1" dirty="0">
                <a:solidFill>
                  <a:srgbClr val="1B3B6F"/>
                </a:solidFill>
                <a:latin typeface="Amiri" pitchFamily="2" charset="-78"/>
                <a:cs typeface="Amiri" pitchFamily="2" charset="-78"/>
              </a:rPr>
              <a:t>، تَجِبُ المُسَاوَاةُ فِي التَّطْبِيقِ.</a:t>
            </a:r>
            <a:endParaRPr lang="ar-SA" sz="1700" dirty="0"/>
          </a:p>
        </p:txBody>
      </p:sp>
      <p:sp>
        <p:nvSpPr>
          <p:cNvPr id="37" name="Text 34"/>
          <p:cNvSpPr txBox="1"/>
          <p:nvPr/>
        </p:nvSpPr>
        <p:spPr>
          <a:xfrm>
            <a:off x="35844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same point</a:t>
            </a:r>
            <a:endParaRPr lang="en-US" sz="1100" dirty="0"/>
          </a:p>
        </p:txBody>
      </p:sp>
      <p:sp>
        <p:nvSpPr>
          <p:cNvPr id="38" name="Text 35"/>
          <p:cNvSpPr txBox="1"/>
          <p:nvPr/>
        </p:nvSpPr>
        <p:spPr>
          <a:xfrm>
            <a:off x="548640" y="4478731"/>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وَمِنَ المُنْطَلَقِ ذَاتِهِ</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486400" y="521573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 وَأَيْضًا، مِنَ الضَّرُورِيِّ … → ✓ </a:t>
            </a:r>
            <a:pPr rtl="1" algn="ctr" indent="0" marL="0">
              <a:buNone/>
            </a:pPr>
            <a:r>
              <a:rPr lang="ar-SA" altLang="en-US" sz="1700" b="1" dirty="0">
                <a:solidFill>
                  <a:srgbClr val="1D5FBF"/>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a:t>
            </a:r>
            <a:endParaRPr lang="ar-SA" sz="1700" dirty="0"/>
          </a:p>
        </p:txBody>
      </p:sp>
      <p:sp>
        <p:nvSpPr>
          <p:cNvPr id="41" name="Text 38"/>
          <p:cNvSpPr txBox="1"/>
          <p:nvPr/>
        </p:nvSpPr>
        <p:spPr>
          <a:xfrm>
            <a:off x="35844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opener</a:t>
            </a:r>
            <a:endParaRPr lang="en-US" sz="1100" dirty="0"/>
          </a:p>
        </p:txBody>
      </p:sp>
      <p:sp>
        <p:nvSpPr>
          <p:cNvPr id="42" name="Text 39"/>
          <p:cNvSpPr txBox="1"/>
          <p:nvPr/>
        </p:nvSpPr>
        <p:spPr>
          <a:xfrm>
            <a:off x="548640" y="521573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 وَأَيْضًا · ثُمَّ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using a conclusion connector to add a NEW point. It closes the argument — it never opens a new one.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REFUSAL TRIGGER (WEBSITE RULE 2, TEACHING POINT 2, MISTAKE 1 AND MISSION)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Refuse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يَرْفُضُ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ACTIVE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تَسْتَمِرَّ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يَرْفُضُ النَّاشِطُونَ أَنْ تَسْتَمِرَّ ازْدِوَاجِيَّةُ المَعَايِيرِ.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Activists refuse to let double standards continue.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tastamirr-A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يَخْضَعُوا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يَرْفُضُ القَادَةُ أَنْ يَخْضَعُوا لِلْمُحَاسَبَةِ.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leaders refuse to be held to account.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the -na drops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 يُفْلِتَ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تَرْفُضُ الشُّعُوبُ أَنْ يُفْلِتَ المُجْرِمُونَ مِنَ العِقَابِ.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Peoples refuse to let criminals escape punishment.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yuflit-A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and the mission error spot: after an the verb ends in -a; with “they” the final -na drops.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أَنْ تَسْتَمِرَّ الازْدِوَاجِيَّةُ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cs typeface="Amiri" pitchFamily="2" charset="-78"/>
              </a:rPr>
              <a:t>أَنْ تَسْتَمِرُّ الازْدِوَاجِيَّةُ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 يَخْضَعُوا</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أَنْ يَخْضَعُونَ</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INTERNATIONAL-LAW PASSIVES (WEBSITE RULE 3, TABLE, MISTAKE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Centre the law: 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 فِي القَانُونِ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4505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يُنْتَهَكُ</a:t>
            </a:r>
            <a:pPr rtl="1" algn="ctr" indent="0" marL="0">
              <a:buNone/>
            </a:pPr>
            <a:r>
              <a:rPr lang="ar-SA" altLang="en-US" sz="1700" b="1" dirty="0">
                <a:solidFill>
                  <a:srgbClr val="1B3B6F"/>
                </a:solidFill>
                <a:latin typeface="Amiri" pitchFamily="2" charset="-78"/>
                <a:cs typeface="Amiri" pitchFamily="2" charset="-78"/>
              </a:rPr>
              <a:t> القَانُونُ الدَّوْلِيُّ فِي مَنَاطِقِ النِّزَاعِ</a:t>
            </a:r>
            <a:endParaRPr lang="ar-SA" sz="1700" dirty="0"/>
          </a:p>
        </p:txBody>
      </p:sp>
      <p:sp>
        <p:nvSpPr>
          <p:cNvPr id="22" name="Text 19"/>
          <p:cNvSpPr txBox="1"/>
          <p:nvPr/>
        </p:nvSpPr>
        <p:spPr>
          <a:xfrm>
            <a:off x="440740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violated</a:t>
            </a:r>
            <a:endParaRPr lang="en-US" sz="1100" dirty="0"/>
          </a:p>
        </p:txBody>
      </p:sp>
      <p:sp>
        <p:nvSpPr>
          <p:cNvPr id="23" name="Text 20"/>
          <p:cNvSpPr txBox="1"/>
          <p:nvPr/>
        </p:nvSpPr>
        <p:spPr>
          <a:xfrm>
            <a:off x="246888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يُنْتَهَكُ</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يَنْتَهِكُ</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تُلْزَمُ</a:t>
            </a:r>
            <a:pPr rtl="1" algn="ctr" indent="0" marL="0">
              <a:buNone/>
            </a:pPr>
            <a:r>
              <a:rPr lang="ar-SA" altLang="en-US" sz="1700" b="1" dirty="0">
                <a:solidFill>
                  <a:srgbClr val="1B3B6F"/>
                </a:solidFill>
                <a:latin typeface="Amiri" pitchFamily="2" charset="-78"/>
                <a:cs typeface="Amiri" pitchFamily="2" charset="-78"/>
              </a:rPr>
              <a:t> الدُّوَلُ </a:t>
            </a:r>
            <a:pPr rtl="1" algn="ctr" indent="0" marL="0">
              <a:buNone/>
            </a:pPr>
            <a:r>
              <a:rPr lang="ar-SA" altLang="en-US" sz="1700" b="1" dirty="0">
                <a:solidFill>
                  <a:srgbClr val="0E7C86"/>
                </a:solidFill>
                <a:latin typeface="Amiri" pitchFamily="2" charset="-78"/>
                <a:cs typeface="Amiri" pitchFamily="2" charset="-78"/>
              </a:rPr>
              <a:t>بِالامْتِثَالِ</a:t>
            </a:r>
            <a:pPr rtl="1" algn="ctr" indent="0" marL="0">
              <a:buNone/>
            </a:pPr>
            <a:r>
              <a:rPr lang="ar-SA" altLang="en-US" sz="1700" b="1" dirty="0">
                <a:solidFill>
                  <a:srgbClr val="1B3B6F"/>
                </a:solidFill>
                <a:latin typeface="Amiri" pitchFamily="2" charset="-78"/>
                <a:cs typeface="Amiri" pitchFamily="2" charset="-78"/>
              </a:rPr>
              <a:t> لِلْمُعَاهَدَاتِ</a:t>
            </a:r>
            <a:endParaRPr lang="ar-SA" sz="1700" dirty="0"/>
          </a:p>
        </p:txBody>
      </p:sp>
      <p:sp>
        <p:nvSpPr>
          <p:cNvPr id="29" name="Text 26"/>
          <p:cNvSpPr txBox="1"/>
          <p:nvPr/>
        </p:nvSpPr>
        <p:spPr>
          <a:xfrm>
            <a:off x="440740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obliged to</a:t>
            </a:r>
            <a:endParaRPr lang="en-US" sz="1100" dirty="0"/>
          </a:p>
        </p:txBody>
      </p:sp>
      <p:sp>
        <p:nvSpPr>
          <p:cNvPr id="30" name="Text 27"/>
          <p:cNvSpPr txBox="1"/>
          <p:nvPr/>
        </p:nvSpPr>
        <p:spPr>
          <a:xfrm>
            <a:off x="246888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يُلْزَمُ بِـ</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يُلْزِمُ بِـ</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يُحَاسَبُ</a:t>
            </a:r>
            <a:pPr rtl="1" algn="ctr" indent="0" marL="0">
              <a:buNone/>
            </a:pPr>
            <a:r>
              <a:rPr lang="ar-SA" altLang="en-US" sz="1700" b="1" dirty="0">
                <a:solidFill>
                  <a:srgbClr val="1B3B6F"/>
                </a:solidFill>
                <a:latin typeface="Amiri" pitchFamily="2" charset="-78"/>
                <a:cs typeface="Amiri" pitchFamily="2" charset="-78"/>
              </a:rPr>
              <a:t> المُنْتَهِكُونَ أَمَامَ القَضَاءِ الدَّوْلِيِّ</a:t>
            </a:r>
            <a:endParaRPr lang="ar-SA" sz="1700" dirty="0"/>
          </a:p>
        </p:txBody>
      </p:sp>
      <p:sp>
        <p:nvSpPr>
          <p:cNvPr id="36" name="Text 33"/>
          <p:cNvSpPr txBox="1"/>
          <p:nvPr/>
        </p:nvSpPr>
        <p:spPr>
          <a:xfrm>
            <a:off x="440740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held to account</a:t>
            </a:r>
            <a:endParaRPr lang="en-US" sz="1100" dirty="0"/>
          </a:p>
        </p:txBody>
      </p:sp>
      <p:sp>
        <p:nvSpPr>
          <p:cNvPr id="37" name="Text 34"/>
          <p:cNvSpPr txBox="1"/>
          <p:nvPr/>
        </p:nvSpPr>
        <p:spPr>
          <a:xfrm>
            <a:off x="246888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يُحَاسَبُ</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يُحَاسِبُ</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لَمْ </a:t>
            </a:r>
            <a:pPr rtl="1" algn="ctr" indent="0" marL="0">
              <a:buNone/>
            </a:pPr>
            <a:r>
              <a:rPr lang="ar-SA" altLang="en-US" sz="1700" b="1" dirty="0">
                <a:solidFill>
                  <a:srgbClr val="7B3FA0"/>
                </a:solidFill>
                <a:latin typeface="Amiri" pitchFamily="2" charset="-78"/>
                <a:cs typeface="Amiri" pitchFamily="2" charset="-78"/>
              </a:rPr>
              <a:t>يُطَبَّقْ</a:t>
            </a:r>
            <a:pPr rtl="1" algn="ctr" indent="0" marL="0">
              <a:buNone/>
            </a:pPr>
            <a:r>
              <a:rPr lang="ar-SA" altLang="en-US" sz="1700" b="1" dirty="0">
                <a:solidFill>
                  <a:srgbClr val="1B3B6F"/>
                </a:solidFill>
                <a:latin typeface="Amiri" pitchFamily="2" charset="-78"/>
                <a:cs typeface="Amiri" pitchFamily="2" charset="-78"/>
              </a:rPr>
              <a:t> مَبْدَأُ المَسْؤُولِيَّةِ عَنِ الحِمَايَةِ بِالتَّسَاوِي</a:t>
            </a:r>
            <a:endParaRPr lang="ar-SA" sz="1700" dirty="0"/>
          </a:p>
        </p:txBody>
      </p:sp>
      <p:sp>
        <p:nvSpPr>
          <p:cNvPr id="41" name="Text 38"/>
          <p:cNvSpPr txBox="1"/>
          <p:nvPr/>
        </p:nvSpPr>
        <p:spPr>
          <a:xfrm>
            <a:off x="440740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was applied</a:t>
            </a:r>
            <a:endParaRPr lang="en-US" sz="1100" dirty="0"/>
          </a:p>
        </p:txBody>
      </p:sp>
      <p:sp>
        <p:nvSpPr>
          <p:cNvPr id="42" name="Text 39"/>
          <p:cNvSpPr txBox="1"/>
          <p:nvPr/>
        </p:nvSpPr>
        <p:spPr>
          <a:xfrm>
            <a:off x="246888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طُبِّقَ</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طَبَّقَ</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يُشَارُ إِلَى</a:t>
            </a:r>
            <a:pPr rtl="1" algn="ctr" indent="0" marL="0">
              <a:buNone/>
            </a:pPr>
            <a:r>
              <a:rPr lang="ar-SA" altLang="en-US" sz="1700" b="1" dirty="0">
                <a:solidFill>
                  <a:srgbClr val="1B3B6F"/>
                </a:solidFill>
                <a:latin typeface="Amiri" pitchFamily="2" charset="-78"/>
                <a:cs typeface="Amiri" pitchFamily="2" charset="-78"/>
              </a:rPr>
              <a:t> أَنَّ المَبْدَأَ لَمْ يُطَبَّقْ بِالتَّسَاوِي</a:t>
            </a:r>
            <a:endParaRPr lang="ar-SA" sz="1700" dirty="0"/>
          </a:p>
        </p:txBody>
      </p:sp>
      <p:sp>
        <p:nvSpPr>
          <p:cNvPr id="46" name="Text 43"/>
          <p:cNvSpPr txBox="1"/>
          <p:nvPr/>
        </p:nvSpPr>
        <p:spPr>
          <a:xfrm>
            <a:off x="440740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noted</a:t>
            </a:r>
            <a:endParaRPr lang="en-US" sz="1100" dirty="0"/>
          </a:p>
        </p:txBody>
      </p:sp>
      <p:sp>
        <p:nvSpPr>
          <p:cNvPr id="47" name="Text 44"/>
          <p:cNvSpPr txBox="1"/>
          <p:nvPr/>
        </p:nvSpPr>
        <p:spPr>
          <a:xfrm>
            <a:off x="246888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cs typeface="Amiri" pitchFamily="2" charset="-78"/>
              </a:rPr>
              <a:t>يُشَارُ إِلَى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يُشِيرُ إِلَى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tulzamu … ʿalā ✗ → tulzamu bi- ✓ — yulzamu is fixed with bi-.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FULL ANALYSIS TOOLKIT (WEBSITE RULE 4,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report to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yuʾakkidu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يُؤَكِّدُ</a:t>
            </a:r>
            <a:pPr rtl="1" algn="ctr" indent="0" marL="0">
              <a:buNone/>
            </a:pPr>
            <a:r>
              <a:rPr lang="ar-SA" altLang="en-US" sz="1700" b="1" dirty="0">
                <a:solidFill>
                  <a:srgbClr val="1B3B6F"/>
                </a:solidFill>
                <a:latin typeface="Amiri" pitchFamily="2" charset="-78"/>
                <a:cs typeface="Amiri" pitchFamily="2" charset="-78"/>
              </a:rPr>
              <a:t> الخُبَرَاءُ </a:t>
            </a:r>
            <a:pPr rtl="1" algn="ctr" indent="0" marL="0">
              <a:buNone/>
            </a:pPr>
            <a:r>
              <a:rPr lang="ar-SA" altLang="en-US" sz="1700" b="1" dirty="0">
                <a:solidFill>
                  <a:srgbClr val="C77700"/>
                </a:solidFill>
                <a:latin typeface="Amiri" pitchFamily="2" charset="-78"/>
                <a:cs typeface="Amiri" pitchFamily="2" charset="-78"/>
              </a:rPr>
              <a:t>أَنَّ</a:t>
            </a:r>
            <a:pPr rtl="1" algn="ctr" indent="0" marL="0">
              <a:buNone/>
            </a:pPr>
            <a:r>
              <a:rPr lang="ar-SA" altLang="en-US" sz="1700" b="1" dirty="0">
                <a:solidFill>
                  <a:srgbClr val="1B3B6F"/>
                </a:solidFill>
                <a:latin typeface="Amiri" pitchFamily="2" charset="-78"/>
                <a:cs typeface="Amiri" pitchFamily="2" charset="-78"/>
              </a:rPr>
              <a:t> القَانُونَ الدَّوْلِيَّ الإِنْسَانِيَّ يُنْتَهَكُ</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qad</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كَانَتِ</a:t>
            </a:r>
            <a:pPr rtl="1" algn="ctr" indent="0" marL="0">
              <a:buNone/>
            </a:pPr>
            <a:r>
              <a:rPr lang="ar-SA" altLang="en-US" sz="1700" b="1" dirty="0">
                <a:solidFill>
                  <a:srgbClr val="1B3B6F"/>
                </a:solidFill>
                <a:latin typeface="Amiri" pitchFamily="2" charset="-78"/>
                <a:cs typeface="Amiri" pitchFamily="2" charset="-78"/>
              </a:rPr>
              <a:t> الأُمَمُ المُتَّحِدَةُ </a:t>
            </a:r>
            <a:pPr rtl="1" algn="ctr" indent="0" marL="0">
              <a:buNone/>
            </a:pPr>
            <a:r>
              <a:rPr lang="ar-SA" altLang="en-US" sz="1700" b="1" dirty="0">
                <a:solidFill>
                  <a:srgbClr val="1D5FBF"/>
                </a:solidFill>
                <a:latin typeface="Amiri" pitchFamily="2" charset="-78"/>
                <a:cs typeface="Amiri" pitchFamily="2" charset="-78"/>
              </a:rPr>
              <a:t>قَدْ</a:t>
            </a:r>
            <a:pPr rtl="1" algn="ctr" indent="0" marL="0">
              <a:buNone/>
            </a:pPr>
            <a:r>
              <a:rPr lang="ar-SA" altLang="en-US" sz="1700" b="1" dirty="0">
                <a:solidFill>
                  <a:srgbClr val="1B3B6F"/>
                </a:solidFill>
                <a:latin typeface="Amiri" pitchFamily="2" charset="-78"/>
                <a:cs typeface="Amiri" pitchFamily="2" charset="-78"/>
              </a:rPr>
              <a:t> أَقَرَّتْ هٰذِهِ المَبَادِئَ لِكَيْ يُحْمَى المَدَنِيُّونَ</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cs typeface="Amiri" pitchFamily="2" charset="-78"/>
              </a:rPr>
              <a:t>إِذَا</a:t>
            </a:r>
            <a:pPr rtl="1" algn="ctr" indent="0" marL="0">
              <a:buNone/>
            </a:pPr>
            <a:r>
              <a:rPr lang="ar-SA" altLang="en-US" sz="1700" b="1" dirty="0">
                <a:solidFill>
                  <a:srgbClr val="1B3B6F"/>
                </a:solidFill>
                <a:latin typeface="Amiri" pitchFamily="2" charset="-78"/>
                <a:cs typeface="Amiri" pitchFamily="2" charset="-78"/>
              </a:rPr>
              <a:t> الْتَزَمَتِ الدُّوَلُ بِالمِيثَاقِ بِالتَّسَاوِي، </a:t>
            </a:r>
            <a:pPr rtl="1" algn="ctr" indent="0" marL="0">
              <a:buNone/>
            </a:pPr>
            <a:r>
              <a:rPr lang="ar-SA" altLang="en-US" sz="1700" b="1" dirty="0">
                <a:solidFill>
                  <a:srgbClr val="0E7C86"/>
                </a:solidFill>
                <a:latin typeface="Amiri" pitchFamily="2" charset="-78"/>
                <a:cs typeface="Amiri" pitchFamily="2" charset="-78"/>
              </a:rPr>
              <a:t>سَيُحْدِثُ</a:t>
            </a:r>
            <a:pPr rtl="1" algn="ctr" indent="0" marL="0">
              <a:buNone/>
            </a:pPr>
            <a:r>
              <a:rPr lang="ar-SA" altLang="en-US" sz="1700" b="1" dirty="0">
                <a:solidFill>
                  <a:srgbClr val="1B3B6F"/>
                </a:solidFill>
                <a:latin typeface="Amiri" pitchFamily="2" charset="-78"/>
                <a:cs typeface="Amiri" pitchFamily="2" charset="-78"/>
              </a:rPr>
              <a:t> ذٰلِكَ تَحَوُّلًا جَذْرِيًّا</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5" name="Text 32"/>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لَوْ</a:t>
            </a:r>
            <a:pPr rtl="1" algn="ctr" indent="0" marL="0">
              <a:buNone/>
            </a:pPr>
            <a:r>
              <a:rPr lang="ar-SA" altLang="en-US" sz="1700" b="1" dirty="0">
                <a:solidFill>
                  <a:srgbClr val="1B3B6F"/>
                </a:solidFill>
                <a:latin typeface="Amiri" pitchFamily="2" charset="-78"/>
                <a:cs typeface="Amiri" pitchFamily="2" charset="-78"/>
              </a:rPr>
              <a:t> طُبِّقَ القَانُونُ بِالتَّسَاوِي، </a:t>
            </a:r>
            <a:pPr rtl="1" algn="ctr" indent="0" marL="0">
              <a:buNone/>
            </a:pPr>
            <a:r>
              <a:rPr lang="ar-SA" altLang="en-US" sz="1700" b="1" dirty="0">
                <a:solidFill>
                  <a:srgbClr val="7B3FA0"/>
                </a:solidFill>
                <a:latin typeface="Amiri" pitchFamily="2" charset="-78"/>
                <a:cs typeface="Amiri" pitchFamily="2" charset="-78"/>
              </a:rPr>
              <a:t>لَكَانَ</a:t>
            </a:r>
            <a:pPr rtl="1" algn="ctr" indent="0" marL="0">
              <a:buNone/>
            </a:pPr>
            <a:r>
              <a:rPr lang="ar-SA" altLang="en-US" sz="1700" b="1" dirty="0">
                <a:solidFill>
                  <a:srgbClr val="1B3B6F"/>
                </a:solidFill>
                <a:latin typeface="Amiri" pitchFamily="2" charset="-78"/>
                <a:cs typeface="Amiri" pitchFamily="2" charset="-78"/>
              </a:rPr>
              <a:t> العَالَمُ أَعْدَلَ</a:t>
            </a:r>
            <a:endParaRPr lang="ar-SA" sz="1700" dirty="0"/>
          </a:p>
        </p:txBody>
      </p:sp>
      <p:sp>
        <p:nvSpPr>
          <p:cNvPr id="36" name="Text 33"/>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synthesis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cs typeface="Amiri" pitchFamily="2" charset="-78"/>
              </a:rPr>
              <a:t>، مِنَ الضَّرُورِيِّ أَنْ يُصْلَحَ النِّظَامُ الدَّوْلِيُّ</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sa-yakūnu ✗ → law … la-kāna ✓ — a Type 2 result takes la-, not sa-.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Formal conclusions, refusal and international-law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cs typeface="Amiri" pitchFamily="2" charset="-78"/>
              </a:rPr>
              <a:t>الخَوَاتِمُ الرَّسْمِيَّةُ وَالرَّفْضُ وَالمَبْنِيُّ لِلْمَجْهُولِ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Conclusion connectors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wa-khulāṣatu l-qawl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وَبِنَاءً عَلَى مَا سَبَقَ، يُعَدُّ إِصْلَاحُ النِّظَامِ الدَّوْلِيِّ ضَرُورَةً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Refusal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yarfuḍu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يَرْفُضُ النَّاشِطُونَ أَنْ تَسْتَمِرَّ ازْدِوَاجِيَّةُ المَعَايِيرِ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International-law passives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yuntahaku · yulzamu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يُنْتَهَكُ القَانُونُ الدَّوْلِيُّ فِي مَنَاطِقِ النِّزَاعِ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Counterfactual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طُبِّقَ القَانُونُ الدَّوْلِيُّ بِالتَّسَاوِي، لَكَانَ العَالَمُ أَكْثَرَ عَدْلًا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وَخُلَاصَةُ القَوْلِ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أُخْرَى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يَرْفُضُ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subjunctive verb</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indicative verb</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وَبِنَاءً عَلَى مَا سَبَقَ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synthesising conclusion.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وَخُلَاصَةُ القَوْلِ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عِلَاوَةً عَلَى ذٰلِكَ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يَرْفُضُ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subjunctive verb</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indicative verb</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verb</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takes a subjunctive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write a global-justice analysis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يُؤَكِّدُ</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cs typeface="Amiri" pitchFamily="2" charset="-78"/>
              </a:rPr>
              <a:t>يُنْتَهَكُ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كَانَتْ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cs typeface="Amiri" pitchFamily="2" charset="-78"/>
              </a:rPr>
              <a:t>قَدْ</a:t>
            </a:r>
            <a:pPr rtl="1" algn="ctr" indent="0" marL="0">
              <a:buNone/>
            </a:pPr>
            <a:r>
              <a:rPr lang="ar-SA" altLang="en-US" sz="2800" b="1" dirty="0">
                <a:solidFill>
                  <a:srgbClr val="1B3B6F"/>
                </a:solidFill>
                <a:latin typeface="Amiri" pitchFamily="2" charset="-78"/>
                <a:cs typeface="Amiri" pitchFamily="2" charset="-78"/>
              </a:rPr>
              <a:t> أَقَرَّتْ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يَرْفُضُ … أَنْ </a:t>
            </a:r>
            <a:pPr rtl="1" algn="ctr" indent="0" marL="0">
              <a:buNone/>
            </a:pPr>
            <a:r>
              <a:rPr lang="ar-SA" altLang="en-US" sz="2800" b="1" dirty="0">
                <a:solidFill>
                  <a:srgbClr val="0E7C86"/>
                </a:solidFill>
                <a:latin typeface="Amiri" pitchFamily="2" charset="-78"/>
                <a:cs typeface="Amiri" pitchFamily="2" charset="-78"/>
              </a:rPr>
              <a:t>تَسْتَمِرَّ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cs typeface="Amiri" pitchFamily="2" charset="-78"/>
              </a:rPr>
              <a:t>لَوْ</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7B3FA0"/>
                </a:solidFill>
                <a:latin typeface="Amiri" pitchFamily="2" charset="-78"/>
                <a:cs typeface="Amiri" pitchFamily="2" charset="-78"/>
              </a:rPr>
              <a:t>لَكَانَتْ</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D6336C"/>
                </a:solidFill>
                <a:latin typeface="Amiri" pitchFamily="2" charset="-78"/>
                <a:cs typeface="Amiri" pitchFamily="2" charset="-78"/>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Synthesise.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LAW / CLOSE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REFUSAL</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يُؤَكِّدُ</a:t>
            </a:r>
            <a:pPr rtl="1" algn="r" indent="0" marL="0">
              <a:lnSpc>
                <a:spcPct val="120000"/>
              </a:lnSpc>
              <a:buNone/>
            </a:pPr>
            <a:r>
              <a:rPr lang="ar-SA" altLang="en-US" sz="1400" b="1" dirty="0">
                <a:solidFill>
                  <a:srgbClr val="1B3B6F"/>
                </a:solidFill>
                <a:latin typeface="Amiri" pitchFamily="2" charset="-78"/>
                <a:cs typeface="Amiri" pitchFamily="2" charset="-78"/>
              </a:rPr>
              <a:t> الخُبَرَاءُ </a:t>
            </a:r>
            <a:pPr rtl="1" algn="r" indent="0" marL="0">
              <a:lnSpc>
                <a:spcPct val="120000"/>
              </a:lnSpc>
              <a:buNone/>
            </a:pPr>
            <a:r>
              <a:rPr lang="ar-SA" altLang="en-US" sz="1400" b="1" dirty="0">
                <a:solidFill>
                  <a:srgbClr val="C77700"/>
                </a:solidFill>
                <a:latin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cs typeface="Amiri" pitchFamily="2" charset="-78"/>
              </a:rPr>
              <a:t> القَانُونَ الدَّوْلِيَّ الإِنْسَانِيَّ </a:t>
            </a:r>
            <a:pPr rtl="1" algn="r" indent="0" marL="0">
              <a:lnSpc>
                <a:spcPct val="120000"/>
              </a:lnSpc>
              <a:buNone/>
            </a:pPr>
            <a:r>
              <a:rPr lang="ar-SA" altLang="en-US" sz="1400" b="1" dirty="0">
                <a:solidFill>
                  <a:srgbClr val="D6336C"/>
                </a:solidFill>
                <a:latin typeface="Amiri" pitchFamily="2" charset="-78"/>
                <a:cs typeface="Amiri" pitchFamily="2" charset="-78"/>
              </a:rPr>
              <a:t>يُنْتَهَكُ</a:t>
            </a:r>
            <a:pPr rtl="1" algn="r" indent="0" marL="0">
              <a:lnSpc>
                <a:spcPct val="120000"/>
              </a:lnSpc>
              <a:buNone/>
            </a:pPr>
            <a:r>
              <a:rPr lang="ar-SA" altLang="en-US" sz="1400" b="1" dirty="0">
                <a:solidFill>
                  <a:srgbClr val="1B3B6F"/>
                </a:solidFill>
                <a:latin typeface="Amiri" pitchFamily="2" charset="-78"/>
                <a:cs typeface="Amiri" pitchFamily="2" charset="-78"/>
              </a:rPr>
              <a:t> فِي مَنَاطِقِ النِّزَاعِ. </a:t>
            </a:r>
            <a:pPr rtl="1" algn="r" indent="0" marL="0">
              <a:lnSpc>
                <a:spcPct val="120000"/>
              </a:lnSpc>
              <a:buNone/>
            </a:pPr>
            <a:r>
              <a:rPr lang="ar-SA" altLang="en-US" sz="1400" b="1" dirty="0">
                <a:solidFill>
                  <a:srgbClr val="1D5FBF"/>
                </a:solidFill>
                <a:latin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cs typeface="Amiri" pitchFamily="2" charset="-78"/>
              </a:rPr>
              <a:t> الأُمَمُ المُتَّحِدَةُ </a:t>
            </a:r>
            <a:pPr rtl="1" algn="r" indent="0" marL="0">
              <a:lnSpc>
                <a:spcPct val="120000"/>
              </a:lnSpc>
              <a:buNone/>
            </a:pPr>
            <a:r>
              <a:rPr lang="ar-SA" altLang="en-US" sz="1400" b="1" dirty="0">
                <a:solidFill>
                  <a:srgbClr val="1D5FBF"/>
                </a:solidFill>
                <a:latin typeface="Amiri" pitchFamily="2" charset="-78"/>
                <a:cs typeface="Amiri" pitchFamily="2" charset="-78"/>
              </a:rPr>
              <a:t>قَدْ</a:t>
            </a:r>
            <a:pPr rtl="1" algn="r" indent="0" marL="0">
              <a:lnSpc>
                <a:spcPct val="120000"/>
              </a:lnSpc>
              <a:buNone/>
            </a:pPr>
            <a:r>
              <a:rPr lang="ar-SA" altLang="en-US" sz="1400" b="1" dirty="0">
                <a:solidFill>
                  <a:srgbClr val="1B3B6F"/>
                </a:solidFill>
                <a:latin typeface="Amiri" pitchFamily="2" charset="-78"/>
                <a:cs typeface="Amiri" pitchFamily="2" charset="-78"/>
              </a:rPr>
              <a:t> أَقَرَّتْ هٰذِهِ المَبَادِئَ لِكَيْ يُحْمَى المَدَنِيُّونَ، غَيْرَ أَنَّ التَّطْبِيقَ يَظَلُّ رَهِينًا بِالمَصَالِحِ. </a:t>
            </a:r>
            <a:pPr rtl="1" algn="r" indent="0" marL="0">
              <a:lnSpc>
                <a:spcPct val="120000"/>
              </a:lnSpc>
              <a:buNone/>
            </a:pPr>
            <a:r>
              <a:rPr lang="ar-SA" altLang="en-US" sz="1400" b="1" dirty="0">
                <a:solidFill>
                  <a:srgbClr val="0E7C86"/>
                </a:solidFill>
                <a:latin typeface="Amiri" pitchFamily="2" charset="-78"/>
                <a:cs typeface="Amiri" pitchFamily="2" charset="-78"/>
              </a:rPr>
              <a:t>وَيَرْفُضُ</a:t>
            </a:r>
            <a:pPr rtl="1" algn="r" indent="0" marL="0">
              <a:lnSpc>
                <a:spcPct val="120000"/>
              </a:lnSpc>
              <a:buNone/>
            </a:pPr>
            <a:r>
              <a:rPr lang="ar-SA" altLang="en-US" sz="1400" b="1" dirty="0">
                <a:solidFill>
                  <a:srgbClr val="1B3B6F"/>
                </a:solidFill>
                <a:latin typeface="Amiri" pitchFamily="2" charset="-78"/>
                <a:cs typeface="Amiri" pitchFamily="2" charset="-78"/>
              </a:rPr>
              <a:t> النَّاشِطُونَ </a:t>
            </a:r>
            <a:pPr rtl="1" algn="r" indent="0" marL="0">
              <a:lnSpc>
                <a:spcPct val="120000"/>
              </a:lnSpc>
              <a:buNone/>
            </a:pPr>
            <a:r>
              <a:rPr lang="ar-SA" altLang="en-US" sz="1400" b="1" dirty="0">
                <a:solidFill>
                  <a:srgbClr val="0E7C86"/>
                </a:solidFill>
                <a:latin typeface="Amiri" pitchFamily="2" charset="-78"/>
                <a:cs typeface="Amiri" pitchFamily="2" charset="-78"/>
              </a:rPr>
              <a:t>أَنْ تَسْتَمِرَّ</a:t>
            </a:r>
            <a:pPr rtl="1" algn="r" indent="0" marL="0">
              <a:lnSpc>
                <a:spcPct val="120000"/>
              </a:lnSpc>
              <a:buNone/>
            </a:pPr>
            <a:r>
              <a:rPr lang="ar-SA" altLang="en-US" sz="1400" b="1" dirty="0">
                <a:solidFill>
                  <a:srgbClr val="1B3B6F"/>
                </a:solidFill>
                <a:latin typeface="Amiri" pitchFamily="2" charset="-78"/>
                <a:cs typeface="Amiri" pitchFamily="2" charset="-78"/>
              </a:rPr>
              <a:t> ازْدِوَاجِيَّةُ المَعَايِيرِ. </a:t>
            </a:r>
            <a:pPr rtl="1" algn="r" indent="0" marL="0">
              <a:lnSpc>
                <a:spcPct val="120000"/>
              </a:lnSpc>
              <a:buNone/>
            </a:pPr>
            <a:r>
              <a:rPr lang="ar-SA" altLang="en-US" sz="1400" b="1" dirty="0">
                <a:solidFill>
                  <a:srgbClr val="7B3FA0"/>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طُبِّقَ القَانُونُ بِالتَّسَاوِي، </a:t>
            </a:r>
            <a:pPr rtl="1" algn="r" indent="0" marL="0">
              <a:lnSpc>
                <a:spcPct val="120000"/>
              </a:lnSpc>
              <a:buNone/>
            </a:pPr>
            <a:r>
              <a:rPr lang="ar-SA" altLang="en-US" sz="1400" b="1" dirty="0">
                <a:solidFill>
                  <a:srgbClr val="7B3FA0"/>
                </a:solidFill>
                <a:latin typeface="Amiri" pitchFamily="2" charset="-78"/>
                <a:cs typeface="Amiri" pitchFamily="2" charset="-78"/>
              </a:rPr>
              <a:t>لَكَانَ</a:t>
            </a:r>
            <a:pPr rtl="1" algn="r" indent="0" marL="0">
              <a:lnSpc>
                <a:spcPct val="120000"/>
              </a:lnSpc>
              <a:buNone/>
            </a:pPr>
            <a:r>
              <a:rPr lang="ar-SA" altLang="en-US" sz="1400" b="1" dirty="0">
                <a:solidFill>
                  <a:srgbClr val="1B3B6F"/>
                </a:solidFill>
                <a:latin typeface="Amiri" pitchFamily="2" charset="-78"/>
                <a:cs typeface="Amiri" pitchFamily="2" charset="-78"/>
              </a:rPr>
              <a:t> العَالَمُ أَكْثَرَ عَدْلًا. </a:t>
            </a:r>
            <a:pPr rtl="1" algn="r" indent="0" marL="0">
              <a:lnSpc>
                <a:spcPct val="120000"/>
              </a:lnSpc>
              <a:buNone/>
            </a:pPr>
            <a:r>
              <a:rPr lang="ar-SA" altLang="en-US" sz="1400" b="1" dirty="0">
                <a:solidFill>
                  <a:srgbClr val="D6336C"/>
                </a:solidFill>
                <a:latin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cs typeface="Amiri" pitchFamily="2" charset="-78"/>
              </a:rPr>
              <a:t>، مِنَ الضَّرُورِيِّ أَنْ يُصْلَحَ النِّظَامُ الدَّوْلِيُّ.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Experts confirm that international humanitarian law is violated in conflict zones. The United Nations had adopted these principles so that civilians would be protected; however, application remains hostage to interests. Activists refuse to let double standards continue. Had the law been applied equally, the world would be more just. Based on the above, it is essential that the international system be reformed.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يُنْتَهَكُ القَانُونُ الدَّوْلِيُّ الإِنْسَانِيُّ بِشَكْلٍ مَنْهَجِيٍّ فِي مَنَاطِقِ النِّزَاعِ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international humanitarian law is systematically violated in conflict zones</a:t>
            </a:r>
            <a:endParaRPr lang="en-US" sz="1250" dirty="0"/>
          </a:p>
          <a:p>
            <a:pPr indent="0" marL="0">
              <a:buNone/>
            </a:pPr>
            <a:r>
              <a:rPr lang="en-US" sz="1050" i="1" dirty="0">
                <a:solidFill>
                  <a:srgbClr val="8A6D1E"/>
                </a:solidFill>
                <a:latin typeface="Calibri" pitchFamily="34" charset="0"/>
                <a:cs typeface="Amiri" pitchFamily="2" charset="-78"/>
              </a:rPr>
              <a:t>Passive: yuntahaku.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يَرْفُضُ كَثِيرٌ مِنَ النَّاشِطِينَ أَنْ تَسْتَمِرَّ ازْدِوَاجِيَّةُ المَعَايِيرِ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many activists refuse to let double standards continue</a:t>
            </a:r>
            <a:endParaRPr lang="en-US" sz="1250" dirty="0"/>
          </a:p>
          <a:p>
            <a:pPr indent="0" marL="0">
              <a:buNone/>
            </a:pPr>
            <a:r>
              <a:rPr lang="en-US" sz="1050" i="1" dirty="0">
                <a:solidFill>
                  <a:srgbClr val="8A6D1E"/>
                </a:solidFill>
                <a:latin typeface="Calibri" pitchFamily="34" charset="0"/>
                <a:cs typeface="Amiri" pitchFamily="2" charset="-78"/>
              </a:rPr>
              <a:t>Refusal: yarfuḍu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وَبِنَاءً عَلَى مَا سَبَقَ، يُعَدُّ إِصْلَاحُ مَجْلِسِ الأَمْنِ خُطْوَةً لَا غِنَى عَنْهَا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reforming the Security Council is an indispensable step</a:t>
            </a:r>
            <a:endParaRPr lang="en-US" sz="1250" dirty="0"/>
          </a:p>
          <a:p>
            <a:pPr indent="0" marL="0">
              <a:buNone/>
            </a:pPr>
            <a:r>
              <a:rPr lang="en-US" sz="1050" i="1" dirty="0">
                <a:solidFill>
                  <a:srgbClr val="8A6D1E"/>
                </a:solidFill>
                <a:latin typeface="Calibri" pitchFamily="34" charset="0"/>
                <a:cs typeface="Amiri" pitchFamily="2" charset="-78"/>
              </a:rPr>
              <a:t>Conclusion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GLOBAL JUSTICE — INTERNATIONAL RESPONSIBILITY AND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Shared responsibility: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لِلدُّوَلِ مَسْؤُولِيَّةٌ فِي حِمَايَةِ البِيئَةِ.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تَتَعَاوَنَ الدُّوَلُ لِحَلِّ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المُسَاعَدَاتُ الإِنْسَانِيَّةُ ضَرُورِيَّةٌ فِي الأَزَمَاتِ.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يَجِبُ أَنْ تَتَعَاوَنَ الدُّوَلُ لِحَلِّ المُشْكِلَاتِ.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should cooperate to solve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المُسَاعَدَاتُ الإِنْسَانِيَّةُ ضَرُورِيَّةٌ فِي الأَزَمَاتِ.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Humanitarian aid is essential in crises.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لِلدُّوَلِ مَسْؤُولِيَّةٌ فِي حِمَايَةِ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share a responsibility to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JUSTICE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Law passive + refusal + conclusion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سَطْرًا عَنِ 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Law passive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Refusal (yarfuḍu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Formal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يُنْتَهَكُ القَانُونُ الدَّوْلِيُّ الإِنْسَانِيُّ فِي مَنَاطِقِ النِّزَاعِ</a:t>
            </a:r>
            <a:endParaRPr lang="ar-SA" sz="155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وَيَرْفُضُ النَّاشِطُونَ أَنْ تَسْتَمِرَّ ازْدِوَاجِيَّةُ المَعَايِيرِ</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وَبِنَاءً عَلَى مَا سَبَقَ، مِنَ الضَّرُورِيِّ أَنْ يُصْلَحَ النِّظَامُ الدَّوْلِيُّ</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تُلْزَمُ الدُّوَلُ المُوَقِّعَةُ بِالامْتِثَالِ لِلْمُعَاهَدَاتِ</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وَتَرْفُضُ الشُّعُوبُ أَنْ يُفْلِتَ المُجْرِمُونَ مِنَ العِقَابِ</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وَخُلَاصَةُ القَوْلِ، لَا عَدَالَةَ عَالَمِيَّةً دُونَ مُحَاسَبَةٍ مُتَسَاوِيَةٍ</a:t>
            </a:r>
            <a:endParaRPr lang="ar-SA" sz="14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يُحَاسَبُ المُنْتَهِكُونَ نَظَرِيًّا فَقَطْ أَمَامَ القَضَاءِ</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وَيَرْفُضُ الحُقُوقِيُّونَ أَنْ يَبْقَى النِّظَامُ عَلَى حَالِهِ</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وَبِنَاءً عَلَى مَا سَبَقَ، يُعَدُّ إِصْلَاحُ مَجْلِسِ الأَمْنِ ضَرُورَةً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the passive, circle the verb in -a and box the connector.</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Conclusion, refusal — or law passive?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وَبِنَاءً عَلَى مَا سَبَقَ، يُعَدُّ الإِصْلَاحُ ضَرُورَةً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وَخُلَاصَةُ القَوْلِ، لَا عَدَالَةَ دُونَ مُحَاسَبَةٍ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cs typeface="Amiri" pitchFamily="2" charset="-78"/>
              </a:rPr>
              <a:t>وَمِنَ المُنْطَلَقِ ذَاتِهِ، تَجِبُ المُسَاوَاةُ فِي التَّطْبِيقِ</a:t>
            </a:r>
            <a:endParaRPr lang="ar-SA" sz="12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يَرْفُضُ النَّاشِطُونَ أَنْ تَسْتَمِرَّ الازْدِوَاجِيَّةُ</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يَرْفُضُ القَادَةُ أَنْ يَخْضَعُوا لِلْمُحَاسَبَةِ</a:t>
            </a:r>
            <a:endParaRPr lang="ar-SA" sz="16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تَرْفُضُ الشُّعُوبُ أَنْ يُفْلِتَ المُجْرِمُونَ مِنَ العِقَابِ</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يُنْتَهَكُ القَانُونُ الدَّوْلِيُّ فِي مَنَاطِقِ النِّزَاعِ</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تُلْزَمُ الدُّوَلُ بِالامْتِثَالِ لِلْمُعَاهَدَاتِ</a:t>
            </a:r>
            <a:endParaRPr lang="ar-SA" sz="16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يُحَاسَبُ المُنْتَهِكُونَ أَمَامَ القَضَاءِ الدَّوْلِيِّ</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وَبِنَاءً عَلَى مَا سَبَقَ، يُعَدُّ الإِصْلَاحُ ضَرُورَةً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وَخُلَاصَةُ القَوْلِ، لَا عَدَالَةَ دُونَ مُحَاسَبَةٍ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وَمِنَ المُنْطَلَقِ ذَاتِهِ، تَجِبُ المُسَاوَاةُ فِي التَّطْبِيقِ</a:t>
            </a:r>
            <a:endParaRPr lang="ar-SA" sz="15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يَرْفُضُ النَّاشِطُونَ أَنْ تَسْتَمِرَّ الازْدِوَاجِيَّةُ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يَرْفُضُ القَادَةُ أَنْ يَخْضَعُوا لِلْمُحَاسَبَةِ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تَرْفُضُ الشُّعُوبُ أَنْ يُفْلِتَ المُجْرِمُونَ مِنَ العِقَابِ</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يُنْتَهَكُ القَانُونُ الدَّوْلِيُّ فِي مَنَاطِقِ النِّزَاعِ</a:t>
            </a:r>
            <a:endParaRPr lang="ar-SA" sz="17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تُلْزَمُ الدُّوَلُ بِالامْتِثَالِ لِلْمُعَاهَدَاتِ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يُحَاسَبُ المُنْتَهِكُونَ أَمَامَ القَضَاءِ الدَّوْلِيِّ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تُلْزَمُ الدُّوَلُ ___ الامْتِثَالِ لِلْمُعَاهَدَاتِ.</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يَرْفُضُ النَّاشِطُونَ أَنْ ___ الازْدِوَاجِيَّةُ.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طُبِّقَ القَانُونُ بِالتَّسَاوِي، ___ العَالَمُ أَعْدَلَ.</a:t>
            </a:r>
            <a:endParaRPr lang="ar-SA" sz="12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انْتَهَكَ</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يُنْتَهَكُ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تُلْزَمُ الدُّوَلُ ___ الامْتِثَالِ لِلْمُعَاهَدَاتِ.</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يَرْفُضُ النَّاشِطُونَ أَنْ ___ الازْدِوَاجِيَّةُ.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تَسْتَمِرَّ</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طُبِّقَ القَانُونُ بِالتَّسَاوِي، ___ العَالَمُ أَعْدَلَ.</a:t>
            </a:r>
            <a:endParaRPr lang="ar-SA" sz="12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يَرْفُضُ النَّاشِطُونَ أَنْ تَسْتَمِرُّ الازْدِوَاجِيَّةُ.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tastamirru?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تُلْزَمُ الدُّوَلُ عَلَى الامْتِثَالِ لِلْمُعَاهَدَاتِ.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tulzamu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طُبِّقَ القَانُونُ بِالتَّسَاوِي، سَيَكُونُ العَالَمُ أَعْدَلَ.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يَرْفُضُ النَّاشِطُونَ أَنْ تَسْتَمِرُّ الازْدِوَاجِيَّةُ.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يَرْفُضُ النَّاشِطُونَ أَنْ تَسْتَمِرَّ الازْدِوَاجِيَّةُ.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تَسْتَمِرَّ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تُلْزَمُ الدُّوَلُ عَلَى الامْتِثَالِ لِلْمُعَاهَدَاتِ.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تُلْزَمُ الدُّوَلُ بِالامْتِثَالِ لِلْمُعَاهَدَاتِ.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يُلْزَمُ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طُبِّقَ القَانُونُ بِالتَّسَاوِي، سَيَكُونُ العَالَمُ أَعْدَلَ.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لَوْ طُبِّقَ القَانُونُ بِالتَّسَاوِي، لَكَانَ العَالَمُ أَعْدَلَ.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legal expert on double standards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systematically violated in conflict zones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upheld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small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treaties themselves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double standards practised by some major powers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treaties be signed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 be applied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these double standards continue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Applying the law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massacres cannot be reduced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reform is needed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Reforming the Security Council is an indispensable step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يَقُولُ الخَبِيرُ القَانُونِيُّ: يُؤَكِّدُ المُخْتَصُّونَ أَنَّ القَانُونَ الدَّوْلِيَّ الإِنْسَانِيَّ يُنْتَهَكُ بِشَكْلٍ مَنْهَجِيٍّ فِي مَنَاطِقِ النِّزَاعِ.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legal expert says: specialists confirm that international humanitarian law is systematically violated in conflict zones.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وَيَكْمُنُ جَوْهَرُ الأَزْمَةِ فِي ازْدِوَاجِيَّةِ المَعَايِيرِ الَّتِي تُمَارِسُهَا بَعْضُ الدُّوَلِ الكُبْرَى.</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core of the crisis lies in the double standards practised by some major powers.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تُلْزَمُ الدُّوَلُ المُوَقِّعَةُ بِالامْتِثَالِ لِلْمُعَاهَدَاتِ، غَيْرَ أَنَّ التَّطْبِيقَ يَظَلُّ رَهِينًا بِالمَصَالِحِ السِّيَاسِيَّةِ.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Signatory states are obliged to comply with the treaties; however, application remains hostage to political interests.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يَرْفُضُ كَثِيرٌ مِنَ النَّاشِطِينَ أَنْ تَسْتَمِرَّ هٰذِهِ الازْدِوَاجِيَّةُ. وَلَوْ طُبِّقَ القَانُونُ بِلَا ازْدِوَاجِيَّةٍ، لَكَانَتِ المَجَازِرُ أَقَلَّ حِدَّةً.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Many activists refuse to let these double standards continue. Had the law been applied without double standards, the massacres would have been less severe.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وَبِنَاءً عَلَى مَا سَبَقَ، يُعَدُّ إِصْلَاحُ مَجْلِسِ الأَمْنِ خُطْوَةً لَا غِنَى عَنْهَا. وَخُلَاصَةُ القَوْلِ، لَا عَدَالَةَ عَالَمِيَّةً دُونَ مُحَاسَبَةٍ مُتَسَاوِيَةٍ.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reforming the Security Council is an indispensable step. In summary, there is no global justice without equal accountability.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systematically violated in conflict zones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upheld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يُؤَكِّدُ المُخْتَصُّونَ أَنَّ القَانُونَ الدَّوْلِيَّ الإِنْسَانِيَّ يُنْتَهَكُ بِشَكْلٍ مَنْهَجِيٍّ.</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small states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treaties themselves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double standards practised by some major powers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cs typeface="Amiri" pitchFamily="2" charset="-78"/>
              </a:rPr>
              <a:t>يَكْمُنُ جَوْهَرُ الأَزْمَةِ فِي ازْدِوَاجِيَّةِ المَعَايِيرِ الَّتِي تُمَارِسُهَا بَعْضُ الدُّوَلِ الكُبْرَى.</a:t>
            </a:r>
            <a:endParaRPr lang="ar-SA" sz="9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treaties be signed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 be applied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these double standards continue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يَرْفُضُ كَثِيرٌ مِنَ النَّاشِطِينَ أَنْ تَسْتَمِرَّ هٰذِهِ الازْدِوَاجِيَّةُ.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Applying the law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massacres cannot be reduced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لَوْ طُبِّقَ القَانُونُ بِلَا ازْدِوَاجِيَّةٍ، لَكَانَتِ المَجَازِرُ أَقَلَّ حِدَّةً.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reform is needed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Reforming the Security Council is an indispensable step</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Council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وَبِنَاءً عَلَى مَا سَبَقَ، يُعَدُّ إِصْلَاحُ مَجْلِسِ الأَمْنِ خُطْوَةً لَا غِنَى عَنْهَا.</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argue and conclude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المُشْكِلَةُ؟ صِفْهَا بِفِعْلٍ مَبْنِيٍّ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يَرْفُضُهُ النَّاشِطُونَ؟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تَخْتِمُ حُجَّتَكَ بِرَابِطٍ خِتَامِيٍّ؟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يُنْتَهَكُ ___ فِي مَنَاطِقِ النِّزَاعِ.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يَرْفُضُ النَّاشِطُونَ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وَبِنَاءً عَلَى مَا سَبَقَ، مِنَ الضَّرُورِيِّ أَنْ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المُشْكِلَةُ؟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يُنْتَهَكُ القَانُونُ الدَّوْلِيُّ، وَتُلْزَمُ الدُّوَلُ بِالامْتِثَالِ نَظَرِيًّا فَقَطْ.</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International law is violated, and states are obliged to comply in theory only.</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conclusion with </a:t>
            </a:r>
            <a:pPr algn="l" indent="0" marL="0">
              <a:buNone/>
            </a:pPr>
            <a:r>
              <a:rPr lang="ar-SA" altLang="en-US" sz="1800" b="1" dirty="0">
                <a:solidFill>
                  <a:srgbClr val="1F2A37"/>
                </a:solidFill>
                <a:latin typeface="Amiri" pitchFamily="2" charset="-78"/>
                <a:cs typeface="Amiri" pitchFamily="2" charset="-78"/>
              </a:rPr>
              <a:t>وَبِنَاءً عَلَى مَا سَبَقَ</a:t>
            </a:r>
            <a:pPr algn="l" indent="0" marL="0">
              <a:buNone/>
            </a:pPr>
            <a:r>
              <a:rPr lang="en-US" sz="1400" b="1" dirty="0">
                <a:solidFill>
                  <a:srgbClr val="1F2A37"/>
                </a:solidFill>
                <a:latin typeface="Calibri" pitchFamily="34" charset="0"/>
                <a:cs typeface="Amiri" pitchFamily="2" charset="-78"/>
              </a:rPr>
              <a:t> and one refusal with </a:t>
            </a:r>
            <a:pPr algn="l" indent="0" marL="0">
              <a:buNone/>
            </a:pPr>
            <a:r>
              <a:rPr lang="ar-SA" altLang="en-US" sz="1800" b="1" dirty="0">
                <a:solidFill>
                  <a:srgbClr val="1F2A37"/>
                </a:solidFill>
                <a:latin typeface="Amiri" pitchFamily="2" charset="-78"/>
                <a:cs typeface="Amiri" pitchFamily="2" charset="-78"/>
              </a:rPr>
              <a:t>يَرْفُضُ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conclusion with wa-bināʾan ʿalā mā sabaqa and one refusal with yarfuḍu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law passive and a Type 2 counterfactual;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law passive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120 words with both conditionals, the past perfect and two conclusion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both conditionals, the past perfect and two conclusion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يُؤَكِّدُ الخُبَرَاءُ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confirm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كَانَتِ الأُمَمُ المُتَّحِدَةُ قَدْ أَقَرَّتْ ______ لِكَيْ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UN had adopted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لَوْ طُبِّقَ القَانُونُ بِالتَّسَاوِي، لَكَانَ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law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وَخُلَاصَةُ القَوْلِ، لَا ______ دُونَ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summary, there is no … without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يُنْتَهَكُ القَانُونُ الدَّوْلِيُّ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International law is violated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تُلْزَمُ الدُّوَلُ بِاحْتِرَامِ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States are obliged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يَرْفُضُ النَّاشِطُونَ أَنْ تَسْتَمِرَّ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Activists refuse to let … continue.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وَبِنَاءً عَلَى مَا سَبَقَ، مِنَ الضَّرُورِيِّ أَنْ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is essential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مَنَاطِقِ النِّزَاعِ  ·  المُعَاهَدَاتِ  ·  ازْدِوَاجِيَّةُ المَعَايِيرِ  ·  يُصْلَحَ النِّظَامُ الدَّوْلِيُّ  ·  يُفْلِتَ المُنْتَهِكُونَ مِنَ العِقَابِ  ·  هٰذِهِ المَبَادِئَ  ·  يُحْمَى المَدَنِيُّونَ  ·  العَالَمُ أَكْثَرَ عَدْلًا  ·  عَدَالَةَ  ·  مُحَاسَبَةٍ  ·  حِمَايَةَ حَقِيقِيَّةً  ·  مَجْلِسِ الأَمْنِ</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law passive (yuntahaku / yulzamu bi-) and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past perfect (kānat … qad) and both conditional types.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refusal trigger yarfuḍu an +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conclusion connector + a verb in -a.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بِشَكْلٍ مَنْهَجِيٍّ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systematically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يَكْمُنُ جَوْهَرُ الأَزْمَةِ 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core of the crisis lies 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رَهِينًا بِالمَصَالِحِ السِّيَاسِيَّةِ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hostage to political interests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تَحَوُّلًا جَذْرِيًّا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radical transformation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أَقَلَّ حِدَّةً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 severe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cs typeface="Amiri" pitchFamily="2" charset="-78"/>
              </a:rPr>
              <a:t>يُؤَكِّدُ الخُبَرَاءُ القَانُونِيُّونَ أَنَّ القَانُونَ الدَّوْلِيَّ الإِنْسَانِيَّ يُنْتَهَكُ بِشَكْلٍ مَنْهَجِيٍّ فِي مَنَاطِقِ النِّزَاعِ، وَيُشَارُ إِلَى أَنَّ مَبْدَأَ المَسْؤُولِيَّةِ عَنِ الحِمَايَةِ لَمْ يُطَبَّقْ بِالتَّسَاوِي. يَكْمُنُ جَوْهَرُ الأَزْمَةِ فِي ازْدِوَاجِيَّةِ المَعَايِيرِ الَّتِي تُمَارِسُهَا الدُّوَلُ الكُبْرَى. كَانَتِ الأُمَمُ المُتَّحِدَةُ قَدْ أَقَرَّتْ هٰذِهِ المَبَادِئَ لِكَيْ يُحْمَى المَدَنِيُّونَ، غَيْرَ أَنَّ التَّطْبِيقَ يَظَلُّ رَهِينًا بِالمَصَالِحِ السِّيَاسِيَّةِ. وَيَرْفُضُ كَثِيرٌ مِنَ النَّاشِطِينَ أَنْ تَسْتَمِرَّ هٰذِهِ الازْدِوَاجِيَّةُ. إِذَا الْتَزَمَتِ الدُّوَلُ بِالمِيثَاقِ بِالتَّسَاوِي، سَيُحْدِثُ ذٰلِكَ تَحَوُّلًا جَذْرِيًّا. وَلَوْ طُبِّقَ القَانُونُ بِلَا ازْدِوَاجِيَّةٍ، لَكَانَتِ المَجَازِرُ أَقَلَّ حِدَّةً. وَبِنَاءً عَلَى مَا سَبَقَ، مِنَ الضَّرُورِيِّ أَنْ يُصْلَحَ النِّظَامُ الدَّوْلِيُّ لِكَيْ تَنْعَمَ الشُّعُوبُ بِحِمَايَةٍ مُتَسَاوِيَةٍ.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00" i="1" dirty="0">
                <a:solidFill>
                  <a:srgbClr val="5A6472"/>
                </a:solidFill>
                <a:latin typeface="Calibri" pitchFamily="34" charset="0"/>
                <a:cs typeface="Amiri" pitchFamily="2" charset="-78"/>
              </a:rPr>
              <a:t>Legal experts confirm that international humanitarian law is systematically violated in conflict zones, and it is noted that the principle of the responsibility to protect has not been applied equally. The core of the crisis lies in the double standards practised by the major powers. The United Nations had adopted these principles so that civilians would be protected; however, application remains hostage to political interests. Many activists refuse to let these double standards continue. If states committed to the Charter equally, this would bring about a radical transformation. Had the law been applied without double standards, the massacres would have been less severe. Based on the above, it is essential that the international system be reformed so that peoples enjoy equal protection.</a:t>
            </a:r>
            <a:endParaRPr lang="en-US" sz="110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yuntahaku · yushāru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aqarrat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yarfuḍu … an tastamirra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ʿalā mā sabaqa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last sentence opens with wa-bināʾan ʿalā mā sabaqa — and adds no new point.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yarfuḍu an my verb ends in -a (they: the -na drops).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law passive: yuntahaku or yulzamu bi- (not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past perfect, both conditionals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وَبِنَاءً عَلَى مَا سَبَقَ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يَرْفُضُ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وَبِنَاءً عَلَى مَا سَبَقَ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يَرْفُضُ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يُنْتَهَكُ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يَنْتَهِكُ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انْتَهَكَ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a global-justice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تُعَدُّ العَدَالَةُ العَالَمِيَّةُ مِنْ أَعْقَدِ قَضَايَا عَصْرِنَا. يُشَارُ إِلَى أَنَّ مَبْدَأَ المَسْؤُولِيَّةِ عَنِ الحِمَايَةِ لَمْ يُطَبَّقْ بِالتَّسَاوِي فِي جَمِيعِ الحَالَاتِ. يُنْتَهَكُ القَانُونُ الدَّوْلِيُّ الإِنْسَانِيُّ، وَتُلْزَمُ الدُّوَلُ بِالامْتِثَالِ نَظَرِيًّا فَقَطْ. كَانَتِ الأُمَمُ المُتَّحِدَةُ قَدْ أَقَرَّتْ هٰذِهِ المَبَادِئَ لِكَيْ يُحْمَى المَدَنِيُّونَ، غَيْرَ أَنَّ التَّطْبِيقَ يَظَلُّ رَهِينًا بِالمَصَالِحِ. يَرْفُضُ النَّاشِطُونَ أَنْ يُفْلِتَ المُنْتَهِكُونَ مِنَ العِقَابِ. وَلَوْ طُبِّقَ القَانُونُ بِالتَّسَاوِي، لَكَانَ العَالَمُ أَكْثَرَ عَدْلًا. وَبِنَاءً عَلَى مَا سَبَقَ، مِنَ الضَّرُورِيِّ أَنْ يُصْلَحَ النِّظَامُ الدَّوْلِيُّ. وَخُلَاصَةُ القَوْلِ، لَا حِمَايَةَ حَقِيقِيَّةً دُونَ مُحَاسَبَةٍ.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بِشَكْلٍ مَنْهَجِيٍّ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systematically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جَوْهَرُ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core, essence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تُمَارِسُهَا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(which) they practise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المُوَقِّعَةُ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signatory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الامْتِثَالِ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compliance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رَهِينًا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hostage, dependent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المَجَازِرُ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massacres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adopted, approved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المَدَنِيُّونَ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civilians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غِنَى عَنْهَا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indispensable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always been applied equally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not been applied equally in all cases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conflict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stated reason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civilians would be protected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violators escape punishment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written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protection be offered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Equal application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law been applied equally, the world would be more just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world cannot be more just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real protection without accountability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Accountability is unnecessary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already exists everywhere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always been applied equally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has not been applied equally in all cases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يُشَارُ إِلَى أَنَّ مَبْدَأَ المَسْؤُولِيَّةِ عَنِ الحِمَايَةِ لَمْ يُطَبَّقْ بِالتَّسَاوِي.</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conflict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stated reason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civilians would be protected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كَانَتِ الأُمَمُ المُتَّحِدَةُ قَدْ أَقَرَّتْ هٰذِهِ المَبَادِئَ لِكَيْ يُحْمَى المَدَنِيُّونَ.</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violators escape punishment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written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protection be offered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يَرْفُضُ النَّاشِطُونَ أَنْ يُفْلِتَ المُنْتَهِكُونَ مِنَ العِقَابِ.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Equal application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law been applied equally, the world would be more just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world cannot be more just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طُبِّقَ القَانُونُ بِالتَّسَاوِي، لَكَانَ العَالَمُ أَكْثَرَ عَدْلًا.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real protection without accountability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Accountability is unnecessary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already exists everywhere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وَخُلَاصَةُ القَوْلِ، لَا حِمَايَةَ حَقِيقِيَّةً دُونَ مُحَاسَبَةٍ.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Justice Mission — Conclude, Refuse, Hold to Account</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point</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synthesising conclusion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summary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refusal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يَنْتَهِكُ</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انْتَهَكَ</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point</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synthesising conclusion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opens the synthesising conclusion.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summary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refusal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signals a refusal.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تَسْتَمِرَّ</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يُنْتَهَكُ</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يَنْتَهِكُ</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انْتَهَكَ</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P5-L06 · Youth and Society — The Arab Generation’s Challenges and Power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جِيلُ الشَّبَابِ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youth generation</a:t>
            </a:r>
            <a:pPr indent="0" marL="0">
              <a:buNone/>
            </a:pPr>
            <a:r>
              <a:rPr lang="en-US" sz="1000" i="1" dirty="0">
                <a:solidFill>
                  <a:srgbClr val="5A6472"/>
                </a:solidFill>
                <a:latin typeface="Calibri" pitchFamily="34" charset="0"/>
                <a:cs typeface="Amiri" pitchFamily="2" charset="-78"/>
              </a:rPr>
              <a:t>  pl. أَجْيَالٌ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المُشَارَكَةُ السِّيَاسِيَّةُ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political participation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صَوْتُ الشَّبَابِ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youth voice</a:t>
            </a:r>
            <a:pPr indent="0" marL="0">
              <a:buNone/>
            </a:pPr>
            <a:r>
              <a:rPr lang="en-US" sz="1000" i="1" dirty="0">
                <a:solidFill>
                  <a:srgbClr val="5A6472"/>
                </a:solidFill>
                <a:latin typeface="Calibri" pitchFamily="34" charset="0"/>
                <a:cs typeface="Amiri" pitchFamily="2" charset="-78"/>
              </a:rPr>
              <a:t>  pl. أَصْوَاتٌ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الطُّمُوحُ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ambition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يُعِيدُ تَعْرِيفَ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redefines</a:t>
            </a:r>
            <a:pPr indent="0" marL="0">
              <a:buNone/>
            </a:pPr>
            <a:r>
              <a:rPr lang="en-US" sz="1000" i="1" dirty="0">
                <a:solidFill>
                  <a:srgbClr val="5A6472"/>
                </a:solidFill>
                <a:latin typeface="Calibri" pitchFamily="34" charset="0"/>
                <a:cs typeface="Amiri" pitchFamily="2" charset="-78"/>
              </a:rPr>
              <a:t>  f. تُعِيدُ تَعْرِيفَ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biggest challenge facing young Arabs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أَكْبَرُ تَحَدٍّ يُوَاجِهُهُ الشَّبَابُ اليَوْمَ هُوَ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refusal (yarfuḍu an) and one conclusion (wa-bināʾan ʿalā mā sabaqa) about global justice.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law passive and a Type 2 counterfactual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global-justice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P5-L06 · Youth and Society — The Arab Generation’s Challenges and Power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الشَّبَابُ وَالمُجْتَمَعُ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close with wa-bināʾan ʿalā mā sabaqa — a synthesis, not a new point; yarfuḍu an + a verb in -A; yuntahaku (is violated) and yulzamu BI- (is obliged to); and law … LA- for the double standards.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P5-L05 · Global Justice — International Responsibility and the Arab World</dc:title>
  <dc:subject>PptxGenJS Presentation</dc:subject>
  <dc:creator>Al Madina Online School · Arabic Department</dc:creator>
  <cp:lastModifiedBy>Al Madina Online School · Arabic Department</cp:lastModifiedBy>
  <cp:revision>1</cp:revision>
  <dcterms:created xsi:type="dcterms:W3CDTF">2026-10-11T06:43:27Z</dcterms:created>
  <dcterms:modified xsi:type="dcterms:W3CDTF">2026-10-11T06:43:27Z</dcterms:modified>
</cp:coreProperties>
</file>