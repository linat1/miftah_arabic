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notesMasterIdLst>
    <p:notesMasterId r:id="rId51"/>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notesMaster" Target="notesMasters/notesMaster1.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Progression › P5 Social Issues and Opinions › P5-L05. The website lesson “Global Justice — International Responsibility and the Arab World”: vocabulary, grammar rules and quiz, patterns, common mistakes, sorter, listening, reading, speaking prompts and model, writing task and model, differentiation, final check and the lesson mission. Picture match: website visual game “Global Justice — International Responsibility and the Arab World”.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one conclusion with wa-bināʾan ʿalā mā sabaqa and one refusal with yarfuḍu an (website Core). Develop: add a law passive and a Type 2 counterfactual (110 words). Stretch: 120 words with both conditionals, the past perfect and two conclusion connectors.
• Sensitivity: this lesson touches conflict zones, civilian suffering and massacres. Some students may have family affected by current conflicts. Keep the discussion on PRINCIPLES (law, accountability, equal standards), let students voice strong feelings respectfully, avoid graphic detail, and follow the school’s policy on contested political topics and safeguarding.
• Faith link (optional): «يَا أَيُّهَا الَّذِينَ آمَنُوا كُونُوا قَوَّامِينَ لِلَّهِ شُهَدَاءَ بِالقِسْطِ، وَلَا يَجْرِمَنَّكُمْ شَنَآنُ قَوْمٍ عَلَى أَلَّا تَعْدِلُوا» (al-Māʾida 5:8) — justice even towards those you dislike: the Qur’anic answer to double standards. Also «إِنَّ اللهَ يَأْمُرُ بِالعَدْلِ وَالإِحْسَانِ» (al-Naḥl 16:90).
• Grammar links: wa-bināʾan ʿalā mā sabaqa (P5-L01) · an + -a triggers (P5-L03, P5-L04) · passives (P5-L02) · past perfect kānat … qad and Type 1 / Type 2 (P3, P4).
• TEACHER-WRITTEN ITEMS: waṣl alif shown without a kasra; لِكَيْ always written with its sukūn; عَلَاوَةً → عِلَاوَةً in one quiz option; rule formulas, pattern tips, writing prompt and checklist in transliteration; sorter headings in transliteration; game cards 0, 3 and 5 not used; the conclusion, refusal, passive and toolkit tables are teacher-built from the website texts. All other website items are used as published.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test three of the five words prepared at the end of P5-L04. Questions 4–5 retrieve prohibition / permission + -a (P5-L04) — today refusal joins the same family: yarfuḍu an + -a.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A strong essay ends by drawing everything together — and refusal is one more an + -a trigger.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قانون, خلاصہ and مسئولیت are shared — and Urdu خلاصہ gives you the conclusion connector وَخُلَاصَةُ القَوْلِ for free. Careful: Urdu عدالت = a court, but Arabic العَدَالَةُ = JUSTICE (a court = مَحْكَمَةٌ). Urdu حمایت = support; Arabic الحِمَايَةُ = PROTECTION (مَسْؤُولِيَّةُ الحِمَايَةِ = the responsibility to protect).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Formal conclusion connectors (website vocabulary (1 of 2)). Hear → Say → See → Use. Transliteration is printed for Core students (cover it for Develop/Stretch).
Conclusion connectors open the LAST sentence and draw the argument together — never a new point. وَمِنَ المُنْطَلَقِ ذَاتِهِ (from the same starting point) links two related points. المُسَبِّبُ المُوَسَّعُ and التَّرْكِيبُ المَقَالِيُّ are the website’s grammar labels (extended trigger, essay construction), not essay vocabulary.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Formal conclusion connectors (website vocabulary (2 of 2)). Hear → Say → See → Use. Transliteration is printed for Core students (cover it for Develop/Stretch).
Conclusion connectors open the LAST sentence and draw the argument together — never a new point. وَمِنَ المُنْطَلَقِ ذَاتِهِ (from the same starting point) links two related points. المُسَبِّبُ المُوَسَّعُ and التَّرْكِيبُ المَقَالِيُّ are the website’s grammar labels (extended trigger, essay construction), not essay vocabulary.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Global justice (website vocabulary (1 of 2)). Hear → Say → See → Use. Transliteration is printed for Core students (cover it for Develop/Stretch).
Global justice: سِيَادَةُ الدَّوْلَةِ (state sovereignty) vs مَسْؤُولِيَّةُ الحِمَايَةِ (responsibility to protect) — the central tension of the topic. ازْدِوَاجِيَّةُ المَعَايِيرِ (double standards) and الإِفْلَاتُ مِنَ العِقَابِ (impunity) are the key criticisms.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Global justice (website vocabulary (2 of 2)). Hear → Say → See → Use. Transliteration is printed for Core students (cover it for Develop/Stretch).
FLEX: teach if time allows; otherwise these are on the website vocabulary tab for homework.
Global justice: سِيَادَةُ الدَّوْلَةِ (state sovereignty) vs مَسْؤُولِيَّةُ الحِمَايَةِ (responsibility to protect) — the central tension of the topic. ازْدِوَاجِيَّةُ المَعَايِيرِ (double standards) and الإِفْلَاتُ مِنَ العِقَابِ (impunity) are the key criticisms.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Law verbs and register (website vocabulary (1 of 2)). Hear → Say → See → Use. Transliteration is printed for Core students (cover it for Develop/Stretch).
FLEX: teach if time allows; otherwise these are on the website vocabulary tab for homework.
Active and passive pairs: يَنْتَهِكُ (violates) → يُنْتَهَكُ (is violated) · يُلْزِمُ بِـ (obliges to) → يُلْزَمُ بِـ (is obliged to). Same letters — only the vowels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Law verbs and register (website vocabulary (2 of 2)). Hear → Say → See → Use. Transliteration is printed for Core students (cover it for Develop/Stretch).
FLEX: teach if time allows; otherwise these are on the website vocabulary tab for homework.
Active and passive pairs: يَنْتَهِكُ (violates) → يُنْتَهَكُ (is violated) · يُلْزِمُ بِـ (obliges to) → يُلْزَمُ بِـ (is obliged to). Same letters — only the vowels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1 — website rule “Conclusion connectors”, teaching point 1 and builder task 3 (“Formalise the conclusion”).
Three closing shapes to copy: يُعَدُّ … ضَرُورَةً (is considered a necessity) · مِنَ الضَّرُورِيِّ أَنْ + -a (necessity subjunctive) · لَا + noun + دُونَ (no X without Y: لَا عَدَالَةَ دُونَ مُحَاسَبَةٍ).
Row 5: the website mission contrasts the formal conclusion with وَأَيْضًا and ثُمَّ — fine in speech, too weak to close an essay.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2 — website rule “Refusal trigger”, teaching point 2 (“Refusal joins insistence, demand, prohibition and permission”), mistake 1 and the mission error spot.
The family so far: يُصِرُّ عَلَى أَنْ · يُطَالِبُ بِأَنْ · يَدْعُو إِلَى أَنْ (P5-L03) · يَمْنَعُ أَنْ · يُبِيحُ أَنْ (P5-L04) · يَرْفُضُ أَنْ (today). One rule for all six: an + -a.
Card 2: يَخْضَعُونَ → أَنْ يَخْضَعُوا — the plural -ūna loses its nūn (and gains a silent alif) after 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3 — website rule “International-law passives” (“The passive centres the law or the obligation”), the table, mistake 2, the sorter and the reading.
Pattern: passive present = yu- … -a- (yuntahaku · yulzamu · yuḥāsabu); passive past = u … i (ṭubbiqa). Row 4: لَمْ يُطَبَّقْ — the jussive after lam (sukūn).
Why passive? The report focuses on the LAW being violated, not on naming who did it — the neutral register of international bodies.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4 — website rule “Counterfactual analysis” (“A Type 2 exposes double standards”), mistake 3 and the writing model.
Row 3 vs row 4: Type 1 = a REAL possibility (idhā … sa-) · Type 2 = what SHOULD have happened (law … la-). The Type 2 is the sharpest tool against double standards: “had the law been applied equally …”.
Stretch students use all five rows in order — that IS the website writing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WEBSITE GRAMMAR RULES AND EXAMPLES (FLEX — revision or homework). Website overview: “Close with وَبِنَاءً عَلَى مَا سَبَقَ or وَخُلَاصَةُ القَوْلِ, use يَرْفُضُ أَنْ, form يُنْتَهَكُ and يُلْزَمُ بِـ, and analyse with a Type 2 counterfactual.”
• Conclusion connectors: Open the synthesising final sentence.
• Refusal trigger: States a refusal that a situation continue.
• International-law passives: The passive centres the law or the obligation.
• Counterfactual analysis: A Type 2 exposes double standards.
Website common error: Using a conclusion connector to add a new point rather than synthesise, or an indicative verb after يَرْفُضُ أَنْ. The connector closes the argument; the refusal trigger takes the subjunctive.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4.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from the website reading and writing model. Think aloud: “Report first: yuʾakkidu … anna + the passive yuntahaku. Background: kānat … qad aqarrat. Now the refusal: yarfuḍu … an tastamirrA. The sharpest point: law ṭubbiqa … LA-kāna. And close — not a new point, a synthesis: wa-bināʾan ʿalā mā sabaqa + min al-ḍarūrī an yuṣlaḥA.”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Global Justice — International Responsibility and the Arab World”)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card 3 not used — waṣl kasra). Card 1 already has an + -a: يَجِبُ أَنْ تَتَعَاوَنَ. Upgrade each card into a P5 sentence: تَرْفُضُ الشُّعُوبُ أَنْ تُتْرَكَ الدُّوَلُ الفَقِيرَةُ وَحْدَهَا · تُلْزَمُ الدُّوَلُ بِحِمَايَةِ البِيئَةِ.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Global Justice — International Responsibility and the Arab World”)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card 3 not used — waṣl kasra). Card 1 already has an + -a: يَجِبُ أَنْ تَتَعَاوَنَ. Upgrade each card into a P5 sentence: تَرْفُضُ الشُّعُوبُ أَنْ تُتْرَكَ الدُّوَلُ الفَقِيرَةُ وَحْدَهَا · تُلْزَمُ الدُّوَلُ بِحِمَايَةِ البِيئَةِ.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(3 min) — the website live builder: “Build a justice line from a law passive, a refusal and a formal conclusion.” Website feedback: any three different combinations work.
Core: read row 1 across. Develop: column 2 row 2 (يُفْلِتَ — refusal + a verb in -a). Stretch: add a Type 2 between columns 2 and 3: وَلَوْ طُبِّقَ القَانُونُ بِالتَّسَاوِي، لَكَانَ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website sorter (2 min). Website instruction: sort each item into the right group.
Then turn one law passive into a refusal: يُنْتَهَكُ القَانُونُ → يَرْفُضُ النَّاشِطُونَ أَنْ يُنْتَهَكَ القَانُونُ. What happened to the final vowel?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website sorter (2 min). Website instruction: sort each item into the right group.
Then turn one law passive into a refusal: يُنْتَهَكُ القَانُونُ → يَرْفُضُ النَّاشِطُونَ أَنْ يُنْتَهَكَ القَانُونُ. What happened to the final vowel?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5,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(4 min) — website script. Read it aloud yourself, twice, at natural speed with pauses.
Before listening: students read the questions (● 30s). Core: questions 1, 3 and 5. Develop / Stretch: all 5 — and note the two conclusion connectors at the end.
Listen 1: just listen. Listen 2: note answers. Then chat the letters.
Support: after the second listening, show the read-along slide (Arabic + English, line by line) for Core students.
SCRIPT (read aloud):
يَقُولُ الخَبِيرُ القَانُونِيُّ: يُؤَكِّدُ المُخْتَصُّونَ أَنَّ القَانُونَ الدَّوْلِيَّ الإِنْسَانِيَّ يُنْتَهَكُ بِشَكْلٍ مَنْهَجِيٍّ فِي مَنَاطِقِ النِّزَاعِ. وَيَكْمُنُ جَوْهَرُ الأَزْمَةِ فِي ازْدِوَاجِيَّةِ المَعَايِيرِ الَّتِي تُمَارِسُهَا بَعْضُ الدُّوَلِ الكُبْرَى. تُلْزَمُ الدُّوَلُ المُوَقِّعَةُ بِالامْتِثَالِ لِلْمُعَاهَدَاتِ، غَيْرَ أَنَّ التَّطْبِيقَ يَظَلُّ رَهِينًا بِالمَصَالِحِ السِّيَاسِيَّةِ. يَرْفُضُ كَثِيرٌ مِنَ النَّاشِطِينَ أَنْ تَسْتَمِرَّ هٰذِهِ الازْدِوَاجِيَّةُ. وَلَوْ طُبِّقَ القَانُونُ بِلَا ازْدِوَاجِيَّةٍ، لَكَانَتِ المَجَازِرُ أَقَلَّ حِدَّةً. وَبِنَاءً عَلَى مَا سَبَقَ، يُعَدُّ إِصْلَاحُ مَجْلِسِ الأَمْنِ خُطْوَةً لَا غِنَى عَنْهَا. وَخُلَاصَةُ القَوْلِ، لَا عَدَالَةَ عَالَمِيَّةً دُونَ مُحَاسَبَةٍ مُتَسَاوِيَةٍ.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وَكَيْفَ تَخْتِمُ؟ (Conclusion)
B: وَبِنَاءً عَلَى مَا سَبَقَ، مِنَ الضَّرُورِيِّ أَنْ يُصْلَحَ النِّظَامُ الدَّوْلِيُّ. (Conclusion + subjunctive)
Website prompts and model. Pair task: “UN press conference” — A states the problem with a law passive; B refuses with yarfuḍu an …; together they close with wa-bināʾan ʿalā mā sabaqa. To a girl: صِفِيهَا · تَخْتِمِينَ حُجَّتَكِ.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YOU DO (9 min writing). Steer routes using the Do Now and quick-check results.
Website differentiation tasks: Core — Write one conclusion with وَبِنَاءً عَلَى مَا سَبَقَ and one refusal with يَرْفُضُ أَنْ. · Develop — Add a law passive and a Type 2 counterfactual; reach 110 words. · Stretch — Reach 120 words with both conditionals, the past perfect and two conclusion connectors.
Website writing task (Stretch): Write a 110–120-word global-justice analysis. Open with reported speech and a law passive (yuntahaku), use the past perfect for what the UN had adopted, add both conditional types and the refusal trigger yarfuḍu an, and close with wa-bināʾan ʿalā mā sabaqa / wa-khulāṣatu l-qawl + a verb in -a.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FEEDBACK (1 min) — website model answer, with an English translation for Core students.
Students find in the model (● 20s → ◎) the four items on the chips. Website writing model. Evidence: يُؤَكِّدُ … أَنَّ … يُنْتَهَكُ · يُشَارُ إِلَى أَنَّ … لَمْ يُطَبَّقْ · كَانَتْ … قَدْ أَقَرَّتْ … لِكَيْ يُحْمَى · يَرْفُضُ … أَنْ تَسْتَمِرَّ · إِذَا الْتَزَمَتْ … سَيُحْدِثُ · لَوْ طُبِّقَ … لَكَانَتْ · وَبِنَاءً عَلَى مَا سَبَقَ … أَنْ يُصْلَحَ … لِكَيْ تَنْعَمَ.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(P5-L06 · Youth and Society — The Arab Generation’s Challenges and Power) will spend class time USING this language, so students prepare it tonight — short, simple, easy to access (school guidance: “Simple, Short, Interesting, Relevant, Easy to access”). The five words come from the website P5-L06 vocabulary (youth and society).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slideLayout" Target="../slideLayouts/slideLayout1.xml"/><Relationship Id="rId8"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image" Target="../media/image-24-6.png"/><Relationship Id="rId7" Type="http://schemas.openxmlformats.org/officeDocument/2006/relationships/slideLayout" Target="../slideLayouts/slideLayout1.xml"/><Relationship Id="rId8"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9  ·  PROGRESSION P5  ·  P5-L05</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P5-L05</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Global Justice — International Responsibility and the Arab World</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100" b="1" dirty="0">
                <a:solidFill>
                  <a:srgbClr val="D4AF37"/>
                </a:solidFill>
                <a:latin typeface="Amiri" pitchFamily="2" charset="-78"/>
                <a:ea typeface="Amiri" pitchFamily="2" charset="-78"/>
                <a:cs typeface="Amiri" pitchFamily="2" charset="-78"/>
              </a:rPr>
              <a:t>العَدَالَةُ العَالَمِيَّةُ — المَسْؤُولِيَّةُ الدَّوْلِيَّةُ وَالعَالَمُ العَرَبِيُّ</a:t>
            </a:r>
            <a:endParaRPr lang="ar-SA" sz="31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Close an argument like a UN report — wa-bināʾan ʿalā mā sabaqa and wa-khulāṣatu l-qawl, refuse with yarfuḍu an + a verb in -a, centre the law with the passives yuntahaku and yulzamu bi-, and expose double standards with law … la-.</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P5-L05 · Progression P5 · Social Issues and Opinions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Progression · B1 → B2</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Progression › P5 › P5-L05</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P5-L05 · Argument</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P5-L05</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49</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P5-L05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P5-L05</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050" dirty="0">
                <a:solidFill>
                  <a:srgbClr val="1F2A37"/>
                </a:solidFill>
                <a:latin typeface="Calibri" pitchFamily="34" charset="0"/>
                <a:cs typeface="Amiri" pitchFamily="2" charset="-78"/>
              </a:rPr>
              <a:t>Formal conclusion connectors, yarfuḍu an + -a, the law passives yuntahaku / yulzamu bi-, Type 2 on double standards.</a:t>
            </a:r>
            <a:endParaRPr lang="en-US" sz="105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Match the justice pictures, build a justice line, sort conclusion / refusal / law passive.</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P5-L06.</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49</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P5-L05 · Argument</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العَدَالَةُ الدَّوْلِيَّةُ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national court</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international justice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state border</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ازْدِوَاجِيَّةُ المَعَايِيرِ</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double standards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two languages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high standards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الإِفْلَاتُ مِنَ العِقَابِ</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fair punishment</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prison escape film</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impunity (escaping punishment)</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يَمْنَعُ القَانُونُ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البَيَانَاتُ الشَّخْصِيَّةُ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تُبَاعُ</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بِيعَتْ</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تُبَاعَ</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لَا يَنْبَغِي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القَانُونُ أَنْ تُرَاقَبَ المُحَادَثَاتُ</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يُبِيحَ</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يُبِيحُ</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أَبَاحَ</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49</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P5-L05 · Argument</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العَدَالَةُ الدَّوْلِيَّةُ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national court</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international justice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state border</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(P5-L04).</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ازْدِوَاجِيَّةُ المَعَايِيرِ</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double standards</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two languages</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high standards</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(P5-L04).</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الإِفْلَاتُ مِنَ العِقَابِ</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fair punishment</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prison escape film</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impunity (escaping punishment)</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(P5-L04).</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يَمْنَعُ القَانُونُ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البَيَانَاتُ الشَّخْصِيَّةُ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تُبَاعُ</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بِيعَتْ</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تُبَاعَ</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P5-L04: yamnaʿu an + a passive in -a.</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لَا يَنْبَغِي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القَانُونُ أَنْ تُرَاقَبَ المُحَادَثَاتُ</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يُبِيحَ</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يُبِيحُ</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أَبَاحَ</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P5-L04: two an — two verbs in -a.</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A strong essay ends by drawing everything together — and refusal is one more an + -a trigger.</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D5FBF"/>
                </a:solidFill>
                <a:latin typeface="Amiri" pitchFamily="2" charset="-78"/>
                <a:ea typeface="Amiri" pitchFamily="2" charset="-78"/>
                <a:cs typeface="Amiri" pitchFamily="2" charset="-78"/>
              </a:rPr>
              <a:t>وَبِنَاءً عَلَى مَا سَبَقَ</a:t>
            </a:r>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 … · يَرْفُضُ أَنْ </a:t>
            </a:r>
            <a:pPr rtl="1" algn="ctr" indent="0" marL="0">
              <a:lnSpc>
                <a:spcPct val="120000"/>
              </a:lnSpc>
              <a:buNone/>
            </a:pPr>
            <a:r>
              <a:rPr lang="ar-SA" altLang="en-US" sz="1950" b="1" dirty="0">
                <a:solidFill>
                  <a:srgbClr val="D6336C"/>
                </a:solidFill>
                <a:latin typeface="Amiri" pitchFamily="2" charset="-78"/>
                <a:ea typeface="Amiri" pitchFamily="2" charset="-78"/>
                <a:cs typeface="Amiri" pitchFamily="2" charset="-78"/>
              </a:rPr>
              <a:t>تَسْتَمِرَّ</a:t>
            </a:r>
            <a:pPr rtl="1" algn="ctr" indent="0" marL="0">
              <a:lnSpc>
                <a:spcPct val="120000"/>
              </a:lnSpc>
              <a:buNone/>
            </a:pPr>
            <a:r>
              <a:rPr lang="ar-SA" altLang="en-US" sz="1950" b="1" dirty="0">
                <a:solidFill>
                  <a:srgbClr val="1B3B6F"/>
                </a:solidFill>
                <a:latin typeface="Amiri" pitchFamily="2" charset="-78"/>
                <a:cs typeface="Amiri" pitchFamily="2" charset="-78"/>
              </a:rPr>
              <a:t> …</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49</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P5-L05 · Argument</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P5-L05</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Analyse global-justice issues with international-law and diplomacy vocabulary.</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Close an argument with wa-bināʾan ʿalā mā sabaqa and wa-khulāṣatu l-qawl.</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the refusal trigger yarfuḍu an + a verb in -a.</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Form the international-law passives yuntahaku and yulzamu bi-.</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name 8 global-justice words.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close with wa-bināʾan ʿalā mā sabaqa.</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use yarfuḍu an + a verb in -a.</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use yuntahaku and yulzamu bi-.</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expose double standards with a Type 2.</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write a 120-word global-justice analysis.</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49</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ea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24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Formal conclusion connectors · 8</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Global justice · 8</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Law verbs and register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عَدَالَةٌ</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‎عدالت‎ </a:t>
            </a:r>
            <a:pPr indent="0" marL="0">
              <a:buNone/>
            </a:pPr>
            <a:r>
              <a:rPr lang="en-US" sz="950" b="1" dirty="0">
                <a:solidFill>
                  <a:srgbClr val="2E8B57"/>
                </a:solidFill>
                <a:latin typeface="Calibri" pitchFamily="34" charset="0"/>
                <a:cs typeface="Amiri" pitchFamily="2" charset="-78"/>
              </a:rPr>
              <a:t> adālat · Arabic: justice · Urdu: a court of law</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قَانُونٌ</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‎قانون‎ </a:t>
            </a:r>
            <a:pPr indent="0" marL="0">
              <a:buNone/>
            </a:pPr>
            <a:r>
              <a:rPr lang="en-US" sz="950" b="1" dirty="0">
                <a:solidFill>
                  <a:srgbClr val="2E8B57"/>
                </a:solidFill>
                <a:latin typeface="Calibri" pitchFamily="34" charset="0"/>
                <a:cs typeface="Amiri" pitchFamily="2" charset="-78"/>
              </a:rPr>
              <a:t> qānūn · a law</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خُلَاصَةٌ</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‎خلاصہ‎ </a:t>
            </a:r>
            <a:pPr indent="0" marL="0">
              <a:buNone/>
            </a:pPr>
            <a:r>
              <a:rPr lang="ar-SA" sz="950" b="1" dirty="0">
                <a:solidFill>
                  <a:srgbClr val="2E8B57"/>
                </a:solidFill>
                <a:latin typeface="Calibri" pitchFamily="34" charset="0"/>
                <a:ea typeface="Amiri" pitchFamily="2" charset="-78"/>
                <a:cs typeface="Amiri" pitchFamily="2" charset="-78"/>
              </a:rPr>
              <a:t> khulāsa · a summary (وَخُلَاصَةُ القَوْلِ = in summary)</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مَسْؤُولِيَّةٌ</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‎مسئولیت‎ </a:t>
            </a:r>
            <a:pPr indent="0" marL="0">
              <a:buNone/>
            </a:pPr>
            <a:r>
              <a:rPr lang="en-US" sz="950" b="1" dirty="0">
                <a:solidFill>
                  <a:srgbClr val="2E8B57"/>
                </a:solidFill>
                <a:latin typeface="Calibri" pitchFamily="34" charset="0"/>
                <a:cs typeface="Amiri" pitchFamily="2" charset="-78"/>
              </a:rPr>
              <a:t> masʾūliyat · responsibility</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حِمَايَةٌ</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‎حمایت‎ </a:t>
            </a:r>
            <a:pPr indent="0" marL="0">
              <a:buNone/>
            </a:pPr>
            <a:r>
              <a:rPr lang="en-US" sz="950" b="1" dirty="0">
                <a:solidFill>
                  <a:srgbClr val="2E8B57"/>
                </a:solidFill>
                <a:latin typeface="Calibri" pitchFamily="34" charset="0"/>
                <a:cs typeface="Amiri" pitchFamily="2" charset="-78"/>
              </a:rPr>
              <a:t> himāyat · Arabic: protection · Urdu: support</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49</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P5-L05 · Argument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cs typeface="Amiri" pitchFamily="2" charset="-78"/>
              </a:rPr>
              <a:t>Formal conclusion connectors (1 of 2)</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P5-L05</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1766621"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76662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Synthesising conclusion.</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وَبِنَاءً عَلَى مَا سَبَقَ</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based on the above</a:t>
            </a:r>
            <a:endParaRPr lang="en-US" sz="1350" dirty="0"/>
          </a:p>
          <a:p>
            <a:pPr indent="0" marL="0">
              <a:buNone/>
            </a:pPr>
            <a:r>
              <a:rPr lang="en-US" sz="1100" i="1" dirty="0">
                <a:solidFill>
                  <a:srgbClr val="5A6472"/>
                </a:solidFill>
                <a:latin typeface="Calibri" pitchFamily="34" charset="0"/>
                <a:cs typeface="Amiri" pitchFamily="2" charset="-78"/>
              </a:rPr>
              <a:t>wa-bi-nā-ʾan ʿa-lā mā sa-ba-qa</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7" name="Shape 24"/>
          <p:cNvSpPr/>
          <p:nvPr/>
        </p:nvSpPr>
        <p:spPr>
          <a:xfrm>
            <a:off x="4782312" y="1938528"/>
            <a:ext cx="1766621" cy="256032"/>
          </a:xfrm>
          <a:prstGeom prst="roundRect">
            <a:avLst>
              <a:gd name="adj" fmla="val 50000"/>
            </a:avLst>
          </a:prstGeom>
          <a:solidFill>
            <a:srgbClr val="EFE7D2"/>
          </a:solidFill>
          <a:ln w="12700">
            <a:solidFill>
              <a:srgbClr val="EFE7D2"/>
            </a:solidFill>
            <a:prstDash val="solid"/>
          </a:ln>
        </p:spPr>
      </p:sp>
      <p:sp>
        <p:nvSpPr>
          <p:cNvPr id="28" name="Text 25"/>
          <p:cNvSpPr txBox="1"/>
          <p:nvPr/>
        </p:nvSpPr>
        <p:spPr>
          <a:xfrm>
            <a:off x="4782312" y="1938528"/>
            <a:ext cx="176662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Synthesising conclusion.</a:t>
            </a:r>
            <a:endParaRPr lang="en-US" sz="800" dirty="0"/>
          </a:p>
        </p:txBody>
      </p:sp>
      <p:sp>
        <p:nvSpPr>
          <p:cNvPr id="29" name="Shape 26"/>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1" name="Text 28"/>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وَخُلَاصَةُ القَوْلِ</a:t>
            </a:r>
            <a:endParaRPr lang="ar-SA" sz="3000" dirty="0"/>
          </a:p>
        </p:txBody>
      </p:sp>
      <p:sp>
        <p:nvSpPr>
          <p:cNvPr id="32" name="Text 29"/>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 summary</a:t>
            </a:r>
            <a:endParaRPr lang="en-US" sz="1350" dirty="0"/>
          </a:p>
          <a:p>
            <a:pPr indent="0" marL="0">
              <a:buNone/>
            </a:pPr>
            <a:r>
              <a:rPr lang="en-US" sz="1100" i="1" dirty="0">
                <a:solidFill>
                  <a:srgbClr val="5A6472"/>
                </a:solidFill>
                <a:latin typeface="Calibri" pitchFamily="34" charset="0"/>
                <a:cs typeface="Amiri" pitchFamily="2" charset="-78"/>
              </a:rPr>
              <a:t>wa-khu-lā-ṣa-tu al-qaw-li</a:t>
            </a:r>
            <a:endParaRPr lang="en-US" sz="1350" dirty="0"/>
          </a:p>
        </p:txBody>
      </p:sp>
      <p:sp>
        <p:nvSpPr>
          <p:cNvPr id="33" name="Shape 30"/>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566928"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6" name="Shape 33"/>
          <p:cNvSpPr/>
          <p:nvPr/>
        </p:nvSpPr>
        <p:spPr>
          <a:xfrm>
            <a:off x="960120" y="1938528"/>
            <a:ext cx="1393546"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960120" y="1938528"/>
            <a:ext cx="1393546"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Linking connector.</a:t>
            </a:r>
            <a:endParaRPr lang="en-US" sz="800" dirty="0"/>
          </a:p>
        </p:txBody>
      </p:sp>
      <p:sp>
        <p:nvSpPr>
          <p:cNvPr id="38" name="Text 35"/>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وَمِنَ المُنْطَلَقِ ذَاتِهِ</a:t>
            </a:r>
            <a:endParaRPr lang="ar-SA" sz="3000" dirty="0"/>
          </a:p>
        </p:txBody>
      </p:sp>
      <p:sp>
        <p:nvSpPr>
          <p:cNvPr id="39" name="Text 36"/>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from the same starting point</a:t>
            </a:r>
            <a:endParaRPr lang="en-US" sz="1350" dirty="0"/>
          </a:p>
          <a:p>
            <a:pPr indent="0" marL="0">
              <a:buNone/>
            </a:pPr>
            <a:r>
              <a:rPr lang="en-US" sz="1100" i="1" dirty="0">
                <a:solidFill>
                  <a:srgbClr val="5A6472"/>
                </a:solidFill>
                <a:latin typeface="Calibri" pitchFamily="34" charset="0"/>
                <a:cs typeface="Amiri" pitchFamily="2" charset="-78"/>
              </a:rPr>
              <a:t>wa-mi-na al-mun-ṭa-la-qi dhā-ti-hi</a:t>
            </a:r>
            <a:endParaRPr lang="en-US" sz="1350" dirty="0"/>
          </a:p>
        </p:txBody>
      </p:sp>
      <p:sp>
        <p:nvSpPr>
          <p:cNvPr id="40" name="Shape 3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8211312" y="4261104"/>
            <a:ext cx="310896" cy="310896"/>
          </a:xfrm>
          <a:prstGeom prst="ellipse">
            <a:avLst/>
          </a:prstGeom>
          <a:solidFill>
            <a:srgbClr val="F4F1EA"/>
          </a:solidFill>
          <a:ln w="12700">
            <a:solidFill>
              <a:srgbClr val="F4F1EA"/>
            </a:solidFill>
            <a:prstDash val="solid"/>
          </a:ln>
        </p:spPr>
      </p:sp>
      <p:sp>
        <p:nvSpPr>
          <p:cNvPr id="42" name="Text 3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3" name="Shape 40"/>
          <p:cNvSpPr/>
          <p:nvPr/>
        </p:nvSpPr>
        <p:spPr>
          <a:xfrm>
            <a:off x="8604504" y="4279392"/>
            <a:ext cx="1207008" cy="256032"/>
          </a:xfrm>
          <a:prstGeom prst="roundRect">
            <a:avLst>
              <a:gd name="adj" fmla="val 50000"/>
            </a:avLst>
          </a:prstGeom>
          <a:solidFill>
            <a:srgbClr val="EFE7D2"/>
          </a:solidFill>
          <a:ln w="12700">
            <a:solidFill>
              <a:srgbClr val="EFE7D2"/>
            </a:solidFill>
            <a:prstDash val="solid"/>
          </a:ln>
        </p:spPr>
      </p:sp>
      <p:sp>
        <p:nvSpPr>
          <p:cNvPr id="44" name="Text 41"/>
          <p:cNvSpPr txBox="1"/>
          <p:nvPr/>
        </p:nvSpPr>
        <p:spPr>
          <a:xfrm>
            <a:off x="8604504" y="4279392"/>
            <a:ext cx="120700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she · they</a:t>
            </a:r>
            <a:endParaRPr lang="en-US" sz="800" dirty="0"/>
          </a:p>
        </p:txBody>
      </p:sp>
      <p:sp>
        <p:nvSpPr>
          <p:cNvPr id="45" name="Shape 42"/>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6" name="Text 43"/>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7" name="Text 44"/>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يَرْفُضُ أَنْ</a:t>
            </a:r>
            <a:endParaRPr lang="ar-SA" sz="3000" dirty="0"/>
          </a:p>
        </p:txBody>
      </p:sp>
      <p:sp>
        <p:nvSpPr>
          <p:cNvPr id="48" name="Text 45"/>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refuses that / to</a:t>
            </a:r>
            <a:endParaRPr lang="en-US" sz="1350" dirty="0"/>
          </a:p>
          <a:p>
            <a:pPr indent="0" marL="0">
              <a:buNone/>
            </a:pPr>
            <a:r>
              <a:rPr lang="en-US" sz="1100" i="1" dirty="0">
                <a:solidFill>
                  <a:srgbClr val="5A6472"/>
                </a:solidFill>
                <a:latin typeface="Calibri" pitchFamily="34" charset="0"/>
                <a:cs typeface="Amiri" pitchFamily="2" charset="-78"/>
              </a:rPr>
              <a:t>yar-fu-ḍu an</a:t>
            </a:r>
            <a:endParaRPr lang="en-US" sz="1350" dirty="0"/>
          </a:p>
        </p:txBody>
      </p:sp>
      <p:sp>
        <p:nvSpPr>
          <p:cNvPr id="49" name="Shape 46"/>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50" name="Text 47"/>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she / it (f.)</a:t>
            </a:r>
            <a:endParaRPr lang="en-US" sz="700" dirty="0"/>
          </a:p>
        </p:txBody>
      </p:sp>
      <p:sp>
        <p:nvSpPr>
          <p:cNvPr id="51" name="Text 48"/>
          <p:cNvSpPr txBox="1"/>
          <p:nvPr/>
        </p:nvSpPr>
        <p:spPr>
          <a:xfrm>
            <a:off x="10012680"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تَرْفُضُ أَنْ</a:t>
            </a:r>
            <a:endParaRPr lang="ar-SA" sz="1350" dirty="0"/>
          </a:p>
        </p:txBody>
      </p:sp>
      <p:sp>
        <p:nvSpPr>
          <p:cNvPr id="52" name="Shape 49"/>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53" name="Text 50"/>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they</a:t>
            </a:r>
            <a:endParaRPr lang="en-US" sz="700" dirty="0"/>
          </a:p>
        </p:txBody>
      </p:sp>
      <p:sp>
        <p:nvSpPr>
          <p:cNvPr id="54" name="Text 51"/>
          <p:cNvSpPr txBox="1"/>
          <p:nvPr/>
        </p:nvSpPr>
        <p:spPr>
          <a:xfrm>
            <a:off x="8284464"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يَرْفُضُونَ أَنْ</a:t>
            </a:r>
            <a:endParaRPr lang="ar-SA" sz="135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49</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P5-L05 · Argument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cs typeface="Amiri" pitchFamily="2" charset="-78"/>
              </a:rPr>
              <a:t>Formal conclusion connectors (2 of 2)</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P5-L05</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المُسَبِّبُ المُوَسَّعُ</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extended trigger</a:t>
            </a:r>
            <a:endParaRPr lang="en-US" sz="1350" dirty="0"/>
          </a:p>
          <a:p>
            <a:pPr indent="0" marL="0">
              <a:buNone/>
            </a:pPr>
            <a:r>
              <a:rPr lang="en-US" sz="1100" i="1" dirty="0">
                <a:solidFill>
                  <a:srgbClr val="5A6472"/>
                </a:solidFill>
                <a:latin typeface="Calibri" pitchFamily="34" charset="0"/>
                <a:cs typeface="Amiri" pitchFamily="2" charset="-78"/>
              </a:rPr>
              <a:t>al-mu-sab-bi-bu al-mu-was-sa-ʿu</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23" name="Text 20"/>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التَّرْكِيبُ المَقَالِيُّ</a:t>
            </a:r>
            <a:endParaRPr lang="ar-SA" sz="3000" dirty="0"/>
          </a:p>
        </p:txBody>
      </p:sp>
      <p:sp>
        <p:nvSpPr>
          <p:cNvPr id="24" name="Text 21"/>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essay construction</a:t>
            </a:r>
            <a:endParaRPr lang="en-US" sz="1350" dirty="0"/>
          </a:p>
          <a:p>
            <a:pPr indent="0" marL="0">
              <a:buNone/>
            </a:pPr>
            <a:r>
              <a:rPr lang="en-US" sz="1100" i="1" dirty="0">
                <a:solidFill>
                  <a:srgbClr val="5A6472"/>
                </a:solidFill>
                <a:latin typeface="Calibri" pitchFamily="34" charset="0"/>
                <a:cs typeface="Amiri" pitchFamily="2" charset="-78"/>
              </a:rPr>
              <a:t>at-tar-kī-bu al-ma-qā-liy-yu</a:t>
            </a:r>
            <a:endParaRPr lang="en-US" sz="1350" dirty="0"/>
          </a:p>
        </p:txBody>
      </p:sp>
      <p:sp>
        <p:nvSpPr>
          <p:cNvPr id="25" name="Shape 2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566928"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28" name="Shape 25"/>
          <p:cNvSpPr/>
          <p:nvPr/>
        </p:nvSpPr>
        <p:spPr>
          <a:xfrm>
            <a:off x="960120" y="1938528"/>
            <a:ext cx="1082650" cy="256032"/>
          </a:xfrm>
          <a:prstGeom prst="roundRect">
            <a:avLst>
              <a:gd name="adj" fmla="val 50000"/>
            </a:avLst>
          </a:prstGeom>
          <a:solidFill>
            <a:srgbClr val="EFE7D2"/>
          </a:solidFill>
          <a:ln w="12700">
            <a:solidFill>
              <a:srgbClr val="EFE7D2"/>
            </a:solidFill>
            <a:prstDash val="solid"/>
          </a:ln>
        </p:spPr>
      </p:sp>
      <p:sp>
        <p:nvSpPr>
          <p:cNvPr id="29" name="Text 26"/>
          <p:cNvSpPr txBox="1"/>
          <p:nvPr/>
        </p:nvSpPr>
        <p:spPr>
          <a:xfrm>
            <a:off x="960120"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she (it)</a:t>
            </a:r>
            <a:endParaRPr lang="en-US" sz="800" dirty="0"/>
          </a:p>
        </p:txBody>
      </p:sp>
      <p:sp>
        <p:nvSpPr>
          <p:cNvPr id="30" name="Shape 2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2" name="Text 2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يُنْتَهَكُ</a:t>
            </a:r>
            <a:endParaRPr lang="ar-SA" sz="3000" dirty="0"/>
          </a:p>
        </p:txBody>
      </p:sp>
      <p:sp>
        <p:nvSpPr>
          <p:cNvPr id="33" name="Text 3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is violated</a:t>
            </a:r>
            <a:endParaRPr lang="en-US" sz="1350" dirty="0"/>
          </a:p>
          <a:p>
            <a:pPr indent="0" marL="0">
              <a:buNone/>
            </a:pPr>
            <a:r>
              <a:rPr lang="en-US" sz="1100" i="1" dirty="0">
                <a:solidFill>
                  <a:srgbClr val="5A6472"/>
                </a:solidFill>
                <a:latin typeface="Calibri" pitchFamily="34" charset="0"/>
                <a:cs typeface="Amiri" pitchFamily="2" charset="-78"/>
              </a:rPr>
              <a:t>yun-ta-ha-ku</a:t>
            </a:r>
            <a:endParaRPr lang="en-US" sz="1350" dirty="0"/>
          </a:p>
        </p:txBody>
      </p:sp>
      <p:sp>
        <p:nvSpPr>
          <p:cNvPr id="34" name="Shape 31"/>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35" name="Text 32"/>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she / it (f.)</a:t>
            </a:r>
            <a:endParaRPr lang="en-US" sz="700" dirty="0"/>
          </a:p>
        </p:txBody>
      </p:sp>
      <p:sp>
        <p:nvSpPr>
          <p:cNvPr id="36" name="Text 33"/>
          <p:cNvSpPr txBox="1"/>
          <p:nvPr/>
        </p:nvSpPr>
        <p:spPr>
          <a:xfrm>
            <a:off x="640080"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تُنْتَهَكُ</a:t>
            </a:r>
            <a:endParaRPr lang="ar-SA" sz="1350" dirty="0"/>
          </a:p>
        </p:txBody>
      </p:sp>
      <p:sp>
        <p:nvSpPr>
          <p:cNvPr id="37" name="Shape 3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8211312"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40" name="Shape 37"/>
          <p:cNvSpPr/>
          <p:nvPr/>
        </p:nvSpPr>
        <p:spPr>
          <a:xfrm>
            <a:off x="8604504" y="4279392"/>
            <a:ext cx="1207008" cy="256032"/>
          </a:xfrm>
          <a:prstGeom prst="roundRect">
            <a:avLst>
              <a:gd name="adj" fmla="val 50000"/>
            </a:avLst>
          </a:prstGeom>
          <a:solidFill>
            <a:srgbClr val="EFE7D2"/>
          </a:solidFill>
          <a:ln w="12700">
            <a:solidFill>
              <a:srgbClr val="EFE7D2"/>
            </a:solidFill>
            <a:prstDash val="solid"/>
          </a:ln>
        </p:spPr>
      </p:sp>
      <p:sp>
        <p:nvSpPr>
          <p:cNvPr id="41" name="Text 38"/>
          <p:cNvSpPr txBox="1"/>
          <p:nvPr/>
        </p:nvSpPr>
        <p:spPr>
          <a:xfrm>
            <a:off x="8604504" y="4279392"/>
            <a:ext cx="120700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she · they</a:t>
            </a:r>
            <a:endParaRPr lang="en-US" sz="800" dirty="0"/>
          </a:p>
        </p:txBody>
      </p:sp>
      <p:sp>
        <p:nvSpPr>
          <p:cNvPr id="42" name="Shape 3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4" name="Text 41"/>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يُلْزَمُ بِـ</a:t>
            </a:r>
            <a:endParaRPr lang="ar-SA" sz="3000" dirty="0"/>
          </a:p>
        </p:txBody>
      </p:sp>
      <p:sp>
        <p:nvSpPr>
          <p:cNvPr id="45" name="Text 42"/>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is obliged to</a:t>
            </a:r>
            <a:endParaRPr lang="en-US" sz="1350" dirty="0"/>
          </a:p>
          <a:p>
            <a:pPr indent="0" marL="0">
              <a:buNone/>
            </a:pPr>
            <a:r>
              <a:rPr lang="en-US" sz="1100" i="1" dirty="0">
                <a:solidFill>
                  <a:srgbClr val="5A6472"/>
                </a:solidFill>
                <a:latin typeface="Calibri" pitchFamily="34" charset="0"/>
                <a:cs typeface="Amiri" pitchFamily="2" charset="-78"/>
              </a:rPr>
              <a:t>yul-za-mu bi</a:t>
            </a:r>
            <a:endParaRPr lang="en-US" sz="1350" dirty="0"/>
          </a:p>
        </p:txBody>
      </p:sp>
      <p:sp>
        <p:nvSpPr>
          <p:cNvPr id="46" name="Shape 43"/>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she / it (f.)</a:t>
            </a:r>
            <a:endParaRPr lang="en-US" sz="700" dirty="0"/>
          </a:p>
        </p:txBody>
      </p:sp>
      <p:sp>
        <p:nvSpPr>
          <p:cNvPr id="48" name="Text 45"/>
          <p:cNvSpPr txBox="1"/>
          <p:nvPr/>
        </p:nvSpPr>
        <p:spPr>
          <a:xfrm>
            <a:off x="10012680"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تُلْزَمُ بِـ</a:t>
            </a:r>
            <a:endParaRPr lang="ar-SA" sz="1350" dirty="0"/>
          </a:p>
        </p:txBody>
      </p:sp>
      <p:sp>
        <p:nvSpPr>
          <p:cNvPr id="49" name="Shape 46"/>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50" name="Text 47"/>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they</a:t>
            </a:r>
            <a:endParaRPr lang="en-US" sz="700" dirty="0"/>
          </a:p>
        </p:txBody>
      </p:sp>
      <p:sp>
        <p:nvSpPr>
          <p:cNvPr id="51" name="Text 48"/>
          <p:cNvSpPr txBox="1"/>
          <p:nvPr/>
        </p:nvSpPr>
        <p:spPr>
          <a:xfrm>
            <a:off x="8284464"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يُلْزَمُونَ بِـ</a:t>
            </a:r>
            <a:endParaRPr lang="ar-SA" sz="135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49</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P5-L05 · Argument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Global justice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P5-L05</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العَدَالَةُ الدَّوْلِيَّةُ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international justice</a:t>
            </a:r>
            <a:endParaRPr lang="en-US" sz="1350" dirty="0"/>
          </a:p>
          <a:p>
            <a:pPr indent="0" marL="0">
              <a:buNone/>
            </a:pPr>
            <a:r>
              <a:rPr lang="en-US" sz="1100" i="1" dirty="0">
                <a:solidFill>
                  <a:srgbClr val="5A6472"/>
                </a:solidFill>
                <a:latin typeface="Calibri" pitchFamily="34" charset="0"/>
                <a:cs typeface="Amiri" pitchFamily="2" charset="-78"/>
              </a:rPr>
              <a:t>al-ʿa-dā-la-tu ad-daw-liy-ya-tu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2900" b="1" dirty="0">
                <a:solidFill>
                  <a:srgbClr val="1B3B6F"/>
                </a:solidFill>
                <a:latin typeface="Amiri" pitchFamily="2" charset="-78"/>
                <a:ea typeface="Amiri" pitchFamily="2" charset="-78"/>
                <a:cs typeface="Amiri" pitchFamily="2" charset="-78"/>
              </a:rPr>
              <a:t>القَانُونُ الدَّوْلِيُّ الإِنْسَانِيُّ</a:t>
            </a:r>
            <a:endParaRPr lang="ar-SA" sz="29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international humanitarian law</a:t>
            </a:r>
            <a:endParaRPr lang="en-US" sz="1350" dirty="0"/>
          </a:p>
          <a:p>
            <a:pPr indent="0" marL="0">
              <a:buNone/>
            </a:pPr>
            <a:r>
              <a:rPr lang="en-US" sz="1100" i="1" dirty="0">
                <a:solidFill>
                  <a:srgbClr val="5A6472"/>
                </a:solidFill>
                <a:latin typeface="Calibri" pitchFamily="34" charset="0"/>
                <a:cs typeface="Amiri" pitchFamily="2" charset="-78"/>
              </a:rPr>
              <a:t>al-qā-nū-nu ad-daw-liy-yu al-in-sā-niy-yu</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مَسْؤُولِيَّةُ الحِمَايَةِ</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responsibility to protect</a:t>
            </a:r>
            <a:endParaRPr lang="en-US" sz="1350" dirty="0"/>
          </a:p>
          <a:p>
            <a:pPr indent="0" marL="0">
              <a:buNone/>
            </a:pPr>
            <a:r>
              <a:rPr lang="en-US" sz="1100" i="1" dirty="0">
                <a:solidFill>
                  <a:srgbClr val="5A6472"/>
                </a:solidFill>
                <a:latin typeface="Calibri" pitchFamily="34" charset="0"/>
                <a:cs typeface="Amiri" pitchFamily="2" charset="-78"/>
              </a:rPr>
              <a:t>mas-ʾū-liy-ya-tu al-ḥi-mā-ya-ti</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سِيَادَةُ الدَّوْلَةِ</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state sovereignty</a:t>
            </a:r>
            <a:endParaRPr lang="en-US" sz="1350" dirty="0"/>
          </a:p>
          <a:p>
            <a:pPr indent="0" marL="0">
              <a:buNone/>
            </a:pPr>
            <a:r>
              <a:rPr lang="en-US" sz="1100" i="1" dirty="0">
                <a:solidFill>
                  <a:srgbClr val="5A6472"/>
                </a:solidFill>
                <a:latin typeface="Calibri" pitchFamily="34" charset="0"/>
                <a:cs typeface="Amiri" pitchFamily="2" charset="-78"/>
              </a:rPr>
              <a:t>si-yā-da-tu ad-daw-la-ti</a:t>
            </a:r>
            <a:endParaRPr lang="en-US" sz="13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49</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P5-L05 · Argument</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Global justice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P5-L05</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مِيثَاقُ الأُمَمِ المُتَّحِدَةِ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UN Charter</a:t>
            </a:r>
            <a:endParaRPr lang="en-US" sz="1350" dirty="0"/>
          </a:p>
          <a:p>
            <a:pPr indent="0" marL="0">
              <a:buNone/>
            </a:pPr>
            <a:r>
              <a:rPr lang="en-US" sz="1100" i="1" dirty="0">
                <a:solidFill>
                  <a:srgbClr val="5A6472"/>
                </a:solidFill>
                <a:latin typeface="Calibri" pitchFamily="34" charset="0"/>
                <a:cs typeface="Amiri" pitchFamily="2" charset="-78"/>
              </a:rPr>
              <a:t>mī-thā-qu al-u-ma-mi al-mut-ta-ḥi-da-ti</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ازْدِوَاجِيَّةُ المَعَايِيرِ</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double standards</a:t>
            </a:r>
            <a:endParaRPr lang="en-US" sz="1350" dirty="0"/>
          </a:p>
          <a:p>
            <a:pPr indent="0" marL="0">
              <a:buNone/>
            </a:pPr>
            <a:r>
              <a:rPr lang="en-US" sz="1100" i="1" dirty="0">
                <a:solidFill>
                  <a:srgbClr val="5A6472"/>
                </a:solidFill>
                <a:latin typeface="Calibri" pitchFamily="34" charset="0"/>
                <a:cs typeface="Amiri" pitchFamily="2" charset="-78"/>
              </a:rPr>
              <a:t>az-di-wā-jiy-ya-tu al-ma-ʿā-yī-ri</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الإِفْلَاتُ مِنَ العِقَابِ</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impunity</a:t>
            </a:r>
            <a:endParaRPr lang="en-US" sz="1350" dirty="0"/>
          </a:p>
          <a:p>
            <a:pPr indent="0" marL="0">
              <a:buNone/>
            </a:pPr>
            <a:r>
              <a:rPr lang="en-US" sz="1100" i="1" dirty="0">
                <a:solidFill>
                  <a:srgbClr val="5A6472"/>
                </a:solidFill>
                <a:latin typeface="Calibri" pitchFamily="34" charset="0"/>
                <a:cs typeface="Amiri" pitchFamily="2" charset="-78"/>
              </a:rPr>
              <a:t>al-if-lā-tu mi-na al-ʿi-qā-bi</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التَّضَامُنُ الدَّوْلِيُّ</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international solidarity</a:t>
            </a:r>
            <a:endParaRPr lang="en-US" sz="1350" dirty="0"/>
          </a:p>
          <a:p>
            <a:pPr indent="0" marL="0">
              <a:buNone/>
            </a:pPr>
            <a:r>
              <a:rPr lang="en-US" sz="1100" i="1" dirty="0">
                <a:solidFill>
                  <a:srgbClr val="5A6472"/>
                </a:solidFill>
                <a:latin typeface="Calibri" pitchFamily="34" charset="0"/>
                <a:cs typeface="Amiri" pitchFamily="2" charset="-78"/>
              </a:rPr>
              <a:t>at-ta-ḍā-mu-nu ad-daw-liy-yu</a:t>
            </a:r>
            <a:endParaRPr lang="en-US" sz="13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49</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P5-L05 · Argument</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Law verbs and register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P5-L05</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20" name="Shape 17"/>
          <p:cNvSpPr/>
          <p:nvPr/>
        </p:nvSpPr>
        <p:spPr>
          <a:xfrm>
            <a:off x="8604504" y="1938528"/>
            <a:ext cx="1082650"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she (it)</a:t>
            </a:r>
            <a:endParaRPr lang="en-US" sz="800" dirty="0"/>
          </a:p>
        </p:txBody>
      </p:sp>
      <p:sp>
        <p:nvSpPr>
          <p:cNvPr id="22" name="Shape 19"/>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3" name="Text 20"/>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4" name="Text 21"/>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يَنْتَهِكُ</a:t>
            </a:r>
            <a:endParaRPr lang="ar-SA" sz="3000" dirty="0"/>
          </a:p>
        </p:txBody>
      </p:sp>
      <p:sp>
        <p:nvSpPr>
          <p:cNvPr id="25" name="Text 22"/>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violates</a:t>
            </a:r>
            <a:endParaRPr lang="en-US" sz="1350" dirty="0"/>
          </a:p>
          <a:p>
            <a:pPr indent="0" marL="0">
              <a:buNone/>
            </a:pPr>
            <a:r>
              <a:rPr lang="en-US" sz="1100" i="1" dirty="0">
                <a:solidFill>
                  <a:srgbClr val="5A6472"/>
                </a:solidFill>
                <a:latin typeface="Calibri" pitchFamily="34" charset="0"/>
                <a:cs typeface="Amiri" pitchFamily="2" charset="-78"/>
              </a:rPr>
              <a:t>yan-ta-hi-ku</a:t>
            </a:r>
            <a:endParaRPr lang="en-US" sz="1350" dirty="0"/>
          </a:p>
        </p:txBody>
      </p:sp>
      <p:sp>
        <p:nvSpPr>
          <p:cNvPr id="26" name="Shape 23"/>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7" name="Text 24"/>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she / it (f.)</a:t>
            </a:r>
            <a:endParaRPr lang="en-US" sz="700" dirty="0"/>
          </a:p>
        </p:txBody>
      </p:sp>
      <p:sp>
        <p:nvSpPr>
          <p:cNvPr id="28" name="Text 25"/>
          <p:cNvSpPr txBox="1"/>
          <p:nvPr/>
        </p:nvSpPr>
        <p:spPr>
          <a:xfrm>
            <a:off x="8284464"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تَنْتَهِكُ</a:t>
            </a:r>
            <a:endParaRPr lang="ar-SA" sz="1350" dirty="0"/>
          </a:p>
        </p:txBody>
      </p:sp>
      <p:sp>
        <p:nvSpPr>
          <p:cNvPr id="29" name="Shape 26"/>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4389120"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32" name="Shape 29"/>
          <p:cNvSpPr/>
          <p:nvPr/>
        </p:nvSpPr>
        <p:spPr>
          <a:xfrm>
            <a:off x="4782312" y="1938528"/>
            <a:ext cx="1082650" cy="256032"/>
          </a:xfrm>
          <a:prstGeom prst="roundRect">
            <a:avLst>
              <a:gd name="adj" fmla="val 50000"/>
            </a:avLst>
          </a:prstGeom>
          <a:solidFill>
            <a:srgbClr val="EFE7D2"/>
          </a:solidFill>
          <a:ln w="12700">
            <a:solidFill>
              <a:srgbClr val="EFE7D2"/>
            </a:solidFill>
            <a:prstDash val="solid"/>
          </a:ln>
        </p:spPr>
      </p:sp>
      <p:sp>
        <p:nvSpPr>
          <p:cNvPr id="33" name="Text 30"/>
          <p:cNvSpPr txBox="1"/>
          <p:nvPr/>
        </p:nvSpPr>
        <p:spPr>
          <a:xfrm>
            <a:off x="4782312"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she (it)</a:t>
            </a:r>
            <a:endParaRPr lang="en-US" sz="800" dirty="0"/>
          </a:p>
        </p:txBody>
      </p:sp>
      <p:sp>
        <p:nvSpPr>
          <p:cNvPr id="34" name="Text 31"/>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يَتَحَمَّلُ المَسْؤُولِيَّةَ</a:t>
            </a:r>
            <a:endParaRPr lang="ar-SA" sz="3000" dirty="0"/>
          </a:p>
        </p:txBody>
      </p:sp>
      <p:sp>
        <p:nvSpPr>
          <p:cNvPr id="35" name="Text 32"/>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bears responsibility</a:t>
            </a:r>
            <a:endParaRPr lang="en-US" sz="1350" dirty="0"/>
          </a:p>
          <a:p>
            <a:pPr indent="0" marL="0">
              <a:buNone/>
            </a:pPr>
            <a:r>
              <a:rPr lang="en-US" sz="1100" i="1" dirty="0">
                <a:solidFill>
                  <a:srgbClr val="5A6472"/>
                </a:solidFill>
                <a:latin typeface="Calibri" pitchFamily="34" charset="0"/>
                <a:cs typeface="Amiri" pitchFamily="2" charset="-78"/>
              </a:rPr>
              <a:t>ya-ta-ḥam-ma-lu al-mas-ʾū-liy-ya-ta</a:t>
            </a:r>
            <a:endParaRPr lang="en-US" sz="1350" dirty="0"/>
          </a:p>
        </p:txBody>
      </p:sp>
      <p:sp>
        <p:nvSpPr>
          <p:cNvPr id="36" name="Shape 33"/>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7" name="Text 34"/>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she / it (f.)</a:t>
            </a:r>
            <a:endParaRPr lang="en-US" sz="700" dirty="0"/>
          </a:p>
        </p:txBody>
      </p:sp>
      <p:sp>
        <p:nvSpPr>
          <p:cNvPr id="38" name="Text 35"/>
          <p:cNvSpPr txBox="1"/>
          <p:nvPr/>
        </p:nvSpPr>
        <p:spPr>
          <a:xfrm>
            <a:off x="4462272"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تَتَحَمَّلُ المَسْؤُولِيَّةَ</a:t>
            </a:r>
            <a:endParaRPr lang="ar-SA" sz="1350" dirty="0"/>
          </a:p>
        </p:txBody>
      </p:sp>
      <p:sp>
        <p:nvSpPr>
          <p:cNvPr id="39" name="Shape 3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66928" y="1920240"/>
            <a:ext cx="310896" cy="310896"/>
          </a:xfrm>
          <a:prstGeom prst="ellipse">
            <a:avLst/>
          </a:prstGeom>
          <a:solidFill>
            <a:srgbClr val="F4F1EA"/>
          </a:solidFill>
          <a:ln w="12700">
            <a:solidFill>
              <a:srgbClr val="F4F1EA"/>
            </a:solidFill>
            <a:prstDash val="solid"/>
          </a:ln>
        </p:spPr>
      </p:sp>
      <p:sp>
        <p:nvSpPr>
          <p:cNvPr id="41" name="Text 3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42" name="Text 3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يَرْفُضُ الامْتِثَالَ لِـ</a:t>
            </a:r>
            <a:endParaRPr lang="ar-SA" sz="3000" dirty="0"/>
          </a:p>
        </p:txBody>
      </p:sp>
      <p:sp>
        <p:nvSpPr>
          <p:cNvPr id="43" name="Text 4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refuses to comply with</a:t>
            </a:r>
            <a:endParaRPr lang="en-US" sz="1350" dirty="0"/>
          </a:p>
          <a:p>
            <a:pPr indent="0" marL="0">
              <a:buNone/>
            </a:pPr>
            <a:r>
              <a:rPr lang="en-US" sz="1100" i="1" dirty="0">
                <a:solidFill>
                  <a:srgbClr val="5A6472"/>
                </a:solidFill>
                <a:latin typeface="Calibri" pitchFamily="34" charset="0"/>
                <a:cs typeface="Amiri" pitchFamily="2" charset="-78"/>
              </a:rPr>
              <a:t>yar-fu-ḍu alm-ti-thā-la li</a:t>
            </a:r>
            <a:endParaRPr lang="en-US" sz="1350" dirty="0"/>
          </a:p>
        </p:txBody>
      </p:sp>
      <p:sp>
        <p:nvSpPr>
          <p:cNvPr id="44" name="Shape 4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8211312" y="4261104"/>
            <a:ext cx="310896" cy="310896"/>
          </a:xfrm>
          <a:prstGeom prst="ellipse">
            <a:avLst/>
          </a:prstGeom>
          <a:solidFill>
            <a:srgbClr val="F4F1EA"/>
          </a:solidFill>
          <a:ln w="12700">
            <a:solidFill>
              <a:srgbClr val="F4F1EA"/>
            </a:solidFill>
            <a:prstDash val="solid"/>
          </a:ln>
        </p:spPr>
      </p:sp>
      <p:sp>
        <p:nvSpPr>
          <p:cNvPr id="46" name="Text 4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47" name="Shape 44"/>
          <p:cNvSpPr/>
          <p:nvPr/>
        </p:nvSpPr>
        <p:spPr>
          <a:xfrm>
            <a:off x="8604504" y="4279392"/>
            <a:ext cx="1082650" cy="256032"/>
          </a:xfrm>
          <a:prstGeom prst="roundRect">
            <a:avLst>
              <a:gd name="adj" fmla="val 50000"/>
            </a:avLst>
          </a:prstGeom>
          <a:solidFill>
            <a:srgbClr val="EFE7D2"/>
          </a:solidFill>
          <a:ln w="12700">
            <a:solidFill>
              <a:srgbClr val="EFE7D2"/>
            </a:solidFill>
            <a:prstDash val="solid"/>
          </a:ln>
        </p:spPr>
      </p:sp>
      <p:sp>
        <p:nvSpPr>
          <p:cNvPr id="48" name="Text 45"/>
          <p:cNvSpPr txBox="1"/>
          <p:nvPr/>
        </p:nvSpPr>
        <p:spPr>
          <a:xfrm>
            <a:off x="8604504" y="4279392"/>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she (it)</a:t>
            </a:r>
            <a:endParaRPr lang="en-US" sz="800" dirty="0"/>
          </a:p>
        </p:txBody>
      </p:sp>
      <p:sp>
        <p:nvSpPr>
          <p:cNvPr id="49" name="Text 46"/>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يُلْزِمُ بِـ</a:t>
            </a:r>
            <a:endParaRPr lang="ar-SA" sz="3000" dirty="0"/>
          </a:p>
        </p:txBody>
      </p:sp>
      <p:sp>
        <p:nvSpPr>
          <p:cNvPr id="50" name="Text 47"/>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obliges to</a:t>
            </a:r>
            <a:endParaRPr lang="en-US" sz="1350" dirty="0"/>
          </a:p>
          <a:p>
            <a:pPr indent="0" marL="0">
              <a:buNone/>
            </a:pPr>
            <a:r>
              <a:rPr lang="en-US" sz="1100" i="1" dirty="0">
                <a:solidFill>
                  <a:srgbClr val="5A6472"/>
                </a:solidFill>
                <a:latin typeface="Calibri" pitchFamily="34" charset="0"/>
                <a:cs typeface="Amiri" pitchFamily="2" charset="-78"/>
              </a:rPr>
              <a:t>yul-zi-mu bi</a:t>
            </a:r>
            <a:endParaRPr lang="en-US" sz="1350" dirty="0"/>
          </a:p>
        </p:txBody>
      </p:sp>
      <p:sp>
        <p:nvSpPr>
          <p:cNvPr id="51" name="Shape 48"/>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52" name="Text 49"/>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she / it (f.)</a:t>
            </a:r>
            <a:endParaRPr lang="en-US" sz="700" dirty="0"/>
          </a:p>
        </p:txBody>
      </p:sp>
      <p:sp>
        <p:nvSpPr>
          <p:cNvPr id="53" name="Text 50"/>
          <p:cNvSpPr txBox="1"/>
          <p:nvPr/>
        </p:nvSpPr>
        <p:spPr>
          <a:xfrm>
            <a:off x="8284464" y="5916168"/>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تُلْزِمُ بِـ</a:t>
            </a:r>
            <a:endParaRPr lang="ar-SA" sz="1350" dirty="0"/>
          </a:p>
        </p:txBody>
      </p:sp>
      <p:sp>
        <p:nvSpPr>
          <p:cNvPr id="54" name="Text 5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49</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P5-L05 · Argument</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Law verbs and register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P5-L05</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20" name="Shape 17"/>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قَرَارُ مَجْلِسِ الأَمْنِ</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Security Council resolution</a:t>
            </a:r>
            <a:endParaRPr lang="en-US" sz="1350" dirty="0"/>
          </a:p>
          <a:p>
            <a:pPr indent="0" marL="0">
              <a:buNone/>
            </a:pPr>
            <a:r>
              <a:rPr lang="en-US" sz="1100" i="1" dirty="0">
                <a:solidFill>
                  <a:srgbClr val="5A6472"/>
                </a:solidFill>
                <a:latin typeface="Calibri" pitchFamily="34" charset="0"/>
                <a:cs typeface="Amiri" pitchFamily="2" charset="-78"/>
              </a:rPr>
              <a:t>qa-rā-ru maj-li-si al-am-ni</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قَرَارَاتُ مَجْلِسِ الأَمْنِ</a:t>
            </a:r>
            <a:endParaRPr lang="ar-SA" sz="150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30" name="Text 27"/>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تَعْوِيضَاتُ الحَرْبِ</a:t>
            </a:r>
            <a:endParaRPr lang="ar-SA" sz="3000" dirty="0"/>
          </a:p>
        </p:txBody>
      </p:sp>
      <p:sp>
        <p:nvSpPr>
          <p:cNvPr id="31" name="Text 28"/>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war reparations</a:t>
            </a:r>
            <a:endParaRPr lang="en-US" sz="1350" dirty="0"/>
          </a:p>
          <a:p>
            <a:pPr indent="0" marL="0">
              <a:buNone/>
            </a:pPr>
            <a:r>
              <a:rPr lang="en-US" sz="1100" i="1" dirty="0">
                <a:solidFill>
                  <a:srgbClr val="5A6472"/>
                </a:solidFill>
                <a:latin typeface="Calibri" pitchFamily="34" charset="0"/>
                <a:cs typeface="Amiri" pitchFamily="2" charset="-78"/>
              </a:rPr>
              <a:t>taʿ-wī-ḍā-tu al-ḥar-bi</a:t>
            </a:r>
            <a:endParaRPr lang="en-US" sz="1350" dirty="0"/>
          </a:p>
        </p:txBody>
      </p:sp>
      <p:sp>
        <p:nvSpPr>
          <p:cNvPr id="32" name="Shape 29"/>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566928" y="1920240"/>
            <a:ext cx="310896" cy="310896"/>
          </a:xfrm>
          <a:prstGeom prst="ellipse">
            <a:avLst/>
          </a:prstGeom>
          <a:solidFill>
            <a:srgbClr val="F4F1EA"/>
          </a:solidFill>
          <a:ln w="12700">
            <a:solidFill>
              <a:srgbClr val="F4F1EA"/>
            </a:solidFill>
            <a:prstDash val="solid"/>
          </a:ln>
        </p:spPr>
      </p:sp>
      <p:sp>
        <p:nvSpPr>
          <p:cNvPr id="34" name="Text 31"/>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23</a:t>
            </a:r>
            <a:endParaRPr lang="en-US" sz="1000" dirty="0"/>
          </a:p>
        </p:txBody>
      </p:sp>
      <p:sp>
        <p:nvSpPr>
          <p:cNvPr id="35" name="Shape 32"/>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36" name="Text 33"/>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37" name="Text 34"/>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مَبْدَأٌ</a:t>
            </a:r>
            <a:endParaRPr lang="ar-SA" sz="3000" dirty="0"/>
          </a:p>
        </p:txBody>
      </p:sp>
      <p:sp>
        <p:nvSpPr>
          <p:cNvPr id="38" name="Text 35"/>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principle</a:t>
            </a:r>
            <a:endParaRPr lang="en-US" sz="1350" dirty="0"/>
          </a:p>
          <a:p>
            <a:pPr indent="0" marL="0">
              <a:buNone/>
            </a:pPr>
            <a:r>
              <a:rPr lang="en-US" sz="1100" i="1" dirty="0">
                <a:solidFill>
                  <a:srgbClr val="5A6472"/>
                </a:solidFill>
                <a:latin typeface="Calibri" pitchFamily="34" charset="0"/>
                <a:cs typeface="Amiri" pitchFamily="2" charset="-78"/>
              </a:rPr>
              <a:t>mab-da-ʾun</a:t>
            </a:r>
            <a:endParaRPr lang="en-US" sz="1350" dirty="0"/>
          </a:p>
        </p:txBody>
      </p:sp>
      <p:sp>
        <p:nvSpPr>
          <p:cNvPr id="39" name="Shape 36"/>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1" name="Text 38"/>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مَبَادِئُ</a:t>
            </a:r>
            <a:endParaRPr lang="ar-SA" sz="1500" dirty="0"/>
          </a:p>
        </p:txBody>
      </p:sp>
      <p:sp>
        <p:nvSpPr>
          <p:cNvPr id="42" name="Shape 3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11312"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24</a:t>
            </a:r>
            <a:endParaRPr lang="en-US" sz="1000" dirty="0"/>
          </a:p>
        </p:txBody>
      </p:sp>
      <p:sp>
        <p:nvSpPr>
          <p:cNvPr id="45" name="Shape 42"/>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6" name="Text 43"/>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7" name="Text 4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المُحَاسَبَةُ الدَّوْلِيَّةُ</a:t>
            </a:r>
            <a:endParaRPr lang="ar-SA" sz="3000" dirty="0"/>
          </a:p>
        </p:txBody>
      </p:sp>
      <p:sp>
        <p:nvSpPr>
          <p:cNvPr id="48" name="Text 4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international accountability</a:t>
            </a:r>
            <a:endParaRPr lang="en-US" sz="1350" dirty="0"/>
          </a:p>
          <a:p>
            <a:pPr indent="0" marL="0">
              <a:buNone/>
            </a:pPr>
            <a:r>
              <a:rPr lang="en-US" sz="1100" i="1" dirty="0">
                <a:solidFill>
                  <a:srgbClr val="5A6472"/>
                </a:solidFill>
                <a:latin typeface="Calibri" pitchFamily="34" charset="0"/>
                <a:cs typeface="Amiri" pitchFamily="2" charset="-78"/>
              </a:rPr>
              <a:t>al-mu-ḥā-sa-ba-tu ad-daw-liy-ya-tu</a:t>
            </a:r>
            <a:endParaRPr lang="en-US" sz="1350" dirty="0"/>
          </a:p>
        </p:txBody>
      </p:sp>
      <p:sp>
        <p:nvSpPr>
          <p:cNvPr id="49"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49</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P5-L05 · Argument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1 · FORMAL CONCLUSION CONNECTORS (WEBSITE RULE 1, TEACHING POINT 1, BUILDER TASK 3) · CORE</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Close it like a UN report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الخَاتِمَةُ الرَّسْمِيَّةُ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P5-L05</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5468112" y="1810512"/>
            <a:ext cx="6190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What follows (website texts)</a:t>
            </a:r>
            <a:endParaRPr lang="en-US" sz="1100" dirty="0"/>
          </a:p>
        </p:txBody>
      </p:sp>
      <p:sp>
        <p:nvSpPr>
          <p:cNvPr id="17" name="Text 14"/>
          <p:cNvSpPr txBox="1"/>
          <p:nvPr/>
        </p:nvSpPr>
        <p:spPr>
          <a:xfrm>
            <a:off x="3547872" y="1810512"/>
            <a:ext cx="1773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8" name="Text 15"/>
          <p:cNvSpPr txBox="1"/>
          <p:nvPr/>
        </p:nvSpPr>
        <p:spPr>
          <a:xfrm>
            <a:off x="530352" y="1810512"/>
            <a:ext cx="28712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Connector</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5486400" y="2267712"/>
            <a:ext cx="6153912" cy="682142"/>
          </a:xfrm>
          <a:prstGeom prst="rect">
            <a:avLst/>
          </a:prstGeom>
          <a:noFill/>
          <a:ln/>
        </p:spPr>
        <p:txBody>
          <a:bodyPr wrap="square" lIns="0" tIns="0" rIns="0" bIns="0" rtlCol="0" anchor="ctr"/>
          <a:lstStyle/>
          <a:p>
            <a:pPr rtl="1" algn="ctr" indent="0" marL="0">
              <a:buNone/>
            </a:pPr>
            <a:r>
              <a:rPr lang="ar-SA" altLang="en-US" sz="1700" b="1" dirty="0">
                <a:solidFill>
                  <a:srgbClr val="1D5FBF"/>
                </a:solidFill>
                <a:latin typeface="Amiri" pitchFamily="2" charset="-78"/>
                <a:ea typeface="Amiri" pitchFamily="2" charset="-78"/>
                <a:cs typeface="Amiri" pitchFamily="2" charset="-78"/>
              </a:rPr>
              <a:t>وَبِنَاءً عَلَى مَا سَبَقَ</a:t>
            </a:r>
            <a:pPr rtl="1" algn="ctr" indent="0" marL="0">
              <a:buNone/>
            </a:pPr>
            <a:r>
              <a:rPr lang="ar-SA" altLang="en-US" sz="1700" b="1" dirty="0">
                <a:solidFill>
                  <a:srgbClr val="1B3B6F"/>
                </a:solidFill>
                <a:latin typeface="Amiri" pitchFamily="2" charset="-78"/>
                <a:ea typeface="Amiri" pitchFamily="2" charset="-78"/>
                <a:cs typeface="Amiri" pitchFamily="2" charset="-78"/>
              </a:rPr>
              <a:t>، يُعَدُّ إِصْلَاحُ مَجْلِسِ الأَمْنِ ضَرُورَةً.</a:t>
            </a:r>
            <a:endParaRPr lang="ar-SA" sz="1700" dirty="0"/>
          </a:p>
        </p:txBody>
      </p:sp>
      <p:sp>
        <p:nvSpPr>
          <p:cNvPr id="21" name="Text 18"/>
          <p:cNvSpPr txBox="1"/>
          <p:nvPr/>
        </p:nvSpPr>
        <p:spPr>
          <a:xfrm>
            <a:off x="3584448" y="2267712"/>
            <a:ext cx="17373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based on the above</a:t>
            </a:r>
            <a:endParaRPr lang="en-US" sz="1100" dirty="0"/>
          </a:p>
        </p:txBody>
      </p:sp>
      <p:sp>
        <p:nvSpPr>
          <p:cNvPr id="22" name="Text 19"/>
          <p:cNvSpPr txBox="1"/>
          <p:nvPr/>
        </p:nvSpPr>
        <p:spPr>
          <a:xfrm>
            <a:off x="548640" y="2267712"/>
            <a:ext cx="2834640" cy="682142"/>
          </a:xfrm>
          <a:prstGeom prst="rect">
            <a:avLst/>
          </a:prstGeom>
          <a:noFill/>
          <a:ln/>
        </p:spPr>
        <p:txBody>
          <a:bodyPr wrap="square" lIns="0" tIns="0" rIns="0" bIns="0" rtlCol="0" anchor="ctr"/>
          <a:lstStyle/>
          <a:p>
            <a:pPr rtl="1" algn="ctr" indent="0" marL="0">
              <a:buNone/>
            </a:pPr>
            <a:r>
              <a:rPr lang="ar-SA" altLang="en-US" sz="1900" b="1" dirty="0">
                <a:solidFill>
                  <a:srgbClr val="1D5FBF"/>
                </a:solidFill>
                <a:latin typeface="Amiri" pitchFamily="2" charset="-78"/>
                <a:ea typeface="Amiri" pitchFamily="2" charset="-78"/>
                <a:cs typeface="Amiri" pitchFamily="2" charset="-78"/>
              </a:rPr>
              <a:t>وَبِنَاءً عَلَى مَا سَبَقَ</a:t>
            </a:r>
            <a:endParaRPr lang="ar-SA" sz="19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5486400" y="3004718"/>
            <a:ext cx="6153912" cy="682142"/>
          </a:xfrm>
          <a:prstGeom prst="rect">
            <a:avLst/>
          </a:prstGeom>
          <a:noFill/>
          <a:ln/>
        </p:spPr>
        <p:txBody>
          <a:bodyPr wrap="square" lIns="0" tIns="0" rIns="0" bIns="0" rtlCol="0" anchor="ctr"/>
          <a:lstStyle/>
          <a:p>
            <a:pPr rtl="1" algn="ctr" indent="0" marL="0">
              <a:buNone/>
            </a:pPr>
            <a:r>
              <a:rPr lang="ar-SA" altLang="en-US" sz="1700" b="1" dirty="0">
                <a:solidFill>
                  <a:srgbClr val="1D5FBF"/>
                </a:solidFill>
                <a:latin typeface="Amiri" pitchFamily="2" charset="-78"/>
                <a:ea typeface="Amiri" pitchFamily="2" charset="-78"/>
                <a:cs typeface="Amiri" pitchFamily="2" charset="-78"/>
              </a:rPr>
              <a:t>وَبِنَاءً عَلَى مَا سَبَقَ</a:t>
            </a:r>
            <a:pPr rtl="1" algn="ctr" indent="0" marL="0">
              <a:buNone/>
            </a:pPr>
            <a:r>
              <a:rPr lang="ar-SA" altLang="en-US" sz="1700" b="1" dirty="0">
                <a:solidFill>
                  <a:srgbClr val="1B3B6F"/>
                </a:solidFill>
                <a:latin typeface="Amiri" pitchFamily="2" charset="-78"/>
                <a:ea typeface="Amiri" pitchFamily="2" charset="-78"/>
                <a:cs typeface="Amiri" pitchFamily="2" charset="-78"/>
              </a:rPr>
              <a:t>، مِنَ الضَّرُورِيِّ أَنْ </a:t>
            </a:r>
            <a:pPr rtl="1" algn="ctr" indent="0" marL="0">
              <a:buNone/>
            </a:pPr>
            <a:r>
              <a:rPr lang="ar-SA" altLang="en-US" sz="1700" b="1" dirty="0">
                <a:solidFill>
                  <a:srgbClr val="D6336C"/>
                </a:solidFill>
                <a:latin typeface="Amiri" pitchFamily="2" charset="-78"/>
                <a:ea typeface="Amiri" pitchFamily="2" charset="-78"/>
                <a:cs typeface="Amiri" pitchFamily="2" charset="-78"/>
              </a:rPr>
              <a:t>يُصْلَحَ</a:t>
            </a:r>
            <a:pPr rtl="1" algn="ctr" indent="0" marL="0">
              <a:buNone/>
            </a:pPr>
            <a:r>
              <a:rPr lang="ar-SA" altLang="en-US" sz="1700" b="1" dirty="0">
                <a:solidFill>
                  <a:srgbClr val="1B3B6F"/>
                </a:solidFill>
                <a:latin typeface="Amiri" pitchFamily="2" charset="-78"/>
                <a:ea typeface="Amiri" pitchFamily="2" charset="-78"/>
                <a:cs typeface="Amiri" pitchFamily="2" charset="-78"/>
              </a:rPr>
              <a:t> النِّظَامُ الدَّوْلِيُّ.</a:t>
            </a:r>
            <a:endParaRPr lang="ar-SA" sz="1700" dirty="0"/>
          </a:p>
        </p:txBody>
      </p:sp>
      <p:sp>
        <p:nvSpPr>
          <p:cNvPr id="27" name="Text 24"/>
          <p:cNvSpPr txBox="1"/>
          <p:nvPr/>
        </p:nvSpPr>
        <p:spPr>
          <a:xfrm>
            <a:off x="3584448" y="3004718"/>
            <a:ext cx="17373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 necessity -a</a:t>
            </a:r>
            <a:endParaRPr lang="en-US" sz="1100" dirty="0"/>
          </a:p>
        </p:txBody>
      </p:sp>
      <p:sp>
        <p:nvSpPr>
          <p:cNvPr id="28" name="Text 25"/>
          <p:cNvSpPr txBox="1"/>
          <p:nvPr/>
        </p:nvSpPr>
        <p:spPr>
          <a:xfrm>
            <a:off x="548640" y="3004718"/>
            <a:ext cx="2834640" cy="682142"/>
          </a:xfrm>
          <a:prstGeom prst="rect">
            <a:avLst/>
          </a:prstGeom>
          <a:noFill/>
          <a:ln/>
        </p:spPr>
        <p:txBody>
          <a:bodyPr wrap="square" lIns="0" tIns="0" rIns="0" bIns="0" rtlCol="0" anchor="ctr"/>
          <a:lstStyle/>
          <a:p>
            <a:pPr rtl="1" algn="ctr" indent="0" marL="0">
              <a:buNone/>
            </a:pPr>
            <a:r>
              <a:rPr lang="ar-SA" altLang="en-US" sz="1900" b="1" dirty="0">
                <a:solidFill>
                  <a:srgbClr val="1D5FBF"/>
                </a:solidFill>
                <a:latin typeface="Amiri" pitchFamily="2" charset="-78"/>
                <a:ea typeface="Amiri" pitchFamily="2" charset="-78"/>
                <a:cs typeface="Amiri" pitchFamily="2" charset="-78"/>
              </a:rPr>
              <a:t>وَبِنَاءً عَلَى مَا سَبَقَ</a:t>
            </a:r>
            <a:endParaRPr lang="ar-SA" sz="19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5486400" y="3741725"/>
            <a:ext cx="6153912" cy="682142"/>
          </a:xfrm>
          <a:prstGeom prst="rect">
            <a:avLst/>
          </a:prstGeom>
          <a:noFill/>
          <a:ln/>
        </p:spPr>
        <p:txBody>
          <a:bodyPr wrap="square" lIns="0" tIns="0" rIns="0" bIns="0" rtlCol="0" anchor="ctr"/>
          <a:lstStyle/>
          <a:p>
            <a:pPr rtl="1" algn="ctr" indent="0" marL="0">
              <a:buNone/>
            </a:pPr>
            <a:r>
              <a:rPr lang="ar-SA" altLang="en-US" sz="1700" b="1" dirty="0">
                <a:solidFill>
                  <a:srgbClr val="0E7C86"/>
                </a:solidFill>
                <a:latin typeface="Amiri" pitchFamily="2" charset="-78"/>
                <a:ea typeface="Amiri" pitchFamily="2" charset="-78"/>
                <a:cs typeface="Amiri" pitchFamily="2" charset="-78"/>
              </a:rPr>
              <a:t>وَخُلَاصَةُ القَوْلِ</a:t>
            </a:r>
            <a:pPr rtl="1" algn="ctr" indent="0" marL="0">
              <a:buNone/>
            </a:pPr>
            <a:r>
              <a:rPr lang="ar-SA" altLang="en-US" sz="1700" b="1" dirty="0">
                <a:solidFill>
                  <a:srgbClr val="1B3B6F"/>
                </a:solidFill>
                <a:latin typeface="Amiri" pitchFamily="2" charset="-78"/>
                <a:ea typeface="Amiri" pitchFamily="2" charset="-78"/>
                <a:cs typeface="Amiri" pitchFamily="2" charset="-78"/>
              </a:rPr>
              <a:t>، لَا عَدَالَةَ دُونَ مُحَاسَبَةٍ.</a:t>
            </a:r>
            <a:endParaRPr lang="ar-SA" sz="1700" dirty="0"/>
          </a:p>
        </p:txBody>
      </p:sp>
      <p:sp>
        <p:nvSpPr>
          <p:cNvPr id="33" name="Text 30"/>
          <p:cNvSpPr txBox="1"/>
          <p:nvPr/>
        </p:nvSpPr>
        <p:spPr>
          <a:xfrm>
            <a:off x="3584448" y="3741725"/>
            <a:ext cx="17373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in summary</a:t>
            </a:r>
            <a:endParaRPr lang="en-US" sz="1100" dirty="0"/>
          </a:p>
        </p:txBody>
      </p:sp>
      <p:sp>
        <p:nvSpPr>
          <p:cNvPr id="34" name="Text 31"/>
          <p:cNvSpPr txBox="1"/>
          <p:nvPr/>
        </p:nvSpPr>
        <p:spPr>
          <a:xfrm>
            <a:off x="548640" y="3741725"/>
            <a:ext cx="2834640" cy="682142"/>
          </a:xfrm>
          <a:prstGeom prst="rect">
            <a:avLst/>
          </a:prstGeom>
          <a:noFill/>
          <a:ln/>
        </p:spPr>
        <p:txBody>
          <a:bodyPr wrap="square" lIns="0" tIns="0" rIns="0" bIns="0" rtlCol="0" anchor="ctr"/>
          <a:lstStyle/>
          <a:p>
            <a:pPr rtl="1" algn="ctr" indent="0" marL="0">
              <a:buNone/>
            </a:pPr>
            <a:r>
              <a:rPr lang="ar-SA" altLang="en-US" sz="1900" b="1" dirty="0">
                <a:solidFill>
                  <a:srgbClr val="0E7C86"/>
                </a:solidFill>
                <a:latin typeface="Amiri" pitchFamily="2" charset="-78"/>
                <a:ea typeface="Amiri" pitchFamily="2" charset="-78"/>
                <a:cs typeface="Amiri" pitchFamily="2" charset="-78"/>
              </a:rPr>
              <a:t>وَخُلَاصَةُ القَوْلِ</a:t>
            </a:r>
            <a:endParaRPr lang="ar-SA" sz="1900" dirty="0"/>
          </a:p>
        </p:txBody>
      </p:sp>
      <p:sp>
        <p:nvSpPr>
          <p:cNvPr id="35" name="Shape 3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6" name="Text 33"/>
          <p:cNvSpPr txBox="1"/>
          <p:nvPr/>
        </p:nvSpPr>
        <p:spPr>
          <a:xfrm>
            <a:off x="5486400" y="4478731"/>
            <a:ext cx="6153912" cy="682142"/>
          </a:xfrm>
          <a:prstGeom prst="rect">
            <a:avLst/>
          </a:prstGeom>
          <a:noFill/>
          <a:ln/>
        </p:spPr>
        <p:txBody>
          <a:bodyPr wrap="square" lIns="0" tIns="0" rIns="0" bIns="0" rtlCol="0" anchor="ctr"/>
          <a:lstStyle/>
          <a:p>
            <a:pPr rtl="1" algn="ctr" indent="0" marL="0">
              <a:buNone/>
            </a:pPr>
            <a:r>
              <a:rPr lang="ar-SA" altLang="en-US" sz="1700" b="1" dirty="0">
                <a:solidFill>
                  <a:srgbClr val="7B3FA0"/>
                </a:solidFill>
                <a:latin typeface="Amiri" pitchFamily="2" charset="-78"/>
                <a:ea typeface="Amiri" pitchFamily="2" charset="-78"/>
                <a:cs typeface="Amiri" pitchFamily="2" charset="-78"/>
              </a:rPr>
              <a:t>وَمِنَ المُنْطَلَقِ ذَاتِهِ</a:t>
            </a:r>
            <a:pPr rtl="1" algn="ctr" indent="0" marL="0">
              <a:buNone/>
            </a:pPr>
            <a:r>
              <a:rPr lang="ar-SA" altLang="en-US" sz="1700" b="1" dirty="0">
                <a:solidFill>
                  <a:srgbClr val="1B3B6F"/>
                </a:solidFill>
                <a:latin typeface="Amiri" pitchFamily="2" charset="-78"/>
                <a:ea typeface="Amiri" pitchFamily="2" charset="-78"/>
                <a:cs typeface="Amiri" pitchFamily="2" charset="-78"/>
              </a:rPr>
              <a:t>، تَجِبُ المُسَاوَاةُ فِي التَّطْبِيقِ.</a:t>
            </a:r>
            <a:endParaRPr lang="ar-SA" sz="1700" dirty="0"/>
          </a:p>
        </p:txBody>
      </p:sp>
      <p:sp>
        <p:nvSpPr>
          <p:cNvPr id="37" name="Text 34"/>
          <p:cNvSpPr txBox="1"/>
          <p:nvPr/>
        </p:nvSpPr>
        <p:spPr>
          <a:xfrm>
            <a:off x="3584448" y="4478731"/>
            <a:ext cx="17373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from the same point</a:t>
            </a:r>
            <a:endParaRPr lang="en-US" sz="1100" dirty="0"/>
          </a:p>
        </p:txBody>
      </p:sp>
      <p:sp>
        <p:nvSpPr>
          <p:cNvPr id="38" name="Text 35"/>
          <p:cNvSpPr txBox="1"/>
          <p:nvPr/>
        </p:nvSpPr>
        <p:spPr>
          <a:xfrm>
            <a:off x="548640" y="4478731"/>
            <a:ext cx="2834640" cy="682142"/>
          </a:xfrm>
          <a:prstGeom prst="rect">
            <a:avLst/>
          </a:prstGeom>
          <a:noFill/>
          <a:ln/>
        </p:spPr>
        <p:txBody>
          <a:bodyPr wrap="square" lIns="0" tIns="0" rIns="0" bIns="0" rtlCol="0" anchor="ctr"/>
          <a:lstStyle/>
          <a:p>
            <a:pPr rtl="1" algn="ctr" indent="0" marL="0">
              <a:buNone/>
            </a:pPr>
            <a:r>
              <a:rPr lang="ar-SA" altLang="en-US" sz="1900" b="1" dirty="0">
                <a:solidFill>
                  <a:srgbClr val="7B3FA0"/>
                </a:solidFill>
                <a:latin typeface="Amiri" pitchFamily="2" charset="-78"/>
                <a:ea typeface="Amiri" pitchFamily="2" charset="-78"/>
                <a:cs typeface="Amiri" pitchFamily="2" charset="-78"/>
              </a:rPr>
              <a:t>وَمِنَ المُنْطَلَقِ ذَاتِهِ</a:t>
            </a:r>
            <a:endParaRPr lang="ar-SA" sz="19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5486400" y="5215738"/>
            <a:ext cx="6153912"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 وَأَيْضًا، مِنَ الضَّرُورِيِّ … → ✓ </a:t>
            </a:r>
            <a:pPr rtl="1" algn="ctr" indent="0" marL="0">
              <a:buNone/>
            </a:pPr>
            <a:r>
              <a:rPr lang="ar-SA" altLang="en-US" sz="1700" b="1" dirty="0">
                <a:solidFill>
                  <a:srgbClr val="1D5FBF"/>
                </a:solidFill>
                <a:latin typeface="Amiri" pitchFamily="2" charset="-78"/>
                <a:ea typeface="Amiri" pitchFamily="2" charset="-78"/>
                <a:cs typeface="Amiri" pitchFamily="2" charset="-78"/>
              </a:rPr>
              <a:t>وَبِنَاءً عَلَى مَا سَبَقَ</a:t>
            </a:r>
            <a:pPr rtl="1" algn="ctr" indent="0" marL="0">
              <a:buNone/>
            </a:pPr>
            <a:r>
              <a:rPr lang="ar-SA" altLang="en-US" sz="1700" b="1" dirty="0">
                <a:solidFill>
                  <a:srgbClr val="1B3B6F"/>
                </a:solidFill>
                <a:latin typeface="Amiri" pitchFamily="2" charset="-78"/>
                <a:ea typeface="Amiri" pitchFamily="2" charset="-78"/>
                <a:cs typeface="Amiri" pitchFamily="2" charset="-78"/>
              </a:rPr>
              <a:t>، …</a:t>
            </a:r>
            <a:endParaRPr lang="ar-SA" sz="1700" dirty="0"/>
          </a:p>
        </p:txBody>
      </p:sp>
      <p:sp>
        <p:nvSpPr>
          <p:cNvPr id="41" name="Text 38"/>
          <p:cNvSpPr txBox="1"/>
          <p:nvPr/>
        </p:nvSpPr>
        <p:spPr>
          <a:xfrm>
            <a:off x="3584448" y="5215738"/>
            <a:ext cx="17373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weak opener</a:t>
            </a:r>
            <a:endParaRPr lang="en-US" sz="1100" dirty="0"/>
          </a:p>
        </p:txBody>
      </p:sp>
      <p:sp>
        <p:nvSpPr>
          <p:cNvPr id="42" name="Text 39"/>
          <p:cNvSpPr txBox="1"/>
          <p:nvPr/>
        </p:nvSpPr>
        <p:spPr>
          <a:xfrm>
            <a:off x="548640" y="5215738"/>
            <a:ext cx="2834640"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 وَأَيْضًا · ثُمَّ</a:t>
            </a:r>
            <a:endParaRPr lang="ar-SA" sz="19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common error: using a conclusion connector to add a NEW point. It closes the argument — it never opens a new one.</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49</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P5-L05 · Argument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2 · THE REFUSAL TRIGGER (WEBSITE RULE 2, TEACHING POINT 2, MISTAKE 1 AND MISSION) · DEVELOP</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Refuse it — then -a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يَرْفُضُ أَنْ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P5-L05</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16586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1658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ACTIVE · CORE</a:t>
            </a:r>
            <a:endParaRPr lang="en-US" sz="850" dirty="0"/>
          </a:p>
        </p:txBody>
      </p:sp>
      <p:sp>
        <p:nvSpPr>
          <p:cNvPr id="18" name="Text 15"/>
          <p:cNvSpPr txBox="1"/>
          <p:nvPr/>
        </p:nvSpPr>
        <p:spPr>
          <a:xfrm>
            <a:off x="9444228" y="1874520"/>
            <a:ext cx="21503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أَنْ تَسْتَمِرَّ</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يَرْفُضُ النَّاشِطُونَ أَنْ تَسْتَمِرَّ ازْدِوَاجِيَّةُ المَعَايِيرِ.</a:t>
            </a:r>
            <a:endParaRPr lang="ar-SA" sz="21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Activists refuse to let double standards continue.</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tastamirr-A</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234440" cy="274320"/>
          </a:xfrm>
          <a:prstGeom prst="roundRect">
            <a:avLst>
              <a:gd name="adj" fmla="val 50000"/>
            </a:avLst>
          </a:prstGeom>
          <a:solidFill>
            <a:srgbClr val="C0386B"/>
          </a:solidFill>
          <a:ln w="12700">
            <a:solidFill>
              <a:srgbClr val="C0386B"/>
            </a:solidFill>
            <a:prstDash val="solid"/>
          </a:ln>
        </p:spPr>
      </p:sp>
      <p:sp>
        <p:nvSpPr>
          <p:cNvPr id="25" name="Text 22"/>
          <p:cNvSpPr txBox="1"/>
          <p:nvPr/>
        </p:nvSpPr>
        <p:spPr>
          <a:xfrm>
            <a:off x="4413504" y="1920240"/>
            <a:ext cx="12344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THEY · DEVELOP</a:t>
            </a:r>
            <a:endParaRPr lang="en-US" sz="850" dirty="0"/>
          </a:p>
        </p:txBody>
      </p:sp>
      <p:sp>
        <p:nvSpPr>
          <p:cNvPr id="26" name="Text 23"/>
          <p:cNvSpPr txBox="1"/>
          <p:nvPr/>
        </p:nvSpPr>
        <p:spPr>
          <a:xfrm>
            <a:off x="5693664" y="1874520"/>
            <a:ext cx="20817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أَنْ يَخْضَعُوا</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يَرْفُضُ القَادَةُ أَنْ يَخْضَعُوا لِلْمُحَاسَبَةِ.</a:t>
            </a:r>
            <a:endParaRPr lang="ar-SA" sz="21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The leaders refuse to be held to account.</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they: the -na drops</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440180" cy="274320"/>
          </a:xfrm>
          <a:prstGeom prst="roundRect">
            <a:avLst>
              <a:gd name="adj" fmla="val 50000"/>
            </a:avLst>
          </a:prstGeom>
          <a:solidFill>
            <a:srgbClr val="6B4C9A"/>
          </a:solidFill>
          <a:ln w="12700">
            <a:solidFill>
              <a:srgbClr val="6B4C9A"/>
            </a:solidFill>
            <a:prstDash val="solid"/>
          </a:ln>
        </p:spPr>
      </p:sp>
      <p:sp>
        <p:nvSpPr>
          <p:cNvPr id="33" name="Text 30"/>
          <p:cNvSpPr txBox="1"/>
          <p:nvPr/>
        </p:nvSpPr>
        <p:spPr>
          <a:xfrm>
            <a:off x="594360" y="1920240"/>
            <a:ext cx="14401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PASSIVE · STRETCH</a:t>
            </a:r>
            <a:endParaRPr lang="en-US" sz="850" dirty="0"/>
          </a:p>
        </p:txBody>
      </p:sp>
      <p:sp>
        <p:nvSpPr>
          <p:cNvPr id="34" name="Text 31"/>
          <p:cNvSpPr txBox="1"/>
          <p:nvPr/>
        </p:nvSpPr>
        <p:spPr>
          <a:xfrm>
            <a:off x="2080260" y="1874520"/>
            <a:ext cx="18760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أَنْ يُفْلِتَ</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تَرْفُضُ الشُّعُوبُ أَنْ يُفْلِتَ المُجْرِمُونَ مِنَ العِقَابِ.</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Peoples refuse to let criminals escape punishment.</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yuflit-A</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mistake 1 and the mission error spot: after an the verb ends in -a; with “they” the final -na drops.</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700" b="1" dirty="0">
                <a:solidFill>
                  <a:srgbClr val="1B3B6F"/>
                </a:solidFill>
                <a:latin typeface="Amiri" pitchFamily="2" charset="-78"/>
                <a:ea typeface="Amiri" pitchFamily="2" charset="-78"/>
                <a:cs typeface="Amiri" pitchFamily="2" charset="-78"/>
              </a:rPr>
              <a:t>أَنْ تَسْتَمِرَّ الازْدِوَاجِيَّةُ</a:t>
            </a:r>
            <a:endParaRPr lang="ar-SA" sz="17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700" b="1" dirty="0">
                <a:solidFill>
                  <a:srgbClr val="B83227"/>
                </a:solidFill>
                <a:latin typeface="Amiri" pitchFamily="2" charset="-78"/>
                <a:ea typeface="Amiri" pitchFamily="2" charset="-78"/>
                <a:cs typeface="Amiri" pitchFamily="2" charset="-78"/>
              </a:rPr>
              <a:t>أَنْ تَسْتَمِرُّ الازْدِوَاجِيَّةُ</a:t>
            </a:r>
            <a:endParaRPr lang="ar-SA" sz="17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626364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أَنْ يَخْضَعُوا</a:t>
            </a:r>
            <a:endParaRPr lang="ar-SA" sz="2600" dirty="0"/>
          </a:p>
        </p:txBody>
      </p:sp>
      <p:sp>
        <p:nvSpPr>
          <p:cNvPr id="47" name="Text 44"/>
          <p:cNvSpPr txBox="1"/>
          <p:nvPr/>
        </p:nvSpPr>
        <p:spPr>
          <a:xfrm>
            <a:off x="589788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8" name="Text 45"/>
          <p:cNvSpPr txBox="1"/>
          <p:nvPr/>
        </p:nvSpPr>
        <p:spPr>
          <a:xfrm>
            <a:off x="429768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B83227"/>
                </a:solidFill>
                <a:latin typeface="Amiri" pitchFamily="2" charset="-78"/>
                <a:ea typeface="Amiri" pitchFamily="2" charset="-78"/>
                <a:cs typeface="Amiri" pitchFamily="2" charset="-78"/>
              </a:rPr>
              <a:t>أَنْ يَخْضَعُونَ</a:t>
            </a:r>
            <a:endParaRPr lang="ar-SA" sz="2600" dirty="0"/>
          </a:p>
        </p:txBody>
      </p:sp>
      <p:sp>
        <p:nvSpPr>
          <p:cNvPr id="49" name="Shape 46"/>
          <p:cNvSpPr/>
          <p:nvPr/>
        </p:nvSpPr>
        <p:spPr>
          <a:xfrm>
            <a:off x="4434840" y="5669280"/>
            <a:ext cx="1371600" cy="0"/>
          </a:xfrm>
          <a:prstGeom prst="line">
            <a:avLst/>
          </a:prstGeom>
          <a:noFill/>
          <a:ln w="25400">
            <a:solidFill>
              <a:srgbClr val="B83227"/>
            </a:solidFill>
            <a:prstDash val="solid"/>
          </a:ln>
        </p:spPr>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49</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P5-L05 · Argument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3 · INTERNATIONAL-LAW PASSIVES (WEBSITE RULE 3, TABLE, MISTAKE 2 AND SORTER) · DEVELOP</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Centre the law: active → passive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المَبْنِيُّ لِلْمَجْهُولِ فِي القَانُونِ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P5-L05</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382512" y="1810512"/>
            <a:ext cx="52760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 (website texts)</a:t>
            </a:r>
            <a:endParaRPr lang="en-US" sz="1100" dirty="0"/>
          </a:p>
        </p:txBody>
      </p:sp>
      <p:sp>
        <p:nvSpPr>
          <p:cNvPr id="17" name="Text 14"/>
          <p:cNvSpPr txBox="1"/>
          <p:nvPr/>
        </p:nvSpPr>
        <p:spPr>
          <a:xfrm>
            <a:off x="4370832"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8" name="Text 15"/>
          <p:cNvSpPr txBox="1"/>
          <p:nvPr/>
        </p:nvSpPr>
        <p:spPr>
          <a:xfrm>
            <a:off x="2450592" y="1810512"/>
            <a:ext cx="1773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Passive</a:t>
            </a:r>
            <a:endParaRPr lang="en-US" sz="1100" dirty="0"/>
          </a:p>
        </p:txBody>
      </p:sp>
      <p:sp>
        <p:nvSpPr>
          <p:cNvPr id="19" name="Text 16"/>
          <p:cNvSpPr txBox="1"/>
          <p:nvPr/>
        </p:nvSpPr>
        <p:spPr>
          <a:xfrm>
            <a:off x="530352" y="1810512"/>
            <a:ext cx="1773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Active</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6400800" y="2267712"/>
            <a:ext cx="5239512" cy="682142"/>
          </a:xfrm>
          <a:prstGeom prst="rect">
            <a:avLst/>
          </a:prstGeom>
          <a:noFill/>
          <a:ln/>
        </p:spPr>
        <p:txBody>
          <a:bodyPr wrap="square" lIns="0" tIns="0" rIns="0" bIns="0" rtlCol="0" anchor="ctr"/>
          <a:lstStyle/>
          <a:p>
            <a:pPr rtl="1" algn="ctr" indent="0" marL="0">
              <a:buNone/>
            </a:pPr>
            <a:r>
              <a:rPr lang="ar-SA" altLang="en-US" sz="1700" b="1" dirty="0">
                <a:solidFill>
                  <a:srgbClr val="D6336C"/>
                </a:solidFill>
                <a:latin typeface="Amiri" pitchFamily="2" charset="-78"/>
                <a:ea typeface="Amiri" pitchFamily="2" charset="-78"/>
                <a:cs typeface="Amiri" pitchFamily="2" charset="-78"/>
              </a:rPr>
              <a:t>يُنْتَهَكُ</a:t>
            </a:r>
            <a:pPr rtl="1" algn="ctr" indent="0" marL="0">
              <a:buNone/>
            </a:pPr>
            <a:r>
              <a:rPr lang="ar-SA" altLang="en-US" sz="1700" b="1" dirty="0">
                <a:solidFill>
                  <a:srgbClr val="1B3B6F"/>
                </a:solidFill>
                <a:latin typeface="Amiri" pitchFamily="2" charset="-78"/>
                <a:ea typeface="Amiri" pitchFamily="2" charset="-78"/>
                <a:cs typeface="Amiri" pitchFamily="2" charset="-78"/>
              </a:rPr>
              <a:t> القَانُونُ الدَّوْلِيُّ فِي مَنَاطِقِ النِّزَاعِ</a:t>
            </a:r>
            <a:endParaRPr lang="ar-SA" sz="1700" dirty="0"/>
          </a:p>
        </p:txBody>
      </p:sp>
      <p:sp>
        <p:nvSpPr>
          <p:cNvPr id="22" name="Text 19"/>
          <p:cNvSpPr txBox="1"/>
          <p:nvPr/>
        </p:nvSpPr>
        <p:spPr>
          <a:xfrm>
            <a:off x="4407408" y="2267712"/>
            <a:ext cx="18288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is violated</a:t>
            </a:r>
            <a:endParaRPr lang="en-US" sz="1100" dirty="0"/>
          </a:p>
        </p:txBody>
      </p:sp>
      <p:sp>
        <p:nvSpPr>
          <p:cNvPr id="23" name="Text 20"/>
          <p:cNvSpPr txBox="1"/>
          <p:nvPr/>
        </p:nvSpPr>
        <p:spPr>
          <a:xfrm>
            <a:off x="2468880" y="2267712"/>
            <a:ext cx="1737360" cy="682142"/>
          </a:xfrm>
          <a:prstGeom prst="rect">
            <a:avLst/>
          </a:prstGeom>
          <a:noFill/>
          <a:ln/>
        </p:spPr>
        <p:txBody>
          <a:bodyPr wrap="square" lIns="0" tIns="0" rIns="0" bIns="0" rtlCol="0" anchor="ctr"/>
          <a:lstStyle/>
          <a:p>
            <a:pPr rtl="1" algn="ctr" indent="0" marL="0">
              <a:buNone/>
            </a:pPr>
            <a:r>
              <a:rPr lang="ar-SA" altLang="en-US" sz="2000" b="1" dirty="0">
                <a:solidFill>
                  <a:srgbClr val="D6336C"/>
                </a:solidFill>
                <a:latin typeface="Amiri" pitchFamily="2" charset="-78"/>
                <a:ea typeface="Amiri" pitchFamily="2" charset="-78"/>
                <a:cs typeface="Amiri" pitchFamily="2" charset="-78"/>
              </a:rPr>
              <a:t>يُنْتَهَكُ</a:t>
            </a:r>
            <a:endParaRPr lang="ar-SA" sz="2000" dirty="0"/>
          </a:p>
        </p:txBody>
      </p:sp>
      <p:sp>
        <p:nvSpPr>
          <p:cNvPr id="24" name="Text 21"/>
          <p:cNvSpPr txBox="1"/>
          <p:nvPr/>
        </p:nvSpPr>
        <p:spPr>
          <a:xfrm>
            <a:off x="548640" y="2267712"/>
            <a:ext cx="173736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يَنْتَهِكُ</a:t>
            </a:r>
            <a:endParaRPr lang="ar-SA" sz="20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6400800" y="3004718"/>
            <a:ext cx="5239512" cy="682142"/>
          </a:xfrm>
          <a:prstGeom prst="rect">
            <a:avLst/>
          </a:prstGeom>
          <a:noFill/>
          <a:ln/>
        </p:spPr>
        <p:txBody>
          <a:bodyPr wrap="square" lIns="0" tIns="0" rIns="0" bIns="0" rtlCol="0" anchor="ctr"/>
          <a:lstStyle/>
          <a:p>
            <a:pPr rtl="1" algn="ctr" indent="0" marL="0">
              <a:buNone/>
            </a:pPr>
            <a:r>
              <a:rPr lang="ar-SA" altLang="en-US" sz="1700" b="1" dirty="0">
                <a:solidFill>
                  <a:srgbClr val="0E7C86"/>
                </a:solidFill>
                <a:latin typeface="Amiri" pitchFamily="2" charset="-78"/>
                <a:ea typeface="Amiri" pitchFamily="2" charset="-78"/>
                <a:cs typeface="Amiri" pitchFamily="2" charset="-78"/>
              </a:rPr>
              <a:t>تُلْزَمُ</a:t>
            </a:r>
            <a:pPr rtl="1" algn="ctr" indent="0" marL="0">
              <a:buNone/>
            </a:pPr>
            <a:r>
              <a:rPr lang="ar-SA" altLang="en-US" sz="1700" b="1" dirty="0">
                <a:solidFill>
                  <a:srgbClr val="1B3B6F"/>
                </a:solidFill>
                <a:latin typeface="Amiri" pitchFamily="2" charset="-78"/>
                <a:ea typeface="Amiri" pitchFamily="2" charset="-78"/>
                <a:cs typeface="Amiri" pitchFamily="2" charset="-78"/>
              </a:rPr>
              <a:t> الدُّوَلُ </a:t>
            </a:r>
            <a:pPr rtl="1" algn="ctr" indent="0" marL="0">
              <a:buNone/>
            </a:pPr>
            <a:r>
              <a:rPr lang="ar-SA" altLang="en-US" sz="1700" b="1" dirty="0">
                <a:solidFill>
                  <a:srgbClr val="0E7C86"/>
                </a:solidFill>
                <a:latin typeface="Amiri" pitchFamily="2" charset="-78"/>
                <a:ea typeface="Amiri" pitchFamily="2" charset="-78"/>
                <a:cs typeface="Amiri" pitchFamily="2" charset="-78"/>
              </a:rPr>
              <a:t>بِالامْتِثَالِ</a:t>
            </a:r>
            <a:pPr rtl="1" algn="ctr" indent="0" marL="0">
              <a:buNone/>
            </a:pPr>
            <a:r>
              <a:rPr lang="ar-SA" altLang="en-US" sz="1700" b="1" dirty="0">
                <a:solidFill>
                  <a:srgbClr val="1B3B6F"/>
                </a:solidFill>
                <a:latin typeface="Amiri" pitchFamily="2" charset="-78"/>
                <a:ea typeface="Amiri" pitchFamily="2" charset="-78"/>
                <a:cs typeface="Amiri" pitchFamily="2" charset="-78"/>
              </a:rPr>
              <a:t> لِلْمُعَاهَدَاتِ</a:t>
            </a:r>
            <a:endParaRPr lang="ar-SA" sz="1700" dirty="0"/>
          </a:p>
        </p:txBody>
      </p:sp>
      <p:sp>
        <p:nvSpPr>
          <p:cNvPr id="29" name="Text 26"/>
          <p:cNvSpPr txBox="1"/>
          <p:nvPr/>
        </p:nvSpPr>
        <p:spPr>
          <a:xfrm>
            <a:off x="4407408" y="3004718"/>
            <a:ext cx="18288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is obliged to</a:t>
            </a:r>
            <a:endParaRPr lang="en-US" sz="1100" dirty="0"/>
          </a:p>
        </p:txBody>
      </p:sp>
      <p:sp>
        <p:nvSpPr>
          <p:cNvPr id="30" name="Text 27"/>
          <p:cNvSpPr txBox="1"/>
          <p:nvPr/>
        </p:nvSpPr>
        <p:spPr>
          <a:xfrm>
            <a:off x="2468880" y="3004718"/>
            <a:ext cx="1737360" cy="682142"/>
          </a:xfrm>
          <a:prstGeom prst="rect">
            <a:avLst/>
          </a:prstGeom>
          <a:noFill/>
          <a:ln/>
        </p:spPr>
        <p:txBody>
          <a:bodyPr wrap="square" lIns="0" tIns="0" rIns="0" bIns="0" rtlCol="0" anchor="ctr"/>
          <a:lstStyle/>
          <a:p>
            <a:pPr rtl="1" algn="ctr" indent="0" marL="0">
              <a:buNone/>
            </a:pPr>
            <a:r>
              <a:rPr lang="ar-SA" altLang="en-US" sz="2000" b="1" dirty="0">
                <a:solidFill>
                  <a:srgbClr val="0E7C86"/>
                </a:solidFill>
                <a:latin typeface="Amiri" pitchFamily="2" charset="-78"/>
                <a:ea typeface="Amiri" pitchFamily="2" charset="-78"/>
                <a:cs typeface="Amiri" pitchFamily="2" charset="-78"/>
              </a:rPr>
              <a:t>يُلْزَمُ بِـ</a:t>
            </a:r>
            <a:endParaRPr lang="ar-SA" sz="2000" dirty="0"/>
          </a:p>
        </p:txBody>
      </p:sp>
      <p:sp>
        <p:nvSpPr>
          <p:cNvPr id="31" name="Text 28"/>
          <p:cNvSpPr txBox="1"/>
          <p:nvPr/>
        </p:nvSpPr>
        <p:spPr>
          <a:xfrm>
            <a:off x="548640" y="3004718"/>
            <a:ext cx="173736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يُلْزِمُ بِـ</a:t>
            </a:r>
            <a:endParaRPr lang="ar-SA" sz="20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6400800" y="3741725"/>
            <a:ext cx="5239512" cy="682142"/>
          </a:xfrm>
          <a:prstGeom prst="rect">
            <a:avLst/>
          </a:prstGeom>
          <a:noFill/>
          <a:ln/>
        </p:spPr>
        <p:txBody>
          <a:bodyPr wrap="square" lIns="0" tIns="0" rIns="0" bIns="0" rtlCol="0" anchor="ctr"/>
          <a:lstStyle/>
          <a:p>
            <a:pPr rtl="1" algn="ctr" indent="0" marL="0">
              <a:buNone/>
            </a:pPr>
            <a:r>
              <a:rPr lang="ar-SA" altLang="en-US" sz="1700" b="1" dirty="0">
                <a:solidFill>
                  <a:srgbClr val="1D5FBF"/>
                </a:solidFill>
                <a:latin typeface="Amiri" pitchFamily="2" charset="-78"/>
                <a:ea typeface="Amiri" pitchFamily="2" charset="-78"/>
                <a:cs typeface="Amiri" pitchFamily="2" charset="-78"/>
              </a:rPr>
              <a:t>يُحَاسَبُ</a:t>
            </a:r>
            <a:pPr rtl="1" algn="ctr" indent="0" marL="0">
              <a:buNone/>
            </a:pPr>
            <a:r>
              <a:rPr lang="ar-SA" altLang="en-US" sz="1700" b="1" dirty="0">
                <a:solidFill>
                  <a:srgbClr val="1B3B6F"/>
                </a:solidFill>
                <a:latin typeface="Amiri" pitchFamily="2" charset="-78"/>
                <a:ea typeface="Amiri" pitchFamily="2" charset="-78"/>
                <a:cs typeface="Amiri" pitchFamily="2" charset="-78"/>
              </a:rPr>
              <a:t> المُنْتَهِكُونَ أَمَامَ القَضَاءِ الدَّوْلِيِّ</a:t>
            </a:r>
            <a:endParaRPr lang="ar-SA" sz="1700" dirty="0"/>
          </a:p>
        </p:txBody>
      </p:sp>
      <p:sp>
        <p:nvSpPr>
          <p:cNvPr id="36" name="Text 33"/>
          <p:cNvSpPr txBox="1"/>
          <p:nvPr/>
        </p:nvSpPr>
        <p:spPr>
          <a:xfrm>
            <a:off x="4407408" y="3741725"/>
            <a:ext cx="18288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is held to account</a:t>
            </a:r>
            <a:endParaRPr lang="en-US" sz="1100" dirty="0"/>
          </a:p>
        </p:txBody>
      </p:sp>
      <p:sp>
        <p:nvSpPr>
          <p:cNvPr id="37" name="Text 34"/>
          <p:cNvSpPr txBox="1"/>
          <p:nvPr/>
        </p:nvSpPr>
        <p:spPr>
          <a:xfrm>
            <a:off x="2468880" y="3741725"/>
            <a:ext cx="1737360" cy="682142"/>
          </a:xfrm>
          <a:prstGeom prst="rect">
            <a:avLst/>
          </a:prstGeom>
          <a:noFill/>
          <a:ln/>
        </p:spPr>
        <p:txBody>
          <a:bodyPr wrap="square" lIns="0" tIns="0" rIns="0" bIns="0" rtlCol="0" anchor="ctr"/>
          <a:lstStyle/>
          <a:p>
            <a:pPr rtl="1" algn="ctr" indent="0" marL="0">
              <a:buNone/>
            </a:pPr>
            <a:r>
              <a:rPr lang="ar-SA" altLang="en-US" sz="2000" b="1" dirty="0">
                <a:solidFill>
                  <a:srgbClr val="1D5FBF"/>
                </a:solidFill>
                <a:latin typeface="Amiri" pitchFamily="2" charset="-78"/>
                <a:ea typeface="Amiri" pitchFamily="2" charset="-78"/>
                <a:cs typeface="Amiri" pitchFamily="2" charset="-78"/>
              </a:rPr>
              <a:t>يُحَاسَبُ</a:t>
            </a:r>
            <a:endParaRPr lang="ar-SA" sz="2000" dirty="0"/>
          </a:p>
        </p:txBody>
      </p:sp>
      <p:sp>
        <p:nvSpPr>
          <p:cNvPr id="38" name="Text 35"/>
          <p:cNvSpPr txBox="1"/>
          <p:nvPr/>
        </p:nvSpPr>
        <p:spPr>
          <a:xfrm>
            <a:off x="548640" y="3741725"/>
            <a:ext cx="173736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يُحَاسِبُ</a:t>
            </a:r>
            <a:endParaRPr lang="ar-SA" sz="20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6400800" y="4478731"/>
            <a:ext cx="5239512"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لَمْ </a:t>
            </a:r>
            <a:pPr rtl="1" algn="ctr" indent="0" marL="0">
              <a:buNone/>
            </a:pPr>
            <a:r>
              <a:rPr lang="ar-SA" altLang="en-US" sz="1700" b="1" dirty="0">
                <a:solidFill>
                  <a:srgbClr val="7B3FA0"/>
                </a:solidFill>
                <a:latin typeface="Amiri" pitchFamily="2" charset="-78"/>
                <a:ea typeface="Amiri" pitchFamily="2" charset="-78"/>
                <a:cs typeface="Amiri" pitchFamily="2" charset="-78"/>
              </a:rPr>
              <a:t>يُطَبَّقْ</a:t>
            </a:r>
            <a:pPr rtl="1" algn="ctr" indent="0" marL="0">
              <a:buNone/>
            </a:pPr>
            <a:r>
              <a:rPr lang="ar-SA" altLang="en-US" sz="1700" b="1" dirty="0">
                <a:solidFill>
                  <a:srgbClr val="1B3B6F"/>
                </a:solidFill>
                <a:latin typeface="Amiri" pitchFamily="2" charset="-78"/>
                <a:ea typeface="Amiri" pitchFamily="2" charset="-78"/>
                <a:cs typeface="Amiri" pitchFamily="2" charset="-78"/>
              </a:rPr>
              <a:t> مَبْدَأُ المَسْؤُولِيَّةِ عَنِ الحِمَايَةِ بِالتَّسَاوِي</a:t>
            </a:r>
            <a:endParaRPr lang="ar-SA" sz="1700" dirty="0"/>
          </a:p>
        </p:txBody>
      </p:sp>
      <p:sp>
        <p:nvSpPr>
          <p:cNvPr id="41" name="Text 38"/>
          <p:cNvSpPr txBox="1"/>
          <p:nvPr/>
        </p:nvSpPr>
        <p:spPr>
          <a:xfrm>
            <a:off x="4407408" y="4478731"/>
            <a:ext cx="18288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was applied</a:t>
            </a:r>
            <a:endParaRPr lang="en-US" sz="1100" dirty="0"/>
          </a:p>
        </p:txBody>
      </p:sp>
      <p:sp>
        <p:nvSpPr>
          <p:cNvPr id="42" name="Text 39"/>
          <p:cNvSpPr txBox="1"/>
          <p:nvPr/>
        </p:nvSpPr>
        <p:spPr>
          <a:xfrm>
            <a:off x="2468880" y="4478731"/>
            <a:ext cx="1737360" cy="68214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2" charset="-78"/>
                <a:ea typeface="Amiri" pitchFamily="2" charset="-78"/>
                <a:cs typeface="Amiri" pitchFamily="2" charset="-78"/>
              </a:rPr>
              <a:t>طُبِّقَ</a:t>
            </a:r>
            <a:endParaRPr lang="ar-SA" sz="2000" dirty="0"/>
          </a:p>
        </p:txBody>
      </p:sp>
      <p:sp>
        <p:nvSpPr>
          <p:cNvPr id="43" name="Text 40"/>
          <p:cNvSpPr txBox="1"/>
          <p:nvPr/>
        </p:nvSpPr>
        <p:spPr>
          <a:xfrm>
            <a:off x="548640" y="4478731"/>
            <a:ext cx="173736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طَبَّقَ</a:t>
            </a:r>
            <a:endParaRPr lang="ar-SA" sz="20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6400800" y="5215738"/>
            <a:ext cx="5239512" cy="682142"/>
          </a:xfrm>
          <a:prstGeom prst="rect">
            <a:avLst/>
          </a:prstGeom>
          <a:noFill/>
          <a:ln/>
        </p:spPr>
        <p:txBody>
          <a:bodyPr wrap="square" lIns="0" tIns="0" rIns="0" bIns="0" rtlCol="0" anchor="ctr"/>
          <a:lstStyle/>
          <a:p>
            <a:pPr rtl="1" algn="ctr" indent="0" marL="0">
              <a:buNone/>
            </a:pPr>
            <a:r>
              <a:rPr lang="ar-SA" altLang="en-US" sz="1700" b="1" dirty="0">
                <a:solidFill>
                  <a:srgbClr val="C77700"/>
                </a:solidFill>
                <a:latin typeface="Amiri" pitchFamily="2" charset="-78"/>
                <a:ea typeface="Amiri" pitchFamily="2" charset="-78"/>
                <a:cs typeface="Amiri" pitchFamily="2" charset="-78"/>
              </a:rPr>
              <a:t>يُشَارُ إِلَى</a:t>
            </a:r>
            <a:pPr rtl="1" algn="ctr" indent="0" marL="0">
              <a:buNone/>
            </a:pPr>
            <a:r>
              <a:rPr lang="ar-SA" altLang="en-US" sz="1700" b="1" dirty="0">
                <a:solidFill>
                  <a:srgbClr val="1B3B6F"/>
                </a:solidFill>
                <a:latin typeface="Amiri" pitchFamily="2" charset="-78"/>
                <a:ea typeface="Amiri" pitchFamily="2" charset="-78"/>
                <a:cs typeface="Amiri" pitchFamily="2" charset="-78"/>
              </a:rPr>
              <a:t> أَنَّ المَبْدَأَ لَمْ يُطَبَّقْ بِالتَّسَاوِي</a:t>
            </a:r>
            <a:endParaRPr lang="ar-SA" sz="1700" dirty="0"/>
          </a:p>
        </p:txBody>
      </p:sp>
      <p:sp>
        <p:nvSpPr>
          <p:cNvPr id="46" name="Text 43"/>
          <p:cNvSpPr txBox="1"/>
          <p:nvPr/>
        </p:nvSpPr>
        <p:spPr>
          <a:xfrm>
            <a:off x="4407408" y="5215738"/>
            <a:ext cx="18288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it is noted</a:t>
            </a:r>
            <a:endParaRPr lang="en-US" sz="1100" dirty="0"/>
          </a:p>
        </p:txBody>
      </p:sp>
      <p:sp>
        <p:nvSpPr>
          <p:cNvPr id="47" name="Text 44"/>
          <p:cNvSpPr txBox="1"/>
          <p:nvPr/>
        </p:nvSpPr>
        <p:spPr>
          <a:xfrm>
            <a:off x="2468880" y="5215738"/>
            <a:ext cx="1737360" cy="682142"/>
          </a:xfrm>
          <a:prstGeom prst="rect">
            <a:avLst/>
          </a:prstGeom>
          <a:noFill/>
          <a:ln/>
        </p:spPr>
        <p:txBody>
          <a:bodyPr wrap="square" lIns="0" tIns="0" rIns="0" bIns="0" rtlCol="0" anchor="ctr"/>
          <a:lstStyle/>
          <a:p>
            <a:pPr rtl="1" algn="ctr" indent="0" marL="0">
              <a:buNone/>
            </a:pPr>
            <a:r>
              <a:rPr lang="ar-SA" altLang="en-US" sz="2000" b="1" dirty="0">
                <a:solidFill>
                  <a:srgbClr val="C77700"/>
                </a:solidFill>
                <a:latin typeface="Amiri" pitchFamily="2" charset="-78"/>
                <a:ea typeface="Amiri" pitchFamily="2" charset="-78"/>
                <a:cs typeface="Amiri" pitchFamily="2" charset="-78"/>
              </a:rPr>
              <a:t>يُشَارُ إِلَى</a:t>
            </a:r>
            <a:endParaRPr lang="ar-SA" sz="2000" dirty="0"/>
          </a:p>
        </p:txBody>
      </p:sp>
      <p:sp>
        <p:nvSpPr>
          <p:cNvPr id="48" name="Text 45"/>
          <p:cNvSpPr txBox="1"/>
          <p:nvPr/>
        </p:nvSpPr>
        <p:spPr>
          <a:xfrm>
            <a:off x="548640" y="5215738"/>
            <a:ext cx="173736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يُشِيرُ إِلَى</a:t>
            </a:r>
            <a:endParaRPr lang="ar-SA" sz="20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mistake 2: tulzamu … ʿalā ✗ → tulzamu bi- ✓ — yulzamu is fixed with bi-.</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49</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P5-L05 · Argument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4 · THE FULL ANALYSIS TOOLKIT (WEBSITE RULE 4, MISTAKE 3 AND WRITING MODEL)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From report to conclusion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أَدَوَاتُ التَّحْلِيلِ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P5-L05</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582912" y="1810512"/>
            <a:ext cx="20756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Range</a:t>
            </a:r>
            <a:endParaRPr lang="en-US" sz="1100" dirty="0"/>
          </a:p>
        </p:txBody>
      </p:sp>
      <p:sp>
        <p:nvSpPr>
          <p:cNvPr id="17" name="Text 14"/>
          <p:cNvSpPr txBox="1"/>
          <p:nvPr/>
        </p:nvSpPr>
        <p:spPr>
          <a:xfrm>
            <a:off x="2633472" y="1810512"/>
            <a:ext cx="6803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 (website texts)</a:t>
            </a:r>
            <a:endParaRPr lang="en-US" sz="1100" dirty="0"/>
          </a:p>
        </p:txBody>
      </p:sp>
      <p:sp>
        <p:nvSpPr>
          <p:cNvPr id="18" name="Text 15"/>
          <p:cNvSpPr txBox="1"/>
          <p:nvPr/>
        </p:nvSpPr>
        <p:spPr>
          <a:xfrm>
            <a:off x="530352" y="1810512"/>
            <a:ext cx="19568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Tool</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9619488" y="2267712"/>
            <a:ext cx="20391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yuʾakkidu anna</a:t>
            </a:r>
            <a:endParaRPr lang="en-US" sz="1100" dirty="0"/>
          </a:p>
        </p:txBody>
      </p:sp>
      <p:sp>
        <p:nvSpPr>
          <p:cNvPr id="21" name="Text 18"/>
          <p:cNvSpPr txBox="1"/>
          <p:nvPr/>
        </p:nvSpPr>
        <p:spPr>
          <a:xfrm>
            <a:off x="2651760" y="2267712"/>
            <a:ext cx="6766560" cy="682142"/>
          </a:xfrm>
          <a:prstGeom prst="rect">
            <a:avLst/>
          </a:prstGeom>
          <a:noFill/>
          <a:ln/>
        </p:spPr>
        <p:txBody>
          <a:bodyPr wrap="square" lIns="0" tIns="0" rIns="0" bIns="0" rtlCol="0" anchor="ctr"/>
          <a:lstStyle/>
          <a:p>
            <a:pPr rtl="1" algn="ctr" indent="0" marL="0">
              <a:buNone/>
            </a:pPr>
            <a:r>
              <a:rPr lang="ar-SA" altLang="en-US" sz="1700" b="1" dirty="0">
                <a:solidFill>
                  <a:srgbClr val="C77700"/>
                </a:solidFill>
                <a:latin typeface="Amiri" pitchFamily="2" charset="-78"/>
                <a:ea typeface="Amiri" pitchFamily="2" charset="-78"/>
                <a:cs typeface="Amiri" pitchFamily="2" charset="-78"/>
              </a:rPr>
              <a:t>يُؤَكِّدُ</a:t>
            </a:r>
            <a:pPr rtl="1" algn="ctr" indent="0" marL="0">
              <a:buNone/>
            </a:pPr>
            <a:r>
              <a:rPr lang="ar-SA" altLang="en-US" sz="1700" b="1" dirty="0">
                <a:solidFill>
                  <a:srgbClr val="1B3B6F"/>
                </a:solidFill>
                <a:latin typeface="Amiri" pitchFamily="2" charset="-78"/>
                <a:ea typeface="Amiri" pitchFamily="2" charset="-78"/>
                <a:cs typeface="Amiri" pitchFamily="2" charset="-78"/>
              </a:rPr>
              <a:t> الخُبَرَاءُ </a:t>
            </a:r>
            <a:pPr rtl="1" algn="ctr" indent="0" marL="0">
              <a:buNone/>
            </a:pPr>
            <a:r>
              <a:rPr lang="ar-SA" altLang="en-US" sz="1700" b="1" dirty="0">
                <a:solidFill>
                  <a:srgbClr val="C77700"/>
                </a:solidFill>
                <a:latin typeface="Amiri" pitchFamily="2" charset="-78"/>
                <a:ea typeface="Amiri" pitchFamily="2" charset="-78"/>
                <a:cs typeface="Amiri" pitchFamily="2" charset="-78"/>
              </a:rPr>
              <a:t>أَنَّ</a:t>
            </a:r>
            <a:pPr rtl="1" algn="ctr" indent="0" marL="0">
              <a:buNone/>
            </a:pPr>
            <a:r>
              <a:rPr lang="ar-SA" altLang="en-US" sz="1700" b="1" dirty="0">
                <a:solidFill>
                  <a:srgbClr val="1B3B6F"/>
                </a:solidFill>
                <a:latin typeface="Amiri" pitchFamily="2" charset="-78"/>
                <a:ea typeface="Amiri" pitchFamily="2" charset="-78"/>
                <a:cs typeface="Amiri" pitchFamily="2" charset="-78"/>
              </a:rPr>
              <a:t> القَانُونَ الدَّوْلِيَّ الإِنْسَانِيَّ يُنْتَهَكُ</a:t>
            </a:r>
            <a:endParaRPr lang="ar-SA" sz="1700" dirty="0"/>
          </a:p>
        </p:txBody>
      </p:sp>
      <p:sp>
        <p:nvSpPr>
          <p:cNvPr id="22" name="Text 19"/>
          <p:cNvSpPr txBox="1"/>
          <p:nvPr/>
        </p:nvSpPr>
        <p:spPr>
          <a:xfrm>
            <a:off x="566928" y="2267712"/>
            <a:ext cx="19202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reported speech</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9619488" y="3004718"/>
            <a:ext cx="20391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kānat … qad</a:t>
            </a:r>
            <a:endParaRPr lang="en-US" sz="1100" dirty="0"/>
          </a:p>
        </p:txBody>
      </p:sp>
      <p:sp>
        <p:nvSpPr>
          <p:cNvPr id="27" name="Text 24"/>
          <p:cNvSpPr txBox="1"/>
          <p:nvPr/>
        </p:nvSpPr>
        <p:spPr>
          <a:xfrm>
            <a:off x="2651760" y="3004718"/>
            <a:ext cx="6766560" cy="682142"/>
          </a:xfrm>
          <a:prstGeom prst="rect">
            <a:avLst/>
          </a:prstGeom>
          <a:noFill/>
          <a:ln/>
        </p:spPr>
        <p:txBody>
          <a:bodyPr wrap="square" lIns="0" tIns="0" rIns="0" bIns="0" rtlCol="0" anchor="ctr"/>
          <a:lstStyle/>
          <a:p>
            <a:pPr rtl="1" algn="ctr" indent="0" marL="0">
              <a:buNone/>
            </a:pPr>
            <a:r>
              <a:rPr lang="ar-SA" altLang="en-US" sz="1700" b="1" dirty="0">
                <a:solidFill>
                  <a:srgbClr val="1D5FBF"/>
                </a:solidFill>
                <a:latin typeface="Amiri" pitchFamily="2" charset="-78"/>
                <a:ea typeface="Amiri" pitchFamily="2" charset="-78"/>
                <a:cs typeface="Amiri" pitchFamily="2" charset="-78"/>
              </a:rPr>
              <a:t>كَانَتِ</a:t>
            </a:r>
            <a:pPr rtl="1" algn="ctr" indent="0" marL="0">
              <a:buNone/>
            </a:pPr>
            <a:r>
              <a:rPr lang="ar-SA" altLang="en-US" sz="1700" b="1" dirty="0">
                <a:solidFill>
                  <a:srgbClr val="1B3B6F"/>
                </a:solidFill>
                <a:latin typeface="Amiri" pitchFamily="2" charset="-78"/>
                <a:ea typeface="Amiri" pitchFamily="2" charset="-78"/>
                <a:cs typeface="Amiri" pitchFamily="2" charset="-78"/>
              </a:rPr>
              <a:t> الأُمَمُ المُتَّحِدَةُ </a:t>
            </a:r>
            <a:pPr rtl="1" algn="ctr" indent="0" marL="0">
              <a:buNone/>
            </a:pPr>
            <a:r>
              <a:rPr lang="ar-SA" altLang="en-US" sz="1700" b="1" dirty="0">
                <a:solidFill>
                  <a:srgbClr val="1D5FBF"/>
                </a:solidFill>
                <a:latin typeface="Amiri" pitchFamily="2" charset="-78"/>
                <a:ea typeface="Amiri" pitchFamily="2" charset="-78"/>
                <a:cs typeface="Amiri" pitchFamily="2" charset="-78"/>
              </a:rPr>
              <a:t>قَدْ</a:t>
            </a:r>
            <a:pPr rtl="1" algn="ctr" indent="0" marL="0">
              <a:buNone/>
            </a:pPr>
            <a:r>
              <a:rPr lang="ar-SA" altLang="en-US" sz="1700" b="1" dirty="0">
                <a:solidFill>
                  <a:srgbClr val="1B3B6F"/>
                </a:solidFill>
                <a:latin typeface="Amiri" pitchFamily="2" charset="-78"/>
                <a:ea typeface="Amiri" pitchFamily="2" charset="-78"/>
                <a:cs typeface="Amiri" pitchFamily="2" charset="-78"/>
              </a:rPr>
              <a:t> أَقَرَّتْ هٰذِهِ المَبَادِئَ لِكَيْ يُحْمَى المَدَنِيُّونَ</a:t>
            </a:r>
            <a:endParaRPr lang="ar-SA" sz="1700" dirty="0"/>
          </a:p>
        </p:txBody>
      </p:sp>
      <p:sp>
        <p:nvSpPr>
          <p:cNvPr id="28" name="Text 25"/>
          <p:cNvSpPr txBox="1"/>
          <p:nvPr/>
        </p:nvSpPr>
        <p:spPr>
          <a:xfrm>
            <a:off x="566928" y="3004718"/>
            <a:ext cx="19202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past perfect</a:t>
            </a:r>
            <a:endParaRPr lang="en-US" sz="1100" dirty="0"/>
          </a:p>
        </p:txBody>
      </p:sp>
      <p:sp>
        <p:nvSpPr>
          <p:cNvPr id="29" name="Shape 26"/>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0" name="Text 27"/>
          <p:cNvSpPr txBox="1"/>
          <p:nvPr/>
        </p:nvSpPr>
        <p:spPr>
          <a:xfrm>
            <a:off x="9619488" y="3741725"/>
            <a:ext cx="20391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idhā … sa-</a:t>
            </a:r>
            <a:endParaRPr lang="en-US" sz="1100" dirty="0"/>
          </a:p>
        </p:txBody>
      </p:sp>
      <p:sp>
        <p:nvSpPr>
          <p:cNvPr id="31" name="Text 28"/>
          <p:cNvSpPr txBox="1"/>
          <p:nvPr/>
        </p:nvSpPr>
        <p:spPr>
          <a:xfrm>
            <a:off x="2651760" y="3741725"/>
            <a:ext cx="6766560" cy="682142"/>
          </a:xfrm>
          <a:prstGeom prst="rect">
            <a:avLst/>
          </a:prstGeom>
          <a:noFill/>
          <a:ln/>
        </p:spPr>
        <p:txBody>
          <a:bodyPr wrap="square" lIns="0" tIns="0" rIns="0" bIns="0" rtlCol="0" anchor="ctr"/>
          <a:lstStyle/>
          <a:p>
            <a:pPr rtl="1" algn="ctr" indent="0" marL="0">
              <a:buNone/>
            </a:pPr>
            <a:r>
              <a:rPr lang="ar-SA" altLang="en-US" sz="1700" b="1" dirty="0">
                <a:solidFill>
                  <a:srgbClr val="0E7C86"/>
                </a:solidFill>
                <a:latin typeface="Amiri" pitchFamily="2" charset="-78"/>
                <a:ea typeface="Amiri" pitchFamily="2" charset="-78"/>
                <a:cs typeface="Amiri" pitchFamily="2" charset="-78"/>
              </a:rPr>
              <a:t>إِذَا</a:t>
            </a:r>
            <a:pPr rtl="1" algn="ctr" indent="0" marL="0">
              <a:buNone/>
            </a:pPr>
            <a:r>
              <a:rPr lang="ar-SA" altLang="en-US" sz="1700" b="1" dirty="0">
                <a:solidFill>
                  <a:srgbClr val="1B3B6F"/>
                </a:solidFill>
                <a:latin typeface="Amiri" pitchFamily="2" charset="-78"/>
                <a:ea typeface="Amiri" pitchFamily="2" charset="-78"/>
                <a:cs typeface="Amiri" pitchFamily="2" charset="-78"/>
              </a:rPr>
              <a:t> الْتَزَمَتِ الدُّوَلُ بِالمِيثَاقِ بِالتَّسَاوِي، </a:t>
            </a:r>
            <a:pPr rtl="1" algn="ctr" indent="0" marL="0">
              <a:buNone/>
            </a:pPr>
            <a:r>
              <a:rPr lang="ar-SA" altLang="en-US" sz="1700" b="1" dirty="0">
                <a:solidFill>
                  <a:srgbClr val="0E7C86"/>
                </a:solidFill>
                <a:latin typeface="Amiri" pitchFamily="2" charset="-78"/>
                <a:ea typeface="Amiri" pitchFamily="2" charset="-78"/>
                <a:cs typeface="Amiri" pitchFamily="2" charset="-78"/>
              </a:rPr>
              <a:t>سَيُحْدِثُ</a:t>
            </a:r>
            <a:pPr rtl="1" algn="ctr" indent="0" marL="0">
              <a:buNone/>
            </a:pPr>
            <a:r>
              <a:rPr lang="ar-SA" altLang="en-US" sz="1700" b="1" dirty="0">
                <a:solidFill>
                  <a:srgbClr val="1B3B6F"/>
                </a:solidFill>
                <a:latin typeface="Amiri" pitchFamily="2" charset="-78"/>
                <a:ea typeface="Amiri" pitchFamily="2" charset="-78"/>
                <a:cs typeface="Amiri" pitchFamily="2" charset="-78"/>
              </a:rPr>
              <a:t> ذٰلِكَ تَحَوُّلًا جَذْرِيًّا</a:t>
            </a:r>
            <a:endParaRPr lang="ar-SA" sz="1700" dirty="0"/>
          </a:p>
        </p:txBody>
      </p:sp>
      <p:sp>
        <p:nvSpPr>
          <p:cNvPr id="32" name="Text 29"/>
          <p:cNvSpPr txBox="1"/>
          <p:nvPr/>
        </p:nvSpPr>
        <p:spPr>
          <a:xfrm>
            <a:off x="566928" y="3741725"/>
            <a:ext cx="19202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Type 1</a:t>
            </a:r>
            <a:endParaRPr lang="en-US" sz="1100" dirty="0"/>
          </a:p>
        </p:txBody>
      </p:sp>
      <p:sp>
        <p:nvSpPr>
          <p:cNvPr id="33" name="Shape 30"/>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4" name="Text 31"/>
          <p:cNvSpPr txBox="1"/>
          <p:nvPr/>
        </p:nvSpPr>
        <p:spPr>
          <a:xfrm>
            <a:off x="9619488" y="4478731"/>
            <a:ext cx="20391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law … la-</a:t>
            </a:r>
            <a:endParaRPr lang="en-US" sz="1100" dirty="0"/>
          </a:p>
        </p:txBody>
      </p:sp>
      <p:sp>
        <p:nvSpPr>
          <p:cNvPr id="35" name="Text 32"/>
          <p:cNvSpPr txBox="1"/>
          <p:nvPr/>
        </p:nvSpPr>
        <p:spPr>
          <a:xfrm>
            <a:off x="2651760" y="4478731"/>
            <a:ext cx="6766560" cy="682142"/>
          </a:xfrm>
          <a:prstGeom prst="rect">
            <a:avLst/>
          </a:prstGeom>
          <a:noFill/>
          <a:ln/>
        </p:spPr>
        <p:txBody>
          <a:bodyPr wrap="square" lIns="0" tIns="0" rIns="0" bIns="0" rtlCol="0" anchor="ctr"/>
          <a:lstStyle/>
          <a:p>
            <a:pPr rtl="1" algn="ctr" indent="0" marL="0">
              <a:buNone/>
            </a:pPr>
            <a:r>
              <a:rPr lang="ar-SA" altLang="en-US" sz="1700" b="1" dirty="0">
                <a:solidFill>
                  <a:srgbClr val="7B3FA0"/>
                </a:solidFill>
                <a:latin typeface="Amiri" pitchFamily="2" charset="-78"/>
                <a:ea typeface="Amiri" pitchFamily="2" charset="-78"/>
                <a:cs typeface="Amiri" pitchFamily="2" charset="-78"/>
              </a:rPr>
              <a:t>لَوْ</a:t>
            </a:r>
            <a:pPr rtl="1" algn="ctr" indent="0" marL="0">
              <a:buNone/>
            </a:pPr>
            <a:r>
              <a:rPr lang="ar-SA" altLang="en-US" sz="1700" b="1" dirty="0">
                <a:solidFill>
                  <a:srgbClr val="1B3B6F"/>
                </a:solidFill>
                <a:latin typeface="Amiri" pitchFamily="2" charset="-78"/>
                <a:ea typeface="Amiri" pitchFamily="2" charset="-78"/>
                <a:cs typeface="Amiri" pitchFamily="2" charset="-78"/>
              </a:rPr>
              <a:t> طُبِّقَ القَانُونُ بِالتَّسَاوِي، </a:t>
            </a:r>
            <a:pPr rtl="1" algn="ctr" indent="0" marL="0">
              <a:buNone/>
            </a:pPr>
            <a:r>
              <a:rPr lang="ar-SA" altLang="en-US" sz="1700" b="1" dirty="0">
                <a:solidFill>
                  <a:srgbClr val="7B3FA0"/>
                </a:solidFill>
                <a:latin typeface="Amiri" pitchFamily="2" charset="-78"/>
                <a:ea typeface="Amiri" pitchFamily="2" charset="-78"/>
                <a:cs typeface="Amiri" pitchFamily="2" charset="-78"/>
              </a:rPr>
              <a:t>لَكَانَ</a:t>
            </a:r>
            <a:pPr rtl="1" algn="ctr" indent="0" marL="0">
              <a:buNone/>
            </a:pPr>
            <a:r>
              <a:rPr lang="ar-SA" altLang="en-US" sz="1700" b="1" dirty="0">
                <a:solidFill>
                  <a:srgbClr val="1B3B6F"/>
                </a:solidFill>
                <a:latin typeface="Amiri" pitchFamily="2" charset="-78"/>
                <a:ea typeface="Amiri" pitchFamily="2" charset="-78"/>
                <a:cs typeface="Amiri" pitchFamily="2" charset="-78"/>
              </a:rPr>
              <a:t> العَالَمُ أَعْدَلَ</a:t>
            </a:r>
            <a:endParaRPr lang="ar-SA" sz="1700" dirty="0"/>
          </a:p>
        </p:txBody>
      </p:sp>
      <p:sp>
        <p:nvSpPr>
          <p:cNvPr id="36" name="Text 33"/>
          <p:cNvSpPr txBox="1"/>
          <p:nvPr/>
        </p:nvSpPr>
        <p:spPr>
          <a:xfrm>
            <a:off x="566928" y="4478731"/>
            <a:ext cx="19202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Type 2</a:t>
            </a:r>
            <a:endParaRPr lang="en-US" sz="1100" dirty="0"/>
          </a:p>
        </p:txBody>
      </p:sp>
      <p:sp>
        <p:nvSpPr>
          <p:cNvPr id="37" name="Shape 34"/>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9619488" y="5215738"/>
            <a:ext cx="20391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synthesis + -a</a:t>
            </a:r>
            <a:endParaRPr lang="en-US" sz="1100" dirty="0"/>
          </a:p>
        </p:txBody>
      </p:sp>
      <p:sp>
        <p:nvSpPr>
          <p:cNvPr id="41" name="Text 38"/>
          <p:cNvSpPr txBox="1"/>
          <p:nvPr/>
        </p:nvSpPr>
        <p:spPr>
          <a:xfrm>
            <a:off x="2651760" y="5215738"/>
            <a:ext cx="6766560" cy="682142"/>
          </a:xfrm>
          <a:prstGeom prst="rect">
            <a:avLst/>
          </a:prstGeom>
          <a:noFill/>
          <a:ln/>
        </p:spPr>
        <p:txBody>
          <a:bodyPr wrap="square" lIns="0" tIns="0" rIns="0" bIns="0" rtlCol="0" anchor="ctr"/>
          <a:lstStyle/>
          <a:p>
            <a:pPr rtl="1" algn="ctr" indent="0" marL="0">
              <a:buNone/>
            </a:pPr>
            <a:r>
              <a:rPr lang="ar-SA" altLang="en-US" sz="1700" b="1" dirty="0">
                <a:solidFill>
                  <a:srgbClr val="D6336C"/>
                </a:solidFill>
                <a:latin typeface="Amiri" pitchFamily="2" charset="-78"/>
                <a:ea typeface="Amiri" pitchFamily="2" charset="-78"/>
                <a:cs typeface="Amiri" pitchFamily="2" charset="-78"/>
              </a:rPr>
              <a:t>وَبِنَاءً عَلَى مَا سَبَقَ</a:t>
            </a:r>
            <a:pPr rtl="1" algn="ctr" indent="0" marL="0">
              <a:buNone/>
            </a:pPr>
            <a:r>
              <a:rPr lang="ar-SA" altLang="en-US" sz="1700" b="1" dirty="0">
                <a:solidFill>
                  <a:srgbClr val="1B3B6F"/>
                </a:solidFill>
                <a:latin typeface="Amiri" pitchFamily="2" charset="-78"/>
                <a:ea typeface="Amiri" pitchFamily="2" charset="-78"/>
                <a:cs typeface="Amiri" pitchFamily="2" charset="-78"/>
              </a:rPr>
              <a:t>، مِنَ الضَّرُورِيِّ أَنْ يُصْلَحَ النِّظَامُ الدَّوْلِيُّ</a:t>
            </a:r>
            <a:endParaRPr lang="ar-SA" sz="1700" dirty="0"/>
          </a:p>
        </p:txBody>
      </p:sp>
      <p:sp>
        <p:nvSpPr>
          <p:cNvPr id="42" name="Text 39"/>
          <p:cNvSpPr txBox="1"/>
          <p:nvPr/>
        </p:nvSpPr>
        <p:spPr>
          <a:xfrm>
            <a:off x="566928" y="5215738"/>
            <a:ext cx="19202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conclusion</a:t>
            </a:r>
            <a:endParaRPr lang="en-US" sz="11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mistake 3: law … sa-yakūnu ✗ → law … la-kāna ✓ — a Type 2 result takes la-, not sa-.</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49</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P5-L05 · Argument</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cs typeface="Amiri" pitchFamily="2" charset="-78"/>
              </a:rPr>
              <a:t>Formal conclusions, refusal and international-law passives</a:t>
            </a:r>
            <a:endParaRPr lang="en-US" sz="17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200" b="1" dirty="0">
                <a:solidFill>
                  <a:srgbClr val="8A6D1E"/>
                </a:solidFill>
                <a:latin typeface="Amiri" pitchFamily="2" charset="-78"/>
                <a:ea typeface="Amiri" pitchFamily="2" charset="-78"/>
                <a:cs typeface="Amiri" pitchFamily="2" charset="-78"/>
              </a:rPr>
              <a:t>الخَوَاتِمُ الرَّسْمِيَّةُ وَالرَّفْضُ وَالمَبْنِيُّ لِلْمَجْهُولِ</a:t>
            </a:r>
            <a:endParaRPr lang="ar-SA" sz="22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P5-L05</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Conclusion connectors</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wa-bināʾan ʿalā mā sabaqa · wa-khulāṣatu l-qawl</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وَبِنَاءً عَلَى مَا سَبَقَ، يُعَدُّ إِصْلَاحُ النِّظَامِ الدَّوْلِيِّ ضَرُورَةً</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Refusal trigger</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yarfuḍu an + verb in -a</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يَرْفُضُ النَّاشِطُونَ أَنْ تَسْتَمِرَّ ازْدِوَاجِيَّةُ المَعَايِيرِ</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International-law passives</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yuntahaku · yulzamu bi-</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يُنْتَهَكُ القَانُونُ الدَّوْلِيُّ فِي مَنَاطِقِ النِّزَاعِ</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Counterfactual analysis</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law + past → la-</a:t>
            </a:r>
            <a:endParaRPr lang="en-US" sz="10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لَوْ طُبِّقَ القَانُونُ الدَّوْلِيُّ بِالتَّسَاوِي، لَكَانَ العَالَمُ أَكْثَرَ عَدْلًا</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49</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P5-L05 · Argument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P5-L05</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connector opens a synthesising conclusion?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لِأَنَّ</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إِذَا</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وَبِنَاءً عَلَى مَا سَبَقَ</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also means “in summary”?</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وَخُلَاصَةُ القَوْلِ</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عِلَاوَةً عَلَى ذٰلِكَ</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 نَاحِيَةٍ أُخْرَى</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trigger expresses refusal?</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صَحِيحٌ أَنَّ</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يَرْفُضُ أَنْ</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لِكَيْ</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follows </a:t>
            </a:r>
            <a:pPr algn="l" indent="0" marL="0">
              <a:buNone/>
            </a:pPr>
            <a:r>
              <a:rPr lang="ar-SA" altLang="en-US" sz="1650" b="1" dirty="0">
                <a:solidFill>
                  <a:srgbClr val="1B3B6F"/>
                </a:solidFill>
                <a:latin typeface="Amiri" pitchFamily="2" charset="-78"/>
                <a:ea typeface="Amiri" pitchFamily="2" charset="-78"/>
                <a:cs typeface="Amiri" pitchFamily="2" charset="-78"/>
              </a:rPr>
              <a:t>يَرْفُضُ أَنْ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subjunctive verb</a:t>
            </a:r>
            <a:endParaRPr lang="en-US" sz="12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 indicative verb</a:t>
            </a:r>
            <a:endParaRPr lang="en-US" sz="12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past verb</a:t>
            </a:r>
            <a:endParaRPr lang="en-US" sz="12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49</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P5-L05 · Argument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P5-L05</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connector opens a synthesising conclusion?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لِأَنَّ</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إِذَا</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وَبِنَاءً عَلَى مَا سَبَقَ</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وَبِنَاءً عَلَى مَا سَبَقَ</a:t>
            </a:r>
            <a:pPr algn="l" indent="0" marL="0">
              <a:buNone/>
            </a:pPr>
            <a:r>
              <a:rPr lang="en-US" sz="1050" i="1" dirty="0">
                <a:solidFill>
                  <a:srgbClr val="8A6D1E"/>
                </a:solidFill>
                <a:latin typeface="Calibri" pitchFamily="34" charset="0"/>
                <a:cs typeface="Amiri" pitchFamily="2" charset="-78"/>
              </a:rPr>
              <a:t> opens the synthesising conclusion.</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also means “in summary”?</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وَخُلَاصَةُ القَوْلِ</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عِلَاوَةً عَلَى ذٰلِكَ</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مِنْ نَاحِيَةٍ أُخْرَى</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وَخُلَاصَةُ القَوْلِ</a:t>
            </a:r>
            <a:pPr algn="l" indent="0" marL="0">
              <a:buNone/>
            </a:pPr>
            <a:r>
              <a:rPr lang="en-US" sz="1050" i="1" dirty="0">
                <a:solidFill>
                  <a:srgbClr val="8A6D1E"/>
                </a:solidFill>
                <a:latin typeface="Calibri" pitchFamily="34" charset="0"/>
                <a:cs typeface="Amiri" pitchFamily="2" charset="-78"/>
              </a:rPr>
              <a:t> means in summary.</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trigger expresses refusal?</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صَحِيحٌ أَنَّ</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يَرْفُضُ أَنْ</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لِكَيْ</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يَرْفُضُ أَنْ</a:t>
            </a:r>
            <a:pPr algn="l" indent="0" marL="0">
              <a:buNone/>
            </a:pPr>
            <a:r>
              <a:rPr lang="en-US" sz="1050" i="1" dirty="0">
                <a:solidFill>
                  <a:srgbClr val="8A6D1E"/>
                </a:solidFill>
                <a:latin typeface="Calibri" pitchFamily="34" charset="0"/>
                <a:cs typeface="Amiri" pitchFamily="2" charset="-78"/>
              </a:rPr>
              <a:t> expresses refusal.</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follows </a:t>
            </a:r>
            <a:pPr algn="l" indent="0" marL="0">
              <a:buNone/>
            </a:pPr>
            <a:r>
              <a:rPr lang="ar-SA" altLang="en-US" sz="1650" b="1" dirty="0">
                <a:solidFill>
                  <a:srgbClr val="1B3B6F"/>
                </a:solidFill>
                <a:latin typeface="Amiri" pitchFamily="2" charset="-78"/>
                <a:ea typeface="Amiri" pitchFamily="2" charset="-78"/>
                <a:cs typeface="Amiri" pitchFamily="2" charset="-78"/>
              </a:rPr>
              <a:t>يَرْفُضُ أَنْ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subjunctive verb</a:t>
            </a:r>
            <a:endParaRPr lang="en-US" sz="125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An indicative verb</a:t>
            </a:r>
            <a:endParaRPr lang="en-US" sz="125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past verb</a:t>
            </a:r>
            <a:endParaRPr lang="en-US" sz="125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يَرْفُضُ أَنْ</a:t>
            </a:r>
            <a:pPr algn="l" indent="0" marL="0">
              <a:buNone/>
            </a:pPr>
            <a:r>
              <a:rPr lang="en-US" sz="1050" i="1" dirty="0">
                <a:solidFill>
                  <a:srgbClr val="8A6D1E"/>
                </a:solidFill>
                <a:latin typeface="Calibri" pitchFamily="34" charset="0"/>
                <a:cs typeface="Amiri" pitchFamily="2" charset="-78"/>
              </a:rPr>
              <a:t> takes a subjunctive verb.</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49</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P5-L05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Watch me write a global-justice analysis</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P5-L05</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Report</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C77700"/>
                </a:solidFill>
                <a:latin typeface="Amiri" pitchFamily="2" charset="-78"/>
                <a:ea typeface="Amiri" pitchFamily="2" charset="-78"/>
                <a:cs typeface="Amiri" pitchFamily="2" charset="-78"/>
              </a:rPr>
              <a:t>يُؤَكِّدُ</a:t>
            </a:r>
            <a:pPr rtl="1" algn="ctr" indent="0" marL="0">
              <a:buNone/>
            </a:pPr>
            <a:r>
              <a:rPr lang="ar-SA" altLang="en-US" sz="2800" b="1" dirty="0">
                <a:solidFill>
                  <a:srgbClr val="1B3B6F"/>
                </a:solidFill>
                <a:latin typeface="Amiri" pitchFamily="2" charset="-78"/>
                <a:cs typeface="Amiri" pitchFamily="2" charset="-78"/>
              </a:rPr>
              <a:t> … </a:t>
            </a:r>
            <a:pPr rtl="1" algn="ctr" indent="0" marL="0">
              <a:buNone/>
            </a:pPr>
            <a:r>
              <a:rPr lang="ar-SA" altLang="en-US" sz="2800" b="1" dirty="0">
                <a:solidFill>
                  <a:srgbClr val="C77700"/>
                </a:solidFill>
                <a:latin typeface="Amiri" pitchFamily="2" charset="-78"/>
                <a:ea typeface="Amiri" pitchFamily="2" charset="-78"/>
                <a:cs typeface="Amiri" pitchFamily="2" charset="-78"/>
              </a:rPr>
              <a:t>أَنَّ</a:t>
            </a:r>
            <a:pPr rtl="1" algn="ctr" indent="0" marL="0">
              <a:buNone/>
            </a:pPr>
            <a:r>
              <a:rPr lang="ar-SA" altLang="en-US" sz="2800" b="1" dirty="0">
                <a:solidFill>
                  <a:srgbClr val="1B3B6F"/>
                </a:solidFill>
                <a:latin typeface="Amiri" pitchFamily="2" charset="-78"/>
                <a:cs typeface="Amiri" pitchFamily="2" charset="-78"/>
              </a:rPr>
              <a:t> … </a:t>
            </a:r>
            <a:pPr rtl="1" algn="ctr" indent="0" marL="0">
              <a:buNone/>
            </a:pPr>
            <a:r>
              <a:rPr lang="ar-SA" altLang="en-US" sz="2800" b="1" dirty="0">
                <a:solidFill>
                  <a:srgbClr val="D6336C"/>
                </a:solidFill>
                <a:latin typeface="Amiri" pitchFamily="2" charset="-78"/>
                <a:ea typeface="Amiri" pitchFamily="2" charset="-78"/>
                <a:cs typeface="Amiri" pitchFamily="2" charset="-78"/>
              </a:rPr>
              <a:t>يُنْتَهَكُ</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Passive.</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Background</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D5FBF"/>
                </a:solidFill>
                <a:latin typeface="Amiri" pitchFamily="2" charset="-78"/>
                <a:ea typeface="Amiri" pitchFamily="2" charset="-78"/>
                <a:cs typeface="Amiri" pitchFamily="2" charset="-78"/>
              </a:rPr>
              <a:t>كَانَتْ</a:t>
            </a:r>
            <a:pPr rtl="1" algn="ctr" indent="0" marL="0">
              <a:buNone/>
            </a:pPr>
            <a:r>
              <a:rPr lang="ar-SA" altLang="en-US" sz="2800" b="1" dirty="0">
                <a:solidFill>
                  <a:srgbClr val="1B3B6F"/>
                </a:solidFill>
                <a:latin typeface="Amiri" pitchFamily="2" charset="-78"/>
                <a:cs typeface="Amiri" pitchFamily="2" charset="-78"/>
              </a:rPr>
              <a:t> … </a:t>
            </a:r>
            <a:pPr rtl="1" algn="ctr" indent="0" marL="0">
              <a:buNone/>
            </a:pPr>
            <a:r>
              <a:rPr lang="ar-SA" altLang="en-US" sz="2800" b="1" dirty="0">
                <a:solidFill>
                  <a:srgbClr val="1D5FBF"/>
                </a:solidFill>
                <a:latin typeface="Amiri" pitchFamily="2" charset="-78"/>
                <a:ea typeface="Amiri" pitchFamily="2" charset="-78"/>
                <a:cs typeface="Amiri" pitchFamily="2" charset="-78"/>
              </a:rPr>
              <a:t>قَدْ</a:t>
            </a:r>
            <a:pPr rtl="1" algn="ctr" indent="0" marL="0">
              <a:buNone/>
            </a:pPr>
            <a:r>
              <a:rPr lang="ar-SA" altLang="en-US" sz="2800" b="1" dirty="0">
                <a:solidFill>
                  <a:srgbClr val="1B3B6F"/>
                </a:solidFill>
                <a:latin typeface="Amiri" pitchFamily="2" charset="-78"/>
                <a:ea typeface="Amiri" pitchFamily="2" charset="-78"/>
                <a:cs typeface="Amiri" pitchFamily="2" charset="-78"/>
              </a:rPr>
              <a:t> أَقَرَّتْ …</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Past perfect.</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Refuse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يَرْفُضُ … أَنْ </a:t>
            </a:r>
            <a:pPr rtl="1" algn="ctr" indent="0" marL="0">
              <a:buNone/>
            </a:pPr>
            <a:r>
              <a:rPr lang="ar-SA" altLang="en-US" sz="2800" b="1" dirty="0">
                <a:solidFill>
                  <a:srgbClr val="0E7C86"/>
                </a:solidFill>
                <a:latin typeface="Amiri" pitchFamily="2" charset="-78"/>
                <a:ea typeface="Amiri" pitchFamily="2" charset="-78"/>
                <a:cs typeface="Amiri" pitchFamily="2" charset="-78"/>
              </a:rPr>
              <a:t>تَسْتَمِرَّ</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an + -a.</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Conclude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7B3FA0"/>
                </a:solidFill>
                <a:latin typeface="Amiri" pitchFamily="2" charset="-78"/>
                <a:ea typeface="Amiri" pitchFamily="2" charset="-78"/>
                <a:cs typeface="Amiri" pitchFamily="2" charset="-78"/>
              </a:rPr>
              <a:t>لَوْ</a:t>
            </a:r>
            <a:pPr rtl="1" algn="ctr" indent="0" marL="0">
              <a:lnSpc>
                <a:spcPct val="120000"/>
              </a:lnSpc>
              <a:buNone/>
            </a:pPr>
            <a:r>
              <a:rPr lang="ar-SA" altLang="en-US" sz="1750" b="1" dirty="0">
                <a:solidFill>
                  <a:srgbClr val="1B3B6F"/>
                </a:solidFill>
                <a:latin typeface="Amiri" pitchFamily="2" charset="-78"/>
                <a:cs typeface="Amiri" pitchFamily="2" charset="-78"/>
              </a:rPr>
              <a:t> … </a:t>
            </a:r>
            <a:pPr rtl="1" algn="ctr" indent="0" marL="0">
              <a:lnSpc>
                <a:spcPct val="120000"/>
              </a:lnSpc>
              <a:buNone/>
            </a:pPr>
            <a:r>
              <a:rPr lang="ar-SA" altLang="en-US" sz="1750" b="1" dirty="0">
                <a:solidFill>
                  <a:srgbClr val="7B3FA0"/>
                </a:solidFill>
                <a:latin typeface="Amiri" pitchFamily="2" charset="-78"/>
                <a:ea typeface="Amiri" pitchFamily="2" charset="-78"/>
                <a:cs typeface="Amiri" pitchFamily="2" charset="-78"/>
              </a:rPr>
              <a:t>لَكَانَتْ</a:t>
            </a:r>
            <a:pPr rtl="1" algn="ctr" indent="0" marL="0">
              <a:lnSpc>
                <a:spcPct val="120000"/>
              </a:lnSpc>
              <a:buNone/>
            </a:pPr>
            <a:r>
              <a:rPr lang="ar-SA" altLang="en-US" sz="1750" b="1" dirty="0">
                <a:solidFill>
                  <a:srgbClr val="1B3B6F"/>
                </a:solidFill>
                <a:latin typeface="Amiri" pitchFamily="2" charset="-78"/>
                <a:cs typeface="Amiri" pitchFamily="2" charset="-78"/>
              </a:rPr>
              <a:t> · </a:t>
            </a:r>
            <a:pPr rtl="1" algn="ctr" indent="0" marL="0">
              <a:lnSpc>
                <a:spcPct val="120000"/>
              </a:lnSpc>
              <a:buNone/>
            </a:pPr>
            <a:r>
              <a:rPr lang="ar-SA" altLang="en-US" sz="1750" b="1" dirty="0">
                <a:solidFill>
                  <a:srgbClr val="D6336C"/>
                </a:solidFill>
                <a:latin typeface="Amiri" pitchFamily="2" charset="-78"/>
                <a:ea typeface="Amiri" pitchFamily="2" charset="-78"/>
                <a:cs typeface="Amiri" pitchFamily="2" charset="-78"/>
              </a:rPr>
              <a:t>وَبِنَاءً عَلَى مَا سَبَقَ</a:t>
            </a:r>
            <a:endParaRPr lang="ar-SA" sz="17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Synthesise.</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6565392" y="4736592"/>
            <a:ext cx="914400" cy="237744"/>
          </a:xfrm>
          <a:prstGeom prst="roundRect">
            <a:avLst>
              <a:gd name="adj" fmla="val 50000"/>
            </a:avLst>
          </a:prstGeom>
          <a:solidFill>
            <a:srgbClr val="C77700"/>
          </a:solidFill>
          <a:ln w="12700">
            <a:solidFill>
              <a:srgbClr val="C77700"/>
            </a:solidFill>
            <a:prstDash val="solid"/>
          </a:ln>
        </p:spPr>
      </p:sp>
      <p:sp>
        <p:nvSpPr>
          <p:cNvPr id="46" name="Text 42"/>
          <p:cNvSpPr txBox="1"/>
          <p:nvPr/>
        </p:nvSpPr>
        <p:spPr>
          <a:xfrm>
            <a:off x="6565392"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REPORT</a:t>
            </a:r>
            <a:endParaRPr lang="en-US" sz="800" dirty="0"/>
          </a:p>
        </p:txBody>
      </p:sp>
      <p:sp>
        <p:nvSpPr>
          <p:cNvPr id="47" name="Shape 43"/>
          <p:cNvSpPr/>
          <p:nvPr/>
        </p:nvSpPr>
        <p:spPr>
          <a:xfrm>
            <a:off x="7552944"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7552944"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LAW / CLOSE</a:t>
            </a:r>
            <a:endParaRPr lang="en-US" sz="800" dirty="0"/>
          </a:p>
        </p:txBody>
      </p:sp>
      <p:sp>
        <p:nvSpPr>
          <p:cNvPr id="49" name="Shape 45"/>
          <p:cNvSpPr/>
          <p:nvPr/>
        </p:nvSpPr>
        <p:spPr>
          <a:xfrm>
            <a:off x="8540496" y="4736592"/>
            <a:ext cx="914400" cy="237744"/>
          </a:xfrm>
          <a:prstGeom prst="roundRect">
            <a:avLst>
              <a:gd name="adj" fmla="val 50000"/>
            </a:avLst>
          </a:prstGeom>
          <a:solidFill>
            <a:srgbClr val="1D5FBF"/>
          </a:solidFill>
          <a:ln w="12700">
            <a:solidFill>
              <a:srgbClr val="1D5FBF"/>
            </a:solidFill>
            <a:prstDash val="solid"/>
          </a:ln>
        </p:spPr>
      </p:sp>
      <p:sp>
        <p:nvSpPr>
          <p:cNvPr id="50" name="Text 46"/>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PAST PERFECT</a:t>
            </a:r>
            <a:endParaRPr lang="en-US" sz="800" dirty="0"/>
          </a:p>
        </p:txBody>
      </p:sp>
      <p:sp>
        <p:nvSpPr>
          <p:cNvPr id="51" name="Shape 47"/>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52" name="Text 48"/>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REFUSAL</a:t>
            </a:r>
            <a:endParaRPr lang="en-US" sz="800" dirty="0"/>
          </a:p>
        </p:txBody>
      </p:sp>
      <p:sp>
        <p:nvSpPr>
          <p:cNvPr id="53" name="Shape 49"/>
          <p:cNvSpPr/>
          <p:nvPr/>
        </p:nvSpPr>
        <p:spPr>
          <a:xfrm>
            <a:off x="10515600" y="4736592"/>
            <a:ext cx="914400" cy="237744"/>
          </a:xfrm>
          <a:prstGeom prst="roundRect">
            <a:avLst>
              <a:gd name="adj" fmla="val 50000"/>
            </a:avLst>
          </a:prstGeom>
          <a:solidFill>
            <a:srgbClr val="7B3FA0"/>
          </a:solidFill>
          <a:ln w="12700">
            <a:solidFill>
              <a:srgbClr val="7B3FA0"/>
            </a:solidFill>
            <a:prstDash val="solid"/>
          </a:ln>
        </p:spPr>
      </p:sp>
      <p:sp>
        <p:nvSpPr>
          <p:cNvPr id="54" name="Text 50"/>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TYPE 2</a:t>
            </a:r>
            <a:endParaRPr lang="en-US" sz="800" dirty="0"/>
          </a:p>
        </p:txBody>
      </p:sp>
      <p:sp>
        <p:nvSpPr>
          <p:cNvPr id="55" name="Text 51"/>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C77700"/>
                </a:solidFill>
                <a:latin typeface="Amiri" pitchFamily="2" charset="-78"/>
                <a:ea typeface="Amiri" pitchFamily="2" charset="-78"/>
                <a:cs typeface="Amiri" pitchFamily="2" charset="-78"/>
              </a:rPr>
              <a:t>يُؤَكِّدُ</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الخُبَرَاءُ </a:t>
            </a:r>
            <a:pPr rtl="1" algn="r" indent="0" marL="0">
              <a:lnSpc>
                <a:spcPct val="120000"/>
              </a:lnSpc>
              <a:buNone/>
            </a:pPr>
            <a:r>
              <a:rPr lang="ar-SA" altLang="en-US" sz="1400" b="1" dirty="0">
                <a:solidFill>
                  <a:srgbClr val="C77700"/>
                </a:solidFill>
                <a:latin typeface="Amiri" pitchFamily="2" charset="-78"/>
                <a:ea typeface="Amiri" pitchFamily="2" charset="-78"/>
                <a:cs typeface="Amiri" pitchFamily="2" charset="-78"/>
              </a:rPr>
              <a:t>أَنَّ</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القَانُونَ الدَّوْلِيَّ الإِنْسَانِيَّ </a:t>
            </a:r>
            <a:pPr rtl="1" algn="r" indent="0" marL="0">
              <a:lnSpc>
                <a:spcPct val="120000"/>
              </a:lnSpc>
              <a:buNone/>
            </a:pPr>
            <a:r>
              <a:rPr lang="ar-SA" altLang="en-US" sz="1400" b="1" dirty="0">
                <a:solidFill>
                  <a:srgbClr val="D6336C"/>
                </a:solidFill>
                <a:latin typeface="Amiri" pitchFamily="2" charset="-78"/>
                <a:ea typeface="Amiri" pitchFamily="2" charset="-78"/>
                <a:cs typeface="Amiri" pitchFamily="2" charset="-78"/>
              </a:rPr>
              <a:t>يُنْتَهَكُ</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فِي مَنَاطِقِ النِّزَاعِ. </a:t>
            </a:r>
            <a:pPr rtl="1" algn="r" indent="0" marL="0">
              <a:lnSpc>
                <a:spcPct val="120000"/>
              </a:lnSpc>
              <a:buNone/>
            </a:pPr>
            <a:r>
              <a:rPr lang="ar-SA" altLang="en-US" sz="1400" b="1" dirty="0">
                <a:solidFill>
                  <a:srgbClr val="1D5FBF"/>
                </a:solidFill>
                <a:latin typeface="Amiri" pitchFamily="2" charset="-78"/>
                <a:ea typeface="Amiri" pitchFamily="2" charset="-78"/>
                <a:cs typeface="Amiri" pitchFamily="2" charset="-78"/>
              </a:rPr>
              <a:t>كَانَتِ</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الأُمَمُ المُتَّحِدَةُ </a:t>
            </a:r>
            <a:pPr rtl="1" algn="r" indent="0" marL="0">
              <a:lnSpc>
                <a:spcPct val="120000"/>
              </a:lnSpc>
              <a:buNone/>
            </a:pPr>
            <a:r>
              <a:rPr lang="ar-SA" altLang="en-US" sz="1400" b="1" dirty="0">
                <a:solidFill>
                  <a:srgbClr val="1D5FBF"/>
                </a:solidFill>
                <a:latin typeface="Amiri" pitchFamily="2" charset="-78"/>
                <a:ea typeface="Amiri" pitchFamily="2" charset="-78"/>
                <a:cs typeface="Amiri" pitchFamily="2" charset="-78"/>
              </a:rPr>
              <a:t>قَدْ</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أَقَرَّتْ هٰذِهِ المَبَادِئَ لِكَيْ يُحْمَى المَدَنِيُّونَ، غَيْرَ أَنَّ التَّطْبِيقَ يَظَلُّ رَهِينًا بِالمَصَالِحِ.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وَيَرْفُضُ</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النَّاشِطُونَ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أَنْ تَسْتَمِرَّ</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ازْدِوَاجِيَّةُ المَعَايِيرِ. </a:t>
            </a:r>
            <a:pPr rtl="1" algn="r" indent="0" marL="0">
              <a:lnSpc>
                <a:spcPct val="120000"/>
              </a:lnSpc>
              <a:buNone/>
            </a:pPr>
            <a:r>
              <a:rPr lang="ar-SA" altLang="en-US" sz="1400" b="1" dirty="0">
                <a:solidFill>
                  <a:srgbClr val="7B3FA0"/>
                </a:solidFill>
                <a:latin typeface="Amiri" pitchFamily="2" charset="-78"/>
                <a:ea typeface="Amiri" pitchFamily="2" charset="-78"/>
                <a:cs typeface="Amiri" pitchFamily="2" charset="-78"/>
              </a:rPr>
              <a:t>وَلَوْ</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طُبِّقَ القَانُونُ بِالتَّسَاوِي، </a:t>
            </a:r>
            <a:pPr rtl="1" algn="r" indent="0" marL="0">
              <a:lnSpc>
                <a:spcPct val="120000"/>
              </a:lnSpc>
              <a:buNone/>
            </a:pPr>
            <a:r>
              <a:rPr lang="ar-SA" altLang="en-US" sz="1400" b="1" dirty="0">
                <a:solidFill>
                  <a:srgbClr val="7B3FA0"/>
                </a:solidFill>
                <a:latin typeface="Amiri" pitchFamily="2" charset="-78"/>
                <a:ea typeface="Amiri" pitchFamily="2" charset="-78"/>
                <a:cs typeface="Amiri" pitchFamily="2" charset="-78"/>
              </a:rPr>
              <a:t>لَكَانَ</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العَالَمُ أَكْثَرَ عَدْلًا. </a:t>
            </a:r>
            <a:pPr rtl="1" algn="r" indent="0" marL="0">
              <a:lnSpc>
                <a:spcPct val="120000"/>
              </a:lnSpc>
              <a:buNone/>
            </a:pPr>
            <a:r>
              <a:rPr lang="ar-SA" altLang="en-US" sz="1400" b="1" dirty="0">
                <a:solidFill>
                  <a:srgbClr val="D6336C"/>
                </a:solidFill>
                <a:latin typeface="Amiri" pitchFamily="2" charset="-78"/>
                <a:ea typeface="Amiri" pitchFamily="2" charset="-78"/>
                <a:cs typeface="Amiri" pitchFamily="2" charset="-78"/>
              </a:rPr>
              <a:t>وَبِنَاءً عَلَى مَا سَبَقَ</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مِنَ الضَّرُورِيِّ أَنْ يُصْلَحَ النِّظَامُ الدَّوْلِيُّ.</a:t>
            </a:r>
            <a:endParaRPr lang="ar-SA" sz="1400" dirty="0"/>
          </a:p>
        </p:txBody>
      </p:sp>
      <p:sp>
        <p:nvSpPr>
          <p:cNvPr id="56" name="Text 52"/>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900" i="1" dirty="0">
                <a:solidFill>
                  <a:srgbClr val="5A6472"/>
                </a:solidFill>
                <a:latin typeface="Calibri" pitchFamily="34" charset="0"/>
                <a:cs typeface="Amiri" pitchFamily="2" charset="-78"/>
              </a:rPr>
              <a:t>Experts confirm that international humanitarian law is violated in conflict zones. The United Nations had adopted these principles so that civilians would be protected; however, application remains hostage to interests. Activists refuse to let double standards continue. Had the law been applied equally, the world would be more just. Based on the above, it is essential that the international system be reformed.</a:t>
            </a:r>
            <a:endParaRPr lang="en-US" sz="900" dirty="0"/>
          </a:p>
        </p:txBody>
      </p:sp>
      <p:sp>
        <p:nvSpPr>
          <p:cNvPr id="57"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49</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P5-L05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P5-L05</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lnSpc>
                <a:spcPct val="120000"/>
              </a:lnSpc>
              <a:buNone/>
            </a:pPr>
            <a:r>
              <a:rPr lang="ar-SA" altLang="en-US" sz="2600" b="1" dirty="0">
                <a:solidFill>
                  <a:srgbClr val="1B3B6F"/>
                </a:solidFill>
                <a:latin typeface="Amiri" pitchFamily="2" charset="-78"/>
                <a:ea typeface="Amiri" pitchFamily="2" charset="-78"/>
                <a:cs typeface="Amiri" pitchFamily="2" charset="-78"/>
              </a:rPr>
              <a:t>يُنْتَهَكُ القَانُونُ الدَّوْلِيُّ الإِنْسَانِيُّ بِشَكْلٍ مَنْهَجِيٍّ فِي مَنَاطِقِ النِّزَاعِ</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international humanitarian law is systematically violated in conflict zones</a:t>
            </a:r>
            <a:endParaRPr lang="en-US" sz="1250" dirty="0"/>
          </a:p>
          <a:p>
            <a:pPr indent="0" marL="0">
              <a:buNone/>
            </a:pPr>
            <a:r>
              <a:rPr lang="en-US" sz="1050" i="1" dirty="0">
                <a:solidFill>
                  <a:srgbClr val="8A6D1E"/>
                </a:solidFill>
                <a:latin typeface="Calibri" pitchFamily="34" charset="0"/>
                <a:cs typeface="Amiri" pitchFamily="2" charset="-78"/>
              </a:rPr>
              <a:t>Passive: yuntahaku.</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يَرْفُضُ كَثِيرٌ مِنَ النَّاشِطِينَ أَنْ تَسْتَمِرَّ ازْدِوَاجِيَّةُ المَعَايِيرِ</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many activists refuse to let double standards continue</a:t>
            </a:r>
            <a:endParaRPr lang="en-US" sz="1250" dirty="0"/>
          </a:p>
          <a:p>
            <a:pPr indent="0" marL="0">
              <a:buNone/>
            </a:pPr>
            <a:r>
              <a:rPr lang="en-US" sz="1050" i="1" dirty="0">
                <a:solidFill>
                  <a:srgbClr val="8A6D1E"/>
                </a:solidFill>
                <a:latin typeface="Calibri" pitchFamily="34" charset="0"/>
                <a:cs typeface="Amiri" pitchFamily="2" charset="-78"/>
              </a:rPr>
              <a:t>Refusal: yarfuḍu an.</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lnSpc>
                <a:spcPct val="120000"/>
              </a:lnSpc>
              <a:buNone/>
            </a:pPr>
            <a:r>
              <a:rPr lang="ar-SA" altLang="en-US" sz="2600" b="1" dirty="0">
                <a:solidFill>
                  <a:srgbClr val="1B3B6F"/>
                </a:solidFill>
                <a:latin typeface="Amiri" pitchFamily="2" charset="-78"/>
                <a:ea typeface="Amiri" pitchFamily="2" charset="-78"/>
                <a:cs typeface="Amiri" pitchFamily="2" charset="-78"/>
              </a:rPr>
              <a:t>وَبِنَاءً عَلَى مَا سَبَقَ، يُعَدُّ إِصْلَاحُ مَجْلِسِ الأَمْنِ خُطْوَةً لَا غِنَى عَنْهَا</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based on the above, reforming the Security Council is an indispensable step</a:t>
            </a:r>
            <a:endParaRPr lang="en-US" sz="1250" dirty="0"/>
          </a:p>
          <a:p>
            <a:pPr indent="0" marL="0">
              <a:buNone/>
            </a:pPr>
            <a:r>
              <a:rPr lang="en-US" sz="1050" i="1" dirty="0">
                <a:solidFill>
                  <a:srgbClr val="8A6D1E"/>
                </a:solidFill>
                <a:latin typeface="Calibri" pitchFamily="34" charset="0"/>
                <a:cs typeface="Amiri" pitchFamily="2" charset="-78"/>
              </a:rPr>
              <a:t>Conclusion connector.</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49</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P5-L05 · Argument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cs typeface="Amiri" pitchFamily="2" charset="-78"/>
              </a:rPr>
              <a:t>WE DO · PICTURE MATCH · WEBSITE GAME “VISUAL GAME — GLOBAL JUSTICE — INTERNATIONAL RESPONSIBILITY AND THE ARAB WORLD”</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50" b="1" dirty="0">
                <a:solidFill>
                  <a:srgbClr val="1B3B6F"/>
                </a:solidFill>
                <a:latin typeface="Cambria" pitchFamily="34" charset="0"/>
                <a:cs typeface="Amiri" pitchFamily="2" charset="-78"/>
              </a:rPr>
              <a:t>Shared responsibility: match the picture</a:t>
            </a:r>
            <a:endParaRPr lang="en-US" sz="23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المَسْؤُولِيَّةُ وَالعَدَالَةُ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P5-L05</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cooperation</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humanitarian aid</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the environment</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لِلدُّوَلِ مَسْؤُولِيَّةٌ فِي حِمَايَةِ البِيئَةِ.</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يَجِبُ أَنْ تَتَعَاوَنَ الدُّوَلُ لِحَلِّ المُشْكِلَاتِ.</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المُسَاعَدَاتُ الإِنْسَانِيَّةُ ضَرُورِيَّةٌ فِي الأَزَمَاتِ.</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49</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P5-L05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المَسْؤُولِيَّةُ وَالعَدَالَةُ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P5-L05</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cooperation</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2" charset="-78"/>
                <a:ea typeface="Amiri" pitchFamily="2" charset="-78"/>
                <a:cs typeface="Amiri" pitchFamily="2" charset="-78"/>
              </a:rPr>
              <a:t>يَجِبُ أَنْ تَتَعَاوَنَ الدُّوَلُ لِحَلِّ المُشْكِلَاتِ.</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Countries should cooperate to solve problems.</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humanitarian aid</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2" charset="-78"/>
                <a:ea typeface="Amiri" pitchFamily="2" charset="-78"/>
                <a:cs typeface="Amiri" pitchFamily="2" charset="-78"/>
              </a:rPr>
              <a:t>المُسَاعَدَاتُ الإِنْسَانِيَّةُ ضَرُورِيَّةٌ فِي الأَزَمَاتِ.</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Humanitarian aid is essential in crises.</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the environment</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لِلدُّوَلِ مَسْؤُولِيَّةٌ فِي حِمَايَةِ البِيئَةِ.</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Countries share a responsibility to protect the environment.</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49</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P5-L05 · Argument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BUILD A JUSTICE LINE (WEBSITE LIVE BUILDER)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Law passive + refusal + conclusion</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سَطْرًا عَنِ العَدَالَةِ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P5-L05</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055864" y="1810512"/>
            <a:ext cx="3602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 · Law passive</a:t>
            </a:r>
            <a:endParaRPr lang="en-US" sz="1100" dirty="0"/>
          </a:p>
        </p:txBody>
      </p:sp>
      <p:sp>
        <p:nvSpPr>
          <p:cNvPr id="17" name="Text 14"/>
          <p:cNvSpPr txBox="1"/>
          <p:nvPr/>
        </p:nvSpPr>
        <p:spPr>
          <a:xfrm>
            <a:off x="4306824" y="1810512"/>
            <a:ext cx="3602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 · Refusal (yarfuḍu an)</a:t>
            </a:r>
            <a:endParaRPr lang="en-US" sz="1100" dirty="0"/>
          </a:p>
        </p:txBody>
      </p:sp>
      <p:sp>
        <p:nvSpPr>
          <p:cNvPr id="18" name="Text 15"/>
          <p:cNvSpPr txBox="1"/>
          <p:nvPr/>
        </p:nvSpPr>
        <p:spPr>
          <a:xfrm>
            <a:off x="530352" y="1810512"/>
            <a:ext cx="3630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 · Formal conclusion</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074152" y="2267712"/>
            <a:ext cx="3566160" cy="731520"/>
          </a:xfrm>
          <a:prstGeom prst="rect">
            <a:avLst/>
          </a:prstGeom>
          <a:noFill/>
          <a:ln/>
        </p:spPr>
        <p:txBody>
          <a:bodyPr wrap="square" lIns="0" tIns="0" rIns="0" bIns="0" rtlCol="0" anchor="ctr"/>
          <a:lstStyle/>
          <a:p>
            <a:pPr rtl="1" algn="ct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يُنْتَهَكُ القَانُونُ الدَّوْلِيُّ الإِنْسَانِيُّ فِي مَنَاطِقِ النِّزَاعِ</a:t>
            </a:r>
            <a:endParaRPr lang="ar-SA" sz="1550" dirty="0"/>
          </a:p>
        </p:txBody>
      </p:sp>
      <p:sp>
        <p:nvSpPr>
          <p:cNvPr id="21" name="Text 18"/>
          <p:cNvSpPr txBox="1"/>
          <p:nvPr/>
        </p:nvSpPr>
        <p:spPr>
          <a:xfrm>
            <a:off x="4325112" y="2267712"/>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وَيَرْفُضُ النَّاشِطُونَ أَنْ تَسْتَمِرَّ ازْدِوَاجِيَّةُ المَعَايِيرِ</a:t>
            </a:r>
            <a:endParaRPr lang="ar-SA" sz="1600" dirty="0"/>
          </a:p>
        </p:txBody>
      </p:sp>
      <p:sp>
        <p:nvSpPr>
          <p:cNvPr id="22" name="Text 19"/>
          <p:cNvSpPr txBox="1"/>
          <p:nvPr/>
        </p:nvSpPr>
        <p:spPr>
          <a:xfrm>
            <a:off x="548640" y="2267712"/>
            <a:ext cx="3593592" cy="731520"/>
          </a:xfrm>
          <a:prstGeom prst="rect">
            <a:avLst/>
          </a:prstGeom>
          <a:noFill/>
          <a:ln/>
        </p:spPr>
        <p:txBody>
          <a:bodyPr wrap="square" lIns="0" tIns="0" rIns="0" bIns="0" rtlCol="0" anchor="ctr"/>
          <a:lstStyle/>
          <a:p>
            <a:pPr rtl="1" algn="ct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وَبِنَاءً عَلَى مَا سَبَقَ، مِنَ الضَّرُورِيِّ أَنْ يُصْلَحَ النِّظَامُ الدَّوْلِيُّ</a:t>
            </a:r>
            <a:endParaRPr lang="ar-SA" sz="14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8074152" y="3054096"/>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تُلْزَمُ الدُّوَلُ المُوَقِّعَةُ بِالامْتِثَالِ لِلْمُعَاهَدَاتِ</a:t>
            </a:r>
            <a:endParaRPr lang="ar-SA" sz="1600" dirty="0"/>
          </a:p>
        </p:txBody>
      </p:sp>
      <p:sp>
        <p:nvSpPr>
          <p:cNvPr id="27" name="Text 24"/>
          <p:cNvSpPr txBox="1"/>
          <p:nvPr/>
        </p:nvSpPr>
        <p:spPr>
          <a:xfrm>
            <a:off x="4325112" y="3054096"/>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وَتَرْفُضُ الشُّعُوبُ أَنْ يُفْلِتَ المُجْرِمُونَ مِنَ العِقَابِ</a:t>
            </a:r>
            <a:endParaRPr lang="ar-SA" sz="1600" dirty="0"/>
          </a:p>
        </p:txBody>
      </p:sp>
      <p:sp>
        <p:nvSpPr>
          <p:cNvPr id="28" name="Text 25"/>
          <p:cNvSpPr txBox="1"/>
          <p:nvPr/>
        </p:nvSpPr>
        <p:spPr>
          <a:xfrm>
            <a:off x="548640" y="3054096"/>
            <a:ext cx="3593592" cy="731520"/>
          </a:xfrm>
          <a:prstGeom prst="rect">
            <a:avLst/>
          </a:prstGeom>
          <a:noFill/>
          <a:ln/>
        </p:spPr>
        <p:txBody>
          <a:bodyPr wrap="square" lIns="0" tIns="0" rIns="0" bIns="0" rtlCol="0" anchor="ctr"/>
          <a:lstStyle/>
          <a:p>
            <a:pPr rtl="1" algn="ctr" indent="0" marL="0">
              <a:lnSpc>
                <a:spcPct val="120000"/>
              </a:lnSpc>
              <a:buNone/>
            </a:pPr>
            <a:r>
              <a:rPr lang="ar-SA" altLang="en-US" sz="1450" b="1" dirty="0">
                <a:solidFill>
                  <a:srgbClr val="1B3B6F"/>
                </a:solidFill>
                <a:latin typeface="Amiri" pitchFamily="2" charset="-78"/>
                <a:ea typeface="Amiri" pitchFamily="2" charset="-78"/>
                <a:cs typeface="Amiri" pitchFamily="2" charset="-78"/>
              </a:rPr>
              <a:t>وَخُلَاصَةُ القَوْلِ، لَا عَدَالَةَ عَالَمِيَّةً دُونَ مُحَاسَبَةٍ مُتَسَاوِيَةٍ</a:t>
            </a:r>
            <a:endParaRPr lang="ar-SA" sz="1450" dirty="0"/>
          </a:p>
        </p:txBody>
      </p:sp>
      <p:sp>
        <p:nvSpPr>
          <p:cNvPr id="29" name="Shape 26"/>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0" name="Text 27"/>
          <p:cNvSpPr txBox="1"/>
          <p:nvPr/>
        </p:nvSpPr>
        <p:spPr>
          <a:xfrm>
            <a:off x="8074152" y="3840480"/>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يُحَاسَبُ المُنْتَهِكُونَ نَظَرِيًّا فَقَطْ أَمَامَ القَضَاءِ</a:t>
            </a:r>
            <a:endParaRPr lang="ar-SA" sz="1600" dirty="0"/>
          </a:p>
        </p:txBody>
      </p:sp>
      <p:sp>
        <p:nvSpPr>
          <p:cNvPr id="31" name="Text 28"/>
          <p:cNvSpPr txBox="1"/>
          <p:nvPr/>
        </p:nvSpPr>
        <p:spPr>
          <a:xfrm>
            <a:off x="4325112" y="3840480"/>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وَيَرْفُضُ الحُقُوقِيُّونَ أَنْ يَبْقَى النِّظَامُ عَلَى حَالِهِ</a:t>
            </a:r>
            <a:endParaRPr lang="ar-SA" sz="1600" dirty="0"/>
          </a:p>
        </p:txBody>
      </p:sp>
      <p:sp>
        <p:nvSpPr>
          <p:cNvPr id="32" name="Text 29"/>
          <p:cNvSpPr txBox="1"/>
          <p:nvPr/>
        </p:nvSpPr>
        <p:spPr>
          <a:xfrm>
            <a:off x="548640" y="3840480"/>
            <a:ext cx="359359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وَبِنَاءً عَلَى مَا سَبَقَ، يُعَدُّ إِصْلَاحُ مَجْلِسِ الأَمْنِ ضَرُورَةً</a:t>
            </a:r>
            <a:endParaRPr lang="ar-SA" sz="1600" dirty="0"/>
          </a:p>
        </p:txBody>
      </p:sp>
      <p:sp>
        <p:nvSpPr>
          <p:cNvPr id="33" name="Text 3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Pick one from each column — any combination is accurate. Then underline the passive, circle the verb in -a and box the connector.</a:t>
            </a:r>
            <a:endParaRPr lang="en-US" sz="11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49</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P5-L05 · Argument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Conclusion, refusal — or law passive?</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P5-L05</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400" b="1" dirty="0">
                <a:solidFill>
                  <a:srgbClr val="1B3B6F"/>
                </a:solidFill>
                <a:latin typeface="Amiri" pitchFamily="2" charset="-78"/>
                <a:ea typeface="Amiri" pitchFamily="2" charset="-78"/>
                <a:cs typeface="Amiri" pitchFamily="2" charset="-78"/>
              </a:rPr>
              <a:t>وَبِنَاءً عَلَى مَا سَبَقَ، يُعَدُّ الإِصْلَاحُ ضَرُورَةً</a:t>
            </a:r>
            <a:endParaRPr lang="ar-SA" sz="14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وَخُلَاصَةُ القَوْلِ، لَا عَدَالَةَ دُونَ مُحَاسَبَةٍ</a:t>
            </a:r>
            <a:endParaRPr lang="ar-SA" sz="15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200" b="1" dirty="0">
                <a:solidFill>
                  <a:srgbClr val="1B3B6F"/>
                </a:solidFill>
                <a:latin typeface="Amiri" pitchFamily="2" charset="-78"/>
                <a:ea typeface="Amiri" pitchFamily="2" charset="-78"/>
                <a:cs typeface="Amiri" pitchFamily="2" charset="-78"/>
              </a:rPr>
              <a:t>وَمِنَ المُنْطَلَقِ ذَاتِهِ، تَجِبُ المُسَاوَاةُ فِي التَّطْبِيقِ</a:t>
            </a:r>
            <a:endParaRPr lang="ar-SA" sz="12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يَرْفُضُ النَّاشِطُونَ أَنْ تَسْتَمِرَّ الازْدِوَاجِيَّةُ</a:t>
            </a:r>
            <a:endParaRPr lang="ar-SA" sz="15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650" b="1" dirty="0">
                <a:solidFill>
                  <a:srgbClr val="1B3B6F"/>
                </a:solidFill>
                <a:latin typeface="Amiri" pitchFamily="2" charset="-78"/>
                <a:ea typeface="Amiri" pitchFamily="2" charset="-78"/>
                <a:cs typeface="Amiri" pitchFamily="2" charset="-78"/>
              </a:rPr>
              <a:t>يَرْفُضُ القَادَةُ أَنْ يَخْضَعُوا لِلْمُحَاسَبَةِ</a:t>
            </a:r>
            <a:endParaRPr lang="ar-SA" sz="165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300" b="1" dirty="0">
                <a:solidFill>
                  <a:srgbClr val="1B3B6F"/>
                </a:solidFill>
                <a:latin typeface="Amiri" pitchFamily="2" charset="-78"/>
                <a:ea typeface="Amiri" pitchFamily="2" charset="-78"/>
                <a:cs typeface="Amiri" pitchFamily="2" charset="-78"/>
              </a:rPr>
              <a:t>تَرْفُضُ الشُّعُوبُ أَنْ يُفْلِتَ المُجْرِمُونَ مِنَ العِقَابِ</a:t>
            </a:r>
            <a:endParaRPr lang="ar-SA" sz="13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يُنْتَهَكُ القَانُونُ الدَّوْلِيُّ فِي مَنَاطِقِ النِّزَاعِ</a:t>
            </a:r>
            <a:endParaRPr lang="ar-SA" sz="135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650" b="1" dirty="0">
                <a:solidFill>
                  <a:srgbClr val="1B3B6F"/>
                </a:solidFill>
                <a:latin typeface="Amiri" pitchFamily="2" charset="-78"/>
                <a:ea typeface="Amiri" pitchFamily="2" charset="-78"/>
                <a:cs typeface="Amiri" pitchFamily="2" charset="-78"/>
              </a:rPr>
              <a:t>تُلْزَمُ الدُّوَلُ بِالامْتِثَالِ لِلْمُعَاهَدَاتِ</a:t>
            </a:r>
            <a:endParaRPr lang="ar-SA" sz="165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450" b="1" dirty="0">
                <a:solidFill>
                  <a:srgbClr val="1B3B6F"/>
                </a:solidFill>
                <a:latin typeface="Amiri" pitchFamily="2" charset="-78"/>
                <a:ea typeface="Amiri" pitchFamily="2" charset="-78"/>
                <a:cs typeface="Amiri" pitchFamily="2" charset="-78"/>
              </a:rPr>
              <a:t>يُحَاسَبُ المُنْتَهِكُونَ أَمَامَ القَضَاءِ الدَّوْلِيِّ</a:t>
            </a:r>
            <a:endParaRPr lang="ar-SA" sz="145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conclusion connector</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refusal (yarfuḍu an)</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law passive</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49</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P5-L05 · Argument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P5-L05</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conclusion connector</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750" b="1" dirty="0">
                <a:solidFill>
                  <a:srgbClr val="1B3B6F"/>
                </a:solidFill>
                <a:latin typeface="Amiri" pitchFamily="2" charset="-78"/>
                <a:ea typeface="Amiri" pitchFamily="2" charset="-78"/>
                <a:cs typeface="Amiri" pitchFamily="2" charset="-78"/>
              </a:rPr>
              <a:t>وَبِنَاءً عَلَى مَا سَبَقَ، يُعَدُّ الإِصْلَاحُ ضَرُورَةً</a:t>
            </a:r>
            <a:endParaRPr lang="ar-SA" sz="175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وَخُلَاصَةُ القَوْلِ، لَا عَدَالَةَ دُونَ مُحَاسَبَةٍ</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وَمِنَ المُنْطَلَقِ ذَاتِهِ، تَجِبُ المُسَاوَاةُ فِي التَّطْبِيقِ</a:t>
            </a:r>
            <a:endParaRPr lang="ar-SA" sz="15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refusal (yarfuḍu an)</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يَرْفُضُ النَّاشِطُونَ أَنْ تَسْتَمِرَّ الازْدِوَاجِيَّةُ</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يَرْفُضُ القَادَةُ أَنْ يَخْضَعُوا لِلْمُحَاسَبَةِ</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650" b="1" dirty="0">
                <a:solidFill>
                  <a:srgbClr val="1B3B6F"/>
                </a:solidFill>
                <a:latin typeface="Amiri" pitchFamily="2" charset="-78"/>
                <a:ea typeface="Amiri" pitchFamily="2" charset="-78"/>
                <a:cs typeface="Amiri" pitchFamily="2" charset="-78"/>
              </a:rPr>
              <a:t>تَرْفُضُ الشُّعُوبُ أَنْ يُفْلِتَ المُجْرِمُونَ مِنَ العِقَابِ</a:t>
            </a:r>
            <a:endParaRPr lang="ar-SA" sz="165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law passive</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يُنْتَهَكُ القَانُونُ الدَّوْلِيُّ فِي مَنَاطِقِ النِّزَاعِ</a:t>
            </a:r>
            <a:endParaRPr lang="ar-SA" sz="17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تُلْزَمُ الدُّوَلُ بِالامْتِثَالِ لِلْمُعَاهَدَاتِ</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يُحَاسَبُ المُنْتَهِكُونَ أَمَامَ القَضَاءِ الدَّوْلِيِّ</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49</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P5-L05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5,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P5-L05</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passive “is violated”?</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يَنْتَهِكُ</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انْتَهَكَ</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يُنْتَهَكُ</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3" name="Text 30"/>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 the passive:</a:t>
            </a:r>
            <a:endParaRPr lang="en-US" sz="1200" dirty="0"/>
          </a:p>
        </p:txBody>
      </p:sp>
      <p:sp>
        <p:nvSpPr>
          <p:cNvPr id="34" name="Text 31"/>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2" charset="-78"/>
                <a:ea typeface="Amiri" pitchFamily="2" charset="-78"/>
                <a:cs typeface="Amiri" pitchFamily="2" charset="-78"/>
              </a:rPr>
              <a:t>تُلْزَمُ الدُّوَلُ ___ الامْتِثَالِ لِلْمُعَاهَدَاتِ.</a:t>
            </a:r>
            <a:endParaRPr lang="ar-SA" sz="1450" dirty="0"/>
          </a:p>
        </p:txBody>
      </p:sp>
      <p:sp>
        <p:nvSpPr>
          <p:cNvPr id="35" name="Shape 32"/>
          <p:cNvSpPr/>
          <p:nvPr/>
        </p:nvSpPr>
        <p:spPr>
          <a:xfrm>
            <a:off x="6368796"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38" name="Shape 35"/>
          <p:cNvSpPr/>
          <p:nvPr/>
        </p:nvSpPr>
        <p:spPr>
          <a:xfrm>
            <a:off x="6368796"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بِـ</a:t>
            </a:r>
            <a:endParaRPr lang="ar-SA" sz="2050" dirty="0"/>
          </a:p>
        </p:txBody>
      </p:sp>
      <p:sp>
        <p:nvSpPr>
          <p:cNvPr id="41" name="Shape 38"/>
          <p:cNvSpPr/>
          <p:nvPr/>
        </p:nvSpPr>
        <p:spPr>
          <a:xfrm>
            <a:off x="6368796"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إِلَى</a:t>
            </a:r>
            <a:endParaRPr lang="ar-SA" sz="2050" dirty="0"/>
          </a:p>
        </p:txBody>
      </p:sp>
      <p:sp>
        <p:nvSpPr>
          <p:cNvPr id="44" name="Shape 41"/>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585216" y="4288536"/>
            <a:ext cx="310896" cy="310896"/>
          </a:xfrm>
          <a:prstGeom prst="ellipse">
            <a:avLst/>
          </a:prstGeom>
          <a:solidFill>
            <a:srgbClr val="1B3B6F"/>
          </a:solidFill>
          <a:ln w="12700">
            <a:solidFill>
              <a:srgbClr val="1B3B6F"/>
            </a:solidFill>
            <a:prstDash val="solid"/>
          </a:ln>
        </p:spPr>
      </p:sp>
      <p:sp>
        <p:nvSpPr>
          <p:cNvPr id="46" name="Text 4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7" name="Text 44"/>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 the refusal:</a:t>
            </a:r>
            <a:endParaRPr lang="en-US" sz="1200" dirty="0"/>
          </a:p>
        </p:txBody>
      </p:sp>
      <p:sp>
        <p:nvSpPr>
          <p:cNvPr id="48" name="Text 45"/>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يَرْفُضُ النَّاشِطُونَ أَنْ ___ الازْدِوَاجِيَّةُ.</a:t>
            </a:r>
            <a:endParaRPr lang="ar-SA" sz="1500" dirty="0"/>
          </a:p>
        </p:txBody>
      </p:sp>
      <p:sp>
        <p:nvSpPr>
          <p:cNvPr id="49" name="Shape 46"/>
          <p:cNvSpPr/>
          <p:nvPr/>
        </p:nvSpPr>
        <p:spPr>
          <a:xfrm>
            <a:off x="640080" y="48737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تَسْتَمِرُّ</a:t>
            </a:r>
            <a:endParaRPr lang="ar-SA" sz="2050" dirty="0"/>
          </a:p>
        </p:txBody>
      </p:sp>
      <p:sp>
        <p:nvSpPr>
          <p:cNvPr id="52" name="Shape 49"/>
          <p:cNvSpPr/>
          <p:nvPr/>
        </p:nvSpPr>
        <p:spPr>
          <a:xfrm>
            <a:off x="640080" y="53309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تَسْتَمِرَّ</a:t>
            </a:r>
            <a:endParaRPr lang="ar-SA" sz="2050" dirty="0"/>
          </a:p>
        </p:txBody>
      </p:sp>
      <p:sp>
        <p:nvSpPr>
          <p:cNvPr id="55" name="Shape 52"/>
          <p:cNvSpPr/>
          <p:nvPr/>
        </p:nvSpPr>
        <p:spPr>
          <a:xfrm>
            <a:off x="640080" y="5788152"/>
            <a:ext cx="256032" cy="256032"/>
          </a:xfrm>
          <a:prstGeom prst="ellipse">
            <a:avLst/>
          </a:prstGeom>
          <a:solidFill>
            <a:srgbClr val="F4F1EA"/>
          </a:solidFill>
          <a:ln w="12700">
            <a:solidFill>
              <a:srgbClr val="F4F1EA"/>
            </a:solidFill>
            <a:prstDash val="solid"/>
          </a:ln>
        </p:spPr>
      </p:sp>
      <p:sp>
        <p:nvSpPr>
          <p:cNvPr id="56" name="Text 53"/>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7" name="Text 54"/>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تَسْتَمِرْ</a:t>
            </a:r>
            <a:endParaRPr lang="ar-SA" sz="2050" dirty="0"/>
          </a:p>
        </p:txBody>
      </p:sp>
      <p:sp>
        <p:nvSpPr>
          <p:cNvPr id="58" name="Shape 55"/>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9" name="Shape 56"/>
          <p:cNvSpPr/>
          <p:nvPr/>
        </p:nvSpPr>
        <p:spPr>
          <a:xfrm>
            <a:off x="6313932" y="4288536"/>
            <a:ext cx="310896" cy="310896"/>
          </a:xfrm>
          <a:prstGeom prst="ellipse">
            <a:avLst/>
          </a:prstGeom>
          <a:solidFill>
            <a:srgbClr val="1B3B6F"/>
          </a:solidFill>
          <a:ln w="12700">
            <a:solidFill>
              <a:srgbClr val="1B3B6F"/>
            </a:solidFill>
            <a:prstDash val="solid"/>
          </a:ln>
        </p:spPr>
      </p:sp>
      <p:sp>
        <p:nvSpPr>
          <p:cNvPr id="60" name="Text 57"/>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1" name="Text 58"/>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 the Type 2:</a:t>
            </a:r>
            <a:endParaRPr lang="en-US" sz="1200" dirty="0"/>
          </a:p>
        </p:txBody>
      </p:sp>
      <p:sp>
        <p:nvSpPr>
          <p:cNvPr id="62" name="Text 59"/>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200" b="1" dirty="0">
                <a:solidFill>
                  <a:srgbClr val="1F2A37"/>
                </a:solidFill>
                <a:latin typeface="Amiri" pitchFamily="2" charset="-78"/>
                <a:ea typeface="Amiri" pitchFamily="2" charset="-78"/>
                <a:cs typeface="Amiri" pitchFamily="2" charset="-78"/>
              </a:rPr>
              <a:t>لَوْ طُبِّقَ القَانُونُ بِالتَّسَاوِي، ___ العَالَمُ أَعْدَلَ.</a:t>
            </a:r>
            <a:endParaRPr lang="ar-SA" sz="1200" dirty="0"/>
          </a:p>
        </p:txBody>
      </p:sp>
      <p:sp>
        <p:nvSpPr>
          <p:cNvPr id="63" name="Shape 60"/>
          <p:cNvSpPr/>
          <p:nvPr/>
        </p:nvSpPr>
        <p:spPr>
          <a:xfrm>
            <a:off x="6368796" y="48737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5" name="Text 62"/>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سَيَكُونُ</a:t>
            </a:r>
            <a:endParaRPr lang="ar-SA" sz="2050" dirty="0"/>
          </a:p>
        </p:txBody>
      </p:sp>
      <p:sp>
        <p:nvSpPr>
          <p:cNvPr id="66" name="Shape 63"/>
          <p:cNvSpPr/>
          <p:nvPr/>
        </p:nvSpPr>
        <p:spPr>
          <a:xfrm>
            <a:off x="6368796" y="53309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8" name="Text 65"/>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يَكُونُ</a:t>
            </a:r>
            <a:endParaRPr lang="ar-SA" sz="2050" dirty="0"/>
          </a:p>
        </p:txBody>
      </p:sp>
      <p:sp>
        <p:nvSpPr>
          <p:cNvPr id="69" name="Shape 66"/>
          <p:cNvSpPr/>
          <p:nvPr/>
        </p:nvSpPr>
        <p:spPr>
          <a:xfrm>
            <a:off x="6368796" y="5788152"/>
            <a:ext cx="256032" cy="256032"/>
          </a:xfrm>
          <a:prstGeom prst="ellipse">
            <a:avLst/>
          </a:prstGeom>
          <a:solidFill>
            <a:srgbClr val="F4F1EA"/>
          </a:solidFill>
          <a:ln w="12700">
            <a:solidFill>
              <a:srgbClr val="F4F1EA"/>
            </a:solidFill>
            <a:prstDash val="solid"/>
          </a:ln>
        </p:spPr>
      </p:sp>
      <p:sp>
        <p:nvSpPr>
          <p:cNvPr id="70" name="Text 67"/>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1" name="Text 68"/>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لَكَانَ</a:t>
            </a:r>
            <a:endParaRPr lang="ar-SA" sz="2050" dirty="0"/>
          </a:p>
        </p:txBody>
      </p:sp>
      <p:sp>
        <p:nvSpPr>
          <p:cNvPr id="72" name="Text 6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49</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P5-L05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P5-L05</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passive “is violated”?</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يَنْتَهِكُ</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انْتَهَكَ</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يُنْتَهَكُ</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يُنْتَهَكُ</a:t>
            </a:r>
            <a:pPr algn="l" indent="0" marL="0">
              <a:buNone/>
            </a:pPr>
            <a:r>
              <a:rPr lang="en-US" sz="1050" i="1" dirty="0">
                <a:solidFill>
                  <a:srgbClr val="8A6D1E"/>
                </a:solidFill>
                <a:latin typeface="Calibri" pitchFamily="34" charset="0"/>
                <a:cs typeface="Amiri" pitchFamily="2" charset="-78"/>
              </a:rPr>
              <a:t> is the Form VIII passive.</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5" name="Text 32"/>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 the passive:</a:t>
            </a:r>
            <a:endParaRPr lang="en-US" sz="1200" dirty="0"/>
          </a:p>
        </p:txBody>
      </p:sp>
      <p:sp>
        <p:nvSpPr>
          <p:cNvPr id="36" name="Text 33"/>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2" charset="-78"/>
                <a:ea typeface="Amiri" pitchFamily="2" charset="-78"/>
                <a:cs typeface="Amiri" pitchFamily="2" charset="-78"/>
              </a:rPr>
              <a:t>تُلْزَمُ الدُّوَلُ ___ الامْتِثَالِ لِلْمُعَاهَدَاتِ.</a:t>
            </a:r>
            <a:endParaRPr lang="ar-SA" sz="1450" dirty="0"/>
          </a:p>
        </p:txBody>
      </p:sp>
      <p:sp>
        <p:nvSpPr>
          <p:cNvPr id="37" name="Shape 34"/>
          <p:cNvSpPr/>
          <p:nvPr/>
        </p:nvSpPr>
        <p:spPr>
          <a:xfrm>
            <a:off x="6368796" y="2490216"/>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عَلَى</a:t>
            </a:r>
            <a:endParaRPr lang="ar-SA" sz="1700" dirty="0"/>
          </a:p>
        </p:txBody>
      </p:sp>
      <p:sp>
        <p:nvSpPr>
          <p:cNvPr id="40" name="Shape 37"/>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2862072"/>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3" name="Text 40"/>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بِـ</a:t>
            </a:r>
            <a:endParaRPr lang="ar-SA" sz="1700" dirty="0"/>
          </a:p>
        </p:txBody>
      </p:sp>
      <p:sp>
        <p:nvSpPr>
          <p:cNvPr id="44" name="Shape 41"/>
          <p:cNvSpPr/>
          <p:nvPr/>
        </p:nvSpPr>
        <p:spPr>
          <a:xfrm>
            <a:off x="6368796" y="3233928"/>
            <a:ext cx="256032" cy="256032"/>
          </a:xfrm>
          <a:prstGeom prst="ellipse">
            <a:avLst/>
          </a:prstGeom>
          <a:solidFill>
            <a:srgbClr val="C9CED6"/>
          </a:solidFill>
          <a:ln w="12700">
            <a:solidFill>
              <a:srgbClr val="C9CED6"/>
            </a:solidFill>
            <a:prstDash val="solid"/>
          </a:ln>
        </p:spPr>
      </p:sp>
      <p:sp>
        <p:nvSpPr>
          <p:cNvPr id="45" name="Text 42"/>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6" name="Text 43"/>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إِلَى</a:t>
            </a:r>
            <a:endParaRPr lang="ar-SA" sz="1700" dirty="0"/>
          </a:p>
        </p:txBody>
      </p:sp>
      <p:sp>
        <p:nvSpPr>
          <p:cNvPr id="47" name="Text 44"/>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يُلْزَمُ</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ea typeface="Amiri" pitchFamily="2" charset="-78"/>
                <a:cs typeface="Amiri" pitchFamily="2" charset="-78"/>
              </a:rPr>
              <a:t>بِـ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8" name="Shape 45"/>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85216" y="4288536"/>
            <a:ext cx="310896" cy="310896"/>
          </a:xfrm>
          <a:prstGeom prst="ellipse">
            <a:avLst/>
          </a:prstGeom>
          <a:solidFill>
            <a:srgbClr val="1B3B6F"/>
          </a:solidFill>
          <a:ln w="12700">
            <a:solidFill>
              <a:srgbClr val="1B3B6F"/>
            </a:solidFill>
            <a:prstDash val="solid"/>
          </a:ln>
        </p:spPr>
      </p:sp>
      <p:sp>
        <p:nvSpPr>
          <p:cNvPr id="50" name="Text 4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1" name="Text 48"/>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 the refusal:</a:t>
            </a:r>
            <a:endParaRPr lang="en-US" sz="1200" dirty="0"/>
          </a:p>
        </p:txBody>
      </p:sp>
      <p:sp>
        <p:nvSpPr>
          <p:cNvPr id="52" name="Text 49"/>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يَرْفُضُ النَّاشِطُونَ أَنْ ___ الازْدِوَاجِيَّةُ.</a:t>
            </a:r>
            <a:endParaRPr lang="ar-SA" sz="1500" dirty="0"/>
          </a:p>
        </p:txBody>
      </p:sp>
      <p:sp>
        <p:nvSpPr>
          <p:cNvPr id="53" name="Shape 50"/>
          <p:cNvSpPr/>
          <p:nvPr/>
        </p:nvSpPr>
        <p:spPr>
          <a:xfrm>
            <a:off x="640080" y="4831080"/>
            <a:ext cx="256032" cy="256032"/>
          </a:xfrm>
          <a:prstGeom prst="ellipse">
            <a:avLst/>
          </a:prstGeom>
          <a:solidFill>
            <a:srgbClr val="C9CED6"/>
          </a:solidFill>
          <a:ln w="12700">
            <a:solidFill>
              <a:srgbClr val="C9CED6"/>
            </a:solidFill>
            <a:prstDash val="solid"/>
          </a:ln>
        </p:spPr>
      </p:sp>
      <p:sp>
        <p:nvSpPr>
          <p:cNvPr id="54" name="Text 51"/>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5" name="Text 52"/>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تَسْتَمِرُّ</a:t>
            </a:r>
            <a:endParaRPr lang="ar-SA" sz="1700" dirty="0"/>
          </a:p>
        </p:txBody>
      </p:sp>
      <p:sp>
        <p:nvSpPr>
          <p:cNvPr id="56" name="Shape 53"/>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7" name="Shape 54"/>
          <p:cNvSpPr/>
          <p:nvPr/>
        </p:nvSpPr>
        <p:spPr>
          <a:xfrm>
            <a:off x="640080" y="5202936"/>
            <a:ext cx="256032" cy="256032"/>
          </a:xfrm>
          <a:prstGeom prst="ellipse">
            <a:avLst/>
          </a:prstGeom>
          <a:solidFill>
            <a:srgbClr val="2E8B57"/>
          </a:solidFill>
          <a:ln w="12700">
            <a:solidFill>
              <a:srgbClr val="2E8B57"/>
            </a:solidFill>
            <a:prstDash val="solid"/>
          </a:ln>
        </p:spPr>
      </p:sp>
      <p:sp>
        <p:nvSpPr>
          <p:cNvPr id="58" name="Text 5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9" name="Text 56"/>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تَسْتَمِرَّ</a:t>
            </a:r>
            <a:endParaRPr lang="ar-SA" sz="1700" dirty="0"/>
          </a:p>
        </p:txBody>
      </p:sp>
      <p:sp>
        <p:nvSpPr>
          <p:cNvPr id="60" name="Shape 57"/>
          <p:cNvSpPr/>
          <p:nvPr/>
        </p:nvSpPr>
        <p:spPr>
          <a:xfrm>
            <a:off x="640080" y="5574792"/>
            <a:ext cx="256032" cy="256032"/>
          </a:xfrm>
          <a:prstGeom prst="ellipse">
            <a:avLst/>
          </a:prstGeom>
          <a:solidFill>
            <a:srgbClr val="C9CED6"/>
          </a:solidFill>
          <a:ln w="12700">
            <a:solidFill>
              <a:srgbClr val="C9CED6"/>
            </a:solidFill>
            <a:prstDash val="solid"/>
          </a:ln>
        </p:spPr>
      </p:sp>
      <p:sp>
        <p:nvSpPr>
          <p:cNvPr id="61" name="Text 58"/>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2" name="Text 59"/>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تَسْتَمِرْ</a:t>
            </a:r>
            <a:endParaRPr lang="ar-SA" sz="1700" dirty="0"/>
          </a:p>
        </p:txBody>
      </p:sp>
      <p:sp>
        <p:nvSpPr>
          <p:cNvPr id="63" name="Text 60"/>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After </a:t>
            </a:r>
            <a:pPr algn="l" indent="0" marL="0">
              <a:buNone/>
            </a:pPr>
            <a:r>
              <a:rPr lang="ar-SA" altLang="en-US" sz="1350" dirty="0">
                <a:solidFill>
                  <a:srgbClr val="8A6D1E"/>
                </a:solidFill>
                <a:latin typeface="Amiri" pitchFamily="2" charset="-78"/>
                <a:ea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 the verb is subjunctive: </a:t>
            </a:r>
            <a:pPr algn="l" indent="0" marL="0">
              <a:buNone/>
            </a:pPr>
            <a:r>
              <a:rPr lang="ar-SA" altLang="en-US" sz="1350" dirty="0">
                <a:solidFill>
                  <a:srgbClr val="8A6D1E"/>
                </a:solidFill>
                <a:latin typeface="Amiri" pitchFamily="2" charset="-78"/>
                <a:ea typeface="Amiri" pitchFamily="2" charset="-78"/>
                <a:cs typeface="Amiri" pitchFamily="2" charset="-78"/>
              </a:rPr>
              <a:t>تَسْتَمِرَّ</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4" name="Shape 6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5" name="Shape 62"/>
          <p:cNvSpPr/>
          <p:nvPr/>
        </p:nvSpPr>
        <p:spPr>
          <a:xfrm>
            <a:off x="6313932" y="4288536"/>
            <a:ext cx="310896" cy="310896"/>
          </a:xfrm>
          <a:prstGeom prst="ellipse">
            <a:avLst/>
          </a:prstGeom>
          <a:solidFill>
            <a:srgbClr val="1B3B6F"/>
          </a:solidFill>
          <a:ln w="12700">
            <a:solidFill>
              <a:srgbClr val="1B3B6F"/>
            </a:solidFill>
            <a:prstDash val="solid"/>
          </a:ln>
        </p:spPr>
      </p:sp>
      <p:sp>
        <p:nvSpPr>
          <p:cNvPr id="66" name="Text 6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7" name="Text 64"/>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 the Type 2:</a:t>
            </a:r>
            <a:endParaRPr lang="en-US" sz="1200" dirty="0"/>
          </a:p>
        </p:txBody>
      </p:sp>
      <p:sp>
        <p:nvSpPr>
          <p:cNvPr id="68" name="Text 65"/>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200" b="1" dirty="0">
                <a:solidFill>
                  <a:srgbClr val="1F2A37"/>
                </a:solidFill>
                <a:latin typeface="Amiri" pitchFamily="2" charset="-78"/>
                <a:ea typeface="Amiri" pitchFamily="2" charset="-78"/>
                <a:cs typeface="Amiri" pitchFamily="2" charset="-78"/>
              </a:rPr>
              <a:t>لَوْ طُبِّقَ القَانُونُ بِالتَّسَاوِي، ___ العَالَمُ أَعْدَلَ.</a:t>
            </a:r>
            <a:endParaRPr lang="ar-SA" sz="1200" dirty="0"/>
          </a:p>
        </p:txBody>
      </p:sp>
      <p:sp>
        <p:nvSpPr>
          <p:cNvPr id="69" name="Shape 66"/>
          <p:cNvSpPr/>
          <p:nvPr/>
        </p:nvSpPr>
        <p:spPr>
          <a:xfrm>
            <a:off x="6368796" y="4831080"/>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1" name="Text 68"/>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سَيَكُونُ</a:t>
            </a:r>
            <a:endParaRPr lang="ar-SA" sz="1700" dirty="0"/>
          </a:p>
        </p:txBody>
      </p:sp>
      <p:sp>
        <p:nvSpPr>
          <p:cNvPr id="72" name="Shape 69"/>
          <p:cNvSpPr/>
          <p:nvPr/>
        </p:nvSpPr>
        <p:spPr>
          <a:xfrm>
            <a:off x="6368796" y="5202936"/>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4" name="Text 71"/>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يَكُونُ</a:t>
            </a:r>
            <a:endParaRPr lang="ar-SA" sz="1700" dirty="0"/>
          </a:p>
        </p:txBody>
      </p:sp>
      <p:sp>
        <p:nvSpPr>
          <p:cNvPr id="75" name="Shape 72"/>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6" name="Shape 73"/>
          <p:cNvSpPr/>
          <p:nvPr/>
        </p:nvSpPr>
        <p:spPr>
          <a:xfrm>
            <a:off x="6368796" y="5574792"/>
            <a:ext cx="256032" cy="256032"/>
          </a:xfrm>
          <a:prstGeom prst="ellipse">
            <a:avLst/>
          </a:prstGeom>
          <a:solidFill>
            <a:srgbClr val="2E8B57"/>
          </a:solidFill>
          <a:ln w="12700">
            <a:solidFill>
              <a:srgbClr val="2E8B57"/>
            </a:solidFill>
            <a:prstDash val="solid"/>
          </a:ln>
        </p:spPr>
      </p:sp>
      <p:sp>
        <p:nvSpPr>
          <p:cNvPr id="77" name="Text 74"/>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8" name="Text 75"/>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لَكَانَ</a:t>
            </a:r>
            <a:endParaRPr lang="ar-SA" sz="1700" dirty="0"/>
          </a:p>
        </p:txBody>
      </p:sp>
      <p:sp>
        <p:nvSpPr>
          <p:cNvPr id="79" name="Text 76"/>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Type 2 result takes the </a:t>
            </a:r>
            <a:pPr algn="l" indent="0" marL="0">
              <a:buNone/>
            </a:pPr>
            <a:r>
              <a:rPr lang="ar-SA" altLang="en-US" sz="1350" dirty="0">
                <a:solidFill>
                  <a:srgbClr val="8A6D1E"/>
                </a:solidFill>
                <a:latin typeface="Amiri" pitchFamily="2" charset="-78"/>
                <a:ea typeface="Amiri" pitchFamily="2" charset="-78"/>
                <a:cs typeface="Amiri" pitchFamily="2" charset="-78"/>
              </a:rPr>
              <a:t>لَـ</a:t>
            </a:r>
            <a:pPr algn="l" indent="0" marL="0">
              <a:buNone/>
            </a:pPr>
            <a:r>
              <a:rPr lang="en-US" sz="1050" i="1" dirty="0">
                <a:solidFill>
                  <a:srgbClr val="8A6D1E"/>
                </a:solidFill>
                <a:latin typeface="Calibri" pitchFamily="34" charset="0"/>
                <a:cs typeface="Amiri" pitchFamily="2" charset="-78"/>
              </a:rPr>
              <a:t> prefix.</a:t>
            </a:r>
            <a:endParaRPr lang="en-US" sz="1050" dirty="0"/>
          </a:p>
        </p:txBody>
      </p:sp>
      <p:sp>
        <p:nvSpPr>
          <p:cNvPr id="80" name="Text 7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49</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P5-L05 · Argument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P5-L05</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يَرْفُضُ النَّاشِطُونَ أَنْ تَسْتَمِرُّ الازْدِوَاجِيَّةُ.</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an tastamirru?</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تُلْزَمُ الدُّوَلُ عَلَى الامْتِثَالِ لِلْمُعَاهَدَاتِ.</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tulzamu ʿalā?</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لَوْ طُبِّقَ القَانُونُ بِالتَّسَاوِي، سَيَكُونُ العَالَمُ أَعْدَلَ.</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law … sa-yakūnu?</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49</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P5-L05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P5-L05</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2" charset="-78"/>
                <a:ea typeface="Amiri" pitchFamily="2" charset="-78"/>
                <a:cs typeface="Amiri" pitchFamily="2" charset="-78"/>
              </a:rPr>
              <a:t>يَرْفُضُ النَّاشِطُونَ أَنْ تَسْتَمِرُّ الازْدِوَاجِيَّةُ.</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يَرْفُضُ النَّاشِطُونَ أَنْ تَسْتَمِرَّ الازْدِوَاجِيَّةُ.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After </a:t>
            </a:r>
            <a:pPr algn="l" indent="0" marL="0">
              <a:buNone/>
            </a:pPr>
            <a:r>
              <a:rPr lang="ar-SA" altLang="en-US" sz="1500" b="1" dirty="0">
                <a:solidFill>
                  <a:srgbClr val="1B3B6F"/>
                </a:solidFill>
                <a:latin typeface="Amiri" pitchFamily="2" charset="-78"/>
                <a:ea typeface="Amiri" pitchFamily="2" charset="-78"/>
                <a:cs typeface="Amiri" pitchFamily="2" charset="-78"/>
              </a:rPr>
              <a:t>أَنْ</a:t>
            </a:r>
            <a:pPr algn="l" indent="0" marL="0">
              <a:buNone/>
            </a:pPr>
            <a:r>
              <a:rPr lang="en-US" sz="1150" b="1" dirty="0">
                <a:solidFill>
                  <a:srgbClr val="1B3B6F"/>
                </a:solidFill>
                <a:latin typeface="Calibri" pitchFamily="34" charset="0"/>
                <a:cs typeface="Amiri" pitchFamily="2" charset="-78"/>
              </a:rPr>
              <a:t> the verb is subjunctive: </a:t>
            </a:r>
            <a:pPr algn="l" indent="0" marL="0">
              <a:buNone/>
            </a:pPr>
            <a:r>
              <a:rPr lang="ar-SA" altLang="en-US" sz="1500" b="1" dirty="0">
                <a:solidFill>
                  <a:srgbClr val="1B3B6F"/>
                </a:solidFill>
                <a:latin typeface="Amiri" pitchFamily="2" charset="-78"/>
                <a:ea typeface="Amiri" pitchFamily="2" charset="-78"/>
                <a:cs typeface="Amiri" pitchFamily="2" charset="-78"/>
              </a:rPr>
              <a:t>تَسْتَمِرَّ</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2" charset="-78"/>
                <a:ea typeface="Amiri" pitchFamily="2" charset="-78"/>
                <a:cs typeface="Amiri" pitchFamily="2" charset="-78"/>
              </a:rPr>
              <a:t>تُلْزَمُ الدُّوَلُ عَلَى الامْتِثَالِ لِلْمُعَاهَدَاتِ.</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تُلْزَمُ الدُّوَلُ بِالامْتِثَالِ لِلْمُعَاهَدَاتِ.</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ea typeface="Amiri" pitchFamily="2" charset="-78"/>
                <a:cs typeface="Amiri" pitchFamily="2" charset="-78"/>
              </a:rPr>
              <a:t>يُلْزَمُ</a:t>
            </a:r>
            <a:pPr algn="l" indent="0" marL="0">
              <a:buNone/>
            </a:pPr>
            <a:r>
              <a:rPr lang="en-US" sz="1150" b="1" dirty="0">
                <a:solidFill>
                  <a:srgbClr val="1B3B6F"/>
                </a:solidFill>
                <a:latin typeface="Calibri" pitchFamily="34" charset="0"/>
                <a:cs typeface="Amiri" pitchFamily="2" charset="-78"/>
              </a:rPr>
              <a:t> is fixed with </a:t>
            </a:r>
            <a:pPr algn="l" indent="0" marL="0">
              <a:buNone/>
            </a:pPr>
            <a:r>
              <a:rPr lang="ar-SA" altLang="en-US" sz="1500" b="1" dirty="0">
                <a:solidFill>
                  <a:srgbClr val="1B3B6F"/>
                </a:solidFill>
                <a:latin typeface="Amiri" pitchFamily="2" charset="-78"/>
                <a:ea typeface="Amiri" pitchFamily="2" charset="-78"/>
                <a:cs typeface="Amiri" pitchFamily="2" charset="-78"/>
              </a:rPr>
              <a:t>بِـ</a:t>
            </a:r>
            <a:pPr algn="l" indent="0" marL="0">
              <a:buNone/>
            </a:pPr>
            <a:r>
              <a:rPr lang="en-US" sz="1150" b="1" dirty="0">
                <a:solidFill>
                  <a:srgbClr val="1B3B6F"/>
                </a:solidFill>
                <a:latin typeface="Calibri" pitchFamily="34" charset="0"/>
                <a:cs typeface="Amiri" pitchFamily="2" charset="-78"/>
              </a:rPr>
              <a:t>, not </a:t>
            </a:r>
            <a:pPr algn="l" indent="0" marL="0">
              <a:buNone/>
            </a:pPr>
            <a:r>
              <a:rPr lang="ar-SA" altLang="en-US" sz="1500" b="1" dirty="0">
                <a:solidFill>
                  <a:srgbClr val="1B3B6F"/>
                </a:solidFill>
                <a:latin typeface="Amiri" pitchFamily="2" charset="-78"/>
                <a:ea typeface="Amiri" pitchFamily="2" charset="-78"/>
                <a:cs typeface="Amiri" pitchFamily="2" charset="-78"/>
              </a:rPr>
              <a:t>عَلَى</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2" charset="-78"/>
                <a:ea typeface="Amiri" pitchFamily="2" charset="-78"/>
                <a:cs typeface="Amiri" pitchFamily="2" charset="-78"/>
              </a:rPr>
              <a:t>لَوْ طُبِّقَ القَانُونُ بِالتَّسَاوِي، سَيَكُونُ العَالَمُ أَعْدَلَ.</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lnSpc>
                <a:spcPct val="120000"/>
              </a:lnSpc>
              <a:buNone/>
            </a:pPr>
            <a:r>
              <a:rPr lang="ar-SA" altLang="en-US" sz="2100" b="1" dirty="0">
                <a:solidFill>
                  <a:srgbClr val="1E6B52"/>
                </a:solidFill>
                <a:latin typeface="Amiri" pitchFamily="2" charset="-78"/>
                <a:ea typeface="Amiri" pitchFamily="2" charset="-78"/>
                <a:cs typeface="Amiri" pitchFamily="2" charset="-78"/>
              </a:rPr>
              <a:t>لَوْ طُبِّقَ القَانُونُ بِالتَّسَاوِي، لَكَانَ العَالَمُ أَعْدَلَ.</a:t>
            </a:r>
            <a:endParaRPr lang="ar-SA" sz="21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 Type 2 result takes the </a:t>
            </a:r>
            <a:pPr algn="l" indent="0" marL="0">
              <a:buNone/>
            </a:pPr>
            <a:r>
              <a:rPr lang="ar-SA" altLang="en-US" sz="1500" b="1" dirty="0">
                <a:solidFill>
                  <a:srgbClr val="1B3B6F"/>
                </a:solidFill>
                <a:latin typeface="Amiri" pitchFamily="2" charset="-78"/>
                <a:ea typeface="Amiri" pitchFamily="2" charset="-78"/>
                <a:cs typeface="Amiri" pitchFamily="2" charset="-78"/>
              </a:rPr>
              <a:t>لَـ</a:t>
            </a:r>
            <a:pPr algn="l" indent="0" marL="0">
              <a:buNone/>
            </a:pPr>
            <a:r>
              <a:rPr lang="en-US" sz="1150" b="1" dirty="0">
                <a:solidFill>
                  <a:srgbClr val="1B3B6F"/>
                </a:solidFill>
                <a:latin typeface="Calibri" pitchFamily="34" charset="0"/>
                <a:cs typeface="Amiri" pitchFamily="2" charset="-78"/>
              </a:rPr>
              <a:t> prefix, not </a:t>
            </a:r>
            <a:pPr algn="l" indent="0" marL="0">
              <a:buNone/>
            </a:pPr>
            <a:r>
              <a:rPr lang="ar-SA" altLang="en-US" sz="1500" b="1" dirty="0">
                <a:solidFill>
                  <a:srgbClr val="1B3B6F"/>
                </a:solidFill>
                <a:latin typeface="Amiri" pitchFamily="2" charset="-78"/>
                <a:ea typeface="Amiri" pitchFamily="2" charset="-78"/>
                <a:cs typeface="Amiri" pitchFamily="2" charset="-78"/>
              </a:rPr>
              <a:t>سَـ</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49</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P5-L05 · Argument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50" b="1" dirty="0">
                <a:solidFill>
                  <a:srgbClr val="1B3B6F"/>
                </a:solidFill>
                <a:latin typeface="Cambria" pitchFamily="34" charset="0"/>
                <a:cs typeface="Amiri" pitchFamily="2" charset="-78"/>
              </a:rPr>
              <a:t>Listening: a legal expert on double standards</a:t>
            </a:r>
            <a:endParaRPr lang="en-US" sz="21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 specialists confirm about international law?</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systematically violated in conflict zones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always upheld</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does not exist</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does the expert locate the core of the crisis?</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small states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the treaties themselves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the double standards practised by some major powers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 many activists refuse (</a:t>
            </a:r>
            <a:pPr algn="l" indent="0" marL="0">
              <a:buNone/>
            </a:pPr>
            <a:r>
              <a:rPr lang="ar-SA" altLang="en-US" sz="1650" b="1" dirty="0">
                <a:solidFill>
                  <a:srgbClr val="1B3B6F"/>
                </a:solidFill>
                <a:latin typeface="Amiri" pitchFamily="2" charset="-78"/>
                <a:ea typeface="Amiri" pitchFamily="2" charset="-78"/>
                <a:cs typeface="Amiri" pitchFamily="2" charset="-78"/>
              </a:rPr>
              <a:t>يَرْفُضُ</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That treaties be signed</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That law be applied</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That these double standards continue</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Type 2 counterfactual?</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950" dirty="0">
                <a:solidFill>
                  <a:srgbClr val="1F2A37"/>
                </a:solidFill>
                <a:latin typeface="Calibri" pitchFamily="34" charset="0"/>
                <a:cs typeface="Amiri" pitchFamily="2" charset="-78"/>
              </a:rPr>
              <a:t>Had the law been applied without double standards, the massacres would have been less severe</a:t>
            </a:r>
            <a:endParaRPr lang="en-US" sz="9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Applying the law makes no difference</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massacres cannot be reduced</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the expert conclude (</a:t>
            </a:r>
            <a:pPr algn="l" indent="0" marL="0">
              <a:buNone/>
            </a:pPr>
            <a:r>
              <a:rPr lang="ar-SA" altLang="en-US" sz="1650" b="1" dirty="0">
                <a:solidFill>
                  <a:srgbClr val="1B3B6F"/>
                </a:solidFill>
                <a:latin typeface="Amiri" pitchFamily="2" charset="-78"/>
                <a:ea typeface="Amiri" pitchFamily="2" charset="-78"/>
                <a:cs typeface="Amiri" pitchFamily="2" charset="-78"/>
              </a:rPr>
              <a:t>وَبِنَاءً عَلَى مَا سَبَقَ</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 reform is needed</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Reforming the Security Council is an indispensable step</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Council should be abolished</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3 and 5.</a:t>
            </a:r>
            <a:endParaRPr lang="en-US" sz="1250" dirty="0"/>
          </a:p>
          <a:p>
            <a:pPr algn="l" indent="0" marL="0">
              <a:buNone/>
            </a:pPr>
            <a:r>
              <a:rPr lang="en-US" sz="1250" dirty="0">
                <a:solidFill>
                  <a:srgbClr val="1E6B52"/>
                </a:solidFill>
                <a:latin typeface="Calibri" pitchFamily="34" charset="0"/>
                <a:cs typeface="Amiri" pitchFamily="2" charset="-78"/>
              </a:rPr>
              <a:t>Listen for: yuntahaku · yarfuḍu … an · wa-bināʾan ʿalā mā sabaqa.</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49</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P5-L05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P5-L05</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يَقُولُ الخَبِيرُ القَانُونِيُّ: يُؤَكِّدُ المُخْتَصُّونَ أَنَّ القَانُونَ الدَّوْلِيَّ الإِنْسَانِيَّ يُنْتَهَكُ بِشَكْلٍ مَنْهَجِيٍّ فِي مَنَاطِقِ النِّزَاعِ.</a:t>
            </a:r>
            <a:endParaRPr lang="ar-SA" sz="155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legal expert says: specialists confirm that international humanitarian law is systematically violated in conflict zones.</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وَيَكْمُنُ جَوْهَرُ الأَزْمَةِ فِي ازْدِوَاجِيَّةِ المَعَايِيرِ الَّتِي تُمَارِسُهَا بَعْضُ الدُّوَلِ الكُبْرَى.</a:t>
            </a:r>
            <a:endParaRPr lang="ar-SA" sz="19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core of the crisis lies in the double standards practised by some major powers.</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تُلْزَمُ الدُّوَلُ المُوَقِّعَةُ بِالامْتِثَالِ لِلْمُعَاهَدَاتِ، غَيْرَ أَنَّ التَّطْبِيقَ يَظَلُّ رَهِينًا بِالمَصَالِحِ السِّيَاسِيَّةِ.</a:t>
            </a:r>
            <a:endParaRPr lang="ar-SA" sz="155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Signatory states are obliged to comply with the treaties; however, application remains hostage to political interests.</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يَرْفُضُ كَثِيرٌ مِنَ النَّاشِطِينَ أَنْ تَسْتَمِرَّ هٰذِهِ الازْدِوَاجِيَّةُ. وَلَوْ طُبِّقَ القَانُونُ بِلَا ازْدِوَاجِيَّةٍ، لَكَانَتِ المَجَازِرُ أَقَلَّ حِدَّةً.</a:t>
            </a:r>
            <a:endParaRPr lang="ar-SA" sz="155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Many activists refuse to let these double standards continue. Had the law been applied without double standards, the massacres would have been less severe.</a:t>
            </a:r>
            <a:endParaRPr lang="en-US" sz="120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وَبِنَاءً عَلَى مَا سَبَقَ، يُعَدُّ إِصْلَاحُ مَجْلِسِ الأَمْنِ خُطْوَةً لَا غِنَى عَنْهَا. وَخُلَاصَةُ القَوْلِ، لَا عَدَالَةَ عَالَمِيَّةً دُونَ مُحَاسَبَةٍ مُتَسَاوِيَةٍ.</a:t>
            </a:r>
            <a:endParaRPr lang="ar-SA" sz="155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Based on the above, reforming the Security Council is an indispensable step. In summary, there is no global justice without equal accountability.</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49</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P5-L05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 specialists confirm about international law?</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It is systematically violated in conflict zones</a:t>
            </a:r>
            <a:endParaRPr lang="en-US" sz="11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always upheld</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does not exist</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150" dirty="0">
                <a:solidFill>
                  <a:srgbClr val="8A6D1E"/>
                </a:solidFill>
                <a:latin typeface="Amiri" pitchFamily="2" charset="-78"/>
                <a:ea typeface="Amiri" pitchFamily="2" charset="-78"/>
                <a:cs typeface="Amiri" pitchFamily="2" charset="-78"/>
              </a:rPr>
              <a:t>يُؤَكِّدُ المُخْتَصُّونَ أَنَّ القَانُونَ الدَّوْلِيَّ الإِنْسَانِيَّ يُنْتَهَكُ بِشَكْلٍ مَنْهَجِيٍّ.</a:t>
            </a:r>
            <a:endParaRPr lang="ar-SA" sz="11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does the expert locate the core of the crisis?</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 small states</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 the treaties themselves</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In the double standards practised by some major powers</a:t>
            </a:r>
            <a:endParaRPr lang="en-US" sz="11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950" dirty="0">
                <a:solidFill>
                  <a:srgbClr val="8A6D1E"/>
                </a:solidFill>
                <a:latin typeface="Amiri" pitchFamily="2" charset="-78"/>
                <a:ea typeface="Amiri" pitchFamily="2" charset="-78"/>
                <a:cs typeface="Amiri" pitchFamily="2" charset="-78"/>
              </a:rPr>
              <a:t>يَكْمُنُ جَوْهَرُ الأَزْمَةِ فِي ازْدِوَاجِيَّةِ المَعَايِيرِ الَّتِي تُمَارِسُهَا بَعْضُ الدُّوَلِ الكُبْرَى.</a:t>
            </a:r>
            <a:endParaRPr lang="ar-SA" sz="9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 many activists refuse (</a:t>
            </a:r>
            <a:pPr algn="l" indent="0" marL="0">
              <a:buNone/>
            </a:pPr>
            <a:r>
              <a:rPr lang="ar-SA" altLang="en-US" sz="1650" b="1" dirty="0">
                <a:solidFill>
                  <a:srgbClr val="1B3B6F"/>
                </a:solidFill>
                <a:latin typeface="Amiri" pitchFamily="2" charset="-78"/>
                <a:ea typeface="Amiri" pitchFamily="2" charset="-78"/>
                <a:cs typeface="Amiri" pitchFamily="2" charset="-78"/>
              </a:rPr>
              <a:t>يَرْفُضُ</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That treaties be signed</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That law be applied</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That these double standards continue</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يَرْفُضُ كَثِيرٌ مِنَ النَّاشِطِينَ أَنْ تَسْتَمِرَّ هٰذِهِ الازْدِوَاجِيَّةُ.</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Type 2 counterfactual?</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950" b="1" dirty="0">
                <a:solidFill>
                  <a:srgbClr val="1F2A37"/>
                </a:solidFill>
                <a:latin typeface="Calibri" pitchFamily="34" charset="0"/>
                <a:cs typeface="Amiri" pitchFamily="2" charset="-78"/>
              </a:rPr>
              <a:t>Had the law been applied without double standards, the massacres would have been less severe</a:t>
            </a:r>
            <a:endParaRPr lang="en-US" sz="9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Applying the law makes no difference</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massacres cannot be reduced</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لَوْ طُبِّقَ القَانُونُ بِلَا ازْدِوَاجِيَّةٍ، لَكَانَتِ المَجَازِرُ أَقَلَّ حِدَّةً.</a:t>
            </a:r>
            <a:endParaRPr lang="ar-SA" sz="130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the expert conclude (</a:t>
            </a:r>
            <a:pPr algn="l" indent="0" marL="0">
              <a:buNone/>
            </a:pPr>
            <a:r>
              <a:rPr lang="ar-SA" altLang="en-US" sz="1650" b="1" dirty="0">
                <a:solidFill>
                  <a:srgbClr val="1B3B6F"/>
                </a:solidFill>
                <a:latin typeface="Amiri" pitchFamily="2" charset="-78"/>
                <a:ea typeface="Amiri" pitchFamily="2" charset="-78"/>
                <a:cs typeface="Amiri" pitchFamily="2" charset="-78"/>
              </a:rPr>
              <a:t>وَبِنَاءً عَلَى مَا سَبَقَ</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 reform is needed</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Reforming the Security Council is an indispensable step</a:t>
            </a:r>
            <a:endParaRPr lang="en-US" sz="11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Council should be abolished</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150" dirty="0">
                <a:solidFill>
                  <a:srgbClr val="8A6D1E"/>
                </a:solidFill>
                <a:latin typeface="Amiri" pitchFamily="2" charset="-78"/>
                <a:ea typeface="Amiri" pitchFamily="2" charset="-78"/>
                <a:cs typeface="Amiri" pitchFamily="2" charset="-78"/>
              </a:rPr>
              <a:t>وَبِنَاءً عَلَى مَا سَبَقَ، يُعَدُّ إِصْلَاحُ مَجْلِسِ الأَمْنِ خُطْوَةً لَا غِنَى عَنْهَا.</a:t>
            </a:r>
            <a:endParaRPr lang="ar-SA" sz="11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3 and 5.</a:t>
            </a:r>
            <a:endParaRPr lang="en-US" sz="1250" dirty="0"/>
          </a:p>
          <a:p>
            <a:pPr algn="l" indent="0" marL="0">
              <a:buNone/>
            </a:pPr>
            <a:r>
              <a:rPr lang="en-US" sz="1250" dirty="0">
                <a:solidFill>
                  <a:srgbClr val="1E6B52"/>
                </a:solidFill>
                <a:latin typeface="Calibri" pitchFamily="34" charset="0"/>
                <a:cs typeface="Amiri" pitchFamily="2" charset="-78"/>
              </a:rPr>
              <a:t>Listen for: yuntahaku · yarfuḍu … an · wa-bināʾan ʿalā mā sabaqa.</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49</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P5-L05 · Argument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Speaking: argue and conclude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P5-L05</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المُشْكِلَةُ؟ صِفْهَا بِفِعْلٍ مَبْنِيٍّ لِلْمَجْهُولِ.</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الَّذِي يَرْفُضُهُ النَّاشِطُونَ؟</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كَيْفَ تَخْتِمُ حُجَّتَكَ بِرَابِطٍ خِتَامِيٍّ؟</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يُنْتَهَكُ ___ فِي مَنَاطِقِ النِّزَاعِ.</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يَرْفُضُ النَّاشِطُونَ أَنْ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400" b="1" dirty="0">
                <a:solidFill>
                  <a:srgbClr val="1F2A37"/>
                </a:solidFill>
                <a:latin typeface="Amiri" pitchFamily="2" charset="-78"/>
                <a:ea typeface="Amiri" pitchFamily="2" charset="-78"/>
                <a:cs typeface="Amiri" pitchFamily="2" charset="-78"/>
              </a:rPr>
              <a:t>وَبِنَاءً عَلَى مَا سَبَقَ، مِنَ الضَّرُورِيِّ أَنْ ___ .</a:t>
            </a:r>
            <a:endParaRPr lang="ar-SA" sz="14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مَا المُشْكِلَةُ؟</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What is the problem?</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يُنْتَهَكُ القَانُونُ الدَّوْلِيُّ، وَتُلْزَمُ الدُّوَلُ بِالامْتِثَالِ نَظَرِيًّا فَقَطْ.</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850" i="1" dirty="0">
                <a:solidFill>
                  <a:srgbClr val="5A6472"/>
                </a:solidFill>
                <a:latin typeface="Calibri" pitchFamily="34" charset="0"/>
                <a:cs typeface="Amiri" pitchFamily="2" charset="-78"/>
              </a:rPr>
              <a:t>International law is violated, and states are obliged to comply in theory only.</a:t>
            </a:r>
            <a:endParaRPr lang="en-US" sz="8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49</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P5-L05 · Argument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P5-L05</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2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Write one conclusion with </a:t>
            </a:r>
            <a:pPr algn="l" indent="0" marL="0">
              <a:buNone/>
            </a:pPr>
            <a:r>
              <a:rPr lang="ar-SA" altLang="en-US" sz="1800" b="1" dirty="0">
                <a:solidFill>
                  <a:srgbClr val="1F2A37"/>
                </a:solidFill>
                <a:latin typeface="Amiri" pitchFamily="2" charset="-78"/>
                <a:ea typeface="Amiri" pitchFamily="2" charset="-78"/>
                <a:cs typeface="Amiri" pitchFamily="2" charset="-78"/>
              </a:rPr>
              <a:t>وَبِنَاءً عَلَى مَا سَبَقَ</a:t>
            </a:r>
            <a:pPr algn="l" indent="0" marL="0">
              <a:buNone/>
            </a:pPr>
            <a:r>
              <a:rPr lang="en-US" sz="1400" b="1" dirty="0">
                <a:solidFill>
                  <a:srgbClr val="1F2A37"/>
                </a:solidFill>
                <a:latin typeface="Calibri" pitchFamily="34" charset="0"/>
                <a:cs typeface="Amiri" pitchFamily="2" charset="-78"/>
              </a:rPr>
              <a:t> and one refusal with </a:t>
            </a:r>
            <a:pPr algn="l" indent="0" marL="0">
              <a:buNone/>
            </a:pPr>
            <a:r>
              <a:rPr lang="ar-SA" altLang="en-US" sz="1800" b="1" dirty="0">
                <a:solidFill>
                  <a:srgbClr val="1F2A37"/>
                </a:solidFill>
                <a:latin typeface="Amiri" pitchFamily="2" charset="-78"/>
                <a:ea typeface="Amiri" pitchFamily="2" charset="-78"/>
                <a:cs typeface="Amiri" pitchFamily="2" charset="-78"/>
              </a:rPr>
              <a:t>يَرْفُضُ أَنْ</a:t>
            </a:r>
            <a:pPr algn="l" indent="0" marL="0">
              <a:buNone/>
            </a:pPr>
            <a:r>
              <a:rPr lang="en-US" sz="1400" b="1" dirty="0">
                <a:solidFill>
                  <a:srgbClr val="1F2A37"/>
                </a:solidFill>
                <a:latin typeface="Calibri" pitchFamily="34" charset="0"/>
                <a:cs typeface="Amiri" pitchFamily="2" charset="-78"/>
              </a:rPr>
              <a:t>.</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Core: one conclusion with wa-bināʾan ʿalā mā sabaqa and one refusal with yarfuḍu an.</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110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a law passive and a Type 2 counterfactual; reach 110 words.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Develop: add a law passive and a Type 2 counterfactual.</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110–120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Reach 120 words with both conditionals, the past perfect and two conclusion connectors.</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Stretch: both conditionals, the past perfect and two conclusion connectors.</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49</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P5-L05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P5-L05</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يُؤَكِّدُ الخُبَرَاءُ أَنَّ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Experts confirm that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450" b="1" dirty="0">
                <a:solidFill>
                  <a:srgbClr val="1B3B6F"/>
                </a:solidFill>
                <a:latin typeface="Amiri" pitchFamily="2" charset="-78"/>
                <a:ea typeface="Amiri" pitchFamily="2" charset="-78"/>
                <a:cs typeface="Amiri" pitchFamily="2" charset="-78"/>
              </a:rPr>
              <a:t>كَانَتِ الأُمَمُ المُتَّحِدَةُ قَدْ أَقَرَّتْ ______ لِكَيْ ______ .</a:t>
            </a:r>
            <a:endParaRPr lang="ar-SA" sz="145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UN had adopted … so that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750" b="1" dirty="0">
                <a:solidFill>
                  <a:srgbClr val="1B3B6F"/>
                </a:solidFill>
                <a:latin typeface="Amiri" pitchFamily="2" charset="-78"/>
                <a:ea typeface="Amiri" pitchFamily="2" charset="-78"/>
                <a:cs typeface="Amiri" pitchFamily="2" charset="-78"/>
              </a:rPr>
              <a:t>لَوْ طُبِّقَ القَانُونُ بِالتَّسَاوِي، لَكَانَ ______ .</a:t>
            </a:r>
            <a:endParaRPr lang="ar-SA" sz="175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Had the law been applied equally,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وَخُلَاصَةُ القَوْلِ، لَا ______ دُونَ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In summary, there is no … without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يُنْتَهَكُ القَانُونُ الدَّوْلِيُّ فِي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International law is violated in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تُلْزَمُ الدُّوَلُ بِاحْتِرَامِ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States are obliged to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يَرْفُضُ النَّاشِطُونَ أَنْ تَسْتَمِرَّ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Activists refuse to let … continue.</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650" b="1" dirty="0">
                <a:solidFill>
                  <a:srgbClr val="1B3B6F"/>
                </a:solidFill>
                <a:latin typeface="Amiri" pitchFamily="2" charset="-78"/>
                <a:ea typeface="Amiri" pitchFamily="2" charset="-78"/>
                <a:cs typeface="Amiri" pitchFamily="2" charset="-78"/>
              </a:rPr>
              <a:t>وَبِنَاءً عَلَى مَا سَبَقَ، مِنَ الضَّرُورِيِّ أَنْ ______ .</a:t>
            </a:r>
            <a:endParaRPr lang="ar-SA" sz="165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Based on the above, it is essential that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150" b="1" dirty="0">
                <a:solidFill>
                  <a:srgbClr val="1B3B6F"/>
                </a:solidFill>
                <a:latin typeface="Amiri" pitchFamily="2" charset="-78"/>
                <a:ea typeface="Amiri" pitchFamily="2" charset="-78"/>
                <a:cs typeface="Amiri" pitchFamily="2" charset="-78"/>
              </a:rPr>
              <a:t>مَنَاطِقِ النِّزَاعِ  ·  المُعَاهَدَاتِ  ·  ازْدِوَاجِيَّةُ المَعَايِيرِ  ·  يُصْلَحَ النِّظَامُ الدَّوْلِيُّ  ·  يُفْلِتَ المُنْتَهِكُونَ مِنَ العِقَابِ  ·  هٰذِهِ المَبَادِئَ  ·  يُحْمَى المَدَنِيُّونَ  ·  العَالَمُ أَكْثَرَ عَدْلًا  ·  عَدَالَةَ  ·  مُحَاسَبَةٍ  ·  حِمَايَةَ حَقِيقِيَّةً  ·  مَجْلِسِ الأَمْنِ</a:t>
            </a:r>
            <a:endParaRPr lang="ar-SA"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49</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P5-L05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P5-L05</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100" b="1" dirty="0">
                <a:solidFill>
                  <a:srgbClr val="1F2A37"/>
                </a:solidFill>
                <a:latin typeface="Calibri" pitchFamily="34" charset="0"/>
                <a:cs typeface="Amiri" pitchFamily="2" charset="-78"/>
              </a:rPr>
              <a:t>Write a 110–120-word global-justice analysis. Open with reported speech and a law passive (yuntahaku), use the past perfect for what the UN had adopted, add both conditional types and the refusal trigger yarfuḍu an, and close with wa-bināʾan ʿalā mā sabaqa / wa-khulāṣatu l-qawl + a verb in -a.</a:t>
            </a:r>
            <a:endParaRPr lang="en-US" sz="110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law passive (yuntahaku / yulzamu bi-) and reported speech.</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The past perfect (kānat … qad) and both conditional types.</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The refusal trigger yarfuḍu an + a verb in -a.</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formal conclusion connector + a verb in -a.</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بِشَكْلٍ مَنْهَجِيٍّ</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systematically</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يَكْمُنُ جَوْهَرُ الأَزْمَةِ فِي</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core of the crisis lies in</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رَهِينًا بِالمَصَالِحِ السِّيَاسِيَّةِ</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hostage to political interests</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تَحَوُّلًا جَذْرِيًّا</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 radical transformation</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أَقَلَّ حِدَّةً</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less severe</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49</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P5-L05 · Argument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P5-L05</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050" dirty="0">
                <a:solidFill>
                  <a:srgbClr val="1F2A37"/>
                </a:solidFill>
                <a:latin typeface="Amiri" pitchFamily="2" charset="-78"/>
                <a:ea typeface="Amiri" pitchFamily="2" charset="-78"/>
                <a:cs typeface="Amiri" pitchFamily="2" charset="-78"/>
              </a:rPr>
              <a:t>يُؤَكِّدُ الخُبَرَاءُ القَانُونِيُّونَ أَنَّ القَانُونَ الدَّوْلِيَّ الإِنْسَانِيَّ يُنْتَهَكُ بِشَكْلٍ مَنْهَجِيٍّ فِي مَنَاطِقِ النِّزَاعِ، وَيُشَارُ إِلَى أَنَّ مَبْدَأَ المَسْؤُولِيَّةِ عَنِ الحِمَايَةِ لَمْ يُطَبَّقْ بِالتَّسَاوِي. يَكْمُنُ جَوْهَرُ الأَزْمَةِ فِي ازْدِوَاجِيَّةِ المَعَايِيرِ الَّتِي تُمَارِسُهَا الدُّوَلُ الكُبْرَى. كَانَتِ الأُمَمُ المُتَّحِدَةُ قَدْ أَقَرَّتْ هٰذِهِ المَبَادِئَ لِكَيْ يُحْمَى المَدَنِيُّونَ، غَيْرَ أَنَّ التَّطْبِيقَ يَظَلُّ رَهِينًا بِالمَصَالِحِ السِّيَاسِيَّةِ. وَيَرْفُضُ كَثِيرٌ مِنَ النَّاشِطِينَ أَنْ تَسْتَمِرَّ هٰذِهِ الازْدِوَاجِيَّةُ. إِذَا الْتَزَمَتِ الدُّوَلُ بِالمِيثَاقِ بِالتَّسَاوِي، سَيُحْدِثُ ذٰلِكَ تَحَوُّلًا جَذْرِيًّا. وَلَوْ طُبِّقَ القَانُونُ بِلَا ازْدِوَاجِيَّةٍ، لَكَانَتِ المَجَازِرُ أَقَلَّ حِدَّةً. وَبِنَاءً عَلَى مَا سَبَقَ، مِنَ الضَّرُورِيِّ أَنْ يُصْلَحَ النِّظَامُ الدَّوْلِيُّ لِكَيْ تَنْعَمَ الشُّعُوبُ بِحِمَايَةٍ مُتَسَاوِيَةٍ.</a:t>
            </a:r>
            <a:endParaRPr lang="ar-SA" sz="20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00" i="1" dirty="0">
                <a:solidFill>
                  <a:srgbClr val="5A6472"/>
                </a:solidFill>
                <a:latin typeface="Calibri" pitchFamily="34" charset="0"/>
                <a:cs typeface="Amiri" pitchFamily="2" charset="-78"/>
              </a:rPr>
              <a:t>Legal experts confirm that international humanitarian law is systematically violated in conflict zones, and it is noted that the principle of the responsibility to protect has not been applied equally. The core of the crisis lies in the double standards practised by the major powers. The United Nations had adopted these principles so that civilians would be protected; however, application remains hostage to political interests. Many activists refuse to let these double standards continue. If states committed to the Charter equally, this would bring about a radical transformation. Had the law been applied without double standards, the massacres would have been less severe. Based on the above, it is essential that the international system be reformed so that peoples enjoy equal protection.</a:t>
            </a:r>
            <a:endParaRPr lang="en-US" sz="110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yuntahaku · yushāru ilā</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kānat … qad aqarrat</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yarfuḍu … an tastamirra</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wa-bināʾan ʿalā mā sabaqa</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49</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P5-L05 · Argument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P5-L05</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last sentence opens with wa-bināʾan ʿalā mā sabaqa — and adds no new point.</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After yarfuḍu an my verb ends in -a (they: the -na drops).</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a law passive: yuntahaku or yulzamu bi- (not ʿalā).</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Type 2 result starts with la- (not sa-).</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the past perfect, both conditionals and two connectors.</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49</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P5-L05 · Argument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P5-L05</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connector opens a synthesising conclusion?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وَبِنَاءً عَلَى مَا سَبَقَ</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لِأَنَّ</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إِذَا</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trigger expresses refusal?</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صَحِيحٌ أَنَّ</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يَرْفُضُ أَنْ</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لِكَيْ</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passive “is violated”?</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يُنْتَهَكُ</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يَنْتَهِكُ</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انْتَهَكَ</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49</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P5-L05 · Argument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P5-L05</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connector opens a synthesising conclusion?</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وَبِنَاءً عَلَى مَا سَبَقَ</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لِأَنَّ</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إِذَا</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وَبِنَاءً عَلَى مَا سَبَقَ</a:t>
            </a:r>
            <a:pPr algn="l" indent="0" marL="0">
              <a:buNone/>
            </a:pPr>
            <a:r>
              <a:rPr lang="en-US" sz="1050" i="1" dirty="0">
                <a:solidFill>
                  <a:srgbClr val="8A6D1E"/>
                </a:solidFill>
                <a:latin typeface="Calibri" pitchFamily="34" charset="0"/>
                <a:cs typeface="Amiri" pitchFamily="2" charset="-78"/>
              </a:rPr>
              <a:t> opens the conclusion.</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trigger expresses refusal?</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صَحِيحٌ أَنَّ</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يَرْفُضُ أَنْ</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لِكَيْ</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يَرْفُضُ أَنْ</a:t>
            </a:r>
            <a:pPr algn="l" indent="0" marL="0">
              <a:buNone/>
            </a:pPr>
            <a:r>
              <a:rPr lang="en-US" sz="1050" i="1" dirty="0">
                <a:solidFill>
                  <a:srgbClr val="8A6D1E"/>
                </a:solidFill>
                <a:latin typeface="Calibri" pitchFamily="34" charset="0"/>
                <a:cs typeface="Amiri" pitchFamily="2" charset="-78"/>
              </a:rPr>
              <a:t> expresses refusal.</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passive “is violated”?</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يُنْتَهَكُ</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يَنْتَهِكُ</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انْتَهَكَ</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يُنْتَهَكُ</a:t>
            </a:r>
            <a:pPr algn="l" indent="0" marL="0">
              <a:buNone/>
            </a:pPr>
            <a:r>
              <a:rPr lang="en-US" sz="1050" i="1" dirty="0">
                <a:solidFill>
                  <a:srgbClr val="8A6D1E"/>
                </a:solidFill>
                <a:latin typeface="Calibri" pitchFamily="34" charset="0"/>
                <a:cs typeface="Amiri" pitchFamily="2" charset="-78"/>
              </a:rPr>
              <a:t> is the Form VIII passive.</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49</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P5-L05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50" b="1" dirty="0">
                <a:solidFill>
                  <a:srgbClr val="1B3B6F"/>
                </a:solidFill>
                <a:latin typeface="Cambria" pitchFamily="34" charset="0"/>
                <a:cs typeface="Amiri" pitchFamily="2" charset="-78"/>
              </a:rPr>
              <a:t>Reading: a global-justice analysis (extract)</a:t>
            </a:r>
            <a:endParaRPr lang="en-US" sz="21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P5-L05</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300" dirty="0">
                <a:solidFill>
                  <a:srgbClr val="1F2A37"/>
                </a:solidFill>
                <a:latin typeface="Amiri" pitchFamily="2" charset="-78"/>
                <a:ea typeface="Amiri" pitchFamily="2" charset="-78"/>
                <a:cs typeface="Amiri" pitchFamily="2" charset="-78"/>
              </a:rPr>
              <a:t>تُعَدُّ العَدَالَةُ العَالَمِيَّةُ مِنْ أَعْقَدِ قَضَايَا عَصْرِنَا. يُشَارُ إِلَى أَنَّ مَبْدَأَ المَسْؤُولِيَّةِ عَنِ الحِمَايَةِ لَمْ يُطَبَّقْ بِالتَّسَاوِي فِي جَمِيعِ الحَالَاتِ. يُنْتَهَكُ القَانُونُ الدَّوْلِيُّ الإِنْسَانِيُّ، وَتُلْزَمُ الدُّوَلُ بِالامْتِثَالِ نَظَرِيًّا فَقَطْ. كَانَتِ الأُمَمُ المُتَّحِدَةُ قَدْ أَقَرَّتْ هٰذِهِ المَبَادِئَ لِكَيْ يُحْمَى المَدَنِيُّونَ، غَيْرَ أَنَّ التَّطْبِيقَ يَظَلُّ رَهِينًا بِالمَصَالِحِ. يَرْفُضُ النَّاشِطُونَ أَنْ يُفْلِتَ المُنْتَهِكُونَ مِنَ العِقَابِ. وَلَوْ طُبِّقَ القَانُونُ بِالتَّسَاوِي، لَكَانَ العَالَمُ أَكْثَرَ عَدْلًا. وَبِنَاءً عَلَى مَا سَبَقَ، مِنَ الضَّرُورِيِّ أَنْ يُصْلَحَ النِّظَامُ الدَّوْلِيُّ. وَخُلَاصَةُ القَوْلِ، لَا حِمَايَةَ حَقِيقِيَّةً دُونَ مُحَاسَبَةٍ.</a:t>
            </a:r>
            <a:endParaRPr lang="ar-SA" sz="23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بِشَكْلٍ مَنْهَجِيٍّ</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systematically</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جَوْهَرُ</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core, essence</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تُمَارِسُهَا</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(which) they practise</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المُوَقِّعَةُ</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signatory</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الامْتِثَالِ</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compliance</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رَهِينًا</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hostage, dependent</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المَجَازِرُ</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massacres</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أَقَرَّتْ</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adopted, approved</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المَدَنِيُّونَ</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civilians</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لَا غِنَى عَنْهَا</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indispensable</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49</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P5-L05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P5-L05</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said about the responsibility to protect?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has always been applied equally</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has not been applied equally in all cases</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was never adopted</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had the UN adopted these principles (past perfect + purpose)?</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increase conflict</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For no stated reason</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So that civilians would be protected</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 activists refuse (</a:t>
            </a:r>
            <a:pPr algn="l" indent="0" marL="0">
              <a:buNone/>
            </a:pPr>
            <a:r>
              <a:rPr lang="ar-SA" altLang="en-US" sz="1650" b="1" dirty="0">
                <a:solidFill>
                  <a:srgbClr val="1B3B6F"/>
                </a:solidFill>
                <a:latin typeface="Amiri" pitchFamily="2" charset="-78"/>
                <a:ea typeface="Amiri" pitchFamily="2" charset="-78"/>
                <a:cs typeface="Amiri" pitchFamily="2" charset="-78"/>
              </a:rPr>
              <a:t>يَرْفُضُ</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That violators escape punishment</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That laws be written</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That protection be offered</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Type 2 counterfactual?</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Equal application makes no difference</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Had the law been applied equally, the world would be more just</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world cannot be more just</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the extract close (</a:t>
            </a:r>
            <a:pPr algn="l" indent="0" marL="0">
              <a:buNone/>
            </a:pPr>
            <a:r>
              <a:rPr lang="ar-SA" altLang="en-US" sz="1650" b="1" dirty="0">
                <a:solidFill>
                  <a:srgbClr val="1B3B6F"/>
                </a:solidFill>
                <a:latin typeface="Amiri" pitchFamily="2" charset="-78"/>
                <a:ea typeface="Amiri" pitchFamily="2" charset="-78"/>
                <a:cs typeface="Amiri" pitchFamily="2" charset="-78"/>
              </a:rPr>
              <a:t>وَخُلَاصَةُ القَوْلِ</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There is no real protection without accountability</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Accountability is unnecessary</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Protection already exists everywhere</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44 / 49</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P5-L05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P5-L05</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said about the responsibility to protect?</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has always been applied equally</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00" b="1" dirty="0">
                <a:solidFill>
                  <a:srgbClr val="1F2A37"/>
                </a:solidFill>
                <a:latin typeface="Calibri" pitchFamily="34" charset="0"/>
                <a:cs typeface="Amiri" pitchFamily="2" charset="-78"/>
              </a:rPr>
              <a:t>It has not been applied equally in all cases</a:t>
            </a:r>
            <a:endParaRPr lang="en-US" sz="120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was never adopted</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200" dirty="0">
                <a:solidFill>
                  <a:srgbClr val="8A6D1E"/>
                </a:solidFill>
                <a:latin typeface="Amiri" pitchFamily="2" charset="-78"/>
                <a:ea typeface="Amiri" pitchFamily="2" charset="-78"/>
                <a:cs typeface="Amiri" pitchFamily="2" charset="-78"/>
              </a:rPr>
              <a:t>يُشَارُ إِلَى أَنَّ مَبْدَأَ المَسْؤُولِيَّةِ عَنِ الحِمَايَةِ لَمْ يُطَبَّقْ بِالتَّسَاوِي.</a:t>
            </a:r>
            <a:endParaRPr lang="ar-SA" sz="120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had the UN adopted these principles (past perfect + purpose)?</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increase conflict</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For no stated reason</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So that civilians would be protected</a:t>
            </a:r>
            <a:endParaRPr lang="en-US" sz="12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150" dirty="0">
                <a:solidFill>
                  <a:srgbClr val="8A6D1E"/>
                </a:solidFill>
                <a:latin typeface="Amiri" pitchFamily="2" charset="-78"/>
                <a:ea typeface="Amiri" pitchFamily="2" charset="-78"/>
                <a:cs typeface="Amiri" pitchFamily="2" charset="-78"/>
              </a:rPr>
              <a:t>كَانَتِ الأُمَمُ المُتَّحِدَةُ قَدْ أَقَرَّتْ هٰذِهِ المَبَادِئَ لِكَيْ يُحْمَى المَدَنِيُّونَ.</a:t>
            </a:r>
            <a:endParaRPr lang="ar-SA" sz="11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 activists refuse (</a:t>
            </a:r>
            <a:pPr algn="l" indent="0" marL="0">
              <a:buNone/>
            </a:pPr>
            <a:r>
              <a:rPr lang="ar-SA" altLang="en-US" sz="1650" b="1" dirty="0">
                <a:solidFill>
                  <a:srgbClr val="1B3B6F"/>
                </a:solidFill>
                <a:latin typeface="Amiri" pitchFamily="2" charset="-78"/>
                <a:ea typeface="Amiri" pitchFamily="2" charset="-78"/>
                <a:cs typeface="Amiri" pitchFamily="2" charset="-78"/>
              </a:rPr>
              <a:t>يَرْفُضُ</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That violators escape punishment</a:t>
            </a:r>
            <a:endParaRPr lang="en-US" sz="125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That laws be written</a:t>
            </a:r>
            <a:endParaRPr lang="en-US" sz="125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That protection be offered</a:t>
            </a:r>
            <a:endParaRPr lang="en-US" sz="12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يَرْفُضُ النَّاشِطُونَ أَنْ يُفْلِتَ المُنْتَهِكُونَ مِنَ العِقَابِ.</a:t>
            </a:r>
            <a:endParaRPr lang="ar-SA" sz="13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Type 2 counterfactual?</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Equal application makes no difference</a:t>
            </a:r>
            <a:endParaRPr lang="en-US" sz="125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Had the law been applied equally, the world would be more just</a:t>
            </a:r>
            <a:endParaRPr lang="en-US" sz="115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world cannot be more just</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لَوْ طُبِّقَ القَانُونُ بِالتَّسَاوِي، لَكَانَ العَالَمُ أَكْثَرَ عَدْلًا.</a:t>
            </a:r>
            <a:endParaRPr lang="ar-SA" sz="13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the extract close (</a:t>
            </a:r>
            <a:pPr algn="l" indent="0" marL="0">
              <a:buNone/>
            </a:pPr>
            <a:r>
              <a:rPr lang="ar-SA" altLang="en-US" sz="1650" b="1" dirty="0">
                <a:solidFill>
                  <a:srgbClr val="1B3B6F"/>
                </a:solidFill>
                <a:latin typeface="Amiri" pitchFamily="2" charset="-78"/>
                <a:ea typeface="Amiri" pitchFamily="2" charset="-78"/>
                <a:cs typeface="Amiri" pitchFamily="2" charset="-78"/>
              </a:rPr>
              <a:t>وَخُلَاصَةُ القَوْلِ</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There is no real protection without accountability</a:t>
            </a:r>
            <a:endParaRPr lang="en-US" sz="11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Accountability is unnecessary</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Protection already exists everywhere</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وَخُلَاصَةُ القَوْلِ، لَا حِمَايَةَ حَقِيقِيَّةً دُونَ مُحَاسَبَةٍ.</a:t>
            </a:r>
            <a:endParaRPr lang="ar-SA" sz="13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45 / 49</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P5-L05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800" b="1" dirty="0">
                <a:solidFill>
                  <a:srgbClr val="1B3B6F"/>
                </a:solidFill>
                <a:latin typeface="Cambria" pitchFamily="34" charset="0"/>
                <a:cs typeface="Amiri" pitchFamily="2" charset="-78"/>
              </a:rPr>
              <a:t>Justice Mission — Conclude, Refuse, Hold to Account</a:t>
            </a:r>
            <a:endParaRPr lang="en-US" sz="1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P5-L05</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Connector:</a:t>
            </a:r>
            <a:endParaRPr lang="en-US" sz="1200" dirty="0"/>
          </a:p>
        </p:txBody>
      </p:sp>
      <p:sp>
        <p:nvSpPr>
          <p:cNvPr id="21" name="Text 18"/>
          <p:cNvSpPr txBox="1"/>
          <p:nvPr/>
        </p:nvSpPr>
        <p:spPr>
          <a:xfrm>
            <a:off x="2406701" y="1883664"/>
            <a:ext cx="1577035" cy="475488"/>
          </a:xfrm>
          <a:prstGeom prst="rect">
            <a:avLst/>
          </a:prstGeom>
          <a:noFill/>
          <a:ln/>
        </p:spPr>
        <p:txBody>
          <a:bodyPr wrap="square" lIns="0" tIns="0" rIns="0" bIns="0" rtlCol="0" anchor="ctr"/>
          <a:lstStyle/>
          <a:p>
            <a:pPr algn="l" indent="0" marL="0">
              <a:buNone/>
            </a:pPr>
            <a:r>
              <a:rPr lang="ar-SA" altLang="en-US" sz="1900" b="1" dirty="0">
                <a:solidFill>
                  <a:srgbClr val="1F2A37"/>
                </a:solidFill>
                <a:latin typeface="Amiri" pitchFamily="2" charset="-78"/>
                <a:ea typeface="Amiri" pitchFamily="2" charset="-78"/>
                <a:cs typeface="Amiri" pitchFamily="2" charset="-78"/>
              </a:rPr>
              <a:t>وَبِنَاءً عَلَى مَا سَبَقَ</a:t>
            </a:r>
            <a:pPr algn="l" indent="0" marL="0">
              <a:buNone/>
            </a:pPr>
            <a:r>
              <a:rPr lang="en-US" sz="1450" b="1" dirty="0">
                <a:solidFill>
                  <a:srgbClr val="1F2A37"/>
                </a:solidFill>
                <a:latin typeface="Calibri" pitchFamily="34" charset="0"/>
                <a:cs typeface="Amiri" pitchFamily="2" charset="-78"/>
              </a:rPr>
              <a:t> signals …</a:t>
            </a:r>
            <a:endParaRPr lang="en-US" sz="1450" dirty="0"/>
          </a:p>
        </p:txBody>
      </p:sp>
      <p:sp>
        <p:nvSpPr>
          <p:cNvPr id="22" name="Shape 19"/>
          <p:cNvSpPr/>
          <p:nvPr/>
        </p:nvSpPr>
        <p:spPr>
          <a:xfrm>
            <a:off x="640080" y="25328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4" name="Text 21"/>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new point</a:t>
            </a:r>
            <a:endParaRPr lang="en-US" sz="1250" dirty="0"/>
          </a:p>
        </p:txBody>
      </p:sp>
      <p:sp>
        <p:nvSpPr>
          <p:cNvPr id="25" name="Shape 22"/>
          <p:cNvSpPr/>
          <p:nvPr/>
        </p:nvSpPr>
        <p:spPr>
          <a:xfrm>
            <a:off x="640080" y="29900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7" name="Text 24"/>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synthesising conclusion</a:t>
            </a:r>
            <a:endParaRPr lang="en-US" sz="1250" dirty="0"/>
          </a:p>
        </p:txBody>
      </p:sp>
      <p:sp>
        <p:nvSpPr>
          <p:cNvPr id="28" name="Shape 25"/>
          <p:cNvSpPr/>
          <p:nvPr/>
        </p:nvSpPr>
        <p:spPr>
          <a:xfrm>
            <a:off x="640080" y="3447288"/>
            <a:ext cx="256032" cy="256032"/>
          </a:xfrm>
          <a:prstGeom prst="ellipse">
            <a:avLst/>
          </a:prstGeom>
          <a:solidFill>
            <a:srgbClr val="F4F1EA"/>
          </a:solidFill>
          <a:ln w="12700">
            <a:solidFill>
              <a:srgbClr val="F4F1EA"/>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condition</a:t>
            </a:r>
            <a:endParaRPr lang="en-US" sz="1250" dirty="0"/>
          </a:p>
        </p:txBody>
      </p:sp>
      <p:sp>
        <p:nvSpPr>
          <p:cNvPr id="31" name="Shape 28"/>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1"/>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Connector:</a:t>
            </a:r>
            <a:endParaRPr lang="en-US" sz="1200" dirty="0"/>
          </a:p>
        </p:txBody>
      </p:sp>
      <p:sp>
        <p:nvSpPr>
          <p:cNvPr id="35" name="Text 32"/>
          <p:cNvSpPr txBox="1"/>
          <p:nvPr/>
        </p:nvSpPr>
        <p:spPr>
          <a:xfrm>
            <a:off x="6225845" y="1883664"/>
            <a:ext cx="1577035" cy="475488"/>
          </a:xfrm>
          <a:prstGeom prst="rect">
            <a:avLst/>
          </a:prstGeom>
          <a:noFill/>
          <a:ln/>
        </p:spPr>
        <p:txBody>
          <a:bodyPr wrap="square" lIns="0" tIns="0" rIns="0" bIns="0" rtlCol="0" anchor="ctr"/>
          <a:lstStyle/>
          <a:p>
            <a:pPr algn="l" indent="0" marL="0">
              <a:buNone/>
            </a:pPr>
            <a:r>
              <a:rPr lang="ar-SA" altLang="en-US" sz="1900" b="1" dirty="0">
                <a:solidFill>
                  <a:srgbClr val="1F2A37"/>
                </a:solidFill>
                <a:latin typeface="Amiri" pitchFamily="2" charset="-78"/>
                <a:ea typeface="Amiri" pitchFamily="2" charset="-78"/>
                <a:cs typeface="Amiri" pitchFamily="2" charset="-78"/>
              </a:rPr>
              <a:t>وَخُلَاصَةُ القَوْلِ</a:t>
            </a:r>
            <a:pPr algn="l" indent="0" marL="0">
              <a:buNone/>
            </a:pPr>
            <a:r>
              <a:rPr lang="en-US" sz="1450" b="1" dirty="0">
                <a:solidFill>
                  <a:srgbClr val="1F2A37"/>
                </a:solidFill>
                <a:latin typeface="Calibri" pitchFamily="34" charset="0"/>
                <a:cs typeface="Amiri" pitchFamily="2" charset="-78"/>
              </a:rPr>
              <a:t> means …</a:t>
            </a:r>
            <a:endParaRPr lang="en-US" sz="1450" dirty="0"/>
          </a:p>
        </p:txBody>
      </p:sp>
      <p:sp>
        <p:nvSpPr>
          <p:cNvPr id="36" name="Shape 33"/>
          <p:cNvSpPr/>
          <p:nvPr/>
        </p:nvSpPr>
        <p:spPr>
          <a:xfrm>
            <a:off x="4459224" y="25328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summary</a:t>
            </a:r>
            <a:endParaRPr lang="en-US" sz="1250" dirty="0"/>
          </a:p>
        </p:txBody>
      </p:sp>
      <p:sp>
        <p:nvSpPr>
          <p:cNvPr id="39" name="Shape 36"/>
          <p:cNvSpPr/>
          <p:nvPr/>
        </p:nvSpPr>
        <p:spPr>
          <a:xfrm>
            <a:off x="4459224" y="29900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for example</a:t>
            </a:r>
            <a:endParaRPr lang="en-US" sz="1250" dirty="0"/>
          </a:p>
        </p:txBody>
      </p:sp>
      <p:sp>
        <p:nvSpPr>
          <p:cNvPr id="42" name="Shape 39"/>
          <p:cNvSpPr/>
          <p:nvPr/>
        </p:nvSpPr>
        <p:spPr>
          <a:xfrm>
            <a:off x="4459224" y="3447288"/>
            <a:ext cx="256032" cy="256032"/>
          </a:xfrm>
          <a:prstGeom prst="ellipse">
            <a:avLst/>
          </a:prstGeom>
          <a:solidFill>
            <a:srgbClr val="F4F1EA"/>
          </a:solidFill>
          <a:ln w="12700">
            <a:solidFill>
              <a:srgbClr val="F4F1EA"/>
            </a:solidFill>
            <a:prstDash val="solid"/>
          </a:ln>
        </p:spPr>
      </p:sp>
      <p:sp>
        <p:nvSpPr>
          <p:cNvPr id="43" name="Text 40"/>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1"/>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despite</a:t>
            </a:r>
            <a:endParaRPr lang="en-US" sz="12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Trigger:</a:t>
            </a:r>
            <a:endParaRPr lang="en-US" sz="1200" dirty="0"/>
          </a:p>
        </p:txBody>
      </p:sp>
      <p:sp>
        <p:nvSpPr>
          <p:cNvPr id="49" name="Text 46"/>
          <p:cNvSpPr txBox="1"/>
          <p:nvPr/>
        </p:nvSpPr>
        <p:spPr>
          <a:xfrm>
            <a:off x="10044989" y="1883664"/>
            <a:ext cx="1577035" cy="475488"/>
          </a:xfrm>
          <a:prstGeom prst="rect">
            <a:avLst/>
          </a:prstGeom>
          <a:noFill/>
          <a:ln/>
        </p:spPr>
        <p:txBody>
          <a:bodyPr wrap="square" lIns="0" tIns="0" rIns="0" bIns="0" rtlCol="0" anchor="ctr"/>
          <a:lstStyle/>
          <a:p>
            <a:pPr algn="l" indent="0" marL="0">
              <a:buNone/>
            </a:pPr>
            <a:r>
              <a:rPr lang="ar-SA" altLang="en-US" sz="1900" b="1" dirty="0">
                <a:solidFill>
                  <a:srgbClr val="1F2A37"/>
                </a:solidFill>
                <a:latin typeface="Amiri" pitchFamily="2" charset="-78"/>
                <a:ea typeface="Amiri" pitchFamily="2" charset="-78"/>
                <a:cs typeface="Amiri" pitchFamily="2" charset="-78"/>
              </a:rPr>
              <a:t>يَرْفُضُ أَنْ</a:t>
            </a:r>
            <a:pPr algn="l" indent="0" marL="0">
              <a:buNone/>
            </a:pPr>
            <a:r>
              <a:rPr lang="en-US" sz="1450" b="1" dirty="0">
                <a:solidFill>
                  <a:srgbClr val="1F2A37"/>
                </a:solidFill>
                <a:latin typeface="Calibri" pitchFamily="34" charset="0"/>
                <a:cs typeface="Amiri" pitchFamily="2" charset="-78"/>
              </a:rPr>
              <a:t> signals …</a:t>
            </a:r>
            <a:endParaRPr lang="en-US" sz="1450" dirty="0"/>
          </a:p>
        </p:txBody>
      </p:sp>
      <p:sp>
        <p:nvSpPr>
          <p:cNvPr id="50" name="Shape 47"/>
          <p:cNvSpPr/>
          <p:nvPr/>
        </p:nvSpPr>
        <p:spPr>
          <a:xfrm>
            <a:off x="8278368" y="25328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concession</a:t>
            </a:r>
            <a:endParaRPr lang="en-US" sz="1250" dirty="0"/>
          </a:p>
        </p:txBody>
      </p:sp>
      <p:sp>
        <p:nvSpPr>
          <p:cNvPr id="53" name="Shape 50"/>
          <p:cNvSpPr/>
          <p:nvPr/>
        </p:nvSpPr>
        <p:spPr>
          <a:xfrm>
            <a:off x="8278368" y="29900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purpose</a:t>
            </a:r>
            <a:endParaRPr lang="en-US" sz="1250" dirty="0"/>
          </a:p>
        </p:txBody>
      </p:sp>
      <p:sp>
        <p:nvSpPr>
          <p:cNvPr id="56" name="Shape 53"/>
          <p:cNvSpPr/>
          <p:nvPr/>
        </p:nvSpPr>
        <p:spPr>
          <a:xfrm>
            <a:off x="8278368" y="3447288"/>
            <a:ext cx="256032" cy="256032"/>
          </a:xfrm>
          <a:prstGeom prst="ellipse">
            <a:avLst/>
          </a:prstGeom>
          <a:solidFill>
            <a:srgbClr val="F4F1EA"/>
          </a:solidFill>
          <a:ln w="12700">
            <a:solidFill>
              <a:srgbClr val="F4F1EA"/>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refusal</a:t>
            </a:r>
            <a:endParaRPr lang="en-US" sz="1250" dirty="0"/>
          </a:p>
        </p:txBody>
      </p:sp>
      <p:sp>
        <p:nvSpPr>
          <p:cNvPr id="59" name="Shape 56"/>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0" name="Shape 57"/>
          <p:cNvSpPr/>
          <p:nvPr/>
        </p:nvSpPr>
        <p:spPr>
          <a:xfrm>
            <a:off x="585216" y="4288536"/>
            <a:ext cx="310896" cy="310896"/>
          </a:xfrm>
          <a:prstGeom prst="ellipse">
            <a:avLst/>
          </a:prstGeom>
          <a:solidFill>
            <a:srgbClr val="1B3B6F"/>
          </a:solidFill>
          <a:ln w="12700">
            <a:solidFill>
              <a:srgbClr val="1B3B6F"/>
            </a:solidFill>
            <a:prstDash val="solid"/>
          </a:ln>
        </p:spPr>
      </p:sp>
      <p:sp>
        <p:nvSpPr>
          <p:cNvPr id="61" name="Text 5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2" name="Text 59"/>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Refusal: complete — </a:t>
            </a:r>
            <a:pPr algn="l" indent="0" marL="0">
              <a:buNone/>
            </a:pPr>
            <a:r>
              <a:rPr lang="ar-SA" altLang="en-US" sz="1650" b="1" dirty="0">
                <a:solidFill>
                  <a:srgbClr val="1B3B6F"/>
                </a:solidFill>
                <a:latin typeface="Amiri" pitchFamily="2" charset="-78"/>
                <a:ea typeface="Amiri" pitchFamily="2" charset="-78"/>
                <a:cs typeface="Amiri" pitchFamily="2" charset="-78"/>
              </a:rPr>
              <a:t>يَرْفُضُ النَّاشِطُونَ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الازْدِوَاجِيَّةُ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3" name="Shape 60"/>
          <p:cNvSpPr/>
          <p:nvPr/>
        </p:nvSpPr>
        <p:spPr>
          <a:xfrm>
            <a:off x="640080" y="48737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5" name="Text 62"/>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تَسْتَمِرُّ</a:t>
            </a:r>
            <a:endParaRPr lang="ar-SA" sz="2050" dirty="0"/>
          </a:p>
        </p:txBody>
      </p:sp>
      <p:sp>
        <p:nvSpPr>
          <p:cNvPr id="66" name="Shape 63"/>
          <p:cNvSpPr/>
          <p:nvPr/>
        </p:nvSpPr>
        <p:spPr>
          <a:xfrm>
            <a:off x="640080" y="53309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8" name="Text 65"/>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تَسْتَمِرْ</a:t>
            </a:r>
            <a:endParaRPr lang="ar-SA" sz="2050" dirty="0"/>
          </a:p>
        </p:txBody>
      </p:sp>
      <p:sp>
        <p:nvSpPr>
          <p:cNvPr id="69" name="Shape 66"/>
          <p:cNvSpPr/>
          <p:nvPr/>
        </p:nvSpPr>
        <p:spPr>
          <a:xfrm>
            <a:off x="640080" y="5788152"/>
            <a:ext cx="256032" cy="256032"/>
          </a:xfrm>
          <a:prstGeom prst="ellipse">
            <a:avLst/>
          </a:prstGeom>
          <a:solidFill>
            <a:srgbClr val="F4F1EA"/>
          </a:solidFill>
          <a:ln w="12700">
            <a:solidFill>
              <a:srgbClr val="F4F1EA"/>
            </a:solidFill>
            <a:prstDash val="solid"/>
          </a:ln>
        </p:spPr>
      </p:sp>
      <p:sp>
        <p:nvSpPr>
          <p:cNvPr id="70" name="Text 67"/>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1" name="Text 68"/>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تَسْتَمِرَّ</a:t>
            </a:r>
            <a:endParaRPr lang="ar-SA" sz="2050" dirty="0"/>
          </a:p>
        </p:txBody>
      </p:sp>
      <p:sp>
        <p:nvSpPr>
          <p:cNvPr id="72" name="Shape 69"/>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3" name="Shape 70"/>
          <p:cNvSpPr/>
          <p:nvPr/>
        </p:nvSpPr>
        <p:spPr>
          <a:xfrm>
            <a:off x="4404360" y="4288536"/>
            <a:ext cx="310896" cy="310896"/>
          </a:xfrm>
          <a:prstGeom prst="ellipse">
            <a:avLst/>
          </a:prstGeom>
          <a:solidFill>
            <a:srgbClr val="1B3B6F"/>
          </a:solidFill>
          <a:ln w="12700">
            <a:solidFill>
              <a:srgbClr val="1B3B6F"/>
            </a:solidFill>
            <a:prstDash val="solid"/>
          </a:ln>
        </p:spPr>
      </p:sp>
      <p:sp>
        <p:nvSpPr>
          <p:cNvPr id="74" name="Text 71"/>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5" name="Text 72"/>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Passive: which is “is violated”?</a:t>
            </a:r>
            <a:endParaRPr lang="en-US" sz="1250" dirty="0"/>
          </a:p>
        </p:txBody>
      </p:sp>
      <p:sp>
        <p:nvSpPr>
          <p:cNvPr id="76" name="Shape 73"/>
          <p:cNvSpPr/>
          <p:nvPr/>
        </p:nvSpPr>
        <p:spPr>
          <a:xfrm>
            <a:off x="4459224" y="48737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8" name="Text 75"/>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يُنْتَهَكُ</a:t>
            </a:r>
            <a:endParaRPr lang="ar-SA" sz="2050" dirty="0"/>
          </a:p>
        </p:txBody>
      </p:sp>
      <p:sp>
        <p:nvSpPr>
          <p:cNvPr id="79" name="Shape 76"/>
          <p:cNvSpPr/>
          <p:nvPr/>
        </p:nvSpPr>
        <p:spPr>
          <a:xfrm>
            <a:off x="4459224" y="53309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1" name="Text 78"/>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يَنْتَهِكُ</a:t>
            </a:r>
            <a:endParaRPr lang="ar-SA" sz="2050" dirty="0"/>
          </a:p>
        </p:txBody>
      </p:sp>
      <p:sp>
        <p:nvSpPr>
          <p:cNvPr id="82" name="Shape 79"/>
          <p:cNvSpPr/>
          <p:nvPr/>
        </p:nvSpPr>
        <p:spPr>
          <a:xfrm>
            <a:off x="4459224" y="5788152"/>
            <a:ext cx="256032" cy="256032"/>
          </a:xfrm>
          <a:prstGeom prst="ellipse">
            <a:avLst/>
          </a:prstGeom>
          <a:solidFill>
            <a:srgbClr val="F4F1EA"/>
          </a:solidFill>
          <a:ln w="12700">
            <a:solidFill>
              <a:srgbClr val="F4F1EA"/>
            </a:solidFill>
            <a:prstDash val="solid"/>
          </a:ln>
        </p:spPr>
      </p:sp>
      <p:sp>
        <p:nvSpPr>
          <p:cNvPr id="83" name="Text 80"/>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4" name="Text 81"/>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انْتَهَكَ</a:t>
            </a:r>
            <a:endParaRPr lang="ar-SA" sz="2050" dirty="0"/>
          </a:p>
        </p:txBody>
      </p:sp>
      <p:sp>
        <p:nvSpPr>
          <p:cNvPr id="85" name="Shape 82"/>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6" name="Shape 83"/>
          <p:cNvSpPr/>
          <p:nvPr/>
        </p:nvSpPr>
        <p:spPr>
          <a:xfrm>
            <a:off x="8223504" y="4288536"/>
            <a:ext cx="310896" cy="310896"/>
          </a:xfrm>
          <a:prstGeom prst="ellipse">
            <a:avLst/>
          </a:prstGeom>
          <a:solidFill>
            <a:srgbClr val="1B3B6F"/>
          </a:solidFill>
          <a:ln w="12700">
            <a:solidFill>
              <a:srgbClr val="1B3B6F"/>
            </a:solidFill>
            <a:prstDash val="solid"/>
          </a:ln>
        </p:spPr>
      </p:sp>
      <p:sp>
        <p:nvSpPr>
          <p:cNvPr id="87" name="Text 84"/>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8" name="Text 85"/>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Passive: complete the preposition — </a:t>
            </a:r>
            <a:pPr algn="l" indent="0" marL="0">
              <a:buNone/>
            </a:pPr>
            <a:r>
              <a:rPr lang="ar-SA" altLang="en-US" sz="1650" b="1" dirty="0">
                <a:solidFill>
                  <a:srgbClr val="1B3B6F"/>
                </a:solidFill>
                <a:latin typeface="Amiri" pitchFamily="2" charset="-78"/>
                <a:ea typeface="Amiri" pitchFamily="2" charset="-78"/>
                <a:cs typeface="Amiri" pitchFamily="2" charset="-78"/>
              </a:rPr>
              <a:t>تُلْزَمُ الدُّوَلُ</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الامْتِثَالِ</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89" name="Shape 86"/>
          <p:cNvSpPr/>
          <p:nvPr/>
        </p:nvSpPr>
        <p:spPr>
          <a:xfrm>
            <a:off x="8278368" y="48737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1" name="Text 88"/>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92" name="Shape 89"/>
          <p:cNvSpPr/>
          <p:nvPr/>
        </p:nvSpPr>
        <p:spPr>
          <a:xfrm>
            <a:off x="8278368" y="53309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4" name="Text 91"/>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بِـ</a:t>
            </a:r>
            <a:endParaRPr lang="ar-SA" sz="2050" dirty="0"/>
          </a:p>
        </p:txBody>
      </p:sp>
      <p:sp>
        <p:nvSpPr>
          <p:cNvPr id="95" name="Shape 92"/>
          <p:cNvSpPr/>
          <p:nvPr/>
        </p:nvSpPr>
        <p:spPr>
          <a:xfrm>
            <a:off x="8278368" y="5788152"/>
            <a:ext cx="256032" cy="256032"/>
          </a:xfrm>
          <a:prstGeom prst="ellipse">
            <a:avLst/>
          </a:prstGeom>
          <a:solidFill>
            <a:srgbClr val="F4F1EA"/>
          </a:solidFill>
          <a:ln w="12700">
            <a:solidFill>
              <a:srgbClr val="F4F1EA"/>
            </a:solidFill>
            <a:prstDash val="solid"/>
          </a:ln>
        </p:spPr>
      </p:sp>
      <p:sp>
        <p:nvSpPr>
          <p:cNvPr id="96" name="Text 93"/>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7" name="Text 94"/>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إِلَى</a:t>
            </a:r>
            <a:endParaRPr lang="ar-SA" sz="20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46 / 49</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P5-L05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P5-L05</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9" name="Text 17"/>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Connector:</a:t>
            </a:r>
            <a:endParaRPr lang="en-US" sz="1200" dirty="0"/>
          </a:p>
        </p:txBody>
      </p:sp>
      <p:sp>
        <p:nvSpPr>
          <p:cNvPr id="20" name="Text 18"/>
          <p:cNvSpPr txBox="1"/>
          <p:nvPr/>
        </p:nvSpPr>
        <p:spPr>
          <a:xfrm>
            <a:off x="2406701" y="1883664"/>
            <a:ext cx="1577035" cy="475488"/>
          </a:xfrm>
          <a:prstGeom prst="rect">
            <a:avLst/>
          </a:prstGeom>
          <a:noFill/>
          <a:ln/>
        </p:spPr>
        <p:txBody>
          <a:bodyPr wrap="square" lIns="0" tIns="0" rIns="0" bIns="0" rtlCol="0" anchor="ctr"/>
          <a:lstStyle/>
          <a:p>
            <a:pPr algn="l" indent="0" marL="0">
              <a:buNone/>
            </a:pPr>
            <a:r>
              <a:rPr lang="ar-SA" altLang="en-US" sz="1900" b="1" dirty="0">
                <a:solidFill>
                  <a:srgbClr val="1F2A37"/>
                </a:solidFill>
                <a:latin typeface="Amiri" pitchFamily="2" charset="-78"/>
                <a:ea typeface="Amiri" pitchFamily="2" charset="-78"/>
                <a:cs typeface="Amiri" pitchFamily="2" charset="-78"/>
              </a:rPr>
              <a:t>وَبِنَاءً عَلَى مَا سَبَقَ</a:t>
            </a:r>
            <a:pPr algn="l" indent="0" marL="0">
              <a:buNone/>
            </a:pPr>
            <a:r>
              <a:rPr lang="en-US" sz="1450" b="1" dirty="0">
                <a:solidFill>
                  <a:srgbClr val="1F2A37"/>
                </a:solidFill>
                <a:latin typeface="Calibri" pitchFamily="34" charset="0"/>
                <a:cs typeface="Amiri" pitchFamily="2" charset="-78"/>
              </a:rPr>
              <a:t> signals …</a:t>
            </a:r>
            <a:endParaRPr lang="en-US" sz="1450" dirty="0"/>
          </a:p>
        </p:txBody>
      </p:sp>
      <p:sp>
        <p:nvSpPr>
          <p:cNvPr id="21" name="Shape 19"/>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20"/>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1"/>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new point</a:t>
            </a:r>
            <a:endParaRPr lang="en-US" sz="1250" dirty="0"/>
          </a:p>
        </p:txBody>
      </p:sp>
      <p:sp>
        <p:nvSpPr>
          <p:cNvPr id="24" name="Shape 22"/>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3"/>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4"/>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5"/>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synthesising conclusion</a:t>
            </a:r>
            <a:endParaRPr lang="en-US" sz="1250" dirty="0"/>
          </a:p>
        </p:txBody>
      </p:sp>
      <p:sp>
        <p:nvSpPr>
          <p:cNvPr id="28" name="Shape 26"/>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7"/>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8"/>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condition</a:t>
            </a:r>
            <a:endParaRPr lang="en-US" sz="1250" dirty="0"/>
          </a:p>
        </p:txBody>
      </p:sp>
      <p:sp>
        <p:nvSpPr>
          <p:cNvPr id="31" name="Text 29"/>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It opens the synthesising conclusion.</a:t>
            </a:r>
            <a:endParaRPr lang="en-US" sz="1050" dirty="0"/>
          </a:p>
        </p:txBody>
      </p:sp>
      <p:sp>
        <p:nvSpPr>
          <p:cNvPr id="32" name="Shape 30"/>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1"/>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2"/>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3"/>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Connector:</a:t>
            </a:r>
            <a:endParaRPr lang="en-US" sz="1200" dirty="0"/>
          </a:p>
        </p:txBody>
      </p:sp>
      <p:sp>
        <p:nvSpPr>
          <p:cNvPr id="36" name="Text 34"/>
          <p:cNvSpPr txBox="1"/>
          <p:nvPr/>
        </p:nvSpPr>
        <p:spPr>
          <a:xfrm>
            <a:off x="6225845" y="1883664"/>
            <a:ext cx="1577035" cy="475488"/>
          </a:xfrm>
          <a:prstGeom prst="rect">
            <a:avLst/>
          </a:prstGeom>
          <a:noFill/>
          <a:ln/>
        </p:spPr>
        <p:txBody>
          <a:bodyPr wrap="square" lIns="0" tIns="0" rIns="0" bIns="0" rtlCol="0" anchor="ctr"/>
          <a:lstStyle/>
          <a:p>
            <a:pPr algn="l" indent="0" marL="0">
              <a:buNone/>
            </a:pPr>
            <a:r>
              <a:rPr lang="ar-SA" altLang="en-US" sz="1900" b="1" dirty="0">
                <a:solidFill>
                  <a:srgbClr val="1F2A37"/>
                </a:solidFill>
                <a:latin typeface="Amiri" pitchFamily="2" charset="-78"/>
                <a:ea typeface="Amiri" pitchFamily="2" charset="-78"/>
                <a:cs typeface="Amiri" pitchFamily="2" charset="-78"/>
              </a:rPr>
              <a:t>وَخُلَاصَةُ القَوْلِ</a:t>
            </a:r>
            <a:pPr algn="l" indent="0" marL="0">
              <a:buNone/>
            </a:pPr>
            <a:r>
              <a:rPr lang="en-US" sz="1450" b="1" dirty="0">
                <a:solidFill>
                  <a:srgbClr val="1F2A37"/>
                </a:solidFill>
                <a:latin typeface="Calibri" pitchFamily="34" charset="0"/>
                <a:cs typeface="Amiri" pitchFamily="2" charset="-78"/>
              </a:rPr>
              <a:t> means …</a:t>
            </a:r>
            <a:endParaRPr lang="en-US" sz="1450" dirty="0"/>
          </a:p>
        </p:txBody>
      </p:sp>
      <p:sp>
        <p:nvSpPr>
          <p:cNvPr id="37" name="Shape 35"/>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8" name="Shape 36"/>
          <p:cNvSpPr/>
          <p:nvPr/>
        </p:nvSpPr>
        <p:spPr>
          <a:xfrm>
            <a:off x="4459224" y="2490216"/>
            <a:ext cx="256032" cy="256032"/>
          </a:xfrm>
          <a:prstGeom prst="ellipse">
            <a:avLst/>
          </a:prstGeom>
          <a:solidFill>
            <a:srgbClr val="2E8B57"/>
          </a:solidFill>
          <a:ln w="12700">
            <a:solidFill>
              <a:srgbClr val="2E8B57"/>
            </a:solidFill>
            <a:prstDash val="solid"/>
          </a:ln>
        </p:spPr>
      </p:sp>
      <p:sp>
        <p:nvSpPr>
          <p:cNvPr id="39" name="Text 37"/>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40" name="Text 38"/>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in summary</a:t>
            </a:r>
            <a:endParaRPr lang="en-US" sz="1250" dirty="0"/>
          </a:p>
        </p:txBody>
      </p:sp>
      <p:sp>
        <p:nvSpPr>
          <p:cNvPr id="41" name="Shape 39"/>
          <p:cNvSpPr/>
          <p:nvPr/>
        </p:nvSpPr>
        <p:spPr>
          <a:xfrm>
            <a:off x="4459224" y="2862072"/>
            <a:ext cx="256032" cy="256032"/>
          </a:xfrm>
          <a:prstGeom prst="ellipse">
            <a:avLst/>
          </a:prstGeom>
          <a:solidFill>
            <a:srgbClr val="C9CED6"/>
          </a:solidFill>
          <a:ln w="12700">
            <a:solidFill>
              <a:srgbClr val="C9CED6"/>
            </a:solidFill>
            <a:prstDash val="solid"/>
          </a:ln>
        </p:spPr>
      </p:sp>
      <p:sp>
        <p:nvSpPr>
          <p:cNvPr id="42" name="Text 40"/>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3" name="Text 41"/>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for example</a:t>
            </a:r>
            <a:endParaRPr lang="en-US" sz="1250" dirty="0"/>
          </a:p>
        </p:txBody>
      </p:sp>
      <p:sp>
        <p:nvSpPr>
          <p:cNvPr id="44" name="Shape 42"/>
          <p:cNvSpPr/>
          <p:nvPr/>
        </p:nvSpPr>
        <p:spPr>
          <a:xfrm>
            <a:off x="4459224" y="3233928"/>
            <a:ext cx="256032" cy="256032"/>
          </a:xfrm>
          <a:prstGeom prst="ellipse">
            <a:avLst/>
          </a:prstGeom>
          <a:solidFill>
            <a:srgbClr val="C9CED6"/>
          </a:solidFill>
          <a:ln w="12700">
            <a:solidFill>
              <a:srgbClr val="C9CED6"/>
            </a:solidFill>
            <a:prstDash val="solid"/>
          </a:ln>
        </p:spPr>
      </p:sp>
      <p:sp>
        <p:nvSpPr>
          <p:cNvPr id="45" name="Text 43"/>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6" name="Text 44"/>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despite</a:t>
            </a:r>
            <a:endParaRPr lang="en-US" sz="1250" dirty="0"/>
          </a:p>
        </p:txBody>
      </p:sp>
      <p:sp>
        <p:nvSpPr>
          <p:cNvPr id="47" name="Text 45"/>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وَخُلَاصَةُ القَوْلِ</a:t>
            </a:r>
            <a:pPr algn="l" indent="0" marL="0">
              <a:buNone/>
            </a:pPr>
            <a:r>
              <a:rPr lang="en-US" sz="1050" i="1" dirty="0">
                <a:solidFill>
                  <a:srgbClr val="8A6D1E"/>
                </a:solidFill>
                <a:latin typeface="Calibri" pitchFamily="34" charset="0"/>
                <a:cs typeface="Amiri" pitchFamily="2" charset="-78"/>
              </a:rPr>
              <a:t> means in summary.</a:t>
            </a:r>
            <a:endParaRPr lang="en-US" sz="1050" dirty="0"/>
          </a:p>
        </p:txBody>
      </p:sp>
      <p:sp>
        <p:nvSpPr>
          <p:cNvPr id="48" name="Shape 46"/>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7"/>
          <p:cNvSpPr/>
          <p:nvPr/>
        </p:nvSpPr>
        <p:spPr>
          <a:xfrm>
            <a:off x="8223504" y="1947672"/>
            <a:ext cx="310896" cy="310896"/>
          </a:xfrm>
          <a:prstGeom prst="ellipse">
            <a:avLst/>
          </a:prstGeom>
          <a:solidFill>
            <a:srgbClr val="1B3B6F"/>
          </a:solidFill>
          <a:ln w="12700">
            <a:solidFill>
              <a:srgbClr val="1B3B6F"/>
            </a:solidFill>
            <a:prstDash val="solid"/>
          </a:ln>
        </p:spPr>
      </p:sp>
      <p:sp>
        <p:nvSpPr>
          <p:cNvPr id="50" name="Text 48"/>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1" name="Text 49"/>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Trigger:</a:t>
            </a:r>
            <a:endParaRPr lang="en-US" sz="1200" dirty="0"/>
          </a:p>
        </p:txBody>
      </p:sp>
      <p:sp>
        <p:nvSpPr>
          <p:cNvPr id="52" name="Text 50"/>
          <p:cNvSpPr txBox="1"/>
          <p:nvPr/>
        </p:nvSpPr>
        <p:spPr>
          <a:xfrm>
            <a:off x="10044989" y="1883664"/>
            <a:ext cx="1577035" cy="475488"/>
          </a:xfrm>
          <a:prstGeom prst="rect">
            <a:avLst/>
          </a:prstGeom>
          <a:noFill/>
          <a:ln/>
        </p:spPr>
        <p:txBody>
          <a:bodyPr wrap="square" lIns="0" tIns="0" rIns="0" bIns="0" rtlCol="0" anchor="ctr"/>
          <a:lstStyle/>
          <a:p>
            <a:pPr algn="l" indent="0" marL="0">
              <a:buNone/>
            </a:pPr>
            <a:r>
              <a:rPr lang="ar-SA" altLang="en-US" sz="1900" b="1" dirty="0">
                <a:solidFill>
                  <a:srgbClr val="1F2A37"/>
                </a:solidFill>
                <a:latin typeface="Amiri" pitchFamily="2" charset="-78"/>
                <a:ea typeface="Amiri" pitchFamily="2" charset="-78"/>
                <a:cs typeface="Amiri" pitchFamily="2" charset="-78"/>
              </a:rPr>
              <a:t>يَرْفُضُ أَنْ</a:t>
            </a:r>
            <a:pPr algn="l" indent="0" marL="0">
              <a:buNone/>
            </a:pPr>
            <a:r>
              <a:rPr lang="en-US" sz="1450" b="1" dirty="0">
                <a:solidFill>
                  <a:srgbClr val="1F2A37"/>
                </a:solidFill>
                <a:latin typeface="Calibri" pitchFamily="34" charset="0"/>
                <a:cs typeface="Amiri" pitchFamily="2" charset="-78"/>
              </a:rPr>
              <a:t> signals …</a:t>
            </a:r>
            <a:endParaRPr lang="en-US" sz="1450" dirty="0"/>
          </a:p>
        </p:txBody>
      </p:sp>
      <p:sp>
        <p:nvSpPr>
          <p:cNvPr id="53" name="Shape 51"/>
          <p:cNvSpPr/>
          <p:nvPr/>
        </p:nvSpPr>
        <p:spPr>
          <a:xfrm>
            <a:off x="8278368" y="2490216"/>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5" name="Text 53"/>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concession</a:t>
            </a:r>
            <a:endParaRPr lang="en-US" sz="1250" dirty="0"/>
          </a:p>
        </p:txBody>
      </p:sp>
      <p:sp>
        <p:nvSpPr>
          <p:cNvPr id="56" name="Shape 54"/>
          <p:cNvSpPr/>
          <p:nvPr/>
        </p:nvSpPr>
        <p:spPr>
          <a:xfrm>
            <a:off x="8278368" y="2862072"/>
            <a:ext cx="256032" cy="256032"/>
          </a:xfrm>
          <a:prstGeom prst="ellipse">
            <a:avLst/>
          </a:prstGeom>
          <a:solidFill>
            <a:srgbClr val="C9CED6"/>
          </a:solidFill>
          <a:ln w="12700">
            <a:solidFill>
              <a:srgbClr val="C9CED6"/>
            </a:solidFill>
            <a:prstDash val="solid"/>
          </a:ln>
        </p:spPr>
      </p:sp>
      <p:sp>
        <p:nvSpPr>
          <p:cNvPr id="57" name="Text 55"/>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8" name="Text 56"/>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purpose</a:t>
            </a:r>
            <a:endParaRPr lang="en-US" sz="1250" dirty="0"/>
          </a:p>
        </p:txBody>
      </p:sp>
      <p:sp>
        <p:nvSpPr>
          <p:cNvPr id="59" name="Shape 57"/>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60" name="Shape 58"/>
          <p:cNvSpPr/>
          <p:nvPr/>
        </p:nvSpPr>
        <p:spPr>
          <a:xfrm>
            <a:off x="8278368" y="3233928"/>
            <a:ext cx="256032" cy="256032"/>
          </a:xfrm>
          <a:prstGeom prst="ellipse">
            <a:avLst/>
          </a:prstGeom>
          <a:solidFill>
            <a:srgbClr val="2E8B57"/>
          </a:solidFill>
          <a:ln w="12700">
            <a:solidFill>
              <a:srgbClr val="2E8B57"/>
            </a:solidFill>
            <a:prstDash val="solid"/>
          </a:ln>
        </p:spPr>
      </p:sp>
      <p:sp>
        <p:nvSpPr>
          <p:cNvPr id="61" name="Text 59"/>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62" name="Text 60"/>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refusal</a:t>
            </a:r>
            <a:endParaRPr lang="en-US" sz="1250" dirty="0"/>
          </a:p>
        </p:txBody>
      </p:sp>
      <p:sp>
        <p:nvSpPr>
          <p:cNvPr id="63" name="Text 61"/>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يَرْفُضُ أَنْ</a:t>
            </a:r>
            <a:pPr algn="l" indent="0" marL="0">
              <a:buNone/>
            </a:pPr>
            <a:r>
              <a:rPr lang="en-US" sz="1050" i="1" dirty="0">
                <a:solidFill>
                  <a:srgbClr val="8A6D1E"/>
                </a:solidFill>
                <a:latin typeface="Calibri" pitchFamily="34" charset="0"/>
                <a:cs typeface="Amiri" pitchFamily="2" charset="-78"/>
              </a:rPr>
              <a:t> signals a refusal.</a:t>
            </a:r>
            <a:endParaRPr lang="en-US" sz="1050" dirty="0"/>
          </a:p>
        </p:txBody>
      </p:sp>
      <p:sp>
        <p:nvSpPr>
          <p:cNvPr id="64" name="Shape 62"/>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5" name="Shape 63"/>
          <p:cNvSpPr/>
          <p:nvPr/>
        </p:nvSpPr>
        <p:spPr>
          <a:xfrm>
            <a:off x="585216" y="4288536"/>
            <a:ext cx="310896" cy="310896"/>
          </a:xfrm>
          <a:prstGeom prst="ellipse">
            <a:avLst/>
          </a:prstGeom>
          <a:solidFill>
            <a:srgbClr val="1B3B6F"/>
          </a:solidFill>
          <a:ln w="12700">
            <a:solidFill>
              <a:srgbClr val="1B3B6F"/>
            </a:solidFill>
            <a:prstDash val="solid"/>
          </a:ln>
        </p:spPr>
      </p:sp>
      <p:sp>
        <p:nvSpPr>
          <p:cNvPr id="66" name="Text 6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7" name="Text 65"/>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Refusal: complete — </a:t>
            </a:r>
            <a:pPr algn="l" indent="0" marL="0">
              <a:buNone/>
            </a:pPr>
            <a:r>
              <a:rPr lang="ar-SA" altLang="en-US" sz="1650" b="1" dirty="0">
                <a:solidFill>
                  <a:srgbClr val="1B3B6F"/>
                </a:solidFill>
                <a:latin typeface="Amiri" pitchFamily="2" charset="-78"/>
                <a:ea typeface="Amiri" pitchFamily="2" charset="-78"/>
                <a:cs typeface="Amiri" pitchFamily="2" charset="-78"/>
              </a:rPr>
              <a:t>يَرْفُضُ النَّاشِطُونَ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الازْدِوَاجِيَّةُ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8" name="Shape 66"/>
          <p:cNvSpPr/>
          <p:nvPr/>
        </p:nvSpPr>
        <p:spPr>
          <a:xfrm>
            <a:off x="640080" y="4831080"/>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0" name="Text 68"/>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تَسْتَمِرُّ</a:t>
            </a:r>
            <a:endParaRPr lang="ar-SA" sz="1700" dirty="0"/>
          </a:p>
        </p:txBody>
      </p:sp>
      <p:sp>
        <p:nvSpPr>
          <p:cNvPr id="71" name="Shape 69"/>
          <p:cNvSpPr/>
          <p:nvPr/>
        </p:nvSpPr>
        <p:spPr>
          <a:xfrm>
            <a:off x="640080" y="5202936"/>
            <a:ext cx="256032" cy="256032"/>
          </a:xfrm>
          <a:prstGeom prst="ellipse">
            <a:avLst/>
          </a:prstGeom>
          <a:solidFill>
            <a:srgbClr val="C9CED6"/>
          </a:solidFill>
          <a:ln w="12700">
            <a:solidFill>
              <a:srgbClr val="C9CED6"/>
            </a:solidFill>
            <a:prstDash val="solid"/>
          </a:ln>
        </p:spPr>
      </p:sp>
      <p:sp>
        <p:nvSpPr>
          <p:cNvPr id="72" name="Text 70"/>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3" name="Text 71"/>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تَسْتَمِرْ</a:t>
            </a:r>
            <a:endParaRPr lang="ar-SA" sz="1700" dirty="0"/>
          </a:p>
        </p:txBody>
      </p:sp>
      <p:sp>
        <p:nvSpPr>
          <p:cNvPr id="74" name="Shape 72"/>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5" name="Shape 73"/>
          <p:cNvSpPr/>
          <p:nvPr/>
        </p:nvSpPr>
        <p:spPr>
          <a:xfrm>
            <a:off x="640080" y="5574792"/>
            <a:ext cx="256032" cy="256032"/>
          </a:xfrm>
          <a:prstGeom prst="ellipse">
            <a:avLst/>
          </a:prstGeom>
          <a:solidFill>
            <a:srgbClr val="2E8B57"/>
          </a:solidFill>
          <a:ln w="12700">
            <a:solidFill>
              <a:srgbClr val="2E8B57"/>
            </a:solidFill>
            <a:prstDash val="solid"/>
          </a:ln>
        </p:spPr>
      </p:sp>
      <p:sp>
        <p:nvSpPr>
          <p:cNvPr id="76" name="Text 7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7" name="Text 75"/>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تَسْتَمِرَّ</a:t>
            </a:r>
            <a:endParaRPr lang="ar-SA" sz="1700" dirty="0"/>
          </a:p>
        </p:txBody>
      </p:sp>
      <p:sp>
        <p:nvSpPr>
          <p:cNvPr id="78" name="Text 76"/>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After </a:t>
            </a:r>
            <a:pPr algn="l" indent="0" marL="0">
              <a:buNone/>
            </a:pPr>
            <a:r>
              <a:rPr lang="ar-SA" altLang="en-US" sz="1350" dirty="0">
                <a:solidFill>
                  <a:srgbClr val="8A6D1E"/>
                </a:solidFill>
                <a:latin typeface="Amiri" pitchFamily="2" charset="-78"/>
                <a:ea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 the verb is subjunctive: </a:t>
            </a:r>
            <a:pPr algn="l" indent="0" marL="0">
              <a:buNone/>
            </a:pPr>
            <a:r>
              <a:rPr lang="ar-SA" altLang="en-US" sz="1350" dirty="0">
                <a:solidFill>
                  <a:srgbClr val="8A6D1E"/>
                </a:solidFill>
                <a:latin typeface="Amiri" pitchFamily="2" charset="-78"/>
                <a:ea typeface="Amiri" pitchFamily="2" charset="-78"/>
                <a:cs typeface="Amiri" pitchFamily="2" charset="-78"/>
              </a:rPr>
              <a:t>تَسْتَمِرَّ</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9" name="Shape 77"/>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0" name="Shape 78"/>
          <p:cNvSpPr/>
          <p:nvPr/>
        </p:nvSpPr>
        <p:spPr>
          <a:xfrm>
            <a:off x="4404360" y="4288536"/>
            <a:ext cx="310896" cy="310896"/>
          </a:xfrm>
          <a:prstGeom prst="ellipse">
            <a:avLst/>
          </a:prstGeom>
          <a:solidFill>
            <a:srgbClr val="1B3B6F"/>
          </a:solidFill>
          <a:ln w="12700">
            <a:solidFill>
              <a:srgbClr val="1B3B6F"/>
            </a:solidFill>
            <a:prstDash val="solid"/>
          </a:ln>
        </p:spPr>
      </p:sp>
      <p:sp>
        <p:nvSpPr>
          <p:cNvPr id="81" name="Text 79"/>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2" name="Text 80"/>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Passive: which is “is violated”?</a:t>
            </a:r>
            <a:endParaRPr lang="en-US" sz="1250" dirty="0"/>
          </a:p>
        </p:txBody>
      </p:sp>
      <p:sp>
        <p:nvSpPr>
          <p:cNvPr id="83" name="Shape 81"/>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4" name="Shape 82"/>
          <p:cNvSpPr/>
          <p:nvPr/>
        </p:nvSpPr>
        <p:spPr>
          <a:xfrm>
            <a:off x="4459224" y="4831080"/>
            <a:ext cx="256032" cy="256032"/>
          </a:xfrm>
          <a:prstGeom prst="ellipse">
            <a:avLst/>
          </a:prstGeom>
          <a:solidFill>
            <a:srgbClr val="2E8B57"/>
          </a:solidFill>
          <a:ln w="12700">
            <a:solidFill>
              <a:srgbClr val="2E8B57"/>
            </a:solidFill>
            <a:prstDash val="solid"/>
          </a:ln>
        </p:spPr>
      </p:sp>
      <p:sp>
        <p:nvSpPr>
          <p:cNvPr id="85" name="Text 83"/>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6" name="Text 84"/>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يُنْتَهَكُ</a:t>
            </a:r>
            <a:endParaRPr lang="ar-SA" sz="1700" dirty="0"/>
          </a:p>
        </p:txBody>
      </p:sp>
      <p:sp>
        <p:nvSpPr>
          <p:cNvPr id="87" name="Shape 85"/>
          <p:cNvSpPr/>
          <p:nvPr/>
        </p:nvSpPr>
        <p:spPr>
          <a:xfrm>
            <a:off x="4459224" y="5202936"/>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9" name="Text 87"/>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يَنْتَهِكُ</a:t>
            </a:r>
            <a:endParaRPr lang="ar-SA" sz="1700" dirty="0"/>
          </a:p>
        </p:txBody>
      </p:sp>
      <p:sp>
        <p:nvSpPr>
          <p:cNvPr id="90" name="Shape 88"/>
          <p:cNvSpPr/>
          <p:nvPr/>
        </p:nvSpPr>
        <p:spPr>
          <a:xfrm>
            <a:off x="4459224" y="5574792"/>
            <a:ext cx="256032" cy="256032"/>
          </a:xfrm>
          <a:prstGeom prst="ellipse">
            <a:avLst/>
          </a:prstGeom>
          <a:solidFill>
            <a:srgbClr val="C9CED6"/>
          </a:solidFill>
          <a:ln w="12700">
            <a:solidFill>
              <a:srgbClr val="C9CED6"/>
            </a:solidFill>
            <a:prstDash val="solid"/>
          </a:ln>
        </p:spPr>
      </p:sp>
      <p:sp>
        <p:nvSpPr>
          <p:cNvPr id="91" name="Text 89"/>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2" name="Text 90"/>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انْتَهَكَ</a:t>
            </a:r>
            <a:endParaRPr lang="ar-SA" sz="1700" dirty="0"/>
          </a:p>
        </p:txBody>
      </p:sp>
      <p:sp>
        <p:nvSpPr>
          <p:cNvPr id="93" name="Text 91"/>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يُنْتَهَكُ</a:t>
            </a:r>
            <a:pPr algn="l" indent="0" marL="0">
              <a:buNone/>
            </a:pPr>
            <a:r>
              <a:rPr lang="en-US" sz="1050" i="1" dirty="0">
                <a:solidFill>
                  <a:srgbClr val="8A6D1E"/>
                </a:solidFill>
                <a:latin typeface="Calibri" pitchFamily="34" charset="0"/>
                <a:cs typeface="Amiri" pitchFamily="2" charset="-78"/>
              </a:rPr>
              <a:t> is the Form VIII passive.</a:t>
            </a:r>
            <a:endParaRPr lang="en-US" sz="1050" dirty="0"/>
          </a:p>
        </p:txBody>
      </p:sp>
      <p:sp>
        <p:nvSpPr>
          <p:cNvPr id="94" name="Shape 92"/>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5" name="Shape 93"/>
          <p:cNvSpPr/>
          <p:nvPr/>
        </p:nvSpPr>
        <p:spPr>
          <a:xfrm>
            <a:off x="8223504" y="4288536"/>
            <a:ext cx="310896" cy="310896"/>
          </a:xfrm>
          <a:prstGeom prst="ellipse">
            <a:avLst/>
          </a:prstGeom>
          <a:solidFill>
            <a:srgbClr val="1B3B6F"/>
          </a:solidFill>
          <a:ln w="12700">
            <a:solidFill>
              <a:srgbClr val="1B3B6F"/>
            </a:solidFill>
            <a:prstDash val="solid"/>
          </a:ln>
        </p:spPr>
      </p:sp>
      <p:sp>
        <p:nvSpPr>
          <p:cNvPr id="96" name="Text 94"/>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7" name="Text 95"/>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Passive: complete the preposition — </a:t>
            </a:r>
            <a:pPr algn="l" indent="0" marL="0">
              <a:buNone/>
            </a:pPr>
            <a:r>
              <a:rPr lang="ar-SA" altLang="en-US" sz="1650" b="1" dirty="0">
                <a:solidFill>
                  <a:srgbClr val="1B3B6F"/>
                </a:solidFill>
                <a:latin typeface="Amiri" pitchFamily="2" charset="-78"/>
                <a:ea typeface="Amiri" pitchFamily="2" charset="-78"/>
                <a:cs typeface="Amiri" pitchFamily="2" charset="-78"/>
              </a:rPr>
              <a:t>تُلْزَمُ الدُّوَلُ</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الامْتِثَالِ</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98" name="Shape 96"/>
          <p:cNvSpPr/>
          <p:nvPr/>
        </p:nvSpPr>
        <p:spPr>
          <a:xfrm>
            <a:off x="8278368" y="4831080"/>
            <a:ext cx="256032" cy="256032"/>
          </a:xfrm>
          <a:prstGeom prst="ellipse">
            <a:avLst/>
          </a:prstGeom>
          <a:solidFill>
            <a:srgbClr val="C9CED6"/>
          </a:solidFill>
          <a:ln w="12700">
            <a:solidFill>
              <a:srgbClr val="C9CED6"/>
            </a:solidFill>
            <a:prstDash val="solid"/>
          </a:ln>
        </p:spPr>
      </p:sp>
      <p:sp>
        <p:nvSpPr>
          <p:cNvPr id="99" name="Text 97"/>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100" name="Text 98"/>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عَلَى</a:t>
            </a:r>
            <a:endParaRPr lang="ar-SA" sz="1700" dirty="0"/>
          </a:p>
        </p:txBody>
      </p:sp>
      <p:sp>
        <p:nvSpPr>
          <p:cNvPr id="101" name="Shape 99"/>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102" name="Shape 100"/>
          <p:cNvSpPr/>
          <p:nvPr/>
        </p:nvSpPr>
        <p:spPr>
          <a:xfrm>
            <a:off x="8278368" y="5202936"/>
            <a:ext cx="256032" cy="256032"/>
          </a:xfrm>
          <a:prstGeom prst="ellipse">
            <a:avLst/>
          </a:prstGeom>
          <a:solidFill>
            <a:srgbClr val="2E8B57"/>
          </a:solidFill>
          <a:ln w="12700">
            <a:solidFill>
              <a:srgbClr val="2E8B57"/>
            </a:solidFill>
            <a:prstDash val="solid"/>
          </a:ln>
        </p:spPr>
      </p:sp>
      <p:sp>
        <p:nvSpPr>
          <p:cNvPr id="103" name="Text 101"/>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104" name="Text 102"/>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بِـ</a:t>
            </a:r>
            <a:endParaRPr lang="ar-SA" sz="1700" dirty="0"/>
          </a:p>
        </p:txBody>
      </p:sp>
      <p:sp>
        <p:nvSpPr>
          <p:cNvPr id="105" name="Shape 103"/>
          <p:cNvSpPr/>
          <p:nvPr/>
        </p:nvSpPr>
        <p:spPr>
          <a:xfrm>
            <a:off x="8278368" y="5574792"/>
            <a:ext cx="256032" cy="256032"/>
          </a:xfrm>
          <a:prstGeom prst="ellipse">
            <a:avLst/>
          </a:prstGeom>
          <a:solidFill>
            <a:srgbClr val="C9CED6"/>
          </a:solidFill>
          <a:ln w="12700">
            <a:solidFill>
              <a:srgbClr val="C9CED6"/>
            </a:solidFill>
            <a:prstDash val="solid"/>
          </a:ln>
        </p:spPr>
      </p:sp>
      <p:sp>
        <p:nvSpPr>
          <p:cNvPr id="106" name="Text 104"/>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7" name="Text 105"/>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إِلَى</a:t>
            </a:r>
            <a:endParaRPr lang="ar-SA" sz="1700" dirty="0"/>
          </a:p>
        </p:txBody>
      </p:sp>
      <p:sp>
        <p:nvSpPr>
          <p:cNvPr id="108" name="Text 106"/>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يُلْزَمُ</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ea typeface="Amiri" pitchFamily="2" charset="-78"/>
                <a:cs typeface="Amiri" pitchFamily="2" charset="-78"/>
              </a:rPr>
              <a:t>بِـ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109"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47 / 49</a:t>
            </a:r>
            <a:endParaRPr lang="en-US" sz="8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P5-L05 · Argument</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P5-L06: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P5-L05</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P5-L06 · Youth and Society — The Arab Generation’s Challenges and Power</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جِيلُ الشَّبَابِ</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the youth generation</a:t>
            </a:r>
            <a:pPr indent="0" marL="0">
              <a:buNone/>
            </a:pPr>
            <a:r>
              <a:rPr lang="ar-SA" sz="1000" i="1" dirty="0">
                <a:solidFill>
                  <a:srgbClr val="5A6472"/>
                </a:solidFill>
                <a:latin typeface="Calibri" pitchFamily="34" charset="0"/>
                <a:ea typeface="Amiri" pitchFamily="2" charset="-78"/>
                <a:cs typeface="Amiri" pitchFamily="2" charset="-78"/>
              </a:rPr>
              <a:t>  pl. أَجْيَالٌ</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المُشَارَكَةُ السِّيَاسِيَّةُ</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political participation</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صَوْتُ الشَّبَابِ</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the youth voice</a:t>
            </a:r>
            <a:pPr indent="0" marL="0">
              <a:buNone/>
            </a:pPr>
            <a:r>
              <a:rPr lang="ar-SA" sz="1000" i="1" dirty="0">
                <a:solidFill>
                  <a:srgbClr val="5A6472"/>
                </a:solidFill>
                <a:latin typeface="Calibri" pitchFamily="34" charset="0"/>
                <a:ea typeface="Amiri" pitchFamily="2" charset="-78"/>
                <a:cs typeface="Amiri" pitchFamily="2" charset="-78"/>
              </a:rPr>
              <a:t>  pl. أَصْوَاتٌ</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الطُّمُوحُ</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ambition</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يُعِيدُ تَعْرِيفَ</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redefines</a:t>
            </a:r>
            <a:pPr indent="0" marL="0">
              <a:buNone/>
            </a:pPr>
            <a:r>
              <a:rPr lang="ar-SA" sz="1000" i="1" dirty="0">
                <a:solidFill>
                  <a:srgbClr val="5A6472"/>
                </a:solidFill>
                <a:latin typeface="Calibri" pitchFamily="34" charset="0"/>
                <a:ea typeface="Amiri" pitchFamily="2" charset="-78"/>
                <a:cs typeface="Amiri" pitchFamily="2" charset="-78"/>
              </a:rPr>
              <a:t>  f. تُعِيدُ تَعْرِيفَ</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What is the biggest challenge facing young Arabs today?</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2" charset="-78"/>
                <a:ea typeface="Amiri" pitchFamily="2" charset="-78"/>
                <a:cs typeface="Amiri" pitchFamily="2" charset="-78"/>
              </a:rPr>
              <a:t>أَكْبَرُ تَحَدٍّ يُوَاجِهُهُ الشَّبَابُ اليَوْمَ هُوَ ______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one refusal (yarfuḍu an) and one conclusion (wa-bināʾan ʿalā mā sabaqa) about global justice.</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Add a law passive and a Type 2 counterfactual (110 words).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a 110–120-word global-justice analysis.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48 / 49</a:t>
            </a:r>
            <a:endParaRPr lang="en-US" sz="8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P5-L05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P5-L06 · Youth and Society — The Arab Generation’s Challenges and Power</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الشَّبَابُ وَالمُجْتَمَعُ</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close with wa-bināʾan ʿalā mā sabaqa — a synthesis, not a new point; yarfuḍu an + a verb in -A; yuntahaku (is violated) and yulzamu BI- (is obliged to); and law … LA- for the double standards.</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49</Slides>
  <Notes>49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49</vt:i4>
      </vt:variant>
    </vt:vector>
  </HeadingPairs>
  <TitlesOfParts>
    <vt:vector size="5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P5-L05 · Global Justice — International Responsibility and the Arab World</dc:title>
  <dc:subject>PptxGenJS Presentation</dc:subject>
  <dc:creator>Al Madina Online School · Arabic Department</dc:creator>
  <cp:lastModifiedBy>Al Madina Online School · Arabic Department</cp:lastModifiedBy>
  <cp:revision>1</cp:revision>
  <dcterms:created xsi:type="dcterms:W3CDTF">2026-10-11T06:43:27Z</dcterms:created>
  <dcterms:modified xsi:type="dcterms:W3CDTF">2026-10-11T06:43:27Z</dcterms:modified>
</cp:coreProperties>
</file>