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Progression › P5 Social Issues and Opinions › P5-L04. The website lesson “Digital Society — Social Media, Privacy and the Digital Divide”: vocabulary, grammar rules and quiz, patterns, common mistakes, sorter, listening, reading, speaking prompts and model, writing task and model, differentiation, final check and the lesson mission. Picture match: website visual game “Digital Society — Social Media, Privacy and the Digital Divide”.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one prohibition (yamnaʿu an) and one permission (yubīḥu an) (website Core). Develop: add a “2028 word” in a social frame and a concession–refutation (100 words). Stretch: 110 words with both triggers, a concession–refutation and a Type 2.
• “2028 words”: the website marks الذَّكَاءُ الاصْطِنَاعِيُّ، كَلِمَةُ المُرُورِ، التَّعَلُّمُ عَنْ بُعْدٍ as designated vocabulary for the updated Cambridge specification and asks students to reuse them OUTSIDE a pure technology topic — that cross-topic reuse is what earns range.
• Faith link (optional): «وَلَا تَجَسَّسُوا» (al-Ḥujurāt 49:12) — do not spy: Islam protects privacy. «إِنْ جَاءَكُمْ فَاسِقٌ بِنَبَإٍ فَتَبَيَّنُوا» (49:6) — verify news before sharing it: the first rule against misinformation.
• Online safety: link to the school’s e-safety policy; if cyberbullying comes up personally, follow safeguarding procedures.
• Grammar links: an + -a and passives in -a (P5-L03) · concession–refutation (P5-L01) · Type 2 (P3-L05) · yataṭallabu an (P4).
• TEACHER-WRITTEN ITEMS: waṣl alif shown without a kasra; لِكَيْ always written with its sukūn; يَصِرُّ → يُصِرُّ in two quiz options (as in P5-L03); rule formulas, pattern tips, writing prompt and checklist in transliteration; sorter headings in transliteration; game cards 0, 1 and 4 not used; the trigger, double-an, control-verb and 2028-word tables are teacher-built from the website texts. All other website items are used as published.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the end of P5-L03. Questions 4–5 retrieve the demand triggers and the passive in -a (P5-L03) — today the same -a follows yamnaʿu an and yubīḥu an.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Laws forbid and allow — and what they forbid or allow comes after an, ending in -a (often a passive).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معلومات and حکومت are shared. Careful: Urdu خصوصیت = a special feature, but Arabic الخُصُوصِيَّةُ = PRIVACY (الحَقُّ فِي الخُصُوصِيَّةِ = the right to privacy). Urdu رقم = a sum of money; Arabic رَقْمٌ = a number, so رَقْمِيٌّ = digital (made of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Prohibition and permission triggers (website vocabulary (1 of 2)). Hear → Say → See → Use. Transliteration is printed for Core students (cover it for Develop/Stretch).
Prohibition and permission: يَمْنَعُ أَنْ / يُبِيحُ أَنْ + a verb in -a — very often a PASSIVE (أَنْ تُبَاعَ البَيَانَاتُ = that data be sold). يُقَيِّدُ (restricts) and يُنَظِّمُ (regulates) take a direct object: يُنَظِّمُ الإِنْتِرْنِتَ.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Prohibition and permission triggers (website vocabulary (2 of 2)). Hear → Say → See → Use. Transliteration is printed for Core students (cover it for Develop/Stretch).
Prohibition and permission: يَمْنَعُ أَنْ / يُبِيحُ أَنْ + a verb in -a — very often a PASSIVE (أَنْ تُبَاعَ البَيَانَاتُ = that data be sold). يُقَيِّدُ (restricts) and يُنَظِّمُ (regulates) take a direct object: يُنَظِّمُ الإِنْتِرْنِتَ.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Digital society (website vocabulary (1 of 2)). Hear → Say → See → Use. Transliteration is printed for Core students (cover it for Develop/Stretch).
Digital society: الرَّقَابَةُ (censorship — controlling what is published) ≠ المُرَاقَبَةُ (surveillance — watching people). Same root, different jobs — a common exam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Digital society (website vocabulary (2 of 2)). Hear → Say → See → Use. Transliteration is printed for Core students (cover it for Develop/Stretch).
FLEX: teach if time allows; otherwise these are on the website vocabulary tab for homework.
Digital society: الرَّقَابَةُ (censorship — controlling what is published) ≠ المُرَاقَبَةُ (surveillance — watching people). Same root, different jobs — a common exam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2028 vocabulary in social context (website vocabulary (1 of 2)). Hear → Say → See → Use. Transliteration is printed for Core students (cover it for Develop/Stretch).
FLEX: teach if time allows; otherwise these are on the website vocabulary tab for homework.
The “2028 words”: الذَّكَاءُ الاصْطِنَاعِيُّ · كَلِمَةُ المُرُورِ · التَّعَلُّمُ عَنْ بُعْدٍ — learn them in a SOCIAL sentence, not just a tech one: يُعِيدُ الذَّكَاءُ الاصْطِنَاعِيُّ تَشْكِيلَ سُوقِ العَمَلِ.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2028 vocabulary in social context (website vocabulary (2 of 2)). Hear → Say → See → Use. Transliteration is printed for Core students (cover it for Develop/Stretch).
FLEX: teach if time allows; otherwise these are on the website vocabulary tab for homework.
The “2028 words”: الذَّكَاءُ الاصْطِنَاعِيُّ · كَلِمَةُ المُرُورِ · التَّعَلُّمُ عَنْ بُعْدٍ — learn them in a SOCIAL sentence, not just a tech one: يُعِيدُ الذَّكَاءُ الاصْطِنَاعِيُّ تَشْكِيلَ سُوقِ العَمَلِ.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“Prohibition” and “Permission”, teaching point 1, the sorter and the reading (row 5: أَلَّا = أَنْ + لَا, from P4-L07).
Most of these verbs are PASSIVE: the law forbids data BEING sold — نَعْرِفُ مَا يُمْنَعُ، لَا مَنْ يَفْعَلُهُ. Passive in -a: tu-faʿ-a (تُنْشَرَ) · tu-fāʿal-a (تُرَاقَبَ) · tubāʿa (hollow).
Agreement: the law (m.) يَمْنَعُ · the systems / laws (non-human pl.) تَمْنَعُ.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 “Permission”, mistake 2 (“After the first an, yubīḥa is also subjunctive”) and the reading (card 3: دُونَ أَنْ).
Read the chain slowly: يَنْبَغِي → أَنْ يُبِيحَ (1) → أَنْ تُرَاقَبَ (2). Each أَنْ makes the next verb end in -a. Students colour each أَنْ and the verb after it.
دُونَ أَنْ = without (doing): another trigger of -a — دُونَ أَنْ تُصَادِرَ (without seizing).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the website table, vocabulary group 1 and mistake 3.
Two kinds of -a today: the SUBJUNCTIVE -a on a verb after an (tunaẓẓimA) and the ACCUSATIVE -a on a noun that is an object (al-intirnitA · ḥurriyyatA · tashkīlA). Same sound, different jobs.
False friend: يُتِيحُ (makes available) ≠ يُبِيحُ (permits) — the website mission uses it as a distractor.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4 — website rules “Balance opportunity and risk” and “2028 words in a social frame”, teaching point 2, the listening and reading.
Row 4: غَيْرَ أَنَّهَا = however, it … — أَنَّ + a pronoun suffix (أَنَّهَا · أَنَّهُ) when the subject is already known.
Row 5: أَكْثَرَ تَطَوُّرًا / أَكْثَرَ أَمَانًا = more advanced / safer — akthar + an accusative noun (P4).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“Use the subjunctive after يَمْنَعُ أَنْ and يُبِيحُ أَنْ, balance opportunity against risk, and redeploy 2028 words in a social frame.”
• Prohibition: States what is prohibited.
• Permission: States what is permitted.
• Balance opportunity and risk: Concede the benefit, refute with the risk.
• 2028 words in a social frame: Redeploy designated words in a social context.
Website common error: Using an indicative verb after يَمْنَعُ أَنْ / يُبِيحُ أَنْ, or confusing prohibition with permission. Both take the subjunctive, and they are opposites.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“Open with a 2028 word in a SOCIAL sentence: AI and jobs. Be fair: ṣaḥīḥun anna … ghayra anna-hā. Now the law: tamnaʿu … AN tubāʿA (passive, -a). Then two an in a row: AN yubīḥA … AN turāqabA. Finally: law … LA-kānat.”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Digital Society — Social Media, Privacy and the Digital Divide”)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4 not used — waṣl kasra). Card 1 already has an + -a: أَنْ نَحْمِيَ. Upgrade each card into a P5 sentence: يَمْنَعُ القَانُونُ أَنْ تُنْتَهَكَ الخُصُوصِيَّةُ · صَحِيحٌ أَنَّ وَسَائِلَ التَّوَاصُلِ تَرْبِطُ النَّاسَ، غَيْرَ أَنَّهَا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Digital Society — Social Media, Privacy and the Digital Divide”)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card 4 not used — waṣl kasra). Card 1 already has an + -a: أَنْ نَحْمِيَ. Upgrade each card into a P5 sentence: يَمْنَعُ القَانُونُ أَنْ تُنْتَهَكَ الخُصُوصِيَّةُ · صَحِيحٌ أَنَّ وَسَائِلَ التَّوَاصُلِ تَرْبِطُ النَّاسَ، غَيْرَ أَنَّهَا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(3 min) — the website live builder: “Build a digital-rights line from a prohibition, a permission and a balanced conclusion.” Website feedback: any three different combinations work.
Core: read row 1 across. Develop: column 2 row 1 has TWO an (يُبِيحَ … تُرَاقَبَ). Stretch: open the line with a 2028 word in a social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turn one prohibition into a permission (and vice versa) — what changes in meaning? What stays the same in grammar (an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turn one prohibition into a permission (and vice versa) — what changes in meaning? What stays the same in grammar (an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4. Develop / Stretch: all 5 — and write down every verb in -a you hear after an.
Listen 1: just listen. Listen 2: note answers. Then chat the letters.
Support: after the second listening, show the read-along slide (Arabic + English, line by line) for Core students.
SCRIPT (read aloud):
يَقُولُ الخَبِيرُ: تُشِيرُ الإِحْصَاءَاتُ إِلَى أَنَّ الذَّكَاءَ الاصْطِنَاعِيَّ يُعِيدُ تَشْكِيلَ اقْتِصَادَاتِ العَالَمِ العَرَبِيِّ. صَحِيحٌ أَنَّ التِّقْنِيَّةَ الرَّقْمِيَّةَ تُوَفِّرُ فُرَصًا لِلتَّعْلِيمِ وَالتَّوَاصُلِ، غَيْرَ أَنَّهَا تُثِيرُ مَخَاطِرَ المُرَاقَبَةِ وَنَشْرِ المَعْلُومَاتِ المُضَلِّلَةِ. تَمْنَعُ قَوَانِينُ حِمَايَةِ البَيَانَاتِ أَنْ تُبَاعَ مَعْلُومَاتُ المُسْتَخْدِمِينَ، وَلَا يَنْبَغِي أَنْ يُبِيحَ القَانُونُ أَنْ تُرَاقَبَ المُرَاسَلَاتُ الخَاصَّةُ. وَإِذَا اسْتَثْمَرَتِ الدُّوَلُ فِي البُنْيَةِ التَّحْتِيَّةِ الرَّقْمِيَّةِ، سَتَتَقَلَّصُ الفَجْوَةُ الرَّقْمِيَّةُ. وَلَوْ كَانَتِ الحَوْكَمَةُ أَكْثَرَ تَطَوُّرًا، لَكَانَتْ خُصُوصِيَّةُ المُوَاطِنِ أَكْثَرَ أَمَانًا.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وَكَيْفَ تُوَازِنُ؟ (Balance)
B: يَتَطَلَّبُ التَّوَازُنُ أَنْ تُنَظِّمَ الدُّوَلُ الإِنْتِرْنِتَ دُونَ أَنْ تُقَيِّدَ حُرِّيَّةَ التَّعْبِيرِ. (يَتَطَلَّبُ أَنْ + subjunctive)
Website prompts and model. Pair task: “digital parliament” — A proposes a law with yamnaʿu an …, B answers ṣaḥīḥun anna … ghayra anna … and proposes a permission instead. Note the speaking model also has three an: يَنْبَغِي أَنْ يَمْنَعَ … أَنْ تُبَاعَ. To a girl: تُوَازِنِينَ.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Write one prohibition (يَمْنَعُ أَنْ) and one permission (يُبِيحُ أَنْ). · Develop — Add a 2028 word in a social frame and a concession-refutation; reach 100 words. · Stretch — Reach 110 words with both triggers, a concession-refutation and a Type 2 counterfactual.
Website writing task (Stretch): Write a 100–110-word digital-society analysis. Open with a 2028 word in a social frame, concede a benefit with ṣaḥīḥun anna and refute with ghayra anna, use yamnaʿu an and yubīḥu an, and close with a Type 2 counterfactual.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Website writing model. Evidence: تُشِيرُ … إِلَى أَنَّ الذَّكَاءَ الاصْطِنَاعِيَّ يُعِيدُ تَشْكِيلَ · صَحِيحٌ أَنَّ … غَيْرَ أَنَّهَا · تَمْنَعُ … أَنْ تُبَاعَ · لَا يَنْبَغِي أَنْ يُبِيحَ … أَنْ تُرَاقَبَ · يَتَطَلَّبُ … أَنْ تُنَظِّمَ … دُونَ أَنْ تُصَادِرَ · لَوْ كَانَتْ … لَكَانَتْ.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(P5-L05 · Global Justice — International Responsibility and the Arab World) will spend class time USING this language, so students prepare it tonight — short, simple, easy to access (school guidance: “Simple, Short, Interesting, Relevant, Easy to access”). The five words come from the website P5-L05 vocabulary (global justice).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9  ·  PROGRESSION P5  ·  P5-L04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P5-L04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Digital Society — Social Media, Privacy and the Digital Divide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2800" b="1" dirty="0">
                <a:solidFill>
                  <a:srgbClr val="D4AF37"/>
                </a:solidFill>
                <a:latin typeface="Amiri" pitchFamily="2" charset="-78"/>
                <a:cs typeface="Amiri" pitchFamily="2" charset="-78"/>
              </a:rPr>
              <a:t>المُجْتَمَعُ الرَّقْمِيُّ — وَسَائِلُ التَّوَاصُلِ وَالخُصُوصِيَّةُ وَالفَجْوَةُ الرَّقْمِيَّةُ</a:t>
            </a:r>
            <a:endParaRPr lang="ar-SA" sz="28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Debate the digital world — yamnaʿu an (prohibits) and yubīḥu an (permits) + a verb in -a (often passive: an tubāʿa), regulate vs restrict, AI and passwords in a social frame, and a fair balance: ṣaḥīḥun anna … ghayra anna … law … 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P5-L04 · Progression P5 · Social Issues and Opinions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Progression · B1 → B2</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Progression › P5 › P5-L04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050" dirty="0">
                <a:solidFill>
                  <a:srgbClr val="1F2A37"/>
                </a:solidFill>
                <a:latin typeface="Calibri" pitchFamily="34" charset="0"/>
                <a:cs typeface="Amiri" pitchFamily="2" charset="-78"/>
              </a:rPr>
              <a:t>Prohibit / permit + an + -a, two an in one sentence, regulate / restrict, 2028 words in a social frame, opportunity vs risk.</a:t>
            </a:r>
            <a:endParaRPr lang="en-US" sz="105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150" dirty="0">
                <a:solidFill>
                  <a:srgbClr val="1F2A37"/>
                </a:solidFill>
                <a:latin typeface="Calibri" pitchFamily="34" charset="0"/>
                <a:cs typeface="Amiri" pitchFamily="2" charset="-78"/>
              </a:rPr>
              <a:t>Match digital-life pictures, build a digital-rights line, sort prohibition / permission / opportunity–risk.</a:t>
            </a:r>
            <a:endParaRPr lang="en-US" sz="115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P5-L05.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الفَجْوَةُ الرَّقْمِيَّةُ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digital camera</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digital divide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number gap in maths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خُصُوصِيَّةُ البَيَانَاتِ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data privacy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special offers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data plan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مَعْلُومَاتٌ مُضَلِّلَةٌ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useful information</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secret information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misinformation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يُطَالِبُ النَّاشِطُونَ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أَنْ تُوَقِّعَ الحُكُومَاتُ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بِـ</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تَدْعُو الحَمْلَةُ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القَوَالِبُ النَّمَطِيَّةُ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تُكْسَرَ</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تُكْسَرُ</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كُسِرَتْ</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الفَجْوَةُ الرَّقْمِيَّةُ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digital camera</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digital divide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number gap in maths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خُصُوصِيَّةُ البَيَانَاتِ</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data privacy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special offers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data plan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مَعْلُومَاتٌ مُضَلِّلَةٌ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useful information</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secret information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misinformation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(P5-L03).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يُطَالِبُ النَّاشِطُونَ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أَنْ تُوَقِّعَ الحُكُومَاتُ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بِـ</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P5-L03: yuṭālibu bi-an.</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تَدْعُو الحَمْلَةُ إِلَى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القَوَالِبُ النَّمَطِيَّةُ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تُكْسَرَ</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تُكْسَرُ</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كُسِرَتْ</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P5-L03: a passive in -a after an.</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Laws forbid and allow — and what they forbid or allow comes after an, ending in -a (often a passive).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cs typeface="Amiri" pitchFamily="2" charset="-78"/>
              </a:rPr>
              <a:t>يَمْنَعُ القَانُونُ أَنْ </a:t>
            </a:r>
            <a:pPr rtl="1" algn="ctr" indent="0" marL="0">
              <a:lnSpc>
                <a:spcPct val="120000"/>
              </a:lnSpc>
              <a:buNone/>
            </a:pPr>
            <a:r>
              <a:rPr lang="ar-SA" altLang="en-US" sz="1950" b="1" dirty="0">
                <a:solidFill>
                  <a:srgbClr val="D6336C"/>
                </a:solidFill>
                <a:latin typeface="Amiri" pitchFamily="2" charset="-78"/>
                <a:cs typeface="Amiri" pitchFamily="2" charset="-78"/>
              </a:rPr>
              <a:t>تُبَاعَ</a:t>
            </a:r>
            <a:pPr rtl="1" algn="ctr" indent="0" marL="0">
              <a:lnSpc>
                <a:spcPct val="120000"/>
              </a:lnSpc>
              <a:buNone/>
            </a:pPr>
            <a:r>
              <a:rPr lang="ar-SA" altLang="en-US" sz="1950" b="1" dirty="0">
                <a:solidFill>
                  <a:srgbClr val="1B3B6F"/>
                </a:solidFill>
                <a:latin typeface="Amiri" pitchFamily="2" charset="-78"/>
                <a:cs typeface="Amiri" pitchFamily="2" charset="-78"/>
              </a:rPr>
              <a:t> البَيَانَاتُ · لَا يُبِيحُ أَنْ </a:t>
            </a:r>
            <a:pPr rtl="1" algn="ctr" indent="0" marL="0">
              <a:lnSpc>
                <a:spcPct val="120000"/>
              </a:lnSpc>
              <a:buNone/>
            </a:pPr>
            <a:r>
              <a:rPr lang="ar-SA" altLang="en-US" sz="1950" b="1" dirty="0">
                <a:solidFill>
                  <a:srgbClr val="0E7C86"/>
                </a:solidFill>
                <a:latin typeface="Amiri" pitchFamily="2" charset="-78"/>
                <a:cs typeface="Amiri" pitchFamily="2" charset="-78"/>
              </a:rPr>
              <a:t>تُرَاقَبَ</a:t>
            </a:r>
            <a:pPr rtl="1" algn="ctr" indent="0" marL="0">
              <a:lnSpc>
                <a:spcPct val="120000"/>
              </a:lnSpc>
              <a:buNone/>
            </a:pPr>
            <a:r>
              <a:rPr lang="ar-SA" altLang="en-US" sz="1950" b="1" dirty="0">
                <a:solidFill>
                  <a:srgbClr val="1B3B6F"/>
                </a:solidFill>
                <a:latin typeface="Amiri" pitchFamily="2" charset="-78"/>
                <a:cs typeface="Amiri" pitchFamily="2" charset="-78"/>
              </a:rPr>
              <a:t> المُحَادَثَاتُ</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Analyse the social impact of digital technology using the 2028 words in a social frame.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yamnaʿu an (prohibits) and yubīḥu an (permits) + a verb in -a.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Balance digital opportunity against digital risk.</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Integrate all P5 grammar into a digital-society analysis.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8 digital-society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yamnaʿu an + a verb in -a.</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yubīḥu an and lā yanbaghī an yubīḥa an …</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 2028 word in a social frame.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balance opportunity and risk and add a Type 2.</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110-word digital-society analysis.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Prohibition and permission triggers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Digital society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2028 vocabulary in social context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رَقْمٌ · رَقْمِيٌّ</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‎رقم‎ </a:t>
            </a:r>
            <a:pPr indent="0" marL="0">
              <a:buNone/>
            </a:pPr>
            <a:r>
              <a:rPr lang="en-US" sz="950" b="1" dirty="0">
                <a:solidFill>
                  <a:srgbClr val="2E8B57"/>
                </a:solidFill>
                <a:latin typeface="Calibri" pitchFamily="34" charset="0"/>
                <a:cs typeface="Amiri" pitchFamily="2" charset="-78"/>
              </a:rPr>
              <a:t> raqam · Arabic: a number · digital · Urdu: a sum of money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خُصُوصِيَّةٌ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‎خصوصیت‎ </a:t>
            </a:r>
            <a:pPr indent="0" marL="0">
              <a:buNone/>
            </a:pPr>
            <a:r>
              <a:rPr lang="en-US" sz="950" b="1" dirty="0">
                <a:solidFill>
                  <a:srgbClr val="2E8B57"/>
                </a:solidFill>
                <a:latin typeface="Calibri" pitchFamily="34" charset="0"/>
                <a:cs typeface="Amiri" pitchFamily="2" charset="-78"/>
              </a:rPr>
              <a:t> khusūsiyat · Arabic: privacy · Urdu: a special feature</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مَعْلُومَاتٌ</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‎معلومات‎ </a:t>
            </a:r>
            <a:pPr indent="0" marL="0">
              <a:buNone/>
            </a:pPr>
            <a:r>
              <a:rPr lang="en-US" sz="950" b="1" dirty="0">
                <a:solidFill>
                  <a:srgbClr val="2E8B57"/>
                </a:solidFill>
                <a:latin typeface="Calibri" pitchFamily="34" charset="0"/>
                <a:cs typeface="Amiri" pitchFamily="2" charset="-78"/>
              </a:rPr>
              <a:t> maalūmāt · information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ذَكَاءٌ</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‎ذہانت · ذکاوت‎ </a:t>
            </a:r>
            <a:pPr indent="0" marL="0">
              <a:buNone/>
            </a:pPr>
            <a:r>
              <a:rPr lang="en-US" sz="950" b="1" dirty="0">
                <a:solidFill>
                  <a:srgbClr val="2E8B57"/>
                </a:solidFill>
                <a:latin typeface="Calibri" pitchFamily="34" charset="0"/>
                <a:cs typeface="Amiri" pitchFamily="2" charset="-78"/>
              </a:rPr>
              <a:t> zakāwat · intelligence (AI = الذَّكَاءُ الاصْطِنَاعِيُّ)</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حُكُومَةٌ</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‎حکومت‎ </a:t>
            </a:r>
            <a:pPr indent="0" marL="0">
              <a:buNone/>
            </a:pPr>
            <a:r>
              <a:rPr lang="en-US" sz="950" b="1" dirty="0">
                <a:solidFill>
                  <a:srgbClr val="2E8B57"/>
                </a:solidFill>
                <a:latin typeface="Calibri" pitchFamily="34" charset="0"/>
                <a:cs typeface="Amiri" pitchFamily="2" charset="-78"/>
              </a:rPr>
              <a:t> hukūmat · a government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Prohibition and permission triggers (1 of 2)</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8265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يَمْنَعُ أَنْ</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prohibits that</a:t>
            </a:r>
            <a:endParaRPr lang="en-US" sz="1350" dirty="0"/>
          </a:p>
          <a:p>
            <a:pPr indent="0" marL="0">
              <a:buNone/>
            </a:pPr>
            <a:r>
              <a:rPr lang="en-US" sz="1100" i="1" dirty="0">
                <a:solidFill>
                  <a:srgbClr val="5A6472"/>
                </a:solidFill>
                <a:latin typeface="Calibri" pitchFamily="34" charset="0"/>
                <a:cs typeface="Amiri" pitchFamily="2" charset="-78"/>
              </a:rPr>
              <a:t>yam-na-ʿu an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26" name="Text 23"/>
          <p:cNvSpPr txBox="1"/>
          <p:nvPr/>
        </p:nvSpPr>
        <p:spPr>
          <a:xfrm>
            <a:off x="8284464"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تَمْنَعُ أَنْ</a:t>
            </a:r>
            <a:endParaRPr lang="ar-SA" sz="135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32" name="Shape 29"/>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يُبِيحُ أَنْ</a:t>
            </a:r>
            <a:endParaRPr lang="ar-SA" sz="3000" dirty="0"/>
          </a:p>
        </p:txBody>
      </p:sp>
      <p:sp>
        <p:nvSpPr>
          <p:cNvPr id="35" name="Text 32"/>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permits that</a:t>
            </a:r>
            <a:endParaRPr lang="en-US" sz="1350" dirty="0"/>
          </a:p>
          <a:p>
            <a:pPr indent="0" marL="0">
              <a:buNone/>
            </a:pPr>
            <a:r>
              <a:rPr lang="en-US" sz="1100" i="1" dirty="0">
                <a:solidFill>
                  <a:srgbClr val="5A6472"/>
                </a:solidFill>
                <a:latin typeface="Calibri" pitchFamily="34" charset="0"/>
                <a:cs typeface="Amiri" pitchFamily="2" charset="-78"/>
              </a:rPr>
              <a:t>yu-bī-ḥu an</a:t>
            </a:r>
            <a:endParaRPr lang="en-US" sz="1350" dirty="0"/>
          </a:p>
        </p:txBody>
      </p:sp>
      <p:sp>
        <p:nvSpPr>
          <p:cNvPr id="36" name="Shape 33"/>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8" name="Text 35"/>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تُبِيحُ أَنْ</a:t>
            </a:r>
            <a:endParaRPr lang="ar-SA" sz="1350" dirty="0"/>
          </a:p>
        </p:txBody>
      </p:sp>
      <p:sp>
        <p:nvSpPr>
          <p:cNvPr id="39" name="Shape 3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66928" y="1920240"/>
            <a:ext cx="310896" cy="310896"/>
          </a:xfrm>
          <a:prstGeom prst="ellipse">
            <a:avLst/>
          </a:prstGeom>
          <a:solidFill>
            <a:srgbClr val="F4F1EA"/>
          </a:solidFill>
          <a:ln w="12700">
            <a:solidFill>
              <a:srgbClr val="F4F1EA"/>
            </a:solidFill>
            <a:prstDash val="solid"/>
          </a:ln>
        </p:spPr>
      </p:sp>
      <p:sp>
        <p:nvSpPr>
          <p:cNvPr id="41" name="Text 3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2" name="Shape 39"/>
          <p:cNvSpPr/>
          <p:nvPr/>
        </p:nvSpPr>
        <p:spPr>
          <a:xfrm>
            <a:off x="960120" y="1938528"/>
            <a:ext cx="1082650"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960120"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44" name="Shape 4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يُقَيِّدُ</a:t>
            </a:r>
            <a:endParaRPr lang="ar-SA" sz="3000" dirty="0"/>
          </a:p>
        </p:txBody>
      </p:sp>
      <p:sp>
        <p:nvSpPr>
          <p:cNvPr id="47" name="Text 44"/>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restricts</a:t>
            </a:r>
            <a:endParaRPr lang="en-US" sz="1350" dirty="0"/>
          </a:p>
          <a:p>
            <a:pPr indent="0" marL="0">
              <a:buNone/>
            </a:pPr>
            <a:r>
              <a:rPr lang="en-US" sz="1100" i="1" dirty="0">
                <a:solidFill>
                  <a:srgbClr val="5A6472"/>
                </a:solidFill>
                <a:latin typeface="Calibri" pitchFamily="34" charset="0"/>
                <a:cs typeface="Amiri" pitchFamily="2" charset="-78"/>
              </a:rPr>
              <a:t>yu-qay-yi-du</a:t>
            </a:r>
            <a:endParaRPr lang="en-US" sz="1350" dirty="0"/>
          </a:p>
        </p:txBody>
      </p:sp>
      <p:sp>
        <p:nvSpPr>
          <p:cNvPr id="48" name="Shape 45"/>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50" name="Text 47"/>
          <p:cNvSpPr txBox="1"/>
          <p:nvPr/>
        </p:nvSpPr>
        <p:spPr>
          <a:xfrm>
            <a:off x="640080"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تُقَيِّدُ</a:t>
            </a:r>
            <a:endParaRPr lang="ar-SA" sz="135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4" name="Shape 51"/>
          <p:cNvSpPr/>
          <p:nvPr/>
        </p:nvSpPr>
        <p:spPr>
          <a:xfrm>
            <a:off x="8604504" y="4279392"/>
            <a:ext cx="1082650"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يُنَظِّمُ</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regulates</a:t>
            </a:r>
            <a:endParaRPr lang="en-US" sz="1350" dirty="0"/>
          </a:p>
          <a:p>
            <a:pPr indent="0" marL="0">
              <a:buNone/>
            </a:pPr>
            <a:r>
              <a:rPr lang="en-US" sz="1100" i="1" dirty="0">
                <a:solidFill>
                  <a:srgbClr val="5A6472"/>
                </a:solidFill>
                <a:latin typeface="Calibri" pitchFamily="34" charset="0"/>
                <a:cs typeface="Amiri" pitchFamily="2" charset="-78"/>
              </a:rPr>
              <a:t>yu-naẓ-ẓi-mu</a:t>
            </a:r>
            <a:endParaRPr lang="en-US" sz="1350" dirty="0"/>
          </a:p>
        </p:txBody>
      </p:sp>
      <p:sp>
        <p:nvSpPr>
          <p:cNvPr id="60" name="Shape 57"/>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62" name="Text 59"/>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تُنَظِّمُ</a:t>
            </a:r>
            <a:endParaRPr lang="ar-SA"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Prohibition and permission triggers (2 of 2)</a:t>
            </a:r>
            <a:endParaRPr lang="en-US" sz="21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الحَوْكَمَةُ الرَّقْمِيَّةُ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governance</a:t>
            </a:r>
            <a:endParaRPr lang="en-US" sz="1350" dirty="0"/>
          </a:p>
          <a:p>
            <a:pPr indent="0" marL="0">
              <a:buNone/>
            </a:pPr>
            <a:r>
              <a:rPr lang="en-US" sz="1100" i="1" dirty="0">
                <a:solidFill>
                  <a:srgbClr val="5A6472"/>
                </a:solidFill>
                <a:latin typeface="Calibri" pitchFamily="34" charset="0"/>
                <a:cs typeface="Amiri" pitchFamily="2" charset="-78"/>
              </a:rPr>
              <a:t>al-ḥaw-ka-ma-tu ar-raq-miy-ya-tu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مُوَاطَنَةٌ رَقْمِيَّةٌ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citizenship</a:t>
            </a:r>
            <a:endParaRPr lang="en-US" sz="1350" dirty="0"/>
          </a:p>
          <a:p>
            <a:pPr indent="0" marL="0">
              <a:buNone/>
            </a:pPr>
            <a:r>
              <a:rPr lang="en-US" sz="1100" i="1" dirty="0">
                <a:solidFill>
                  <a:srgbClr val="5A6472"/>
                </a:solidFill>
                <a:latin typeface="Calibri" pitchFamily="34" charset="0"/>
                <a:cs typeface="Amiri" pitchFamily="2" charset="-78"/>
              </a:rPr>
              <a:t>mu-wā-ṭa-na-tun raq-miy-ya-tun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Shape 2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الحَقُّ فِي الخُصُوصِيَّةِ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right to privacy</a:t>
            </a:r>
            <a:endParaRPr lang="en-US" sz="1350" dirty="0"/>
          </a:p>
          <a:p>
            <a:pPr indent="0" marL="0">
              <a:buNone/>
            </a:pPr>
            <a:r>
              <a:rPr lang="en-US" sz="1100" i="1" dirty="0">
                <a:solidFill>
                  <a:srgbClr val="5A6472"/>
                </a:solidFill>
                <a:latin typeface="Calibri" pitchFamily="34" charset="0"/>
                <a:cs typeface="Amiri" pitchFamily="2" charset="-78"/>
              </a:rPr>
              <a:t>al-ḥaq-qu fī al-khu-ṣū-ṣiy-ya-ti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حُرِّيَّةُ التَّعْبِيرِ</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freedom of expression</a:t>
            </a:r>
            <a:endParaRPr lang="en-US" sz="1350" dirty="0"/>
          </a:p>
          <a:p>
            <a:pPr indent="0" marL="0">
              <a:buNone/>
            </a:pPr>
            <a:r>
              <a:rPr lang="en-US" sz="1100" i="1" dirty="0">
                <a:solidFill>
                  <a:srgbClr val="5A6472"/>
                </a:solidFill>
                <a:latin typeface="Calibri" pitchFamily="34" charset="0"/>
                <a:cs typeface="Amiri" pitchFamily="2" charset="-78"/>
              </a:rPr>
              <a:t>ḥur-riy-ya-tu at-taʿ-bī-ri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Digital society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مُجْتَمَعٌ رَقْمِيٌّ</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society</a:t>
            </a:r>
            <a:endParaRPr lang="en-US" sz="1350" dirty="0"/>
          </a:p>
          <a:p>
            <a:pPr indent="0" marL="0">
              <a:buNone/>
            </a:pPr>
            <a:r>
              <a:rPr lang="en-US" sz="1100" i="1" dirty="0">
                <a:solidFill>
                  <a:srgbClr val="5A6472"/>
                </a:solidFill>
                <a:latin typeface="Calibri" pitchFamily="34" charset="0"/>
                <a:cs typeface="Amiri" pitchFamily="2" charset="-78"/>
              </a:rPr>
              <a:t>muj-ta-ma-ʿun raq-miy-yun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الفَجْوَةُ الرَّقْمِيَّةُ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digital divide</a:t>
            </a:r>
            <a:endParaRPr lang="en-US" sz="1350" dirty="0"/>
          </a:p>
          <a:p>
            <a:pPr indent="0" marL="0">
              <a:buNone/>
            </a:pPr>
            <a:r>
              <a:rPr lang="en-US" sz="1100" i="1" dirty="0">
                <a:solidFill>
                  <a:srgbClr val="5A6472"/>
                </a:solidFill>
                <a:latin typeface="Calibri" pitchFamily="34" charset="0"/>
                <a:cs typeface="Amiri" pitchFamily="2" charset="-78"/>
              </a:rPr>
              <a:t>al-faj-wa-tu ar-raq-miy-ya-tu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الاقْتِصَادُ الرَّقْمِيُّ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digital economy</a:t>
            </a:r>
            <a:endParaRPr lang="en-US" sz="1350" dirty="0"/>
          </a:p>
          <a:p>
            <a:pPr indent="0" marL="0">
              <a:buNone/>
            </a:pPr>
            <a:r>
              <a:rPr lang="en-US" sz="1100" i="1" dirty="0">
                <a:solidFill>
                  <a:srgbClr val="5A6472"/>
                </a:solidFill>
                <a:latin typeface="Calibri" pitchFamily="34" charset="0"/>
                <a:cs typeface="Amiri" pitchFamily="2" charset="-78"/>
              </a:rPr>
              <a:t>alq-ti-ṣā-du ar-raq-miy-yu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خُصُوصِيَّةُ البَيَانَاتِ</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data privacy</a:t>
            </a:r>
            <a:endParaRPr lang="en-US" sz="1350" dirty="0"/>
          </a:p>
          <a:p>
            <a:pPr indent="0" marL="0">
              <a:buNone/>
            </a:pPr>
            <a:r>
              <a:rPr lang="en-US" sz="1100" i="1" dirty="0">
                <a:solidFill>
                  <a:srgbClr val="5A6472"/>
                </a:solidFill>
                <a:latin typeface="Calibri" pitchFamily="34" charset="0"/>
                <a:cs typeface="Amiri" pitchFamily="2" charset="-78"/>
              </a:rPr>
              <a:t>khu-ṣū-ṣiy-ya-tu al-ba-yā-nā-ti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Digital society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المُرَاقَبَةُ الرَّقْمِيَّةُ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surveillance</a:t>
            </a:r>
            <a:endParaRPr lang="en-US" sz="1350" dirty="0"/>
          </a:p>
          <a:p>
            <a:pPr indent="0" marL="0">
              <a:buNone/>
            </a:pPr>
            <a:r>
              <a:rPr lang="en-US" sz="1100" i="1" dirty="0">
                <a:solidFill>
                  <a:srgbClr val="5A6472"/>
                </a:solidFill>
                <a:latin typeface="Calibri" pitchFamily="34" charset="0"/>
                <a:cs typeface="Amiri" pitchFamily="2" charset="-78"/>
              </a:rPr>
              <a:t>al-mu-rā-qa-ba-tu ar-raq-miy-ya-tu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الرَّقَابَةُ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censorship</a:t>
            </a:r>
            <a:endParaRPr lang="en-US" sz="1350" dirty="0"/>
          </a:p>
          <a:p>
            <a:pPr indent="0" marL="0">
              <a:buNone/>
            </a:pPr>
            <a:r>
              <a:rPr lang="en-US" sz="1100" i="1" dirty="0">
                <a:solidFill>
                  <a:srgbClr val="5A6472"/>
                </a:solidFill>
                <a:latin typeface="Calibri" pitchFamily="34" charset="0"/>
                <a:cs typeface="Amiri" pitchFamily="2" charset="-78"/>
              </a:rPr>
              <a:t>ar-ra-qā-ba-tu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مَعْلُومَاتٌ مُضَلِّلَةٌ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misinformation</a:t>
            </a:r>
            <a:endParaRPr lang="en-US" sz="1350" dirty="0"/>
          </a:p>
          <a:p>
            <a:pPr indent="0" marL="0">
              <a:buNone/>
            </a:pPr>
            <a:r>
              <a:rPr lang="en-US" sz="1100" i="1" dirty="0">
                <a:solidFill>
                  <a:srgbClr val="5A6472"/>
                </a:solidFill>
                <a:latin typeface="Calibri" pitchFamily="34" charset="0"/>
                <a:cs typeface="Amiri" pitchFamily="2" charset="-78"/>
              </a:rPr>
              <a:t>maʿ-lū-mā-tun mu-ḍal-li-la-tun</a:t>
            </a:r>
            <a:endParaRPr lang="en-US" sz="1350" dirty="0"/>
          </a:p>
        </p:txBody>
      </p:sp>
      <p:sp>
        <p:nvSpPr>
          <p:cNvPr id="36" name="Shape 3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38" name="Text 3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مَعْلُومَةٌ مُضَلِّلَةٌ</a:t>
            </a:r>
            <a:endParaRPr lang="ar-SA" sz="15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التَّنَمُّرُ الإِلِكْتُرُونِيُّ</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cyberbullying</a:t>
            </a:r>
            <a:endParaRPr lang="en-US" sz="1350" dirty="0"/>
          </a:p>
          <a:p>
            <a:pPr indent="0" marL="0">
              <a:buNone/>
            </a:pPr>
            <a:r>
              <a:rPr lang="en-US" sz="1100" i="1" dirty="0">
                <a:solidFill>
                  <a:srgbClr val="5A6472"/>
                </a:solidFill>
                <a:latin typeface="Calibri" pitchFamily="34" charset="0"/>
                <a:cs typeface="Amiri" pitchFamily="2" charset="-78"/>
              </a:rPr>
              <a:t>at-ta-nam-mu-ru al-i-lik-tu-rū-niy-yu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2028 vocabulary in social context (1 of 2)</a:t>
            </a:r>
            <a:endParaRPr lang="en-US" sz="23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الذَّكَاءُ الاصْطِنَاعِيُّ</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artificial intelligence</a:t>
            </a:r>
            <a:endParaRPr lang="en-US" sz="1350" dirty="0"/>
          </a:p>
          <a:p>
            <a:pPr indent="0" marL="0">
              <a:buNone/>
            </a:pPr>
            <a:r>
              <a:rPr lang="en-US" sz="1100" i="1" dirty="0">
                <a:solidFill>
                  <a:srgbClr val="5A6472"/>
                </a:solidFill>
                <a:latin typeface="Calibri" pitchFamily="34" charset="0"/>
                <a:cs typeface="Amiri" pitchFamily="2" charset="-78"/>
              </a:rPr>
              <a:t>adh-dha-kā-ʾu alṣ-ṭi-nā-ʿiy-yu</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2028 word: social impact.</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8" name="Shape 25"/>
          <p:cNvSpPr/>
          <p:nvPr/>
        </p:nvSpPr>
        <p:spPr>
          <a:xfrm>
            <a:off x="4782312" y="1938528"/>
            <a:ext cx="709574"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كَلِمَةُ المُرُورِ</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password</a:t>
            </a:r>
            <a:endParaRPr lang="en-US" sz="1350" dirty="0"/>
          </a:p>
          <a:p>
            <a:pPr indent="0" marL="0">
              <a:buNone/>
            </a:pPr>
            <a:r>
              <a:rPr lang="en-US" sz="1100" i="1" dirty="0">
                <a:solidFill>
                  <a:srgbClr val="5A6472"/>
                </a:solidFill>
                <a:latin typeface="Calibri" pitchFamily="34" charset="0"/>
                <a:cs typeface="Amiri" pitchFamily="2" charset="-78"/>
              </a:rPr>
              <a:t>ka-li-ma-tu al-mu-rū-ri</a:t>
            </a:r>
            <a:endParaRPr lang="en-US" sz="1350" dirty="0"/>
          </a:p>
        </p:txBody>
      </p:sp>
      <p:sp>
        <p:nvSpPr>
          <p:cNvPr id="34" name="Shape 31"/>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6" name="Text 33"/>
          <p:cNvSpPr txBox="1"/>
          <p:nvPr/>
        </p:nvSpPr>
        <p:spPr>
          <a:xfrm>
            <a:off x="4462272"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المُرُورِ</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التَّعَلُّمُ عَنْ بُعْدٍ</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distance learning</a:t>
            </a:r>
            <a:endParaRPr lang="en-US" sz="1350" dirty="0"/>
          </a:p>
          <a:p>
            <a:pPr indent="0" marL="0">
              <a:buNone/>
            </a:pPr>
            <a:r>
              <a:rPr lang="en-US" sz="1100" i="1" dirty="0">
                <a:solidFill>
                  <a:srgbClr val="5A6472"/>
                </a:solidFill>
                <a:latin typeface="Calibri" pitchFamily="34" charset="0"/>
                <a:cs typeface="Amiri" pitchFamily="2" charset="-78"/>
              </a:rPr>
              <a:t>at-ta-ʿal-lu-mu ʿan buʿ-din</a:t>
            </a:r>
            <a:endParaRPr lang="en-US" sz="1350" dirty="0"/>
          </a:p>
        </p:txBody>
      </p:sp>
      <p:sp>
        <p:nvSpPr>
          <p:cNvPr id="42" name="Text 39"/>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2028 word: digital divide.</a:t>
            </a:r>
            <a:endParaRPr lang="en-US" sz="1000" dirty="0"/>
          </a:p>
        </p:txBody>
      </p:sp>
      <p:sp>
        <p:nvSpPr>
          <p:cNvPr id="43" name="Shape 4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11312"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البُنْيَةُ التَّحْتِيَّةُ الرَّقْمِيَّةُ</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infrastructure</a:t>
            </a:r>
            <a:endParaRPr lang="en-US" sz="1350" dirty="0"/>
          </a:p>
          <a:p>
            <a:pPr indent="0" marL="0">
              <a:buNone/>
            </a:pPr>
            <a:r>
              <a:rPr lang="en-US" sz="1100" i="1" dirty="0">
                <a:solidFill>
                  <a:srgbClr val="5A6472"/>
                </a:solidFill>
                <a:latin typeface="Calibri" pitchFamily="34" charset="0"/>
                <a:cs typeface="Amiri" pitchFamily="2" charset="-78"/>
              </a:rPr>
              <a:t>al-bun-ya-tu at-taḥ-tiy-ya-tu ar-raq-miy-ya-tu</a:t>
            </a:r>
            <a:endParaRPr lang="en-US" sz="13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2028 vocabulary in social context (2 of 2)</a:t>
            </a:r>
            <a:endParaRPr lang="en-US" sz="23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الأَمَانُ الرَّقْمِيُّ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digital security</a:t>
            </a:r>
            <a:endParaRPr lang="en-US" sz="1350" dirty="0"/>
          </a:p>
          <a:p>
            <a:pPr indent="0" marL="0">
              <a:buNone/>
            </a:pPr>
            <a:r>
              <a:rPr lang="en-US" sz="1100" i="1" dirty="0">
                <a:solidFill>
                  <a:srgbClr val="5A6472"/>
                </a:solidFill>
                <a:latin typeface="Calibri" pitchFamily="34" charset="0"/>
                <a:cs typeface="Amiri" pitchFamily="2" charset="-78"/>
              </a:rPr>
              <a:t>al-a-mā-nu ar-raq-miy-yu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4782312" y="1938528"/>
            <a:ext cx="1082650"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08265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she (it)</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يُعِيدُ تَشْكِيلَ</a:t>
            </a:r>
            <a:endParaRPr lang="ar-SA" sz="30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reshapes</a:t>
            </a:r>
            <a:endParaRPr lang="en-US" sz="1350" dirty="0"/>
          </a:p>
          <a:p>
            <a:pPr indent="0" marL="0">
              <a:buNone/>
            </a:pPr>
            <a:r>
              <a:rPr lang="en-US" sz="1100" i="1" dirty="0">
                <a:solidFill>
                  <a:srgbClr val="5A6472"/>
                </a:solidFill>
                <a:latin typeface="Calibri" pitchFamily="34" charset="0"/>
                <a:cs typeface="Amiri" pitchFamily="2" charset="-78"/>
              </a:rPr>
              <a:t>yu-ʿī-du tash-kī-la</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she / it (f.)</a:t>
            </a:r>
            <a:endParaRPr lang="en-US" sz="700" dirty="0"/>
          </a:p>
        </p:txBody>
      </p:sp>
      <p:sp>
        <p:nvSpPr>
          <p:cNvPr id="31" name="Text 28"/>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تُعِيدُ تَشْكِيلَ</a:t>
            </a:r>
            <a:endParaRPr lang="ar-SA"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سُوقُ العَمَلِ</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job market</a:t>
            </a:r>
            <a:endParaRPr lang="en-US" sz="1350" dirty="0"/>
          </a:p>
          <a:p>
            <a:pPr indent="0" marL="0">
              <a:buNone/>
            </a:pPr>
            <a:r>
              <a:rPr lang="en-US" sz="1100" i="1" dirty="0">
                <a:solidFill>
                  <a:srgbClr val="5A6472"/>
                </a:solidFill>
                <a:latin typeface="Calibri" pitchFamily="34" charset="0"/>
                <a:cs typeface="Amiri" pitchFamily="2" charset="-78"/>
              </a:rPr>
              <a:t>sū-qu al-ʿa-ma-li</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0" name="Shape 37"/>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 · they</a:t>
            </a:r>
            <a:endParaRPr lang="en-US" sz="800" dirty="0"/>
          </a:p>
        </p:txBody>
      </p:sp>
      <p:sp>
        <p:nvSpPr>
          <p:cNvPr id="42" name="Text 3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يَتَعَرَّضُ لِـ</a:t>
            </a:r>
            <a:endParaRPr lang="ar-SA" sz="3000" dirty="0"/>
          </a:p>
        </p:txBody>
      </p:sp>
      <p:sp>
        <p:nvSpPr>
          <p:cNvPr id="43" name="Text 4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exposed to</a:t>
            </a:r>
            <a:endParaRPr lang="en-US" sz="1350" dirty="0"/>
          </a:p>
          <a:p>
            <a:pPr indent="0" marL="0">
              <a:buNone/>
            </a:pPr>
            <a:r>
              <a:rPr lang="en-US" sz="1100" i="1" dirty="0">
                <a:solidFill>
                  <a:srgbClr val="5A6472"/>
                </a:solidFill>
                <a:latin typeface="Calibri" pitchFamily="34" charset="0"/>
                <a:cs typeface="Amiri" pitchFamily="2" charset="-78"/>
              </a:rPr>
              <a:t>ya-ta-ʿar-ra-ḍu li</a:t>
            </a:r>
            <a:endParaRPr lang="en-US" sz="1350" dirty="0"/>
          </a:p>
        </p:txBody>
      </p:sp>
      <p:sp>
        <p:nvSpPr>
          <p:cNvPr id="44" name="Shape 41"/>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they</a:t>
            </a:r>
            <a:endParaRPr lang="en-US" sz="700" dirty="0"/>
          </a:p>
        </p:txBody>
      </p:sp>
      <p:sp>
        <p:nvSpPr>
          <p:cNvPr id="46" name="Text 43"/>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يَتَعَرَّضُونَ لِـ</a:t>
            </a:r>
            <a:endParaRPr lang="ar-SA"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1 · PROHIBIT AND PERMIT + AN (WEBSITE RULES 1–2, TEACHING POINT 1, SORTER AND TEXTS) · CORE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Forbid it, allow it — then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المَنْعُ وَالإِبَاحَةُ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291072" y="1810512"/>
            <a:ext cx="5367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828032"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Type</a:t>
            </a:r>
            <a:endParaRPr lang="en-US" sz="1100" dirty="0"/>
          </a:p>
        </p:txBody>
      </p:sp>
      <p:sp>
        <p:nvSpPr>
          <p:cNvPr id="18" name="Text 15"/>
          <p:cNvSpPr txBox="1"/>
          <p:nvPr/>
        </p:nvSpPr>
        <p:spPr>
          <a:xfrm>
            <a:off x="2907792" y="1810512"/>
            <a:ext cx="17739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after an</a:t>
            </a:r>
            <a:endParaRPr lang="en-US" sz="1100" dirty="0"/>
          </a:p>
        </p:txBody>
      </p:sp>
      <p:sp>
        <p:nvSpPr>
          <p:cNvPr id="19" name="Text 16"/>
          <p:cNvSpPr txBox="1"/>
          <p:nvPr/>
        </p:nvSpPr>
        <p:spPr>
          <a:xfrm>
            <a:off x="53035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Trigger</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309360" y="2267712"/>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يَمْنَعُ القَانُونُ أَنْ </a:t>
            </a:r>
            <a:pPr rtl="1" algn="ctr" indent="0" marL="0">
              <a:buNone/>
            </a:pPr>
            <a:r>
              <a:rPr lang="ar-SA" altLang="en-US" sz="1700" b="1" dirty="0">
                <a:solidFill>
                  <a:srgbClr val="D6336C"/>
                </a:solidFill>
                <a:latin typeface="Amiri" pitchFamily="2" charset="-78"/>
                <a:cs typeface="Amiri" pitchFamily="2" charset="-78"/>
              </a:rPr>
              <a:t>تُبَاعَ</a:t>
            </a:r>
            <a:pPr rtl="1" algn="ctr" indent="0" marL="0">
              <a:buNone/>
            </a:pPr>
            <a:r>
              <a:rPr lang="ar-SA" altLang="en-US" sz="1700" b="1" dirty="0">
                <a:solidFill>
                  <a:srgbClr val="1B3B6F"/>
                </a:solidFill>
                <a:latin typeface="Amiri" pitchFamily="2" charset="-78"/>
                <a:cs typeface="Amiri" pitchFamily="2" charset="-78"/>
              </a:rPr>
              <a:t> البَيَانَاتُ الشَّخْصِيَّةُ.</a:t>
            </a:r>
            <a:endParaRPr lang="ar-SA" sz="1700" dirty="0"/>
          </a:p>
        </p:txBody>
      </p:sp>
      <p:sp>
        <p:nvSpPr>
          <p:cNvPr id="22" name="Text 19"/>
          <p:cNvSpPr txBox="1"/>
          <p:nvPr/>
        </p:nvSpPr>
        <p:spPr>
          <a:xfrm>
            <a:off x="4864608" y="2267712"/>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23" name="Text 20"/>
          <p:cNvSpPr txBox="1"/>
          <p:nvPr/>
        </p:nvSpPr>
        <p:spPr>
          <a:xfrm>
            <a:off x="2926080" y="2267712"/>
            <a:ext cx="173736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تُبَاعَ</a:t>
            </a:r>
            <a:endParaRPr lang="ar-SA" sz="1900" dirty="0"/>
          </a:p>
        </p:txBody>
      </p:sp>
      <p:sp>
        <p:nvSpPr>
          <p:cNvPr id="24" name="Text 21"/>
          <p:cNvSpPr txBox="1"/>
          <p:nvPr/>
        </p:nvSpPr>
        <p:spPr>
          <a:xfrm>
            <a:off x="548640" y="2267712"/>
            <a:ext cx="219456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يَمْنَعُ أَنْ</a:t>
            </a:r>
            <a:endParaRPr lang="ar-SA" sz="19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6309360" y="3004718"/>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تَمْنَعُ الأَنْظِمَةُ أَنْ </a:t>
            </a:r>
            <a:pPr rtl="1" algn="ctr" indent="0" marL="0">
              <a:buNone/>
            </a:pPr>
            <a:r>
              <a:rPr lang="ar-SA" altLang="en-US" sz="1700" b="1" dirty="0">
                <a:solidFill>
                  <a:srgbClr val="D6336C"/>
                </a:solidFill>
                <a:latin typeface="Amiri" pitchFamily="2" charset="-78"/>
                <a:cs typeface="Amiri" pitchFamily="2" charset="-78"/>
              </a:rPr>
              <a:t>تُنْشَرَ</a:t>
            </a:r>
            <a:pPr rtl="1" algn="ctr" indent="0" marL="0">
              <a:buNone/>
            </a:pPr>
            <a:r>
              <a:rPr lang="ar-SA" altLang="en-US" sz="1700" b="1" dirty="0">
                <a:solidFill>
                  <a:srgbClr val="1B3B6F"/>
                </a:solidFill>
                <a:latin typeface="Amiri" pitchFamily="2" charset="-78"/>
                <a:cs typeface="Amiri" pitchFamily="2" charset="-78"/>
              </a:rPr>
              <a:t> المَعْلُومَاتُ المُضَلِّلَةُ.</a:t>
            </a:r>
            <a:endParaRPr lang="ar-SA" sz="1700" dirty="0"/>
          </a:p>
        </p:txBody>
      </p:sp>
      <p:sp>
        <p:nvSpPr>
          <p:cNvPr id="29" name="Text 26"/>
          <p:cNvSpPr txBox="1"/>
          <p:nvPr/>
        </p:nvSpPr>
        <p:spPr>
          <a:xfrm>
            <a:off x="4864608" y="300471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30" name="Text 27"/>
          <p:cNvSpPr txBox="1"/>
          <p:nvPr/>
        </p:nvSpPr>
        <p:spPr>
          <a:xfrm>
            <a:off x="2926080" y="3004718"/>
            <a:ext cx="173736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تُنْشَرَ</a:t>
            </a:r>
            <a:endParaRPr lang="ar-SA" sz="1900" dirty="0"/>
          </a:p>
        </p:txBody>
      </p:sp>
      <p:sp>
        <p:nvSpPr>
          <p:cNvPr id="31" name="Text 28"/>
          <p:cNvSpPr txBox="1"/>
          <p:nvPr/>
        </p:nvSpPr>
        <p:spPr>
          <a:xfrm>
            <a:off x="548640" y="3004718"/>
            <a:ext cx="2194560" cy="682142"/>
          </a:xfrm>
          <a:prstGeom prst="rect">
            <a:avLst/>
          </a:prstGeom>
          <a:noFill/>
          <a:ln/>
        </p:spPr>
        <p:txBody>
          <a:bodyPr wrap="square" lIns="0" tIns="0" rIns="0" bIns="0" rtlCol="0" anchor="ctr"/>
          <a:lstStyle/>
          <a:p>
            <a:pPr rtl="1" algn="ctr" indent="0" marL="0">
              <a:buNone/>
            </a:pPr>
            <a:r>
              <a:rPr lang="ar-SA" altLang="en-US" sz="1900" b="1" dirty="0">
                <a:solidFill>
                  <a:srgbClr val="D6336C"/>
                </a:solidFill>
                <a:latin typeface="Amiri" pitchFamily="2" charset="-78"/>
                <a:cs typeface="Amiri" pitchFamily="2" charset="-78"/>
              </a:rPr>
              <a:t>تَمْنَعُ أَنْ</a:t>
            </a:r>
            <a:endParaRPr lang="ar-SA" sz="19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309360" y="3741725"/>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يُبِيحُ النِّظَامُ أَنْ </a:t>
            </a:r>
            <a:pPr rtl="1" algn="ctr" indent="0" marL="0">
              <a:buNone/>
            </a:pPr>
            <a:r>
              <a:rPr lang="ar-SA" altLang="en-US" sz="1700" b="1" dirty="0">
                <a:solidFill>
                  <a:srgbClr val="0E7C86"/>
                </a:solidFill>
                <a:latin typeface="Amiri" pitchFamily="2" charset="-78"/>
                <a:cs typeface="Amiri" pitchFamily="2" charset="-78"/>
              </a:rPr>
              <a:t>يَصِلَ</a:t>
            </a:r>
            <a:pPr rtl="1" algn="ctr" indent="0" marL="0">
              <a:buNone/>
            </a:pPr>
            <a:r>
              <a:rPr lang="ar-SA" altLang="en-US" sz="1700" b="1" dirty="0">
                <a:solidFill>
                  <a:srgbClr val="1B3B6F"/>
                </a:solidFill>
                <a:latin typeface="Amiri" pitchFamily="2" charset="-78"/>
                <a:cs typeface="Amiri" pitchFamily="2" charset="-78"/>
              </a:rPr>
              <a:t> الجَمِيعُ إِلَى الإِنْتِرْنِتِ.</a:t>
            </a:r>
            <a:endParaRPr lang="ar-SA" sz="1700" dirty="0"/>
          </a:p>
        </p:txBody>
      </p:sp>
      <p:sp>
        <p:nvSpPr>
          <p:cNvPr id="36" name="Text 33"/>
          <p:cNvSpPr txBox="1"/>
          <p:nvPr/>
        </p:nvSpPr>
        <p:spPr>
          <a:xfrm>
            <a:off x="4864608" y="3741725"/>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active</a:t>
            </a:r>
            <a:endParaRPr lang="en-US" sz="1100" dirty="0"/>
          </a:p>
        </p:txBody>
      </p:sp>
      <p:sp>
        <p:nvSpPr>
          <p:cNvPr id="37" name="Text 34"/>
          <p:cNvSpPr txBox="1"/>
          <p:nvPr/>
        </p:nvSpPr>
        <p:spPr>
          <a:xfrm>
            <a:off x="2926080" y="3741725"/>
            <a:ext cx="17373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يَصِلَ</a:t>
            </a:r>
            <a:endParaRPr lang="ar-SA" sz="1900" dirty="0"/>
          </a:p>
        </p:txBody>
      </p:sp>
      <p:sp>
        <p:nvSpPr>
          <p:cNvPr id="38" name="Text 35"/>
          <p:cNvSpPr txBox="1"/>
          <p:nvPr/>
        </p:nvSpPr>
        <p:spPr>
          <a:xfrm>
            <a:off x="548640" y="3741725"/>
            <a:ext cx="21945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يُبِيحُ أَنْ</a:t>
            </a:r>
            <a:endParaRPr lang="ar-SA" sz="19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6309360" y="4478731"/>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لَا يُبِيحُ القَانُونُ أَنْ </a:t>
            </a:r>
            <a:pPr rtl="1" algn="ctr" indent="0" marL="0">
              <a:buNone/>
            </a:pPr>
            <a:r>
              <a:rPr lang="ar-SA" altLang="en-US" sz="1700" b="1" dirty="0">
                <a:solidFill>
                  <a:srgbClr val="0E7C86"/>
                </a:solidFill>
                <a:latin typeface="Amiri" pitchFamily="2" charset="-78"/>
                <a:cs typeface="Amiri" pitchFamily="2" charset="-78"/>
              </a:rPr>
              <a:t>تُرَاقَبَ</a:t>
            </a:r>
            <a:pPr rtl="1" algn="ctr" indent="0" marL="0">
              <a:buNone/>
            </a:pPr>
            <a:r>
              <a:rPr lang="ar-SA" altLang="en-US" sz="1700" b="1" dirty="0">
                <a:solidFill>
                  <a:srgbClr val="1B3B6F"/>
                </a:solidFill>
                <a:latin typeface="Amiri" pitchFamily="2" charset="-78"/>
                <a:cs typeface="Amiri" pitchFamily="2" charset="-78"/>
              </a:rPr>
              <a:t> المُحَادَثَاتُ الخَاصَّةُ.</a:t>
            </a:r>
            <a:endParaRPr lang="ar-SA" sz="1700" dirty="0"/>
          </a:p>
        </p:txBody>
      </p:sp>
      <p:sp>
        <p:nvSpPr>
          <p:cNvPr id="43" name="Text 40"/>
          <p:cNvSpPr txBox="1"/>
          <p:nvPr/>
        </p:nvSpPr>
        <p:spPr>
          <a:xfrm>
            <a:off x="4864608" y="4478731"/>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passive</a:t>
            </a:r>
            <a:endParaRPr lang="en-US" sz="1100" dirty="0"/>
          </a:p>
        </p:txBody>
      </p:sp>
      <p:sp>
        <p:nvSpPr>
          <p:cNvPr id="44" name="Text 41"/>
          <p:cNvSpPr txBox="1"/>
          <p:nvPr/>
        </p:nvSpPr>
        <p:spPr>
          <a:xfrm>
            <a:off x="2926080" y="4478731"/>
            <a:ext cx="17373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تُرَاقَبَ</a:t>
            </a:r>
            <a:endParaRPr lang="ar-SA" sz="1900" dirty="0"/>
          </a:p>
        </p:txBody>
      </p:sp>
      <p:sp>
        <p:nvSpPr>
          <p:cNvPr id="45" name="Text 42"/>
          <p:cNvSpPr txBox="1"/>
          <p:nvPr/>
        </p:nvSpPr>
        <p:spPr>
          <a:xfrm>
            <a:off x="548640" y="4478731"/>
            <a:ext cx="2194560" cy="682142"/>
          </a:xfrm>
          <a:prstGeom prst="rect">
            <a:avLst/>
          </a:prstGeom>
          <a:noFill/>
          <a:ln/>
        </p:spPr>
        <p:txBody>
          <a:bodyPr wrap="square" lIns="0" tIns="0" rIns="0" bIns="0" rtlCol="0" anchor="ctr"/>
          <a:lstStyle/>
          <a:p>
            <a:pPr rtl="1" algn="ctr" indent="0" marL="0">
              <a:buNone/>
            </a:pPr>
            <a:r>
              <a:rPr lang="ar-SA" altLang="en-US" sz="1900" b="1" dirty="0">
                <a:solidFill>
                  <a:srgbClr val="0E7C86"/>
                </a:solidFill>
                <a:latin typeface="Amiri" pitchFamily="2" charset="-78"/>
                <a:cs typeface="Amiri" pitchFamily="2" charset="-78"/>
              </a:rPr>
              <a:t>لَا يُبِيحُ أَنْ</a:t>
            </a:r>
            <a:endParaRPr lang="ar-SA" sz="19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6309360" y="5215738"/>
            <a:ext cx="533095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يَجِبُ أَلَّا </a:t>
            </a:r>
            <a:pPr rtl="1" algn="ctr" indent="0" marL="0">
              <a:buNone/>
            </a:pPr>
            <a:r>
              <a:rPr lang="ar-SA" altLang="en-US" sz="1700" b="1" dirty="0">
                <a:solidFill>
                  <a:srgbClr val="7B3FA0"/>
                </a:solidFill>
                <a:latin typeface="Amiri" pitchFamily="2" charset="-78"/>
                <a:cs typeface="Amiri" pitchFamily="2" charset="-78"/>
              </a:rPr>
              <a:t>تُقَيِّدَ</a:t>
            </a:r>
            <a:pPr rtl="1" algn="ctr" indent="0" marL="0">
              <a:buNone/>
            </a:pPr>
            <a:r>
              <a:rPr lang="ar-SA" altLang="en-US" sz="1700" b="1" dirty="0">
                <a:solidFill>
                  <a:srgbClr val="1B3B6F"/>
                </a:solidFill>
                <a:latin typeface="Amiri" pitchFamily="2" charset="-78"/>
                <a:cs typeface="Amiri" pitchFamily="2" charset="-78"/>
              </a:rPr>
              <a:t> حُرِّيَّةَ التَّعْبِيرِ.</a:t>
            </a:r>
            <a:endParaRPr lang="ar-SA" sz="1700" dirty="0"/>
          </a:p>
        </p:txBody>
      </p:sp>
      <p:sp>
        <p:nvSpPr>
          <p:cNvPr id="48" name="Text 45"/>
          <p:cNvSpPr txBox="1"/>
          <p:nvPr/>
        </p:nvSpPr>
        <p:spPr>
          <a:xfrm>
            <a:off x="4864608" y="5215738"/>
            <a:ext cx="1280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active</a:t>
            </a:r>
            <a:endParaRPr lang="en-US" sz="1100" dirty="0"/>
          </a:p>
        </p:txBody>
      </p:sp>
      <p:sp>
        <p:nvSpPr>
          <p:cNvPr id="49" name="Text 46"/>
          <p:cNvSpPr txBox="1"/>
          <p:nvPr/>
        </p:nvSpPr>
        <p:spPr>
          <a:xfrm>
            <a:off x="2926080" y="5215738"/>
            <a:ext cx="1737360" cy="682142"/>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cs typeface="Amiri" pitchFamily="2" charset="-78"/>
              </a:rPr>
              <a:t>تُقَيِّدَ</a:t>
            </a:r>
            <a:endParaRPr lang="ar-SA" sz="1900" dirty="0"/>
          </a:p>
        </p:txBody>
      </p:sp>
      <p:sp>
        <p:nvSpPr>
          <p:cNvPr id="50" name="Text 47"/>
          <p:cNvSpPr txBox="1"/>
          <p:nvPr/>
        </p:nvSpPr>
        <p:spPr>
          <a:xfrm>
            <a:off x="548640" y="5215738"/>
            <a:ext cx="2194560" cy="682142"/>
          </a:xfrm>
          <a:prstGeom prst="rect">
            <a:avLst/>
          </a:prstGeom>
          <a:noFill/>
          <a:ln/>
        </p:spPr>
        <p:txBody>
          <a:bodyPr wrap="square" lIns="0" tIns="0" rIns="0" bIns="0" rtlCol="0" anchor="ctr"/>
          <a:lstStyle/>
          <a:p>
            <a:pPr rtl="1" algn="ctr" indent="0" marL="0">
              <a:buNone/>
            </a:pPr>
            <a:r>
              <a:rPr lang="ar-SA" altLang="en-US" sz="1900" b="1" dirty="0">
                <a:solidFill>
                  <a:srgbClr val="7B3FA0"/>
                </a:solidFill>
                <a:latin typeface="Amiri" pitchFamily="2" charset="-78"/>
                <a:cs typeface="Amiri" pitchFamily="2" charset="-78"/>
              </a:rPr>
              <a:t>يَجِبُ أَلَّا</a:t>
            </a:r>
            <a:endParaRPr lang="ar-SA" sz="19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1: an tubāʿu ✗ → an tubāʿa ✓. Website teaching point: “the subjunctive at its widest reach”.</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TWO AN IN ONE SENTENCE (WEBSITE RULE 2, MISTAKE 2 AND READING)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 + an: two verbs in -a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أَنْ … أَنْ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FIRST AN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لَا يَنْبَغِي أَنْ يُبِيحَ</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cs typeface="Amiri" pitchFamily="2" charset="-78"/>
              </a:rPr>
              <a:t>لَا يَنْبَغِي أَنْ يُبِيحَ القَانُونُ …</a:t>
            </a:r>
            <a:endParaRPr lang="ar-SA" sz="25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law should not permit …</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yubīḥ-A (1st -a)</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SECOND AN · DEVELOP</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أَنْ تُرَاقَبَ</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cs typeface="Amiri" pitchFamily="2" charset="-78"/>
              </a:rPr>
              <a:t>… أَنْ تُرَاقَبَ المُحَادَثَاتُ الخَاصَّةُ.</a:t>
            </a:r>
            <a:endParaRPr lang="ar-SA" sz="23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 private conversations to be monitored.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turāqab-A (2nd -a)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4401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DŪNA AN · STRETCH</a:t>
            </a:r>
            <a:endParaRPr lang="en-US" sz="850" dirty="0"/>
          </a:p>
        </p:txBody>
      </p:sp>
      <p:sp>
        <p:nvSpPr>
          <p:cNvPr id="34" name="Text 31"/>
          <p:cNvSpPr txBox="1"/>
          <p:nvPr/>
        </p:nvSpPr>
        <p:spPr>
          <a:xfrm>
            <a:off x="2080260" y="1874520"/>
            <a:ext cx="18760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دُونَ أَنْ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أَنْ تُنَظِّمَ الدُّوَلُ الإِنْتِرْنِتَ دُونَ أَنْ تُصَادِرَ الخُصُوصِيَّةَ.</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that states regulate the internet without seizing privacy.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without + an + -a</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2: after the first an, yubīḥu also takes -a.</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لَا يَنْبَغِي أَنْ يُبِيحَ القَانُونُ</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لَا يَنْبَغِي أَنْ يُبِيحُ القَانُونُ</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3 · REGULATE, RESTRICT, PERMIT, PROHIBIT (WEBSITE TABLE, VOCABULARY AND MISTAKE 3) · DEVELOP</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verbs of control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أَفْعَالُ التَّنْظِيمِ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5925312" y="1810512"/>
            <a:ext cx="5733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7" name="Text 14"/>
          <p:cNvSpPr txBox="1"/>
          <p:nvPr/>
        </p:nvSpPr>
        <p:spPr>
          <a:xfrm>
            <a:off x="409651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Takes</a:t>
            </a:r>
            <a:endParaRPr lang="en-US" sz="1100" dirty="0"/>
          </a:p>
        </p:txBody>
      </p:sp>
      <p:sp>
        <p:nvSpPr>
          <p:cNvPr id="18" name="Text 15"/>
          <p:cNvSpPr txBox="1"/>
          <p:nvPr/>
        </p:nvSpPr>
        <p:spPr>
          <a:xfrm>
            <a:off x="23591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530352" y="1810512"/>
            <a:ext cx="1682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5943600" y="2267712"/>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أَنْ </a:t>
            </a:r>
            <a:pPr rtl="1" algn="ctr" indent="0" marL="0">
              <a:buNone/>
            </a:pPr>
            <a:r>
              <a:rPr lang="ar-SA" altLang="en-US" sz="1700" b="1" dirty="0">
                <a:solidFill>
                  <a:srgbClr val="1D5FBF"/>
                </a:solidFill>
                <a:latin typeface="Amiri" pitchFamily="2" charset="-78"/>
                <a:cs typeface="Amiri" pitchFamily="2" charset="-78"/>
              </a:rPr>
              <a:t>تُنَظِّمَ</a:t>
            </a:r>
            <a:pPr rtl="1" algn="ctr" indent="0" marL="0">
              <a:buNone/>
            </a:pPr>
            <a:r>
              <a:rPr lang="ar-SA" altLang="en-US" sz="1700" b="1" dirty="0">
                <a:solidFill>
                  <a:srgbClr val="1B3B6F"/>
                </a:solidFill>
                <a:latin typeface="Amiri" pitchFamily="2" charset="-78"/>
                <a:cs typeface="Amiri" pitchFamily="2" charset="-78"/>
              </a:rPr>
              <a:t> الدُّوَلُ </a:t>
            </a:r>
            <a:pPr rtl="1" algn="ctr" indent="0" marL="0">
              <a:buNone/>
            </a:pPr>
            <a:r>
              <a:rPr lang="ar-SA" altLang="en-US" sz="1700" b="1" dirty="0">
                <a:solidFill>
                  <a:srgbClr val="1D5FBF"/>
                </a:solidFill>
                <a:latin typeface="Amiri" pitchFamily="2" charset="-78"/>
                <a:cs typeface="Amiri" pitchFamily="2" charset="-78"/>
              </a:rPr>
              <a:t>الإِنْتِرْنِتَ</a:t>
            </a:r>
            <a:endParaRPr lang="ar-SA" sz="1700" dirty="0"/>
          </a:p>
        </p:txBody>
      </p:sp>
      <p:sp>
        <p:nvSpPr>
          <p:cNvPr id="22" name="Text 19"/>
          <p:cNvSpPr txBox="1"/>
          <p:nvPr/>
        </p:nvSpPr>
        <p:spPr>
          <a:xfrm>
            <a:off x="4133088" y="2267712"/>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23" name="Text 20"/>
          <p:cNvSpPr txBox="1"/>
          <p:nvPr/>
        </p:nvSpPr>
        <p:spPr>
          <a:xfrm>
            <a:off x="2395728" y="2267712"/>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regulates</a:t>
            </a:r>
            <a:endParaRPr lang="en-US" sz="1100" dirty="0"/>
          </a:p>
        </p:txBody>
      </p:sp>
      <p:sp>
        <p:nvSpPr>
          <p:cNvPr id="24" name="Text 21"/>
          <p:cNvSpPr txBox="1"/>
          <p:nvPr/>
        </p:nvSpPr>
        <p:spPr>
          <a:xfrm>
            <a:off x="548640" y="2267712"/>
            <a:ext cx="1645920" cy="682142"/>
          </a:xfrm>
          <a:prstGeom prst="rect">
            <a:avLst/>
          </a:prstGeom>
          <a:noFill/>
          <a:ln/>
        </p:spPr>
        <p:txBody>
          <a:bodyPr wrap="square" lIns="0" tIns="0" rIns="0" bIns="0" rtlCol="0" anchor="ctr"/>
          <a:lstStyle/>
          <a:p>
            <a:pPr rtl="1" algn="ctr" indent="0" marL="0">
              <a:buNone/>
            </a:pPr>
            <a:r>
              <a:rPr lang="ar-SA" altLang="en-US" sz="2000" b="1" dirty="0">
                <a:solidFill>
                  <a:srgbClr val="1D5FBF"/>
                </a:solidFill>
                <a:latin typeface="Amiri" pitchFamily="2" charset="-78"/>
                <a:cs typeface="Amiri" pitchFamily="2" charset="-78"/>
              </a:rPr>
              <a:t>يُنَظِّمُ</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5943600" y="3004718"/>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يَجِبُ أَلَّا </a:t>
            </a:r>
            <a:pPr rtl="1" algn="ctr" indent="0" marL="0">
              <a:buNone/>
            </a:pPr>
            <a:r>
              <a:rPr lang="ar-SA" altLang="en-US" sz="1700" b="1" dirty="0">
                <a:solidFill>
                  <a:srgbClr val="D6336C"/>
                </a:solidFill>
                <a:latin typeface="Amiri" pitchFamily="2" charset="-78"/>
                <a:cs typeface="Amiri" pitchFamily="2" charset="-78"/>
              </a:rPr>
              <a:t>تُقَيِّدَ</a:t>
            </a:r>
            <a:pPr rtl="1" algn="ctr" indent="0" marL="0">
              <a:buNone/>
            </a:pPr>
            <a:r>
              <a:rPr lang="ar-SA" altLang="en-US" sz="1700" b="1" dirty="0">
                <a:solidFill>
                  <a:srgbClr val="1B3B6F"/>
                </a:solidFill>
                <a:latin typeface="Amiri" pitchFamily="2" charset="-78"/>
                <a:cs typeface="Amiri" pitchFamily="2" charset="-78"/>
              </a:rPr>
              <a:t> </a:t>
            </a:r>
            <a:pPr rtl="1" algn="ctr" indent="0" marL="0">
              <a:buNone/>
            </a:pPr>
            <a:r>
              <a:rPr lang="ar-SA" altLang="en-US" sz="1700" b="1" dirty="0">
                <a:solidFill>
                  <a:srgbClr val="D6336C"/>
                </a:solidFill>
                <a:latin typeface="Amiri" pitchFamily="2" charset="-78"/>
                <a:cs typeface="Amiri" pitchFamily="2" charset="-78"/>
              </a:rPr>
              <a:t>حُرِّيَّةَ</a:t>
            </a:r>
            <a:pPr rtl="1" algn="ctr" indent="0" marL="0">
              <a:buNone/>
            </a:pPr>
            <a:r>
              <a:rPr lang="ar-SA" altLang="en-US" sz="1700" b="1" dirty="0">
                <a:solidFill>
                  <a:srgbClr val="1B3B6F"/>
                </a:solidFill>
                <a:latin typeface="Amiri" pitchFamily="2" charset="-78"/>
                <a:cs typeface="Amiri" pitchFamily="2" charset="-78"/>
              </a:rPr>
              <a:t> التَّعْبِيرِ</a:t>
            </a:r>
            <a:endParaRPr lang="ar-SA" sz="1700" dirty="0"/>
          </a:p>
        </p:txBody>
      </p:sp>
      <p:sp>
        <p:nvSpPr>
          <p:cNvPr id="29" name="Text 26"/>
          <p:cNvSpPr txBox="1"/>
          <p:nvPr/>
        </p:nvSpPr>
        <p:spPr>
          <a:xfrm>
            <a:off x="4133088" y="300471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a:t>
            </a:r>
            <a:endParaRPr lang="en-US" sz="1100" dirty="0"/>
          </a:p>
        </p:txBody>
      </p:sp>
      <p:sp>
        <p:nvSpPr>
          <p:cNvPr id="30" name="Text 27"/>
          <p:cNvSpPr txBox="1"/>
          <p:nvPr/>
        </p:nvSpPr>
        <p:spPr>
          <a:xfrm>
            <a:off x="2395728" y="300471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restricts</a:t>
            </a:r>
            <a:endParaRPr lang="en-US" sz="1100" dirty="0"/>
          </a:p>
        </p:txBody>
      </p:sp>
      <p:sp>
        <p:nvSpPr>
          <p:cNvPr id="31" name="Text 28"/>
          <p:cNvSpPr txBox="1"/>
          <p:nvPr/>
        </p:nvSpPr>
        <p:spPr>
          <a:xfrm>
            <a:off x="548640" y="3004718"/>
            <a:ext cx="1645920" cy="682142"/>
          </a:xfrm>
          <a:prstGeom prst="rect">
            <a:avLst/>
          </a:prstGeom>
          <a:noFill/>
          <a:ln/>
        </p:spPr>
        <p:txBody>
          <a:bodyPr wrap="square" lIns="0" tIns="0" rIns="0" bIns="0" rtlCol="0" anchor="ctr"/>
          <a:lstStyle/>
          <a:p>
            <a:pPr rtl="1" algn="ctr" indent="0" marL="0">
              <a:buNone/>
            </a:pPr>
            <a:r>
              <a:rPr lang="ar-SA" altLang="en-US" sz="2000" b="1" dirty="0">
                <a:solidFill>
                  <a:srgbClr val="D6336C"/>
                </a:solidFill>
                <a:latin typeface="Amiri" pitchFamily="2" charset="-78"/>
                <a:cs typeface="Amiri" pitchFamily="2" charset="-78"/>
              </a:rPr>
              <a:t>يُقَيِّدُ</a:t>
            </a:r>
            <a:endParaRPr lang="ar-SA" sz="20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5943600" y="3741725"/>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لَا يَنْبَغِي أَنْ </a:t>
            </a:r>
            <a:pPr rtl="1" algn="ctr" indent="0" marL="0">
              <a:buNone/>
            </a:pPr>
            <a:r>
              <a:rPr lang="ar-SA" altLang="en-US" sz="1700" b="1" dirty="0">
                <a:solidFill>
                  <a:srgbClr val="0E7C86"/>
                </a:solidFill>
                <a:latin typeface="Amiri" pitchFamily="2" charset="-78"/>
                <a:cs typeface="Amiri" pitchFamily="2" charset="-78"/>
              </a:rPr>
              <a:t>يُبِيحَ</a:t>
            </a:r>
            <a:pPr rtl="1" algn="ctr" indent="0" marL="0">
              <a:buNone/>
            </a:pPr>
            <a:r>
              <a:rPr lang="ar-SA" altLang="en-US" sz="1700" b="1" dirty="0">
                <a:solidFill>
                  <a:srgbClr val="1B3B6F"/>
                </a:solidFill>
                <a:latin typeface="Amiri" pitchFamily="2" charset="-78"/>
                <a:cs typeface="Amiri" pitchFamily="2" charset="-78"/>
              </a:rPr>
              <a:t> القَانُونُ </a:t>
            </a:r>
            <a:pPr rtl="1" algn="ctr" indent="0" marL="0">
              <a:buNone/>
            </a:pPr>
            <a:r>
              <a:rPr lang="ar-SA" altLang="en-US" sz="1700" b="1" dirty="0">
                <a:solidFill>
                  <a:srgbClr val="0E7C86"/>
                </a:solidFill>
                <a:latin typeface="Amiri" pitchFamily="2" charset="-78"/>
                <a:cs typeface="Amiri" pitchFamily="2" charset="-78"/>
              </a:rPr>
              <a:t>بَيْعَ</a:t>
            </a:r>
            <a:pPr rtl="1" algn="ctr" indent="0" marL="0">
              <a:buNone/>
            </a:pPr>
            <a:r>
              <a:rPr lang="ar-SA" altLang="en-US" sz="1700" b="1" dirty="0">
                <a:solidFill>
                  <a:srgbClr val="1B3B6F"/>
                </a:solidFill>
                <a:latin typeface="Amiri" pitchFamily="2" charset="-78"/>
                <a:cs typeface="Amiri" pitchFamily="2" charset="-78"/>
              </a:rPr>
              <a:t> الخُصُوصِيَّةِ</a:t>
            </a:r>
            <a:endParaRPr lang="ar-SA" sz="1700" dirty="0"/>
          </a:p>
        </p:txBody>
      </p:sp>
      <p:sp>
        <p:nvSpPr>
          <p:cNvPr id="36" name="Text 33"/>
          <p:cNvSpPr txBox="1"/>
          <p:nvPr/>
        </p:nvSpPr>
        <p:spPr>
          <a:xfrm>
            <a:off x="4133088" y="3741725"/>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 / object</a:t>
            </a:r>
            <a:endParaRPr lang="en-US" sz="1100" dirty="0"/>
          </a:p>
        </p:txBody>
      </p:sp>
      <p:sp>
        <p:nvSpPr>
          <p:cNvPr id="37" name="Text 34"/>
          <p:cNvSpPr txBox="1"/>
          <p:nvPr/>
        </p:nvSpPr>
        <p:spPr>
          <a:xfrm>
            <a:off x="2395728" y="3741725"/>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permits</a:t>
            </a:r>
            <a:endParaRPr lang="en-US" sz="1100" dirty="0"/>
          </a:p>
        </p:txBody>
      </p:sp>
      <p:sp>
        <p:nvSpPr>
          <p:cNvPr id="38" name="Text 35"/>
          <p:cNvSpPr txBox="1"/>
          <p:nvPr/>
        </p:nvSpPr>
        <p:spPr>
          <a:xfrm>
            <a:off x="548640" y="3741725"/>
            <a:ext cx="1645920" cy="682142"/>
          </a:xfrm>
          <a:prstGeom prst="rect">
            <a:avLst/>
          </a:prstGeom>
          <a:noFill/>
          <a:ln/>
        </p:spPr>
        <p:txBody>
          <a:bodyPr wrap="square" lIns="0" tIns="0" rIns="0" bIns="0" rtlCol="0" anchor="ctr"/>
          <a:lstStyle/>
          <a:p>
            <a:pPr rtl="1" algn="ctr" indent="0" marL="0">
              <a:buNone/>
            </a:pPr>
            <a:r>
              <a:rPr lang="ar-SA" altLang="en-US" sz="2000" b="1" dirty="0">
                <a:solidFill>
                  <a:srgbClr val="0E7C86"/>
                </a:solidFill>
                <a:latin typeface="Amiri" pitchFamily="2" charset="-78"/>
                <a:cs typeface="Amiri" pitchFamily="2" charset="-78"/>
              </a:rPr>
              <a:t>يُبِيحُ</a:t>
            </a:r>
            <a:endParaRPr lang="ar-SA" sz="20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5943600" y="4478731"/>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يَمْنَعُ التَّشْرِيعُ أَنْ </a:t>
            </a:r>
            <a:pPr rtl="1" algn="ctr" indent="0" marL="0">
              <a:buNone/>
            </a:pPr>
            <a:r>
              <a:rPr lang="ar-SA" altLang="en-US" sz="1700" b="1" dirty="0">
                <a:solidFill>
                  <a:srgbClr val="7B3FA0"/>
                </a:solidFill>
                <a:latin typeface="Amiri" pitchFamily="2" charset="-78"/>
                <a:cs typeface="Amiri" pitchFamily="2" charset="-78"/>
              </a:rPr>
              <a:t>يُرَاقَبَ</a:t>
            </a:r>
            <a:pPr rtl="1" algn="ctr" indent="0" marL="0">
              <a:buNone/>
            </a:pPr>
            <a:r>
              <a:rPr lang="ar-SA" altLang="en-US" sz="1700" b="1" dirty="0">
                <a:solidFill>
                  <a:srgbClr val="1B3B6F"/>
                </a:solidFill>
                <a:latin typeface="Amiri" pitchFamily="2" charset="-78"/>
                <a:cs typeface="Amiri" pitchFamily="2" charset="-78"/>
              </a:rPr>
              <a:t> المُوَاطِنُونَ دُونَ إِذْنٍ</a:t>
            </a:r>
            <a:endParaRPr lang="ar-SA" sz="1700" dirty="0"/>
          </a:p>
        </p:txBody>
      </p:sp>
      <p:sp>
        <p:nvSpPr>
          <p:cNvPr id="41" name="Text 38"/>
          <p:cNvSpPr txBox="1"/>
          <p:nvPr/>
        </p:nvSpPr>
        <p:spPr>
          <a:xfrm>
            <a:off x="4133088" y="4478731"/>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 -a</a:t>
            </a:r>
            <a:endParaRPr lang="en-US" sz="1100" dirty="0"/>
          </a:p>
        </p:txBody>
      </p:sp>
      <p:sp>
        <p:nvSpPr>
          <p:cNvPr id="42" name="Text 39"/>
          <p:cNvSpPr txBox="1"/>
          <p:nvPr/>
        </p:nvSpPr>
        <p:spPr>
          <a:xfrm>
            <a:off x="2395728" y="4478731"/>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prohibits</a:t>
            </a:r>
            <a:endParaRPr lang="en-US" sz="1100" dirty="0"/>
          </a:p>
        </p:txBody>
      </p:sp>
      <p:sp>
        <p:nvSpPr>
          <p:cNvPr id="43" name="Text 40"/>
          <p:cNvSpPr txBox="1"/>
          <p:nvPr/>
        </p:nvSpPr>
        <p:spPr>
          <a:xfrm>
            <a:off x="548640" y="4478731"/>
            <a:ext cx="1645920" cy="682142"/>
          </a:xfrm>
          <a:prstGeom prst="rect">
            <a:avLst/>
          </a:prstGeom>
          <a:noFill/>
          <a:ln/>
        </p:spPr>
        <p:txBody>
          <a:bodyPr wrap="square" lIns="0" tIns="0" rIns="0" bIns="0" rtlCol="0" anchor="ctr"/>
          <a:lstStyle/>
          <a:p>
            <a:pPr rtl="1" algn="ctr" indent="0" marL="0">
              <a:buNone/>
            </a:pPr>
            <a:r>
              <a:rPr lang="ar-SA" altLang="en-US" sz="2000" b="1" dirty="0">
                <a:solidFill>
                  <a:srgbClr val="7B3FA0"/>
                </a:solidFill>
                <a:latin typeface="Amiri" pitchFamily="2" charset="-78"/>
                <a:cs typeface="Amiri" pitchFamily="2" charset="-78"/>
              </a:rPr>
              <a:t>يَمْنَعُ</a:t>
            </a:r>
            <a:endParaRPr lang="ar-SA" sz="20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5943600" y="5215738"/>
            <a:ext cx="5696712"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يُعِيدُ الذَّكَاءُ الاصْطِنَاعِيُّ </a:t>
            </a:r>
            <a:pPr rtl="1" algn="ctr" indent="0" marL="0">
              <a:buNone/>
            </a:pPr>
            <a:r>
              <a:rPr lang="ar-SA" altLang="en-US" sz="1700" b="1" dirty="0">
                <a:solidFill>
                  <a:srgbClr val="C77700"/>
                </a:solidFill>
                <a:latin typeface="Amiri" pitchFamily="2" charset="-78"/>
                <a:cs typeface="Amiri" pitchFamily="2" charset="-78"/>
              </a:rPr>
              <a:t>تَشْكِيلَ</a:t>
            </a:r>
            <a:pPr rtl="1" algn="ctr" indent="0" marL="0">
              <a:buNone/>
            </a:pPr>
            <a:r>
              <a:rPr lang="ar-SA" altLang="en-US" sz="1700" b="1" dirty="0">
                <a:solidFill>
                  <a:srgbClr val="1B3B6F"/>
                </a:solidFill>
                <a:latin typeface="Amiri" pitchFamily="2" charset="-78"/>
                <a:cs typeface="Amiri" pitchFamily="2" charset="-78"/>
              </a:rPr>
              <a:t> سُوقِ العَمَلِ</a:t>
            </a:r>
            <a:endParaRPr lang="ar-SA" sz="1700" dirty="0"/>
          </a:p>
        </p:txBody>
      </p:sp>
      <p:sp>
        <p:nvSpPr>
          <p:cNvPr id="46" name="Text 43"/>
          <p:cNvSpPr txBox="1"/>
          <p:nvPr/>
        </p:nvSpPr>
        <p:spPr>
          <a:xfrm>
            <a:off x="4133088" y="5215738"/>
            <a:ext cx="16459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object (-a)</a:t>
            </a:r>
            <a:endParaRPr lang="en-US" sz="1100" dirty="0"/>
          </a:p>
        </p:txBody>
      </p:sp>
      <p:sp>
        <p:nvSpPr>
          <p:cNvPr id="47" name="Text 44"/>
          <p:cNvSpPr txBox="1"/>
          <p:nvPr/>
        </p:nvSpPr>
        <p:spPr>
          <a:xfrm>
            <a:off x="2395728" y="5215738"/>
            <a:ext cx="15544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redoes</a:t>
            </a:r>
            <a:endParaRPr lang="en-US" sz="1100" dirty="0"/>
          </a:p>
        </p:txBody>
      </p:sp>
      <p:sp>
        <p:nvSpPr>
          <p:cNvPr id="48" name="Text 45"/>
          <p:cNvSpPr txBox="1"/>
          <p:nvPr/>
        </p:nvSpPr>
        <p:spPr>
          <a:xfrm>
            <a:off x="548640" y="5215738"/>
            <a:ext cx="1645920" cy="682142"/>
          </a:xfrm>
          <a:prstGeom prst="rect">
            <a:avLst/>
          </a:prstGeom>
          <a:noFill/>
          <a:ln/>
        </p:spPr>
        <p:txBody>
          <a:bodyPr wrap="square" lIns="0" tIns="0" rIns="0" bIns="0" rtlCol="0" anchor="ctr"/>
          <a:lstStyle/>
          <a:p>
            <a:pPr rtl="1" algn="ctr" indent="0" marL="0">
              <a:buNone/>
            </a:pPr>
            <a:r>
              <a:rPr lang="ar-SA" altLang="en-US" sz="2000" b="1" dirty="0">
                <a:solidFill>
                  <a:srgbClr val="C77700"/>
                </a:solidFill>
                <a:latin typeface="Amiri" pitchFamily="2" charset="-78"/>
                <a:cs typeface="Amiri" pitchFamily="2" charset="-78"/>
              </a:rPr>
              <a:t>يُعِيدُ</a:t>
            </a:r>
            <a:endParaRPr lang="ar-SA" sz="20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mistake 3: yuʿīdu … tashkīlu ✗ → tashkīla ✓ — the object of a verb takes -a too (accusative).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4 · 2028 WORDS IN A SOCIAL FRAME + THE BALANCE (WEBSITE RULES 3–4, TEACHING POINT 2 AND TEXTS)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Opportunity, risk — and what could be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الفُرْصَةُ وَالخَطَرُ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91472" y="1810512"/>
            <a:ext cx="21671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Range</a:t>
            </a:r>
            <a:endParaRPr lang="en-US" sz="1100" dirty="0"/>
          </a:p>
        </p:txBody>
      </p:sp>
      <p:sp>
        <p:nvSpPr>
          <p:cNvPr id="17" name="Text 14"/>
          <p:cNvSpPr txBox="1"/>
          <p:nvPr/>
        </p:nvSpPr>
        <p:spPr>
          <a:xfrm>
            <a:off x="2724912" y="1810512"/>
            <a:ext cx="6620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 texts)</a:t>
            </a:r>
            <a:endParaRPr lang="en-US" sz="1100" dirty="0"/>
          </a:p>
        </p:txBody>
      </p:sp>
      <p:sp>
        <p:nvSpPr>
          <p:cNvPr id="18" name="Text 15"/>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Tool</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528048" y="2267712"/>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AI → jobs</a:t>
            </a:r>
            <a:endParaRPr lang="en-US" sz="1100" dirty="0"/>
          </a:p>
        </p:txBody>
      </p:sp>
      <p:sp>
        <p:nvSpPr>
          <p:cNvPr id="21" name="Text 18"/>
          <p:cNvSpPr txBox="1"/>
          <p:nvPr/>
        </p:nvSpPr>
        <p:spPr>
          <a:xfrm>
            <a:off x="2743200" y="2267712"/>
            <a:ext cx="6583680"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cs typeface="Amiri" pitchFamily="2" charset="-78"/>
              </a:rPr>
              <a:t>الذَّكَاءُ الاصْطِنَاعِيُّ</a:t>
            </a:r>
            <a:pPr rtl="1" algn="ctr" indent="0" marL="0">
              <a:buNone/>
            </a:pPr>
            <a:r>
              <a:rPr lang="ar-SA" altLang="en-US" sz="1700" b="1" dirty="0">
                <a:solidFill>
                  <a:srgbClr val="1B3B6F"/>
                </a:solidFill>
                <a:latin typeface="Amiri" pitchFamily="2" charset="-78"/>
                <a:cs typeface="Amiri" pitchFamily="2" charset="-78"/>
              </a:rPr>
              <a:t> يُعِيدُ تَشْكِيلَ اقْتِصَادَاتِ العَالَمِ العَرَبِيِّ</a:t>
            </a:r>
            <a:endParaRPr lang="ar-SA" sz="1700" dirty="0"/>
          </a:p>
        </p:txBody>
      </p:sp>
      <p:sp>
        <p:nvSpPr>
          <p:cNvPr id="22" name="Text 19"/>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2028 word · society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9528048" y="300471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password → rights</a:t>
            </a:r>
            <a:endParaRPr lang="en-US" sz="1100" dirty="0"/>
          </a:p>
        </p:txBody>
      </p:sp>
      <p:sp>
        <p:nvSpPr>
          <p:cNvPr id="27" name="Text 24"/>
          <p:cNvSpPr txBox="1"/>
          <p:nvPr/>
        </p:nvSpPr>
        <p:spPr>
          <a:xfrm>
            <a:off x="2743200" y="3004718"/>
            <a:ext cx="65836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حِمَايَةُ </a:t>
            </a:r>
            <a:pPr rtl="1" algn="ctr" indent="0" marL="0">
              <a:buNone/>
            </a:pPr>
            <a:r>
              <a:rPr lang="ar-SA" altLang="en-US" sz="1700" b="1" dirty="0">
                <a:solidFill>
                  <a:srgbClr val="C77700"/>
                </a:solidFill>
                <a:latin typeface="Amiri" pitchFamily="2" charset="-78"/>
                <a:cs typeface="Amiri" pitchFamily="2" charset="-78"/>
              </a:rPr>
              <a:t>كَلِمَةِ المُرُورِ</a:t>
            </a:r>
            <a:pPr rtl="1" algn="ctr" indent="0" marL="0">
              <a:buNone/>
            </a:pPr>
            <a:r>
              <a:rPr lang="ar-SA" altLang="en-US" sz="1700" b="1" dirty="0">
                <a:solidFill>
                  <a:srgbClr val="1B3B6F"/>
                </a:solidFill>
                <a:latin typeface="Amiri" pitchFamily="2" charset="-78"/>
                <a:cs typeface="Amiri" pitchFamily="2" charset="-78"/>
              </a:rPr>
              <a:t> مِنْ أَوْلَوِيَّاتِ الخُصُوصِيَّةِ</a:t>
            </a:r>
            <a:endParaRPr lang="ar-SA" sz="1700" dirty="0"/>
          </a:p>
        </p:txBody>
      </p:sp>
      <p:sp>
        <p:nvSpPr>
          <p:cNvPr id="28" name="Text 25"/>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2028 word · privacy</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9528048" y="3741725"/>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learning → inequality</a:t>
            </a:r>
            <a:endParaRPr lang="en-US" sz="1100" dirty="0"/>
          </a:p>
        </p:txBody>
      </p:sp>
      <p:sp>
        <p:nvSpPr>
          <p:cNvPr id="31" name="Text 28"/>
          <p:cNvSpPr txBox="1"/>
          <p:nvPr/>
        </p:nvSpPr>
        <p:spPr>
          <a:xfrm>
            <a:off x="2743200" y="3741725"/>
            <a:ext cx="6583680" cy="682142"/>
          </a:xfrm>
          <a:prstGeom prst="rect">
            <a:avLst/>
          </a:prstGeom>
          <a:noFill/>
          <a:ln/>
        </p:spPr>
        <p:txBody>
          <a:bodyPr wrap="square" lIns="0" tIns="0" rIns="0" bIns="0" rtlCol="0" anchor="ctr"/>
          <a:lstStyle/>
          <a:p>
            <a:pPr rtl="1" algn="ctr" indent="0" marL="0">
              <a:buNone/>
            </a:pPr>
            <a:r>
              <a:rPr lang="ar-SA" altLang="en-US" sz="1700" b="1" dirty="0">
                <a:solidFill>
                  <a:srgbClr val="C77700"/>
                </a:solidFill>
                <a:latin typeface="Amiri" pitchFamily="2" charset="-78"/>
                <a:cs typeface="Amiri" pitchFamily="2" charset="-78"/>
              </a:rPr>
              <a:t>التَّعَلُّمُ عَنْ بُعْدٍ</a:t>
            </a:r>
            <a:pPr rtl="1" algn="ctr" indent="0" marL="0">
              <a:buNone/>
            </a:pPr>
            <a:r>
              <a:rPr lang="ar-SA" altLang="en-US" sz="1700" b="1" dirty="0">
                <a:solidFill>
                  <a:srgbClr val="1B3B6F"/>
                </a:solidFill>
                <a:latin typeface="Amiri" pitchFamily="2" charset="-78"/>
                <a:cs typeface="Amiri" pitchFamily="2" charset="-78"/>
              </a:rPr>
              <a:t> … غَيْرَ أَنَّ الفَجْوَةَ الرَّقْمِيَّةَ بَاتَتْ …</a:t>
            </a:r>
            <a:endParaRPr lang="ar-SA" sz="1700" dirty="0"/>
          </a:p>
        </p:txBody>
      </p:sp>
      <p:sp>
        <p:nvSpPr>
          <p:cNvPr id="32" name="Text 29"/>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2028 word · divide</a:t>
            </a:r>
            <a:endParaRPr lang="en-US" sz="1100" dirty="0"/>
          </a:p>
        </p:txBody>
      </p:sp>
      <p:sp>
        <p:nvSpPr>
          <p:cNvPr id="33" name="Shape 3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4" name="Text 31"/>
          <p:cNvSpPr txBox="1"/>
          <p:nvPr/>
        </p:nvSpPr>
        <p:spPr>
          <a:xfrm>
            <a:off x="9528048" y="4478731"/>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ghayra anna-hā</a:t>
            </a:r>
            <a:endParaRPr lang="en-US" sz="1100" dirty="0"/>
          </a:p>
        </p:txBody>
      </p:sp>
      <p:sp>
        <p:nvSpPr>
          <p:cNvPr id="35" name="Text 32"/>
          <p:cNvSpPr txBox="1"/>
          <p:nvPr/>
        </p:nvSpPr>
        <p:spPr>
          <a:xfrm>
            <a:off x="2743200" y="4478731"/>
            <a:ext cx="6583680" cy="682142"/>
          </a:xfrm>
          <a:prstGeom prst="rect">
            <a:avLst/>
          </a:prstGeom>
          <a:noFill/>
          <a:ln/>
        </p:spPr>
        <p:txBody>
          <a:bodyPr wrap="square" lIns="0" tIns="0" rIns="0" bIns="0" rtlCol="0" anchor="ctr"/>
          <a:lstStyle/>
          <a:p>
            <a:pPr rtl="1" algn="ctr" indent="0" marL="0">
              <a:buNone/>
            </a:pPr>
            <a:r>
              <a:rPr lang="ar-SA" altLang="en-US" sz="1700" b="1" dirty="0">
                <a:solidFill>
                  <a:srgbClr val="1D5FBF"/>
                </a:solidFill>
                <a:latin typeface="Amiri" pitchFamily="2" charset="-78"/>
                <a:cs typeface="Amiri" pitchFamily="2" charset="-78"/>
              </a:rPr>
              <a:t>صَحِيحٌ أَنَّ</a:t>
            </a:r>
            <a:pPr rtl="1" algn="ctr" indent="0" marL="0">
              <a:buNone/>
            </a:pPr>
            <a:r>
              <a:rPr lang="ar-SA" altLang="en-US" sz="1700" b="1" dirty="0">
                <a:solidFill>
                  <a:srgbClr val="1B3B6F"/>
                </a:solidFill>
                <a:latin typeface="Amiri" pitchFamily="2" charset="-78"/>
                <a:cs typeface="Amiri" pitchFamily="2" charset="-78"/>
              </a:rPr>
              <a:t> التِّقْنِيَّةَ تُوَفِّرُ فُرَصًا، </a:t>
            </a:r>
            <a:pPr rtl="1" algn="ctr" indent="0" marL="0">
              <a:buNone/>
            </a:pPr>
            <a:r>
              <a:rPr lang="ar-SA" altLang="en-US" sz="1700" b="1" dirty="0">
                <a:solidFill>
                  <a:srgbClr val="D6336C"/>
                </a:solidFill>
                <a:latin typeface="Amiri" pitchFamily="2" charset="-78"/>
                <a:cs typeface="Amiri" pitchFamily="2" charset="-78"/>
              </a:rPr>
              <a:t>غَيْرَ أَنَّهَا</a:t>
            </a:r>
            <a:pPr rtl="1" algn="ctr" indent="0" marL="0">
              <a:buNone/>
            </a:pPr>
            <a:r>
              <a:rPr lang="ar-SA" altLang="en-US" sz="1700" b="1" dirty="0">
                <a:solidFill>
                  <a:srgbClr val="1B3B6F"/>
                </a:solidFill>
                <a:latin typeface="Amiri" pitchFamily="2" charset="-78"/>
                <a:cs typeface="Amiri" pitchFamily="2" charset="-78"/>
              </a:rPr>
              <a:t> تُثِيرُ مَخَاطِرَ المُرَاقَبَةِ</a:t>
            </a:r>
            <a:endParaRPr lang="ar-SA" sz="1700" dirty="0"/>
          </a:p>
        </p:txBody>
      </p:sp>
      <p:sp>
        <p:nvSpPr>
          <p:cNvPr id="36" name="Text 33"/>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balance</a:t>
            </a:r>
            <a:endParaRPr lang="en-US" sz="1100" dirty="0"/>
          </a:p>
        </p:txBody>
      </p:sp>
      <p:sp>
        <p:nvSpPr>
          <p:cNvPr id="37" name="Shape 34"/>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9528048" y="5215738"/>
            <a:ext cx="21305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akthar + tamyīz</a:t>
            </a:r>
            <a:endParaRPr lang="en-US" sz="1100" dirty="0"/>
          </a:p>
        </p:txBody>
      </p:sp>
      <p:sp>
        <p:nvSpPr>
          <p:cNvPr id="41" name="Text 38"/>
          <p:cNvSpPr txBox="1"/>
          <p:nvPr/>
        </p:nvSpPr>
        <p:spPr>
          <a:xfrm>
            <a:off x="2743200" y="5215738"/>
            <a:ext cx="6583680" cy="682142"/>
          </a:xfrm>
          <a:prstGeom prst="rect">
            <a:avLst/>
          </a:prstGeom>
          <a:noFill/>
          <a:ln/>
        </p:spPr>
        <p:txBody>
          <a:bodyPr wrap="square" lIns="0" tIns="0" rIns="0" bIns="0" rtlCol="0" anchor="ctr"/>
          <a:lstStyle/>
          <a:p>
            <a:pPr rtl="1" algn="ctr" indent="0" marL="0">
              <a:buNone/>
            </a:pPr>
            <a:r>
              <a:rPr lang="ar-SA" altLang="en-US" sz="1700" b="1" dirty="0">
                <a:solidFill>
                  <a:srgbClr val="7B3FA0"/>
                </a:solidFill>
                <a:latin typeface="Amiri" pitchFamily="2" charset="-78"/>
                <a:cs typeface="Amiri" pitchFamily="2" charset="-78"/>
              </a:rPr>
              <a:t>لَوْ</a:t>
            </a:r>
            <a:pPr rtl="1" algn="ctr" indent="0" marL="0">
              <a:buNone/>
            </a:pPr>
            <a:r>
              <a:rPr lang="ar-SA" altLang="en-US" sz="1700" b="1" dirty="0">
                <a:solidFill>
                  <a:srgbClr val="1B3B6F"/>
                </a:solidFill>
                <a:latin typeface="Amiri" pitchFamily="2" charset="-78"/>
                <a:cs typeface="Amiri" pitchFamily="2" charset="-78"/>
              </a:rPr>
              <a:t> كَانَتِ الحَوْكَمَةُ أَكْثَرَ تَطَوُّرًا، </a:t>
            </a:r>
            <a:pPr rtl="1" algn="ctr" indent="0" marL="0">
              <a:buNone/>
            </a:pPr>
            <a:r>
              <a:rPr lang="ar-SA" altLang="en-US" sz="1700" b="1" dirty="0">
                <a:solidFill>
                  <a:srgbClr val="7B3FA0"/>
                </a:solidFill>
                <a:latin typeface="Amiri" pitchFamily="2" charset="-78"/>
                <a:cs typeface="Amiri" pitchFamily="2" charset="-78"/>
              </a:rPr>
              <a:t>لَكَانَتْ</a:t>
            </a:r>
            <a:pPr rtl="1" algn="ctr" indent="0" marL="0">
              <a:buNone/>
            </a:pPr>
            <a:r>
              <a:rPr lang="ar-SA" altLang="en-US" sz="1700" b="1" dirty="0">
                <a:solidFill>
                  <a:srgbClr val="1B3B6F"/>
                </a:solidFill>
                <a:latin typeface="Amiri" pitchFamily="2" charset="-78"/>
                <a:cs typeface="Amiri" pitchFamily="2" charset="-78"/>
              </a:rPr>
              <a:t> خُصُوصِيَّةُ المُوَاطِنِ أَكْثَرَ أَمَانًا</a:t>
            </a:r>
            <a:endParaRPr lang="ar-SA" sz="1700" dirty="0"/>
          </a:p>
        </p:txBody>
      </p:sp>
      <p:sp>
        <p:nvSpPr>
          <p:cNvPr id="42" name="Text 39"/>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2</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teaching point: cross-context reuse of the designated words is exactly what is rewarded.</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Extended subjunctive: prohibition and permission</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750" b="1" dirty="0">
                <a:solidFill>
                  <a:srgbClr val="8A6D1E"/>
                </a:solidFill>
                <a:latin typeface="Amiri" pitchFamily="2" charset="-78"/>
                <a:cs typeface="Amiri" pitchFamily="2" charset="-78"/>
              </a:rPr>
              <a:t>المَنْصُوبُ المُوَسَّعُ: المَنْعُ وَالإِبَاحَةُ</a:t>
            </a:r>
            <a:endParaRPr lang="ar-SA" sz="27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Prohibition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yamnaʿu an + verb in -a</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يَمْنَعُ القَانُونُ أَنْ تُبَاعَ البَيَانَاتُ الشَّخْصِيَّةُ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Permission</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yubīḥu an + verb in -a</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لَا يَنْبَغِي أَنْ يُبِيحَ القَانُونُ أَنْ تُرَاقَبَ المُحَادَثَاتُ الخَاصَّةُ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Balance opportunity and risk</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ṣaḥīḥun anna … ghayra anna …</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صَحِيحٌ أَنَّ التِّقْنِيَّةَ تُوَفِّرُ فُرَصًا، غَيْرَ أَنَّهَا تُثِيرُ مَخَاطِرَ المُرَاقَبَةِ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2028 words in a social frame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al-dhakāʾ al-iṣṭināʿī · kalimat al-murūr</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يُعِيدُ الذَّكَاءُ الاصْطِنَاعِيُّ تَشْكِيلَ سُوقِ العَمَلِ</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prohibition?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يُبِيحُ 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يَدْعُو إِلَى 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يَمْنَعُ أَنْ</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permission?</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يُبِيحُ أَنْ</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يَمْنَعُ أَنْ</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يُصِرُّ عَلَى أَنْ</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both triggers?</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indicative verb</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subjunctive verb (final fatḥa)</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past verb</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8" name="Text 55"/>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يَمْنَعُ القَانُونُ أَنْ ___ البَيَانَاتُ الشَّخْصِيَّةُ.</a:t>
            </a:r>
            <a:endParaRPr lang="ar-SA" sz="13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تُبَاعَ</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تُبَاعُ</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تُبَاعْ</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prohibition?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يُبِيحُ أَنْ</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يَدْعُو إِلَى أَنْ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يَمْنَعُ أَنْ</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يَمْنَعُ أَنْ</a:t>
            </a:r>
            <a:pPr algn="l" indent="0" marL="0">
              <a:buNone/>
            </a:pPr>
            <a:r>
              <a:rPr lang="en-US" sz="1050" i="1" dirty="0">
                <a:solidFill>
                  <a:srgbClr val="8A6D1E"/>
                </a:solidFill>
                <a:latin typeface="Calibri" pitchFamily="34" charset="0"/>
                <a:cs typeface="Amiri" pitchFamily="2" charset="-78"/>
              </a:rPr>
              <a:t> states a prohibition.</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permission?</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يُبِيحُ أَنْ</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يَمْنَعُ أَنْ</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يُصِرُّ عَلَى أَنْ</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يُبِيحُ أَنْ</a:t>
            </a:r>
            <a:pPr algn="l" indent="0" marL="0">
              <a:buNone/>
            </a:pPr>
            <a:r>
              <a:rPr lang="en-US" sz="1050" i="1" dirty="0">
                <a:solidFill>
                  <a:srgbClr val="8A6D1E"/>
                </a:solidFill>
                <a:latin typeface="Calibri" pitchFamily="34" charset="0"/>
                <a:cs typeface="Amiri" pitchFamily="2" charset="-78"/>
              </a:rPr>
              <a:t> states a permission.</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follows both triggers?</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indicative verb</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subjunctive verb (final fatḥa)</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past verb</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triggers take a subjunctive verb.</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64" name="Text 61"/>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350" b="1" dirty="0">
                <a:solidFill>
                  <a:srgbClr val="1F2A37"/>
                </a:solidFill>
                <a:latin typeface="Amiri" pitchFamily="2" charset="-78"/>
                <a:cs typeface="Amiri" pitchFamily="2" charset="-78"/>
              </a:rPr>
              <a:t>يَمْنَعُ القَانُونُ أَنْ ___ البَيَانَاتُ الشَّخْصِيَّةُ.</a:t>
            </a:r>
            <a:endParaRPr lang="ar-SA" sz="13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تُبَاعَ</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تُبَاعُ</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تُبَاعْ</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passive verb is subjunctive: </a:t>
            </a:r>
            <a:pPr algn="l" indent="0" marL="0">
              <a:buNone/>
            </a:pPr>
            <a:r>
              <a:rPr lang="ar-SA" altLang="en-US" sz="1350" dirty="0">
                <a:solidFill>
                  <a:srgbClr val="8A6D1E"/>
                </a:solidFill>
                <a:latin typeface="Amiri" pitchFamily="2" charset="-78"/>
                <a:cs typeface="Amiri" pitchFamily="2" charset="-78"/>
              </a:rPr>
              <a:t>تُبَاعَ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Watch me write a digital-society analysis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2028 word</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C77700"/>
                </a:solidFill>
                <a:latin typeface="Amiri" pitchFamily="2" charset="-78"/>
                <a:cs typeface="Amiri" pitchFamily="2" charset="-78"/>
              </a:rPr>
              <a:t>الذَّكَاءُ الاصْطِنَاعِيُّ</a:t>
            </a:r>
            <a:pPr rtl="1" algn="ctr" indent="0" marL="0">
              <a:lnSpc>
                <a:spcPct val="120000"/>
              </a:lnSpc>
              <a:buNone/>
            </a:pPr>
            <a:r>
              <a:rPr lang="ar-SA" altLang="en-US" sz="1750" b="1" dirty="0">
                <a:solidFill>
                  <a:srgbClr val="1B3B6F"/>
                </a:solidFill>
                <a:latin typeface="Amiri" pitchFamily="2" charset="-78"/>
                <a:cs typeface="Amiri" pitchFamily="2" charset="-78"/>
              </a:rPr>
              <a:t> يُعِيدُ تَشْكِيلَ …</a:t>
            </a:r>
            <a:endParaRPr lang="ar-SA" sz="17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Social frame.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Balance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cs typeface="Amiri" pitchFamily="2" charset="-78"/>
              </a:rPr>
              <a:t>صَحِيحٌ أَنَّ</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1D5FBF"/>
                </a:solidFill>
                <a:latin typeface="Amiri" pitchFamily="2" charset="-78"/>
                <a:cs typeface="Amiri" pitchFamily="2" charset="-78"/>
              </a:rPr>
              <a:t>غَيْرَ أَنَّهَا</a:t>
            </a:r>
            <a:pPr rtl="1" algn="ctr" indent="0" marL="0">
              <a:buNone/>
            </a:pPr>
            <a:r>
              <a:rPr lang="ar-SA" altLang="en-US" sz="2400" b="1" dirty="0">
                <a:solidFill>
                  <a:srgbClr val="1B3B6F"/>
                </a:solidFill>
                <a:latin typeface="Amiri" pitchFamily="2" charset="-78"/>
                <a:cs typeface="Amiri" pitchFamily="2" charset="-78"/>
              </a:rPr>
              <a:t> …</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Fair, then firm.</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Prohibit / permit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cs typeface="Amiri" pitchFamily="2" charset="-78"/>
              </a:rPr>
              <a:t>أَنْ </a:t>
            </a:r>
            <a:pPr rtl="1" algn="ctr" indent="0" marL="0">
              <a:buNone/>
            </a:pPr>
            <a:r>
              <a:rPr lang="ar-SA" altLang="en-US" sz="2700" b="1" dirty="0">
                <a:solidFill>
                  <a:srgbClr val="D6336C"/>
                </a:solidFill>
                <a:latin typeface="Amiri" pitchFamily="2" charset="-78"/>
                <a:cs typeface="Amiri" pitchFamily="2" charset="-78"/>
              </a:rPr>
              <a:t>تُبَاعَ</a:t>
            </a:r>
            <a:pPr rtl="1" algn="ctr" indent="0" marL="0">
              <a:buNone/>
            </a:pPr>
            <a:r>
              <a:rPr lang="ar-SA" altLang="en-US" sz="2700" b="1" dirty="0">
                <a:solidFill>
                  <a:srgbClr val="1B3B6F"/>
                </a:solidFill>
                <a:latin typeface="Amiri" pitchFamily="2" charset="-78"/>
                <a:cs typeface="Amiri" pitchFamily="2" charset="-78"/>
              </a:rPr>
              <a:t> · أَنْ </a:t>
            </a:r>
            <a:pPr rtl="1" algn="ctr" indent="0" marL="0">
              <a:buNone/>
            </a:pPr>
            <a:r>
              <a:rPr lang="ar-SA" altLang="en-US" sz="2700" b="1" dirty="0">
                <a:solidFill>
                  <a:srgbClr val="0E7C86"/>
                </a:solidFill>
                <a:latin typeface="Amiri" pitchFamily="2" charset="-78"/>
                <a:cs typeface="Amiri" pitchFamily="2" charset="-78"/>
              </a:rPr>
              <a:t>تُرَاقَبَ</a:t>
            </a:r>
            <a:endParaRPr lang="ar-SA" sz="27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Every -a.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Could be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7B3FA0"/>
                </a:solidFill>
                <a:latin typeface="Amiri" pitchFamily="2" charset="-78"/>
                <a:cs typeface="Amiri" pitchFamily="2" charset="-78"/>
              </a:rPr>
              <a:t>لَوْ</a:t>
            </a:r>
            <a:pPr rtl="1" algn="ctr" indent="0" marL="0">
              <a:buNone/>
            </a:pPr>
            <a:r>
              <a:rPr lang="ar-SA" altLang="en-US" sz="2800" b="1" dirty="0">
                <a:solidFill>
                  <a:srgbClr val="1B3B6F"/>
                </a:solidFill>
                <a:latin typeface="Amiri" pitchFamily="2" charset="-78"/>
                <a:cs typeface="Amiri" pitchFamily="2" charset="-78"/>
              </a:rPr>
              <a:t> … </a:t>
            </a:r>
            <a:pPr rtl="1" algn="ctr" indent="0" marL="0">
              <a:buNone/>
            </a:pPr>
            <a:r>
              <a:rPr lang="ar-SA" altLang="en-US" sz="2800" b="1" dirty="0">
                <a:solidFill>
                  <a:srgbClr val="7B3FA0"/>
                </a:solidFill>
                <a:latin typeface="Amiri" pitchFamily="2" charset="-78"/>
                <a:cs typeface="Amiri" pitchFamily="2" charset="-78"/>
              </a:rPr>
              <a:t>لَكَانَتْ</a:t>
            </a:r>
            <a:pPr rtl="1" algn="ctr" indent="0" marL="0">
              <a:buNone/>
            </a:pPr>
            <a:r>
              <a:rPr lang="ar-SA" altLang="en-US" sz="2800" b="1" dirty="0">
                <a:solidFill>
                  <a:srgbClr val="1B3B6F"/>
                </a:solidFill>
                <a:latin typeface="Amiri" pitchFamily="2" charset="-78"/>
                <a:cs typeface="Amiri" pitchFamily="2" charset="-78"/>
              </a:rPr>
              <a:t> …</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Type 2.</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6565392" y="4736592"/>
            <a:ext cx="914400" cy="237744"/>
          </a:xfrm>
          <a:prstGeom prst="roundRect">
            <a:avLst>
              <a:gd name="adj" fmla="val 50000"/>
            </a:avLst>
          </a:prstGeom>
          <a:solidFill>
            <a:srgbClr val="C77700"/>
          </a:solidFill>
          <a:ln w="12700">
            <a:solidFill>
              <a:srgbClr val="C77700"/>
            </a:solidFill>
            <a:prstDash val="solid"/>
          </a:ln>
        </p:spPr>
      </p:sp>
      <p:sp>
        <p:nvSpPr>
          <p:cNvPr id="46" name="Text 42"/>
          <p:cNvSpPr txBox="1"/>
          <p:nvPr/>
        </p:nvSpPr>
        <p:spPr>
          <a:xfrm>
            <a:off x="6565392"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2028 WORD</a:t>
            </a:r>
            <a:endParaRPr lang="en-US" sz="800" dirty="0"/>
          </a:p>
        </p:txBody>
      </p:sp>
      <p:sp>
        <p:nvSpPr>
          <p:cNvPr id="47" name="Shape 43"/>
          <p:cNvSpPr/>
          <p:nvPr/>
        </p:nvSpPr>
        <p:spPr>
          <a:xfrm>
            <a:off x="7552944"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7552944"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BALANCE</a:t>
            </a:r>
            <a:endParaRPr lang="en-US" sz="800" dirty="0"/>
          </a:p>
        </p:txBody>
      </p:sp>
      <p:sp>
        <p:nvSpPr>
          <p:cNvPr id="49" name="Shape 45"/>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50" name="Text 46"/>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PROHIBIT</a:t>
            </a:r>
            <a:endParaRPr lang="en-US" sz="800" dirty="0"/>
          </a:p>
        </p:txBody>
      </p:sp>
      <p:sp>
        <p:nvSpPr>
          <p:cNvPr id="51" name="Shape 47"/>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52" name="Text 48"/>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PERMIT</a:t>
            </a:r>
            <a:endParaRPr lang="en-US" sz="800" dirty="0"/>
          </a:p>
        </p:txBody>
      </p:sp>
      <p:sp>
        <p:nvSpPr>
          <p:cNvPr id="53" name="Shape 49"/>
          <p:cNvSpPr/>
          <p:nvPr/>
        </p:nvSpPr>
        <p:spPr>
          <a:xfrm>
            <a:off x="10515600" y="4736592"/>
            <a:ext cx="914400" cy="237744"/>
          </a:xfrm>
          <a:prstGeom prst="roundRect">
            <a:avLst>
              <a:gd name="adj" fmla="val 50000"/>
            </a:avLst>
          </a:prstGeom>
          <a:solidFill>
            <a:srgbClr val="7B3FA0"/>
          </a:solidFill>
          <a:ln w="12700">
            <a:solidFill>
              <a:srgbClr val="7B3FA0"/>
            </a:solidFill>
            <a:prstDash val="solid"/>
          </a:ln>
        </p:spPr>
      </p:sp>
      <p:sp>
        <p:nvSpPr>
          <p:cNvPr id="54" name="Text 50"/>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TYPE 2</a:t>
            </a:r>
            <a:endParaRPr lang="en-US" sz="800" dirty="0"/>
          </a:p>
        </p:txBody>
      </p:sp>
      <p:sp>
        <p:nvSpPr>
          <p:cNvPr id="55" name="Text 51"/>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يُعِيدُ </a:t>
            </a:r>
            <a:pPr rtl="1" algn="r" indent="0" marL="0">
              <a:lnSpc>
                <a:spcPct val="120000"/>
              </a:lnSpc>
              <a:buNone/>
            </a:pPr>
            <a:r>
              <a:rPr lang="ar-SA" altLang="en-US" sz="1400" b="1" dirty="0">
                <a:solidFill>
                  <a:srgbClr val="C77700"/>
                </a:solidFill>
                <a:latin typeface="Amiri" pitchFamily="2" charset="-78"/>
                <a:cs typeface="Amiri" pitchFamily="2" charset="-78"/>
              </a:rPr>
              <a:t>الذَّكَاءُ الاصْطِنَاعِيُّ</a:t>
            </a:r>
            <a:pPr rtl="1" algn="r" indent="0" marL="0">
              <a:lnSpc>
                <a:spcPct val="120000"/>
              </a:lnSpc>
              <a:buNone/>
            </a:pPr>
            <a:r>
              <a:rPr lang="ar-SA" altLang="en-US" sz="1400" b="1" dirty="0">
                <a:solidFill>
                  <a:srgbClr val="1B3B6F"/>
                </a:solidFill>
                <a:latin typeface="Amiri" pitchFamily="2" charset="-78"/>
                <a:cs typeface="Amiri" pitchFamily="2" charset="-78"/>
              </a:rPr>
              <a:t> تَشْكِيلَ سُوقِ العَمَلِ فِي العَالَمِ العَرَبِيِّ. </a:t>
            </a:r>
            <a:pPr rtl="1" algn="r" indent="0" marL="0">
              <a:lnSpc>
                <a:spcPct val="120000"/>
              </a:lnSpc>
              <a:buNone/>
            </a:pPr>
            <a:r>
              <a:rPr lang="ar-SA" altLang="en-US" sz="1400" b="1" dirty="0">
                <a:solidFill>
                  <a:srgbClr val="1D5FBF"/>
                </a:solidFill>
                <a:latin typeface="Amiri" pitchFamily="2" charset="-78"/>
                <a:cs typeface="Amiri" pitchFamily="2" charset="-78"/>
              </a:rPr>
              <a:t>صَحِيحٌ أَنَّ</a:t>
            </a:r>
            <a:pPr rtl="1" algn="r" indent="0" marL="0">
              <a:lnSpc>
                <a:spcPct val="120000"/>
              </a:lnSpc>
              <a:buNone/>
            </a:pPr>
            <a:r>
              <a:rPr lang="ar-SA" altLang="en-US" sz="1400" b="1" dirty="0">
                <a:solidFill>
                  <a:srgbClr val="1B3B6F"/>
                </a:solidFill>
                <a:latin typeface="Amiri" pitchFamily="2" charset="-78"/>
                <a:cs typeface="Amiri" pitchFamily="2" charset="-78"/>
              </a:rPr>
              <a:t> التِّقْنِيَّةَ تُوَفِّرُ فُرَصًا لِلتَّعْلِيمِ، </a:t>
            </a:r>
            <a:pPr rtl="1" algn="r" indent="0" marL="0">
              <a:lnSpc>
                <a:spcPct val="120000"/>
              </a:lnSpc>
              <a:buNone/>
            </a:pPr>
            <a:r>
              <a:rPr lang="ar-SA" altLang="en-US" sz="1400" b="1" dirty="0">
                <a:solidFill>
                  <a:srgbClr val="1D5FBF"/>
                </a:solidFill>
                <a:latin typeface="Amiri" pitchFamily="2" charset="-78"/>
                <a:cs typeface="Amiri" pitchFamily="2" charset="-78"/>
              </a:rPr>
              <a:t>غَيْرَ أَنَّهَا</a:t>
            </a:r>
            <a:pPr rtl="1" algn="r" indent="0" marL="0">
              <a:lnSpc>
                <a:spcPct val="120000"/>
              </a:lnSpc>
              <a:buNone/>
            </a:pPr>
            <a:r>
              <a:rPr lang="ar-SA" altLang="en-US" sz="1400" b="1" dirty="0">
                <a:solidFill>
                  <a:srgbClr val="1B3B6F"/>
                </a:solidFill>
                <a:latin typeface="Amiri" pitchFamily="2" charset="-78"/>
                <a:cs typeface="Amiri" pitchFamily="2" charset="-78"/>
              </a:rPr>
              <a:t> تُثِيرُ مَخَاطِرَ المُرَاقَبَةِ. تَمْنَعُ قَوَانِينُ حِمَايَةِ البَيَانَاتِ أَنْ </a:t>
            </a:r>
            <a:pPr rtl="1" algn="r" indent="0" marL="0">
              <a:lnSpc>
                <a:spcPct val="120000"/>
              </a:lnSpc>
              <a:buNone/>
            </a:pPr>
            <a:r>
              <a:rPr lang="ar-SA" altLang="en-US" sz="1400" b="1" dirty="0">
                <a:solidFill>
                  <a:srgbClr val="D6336C"/>
                </a:solidFill>
                <a:latin typeface="Amiri" pitchFamily="2" charset="-78"/>
                <a:cs typeface="Amiri" pitchFamily="2" charset="-78"/>
              </a:rPr>
              <a:t>تُبَاعَ</a:t>
            </a:r>
            <a:pPr rtl="1" algn="r" indent="0" marL="0">
              <a:lnSpc>
                <a:spcPct val="120000"/>
              </a:lnSpc>
              <a:buNone/>
            </a:pPr>
            <a:r>
              <a:rPr lang="ar-SA" altLang="en-US" sz="1400" b="1" dirty="0">
                <a:solidFill>
                  <a:srgbClr val="1B3B6F"/>
                </a:solidFill>
                <a:latin typeface="Amiri" pitchFamily="2" charset="-78"/>
                <a:cs typeface="Amiri" pitchFamily="2" charset="-78"/>
              </a:rPr>
              <a:t> مَعْلُومَاتُ المُسْتَخْدِمِينَ، وَلَا يَنْبَغِي أَنْ </a:t>
            </a:r>
            <a:pPr rtl="1" algn="r" indent="0" marL="0">
              <a:lnSpc>
                <a:spcPct val="120000"/>
              </a:lnSpc>
              <a:buNone/>
            </a:pPr>
            <a:r>
              <a:rPr lang="ar-SA" altLang="en-US" sz="1400" b="1" dirty="0">
                <a:solidFill>
                  <a:srgbClr val="0E7C86"/>
                </a:solidFill>
                <a:latin typeface="Amiri" pitchFamily="2" charset="-78"/>
                <a:cs typeface="Amiri" pitchFamily="2" charset="-78"/>
              </a:rPr>
              <a:t>يُبِيحَ</a:t>
            </a:r>
            <a:pPr rtl="1" algn="r" indent="0" marL="0">
              <a:lnSpc>
                <a:spcPct val="120000"/>
              </a:lnSpc>
              <a:buNone/>
            </a:pPr>
            <a:r>
              <a:rPr lang="ar-SA" altLang="en-US" sz="1400" b="1" dirty="0">
                <a:solidFill>
                  <a:srgbClr val="1B3B6F"/>
                </a:solidFill>
                <a:latin typeface="Amiri" pitchFamily="2" charset="-78"/>
                <a:cs typeface="Amiri" pitchFamily="2" charset="-78"/>
              </a:rPr>
              <a:t> القَانُونُ أَنْ </a:t>
            </a:r>
            <a:pPr rtl="1" algn="r" indent="0" marL="0">
              <a:lnSpc>
                <a:spcPct val="120000"/>
              </a:lnSpc>
              <a:buNone/>
            </a:pPr>
            <a:r>
              <a:rPr lang="ar-SA" altLang="en-US" sz="1400" b="1" dirty="0">
                <a:solidFill>
                  <a:srgbClr val="0E7C86"/>
                </a:solidFill>
                <a:latin typeface="Amiri" pitchFamily="2" charset="-78"/>
                <a:cs typeface="Amiri" pitchFamily="2" charset="-78"/>
              </a:rPr>
              <a:t>تُرَاقَبَ</a:t>
            </a:r>
            <a:pPr rtl="1" algn="r" indent="0" marL="0">
              <a:lnSpc>
                <a:spcPct val="120000"/>
              </a:lnSpc>
              <a:buNone/>
            </a:pPr>
            <a:r>
              <a:rPr lang="ar-SA" altLang="en-US" sz="1400" b="1" dirty="0">
                <a:solidFill>
                  <a:srgbClr val="1B3B6F"/>
                </a:solidFill>
                <a:latin typeface="Amiri" pitchFamily="2" charset="-78"/>
                <a:cs typeface="Amiri" pitchFamily="2" charset="-78"/>
              </a:rPr>
              <a:t> المُرَاسَلَاتُ الخَاصَّةُ. </a:t>
            </a:r>
            <a:pPr rtl="1" algn="r" indent="0" marL="0">
              <a:lnSpc>
                <a:spcPct val="120000"/>
              </a:lnSpc>
              <a:buNone/>
            </a:pPr>
            <a:r>
              <a:rPr lang="ar-SA" altLang="en-US" sz="1400" b="1" dirty="0">
                <a:solidFill>
                  <a:srgbClr val="7B3FA0"/>
                </a:solidFill>
                <a:latin typeface="Amiri" pitchFamily="2" charset="-78"/>
                <a:cs typeface="Amiri" pitchFamily="2" charset="-78"/>
              </a:rPr>
              <a:t>وَلَوْ</a:t>
            </a:r>
            <a:pPr rtl="1" algn="r" indent="0" marL="0">
              <a:lnSpc>
                <a:spcPct val="120000"/>
              </a:lnSpc>
              <a:buNone/>
            </a:pPr>
            <a:r>
              <a:rPr lang="ar-SA" altLang="en-US" sz="1400" b="1" dirty="0">
                <a:solidFill>
                  <a:srgbClr val="1B3B6F"/>
                </a:solidFill>
                <a:latin typeface="Amiri" pitchFamily="2" charset="-78"/>
                <a:cs typeface="Amiri" pitchFamily="2" charset="-78"/>
              </a:rPr>
              <a:t> كَانَتِ الحَوْكَمَةُ أَكْثَرَ تَطَوُّرًا، </a:t>
            </a:r>
            <a:pPr rtl="1" algn="r" indent="0" marL="0">
              <a:lnSpc>
                <a:spcPct val="120000"/>
              </a:lnSpc>
              <a:buNone/>
            </a:pPr>
            <a:r>
              <a:rPr lang="ar-SA" altLang="en-US" sz="1400" b="1" dirty="0">
                <a:solidFill>
                  <a:srgbClr val="7B3FA0"/>
                </a:solidFill>
                <a:latin typeface="Amiri" pitchFamily="2" charset="-78"/>
                <a:cs typeface="Amiri" pitchFamily="2" charset="-78"/>
              </a:rPr>
              <a:t>لَكَانَتِ</a:t>
            </a:r>
            <a:pPr rtl="1" algn="r" indent="0" marL="0">
              <a:lnSpc>
                <a:spcPct val="120000"/>
              </a:lnSpc>
              <a:buNone/>
            </a:pPr>
            <a:r>
              <a:rPr lang="ar-SA" altLang="en-US" sz="1400" b="1" dirty="0">
                <a:solidFill>
                  <a:srgbClr val="1B3B6F"/>
                </a:solidFill>
                <a:latin typeface="Amiri" pitchFamily="2" charset="-78"/>
                <a:cs typeface="Amiri" pitchFamily="2" charset="-78"/>
              </a:rPr>
              <a:t> الخُصُوصِيَّةُ أَكْثَرَ أَمَانًا.</a:t>
            </a:r>
            <a:endParaRPr lang="ar-SA" sz="1400" dirty="0"/>
          </a:p>
        </p:txBody>
      </p:sp>
      <p:sp>
        <p:nvSpPr>
          <p:cNvPr id="56" name="Text 52"/>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900" i="1" dirty="0">
                <a:solidFill>
                  <a:srgbClr val="5A6472"/>
                </a:solidFill>
                <a:latin typeface="Calibri" pitchFamily="34" charset="0"/>
                <a:cs typeface="Amiri" pitchFamily="2" charset="-78"/>
              </a:rPr>
              <a:t>Artificial intelligence is reshaping the job market in the Arab world. It is true that technology offers opportunities for education; however, it raises the risk of surveillance. Data-protection laws prohibit users’ information being sold, and the law should not permit private correspondence to be monitored. Had governance been more advanced, privacy would be safer.</a:t>
            </a:r>
            <a:endParaRPr lang="en-US" sz="900" dirty="0"/>
          </a:p>
        </p:txBody>
      </p:sp>
      <p:sp>
        <p:nvSpPr>
          <p:cNvPr id="57"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تَمْنَعُ قَوَانِينُ حِمَايَةِ البَيَانَاتِ أَنْ تُبَاعَ مَعْلُومَاتُ المُسْتَخْدِمِينَ</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data-protection laws prohibit users’ information being sold</a:t>
            </a:r>
            <a:endParaRPr lang="en-US" sz="1250" dirty="0"/>
          </a:p>
          <a:p>
            <a:pPr indent="0" marL="0">
              <a:buNone/>
            </a:pPr>
            <a:r>
              <a:rPr lang="en-US" sz="1050" i="1" dirty="0">
                <a:solidFill>
                  <a:srgbClr val="8A6D1E"/>
                </a:solidFill>
                <a:latin typeface="Calibri" pitchFamily="34" charset="0"/>
                <a:cs typeface="Amiri" pitchFamily="2" charset="-78"/>
              </a:rPr>
              <a:t>Prohibition: yamnaʿu an.</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لَا يَنْبَغِي أَنْ يُبِيحَ القَانُونُ أَنْ تَخْضَعَ المُرَاسَلَاتُ لِلْمُرَاقَبَةِ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law should not permit correspondence to be subject to monitoring</a:t>
            </a:r>
            <a:endParaRPr lang="en-US" sz="1250" dirty="0"/>
          </a:p>
          <a:p>
            <a:pPr indent="0" marL="0">
              <a:buNone/>
            </a:pPr>
            <a:r>
              <a:rPr lang="en-US" sz="1050" i="1" dirty="0">
                <a:solidFill>
                  <a:srgbClr val="8A6D1E"/>
                </a:solidFill>
                <a:latin typeface="Calibri" pitchFamily="34" charset="0"/>
                <a:cs typeface="Amiri" pitchFamily="2" charset="-78"/>
              </a:rPr>
              <a:t>Permission: yubīḥu an.</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lnSpc>
                <a:spcPct val="120000"/>
              </a:lnSpc>
              <a:buNone/>
            </a:pPr>
            <a:r>
              <a:rPr lang="ar-SA" altLang="en-US" sz="2600" b="1" dirty="0">
                <a:solidFill>
                  <a:srgbClr val="1B3B6F"/>
                </a:solidFill>
                <a:latin typeface="Amiri" pitchFamily="2" charset="-78"/>
                <a:cs typeface="Amiri" pitchFamily="2" charset="-78"/>
              </a:rPr>
              <a:t>يُعِيدُ الذَّكَاءُ الاصْطِنَاعِيُّ تَشْكِيلَ سُوقِ العَمَلِ فِي العَالَمِ العَرَبِيِّ</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artificial intelligence is reshaping the job market in the Arab world</a:t>
            </a:r>
            <a:endParaRPr lang="en-US" sz="1250" dirty="0"/>
          </a:p>
          <a:p>
            <a:pPr indent="0" marL="0">
              <a:buNone/>
            </a:pPr>
            <a:r>
              <a:rPr lang="en-US" sz="1050" i="1" dirty="0">
                <a:solidFill>
                  <a:srgbClr val="8A6D1E"/>
                </a:solidFill>
                <a:latin typeface="Calibri" pitchFamily="34" charset="0"/>
                <a:cs typeface="Amiri" pitchFamily="2" charset="-78"/>
              </a:rPr>
              <a:t>A 2028 word in a social frame.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DIGITAL SOCIETY — SOCIAL MEDIA, PRIVACY AND THE DIGITAL DIVIDE”</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Life online: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العَالَمُ الرَّقْمِيُّ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privacy</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artificial intelligence</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social media</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الذَّكَاءُ الاصْطِنَاعِيُّ يُسَاعِدُ فِي حَلِّ بَعْضِ المُشْكِلَاتِ.</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وَسَائِلُ التَّوَاصُلِ تَرْبِطُ النَّاسَ.</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يَجِبُ أَنْ نَحْمِيَ خُصُوصِيَّتَنَا عَلَى الإِنْتَرْنِتِ.</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العَالَمُ الرَّقْمِيُّ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privacy</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يَجِبُ أَنْ نَحْمِيَ خُصُوصِيَّتَنَا عَلَى الإِنْتَرْنِتِ.</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We must protect our privacy on the internet.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artificial intelligence</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الذَّكَاءُ الاصْطِنَاعِيُّ يُسَاعِدُ فِي حَلِّ بَعْضِ المُشْكِلَاتِ.</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Artificial intelligence helps solve some problems.</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social media</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وَسَائِلُ التَّوَاصُلِ تَرْبِطُ النَّاسَ.</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Social media connects people.</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BUILD A DIGITAL-RIGHTS LINE (WEBSITE LIVE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Prohibit + permit + balance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ابْنِ سَطْرًا عَنِ الحُقُوقِ الرَّقْمِيَّةِ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5586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 · Prohibition (yamnaʿu an)</a:t>
            </a:r>
            <a:endParaRPr lang="en-US" sz="1100" dirty="0"/>
          </a:p>
        </p:txBody>
      </p:sp>
      <p:sp>
        <p:nvSpPr>
          <p:cNvPr id="17" name="Text 14"/>
          <p:cNvSpPr txBox="1"/>
          <p:nvPr/>
        </p:nvSpPr>
        <p:spPr>
          <a:xfrm>
            <a:off x="4306824"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 · Permission (yubīḥu an)</a:t>
            </a:r>
            <a:endParaRPr lang="en-US" sz="1100" dirty="0"/>
          </a:p>
        </p:txBody>
      </p:sp>
      <p:sp>
        <p:nvSpPr>
          <p:cNvPr id="18" name="Text 15"/>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 · Balanced conclusion</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07415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تَمْنَعُ قَوَانِينُ حِمَايَةِ البَيَانَاتِ أَنْ تُبَاعَ مَعْلُومَاتُ المُسْتَخْدِمِينَ</a:t>
            </a:r>
            <a:endParaRPr lang="ar-SA" sz="1400" dirty="0"/>
          </a:p>
        </p:txBody>
      </p:sp>
      <p:sp>
        <p:nvSpPr>
          <p:cNvPr id="21" name="Text 18"/>
          <p:cNvSpPr txBox="1"/>
          <p:nvPr/>
        </p:nvSpPr>
        <p:spPr>
          <a:xfrm>
            <a:off x="4325112" y="2267712"/>
            <a:ext cx="3566160"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وَلَا يَنْبَغِي أَنْ يُبِيحَ القَانُونُ أَنْ تُرَاقَبَ المُرَاسَلَاتُ الخَاصَّةُ</a:t>
            </a:r>
            <a:endParaRPr lang="ar-SA" sz="1400" dirty="0"/>
          </a:p>
        </p:txBody>
      </p:sp>
      <p:sp>
        <p:nvSpPr>
          <p:cNvPr id="22" name="Text 19"/>
          <p:cNvSpPr txBox="1"/>
          <p:nvPr/>
        </p:nvSpPr>
        <p:spPr>
          <a:xfrm>
            <a:off x="548640" y="2267712"/>
            <a:ext cx="3593592" cy="731520"/>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cs typeface="Amiri" pitchFamily="2" charset="-78"/>
              </a:rPr>
              <a:t>وَيَتَطَلَّبُ التَّوَازُنُ أَنْ تُنَظِّمَ الدُّوَلُ الإِنْتِرْنِتَ دُونَ تَقْيِيدِ الحُرِّيَّةِ</a:t>
            </a:r>
            <a:endParaRPr lang="ar-SA" sz="1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07415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تَمْنَعُ الأَنْظِمَةُ أَنْ تُنْشَرَ المَعْلُومَاتُ المُضَلِّلَةُ</a:t>
            </a:r>
            <a:endParaRPr lang="ar-SA" sz="1600" dirty="0"/>
          </a:p>
        </p:txBody>
      </p:sp>
      <p:sp>
        <p:nvSpPr>
          <p:cNvPr id="27" name="Text 24"/>
          <p:cNvSpPr txBox="1"/>
          <p:nvPr/>
        </p:nvSpPr>
        <p:spPr>
          <a:xfrm>
            <a:off x="4325112"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وَلَا يُبِيحُ النِّظَامُ أَنْ تُبَاعَ الخُصُوصِيَّةُ لِلشَّرِكَاتِ</a:t>
            </a:r>
            <a:endParaRPr lang="ar-SA" sz="1600" dirty="0"/>
          </a:p>
        </p:txBody>
      </p:sp>
      <p:sp>
        <p:nvSpPr>
          <p:cNvPr id="28" name="Text 25"/>
          <p:cNvSpPr txBox="1"/>
          <p:nvPr/>
        </p:nvSpPr>
        <p:spPr>
          <a:xfrm>
            <a:off x="548640" y="3054096"/>
            <a:ext cx="3593592"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وَمِنَ الضَّرُورِيِّ أَنْ تُطَوِّرَ الدُّوَلُ مُوَاطَنَةً رَقْمِيَّةً مُتَوَازِنَةً</a:t>
            </a:r>
            <a:endParaRPr lang="ar-SA" sz="15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8074152"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يَمْنَعُ التَّشْرِيعُ أَنْ يُرَاقَبَ المُوَاطِنُونَ دُونَ إِذْنٍ</a:t>
            </a:r>
            <a:endParaRPr lang="ar-SA" sz="1600" dirty="0"/>
          </a:p>
        </p:txBody>
      </p:sp>
      <p:sp>
        <p:nvSpPr>
          <p:cNvPr id="31" name="Text 28"/>
          <p:cNvSpPr txBox="1"/>
          <p:nvPr/>
        </p:nvSpPr>
        <p:spPr>
          <a:xfrm>
            <a:off x="4325112" y="3840480"/>
            <a:ext cx="3566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وَيُبِيحُ التَّشْرِيعُ أَنْ يَصِلَ الجَمِيعُ إِلَى الإِنْتِرْنِتِ بِأَمَانٍ</a:t>
            </a:r>
            <a:endParaRPr lang="ar-SA" sz="1500" dirty="0"/>
          </a:p>
        </p:txBody>
      </p:sp>
      <p:sp>
        <p:nvSpPr>
          <p:cNvPr id="32" name="Text 29"/>
          <p:cNvSpPr txBox="1"/>
          <p:nvPr/>
        </p:nvSpPr>
        <p:spPr>
          <a:xfrm>
            <a:off x="548640" y="3840480"/>
            <a:ext cx="3593592"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cs typeface="Amiri" pitchFamily="2" charset="-78"/>
              </a:rPr>
              <a:t>وَلَوْ كَانَتِ الحَوْكَمَةُ أَقْوَى لَكَانَتِ الخُصُوصِيَّةُ أَكْثَرَ أَمَانًا</a:t>
            </a:r>
            <a:endParaRPr lang="ar-SA" sz="1500" dirty="0"/>
          </a:p>
        </p:txBody>
      </p:sp>
      <p:sp>
        <p:nvSpPr>
          <p:cNvPr id="33" name="Text 3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Pick one from each column — any combination is accurate. Then count the an in your line: does every verb after an end in -a?</a:t>
            </a:r>
            <a:endParaRPr lang="en-US" sz="11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Prohibition, permission — or opportunity / risk?</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يَمْنَعُ القَانُونُ أَنْ تُبَاعَ البَيَانَاتُ</a:t>
            </a:r>
            <a:endParaRPr lang="ar-SA" sz="17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تَمْنَعُ الأَنْظِمَةُ أَنْ تُنْشَرَ المَعْلُومَاتُ المُضَلِّلَةُ</a:t>
            </a:r>
            <a:endParaRPr lang="ar-SA" sz="13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cs typeface="Amiri" pitchFamily="2" charset="-78"/>
              </a:rPr>
              <a:t>يَمْنَعُ التَّشْرِيعُ أَنْ يُرَاقَبَ المُوَاطِنُونَ دُونَ إِذْنٍ</a:t>
            </a:r>
            <a:endParaRPr lang="ar-SA" sz="125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200" b="1" dirty="0">
                <a:solidFill>
                  <a:srgbClr val="1B3B6F"/>
                </a:solidFill>
                <a:latin typeface="Amiri" pitchFamily="2" charset="-78"/>
                <a:cs typeface="Amiri" pitchFamily="2" charset="-78"/>
              </a:rPr>
              <a:t>لَا يُبِيحُ القَانُونُ أَنْ تُرَاقَبَ المُحَادَثَاتُ الخَاصَّةُ</a:t>
            </a:r>
            <a:endParaRPr lang="ar-SA" sz="12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يُبِيحُ النِّظَامُ أَنْ يَصِلَ الجَمِيعُ إِلَى الإِنْتِرْنِتِ</a:t>
            </a:r>
            <a:endParaRPr lang="ar-SA" sz="13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لَا يَنْبَغِي أَنْ يُبِيحَ القَانُونُ بَيْعَ الخُصُوصِيَّةِ</a:t>
            </a:r>
            <a:endParaRPr lang="ar-SA" sz="135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cs typeface="Amiri" pitchFamily="2" charset="-78"/>
              </a:rPr>
              <a:t>صَحِيحٌ أَنَّ التِّقْنِيَّةَ تُوَفِّرُ فُرَصًا لِلتَّعَلُّمِ</a:t>
            </a:r>
            <a:endParaRPr lang="ar-SA" sz="155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cs typeface="Amiri" pitchFamily="2" charset="-78"/>
              </a:rPr>
              <a:t>غَيْرَ أَنَّهَا تُثِيرُ مَخَاطِرَ المُرَاقَبَةِ الرَّقْمِيَّةِ</a:t>
            </a:r>
            <a:endParaRPr lang="ar-SA" sz="135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300" b="1" dirty="0">
                <a:solidFill>
                  <a:srgbClr val="1B3B6F"/>
                </a:solidFill>
                <a:latin typeface="Amiri" pitchFamily="2" charset="-78"/>
                <a:cs typeface="Amiri" pitchFamily="2" charset="-78"/>
              </a:rPr>
              <a:t>تُؤَدِّي المَعْلُومَاتُ المُضَلِّلَةُ إِلَى تَشْوِيهِ الوَعْيِ</a:t>
            </a:r>
            <a:endParaRPr lang="ar-SA" sz="13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prohibition (yamnaʿu an)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permission (yubīḥu an)</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opportunity / risk</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prohibition (yamnaʿu an)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يَمْنَعُ القَانُونُ أَنْ تُبَاعَ البَيَانَاتُ</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تَمْنَعُ الأَنْظِمَةُ أَنْ تُنْشَرَ المَعْلُومَاتُ المُضَلِّلَةُ</a:t>
            </a:r>
            <a:endParaRPr lang="ar-SA" sz="165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cs typeface="Amiri" pitchFamily="2" charset="-78"/>
              </a:rPr>
              <a:t>يَمْنَعُ التَّشْرِيعُ أَنْ يُرَاقَبَ المُوَاطِنُونَ دُونَ إِذْنٍ</a:t>
            </a:r>
            <a:endParaRPr lang="ar-SA" sz="16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permission (yubīḥu an)</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لَا يُبِيحُ القَانُونُ أَنْ تُرَاقَبَ المُحَادَثَاتُ الخَاصَّةُ</a:t>
            </a:r>
            <a:endParaRPr lang="ar-SA" sz="15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يُبِيحُ النِّظَامُ أَنْ يَصِلَ الجَمِيعُ إِلَى الإِنْتِرْنِتِ</a:t>
            </a:r>
            <a:endParaRPr lang="ar-SA" sz="165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لَا يَنْبَغِي أَنْ يُبِيحَ القَانُونُ بَيْعَ الخُصُوصِيَّةِ</a:t>
            </a:r>
            <a:endParaRPr lang="ar-SA" sz="165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opportunity / risk</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صَحِيحٌ أَنَّ التِّقْنِيَّةَ تُوَفِّرُ فُرَصًا لِلتَّعَلُّمِ</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cs typeface="Amiri" pitchFamily="2" charset="-78"/>
              </a:rPr>
              <a:t>غَيْرَ أَنَّهَا تُثِيرُ مَخَاطِرَ المُرَاقَبَةِ الرَّقْمِيَّةِ</a:t>
            </a:r>
            <a:endParaRPr lang="ar-SA" sz="17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650" b="1" dirty="0">
                <a:solidFill>
                  <a:srgbClr val="1B3B6F"/>
                </a:solidFill>
                <a:latin typeface="Amiri" pitchFamily="2" charset="-78"/>
                <a:cs typeface="Amiri" pitchFamily="2" charset="-78"/>
              </a:rPr>
              <a:t>تُؤَدِّي المَعْلُومَاتُ المُضَلِّلَةُ إِلَى تَشْوِيهِ الوَعْيِ</a:t>
            </a:r>
            <a:endParaRPr lang="ar-SA" sz="16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cs typeface="Amiri" pitchFamily="2" charset="-78"/>
              </a:rPr>
              <a:t>لَا يَنْبَغِي أَنْ يُبِيحَ القَانُونُ أَنْ ___ المُحَادَثَاتُ.</a:t>
            </a:r>
            <a:endParaRPr lang="ar-SA" sz="12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تُرَاقَبُ</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تُرَاقَبْ</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تُرَاقَبَ</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2028 word appears in a social frame here?</a:t>
            </a:r>
            <a:endParaRPr lang="en-US" sz="125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الطَّقْسُ مُشْمِسٌ اليَوْمَ</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الذَّكَاءُ الاصْطِنَاعِيُّ يُعِيدُ تَشْكِيلَ سُوقِ العَمَلِ</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المَدِينَةُ قَدِيمَةٌ</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balances opportunity and risk?</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التِّقْنِيَّةُ مُفِيدَةٌ فَقَطْ.</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صَحِيحٌ أَنَّ التِّقْنِيَّةَ تُوَفِّرُ فُرَصًا، غَيْرَ أَنَّهَا تُثِيرُ مَخَاطِرَ.</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التِّقْنِيَّةُ خَطِرَةٌ فَقَطْ.</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“restricts”?</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يُبِيحُ</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يُتِيحُ</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يُقَيِّدُ</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200" b="1" dirty="0">
                <a:solidFill>
                  <a:srgbClr val="1F2A37"/>
                </a:solidFill>
                <a:latin typeface="Amiri" pitchFamily="2" charset="-78"/>
                <a:cs typeface="Amiri" pitchFamily="2" charset="-78"/>
              </a:rPr>
              <a:t>لَا يَنْبَغِي أَنْ يُبِيحَ القَانُونُ أَنْ ___ المُحَادَثَاتُ.</a:t>
            </a:r>
            <a:endParaRPr lang="ar-SA" sz="12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تُرَاقَبُ</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تُرَاقَبْ</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تُرَاقَبَ</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passive verb is subjunctive: </a:t>
            </a:r>
            <a:pPr algn="l" indent="0" marL="0">
              <a:buNone/>
            </a:pPr>
            <a:r>
              <a:rPr lang="ar-SA" altLang="en-US" sz="1350" dirty="0">
                <a:solidFill>
                  <a:srgbClr val="8A6D1E"/>
                </a:solidFill>
                <a:latin typeface="Amiri" pitchFamily="2" charset="-78"/>
                <a:cs typeface="Amiri" pitchFamily="2" charset="-78"/>
              </a:rPr>
              <a:t>تُرَاقَبَ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2028 word appears in a social frame here?</a:t>
            </a:r>
            <a:endParaRPr lang="en-US" sz="125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الطَّقْسُ مُشْمِسٌ اليَوْمَ</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الذَّكَاءُ الاصْطِنَاعِيُّ يُعِيدُ تَشْكِيلَ سُوقِ العَمَلِ</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المَدِينَةُ قَدِيمَةٌ</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الذَّكَاءُ الاصْطِنَاعِيُّ</a:t>
            </a:r>
            <a:pPr algn="l" indent="0" marL="0">
              <a:buNone/>
            </a:pPr>
            <a:r>
              <a:rPr lang="en-US" sz="1050" i="1" dirty="0">
                <a:solidFill>
                  <a:srgbClr val="8A6D1E"/>
                </a:solidFill>
                <a:latin typeface="Calibri" pitchFamily="34" charset="0"/>
                <a:cs typeface="Amiri" pitchFamily="2" charset="-78"/>
              </a:rPr>
              <a:t> in a job-market context is a 2028 word in a social frame.</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balances opportunity and risk?</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التِّقْنِيَّةُ مُفِيدَةٌ فَقَطْ.</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صَحِيحٌ أَنَّ التِّقْنِيَّةَ تُوَفِّرُ فُرَصًا، غَيْرَ أَنَّهَا تُثِيرُ مَخَاطِرَ.</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التِّقْنِيَّةُ خَطِرَةٌ فَقَطْ.</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Conceding the benefit then refuting with the risk balances the analysis.</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“restricts”?</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يُبِيحُ</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يُتِيحُ</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يُقَيِّدُ</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يُقَيِّدُ</a:t>
            </a:r>
            <a:pPr algn="l" indent="0" marL="0">
              <a:buNone/>
            </a:pPr>
            <a:r>
              <a:rPr lang="en-US" sz="1050" i="1" dirty="0">
                <a:solidFill>
                  <a:srgbClr val="8A6D1E"/>
                </a:solidFill>
                <a:latin typeface="Calibri" pitchFamily="34" charset="0"/>
                <a:cs typeface="Amiri" pitchFamily="2" charset="-78"/>
              </a:rPr>
              <a:t> means restricts.</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يَمْنَعُ القَانُونُ أَنْ تُبَاعُ البَيَانَاتُ الشَّخْصِيَّةُ.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tubāʿu?</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لَا يَنْبَغِي أَنْ يُبِيحُ القَانُونُ أَنْ تُرَاقَبَ المُحَادَثَاتُ.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an yubīḥu … an turāqaba?</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يُعِيدُ الذَّكَاءُ الاصْطِنَاعِيُّ تَشْكِيلُ سُوقِ العَمَلِ.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yuʿīdu tashkīlu?</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يَمْنَعُ القَانُونُ أَنْ تُبَاعُ البَيَانَاتُ الشَّخْصِيَّةُ.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2" charset="-78"/>
                <a:cs typeface="Amiri" pitchFamily="2" charset="-78"/>
              </a:rPr>
              <a:t>يَمْنَعُ القَانُونُ أَنْ تُبَاعَ البَيَانَاتُ الشَّخْصِيَّةُ.</a:t>
            </a:r>
            <a:endParaRPr lang="ar-SA" sz="235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is subjunctive: </a:t>
            </a:r>
            <a:pPr algn="l" indent="0" marL="0">
              <a:buNone/>
            </a:pPr>
            <a:r>
              <a:rPr lang="ar-SA" altLang="en-US" sz="1500" b="1" dirty="0">
                <a:solidFill>
                  <a:srgbClr val="1B3B6F"/>
                </a:solidFill>
                <a:latin typeface="Amiri" pitchFamily="2" charset="-78"/>
                <a:cs typeface="Amiri" pitchFamily="2" charset="-78"/>
              </a:rPr>
              <a:t>تُبَاعَ</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لَا يَنْبَغِي أَنْ يُبِيحُ القَانُونُ أَنْ تُرَاقَبَ المُحَادَثَاتُ.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cs typeface="Amiri" pitchFamily="2" charset="-78"/>
              </a:rPr>
              <a:t>لَا يَنْبَغِي أَنْ يُبِيحَ القَانُونُ أَنْ تُرَاقَبَ المُحَادَثَاتُ.</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the first </a:t>
            </a:r>
            <a:pPr algn="l" indent="0" marL="0">
              <a:buNone/>
            </a:pPr>
            <a:r>
              <a:rPr lang="ar-SA" altLang="en-US" sz="1500" b="1" dirty="0">
                <a:solidFill>
                  <a:srgbClr val="1B3B6F"/>
                </a:solidFill>
                <a:latin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cs typeface="Amiri" pitchFamily="2" charset="-78"/>
              </a:rPr>
              <a:t>يُبِيحَ</a:t>
            </a:r>
            <a:pPr algn="l" indent="0" marL="0">
              <a:buNone/>
            </a:pPr>
            <a:r>
              <a:rPr lang="en-US" sz="1150" b="1" dirty="0">
                <a:solidFill>
                  <a:srgbClr val="1B3B6F"/>
                </a:solidFill>
                <a:latin typeface="Calibri" pitchFamily="34" charset="0"/>
                <a:cs typeface="Amiri" pitchFamily="2" charset="-78"/>
              </a:rPr>
              <a:t> is also subjunctive.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cs typeface="Amiri" pitchFamily="2" charset="-78"/>
              </a:rPr>
              <a:t>يُعِيدُ الذَّكَاءُ الاصْطِنَاعِيُّ تَشْكِيلُ سُوقِ العَمَلِ.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2" charset="-78"/>
                <a:cs typeface="Amiri" pitchFamily="2" charset="-78"/>
              </a:rPr>
              <a:t>يُعِيدُ الذَّكَاءُ الاصْطِنَاعِيُّ تَشْكِيلَ سُوقِ العَمَلِ.</a:t>
            </a:r>
            <a:endParaRPr lang="ar-SA" sz="23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cs typeface="Amiri" pitchFamily="2" charset="-78"/>
              </a:rPr>
              <a:t>تَشْكِيلَ</a:t>
            </a:r>
            <a:pPr algn="l" indent="0" marL="0">
              <a:buNone/>
            </a:pPr>
            <a:r>
              <a:rPr lang="en-US" sz="1150" b="1" dirty="0">
                <a:solidFill>
                  <a:srgbClr val="1B3B6F"/>
                </a:solidFill>
                <a:latin typeface="Calibri" pitchFamily="34" charset="0"/>
                <a:cs typeface="Amiri" pitchFamily="2" charset="-78"/>
              </a:rPr>
              <a:t> is the object of </a:t>
            </a:r>
            <a:pPr algn="l" indent="0" marL="0">
              <a:buNone/>
            </a:pPr>
            <a:r>
              <a:rPr lang="ar-SA" altLang="en-US" sz="1500" b="1" dirty="0">
                <a:solidFill>
                  <a:srgbClr val="1B3B6F"/>
                </a:solidFill>
                <a:latin typeface="Amiri" pitchFamily="2" charset="-78"/>
                <a:cs typeface="Amiri" pitchFamily="2" charset="-78"/>
              </a:rPr>
              <a:t>يُعِيدُ</a:t>
            </a:r>
            <a:pPr algn="l" indent="0" marL="0">
              <a:buNone/>
            </a:pPr>
            <a:r>
              <a:rPr lang="en-US" sz="1150" b="1" dirty="0">
                <a:solidFill>
                  <a:srgbClr val="1B3B6F"/>
                </a:solidFill>
                <a:latin typeface="Calibri" pitchFamily="34" charset="0"/>
                <a:cs typeface="Amiri" pitchFamily="2" charset="-78"/>
              </a:rPr>
              <a:t>, so it takes fatḥa (accusative).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Listening: a digital-governance expert</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statistics indicate about AI?</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reshaping Arab economies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no economic effect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only affects games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conceded then refuted about digital technology?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purely beneficial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purely harmful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offers opportunities, yet it raises surveillance and misinformation risks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data-protection laws prohibit (</a:t>
            </a:r>
            <a:pPr algn="l" indent="0" marL="0">
              <a:buNone/>
            </a:pPr>
            <a:r>
              <a:rPr lang="ar-SA" altLang="en-US" sz="1650" b="1" dirty="0">
                <a:solidFill>
                  <a:srgbClr val="1B3B6F"/>
                </a:solidFill>
                <a:latin typeface="Amiri" pitchFamily="2" charset="-78"/>
                <a:cs typeface="Amiri" pitchFamily="2" charset="-78"/>
              </a:rPr>
              <a:t>يَمْنَعُ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the internet be used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laws be written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users' information be sold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law not permit (</a:t>
            </a:r>
            <a:pPr algn="l" indent="0" marL="0">
              <a:buNone/>
            </a:pPr>
            <a:r>
              <a:rPr lang="ar-SA" altLang="en-US" sz="1650" b="1" dirty="0">
                <a:solidFill>
                  <a:srgbClr val="1B3B6F"/>
                </a:solidFill>
                <a:latin typeface="Amiri" pitchFamily="2" charset="-78"/>
                <a:cs typeface="Amiri" pitchFamily="2" charset="-78"/>
              </a:rPr>
              <a:t>يُبِيحُ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private correspondence be monitored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privacy be protected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That data be encrypted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Governance makes no difference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governance been more advanced, citizens' privacy would be safer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Privacy cannot improve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buNone/>
            </a:pPr>
            <a:r>
              <a:rPr lang="en-US" sz="1250" dirty="0">
                <a:solidFill>
                  <a:srgbClr val="1E6B52"/>
                </a:solidFill>
                <a:latin typeface="Calibri" pitchFamily="34" charset="0"/>
                <a:cs typeface="Amiri" pitchFamily="2" charset="-78"/>
              </a:rPr>
              <a:t>Listen for: tamnaʿu … an · yubīḥa … an · ṣaḥīḥun anna.</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يَقُولُ الخَبِيرُ: تُشِيرُ الإِحْصَاءَاتُ إِلَى أَنَّ الذَّكَاءَ الاصْطِنَاعِيَّ يُعِيدُ تَشْكِيلَ اقْتِصَادَاتِ العَالَمِ العَرَبِيِّ.</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expert says: statistics indicate that artificial intelligence is reshaping the economies of the Arab world.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صَحِيحٌ أَنَّ التِّقْنِيَّةَ الرَّقْمِيَّةَ تُوَفِّرُ فُرَصًا لِلتَّعْلِيمِ وَالتَّوَاصُلِ، غَيْرَ أَنَّهَا تُثِيرُ مَخَاطِرَ المُرَاقَبَةِ وَنَشْرِ المَعْلُومَاتِ المُضَلِّلَةِ.</a:t>
            </a:r>
            <a:endParaRPr lang="ar-SA" sz="15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It is true that digital technology offers opportunities for education and communication; however, it raises the risks of surveillance and the spread of misinformation.</a:t>
            </a:r>
            <a:endParaRPr lang="en-US" sz="120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cs typeface="Amiri" pitchFamily="2" charset="-78"/>
              </a:rPr>
              <a:t>تَمْنَعُ قَوَانِينُ حِمَايَةِ البَيَانَاتِ أَنْ تُبَاعَ مَعْلُومَاتُ المُسْتَخْدِمِينَ، وَلَا يَنْبَغِي أَنْ يُبِيحَ القَانُونُ أَنْ تُرَاقَبَ المُرَاسَلَاتُ الخَاصَّةُ.</a:t>
            </a:r>
            <a:endParaRPr lang="ar-SA" sz="155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Data-protection laws prohibit users’ information being sold, and the law should not permit private correspondence to be monitored.</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وَإِذَا اسْتَثْمَرَتِ الدُّوَلُ فِي البُنْيَةِ التَّحْتِيَّةِ الرَّقْمِيَّةِ، سَتَتَقَلَّصُ الفَجْوَةُ الرَّقْمِيَّةُ.</a:t>
            </a:r>
            <a:endParaRPr lang="ar-SA" sz="19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If states invest in digital infrastructure, the digital divide will shrink.</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وَلَوْ كَانَتِ الحَوْكَمَةُ أَكْثَرَ تَطَوُّرًا، لَكَانَتْ خُصُوصِيَّةُ المُوَاطِنِ أَكْثَرَ أَمَانًا.</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governance been more advanced, citizens’ privacy would be safer.</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statistics indicate about AI?</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reshaping Arab economies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no economic effect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only affects games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900" dirty="0">
                <a:solidFill>
                  <a:srgbClr val="8A6D1E"/>
                </a:solidFill>
                <a:latin typeface="Amiri" pitchFamily="2" charset="-78"/>
                <a:cs typeface="Amiri" pitchFamily="2" charset="-78"/>
              </a:rPr>
              <a:t>تُشِيرُ الإِحْصَاءَاتُ إِلَى أَنَّ الذَّكَاءَ الاصْطِنَاعِيَّ يُعِيدُ تَشْكِيلَ اقْتِصَادَاتِ العَالَمِ العَرَبِيِّ.</a:t>
            </a:r>
            <a:endParaRPr lang="ar-SA" sz="9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conceded then refuted about digital technology?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purely beneficial</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purely harmful</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offers opportunities, yet it raises surveillance and misinformation risks</a:t>
            </a:r>
            <a:endParaRPr lang="en-US" sz="11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cs typeface="Amiri" pitchFamily="2" charset="-78"/>
              </a:rPr>
              <a:t>صَحِيحٌ أَنَّ التِّقْنِيَّةَ … تُوَفِّرُ فُرَصًا … غَيْرَ أَنَّهَا تُثِيرُ مَخَاطِرَ المُرَاقَبَةِ.</a:t>
            </a:r>
            <a:endParaRPr lang="ar-SA" sz="110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data-protection laws prohibit (</a:t>
            </a:r>
            <a:pPr algn="l" indent="0" marL="0">
              <a:buNone/>
            </a:pPr>
            <a:r>
              <a:rPr lang="ar-SA" altLang="en-US" sz="1650" b="1" dirty="0">
                <a:solidFill>
                  <a:srgbClr val="1B3B6F"/>
                </a:solidFill>
                <a:latin typeface="Amiri" pitchFamily="2" charset="-78"/>
                <a:cs typeface="Amiri" pitchFamily="2" charset="-78"/>
              </a:rPr>
              <a:t>يَمْنَعُ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the internet be used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laws be written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That users' information be sold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cs typeface="Amiri" pitchFamily="2" charset="-78"/>
              </a:rPr>
              <a:t>تَمْنَعُ قَوَانِينُ حِمَايَةِ البَيَانَاتِ أَنْ تُبَاعَ مَعْلُومَاتُ المُسْتَخْدِمِينَ.</a:t>
            </a:r>
            <a:endParaRPr lang="ar-SA" sz="120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the law not permit (</a:t>
            </a:r>
            <a:pPr algn="l" indent="0" marL="0">
              <a:buNone/>
            </a:pPr>
            <a:r>
              <a:rPr lang="ar-SA" altLang="en-US" sz="1650" b="1" dirty="0">
                <a:solidFill>
                  <a:srgbClr val="1B3B6F"/>
                </a:solidFill>
                <a:latin typeface="Amiri" pitchFamily="2" charset="-78"/>
                <a:cs typeface="Amiri" pitchFamily="2" charset="-78"/>
              </a:rPr>
              <a:t>يُبِيحُ</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That private correspondence be monitored</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privacy be protected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That data be encrypted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لَا يَنْبَغِي أَنْ يُبِيحَ القَانُونُ أَنْ تُرَاقَبَ المُرَاسَلَاتُ الخَاصَّةُ.</a:t>
            </a:r>
            <a:endParaRPr lang="ar-SA" sz="13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Governance makes no difference</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governance been more advanced, citizens' privacy would be safer</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Privacy cannot improve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cs typeface="Amiri" pitchFamily="2" charset="-78"/>
              </a:rPr>
              <a:t>لَوْ كَانَتِ الحَوْكَمَةُ أَكْثَرَ تَطَوُّرًا، لَكَانَتْ خُصُوصِيَّةُ المُوَاطِنِ أَكْثَرَ أَمَانًا.</a:t>
            </a:r>
            <a:endParaRPr lang="ar-SA" sz="110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buNone/>
            </a:pPr>
            <a:r>
              <a:rPr lang="en-US" sz="1250" dirty="0">
                <a:solidFill>
                  <a:srgbClr val="1E6B52"/>
                </a:solidFill>
                <a:latin typeface="Calibri" pitchFamily="34" charset="0"/>
                <a:cs typeface="Amiri" pitchFamily="2" charset="-78"/>
              </a:rPr>
              <a:t>Listen for: tamnaʿu … an · yubīḥa … an · ṣaḥīḥun anna.</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Speaking: the digital-rights balance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يَنْبَغِي أَنْ يَمْنَعَ القَانُونُ؟</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لَا يَنْبَغِي أَنْ يُبِيحَ القَانُونُ؟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كَيْفَ تُوَازِنُ بَيْنَ الحُرِّيَّةِ وَالتَّنْظِيمِ؟</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يَنْبَغِي أَنْ يَمْنَعَ القَانُونُ 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لَا يَنْبَغِي أَنْ يُبِيحَ القَانُونُ أَنْ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cs typeface="Amiri" pitchFamily="2" charset="-78"/>
              </a:rPr>
              <a:t>يَتَطَلَّبُ التَّوَازُنُ أَنْ تُنَظِّمَ الدُّوَلُ ___ دُونَ أَنْ ___ .</a:t>
            </a:r>
            <a:endParaRPr lang="ar-SA" sz="12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مَاذَا يَنْبَغِي أَنْ يَمْنَعَ القَانُونُ؟</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should the law prohibit?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يَنْبَغِي أَنْ يَمْنَعَ القَانُونُ أَنْ تُبَاعَ البَيَانَاتُ دُونَ مُوَافَقَةٍ.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 law should prohibit data being sold without consent.</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2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one prohibition (</a:t>
            </a:r>
            <a:pPr algn="l" indent="0" marL="0">
              <a:buNone/>
            </a:pPr>
            <a:r>
              <a:rPr lang="ar-SA" altLang="en-US" sz="1800" b="1" dirty="0">
                <a:solidFill>
                  <a:srgbClr val="1F2A37"/>
                </a:solidFill>
                <a:latin typeface="Amiri" pitchFamily="2" charset="-78"/>
                <a:cs typeface="Amiri" pitchFamily="2" charset="-78"/>
              </a:rPr>
              <a:t>يَمْنَعُ أَنْ</a:t>
            </a:r>
            <a:pPr algn="l" indent="0" marL="0">
              <a:buNone/>
            </a:pPr>
            <a:r>
              <a:rPr lang="en-US" sz="1400" b="1" dirty="0">
                <a:solidFill>
                  <a:srgbClr val="1F2A37"/>
                </a:solidFill>
                <a:latin typeface="Calibri" pitchFamily="34" charset="0"/>
                <a:cs typeface="Amiri" pitchFamily="2" charset="-78"/>
              </a:rPr>
              <a:t>) and one permission (</a:t>
            </a:r>
            <a:pPr algn="l" indent="0" marL="0">
              <a:buNone/>
            </a:pPr>
            <a:r>
              <a:rPr lang="ar-SA" altLang="en-US" sz="1800" b="1" dirty="0">
                <a:solidFill>
                  <a:srgbClr val="1F2A37"/>
                </a:solidFill>
                <a:latin typeface="Amiri" pitchFamily="2" charset="-78"/>
                <a:cs typeface="Amiri" pitchFamily="2" charset="-78"/>
              </a:rPr>
              <a:t>يُبِيحُ أَنْ</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Core: one prohibition (yamnaʿu an) and one permission (yubīḥu an).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2028 word in a social frame and a concession-refutation; reach 100 words.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Develop: add a 2028 word in a social frame and a concession–refutation.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100–110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Reach 110 words with both triggers, a concession-refutation and a Type 2 counterfactual.</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both triggers, a concession–refutation and a Type 2 counterfactual.</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صَحِيحٌ أَنَّ التِّقْنِيَّةَ تُوَفِّرُ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is true that technology offers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غَيْرَ أَنَّهَا تُثِيرُ مَخَاطِرَ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however, it raises the risk of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cs typeface="Amiri" pitchFamily="2" charset="-78"/>
              </a:rPr>
              <a:t>يَتَطَلَّبُ التَّوَازُنُ أَنْ تُنَظِّمَ الدُّوَلُ الإِنْتِرْنِتَ دُونَ أَنْ ______ .</a:t>
            </a:r>
            <a:endParaRPr lang="ar-SA" sz="12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Balance requires states to … without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لَوْ كَانَتِ الحَوْكَمَةُ أَكْثَرَ تَطَوُّرًا، لَكَانَتْ ______ .</a:t>
            </a:r>
            <a:endParaRPr lang="ar-SA" sz="15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Had governance been more advanced,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يَمْنَعُ القَانُونُ أَنْ تُبَاعَ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law prohibits … being sold.</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cs typeface="Amiri" pitchFamily="2" charset="-78"/>
              </a:rPr>
              <a:t>لَا يَنْبَغِي أَنْ يُبِيحَ القَانُونُ أَنْ تُرَاقَبَ ______ .</a:t>
            </a:r>
            <a:endParaRPr lang="ar-SA" sz="155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law should not permit … to be monitored.</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يَتَعَرَّضُ المُسْتَخْدِمُونَ لِلْمُرَاقَبَةِ وَ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Users are exposed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يُعِيدُ الذَّكَاءُ الاصْطِنَاعِيُّ تَشْكِيلَ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Artificial intelligence is reshaping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lnSpc>
                <a:spcPct val="120000"/>
              </a:lnSpc>
              <a:buNone/>
            </a:pPr>
            <a:r>
              <a:rPr lang="ar-SA" altLang="en-US" sz="1000" b="1" dirty="0">
                <a:solidFill>
                  <a:srgbClr val="1B3B6F"/>
                </a:solidFill>
                <a:latin typeface="Amiri" pitchFamily="2" charset="-78"/>
                <a:cs typeface="Amiri" pitchFamily="2" charset="-78"/>
              </a:rPr>
              <a:t>البَيَانَاتُ الشَّخْصِيَّةُ  ·  المُحَادَثَاتُ الخَاصَّةُ  ·  المَعْلُومَاتِ المُضَلِّلَةِ  ·  سُوقِ العَمَلِ  ·  فُرَصًا لِلتَّعْلِيمِ وَالتَّوَاصُلِ  ·  المُرَاقَبَةِ الرَّقْمِيَّةِ  ·  تُقَيِّدَ حُرِّيَّةَ التَّعْبِيرِ  ·  تُصَادِرَ الخُصُوصِيَّةَ  ·  خُصُوصِيَّةُ المُوَاطِنِ أَكْثَرَ أَمَانًا  ·  كَلِمَةِ المُرُورِ  ·  التَّعَلُّمُ عَنْ بُعْدٍ  ·  الفَجْوَةُ الرَّقْمِيَّةُ</a:t>
            </a:r>
            <a:endParaRPr lang="ar-SA" sz="10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100–110-word digital-society analysis. Open with a 2028 word in a social frame, concede a benefit with ṣaḥīḥun anna and refute with ghayra anna, use yamnaʿu an and yubīḥu an, and close with a Type 2 counterfactual.</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2028 word (al-dhakāʾ al-iṣṭināʿī / kalimat al-murūr) in a social context.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concession–refutation balancing opportunity and risk.</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prohibition (yamnaʿu an) and a permission (yubīḥu an), each with a verb in -a.</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Type 2 counterfactual and 100–110 words.</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وَسُوقِ العَمَلِ فِيهِ</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and its job market</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فُرَصًا اسْتِثْنَائِيَّةً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exceptional opportunities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الوَقْتِ ذَاتِهِ</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the same time</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دُونَ أَنْ تُصَادِرَ حُرِّيَّةَ التَّعْبِيرِ</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without seizing freedom of expression</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أَكْثَرَ أَمَانًا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safer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تُشِيرُ الإِحْصَاءَاتُ إِلَى أَنَّ الذَّكَاءَ الاصْطِنَاعِيَّ يُعِيدُ تَشْكِيلَ اقْتِصَادَاتِ العَالَمِ العَرَبِيِّ وَسُوقِ العَمَلِ فِيهِ. صَحِيحٌ أَنَّ التِّقْنِيَّةَ الرَّقْمِيَّةَ تُوَفِّرُ فُرَصًا اسْتِثْنَائِيَّةً لِلتَّعْلِيمِ وَالتَّوَاصُلِ، غَيْرَ أَنَّهَا تُثِيرُ فِي الوَقْتِ ذَاتِهِ مَخَاطِرَ المُرَاقَبَةِ الرَّقْمِيَّةِ وَنَشْرِ المَعْلُومَاتِ المُضَلِّلَةِ. تَمْنَعُ قَوَانِينُ حِمَايَةِ البَيَانَاتِ أَنْ تُبَاعَ مَعْلُومَاتُ المُسْتَخْدِمِينَ، وَلَا يَنْبَغِي أَنْ يُبِيحَ القَانُونُ أَنْ تُرَاقَبَ المُرَاسَلَاتُ الخَاصَّةُ. وَيَتَطَلَّبُ التَّوَازُنُ أَنْ تُنَظِّمَ الدُّوَلُ الإِنْتِرْنِتَ دُونَ أَنْ تُصَادِرَ حُرِّيَّةَ التَّعْبِيرِ. وَلَوْ كَانَتِ الحَوْكَمَةُ الرَّقْمِيَّةُ أَكْثَرَ تَطَوُّرًا، لَكَانَتْ خُصُوصِيَّةُ المُوَاطِنِ أَكْثَرَ أَمَانًا.</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Statistics indicate that artificial intelligence is reshaping the economies of the Arab world and its job market. It is true that digital technology offers exceptional opportunities for education and communication; however, at the same time it raises the risks of digital surveillance and the spread of misinformation. Data-protection laws prohibit users’ information being sold, and the law should not permit private correspondence to be monitored. Balance requires states to regulate the internet without seizing freedom of expression. Had digital governance been more advanced, citizens’ privacy would be safer.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al-dhakāʾ al-iṣṭināʿī (2028 word)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ṣaḥīḥun anna … ghayra anna-hā</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an tubāʿa · an turāqaba</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law kānat … la-kānat</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After yamnaʿu an / yubīḥu an my verb ends in -a (an tubāʿa).</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prohibition and one permission.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 a chain of two an, BOTH verbs end in -a.</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2028 word in a social sentence.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balanced opportunity and risk and added a Type 2.</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prohibition?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يَمْنَعُ أَنْ</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يُبِيحُ أَنْ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يَدْعُو إِلَى أَنْ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permission?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يَمْنَعُ أَنْ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يُبِيحُ أَنْ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يُصِرُّ عَلَى أَنْ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يَمْنَعُ القَانُونُ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البَيَانَاتُ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تُبَاعَ</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تُبَاعُ</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تُبَاعْ</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prohibition?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يَمْنَعُ أَنْ</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يُبِيحُ أَنْ</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يَدْعُو إِلَى أَنْ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يَمْنَعُ أَنْ</a:t>
            </a:r>
            <a:pPr algn="l" indent="0" marL="0">
              <a:buNone/>
            </a:pPr>
            <a:r>
              <a:rPr lang="en-US" sz="1050" i="1" dirty="0">
                <a:solidFill>
                  <a:srgbClr val="8A6D1E"/>
                </a:solidFill>
                <a:latin typeface="Calibri" pitchFamily="34" charset="0"/>
                <a:cs typeface="Amiri" pitchFamily="2" charset="-78"/>
              </a:rPr>
              <a:t> states a prohibition.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trigger states a permission?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يَمْنَعُ أَنْ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يُبِيحُ أَنْ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يُصِرُّ عَلَى أَنْ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يُبِيحُ أَنْ</a:t>
            </a:r>
            <a:pPr algn="l" indent="0" marL="0">
              <a:buNone/>
            </a:pPr>
            <a:r>
              <a:rPr lang="en-US" sz="1050" i="1" dirty="0">
                <a:solidFill>
                  <a:srgbClr val="8A6D1E"/>
                </a:solidFill>
                <a:latin typeface="Calibri" pitchFamily="34" charset="0"/>
                <a:cs typeface="Amiri" pitchFamily="2" charset="-78"/>
              </a:rPr>
              <a:t> states a permission.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يَمْنَعُ القَانُونُ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البَيَانَاتُ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تُبَاعَ</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تُبَاعُ</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تُبَاعْ</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passive verb is subjunctive: </a:t>
            </a:r>
            <a:pPr algn="l" indent="0" marL="0">
              <a:buNone/>
            </a:pPr>
            <a:r>
              <a:rPr lang="ar-SA" altLang="en-US" sz="1350" dirty="0">
                <a:solidFill>
                  <a:srgbClr val="8A6D1E"/>
                </a:solidFill>
                <a:latin typeface="Amiri" pitchFamily="2" charset="-78"/>
                <a:cs typeface="Amiri" pitchFamily="2" charset="-78"/>
              </a:rPr>
              <a:t>تُبَاعَ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Reading: a digital-society analysis (extract)</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cs typeface="Amiri" pitchFamily="2" charset="-78"/>
              </a:rPr>
              <a:t>يُعِيدُ المُجْتَمَعُ الرَّقْمِيُّ تَشْكِيلَ حَيَاتِنَا اليَوْمِيَّةِ. صَحِيحٌ أَنَّ الذَّكَاءَ الاصْطِنَاعِيَّ وَالتَّعَلُّمَ عَنْ بُعْدٍ يُوَفِّرَانِ فُرَصًا اسْتِثْنَائِيَّةً، غَيْرَ أَنَّ الفَجْوَةَ الرَّقْمِيَّةَ بَيْنَ الدُّوَلِ الغَنِيَّةِ وَالفَقِيرَةِ بَاتَتْ مِنْ أَخْطَرِ أَوْجُهِ عَدَمِ المُسَاوَاةِ. يَتَعَرَّضُ المُسْتَخْدِمُونَ لِلْمُرَاقَبَةِ وَلِلْمَعْلُومَاتِ المُضَلِّلَةِ. تَمْنَعُ بَعْضُ الحُكُومَاتِ أَنْ تُنْشَرَ المَعْلُومَاتُ الَّتِي تَرَاهَا ضَارَّةً، غَيْرَ أَنَّهَا يَجِبُ أَلَّا تُقَيِّدَ حُرِّيَّةَ التَّعْبِيرِ. وَيَتَطَلَّبُ التَّوَازُنُ أَنْ تُنَظِّمَ الدُّوَلُ الإِنْتِرْنِتَ دُونَ أَنْ تُصَادِرَ الخُصُوصِيَّةَ. وَلَوْ كَانَتْ حِمَايَةُ كَلِمَةِ المُرُورِ أَقْوَى، لَتَرَاجَعَتِ الانْتِهَاكَاتُ.</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حَيَاتِنَا اليَوْمِيَّةِ</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daily life</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يُوَفِّرَانِ</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they both provide</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اسْتِثْنَائِيَّةً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exceptional</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أَوْجُهِ</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aspects, forms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يَتَعَرَّضُ</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is exposed</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ضَارَّةً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harmful</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التَّوَازُنُ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balance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تُصَادِرَ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 seize, confiscate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الانْتِهَاكَاتُ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violations, breaches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المُرَاسَلَاتُ</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correspondence</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conceded about AI and distance learning?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offer nothing</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offer exceptional opportunities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only harm</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refuted by </a:t>
            </a:r>
            <a:pPr algn="l" indent="0" marL="0">
              <a:buNone/>
            </a:pPr>
            <a:r>
              <a:rPr lang="ar-SA" altLang="en-US" sz="1650" b="1" dirty="0">
                <a:solidFill>
                  <a:srgbClr val="1B3B6F"/>
                </a:solidFill>
                <a:latin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divide has closed</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Inequality has ended</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digital divide has become a dangerous form of inequality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governments prohibit (</a:t>
            </a:r>
            <a:pPr algn="l" indent="0" marL="0">
              <a:buNone/>
            </a:pPr>
            <a:r>
              <a:rPr lang="ar-SA" altLang="en-US" sz="1650" b="1" dirty="0">
                <a:solidFill>
                  <a:srgbClr val="1B3B6F"/>
                </a:solidFill>
                <a:latin typeface="Amiri" pitchFamily="2" charset="-78"/>
                <a:cs typeface="Amiri" pitchFamily="2" charset="-78"/>
              </a:rPr>
              <a:t>يَمْنَعُ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publishing of information they deem harmful</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use of the internet</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writing of laws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balance require (</a:t>
            </a:r>
            <a:pPr algn="l" indent="0" marL="0">
              <a:buNone/>
            </a:pPr>
            <a:r>
              <a:rPr lang="ar-SA" altLang="en-US" sz="1650" b="1" dirty="0">
                <a:solidFill>
                  <a:srgbClr val="1B3B6F"/>
                </a:solidFill>
                <a:latin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Banning the internet</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Regulating the internet without seizing privacy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Removing all rules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Had password protection been stronger, breaches would have fallen</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Passwords make no difference</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Breaches cannot fall</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conceded about AI and distance learning?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offer nothing</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offer exceptional opportunities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only harm</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050" dirty="0">
                <a:solidFill>
                  <a:srgbClr val="8A6D1E"/>
                </a:solidFill>
                <a:latin typeface="Amiri" pitchFamily="2" charset="-78"/>
                <a:cs typeface="Amiri" pitchFamily="2" charset="-78"/>
              </a:rPr>
              <a:t>صَحِيحٌ أَنَّ الذَّكَاءَ الاصْطِنَاعِيَّ وَالتَّعَلُّمَ عَنْ بُعْدٍ يُوَفِّرَانِ فُرَصًا اسْتِثْنَائِيَّةً.</a:t>
            </a:r>
            <a:endParaRPr lang="ar-SA" sz="10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refuted by </a:t>
            </a:r>
            <a:pPr algn="l" indent="0" marL="0">
              <a:buNone/>
            </a:pPr>
            <a:r>
              <a:rPr lang="ar-SA" altLang="en-US" sz="1650" b="1" dirty="0">
                <a:solidFill>
                  <a:srgbClr val="1B3B6F"/>
                </a:solidFill>
                <a:latin typeface="Amiri" pitchFamily="2" charset="-78"/>
                <a:cs typeface="Amiri" pitchFamily="2" charset="-78"/>
              </a:rPr>
              <a:t>غَيْرَ أَنَّ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divide has closed</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Inequality has ended</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digital divide has become a dangerous form of inequality</a:t>
            </a:r>
            <a:endParaRPr lang="en-US" sz="11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200" dirty="0">
                <a:solidFill>
                  <a:srgbClr val="8A6D1E"/>
                </a:solidFill>
                <a:latin typeface="Amiri" pitchFamily="2" charset="-78"/>
                <a:cs typeface="Amiri" pitchFamily="2" charset="-78"/>
              </a:rPr>
              <a:t>غَيْرَ أَنَّ الفَجْوَةَ الرَّقْمِيَّةَ … بَاتَتْ مِنْ أَخْطَرِ أَوْجُهِ عَدَمِ المُسَاوَاةِ.</a:t>
            </a:r>
            <a:endParaRPr lang="ar-SA" sz="120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some governments prohibit (</a:t>
            </a:r>
            <a:pPr algn="l" indent="0" marL="0">
              <a:buNone/>
            </a:pPr>
            <a:r>
              <a:rPr lang="ar-SA" altLang="en-US" sz="1650" b="1" dirty="0">
                <a:solidFill>
                  <a:srgbClr val="1B3B6F"/>
                </a:solidFill>
                <a:latin typeface="Amiri" pitchFamily="2" charset="-78"/>
                <a:cs typeface="Amiri" pitchFamily="2" charset="-78"/>
              </a:rPr>
              <a:t>يَمْنَعُ</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The publishing of information they deem harmful</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use of the internet</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writing of laws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250" dirty="0">
                <a:solidFill>
                  <a:srgbClr val="8A6D1E"/>
                </a:solidFill>
                <a:latin typeface="Amiri" pitchFamily="2" charset="-78"/>
                <a:cs typeface="Amiri" pitchFamily="2" charset="-78"/>
              </a:rPr>
              <a:t>تَمْنَعُ بَعْضُ الحُكُومَاتِ أَنْ تُنْشَرَ المَعْلُومَاتُ الَّتِي تَرَاهَا ضَارَّةً.</a:t>
            </a:r>
            <a:endParaRPr lang="ar-SA" sz="12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balance require (</a:t>
            </a:r>
            <a:pPr algn="l" indent="0" marL="0">
              <a:buNone/>
            </a:pPr>
            <a:r>
              <a:rPr lang="ar-SA" altLang="en-US" sz="1650" b="1" dirty="0">
                <a:solidFill>
                  <a:srgbClr val="1B3B6F"/>
                </a:solidFill>
                <a:latin typeface="Amiri" pitchFamily="2" charset="-78"/>
                <a:cs typeface="Amiri" pitchFamily="2" charset="-78"/>
              </a:rPr>
              <a:t>يَتَطَلَّبُ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Banning the internet</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Regulating the internet without seizing privacy</a:t>
            </a:r>
            <a:endParaRPr lang="en-US" sz="11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Removing all rules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100" dirty="0">
                <a:solidFill>
                  <a:srgbClr val="8A6D1E"/>
                </a:solidFill>
                <a:latin typeface="Amiri" pitchFamily="2" charset="-78"/>
                <a:cs typeface="Amiri" pitchFamily="2" charset="-78"/>
              </a:rPr>
              <a:t>يَتَطَلَّبُ التَّوَازُنُ أَنْ تُنَظِّمَ الدُّوَلُ الإِنْتِرْنِتَ دُونَ أَنْ تُصَادِرَ الخُصُوصِيَّةَ.</a:t>
            </a:r>
            <a:endParaRPr lang="ar-SA" sz="110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Type 2 counterfactual?</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Had password protection been stronger, breaches would have fallen</a:t>
            </a:r>
            <a:endParaRPr lang="en-US" sz="11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Passwords make no difference</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Breaches cannot fall</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لَوْ كَانَتْ حِمَايَةُ كَلِمَةِ المُرُورِ أَقْوَى، لَتَرَاجَعَتِ الانْتِهَاكَاتُ.</a:t>
            </a:r>
            <a:endParaRPr lang="ar-SA" sz="130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150" b="1" dirty="0">
                <a:solidFill>
                  <a:srgbClr val="1B3B6F"/>
                </a:solidFill>
                <a:latin typeface="Cambria" pitchFamily="34" charset="0"/>
                <a:cs typeface="Amiri" pitchFamily="2" charset="-78"/>
              </a:rPr>
              <a:t>Digital-Rights Mission — Prohibit and Permit</a:t>
            </a:r>
            <a:endParaRPr lang="en-US" sz="21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يَمْنَعُ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permission</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prohibition</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purpose</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يُبِيحُ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permission</a:t>
            </a:r>
            <a:endParaRPr lang="en-US" sz="12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prohibition</a:t>
            </a:r>
            <a:endParaRPr lang="en-US" sz="12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fear</a:t>
            </a:r>
            <a:endParaRPr lang="en-US"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Prohibition: complete — </a:t>
            </a:r>
            <a:pPr algn="l" indent="0" marL="0">
              <a:buNone/>
            </a:pPr>
            <a:r>
              <a:rPr lang="ar-SA" altLang="en-US" sz="1650" b="1" dirty="0">
                <a:solidFill>
                  <a:srgbClr val="1B3B6F"/>
                </a:solidFill>
                <a:latin typeface="Amiri" pitchFamily="2" charset="-78"/>
                <a:cs typeface="Amiri" pitchFamily="2" charset="-78"/>
              </a:rPr>
              <a:t>يَمْنَعُ القَانُونُ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البَيَانَاتُ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تُبَاعُ</a:t>
            </a:r>
            <a:endParaRPr lang="ar-SA" sz="2050" dirty="0"/>
          </a:p>
        </p:txBody>
      </p:sp>
      <p:sp>
        <p:nvSpPr>
          <p:cNvPr id="52" name="Shape 49"/>
          <p:cNvSpPr/>
          <p:nvPr/>
        </p:nvSpPr>
        <p:spPr>
          <a:xfrm>
            <a:off x="8278368"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تُبَاعْ</a:t>
            </a:r>
            <a:endParaRPr lang="ar-SA" sz="2050" dirty="0"/>
          </a:p>
        </p:txBody>
      </p:sp>
      <p:sp>
        <p:nvSpPr>
          <p:cNvPr id="55" name="Shape 52"/>
          <p:cNvSpPr/>
          <p:nvPr/>
        </p:nvSpPr>
        <p:spPr>
          <a:xfrm>
            <a:off x="8278368" y="3447288"/>
            <a:ext cx="256032" cy="256032"/>
          </a:xfrm>
          <a:prstGeom prst="ellipse">
            <a:avLst/>
          </a:prstGeom>
          <a:solidFill>
            <a:srgbClr val="F4F1EA"/>
          </a:solidFill>
          <a:ln w="12700">
            <a:solidFill>
              <a:srgbClr val="F4F1EA"/>
            </a:solidFill>
            <a:prstDash val="solid"/>
          </a:ln>
        </p:spPr>
      </p:sp>
      <p:sp>
        <p:nvSpPr>
          <p:cNvPr id="56" name="Text 5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تُبَاعَ</a:t>
            </a:r>
            <a:endParaRPr lang="ar-SA" sz="2050" dirty="0"/>
          </a:p>
        </p:txBody>
      </p:sp>
      <p:sp>
        <p:nvSpPr>
          <p:cNvPr id="58" name="Shape 5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85216"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Permission: complete — </a:t>
            </a:r>
            <a:pPr algn="l" indent="0" marL="0">
              <a:buNone/>
            </a:pPr>
            <a:r>
              <a:rPr lang="ar-SA" altLang="en-US" sz="1650" b="1" dirty="0">
                <a:solidFill>
                  <a:srgbClr val="1B3B6F"/>
                </a:solidFill>
                <a:latin typeface="Amiri" pitchFamily="2" charset="-78"/>
                <a:cs typeface="Amiri" pitchFamily="2" charset="-78"/>
              </a:rPr>
              <a:t>لَا يَنْبَغِي أَنْ يُبِيحَ القَانُونُ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المُحَادَثَاتُ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تُرَاقَبُ</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تُرَاقَبْ</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تُرَاقَبَ</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2028 word: which appears in a social frame?</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الذَّكَاءُ الاصْطِنَاعِيُّ يُعِيدُ تَشْكِيلَ سُوقِ العَمَلِ</a:t>
            </a:r>
            <a:endParaRPr lang="ar-SA" sz="15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المَدِينَةُ قَدِيمَةٌ</a:t>
            </a:r>
            <a:endParaRPr lang="ar-SA" sz="15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الطَّقْسُ مُشْمِسٌ</a:t>
            </a:r>
            <a:endParaRPr lang="ar-SA" sz="15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2028 word: which frames a privacy issue?</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الحَدِيقَةُ وَاسِعَةٌ</a:t>
            </a:r>
            <a:endParaRPr lang="ar-SA" sz="15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حِمَايَةُ كَلِمَةِ المُرُورِ مِنْ أَوْلَوِيَّاتِ الخُصُوصِيَّةِ</a:t>
            </a:r>
            <a:endParaRPr lang="ar-SA" sz="15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السَّيَّارَةُ سَرِيعَةٌ</a:t>
            </a:r>
            <a:endParaRPr lang="ar-SA" sz="15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يَمْنَعُ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permission</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prohibition</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purpose</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يَمْنَعُ أَنْ</a:t>
            </a:r>
            <a:pPr algn="l" indent="0" marL="0">
              <a:buNone/>
            </a:pPr>
            <a:r>
              <a:rPr lang="en-US" sz="1050" i="1" dirty="0">
                <a:solidFill>
                  <a:srgbClr val="8A6D1E"/>
                </a:solidFill>
                <a:latin typeface="Calibri" pitchFamily="34" charset="0"/>
                <a:cs typeface="Amiri" pitchFamily="2" charset="-78"/>
              </a:rPr>
              <a:t> signals a prohibition.</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Trigger:</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900" b="1" dirty="0">
                <a:solidFill>
                  <a:srgbClr val="1F2A37"/>
                </a:solidFill>
                <a:latin typeface="Amiri" pitchFamily="2" charset="-78"/>
                <a:cs typeface="Amiri" pitchFamily="2" charset="-78"/>
              </a:rPr>
              <a:t>يُبِيحُ أَنْ</a:t>
            </a:r>
            <a:pPr algn="l" indent="0" marL="0">
              <a:buNone/>
            </a:pPr>
            <a:r>
              <a:rPr lang="en-US" sz="1450" b="1" dirty="0">
                <a:solidFill>
                  <a:srgbClr val="1F2A37"/>
                </a:solidFill>
                <a:latin typeface="Calibri" pitchFamily="34" charset="0"/>
                <a:cs typeface="Amiri" pitchFamily="2" charset="-78"/>
              </a:rPr>
              <a:t> signals …</a:t>
            </a:r>
            <a:endParaRPr lang="en-US" sz="145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permission</a:t>
            </a:r>
            <a:endParaRPr lang="en-US" sz="125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prohibition</a:t>
            </a:r>
            <a:endParaRPr lang="en-US" sz="125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fear</a:t>
            </a:r>
            <a:endParaRPr lang="en-US" sz="125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cs typeface="Amiri" pitchFamily="2" charset="-78"/>
              </a:rPr>
              <a:t>يُبِيحُ أَنْ</a:t>
            </a:r>
            <a:pPr algn="l" indent="0" marL="0">
              <a:buNone/>
            </a:pPr>
            <a:r>
              <a:rPr lang="en-US" sz="1050" i="1" dirty="0">
                <a:solidFill>
                  <a:srgbClr val="8A6D1E"/>
                </a:solidFill>
                <a:latin typeface="Calibri" pitchFamily="34" charset="0"/>
                <a:cs typeface="Amiri" pitchFamily="2" charset="-78"/>
              </a:rPr>
              <a:t> signals a permission.</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Prohibition: complete — </a:t>
            </a:r>
            <a:pPr algn="l" indent="0" marL="0">
              <a:buNone/>
            </a:pPr>
            <a:r>
              <a:rPr lang="ar-SA" altLang="en-US" sz="1650" b="1" dirty="0">
                <a:solidFill>
                  <a:srgbClr val="1B3B6F"/>
                </a:solidFill>
                <a:latin typeface="Amiri" pitchFamily="2" charset="-78"/>
                <a:cs typeface="Amiri" pitchFamily="2" charset="-78"/>
              </a:rPr>
              <a:t>يَمْنَعُ القَانُونُ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البَيَانَاتُ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2" name="Shape 50"/>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تُبَاعُ</a:t>
            </a:r>
            <a:endParaRPr lang="ar-SA" sz="1700" dirty="0"/>
          </a:p>
        </p:txBody>
      </p:sp>
      <p:sp>
        <p:nvSpPr>
          <p:cNvPr id="55"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تُبَاعْ</a:t>
            </a:r>
            <a:endParaRPr lang="ar-SA" sz="1700" dirty="0"/>
          </a:p>
        </p:txBody>
      </p:sp>
      <p:sp>
        <p:nvSpPr>
          <p:cNvPr id="58" name="Shape 5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7"/>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9"/>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تُبَاعَ</a:t>
            </a:r>
            <a:endParaRPr lang="ar-SA" sz="1700" dirty="0"/>
          </a:p>
        </p:txBody>
      </p:sp>
      <p:sp>
        <p:nvSpPr>
          <p:cNvPr id="62" name="Text 6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passive verb is subjunctive: </a:t>
            </a:r>
            <a:pPr algn="l" indent="0" marL="0">
              <a:buNone/>
            </a:pPr>
            <a:r>
              <a:rPr lang="ar-SA" altLang="en-US" sz="1350" dirty="0">
                <a:solidFill>
                  <a:srgbClr val="8A6D1E"/>
                </a:solidFill>
                <a:latin typeface="Amiri" pitchFamily="2" charset="-78"/>
                <a:cs typeface="Amiri" pitchFamily="2" charset="-78"/>
              </a:rPr>
              <a:t>تُبَاعَ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3" name="Shape 6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2"/>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Permission: complete — </a:t>
            </a:r>
            <a:pPr algn="l" indent="0" marL="0">
              <a:buNone/>
            </a:pPr>
            <a:r>
              <a:rPr lang="ar-SA" altLang="en-US" sz="1650" b="1" dirty="0">
                <a:solidFill>
                  <a:srgbClr val="1B3B6F"/>
                </a:solidFill>
                <a:latin typeface="Amiri" pitchFamily="2" charset="-78"/>
                <a:cs typeface="Amiri" pitchFamily="2" charset="-78"/>
              </a:rPr>
              <a:t>لَا يَنْبَغِي أَنْ يُبِيحَ القَانُونُ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المُحَادَثَاتُ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7"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تُرَاقَبُ</a:t>
            </a:r>
            <a:endParaRPr lang="ar-SA" sz="1700" dirty="0"/>
          </a:p>
        </p:txBody>
      </p:sp>
      <p:sp>
        <p:nvSpPr>
          <p:cNvPr id="70"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تُرَاقَبْ</a:t>
            </a:r>
            <a:endParaRPr lang="ar-SA" sz="1700" dirty="0"/>
          </a:p>
        </p:txBody>
      </p:sp>
      <p:sp>
        <p:nvSpPr>
          <p:cNvPr id="73"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تُرَاقَبَ</a:t>
            </a:r>
            <a:endParaRPr lang="ar-SA" sz="1700" dirty="0"/>
          </a:p>
        </p:txBody>
      </p:sp>
      <p:sp>
        <p:nvSpPr>
          <p:cNvPr id="77"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After </a:t>
            </a:r>
            <a:pPr algn="l" indent="0" marL="0">
              <a:buNone/>
            </a:pPr>
            <a:r>
              <a:rPr lang="ar-SA" altLang="en-US" sz="1350" dirty="0">
                <a:solidFill>
                  <a:srgbClr val="8A6D1E"/>
                </a:solidFill>
                <a:latin typeface="Amiri" pitchFamily="2" charset="-78"/>
                <a:cs typeface="Amiri" pitchFamily="2" charset="-78"/>
              </a:rPr>
              <a:t>أَنْ</a:t>
            </a:r>
            <a:pPr algn="l" indent="0" marL="0">
              <a:buNone/>
            </a:pPr>
            <a:r>
              <a:rPr lang="en-US" sz="1050" i="1" dirty="0">
                <a:solidFill>
                  <a:srgbClr val="8A6D1E"/>
                </a:solidFill>
                <a:latin typeface="Calibri" pitchFamily="34" charset="0"/>
                <a:cs typeface="Amiri" pitchFamily="2" charset="-78"/>
              </a:rPr>
              <a:t> the passive verb is subjunctive: </a:t>
            </a:r>
            <a:pPr algn="l" indent="0" marL="0">
              <a:buNone/>
            </a:pPr>
            <a:r>
              <a:rPr lang="ar-SA" altLang="en-US" sz="1350" dirty="0">
                <a:solidFill>
                  <a:srgbClr val="8A6D1E"/>
                </a:solidFill>
                <a:latin typeface="Amiri" pitchFamily="2" charset="-78"/>
                <a:cs typeface="Amiri" pitchFamily="2" charset="-78"/>
              </a:rPr>
              <a:t>تُرَاقَبَ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2028 word: which appears in a social frame?</a:t>
            </a:r>
            <a:endParaRPr lang="en-US" sz="125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الذَّكَاءُ الاصْطِنَاعِيُّ يُعِيدُ تَشْكِيلَ سُوقِ العَمَلِ</a:t>
            </a:r>
            <a:endParaRPr lang="ar-SA" sz="155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cs typeface="Amiri" pitchFamily="2" charset="-78"/>
              </a:rPr>
              <a:t>المَدِينَةُ قَدِيمَةٌ</a:t>
            </a:r>
            <a:endParaRPr lang="ar-SA" sz="155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cs typeface="Amiri" pitchFamily="2" charset="-78"/>
              </a:rPr>
              <a:t>الطَّقْسُ مُشْمِسٌ</a:t>
            </a:r>
            <a:endParaRPr lang="ar-SA" sz="155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AI reshaping the job market is a 2028 word in a social frame.</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2028 word: which frames a privacy issue?</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cs typeface="Amiri" pitchFamily="2" charset="-78"/>
              </a:rPr>
              <a:t>الحَدِيقَةُ وَاسِعَةٌ</a:t>
            </a:r>
            <a:endParaRPr lang="ar-SA" sz="155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cs typeface="Amiri" pitchFamily="2" charset="-78"/>
              </a:rPr>
              <a:t>حِمَايَةُ كَلِمَةِ المُرُورِ مِنْ أَوْلَوِيَّاتِ الخُصُوصِيَّةِ</a:t>
            </a:r>
            <a:endParaRPr lang="ar-SA" sz="155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550" dirty="0">
                <a:solidFill>
                  <a:srgbClr val="9AA1AB"/>
                </a:solidFill>
                <a:latin typeface="Amiri" pitchFamily="2" charset="-78"/>
                <a:cs typeface="Amiri" pitchFamily="2" charset="-78"/>
              </a:rPr>
              <a:t>السَّيَّارَةُ سَرِيعَةٌ</a:t>
            </a:r>
            <a:endParaRPr lang="ar-SA" sz="155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Password protection is a 2028 word framing a privacy issue.</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P5-L04 · Argument</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P5-L05: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Progression P5 · Social Issues and Opinions · P5-L04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P5-L05 · Global Justice — International Responsibility and the Arab World</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العَدَالَةُ الدَّوْلِيَّةُ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international justice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القَانُونُ الدَّوْلِيُّ الإِنْسَانِيُّ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international humanitarian law</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ازْدِوَاجِيَّةُ المَعَايِيرِ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double standards</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الإِفْلَاتُ مِنَ العِقَابِ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impunity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يَرْفُضُ أَنْ</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refuses to</a:t>
            </a:r>
            <a:pPr indent="0" marL="0">
              <a:buNone/>
            </a:pPr>
            <a:r>
              <a:rPr lang="en-US" sz="1000" i="1" dirty="0">
                <a:solidFill>
                  <a:srgbClr val="5A6472"/>
                </a:solidFill>
                <a:latin typeface="Calibri" pitchFamily="34" charset="0"/>
                <a:cs typeface="Amiri" pitchFamily="2" charset="-78"/>
              </a:rPr>
              <a:t>  + verb in -a</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Should every country follow the same international rules?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cs typeface="Amiri" pitchFamily="2" charset="-78"/>
              </a:rPr>
              <a:t>صَحِيحٌ أَنَّ لِكُلِّ دَوْلَةٍ سِيَادَتَهَا، غَيْرَ أَنَّ ______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one prohibition (yamnaʿu an) and one permission (yubīḥu an) about data privacy.</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a 2028 word in a social frame and a concession–refutation (100 words).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100–110-word digital-society analysis.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P5-L04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P5-L05 · Global Justice — International Responsibility and the Arab World</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العَدَالَةُ العَالَمِيَّةُ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yamnaʿu an / yubīḥu an + a verb in -A (often passive: an tubāʿA) — two an, two -a — and keep AI, passwords and distance learning in SOCIAL sentences, balanced with ṣaḥīḥun anna … ghayra anna.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P5-L04 · Digital Society — Social Media, Privacy and the Digital Divide</dc:title>
  <dc:subject>PptxGenJS Presentation</dc:subject>
  <dc:creator>Al Madina Online School · Arabic Department</dc:creator>
  <cp:lastModifiedBy>Al Madina Online School · Arabic Department</cp:lastModifiedBy>
  <cp:revision>1</cp:revision>
  <dcterms:created xsi:type="dcterms:W3CDTF">2026-10-11T06:43:26Z</dcterms:created>
  <dcterms:modified xsi:type="dcterms:W3CDTF">2026-10-11T06:43:26Z</dcterms:modified>
</cp:coreProperties>
</file>