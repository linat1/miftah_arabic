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P5-L04. The website lesson “Digital Society — Social Media, Privacy and the Digital Divide”: vocabulary, grammar rules and quiz, patterns, common mistakes, sorter, listening, reading, speaking prompts and model, writing task and model, differentiation, final check and the lesson mission. Picture match: website visual game “Digital Society — Social Media, Privacy and the Digital Divide”.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prohibition (yamnaʿu an) and one permission (yubīḥu an) (website Core). Develop: add a “2028 word” in a social frame and a concession–refutation (100 words). Stretch: 110 words with both triggers, a concession–refutation and a Type 2.
• “2028 words”: the website marks الذَّكَاءُ الاصْطِنَاعِيُّ، كَلِمَةُ المُرُورِ، التَّعَلُّمُ عَنْ بُعْدٍ as designated vocabulary for the updated Cambridge specification and asks students to reuse them OUTSIDE a pure technology topic — that cross-topic reuse is what earns range.
• Faith link (optional): «وَلَا تَجَسَّسُوا» (al-Ḥujurāt 49:12) — do not spy: Islam protects privacy. «إِنْ جَاءَكُمْ فَاسِقٌ بِنَبَإٍ فَتَبَيَّنُوا» (49:6) — verify news before sharing it: the first rule against misinformation.
• Online safety: link to the school’s e-safety policy; if cyberbullying comes up personally, follow safeguarding procedures.
• Grammar links: an + -a and passives in -a (P5-L03) · concession–refutation (P5-L01) · Type 2 (P3-L05) · yataṭallabu an (P4).
• TEACHER-WRITTEN ITEMS: waṣl alif shown without a kasra; لِكَيْ always written with its sukūn; يَصِرُّ → يُصِرُّ in two quiz options (as in P5-L03); rule formulas, pattern tips, writing prompt and checklist in transliteration; sorter headings in transliteration; game cards 0, 1 and 4 not used; the trigger, double-an, control-verb and 2028-word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P5-L03. Questions 4–5 retrieve the demand triggers and the passive in -a (P5-L03) — today the same -a follows yamnaʿu an and yubīḥu 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Laws forbid and allow — and what they forbid or allow comes after an, ending in -a (often a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and حکومت are shared. Careful: Urdu خصوصیت = a special feature, but Arabic الخُصُوصِيَّةُ = PRIVACY (الحَقُّ فِي الخُصُوصِيَّةِ = the right to privacy). Urdu رقم = a sum of money; Arabic رَقْمٌ = a number, so رَقْمِيٌّ = digital (made of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Prohibition and permission triggers (website vocabulary (1 of 2)). Hear → Say → See → Use. Transliteration is printed for Core students (cover it for Develop/Stretch).
Prohibition and permission: يَمْنَعُ أَنْ / يُبِيحُ أَنْ + a verb in -a — very often a PASSIVE (أَنْ تُبَاعَ البَيَانَاتُ = that data be sold). يُقَيِّدُ (restricts) and يُنَظِّمُ (regulates) take a direct object: يُنَظِّمُ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Prohibition and permission triggers (website vocabulary (2 of 2)). Hear → Say → See → Use. Transliteration is printed for Core students (cover it for Develop/Stretch).
Prohibition and permission: يَمْنَعُ أَنْ / يُبِيحُ أَنْ + a verb in -a — very often a PASSIVE (أَنْ تُبَاعَ البَيَانَاتُ = that data be sold). يُقَيِّدُ (restricts) and يُنَظِّمُ (regulates) take a direct object: يُنَظِّمُ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society (website vocabulary (1 of 2)). Hear → Say → See → Use. Transliteration is printed for Core students (cover it for Develop/Stretch).
Digital society: الرَّقَابَةُ (censorship — controlling what is published) ≠ المُرَاقَبَةُ (surveillance — watching people). Same root, different jobs — a common exam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society (website vocabulary (2 of 2)). Hear → Say → See → Use. Transliteration is printed for Core students (cover it for Develop/Stretch).
FLEX: teach if time allows; otherwise these are on the website vocabulary tab for homework.
Digital society: الرَّقَابَةُ (censorship — controlling what is published) ≠ المُرَاقَبَةُ (surveillance — watching people). Same root, different jobs — a common exam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2028 vocabulary in social context (website vocabulary (1 of 2)). Hear → Say → See → Use. Transliteration is printed for Core students (cover it for Develop/Stretch).
FLEX: teach if time allows; otherwise these are on the website vocabulary tab for homework.
The “2028 words”: الذَّكَاءُ الاصْطِنَاعِيُّ · كَلِمَةُ المُرُورِ · التَّعَلُّمُ عَنْ بُعْدٍ — learn them in a SOCIAL sentence, not just a tech one: يُعِيدُ الذَّكَاءُ الاصْطِنَاعِيُّ تَشْكِيلَ سُوقِ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2028 vocabulary in social context (website vocabulary (2 of 2)). Hear → Say → See → Use. Transliteration is printed for Core students (cover it for Develop/Stretch).
FLEX: teach if time allows; otherwise these are on the website vocabulary tab for homework.
The “2028 words”: الذَّكَاءُ الاصْطِنَاعِيُّ · كَلِمَةُ المُرُورِ · التَّعَلُّمُ عَنْ بُعْدٍ — learn them in a SOCIAL sentence, not just a tech one: يُعِيدُ الذَّكَاءُ الاصْطِنَاعِيُّ تَشْكِيلَ سُوقِ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“Prohibition” and “Permission”, teaching point 1, the sorter and the reading (row 5: أَلَّا = أَنْ + لَا, from P4-L07).
Most of these verbs are PASSIVE: the law forbids data BEING sold — نَعْرِفُ مَا يُمْنَعُ، لَا مَنْ يَفْعَلُهُ. Passive in -a: tu-faʿ-a (تُنْشَرَ) · tu-fāʿal-a (تُرَاقَبَ) · tubāʿa (hollow).
Agreement: the law (m.) يَمْنَعُ · the systems / laws (non-human pl.) تَمْنَعُ.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“Permission”, mistake 2 (“After the first an, yubīḥa is also subjunctive”) and the reading (card 3: دُونَ أَنْ).
Read the chain slowly: يَنْبَغِي → أَنْ يُبِيحَ (1) → أَنْ تُرَاقَبَ (2). Each أَنْ makes the next verb end in -a. Students colour each أَنْ and the verb after it.
دُونَ أَنْ = without (doing): another trigger of -a — دُونَ أَنْ تُصَادِرَ (without seizing).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table, vocabulary group 1 and mistake 3.
Two kinds of -a today: the SUBJUNCTIVE -a on a verb after an (tunaẓẓimA) and the ACCUSATIVE -a on a noun that is an object (al-intirnitA · ḥurriyyatA · tashkīlA). Same sound, different jobs.
False friend: يُتِيحُ (makes available) ≠ يُبِيحُ (permits) — the website mission uses it as a distractor.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rules “Balance opportunity and risk” and “2028 words in a social frame”, teaching point 2, the listening and reading.
Row 4: غَيْرَ أَنَّهَا = however, it … — أَنَّ + a pronoun suffix (أَنَّهَا · أَنَّهُ) when the subject is already known.
Row 5: أَكْثَرَ تَطَوُّرًا / أَكْثَرَ أَمَانًا = more advanced / safer — akthar + an accusative noun (P4).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“Use the subjunctive after يَمْنَعُ أَنْ and يُبِيحُ أَنْ, balance opportunity against risk, and redeploy 2028 words in a social frame.”
• Prohibition: States what is prohibited.
• Permission: States what is permitted.
• Balance opportunity and risk: Concede the benefit, refute with the risk.
• 2028 words in a social frame: Redeploy designated words in a social context.
Website common error: Using an indicative verb after يَمْنَعُ أَنْ / يُبِيحُ أَنْ, or confusing prohibition with permission. Both take the subjunctive, and they are opposites.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“Open with a 2028 word in a SOCIAL sentence: AI and jobs. Be fair: ṣaḥīḥun anna … ghayra anna-hā. Now the law: tamnaʿu … AN tubāʿA (passive, -a). Then two an in a row: AN yubīḥA … AN turāqabA. Finally: law … LA-kānat.”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Digital Society — Social Media, Privacy and the Digital Divide”)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1 already has an + -a: أَنْ نَحْمِيَ. Upgrade each card into a P5 sentence: يَمْنَعُ القَانُونُ أَنْ تُنْتَهَكَ الخُصُوصِيَّةُ · صَحِيحٌ أَنَّ وَسَائِلَ التَّوَاصُلِ تَرْبِطُ النَّاسَ، غَيْرَ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Digital Society — Social Media, Privacy and the Digital Divide”)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1 already has an + -a: أَنْ نَحْمِيَ. Upgrade each card into a P5 sentence: يَمْنَعُ القَانُونُ أَنْ تُنْتَهَكَ الخُصُوصِيَّةُ · صَحِيحٌ أَنَّ وَسَائِلَ التَّوَاصُلِ تَرْبِطُ النَّاسَ، غَيْرَ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digital-rights line from a prohibition, a permission and a balanced conclusion.” Website feedback: any three different combinations work.
Core: read row 1 across. Develop: column 2 row 1 has TWO an (يُبِيحَ … تُرَاقَبَ). Stretch: open the line with a 2028 word in a social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prohibition into a permission (and vice versa) — what changes in meaning? What stays the same in grammar (an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prohibition into a permission (and vice versa) — what changes in meaning? What stays the same in grammar (an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write down every verb in -a you hear after an.
Listen 1: just listen. Listen 2: note answers. Then chat the letters.
Support: after the second listening, show the read-along slide (Arabic + English, line by line) for Core students.
SCRIPT (read aloud):
يَقُولُ الخَبِيرُ: تُشِيرُ الإِحْصَاءَاتُ إِلَى أَنَّ الذَّكَاءَ الاصْطِنَاعِيَّ يُعِيدُ تَشْكِيلَ اقْتِصَادَاتِ العَالَمِ العَرَبِيِّ. صَحِيحٌ أَنَّ التِّقْنِيَّةَ الرَّقْمِيَّةَ تُوَفِّرُ فُرَصًا لِلتَّعْلِيمِ وَالتَّوَاصُلِ، غَيْرَ أَنَّهَا تُثِيرُ مَخَاطِرَ المُرَاقَبَةِ وَنَشْرِ المَعْلُومَاتِ المُضَلِّلَةِ. تَمْنَعُ قَوَانِينُ حِمَايَةِ البَيَانَاتِ أَنْ تُبَاعَ مَعْلُومَاتُ المُسْتَخْدِمِينَ، وَلَا يَنْبَغِي أَنْ يُبِيحَ القَانُونُ أَنْ تُرَاقَبَ المُرَاسَلَاتُ الخَاصَّةُ. وَإِذَا اسْتَثْمَرَتِ الدُّوَلُ فِي البُنْيَةِ التَّحْتِيَّةِ الرَّقْمِيَّةِ، سَتَتَقَلَّصُ الفَجْوَةُ الرَّقْمِيَّةُ. وَلَوْ كَانَتِ الحَوْكَمَةُ أَكْثَرَ تَطَوُّرًا، لَكَانَتْ خُصُوصِيَّةُ المُوَاطِنِ أَكْثَرَ أَمَانًا.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تُوَازِنُ؟ (Balance)
B: يَتَطَلَّبُ التَّوَازُنُ أَنْ تُنَظِّمَ الدُّوَلُ الإِنْتِرْنِتَ دُونَ أَنْ تُقَيِّدَ حُرِّيَّةَ التَّعْبِيرِ. (يَتَطَلَّبُ أَنْ + subjunctive)
Website prompts and model. Pair task: “digital parliament” — A proposes a law with yamnaʿu an …, B answers ṣaḥīḥun anna … ghayra anna … and proposes a permission instead. Note the speaking model also has three an: يَنْبَغِي أَنْ يَمْنَعَ … أَنْ تُبَاعَ. To a girl: تُوَازِنِينَ.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prohibition (يَمْنَعُ أَنْ) and one permission (يُبِيحُ أَنْ). · Develop — Add a 2028 word in a social frame and a concession-refutation; reach 100 words. · Stretch — Reach 110 words with both triggers, a concession-refutation and a Type 2 counterfactual.
Website writing task (Stretch): Write a 100–110-word digital-society analysis. Open with a 2028 word in a social frame, concede a benefit with ṣaḥīḥun anna and refute with ghayra anna, use yamnaʿu an and yubīḥu an, and close with a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 إِلَى أَنَّ الذَّكَاءَ الاصْطِنَاعِيَّ يُعِيدُ تَشْكِيلَ · صَحِيحٌ أَنَّ … غَيْرَ أَنَّهَا · تَمْنَعُ … أَنْ تُبَاعَ · لَا يَنْبَغِي أَنْ يُبِيحَ … أَنْ تُرَاقَبَ · يَتَطَلَّبُ … أَنْ تُنَظِّمَ … دُونَ أَنْ تُصَادِرَ · لَوْ كَانَتْ … لَكَانَتْ.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(P5-L05 · Global Justice — International Responsibility and the Arab World) will spend class time USING this language, so students prepare it tonight — short, simple, easy to access (school guidance: “Simple, Short, Interesting, Relevant, Easy to access”). The five words come from the website P5-L05 vocabulary (global justice).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Digital Society — Social Media, Privacy and the Digital Divide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34" charset="0"/>
                <a:ea typeface="Amiri" pitchFamily="34" charset="-122"/>
                <a:cs typeface="Amiri" pitchFamily="34" charset="-120"/>
              </a:rPr>
              <a:t>المُجْتَمَعُ الرَّقْمِيُّ — وَسَائِلُ التَّوَاصُلِ وَالخُصُوصِيَّةُ وَالفَجْوَةُ الرَّقْمِيَّةُ</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Debate the digital world — yamnaʿu an (prohibits) and yubīḥu an (permits) + a verb in -a (often passive: an tubāʿa), regulate vs restrict, AI and passwords in a social frame, and a fair balance: ṣaḥīḥun anna … ghayra anna …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P5-L04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Prohibit / permit + an + -a, two an in one sentence, regulate / restrict, 2028 words in a social frame, opportunity vs risk.</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ea typeface="Calibri" pitchFamily="34" charset="-122"/>
                <a:cs typeface="Calibri" pitchFamily="34" charset="-120"/>
              </a:rPr>
              <a:t>Match digital-life pictures, build a digital-rights line, sort prohibition / permission / opportunity–risk.</a:t>
            </a:r>
            <a:endParaRPr lang="en-US" sz="11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الفَجْوَةُ الرَّقْمِيَّةُ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digital camera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digital divide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 gap in maths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خُصُوصِيَّةُ البَيَانَاتِ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data privacy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special offers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data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مَعْلُومَاتٌ مُضَلِّلَةٌ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useful information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secret information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misinformation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النَّاشِطُونَ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تُوَقِّعَ 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تَدْعُو الحَمْلَةُ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القَوَالِبُ النَّمَطِيَّةُ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تُكْسَرَ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تُكْسَرُ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الفَجْوَةُ الرَّقْمِيَّةُ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digital camera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digital divide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 gap in maths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خُصُوصِيَّةُ البَيَانَاتِ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data privacy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special offers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data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مَعْلُومَاتٌ مُضَلِّلَةٌ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useful information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secret information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misinformation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النَّاشِطُونَ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تُوَقِّعَ 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P5-L03: yuṭālibu bi-an.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تَدْعُو الحَمْلَةُ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القَوَالِبُ النَّمَطِيَّةُ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تُكْسَرَ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تُكْسَرُ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كُسِرَتْ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P5-L03: a passive in -a after 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Laws forbid and allow — and what they forbid or allow comes after an, ending in -a (often a passive).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يَمْنَعُ القَانُونُ أَنْ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تُبَاعَ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البَيَانَاتُ · لَا يُبِيحُ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تُرَاقَبَ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المُحَادَثَاتُ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the social impact of digital technology using the 2028 words in a social frame.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yamnaʿu an (prohibits) and yubīḥu an (permits)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Balance digital opportunity against digital risk.</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Integrate all P5 grammar into a digital-society analysis.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digital-society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yamnaʿu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yubīḥu an and lā yanbaghī an yubīḥa an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2028 word in a social frame.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opportunity and risk and add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110-word digital-society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Prohibition and permission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Digital society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2028 vocabulary in social context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رَقْمٌ · رَقْمِيٌّ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‎رقم‎ </a:t>
            </a:r>
            <a:pPr indent="0" marL="0">
              <a:buNone/>
            </a:pPr>
            <a:r>
              <a:rPr lang="en-US" sz="950" b="1" dirty="0">
                <a:solidFill>
                  <a:srgbClr val="2E8B57"/>
                </a:solidFill>
                <a:latin typeface="Calibri" pitchFamily="34" charset="0"/>
                <a:ea typeface="Calibri" pitchFamily="34" charset="-122"/>
                <a:cs typeface="Calibri" pitchFamily="34" charset="-120"/>
              </a:rPr>
              <a:t> raqam · Arabic: a number · digital · Urdu: a sum of money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خُصُوصِيَّةٌ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‎خصوصیت‎ </a:t>
            </a:r>
            <a:pPr indent="0" marL="0">
              <a:buNone/>
            </a:pPr>
            <a:r>
              <a:rPr lang="en-US" sz="950" b="1" dirty="0">
                <a:solidFill>
                  <a:srgbClr val="2E8B57"/>
                </a:solidFill>
                <a:latin typeface="Calibri" pitchFamily="34" charset="0"/>
                <a:ea typeface="Calibri" pitchFamily="34" charset="-122"/>
                <a:cs typeface="Calibri" pitchFamily="34" charset="-120"/>
              </a:rPr>
              <a:t> khusūsiyat · Arabic: privacy · Urdu: a special feature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maalūmāt · information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ذَكَاءٌ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‎ذہانت · ذکاوت‎ </a:t>
            </a:r>
            <a:pPr indent="0" marL="0">
              <a:buNone/>
            </a:pPr>
            <a:r>
              <a:rPr lang="en-US" sz="950" b="1" dirty="0">
                <a:solidFill>
                  <a:srgbClr val="2E8B57"/>
                </a:solidFill>
                <a:latin typeface="Calibri" pitchFamily="34" charset="0"/>
                <a:ea typeface="Calibri" pitchFamily="34" charset="-122"/>
                <a:cs typeface="Calibri" pitchFamily="34" charset="-120"/>
              </a:rPr>
              <a:t> zakāwat · intelligence (AI = الذَّكَاءُ الاصْطِنَاعِيُّ)</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حُكُومَةٌ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‎حکومت‎ </a:t>
            </a:r>
            <a:pPr indent="0" marL="0">
              <a:buNone/>
            </a:pPr>
            <a:r>
              <a:rPr lang="en-US" sz="950" b="1" dirty="0">
                <a:solidFill>
                  <a:srgbClr val="2E8B57"/>
                </a:solidFill>
                <a:latin typeface="Calibri" pitchFamily="34" charset="0"/>
                <a:ea typeface="Calibri" pitchFamily="34" charset="-122"/>
                <a:cs typeface="Calibri" pitchFamily="34" charset="-120"/>
              </a:rPr>
              <a:t> hukūmat · a government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Prohibition and permission triggers (1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يَمْنَعُ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prohibits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yam-na-ʿu 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تَمْنَعُ أَنْ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يُبِيحُ أَنْ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permits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yu-bī-ḥu an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تُبِيحُ أَنْ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يُقَيِّدُ</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restricts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yu-qay-yi-du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تُقَيِّدُ</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يُنَظِّمُ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regulates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yu-naẓ-ẓi-mu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تُنَظِّمُ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Prohibition and permission triggers (2 of 2)</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الحَوْكَمَةُ الرَّقْمِيَّةُ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governance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al-ḥaw-ka-ma-tu ar-raq-miy-ya-tu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مُوَاطَنَةٌ رَقْمِيَّةٌ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citizenship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mu-wā-ṭa-na-tun raq-miy-ya-tun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الحَقُّ فِي الخُصُوصِيَّةِ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right to privacy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al-ḥaq-qu fī al-khu-ṣū-ṣiy-ya-ti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حُرِّيَّةُ التَّعْبِيرِ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freedom of expression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ḥur-riy-ya-tu at-taʿ-bī-ri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Digital society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رَقْمِيٌّ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raq-miy-yun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الفَجْوَةُ الرَّقْمِيَّةُ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digital divide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al-faj-wa-tu ar-raq-miy-ya-tu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الاقْتِصَادُ الرَّقْمِيُّ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digital economy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alq-ti-ṣā-du ar-raq-miy-yu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خُصُوصِيَّةُ البَيَانَاتِ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data privacy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khu-ṣū-ṣiy-ya-tu al-ba-yā-nā-ti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Digital society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المُرَاقَبَةُ الرَّقْمِيَّةُ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surveillance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al-mu-rā-qa-ba-tu ar-raq-miy-ya-tu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الرَّقَابَةُ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censorship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ar-ra-qā-ba-tu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مَعْلُومَاتٌ مُضَلِّلَةٌ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misinformation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maʿ-lū-mā-tun mu-ḍal-li-la-tun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مَعْلُومَةٌ مُضَلِّلَةٌ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التَّنَمُّرُ الإِلِكْتُرُونِيُّ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cyberbullying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at-ta-nam-mu-ru al-i-lik-tu-rū-niy-yu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2028 vocabulary in social context (1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adh-dha-kā-ʾu alṣ-ṭi-nā-ʿiy-yu</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2028 word: social impact.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المُرُورِ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 al-mu-rū-ri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المُرُورِ</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عَنْ بُعْدٍ</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distance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ʿan buʿ-din</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2028 word: digital divide.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البُنْيَةُ التَّحْتِيَّةُ الرَّقْمِيَّةُ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al-bun-ya-tu at-taḥ-tiy-ya-tu ar-raq-miy-ya-tu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2028 vocabulary in social context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الأَمَانُ الرَّقْمِيُّ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al-a-mā-nu ar-raq-miy-yu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يُعِيدُ تَشْكِيلَ</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reshapes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yu-ʿī-du tash-kī-la</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1" name="Text 2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تُعِيدُ تَشْكِيلَ</a:t>
            </a:r>
            <a:endParaRPr lang="ar-SA"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سُوقُ العَمَلِ</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job market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sū-qu al-ʿa-ma-li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0" name="Shape 37"/>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يَتَعَرَّضُ لِـ</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exposed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ya-ta-ʿar-ra-ḍu li</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6" name="Text 4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يَتَعَرَّضُونَ لِـ</a:t>
            </a:r>
            <a:endParaRPr lang="ar-SA"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PROHIBIT AND PERMIT + AN (WEBSITE RULES 1–2, TEACHING POINT 1, SORTER AND TEXTS)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Forbid it, allow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المَنْعُ وَالإِبَاحَةُ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828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29077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after an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يَمْنَعُ القَانُونُ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تُبَاعَ</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البَيَانَاتُ الشَّخْصِيَّةُ.</a:t>
            </a:r>
            <a:endParaRPr lang="ar-SA" sz="1700" dirty="0"/>
          </a:p>
        </p:txBody>
      </p:sp>
      <p:sp>
        <p:nvSpPr>
          <p:cNvPr id="22" name="Text 19"/>
          <p:cNvSpPr txBox="1"/>
          <p:nvPr/>
        </p:nvSpPr>
        <p:spPr>
          <a:xfrm>
            <a:off x="48646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23" name="Text 20"/>
          <p:cNvSpPr txBox="1"/>
          <p:nvPr/>
        </p:nvSpPr>
        <p:spPr>
          <a:xfrm>
            <a:off x="2926080" y="2267712"/>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تُبَاعَ</a:t>
            </a:r>
            <a:endParaRPr lang="ar-SA" sz="19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يَمْنَعُ أَنْ</a:t>
            </a:r>
            <a:endParaRPr lang="ar-SA" sz="19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تَمْنَعُ الأَنْظِمَةُ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تُنْشَرَ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المَعْلُومَاتُ المُضَلِّلَةُ.</a:t>
            </a:r>
            <a:endParaRPr lang="ar-SA" sz="1700" dirty="0"/>
          </a:p>
        </p:txBody>
      </p:sp>
      <p:sp>
        <p:nvSpPr>
          <p:cNvPr id="29" name="Text 26"/>
          <p:cNvSpPr txBox="1"/>
          <p:nvPr/>
        </p:nvSpPr>
        <p:spPr>
          <a:xfrm>
            <a:off x="48646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0" name="Text 27"/>
          <p:cNvSpPr txBox="1"/>
          <p:nvPr/>
        </p:nvSpPr>
        <p:spPr>
          <a:xfrm>
            <a:off x="2926080" y="300471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تُنْشَرَ</a:t>
            </a:r>
            <a:endParaRPr lang="ar-SA" sz="19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تَمْنَعُ أَنْ</a:t>
            </a:r>
            <a:endParaRPr lang="ar-SA" sz="19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يُبِيحُ النِّظَامُ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يَصِلَ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الجَمِيعُ إِلَى الإِنْتِرْنِتِ.</a:t>
            </a:r>
            <a:endParaRPr lang="ar-SA" sz="1700" dirty="0"/>
          </a:p>
        </p:txBody>
      </p:sp>
      <p:sp>
        <p:nvSpPr>
          <p:cNvPr id="36" name="Text 33"/>
          <p:cNvSpPr txBox="1"/>
          <p:nvPr/>
        </p:nvSpPr>
        <p:spPr>
          <a:xfrm>
            <a:off x="48646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a:t>
            </a:r>
            <a:endParaRPr lang="en-US" sz="1100" dirty="0"/>
          </a:p>
        </p:txBody>
      </p:sp>
      <p:sp>
        <p:nvSpPr>
          <p:cNvPr id="37" name="Text 34"/>
          <p:cNvSpPr txBox="1"/>
          <p:nvPr/>
        </p:nvSpPr>
        <p:spPr>
          <a:xfrm>
            <a:off x="2926080" y="3741725"/>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يَصِلَ</a:t>
            </a:r>
            <a:endParaRPr lang="ar-SA" sz="19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يُبِيحُ أَنْ</a:t>
            </a:r>
            <a:endParaRPr lang="ar-SA" sz="19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لَا يُبِيحُ القَانُونُ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تُرَاقَبَ</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المُحَادَثَاتُ الخَاصَّةُ.</a:t>
            </a:r>
            <a:endParaRPr lang="ar-SA" sz="1700" dirty="0"/>
          </a:p>
        </p:txBody>
      </p:sp>
      <p:sp>
        <p:nvSpPr>
          <p:cNvPr id="43" name="Text 40"/>
          <p:cNvSpPr txBox="1"/>
          <p:nvPr/>
        </p:nvSpPr>
        <p:spPr>
          <a:xfrm>
            <a:off x="48646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44" name="Text 41"/>
          <p:cNvSpPr txBox="1"/>
          <p:nvPr/>
        </p:nvSpPr>
        <p:spPr>
          <a:xfrm>
            <a:off x="2926080" y="4478731"/>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تُرَاقَبَ</a:t>
            </a:r>
            <a:endParaRPr lang="ar-SA" sz="19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لَا يُبِيحُ أَنْ</a:t>
            </a:r>
            <a:endParaRPr lang="ar-SA" sz="19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يَجِبُ أَلَّا </a:t>
            </a:r>
            <a:pPr rtl="1" algn="ctr" indent="0" marL="0">
              <a:buNone/>
            </a:pPr>
            <a:r>
              <a:rPr lang="ar-SA" altLang="en-US" sz="1700" b="1" dirty="0">
                <a:solidFill>
                  <a:srgbClr val="7B3FA0"/>
                </a:solidFill>
                <a:latin typeface="Amiri" pitchFamily="34" charset="0"/>
                <a:ea typeface="Amiri" pitchFamily="34" charset="-122"/>
                <a:cs typeface="Amiri" pitchFamily="34" charset="-120"/>
              </a:rPr>
              <a:t>تُقَيِّدَ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حُرِّيَّةَ التَّعْبِيرِ.</a:t>
            </a:r>
            <a:endParaRPr lang="ar-SA" sz="1700" dirty="0"/>
          </a:p>
        </p:txBody>
      </p:sp>
      <p:sp>
        <p:nvSpPr>
          <p:cNvPr id="48" name="Text 45"/>
          <p:cNvSpPr txBox="1"/>
          <p:nvPr/>
        </p:nvSpPr>
        <p:spPr>
          <a:xfrm>
            <a:off x="48646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a:t>
            </a:r>
            <a:endParaRPr lang="en-US" sz="1100" dirty="0"/>
          </a:p>
        </p:txBody>
      </p:sp>
      <p:sp>
        <p:nvSpPr>
          <p:cNvPr id="49" name="Text 46"/>
          <p:cNvSpPr txBox="1"/>
          <p:nvPr/>
        </p:nvSpPr>
        <p:spPr>
          <a:xfrm>
            <a:off x="2926080" y="521573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تُقَيِّدَ</a:t>
            </a:r>
            <a:endParaRPr lang="ar-SA" sz="1900" dirty="0"/>
          </a:p>
        </p:txBody>
      </p:sp>
      <p:sp>
        <p:nvSpPr>
          <p:cNvPr id="50" name="Text 47"/>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يَجِبُ أَلَّا</a:t>
            </a:r>
            <a:endParaRPr lang="ar-SA" sz="19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an tubāʿu ✗ → an tubāʿa ✓. Website teaching point: “the subjunctive at its widest reach”.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TWO AN IN ONE SENTENCE (WEBSITE RULE 2, MISTAKE 2 AND READING)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 an: two verbs in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FIRST AN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يَنْبَغِي أَنْ يُبِيحَ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لَا يَنْبَغِي أَنْ يُبِيحَ القَانُونُ …</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law should not permit …</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yubīḥ-A (1st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SECOND AN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تُرَاقَبَ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 أَنْ تُرَاقَبَ المُحَادَثَاتُ الخَاصَّةُ.</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 private conversations to be monitored.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turāqab-A (2nd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DŪNA AN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دُونَ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أَنْ تُنَظِّمَ الدُّوَلُ الإِنْتِرْنِتَ دُونَ أَنْ تُصَادِرَ الخُصُوصِيَّةَ.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that states regulate the internet without seizing privacy.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without + an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after the first an, yubīḥu also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لَا يَنْبَغِي أَنْ يُبِيحَ القَانُونُ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لَا يَنْبَغِي أَنْ يُبِيحُ القَانُونُ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REGULATE, RESTRICT, PERMIT, PROHIBIT (WEBSITE TABLE, VOCABULARY AND MISTAKE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verbs of control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التَّنْظِيمِ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Takes</a:t>
            </a:r>
            <a:endParaRPr lang="en-US" sz="1100" dirty="0"/>
          </a:p>
        </p:txBody>
      </p:sp>
      <p:sp>
        <p:nvSpPr>
          <p:cNvPr id="18" name="Text 15"/>
          <p:cNvSpPr txBox="1"/>
          <p:nvPr/>
        </p:nvSpPr>
        <p:spPr>
          <a:xfrm>
            <a:off x="23591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تُنَظِّمَ</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a:t>
            </a:r>
            <a:pPr rtl="1" algn="ctr" indent="0" marL="0">
              <a:buNone/>
            </a:pPr>
            <a:r>
              <a:rPr lang="ar-SA" altLang="en-US" sz="1700" b="1" dirty="0">
                <a:solidFill>
                  <a:srgbClr val="1D5FBF"/>
                </a:solidFill>
                <a:latin typeface="Amiri" pitchFamily="34" charset="0"/>
                <a:ea typeface="Amiri" pitchFamily="34" charset="-122"/>
                <a:cs typeface="Amiri" pitchFamily="34" charset="-120"/>
              </a:rPr>
              <a:t>الإِنْتِرْنِتَ</a:t>
            </a:r>
            <a:endParaRPr lang="ar-SA" sz="1700" dirty="0"/>
          </a:p>
        </p:txBody>
      </p:sp>
      <p:sp>
        <p:nvSpPr>
          <p:cNvPr id="22" name="Text 19"/>
          <p:cNvSpPr txBox="1"/>
          <p:nvPr/>
        </p:nvSpPr>
        <p:spPr>
          <a:xfrm>
            <a:off x="41330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3" name="Text 20"/>
          <p:cNvSpPr txBox="1"/>
          <p:nvPr/>
        </p:nvSpPr>
        <p:spPr>
          <a:xfrm>
            <a:off x="23957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regulates</a:t>
            </a:r>
            <a:endParaRPr lang="en-US" sz="1100" dirty="0"/>
          </a:p>
        </p:txBody>
      </p:sp>
      <p:sp>
        <p:nvSpPr>
          <p:cNvPr id="24" name="Text 21"/>
          <p:cNvSpPr txBox="1"/>
          <p:nvPr/>
        </p:nvSpPr>
        <p:spPr>
          <a:xfrm>
            <a:off x="548640" y="2267712"/>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يُنَظِّمُ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يَجِبُ أَلَّا </a:t>
            </a:r>
            <a:pPr rtl="1" algn="ctr" indent="0" marL="0">
              <a:buNone/>
            </a:pPr>
            <a:r>
              <a:rPr lang="ar-SA" altLang="en-US" sz="1700" b="1" dirty="0">
                <a:solidFill>
                  <a:srgbClr val="D6336C"/>
                </a:solidFill>
                <a:latin typeface="Amiri" pitchFamily="34" charset="0"/>
                <a:ea typeface="Amiri" pitchFamily="34" charset="-122"/>
                <a:cs typeface="Amiri" pitchFamily="34" charset="-120"/>
              </a:rPr>
              <a:t>تُقَيِّدَ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a:t>
            </a:r>
            <a:pPr rtl="1" algn="ctr" indent="0" marL="0">
              <a:buNone/>
            </a:pPr>
            <a:r>
              <a:rPr lang="ar-SA" altLang="en-US" sz="1700" b="1" dirty="0">
                <a:solidFill>
                  <a:srgbClr val="D6336C"/>
                </a:solidFill>
                <a:latin typeface="Amiri" pitchFamily="34" charset="0"/>
                <a:ea typeface="Amiri" pitchFamily="34" charset="-122"/>
                <a:cs typeface="Amiri" pitchFamily="34" charset="-120"/>
              </a:rPr>
              <a:t>حُرِّيَّةَ</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التَّعْبِيرِ</a:t>
            </a:r>
            <a:endParaRPr lang="ar-SA" sz="1700" dirty="0"/>
          </a:p>
        </p:txBody>
      </p:sp>
      <p:sp>
        <p:nvSpPr>
          <p:cNvPr id="29" name="Text 26"/>
          <p:cNvSpPr txBox="1"/>
          <p:nvPr/>
        </p:nvSpPr>
        <p:spPr>
          <a:xfrm>
            <a:off x="41330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30" name="Text 27"/>
          <p:cNvSpPr txBox="1"/>
          <p:nvPr/>
        </p:nvSpPr>
        <p:spPr>
          <a:xfrm>
            <a:off x="23957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restricts</a:t>
            </a:r>
            <a:endParaRPr lang="en-US" sz="1100" dirty="0"/>
          </a:p>
        </p:txBody>
      </p:sp>
      <p:sp>
        <p:nvSpPr>
          <p:cNvPr id="31" name="Text 28"/>
          <p:cNvSpPr txBox="1"/>
          <p:nvPr/>
        </p:nvSpPr>
        <p:spPr>
          <a:xfrm>
            <a:off x="548640" y="300471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يُقَيِّدُ</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لَا 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يُبِيحَ</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القَانُونُ </a:t>
            </a:r>
            <a:pPr rtl="1" algn="ctr" indent="0" marL="0">
              <a:buNone/>
            </a:pPr>
            <a:r>
              <a:rPr lang="ar-SA" altLang="en-US" sz="1700" b="1" dirty="0">
                <a:solidFill>
                  <a:srgbClr val="0E7C86"/>
                </a:solidFill>
                <a:latin typeface="Amiri" pitchFamily="34" charset="0"/>
                <a:ea typeface="Amiri" pitchFamily="34" charset="-122"/>
                <a:cs typeface="Amiri" pitchFamily="34" charset="-120"/>
              </a:rPr>
              <a:t>بَيْعَ</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الخُصُوصِيَّةِ</a:t>
            </a:r>
            <a:endParaRPr lang="ar-SA" sz="1700" dirty="0"/>
          </a:p>
        </p:txBody>
      </p:sp>
      <p:sp>
        <p:nvSpPr>
          <p:cNvPr id="36" name="Text 33"/>
          <p:cNvSpPr txBox="1"/>
          <p:nvPr/>
        </p:nvSpPr>
        <p:spPr>
          <a:xfrm>
            <a:off x="41330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 / object</a:t>
            </a:r>
            <a:endParaRPr lang="en-US" sz="1100" dirty="0"/>
          </a:p>
        </p:txBody>
      </p:sp>
      <p:sp>
        <p:nvSpPr>
          <p:cNvPr id="37" name="Text 34"/>
          <p:cNvSpPr txBox="1"/>
          <p:nvPr/>
        </p:nvSpPr>
        <p:spPr>
          <a:xfrm>
            <a:off x="23957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permits</a:t>
            </a:r>
            <a:endParaRPr lang="en-US" sz="1100" dirty="0"/>
          </a:p>
        </p:txBody>
      </p:sp>
      <p:sp>
        <p:nvSpPr>
          <p:cNvPr id="38" name="Text 35"/>
          <p:cNvSpPr txBox="1"/>
          <p:nvPr/>
        </p:nvSpPr>
        <p:spPr>
          <a:xfrm>
            <a:off x="548640" y="3741725"/>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يُبِيحُ</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يَمْنَعُ التَّشْرِيعُ أَنْ </a:t>
            </a:r>
            <a:pPr rtl="1" algn="ctr" indent="0" marL="0">
              <a:buNone/>
            </a:pPr>
            <a:r>
              <a:rPr lang="ar-SA" altLang="en-US" sz="1700" b="1" dirty="0">
                <a:solidFill>
                  <a:srgbClr val="7B3FA0"/>
                </a:solidFill>
                <a:latin typeface="Amiri" pitchFamily="34" charset="0"/>
                <a:ea typeface="Amiri" pitchFamily="34" charset="-122"/>
                <a:cs typeface="Amiri" pitchFamily="34" charset="-120"/>
              </a:rPr>
              <a:t>يُرَاقَبَ</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المُوَاطِنُونَ دُونَ إِذْنٍ</a:t>
            </a:r>
            <a:endParaRPr lang="ar-SA" sz="1700" dirty="0"/>
          </a:p>
        </p:txBody>
      </p:sp>
      <p:sp>
        <p:nvSpPr>
          <p:cNvPr id="41" name="Text 38"/>
          <p:cNvSpPr txBox="1"/>
          <p:nvPr/>
        </p:nvSpPr>
        <p:spPr>
          <a:xfrm>
            <a:off x="41330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42" name="Text 39"/>
          <p:cNvSpPr txBox="1"/>
          <p:nvPr/>
        </p:nvSpPr>
        <p:spPr>
          <a:xfrm>
            <a:off x="23957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prohibits</a:t>
            </a:r>
            <a:endParaRPr lang="en-US" sz="1100" dirty="0"/>
          </a:p>
        </p:txBody>
      </p:sp>
      <p:sp>
        <p:nvSpPr>
          <p:cNvPr id="43" name="Text 40"/>
          <p:cNvSpPr txBox="1"/>
          <p:nvPr/>
        </p:nvSpPr>
        <p:spPr>
          <a:xfrm>
            <a:off x="548640" y="4478731"/>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يَمْنَعُ</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يُعِيدُ الذَّكَاءُ الاصْطِنَاعِيُّ </a:t>
            </a:r>
            <a:pPr rtl="1" algn="ctr" indent="0" marL="0">
              <a:buNone/>
            </a:pPr>
            <a:r>
              <a:rPr lang="ar-SA" altLang="en-US" sz="1700" b="1" dirty="0">
                <a:solidFill>
                  <a:srgbClr val="C77700"/>
                </a:solidFill>
                <a:latin typeface="Amiri" pitchFamily="34" charset="0"/>
                <a:ea typeface="Amiri" pitchFamily="34" charset="-122"/>
                <a:cs typeface="Amiri" pitchFamily="34" charset="-120"/>
              </a:rPr>
              <a:t>تَشْكِيلَ</a:t>
            </a:r>
            <a:pPr rtl="1" algn="ctr" indent="0" marL="0">
              <a:buNone/>
            </a:pPr>
            <a:r>
              <a:rPr lang="ar-SA" altLang="en-US" sz="1700" b="1" dirty="0">
                <a:solidFill>
                  <a:srgbClr val="1B3B6F"/>
                </a:solidFill>
                <a:latin typeface="Amiri" pitchFamily="34" charset="0"/>
                <a:ea typeface="Amiri" pitchFamily="34" charset="-122"/>
                <a:cs typeface="Amiri" pitchFamily="34" charset="-120"/>
              </a:rPr>
              <a:t> سُوقِ العَمَلِ</a:t>
            </a:r>
            <a:endParaRPr lang="ar-SA" sz="1700" dirty="0"/>
          </a:p>
        </p:txBody>
      </p:sp>
      <p:sp>
        <p:nvSpPr>
          <p:cNvPr id="46" name="Text 43"/>
          <p:cNvSpPr txBox="1"/>
          <p:nvPr/>
        </p:nvSpPr>
        <p:spPr>
          <a:xfrm>
            <a:off x="41330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(-a)</a:t>
            </a:r>
            <a:endParaRPr lang="en-US" sz="1100" dirty="0"/>
          </a:p>
        </p:txBody>
      </p:sp>
      <p:sp>
        <p:nvSpPr>
          <p:cNvPr id="47" name="Text 44"/>
          <p:cNvSpPr txBox="1"/>
          <p:nvPr/>
        </p:nvSpPr>
        <p:spPr>
          <a:xfrm>
            <a:off x="23957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redoes</a:t>
            </a:r>
            <a:endParaRPr lang="en-US" sz="1100" dirty="0"/>
          </a:p>
        </p:txBody>
      </p:sp>
      <p:sp>
        <p:nvSpPr>
          <p:cNvPr id="48" name="Text 45"/>
          <p:cNvSpPr txBox="1"/>
          <p:nvPr/>
        </p:nvSpPr>
        <p:spPr>
          <a:xfrm>
            <a:off x="548640" y="521573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يُعِيدُ</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yuʿīdu … tashkīlu ✗ → tashkīla ✓ — the object of a verb takes -a too (accusative).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2028 WORDS IN A SOCIAL FRAME + THE BALANCE (WEBSITE RULES 3–4, TEACHING POINT 2 AND TEXTS)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Opportunity, risk — and what could be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الفُرْصَةُ وَالخَطَرُ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 → jobs</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الذَّكَاءُ الاصْطِنَاعِيُّ</a:t>
            </a:r>
            <a:pPr rtl="1" algn="ctr" indent="0" marL="0">
              <a:buNone/>
            </a:pPr>
            <a:r>
              <a:rPr lang="ar-SA" altLang="en-US" sz="1700" b="1" dirty="0">
                <a:solidFill>
                  <a:srgbClr val="1B3B6F"/>
                </a:solidFill>
                <a:latin typeface="Amiri" pitchFamily="34" charset="0"/>
                <a:ea typeface="Amiri" pitchFamily="34" charset="-122"/>
                <a:cs typeface="Amiri" pitchFamily="34" charset="-120"/>
              </a:rPr>
              <a:t> يُعِيدُ تَشْكِيلَ اقْتِصَادَاتِ العَالَمِ العَرَبِيِّ</a:t>
            </a:r>
            <a:endParaRPr lang="ar-SA" sz="17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2028 word · society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password → rights</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حِمَايَةُ </a:t>
            </a:r>
            <a:pPr rtl="1" algn="ctr" indent="0" marL="0">
              <a:buNone/>
            </a:pPr>
            <a:r>
              <a:rPr lang="ar-SA" altLang="en-US" sz="1700" b="1" dirty="0">
                <a:solidFill>
                  <a:srgbClr val="C77700"/>
                </a:solidFill>
                <a:latin typeface="Amiri" pitchFamily="34" charset="0"/>
                <a:ea typeface="Amiri" pitchFamily="34" charset="-122"/>
                <a:cs typeface="Amiri" pitchFamily="34" charset="-120"/>
              </a:rPr>
              <a:t>كَلِمَةِ المُرُورِ</a:t>
            </a:r>
            <a:pPr rtl="1" algn="ctr" indent="0" marL="0">
              <a:buNone/>
            </a:pPr>
            <a:r>
              <a:rPr lang="ar-SA" altLang="en-US" sz="1700" b="1" dirty="0">
                <a:solidFill>
                  <a:srgbClr val="1B3B6F"/>
                </a:solidFill>
                <a:latin typeface="Amiri" pitchFamily="34" charset="0"/>
                <a:ea typeface="Amiri" pitchFamily="34" charset="-122"/>
                <a:cs typeface="Amiri" pitchFamily="34" charset="-120"/>
              </a:rPr>
              <a:t> مِنْ أَوْلَوِيَّاتِ الخُصُوصِيَّةِ</a:t>
            </a:r>
            <a:endParaRPr lang="ar-SA" sz="17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2028 word · privacy</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learning → inequality</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التَّعَلُّمُ عَنْ بُعْدٍ</a:t>
            </a:r>
            <a:pPr rtl="1" algn="ctr" indent="0" marL="0">
              <a:buNone/>
            </a:pPr>
            <a:r>
              <a:rPr lang="ar-SA" altLang="en-US" sz="1700" b="1" dirty="0">
                <a:solidFill>
                  <a:srgbClr val="1B3B6F"/>
                </a:solidFill>
                <a:latin typeface="Amiri" pitchFamily="34" charset="0"/>
                <a:ea typeface="Amiri" pitchFamily="34" charset="-122"/>
                <a:cs typeface="Amiri" pitchFamily="34" charset="-120"/>
              </a:rPr>
              <a:t> … غَيْرَ أَنَّ الفَجْوَةَ الرَّقْمِيَّةَ بَاتَتْ …</a:t>
            </a:r>
            <a:endParaRPr lang="ar-SA" sz="17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2028 word · divide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ghayra anna-hā</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التِّقْنِيَّةَ تُوَفِّرُ فُرَصًا، </a:t>
            </a:r>
            <a:pPr rtl="1" algn="ctr" indent="0" marL="0">
              <a:buNone/>
            </a:pPr>
            <a:r>
              <a:rPr lang="ar-SA" altLang="en-US" sz="1700" b="1" dirty="0">
                <a:solidFill>
                  <a:srgbClr val="D6336C"/>
                </a:solidFill>
                <a:latin typeface="Amiri" pitchFamily="34" charset="0"/>
                <a:ea typeface="Amiri" pitchFamily="34" charset="-122"/>
                <a:cs typeface="Amiri" pitchFamily="34" charset="-120"/>
              </a:rPr>
              <a:t>غَيْرَ أَنَّهَا</a:t>
            </a:r>
            <a:pPr rtl="1" algn="ctr" indent="0" marL="0">
              <a:buNone/>
            </a:pPr>
            <a:r>
              <a:rPr lang="ar-SA" altLang="en-US" sz="1700" b="1" dirty="0">
                <a:solidFill>
                  <a:srgbClr val="1B3B6F"/>
                </a:solidFill>
                <a:latin typeface="Amiri" pitchFamily="34" charset="0"/>
                <a:ea typeface="Amiri" pitchFamily="34" charset="-122"/>
                <a:cs typeface="Amiri" pitchFamily="34" charset="-120"/>
              </a:rPr>
              <a:t> تُثِيرُ مَخَاطِرَ المُرَاقَبَةِ</a:t>
            </a:r>
            <a:endParaRPr lang="ar-SA" sz="17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akthar + tamyīz</a:t>
            </a:r>
            <a:endParaRPr lang="en-US" sz="1100" dirty="0"/>
          </a:p>
        </p:txBody>
      </p:sp>
      <p:sp>
        <p:nvSpPr>
          <p:cNvPr id="41" name="Text 38"/>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كَانَتِ الحَوْكَمَةُ أَكْثَرَ تَطَوُّرًا، </a:t>
            </a:r>
            <a:pPr rtl="1" algn="ctr" indent="0" marL="0">
              <a:buNone/>
            </a:pPr>
            <a:r>
              <a:rPr lang="ar-SA" altLang="en-US" sz="17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خُصُوصِيَّةُ المُوَاطِنِ أَكْثَرَ أَمَانًا</a:t>
            </a:r>
            <a:endParaRPr lang="ar-SA" sz="17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cross-context reuse of the designated words is exactly what is rewarded.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Extended subjunctive: prohibition and permission</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المَنْصُوبُ المُوَسَّعُ: المَنْعُ وَالإِبَاحَةُ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Prohibition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yamnaʿu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يَمْنَعُ القَانُونُ أَنْ تُبَاعَ البَيَانَاتُ الشَّخْصِيَّةُ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Permission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yubīḥu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يَنْبَغِي أَنْ يُبِيحَ القَانُونُ أَنْ تُرَاقَبَ المُحَادَثَاتُ الخَاصَّةُ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Balance opportunity and risk</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ghayra anna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التِّقْنِيَّةَ تُوَفِّرُ فُرَصًا، غَيْرَ أَنَّهَا تُثِيرُ مَخَاطِرَ المُرَاقَبَةِ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2028 words in a social frame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al-dhakāʾ al-iṣṭināʿī · kalimat al-murūr</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يُعِيدُ الذَّكَاءُ الاصْطِنَاعِيُّ تَشْكِيلَ سُوقِ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prohibition?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يَدْعُو إِلَى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permission?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يُصِرُّ عَلَى أَنْ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both triggers?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indicative verb</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subjunctive verb (final fatḥa)</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verb</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يَمْنَعُ القَانُونُ أَنْ ___ البَيَانَاتُ الشَّخْصِيَّةُ.</a:t>
            </a:r>
            <a:endParaRPr lang="ar-SA" sz="13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prohibition?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يُبِيحُ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يَدْعُو إِلَى أَنْ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يَمْنَعُ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يَمْنَعُ أَنْ</a:t>
            </a:r>
            <a:pPr algn="l" indent="0" marL="0">
              <a:buNone/>
            </a:pPr>
            <a:r>
              <a:rPr lang="en-US" sz="1050" i="1" dirty="0">
                <a:solidFill>
                  <a:srgbClr val="8A6D1E"/>
                </a:solidFill>
                <a:latin typeface="Calibri" pitchFamily="34" charset="0"/>
                <a:ea typeface="Calibri" pitchFamily="34" charset="-122"/>
                <a:cs typeface="Calibri" pitchFamily="34" charset="-120"/>
              </a:rPr>
              <a:t> states a prohibition.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permission?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يَمْنَعُ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يُصِرُّ عَلَى أَنْ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يُبِيحُ أَنْ</a:t>
            </a:r>
            <a:pPr algn="l" indent="0" marL="0">
              <a:buNone/>
            </a:pPr>
            <a:r>
              <a:rPr lang="en-US" sz="1050" i="1" dirty="0">
                <a:solidFill>
                  <a:srgbClr val="8A6D1E"/>
                </a:solidFill>
                <a:latin typeface="Calibri" pitchFamily="34" charset="0"/>
                <a:ea typeface="Calibri" pitchFamily="34" charset="-122"/>
                <a:cs typeface="Calibri" pitchFamily="34" charset="-120"/>
              </a:rPr>
              <a:t> states a permission.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both triggers?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indicative verb</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subjunctive verb (final fatḥa)</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past verb</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triggers take a subjunctive verb.</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يَمْنَعُ القَانُونُ أَنْ ___ البَيَانَاتُ الشَّخْصِيَّةُ.</a:t>
            </a:r>
            <a:endParaRPr lang="ar-SA" sz="13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تُبَاعَ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تُبَاعُ</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تُبَاعْ</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passive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تُبَاعَ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write a digital-society analysis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2028 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الذَّكَاءُ الاصْطِنَاعِيُّ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يُعِيدُ تَشْكِيلَ …</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Social frame.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غَيْرَ أَنَّهَا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Fair, then firm.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Prohibit / permit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أَنْ </a:t>
            </a:r>
            <a:pPr rtl="1" algn="ctr" indent="0" marL="0">
              <a:buNone/>
            </a:pPr>
            <a:r>
              <a:rPr lang="ar-SA" altLang="en-US" sz="2700" b="1" dirty="0">
                <a:solidFill>
                  <a:srgbClr val="D6336C"/>
                </a:solidFill>
                <a:latin typeface="Amiri" pitchFamily="34" charset="0"/>
                <a:ea typeface="Amiri" pitchFamily="34" charset="-122"/>
                <a:cs typeface="Amiri" pitchFamily="34" charset="-120"/>
              </a:rPr>
              <a:t>تُبَاعَ</a:t>
            </a:r>
            <a:pPr rtl="1" algn="ctr" indent="0" marL="0">
              <a:buNone/>
            </a:pPr>
            <a:r>
              <a:rPr lang="ar-SA" altLang="en-US" sz="2700" b="1" dirty="0">
                <a:solidFill>
                  <a:srgbClr val="1B3B6F"/>
                </a:solidFill>
                <a:latin typeface="Amiri" pitchFamily="34" charset="0"/>
                <a:ea typeface="Amiri" pitchFamily="34" charset="-122"/>
                <a:cs typeface="Amiri" pitchFamily="34" charset="-120"/>
              </a:rPr>
              <a:t> · أَنْ </a:t>
            </a:r>
            <a:pPr rtl="1" algn="ctr" indent="0" marL="0">
              <a:buNone/>
            </a:pPr>
            <a:r>
              <a:rPr lang="ar-SA" altLang="en-US" sz="2700" b="1" dirty="0">
                <a:solidFill>
                  <a:srgbClr val="0E7C86"/>
                </a:solidFill>
                <a:latin typeface="Amiri" pitchFamily="34" charset="0"/>
                <a:ea typeface="Amiri" pitchFamily="34" charset="-122"/>
                <a:cs typeface="Amiri" pitchFamily="34" charset="-120"/>
              </a:rPr>
              <a:t>تُرَاقَبَ</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Could be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2028 WORD</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BALANCE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PROHIBIT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PERMIT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يُعِيدُ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الذَّكَاءُ الاصْطِنَاعِيُّ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تَشْكِيلَ سُوقِ العَمَلِ فِي العَالَمِ العَرَبِيِّ.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التِّقْنِيَّةَ تُوَفِّرُ فُرَصًا لِلتَّعْلِيمِ،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غَيْرَ 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تُثِيرُ مَخَاطِرَ المُرَاقَبَةِ. تَمْنَعُ قَوَانِينُ حِمَايَةِ البَيَانَاتِ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تُبَاعَ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مَعْلُومَاتُ المُسْتَخْدِمِينَ، وَلَا يَنْبَغِي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يُبِيحَ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القَانُونُ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تُرَاقَبَ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المُرَاسَلَاتُ الخَاصَّةُ.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كَانَتِ الحَوْكَمَةُ أَكْثَرَ تَطَوُّرًا،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الخُصُوصِيَّةُ أَكْثَرَ أَمَانًا.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Artificial intelligence is reshaping the job market in the Arab world. It is true that technology offers opportunities for education; however, it raises the risk of surveillance. Data-protection laws prohibit users’ information being sold, and the law should not permit private correspondence to be monitored. Had governance been more advanced, privacy would be safer.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تَمْنَعُ قَوَانِينُ حِمَايَةِ البَيَانَاتِ أَنْ تُبَاعَ مَعْلُومَاتُ المُسْتَخْدِمِينَ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data-protection laws prohibit users’ information being sold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Prohibition: yamnaʿu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لَا يَنْبَغِي أَنْ يُبِيحَ القَانُونُ أَنْ تَخْضَعَ المُرَاسَلَاتُ لِلْمُرَاقَبَةِ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law should not permit correspondence to be subject to monitoring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Permission: yubīḥu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يُعِيدُ الذَّكَاءُ الاصْطِنَاعِيُّ تَشْكِيلَ سُوقِ العَمَلِ فِي العَالَمِ العَرَبِيِّ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artificial intelligence is reshaping the job market in the Arab world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2028 word in a social frame.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DIGITAL SOCIETY — SOCIAL MEDIA, PRIVACY AND THE DIGITAL DIVIDE”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Life online: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privacy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artificial intelligence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social media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 يُسَاعِدُ فِي حَلِّ بَعْضِ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وَسَائِلُ التَّوَاصُلِ تَرْبِطُ النَّاسَ.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نَحْمِيَ خُصُوصِيَّتَنَا عَلَى الإِنْتَرْنِتِ.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privacy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يَجِبُ أَنْ نَحْمِيَ خُصُوصِيَّتَنَا عَلَى الإِنْتَرْنِتِ.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protect our privacy on the internet.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artificial intelligence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الذَّكَاءُ الاصْطِنَاعِيُّ يُسَاعِدُ فِي حَلِّ بَعْضِ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Artificial intelligence helps solve some problems.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social media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وَسَائِلُ التَّوَاصُلِ تَرْبِطُ النَّاسَ.</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Social media connects people.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DIGITAL-RIGHTS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Prohibit + permit +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عَنِ الحُقُوقِ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Prohibition (yamnaʿu an)</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Permission (yubīḥu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Balanced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تَمْنَعُ قَوَانِينُ حِمَايَةِ البَيَانَاتِ أَنْ تُبَاعَ مَعْلُومَاتُ المُسْتَخْدِمِينَ</a:t>
            </a:r>
            <a:endParaRPr lang="ar-SA" sz="14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وَلَا يَنْبَغِي أَنْ يُبِيحَ القَانُونُ أَنْ تُرَاقَبَ المُرَاسَلَاتُ الخَاصَّةُ</a:t>
            </a:r>
            <a:endParaRPr lang="ar-SA" sz="14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وَيَتَطَلَّبُ التَّوَازُنُ أَنْ تُنَظِّمَ الدُّوَلُ الإِنْتِرْنِتَ دُونَ تَقْيِيدِ الحُرِّيَّةِ</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تَمْنَعُ الأَنْظِمَةُ أَنْ تُنْشَرَ المَعْلُومَاتُ المُضَلِّلَةُ</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وَلَا يُبِيحُ النِّظَامُ أَنْ تُبَاعَ الخُصُوصِيَّةُ لِلشَّرِكَاتِ</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وَمِنَ الضَّرُورِيِّ أَنْ تُطَوِّرَ الدُّوَلُ مُوَاطَنَةً رَقْمِيَّةً مُتَوَازِنَةً</a:t>
            </a:r>
            <a:endParaRPr lang="ar-SA" sz="15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يَمْنَعُ التَّشْرِيعُ أَنْ يُرَاقَبَ المُوَاطِنُونَ دُونَ إِذْنٍ</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وَيُبِيحُ التَّشْرِيعُ أَنْ يَصِلَ الجَمِيعُ إِلَى الإِنْتِرْنِتِ بِأَمَانٍ</a:t>
            </a:r>
            <a:endParaRPr lang="ar-SA" sz="15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وَلَوْ كَانَتِ الحَوْكَمَةُ أَقْوَى لَكَانَتِ الخُصُوصِيَّةُ أَكْثَرَ أَمَانًا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count the an in your line: does every verb after an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Prohibition, permission — or opportunity / risk?</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يَمْنَعُ القَانُونُ أَنْ تُبَاعَ البَيَانَاتُ</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تَمْنَعُ الأَنْظِمَةُ أَنْ تُنْشَرَ المَعْلُومَاتُ المُضَلِّلَةُ</a:t>
            </a:r>
            <a:endParaRPr lang="ar-SA" sz="13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يَمْنَعُ التَّشْرِيعُ أَنْ يُرَاقَبَ المُوَاطِنُونَ دُونَ إِذْنٍ</a:t>
            </a:r>
            <a:endParaRPr lang="ar-SA" sz="12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لَا يُبِيحُ القَانُونُ أَنْ تُرَاقَبَ المُحَادَثَاتُ الخَاصَّةُ</a:t>
            </a:r>
            <a:endParaRPr lang="ar-SA" sz="12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يُبِيحُ النِّظَامُ أَنْ يَصِلَ الجَمِيعُ إِلَى الإِنْتِرْنِتِ</a:t>
            </a:r>
            <a:endParaRPr lang="ar-SA" sz="13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لَا يَنْبَغِي أَنْ يُبِيحَ القَانُونُ بَيْعَ الخُصُوصِيَّةِ</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صَحِيحٌ أَنَّ التِّقْنِيَّةَ تُوَفِّرُ فُرَصًا لِلتَّعَلُّمِ</a:t>
            </a:r>
            <a:endParaRPr lang="ar-SA" sz="15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غَيْرَ أَنَّهَا تُثِيرُ مَخَاطِرَ المُرَاقَبَةِ الرَّقْمِيَّةِ</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تُؤَدِّي المَعْلُومَاتُ المُضَلِّلَةُ إِلَى تَشْوِيهِ الوَعْيِ</a:t>
            </a:r>
            <a:endParaRPr lang="ar-SA" sz="13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prohibition (yamnaʿu 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permission (yubīḥu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opportunity / risk</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prohibition (yamnaʿu 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يَمْنَعُ القَانُونُ أَنْ تُبَاعَ البَيَانَاتُ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تَمْنَعُ الأَنْظِمَةُ أَنْ تُنْشَرَ المَعْلُومَاتُ المُضَلِّلَةُ</a:t>
            </a:r>
            <a:endParaRPr lang="ar-SA" sz="16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يَمْنَعُ التَّشْرِيعُ أَنْ يُرَاقَبَ المُوَاطِنُونَ دُونَ إِذْنٍ</a:t>
            </a:r>
            <a:endParaRPr lang="ar-SA" sz="16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permission (yubīḥu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يُبِيحُ القَانُونُ أَنْ تُرَاقَبَ المُحَادَثَاتُ الخَاصَّةُ</a:t>
            </a:r>
            <a:endParaRPr lang="ar-SA" sz="15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يُبِيحُ النِّظَامُ أَنْ يَصِلَ الجَمِيعُ إِلَى الإِنْتِرْنِتِ</a:t>
            </a:r>
            <a:endParaRPr lang="ar-SA" sz="16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لَا يَنْبَغِي أَنْ يُبِيحَ القَانُونُ بَيْعَ الخُصُوصِيَّةِ</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opportunity / risk</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التِّقْنِيَّةَ تُوَفِّرُ فُرَصًا لِلتَّعَلُّمِ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أَنَّهَا تُثِيرُ مَخَاطِرَ المُرَاقَبَةِ الرَّقْمِيَّةِ</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تُؤَدِّي المَعْلُومَاتُ المُضَلِّلَةُ إِلَى تَشْوِيهِ الوَعْيِ</a:t>
            </a:r>
            <a:endParaRPr lang="ar-SA" sz="16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لَا يَنْبَغِي أَنْ يُبِيحَ القَانُونُ أَنْ ___ المُحَادَثَاتُ.</a:t>
            </a:r>
            <a:endParaRPr lang="ar-SA" sz="12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تُرَاقَبُ</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تُرَاقَبْ</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تُرَاقَبَ</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2028 word appears in a social frame here?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 مُشْمِسٌ اليَوْمَ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الذَّكَاءُ الاصْطِنَاعِيُّ يُعِيدُ تَشْكِيلَ سُوقِ العَمَلِ</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قَدِيمَةٌ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balances opportunity and risk?</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فَقَطْ.</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التِّقْنِيَّةَ تُوَفِّرُ فُرَصًا، غَيْرَ أَنَّهَا تُثِيرُ مَخَاطِرَ.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خَطِرَةٌ فَقَطْ.</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“restricts”?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يُتِيحُ</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يُقَيِّدُ</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لَا يَنْبَغِي أَنْ يُبِيحَ القَانُونُ أَنْ ___ المُحَادَثَاتُ.</a:t>
            </a:r>
            <a:endParaRPr lang="ar-SA" sz="12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تُرَاقَبُ</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تُرَاقَبْ</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تُرَاقَبَ</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passive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تُرَاقَبَ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2028 word appears in a social frame here?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الطَّقْسُ مُشْمِسٌ اليَوْمَ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الذَّكَاءُ الاصْطِنَاعِيُّ يُعِيدُ تَشْكِيلَ سُوقِ العَمَلِ</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قَدِيمَةٌ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pPr algn="l" indent="0" marL="0">
              <a:buNone/>
            </a:pPr>
            <a:r>
              <a:rPr lang="en-US" sz="1050" i="1" dirty="0">
                <a:solidFill>
                  <a:srgbClr val="8A6D1E"/>
                </a:solidFill>
                <a:latin typeface="Calibri" pitchFamily="34" charset="0"/>
                <a:ea typeface="Calibri" pitchFamily="34" charset="-122"/>
                <a:cs typeface="Calibri" pitchFamily="34" charset="-120"/>
              </a:rPr>
              <a:t> in a job-market context is a 2028 word in a social frame.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balances opportunity and risk?</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مُفِيدَةٌ فَقَطْ.</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 التِّقْنِيَّةَ تُوَفِّرُ فُرَصًا، غَيْرَ أَنَّهَا تُثِيرُ مَخَاطِرَ.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خَطِرَةٌ فَقَطْ.</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Conceding the benefit then refuting with the risk balances the analysis.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“restricts”?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يُبِيحُ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يُتِيحُ</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يُقَيِّدُ</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يُقَيِّدُ</a:t>
            </a:r>
            <a:pPr algn="l" indent="0" marL="0">
              <a:buNone/>
            </a:pPr>
            <a:r>
              <a:rPr lang="en-US" sz="1050" i="1" dirty="0">
                <a:solidFill>
                  <a:srgbClr val="8A6D1E"/>
                </a:solidFill>
                <a:latin typeface="Calibri" pitchFamily="34" charset="0"/>
                <a:ea typeface="Calibri" pitchFamily="34" charset="-122"/>
                <a:cs typeface="Calibri" pitchFamily="34" charset="-120"/>
              </a:rPr>
              <a:t> means restricts.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يَمْنَعُ القَانُونُ أَنْ تُبَاعُ البَيَانَاتُ الشَّخْصِيَّةُ.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tubāʿu?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يَنْبَغِي أَنْ يُبِيحُ القَانُونُ أَنْ تُرَاقَبَ المُحَادَثَاتُ.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yubīḥu … an turāqaba?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يُعِيدُ الذَّكَاءُ الاصْطِنَاعِيُّ تَشْكِيلُ سُوقِ العَمَلِ.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yuʿīdu tashkīlu?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يَمْنَعُ القَانُونُ أَنْ تُبَاعُ البَيَانَاتُ الشَّخْصِيَّةُ.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يَمْنَعُ القَانُونُ أَنْ تُبَاعَ البَيَانَاتُ الشَّخْصِيَّةُ.</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تُبَاعَ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لَا يَنْبَغِي أَنْ يُبِيحُ القَانُونُ أَنْ تُرَاقَبَ المُحَادَثَاتُ.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لَا يَنْبَغِي أَنْ يُبِيحَ القَانُونُ أَنْ تُرَاقَبَ المُحَادَثَاتُ.</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first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t>
            </a:r>
            <a:pPr algn="l" indent="0" marL="0">
              <a:buNone/>
            </a:pPr>
            <a:r>
              <a:rPr lang="ar-SA" altLang="en-US" sz="1500" b="1" dirty="0">
                <a:solidFill>
                  <a:srgbClr val="1B3B6F"/>
                </a:solidFill>
                <a:latin typeface="Amiri" pitchFamily="34" charset="0"/>
                <a:ea typeface="Amiri" pitchFamily="34" charset="-122"/>
                <a:cs typeface="Amiri" pitchFamily="34" charset="-120"/>
              </a:rPr>
              <a:t>يُبِيحَ</a:t>
            </a:r>
            <a:pPr algn="l" indent="0" marL="0">
              <a:buNone/>
            </a:pPr>
            <a:r>
              <a:rPr lang="en-US" sz="1150" b="1" dirty="0">
                <a:solidFill>
                  <a:srgbClr val="1B3B6F"/>
                </a:solidFill>
                <a:latin typeface="Calibri" pitchFamily="34" charset="0"/>
                <a:ea typeface="Calibri" pitchFamily="34" charset="-122"/>
                <a:cs typeface="Calibri" pitchFamily="34" charset="-120"/>
              </a:rPr>
              <a:t> is also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يُعِيدُ الذَّكَاءُ الاصْطِنَاعِيُّ تَشْكِيلُ سُوقِ العَمَلِ.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يُعِيدُ الذَّكَاءُ الاصْطِنَاعِيُّ تَشْكِيلَ سُوقِ العَمَلِ.</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تَشْكِيلَ</a:t>
            </a:r>
            <a:pPr algn="l" indent="0" marL="0">
              <a:buNone/>
            </a:pPr>
            <a:r>
              <a:rPr lang="en-US" sz="1150" b="1" dirty="0">
                <a:solidFill>
                  <a:srgbClr val="1B3B6F"/>
                </a:solidFill>
                <a:latin typeface="Calibri" pitchFamily="34" charset="0"/>
                <a:ea typeface="Calibri" pitchFamily="34" charset="-122"/>
                <a:cs typeface="Calibri" pitchFamily="34" charset="-120"/>
              </a:rPr>
              <a:t> is the object of </a:t>
            </a:r>
            <a:pPr algn="l" indent="0" marL="0">
              <a:buNone/>
            </a:pPr>
            <a:r>
              <a:rPr lang="ar-SA" altLang="en-US" sz="1500" b="1" dirty="0">
                <a:solidFill>
                  <a:srgbClr val="1B3B6F"/>
                </a:solidFill>
                <a:latin typeface="Amiri" pitchFamily="34" charset="0"/>
                <a:ea typeface="Amiri" pitchFamily="34" charset="-122"/>
                <a:cs typeface="Amiri" pitchFamily="34" charset="-120"/>
              </a:rPr>
              <a:t>يُعِيدُ</a:t>
            </a:r>
            <a:pPr algn="l" indent="0" marL="0">
              <a:buNone/>
            </a:pPr>
            <a:r>
              <a:rPr lang="en-US" sz="1150" b="1" dirty="0">
                <a:solidFill>
                  <a:srgbClr val="1B3B6F"/>
                </a:solidFill>
                <a:latin typeface="Calibri" pitchFamily="34" charset="0"/>
                <a:ea typeface="Calibri" pitchFamily="34" charset="-122"/>
                <a:cs typeface="Calibri" pitchFamily="34" charset="-120"/>
              </a:rPr>
              <a:t>, so it takes fatḥa (accusative).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Listening: a digital-governance expert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statistics indicate about 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reshaping Arab economies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economic effect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only affects games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conceded then refuted about digital technology?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purely beneficial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purely harmful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offers opportunities, yet it raises surveillance and misinformation risks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data-protection laws prohibit (</a:t>
            </a:r>
            <a:pPr algn="l" indent="0" marL="0">
              <a:buNone/>
            </a:pPr>
            <a:r>
              <a:rPr lang="ar-SA" altLang="en-US" sz="1650" b="1" dirty="0">
                <a:solidFill>
                  <a:srgbClr val="1B3B6F"/>
                </a:solidFill>
                <a:latin typeface="Amiri" pitchFamily="34" charset="0"/>
                <a:ea typeface="Amiri" pitchFamily="34" charset="-122"/>
                <a:cs typeface="Amiri" pitchFamily="34" charset="-120"/>
              </a:rPr>
              <a:t>يَمْنَعُ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internet be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laws be written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users' information be sold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law not permit (</a:t>
            </a:r>
            <a:pPr algn="l" indent="0" marL="0">
              <a:buNone/>
            </a:pPr>
            <a:r>
              <a:rPr lang="ar-SA" altLang="en-US" sz="1650" b="1" dirty="0">
                <a:solidFill>
                  <a:srgbClr val="1B3B6F"/>
                </a:solidFill>
                <a:latin typeface="Amiri" pitchFamily="34" charset="0"/>
                <a:ea typeface="Amiri" pitchFamily="34" charset="-122"/>
                <a:cs typeface="Amiri" pitchFamily="34" charset="-120"/>
              </a:rPr>
              <a:t>يُبِيحُ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private correspondence be monitored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privacy be protected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data be encrypted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Governance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governance been more advanced, citizens' privacy would be safer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Privacy cannot improve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tamnaʿu … an · yubīḥa … an · ṣaḥīḥun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يَقُولُ الخَبِيرُ: تُشِيرُ الإِحْصَاءَاتُ إِلَى أَنَّ الذَّكَاءَ الاصْطِنَاعِيَّ يُعِيدُ تَشْكِيلَ اقْتِصَادَاتِ العَالَمِ العَرَبِيِّ.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expert says: statistics indicate that artificial intelligence is reshaping the economies of the Arab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صَحِيحٌ أَنَّ التِّقْنِيَّةَ الرَّقْمِيَّةَ تُوَفِّرُ فُرَصًا لِلتَّعْلِيمِ وَالتَّوَاصُلِ، غَيْرَ أَنَّهَا تُثِيرُ مَخَاطِرَ المُرَاقَبَةِ وَنَشْرِ المَعْلُومَاتِ المُضَلِّلَةِ.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It is true that digital technology offers opportunities for education and communication; however, it raises the risks of surveillance and the spread of misinformation.</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تَمْنَعُ قَوَانِينُ حِمَايَةِ البَيَانَاتِ أَنْ تُبَاعَ مَعْلُومَاتُ المُسْتَخْدِمِينَ، وَلَا يَنْبَغِي أَنْ يُبِيحَ القَانُونُ أَنْ تُرَاقَبَ المُرَاسَلَاتُ الخَاصَّةُ.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Data-protection laws prohibit users’ information being sold, and the law should not permit private correspondence to be monitored.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وَإِذَا اسْتَثْمَرَتِ الدُّوَلُ فِي البُنْيَةِ التَّحْتِيَّةِ الرَّقْمِيَّةِ، سَتَتَقَلَّصُ الفَجْوَةُ الرَّقْمِيَّةُ.</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states invest in digital infrastructure, the digital divide will shrink.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كَانَتِ الحَوْكَمَةُ أَكْثَرَ تَطَوُّرًا، لَكَانَتْ خُصُوصِيَّةُ المُوَاطِنِ أَكْثَرَ أَمَانًا.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governance been more advanced, citizens’ privacy would be safer.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statistics indicate about 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reshaping Arab economies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economic effect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only affects games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34" charset="0"/>
                <a:ea typeface="Amiri" pitchFamily="34" charset="-122"/>
                <a:cs typeface="Amiri" pitchFamily="34" charset="-120"/>
              </a:rPr>
              <a:t>تُشِيرُ الإِحْصَاءَاتُ إِلَى أَنَّ الذَّكَاءَ الاصْطِنَاعِيَّ يُعِيدُ تَشْكِيلَ اقْتِصَادَاتِ العَالَمِ العَرَبِيِّ.</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conceded then refuted about digital technology?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purely beneficial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purely harmful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offers opportunities, yet it raises surveillance and misinformation risks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صَحِيحٌ أَنَّ التِّقْنِيَّةَ … تُوَفِّرُ فُرَصًا … غَيْرَ أَنَّهَا تُثِيرُ مَخَاطِرَ المُرَاقَبَةِ.</a:t>
            </a:r>
            <a:endParaRPr lang="ar-SA" sz="11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data-protection laws prohibit (</a:t>
            </a:r>
            <a:pPr algn="l" indent="0" marL="0">
              <a:buNone/>
            </a:pPr>
            <a:r>
              <a:rPr lang="ar-SA" altLang="en-US" sz="1650" b="1" dirty="0">
                <a:solidFill>
                  <a:srgbClr val="1B3B6F"/>
                </a:solidFill>
                <a:latin typeface="Amiri" pitchFamily="34" charset="0"/>
                <a:ea typeface="Amiri" pitchFamily="34" charset="-122"/>
                <a:cs typeface="Amiri" pitchFamily="34" charset="-120"/>
              </a:rPr>
              <a:t>يَمْنَعُ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internet be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laws be written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users' information be sold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تَمْنَعُ قَوَانِينُ حِمَايَةِ البَيَانَاتِ أَنْ تُبَاعَ مَعْلُومَاتُ المُسْتَخْدِمِينَ.</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law not permit (</a:t>
            </a:r>
            <a:pPr algn="l" indent="0" marL="0">
              <a:buNone/>
            </a:pPr>
            <a:r>
              <a:rPr lang="ar-SA" altLang="en-US" sz="1650" b="1" dirty="0">
                <a:solidFill>
                  <a:srgbClr val="1B3B6F"/>
                </a:solidFill>
                <a:latin typeface="Amiri" pitchFamily="34" charset="0"/>
                <a:ea typeface="Amiri" pitchFamily="34" charset="-122"/>
                <a:cs typeface="Amiri" pitchFamily="34" charset="-120"/>
              </a:rPr>
              <a:t>يُبِيحُ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private correspondence be monitored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privacy be protected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data be encrypted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يَنْبَغِي أَنْ يُبِيحَ القَانُونُ أَنْ تُرَاقَبَ المُرَاسَلَاتُ الخَاصَّةُ.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Governance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governance been more advanced, citizens' privacy would be safer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Privacy cannot improve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لَوْ كَانَتِ الحَوْكَمَةُ أَكْثَرَ تَطَوُّرًا، لَكَانَتْ خُصُوصِيَّةُ المُوَاطِنِ أَكْثَرَ أَمَانًا.</a:t>
            </a:r>
            <a:endParaRPr lang="ar-SA" sz="11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tamnaʿu … an · yubīḥa … an · ṣaḥīḥun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the digital-rights balance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يَنْبَغِي أَنْ يَمْنَعَ القَانُونُ؟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لَا يَنْبَغِي أَنْ يُبِيحَ القَانُونُ؟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تُوَازِنُ بَيْنَ الحُرِّيَّةِ وَالتَّنْظِيمِ؟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يَنْبَغِي أَنْ يَمْنَعَ القَانُونُ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يَنْبَغِي أَنْ يُبِيحَ القَانُونُ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يَتَطَلَّبُ التَّوَازُنُ أَنْ تُنَظِّمَ الدُّوَلُ ___ دُونَ أَنْ ___ .</a:t>
            </a:r>
            <a:endParaRPr lang="ar-SA" sz="12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يَنْبَغِي أَنْ يَمْنَعَ القَانُونُ؟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should the law prohibit?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يَنْبَغِي أَنْ يَمْنَعَ القَانُونُ أَنْ تُبَاعَ البَيَانَاتُ دُونَ مُوَافَقَةٍ.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law should prohibit data being sold without consent.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prohibition (</a:t>
            </a:r>
            <a:pPr algn="l" indent="0" marL="0">
              <a:buNone/>
            </a:pPr>
            <a:r>
              <a:rPr lang="ar-SA" altLang="en-US" sz="1800" b="1" dirty="0">
                <a:solidFill>
                  <a:srgbClr val="1F2A37"/>
                </a:solidFill>
                <a:latin typeface="Amiri" pitchFamily="34" charset="0"/>
                <a:ea typeface="Amiri" pitchFamily="34" charset="-122"/>
                <a:cs typeface="Amiri" pitchFamily="34" charset="-120"/>
              </a:rPr>
              <a:t>يَمْنَعُ أَنْ</a:t>
            </a:r>
            <a:pPr algn="l" indent="0" marL="0">
              <a:buNone/>
            </a:pPr>
            <a:r>
              <a:rPr lang="en-US" sz="1400" b="1" dirty="0">
                <a:solidFill>
                  <a:srgbClr val="1F2A37"/>
                </a:solidFill>
                <a:latin typeface="Calibri" pitchFamily="34" charset="0"/>
                <a:ea typeface="Calibri" pitchFamily="34" charset="-122"/>
                <a:cs typeface="Calibri" pitchFamily="34" charset="-120"/>
              </a:rPr>
              <a:t>) and one permission (</a:t>
            </a:r>
            <a:pPr algn="l" indent="0" marL="0">
              <a:buNone/>
            </a:pPr>
            <a:r>
              <a:rPr lang="ar-SA" altLang="en-US" sz="1800" b="1" dirty="0">
                <a:solidFill>
                  <a:srgbClr val="1F2A37"/>
                </a:solidFill>
                <a:latin typeface="Amiri" pitchFamily="34" charset="0"/>
                <a:ea typeface="Amiri" pitchFamily="34" charset="-122"/>
                <a:cs typeface="Amiri" pitchFamily="34" charset="-120"/>
              </a:rPr>
              <a:t>يُبِيحُ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prohibition (yamnaʿu an) and one permission (yubīḥu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2028 word in a social frame and a concession-refutation;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2028 word in a social frame and a concession–refutation.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110 words with both triggers, a concession-refutation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both triggers, a concession–refutation and a Type 2 counterfactual.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التِّقْنِيَّةَ تُوَفِّرُ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technology offers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أَنَّهَا تُثِيرُ مَخَاطِرَ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however, it raises the risk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يَتَطَلَّبُ التَّوَازُنُ أَنْ تُنَظِّمَ الدُّوَلُ الإِنْتِرْنِتَ دُونَ أَنْ ______ .</a:t>
            </a:r>
            <a:endParaRPr lang="ar-SA" sz="12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Balance requires states to … without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لَوْ كَانَتِ الحَوْكَمَةُ أَكْثَرَ تَطَوُّرًا، لَكَانَتْ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governance been more advanced,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يَمْنَعُ القَانُونُ أَنْ تُبَاعَ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law prohibits … being sold.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لَا يَنْبَغِي أَنْ يُبِيحَ القَانُونُ أَنْ تُرَاقَبَ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law should not permit … to be monitored.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يَتَعَرَّضُ المُسْتَخْدِمُونَ لِلْمُرَاقَبَةِ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Users are exposed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يُعِيدُ الذَّكَاءُ الاصْطِنَاعِيُّ تَشْكِيلَ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Artificial intelligence is reshaping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البَيَانَاتُ الشَّخْصِيَّةُ  ·  المُحَادَثَاتُ الخَاصَّةُ  ·  المَعْلُومَاتِ المُضَلِّلَةِ  ·  سُوقِ العَمَلِ  ·  فُرَصًا لِلتَّعْلِيمِ وَالتَّوَاصُلِ  ·  المُرَاقَبَةِ الرَّقْمِيَّةِ  ·  تُقَيِّدَ حُرِّيَّةَ التَّعْبِيرِ  ·  تُصَادِرَ الخُصُوصِيَّةَ  ·  خُصُوصِيَّةُ المُوَاطِنِ أَكْثَرَ أَمَانًا  ·  كَلِمَةِ المُرُورِ  ·  التَّعَلُّمُ عَنْ بُعْدٍ  ·  الفَجْوَةُ الرَّقْمِيَّةُ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100–110-word digital-society analysis. Open with a 2028 word in a social frame, concede a benefit with ṣaḥīḥun anna and refute with ghayra anna, use yamnaʿu an and yubīḥu an, and close with a Type 2 counterfactual.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2028 word (al-dhakāʾ al-iṣṭināʿī / kalimat al-murūr) in a social context.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concession–refutation balancing opportunity and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prohibition (yamnaʿu an) and a permission (yubīḥu an), each with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counterfactual and 100–110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وَسُوقِ العَمَلِ فِيهِ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its job market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فُرَصًا اسْتِثْنَائِيَّةً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exceptional opportunities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الوَقْتِ ذَاتِهِ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same time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دُونَ أَنْ تُصَادِرَ حُرِّيَّةَ التَّعْبِيرِ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without seizing freedom of expression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أَمَانًا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safer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تُشِيرُ الإِحْصَاءَاتُ إِلَى أَنَّ الذَّكَاءَ الاصْطِنَاعِيَّ يُعِيدُ تَشْكِيلَ اقْتِصَادَاتِ العَالَمِ العَرَبِيِّ وَسُوقِ العَمَلِ فِيهِ. صَحِيحٌ أَنَّ التِّقْنِيَّةَ الرَّقْمِيَّةَ تُوَفِّرُ فُرَصًا اسْتِثْنَائِيَّةً لِلتَّعْلِيمِ وَالتَّوَاصُلِ، غَيْرَ أَنَّهَا تُثِيرُ فِي الوَقْتِ ذَاتِهِ مَخَاطِرَ المُرَاقَبَةِ الرَّقْمِيَّةِ وَنَشْرِ المَعْلُومَاتِ المُضَلِّلَةِ. تَمْنَعُ قَوَانِينُ حِمَايَةِ البَيَانَاتِ أَنْ تُبَاعَ مَعْلُومَاتُ المُسْتَخْدِمِينَ، وَلَا يَنْبَغِي أَنْ يُبِيحَ القَانُونُ أَنْ تُرَاقَبَ المُرَاسَلَاتُ الخَاصَّةُ. وَيَتَطَلَّبُ التَّوَازُنُ أَنْ تُنَظِّمَ الدُّوَلُ الإِنْتِرْنِتَ دُونَ أَنْ تُصَادِرَ حُرِّيَّةَ التَّعْبِيرِ. وَلَوْ كَانَتِ الحَوْكَمَةُ الرَّقْمِيَّةُ أَكْثَرَ تَطَوُّرًا، لَكَانَتْ خُصُوصِيَّةُ المُوَاطِنِ أَكْثَرَ أَمَانًا.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Statistics indicate that artificial intelligence is reshaping the economies of the Arab world and its job market. It is true that digital technology offers exceptional opportunities for education and communication; however, at the same time it raises the risks of digital surveillance and the spread of misinformation. Data-protection laws prohibit users’ information being sold, and the law should not permit private correspondence to be monitored. Balance requires states to regulate the internet without seizing freedom of expression. Had digital governance been more advanced, citizens’ privacy would be safer.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al-dhakāʾ al-iṣṭināʿī (2028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tubāʿa · an turāqaba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kānat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yamnaʿu an / yubīḥu an my verb ends in -a (an tubāʿa).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prohibition and one permission.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 a chain of two an, BOTH verbs end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2028 word in a social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opportunity and risk and added a Type 2.</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prohibition?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يَدْعُو إِلَى 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permission?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يَمْنَعُ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يُصِرُّ عَلَى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prohibition?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يَمْنَعُ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يُبِيحُ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يَدْعُو إِلَى 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يَمْنَعُ أَنْ</a:t>
            </a:r>
            <a:pPr algn="l" indent="0" marL="0">
              <a:buNone/>
            </a:pPr>
            <a:r>
              <a:rPr lang="en-US" sz="1050" i="1" dirty="0">
                <a:solidFill>
                  <a:srgbClr val="8A6D1E"/>
                </a:solidFill>
                <a:latin typeface="Calibri" pitchFamily="34" charset="0"/>
                <a:ea typeface="Calibri" pitchFamily="34" charset="-122"/>
                <a:cs typeface="Calibri" pitchFamily="34" charset="-120"/>
              </a:rPr>
              <a:t> states a prohibition.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states a permission?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يَمْنَعُ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يُبِيحُ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يُصِرُّ عَلَى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يُبِيحُ أَنْ</a:t>
            </a:r>
            <a:pPr algn="l" indent="0" marL="0">
              <a:buNone/>
            </a:pPr>
            <a:r>
              <a:rPr lang="en-US" sz="1050" i="1" dirty="0">
                <a:solidFill>
                  <a:srgbClr val="8A6D1E"/>
                </a:solidFill>
                <a:latin typeface="Calibri" pitchFamily="34" charset="0"/>
                <a:ea typeface="Calibri" pitchFamily="34" charset="-122"/>
                <a:cs typeface="Calibri" pitchFamily="34" charset="-120"/>
              </a:rPr>
              <a:t> states a permission.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تُبَاعَ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تُبَاعُ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تُبَاعْ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passive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تُبَاعَ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a digital-society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يُعِيدُ المُجْتَمَعُ الرَّقْمِيُّ تَشْكِيلَ حَيَاتِنَا اليَوْمِيَّةِ. صَحِيحٌ أَنَّ الذَّكَاءَ الاصْطِنَاعِيَّ وَالتَّعَلُّمَ عَنْ بُعْدٍ يُوَفِّرَانِ فُرَصًا اسْتِثْنَائِيَّةً، غَيْرَ أَنَّ الفَجْوَةَ الرَّقْمِيَّةَ بَيْنَ الدُّوَلِ الغَنِيَّةِ وَالفَقِيرَةِ بَاتَتْ مِنْ أَخْطَرِ أَوْجُهِ عَدَمِ المُسَاوَاةِ. يَتَعَرَّضُ المُسْتَخْدِمُونَ لِلْمُرَاقَبَةِ وَلِلْمَعْلُومَاتِ المُضَلِّلَةِ. تَمْنَعُ بَعْضُ الحُكُومَاتِ أَنْ تُنْشَرَ المَعْلُومَاتُ الَّتِي تَرَاهَا ضَارَّةً، غَيْرَ أَنَّهَا يَجِبُ أَلَّا تُقَيِّدَ حُرِّيَّةَ التَّعْبِيرِ. وَيَتَطَلَّبُ التَّوَازُنُ أَنْ تُنَظِّمَ الدُّوَلُ الإِنْتِرْنِتَ دُونَ أَنْ تُصَادِرَ الخُصُوصِيَّةَ. وَلَوْ كَانَتْ حِمَايَةُ كَلِمَةِ المُرُورِ أَقْوَى، لَتَرَاجَعَتِ الانْتِهَاكَاتُ.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حَيَاتِنَا اليَوْمِيَّةِ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daily life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يُوَفِّرَانِ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both provide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اسْتِثْنَائِيَّةً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exceptional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أَوْجُهِ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aspects, forms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يَتَعَرَّضُ</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exposed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ضَارَّةً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harmful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التَّوَازُنُ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تُصَادِرَ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seize, confiscate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الانْتِهَاكَاتُ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violations, breaches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المُرَاسَلَاتُ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correspondence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conceded about AI and distance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offer 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offer exceptional opportunities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only harm</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refuted by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divide has closed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Inequality has ended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digital divide has become a dangerous form of inequality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governments prohibit (</a:t>
            </a:r>
            <a:pPr algn="l" indent="0" marL="0">
              <a:buNone/>
            </a:pPr>
            <a:r>
              <a:rPr lang="ar-SA" altLang="en-US" sz="1650" b="1" dirty="0">
                <a:solidFill>
                  <a:srgbClr val="1B3B6F"/>
                </a:solidFill>
                <a:latin typeface="Amiri" pitchFamily="34" charset="0"/>
                <a:ea typeface="Amiri" pitchFamily="34" charset="-122"/>
                <a:cs typeface="Amiri" pitchFamily="34" charset="-120"/>
              </a:rPr>
              <a:t>يَمْنَعُ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publishing of information they deem harmful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use of the internet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writing of laws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balance require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Banning the internet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Regulating the internet without seizing privacy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Removing all rules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password protection been stronger, breaches would have fallen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 make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Breaches cannot fall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conceded about AI and distance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offer 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offer exceptional opportunities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only harm</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صَحِيحٌ أَنَّ الذَّكَاءَ الاصْطِنَاعِيَّ وَالتَّعَلُّمَ عَنْ بُعْدٍ يُوَفِّرَانِ فُرَصًا اسْتِثْنَائِيَّةً.</a:t>
            </a:r>
            <a:endParaRPr lang="ar-SA"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refuted by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divide has closed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Inequality has ended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digital divide has become a dangerous form of inequality</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غَيْرَ أَنَّ الفَجْوَةَ الرَّقْمِيَّةَ … بَاتَتْ مِنْ أَخْطَرِ أَوْجُهِ عَدَمِ المُسَاوَاةِ.</a:t>
            </a:r>
            <a:endParaRPr lang="ar-SA" sz="12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governments prohibit (</a:t>
            </a:r>
            <a:pPr algn="l" indent="0" marL="0">
              <a:buNone/>
            </a:pPr>
            <a:r>
              <a:rPr lang="ar-SA" altLang="en-US" sz="1650" b="1" dirty="0">
                <a:solidFill>
                  <a:srgbClr val="1B3B6F"/>
                </a:solidFill>
                <a:latin typeface="Amiri" pitchFamily="34" charset="0"/>
                <a:ea typeface="Amiri" pitchFamily="34" charset="-122"/>
                <a:cs typeface="Amiri" pitchFamily="34" charset="-120"/>
              </a:rPr>
              <a:t>يَمْنَعُ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publishing of information they deem harmful</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use of the internet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writing of laws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تَمْنَعُ بَعْضُ الحُكُومَاتِ أَنْ تُنْشَرَ المَعْلُومَاتُ الَّتِي تَرَاهَا ضَارَّةً.</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balance require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Banning the internet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Regulating the internet without seizing privacy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Removing all rules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يَتَطَلَّبُ التَّوَازُنُ أَنْ تُنَظِّمَ الدُّوَلُ الإِنْتِرْنِتَ دُونَ أَنْ تُصَادِرَ الخُصُوصِيَّةَ.</a:t>
            </a:r>
            <a:endParaRPr lang="ar-SA" sz="11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password protection been stronger, breaches would have fallen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 make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Breaches cannot fall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كَانَتْ حِمَايَةُ كَلِمَةِ المُرُورِ أَقْوَى، لَتَرَاجَعَتِ الانْتِهَاكَاتُ.</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Digital-Rights Mission — Prohibit and Permit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يَمْنَعُ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permission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prohibition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يُبِيحُ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permission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prohibition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fear</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Prohibition: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Permission: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يَنْبَغِي أَنْ يُبِيحَ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المُحَادَثَاتُ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تُرَاقَبُ</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تُرَاقَبْ</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تُرَاقَبَ</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2028 word: which appears in a social frame?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الذَّكَاءُ الاصْطِنَاعِيُّ يُعِيدُ تَشْكِيلَ سُوقِ العَمَلِ</a:t>
            </a:r>
            <a:endParaRPr lang="ar-SA" sz="15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المَدِينَةُ قَدِيمَةٌ</a:t>
            </a:r>
            <a:endParaRPr lang="ar-SA" sz="15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الطَّقْسُ مُشْمِسٌ</a:t>
            </a:r>
            <a:endParaRPr lang="ar-SA" sz="15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2028 word: which frames a privacy issue?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الحَدِيقَةُ وَاسِعَةٌ</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حِمَايَةُ كَلِمَةِ المُرُورِ مِنْ أَوْلَوِيَّاتِ الخُصُوصِيَّةِ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السَّيَّارَةُ سَرِيعَةٌ</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يَمْنَعُ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permission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prohibition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يَمْنَعُ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prohibition.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يُبِيحُ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permission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prohibition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fear</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يُبِيحُ أَنْ</a:t>
            </a:r>
            <a:pPr algn="l" indent="0" marL="0">
              <a:buNone/>
            </a:pPr>
            <a:r>
              <a:rPr lang="en-US" sz="1050" i="1" dirty="0">
                <a:solidFill>
                  <a:srgbClr val="8A6D1E"/>
                </a:solidFill>
                <a:latin typeface="Calibri" pitchFamily="34" charset="0"/>
                <a:ea typeface="Calibri" pitchFamily="34" charset="-122"/>
                <a:cs typeface="Calibri" pitchFamily="34" charset="-120"/>
              </a:rPr>
              <a:t> signals a permission.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Prohibition: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تُبَاعُ</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تُبَاعْ</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تُبَاعَ</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passive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تُبَاعَ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Permission: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يَنْبَغِي أَنْ يُبِيحَ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المُحَادَثَاتُ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تُرَاقَبُ</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تُرَاقَبْ</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تُرَاقَبَ</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passive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تُرَاقَبَ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2028 word: which appears in a social frame?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الذَّكَاءُ الاصْطِنَاعِيُّ يُعِيدُ تَشْكِيلَ سُوقِ العَمَلِ</a:t>
            </a:r>
            <a:endParaRPr lang="ar-SA" sz="15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المَدِينَةُ قَدِيمَةٌ</a:t>
            </a:r>
            <a:endParaRPr lang="ar-SA" sz="15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الطَّقْسُ مُشْمِسٌ</a:t>
            </a:r>
            <a:endParaRPr lang="ar-SA" sz="15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AI reshaping the job market is a 2028 word in a social frame.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2028 word: which frames a privacy issue?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الحَدِيقَةُ وَاسِعَةٌ</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حِمَايَةُ كَلِمَةِ المُرُورِ مِنْ أَوْلَوِيَّاتِ الخُصُوصِيَّةِ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السَّيَّارَةُ سَرِيعَةٌ</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Password protection is a 2028 word framing a privacy issue.</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P5-L04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P5-L05 · Global Justice — International Responsibility and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العَدَالَةُ الدَّوْلِيَّةُ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international justice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القَانُونُ الدَّوْلِيُّ الإِنْسَانِيُّ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international humanitarian law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ازْدِوَاجِيَّةُ المَعَايِيرِ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double standards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الإِفْلَاتُ مِنَ العِقَابِ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impunity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يَرْفُضُ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refuses to</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Should every country follow the same international rules?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صَحِيحٌ أَنَّ لِكُلِّ دَوْلَةٍ سِيَادَتَهَا،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prohibition (yamnaʿu an) and one permission (yubīḥu an) about data privacy.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2028 word in a social frame and a concession–refutation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digital-society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P5-L05 · Global Justice — International Responsibility and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العَدَالَةُ العَالَمِيَّةُ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yamnaʿu an / yubīḥu an + a verb in -A (often passive: an tubāʿA) — two an, two -a — and keep AI, passwords and distance learning in SOCIAL sentences, balanced with ṣaḥīḥun anna …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P5-L04 · Digital Society — Social Media, Privacy and the Digital Divide</dc:title>
  <dc:subject>PptxGenJS Presentation</dc:subject>
  <dc:creator>Al Madina Online School · Arabic Department</dc:creator>
  <cp:lastModifiedBy>Al Madina Online School · Arabic Department</cp:lastModifiedBy>
  <cp:revision>1</cp:revision>
  <dcterms:created xsi:type="dcterms:W3CDTF">2026-10-10T22:56:25Z</dcterms:created>
  <dcterms:modified xsi:type="dcterms:W3CDTF">2026-10-10T22:56:25Z</dcterms:modified>
</cp:coreProperties>
</file>