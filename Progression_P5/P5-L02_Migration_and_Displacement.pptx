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P5-L02. The website lesson “Migration and Displacement — A Global Crisis in Arabic”: vocabulary, grammar rules and quiz, patterns, common mistakes, sorter, listening, reading, speaking prompts and model, writing task and model, differentiation, final check and the lesson mission. Picture match: website visual game “Migration and Displacement — A Global Crisis in Arabic”.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SENSITIVITY FIRST: some students may be refugees, have refugee parents or grandparents, or relatives still displaced. Never ask students to share their own stories; keep examples general; allow anyone to write about migration for study or work instead. Check in privately after the lesson if a student seems affected.
• Core: two humanitarian passives centring the displaced person (website Core). Develop: add a Type 1 plan and a Type 2 counterfactual (100 words). Stretch: 110 words with the past perfect, both conditionals and a necessity subjunctive.
• Faith link (optional): the Hijra itself — the Prophet ﷺ and the Muhājirūn left their homes, and the Anṣār welcomed them: «وَيُؤْثِرُونَ عَلَىٰ أَنْفُسِهِمْ وَلَوْ كَانَ بِهِمْ خَصَاصَةٌ» (al-Ḥashr 59:9). Islam honours both the migrant and the host.
• Accuracy: UNHCR figures change every year; the website’s “about 40%” refers to the Arab region’s share of the world’s forcibly displaced in recent UN estimates — treat it as approximate.
• Grammar links: the passive (P4-L02 / L05) · both conditionals and la-mā (P3-L05 / P4-L04) · necessity subjunctive (P4-L04) · past perfect (P4-L07).
• TEACHER-WRITTEN ITEMS: waṣl alif shown without a kasra; لِكَيْ always written with its sukūn; rule headings, formulas, a pattern tip, the writing prompt and checklist in English and transliteration; sorter headings in transliteration; game cards 0, 1 and 4 not used; the passive, choice/force, conditional and register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P5-L01. Questions 4–5 retrieve the concession–refutation move (P5-L01) — use it again today: ṣaḥīḥun anna … ghayra anna …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Grammar can show respect: the passive puts the PERSON first — what happened to them — without blaming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ہجرت, مہاجر, خیمہ, حدود and حقوق are shared — مہاجر has deep meaning in South Asian history too. Careful: Urdu کرامت is a saint’s miracle; Arabic كَرَامَةُ اللَّاجِئِينَ = the DIGNITY of refugees — today’s key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Humanitarian passives (website vocabulary (1 of 2)). Hear → Say → See → Use. Transliteration is printed for Core students (cover it for Develop/Stretch).
Humanitarian passives: ḍamma on the prefix + fatḥa before the last letter — يُهَجَّرُ (Form II) · يُودَعُ (Form IV, from أَوْدَعَ). The agent (who displaced them) is left out on purpose: الفَاعِلُ المَحْذُوفُ. The person stays at the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Humanitarian passives (website vocabulary (2 of 2)). Hear → Say → See → Use. Transliteration is printed for Core students (cover it for Develop/Stretch).
Humanitarian passives: ḍamma on the prefix + fatḥa before the last letter — يُهَجَّرُ (Form II) · يُودَعُ (Form IV, from أَوْدَعَ). The agent (who displaced them) is left out on purpose: الفَاعِلُ المَحْذُوفُ. The person stays at the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Migration and displacement (website vocabulary (1 of 2)). Hear → Say → See → Use. Transliteration is printed for Core students (cover it for Develop/Stretch).
Migration and displacement: نُزُوحٌ = displacement INSIDE one’s own country (نَازِحٌ); لُجُوءٌ = asylum ACROSS a border (لَاجِئٌ). هِجْرَةٌ is the general word; اضْطِرَارِيَّةٌ / قَسْرِيٌّ make it 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Migration and displacement (website vocabulary (2 of 2)). Hear → Say → See → Use. Transliteration is printed for Core students (cover it for Develop/Stretch).
FLEX: teach if time allows; otherwise these are on the website vocabulary tab for homework.
Migration and displacement: نُزُوحٌ = displacement INSIDE one’s own country (نَازِحٌ); لُجُوءٌ = asylum ACROSS a border (لَاجِئٌ). هِجْرَةٌ is the general word; اضْطِرَارِيَّةٌ / قَسْرِيٌّ make it 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Displacement verbs and impact (website vocabulary (1 of 2)). Hear → Say → See → Use. Transliteration is printed for Core students (cover it for Develop/Stretch).
FLEX: teach if time allows; otherwise these are on the website vocabulary tab for homework.
Displacement verbs and impact: the ACTIVE verbs tell what people do themselves — يَفِرُّ مِنْ (flees: doubled, فَرَّ) · يَلْتَمِسُ (seeks, Form VIII). The impact words name the human cost: trauma, family breakdown, loss of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Displacement verbs and impact (website vocabulary (2 of 2)). Hear → Say → See → Use. Transliteration is printed for Core students (cover it for Develop/Stretch).
FLEX: teach if time allows; otherwise these are on the website vocabulary tab for homework.
Displacement verbs and impact: the ACTIVE verbs tell what people do themselves — يَفِرُّ مِنْ (flees: doubled, فَرَّ) · يَلْتَمِسُ (seeks, Form VIII). The impact words name the human cost: trauma, family breakdown, loss of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“Form II passive”, teaching point 1 (“The humanitarian passive centres the person”), the vocabulary group “Humanitarian passives”, and the listening (rows 3–5).
Why passive? The person who suffers becomes the grammatical subject; who caused it is left out (الفَاعِلُ المَحْذُوفُ) — so the reader looks at the human being, not the politics.
Agreement: the verb before a plural subject stays singular (يُهَجَّرُ المَلَايِينُ); after it, it becomes plural (الأَطْفَالُ يُحْرَمُونَ).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“Displacement verbs”, mistake 1, the common error and the website game (card 1).
Same root (h-j-r), three meanings: هَاجَرَ / يُهَاجِرُ (Form III, to migrate — a choice) · هَجَّرَ / يُهَجِّرُ (Form II, to displace someone) · يُهَجَّرُ (its passive — to BE displaced). Write them on the board as a family.
Card 3: active verbs give displaced people agency — they are not only victims; they flee, cross borders and seek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rules “Type 1 forward” and “Type 2 backward”, teaching point 2 (“Both conditionals do different humanitarian work”), mistakes 2–3 and the reading (row 5).
Row 3 is the hardest: لَوْ لَمْ + past (had … NOT) → لَمَا + past (would NOT have). Two negatives — and the meaning is hopeful: the suffering was not inevitable.
Row 5: كَانُوا قَدْ نَشَؤُوا = they had grown up (نَشَأَ, the hamza on wāw before -ū). بَاتَتْ رُكَامًا = has become rubble.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quiz 8, the final check, mission rounds 10–11 and the writing model / reading.
Discuss calmly: جَحَافِلُ = hordes, armies — it turns people into a threat. عِبْءٌ = a burden — it turns people into a cost. Journalists and the UN avoid both.
Row 2 is a P4 necessity subjunctive in the passive: أَنْ تُصَانَ (to be preserved) · أَنْ تُكْفَلَ (to be guaranteed) — the -a is on a passive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“Form the Form II humanitarian passives, choose the passive to centre the displaced person, and analyse with both conditional types.”
• Form II passive: The Form II passive centres the person and drops the agent.
• Displacement verbs: Active verbs describe the person's own actions.
• Type 1 forward: A forward-looking humanitarian plan.
• Type 2 backward: A backward-looking counterfactual.
Website common error: Confusing the active يُهَاجِرُ (migrates) with the passive يُهَجَّرُ (is displaced), or using dehumanising imagery. The passive centres the person; register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“Evidence first: yushāru ilā ANNA. Now the people — who is my subject? The children, not the war: yuhajjaru, yuḥramūna, yūdaʿūna — passives. Could it have been different? law LAM … LA-MĀ. What is needed? min al-ḍarūrī AN tukfalA — a passive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Migration and Displacement — A Global Crisis in Arabic”)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cards 0, 1 and 4 not used — vowel on the initial alif). These are migrations by CHOICE (هَاجَرَ, active) — contrast with today’s forced displacement (يُهَجَّرُ, passive). Card 3 is a good, positive close: يُمْكِنُ أَنْ يَحْمِلَ الإِنْسَانُ هُوِيَّتَهُ مَعَهُ.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Migration and Displacement — A Global Crisis in Arabic”)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cards 0, 1 and 4 not used — vowel on the initial alif). These are migrations by CHOICE (هَاجَرَ, active) — contrast with today’s forced displacement (يُهَجَّرُ, passive). Card 3 is a good, positive close: يُمْكِنُ أَنْ يَحْمِلَ الإِنْسَانُ هُوِيَّتَهُ مَعَهُ.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humanitarian line from a passive, a conditional and a proposed solution.” Website feedback: any three different combinations work.
Core: read row 1 across. Develop: label column 2 — Type 2 negative (row 1), Type 2 (row 2), Type 1 (row 3). Stretch: add a concession from P5-L01 before the line: صَحِيحٌ أَنَّ بَعْضَ الدُّوَلِ اسْتَقْبَلَتِ اللَّاجِئِينَ، غَيْرَ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one active card into a passive and one passive card into a respectful headline (e.g. يُودَعُ النَّازِحُونَ فِي مُخَيَّمَاتٍ → «نَازِحُونَ يَبْحَثُونَ عَنِ الأَمَانِ»).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one active card into a passive and one passive card into a respectful headline (e.g. يُودَعُ النَّازِحُونَ فِي مُخَيَّمَاتٍ → «نَازِحُونَ يَبْحَثُونَ عَنِ الأَمَانِ»).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down every passive verb you hear.
Listen 1: just listen. Listen 2: note answers. Then chat the letters.
Support: after the second listening, show the read-along slide (Arabic + English, line by line) for Core students.
SCRIPT (read aloud):
يَقُولُ المَنْدُوبُ: تَضُمُّ المِنْطَقَةُ العَرَبِيَّةُ نَحْوَ أَرْبَعِينَ بِالمِئَةِ مِنْ مَجْمُوعِ النَّازِحِينَ قَسْرًا فِي العَالَمِ. يُهَجَّرُ المَلَايِينُ بِسَبَبِ النِّزَاعَاتِ المُسَلَّحَةِ، وَيُودَعُ كَثِيرُونَ فِي مُخَيَّمَاتٍ تَفْتَقِرُ إِلَى الخَدَمَاتِ الأَسَاسِيَّةِ. يَفِرُّ المَدَنِيُّونَ مِنْ مَنَاطِقِ النِّزَاعِ وَيَلْتَمِسُونَ الحِمَايَةَ الدَّوْلِيَّةَ. وَأَكَّدَتِ المُفَوَّضِيَّةُ أَنَّ الأَطْفَالَ يُحْرَمُونَ مِنَ التَّعْلِيمِ. لَوْ لَمْ تَنْدَلِعِ الحُرُوبُ، لَمَا اضْطُرَّ المَلَايِينُ إِلَى الفِرَارِ. وَإِذَا فُتِحَتْ مَمَرَّاتٌ إِنْسَانِيَّةٌ آمِنَةٌ، سَتَنْخَفِضُ خَسَائِرُ الأَرْوَاحِ.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تَحْلِيلُكَ؟ (Type 2)
B: لَوْ لَمْ تَنْدَلِعِ الحُرُوبُ، لَمَا اضْطُرَّ المَلَايِينُ إِلَى الفِرَارِ، وَمِنَ الضَّرُورِيِّ أَنْ تُكْفَلَ حُقُوقُهُمْ. (Type 2 plus subjunctive)
Website prompts and model. Pair task: “news anchor” — A reads one sentence of a humanitarian report; B checks: is the PERSON the subject? Is the language respectful? Swap. Keep all examples general. To a girl: صِفِي · تَحْلِيلُكِ · تَقْتَرِحِينَهُ.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two humanitarian passives centring the displaced person. · Develop — Add a Type 1 plan and a Type 2 counterfactual and reach 100 words. · Stretch — Reach 110 words with the past perfect, both conditionals and a necessity subjunctive.
Website writing task (Stretch): Write a 100–110-word migration analysis. Open with reported statistics, describe the human impact with humanitarian passives (yuhajjaru / yūdaʿu) and the past perfect, analyse with both conditional types, and close with a necessity subjunctive.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يُشَارُ إِلَى أَنَّ · تُؤَكِّدُ … أَنَّ · اضْطُرَّتْ إِلَى · يُهَجَّرُ … وَيُحْرَمُونَ … وَيُودَعُونَ · كَانُوا قَدْ نَشَؤُوا · لَوْ لَمْ تَتَدَفَّقِ … لَكَانَتِ · إِذَا تَعَاوَنَ … سَتُفْتَحُ · مِنَ الضَّرُورِيِّ أَنْ تُكْفَلَ … وَأَنْ تُصَانَ.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(P5-L03 · Gender Equality — Rights, Progress and Challenges) will spend class time USING this language, so students prepare it tonight — short, simple, easy to access (school guidance: “Simple, Short, Interesting, Relevant, Easy to access”). The five words come from the website P5-L03 vocabulary (gender equality). Faith link idea for next lesson: Khadīja (raḍiya Allāhu ʿanhā), a successful businesswoman.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Migration and Displacement — A Global Crisis in Arabic</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الهِجْرَةُ وَالتَّهْجِيرُ — أَزْمَةٌ عَالَمِيَّةٌ بِالعَرَبِيَّةِ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Report displacement with compassion and precision — humanitarian passives (yuhajjaru, yuraḥḥalu, yūdaʿu) that put the person first, active verbs for what people do (yafirru min, yaltamisu l-lujūʾ), both conditionals and humanising language.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P5-L02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Form II passives that centre the person, choice vs force (yuhājiru vs yuhajjaru), both conditionals, humanising register.</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migration pictures, build a humanitarian line, sort passive / active / conditional.</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هِجْرَةٌ اضْطِرَارِيَّةٌ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migration for study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forced migration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migration office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طَالِبُ لُجُوءٍ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asylum seeker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student abroad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tourist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يُهَجَّرُ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migrates by choice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returns home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displaced (forced to leave)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صَحِيحٌ أَنَّ الاقْتِصَادَ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 غَيْرَ أَنَّ الفَقْرَ ازْدَادَ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يَنْمُوَ</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لِيَنْمُوَ</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the refutation?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غَيْرَ 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هِجْرَةٌ اضْطِرَارِيَّةٌ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migration for study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forced migration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migration office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طَالِبُ لُجُوءٍ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asylum seeker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student abroad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tourist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يُهَجَّرُ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migrates by choice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returns home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 displaced (forced to leave)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صَحِيحٌ أَنَّ الاقْتِصَادَ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 غَيْرَ أَنَّ الفَقْرَ ازْدَادَ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يَنْمُوَ</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لِيَنْمُوَ</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P5-L01: a conceded fact is real — no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the refutation?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غَيْرَ 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P5-L01: ghayra anna.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Grammar can show respect: the passive puts the PERSON first — what happened to them — without blaming them.</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cs typeface="Amiri" pitchFamily="2" charset="-78"/>
              </a:rPr>
              <a:t>يُهَجَّرُ</a:t>
            </a:r>
            <a:pPr rtl="1" algn="ctr" indent="0" marL="0">
              <a:lnSpc>
                <a:spcPct val="120000"/>
              </a:lnSpc>
              <a:buNone/>
            </a:pPr>
            <a:r>
              <a:rPr lang="ar-SA" altLang="en-US" sz="1950" b="1" dirty="0">
                <a:solidFill>
                  <a:srgbClr val="1B3B6F"/>
                </a:solidFill>
                <a:latin typeface="Amiri" pitchFamily="2" charset="-78"/>
                <a:cs typeface="Amiri" pitchFamily="2" charset="-78"/>
              </a:rPr>
              <a:t> المَلَايِينُ · </a:t>
            </a:r>
            <a:pPr rtl="1" algn="ctr" indent="0" marL="0">
              <a:lnSpc>
                <a:spcPct val="120000"/>
              </a:lnSpc>
              <a:buNone/>
            </a:pPr>
            <a:r>
              <a:rPr lang="ar-SA" altLang="en-US" sz="1950" b="1" dirty="0">
                <a:solidFill>
                  <a:srgbClr val="D6336C"/>
                </a:solidFill>
                <a:latin typeface="Amiri" pitchFamily="2" charset="-78"/>
                <a:cs typeface="Amiri" pitchFamily="2" charset="-78"/>
              </a:rPr>
              <a:t>يُودَعُ</a:t>
            </a:r>
            <a:pPr rtl="1" algn="ctr" indent="0" marL="0">
              <a:lnSpc>
                <a:spcPct val="120000"/>
              </a:lnSpc>
              <a:buNone/>
            </a:pPr>
            <a:r>
              <a:rPr lang="ar-SA" altLang="en-US" sz="1950" b="1" dirty="0">
                <a:solidFill>
                  <a:srgbClr val="1B3B6F"/>
                </a:solidFill>
                <a:latin typeface="Amiri" pitchFamily="2" charset="-78"/>
                <a:cs typeface="Amiri" pitchFamily="2" charset="-78"/>
              </a:rPr>
              <a:t> النَّازِحُونَ فِي مُخَيَّمَاتٍ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migration and displacement with precise humanitarian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humanitarian passives yuhajjaru, yuraḥḥalu, yūdaʿu.</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both conditional types in a humanitarian analysis.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compassionate, formally rigorous migration analysis.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migration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yuhajjaru and yūdaʿu with the person as subject.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yuhājiru (choice) from yuhajjaru (force).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Type 1 plan and a Type 2 regret.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la-mā and the past perfect.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compassionate 110-word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Humanitarian passives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Migration and displacement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Displacement verbs and impact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هِجْرَةٌ · مُهَاجِرٌ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‎ہجرت · مہاجر‎ </a:t>
            </a:r>
            <a:pPr indent="0" marL="0">
              <a:buNone/>
            </a:pPr>
            <a:r>
              <a:rPr lang="en-US" sz="950" b="1" dirty="0">
                <a:solidFill>
                  <a:srgbClr val="2E8B57"/>
                </a:solidFill>
                <a:latin typeface="Calibri" pitchFamily="34" charset="0"/>
                <a:cs typeface="Amiri" pitchFamily="2" charset="-78"/>
              </a:rPr>
              <a:t> hijrat · muhājir · migration · a migrant (the Hijra; 1947 in South Asian history)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خَيْمَةٌ · مُخَيَّمٌ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‎خیمہ‎ </a:t>
            </a:r>
            <a:pPr indent="0" marL="0">
              <a:buNone/>
            </a:pPr>
            <a:r>
              <a:rPr lang="en-US" sz="950" b="1" dirty="0">
                <a:solidFill>
                  <a:srgbClr val="2E8B57"/>
                </a:solidFill>
                <a:latin typeface="Calibri" pitchFamily="34" charset="0"/>
                <a:cs typeface="Amiri" pitchFamily="2" charset="-78"/>
              </a:rPr>
              <a:t> khaima · a tent · a camp</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حُدُودٌ</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‎حدود‎ </a:t>
            </a:r>
            <a:pPr indent="0" marL="0">
              <a:buNone/>
            </a:pPr>
            <a:r>
              <a:rPr lang="en-US" sz="950" b="1" dirty="0">
                <a:solidFill>
                  <a:srgbClr val="2E8B57"/>
                </a:solidFill>
                <a:latin typeface="Calibri" pitchFamily="34" charset="0"/>
                <a:cs typeface="Amiri" pitchFamily="2" charset="-78"/>
              </a:rPr>
              <a:t> hudūd · borders, limits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حَقٌّ · حُقُوقٌ</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‎حق · حقوق‎ </a:t>
            </a:r>
            <a:pPr indent="0" marL="0">
              <a:buNone/>
            </a:pPr>
            <a:r>
              <a:rPr lang="en-US" sz="950" b="1" dirty="0">
                <a:solidFill>
                  <a:srgbClr val="2E8B57"/>
                </a:solidFill>
                <a:latin typeface="Calibri" pitchFamily="34" charset="0"/>
                <a:cs typeface="Amiri" pitchFamily="2" charset="-78"/>
              </a:rPr>
              <a:t> haq · huqūq · a right · rights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كَرَامَةٌ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‎کرامت‎ </a:t>
            </a:r>
            <a:pPr indent="0" marL="0">
              <a:buNone/>
            </a:pPr>
            <a:r>
              <a:rPr lang="en-US" sz="950" b="1" dirty="0">
                <a:solidFill>
                  <a:srgbClr val="2E8B57"/>
                </a:solidFill>
                <a:latin typeface="Calibri" pitchFamily="34" charset="0"/>
                <a:cs typeface="Amiri" pitchFamily="2" charset="-78"/>
              </a:rPr>
              <a:t> karāmat · Arabic: dignity · Urdu: a miracle (of a saint)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Humanitarian passives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they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يُهَجَّرُ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displaced</a:t>
            </a:r>
            <a:endParaRPr lang="en-US" sz="1350" dirty="0"/>
          </a:p>
          <a:p>
            <a:pPr indent="0" marL="0">
              <a:buNone/>
            </a:pPr>
            <a:r>
              <a:rPr lang="en-US" sz="1100" i="1" dirty="0">
                <a:solidFill>
                  <a:srgbClr val="5A6472"/>
                </a:solidFill>
                <a:latin typeface="Calibri" pitchFamily="34" charset="0"/>
                <a:cs typeface="Amiri" pitchFamily="2" charset="-78"/>
              </a:rPr>
              <a:t>yu-haj-ja-ru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يُهَجَّرُونَ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they</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يُرَحَّلُ</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deported</a:t>
            </a:r>
            <a:endParaRPr lang="en-US" sz="1350" dirty="0"/>
          </a:p>
          <a:p>
            <a:pPr indent="0" marL="0">
              <a:buNone/>
            </a:pPr>
            <a:r>
              <a:rPr lang="en-US" sz="1100" i="1" dirty="0">
                <a:solidFill>
                  <a:srgbClr val="5A6472"/>
                </a:solidFill>
                <a:latin typeface="Calibri" pitchFamily="34" charset="0"/>
                <a:cs typeface="Amiri" pitchFamily="2" charset="-78"/>
              </a:rPr>
              <a:t>yu-raḥ-ḥa-lu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يُرَحَّلُونَ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they</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يُودَعُ فِي مُخَيَّمٍ</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placed in a camp</a:t>
            </a:r>
            <a:endParaRPr lang="en-US" sz="1350" dirty="0"/>
          </a:p>
          <a:p>
            <a:pPr indent="0" marL="0">
              <a:buNone/>
            </a:pPr>
            <a:r>
              <a:rPr lang="en-US" sz="1100" i="1" dirty="0">
                <a:solidFill>
                  <a:srgbClr val="5A6472"/>
                </a:solidFill>
                <a:latin typeface="Calibri" pitchFamily="34" charset="0"/>
                <a:cs typeface="Amiri" pitchFamily="2" charset="-78"/>
              </a:rPr>
              <a:t>yū-da-ʿu fī mu-khay-ya-min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يُودَعُونَ فِي مُخَيَّمَاتٍ</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they</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يُحْرَمُ مِنْ</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deprived of</a:t>
            </a:r>
            <a:endParaRPr lang="en-US" sz="1350" dirty="0"/>
          </a:p>
          <a:p>
            <a:pPr indent="0" marL="0">
              <a:buNone/>
            </a:pPr>
            <a:r>
              <a:rPr lang="en-US" sz="1100" i="1" dirty="0">
                <a:solidFill>
                  <a:srgbClr val="5A6472"/>
                </a:solidFill>
                <a:latin typeface="Calibri" pitchFamily="34" charset="0"/>
                <a:cs typeface="Amiri" pitchFamily="2" charset="-78"/>
              </a:rPr>
              <a:t>yuḥ-ra-mu min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0" name="Text 5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يُحْرَمُونَ مِنْ</a:t>
            </a:r>
            <a:endParaRPr lang="ar-SA"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Humanitarian passives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الفَاعِلُ المَحْذُوفُ</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omitted agent</a:t>
            </a:r>
            <a:endParaRPr lang="en-US" sz="1350" dirty="0"/>
          </a:p>
          <a:p>
            <a:pPr indent="0" marL="0">
              <a:buNone/>
            </a:pPr>
            <a:r>
              <a:rPr lang="en-US" sz="1100" i="1" dirty="0">
                <a:solidFill>
                  <a:srgbClr val="5A6472"/>
                </a:solidFill>
                <a:latin typeface="Calibri" pitchFamily="34" charset="0"/>
                <a:cs typeface="Amiri" pitchFamily="2" charset="-78"/>
              </a:rPr>
              <a:t>al-fā-ʿi-lu al-maḥ-dhū-fu</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Why the passive is chosen.</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4" name="Text 2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الخِطَابُ الإِنْسَانِيُّ</a:t>
            </a:r>
            <a:endParaRPr lang="ar-SA" sz="3000" dirty="0"/>
          </a:p>
        </p:txBody>
      </p:sp>
      <p:sp>
        <p:nvSpPr>
          <p:cNvPr id="25" name="Text 2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humanitarian discourse</a:t>
            </a:r>
            <a:endParaRPr lang="en-US" sz="1350" dirty="0"/>
          </a:p>
          <a:p>
            <a:pPr indent="0" marL="0">
              <a:buNone/>
            </a:pPr>
            <a:r>
              <a:rPr lang="en-US" sz="1100" i="1" dirty="0">
                <a:solidFill>
                  <a:srgbClr val="5A6472"/>
                </a:solidFill>
                <a:latin typeface="Calibri" pitchFamily="34" charset="0"/>
                <a:cs typeface="Amiri" pitchFamily="2" charset="-78"/>
              </a:rPr>
              <a:t>al-khi-ṭā-bu al-in-sā-niy-yu</a:t>
            </a:r>
            <a:endParaRPr lang="en-US" sz="1350" dirty="0"/>
          </a:p>
        </p:txBody>
      </p:sp>
      <p:sp>
        <p:nvSpPr>
          <p:cNvPr id="26" name="Shape 2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566928"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9" name="Shape 26"/>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0" name="Text 27"/>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Passive.</a:t>
            </a:r>
            <a:endParaRPr lang="en-US" sz="800" dirty="0"/>
          </a:p>
        </p:txBody>
      </p:sp>
      <p:sp>
        <p:nvSpPr>
          <p:cNvPr id="31" name="Text 2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يُكْفَلُ حَقُّهُ</a:t>
            </a:r>
            <a:endParaRPr lang="ar-SA" sz="3000" dirty="0"/>
          </a:p>
        </p:txBody>
      </p:sp>
      <p:sp>
        <p:nvSpPr>
          <p:cNvPr id="32" name="Text 2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right is guaranteed</a:t>
            </a:r>
            <a:endParaRPr lang="en-US" sz="1350" dirty="0"/>
          </a:p>
          <a:p>
            <a:pPr indent="0" marL="0">
              <a:buNone/>
            </a:pPr>
            <a:r>
              <a:rPr lang="en-US" sz="1100" i="1" dirty="0">
                <a:solidFill>
                  <a:srgbClr val="5A6472"/>
                </a:solidFill>
                <a:latin typeface="Calibri" pitchFamily="34" charset="0"/>
                <a:cs typeface="Amiri" pitchFamily="2" charset="-78"/>
              </a:rPr>
              <a:t>yuk-fa-lu ḥaq-qu-hu</a:t>
            </a:r>
            <a:endParaRPr lang="en-US" sz="1350" dirty="0"/>
          </a:p>
        </p:txBody>
      </p:sp>
      <p:sp>
        <p:nvSpPr>
          <p:cNvPr id="33" name="Shape 3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8211312" y="4261104"/>
            <a:ext cx="310896" cy="310896"/>
          </a:xfrm>
          <a:prstGeom prst="ellipse">
            <a:avLst/>
          </a:prstGeom>
          <a:solidFill>
            <a:srgbClr val="F4F1EA"/>
          </a:solidFill>
          <a:ln w="12700">
            <a:solidFill>
              <a:srgbClr val="F4F1EA"/>
            </a:solidFill>
            <a:prstDash val="solid"/>
          </a:ln>
        </p:spPr>
      </p:sp>
      <p:sp>
        <p:nvSpPr>
          <p:cNvPr id="35" name="Text 3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Passive.</a:t>
            </a:r>
            <a:endParaRPr lang="en-US" sz="8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تُفْتَحُ مَمَرَّاتٌ</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corridors are opened</a:t>
            </a:r>
            <a:endParaRPr lang="en-US" sz="1350" dirty="0"/>
          </a:p>
          <a:p>
            <a:pPr indent="0" marL="0">
              <a:buNone/>
            </a:pPr>
            <a:r>
              <a:rPr lang="en-US" sz="1100" i="1" dirty="0">
                <a:solidFill>
                  <a:srgbClr val="5A6472"/>
                </a:solidFill>
                <a:latin typeface="Calibri" pitchFamily="34" charset="0"/>
                <a:cs typeface="Amiri" pitchFamily="2" charset="-78"/>
              </a:rPr>
              <a:t>tuf-ta-ḥu ma-mar-rā-tun</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Migration and displacement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هِجْرَةٌ اضْطِرَارِيَّةٌ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forced migration</a:t>
            </a:r>
            <a:endParaRPr lang="en-US" sz="1350" dirty="0"/>
          </a:p>
          <a:p>
            <a:pPr indent="0" marL="0">
              <a:buNone/>
            </a:pPr>
            <a:r>
              <a:rPr lang="en-US" sz="1100" i="1" dirty="0">
                <a:solidFill>
                  <a:srgbClr val="5A6472"/>
                </a:solidFill>
                <a:latin typeface="Calibri" pitchFamily="34" charset="0"/>
                <a:cs typeface="Amiri" pitchFamily="2" charset="-78"/>
              </a:rPr>
              <a:t>hij-ra-tun aḍ-ṭi-rā-riy-ya-tun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نُزُوحٌ دَاخِلِيٌّ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internal displacement</a:t>
            </a:r>
            <a:endParaRPr lang="en-US" sz="1350" dirty="0"/>
          </a:p>
          <a:p>
            <a:pPr indent="0" marL="0">
              <a:buNone/>
            </a:pPr>
            <a:r>
              <a:rPr lang="en-US" sz="1100" i="1" dirty="0">
                <a:solidFill>
                  <a:srgbClr val="5A6472"/>
                </a:solidFill>
                <a:latin typeface="Calibri" pitchFamily="34" charset="0"/>
                <a:cs typeface="Amiri" pitchFamily="2" charset="-78"/>
              </a:rPr>
              <a:t>nu-zū-ḥun dā-khi-liy-yun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طَالِبُ لُجُوءٍ</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asylum seeker</a:t>
            </a:r>
            <a:endParaRPr lang="en-US" sz="1350" dirty="0"/>
          </a:p>
          <a:p>
            <a:pPr indent="0" marL="0">
              <a:buNone/>
            </a:pPr>
            <a:r>
              <a:rPr lang="en-US" sz="1100" i="1" dirty="0">
                <a:solidFill>
                  <a:srgbClr val="5A6472"/>
                </a:solidFill>
                <a:latin typeface="Calibri" pitchFamily="34" charset="0"/>
                <a:cs typeface="Amiri" pitchFamily="2" charset="-78"/>
              </a:rPr>
              <a:t>ṭā-li-bu lu-jū-ʾin</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طَالِبُو لُجُوءٍ</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تَهْجِيرٌ قَسْرِيٌّ</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forced displacement</a:t>
            </a:r>
            <a:endParaRPr lang="en-US" sz="1350" dirty="0"/>
          </a:p>
          <a:p>
            <a:pPr indent="0" marL="0">
              <a:buNone/>
            </a:pPr>
            <a:r>
              <a:rPr lang="en-US" sz="1100" i="1" dirty="0">
                <a:solidFill>
                  <a:srgbClr val="5A6472"/>
                </a:solidFill>
                <a:latin typeface="Calibri" pitchFamily="34" charset="0"/>
                <a:cs typeface="Amiri" pitchFamily="2" charset="-78"/>
              </a:rPr>
              <a:t>tah-jī-run qas-riy-yun</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Migration and displacement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أَزْمَةٌ إِنْسَانِيَّةٌ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humanitarian crisis</a:t>
            </a:r>
            <a:endParaRPr lang="en-US" sz="1350" dirty="0"/>
          </a:p>
          <a:p>
            <a:pPr indent="0" marL="0">
              <a:buNone/>
            </a:pPr>
            <a:r>
              <a:rPr lang="en-US" sz="1100" i="1" dirty="0">
                <a:solidFill>
                  <a:srgbClr val="5A6472"/>
                </a:solidFill>
                <a:latin typeface="Calibri" pitchFamily="34" charset="0"/>
                <a:cs typeface="Amiri" pitchFamily="2" charset="-78"/>
              </a:rPr>
              <a:t>az-ma-tun in-sā-niy-ya-tun</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أَزَمَاتٌ إِنْسَانِيَّةٌ</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Shape 29"/>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مُخَيَّمُ اللَّاجِئِينَ</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refugee camp</a:t>
            </a:r>
            <a:endParaRPr lang="en-US" sz="1350" dirty="0"/>
          </a:p>
          <a:p>
            <a:pPr indent="0" marL="0">
              <a:buNone/>
            </a:pPr>
            <a:r>
              <a:rPr lang="en-US" sz="1100" i="1" dirty="0">
                <a:solidFill>
                  <a:srgbClr val="5A6472"/>
                </a:solidFill>
                <a:latin typeface="Calibri" pitchFamily="34" charset="0"/>
                <a:cs typeface="Amiri" pitchFamily="2" charset="-78"/>
              </a:rPr>
              <a:t>mu-khay-ya-mu all-lā-ji-ʾī-na</a:t>
            </a:r>
            <a:endParaRPr lang="en-US" sz="1350" dirty="0"/>
          </a:p>
        </p:txBody>
      </p:sp>
      <p:sp>
        <p:nvSpPr>
          <p:cNvPr id="38" name="Shape 35"/>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مُخَيَّمَاتُ اللَّاجِئِينَ</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الحَقُّ فِي اللُّجُوءِ</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right to asylum</a:t>
            </a:r>
            <a:endParaRPr lang="en-US" sz="1350" dirty="0"/>
          </a:p>
          <a:p>
            <a:pPr indent="0" marL="0">
              <a:buNone/>
            </a:pPr>
            <a:r>
              <a:rPr lang="en-US" sz="1100" i="1" dirty="0">
                <a:solidFill>
                  <a:srgbClr val="5A6472"/>
                </a:solidFill>
                <a:latin typeface="Calibri" pitchFamily="34" charset="0"/>
                <a:cs typeface="Amiri" pitchFamily="2" charset="-78"/>
              </a:rPr>
              <a:t>al-ḥaq-qu fī all-lu-jū-ʾi</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إِعَادَةُ التَّوْطِينِ</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resettlement</a:t>
            </a:r>
            <a:endParaRPr lang="en-US" sz="1350" dirty="0"/>
          </a:p>
          <a:p>
            <a:pPr indent="0" marL="0">
              <a:buNone/>
            </a:pPr>
            <a:r>
              <a:rPr lang="en-US" sz="1100" i="1" dirty="0">
                <a:solidFill>
                  <a:srgbClr val="5A6472"/>
                </a:solidFill>
                <a:latin typeface="Calibri" pitchFamily="34" charset="0"/>
                <a:cs typeface="Amiri" pitchFamily="2" charset="-78"/>
              </a:rPr>
              <a:t>i-ʿā-da-tu at-taw-ṭī-ni</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Displacement verbs and impact (1 of 2)</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they</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يَفِرُّ مِنْ</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flees from</a:t>
            </a:r>
            <a:endParaRPr lang="en-US" sz="1350" dirty="0"/>
          </a:p>
          <a:p>
            <a:pPr indent="0" marL="0">
              <a:buNone/>
            </a:pPr>
            <a:r>
              <a:rPr lang="en-US" sz="1100" i="1" dirty="0">
                <a:solidFill>
                  <a:srgbClr val="5A6472"/>
                </a:solidFill>
                <a:latin typeface="Calibri" pitchFamily="34" charset="0"/>
                <a:cs typeface="Amiri" pitchFamily="2" charset="-78"/>
              </a:rPr>
              <a:t>ya-fir-ru min</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يَفِرُّونَ مِنْ</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يَعْبُرُ الحُدُودَ</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crosses the border</a:t>
            </a:r>
            <a:endParaRPr lang="en-US" sz="1350" dirty="0"/>
          </a:p>
          <a:p>
            <a:pPr indent="0" marL="0">
              <a:buNone/>
            </a:pPr>
            <a:r>
              <a:rPr lang="en-US" sz="1100" i="1" dirty="0">
                <a:solidFill>
                  <a:srgbClr val="5A6472"/>
                </a:solidFill>
                <a:latin typeface="Calibri" pitchFamily="34" charset="0"/>
                <a:cs typeface="Amiri" pitchFamily="2" charset="-78"/>
              </a:rPr>
              <a:t>yaʿ-bu-ru al-ḥu-dū-da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تَعْبُرُ الحُدُودَ</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يَتَشَرَّدُ</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becomes displaced</a:t>
            </a:r>
            <a:endParaRPr lang="en-US" sz="1350" dirty="0"/>
          </a:p>
          <a:p>
            <a:pPr indent="0" marL="0">
              <a:buNone/>
            </a:pPr>
            <a:r>
              <a:rPr lang="en-US" sz="1100" i="1" dirty="0">
                <a:solidFill>
                  <a:srgbClr val="5A6472"/>
                </a:solidFill>
                <a:latin typeface="Calibri" pitchFamily="34" charset="0"/>
                <a:cs typeface="Amiri" pitchFamily="2" charset="-78"/>
              </a:rPr>
              <a:t>ya-ta-shar-ra-du</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9" name="Shape 46"/>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they</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يَلْتَمِسُ اللُّجُوءَ</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seeks asylum</a:t>
            </a:r>
            <a:endParaRPr lang="en-US" sz="1350" dirty="0"/>
          </a:p>
          <a:p>
            <a:pPr indent="0" marL="0">
              <a:buNone/>
            </a:pPr>
            <a:r>
              <a:rPr lang="en-US" sz="1100" i="1" dirty="0">
                <a:solidFill>
                  <a:srgbClr val="5A6472"/>
                </a:solidFill>
                <a:latin typeface="Calibri" pitchFamily="34" charset="0"/>
                <a:cs typeface="Amiri" pitchFamily="2" charset="-78"/>
              </a:rPr>
              <a:t>yal-ta-mi-su all-lu-jū-ʾa</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7" name="Text 54"/>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يَلْتَمِسُونَ اللُّجُوءَ</a:t>
            </a:r>
            <a:endParaRPr lang="ar-SA"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Displacement verbs and impact (2 of 2)</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صَدْمَةُ الحَرْبِ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 trauma</a:t>
            </a:r>
            <a:endParaRPr lang="en-US" sz="1350" dirty="0"/>
          </a:p>
          <a:p>
            <a:pPr indent="0" marL="0">
              <a:buNone/>
            </a:pPr>
            <a:r>
              <a:rPr lang="en-US" sz="1100" i="1" dirty="0">
                <a:solidFill>
                  <a:srgbClr val="5A6472"/>
                </a:solidFill>
                <a:latin typeface="Calibri" pitchFamily="34" charset="0"/>
                <a:cs typeface="Amiri" pitchFamily="2" charset="-78"/>
              </a:rPr>
              <a:t>ṣad-ma-tu al-ḥar-bi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تَفَكُّكُ الأُسْرَةِ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family disintegration</a:t>
            </a:r>
            <a:endParaRPr lang="en-US" sz="1350" dirty="0"/>
          </a:p>
          <a:p>
            <a:pPr indent="0" marL="0">
              <a:buNone/>
            </a:pPr>
            <a:r>
              <a:rPr lang="en-US" sz="1100" i="1" dirty="0">
                <a:solidFill>
                  <a:srgbClr val="5A6472"/>
                </a:solidFill>
                <a:latin typeface="Calibri" pitchFamily="34" charset="0"/>
                <a:cs typeface="Amiri" pitchFamily="2" charset="-78"/>
              </a:rPr>
              <a:t>ta-fak-ku-ku al-us-ra-ti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فَقْدَانُ الجُذُورِ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loss of roots</a:t>
            </a:r>
            <a:endParaRPr lang="en-US" sz="1350" dirty="0"/>
          </a:p>
          <a:p>
            <a:pPr indent="0" marL="0">
              <a:buNone/>
            </a:pPr>
            <a:r>
              <a:rPr lang="en-US" sz="1100" i="1" dirty="0">
                <a:solidFill>
                  <a:srgbClr val="5A6472"/>
                </a:solidFill>
                <a:latin typeface="Calibri" pitchFamily="34" charset="0"/>
                <a:cs typeface="Amiri" pitchFamily="2" charset="-78"/>
              </a:rPr>
              <a:t>faq-dā-nu al-ju-dhū-ri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المُتَشَرِّدُونَ دَاخِلِيًّا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internally displaced persons</a:t>
            </a:r>
            <a:endParaRPr lang="en-US" sz="1350" dirty="0"/>
          </a:p>
          <a:p>
            <a:pPr indent="0" marL="0">
              <a:buNone/>
            </a:pPr>
            <a:r>
              <a:rPr lang="en-US" sz="1100" i="1" dirty="0">
                <a:solidFill>
                  <a:srgbClr val="5A6472"/>
                </a:solidFill>
                <a:latin typeface="Calibri" pitchFamily="34" charset="0"/>
                <a:cs typeface="Amiri" pitchFamily="2" charset="-78"/>
              </a:rPr>
              <a:t>al-mu-ta-shar-ri-dū-na dā-khi-liy-yan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HUMANITARIAN PASSIVE (WEBSITE RULE 1, TEACHING POINT 1 AND VOCABULARY)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Put the person first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المَبْنِيُّ لِلْمَجْهُولِ الإِنْسَانِيُّ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3708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23591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5852160" y="2267712"/>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يُهَجَّرُ</a:t>
            </a:r>
            <a:pPr rtl="1" algn="ctr" indent="0" marL="0">
              <a:buNone/>
            </a:pPr>
            <a:r>
              <a:rPr lang="ar-SA" altLang="en-US" sz="1700" b="1" dirty="0">
                <a:solidFill>
                  <a:srgbClr val="1B3B6F"/>
                </a:solidFill>
                <a:latin typeface="Amiri" pitchFamily="2" charset="-78"/>
                <a:cs typeface="Amiri" pitchFamily="2" charset="-78"/>
              </a:rPr>
              <a:t> المَلَايِينُ بِسَبَبِ النِّزَاعَاتِ المُسَلَّحَةِ.</a:t>
            </a:r>
            <a:endParaRPr lang="ar-SA" sz="1700" dirty="0"/>
          </a:p>
        </p:txBody>
      </p:sp>
      <p:sp>
        <p:nvSpPr>
          <p:cNvPr id="22" name="Text 19"/>
          <p:cNvSpPr txBox="1"/>
          <p:nvPr/>
        </p:nvSpPr>
        <p:spPr>
          <a:xfrm>
            <a:off x="440740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23" name="Text 20"/>
          <p:cNvSpPr txBox="1"/>
          <p:nvPr/>
        </p:nvSpPr>
        <p:spPr>
          <a:xfrm>
            <a:off x="2377440" y="2267712"/>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يُهَجَّرُ</a:t>
            </a:r>
            <a:endParaRPr lang="ar-SA" sz="2000" dirty="0"/>
          </a:p>
        </p:txBody>
      </p:sp>
      <p:sp>
        <p:nvSpPr>
          <p:cNvPr id="24" name="Text 21"/>
          <p:cNvSpPr txBox="1"/>
          <p:nvPr/>
        </p:nvSpPr>
        <p:spPr>
          <a:xfrm>
            <a:off x="548640" y="2267712"/>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يُهَجِّرُ</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5852160" y="3004718"/>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يُرَحَّلُ</a:t>
            </a:r>
            <a:pPr rtl="1" algn="ctr" indent="0" marL="0">
              <a:buNone/>
            </a:pPr>
            <a:r>
              <a:rPr lang="ar-SA" altLang="en-US" sz="1700" b="1" dirty="0">
                <a:solidFill>
                  <a:srgbClr val="1B3B6F"/>
                </a:solidFill>
                <a:latin typeface="Amiri" pitchFamily="2" charset="-78"/>
                <a:cs typeface="Amiri" pitchFamily="2" charset="-78"/>
              </a:rPr>
              <a:t> طَالِبُ اللُّجُوءِ قَسْرًا.</a:t>
            </a:r>
            <a:endParaRPr lang="ar-SA" sz="1700" dirty="0"/>
          </a:p>
        </p:txBody>
      </p:sp>
      <p:sp>
        <p:nvSpPr>
          <p:cNvPr id="29" name="Text 26"/>
          <p:cNvSpPr txBox="1"/>
          <p:nvPr/>
        </p:nvSpPr>
        <p:spPr>
          <a:xfrm>
            <a:off x="440740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30" name="Text 27"/>
          <p:cNvSpPr txBox="1"/>
          <p:nvPr/>
        </p:nvSpPr>
        <p:spPr>
          <a:xfrm>
            <a:off x="2377440" y="300471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يُرَحَّلُ</a:t>
            </a:r>
            <a:endParaRPr lang="ar-SA" sz="2000" dirty="0"/>
          </a:p>
        </p:txBody>
      </p:sp>
      <p:sp>
        <p:nvSpPr>
          <p:cNvPr id="31" name="Text 28"/>
          <p:cNvSpPr txBox="1"/>
          <p:nvPr/>
        </p:nvSpPr>
        <p:spPr>
          <a:xfrm>
            <a:off x="548640" y="3004718"/>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يُرَحِّلُ</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5852160" y="3741725"/>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a:t>
            </a:r>
            <a:pPr rtl="1" algn="ctr" indent="0" marL="0">
              <a:buNone/>
            </a:pPr>
            <a:r>
              <a:rPr lang="ar-SA" altLang="en-US" sz="1700" b="1" dirty="0">
                <a:solidFill>
                  <a:srgbClr val="D6336C"/>
                </a:solidFill>
                <a:latin typeface="Amiri" pitchFamily="2" charset="-78"/>
                <a:cs typeface="Amiri" pitchFamily="2" charset="-78"/>
              </a:rPr>
              <a:t>يُودَعُ</a:t>
            </a:r>
            <a:pPr rtl="1" algn="ctr" indent="0" marL="0">
              <a:buNone/>
            </a:pPr>
            <a:r>
              <a:rPr lang="ar-SA" altLang="en-US" sz="1700" b="1" dirty="0">
                <a:solidFill>
                  <a:srgbClr val="1B3B6F"/>
                </a:solidFill>
                <a:latin typeface="Amiri" pitchFamily="2" charset="-78"/>
                <a:cs typeface="Amiri" pitchFamily="2" charset="-78"/>
              </a:rPr>
              <a:t> كَثِيرُونَ فِي مُخَيَّمَاتٍ تَفْتَقِرُ إِلَى الخَدَمَاتِ.</a:t>
            </a:r>
            <a:endParaRPr lang="ar-SA" sz="1700" dirty="0"/>
          </a:p>
        </p:txBody>
      </p:sp>
      <p:sp>
        <p:nvSpPr>
          <p:cNvPr id="36" name="Text 33"/>
          <p:cNvSpPr txBox="1"/>
          <p:nvPr/>
        </p:nvSpPr>
        <p:spPr>
          <a:xfrm>
            <a:off x="440740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a:t>
            </a:r>
            <a:endParaRPr lang="en-US" sz="1100" dirty="0"/>
          </a:p>
        </p:txBody>
      </p:sp>
      <p:sp>
        <p:nvSpPr>
          <p:cNvPr id="37" name="Text 34"/>
          <p:cNvSpPr txBox="1"/>
          <p:nvPr/>
        </p:nvSpPr>
        <p:spPr>
          <a:xfrm>
            <a:off x="2377440" y="3741725"/>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يُودَعُ</a:t>
            </a:r>
            <a:endParaRPr lang="ar-SA" sz="2000" dirty="0"/>
          </a:p>
        </p:txBody>
      </p:sp>
      <p:sp>
        <p:nvSpPr>
          <p:cNvPr id="38" name="Text 35"/>
          <p:cNvSpPr txBox="1"/>
          <p:nvPr/>
        </p:nvSpPr>
        <p:spPr>
          <a:xfrm>
            <a:off x="548640" y="3741725"/>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يُودِعُ</a:t>
            </a:r>
            <a:endParaRPr lang="ar-SA" sz="20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5852160" y="4478731"/>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 الأَطْفَالَ </a:t>
            </a:r>
            <a:pPr rtl="1" algn="ctr" indent="0" marL="0">
              <a:buNone/>
            </a:pPr>
            <a:r>
              <a:rPr lang="ar-SA" altLang="en-US" sz="1700" b="1" dirty="0">
                <a:solidFill>
                  <a:srgbClr val="7B3FA0"/>
                </a:solidFill>
                <a:latin typeface="Amiri" pitchFamily="2" charset="-78"/>
                <a:cs typeface="Amiri" pitchFamily="2" charset="-78"/>
              </a:rPr>
              <a:t>يُحْرَمُونَ</a:t>
            </a:r>
            <a:pPr rtl="1" algn="ctr" indent="0" marL="0">
              <a:buNone/>
            </a:pPr>
            <a:r>
              <a:rPr lang="ar-SA" altLang="en-US" sz="1700" b="1" dirty="0">
                <a:solidFill>
                  <a:srgbClr val="1B3B6F"/>
                </a:solidFill>
                <a:latin typeface="Amiri" pitchFamily="2" charset="-78"/>
                <a:cs typeface="Amiri" pitchFamily="2" charset="-78"/>
              </a:rPr>
              <a:t> مِنَ التَّعْلِيمِ.</a:t>
            </a:r>
            <a:endParaRPr lang="ar-SA" sz="1700" dirty="0"/>
          </a:p>
        </p:txBody>
      </p:sp>
      <p:sp>
        <p:nvSpPr>
          <p:cNvPr id="43" name="Text 40"/>
          <p:cNvSpPr txBox="1"/>
          <p:nvPr/>
        </p:nvSpPr>
        <p:spPr>
          <a:xfrm>
            <a:off x="440740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44" name="Text 41"/>
          <p:cNvSpPr txBox="1"/>
          <p:nvPr/>
        </p:nvSpPr>
        <p:spPr>
          <a:xfrm>
            <a:off x="2377440" y="4478731"/>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يُحْرَمُ</a:t>
            </a:r>
            <a:endParaRPr lang="ar-SA" sz="2000" dirty="0"/>
          </a:p>
        </p:txBody>
      </p:sp>
      <p:sp>
        <p:nvSpPr>
          <p:cNvPr id="45" name="Text 42"/>
          <p:cNvSpPr txBox="1"/>
          <p:nvPr/>
        </p:nvSpPr>
        <p:spPr>
          <a:xfrm>
            <a:off x="548640" y="4478731"/>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يَحْرِمُ</a:t>
            </a:r>
            <a:endParaRPr lang="ar-SA" sz="20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5852160" y="5215738"/>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إِذَا </a:t>
            </a:r>
            <a:pPr rtl="1" algn="ctr" indent="0" marL="0">
              <a:buNone/>
            </a:pPr>
            <a:r>
              <a:rPr lang="ar-SA" altLang="en-US" sz="1700" b="1" dirty="0">
                <a:solidFill>
                  <a:srgbClr val="7B3FA0"/>
                </a:solidFill>
                <a:latin typeface="Amiri" pitchFamily="2" charset="-78"/>
                <a:cs typeface="Amiri" pitchFamily="2" charset="-78"/>
              </a:rPr>
              <a:t>فُتِحَتْ</a:t>
            </a:r>
            <a:pPr rtl="1" algn="ctr" indent="0" marL="0">
              <a:buNone/>
            </a:pPr>
            <a:r>
              <a:rPr lang="ar-SA" altLang="en-US" sz="1700" b="1" dirty="0">
                <a:solidFill>
                  <a:srgbClr val="1B3B6F"/>
                </a:solidFill>
                <a:latin typeface="Amiri" pitchFamily="2" charset="-78"/>
                <a:cs typeface="Amiri" pitchFamily="2" charset="-78"/>
              </a:rPr>
              <a:t> مَمَرَّاتٌ إِنْسَانِيَّةٌ آمِنَةٌ …</a:t>
            </a:r>
            <a:endParaRPr lang="ar-SA" sz="1700" dirty="0"/>
          </a:p>
        </p:txBody>
      </p:sp>
      <p:sp>
        <p:nvSpPr>
          <p:cNvPr id="48" name="Text 45"/>
          <p:cNvSpPr txBox="1"/>
          <p:nvPr/>
        </p:nvSpPr>
        <p:spPr>
          <a:xfrm>
            <a:off x="440740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(past)</a:t>
            </a:r>
            <a:endParaRPr lang="en-US" sz="1100" dirty="0"/>
          </a:p>
        </p:txBody>
      </p:sp>
      <p:sp>
        <p:nvSpPr>
          <p:cNvPr id="49" name="Text 46"/>
          <p:cNvSpPr txBox="1"/>
          <p:nvPr/>
        </p:nvSpPr>
        <p:spPr>
          <a:xfrm>
            <a:off x="2377440" y="521573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فُتِحَتْ</a:t>
            </a:r>
            <a:endParaRPr lang="ar-SA" sz="2000" dirty="0"/>
          </a:p>
        </p:txBody>
      </p:sp>
      <p:sp>
        <p:nvSpPr>
          <p:cNvPr id="50" name="Text 47"/>
          <p:cNvSpPr txBox="1"/>
          <p:nvPr/>
        </p:nvSpPr>
        <p:spPr>
          <a:xfrm>
            <a:off x="548640" y="5215738"/>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فَتَحَ</a:t>
            </a:r>
            <a:endParaRPr lang="ar-SA" sz="20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Present passive: yu- + fatḥa before the last letter (yuhajjaRu → yuhajjAru). Past passive: ḍamma first, kasra before the last (futiḥat).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CHOICE, FORCE, ACTION (WEBSITE RULE 2, MISTAKE 1 AND COMMON ERROR)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Chose to go — or forced to 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الاخْتِيَارُ أَمِ الإِجْبَارُ؟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8308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CHOICE · ACTIVE · CORE</a:t>
            </a:r>
            <a:endParaRPr lang="en-US" sz="850" dirty="0"/>
          </a:p>
        </p:txBody>
      </p:sp>
      <p:sp>
        <p:nvSpPr>
          <p:cNvPr id="18" name="Text 15"/>
          <p:cNvSpPr txBox="1"/>
          <p:nvPr/>
        </p:nvSpPr>
        <p:spPr>
          <a:xfrm>
            <a:off x="10061448"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يُهَاجِرُ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هَاجَرَ لِلدِّرَاسَةِ · هَاجَرَتْ لِلْعَمَلِ</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migrated to study · she migrated for work.</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They decided.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FORCE · PASSIVE · CORE</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يُهَجَّرُ</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يُهَجَّرُ الأَطْفَالُ قَسْرًا مِنْ مُدُنِهِمْ.</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Children are forcibly displaced from their cities.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Someone forced them.</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THEIR ACTION · DEVELOP</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يَفِرُّ مِنْ · يَلْتَمِسُ</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يَفِرُّ المَدَنِيُّونَ مِنْ مَنَاطِقِ النِّزَاعِ وَيَلْتَمِسُونَ اللُّجُوءَ.</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Civilians flee conflict zones and seek asylum.</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Brave choices, active verbs.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1: forced displacement is the passive, not “migrates”.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يُهَجَّرُ الأَطْفَالُ قَسْرًا</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cs typeface="Amiri" pitchFamily="2" charset="-78"/>
              </a:rPr>
              <a:t>يُهَاجِرُ الأَطْفَالُ قَسْرًا</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BOTH CONDITIONALS IN HUMANITARIAN ANALYSIS (WEBSITE RULES 3–4, TEACHING POINT 2 AND MISTAKES 2–3)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Look forward, look back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الشَّرْطُ فِي التَّحْلِيلِ الإِنْسَانِيِّ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462272" y="1810512"/>
            <a:ext cx="7196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23591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480560" y="2267712"/>
            <a:ext cx="715975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cs typeface="Amiri" pitchFamily="2" charset="-78"/>
              </a:rPr>
              <a:t>إِذَا</a:t>
            </a:r>
            <a:pPr rtl="1" algn="ctr" indent="0" marL="0">
              <a:buNone/>
            </a:pPr>
            <a:r>
              <a:rPr lang="ar-SA" altLang="en-US" sz="1700" b="1" dirty="0">
                <a:solidFill>
                  <a:srgbClr val="1B3B6F"/>
                </a:solidFill>
                <a:latin typeface="Amiri" pitchFamily="2" charset="-78"/>
                <a:cs typeface="Amiri" pitchFamily="2" charset="-78"/>
              </a:rPr>
              <a:t> تَوَصَّلَ المُجْتَمَعُ الدَّوْلِيُّ إِلَى حُلُولٍ، </a:t>
            </a:r>
            <a:pPr rtl="1" algn="ctr" indent="0" marL="0">
              <a:buNone/>
            </a:pPr>
            <a:r>
              <a:rPr lang="ar-SA" altLang="en-US" sz="1700" b="1" dirty="0">
                <a:solidFill>
                  <a:srgbClr val="1D5FBF"/>
                </a:solidFill>
                <a:latin typeface="Amiri" pitchFamily="2" charset="-78"/>
                <a:cs typeface="Amiri" pitchFamily="2" charset="-78"/>
              </a:rPr>
              <a:t>سَتَتَرَاجَعُ</a:t>
            </a:r>
            <a:pPr rtl="1" algn="ctr" indent="0" marL="0">
              <a:buNone/>
            </a:pPr>
            <a:r>
              <a:rPr lang="ar-SA" altLang="en-US" sz="1700" b="1" dirty="0">
                <a:solidFill>
                  <a:srgbClr val="1B3B6F"/>
                </a:solidFill>
                <a:latin typeface="Amiri" pitchFamily="2" charset="-78"/>
                <a:cs typeface="Amiri" pitchFamily="2" charset="-78"/>
              </a:rPr>
              <a:t> مَوْجَاتُ النُّزُوحِ.</a:t>
            </a:r>
            <a:endParaRPr lang="ar-SA" sz="1700" dirty="0"/>
          </a:p>
        </p:txBody>
      </p:sp>
      <p:sp>
        <p:nvSpPr>
          <p:cNvPr id="21" name="Text 18"/>
          <p:cNvSpPr txBox="1"/>
          <p:nvPr/>
        </p:nvSpPr>
        <p:spPr>
          <a:xfrm>
            <a:off x="23957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sa-</a:t>
            </a:r>
            <a:endParaRPr lang="en-US" sz="1100" dirty="0"/>
          </a:p>
        </p:txBody>
      </p:sp>
      <p:sp>
        <p:nvSpPr>
          <p:cNvPr id="22" name="Text 19"/>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plan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4480560" y="3004718"/>
            <a:ext cx="715975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cs typeface="Amiri" pitchFamily="2" charset="-78"/>
              </a:rPr>
              <a:t>وَإِذَا</a:t>
            </a:r>
            <a:pPr rtl="1" algn="ctr" indent="0" marL="0">
              <a:buNone/>
            </a:pPr>
            <a:r>
              <a:rPr lang="ar-SA" altLang="en-US" sz="1700" b="1" dirty="0">
                <a:solidFill>
                  <a:srgbClr val="1B3B6F"/>
                </a:solidFill>
                <a:latin typeface="Amiri" pitchFamily="2" charset="-78"/>
                <a:cs typeface="Amiri" pitchFamily="2" charset="-78"/>
              </a:rPr>
              <a:t> تَعَاوَنَ المُجْتَمَعُ الدَّوْلِيُّ، </a:t>
            </a:r>
            <a:pPr rtl="1" algn="ctr" indent="0" marL="0">
              <a:buNone/>
            </a:pPr>
            <a:r>
              <a:rPr lang="ar-SA" altLang="en-US" sz="1700" b="1" dirty="0">
                <a:solidFill>
                  <a:srgbClr val="1D5FBF"/>
                </a:solidFill>
                <a:latin typeface="Amiri" pitchFamily="2" charset="-78"/>
                <a:cs typeface="Amiri" pitchFamily="2" charset="-78"/>
              </a:rPr>
              <a:t>سَتُفْتَحُ</a:t>
            </a:r>
            <a:pPr rtl="1" algn="ctr" indent="0" marL="0">
              <a:buNone/>
            </a:pPr>
            <a:r>
              <a:rPr lang="ar-SA" altLang="en-US" sz="1700" b="1" dirty="0">
                <a:solidFill>
                  <a:srgbClr val="1B3B6F"/>
                </a:solidFill>
                <a:latin typeface="Amiri" pitchFamily="2" charset="-78"/>
                <a:cs typeface="Amiri" pitchFamily="2" charset="-78"/>
              </a:rPr>
              <a:t> مَمَرَّاتٌ إِنْسَانِيَّةٌ.</a:t>
            </a:r>
            <a:endParaRPr lang="ar-SA" sz="1700" dirty="0"/>
          </a:p>
        </p:txBody>
      </p:sp>
      <p:sp>
        <p:nvSpPr>
          <p:cNvPr id="27" name="Text 24"/>
          <p:cNvSpPr txBox="1"/>
          <p:nvPr/>
        </p:nvSpPr>
        <p:spPr>
          <a:xfrm>
            <a:off x="23957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sa-</a:t>
            </a:r>
            <a:endParaRPr lang="en-US" sz="1100" dirty="0"/>
          </a:p>
        </p:txBody>
      </p:sp>
      <p:sp>
        <p:nvSpPr>
          <p:cNvPr id="28" name="Text 25"/>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passive</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480560" y="3741725"/>
            <a:ext cx="7159752"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cs typeface="Amiri" pitchFamily="2" charset="-78"/>
              </a:rPr>
              <a:t>لَوْ لَمْ</a:t>
            </a:r>
            <a:pPr rtl="1" algn="ctr" indent="0" marL="0">
              <a:buNone/>
            </a:pPr>
            <a:r>
              <a:rPr lang="ar-SA" altLang="en-US" sz="1700" b="1" dirty="0">
                <a:solidFill>
                  <a:srgbClr val="1B3B6F"/>
                </a:solidFill>
                <a:latin typeface="Amiri" pitchFamily="2" charset="-78"/>
                <a:cs typeface="Amiri" pitchFamily="2" charset="-78"/>
              </a:rPr>
              <a:t> تَنْدَلِعِ الحُرُوبُ، </a:t>
            </a:r>
            <a:pPr rtl="1" algn="ctr" indent="0" marL="0">
              <a:buNone/>
            </a:pPr>
            <a:r>
              <a:rPr lang="ar-SA" altLang="en-US" sz="1700" b="1" dirty="0">
                <a:solidFill>
                  <a:srgbClr val="7B3FA0"/>
                </a:solidFill>
                <a:latin typeface="Amiri" pitchFamily="2" charset="-78"/>
                <a:cs typeface="Amiri" pitchFamily="2" charset="-78"/>
              </a:rPr>
              <a:t>لَمَا</a:t>
            </a:r>
            <a:pPr rtl="1" algn="ctr" indent="0" marL="0">
              <a:buNone/>
            </a:pPr>
            <a:r>
              <a:rPr lang="ar-SA" altLang="en-US" sz="1700" b="1" dirty="0">
                <a:solidFill>
                  <a:srgbClr val="1B3B6F"/>
                </a:solidFill>
                <a:latin typeface="Amiri" pitchFamily="2" charset="-78"/>
                <a:cs typeface="Amiri" pitchFamily="2" charset="-78"/>
              </a:rPr>
              <a:t> اضْطُرَّ المَلَايِينُ إِلَى الفِرَارِ.</a:t>
            </a:r>
            <a:endParaRPr lang="ar-SA" sz="1700" dirty="0"/>
          </a:p>
        </p:txBody>
      </p:sp>
      <p:sp>
        <p:nvSpPr>
          <p:cNvPr id="31" name="Text 28"/>
          <p:cNvSpPr txBox="1"/>
          <p:nvPr/>
        </p:nvSpPr>
        <p:spPr>
          <a:xfrm>
            <a:off x="23957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lam … la-mā</a:t>
            </a:r>
            <a:endParaRPr lang="en-US" sz="1100" dirty="0"/>
          </a:p>
        </p:txBody>
      </p:sp>
      <p:sp>
        <p:nvSpPr>
          <p:cNvPr id="32" name="Text 29"/>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 negative</a:t>
            </a:r>
            <a:endParaRPr lang="en-US" sz="1100" dirty="0"/>
          </a:p>
        </p:txBody>
      </p:sp>
      <p:sp>
        <p:nvSpPr>
          <p:cNvPr id="33" name="Shape 3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4480560" y="4478731"/>
            <a:ext cx="7159752"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cs typeface="Amiri" pitchFamily="2" charset="-78"/>
              </a:rPr>
              <a:t>لَوْ</a:t>
            </a:r>
            <a:pPr rtl="1" algn="ctr" indent="0" marL="0">
              <a:buNone/>
            </a:pPr>
            <a:r>
              <a:rPr lang="ar-SA" altLang="en-US" sz="1700" b="1" dirty="0">
                <a:solidFill>
                  <a:srgbClr val="1B3B6F"/>
                </a:solidFill>
                <a:latin typeface="Amiri" pitchFamily="2" charset="-78"/>
                <a:cs typeface="Amiri" pitchFamily="2" charset="-78"/>
              </a:rPr>
              <a:t> فُتِحَتْ مَمَرَّاتٌ إِنْسَانِيَّةٌ، </a:t>
            </a:r>
            <a:pPr rtl="1" algn="ctr" indent="0" marL="0">
              <a:buNone/>
            </a:pPr>
            <a:r>
              <a:rPr lang="ar-SA" altLang="en-US" sz="1700" b="1" dirty="0">
                <a:solidFill>
                  <a:srgbClr val="7B3FA0"/>
                </a:solidFill>
                <a:latin typeface="Amiri" pitchFamily="2" charset="-78"/>
                <a:cs typeface="Amiri" pitchFamily="2" charset="-78"/>
              </a:rPr>
              <a:t>لَنَجَا</a:t>
            </a:r>
            <a:pPr rtl="1" algn="ctr" indent="0" marL="0">
              <a:buNone/>
            </a:pPr>
            <a:r>
              <a:rPr lang="ar-SA" altLang="en-US" sz="1700" b="1" dirty="0">
                <a:solidFill>
                  <a:srgbClr val="1B3B6F"/>
                </a:solidFill>
                <a:latin typeface="Amiri" pitchFamily="2" charset="-78"/>
                <a:cs typeface="Amiri" pitchFamily="2" charset="-78"/>
              </a:rPr>
              <a:t> كَثِيرُونَ.</a:t>
            </a:r>
            <a:endParaRPr lang="ar-SA" sz="1700" dirty="0"/>
          </a:p>
        </p:txBody>
      </p:sp>
      <p:sp>
        <p:nvSpPr>
          <p:cNvPr id="37" name="Text 34"/>
          <p:cNvSpPr txBox="1"/>
          <p:nvPr/>
        </p:nvSpPr>
        <p:spPr>
          <a:xfrm>
            <a:off x="23957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a:t>
            </a:r>
            <a:endParaRPr lang="en-US" sz="1100" dirty="0"/>
          </a:p>
        </p:txBody>
      </p:sp>
      <p:sp>
        <p:nvSpPr>
          <p:cNvPr id="38" name="Text 35"/>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 passive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480560" y="5215738"/>
            <a:ext cx="7159752"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cs typeface="Amiri" pitchFamily="2" charset="-78"/>
              </a:rPr>
              <a:t>وَكَانُوا قَدْ</a:t>
            </a:r>
            <a:pPr rtl="1" algn="ctr" indent="0" marL="0">
              <a:buNone/>
            </a:pPr>
            <a:r>
              <a:rPr lang="ar-SA" altLang="en-US" sz="1700" b="1" dirty="0">
                <a:solidFill>
                  <a:srgbClr val="1B3B6F"/>
                </a:solidFill>
                <a:latin typeface="Amiri" pitchFamily="2" charset="-78"/>
                <a:cs typeface="Amiri" pitchFamily="2" charset="-78"/>
              </a:rPr>
              <a:t> نَشَؤُوا فِي مُدُنٍ بَاتَتِ اليَوْمَ رُكَامًا.</a:t>
            </a:r>
            <a:endParaRPr lang="ar-SA" sz="1700" dirty="0"/>
          </a:p>
        </p:txBody>
      </p:sp>
      <p:sp>
        <p:nvSpPr>
          <p:cNvPr id="41" name="Text 38"/>
          <p:cNvSpPr txBox="1"/>
          <p:nvPr/>
        </p:nvSpPr>
        <p:spPr>
          <a:xfrm>
            <a:off x="23957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kānū qad</a:t>
            </a:r>
            <a:endParaRPr lang="en-US" sz="1100" dirty="0"/>
          </a:p>
        </p:txBody>
      </p:sp>
      <p:sp>
        <p:nvSpPr>
          <p:cNvPr id="42" name="Text 39"/>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2–3: law lam … sa-mā ✗ → la-mā ✓ · idhā … la-tarājaʿa ✗ → sa-yatarājaʿu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HUMANISING LANGUAGE (WEBSITE QUIZ 8, FINAL CHECK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Words that respect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تَحْتَرِمُ الإِنْسَانَ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473659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 (humanising)</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Avoid (dehumanising)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not an army</a:t>
            </a:r>
            <a:endParaRPr lang="en-US" sz="1100" dirty="0"/>
          </a:p>
        </p:txBody>
      </p:sp>
      <p:sp>
        <p:nvSpPr>
          <p:cNvPr id="21" name="Text 18"/>
          <p:cNvSpPr txBox="1"/>
          <p:nvPr/>
        </p:nvSpPr>
        <p:spPr>
          <a:xfrm>
            <a:off x="4754880" y="2267712"/>
            <a:ext cx="45720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يَبْحَثُ اللَّاجِئُونَ عَنْ </a:t>
            </a:r>
            <a:pPr rtl="1" algn="ctr" indent="0" marL="0">
              <a:buNone/>
            </a:pPr>
            <a:r>
              <a:rPr lang="ar-SA" altLang="en-US" sz="1800" b="1" dirty="0">
                <a:solidFill>
                  <a:srgbClr val="0E7C86"/>
                </a:solidFill>
                <a:latin typeface="Amiri" pitchFamily="2" charset="-78"/>
                <a:cs typeface="Amiri" pitchFamily="2" charset="-78"/>
              </a:rPr>
              <a:t>مَلْجَأٍ آمِنٍ</a:t>
            </a:r>
            <a:endParaRPr lang="ar-SA" sz="1800" dirty="0"/>
          </a:p>
        </p:txBody>
      </p:sp>
      <p:sp>
        <p:nvSpPr>
          <p:cNvPr id="22" name="Text 19"/>
          <p:cNvSpPr txBox="1"/>
          <p:nvPr/>
        </p:nvSpPr>
        <p:spPr>
          <a:xfrm>
            <a:off x="548640" y="2267712"/>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تَدَفَّقَتْ </a:t>
            </a:r>
            <a:pPr rtl="1" algn="ctr" indent="0" marL="0">
              <a:buNone/>
            </a:pPr>
            <a:r>
              <a:rPr lang="ar-SA" altLang="en-US" sz="1800" b="1" dirty="0">
                <a:solidFill>
                  <a:srgbClr val="D6336C"/>
                </a:solidFill>
                <a:latin typeface="Amiri" pitchFamily="2" charset="-78"/>
                <a:cs typeface="Amiri" pitchFamily="2" charset="-78"/>
              </a:rPr>
              <a:t>جَحَافِلُ</a:t>
            </a:r>
            <a:pPr rtl="1" algn="ctr" indent="0" marL="0">
              <a:buNone/>
            </a:pPr>
            <a:r>
              <a:rPr lang="ar-SA" altLang="en-US" sz="1800" b="1" dirty="0">
                <a:solidFill>
                  <a:srgbClr val="1B3B6F"/>
                </a:solidFill>
                <a:latin typeface="Amiri" pitchFamily="2" charset="-78"/>
                <a:cs typeface="Amiri" pitchFamily="2" charset="-78"/>
              </a:rPr>
              <a:t> المُهَاجِرِينَ</a:t>
            </a:r>
            <a:endParaRPr lang="ar-SA" sz="18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dignity, not burden</a:t>
            </a:r>
            <a:endParaRPr lang="en-US" sz="1100" dirty="0"/>
          </a:p>
        </p:txBody>
      </p:sp>
      <p:sp>
        <p:nvSpPr>
          <p:cNvPr id="27" name="Text 24"/>
          <p:cNvSpPr txBox="1"/>
          <p:nvPr/>
        </p:nvSpPr>
        <p:spPr>
          <a:xfrm>
            <a:off x="4754880" y="3004718"/>
            <a:ext cx="45720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الضَّرُورِيِّ أَنْ </a:t>
            </a:r>
            <a:pPr rtl="1" algn="ctr" indent="0" marL="0">
              <a:buNone/>
            </a:pPr>
            <a:r>
              <a:rPr lang="ar-SA" altLang="en-US" sz="1800" b="1" dirty="0">
                <a:solidFill>
                  <a:srgbClr val="0E7C86"/>
                </a:solidFill>
                <a:latin typeface="Amiri" pitchFamily="2" charset="-78"/>
                <a:cs typeface="Amiri" pitchFamily="2" charset="-78"/>
              </a:rPr>
              <a:t>تُصَانَ كَرَامَتُهُمْ</a:t>
            </a:r>
            <a:endParaRPr lang="ar-SA" sz="1800" dirty="0"/>
          </a:p>
        </p:txBody>
      </p:sp>
      <p:sp>
        <p:nvSpPr>
          <p:cNvPr id="28" name="Text 25"/>
          <p:cNvSpPr txBox="1"/>
          <p:nvPr/>
        </p:nvSpPr>
        <p:spPr>
          <a:xfrm>
            <a:off x="548640" y="3004718"/>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المُهَاجِرُونَ </a:t>
            </a:r>
            <a:pPr rtl="1" algn="ctr" indent="0" marL="0">
              <a:buNone/>
            </a:pPr>
            <a:r>
              <a:rPr lang="ar-SA" altLang="en-US" sz="1800" b="1" dirty="0">
                <a:solidFill>
                  <a:srgbClr val="D6336C"/>
                </a:solidFill>
                <a:latin typeface="Amiri" pitchFamily="2" charset="-78"/>
                <a:cs typeface="Amiri" pitchFamily="2" charset="-78"/>
              </a:rPr>
              <a:t>عِبْءٌ ثَقِيلٌ</a:t>
            </a:r>
            <a:endParaRPr lang="ar-SA" sz="18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centre the person</a:t>
            </a:r>
            <a:endParaRPr lang="en-US" sz="1100" dirty="0"/>
          </a:p>
        </p:txBody>
      </p:sp>
      <p:sp>
        <p:nvSpPr>
          <p:cNvPr id="33" name="Text 30"/>
          <p:cNvSpPr txBox="1"/>
          <p:nvPr/>
        </p:nvSpPr>
        <p:spPr>
          <a:xfrm>
            <a:off x="4754880" y="3741725"/>
            <a:ext cx="457200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يُهَجَّرُ الطِّفْلُ</a:t>
            </a:r>
            <a:pPr rtl="1" algn="ctr" indent="0" marL="0">
              <a:buNone/>
            </a:pPr>
            <a:r>
              <a:rPr lang="ar-SA" altLang="en-US" sz="1800" b="1" dirty="0">
                <a:solidFill>
                  <a:srgbClr val="1B3B6F"/>
                </a:solidFill>
                <a:latin typeface="Amiri" pitchFamily="2" charset="-78"/>
                <a:cs typeface="Amiri" pitchFamily="2" charset="-78"/>
              </a:rPr>
              <a:t> مِنْ مَدِينَتِهِ</a:t>
            </a:r>
            <a:endParaRPr lang="ar-SA" sz="1800" dirty="0"/>
          </a:p>
        </p:txBody>
      </p:sp>
      <p:sp>
        <p:nvSpPr>
          <p:cNvPr id="34" name="Text 31"/>
          <p:cNvSpPr txBox="1"/>
          <p:nvPr/>
        </p:nvSpPr>
        <p:spPr>
          <a:xfrm>
            <a:off x="548640" y="3741725"/>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الحَرْبُ سَبَبٌ.</a:t>
            </a:r>
            <a:endParaRPr lang="ar-SA" sz="18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precise, serious</a:t>
            </a:r>
            <a:endParaRPr lang="en-US" sz="1100" dirty="0"/>
          </a:p>
        </p:txBody>
      </p:sp>
      <p:sp>
        <p:nvSpPr>
          <p:cNvPr id="37" name="Text 34"/>
          <p:cNvSpPr txBox="1"/>
          <p:nvPr/>
        </p:nvSpPr>
        <p:spPr>
          <a:xfrm>
            <a:off x="4754880" y="4478731"/>
            <a:ext cx="45720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a:t>
            </a:r>
            <a:pPr rtl="1" algn="ctr" indent="0" marL="0">
              <a:buNone/>
            </a:pPr>
            <a:r>
              <a:rPr lang="ar-SA" altLang="en-US" sz="1800" b="1" dirty="0">
                <a:solidFill>
                  <a:srgbClr val="1D5FBF"/>
                </a:solidFill>
                <a:latin typeface="Amiri" pitchFamily="2" charset="-78"/>
                <a:cs typeface="Amiri" pitchFamily="2" charset="-78"/>
              </a:rPr>
              <a:t>أَعْمَقِ الأَزَمَاتِ الإِنْسَانِيَّةِ</a:t>
            </a:r>
            <a:pPr rtl="1" algn="ctr" indent="0" marL="0">
              <a:buNone/>
            </a:pPr>
            <a:r>
              <a:rPr lang="ar-SA" altLang="en-US" sz="1800" b="1" dirty="0">
                <a:solidFill>
                  <a:srgbClr val="1B3B6F"/>
                </a:solidFill>
                <a:latin typeface="Amiri" pitchFamily="2" charset="-78"/>
                <a:cs typeface="Amiri" pitchFamily="2" charset="-78"/>
              </a:rPr>
              <a:t> فِي عَصْرِنَا</a:t>
            </a:r>
            <a:endParaRPr lang="ar-SA" sz="1800" dirty="0"/>
          </a:p>
        </p:txBody>
      </p:sp>
      <p:sp>
        <p:nvSpPr>
          <p:cNvPr id="38" name="Text 35"/>
          <p:cNvSpPr txBox="1"/>
          <p:nvPr/>
        </p:nvSpPr>
        <p:spPr>
          <a:xfrm>
            <a:off x="548640" y="4478731"/>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مُشْكِلَةٌ كَبِيرَةٌ</a:t>
            </a:r>
            <a:endParaRPr lang="ar-SA" sz="18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need</a:t>
            </a:r>
            <a:endParaRPr lang="en-US" sz="1100" dirty="0"/>
          </a:p>
        </p:txBody>
      </p:sp>
      <p:sp>
        <p:nvSpPr>
          <p:cNvPr id="41" name="Text 38"/>
          <p:cNvSpPr txBox="1"/>
          <p:nvPr/>
        </p:nvSpPr>
        <p:spPr>
          <a:xfrm>
            <a:off x="4754880" y="5215738"/>
            <a:ext cx="457200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مُخَيَّمَاتٌ </a:t>
            </a:r>
            <a:pPr rtl="1" algn="ctr" indent="0" marL="0">
              <a:buNone/>
            </a:pPr>
            <a:r>
              <a:rPr lang="ar-SA" altLang="en-US" sz="1800" b="1" dirty="0">
                <a:solidFill>
                  <a:srgbClr val="1D5FBF"/>
                </a:solidFill>
                <a:latin typeface="Amiri" pitchFamily="2" charset="-78"/>
                <a:cs typeface="Amiri" pitchFamily="2" charset="-78"/>
              </a:rPr>
              <a:t>تَفْتَقِرُ إِلَى</a:t>
            </a:r>
            <a:pPr rtl="1" algn="ctr" indent="0" marL="0">
              <a:buNone/>
            </a:pPr>
            <a:r>
              <a:rPr lang="ar-SA" altLang="en-US" sz="1800" b="1" dirty="0">
                <a:solidFill>
                  <a:srgbClr val="1B3B6F"/>
                </a:solidFill>
                <a:latin typeface="Amiri" pitchFamily="2" charset="-78"/>
                <a:cs typeface="Amiri" pitchFamily="2" charset="-78"/>
              </a:rPr>
              <a:t> الأَمَانِ وَالخَدَمَاتِ</a:t>
            </a:r>
            <a:endParaRPr lang="ar-SA" sz="1800" dirty="0"/>
          </a:p>
        </p:txBody>
      </p:sp>
      <p:sp>
        <p:nvSpPr>
          <p:cNvPr id="42" name="Text 39"/>
          <p:cNvSpPr txBox="1"/>
          <p:nvPr/>
        </p:nvSpPr>
        <p:spPr>
          <a:xfrm>
            <a:off x="548640" y="5215738"/>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المُخَيَّمَاتُ سَيِّئَةٌ</a:t>
            </a:r>
            <a:endParaRPr lang="ar-SA" sz="18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quiz: “Which sentence uses humanising language?” — the register you choose is part of your argument.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Humanitarian passives and conditional analysis</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00" b="1" dirty="0">
                <a:solidFill>
                  <a:srgbClr val="8A6D1E"/>
                </a:solidFill>
                <a:latin typeface="Amiri" pitchFamily="2" charset="-78"/>
                <a:cs typeface="Amiri" pitchFamily="2" charset="-78"/>
              </a:rPr>
              <a:t>المَبْنِيُّ لِلْمَجْهُولِ الإِنْسَانِيُّ وَتَحْلِيلُ الشَّرْطِ</a:t>
            </a:r>
            <a:endParaRPr lang="ar-SA" sz="23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 II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yufaʿʿalu (yuhajjaru · yuraḥḥalu)</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يُهَجَّرُ المَلَايِينُ بِسَبَبِ النِّزَاعِ   ·   يُرَحَّلُ طَالِبُ اللُّجُوءِ قَسْرًا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Displacement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yafirru min · yaltamisu l-lujūʾ</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يَفِرُّ المَدَنِيُّونَ مِنْ مَنَاطِقِ النِّزَاعِ   ·   يَلْتَمِسُ اللَّاجِئُونَ الحِمَايَةَ الدَّوْلِيَّةَ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Type 1 forward</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تَوَصَّلَ المُجْتَمَعُ الدَّوْلِيُّ إِلَى حُلُولٍ، سَتَتَرَاجَعُ مَوْجَاتُ النُّزُوحِ</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Type 2 backward</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 (negative la-mā)</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لَوْ لَمْ تَنْدَلِعِ الحُرُوبُ، لَمَا اضْطُرَّ المَلَايِينُ إِلَى الفِرَارِ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humanitarian passive “is displaced”?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يُهَاجِرُ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هَجَّرَ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يُهَجَّرُ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deported”?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يُرَحَّلُ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يَرْحَلُ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رَحَّلَ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choose the humanitarian passive?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hides the truth</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centres the displaced person and drops the agent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informal</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لَوْ لَمْ تَنْدَلِعِ الحُرُوبُ، ___ المَلَايِينُ إِلَى الفِرَارِ.</a:t>
            </a:r>
            <a:endParaRPr lang="ar-SA" sz="11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 اضْطُرَّ</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سَيَضْطَرُّ</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اضْطُرَّ</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humanitarian passive “is displaced”?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يُهَاجِرُ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هَجَّرَ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يُهَجَّرُ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يُهَجَّرُ</a:t>
            </a:r>
            <a:pPr algn="l" indent="0" marL="0">
              <a:buNone/>
            </a:pPr>
            <a:r>
              <a:rPr lang="en-US" sz="1050" i="1" dirty="0">
                <a:solidFill>
                  <a:srgbClr val="8A6D1E"/>
                </a:solidFill>
                <a:latin typeface="Calibri" pitchFamily="34" charset="0"/>
                <a:cs typeface="Amiri" pitchFamily="2" charset="-78"/>
              </a:rPr>
              <a:t> is the Form II passive.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deported”?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يُرَحَّلُ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يَرْحَلُ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رَحَّلَ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يُرَحَّلُ</a:t>
            </a:r>
            <a:pPr algn="l" indent="0" marL="0">
              <a:buNone/>
            </a:pPr>
            <a:r>
              <a:rPr lang="en-US" sz="1050" i="1" dirty="0">
                <a:solidFill>
                  <a:srgbClr val="8A6D1E"/>
                </a:solidFill>
                <a:latin typeface="Calibri" pitchFamily="34" charset="0"/>
                <a:cs typeface="Amiri" pitchFamily="2" charset="-78"/>
              </a:rPr>
              <a:t> is the Form II passive.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choose the humanitarian passive?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hides the truth</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centres the displaced person and drops the agent</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informal</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centres the person's experience.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لَوْ لَمْ تَنْدَلِعِ الحُرُوبُ، ___ المَلَايِينُ إِلَى الفِرَارِ.</a:t>
            </a:r>
            <a:endParaRPr lang="ar-SA" sz="11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لَمَا اضْطُرَّ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سَيَضْطَرُّ</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اضْطُرَّ</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negative Type 2 result uses </a:t>
            </a:r>
            <a:pPr algn="l" indent="0" marL="0">
              <a:buNone/>
            </a:pPr>
            <a:r>
              <a:rPr lang="ar-SA" altLang="en-US" sz="1350" dirty="0">
                <a:solidFill>
                  <a:srgbClr val="8A6D1E"/>
                </a:solidFill>
                <a:latin typeface="Amiri" pitchFamily="2" charset="-78"/>
                <a:cs typeface="Amiri" pitchFamily="2" charset="-78"/>
              </a:rPr>
              <a:t>لَمَا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write a migration analysis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Evidence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cs typeface="Amiri" pitchFamily="2" charset="-78"/>
              </a:rPr>
              <a:t>يُشَارُ إِلَى أَنَّ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Numbers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people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يُهَجَّرُ</a:t>
            </a:r>
            <a:pPr rtl="1" algn="ctr" indent="0" marL="0">
              <a:buNone/>
            </a:pPr>
            <a:r>
              <a:rPr lang="ar-SA" altLang="en-US" sz="2800" b="1" dirty="0">
                <a:solidFill>
                  <a:srgbClr val="1B3B6F"/>
                </a:solidFill>
                <a:latin typeface="Amiri" pitchFamily="2" charset="-78"/>
                <a:cs typeface="Amiri" pitchFamily="2" charset="-78"/>
              </a:rPr>
              <a:t> … وَ</a:t>
            </a:r>
            <a:pPr rtl="1" algn="ctr" indent="0" marL="0">
              <a:buNone/>
            </a:pPr>
            <a:r>
              <a:rPr lang="ar-SA" altLang="en-US" sz="2800" b="1" dirty="0">
                <a:solidFill>
                  <a:srgbClr val="D6336C"/>
                </a:solidFill>
                <a:latin typeface="Amiri" pitchFamily="2" charset="-78"/>
                <a:cs typeface="Amiri" pitchFamily="2" charset="-78"/>
              </a:rPr>
              <a:t>يُودَعُونَ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Person first.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Could it differ?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cs typeface="Amiri" pitchFamily="2" charset="-78"/>
              </a:rPr>
              <a:t>لَوْ لَمْ</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7B3FA0"/>
                </a:solidFill>
                <a:latin typeface="Amiri" pitchFamily="2" charset="-78"/>
                <a:cs typeface="Amiri" pitchFamily="2" charset="-78"/>
              </a:rPr>
              <a:t>لَمَا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What is needed</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مِنَ الضَّرُورِيِّ أَنْ </a:t>
            </a:r>
            <a:pPr rtl="1" algn="ctr" indent="0" marL="0">
              <a:buNone/>
            </a:pPr>
            <a:r>
              <a:rPr lang="ar-SA" altLang="en-US" sz="2400" b="1" dirty="0">
                <a:solidFill>
                  <a:srgbClr val="0E7C86"/>
                </a:solidFill>
                <a:latin typeface="Amiri" pitchFamily="2" charset="-78"/>
                <a:cs typeface="Amiri" pitchFamily="2" charset="-78"/>
              </a:rPr>
              <a:t>تُكْفَلَ</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HUMANITARIAN PASSIVE</a:t>
            </a:r>
            <a:endParaRPr lang="en-US" sz="800" dirty="0"/>
          </a:p>
        </p:txBody>
      </p:sp>
      <p:sp>
        <p:nvSpPr>
          <p:cNvPr id="49" name="Shape 45"/>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NECESSITY</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cs typeface="Amiri" pitchFamily="2" charset="-78"/>
              </a:rPr>
              <a:t>يُشَارُ إِلَى أَنَّ</a:t>
            </a:r>
            <a:pPr rtl="1" algn="r" indent="0" marL="0">
              <a:lnSpc>
                <a:spcPct val="120000"/>
              </a:lnSpc>
              <a:buNone/>
            </a:pPr>
            <a:r>
              <a:rPr lang="ar-SA" altLang="en-US" sz="1400" b="1" dirty="0">
                <a:solidFill>
                  <a:srgbClr val="1B3B6F"/>
                </a:solidFill>
                <a:latin typeface="Amiri" pitchFamily="2" charset="-78"/>
                <a:cs typeface="Amiri" pitchFamily="2" charset="-78"/>
              </a:rPr>
              <a:t> المِنْطَقَةَ العَرَبِيَّةَ تَضُمُّ نِسْبَةً كَبِيرَةً مِنَ النَّازِحِينَ قَسْرًا فِي العَالَمِ. </a:t>
            </a:r>
            <a:pPr rtl="1" algn="r" indent="0" marL="0">
              <a:lnSpc>
                <a:spcPct val="120000"/>
              </a:lnSpc>
              <a:buNone/>
            </a:pPr>
            <a:r>
              <a:rPr lang="ar-SA" altLang="en-US" sz="1400" b="1" dirty="0">
                <a:solidFill>
                  <a:srgbClr val="D6336C"/>
                </a:solidFill>
                <a:latin typeface="Amiri" pitchFamily="2" charset="-78"/>
                <a:cs typeface="Amiri" pitchFamily="2" charset="-78"/>
              </a:rPr>
              <a:t>يُهَجَّرُ</a:t>
            </a:r>
            <a:pPr rtl="1" algn="r" indent="0" marL="0">
              <a:lnSpc>
                <a:spcPct val="120000"/>
              </a:lnSpc>
              <a:buNone/>
            </a:pPr>
            <a:r>
              <a:rPr lang="ar-SA" altLang="en-US" sz="1400" b="1" dirty="0">
                <a:solidFill>
                  <a:srgbClr val="1B3B6F"/>
                </a:solidFill>
                <a:latin typeface="Amiri" pitchFamily="2" charset="-78"/>
                <a:cs typeface="Amiri" pitchFamily="2" charset="-78"/>
              </a:rPr>
              <a:t> كَثِيرٌ مِنَ الأَطْفَالِ وَ</a:t>
            </a:r>
            <a:pPr rtl="1" algn="r" indent="0" marL="0">
              <a:lnSpc>
                <a:spcPct val="120000"/>
              </a:lnSpc>
              <a:buNone/>
            </a:pPr>
            <a:r>
              <a:rPr lang="ar-SA" altLang="en-US" sz="1400" b="1" dirty="0">
                <a:solidFill>
                  <a:srgbClr val="D6336C"/>
                </a:solidFill>
                <a:latin typeface="Amiri" pitchFamily="2" charset="-78"/>
                <a:cs typeface="Amiri" pitchFamily="2" charset="-78"/>
              </a:rPr>
              <a:t>يُحْرَمُونَ</a:t>
            </a:r>
            <a:pPr rtl="1" algn="r" indent="0" marL="0">
              <a:lnSpc>
                <a:spcPct val="120000"/>
              </a:lnSpc>
              <a:buNone/>
            </a:pPr>
            <a:r>
              <a:rPr lang="ar-SA" altLang="en-US" sz="1400" b="1" dirty="0">
                <a:solidFill>
                  <a:srgbClr val="1B3B6F"/>
                </a:solidFill>
                <a:latin typeface="Amiri" pitchFamily="2" charset="-78"/>
                <a:cs typeface="Amiri" pitchFamily="2" charset="-78"/>
              </a:rPr>
              <a:t> مِنْ تَعْلِيمِهِمْ، وَ</a:t>
            </a:r>
            <a:pPr rtl="1" algn="r" indent="0" marL="0">
              <a:lnSpc>
                <a:spcPct val="120000"/>
              </a:lnSpc>
              <a:buNone/>
            </a:pPr>
            <a:r>
              <a:rPr lang="ar-SA" altLang="en-US" sz="1400" b="1" dirty="0">
                <a:solidFill>
                  <a:srgbClr val="D6336C"/>
                </a:solidFill>
                <a:latin typeface="Amiri" pitchFamily="2" charset="-78"/>
                <a:cs typeface="Amiri" pitchFamily="2" charset="-78"/>
              </a:rPr>
              <a:t>يُودَعُونَ</a:t>
            </a:r>
            <a:pPr rtl="1" algn="r" indent="0" marL="0">
              <a:lnSpc>
                <a:spcPct val="120000"/>
              </a:lnSpc>
              <a:buNone/>
            </a:pPr>
            <a:r>
              <a:rPr lang="ar-SA" altLang="en-US" sz="1400" b="1" dirty="0">
                <a:solidFill>
                  <a:srgbClr val="1B3B6F"/>
                </a:solidFill>
                <a:latin typeface="Amiri" pitchFamily="2" charset="-78"/>
                <a:cs typeface="Amiri" pitchFamily="2" charset="-78"/>
              </a:rPr>
              <a:t> فِي مُخَيَّمَاتٍ تَفْتَقِرُ إِلَى الأَمَانِ. </a:t>
            </a:r>
            <a:pPr rtl="1" algn="r" indent="0" marL="0">
              <a:lnSpc>
                <a:spcPct val="120000"/>
              </a:lnSpc>
              <a:buNone/>
            </a:pPr>
            <a:r>
              <a:rPr lang="ar-SA" altLang="en-US" sz="1400" b="1" dirty="0">
                <a:solidFill>
                  <a:srgbClr val="7B3FA0"/>
                </a:solidFill>
                <a:latin typeface="Amiri" pitchFamily="2" charset="-78"/>
                <a:cs typeface="Amiri" pitchFamily="2" charset="-78"/>
              </a:rPr>
              <a:t>وَلَوْ لَمْ</a:t>
            </a:r>
            <a:pPr rtl="1" algn="r" indent="0" marL="0">
              <a:lnSpc>
                <a:spcPct val="120000"/>
              </a:lnSpc>
              <a:buNone/>
            </a:pPr>
            <a:r>
              <a:rPr lang="ar-SA" altLang="en-US" sz="1400" b="1" dirty="0">
                <a:solidFill>
                  <a:srgbClr val="1B3B6F"/>
                </a:solidFill>
                <a:latin typeface="Amiri" pitchFamily="2" charset="-78"/>
                <a:cs typeface="Amiri" pitchFamily="2" charset="-78"/>
              </a:rPr>
              <a:t> تَنْدَلِعِ الحُرُوبُ، </a:t>
            </a:r>
            <a:pPr rtl="1" algn="r" indent="0" marL="0">
              <a:lnSpc>
                <a:spcPct val="120000"/>
              </a:lnSpc>
              <a:buNone/>
            </a:pPr>
            <a:r>
              <a:rPr lang="ar-SA" altLang="en-US" sz="1400" b="1" dirty="0">
                <a:solidFill>
                  <a:srgbClr val="7B3FA0"/>
                </a:solidFill>
                <a:latin typeface="Amiri" pitchFamily="2" charset="-78"/>
                <a:cs typeface="Amiri" pitchFamily="2" charset="-78"/>
              </a:rPr>
              <a:t>لَمَا</a:t>
            </a:r>
            <a:pPr rtl="1" algn="r" indent="0" marL="0">
              <a:lnSpc>
                <a:spcPct val="120000"/>
              </a:lnSpc>
              <a:buNone/>
            </a:pPr>
            <a:r>
              <a:rPr lang="ar-SA" altLang="en-US" sz="1400" b="1" dirty="0">
                <a:solidFill>
                  <a:srgbClr val="1B3B6F"/>
                </a:solidFill>
                <a:latin typeface="Amiri" pitchFamily="2" charset="-78"/>
                <a:cs typeface="Amiri" pitchFamily="2" charset="-78"/>
              </a:rPr>
              <a:t> اضْطُرَّ المَلَايِينُ إِلَى الفِرَارِ. وَمِنَ الضَّرُورِيِّ أَنْ </a:t>
            </a:r>
            <a:pPr rtl="1" algn="r" indent="0" marL="0">
              <a:lnSpc>
                <a:spcPct val="120000"/>
              </a:lnSpc>
              <a:buNone/>
            </a:pPr>
            <a:r>
              <a:rPr lang="ar-SA" altLang="en-US" sz="1400" b="1" dirty="0">
                <a:solidFill>
                  <a:srgbClr val="0E7C86"/>
                </a:solidFill>
                <a:latin typeface="Amiri" pitchFamily="2" charset="-78"/>
                <a:cs typeface="Amiri" pitchFamily="2" charset="-78"/>
              </a:rPr>
              <a:t>تُكْفَلَ</a:t>
            </a:r>
            <a:pPr rtl="1" algn="r" indent="0" marL="0">
              <a:lnSpc>
                <a:spcPct val="120000"/>
              </a:lnSpc>
              <a:buNone/>
            </a:pPr>
            <a:r>
              <a:rPr lang="ar-SA" altLang="en-US" sz="1400" b="1" dirty="0">
                <a:solidFill>
                  <a:srgbClr val="1B3B6F"/>
                </a:solidFill>
                <a:latin typeface="Amiri" pitchFamily="2" charset="-78"/>
                <a:cs typeface="Amiri" pitchFamily="2" charset="-78"/>
              </a:rPr>
              <a:t> حُقُوقُ اللَّاجِئِينَ.</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It is reported that the Arab region holds a large share of the world’s forcibly displaced. Many children are displaced and deprived of their education, and placed in camps lacking safety. Had the wars not broken out, millions would not have had to flee. It is essential that refugees’ rights be guaranteed.</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يُهَجَّرُ المَلَايِينُ وَيُودَعُونَ فِي مُخَيَّمَاتٍ تَفْتَقِرُ إِلَى الخَدَمَاتِ</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millions are displaced and placed in camps that lack services</a:t>
            </a:r>
            <a:endParaRPr lang="en-US" sz="1250" dirty="0"/>
          </a:p>
          <a:p>
            <a:pPr indent="0" marL="0">
              <a:buNone/>
            </a:pPr>
            <a:r>
              <a:rPr lang="en-US" sz="1050" i="1" dirty="0">
                <a:solidFill>
                  <a:srgbClr val="8A6D1E"/>
                </a:solidFill>
                <a:latin typeface="Calibri" pitchFamily="34" charset="0"/>
                <a:cs typeface="Amiri" pitchFamily="2" charset="-78"/>
              </a:rPr>
              <a:t>Humanitarian passives.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يَفِرُّ المَدَنِيُّونَ مِنْ مَنَاطِقِ النِّزَاعِ وَيَلْتَمِسُونَ اللُّجُوءَ</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civilians flee conflict zones and seek asylum</a:t>
            </a:r>
            <a:endParaRPr lang="en-US" sz="1250" dirty="0"/>
          </a:p>
          <a:p>
            <a:pPr indent="0" marL="0">
              <a:buNone/>
            </a:pPr>
            <a:r>
              <a:rPr lang="en-US" sz="1050" i="1" dirty="0">
                <a:solidFill>
                  <a:srgbClr val="8A6D1E"/>
                </a:solidFill>
                <a:latin typeface="Calibri" pitchFamily="34" charset="0"/>
                <a:cs typeface="Amiri" pitchFamily="2" charset="-78"/>
              </a:rPr>
              <a:t>Active displacement verbs.</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لَوْ لَمْ تَنْدَلِعِ الحُرُوبُ، لَمَا اضْطُرَّ المَلَايِينُ إِلَى الفِرَارِ</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the wars not broken out, millions would not have had to flee</a:t>
            </a:r>
            <a:endParaRPr lang="en-US" sz="1250" dirty="0"/>
          </a:p>
          <a:p>
            <a:pPr indent="0" marL="0">
              <a:buNone/>
            </a:pPr>
            <a:r>
              <a:rPr lang="en-US" sz="1050" i="1" dirty="0">
                <a:solidFill>
                  <a:srgbClr val="8A6D1E"/>
                </a:solidFill>
                <a:latin typeface="Calibri" pitchFamily="34" charset="0"/>
                <a:cs typeface="Amiri" pitchFamily="2" charset="-78"/>
              </a:rPr>
              <a:t>Type 2 counterfactual (la-mā).</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MIGRATION AND DISPLACEMENT — A GLOBAL CRISIS IN ARABIC”</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Why people move: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قِصَّةُ الهِجْرَةِ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for study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for work</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identity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يُمْكِنُ أَنْ يَحْمِلَ الإِنْسَانُ هُوِيَّتَهُ مَعَهُ إِلَى بَلَدٍ جَدِيدٍ.</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هَاجَرَ لِلدِّرَاسَةِ.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هَاجَرَتْ لِلْعَمَلِ.</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قِصَّةُ الهِجْرَةِ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for study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هَاجَرَ لِلدِّرَاسَةِ.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migrated to study.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for work</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هَاجَرَتْ لِلْعَمَلِ.</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migrated for work.</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identity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يُمْكِنُ أَنْ يَحْمِلَ الإِنْسَانُ هُوِيَّتَهُ مَعَهُ إِلَى بَلَدٍ جَدِيدٍ.</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 person can carry their identity with them to a new country.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HUMANITARIAN LINE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Passive + conditional +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سَطْرًا إِنْسَانِيًّا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Humanitarian passive</a:t>
            </a:r>
            <a:endParaRPr lang="en-US" sz="1100" dirty="0"/>
          </a:p>
        </p:txBody>
      </p:sp>
      <p:sp>
        <p:nvSpPr>
          <p:cNvPr id="17" name="Text 14"/>
          <p:cNvSpPr txBox="1"/>
          <p:nvPr/>
        </p:nvSpPr>
        <p:spPr>
          <a:xfrm>
            <a:off x="43068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Conditional</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Solution (an + -a)</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يُهَجَّرُ المَلَايِينُ بِسَبَبِ النِّزَاعَاتِ المُسَلَّحَةِ</a:t>
            </a:r>
            <a:endParaRPr lang="ar-SA" sz="1600" dirty="0"/>
          </a:p>
        </p:txBody>
      </p:sp>
      <p:sp>
        <p:nvSpPr>
          <p:cNvPr id="21" name="Text 18"/>
          <p:cNvSpPr txBox="1"/>
          <p:nvPr/>
        </p:nvSpPr>
        <p:spPr>
          <a:xfrm>
            <a:off x="4325112" y="2267712"/>
            <a:ext cx="365760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وَلَوْ لَمْ تَنْدَلِعِ الحُرُوبُ لَمَا اضْطُرَّ المَلَايِينُ إِلَى الفِرَارِ</a:t>
            </a:r>
            <a:endParaRPr lang="ar-SA" sz="1500" dirty="0"/>
          </a:p>
        </p:txBody>
      </p:sp>
      <p:sp>
        <p:nvSpPr>
          <p:cNvPr id="22" name="Text 19"/>
          <p:cNvSpPr txBox="1"/>
          <p:nvPr/>
        </p:nvSpPr>
        <p:spPr>
          <a:xfrm>
            <a:off x="548640" y="2267712"/>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وَمِنَ الضَّرُورِيِّ أَنْ تُكْفَلَ حُقُوقُ اللَّاجِئِينَ</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يُودَعُ النَّازِحُونَ فِي مُخَيَّمَاتٍ تَفْتَقِرُ إِلَى الخَدَمَاتِ</a:t>
            </a:r>
            <a:endParaRPr lang="ar-SA" sz="1600" dirty="0"/>
          </a:p>
        </p:txBody>
      </p:sp>
      <p:sp>
        <p:nvSpPr>
          <p:cNvPr id="27" name="Text 24"/>
          <p:cNvSpPr txBox="1"/>
          <p:nvPr/>
        </p:nvSpPr>
        <p:spPr>
          <a:xfrm>
            <a:off x="4325112" y="3054096"/>
            <a:ext cx="365760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وَلَوْ فُتِحَتْ مَمَرَّاتٌ إِنْسَانِيَّةٌ لَنَجَا كَثِيرُونَ</a:t>
            </a:r>
            <a:endParaRPr lang="ar-SA" sz="1600" dirty="0"/>
          </a:p>
        </p:txBody>
      </p:sp>
      <p:sp>
        <p:nvSpPr>
          <p:cNvPr id="28" name="Text 25"/>
          <p:cNvSpPr txBox="1"/>
          <p:nvPr/>
        </p:nvSpPr>
        <p:spPr>
          <a:xfrm>
            <a:off x="548640" y="3054096"/>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وَيَنْبَغِي أَنْ تُصَانَ كَرَامَةُ النَّازِحِينَ</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يُرَحَّلُ طَالِبُو اللُّجُوءِ قَسْرًا إِلَى بُلْدَانِهِمْ</a:t>
            </a:r>
            <a:endParaRPr lang="ar-SA" sz="1600" dirty="0"/>
          </a:p>
        </p:txBody>
      </p:sp>
      <p:sp>
        <p:nvSpPr>
          <p:cNvPr id="31" name="Text 28"/>
          <p:cNvSpPr txBox="1"/>
          <p:nvPr/>
        </p:nvSpPr>
        <p:spPr>
          <a:xfrm>
            <a:off x="4325112" y="3840480"/>
            <a:ext cx="365760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وَإِذَا تَعَاوَنَ المُجْتَمَعُ الدَّوْلِيُّ سَتَتَرَاجَعُ مَوْجَاتُ النُّزُوحِ</a:t>
            </a:r>
            <a:endParaRPr lang="ar-SA" sz="1550" dirty="0"/>
          </a:p>
        </p:txBody>
      </p:sp>
      <p:sp>
        <p:nvSpPr>
          <p:cNvPr id="32" name="Text 29"/>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وَيَتَطَلَّبُ الأَمْرُ أَنْ تُفْتَحَ مَمَرَّاتٌ آمِنَةٌ</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check: is the person the subject? Does the solution verb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Passive, active — or conditional analysis?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يُهَجَّرُ المَلَايِينُ بِسَبَبِ النِّزَاعِ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يُرَحَّلُ طَالِبُ اللُّجُوءِ قَسْرًا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يُودَعُ النَّازِحُونَ فِي مُخَيَّمَاتٍ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يَفِرُّ المَدَنِيُّونَ مِنْ مَنَاطِقِ النِّزَاعِ</a:t>
            </a:r>
            <a:endParaRPr lang="ar-SA" sz="17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يَلْتَمِسُ اللَّاجِئُونَ الحِمَايَةَ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يَعْبُرُ النَّازِحُونَ الحُدُودَ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cs typeface="Amiri" pitchFamily="2" charset="-78"/>
              </a:rPr>
              <a:t>إِذَا تَوَصَّلَ المُجْتَمَعُ إِلَى حُلُولٍ، سَيَتَرَاجَعُ النُّزُوحُ</a:t>
            </a:r>
            <a:endParaRPr lang="ar-SA" sz="12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لَوْ لَمْ تَنْدَلِعِ الحُرُوبُ، لَمَا اضْطُرَّ المَلَايِينُ</a:t>
            </a:r>
            <a:endParaRPr lang="ar-SA" sz="13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لَوْ فُتِحَتْ مَمَرَّاتٌ إِنْسَانِيَّةٌ، لَنَجَا كَثِيرُونَ</a:t>
            </a:r>
            <a:endParaRPr lang="ar-SA" sz="14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humanitarian passive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active displacement verb</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conditional analysis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humanitarian passive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يُهَجَّرُ المَلَايِينُ بِسَبَبِ النِّزَاعِ</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يُرَحَّلُ طَالِبُ اللُّجُوءِ قَسْرًا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يُودَعُ النَّازِحُونَ فِي مُخَيَّمَاتٍ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active displacement verb</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يَفِرُّ المَدَنِيُّونَ مِنْ مَنَاطِقِ النِّزَاعِ</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يَلْتَمِسُ اللَّاجِئُونَ الحِمَايَةَ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يَعْبُرُ النَّازِحُونَ الحُدُودَ</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conditional analysis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إِذَا تَوَصَّلَ المُجْتَمَعُ إِلَى حُلُولٍ، سَيَتَرَاجَعُ النُّزُوحُ</a:t>
            </a:r>
            <a:endParaRPr lang="ar-SA" sz="15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لَوْ لَمْ تَنْدَلِعِ الحُرُوبُ، لَمَا اضْطُرَّ المَلَايِينُ</a:t>
            </a:r>
            <a:endParaRPr lang="ar-SA" sz="165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فُتِحَتْ مَمَرَّاتٌ إِنْسَانِيَّةٌ، لَنَجَا كَثِيرُونَ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“flees from”?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يَعُودُ إِلَى</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يُقِيمُ فِي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يَفِرُّ مِنْ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 VIII verb “seeks asylum”?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يَطْلُبُ العَمَلَ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يَلْتَمِسُ اللُّجُوءَ</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يَعْبُرُ الحُدُودَ</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إِذَا تَوَصَّلَ المُجْتَمَعُ إِلَى حُلُولٍ، ___ النُّزُوحُ.</a:t>
            </a:r>
            <a:endParaRPr lang="ar-SA" sz="13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لَتَرَاجَعَ</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سَيَتَرَاجَعُ</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يَتَرَاجَعُ</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humanising language?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تَدَفَّقَتْ جَحَافِلُ المُهَاجِرِينَ نَحْوَ الحُدُودِ.</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المُهَاجِرُونَ عِبْءٌ ثَقِيلٌ.</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يَبْحَثُ اللَّاجِئُونَ عَنْ مَلْجَأٍ آمِنٍ لِأُسَرِهِمْ.</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“flees from”?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يَعُودُ إِلَى</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يُقِيمُ فِي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يَفِرُّ مِنْ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يَفِرُّ مِنْ</a:t>
            </a:r>
            <a:pPr algn="l" indent="0" marL="0">
              <a:buNone/>
            </a:pPr>
            <a:r>
              <a:rPr lang="en-US" sz="1050" i="1" dirty="0">
                <a:solidFill>
                  <a:srgbClr val="8A6D1E"/>
                </a:solidFill>
                <a:latin typeface="Calibri" pitchFamily="34" charset="0"/>
                <a:cs typeface="Amiri" pitchFamily="2" charset="-78"/>
              </a:rPr>
              <a:t> means flees from.</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 VIII verb “seeks asylum”?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يَطْلُبُ العَمَلَ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يَلْتَمِسُ اللُّجُوءَ</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يَعْبُرُ الحُدُودَ</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يَلْتَمِسُ اللُّجُوءَ</a:t>
            </a:r>
            <a:pPr algn="l" indent="0" marL="0">
              <a:buNone/>
            </a:pPr>
            <a:r>
              <a:rPr lang="en-US" sz="1050" i="1" dirty="0">
                <a:solidFill>
                  <a:srgbClr val="8A6D1E"/>
                </a:solidFill>
                <a:latin typeface="Calibri" pitchFamily="34" charset="0"/>
                <a:cs typeface="Amiri" pitchFamily="2" charset="-78"/>
              </a:rPr>
              <a:t> is Form VIII.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إِذَا تَوَصَّلَ المُجْتَمَعُ إِلَى حُلُولٍ، ___ النُّزُوحُ.</a:t>
            </a:r>
            <a:endParaRPr lang="ar-SA" sz="13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لَتَرَاجَعَ</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سَيَتَرَاجَعُ</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يَتَرَاجَعُ</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humanising language?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تَدَفَّقَتْ جَحَافِلُ المُهَاجِرِينَ نَحْوَ الحُدُودِ.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المُهَاجِرُونَ عِبْءٌ ثَقِيلٌ.</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يَبْحَثُ اللَّاجِئُونَ عَنْ مَلْجَأٍ آمِنٍ لِأُسَرِهِمْ.</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Humanising language describes people with dignity.</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يُهَاجِرُ الأَطْفَالُ قَسْرًا مِنْ مُدُنِهِمْ.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yuhājiru qasran?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لَمْ تَنْدَلِعِ الحُرُوبُ، سَمَا اضْطُرَّ المَلَايِينُ.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lam … sa-mā?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إِذَا تَوَصَّلَ المُجْتَمَعُ إِلَى حُلُولٍ، لَتَرَاجَعَ النُّزُوحُ.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idhā … la-?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يُهَاجِرُ الأَطْفَالُ قَسْرًا مِنْ مُدُنِهِمْ.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يُهَجَّرُ الأَطْفَالُ قَسْرًا مِنْ مُدُنِهِمْ.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Forced displacement is the passive </a:t>
            </a:r>
            <a:pPr algn="l" indent="0" marL="0">
              <a:buNone/>
            </a:pPr>
            <a:r>
              <a:rPr lang="ar-SA" altLang="en-US" sz="1500" b="1" dirty="0">
                <a:solidFill>
                  <a:srgbClr val="1B3B6F"/>
                </a:solidFill>
                <a:latin typeface="Amiri" pitchFamily="2" charset="-78"/>
                <a:cs typeface="Amiri" pitchFamily="2" charset="-78"/>
              </a:rPr>
              <a:t>يُهَجَّرُ</a:t>
            </a:r>
            <a:pPr algn="l" indent="0" marL="0">
              <a:buNone/>
            </a:pPr>
            <a:r>
              <a:rPr lang="en-US" sz="1150" b="1" dirty="0">
                <a:solidFill>
                  <a:srgbClr val="1B3B6F"/>
                </a:solidFill>
                <a:latin typeface="Calibri" pitchFamily="34" charset="0"/>
                <a:cs typeface="Amiri" pitchFamily="2" charset="-78"/>
              </a:rPr>
              <a:t>, not the active </a:t>
            </a:r>
            <a:pPr algn="l" indent="0" marL="0">
              <a:buNone/>
            </a:pPr>
            <a:r>
              <a:rPr lang="ar-SA" altLang="en-US" sz="1500" b="1" dirty="0">
                <a:solidFill>
                  <a:srgbClr val="1B3B6F"/>
                </a:solidFill>
                <a:latin typeface="Amiri" pitchFamily="2" charset="-78"/>
                <a:cs typeface="Amiri" pitchFamily="2" charset="-78"/>
              </a:rPr>
              <a:t>يُهَاجِرُ</a:t>
            </a:r>
            <a:pPr algn="l" indent="0" marL="0">
              <a:buNone/>
            </a:pPr>
            <a:r>
              <a:rPr lang="en-US" sz="1150" b="1" dirty="0">
                <a:solidFill>
                  <a:srgbClr val="1B3B6F"/>
                </a:solidFill>
                <a:latin typeface="Calibri" pitchFamily="34" charset="0"/>
                <a:cs typeface="Amiri" pitchFamily="2" charset="-78"/>
              </a:rPr>
              <a:t> (migrates by choice).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لَوْ لَمْ تَنْدَلِعِ الحُرُوبُ، سَمَا اضْطُرَّ المَلَايِينُ.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cs typeface="Amiri" pitchFamily="2" charset="-78"/>
              </a:rPr>
              <a:t>لَوْ لَمْ تَنْدَلِعِ الحُرُوبُ، لَمَا اضْطُرَّ المَلَايِينُ.</a:t>
            </a:r>
            <a:endParaRPr lang="ar-SA" sz="235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negative Type 2 result uses </a:t>
            </a:r>
            <a:pPr algn="l" indent="0" marL="0">
              <a:buNone/>
            </a:pPr>
            <a:r>
              <a:rPr lang="ar-SA" altLang="en-US" sz="1500" b="1" dirty="0">
                <a:solidFill>
                  <a:srgbClr val="1B3B6F"/>
                </a:solidFill>
                <a:latin typeface="Amiri" pitchFamily="2" charset="-78"/>
                <a:cs typeface="Amiri" pitchFamily="2" charset="-78"/>
              </a:rPr>
              <a:t>لَمَا</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إِذَا تَوَصَّلَ المُجْتَمَعُ إِلَى حُلُولٍ، لَتَرَاجَعَ النُّزُوحُ.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إِذَا تَوَصَّلَ المُجْتَمَعُ إِلَى حُلُولٍ، سَيَتَرَاجَعُ النُّزُوحُ.</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real Type 1 conditional takes a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result, not </a:t>
            </a:r>
            <a:pPr algn="l" indent="0" marL="0">
              <a:buNone/>
            </a:pPr>
            <a:r>
              <a:rPr lang="ar-SA" altLang="en-US" sz="1500" b="1" dirty="0">
                <a:solidFill>
                  <a:srgbClr val="1B3B6F"/>
                </a:solidFill>
                <a:latin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UNHCR field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share of the world's forcibly displaced does the Arab region hold?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forty per cent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four per cent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millions (humanitarian passive)?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migrate for work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return home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displaced by armed conflict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civilians do (active verbs)?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stay in place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refuse help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flee conflict zones and seek international protection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agency confirm about children?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deprived of education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all attend school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unaffected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Wars make no difference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wars not broken out, millions would not have had to flee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Fleeing was a choice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yuhajjaru · yūdaʿu · yafirru · yaltamisu.</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يَقُولُ المَنْدُوبُ: تَضُمُّ المِنْطَقَةُ العَرَبِيَّةُ نَحْوَ أَرْبَعِينَ بِالمِئَةِ مِنْ مَجْمُوعِ النَّازِحِينَ قَسْرًا فِي العَالَمِ.</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representative says: the Arab region holds about forty per cent of all the forcibly displaced people in the world.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يُهَجَّرُ المَلَايِينُ بِسَبَبِ النِّزَاعَاتِ المُسَلَّحَةِ، وَيُودَعُ كَثِيرُونَ فِي مُخَيَّمَاتٍ تَفْتَقِرُ إِلَى الخَدَمَاتِ الأَسَاسِيَّةِ.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Millions are displaced by armed conflicts, and many are placed in camps that lack basic services.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يَفِرُّ المَدَنِيُّونَ مِنْ مَنَاطِقِ النِّزَاعِ وَيَلْتَمِسُونَ الحِمَايَةَ الدَّوْلِيَّةَ. وَأَكَّدَتِ المُفَوَّضِيَّةُ أَنَّ الأَطْفَالَ يُحْرَمُونَ مِنَ التَّعْلِيمِ.</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Civilians flee conflict zones and seek international protection. The Commission (UNHCR) confirmed that children are deprived of education.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لَوْ لَمْ تَنْدَلِعِ الحُرُوبُ، لَمَا اضْطُرَّ المَلَايِينُ إِلَى الفِرَارِ.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 wars not broken out, millions would not have been forced to flee.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وَإِذَا فُتِحَتْ مَمَرَّاتٌ إِنْسَانِيَّةٌ آمِنَةٌ، سَتَنْخَفِضُ خَسَائِرُ الأَرْوَاحِ.</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if safe humanitarian corridors are opened, the loss of life will fall.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share of the world's forcibly displaced does the Arab region hold?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forty per cent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four per cent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cs typeface="Amiri" pitchFamily="2" charset="-78"/>
              </a:rPr>
              <a:t>تَضُمُّ المِنْطَقَةُ العَرَبِيَّةُ نَحْوَ أَرْبَعِينَ بِالمِئَةِ مِنْ مَجْمُوعِ النَّازِحِينَ قَسْرًا.</a:t>
            </a:r>
            <a:endParaRPr lang="ar-SA"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millions (humanitarian passive)?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migrate for work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return home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displaced by armed conflict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يُهَجَّرُ المَلَايِينُ بِسَبَبِ النِّزَاعَاتِ المُسَلَّحَةِ.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civilians do (active verbs)?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stay in place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refuse help</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flee conflict zones and seek international protection</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يَفِرُّ المَدَنِيُّونَ مِنْ مَنَاطِقِ النِّزَاعِ وَيَلْتَمِسُونَ الحِمَايَةَ الدَّوْلِيَّةَ.</a:t>
            </a:r>
            <a:endParaRPr lang="ar-SA" sz="12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agency confirm about children?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deprived of education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all attend school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unaffected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أَكَّدَتِ المُفَوَّضِيَّةُ أَنَّ الأَطْفَالَ يُحْرَمُونَ مِنَ التَّعْلِيمِ.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Wars make no difference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wars not broken out, millions would not have had to flee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Fleeing was a choice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لَوْ لَمْ تَنْدَلِعِ الحُرُوبُ، لَمَا اضْطُرَّ المَلَايِينُ إِلَى الفِرَارِ.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yuhajjaru · yūdaʿu · yafirru · yaltamisu.</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Speaking: report the crisis with compassion</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الأَزْمَةَ بِاسْتِعْمَالِ فِعْلٍ مَبْنِيٍّ لِلْمَجْهُولِ إِنْسَانِيٍّ.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تَحْلِيلُكَ الشَّرْطِيُّ مِنَ النَّوْعِ الثَّانِي؟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الحَلُّ الَّذِي تَقْتَرِحُهُ بِمُسَبِّبِ نَصْبٍ؟</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يُهَجَّرُ ___ وَيُودَعُونَ فِي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لَوْ لَمْ تَنْدَلِعِ الحُرُوبُ، لَمَا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مِنَ الضَّرُورِيِّ أَنْ تُكْفَلَ ___ وَأَنْ تُصَانَ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الأَزْمَةَ.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the crisis.</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يُهَجَّرُ المَلَايِينُ وَيُودَعُونَ فِي مُخَيَّمَاتٍ تَفْتَقِرُ إِلَى الخَدَمَاتِ.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Millions are displaced and placed in camps that lack services.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2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two humanitarian passives centring the displaced person.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two humanitarian passives centring the displaced person.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Type 1 plan and a Type 2 counterfactual and reach 100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Type 1 plan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110 words with the past perfect, both conditionals and a necessity subjunctive.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statistics, passives, the past perfect, both conditionals and a necessity subjunctive.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يُشَارُ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reported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لَمْ تَنْدَلِعِ الحُرُوبُ، لَمَا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the wars not broken out,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إِذَا تَعَاوَنَ المُجْتَمَعُ الدَّوْلِيُّ، سَتُفْتَحُ ______ .</a:t>
            </a:r>
            <a:endParaRPr lang="ar-SA" sz="16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international community cooperates,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الضَّرُورِيِّ أَنْ تُكْفَلَ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essential that … be guaranteed.</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يُهَجَّرُ المَلَايِينُ بِسَبَبِ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Millions are displaced because of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يُودَعُ النَّازِحُونَ فِي مُخَيَّمَاتٍ تَفْتَقِرُ إِلَى ______ .</a:t>
            </a:r>
            <a:endParaRPr lang="ar-SA" sz="15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are placed in camps that lack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يُحْرَمُ الأَطْفَالُ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Children are deprived of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يَفِرُّ المَدَنِيُّونَ مِنْ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Civilians flee from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cs typeface="Amiri" pitchFamily="2" charset="-78"/>
              </a:rPr>
              <a:t>النِّزَاعَاتِ المُسَلَّحَةِ  ·  الخَدَمَاتِ الأَسَاسِيَّةِ  ·  الأَمَانِ  ·  التَّعْلِيمِ  ·  مَنَاطِقِ النِّزَاعِ  ·  القَصْفِ  ·  اضْطُرَّ المَلَايِينُ إِلَى الفِرَارِ  ·  مَمَرَّاتٌ إِنْسَانِيَّةٌ  ·  حُقُوقُ اللَّاجِئِينَ  ·  كَرَامَتُهُمْ  ·  الحِمَايَةَ الدَّوْلِيَّةَ  ·  مُدُنٍ بَاتَتِ اليَوْمَ رُكَامًا</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100–110-word migration analysis. Open with reported statistics, describe the human impact with humanitarian passives (yuhajjaru / yūdaʿu) and the past perfect, analyse with both conditional types, and close with a necessity subjunctive.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Reported statistics with an impersonal passive (yushāru ilā anna).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Humanitarian passives centring the displaced person.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plan and a Type 2 counterfactual (la-mā).</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necessity subjunctive and a compassionate register.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يُقَارِبُ أَرْبَعِينَ بِالمِئَةِ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nearly forty per cent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اضْطُرَّتْ إِلَى مُغَادَرَةِ دِيَارِهَا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were forced to leave their homes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وَكَانُوا قَدْ نَشَؤُوا فِي مُدُنٍ بَاتَتِ اليَوْمَ رُكَامًا</a:t>
            </a:r>
            <a:endParaRPr lang="ar-SA" sz="155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they had grown up in cities that are now rubble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لَمْ تَتَدَفَّقِ الأَسْلِحَةُ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had weapons not poured in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وَأَنْ تُصَانَ كَرَامَتُهُمْ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that their dignity be preserved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يُشَارُ إِلَى أَنَّ المِنْطَقَةَ العَرَبِيَّةَ تَضُمُّ مَا يُقَارِبُ أَرْبَعِينَ بِالمِئَةِ مِنْ مَجْمُوعِ النَّازِحِينَ قَسْرًا فِي العَالَمِ. وَتُؤَكِّدُ تَقَارِيرُ المُفَوَّضِيَّةِ أَنَّ مَلَايِينَ الأُسَرِ اضْطُرَّتْ إِلَى مُغَادَرَةِ دِيَارِهَا. يُهَجَّرُ كَثِيرٌ مِنَ الأَطْفَالِ وَيُحْرَمُونَ مِنْ تَعْلِيمِهِمْ، وَيُودَعُونَ فِي مُخَيَّمَاتٍ تَفْتَقِرُ إِلَى الأَمَانِ، وَكَانُوا قَدْ نَشَؤُوا فِي مُدُنٍ بَاتَتِ اليَوْمَ رُكَامًا. وَلَوْ لَمْ تَتَدَفَّقِ الأَسْلِحَةُ عَلَى مَنَاطِقِ النِّزَاعِ، لَكَانَتِ الخَسَائِرُ أَقَلَّ بِكَثِيرٍ. وَإِذَا تَعَاوَنَ المُجْتَمَعُ الدَّوْلِيُّ، سَتُفْتَحُ مَمَرَّاتٌ إِنْسَانِيَّةٌ عَاجِلَةٌ. وَمِنَ الضَّرُورِيِّ أَنْ تُكْفَلَ حُقُوقُ اللَّاجِئِينَ وَأَنْ تُصَانَ كَرَامَتُهُمْ.</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reported that the Arab region holds nearly forty per cent of all the forcibly displaced people in the world, and UNHCR reports confirm that millions of families were forced to leave their homes. Many children are displaced and deprived of their education, and placed in camps that lack safety; they had grown up in cities that are now rubble. Had weapons not poured into conflict zones, losses would be far fewer. If the international community cooperates, urgent humanitarian corridors will be opened. It is essential that refugees’ rights be guaranteed and their dignity preserved.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yushāru ilā anna (evidence)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yuhajjaru · yuḥramūna · yūdaʿūna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kānū qad · law lam … · idhā … sa-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tukfala · an tuṣāna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displaced PERSON is the subject of my passives (yuhajjaru l-aṭfālu).</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yuhajjaru for force, not yuhājiru (choice).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1 has sa-; my Type 2 has la- / la-mā.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solution verb after an ends in -a (an tukfala).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language is humanising — no “hordes”, no “burden”.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humanitarian passive “is displaced”?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يُهَجَّرُ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يُهَاجِرُ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هَجَّرَ</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choose the humanitarian passive?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hides the truth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centres the displaced person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informal</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negative Type 2: </a:t>
            </a:r>
            <a:pPr algn="l" indent="0" marL="0">
              <a:buNone/>
            </a:pPr>
            <a:r>
              <a:rPr lang="ar-SA" altLang="en-US" sz="1650" b="1" dirty="0">
                <a:solidFill>
                  <a:srgbClr val="1B3B6F"/>
                </a:solidFill>
                <a:latin typeface="Amiri" pitchFamily="2" charset="-78"/>
                <a:cs typeface="Amiri" pitchFamily="2" charset="-78"/>
              </a:rPr>
              <a:t>لَوْ لَمْ تَنْدَلِعِ الحُرُوبُ،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المَلَايِينُ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 اضْطُرَّ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سَيَضْطَرُّ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اضْطُرَّ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humanitarian passive “is displaced”?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يُهَجَّرُ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يُهَاجِرُ</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هَجَّرَ</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يُهَجَّرُ</a:t>
            </a:r>
            <a:pPr algn="l" indent="0" marL="0">
              <a:buNone/>
            </a:pPr>
            <a:r>
              <a:rPr lang="en-US" sz="1050" i="1" dirty="0">
                <a:solidFill>
                  <a:srgbClr val="8A6D1E"/>
                </a:solidFill>
                <a:latin typeface="Calibri" pitchFamily="34" charset="0"/>
                <a:cs typeface="Amiri" pitchFamily="2" charset="-78"/>
              </a:rPr>
              <a:t> is the Form II passive.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choose the humanitarian passive?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hides the truth</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centres the displaced person</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informal</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centres the person's experience.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negative Type 2: </a:t>
            </a:r>
            <a:pPr algn="l" indent="0" marL="0">
              <a:buNone/>
            </a:pPr>
            <a:r>
              <a:rPr lang="ar-SA" altLang="en-US" sz="1650" b="1" dirty="0">
                <a:solidFill>
                  <a:srgbClr val="1B3B6F"/>
                </a:solidFill>
                <a:latin typeface="Amiri" pitchFamily="2" charset="-78"/>
                <a:cs typeface="Amiri" pitchFamily="2" charset="-78"/>
              </a:rPr>
              <a:t>لَوْ لَمْ تَنْدَلِعِ الحُرُوبُ،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المَلَايِينُ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لَمَا اضْطُرَّ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سَيَضْطَرُّ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اضْطُرَّ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negative Type 2 result uses </a:t>
            </a:r>
            <a:pPr algn="l" indent="0" marL="0">
              <a:buNone/>
            </a:pPr>
            <a:r>
              <a:rPr lang="ar-SA" altLang="en-US" sz="1350" dirty="0">
                <a:solidFill>
                  <a:srgbClr val="8A6D1E"/>
                </a:solidFill>
                <a:latin typeface="Amiri" pitchFamily="2" charset="-78"/>
                <a:cs typeface="Amiri" pitchFamily="2" charset="-78"/>
              </a:rPr>
              <a:t>لَمَا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Reading: a migration analysis (extract)</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تُعَدُّ الهِجْرَةُ الاضْطِرَارِيَّةُ مِنْ أَعْمَقِ الأَزَمَاتِ الإِنْسَانِيَّةِ فِي عَصْرِنَا. يُشَارُ إِلَى أَنَّ المِنْطَقَةَ العَرَبِيَّةَ تَضُمُّ نِسْبَةً كَبِيرَةً مِنَ النَّازِحِينَ قَسْرًا. يُهَجَّرُ كَثِيرٌ مِنَ الأُسَرِ وَتُودَعُ فِي مُخَيَّمَاتٍ مُؤَقَّتَةٍ، وَكَانُوا قَدْ نَشَؤُوا فِي مُدُنٍ بَاتَتِ اليَوْمَ رُكَامًا. يَفِرُّ المَدَنِيُّونَ مِنَ القَصْفِ وَيَلْتَمِسُونَ اللُّجُوءَ. وَلَوْ لَمْ تَتَدَفَّقِ الأَسْلِحَةُ عَلَى مَنَاطِقِ النِّزَاعِ، لَكَانَتِ الخَسَائِرُ أَقَلَّ. وَإِذَا تَعَاوَنَ المُجْتَمَعُ الدَّوْلِيُّ، سَتُفْتَحُ مَمَرَّاتٌ إِنْسَانِيَّةٌ. وَمِنَ الضَّرُورِيِّ أَنْ تُكْفَلَ حُقُوقُ اللَّاجِئِينَ.</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الاضْطِرَارِيَّةُ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forced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أَعْمَقِ</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deepest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النَّازِحِينَ قَسْرًا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forcibly displaced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مُؤَقَّتَةٍ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temporary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نَشَؤُوا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grew up</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بَاتَتْ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have become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رُكَامًا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rubble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القَصْفِ</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bombardment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تَتَدَفَّقِ</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pour in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تُكْفَلَ</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 guaranteed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forced migration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minor issue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one of the deepest humanitarian crises of our age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temporary trend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families (passive)?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resettled at once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return quickly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displaced and placed in temporary camps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past perfect tell us?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had grown up in cities now reduced to rubble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born in camps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never had homes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Arms make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arms not flowed to conflict zones, losses would be fewer</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Losses cannot fall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extract say is necessary?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refugees' rights be guaranteed</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borders be closed</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aid be stopped</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forced migration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minor issue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As one of the deepest humanitarian crises of our age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temporary trend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تُعَدُّ الهِجْرَةُ الاضْطِرَارِيَّةُ مِنْ أَعْمَقِ الأَزَمَاتِ الإِنْسَانِيَّةِ.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families (passive)?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resettled at once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return quickly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are displaced and placed in temporary camps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يُهَجَّرُ كَثِيرٌ مِنَ الأُسَرِ وَتُودَعُ فِي مُخَيَّمَاتٍ مُؤَقَّتَةٍ.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past perfect tell us?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had grown up in cities now reduced to rubble</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born in camps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never had homes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كَانُوا قَدْ نَشَؤُوا فِي مُدُنٍ بَاتَتِ اليَوْمَ رُكَامًا.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Arms make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arms not flowed to conflict zones, losses would be fewer</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Losses cannot fall</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لَوْ لَمْ تَتَدَفَّقِ الأَسْلِحَةُ عَلَى مَنَاطِقِ النِّزَاعِ، لَكَانَتِ الخَسَائِرُ أَقَلَّ.</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extract say is necessary?</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refugees' rights be guaranteed</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borders be closed</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aid be stopped</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الضَّرُورِيِّ أَنْ تُكْفَلَ حُقُوقُ اللَّاجِئِينَ.</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Humanitarian Mission — Passives and Conditionals</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displaced”?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يُهَاجِرُ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يُهَجَّرُ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هَجَّرَ</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deported”?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يُرَحَّلُ</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يَرْحَلُ</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رَحَّلَ</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placed in a camp”?</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يَنْزِلُ فِي مُخَيَّمٍ</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يَبْنِي مُخَيَّمًا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يُودَعُ فِي مُخَيَّمٍ</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Active: which means “flees from”?</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يَعُودُ إِلَى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يُقِيمُ فِي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يَفِرُّ مِنْ</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Active: which is Form VIII “seeks asylum”?</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يَلْتَمِسُ اللُّجُوءَ</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يَطْلُبُ العَمَلَ</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يَعْبُرُ الحُدُودَ</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cs typeface="Amiri" pitchFamily="2" charset="-78"/>
              </a:rPr>
              <a:t>إِذَا تَعَاوَنَ المُجْتَمَعُ،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مَمَرَّاتٌ إِنْسَانِيَّةٌ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لَفُتِحَتْ</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سَتُفْتَحُ</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تُفْتَحُ</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displaced”?</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يُهَاجِرُ</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يُهَجَّرُ</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هَجَّرَ</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يُهَجَّرُ</a:t>
            </a:r>
            <a:pPr algn="l" indent="0" marL="0">
              <a:buNone/>
            </a:pPr>
            <a:r>
              <a:rPr lang="en-US" sz="1050" i="1" dirty="0">
                <a:solidFill>
                  <a:srgbClr val="8A6D1E"/>
                </a:solidFill>
                <a:latin typeface="Calibri" pitchFamily="34" charset="0"/>
                <a:cs typeface="Amiri" pitchFamily="2" charset="-78"/>
              </a:rPr>
              <a:t> is the Form II passive.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deported”?</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يُرَحَّلُ</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يَرْحَلُ</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رَحَّلَ</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يُرَحَّلُ</a:t>
            </a:r>
            <a:pPr algn="l" indent="0" marL="0">
              <a:buNone/>
            </a:pPr>
            <a:r>
              <a:rPr lang="en-US" sz="1050" i="1" dirty="0">
                <a:solidFill>
                  <a:srgbClr val="8A6D1E"/>
                </a:solidFill>
                <a:latin typeface="Calibri" pitchFamily="34" charset="0"/>
                <a:cs typeface="Amiri" pitchFamily="2" charset="-78"/>
              </a:rPr>
              <a:t> is the Form II passive.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“is placed in a camp”?</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يَنْزِلُ فِي مُخَيَّمٍ</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يَبْنِي مُخَيَّمًا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يُودَعُ فِي مُخَيَّمٍ</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يُودَعُ فِي مُخَيَّمٍ</a:t>
            </a:r>
            <a:pPr algn="l" indent="0" marL="0">
              <a:buNone/>
            </a:pPr>
            <a:r>
              <a:rPr lang="en-US" sz="1050" i="1" dirty="0">
                <a:solidFill>
                  <a:srgbClr val="8A6D1E"/>
                </a:solidFill>
                <a:latin typeface="Calibri" pitchFamily="34" charset="0"/>
                <a:cs typeface="Amiri" pitchFamily="2" charset="-78"/>
              </a:rPr>
              <a:t> is the Form IV passive.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Active: which means “flees from”?</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يَعُودُ إِلَى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يُقِيمُ فِي</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يَفِرُّ مِنْ</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يَفِرُّ مِنْ</a:t>
            </a:r>
            <a:pPr algn="l" indent="0" marL="0">
              <a:buNone/>
            </a:pPr>
            <a:r>
              <a:rPr lang="en-US" sz="1050" i="1" dirty="0">
                <a:solidFill>
                  <a:srgbClr val="8A6D1E"/>
                </a:solidFill>
                <a:latin typeface="Calibri" pitchFamily="34" charset="0"/>
                <a:cs typeface="Amiri" pitchFamily="2" charset="-78"/>
              </a:rPr>
              <a:t> means flees from.</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Active: which is Form VIII “seeks asylum”?</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يَلْتَمِسُ اللُّجُوءَ</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يَطْلُبُ العَمَلَ</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يَعْبُرُ الحُدُودَ</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يَلْتَمِسُ اللُّجُوءَ</a:t>
            </a:r>
            <a:pPr algn="l" indent="0" marL="0">
              <a:buNone/>
            </a:pPr>
            <a:r>
              <a:rPr lang="en-US" sz="1050" i="1" dirty="0">
                <a:solidFill>
                  <a:srgbClr val="8A6D1E"/>
                </a:solidFill>
                <a:latin typeface="Calibri" pitchFamily="34" charset="0"/>
                <a:cs typeface="Amiri" pitchFamily="2" charset="-78"/>
              </a:rPr>
              <a:t> is Form VIII.</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1: complete — </a:t>
            </a:r>
            <a:pPr algn="l" indent="0" marL="0">
              <a:buNone/>
            </a:pPr>
            <a:r>
              <a:rPr lang="ar-SA" altLang="en-US" sz="1650" b="1" dirty="0">
                <a:solidFill>
                  <a:srgbClr val="1B3B6F"/>
                </a:solidFill>
                <a:latin typeface="Amiri" pitchFamily="2" charset="-78"/>
                <a:cs typeface="Amiri" pitchFamily="2" charset="-78"/>
              </a:rPr>
              <a:t>إِذَا تَعَاوَنَ المُجْتَمَعُ،</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مَمَرَّاتٌ إِنْسَانِيَّةٌ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لَفُتِحَتْ</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سَتُفْتَحُ</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تُفْتَحُ</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takes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P5-L02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P5-L03 · Gender Equality — Rights, Progress and Challenges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المُسَاوَاةُ بَيْنَ الجِنْسَيْنِ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gender equality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تَمْكِينُ المَرْأَةِ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women’s empowerment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فَجْوَةُ الأُجُورِ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pay gap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يُطَالِبُ بِأَنْ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demands that</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القَوَالِبُ النَّمَطِيَّةُ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stereotypes</a:t>
            </a:r>
            <a:pPr indent="0" marL="0">
              <a:buNone/>
            </a:pPr>
            <a:r>
              <a:rPr lang="en-US" sz="1000" i="1" dirty="0">
                <a:solidFill>
                  <a:srgbClr val="5A6472"/>
                </a:solidFill>
                <a:latin typeface="Calibri" pitchFamily="34" charset="0"/>
                <a:cs typeface="Amiri" pitchFamily="2" charset="-78"/>
              </a:rPr>
              <a:t>  sg. قَالَبٌ نَمَطِيٌّ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Name one woman (from history or today) whose achievements you admire.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أُعْجَبُ بِالسَّيِّدَةِ ______ لِأَنَّهَا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two humanitarian passives centring the displaced person.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Type 1 plan and a Type 2 counterfactual (100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compassionate migration analysis.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P5-L03 · Gender Equality — Rights, Progress and Challenges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المُسَاوَاةُ بَيْنَ الجِنْسَيْنِ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put the person first — yuhajjaru (is displaced, by force) is not yuhājiru (migrates, by choice); look forward with idhā … sa-, back with law lam … la-mā; and choose words that protect people’s dignity.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P5-L02 · Migration and Displacement — A Global Crisis in Arabic</dc:title>
  <dc:subject>PptxGenJS Presentation</dc:subject>
  <dc:creator>Al Madina Online School · Arabic Department</dc:creator>
  <cp:lastModifiedBy>Al Madina Online School · Arabic Department</cp:lastModifiedBy>
  <cp:revision>1</cp:revision>
  <dcterms:created xsi:type="dcterms:W3CDTF">2026-10-11T06:43:25Z</dcterms:created>
  <dcterms:modified xsi:type="dcterms:W3CDTF">2026-10-11T06:43:25Z</dcterms:modified>
</cp:coreProperties>
</file>