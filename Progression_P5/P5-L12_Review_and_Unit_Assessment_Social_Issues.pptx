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2–6 Grammar spine (not marked) · 6–7 Assessment map · 7–21 Listening (20) · 21–29 Reading (10) · 29–46 Writing (20) · 46–56 Speaking (10, one-to-one or trusted pairs) · 56–60 Profile and P6 target.
FLEX slides are optional. Use them if the class is moving quickly; otherwise the same activities are on the website for homework.
Content source: Miftah Arabic website, Pathways › Progression › P5 Social Issues and Opinions › P5-L12. The website P5-L12 is a four-skill, 60-mark unit assessment: a twelve-question grammar spine (revision, not counted), Part A listening (three texts — an academic on social inequality 8 · Karim and Huda on digital regulation: who said what 6 · a young activist on youth empowerment 6 = 20), Part B1 reading (a social-mobility argument: 10), Part B2 writing (five-field argument form 5 + 150–165-word argumentative essay 15, marked task / range / accuracy) and Part C speaking (role play at a social-justice conference 4 + topic conversation 6), then a P6 target.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one-to-one or in trusted pairs (it can move to the next lesson).
• If time is short: listening + reading in class; writing and speaking next lesson.
• Social issues (poverty, migration, inequality) may touch students’ own lives — let them choose the issue they write and speak about, and keep the focus on argument and language, not on personal disclosure.
• Accuracy focus today (the website mark scheme): the indicative after ṣaḥīḥun anna (the PRIMARY P5 criterion) · an vs anna and the -a after every trigger · the la- of the Type 2 result — and in speaking, a real concession in role-play prompt 2 and a law answer to topic question 3.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sections: grammar spine · Part A listening · Part B1 reading · Part B2 writing · Part C speaking · mark scheme · reflection.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 1 tests one of the words prepared at home at the end of P5-L11. Questions 2–5 are from the website twelve-question grammar spine (used diagnostically; the full spine is reviewed on the next slide).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Use it to choose ONE thing to check in your writing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(website twelve-question grammar spine, correct answers): صَحِيحٌ أَنَّ … يَتَطَلَّبُ · غَيْرَ أَنَّ · يُصِرُّ … عَلَى أَنْ تَحْصُلَ · يُطَالِبُ … بِأَنْ تُوَقِّعَ · يَمْنَعُ … أَنْ تُبَاعَ · يَرْفُضُ … أَنْ تَسْتَمِرَّ · وَبِنَاءً عَلَى مَا سَبَقَ · وَخُلَاصَةُ القَوْلِ · لَوْ عُولِجَ … لَتَحَسَّنَ · يُهَجَّرُ · بِأَنْ تُوَقِّعَ / أَنَّ الوَقْتَ · أَنْ تَتَحَرَّكَ. Close the vocabulary vault during each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sixty marks across listening, reading, writing and speaking).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 QUESTIONS 1–4 (website Part A, 20 marks). Before listening: label each question with the signal you expect (أُطْرُوحَتِي · صَحِيحٌ أَنَّ · غَيْرَ أَنَّ · يَتَطَلَّبُ / يَمْنَعُ / يَرْفُضُ أَنْ · سَـ / لَـ · كَانَ قَدْ) — P5-L10: follow the shape, and remember the point after صَحِيحٌ أَنَّ belongs to the OTHER side. Question 1: uṭrūḥatī anna = the thesis. Question 3: ṣaḥīḥun anna = the point conceded to the other side. Question 4: ghayra anna = the speaker’s real position. Each recording may be played twice; students answer after the second reading.
SCRIPT: يَقُولُ الأَكَادِيمِيُّ: أُطْرُوحَتِي أَنَّ التَّفَاوُتَ الاجْتِمَاعِيَّ يُهَدِّدُ الاسْتِقْرَارَ فِي العَالَمِ العَرَبِيِّ. أَكَّدَتِ الدِّرَاسَاتُ أَنَّ أَكْثَرَ مِنْ مِئَةِ مِلْيُونِ عَرَبِيٍّ يَعِيشُونَ تَحْتَ حَدِّ الفَقْرِ. صَحِيحٌ أَنَّ الإِصْلَاحَاتِ تَحْتَاجُ وَقْتًا طَوِيلًا وَمَوَارِدَ ضَخْمَةً، غَيْرَ أَنَّ الحَاجَةَ الاجْتِمَاعِيَّةَ المُلِحَّةَ لَا تَتَحَمَّلُ الانْتِظَارَ. إِذَا اسْتُثْمِرَ فِي التَّعْلِيمِ المُبَكِّرِ، سَتَضِيقُ الفَجْوَةُ تَدْرِيجِيًّا. وَلَوْ عُولِجَ التَّفَاوُتُ قَبْلَ عُقُودٍ، لَتَحَسَّنَ الوَضْعُ كَثِيرًا. وَيَتَطَلَّبُ الوَضْعُ أَنْ تَتَحَرَّكَ الحُكُومَاتُ فَوْرًا. وَبِنَاءً عَلَى مَا سَبَقَ، فَمَوْقِفِي وَاضِحٌ: العَدَالَةُ الاجْتِمَاعِيَّةُ ضَرُورَةٌ لَا رَفَاهِيَةٌ.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Reveal the script only after the attempt; ask which signal (ṣaḥīḥun anna · ghayra anna · an + -a · sa- / la- · kāna qad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 QUESTIONS 5–8 (website Part A, 20 marks). Before listening: label each question with the signal you expect (أُطْرُوحَتِي · صَحِيحٌ أَنَّ · غَيْرَ أَنَّ · يَتَطَلَّبُ / يَمْنَعُ / يَرْفُضُ أَنْ · سَـ / لَـ · كَانَ قَدْ) — P5-L10: follow the shape, and remember the point after صَحِيحٌ أَنَّ belongs to the OTHER side. Question 5: the sa- result = a real recommendation. Question 6: the la- result = it did NOT happen. Question 7: yataṭallabu an = the demand. Question 8: a concession + refutation = balanced. Each recording may be played twice; students answer after the second reading.
SCRIPT: يَقُولُ الأَكَادِيمِيُّ: أُطْرُوحَتِي أَنَّ التَّفَاوُتَ الاجْتِمَاعِيَّ يُهَدِّدُ الاسْتِقْرَارَ فِي العَالَمِ العَرَبِيِّ. أَكَّدَتِ الدِّرَاسَاتُ أَنَّ أَكْثَرَ مِنْ مِئَةِ مِلْيُونِ عَرَبِيٍّ يَعِيشُونَ تَحْتَ حَدِّ الفَقْرِ. صَحِيحٌ أَنَّ الإِصْلَاحَاتِ تَحْتَاجُ وَقْتًا طَوِيلًا وَمَوَارِدَ ضَخْمَةً، غَيْرَ أَنَّ الحَاجَةَ الاجْتِمَاعِيَّةَ المُلِحَّةَ لَا تَتَحَمَّلُ الانْتِظَارَ. إِذَا اسْتُثْمِرَ فِي التَّعْلِيمِ المُبَكِّرِ، سَتَضِيقُ الفَجْوَةُ تَدْرِيجِيًّا. وَلَوْ عُولِجَ التَّفَاوُتُ قَبْلَ عُقُودٍ، لَتَحَسَّنَ الوَضْعُ كَثِيرًا. وَيَتَطَلَّبُ الوَضْعُ أَنْ تَتَحَرَّكَ الحُكُومَاتُ فَوْرًا. وَبِنَاءً عَلَى مَا سَبَقَ، فَمَوْقِفِي وَاضِحٌ: العَدَالَةُ الاجْتِمَاعِيَّةُ ضَرُورَةٌ لَا رَفَاهِيَةٌ.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Reveal the script only after the attempt; ask which signal (ṣaḥīḥun anna · ghayra anna · an + -a · sa- / la- · kāna qad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2 · 6 QUESTIONS (website Part A, 20 marks). Before listening: label each question with the signal you expect (أُطْرُوحَتِي · صَحِيحٌ أَنَّ · غَيْرَ أَنَّ · يَتَطَلَّبُ / يَمْنَعُ / يَرْفُضُ أَنْ · سَـ / لَـ · كَانَ قَدْ) — P5-L10: follow the shape, and remember the point after صَحِيحٌ أَنَّ belongs to the OTHER side. Attribution: write K / H / both beside each question while listening — listen for the name before each line, then the signal (yamnaʿu · arfuḍu an · ṣaḥīḥun anna · law … la-). Each recording may be played twice; students answer after the second reading.
SCRIPT: مُتَحَدِّثٌ أَوَّلُ (كَرِيمٌ): يَجِبُ أَنْ تُنَظِّمَ الدُّوَلُ الإِنْتِرْنِتَ لِحِمَايَةِ المُوَاطِنِينَ. مُتَحَدِّثَةٌ ثَانِيَةٌ (هُدَى): صَحِيحٌ أَنَّ التَّنْظِيمَ ضَرُورِيٌّ، غَيْرَ أَنَّهُ يَجِبُ أَلَّا يُقَيِّدَ حُرِّيَّةَ التَّعْبِيرِ. كَرِيمٌ: يَمْنَعُ القَانُونُ أَنْ تُبَاعَ البَيَانَاتُ الشَّخْصِيَّةُ، وَهٰذَا حَقٌّ. هُدَى: وَأَنَا أَرْفُضُ أَنْ تُرَاقَبَ المُرَاسَلَاتُ الخَاصَّةُ دُونَ إِذْنٍ. كَرِيمٌ: لَوْ وُضِعَتْ حَوْكَمَةٌ رَقْمِيَّةٌ مُتَوَازِنَةٌ، لَكَانَتِ الخُصُوصِيَّةُ أَكْثَرَ أَمَانًا. هُدَى: وَبِنَاءً عَلَى مَا سَبَقَ، لَا بُدَّ مِنَ التَّوَازُنِ بَيْنَ الأَمْنِ وَالحُرِّيَّةِ.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Reveal the script only after the attempt; ask which signal (ṣaḥīḥun anna · ghayra anna · an + -a · sa- / la- · kāna qad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3 · 6 QUESTIONS (website Part A, 20 marks). Before listening: label each question with the signal you expect (أُطْرُوحَتِي · صَحِيحٌ أَنَّ · غَيْرَ أَنَّ · يَتَطَلَّبُ / يَمْنَعُ / يَرْفُضُ أَنْ · سَـ / لَـ · كَانَ قَدْ) — P5-L10: follow the shape, and remember the point after صَحِيحٌ أَنَّ belongs to the OTHER side. Each question names the structure it tests: listen for kānat qad, yuʿīdu taʿrīfa, ṣaḥīḥun anna … ghayra anna, nuṭālibu bi-an / nuṣirru ʿalā an, law … la- and wa-bināʾan ʿalā mā sabaqa. Each recording may be played twice; students answer after the second reading.
SCRIPT: تَقُولُ النَّاشِطَةُ الشَّابَّةُ: يُشَكِّلُ الشَّبَابُ أَكْثَرَ مِنْ نِصْفِ سُكَّانِ العَالَمِ العَرَبِيِّ. كَانَتِ الأَجْيَالُ السَّابِقَةُ قَدْ نَاضَلَتْ مِنْ أَجْلِ الاسْتِقْلَالِ، أَمَّا جِيلُنَا فَيُعِيدُ تَعْرِيفَ المُشَارَكَةِ عَبْرَ الوَسَائِطِ الرَّقْمِيَّةِ. صَحِيحٌ أَنَّ التَّحَدِّيَاتِ كَبِيرَةٌ، غَيْرَ أَنَّ الطَّاقَاتِ أَكْبَرُ. نَحْنُ نُطَالِبُ بِأَنْ تُفْتَحَ أَبْوَابُ المُشَارَكَةِ، وَنُصِرُّ عَلَى أَنْ نَكُونَ شُرَكَاءَ فِي القَرَارِ. وَلَوْ أُتِيحَتْ لَنَا الفُرَصُ، لَغَيَّرْنَا وَاقِعَنَا. وَبِنَاءً عَلَى مَا سَبَقَ، لَا تَنْمِيَةَ حَقِيقِيَّةً دُونَ تَمْكِينِ الشَّبَابِ.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Reveal the script only after the attempt; ask which signal (ṣaḥīḥun anna · ghayra anna · an + -a · sa- / la- · kāna qad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Part B1). No English support on assessment texts. Strategy (P5-L08): underline the thesis, box ṣaḥīḥun anna and circle ghayra anna, mark kānat … qad, and check every verb after an / li-kay for -a; then ask: is the argument balanced?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B1: R1 thesis · R2 evidence and the past perfect · R3 concession, balance and the purpose of the Type 2 · R4 the -u / -a gap-fill, the bi- of yuṭālibu and the purpose of the text). Website skill labels for these questions: R1 · R2 · R2 · R3 · R3. Keep the text on the previous slide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B1: R1 thesis · R2 evidence and the past perfect · R3 concession, balance and the purpose of the Type 2 · R4 the -u / -a gap-fill, the bi- of yuṭālibu and the purpose of the text). Website skill labels for these questions: R3 · R4 · R4 · R4 · R4. Keep the text on the previous slide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1 (website, 5 marks): one mark per field completed accurately in Arabic (a phrase is enough). Field 2 must use reported speech (أَكَّدَ … أَنَّ + noun); field 3 صَحِيحٌ أَنَّ + a verb in -u; field 4 غَيْرَ أَنَّ; field 5 وَبِنَاءً عَلَى مَا سَبَقَ + a verb in -a. Check anna vs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2 (website, 15 marks): a 150–165-word argumentative essay on a social issue of the student’s choice (P5-L01 to L06). Required: a thesis (a position, not just a topic), statistical evidence with reported speech, a genuine concession (ṣaḥīḥun anna + -u) and a refutation (ghayra anna), a Type 2, a P4/P5 subjunctive trigger and a formal conclusion + a verb in -a. Mark scheme exactly as on the website (Accuracy: the -a after every trigger and an vs anna 2 · the Type 2 la- 2 · the indicative after ṣaḥīḥun anna 1 — the primary P5 criterion). The P5-L09 website model is a full-mark exemplar — show it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PLAY (website, 4 marks). Teacher plays the chair of a social-justice conference: أَهْلًا بِكَ فِي مُؤْتَمَرِ العَدَالَةِ الاجْتِمَاعِيَّةِ. مَا القَضِيَّةُ الَّتِي تُعَالِجُهَا؟ Model answers: أُعَالِجُ قَضِيَّةَ الفَجْوَةِ الرَّقْمِيَّةِ؛ فَقَدْ أَكَّدَتِ الدِّرَاسَاتُ أَنَّ مَلَايِينَ الشَّبَابِ بِلَا إِنْتِرْنِتٍ · صَحِيحٌ أَنَّ الحُكُومَاتِ تَبْذُلُ جُهُودًا · غَيْرَ أَنَّ هٰذِهِ الجُهُودَ لَا تَصِلُ إِلَى المَنَاطِقِ النَّائِيَةِ · يَتَطَلَّبُ الحَلُّ أَنْ نُوَفِّرَ بُنْيَةً تَحْتِيَّةً رَقْمِيَّةً لِلْجَمِيعِ. Website mark scheme: Communication (2): all four prompts are addressed clearly and relevantly. Accuracy (2): a genuine concession (ṣaḥīḥun anna) in prompt 2 and a refutation (ghayra anna) in prompt 3. The issue is introduced with evidence and reported speech. To a girl: قَدِّمِي · قُولِي · اعْرِضِي · اذْكُرِي.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CONVERSATION (website, 6 marks): structure · reason · example (P5-L11). Model openings: يُشَكِّلُ التَّفَاوُتُ الاجْتِمَاعِيُّ أَكْبَرَ تَحَدٍّ، إِذْ أَكَّدَتِ الدِّرَاسَاتُ أَنَّ … · صَحِيحٌ أَنَّ التِّكْنُولُوجِيَا تُوَفِّرُ فُرَصًا، غَيْرَ أَنَّهَا تُعَمِّقُ الفَجْوَةَ … · لَوْ كُنْتُ فِي مَوْقِعِ السُّلْطَةِ، لَاسْتَثْمَرْتُ فِي التَّعْلِيمِ المُبَكِّرِ أَوَّلًا. Website mark scheme: Communication (3): answers are developed with point, reason and example. Quality of language (3): a full argument (Q1), a concession-refutation (Q2) and a Type 2 conditional (Q3) all appear. Q3 opens with law (Type 2 required); a candidate who answers with idhā is avoiding the conditional. Credit spontaneous ṣaḥīḥun anna / ghayra anna in Q2. Allow time-buying and repair phrases (سُؤَالٌ مُهِمٌّ · دَعْنِي أُفَكِّرُ · عَفْوًا، أَقْصِدُ). To a girl: تَعْتَقِدِينَ · كُنْتِ · سَتُغَيِّرِينَ. ORGANISATION: one-to-one while others finish writing, or trusted pairs with the teacher as examiner.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(website: complete the four components to generate targeted guidance). The bands are a teacher guide in line with the P1–P4 assessments. Return each student’s P5-L11 “priority error” note next to their score — it becomes their first P6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(P6-L01 · Bridge Launch — Mapping the IGCSE and Setting Personal Targets) will spend class time USING this language, so students prepare it tonight — short, simple, easy to access (school guidance: “Simple, Short, Interesting, Relevant, Easy to access”). P6 is the IGCSE Bridge (website P6-L01 “Bridge Launch — Mapping the IGCSE and Setting Personal Targets”): the five words come from its exam-terminology vault.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P5  ·  P5-L12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P5-L12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Review and Unit Assessment: Social Issues and Opinions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المُرَاجَعَةُ وَتَقْيِيمُ الوَحْدَةِ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250" dirty="0">
                <a:solidFill>
                  <a:srgbClr val="C6D2E6"/>
                </a:solidFill>
                <a:latin typeface="Calibri" pitchFamily="34" charset="0"/>
                <a:ea typeface="Calibri" pitchFamily="34" charset="-122"/>
                <a:cs typeface="Calibri" pitchFamily="34" charset="-120"/>
              </a:rPr>
              <a:t>Show what you can understand and produce about social issues — ṣaḥīḥun anna + -u … ghayra anna, the extended triggers + -a (yuṣirru ʿalā · yuṭālibu bi- · yamnaʿu · yarfuḍu an), an vs anna, law … la-, kānat qad and wa-bināʾan ʿalā mā sabaqa — then choose one precise target for P6, the IGCSE Bridge.</a:t>
            </a:r>
            <a:endParaRPr lang="en-US" sz="125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P5-L12 · Progression P5 · Social Issues and Opinions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end of unit P5</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P5 › P5-L12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P5-L12 · P5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P5-L12 · P5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4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Grammar spine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تَهْيِئَةٌ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P5 checklist and 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Listening: three texts,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8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27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My profile and one P6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for P6: the IGCSE Bridge.</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Start each section with the questions you find easiest. Leave a blank and come back. The grammar spine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P5-L12 · P5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المَوْقِفُ المُضَادُّ</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main thesis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opposing position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balanced view</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concession (ṣaḥīḥun anna + -u).</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صَحِيحٌ أَنَّ التَّعْلِيمَ يَتَطَلَّبُ مَوَارِدَ.</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صَحِيحٌ أَنَّ التَّعْلِيمَ يَتَطَلَّبَ مَوَارِدَ.</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صَحِيحٌ أَنْ التَّعْلِيمَ يَتَطَلَّبَ مَوَارِدَ.</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demand trigger.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يُطَالِبُ النَّاشِطُونَ عَلَى أَنْ تُوَقِّعَ الدُّوَلُ.</a:t>
            </a:r>
            <a:endParaRPr lang="ar-SA" sz="17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يُطَالِبُ النَّاشِطُونَ بِأَنَّ تُوَقِّعَ الدُّوَلُ.</a:t>
            </a:r>
            <a:endParaRPr lang="ar-SA" sz="17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يُطَالِبُ النَّاشِطُونَ بِأَنْ تُوَقِّعَ الدُّوَلُ.</a:t>
            </a:r>
            <a:endParaRPr lang="ar-SA" sz="17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refusal trigger.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يَرْفُضُ النَّاشِطُونَ أَنْ تَسْتَمِرُّ الازْدِوَاجِيَّةُ.</a:t>
            </a:r>
            <a:endParaRPr lang="ar-SA" sz="170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يَرْفُضُ النَّاشِطُونَ أَنَّ تَسْتَمِرَّ الازْدِوَاجِيَّةُ.</a:t>
            </a:r>
            <a:endParaRPr lang="ar-SA" sz="170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يَرْفُضُ النَّاشِطُونَ أَنْ تَسْتَمِرَّ الازْدِوَاجِيَّةُ.</a:t>
            </a:r>
            <a:endParaRPr lang="ar-SA" sz="170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Type 2 conditional.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لَوْ عُولِجَ التَّفَاوُتُ مُبَكِّرًا، لَتَحَسَّنَ الوَضْعُ.</a:t>
            </a:r>
            <a:endParaRPr lang="ar-SA" sz="160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لَوْ عُولِجَ التَّفَاوُتُ مُبَكِّرًا، تَحَسَّنَ الوَضْعُ.</a:t>
            </a:r>
            <a:endParaRPr lang="ar-SA" sz="16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لَوْ عُولِجَ التَّفَاوُتُ مُبَكِّرًا، سَيَتَحَسَّنُ الوَضْعُ.</a:t>
            </a:r>
            <a:endParaRPr lang="ar-SA" sz="160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P5-L12 · P5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المَوْقِفُ المُضَادُّ</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main thesis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opposing position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balanced view</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(P5-L11).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concession (ṣaḥīḥun anna + -u).</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صَحِيحٌ أَنَّ التَّعْلِيمَ يَتَطَلَّبُ مَوَارِدَ.</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صَحِيحٌ أَنَّ التَّعْلِيمَ يَتَطَلَّبَ مَوَارِدَ.</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صَحِيحٌ أَنْ التَّعْلِيمَ يَتَطَلَّبَ مَوَارِدَ.</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spine 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demand trigger.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يُطَالِبُ النَّاشِطُونَ عَلَى أَنْ تُوَقِّعَ الدُّوَلُ.</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يُطَالِبُ النَّاشِطُونَ بِأَنَّ تُوَقِّعَ الدُّوَلُ.</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يُطَالِبُ النَّاشِطُونَ بِأَنْ تُوَقِّعَ الدُّوَلُ.</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spine 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refusal trigger.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يَرْفُضُ النَّاشِطُونَ أَنْ تَسْتَمِرُّ الازْدِوَاجِيَّةُ.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يَرْفُضُ النَّاشِطُونَ أَنَّ تَسْتَمِرَّ الازْدِوَاجِيَّةُ.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يَرْفُضُ النَّاشِطُونَ أَنْ تَسْتَمِرَّ الازْدِوَاجِيَّةُ.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spine 6.</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Type 2 conditional.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لَوْ عُولِجَ التَّفَاوُتُ مُبَكِّرًا، لَتَحَسَّنَ الوَضْعُ.</a:t>
            </a:r>
            <a:endParaRPr lang="ar-SA" sz="16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34" charset="0"/>
                <a:ea typeface="Amiri" pitchFamily="34" charset="-122"/>
                <a:cs typeface="Amiri" pitchFamily="34" charset="-120"/>
              </a:rPr>
              <a:t>لَوْ عُولِجَ التَّفَاوُتُ مُبَكِّرًا، تَحَسَّنَ الوَضْعُ.</a:t>
            </a:r>
            <a:endParaRPr lang="ar-SA" sz="16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34" charset="0"/>
                <a:ea typeface="Amiri" pitchFamily="34" charset="-122"/>
                <a:cs typeface="Amiri" pitchFamily="34" charset="-120"/>
              </a:rPr>
              <a:t>لَوْ عُولِجَ التَّفَاوُتُ مُبَكِّرًا، سَيَتَحَسَّنُ الوَضْعُ.</a:t>
            </a:r>
            <a:endParaRPr lang="ar-SA" sz="16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spine 9.</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This warm-up does NOT count. Use it to choose ONE thing to check in your writing today.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صَحِيحٌ أَنَّ … يَتَطَلَّبُ · بِأَنْ تُوَقِّعَ · أَنْ تَسْتَمِرَّ · لَوْ … لَتَحَسَّنَ</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P5-L12 · P5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REVIEW · THE P5 GRAMMAR SPINE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P5 accuracy checklist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مُرَاجَعَةُ 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Lesson</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Check</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P5-L01 · L07</a:t>
            </a:r>
            <a:endParaRPr lang="en-US" sz="1100" dirty="0"/>
          </a:p>
        </p:txBody>
      </p:sp>
      <p:sp>
        <p:nvSpPr>
          <p:cNvPr id="21" name="Text 18"/>
          <p:cNvSpPr txBox="1"/>
          <p:nvPr/>
        </p:nvSpPr>
        <p:spPr>
          <a:xfrm>
            <a:off x="3291840" y="2267712"/>
            <a:ext cx="58521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صَحِيحٌ أَنَّ التَّعْلِيمَ يَتَطَلَّبُ مَوَارِدَ، غَيْرَ أَنَّ العَائِدَ أَكْبَرُ</a:t>
            </a:r>
            <a:endParaRPr lang="ar-SA" sz="18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concession -u + refutation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P5-L03–L05</a:t>
            </a:r>
            <a:endParaRPr lang="en-US" sz="1100" dirty="0"/>
          </a:p>
        </p:txBody>
      </p:sp>
      <p:sp>
        <p:nvSpPr>
          <p:cNvPr id="27" name="Text 24"/>
          <p:cNvSpPr txBox="1"/>
          <p:nvPr/>
        </p:nvSpPr>
        <p:spPr>
          <a:xfrm>
            <a:off x="3291840" y="3004718"/>
            <a:ext cx="58521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يُصِرُّ عَلَى أَنْ تَحْصُلَ · يُطَالِبُ بِأَنْ تُوَقِّعَ · يَمْنَعُ أَنْ تُبَاعَ · يَرْفُضُ أَنْ تَسْتَمِرَّ</a:t>
            </a:r>
            <a:endParaRPr lang="ar-SA" sz="18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triggers + -a</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P5-L11</a:t>
            </a:r>
            <a:endParaRPr lang="en-US" sz="1100" dirty="0"/>
          </a:p>
        </p:txBody>
      </p:sp>
      <p:sp>
        <p:nvSpPr>
          <p:cNvPr id="33" name="Text 30"/>
          <p:cNvSpPr txBox="1"/>
          <p:nvPr/>
        </p:nvSpPr>
        <p:spPr>
          <a:xfrm>
            <a:off x="3291840" y="3741725"/>
            <a:ext cx="58521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يُطَالِبُ بِأَنْ تُوَقِّعَ · أَكَّدَ أَنَّ الوَقْتَ يَنْفَدُ</a:t>
            </a:r>
            <a:endParaRPr lang="ar-SA" sz="1800" dirty="0"/>
          </a:p>
        </p:txBody>
      </p:sp>
      <p:sp>
        <p:nvSpPr>
          <p:cNvPr id="34" name="Text 31"/>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vs anna</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P5-L02 · L05</a:t>
            </a:r>
            <a:endParaRPr lang="en-US" sz="1100" dirty="0"/>
          </a:p>
        </p:txBody>
      </p:sp>
      <p:sp>
        <p:nvSpPr>
          <p:cNvPr id="39" name="Text 36"/>
          <p:cNvSpPr txBox="1"/>
          <p:nvPr/>
        </p:nvSpPr>
        <p:spPr>
          <a:xfrm>
            <a:off x="3291840" y="4478731"/>
            <a:ext cx="58521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عُولِجَ التَّفَاوُتُ مُبَكِّرًا، لَتَحَسَّنَ الوَضْعُ · يُهَجَّرُ</a:t>
            </a:r>
            <a:endParaRPr lang="ar-SA" sz="1800" dirty="0"/>
          </a:p>
        </p:txBody>
      </p:sp>
      <p:sp>
        <p:nvSpPr>
          <p:cNvPr id="40" name="Text 37"/>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Type 2 · passive</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P5-L05 · L09</a:t>
            </a:r>
            <a:endParaRPr lang="en-US" sz="1100" dirty="0"/>
          </a:p>
        </p:txBody>
      </p:sp>
      <p:sp>
        <p:nvSpPr>
          <p:cNvPr id="43" name="Text 40"/>
          <p:cNvSpPr txBox="1"/>
          <p:nvPr/>
        </p:nvSpPr>
        <p:spPr>
          <a:xfrm>
            <a:off x="3291840" y="5215738"/>
            <a:ext cx="58521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وَبِنَاءً عَلَى مَا سَبَقَ … أَنْ تَتَحَرَّكَ · وَخُلَاصَةُ القَوْلِ</a:t>
            </a:r>
            <a:endParaRPr lang="ar-SA" sz="1800" dirty="0"/>
          </a:p>
        </p:txBody>
      </p:sp>
      <p:sp>
        <p:nvSpPr>
          <p:cNvPr id="44" name="Text 41"/>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formal conclusion</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And one habit for every part today: what comes next — a verb (an + -a) or a noun (anna)?</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P5-L12 · P5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skills, sixty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a:t>
            </a:r>
            <a:endParaRPr lang="en-US" sz="1100" dirty="0"/>
          </a:p>
        </p:txBody>
      </p:sp>
      <p:sp>
        <p:nvSpPr>
          <p:cNvPr id="17" name="Text 14"/>
          <p:cNvSpPr txBox="1"/>
          <p:nvPr/>
        </p:nvSpPr>
        <p:spPr>
          <a:xfrm>
            <a:off x="18105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you do</a:t>
            </a:r>
            <a:endParaRPr lang="en-US" sz="1100" dirty="0"/>
          </a:p>
        </p:txBody>
      </p:sp>
      <p:sp>
        <p:nvSpPr>
          <p:cNvPr id="18" name="Text 15"/>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Listening</a:t>
            </a:r>
            <a:endParaRPr lang="en-US" sz="1100" dirty="0"/>
          </a:p>
        </p:txBody>
      </p:sp>
      <p:sp>
        <p:nvSpPr>
          <p:cNvPr id="21" name="Text 18"/>
          <p:cNvSpPr txBox="1"/>
          <p:nvPr/>
        </p:nvSpPr>
        <p:spPr>
          <a:xfrm>
            <a:off x="1847088"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Three texts (each heard twice): an academic on inequality (8) · Karim and Huda on digital regulation (6) · a young activist on youth (6)</a:t>
            </a:r>
            <a:endParaRPr lang="en-US" sz="1100" dirty="0"/>
          </a:p>
        </p:txBody>
      </p:sp>
      <p:sp>
        <p:nvSpPr>
          <p:cNvPr id="22" name="Text 19"/>
          <p:cNvSpPr txBox="1"/>
          <p:nvPr/>
        </p:nvSpPr>
        <p:spPr>
          <a:xfrm>
            <a:off x="566928"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B1 · Reading</a:t>
            </a:r>
            <a:endParaRPr lang="en-US" sz="1100" dirty="0"/>
          </a:p>
        </p:txBody>
      </p:sp>
      <p:sp>
        <p:nvSpPr>
          <p:cNvPr id="27" name="Text 24"/>
          <p:cNvSpPr txBox="1"/>
          <p:nvPr/>
        </p:nvSpPr>
        <p:spPr>
          <a:xfrm>
            <a:off x="1847088"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social-mobility argument: thesis, evidence, concession and balance, gap-fills, purpose</a:t>
            </a:r>
            <a:endParaRPr lang="en-US" sz="1100" dirty="0"/>
          </a:p>
        </p:txBody>
      </p:sp>
      <p:sp>
        <p:nvSpPr>
          <p:cNvPr id="28" name="Text 25"/>
          <p:cNvSpPr txBox="1"/>
          <p:nvPr/>
        </p:nvSpPr>
        <p:spPr>
          <a:xfrm>
            <a:off x="566928"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B2 · Writing</a:t>
            </a:r>
            <a:endParaRPr lang="en-US" sz="1100" dirty="0"/>
          </a:p>
        </p:txBody>
      </p:sp>
      <p:sp>
        <p:nvSpPr>
          <p:cNvPr id="33" name="Text 30"/>
          <p:cNvSpPr txBox="1"/>
          <p:nvPr/>
        </p:nvSpPr>
        <p:spPr>
          <a:xfrm>
            <a:off x="1847088"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five-field argument form (5) + a 150–165-word argumentative essay (15)</a:t>
            </a:r>
            <a:endParaRPr lang="en-US" sz="1100" dirty="0"/>
          </a:p>
        </p:txBody>
      </p:sp>
      <p:sp>
        <p:nvSpPr>
          <p:cNvPr id="34" name="Text 31"/>
          <p:cNvSpPr txBox="1"/>
          <p:nvPr/>
        </p:nvSpPr>
        <p:spPr>
          <a:xfrm>
            <a:off x="566928"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 · Speaking</a:t>
            </a:r>
            <a:endParaRPr lang="en-US" sz="1100" dirty="0"/>
          </a:p>
        </p:txBody>
      </p:sp>
      <p:sp>
        <p:nvSpPr>
          <p:cNvPr id="39" name="Text 36"/>
          <p:cNvSpPr txBox="1"/>
          <p:nvPr/>
        </p:nvSpPr>
        <p:spPr>
          <a:xfrm>
            <a:off x="1847088"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role play at a social-justice conference (4) + a topic conversation (6)</a:t>
            </a:r>
            <a:endParaRPr lang="en-US" sz="1100" dirty="0"/>
          </a:p>
        </p:txBody>
      </p:sp>
      <p:sp>
        <p:nvSpPr>
          <p:cNvPr id="40" name="Text 37"/>
          <p:cNvSpPr txBox="1"/>
          <p:nvPr/>
        </p:nvSpPr>
        <p:spPr>
          <a:xfrm>
            <a:off x="566928"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P5-L12 · P5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QUESTIONS 1–4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An academic on social inequality (1)</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speaker's main argument (thesis)?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Social inequality threatens stability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Inequality is beneficial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Inequality does not exist</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statistical evidence is cited?</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Poverty has ended</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are no figures</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Over 100 million Arabs live below the poverty line</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concede?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Reforms are impossible</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Reforms are unnecessary</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Reforms need time and huge resources</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refutation?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pressing social need cannot wait</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need can wait indefinitely</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is no need</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P5-L12 · P5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QUESTIONS 1–4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An academic on social inequality (1): answers</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speaker's main argument (thesis)?</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Social inequality threatens stability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Inequality is beneficial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Inequality does not exist</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أُطْرُوحَتِي أَنَّ التَّفَاوُتَ الاجْتِمَاعِيَّ يُهَدِّدُ الاسْتِقْرَارَ.</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statistical evidence is cited?</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Poverty has ended</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There are no figures</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Over 100 million Arabs live below the poverty line</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أَكَّدَتِ الدِّرَاسَاتُ أَنَّ أَكْثَرَ مِنْ مِئَةِ مِلْيُونِ عَرَبِيٍّ يَعِيشُونَ تَحْتَ حَدِّ الفَقْرِ.</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concede?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Reforms are impossible</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Reforms are unnecessary</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Reforms need time and huge resources</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صَحِيحٌ أَنَّ الإِصْلَاحَاتِ تَحْتَاجُ وَقْتًا طَوِيلًا وَمَوَارِدَ ضَخْمَةً.</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refutation?</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pressing social need cannot wait</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need can wait indefinitely</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There is no need</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غَيْرَ أَنَّ الحَاجَةَ الاجْتِمَاعِيَّةَ المُلِحَّةَ لَا تَتَحَمَّلُ الانْتِظَارَ.</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P5-L12 · P5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QUESTIONS 5–8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An academic on social inequality (2)</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1 conditional recommendation?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Investment widens the gap</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gap cannot narrow</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early education is invested in, the gap will narrow</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conditional regret?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Timing makes no difference</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situation cannot improve</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inequality been addressed decades ago, the situation would be much better</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subjunctive conclusion?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situation requires governments to act immediately</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Governments should wait</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action is required</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speaker's overall position?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Purely partisan</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Balanced — social justice is a necessity, not a luxury</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clear position</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P5-L12 · P5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QUESTIONS 5–8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An academic on social inequality (2): answers</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1 conditional recommendation?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Investment widens the gap</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gap cannot narrow</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If early education is invested in, the gap will narrow</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إِذَا اسْتُثْمِرَ فِي التَّعْلِيمِ المُبَكِّرِ، سَتَضِيقُ الفَجْوَةُ.</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conditional regret?</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Timing makes no difference</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situation cannot improve</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Had inequality been addressed decades ago, the situation would be much better</a:t>
            </a:r>
            <a:endParaRPr lang="en-US" sz="11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لَوْ عُولِجَ التَّفَاوُتُ قَبْلَ عُقُودٍ، لَتَحَسَّنَ الوَضْعُ كَثِيرًا.</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subjunctive conclusion?</a:t>
            </a:r>
            <a:endParaRPr lang="en-US" sz="1250" dirty="0"/>
          </a:p>
        </p:txBody>
      </p:sp>
      <p:sp>
        <p:nvSpPr>
          <p:cNvPr id="49" name="Shape 46"/>
          <p:cNvSpPr/>
          <p:nvPr/>
        </p:nvSpPr>
        <p:spPr>
          <a:xfrm>
            <a:off x="548640" y="4794504"/>
            <a:ext cx="5362956"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40080" y="4831080"/>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situation requires governments to act immediately</a:t>
            </a:r>
            <a:endParaRPr lang="en-US" sz="1250" dirty="0"/>
          </a:p>
        </p:txBody>
      </p:sp>
      <p:sp>
        <p:nvSpPr>
          <p:cNvPr id="53" name="Shape 50"/>
          <p:cNvSpPr/>
          <p:nvPr/>
        </p:nvSpPr>
        <p:spPr>
          <a:xfrm>
            <a:off x="640080" y="5202936"/>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Governments should wait</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action is required</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يَتَطَلَّبُ الوَضْعُ أَنْ تَتَحَرَّكَ الحُكُومَاتُ فَوْرًا.</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speaker's overall position?</a:t>
            </a:r>
            <a:endParaRPr lang="en-US" sz="1250" dirty="0"/>
          </a:p>
        </p:txBody>
      </p:sp>
      <p:sp>
        <p:nvSpPr>
          <p:cNvPr id="64" name="Shape 61"/>
          <p:cNvSpPr/>
          <p:nvPr/>
        </p:nvSpPr>
        <p:spPr>
          <a:xfrm>
            <a:off x="6368796"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Purely partisan</a:t>
            </a:r>
            <a:endParaRPr lang="en-US" sz="1250" dirty="0"/>
          </a:p>
        </p:txBody>
      </p:sp>
      <p:sp>
        <p:nvSpPr>
          <p:cNvPr id="67" name="Shape 64"/>
          <p:cNvSpPr/>
          <p:nvPr/>
        </p:nvSpPr>
        <p:spPr>
          <a:xfrm>
            <a:off x="6277356" y="5166360"/>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Balanced — social justice is a necessity, not a luxury</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clear position</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العَدَالَةُ الاجْتِمَاعِيَّةُ ضَرُورَةٌ لَا رَفَاهِيَةٌ</a:t>
            </a:r>
            <a:pPr algn="l" indent="0" marL="0">
              <a:buNone/>
            </a:pPr>
            <a:r>
              <a:rPr lang="en-US" sz="1050" i="1" dirty="0">
                <a:solidFill>
                  <a:srgbClr val="8A6D1E"/>
                </a:solidFill>
                <a:latin typeface="Calibri" pitchFamily="34" charset="0"/>
                <a:ea typeface="Calibri" pitchFamily="34" charset="-122"/>
                <a:cs typeface="Calibri" pitchFamily="34" charset="-120"/>
              </a:rPr>
              <a:t>, reached after conceding and refuting.</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P5-L12 · P5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2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Karim and Huda: who said what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says states must regulate the internet?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Huda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Karim</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Who concedes regulation is necessary but refutes restricting free expression?</a:t>
            </a:r>
            <a:endParaRPr lang="en-US" sz="120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Huda</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Karim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states the law prohibits selling personal data?</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Huda</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Karim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refuses that private correspondence be monitored?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Huda</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Karim</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makes the Type 2 counterfactual about digital governance?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Huda</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Karim</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concludes with a call for balance?</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Karim</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Huda</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P5-L12 · P5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2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Karim and Huda: who said what: answers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says states must regulate the internet?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Huda</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Karim</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كَرِيمٌ: يَجِبُ أَنْ تُنَظِّمَ الدُّوَلُ الإِنْتِرْنِتَ.</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Who concedes regulation is necessary but refutes restricting free expression?</a:t>
            </a:r>
            <a:endParaRPr lang="en-US" sz="120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Huda</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Karim</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34" charset="0"/>
                <a:ea typeface="Amiri" pitchFamily="34" charset="-122"/>
                <a:cs typeface="Amiri" pitchFamily="34" charset="-120"/>
              </a:rPr>
              <a:t>هُدَى: صَحِيحٌ أَنَّ التَّنْظِيمَ ضَرُورِيٌّ، غَيْرَ أَنَّهُ يَجِبُ أَلَّا يُقَيِّدَ حُرِّيَّةَ التَّعْبِيرِ.</a:t>
            </a:r>
            <a:endParaRPr lang="ar-SA"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states the law prohibits selling personal data?</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Huda</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Karim</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كَرِيمٌ: يَمْنَعُ القَانُونُ أَنْ تُبَاعَ البَيَانَاتُ الشَّخْصِيَّةُ.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refuses that private correspondence be monitored?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Huda</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Karim</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هُدَى: أَرْفُضُ أَنْ تُرَاقَبَ المُرَاسَلَاتُ الخَاصَّةُ دُونَ إِذْنٍ.</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makes the Type 2 counterfactual about digital governance?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Huda</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Karim</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34" charset="0"/>
                <a:ea typeface="Amiri" pitchFamily="34" charset="-122"/>
                <a:cs typeface="Amiri" pitchFamily="34" charset="-120"/>
              </a:rPr>
              <a:t>كَرِيمٌ: لَوْ وُضِعَتْ حَوْكَمَةٌ رَقْمِيَّةٌ مُتَوَازِنَةٌ، لَكَانَتِ الخُصُوصِيَّةُ أَكْثَرَ أَمَانًا.</a:t>
            </a:r>
            <a:endParaRPr lang="ar-SA" sz="10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concludes with a call for balance?</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Karim</a:t>
            </a:r>
            <a:endParaRPr lang="en-US" sz="1250" dirty="0"/>
          </a:p>
        </p:txBody>
      </p:sp>
      <p:sp>
        <p:nvSpPr>
          <p:cNvPr id="97" name="Shape 94"/>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827836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Huda</a:t>
            </a:r>
            <a:endParaRPr lang="en-US" sz="12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هُدَى: وَبِنَاءً عَلَى مَا سَبَقَ، لَا بُدَّ مِنَ التَّوَازُنِ بَيْنَ الأَمْنِ وَالحُرِّيَّةِ.</a:t>
            </a:r>
            <a:endParaRPr lang="ar-SA" sz="11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P5-L12 · P5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3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A young activist on youth empowerment</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Select a statement supported by the text (past perfect).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Earlier generations had struggled for independence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Youth are a small minority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Earlier generations did nothing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Select a statement supported by the text (yuʿīdu taʿrīfa).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This generation rejects participation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This generation redefines participation through digital media</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This generation repeats the past exactly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Select a statement supported by the text (concession-refutation).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Challenges are great, yet the energies are greater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are no challenges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challenges are insurmountable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Select a statement supported by the text (demand + insistence).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reject participation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insist on staying silent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They demand participation be opened and insist on being partners in decisions</a:t>
            </a:r>
            <a:endParaRPr lang="en-US" sz="120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Select a statement supported by the text (Type 2).</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Opportunities make no difference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opportunities been available, they would have changed their reality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Their reality cannot change</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Select a statement supported by the text (conclusion).</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Development needs no youth</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is no real development without youth empowerment</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Youth empowerment is a luxury</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P5-L12 · P5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3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ea typeface="Cambria" pitchFamily="34" charset="-122"/>
                <a:cs typeface="Cambria" pitchFamily="34" charset="-120"/>
              </a:rPr>
              <a:t>A young activist on youth empowerment: answers</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Select a statement supported by the text (past perfect).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Earlier generations had struggled for independence</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Youth are a small minority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Earlier generations did nothing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كَانَتِ الأَجْيَالُ السَّابِقَةُ قَدْ نَاضَلَتْ مِنْ أَجْلِ الاسْتِقْلَالِ.</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Select a statement supported by the text (yuʿīdu taʿrīfa).</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This generation rejects participation</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This generation redefines participation through digital media</a:t>
            </a:r>
            <a:endParaRPr lang="en-US" sz="11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This generation repeats the past exactly</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جِيلُنَا فَيُعِيدُ تَعْرِيفَ المُشَارَكَةِ عَبْرَ الوَسَائِطِ الرَّقْمِيَّةِ.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Select a statement supported by the text (concession-refutation).</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Challenges are great, yet the energies are greater</a:t>
            </a:r>
            <a:endParaRPr lang="en-US" sz="11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There are no challenges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challenges are insurmountable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صَحِيحٌ أَنَّ التَّحَدِّيَاتِ كَبِيرَةٌ، غَيْرَ أَنَّ الطَّاقَاتِ أَكْبَرُ.</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Select a statement supported by the text (demand + insistence).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reject participation</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insist on staying silent</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They demand participation be opened and insist on being partners in decisions</a:t>
            </a:r>
            <a:endParaRPr lang="en-US" sz="11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34" charset="0"/>
                <a:ea typeface="Amiri" pitchFamily="34" charset="-122"/>
                <a:cs typeface="Amiri" pitchFamily="34" charset="-120"/>
              </a:rPr>
              <a:t>نُطَالِبُ بِأَنْ تُفْتَحَ أَبْوَابُ المُشَارَكَةِ، وَنُصِرُّ عَلَى أَنْ نَكُونَ شُرَكَاءَ.</a:t>
            </a:r>
            <a:endParaRPr lang="ar-SA" sz="12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Select a statement supported by the text (Type 2).</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Opportunities make no difference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Had opportunities been available, they would have changed their reality</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Their reality cannot change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لَوْ أُتِيحَتْ لَنَا الفُرَصُ، لَغَيَّرْنَا وَاقِعَنَا.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Select a statement supported by the text (conclusion).</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Development needs no youth</a:t>
            </a:r>
            <a:endParaRPr lang="en-US" sz="1250" dirty="0"/>
          </a:p>
        </p:txBody>
      </p:sp>
      <p:sp>
        <p:nvSpPr>
          <p:cNvPr id="97" name="Shape 94"/>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827836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There is no real development without youth empowerment</a:t>
            </a:r>
            <a:endParaRPr lang="en-US" sz="11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Youth empowerment is a luxury</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وَبِنَاءً عَلَى مَا سَبَقَ، لَا تَنْمِيَةَ حَقِيقِيَّةً دُونَ تَمْكِينِ الشَّبَابِ.</a:t>
            </a:r>
            <a:endParaRPr lang="ar-SA" sz="130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P5-L12 · P5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PART B1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Social mobility and justice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التَّنَقُّلُ الاجْتِمَاعِيُّ وَالعَدَالَةُ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يُشَارُ إِلَى أَنَّ التَّنَقُّلَ الاجْتِمَاعِيَّ الصَّاعِدَ يُعَدُّ مِقْيَاسًا لِعَدَالَةِ أَيِّ مُجْتَمَعٍ. أَكَّدَ البَاحِثُونَ أَنَّ التَّعْلِيمَ الجَيِّدَ يُفْضِي إِلَى فُرَصٍ أَوْسَعَ، وَأَنَّ الحِرْمَانَ المُبَكِّرَ يُكَرِّسُ الفَقْرَ. صَحِيحٌ أَنَّ الدَّوْلَةَ تَتَّخِذُ إِجْرَاءَاتٍ لِدَعْمِ الفُقَرَاءِ، غَيْرَ أَنَّ المُعِيقَاتِ البِنْيَوِيَّةَ لَا تَزَالُ تَحُولُ دُونَ تَكَافُؤِ الفُرَصِ. وَكَانَتْ بَرَامِجُ كَثِيرَةٌ قَدْ تَعَثَّرَتْ بِسَبَبِ ضَعْفِ التَّمْوِيلِ. وَيُطَالِبُ الخُبَرَاءُ بِأَنْ يُعَادَ تَوْزِيعُ الفُرَصِ. وَلَوْ وُجِّهَ الدَّعْمُ إِلَى التَّعْلِيمِ المُبَكِّرِ، لَتَحَسَّنَتْ فُرَصُ الصُّعُودِ. وَبِنَاءً عَلَى مَا سَبَقَ، يَتَطَلَّبُ تَحْقِيقُ العَدَالَةِ أَنْ تُعِيدَ الدَّوْلَةُ تَوْزِيعَ الفُرَصِ لِكَيْ يَصْعَدَ الجَمِيعُ.</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P5-L12 · P5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QUESTIONS 1–5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 1–5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main thesis?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Mobility is unimportant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Upward social mobility measures the justice of a society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wealth matters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researchers confirm about education?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Good education leads to wider opportunities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Education has no effect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Education deepens poverty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many programmes done (past perfect)?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had all succeeded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were never launched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had stalled due to weak funding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Identify the concession structure and its purpose.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yushāru ilā anna: a thesis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ṣaḥīḥun anna: concedes, then refutes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law wujjiha: a conditional</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the argument balanced or one-sided?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One-sided: only praises the state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Balanced: concedes, then refutes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One-sided: only attacks the state</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P5-L12 · P5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Questions 1–5: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main thesis?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Mobility is unimportant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Upward social mobility measures the justice of a society</a:t>
            </a:r>
            <a:endParaRPr lang="en-US" sz="11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wealth matters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34" charset="0"/>
                <a:ea typeface="Amiri" pitchFamily="34" charset="-122"/>
                <a:cs typeface="Amiri" pitchFamily="34" charset="-120"/>
              </a:rPr>
              <a:t>يُشَارُ إِلَى أَنَّ التَّنَقُّلَ الاجْتِمَاعِيَّ الصَّاعِدَ يُعَدُّ مِقْيَاسًا لِعَدَالَةِ أَيِّ مُجْتَمَعٍ.</a:t>
            </a:r>
            <a:endParaRPr lang="ar-SA"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researchers confirm about education?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Good education leads to wider opportunities</a:t>
            </a:r>
            <a:endParaRPr lang="en-US" sz="11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Education has no effect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Education deepens poverty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أَكَّدَ البَاحِثُونَ أَنَّ التَّعْلِيمَ الجَيِّدَ يُفْضِي إِلَى فُرَصٍ أَوْسَعَ.</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many programmes done (past perfect)?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had all succeeded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were never launched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They had stalled due to weak funding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وَكَانَتْ بَرَامِجُ كَثِيرَةٌ قَدْ تَعَثَّرَتْ بِسَبَبِ ضَعْفِ التَّمْوِيلِ.</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Identify the concession structure and its purpose.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yushāru ilā anna: a thesis</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ṣaḥīḥun anna: concedes, then refutes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law wujjiha: a conditional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صَحِيحٌ أَنَّ</a:t>
            </a:r>
            <a:pPr algn="l" indent="0" marL="0">
              <a:buNone/>
            </a:pPr>
            <a:r>
              <a:rPr lang="en-US" sz="1050" i="1" dirty="0">
                <a:solidFill>
                  <a:srgbClr val="8A6D1E"/>
                </a:solidFill>
                <a:latin typeface="Calibri" pitchFamily="34" charset="0"/>
                <a:ea typeface="Calibri" pitchFamily="34" charset="-122"/>
                <a:cs typeface="Calibri" pitchFamily="34" charset="-120"/>
              </a:rPr>
              <a:t> concedes the state's action before the writer refutes it with </a:t>
            </a:r>
            <a:pPr algn="l" indent="0" marL="0">
              <a:buNone/>
            </a:pPr>
            <a:r>
              <a:rPr lang="ar-SA" altLang="en-US" sz="1350" dirty="0">
                <a:solidFill>
                  <a:srgbClr val="8A6D1E"/>
                </a:solidFill>
                <a:latin typeface="Amiri" pitchFamily="34" charset="0"/>
                <a:ea typeface="Amiri" pitchFamily="34" charset="-122"/>
                <a:cs typeface="Amiri" pitchFamily="34" charset="-120"/>
              </a:rPr>
              <a:t>غَيْرَ 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the argument balanced or one-sided?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One-sided: only praises the state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Balanced: concedes, then refutes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One-sided: only attacks the state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concedes (</a:t>
            </a:r>
            <a:pPr algn="l" indent="0" marL="0">
              <a:buNone/>
            </a:pPr>
            <a:r>
              <a:rPr lang="ar-SA" altLang="en-US" sz="1350" dirty="0">
                <a:solidFill>
                  <a:srgbClr val="8A6D1E"/>
                </a:solidFill>
                <a:latin typeface="Amiri" pitchFamily="34" charset="0"/>
                <a:ea typeface="Amiri" pitchFamily="34" charset="-122"/>
                <a:cs typeface="Amiri" pitchFamily="34" charset="-120"/>
              </a:rPr>
              <a:t>صَحِيحٌ أَنَّ</a:t>
            </a:r>
            <a:pPr algn="l" indent="0" marL="0">
              <a:buNone/>
            </a:pPr>
            <a:r>
              <a:rPr lang="en-US" sz="1050" i="1" dirty="0">
                <a:solidFill>
                  <a:srgbClr val="8A6D1E"/>
                </a:solidFill>
                <a:latin typeface="Calibri" pitchFamily="34" charset="0"/>
                <a:ea typeface="Calibri" pitchFamily="34" charset="-122"/>
                <a:cs typeface="Calibri" pitchFamily="34" charset="-120"/>
              </a:rPr>
              <a:t>) and refutes (</a:t>
            </a:r>
            <a:pPr algn="l" indent="0" marL="0">
              <a:buNone/>
            </a:pPr>
            <a:r>
              <a:rPr lang="ar-SA" altLang="en-US" sz="1350" dirty="0">
                <a:solidFill>
                  <a:srgbClr val="8A6D1E"/>
                </a:solidFill>
                <a:latin typeface="Amiri" pitchFamily="34" charset="0"/>
                <a:ea typeface="Amiri" pitchFamily="34" charset="-122"/>
                <a:cs typeface="Amiri" pitchFamily="34" charset="-120"/>
              </a:rPr>
              <a:t>غَيْرَ أَنَّ</a:t>
            </a:r>
            <a:pPr algn="l" indent="0" marL="0">
              <a:buNone/>
            </a:pPr>
            <a:r>
              <a:rPr lang="en-US" sz="1050" i="1" dirty="0">
                <a:solidFill>
                  <a:srgbClr val="8A6D1E"/>
                </a:solidFill>
                <a:latin typeface="Calibri" pitchFamily="34" charset="0"/>
                <a:ea typeface="Calibri" pitchFamily="34" charset="-122"/>
                <a:cs typeface="Calibri" pitchFamily="34" charset="-120"/>
              </a:rPr>
              <a:t>), so it is balanced.</a:t>
            </a:r>
            <a:endParaRPr lang="en-US" sz="10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P5-L12 · P5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QUESTIONS 6–10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argumentative purpose does the Type 2 serve?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implies past support was misdirected — an implicit criticism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praises current policy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reports a neutral fact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Gap-fill: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الدَّوْلَةَ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إِجْرَاءَاتٍ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تَتَّخِذَ</a:t>
            </a:r>
            <a:pPr algn="l" indent="0" marL="0">
              <a:buNone/>
            </a:pPr>
            <a:r>
              <a:rPr lang="en-US" sz="1250" dirty="0">
                <a:solidFill>
                  <a:srgbClr val="1F2A37"/>
                </a:solidFill>
                <a:latin typeface="Calibri" pitchFamily="34" charset="0"/>
                <a:ea typeface="Calibri" pitchFamily="34" charset="-122"/>
                <a:cs typeface="Calibri" pitchFamily="34" charset="-120"/>
              </a:rPr>
              <a:t> (subjunctive)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تَتَّخِذْ</a:t>
            </a:r>
            <a:pPr algn="l" indent="0" marL="0">
              <a:buNone/>
            </a:pPr>
            <a:r>
              <a:rPr lang="en-US" sz="1250" dirty="0">
                <a:solidFill>
                  <a:srgbClr val="1F2A37"/>
                </a:solidFill>
                <a:latin typeface="Calibri" pitchFamily="34" charset="0"/>
                <a:ea typeface="Calibri" pitchFamily="34" charset="-122"/>
                <a:cs typeface="Calibri" pitchFamily="34" charset="-120"/>
              </a:rPr>
              <a:t> (jussive)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تَتَّخِذُ</a:t>
            </a:r>
            <a:pPr algn="l" indent="0" marL="0">
              <a:buNone/>
            </a:pPr>
            <a:r>
              <a:rPr lang="en-US" sz="1250" dirty="0">
                <a:solidFill>
                  <a:srgbClr val="1F2A37"/>
                </a:solidFill>
                <a:latin typeface="Calibri" pitchFamily="34" charset="0"/>
                <a:ea typeface="Calibri" pitchFamily="34" charset="-122"/>
                <a:cs typeface="Calibri" pitchFamily="34" charset="-120"/>
              </a:rPr>
              <a:t> (indicative)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Gap-fill: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تَحْقِيقُ العَدَالَةِ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الدَّوْلَةُ تَوْزِيعَ الفُرَصِ</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تُعِيدُ</a:t>
            </a:r>
            <a:pPr algn="l" indent="0" marL="0">
              <a:buNone/>
            </a:pPr>
            <a:r>
              <a:rPr lang="en-US" sz="1250" dirty="0">
                <a:solidFill>
                  <a:srgbClr val="1F2A37"/>
                </a:solidFill>
                <a:latin typeface="Calibri" pitchFamily="34" charset="0"/>
                <a:ea typeface="Calibri" pitchFamily="34" charset="-122"/>
                <a:cs typeface="Calibri" pitchFamily="34" charset="-120"/>
              </a:rPr>
              <a:t> (indicative)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تُعِيدَ</a:t>
            </a:r>
            <a:pPr algn="l" indent="0" marL="0">
              <a:buNone/>
            </a:pPr>
            <a:r>
              <a:rPr lang="en-US" sz="1250" dirty="0">
                <a:solidFill>
                  <a:srgbClr val="1F2A37"/>
                </a:solidFill>
                <a:latin typeface="Calibri" pitchFamily="34" charset="0"/>
                <a:ea typeface="Calibri" pitchFamily="34" charset="-122"/>
                <a:cs typeface="Calibri" pitchFamily="34" charset="-120"/>
              </a:rPr>
              <a:t> (subjunctive)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تُعِيدْ</a:t>
            </a:r>
            <a:pPr algn="l" indent="0" marL="0">
              <a:buNone/>
            </a:pPr>
            <a:r>
              <a:rPr lang="en-US" sz="1250" dirty="0">
                <a:solidFill>
                  <a:srgbClr val="1F2A37"/>
                </a:solidFill>
                <a:latin typeface="Calibri" pitchFamily="34" charset="0"/>
                <a:ea typeface="Calibri" pitchFamily="34" charset="-122"/>
                <a:cs typeface="Calibri" pitchFamily="34" charset="-120"/>
              </a:rPr>
              <a:t> (jussive)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Gap-fill: </a:t>
            </a:r>
            <a:pPr algn="l" indent="0" marL="0">
              <a:buNone/>
            </a:pPr>
            <a:r>
              <a:rPr lang="ar-SA" altLang="en-US" sz="1650" b="1" dirty="0">
                <a:solidFill>
                  <a:srgbClr val="1B3B6F"/>
                </a:solidFill>
                <a:latin typeface="Amiri" pitchFamily="34" charset="0"/>
                <a:ea typeface="Amiri" pitchFamily="34" charset="-122"/>
                <a:cs typeface="Amiri" pitchFamily="34" charset="-120"/>
              </a:rPr>
              <a:t>يُطَالِبُ الخُبَرَاءُ</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أَنْ يُعَادَ تَوْزِيعُ الفُرَصِ</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purpose of the text?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report the news only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entertain only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argue that the state must redistribute opportunities for justice</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P5-L12 · P5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Questions 6–10: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argumentative purpose does the Type 2 serve?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implies past support was misdirected — an implicit criticism</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praises current policy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reports a neutral fact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 وُجِّهَ الدَّعْمُ … لَتَحَسَّنَتْ</a:t>
            </a:r>
            <a:pPr algn="l" indent="0" marL="0">
              <a:buNone/>
            </a:pPr>
            <a:r>
              <a:rPr lang="en-US" sz="1050" i="1" dirty="0">
                <a:solidFill>
                  <a:srgbClr val="8A6D1E"/>
                </a:solidFill>
                <a:latin typeface="Calibri" pitchFamily="34" charset="0"/>
                <a:ea typeface="Calibri" pitchFamily="34" charset="-122"/>
                <a:cs typeface="Calibri" pitchFamily="34" charset="-120"/>
              </a:rPr>
              <a:t> implies the support was not well directed.</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Gap-fill: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الدَّوْلَةَ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إِجْرَاءَاتٍ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تَتَّخِذَ</a:t>
            </a:r>
            <a:pPr algn="l" indent="0" marL="0">
              <a:buNone/>
            </a:pPr>
            <a:r>
              <a:rPr lang="en-US" sz="1250" dirty="0">
                <a:solidFill>
                  <a:srgbClr val="9AA1AB"/>
                </a:solidFill>
                <a:latin typeface="Calibri" pitchFamily="34" charset="0"/>
                <a:ea typeface="Calibri" pitchFamily="34" charset="-122"/>
                <a:cs typeface="Calibri" pitchFamily="34" charset="-120"/>
              </a:rPr>
              <a:t> (subjunctive)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تَتَّخِذْ</a:t>
            </a:r>
            <a:pPr algn="l" indent="0" marL="0">
              <a:buNone/>
            </a:pPr>
            <a:r>
              <a:rPr lang="en-US" sz="1250" dirty="0">
                <a:solidFill>
                  <a:srgbClr val="9AA1AB"/>
                </a:solidFill>
                <a:latin typeface="Calibri" pitchFamily="34" charset="0"/>
                <a:ea typeface="Calibri" pitchFamily="34" charset="-122"/>
                <a:cs typeface="Calibri" pitchFamily="34" charset="-120"/>
              </a:rPr>
              <a:t> (jussive)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34" charset="0"/>
                <a:ea typeface="Amiri" pitchFamily="34" charset="-122"/>
                <a:cs typeface="Amiri" pitchFamily="34" charset="-120"/>
              </a:rPr>
              <a:t>تَتَّخِذُ</a:t>
            </a:r>
            <a:pPr algn="l" indent="0" marL="0">
              <a:buNone/>
            </a:pPr>
            <a:r>
              <a:rPr lang="en-US" sz="1250" b="1" dirty="0">
                <a:solidFill>
                  <a:srgbClr val="1F2A37"/>
                </a:solidFill>
                <a:latin typeface="Calibri" pitchFamily="34" charset="0"/>
                <a:ea typeface="Calibri" pitchFamily="34" charset="-122"/>
                <a:cs typeface="Calibri" pitchFamily="34" charset="-120"/>
              </a:rPr>
              <a:t> (indicative)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صَحِيحٌ أَنَّ</a:t>
            </a:r>
            <a:pPr algn="l" indent="0" marL="0">
              <a:buNone/>
            </a:pPr>
            <a:r>
              <a:rPr lang="en-US" sz="1050" i="1" dirty="0">
                <a:solidFill>
                  <a:srgbClr val="8A6D1E"/>
                </a:solidFill>
                <a:latin typeface="Calibri" pitchFamily="34" charset="0"/>
                <a:ea typeface="Calibri" pitchFamily="34" charset="-122"/>
                <a:cs typeface="Calibri" pitchFamily="34" charset="-120"/>
              </a:rPr>
              <a:t> the verb is indicative — it describes a real situation.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Gap-fill: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تَحْقِيقُ العَدَالَةِ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الدَّوْلَةُ تَوْزِيعَ الفُرَصِ</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تُعِيدُ</a:t>
            </a:r>
            <a:pPr algn="l" indent="0" marL="0">
              <a:buNone/>
            </a:pPr>
            <a:r>
              <a:rPr lang="en-US" sz="1250" dirty="0">
                <a:solidFill>
                  <a:srgbClr val="9AA1AB"/>
                </a:solidFill>
                <a:latin typeface="Calibri" pitchFamily="34" charset="0"/>
                <a:ea typeface="Calibri" pitchFamily="34" charset="-122"/>
                <a:cs typeface="Calibri" pitchFamily="34" charset="-120"/>
              </a:rPr>
              <a:t> (indicative)</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34" charset="0"/>
                <a:ea typeface="Amiri" pitchFamily="34" charset="-122"/>
                <a:cs typeface="Amiri" pitchFamily="34" charset="-120"/>
              </a:rPr>
              <a:t>تُعِيدَ</a:t>
            </a:r>
            <a:pPr algn="l" indent="0" marL="0">
              <a:buNone/>
            </a:pPr>
            <a:r>
              <a:rPr lang="en-US" sz="1250" b="1" dirty="0">
                <a:solidFill>
                  <a:srgbClr val="1F2A37"/>
                </a:solidFill>
                <a:latin typeface="Calibri" pitchFamily="34" charset="0"/>
                <a:ea typeface="Calibri" pitchFamily="34" charset="-122"/>
                <a:cs typeface="Calibri" pitchFamily="34" charset="-120"/>
              </a:rPr>
              <a:t> (subjunctive)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تُعِيدْ</a:t>
            </a:r>
            <a:pPr algn="l" indent="0" marL="0">
              <a:buNone/>
            </a:pPr>
            <a:r>
              <a:rPr lang="en-US" sz="1250" dirty="0">
                <a:solidFill>
                  <a:srgbClr val="9AA1AB"/>
                </a:solidFill>
                <a:latin typeface="Calibri" pitchFamily="34" charset="0"/>
                <a:ea typeface="Calibri" pitchFamily="34" charset="-122"/>
                <a:cs typeface="Calibri" pitchFamily="34" charset="-120"/>
              </a:rPr>
              <a:t> (jussive)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(with </a:t>
            </a:r>
            <a:pPr algn="l" indent="0" marL="0">
              <a:buNone/>
            </a:pPr>
            <a:r>
              <a:rPr lang="ar-SA" altLang="en-US" sz="1350" dirty="0">
                <a:solidFill>
                  <a:srgbClr val="8A6D1E"/>
                </a:solidFill>
                <a:latin typeface="Amiri" pitchFamily="34" charset="0"/>
                <a:ea typeface="Amiri" pitchFamily="34" charset="-122"/>
                <a:cs typeface="Amiri" pitchFamily="34" charset="-120"/>
              </a:rPr>
              <a:t>يَتَطَلَّبُ</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تُعِيدَ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Gap-fill: </a:t>
            </a:r>
            <a:pPr algn="l" indent="0" marL="0">
              <a:buNone/>
            </a:pPr>
            <a:r>
              <a:rPr lang="ar-SA" altLang="en-US" sz="1650" b="1" dirty="0">
                <a:solidFill>
                  <a:srgbClr val="1B3B6F"/>
                </a:solidFill>
                <a:latin typeface="Amiri" pitchFamily="34" charset="0"/>
                <a:ea typeface="Amiri" pitchFamily="34" charset="-122"/>
                <a:cs typeface="Amiri" pitchFamily="34" charset="-120"/>
              </a:rPr>
              <a:t>يُطَالِبُ الخُبَرَاءُ</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أَنْ يُعَادَ تَوْزِيعُ الفُرَصِ</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يُطَالِبُ</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before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purpose of the text?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report the news only</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entertain only</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To argue that the state must redistribute opportunities for justice</a:t>
            </a:r>
            <a:endParaRPr lang="en-US" sz="11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يَتَطَلَّبُ تَحْقِيقُ العَدَالَةِ أَنْ تُعِيدَ الدَّوْلَةُ تَوْزِيعَ الفُرَصِ.</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P5-L12 · P5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WRITING · QUESTION 1 · ARGUMENT FORM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Complete the argument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اسْتِمَارَةُ الحُجَّةِ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02752" y="1810512"/>
            <a:ext cx="3355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Your answer in Arabic</a:t>
            </a:r>
            <a:endParaRPr lang="en-US" sz="1100" dirty="0"/>
          </a:p>
        </p:txBody>
      </p:sp>
      <p:sp>
        <p:nvSpPr>
          <p:cNvPr id="17" name="Text 14"/>
          <p:cNvSpPr txBox="1"/>
          <p:nvPr/>
        </p:nvSpPr>
        <p:spPr>
          <a:xfrm>
            <a:off x="409651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 label</a:t>
            </a:r>
            <a:endParaRPr lang="en-US" sz="1100" dirty="0"/>
          </a:p>
        </p:txBody>
      </p:sp>
      <p:sp>
        <p:nvSpPr>
          <p:cNvPr id="18" name="Text 15"/>
          <p:cNvSpPr txBox="1"/>
          <p:nvPr/>
        </p:nvSpPr>
        <p:spPr>
          <a:xfrm>
            <a:off x="53035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Field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339328" y="2267712"/>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1" name="Text 18"/>
          <p:cNvSpPr txBox="1"/>
          <p:nvPr/>
        </p:nvSpPr>
        <p:spPr>
          <a:xfrm>
            <a:off x="4114800" y="2267712"/>
            <a:ext cx="40233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القَضِيَّةُ الاجْتِمَاعِيَّةُ الرَّئِيسِيَّةُ الَّتِي تُعَالِجُهَا</a:t>
            </a:r>
            <a:endParaRPr lang="ar-SA" sz="1600" dirty="0"/>
          </a:p>
        </p:txBody>
      </p:sp>
      <p:sp>
        <p:nvSpPr>
          <p:cNvPr id="22" name="Text 19"/>
          <p:cNvSpPr txBox="1"/>
          <p:nvPr/>
        </p:nvSpPr>
        <p:spPr>
          <a:xfrm>
            <a:off x="566928" y="2267712"/>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The main social issue you are addressing</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339328" y="3004718"/>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7" name="Text 24"/>
          <p:cNvSpPr txBox="1"/>
          <p:nvPr/>
        </p:nvSpPr>
        <p:spPr>
          <a:xfrm>
            <a:off x="4114800" y="3004718"/>
            <a:ext cx="40233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دَلِيلٌ إِحْصَائِيٌّ بِكَلَامٍ مَنْقُولٍ</a:t>
            </a:r>
            <a:endParaRPr lang="ar-SA" sz="1600" dirty="0"/>
          </a:p>
        </p:txBody>
      </p:sp>
      <p:sp>
        <p:nvSpPr>
          <p:cNvPr id="28" name="Text 25"/>
          <p:cNvSpPr txBox="1"/>
          <p:nvPr/>
        </p:nvSpPr>
        <p:spPr>
          <a:xfrm>
            <a:off x="566928" y="3004718"/>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A statistical piece of evidence using reported speech</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339328" y="3741725"/>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3" name="Text 30"/>
          <p:cNvSpPr txBox="1"/>
          <p:nvPr/>
        </p:nvSpPr>
        <p:spPr>
          <a:xfrm>
            <a:off x="4114800" y="3741725"/>
            <a:ext cx="40233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تَسْلِيمٌ بِالرَّأْيِ المُضَادِّ</a:t>
            </a:r>
            <a:endParaRPr lang="ar-SA" sz="1600" dirty="0"/>
          </a:p>
        </p:txBody>
      </p:sp>
      <p:sp>
        <p:nvSpPr>
          <p:cNvPr id="34" name="Text 31"/>
          <p:cNvSpPr txBox="1"/>
          <p:nvPr/>
        </p:nvSpPr>
        <p:spPr>
          <a:xfrm>
            <a:off x="566928" y="3741725"/>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A concession of the opposing view using ṣaḥīḥun anna + a verb in -u</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8339328" y="4478731"/>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9" name="Text 36"/>
          <p:cNvSpPr txBox="1"/>
          <p:nvPr/>
        </p:nvSpPr>
        <p:spPr>
          <a:xfrm>
            <a:off x="4114800" y="4478731"/>
            <a:ext cx="40233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رَدٌّ</a:t>
            </a:r>
            <a:endParaRPr lang="ar-SA" sz="1600" dirty="0"/>
          </a:p>
        </p:txBody>
      </p:sp>
      <p:sp>
        <p:nvSpPr>
          <p:cNvPr id="40" name="Text 37"/>
          <p:cNvSpPr txBox="1"/>
          <p:nvPr/>
        </p:nvSpPr>
        <p:spPr>
          <a:xfrm>
            <a:off x="566928" y="4478731"/>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A refutation using ghayra anna</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8339328" y="5215738"/>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45" name="Text 42"/>
          <p:cNvSpPr txBox="1"/>
          <p:nvPr/>
        </p:nvSpPr>
        <p:spPr>
          <a:xfrm>
            <a:off x="4114800" y="5215738"/>
            <a:ext cx="40233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خَاتِمَةٌ</a:t>
            </a:r>
            <a:endParaRPr lang="ar-SA" sz="1600" dirty="0"/>
          </a:p>
        </p:txBody>
      </p:sp>
      <p:sp>
        <p:nvSpPr>
          <p:cNvPr id="46" name="Text 43"/>
          <p:cNvSpPr txBox="1"/>
          <p:nvPr/>
        </p:nvSpPr>
        <p:spPr>
          <a:xfrm>
            <a:off x="566928" y="5215738"/>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 A conclusion using wa-bināʾan ʿalā mā sabaqa + a subjunctive verb</a:t>
            </a:r>
            <a:endParaRPr lang="en-US" sz="110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Example: </a:t>
            </a:r>
            <a:pPr algn="l" indent="0" marL="0">
              <a:buNone/>
            </a:pPr>
            <a:r>
              <a:rPr lang="ar-SA" altLang="en-US" sz="1450" b="1" dirty="0">
                <a:solidFill>
                  <a:srgbClr val="1B3B6F"/>
                </a:solidFill>
                <a:latin typeface="Amiri" pitchFamily="34" charset="0"/>
                <a:ea typeface="Amiri" pitchFamily="34" charset="-122"/>
                <a:cs typeface="Amiri" pitchFamily="34" charset="-120"/>
              </a:rPr>
              <a:t>الفَجْوَةُ الرَّقْمِيَّةُ</a:t>
            </a:r>
            <a:pPr algn="l" indent="0" marL="0">
              <a:buNone/>
            </a:pPr>
            <a:r>
              <a:rPr lang="en-US" sz="1100" b="1" dirty="0">
                <a:solidFill>
                  <a:srgbClr val="1B3B6F"/>
                </a:solidFill>
                <a:latin typeface="Calibri" pitchFamily="34" charset="0"/>
                <a:ea typeface="Calibri" pitchFamily="34" charset="-122"/>
                <a:cs typeface="Calibri" pitchFamily="34" charset="-120"/>
              </a:rPr>
              <a:t> · </a:t>
            </a:r>
            <a:pPr algn="l" indent="0" marL="0">
              <a:buNone/>
            </a:pPr>
            <a:r>
              <a:rPr lang="ar-SA" altLang="en-US" sz="1450" b="1" dirty="0">
                <a:solidFill>
                  <a:srgbClr val="1B3B6F"/>
                </a:solidFill>
                <a:latin typeface="Amiri" pitchFamily="34" charset="0"/>
                <a:ea typeface="Amiri" pitchFamily="34" charset="-122"/>
                <a:cs typeface="Amiri" pitchFamily="34" charset="-120"/>
              </a:rPr>
              <a:t>أَكَّدَتِ الدِّرَاسَاتُ أَنَّ</a:t>
            </a:r>
            <a:pPr algn="l" indent="0" marL="0">
              <a:buNone/>
            </a:pPr>
            <a:r>
              <a:rPr lang="en-US" sz="1100" b="1" dirty="0">
                <a:solidFill>
                  <a:srgbClr val="1B3B6F"/>
                </a:solidFill>
                <a:latin typeface="Calibri" pitchFamily="34" charset="0"/>
                <a:ea typeface="Calibri" pitchFamily="34" charset="-122"/>
                <a:cs typeface="Calibri" pitchFamily="34" charset="-120"/>
              </a:rPr>
              <a:t> … · </a:t>
            </a:r>
            <a:pPr algn="l" indent="0" marL="0">
              <a:buNone/>
            </a:pPr>
            <a:r>
              <a:rPr lang="ar-SA" altLang="en-US" sz="1450" b="1" dirty="0">
                <a:solidFill>
                  <a:srgbClr val="1B3B6F"/>
                </a:solidFill>
                <a:latin typeface="Amiri" pitchFamily="34" charset="0"/>
                <a:ea typeface="Amiri" pitchFamily="34" charset="-122"/>
                <a:cs typeface="Amiri" pitchFamily="34" charset="-120"/>
              </a:rPr>
              <a:t>صَحِيحٌ أَنَّ التِّقْنِيَّةَ تُوَفِّرُ فُرَصًا</a:t>
            </a:r>
            <a:pPr algn="l" indent="0" marL="0">
              <a:buNone/>
            </a:pPr>
            <a:r>
              <a:rPr lang="en-US" sz="1100" b="1" dirty="0">
                <a:solidFill>
                  <a:srgbClr val="1B3B6F"/>
                </a:solidFill>
                <a:latin typeface="Calibri" pitchFamily="34" charset="0"/>
                <a:ea typeface="Calibri" pitchFamily="34" charset="-122"/>
                <a:cs typeface="Calibri" pitchFamily="34" charset="-120"/>
              </a:rPr>
              <a:t> · </a:t>
            </a:r>
            <a:pPr algn="l" indent="0" marL="0">
              <a:buNone/>
            </a:pPr>
            <a:r>
              <a:rPr lang="ar-SA" altLang="en-US" sz="1450" b="1" dirty="0">
                <a:solidFill>
                  <a:srgbClr val="1B3B6F"/>
                </a:solidFill>
                <a:latin typeface="Amiri" pitchFamily="34" charset="0"/>
                <a:ea typeface="Amiri" pitchFamily="34" charset="-122"/>
                <a:cs typeface="Amiri" pitchFamily="34" charset="-120"/>
              </a:rPr>
              <a:t>غَيْرَ أَنَّهَا تُعَمِّقُ الفَجْوَةَ</a:t>
            </a:r>
            <a:pPr algn="l" indent="0" marL="0">
              <a:buNone/>
            </a:pPr>
            <a:r>
              <a:rPr lang="en-US" sz="1100" b="1" dirty="0">
                <a:solidFill>
                  <a:srgbClr val="1B3B6F"/>
                </a:solidFill>
                <a:latin typeface="Calibri" pitchFamily="34" charset="0"/>
                <a:ea typeface="Calibri" pitchFamily="34" charset="-122"/>
                <a:cs typeface="Calibri" pitchFamily="34" charset="-120"/>
              </a:rPr>
              <a:t> · </a:t>
            </a:r>
            <a:pPr algn="l" indent="0" marL="0">
              <a:buNone/>
            </a:pPr>
            <a:r>
              <a:rPr lang="ar-SA" altLang="en-US" sz="1450" b="1" dirty="0">
                <a:solidFill>
                  <a:srgbClr val="1B3B6F"/>
                </a:solidFill>
                <a:latin typeface="Amiri" pitchFamily="34" charset="0"/>
                <a:ea typeface="Amiri" pitchFamily="34" charset="-122"/>
                <a:cs typeface="Amiri" pitchFamily="34" charset="-120"/>
              </a:rPr>
              <a:t>وَبِنَاءً عَلَى مَا سَبَقَ، يَتَطَلَّبُ الأَمْرُ أَنْ نَسْتَثْمِرَ</a:t>
            </a:r>
            <a:pPr algn="l" indent="0" marL="0">
              <a:buNone/>
            </a:pPr>
            <a:r>
              <a:rPr lang="en-US" sz="1100" b="1" dirty="0">
                <a:solidFill>
                  <a:srgbClr val="1B3B6F"/>
                </a:solidFill>
                <a:latin typeface="Calibri" pitchFamily="34" charset="0"/>
                <a:ea typeface="Calibri" pitchFamily="34" charset="-122"/>
                <a:cs typeface="Calibri" pitchFamily="34" charset="-120"/>
              </a:rPr>
              <a:t> …</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P5-L12 · P5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13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WRITING · QUESTION 2 · 150–165 WORDS · 15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 argumentative essay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مَقَالٌ حِجَاجِيٌّ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7" name="Text 14"/>
          <p:cNvSpPr txBox="1"/>
          <p:nvPr/>
        </p:nvSpPr>
        <p:spPr>
          <a:xfrm>
            <a:off x="53035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Website mark scheme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7516368" y="2267712"/>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Task completion (TC) /5</a:t>
            </a:r>
            <a:endParaRPr lang="en-US" sz="1100" dirty="0"/>
          </a:p>
        </p:txBody>
      </p:sp>
      <p:sp>
        <p:nvSpPr>
          <p:cNvPr id="20" name="Text 17"/>
          <p:cNvSpPr txBox="1"/>
          <p:nvPr/>
        </p:nvSpPr>
        <p:spPr>
          <a:xfrm>
            <a:off x="566928" y="2267712"/>
            <a:ext cx="6766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clear thesis (a position, not just a topic) and statistical evidence with reported speech. · A genuine concession (ṣaḥīḥun anna) and a clear refutation (ghayra anna). · A formal conclusion connector (wa-bināʾan ʿalā mā sabaqa) + a subjunctive; 150-165 words.</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516368" y="3054096"/>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Range /5</a:t>
            </a:r>
            <a:endParaRPr lang="en-US" sz="1100" dirty="0"/>
          </a:p>
        </p:txBody>
      </p:sp>
      <p:sp>
        <p:nvSpPr>
          <p:cNvPr id="25" name="Text 22"/>
          <p:cNvSpPr txBox="1"/>
          <p:nvPr/>
        </p:nvSpPr>
        <p:spPr>
          <a:xfrm>
            <a:off x="566928" y="3054096"/>
            <a:ext cx="6766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Reported speech with a verb other than qāla, and a Type 2 conditional. · A subjunctive trigger from P4 or P5 (yataṭallabu / yuṭālibu / yuṣirru / yamnaʿu / yarfuḍu an …). · A concession structure (ṣaḥīḥun anna / bi-l-raghmi min) and a formal conclusion connector.</a:t>
            </a:r>
            <a:endParaRPr lang="en-US" sz="11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7516368" y="3840480"/>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Accuracy /5</a:t>
            </a:r>
            <a:endParaRPr lang="en-US" sz="1100" dirty="0"/>
          </a:p>
        </p:txBody>
      </p:sp>
      <p:sp>
        <p:nvSpPr>
          <p:cNvPr id="30" name="Text 27"/>
          <p:cNvSpPr txBox="1"/>
          <p:nvPr/>
        </p:nvSpPr>
        <p:spPr>
          <a:xfrm>
            <a:off x="566928" y="3840480"/>
            <a:ext cx="6766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subjunctive -a marker after every trigger, and correct an vs anna (2 marks). · The Type 2 la- prefix in the result clause (2 marks). · The correct indicative after ṣaḥīḥun anna (1 mark) — the primary P5 accuracy criterion.</a:t>
            </a:r>
            <a:endParaRPr lang="en-US" sz="11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Independent evidence: no translation software or AI. Plan the four paragraphs (P5-L09): thesis · evidence · concession + refutation · conclusion — and tick the nine Range markers.</a:t>
            </a:r>
            <a:endParaRPr lang="en-US" sz="110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28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P5-L12 · P5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SPEAKING · PART C · ROLE PLAY · 4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Role play: a social-justice conference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فِي مُؤْتَمَرِ العَدَالَةِ الاجْتِمَاعِيَّةِ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is assessed</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Prompt (website)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601968" y="2267712"/>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Introduce the social issue you are addressing; evidence and reported speech expected.</a:t>
            </a:r>
            <a:endParaRPr lang="en-US" sz="1100" dirty="0"/>
          </a:p>
        </p:txBody>
      </p:sp>
      <p:sp>
        <p:nvSpPr>
          <p:cNvPr id="20" name="Text 17"/>
          <p:cNvSpPr txBox="1"/>
          <p:nvPr/>
        </p:nvSpPr>
        <p:spPr>
          <a:xfrm>
            <a:off x="54864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قَدِّمِ القَضِيَّةَ الاجْتِمَاعِيَّةَ الَّتِي تُعَالِجُهَا.</a:t>
            </a:r>
            <a:endParaRPr lang="ar-SA" sz="1700" dirty="0"/>
          </a:p>
        </p:txBody>
      </p:sp>
      <p:sp>
        <p:nvSpPr>
          <p:cNvPr id="21" name="Shape 18"/>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2" name="Text 19"/>
          <p:cNvSpPr txBox="1"/>
          <p:nvPr/>
        </p:nvSpPr>
        <p:spPr>
          <a:xfrm>
            <a:off x="6601968" y="3054096"/>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Say what you agree with in the opposing position using ṣaḥīḥun anna + a real concession (an accuracy mark).</a:t>
            </a:r>
            <a:endParaRPr lang="en-US" sz="1100" dirty="0"/>
          </a:p>
        </p:txBody>
      </p:sp>
      <p:sp>
        <p:nvSpPr>
          <p:cNvPr id="23" name="Text 20"/>
          <p:cNvSpPr txBox="1"/>
          <p:nvPr/>
        </p:nvSpPr>
        <p:spPr>
          <a:xfrm>
            <a:off x="548640" y="3054096"/>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قُلْ مَا الَّذِي تُوَافِقُ عَلَيْهِ فِي المَوْقِفِ المُضَادِّ.</a:t>
            </a:r>
            <a:endParaRPr lang="ar-SA" sz="1700" dirty="0"/>
          </a:p>
        </p:txBody>
      </p:sp>
      <p:sp>
        <p:nvSpPr>
          <p:cNvPr id="24" name="Shape 2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5" name="Text 22"/>
          <p:cNvSpPr txBox="1"/>
          <p:nvPr/>
        </p:nvSpPr>
        <p:spPr>
          <a:xfrm>
            <a:off x="6601968" y="3840480"/>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Give your strongest counter-argument using ghayra anna + a refutation (an accuracy mark).</a:t>
            </a:r>
            <a:endParaRPr lang="en-US" sz="1100" dirty="0"/>
          </a:p>
        </p:txBody>
      </p:sp>
      <p:sp>
        <p:nvSpPr>
          <p:cNvPr id="26" name="Text 23"/>
          <p:cNvSpPr txBox="1"/>
          <p:nvPr/>
        </p:nvSpPr>
        <p:spPr>
          <a:xfrm>
            <a:off x="54864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اعْرِضْ حُجَّتَكَ الأَقْوَى.</a:t>
            </a:r>
            <a:endParaRPr lang="ar-SA" sz="1700" dirty="0"/>
          </a:p>
        </p:txBody>
      </p:sp>
      <p:sp>
        <p:nvSpPr>
          <p:cNvPr id="27" name="Shape 2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6601968" y="4626864"/>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State what the solution requires using yataṭallabu an + a verb in -a.</a:t>
            </a:r>
            <a:endParaRPr lang="en-US" sz="1100" dirty="0"/>
          </a:p>
        </p:txBody>
      </p:sp>
      <p:sp>
        <p:nvSpPr>
          <p:cNvPr id="29" name="Text 26"/>
          <p:cNvSpPr txBox="1"/>
          <p:nvPr/>
        </p:nvSpPr>
        <p:spPr>
          <a:xfrm>
            <a:off x="54864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اذْكُرْ مَا الَّذِي يَتَطَلَّبُهُ الحَلُّ.</a:t>
            </a:r>
            <a:endParaRPr lang="ar-SA" sz="1700" dirty="0"/>
          </a:p>
        </p:txBody>
      </p:sp>
      <p:sp>
        <p:nvSpPr>
          <p:cNvPr id="30" name="Text 2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Marks (website): communication 2 · accuracy 2 (a genuine concession with ṣaḥīḥun anna in prompt 2 · a refutation with ghayra anna in prompt 3).</a:t>
            </a:r>
            <a:endParaRPr lang="en-US" sz="115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28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P5-L12 · P5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SPEAKING · PART C · TOPIC CONVERSATION · 6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Topic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المُحَادَثَةُ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291072" y="1810512"/>
            <a:ext cx="5367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 → required</a:t>
            </a:r>
            <a:endParaRPr lang="en-US" sz="1100" dirty="0"/>
          </a:p>
        </p:txBody>
      </p:sp>
      <p:sp>
        <p:nvSpPr>
          <p:cNvPr id="17" name="Text 14"/>
          <p:cNvSpPr txBox="1"/>
          <p:nvPr/>
        </p:nvSpPr>
        <p:spPr>
          <a:xfrm>
            <a:off x="530352" y="1810512"/>
            <a:ext cx="5614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 (website)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327648" y="2267712"/>
            <a:ext cx="5330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is the biggest social challenge facing the Arab world today? → a full argument with evidence expected</a:t>
            </a:r>
            <a:endParaRPr lang="en-US" sz="1100" dirty="0"/>
          </a:p>
        </p:txBody>
      </p:sp>
      <p:sp>
        <p:nvSpPr>
          <p:cNvPr id="20" name="Text 17"/>
          <p:cNvSpPr txBox="1"/>
          <p:nvPr/>
        </p:nvSpPr>
        <p:spPr>
          <a:xfrm>
            <a:off x="548640" y="2267712"/>
            <a:ext cx="55778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مَا أَكْبَرُ تَحَدٍّ اجْتِمَاعِيٍّ يُوَاجِهُ العَالَمَ العَرَبِيَّ اليَوْمَ؟</a:t>
            </a:r>
            <a:endParaRPr lang="ar-SA" sz="1600" dirty="0"/>
          </a:p>
        </p:txBody>
      </p:sp>
      <p:sp>
        <p:nvSpPr>
          <p:cNvPr id="21" name="Shape 18"/>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2" name="Text 19"/>
          <p:cNvSpPr txBox="1"/>
          <p:nvPr/>
        </p:nvSpPr>
        <p:spPr>
          <a:xfrm>
            <a:off x="6327648" y="3054096"/>
            <a:ext cx="5330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 you think technology deepens or reduces inequality? → concession-refutation expected</a:t>
            </a:r>
            <a:endParaRPr lang="en-US" sz="1100" dirty="0"/>
          </a:p>
        </p:txBody>
      </p:sp>
      <p:sp>
        <p:nvSpPr>
          <p:cNvPr id="23" name="Text 20"/>
          <p:cNvSpPr txBox="1"/>
          <p:nvPr/>
        </p:nvSpPr>
        <p:spPr>
          <a:xfrm>
            <a:off x="548640" y="3054096"/>
            <a:ext cx="55778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هَلْ تَعْتَقِدُ أَنَّ التَّكْنُولُوجِيَا تُعَمِّقُ أَمْ تُقَلِّلُ عَدَمَ المُسَاوَاةِ؟</a:t>
            </a:r>
            <a:endParaRPr lang="ar-SA" sz="1600" dirty="0"/>
          </a:p>
        </p:txBody>
      </p:sp>
      <p:sp>
        <p:nvSpPr>
          <p:cNvPr id="24" name="Shape 2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5" name="Text 22"/>
          <p:cNvSpPr txBox="1"/>
          <p:nvPr/>
        </p:nvSpPr>
        <p:spPr>
          <a:xfrm>
            <a:off x="6327648" y="3840480"/>
            <a:ext cx="5330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If you were in a position of power, what would you change first? → Type 2 conditional required</a:t>
            </a:r>
            <a:endParaRPr lang="en-US" sz="1100" dirty="0"/>
          </a:p>
        </p:txBody>
      </p:sp>
      <p:sp>
        <p:nvSpPr>
          <p:cNvPr id="26" name="Text 23"/>
          <p:cNvSpPr txBox="1"/>
          <p:nvPr/>
        </p:nvSpPr>
        <p:spPr>
          <a:xfrm>
            <a:off x="548640" y="3840480"/>
            <a:ext cx="55778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لَوْ كُنْتَ فِي مَوْقِعِ السُّلْطَةِ، مَاذَا كُنْتَ سَتُغَيِّرُ أَوَّلًا؟</a:t>
            </a:r>
            <a:endParaRPr lang="ar-SA" sz="1600" dirty="0"/>
          </a:p>
        </p:txBody>
      </p:sp>
      <p:sp>
        <p:nvSpPr>
          <p:cNvPr id="27" name="Text 2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Marks (website): communication 3 · quality of language 3 — the examiner records whether the concession–refutation (Q2) and the Type 2 (Q3) are produced or avoided.</a:t>
            </a:r>
            <a:endParaRPr lang="en-US" sz="110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28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P5-L12 · P5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RESULTS · YOUR P5 FOUR-SKILLS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P5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مِلَفُّ المَهَارَاتِ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959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a:t>
            </a:r>
            <a:endParaRPr lang="en-US" sz="1100" dirty="0"/>
          </a:p>
        </p:txBody>
      </p:sp>
      <p:sp>
        <p:nvSpPr>
          <p:cNvPr id="17" name="Text 14"/>
          <p:cNvSpPr txBox="1"/>
          <p:nvPr/>
        </p:nvSpPr>
        <p:spPr>
          <a:xfrm>
            <a:off x="686714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score</a:t>
            </a:r>
            <a:endParaRPr lang="en-US" sz="1100" dirty="0"/>
          </a:p>
        </p:txBody>
      </p:sp>
      <p:sp>
        <p:nvSpPr>
          <p:cNvPr id="18" name="Text 15"/>
          <p:cNvSpPr txBox="1"/>
          <p:nvPr/>
        </p:nvSpPr>
        <p:spPr>
          <a:xfrm>
            <a:off x="53035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Teacher guide (total /60)</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3252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Listening</a:t>
            </a:r>
            <a:endParaRPr lang="en-US" sz="1100" dirty="0"/>
          </a:p>
        </p:txBody>
      </p:sp>
      <p:sp>
        <p:nvSpPr>
          <p:cNvPr id="21" name="Text 18"/>
          <p:cNvSpPr txBox="1"/>
          <p:nvPr/>
        </p:nvSpPr>
        <p:spPr>
          <a:xfrm>
            <a:off x="6903720"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22" name="Text 19"/>
          <p:cNvSpPr txBox="1"/>
          <p:nvPr/>
        </p:nvSpPr>
        <p:spPr>
          <a:xfrm>
            <a:off x="56692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54–60 Excellent — balanced, accurate argument about social issues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3252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B1 · Reading</a:t>
            </a:r>
            <a:endParaRPr lang="en-US" sz="1100" dirty="0"/>
          </a:p>
        </p:txBody>
      </p:sp>
      <p:sp>
        <p:nvSpPr>
          <p:cNvPr id="27" name="Text 24"/>
          <p:cNvSpPr txBox="1"/>
          <p:nvPr/>
        </p:nvSpPr>
        <p:spPr>
          <a:xfrm>
            <a:off x="6903720"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28" name="Text 25"/>
          <p:cNvSpPr txBox="1"/>
          <p:nvPr/>
        </p:nvSpPr>
        <p:spPr>
          <a:xfrm>
            <a:off x="56692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42–53 Good — secure, with a few focused gaps</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3252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B2 · Writing</a:t>
            </a:r>
            <a:endParaRPr lang="en-US" sz="1100" dirty="0"/>
          </a:p>
        </p:txBody>
      </p:sp>
      <p:sp>
        <p:nvSpPr>
          <p:cNvPr id="33" name="Text 30"/>
          <p:cNvSpPr txBox="1"/>
          <p:nvPr/>
        </p:nvSpPr>
        <p:spPr>
          <a:xfrm>
            <a:off x="6903720"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34" name="Text 31"/>
          <p:cNvSpPr txBox="1"/>
          <p:nvPr/>
        </p:nvSpPr>
        <p:spPr>
          <a:xfrm>
            <a:off x="56692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30–41 Satisfactory — core communication in place</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73252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 · Speaking</a:t>
            </a:r>
            <a:endParaRPr lang="en-US" sz="1100" dirty="0"/>
          </a:p>
        </p:txBody>
      </p:sp>
      <p:sp>
        <p:nvSpPr>
          <p:cNvPr id="39" name="Text 36"/>
          <p:cNvSpPr txBox="1"/>
          <p:nvPr/>
        </p:nvSpPr>
        <p:spPr>
          <a:xfrm>
            <a:off x="6903720"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40" name="Text 37"/>
          <p:cNvSpPr txBox="1"/>
          <p:nvPr/>
        </p:nvSpPr>
        <p:spPr>
          <a:xfrm>
            <a:off x="56692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Below 30 — revisit P5-L01, L03 and L07 with guided practice</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My writing improvement target … · My speaking improvement target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28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P5-L12 · P5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concede with ṣaḥīḥun anna + a verb in -u and answer with ghayra anna.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use an + a verb in -a after a trigger, and anna + a noun after a reporting verb.</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insist, demand, prohibit and refuse (yuṣirru ʿalā · yuṭālibu bi- · yamnaʿu · yarfuḍu an).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regret with law … la- and close with wa-bināʾan ʿalā mā sabaqa + -a.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write a 150–165-word argumentative essay with all nine Range markers.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28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P5-L12 · P5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P6-L01: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P6-L01 · Bridge Launch — Mapping the IGCSE and Setting Personal Targets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وَرَقَةُ الامْتِحَانِ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exam paper</a:t>
            </a:r>
            <a:pPr indent="0" marL="0">
              <a:buNone/>
            </a:pPr>
            <a:r>
              <a:rPr lang="en-US" sz="1000" i="1" dirty="0">
                <a:solidFill>
                  <a:srgbClr val="5A6472"/>
                </a:solidFill>
                <a:latin typeface="Calibri" pitchFamily="34" charset="0"/>
                <a:ea typeface="Calibri" pitchFamily="34" charset="-122"/>
                <a:cs typeface="Calibri" pitchFamily="34" charset="-120"/>
              </a:rPr>
              <a:t>  pl. أَوْرَاقُ</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مَعَايِيرُ التَّقْيِيمِ</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assessment criteria</a:t>
            </a:r>
            <a:pPr indent="0" marL="0">
              <a:buNone/>
            </a:pPr>
            <a:r>
              <a:rPr lang="en-US" sz="1000" i="1" dirty="0">
                <a:solidFill>
                  <a:srgbClr val="5A6472"/>
                </a:solidFill>
                <a:latin typeface="Calibri" pitchFamily="34" charset="0"/>
                <a:ea typeface="Calibri" pitchFamily="34" charset="-122"/>
                <a:cs typeface="Calibri" pitchFamily="34" charset="-120"/>
              </a:rPr>
              <a:t>  sg. مِعْيَارٌ</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جَاهِزِيَّةُ الامْتِحَانِ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exam readiness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نُقْطَةُ قُوَّةٍ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strength</a:t>
            </a:r>
            <a:pPr indent="0" marL="0">
              <a:buNone/>
            </a:pPr>
            <a:r>
              <a:rPr lang="en-US" sz="1000" i="1" dirty="0">
                <a:solidFill>
                  <a:srgbClr val="5A6472"/>
                </a:solidFill>
                <a:latin typeface="Calibri" pitchFamily="34" charset="0"/>
                <a:ea typeface="Calibri" pitchFamily="34" charset="-122"/>
                <a:cs typeface="Calibri" pitchFamily="34" charset="-120"/>
              </a:rPr>
              <a:t>  pl. نِقَاطُ قُوَّةٍ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مَجَالُ تَحْسِينٍ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area for improvement</a:t>
            </a:r>
            <a:pPr indent="0" marL="0">
              <a:buNone/>
            </a:pPr>
            <a:r>
              <a:rPr lang="en-US" sz="1000" i="1" dirty="0">
                <a:solidFill>
                  <a:srgbClr val="5A6472"/>
                </a:solidFill>
                <a:latin typeface="Calibri" pitchFamily="34" charset="0"/>
                <a:ea typeface="Calibri" pitchFamily="34" charset="-122"/>
                <a:cs typeface="Calibri" pitchFamily="34" charset="-120"/>
              </a:rPr>
              <a:t>  pl. مَجَالَاتُ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Which of the four skills is your strongest — and which one needs the most work before the IGCSE?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نُقْطَةُ قُوَّتِي ______ ، وَمَجَالُ تَحْسِينِي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Redo the website P5-L12 section with your lowest score; learn the five P6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Improve one paragraph of your assessed essay (add the missing marker), then learn the five P6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three sentences about your exam readiness with ṣaḥīḥun anna … ghayra anna and yataṭallabu an.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28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P5-L12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P6-L01 · Bridge Launch — Mapping the IGCSE and Setting Personal Targets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إِطْلَاقُ الجِسْرِ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P5 complete — well done! Carry the P5 checklist into the IGCSE Bridge: ṣaḥīḥun anna + -u … ghayra anna · an + -a vs anna + noun · law … la- · kānat qad · wa-bināʾan ʿalā mā sabaqa.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P5-L12 · Review and Unit Assessment: Social Issues and Opinions</dc:title>
  <dc:subject>PptxGenJS Presentation</dc:subject>
  <dc:creator>Al Madina Online School · Arabic Department</dc:creator>
  <cp:lastModifiedBy>Al Madina Online School · Arabic Department</cp:lastModifiedBy>
  <cp:revision>1</cp:revision>
  <dcterms:created xsi:type="dcterms:W3CDTF">2026-10-10T23:22:29Z</dcterms:created>
  <dcterms:modified xsi:type="dcterms:W3CDTF">2026-10-10T23:22:29Z</dcterms:modified>
</cp:coreProperties>
</file>