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P6 target.
FLEX slides are optional. Use them if the class is moving quickly; otherwise the same activities are on the website for homework.
Content source: Miftah Arabic website, Pathways › Progression › P5 Social Issues and Opinions › P5-L12. The website P5-L12 is a four-skill, 60-mark unit assessment: a twelve-question grammar spine (revision, not counted), Part A listening (three texts — an academic on social inequality 8 · Karim and Huda on digital regulation: who said what 6 · a young activist on youth empowerment 6 = 20), Part B1 reading (a social-mobility argument: 10), Part B2 writing (five-field argument form 5 + 150–165-word argumentative essay 15, marked task / range / accuracy) and Part C speaking (role play at a social-justice conference 4 + topic conversation 6), then a P6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Social issues (poverty, migration, inequality) may touch students’ own lives — let them choose the issue they write and speak about, and keep the focus on argument and language, not on personal disclosure.
• Accuracy focus today (the website mark scheme): the indicative after ṣaḥīḥun anna (the PRIMARY P5 criterion) · an vs anna and the -a after every trigger · the la- of the Type 2 result — and in speaking, a real concession in role-play prompt 2 and a law answer to topic question 3.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P5-L11. Questions 2–5 are from the website twelve-question grammar spine (used diagnostically; the full spine is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صَحِيحٌ أَنَّ … يَتَطَلَّبُ · غَيْرَ أَنَّ · يُصِرُّ … عَلَى أَنْ تَحْصُلَ · يُطَالِبُ … بِأَنْ تُوَقِّعَ · يَمْنَعُ … أَنْ تُبَاعَ · يَرْفُضُ … أَنْ تَسْتَمِرَّ · وَبِنَاءً عَلَى مَا سَبَقَ · وَخُلَاصَةُ القَوْلِ · لَوْ عُولِجَ … لَتَحَسَّنَ · يُهَجَّرُ · بِأَنْ تُوَقِّعَ / أَنَّ الوَقْتَ · أَنْ تَتَحَرَّكَ.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label each question with the signal you expect (أُطْرُوحَتِي · صَحِيحٌ أَنَّ · غَيْرَ أَنَّ · يَتَطَلَّبُ / يَمْنَعُ / يَرْفُضُ أَنْ · سَـ / لَـ · كَانَ قَدْ) — P5-L10: follow the shape, and remember the point after صَحِيحٌ أَنَّ belongs to the OTHER side. Question 1: uṭrūḥatī anna = the thesis. Question 3: ṣaḥīḥun anna = the point conceded to the other side. Question 4: ghayra anna = the speaker’s real position. Each recording may be played twice; students answer after the second reading.
SCRIPT: يَقُولُ الأَكَادِيمِيُّ: أُطْرُوحَتِي أَنَّ التَّفَاوُتَ الاجْتِمَاعِيَّ يُهَدِّدُ الاسْتِقْرَارَ فِي العَالَمِ العَرَبِيِّ. أَكَّدَتِ الدِّرَاسَاتُ أَنَّ أَكْثَرَ مِنْ مِئَةِ مِلْيُونِ عَرَبِيٍّ يَعِيشُونَ تَحْتَ حَدِّ الفَقْرِ. صَحِيحٌ أَنَّ الإِصْلَاحَاتِ تَحْتَاجُ وَقْتًا طَوِيلًا وَمَوَارِدَ ضَخْمَةً، غَيْرَ أَنَّ الحَاجَةَ الاجْتِمَاعِيَّةَ المُلِحَّةَ لَا تَتَحَمَّلُ الانْتِظَارَ. إِذَا اسْتُثْمِرَ فِي التَّعْلِيمِ المُبَكِّرِ، سَتَضِيقُ الفَجْوَةُ تَدْرِيجِيًّا. وَلَوْ عُولِجَ التَّفَاوُتُ قَبْلَ عُقُودٍ، لَتَحَسَّنَ الوَضْعُ كَثِيرًا. وَيَتَطَلَّبُ الوَضْعُ أَنْ تَتَحَرَّكَ الحُكُومَاتُ فَوْرًا. وَبِنَاءً عَلَى مَا سَبَقَ، فَمَوْقِفِي وَاضِحٌ: العَدَالَةُ الاجْتِمَاعِيَّةُ ضَرُورَةٌ لَا رَفَاهِيَةٌ.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signal (ṣaḥīḥun anna · ghayra anna · an + -a · sa- / la- · kāna qad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label each question with the signal you expect (أُطْرُوحَتِي · صَحِيحٌ أَنَّ · غَيْرَ أَنَّ · يَتَطَلَّبُ / يَمْنَعُ / يَرْفُضُ أَنْ · سَـ / لَـ · كَانَ قَدْ) — P5-L10: follow the shape, and remember the point after صَحِيحٌ أَنَّ belongs to the OTHER side. Question 5: the sa- result = a real recommendation. Question 6: the la- result = it did NOT happen. Question 7: yataṭallabu an = the demand. Question 8: a concession + refutation = balanced. Each recording may be played twice; students answer after the second reading.
SCRIPT: يَقُولُ الأَكَادِيمِيُّ: أُطْرُوحَتِي أَنَّ التَّفَاوُتَ الاجْتِمَاعِيَّ يُهَدِّدُ الاسْتِقْرَارَ فِي العَالَمِ العَرَبِيِّ. أَكَّدَتِ الدِّرَاسَاتُ أَنَّ أَكْثَرَ مِنْ مِئَةِ مِلْيُونِ عَرَبِيٍّ يَعِيشُونَ تَحْتَ حَدِّ الفَقْرِ. صَحِيحٌ أَنَّ الإِصْلَاحَاتِ تَحْتَاجُ وَقْتًا طَوِيلًا وَمَوَارِدَ ضَخْمَةً، غَيْرَ أَنَّ الحَاجَةَ الاجْتِمَاعِيَّةَ المُلِحَّةَ لَا تَتَحَمَّلُ الانْتِظَارَ. إِذَا اسْتُثْمِرَ فِي التَّعْلِيمِ المُبَكِّرِ، سَتَضِيقُ الفَجْوَةُ تَدْرِيجِيًّا. وَلَوْ عُولِجَ التَّفَاوُتُ قَبْلَ عُقُودٍ، لَتَحَسَّنَ الوَضْعُ كَثِيرًا. وَيَتَطَلَّبُ الوَضْعُ أَنْ تَتَحَرَّكَ الحُكُومَاتُ فَوْرًا. وَبِنَاءً عَلَى مَا سَبَقَ، فَمَوْقِفِي وَاضِحٌ: العَدَالَةُ الاجْتِمَاعِيَّةُ ضَرُورَةٌ لَا رَفَاهِيَةٌ.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signal (ṣaḥīḥun anna · ghayra anna · an + -a · sa- / la- · kāna qad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label each question with the signal you expect (أُطْرُوحَتِي · صَحِيحٌ أَنَّ · غَيْرَ أَنَّ · يَتَطَلَّبُ / يَمْنَعُ / يَرْفُضُ أَنْ · سَـ / لَـ · كَانَ قَدْ) — P5-L10: follow the shape, and remember the point after صَحِيحٌ أَنَّ belongs to the OTHER side. Attribution: write K / H / both beside each question while listening — listen for the name before each line, then the signal (yamnaʿu · arfuḍu an · ṣaḥīḥun anna · law … la-). Each recording may be played twice; students answer after the second reading.
SCRIPT: مُتَحَدِّثٌ أَوَّلُ (كَرِيمٌ): يَجِبُ أَنْ تُنَظِّمَ الدُّوَلُ الإِنْتِرْنِتَ لِحِمَايَةِ المُوَاطِنِينَ. مُتَحَدِّثَةٌ ثَانِيَةٌ (هُدَى): صَحِيحٌ أَنَّ التَّنْظِيمَ ضَرُورِيٌّ، غَيْرَ أَنَّهُ يَجِبُ أَلَّا يُقَيِّدَ حُرِّيَّةَ التَّعْبِيرِ. كَرِيمٌ: يَمْنَعُ القَانُونُ أَنْ تُبَاعَ البَيَانَاتُ الشَّخْصِيَّةُ، وَهٰذَا حَقٌّ. هُدَى: وَأَنَا أَرْفُضُ أَنْ تُرَاقَبَ المُرَاسَلَاتُ الخَاصَّةُ دُونَ إِذْنٍ. كَرِيمٌ: لَوْ وُضِعَتْ حَوْكَمَةٌ رَقْمِيَّةٌ مُتَوَازِنَةٌ، لَكَانَتِ الخُصُوصِيَّةُ أَكْثَرَ أَمَانًا. هُدَى: وَبِنَاءً عَلَى مَا سَبَقَ، لَا بُدَّ مِنَ التَّوَازُنِ بَيْنَ الأَمْنِ وَالحُرِّيَّةِ.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signal (ṣaḥīḥun anna · ghayra anna · an + -a · sa- / la- · kāna qad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label each question with the signal you expect (أُطْرُوحَتِي · صَحِيحٌ أَنَّ · غَيْرَ أَنَّ · يَتَطَلَّبُ / يَمْنَعُ / يَرْفُضُ أَنْ · سَـ / لَـ · كَانَ قَدْ) — P5-L10: follow the shape, and remember the point after صَحِيحٌ أَنَّ belongs to the OTHER side. Each question names the structure it tests: listen for kānat qad, yuʿīdu taʿrīfa, ṣaḥīḥun anna … ghayra anna, nuṭālibu bi-an / nuṣirru ʿalā an, law … la- and wa-bināʾan ʿalā mā sabaqa. Each recording may be played twice; students answer after the second reading.
SCRIPT: تَقُولُ النَّاشِطَةُ الشَّابَّةُ: يُشَكِّلُ الشَّبَابُ أَكْثَرَ مِنْ نِصْفِ سُكَّانِ العَالَمِ العَرَبِيِّ. كَانَتِ الأَجْيَالُ السَّابِقَةُ قَدْ نَاضَلَتْ مِنْ أَجْلِ الاسْتِقْلَالِ، أَمَّا جِيلُنَا فَيُعِيدُ تَعْرِيفَ المُشَارَكَةِ عَبْرَ الوَسَائِطِ الرَّقْمِيَّةِ. صَحِيحٌ أَنَّ التَّحَدِّيَاتِ كَبِيرَةٌ، غَيْرَ أَنَّ الطَّاقَاتِ أَكْبَرُ. نَحْنُ نُطَالِبُ بِأَنْ تُفْتَحَ أَبْوَابُ المُشَارَكَةِ، وَنُصِرُّ عَلَى أَنْ نَكُونَ شُرَكَاءَ فِي القَرَارِ. وَلَوْ أُتِيحَتْ لَنَا الفُرَصُ، لَغَيَّرْنَا وَاقِعَنَا. وَبِنَاءً عَلَى مَا سَبَقَ، لَا تَنْمِيَةَ حَقِيقِيَّةً دُونَ تَمْكِينِ الشَّبَابِ.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signal (ṣaḥīḥun anna · ghayra anna · an + -a · sa- / la- · kāna qad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(P5-L08): underline the thesis, box ṣaḥīḥun anna and circle ghayra anna, mark kānat … qad, and check every verb after an / li-kay for -a; then ask: is the argument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thesis · R2 evidence and the past perfect · R3 concession, balance and the purpose of the Type 2 · R4 the -u / -a gap-fill, the bi- of yuṭālibu and the purpose of the text). Website skill labels for these questions: R1 · R2 · R2 · R3 · R3.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thesis · R2 evidence and the past perfect · R3 concession, balance and the purpose of the Type 2 · R4 the -u / -a gap-fill, the bi- of yuṭālibu and the purpose of the text). Website skill labels for these questions: R3 · R4 · R4 · R4 · R4.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2 must use reported speech (أَكَّدَ … أَنَّ + noun); field 3 صَحِيحٌ أَنَّ + a verb in -u; field 4 غَيْرَ أَنَّ; field 5 وَبِنَاءً عَلَى مَا سَبَقَ + a verb in -a. Check anna vs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a 150–165-word argumentative essay on a social issue of the student’s choice (P5-L01 to L06). Required: a thesis (a position, not just a topic), statistical evidence with reported speech, a genuine concession (ṣaḥīḥun anna + -u) and a refutation (ghayra anna), a Type 2, a P4/P5 subjunctive trigger and a formal conclusion + a verb in -a. Mark scheme exactly as on the website (Accuracy: the -a after every trigger and an vs anna 2 · the Type 2 la- 2 · the indicative after ṣaḥīḥun anna 1 — the primary P5 criterion). The P5-L09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the chair of a social-justice conference: أَهْلًا بِكَ فِي مُؤْتَمَرِ العَدَالَةِ الاجْتِمَاعِيَّةِ. مَا القَضِيَّةُ الَّتِي تُعَالِجُهَا؟ Model answers: أُعَالِجُ قَضِيَّةَ الفَجْوَةِ الرَّقْمِيَّةِ؛ فَقَدْ أَكَّدَتِ الدِّرَاسَاتُ أَنَّ مَلَايِينَ الشَّبَابِ بِلَا إِنْتِرْنِتٍ · صَحِيحٌ أَنَّ الحُكُومَاتِ تَبْذُلُ جُهُودًا · غَيْرَ أَنَّ هٰذِهِ الجُهُودَ لَا تَصِلُ إِلَى المَنَاطِقِ النَّائِيَةِ · يَتَطَلَّبُ الحَلُّ أَنْ نُوَفِّرَ بُنْيَةً تَحْتِيَّةً رَقْمِيَّةً لِلْجَمِيعِ. Website mark scheme: Communication (2): all four prompts are addressed clearly and relevantly. Accuracy (2): a genuine concession (ṣaḥīḥun anna) in prompt 2 and a refutation (ghayra anna) in prompt 3. The issue is introduced with evidence and reported speech. To a girl: قَدِّمِي · قُولِي · اعْرِضِي · اذْكُرِي.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structure · reason · example (P5-L11). Model openings: يُشَكِّلُ التَّفَاوُتُ الاجْتِمَاعِيُّ أَكْبَرَ تَحَدٍّ، إِذْ أَكَّدَتِ الدِّرَاسَاتُ أَنَّ … · صَحِيحٌ أَنَّ التِّكْنُولُوجِيَا تُوَفِّرُ فُرَصًا، غَيْرَ أَنَّهَا تُعَمِّقُ الفَجْوَةَ … · لَوْ كُنْتُ فِي مَوْقِعِ السُّلْطَةِ، لَاسْتَثْمَرْتُ فِي التَّعْلِيمِ المُبَكِّرِ أَوَّلًا. Website mark scheme: Communication (3): answers are developed with point, reason and example. Quality of language (3): a full argument (Q1), a concession-refutation (Q2) and a Type 2 conditional (Q3) all appear. Q3 opens with law (Type 2 required); a candidate who answers with idhā is avoiding the conditional. Credit spontaneous ṣaḥīḥun anna / ghayra anna in Q2. Allow time-buying and repair phrases (سُؤَالٌ مُهِمٌّ · دَعْنِي أُفَكِّرُ · عَفْوًا، أَقْصِدُ). To a girl: تَعْتَقِدِينَ · كُنْتِ · سَتُغَيِّرِينَ.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P1–P4 assessments. Return each student’s P5-L11 “priority error” note next to their score — it becomes their first P6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(P6-L01 · Bridge Launch — Mapping the IGCSE and Setting Personal Targets) will spend class time USING this language, so students prepare it tonight — short, simple, easy to access (school guidance: “Simple, Short, Interesting, Relevant, Easy to access”). P6 is the IGCSE Bridge (website P6-L01 “Bridge Launch — Mapping the IGCSE and Setting Personal Targets”): the five words come from its exam-terminology vault.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Social Issues and Opinions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Show what you can understand and produce about social issues — ṣaḥīḥun anna + -u … ghayra anna, the extended triggers + -a (yuṣirru ʿalā · yuṭālibu bi- · yamnaʿu · yarfuḍu an), an vs anna, law … la-, kānat qad and wa-bināʾan ʿalā mā sabaqa — then choose one precise target for P6, the IGCSE Bridge.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P5-L12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end of unit P5</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P5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P6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P6: the IGCSE Bridge.</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المَوْقِفُ المُضَادُّ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thesis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opposing position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 (ṣaḥīḥun anna + -u).</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demand trigger.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يُطَالِبُ النَّاشِطُونَ عَلَى أَنْ تُوَقِّعَ الدُّوَلُ.</a:t>
            </a:r>
            <a:endParaRPr lang="ar-SA" sz="17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يُطَالِبُ النَّاشِطُونَ بِأَنَّ تُوَقِّعَ الدُّوَلُ.</a:t>
            </a:r>
            <a:endParaRPr lang="ar-SA" sz="17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يُطَالِبُ النَّاشِطُونَ بِأَنْ تُوَقِّعَ الدُّوَلُ.</a:t>
            </a:r>
            <a:endParaRPr lang="ar-SA" sz="17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refusal trigger.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لَوْ عُولِجَ التَّفَاوُتُ مُبَكِّرًا، لَتَحَسَّنَ الوَضْعُ.</a:t>
            </a:r>
            <a:endParaRPr lang="ar-SA" sz="16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لَوْ عُولِجَ التَّفَاوُتُ مُبَكِّرًا، تَحَسَّنَ الوَضْعُ.</a:t>
            </a:r>
            <a:endParaRPr lang="ar-SA" sz="16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لَوْ عُولِجَ التَّفَاوُتُ مُبَكِّرًا، سَيَتَحَسَّنُ الوَضْعُ.</a:t>
            </a:r>
            <a:endParaRPr lang="ar-SA" sz="16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المَوْقِفُ المُضَادُّ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main thesis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opposing position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balanced 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 (ṣaḥīḥun anna + -u).</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 التَّعْلِيمَ يَتَطَلَّبُ مَوَارِدَ.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 التَّعْلِيمَ يَتَطَلَّبَ مَوَارِدَ.</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 التَّعْلِيمَ يَتَطَلَّبَ مَوَارِدَ.</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demand trigger.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يُطَالِبُ النَّاشِطُونَ عَلَى أَنْ تُوَقِّعَ الدُّوَلُ.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يُطَالِبُ النَّاشِطُونَ بِأَنَّ تُوَقِّعَ الدُّوَلُ.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يُطَالِبُ النَّاشِطُونَ بِأَنْ تُوَقِّعَ الدُّوَلُ.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refusal trigger.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يَرْفُضُ النَّاشِطُونَ أَنْ تَسْتَمِرَّ الازْدِوَاجِيَّةُ.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عُولِجَ التَّفَاوُتُ مُبَكِّرًا، لَتَحَسَّنَ الوَضْعُ.</a:t>
            </a:r>
            <a:endParaRPr lang="ar-SA" sz="16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لَوْ عُولِجَ التَّفَاوُتُ مُبَكِّرًا، تَحَسَّنَ الوَضْعُ.</a:t>
            </a:r>
            <a:endParaRPr lang="ar-SA" sz="16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لَوْ عُولِجَ التَّفَاوُتُ مُبَكِّرًا، سَيَتَحَسَّنُ الوَضْعُ.</a:t>
            </a:r>
            <a:endParaRPr lang="ar-SA" sz="16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9.</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صَحِيحٌ أَنَّ … يَتَطَلَّبُ · بِأَنْ تُوَقِّعَ · أَنْ تَسْتَمِرَّ · لَوْ … لَتَحَسَّنَ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P5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P5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P5-L01 · L07</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التَّعْلِيمَ يَتَطَلَّبُ مَوَارِدَ، غَيْرَ أَنَّ العَائِدَ أَكْبَرُ</a:t>
            </a:r>
            <a:endParaRPr lang="ar-SA" sz="18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-u + refutation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P5-L03–L05</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يُصِرُّ عَلَى أَنْ تَحْصُلَ · يُطَالِبُ بِأَنْ تُوَقِّعَ · يَمْنَعُ أَنْ تُبَاعَ · يَرْفُضُ أَنْ تَسْتَمِرَّ</a:t>
            </a:r>
            <a:endParaRPr lang="ar-SA" sz="18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triggers + -a</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P5-L11</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يُطَالِبُ بِأَنْ تُوَقِّعَ · أَكَّدَ أَنَّ الوَقْتَ يَنْفَدُ</a:t>
            </a:r>
            <a:endParaRPr lang="ar-SA" sz="18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vs anna</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P5-L02 · L05</a:t>
            </a:r>
            <a:endParaRPr lang="en-US" sz="1100" dirty="0"/>
          </a:p>
        </p:txBody>
      </p:sp>
      <p:sp>
        <p:nvSpPr>
          <p:cNvPr id="39" name="Text 36"/>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عُولِجَ التَّفَاوُتُ مُبَكِّرًا، لَتَحَسَّنَ الوَضْعُ · يُهَجَّرُ</a:t>
            </a:r>
            <a:endParaRPr lang="ar-SA" sz="18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 passive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P5-L05 · L09</a:t>
            </a:r>
            <a:endParaRPr lang="en-US" sz="1100" dirty="0"/>
          </a:p>
        </p:txBody>
      </p:sp>
      <p:sp>
        <p:nvSpPr>
          <p:cNvPr id="43" name="Text 40"/>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وَبِنَاءً عَلَى مَا سَبَقَ … أَنْ تَتَحَرَّكَ · وَخُلَاصَةُ القَوْلِ</a:t>
            </a:r>
            <a:endParaRPr lang="ar-SA" sz="18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conclusion</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what comes next — a verb (an + -a) or a noun (anna)?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an academic on inequality (8) · Karim and Huda on digital regulation (6) · a young activist on youth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social-mobility argument: thesis, evidence, concession and balance, gap-fills, purpose</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argument form (5) + a 150–165-word argumentative essay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at a social-justice conference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An academic on social inequality (1)</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main argument (thesis)?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inequality threatens stability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Inequality is beneficial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Inequality does not exist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statistical evidence is cited?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Poverty has ended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no figures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 100 million Arabs live below the poverty line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concede?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are impossible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are unnecessary</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Reforms need time and huge resources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refutation?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pressing social need cannot wait</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need can wait indefinitely</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need</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An academic on social inequality (1):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main argument (thesis)?</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Social inequality threatens stability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Inequality is beneficial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Inequality does not exist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أُطْرُوحَتِي أَنَّ التَّفَاوُتَ الاجْتِمَاعِيَّ يُهَدِّدُ الاسْتِقْرَارَ.</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statistical evidence is cited?</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Poverty has ended</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no figures</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Over 100 million Arabs live below the poverty line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أَكَّدَتِ الدِّرَاسَاتُ أَنَّ أَكْثَرَ مِنْ مِئَةِ مِلْيُونِ عَرَبِيٍّ يَعِيشُونَ تَحْتَ حَدِّ الفَقْرِ.</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concede?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Reforms are impossible</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Reforms are unnecessary</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Reforms need time and huge resources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الإِصْلَاحَاتِ تَحْتَاجُ وَقْتًا طَوِيلًا وَمَوَارِدَ ضَخْمَةً.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refutation?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pressing social need cannot wait</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need can wait indefinitely</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need</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غَيْرَ أَنَّ الحَاجَةَ الاجْتِمَاعِيَّةَ المُلِحَّةَ لَا تَتَحَمَّلُ الانْتِظَارَ.</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An academic on social inequality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conditional recommendation?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widens the gap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cannot narrow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early education is invested in, the gap will narrow</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conditional regret?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Timing makes no difference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cannot improve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inequality been addressed decades ago, the situation would be much better</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conclusion?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requires governments to act immediately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wait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action is required</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overall position?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Purely partisan</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 social justice is a necessity, not a luxury</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clear position</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An academic on social inequality (2):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conditional recommendation?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widens the gap</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cannot narrow</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 early education is invested in, the gap will narrow</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اسْتُثْمِرَ فِي التَّعْلِيمِ المُبَكِّرِ، سَتَضِيقُ الفَجْوَةُ.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conditional regret?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Timing makes no difference</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situation cannot improve</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inequality been addressed decades ago, the situation would be much better</a:t>
            </a:r>
            <a:endParaRPr lang="en-US" sz="11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عُولِجَ التَّفَاوُتُ قَبْلَ عُقُودٍ، لَتَحَسَّنَ الوَضْعُ كَثِيرًا.</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conclusion?</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situation requires governments to act immediately</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should wait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action is required</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الوَضْعُ أَنْ تَتَحَرَّكَ الحُكُومَاتُ فَوْرًا.</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overall position?</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Purely partisan</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Balanced — social justice is a necessity, not a luxury</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clear position</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العَدَالَةُ الاجْتِمَاعِيَّةُ ضَرُورَةٌ لَا رَفَاهِيَةٌ</a:t>
            </a:r>
            <a:pPr algn="l" indent="0" marL="0">
              <a:buNone/>
            </a:pPr>
            <a:r>
              <a:rPr lang="en-US" sz="1050" i="1" dirty="0">
                <a:solidFill>
                  <a:srgbClr val="8A6D1E"/>
                </a:solidFill>
                <a:latin typeface="Calibri" pitchFamily="34" charset="0"/>
                <a:cs typeface="Amiri" pitchFamily="2" charset="-78"/>
              </a:rPr>
              <a:t>, reached after conceding and refuting.</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Karim and Huda: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states must regulate the internet?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concedes regulation is necessary but refutes restricting free expression?</a:t>
            </a:r>
            <a:endParaRPr lang="en-US" sz="120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the law prohibits selling personal data?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refuses that private correspondence be monitored?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digital governance?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concludes with a call for balance?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Karim</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Karim and Huda: who said what: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states must regulate the internet?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Karim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كَرِيمٌ: يَجِبُ أَنْ تُنَظِّمَ الدُّوَلُ الإِنْتِرْنِتَ.</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Who concedes regulation is necessary but refutes restricting free expression?</a:t>
            </a:r>
            <a:endParaRPr lang="en-US" sz="120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Karim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هُدَى: صَحِيحٌ أَنَّ التَّنْظِيمَ ضَرُورِيٌّ، غَيْرَ أَنَّهُ يَجِبُ أَلَّا يُقَيِّدَ حُرِّيَّةَ التَّعْبِيرِ.</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the law prohibits selling personal data?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Karim</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كَرِيمٌ: يَمْنَعُ القَانُونُ أَنْ تُبَاعَ البَيَانَاتُ الشَّخْصِيَّةُ.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refuses that private correspondence be monitored?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Karim</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هُدَى: أَرْفُضُ أَنْ تُرَاقَبَ المُرَاسَلَاتُ الخَاصَّةُ دُونَ إِذْنٍ.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digital governance?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Karim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كَرِيمٌ: لَوْ وُضِعَتْ حَوْكَمَةٌ رَقْمِيَّةٌ مُتَوَازِنَةٌ، لَكَانَتِ الخُصُوصِيَّةُ أَكْثَرَ أَمَانًا.</a:t>
            </a:r>
            <a:endParaRPr lang="ar-SA"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concludes with a call for balance?</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Karim</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هُدَى: وَبِنَاءً عَلَى مَا سَبَقَ، لَا بُدَّ مِنَ التَّوَازُنِ بَيْنَ الأَمْنِ وَالحُرِّيَّةِ.</a:t>
            </a:r>
            <a:endParaRPr lang="ar-SA" sz="11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 young activist on youth empowerment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Earlier generations had struggled for independence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Youth are a small minority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Earlier generations did nothing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(yuʿīdu taʿrīfa).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generation rejects participation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generation redefines participation through digital media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generation repeats the past exactly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(concession-refutation).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Challenges are great, yet the energies are greater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no challenges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challenges are insurmountable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(demand + insistence).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reject participation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insist on staying silent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They demand participation be opened and insist on being partners in decisions</a:t>
            </a:r>
            <a:endParaRPr lang="en-US" sz="12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(Type 2).</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make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opportunities been available, they would have changed their reality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reality cannot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(conclusion).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Development needs no youth</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real development without youth empowerment</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Youth empowerment is a luxury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A young activist on youth empowerment: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(past perfect).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Earlier generations had struggled for independence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Youth are a small minority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Earlier generations did nothing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الأَجْيَالُ السَّابِقَةُ قَدْ نَاضَلَتْ مِنْ أَجْلِ الاسْتِقْلَالِ.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(yuʿīdu taʿrīfa).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generation rejects participation</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This generation redefines participation through digital media</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This generation repeats the past exactly</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جِيلُنَا فَيُعِيدُ تَعْرِيفَ المُشَارَكَةِ عَبْرَ الوَسَائِطِ الرَّقْمِيَّةِ.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(concession-refutation).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Challenges are great, yet the energies are greater</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no challenges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challenges are insurmountable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التَّحَدِّيَاتِ كَبِيرَةٌ، غَيْرَ أَنَّ الطَّاقَاتِ أَكْبَرُ.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(demand + insistence).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reject participation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insist on staying silent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demand participation be opened and insist on being partners in decisions</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نُطَالِبُ بِأَنْ تُفْتَحَ أَبْوَابُ المُشَارَكَةِ، وَنُصِرُّ عَلَى أَنْ نَكُونَ شُرَكَاءَ.</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(Type 2).</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Opportunities make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opportunities been available, they would have changed their reality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reality cannot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أُتِيحَتْ لَنَا الفُرَصُ، لَغَيَّرْنَا وَاقِعَنَا.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(conclusion).</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Development needs no youth</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There is no real development without youth empowerment</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Youth empowerment is a luxury</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وَبِنَاءً عَلَى مَا سَبَقَ، لَا تَنْمِيَةَ حَقِيقِيَّةً دُونَ تَمْكِينِ الشَّبَابِ.</a:t>
            </a:r>
            <a:endParaRPr lang="ar-SA" sz="13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Social mobility and justice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التَّنَقُّلُ الاجْتِمَاعِيُّ وَالعَدَالَةُ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يُشَارُ إِلَى أَنَّ التَّنَقُّلَ الاجْتِمَاعِيَّ الصَّاعِدَ يُعَدُّ مِقْيَاسًا لِعَدَالَةِ أَيِّ مُجْتَمَعٍ. أَكَّدَ البَاحِثُونَ أَنَّ التَّعْلِيمَ الجَيِّدَ يُفْضِي إِلَى فُرَصٍ أَوْسَعَ، وَأَنَّ الحِرْمَانَ المُبَكِّرَ يُكَرِّسُ الفَقْرَ. صَحِيحٌ أَنَّ الدَّوْلَةَ تَتَّخِذُ إِجْرَاءَاتٍ لِدَعْمِ الفُقَرَاءِ، غَيْرَ أَنَّ المُعِيقَاتِ البِنْيَوِيَّةَ لَا تَزَالُ تَحُولُ دُونَ تَكَافُؤِ الفُرَصِ. وَكَانَتْ بَرَامِجُ كَثِيرَةٌ قَدْ تَعَثَّرَتْ بِسَبَبِ ضَعْفِ التَّمْوِيلِ. وَيُطَالِبُ الخُبَرَاءُ بِأَنْ يُعَادَ تَوْزِيعُ الفُرَصِ. وَلَوْ وُجِّهَ الدَّعْمُ إِلَى التَّعْلِيمِ المُبَكِّرِ، لَتَحَسَّنَتْ فُرَصُ الصُّعُودِ. وَبِنَاءً عَلَى مَا سَبَقَ، يَتَطَلَّبُ تَحْقِيقُ العَدَالَةِ أَنْ تُعِيدَ الدَّوْلَةُ تَوْزِيعَ الفُرَصِ لِكَيْ يَصْعَدَ الجَمِيعُ.</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thesis?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Mobility is unimportant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Upward social mobility measures the justice of a society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wealth matters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researchers confirm about education?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education leads to wider opportunities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has no effect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deepens poverty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many programmes done (past perfect)?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had all succeeded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never launched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had stalled due to weak funding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concession structure and its purpose.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yushāru ilā anna: a thesis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ṣaḥīḥun anna: concedes, then refutes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 wujjiha: a conditional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argument balanced or one-sided?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One-sided: only praises the state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concedes, then refutes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One-sided: only attacks the state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thesis?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Mobility is unimportant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Upward social mobility measures the justice of a society</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wealth matters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يُشَارُ إِلَى أَنَّ التَّنَقُّلَ الاجْتِمَاعِيَّ الصَّاعِدَ يُعَدُّ مِقْيَاسًا لِعَدَالَةِ أَيِّ مُجْتَمَعٍ.</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researchers confirm about education?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Good education leads to wider opportunities</a:t>
            </a:r>
            <a:endParaRPr lang="en-US" sz="11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has no effect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deepens poverty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 البَاحِثُونَ أَنَّ التَّعْلِيمَ الجَيِّدَ يُفْضِي إِلَى فُرَصٍ أَوْسَعَ.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many programmes done (past perfect)?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had all succeeded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never launched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had stalled due to weak funding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وَكَانَتْ بَرَامِجُ كَثِيرَةٌ قَدْ تَعَثَّرَتْ بِسَبَبِ ضَعْفِ التَّمْوِيلِ.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concession structure and its purpose.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yushāru ilā anna: a thesis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ṣaḥīḥun anna: concedes, then refutes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 wujjiha: a conditional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state's action before the writer refutes it with </a:t>
            </a:r>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argument balanced or one-sided?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One-sided: only praises the state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Balanced: concedes, then refutes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One-sided: only attacks the state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concedes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and refutes (</a:t>
            </a:r>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so it is balanced.</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argumentative purpose does the Type 2 serve?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implies past support was misdirected — an implicit criticism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praises current policy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reports a neutral fact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يَتَطَلَّبُ تَحْقِيقُ العَدَالَةِ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الدَّوْلَةُ تَوْزِيعَ الفُرَصِ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الخُبَرَاءُ</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يُعَادَ تَوْزِيعُ الفُرَصِ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argue that the state must redistribute opportunities for justice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argumentative purpose does the Type 2 serve?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implies past support was misdirected — an implicit criticism</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praises current policy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reports a neutral fact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وُجِّهَ الدَّعْمُ … لَتَحَسَّنَتْ</a:t>
            </a:r>
            <a:pPr algn="l" indent="0" marL="0">
              <a:buNone/>
            </a:pPr>
            <a:r>
              <a:rPr lang="en-US" sz="1050" i="1" dirty="0">
                <a:solidFill>
                  <a:srgbClr val="8A6D1E"/>
                </a:solidFill>
                <a:latin typeface="Calibri" pitchFamily="34" charset="0"/>
                <a:cs typeface="Amiri" pitchFamily="2" charset="-78"/>
              </a:rPr>
              <a:t> implies the support was not well directed.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تَتَّخِذُ</a:t>
            </a:r>
            <a:pPr algn="l" indent="0" marL="0">
              <a:buNone/>
            </a:pPr>
            <a:r>
              <a:rPr lang="en-US" sz="1250" b="1" dirty="0">
                <a:solidFill>
                  <a:srgbClr val="1F2A37"/>
                </a:solidFill>
                <a:latin typeface="Calibri" pitchFamily="34" charset="0"/>
                <a:cs typeface="Amiri" pitchFamily="2" charset="-78"/>
              </a:rPr>
              <a:t> (indicative)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 it describes a real situation.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يَتَطَلَّبُ تَحْقِيقُ العَدَالَةِ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الدَّوْلَةُ تَوْزِيعَ الفُرَصِ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تُعِيدُ</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تُعِيدَ</a:t>
            </a:r>
            <a:pPr algn="l" indent="0" marL="0">
              <a:buNone/>
            </a:pPr>
            <a:r>
              <a:rPr lang="en-US" sz="1250" b="1" dirty="0">
                <a:solidFill>
                  <a:srgbClr val="1F2A37"/>
                </a:solidFill>
                <a:latin typeface="Calibri" pitchFamily="34" charset="0"/>
                <a:cs typeface="Amiri" pitchFamily="2" charset="-78"/>
              </a:rPr>
              <a:t> (subjunctive)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تُعِيدْ</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ea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تُعِيدَ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الخُبَرَاءُ</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يُعَادَ تَوْزِيعُ الفُرَصِ</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يُطَالِبُ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 only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argue that the state must redistribute opportunities for justice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تَحْقِيقُ العَدَالَةِ أَنْ تُعِيدَ الدَّوْلَةُ تَوْزِيعَ الفُرَصِ.</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ARGUMENT FORM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argument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الحُجَّةِ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40965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339328" y="2267712"/>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114800" y="2267712"/>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القَضِيَّةُ الاجْتِمَاعِيَّةُ الرَّئِيسِيَّةُ الَّتِي تُعَالِجُهَا</a:t>
            </a:r>
            <a:endParaRPr lang="ar-SA" sz="1600" dirty="0"/>
          </a:p>
        </p:txBody>
      </p:sp>
      <p:sp>
        <p:nvSpPr>
          <p:cNvPr id="22" name="Text 19"/>
          <p:cNvSpPr txBox="1"/>
          <p:nvPr/>
        </p:nvSpPr>
        <p:spPr>
          <a:xfrm>
            <a:off x="56692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main social issue you are addressing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339328" y="300471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114800" y="3004718"/>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دَلِيلٌ إِحْصَائِيٌّ بِكَلَامٍ مَنْقُولٍ</a:t>
            </a:r>
            <a:endParaRPr lang="ar-SA" sz="1600" dirty="0"/>
          </a:p>
        </p:txBody>
      </p:sp>
      <p:sp>
        <p:nvSpPr>
          <p:cNvPr id="28" name="Text 25"/>
          <p:cNvSpPr txBox="1"/>
          <p:nvPr/>
        </p:nvSpPr>
        <p:spPr>
          <a:xfrm>
            <a:off x="56692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 statistical piece of evidence using reported speech</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339328" y="3741725"/>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114800" y="3741725"/>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تَسْلِيمٌ بِالرَّأْيِ المُضَادِّ</a:t>
            </a:r>
            <a:endParaRPr lang="ar-SA" sz="1600" dirty="0"/>
          </a:p>
        </p:txBody>
      </p:sp>
      <p:sp>
        <p:nvSpPr>
          <p:cNvPr id="34" name="Text 31"/>
          <p:cNvSpPr txBox="1"/>
          <p:nvPr/>
        </p:nvSpPr>
        <p:spPr>
          <a:xfrm>
            <a:off x="56692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concession of the opposing view using ṣaḥīḥun anna + a verb in -u</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339328" y="4478731"/>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4114800" y="4478731"/>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رَدٌّ</a:t>
            </a:r>
            <a:endParaRPr lang="ar-SA" sz="1600" dirty="0"/>
          </a:p>
        </p:txBody>
      </p:sp>
      <p:sp>
        <p:nvSpPr>
          <p:cNvPr id="40" name="Text 37"/>
          <p:cNvSpPr txBox="1"/>
          <p:nvPr/>
        </p:nvSpPr>
        <p:spPr>
          <a:xfrm>
            <a:off x="56692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refutation using ghayra anna</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339328" y="521573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4114800" y="5215738"/>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خَاتِمَةٌ</a:t>
            </a:r>
            <a:endParaRPr lang="ar-SA" sz="1600" dirty="0"/>
          </a:p>
        </p:txBody>
      </p:sp>
      <p:sp>
        <p:nvSpPr>
          <p:cNvPr id="46" name="Text 43"/>
          <p:cNvSpPr txBox="1"/>
          <p:nvPr/>
        </p:nvSpPr>
        <p:spPr>
          <a:xfrm>
            <a:off x="56692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 conclusion using wa-bināʾan ʿalā mā sabaqa + a subjunctive verb</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Example: </a:t>
            </a:r>
            <a:pPr algn="l" indent="0" marL="0">
              <a:buNone/>
            </a:pPr>
            <a:r>
              <a:rPr lang="ar-SA" altLang="en-US" sz="1450" b="1" dirty="0">
                <a:solidFill>
                  <a:srgbClr val="1B3B6F"/>
                </a:solidFill>
                <a:latin typeface="Amiri" pitchFamily="2" charset="-78"/>
                <a:ea typeface="Amiri" pitchFamily="2" charset="-78"/>
                <a:cs typeface="Amiri" pitchFamily="2" charset="-78"/>
              </a:rPr>
              <a:t>الفَجْوَةُ الرَّقْمِيَّةُ</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أَكَّدَتِ الدِّرَاسَاتُ أَنَّ</a:t>
            </a:r>
            <a:pPr algn="l" indent="0" marL="0">
              <a:buNone/>
            </a:pPr>
            <a:r>
              <a:rPr lang="en-US" sz="1100" b="1" dirty="0">
                <a:solidFill>
                  <a:srgbClr val="1B3B6F"/>
                </a:solidFill>
                <a:latin typeface="Calibri" pitchFamily="34" charset="0"/>
                <a:cs typeface="Amiri" pitchFamily="2" charset="-78"/>
              </a:rPr>
              <a:t> … · </a:t>
            </a:r>
            <a:pPr algn="l" indent="0" marL="0">
              <a:buNone/>
            </a:pPr>
            <a:r>
              <a:rPr lang="ar-SA" altLang="en-US" sz="1450" b="1" dirty="0">
                <a:solidFill>
                  <a:srgbClr val="1B3B6F"/>
                </a:solidFill>
                <a:latin typeface="Amiri" pitchFamily="2" charset="-78"/>
                <a:ea typeface="Amiri" pitchFamily="2" charset="-78"/>
                <a:cs typeface="Amiri" pitchFamily="2" charset="-78"/>
              </a:rPr>
              <a:t>صَحِيحٌ أَنَّ التِّقْنِيَّةَ تُوَفِّرُ فُرَصًا</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غَيْرَ أَنَّهَا تُعَمِّقُ الفَجْوَةَ</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وَبِنَاءً عَلَى مَا سَبَقَ، يَتَطَلَّبُ الأَمْرُ أَنْ نَسْتَثْمِرَ</a:t>
            </a:r>
            <a:pPr algn="l" indent="0" marL="0">
              <a:buNone/>
            </a:pPr>
            <a:r>
              <a:rPr lang="en-US" sz="1100" b="1" dirty="0">
                <a:solidFill>
                  <a:srgbClr val="1B3B6F"/>
                </a:solidFill>
                <a:latin typeface="Calibri" pitchFamily="34" charset="0"/>
                <a:cs typeface="Amiri" pitchFamily="2" charset="-78"/>
              </a:rPr>
              <a:t> …</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150–165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argumentative essay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حِجَاجِيٌّ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 /5</a:t>
            </a:r>
            <a:endParaRPr lang="en-US" sz="1100" dirty="0"/>
          </a:p>
        </p:txBody>
      </p:sp>
      <p:sp>
        <p:nvSpPr>
          <p:cNvPr id="20" name="Text 17"/>
          <p:cNvSpPr txBox="1"/>
          <p:nvPr/>
        </p:nvSpPr>
        <p:spPr>
          <a:xfrm>
            <a:off x="566928" y="2267712"/>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clear thesis (a position, not just a topic) and statistical evidence with reported speech. · A genuine concession (ṣaḥīḥun anna) and a clear refutation (ghayra anna). · A formal conclusion connector (wa-bināʾan ʿalā mā sabaqa) + a subjunctive; 150-165 words.</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 with a verb other than qāla, and a Type 2 conditional. · A subjunctive trigger from P4 or P5 (yataṭallabu / yuṭālibu / yuṣirru / yamnaʿu / yarfuḍu an …). · A concession structure (ṣaḥīḥun anna / bi-l-raghmi min) and a formal conclusion connector.</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subjunctive -a marker after every trigger, and correct an vs anna (2 marks). · The Type 2 la- prefix in the result clause (2 marks). · The correct indicative after ṣaḥīḥun anna (1 mark) — the primary P5 accuracy criterion.</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Independent evidence: no translation software or AI. Plan the four paragraphs (P5-L09): thesis · evidence · concession + refutation · conclusion — and tick the nine Range markers.</a:t>
            </a:r>
            <a:endParaRPr lang="en-US" sz="110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 play: a social-justice conference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مُؤْتَمَرِ العَدَالَةِ الاجْتِمَاعِيَّةِ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the social issue you are addressing; evidence and reported speech expected.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قَدِّمِ القَضِيَّةَ الاجْتِمَاعِيَّةَ الَّتِي تُعَالِجُهَا.</a:t>
            </a:r>
            <a:endParaRPr lang="ar-SA" sz="17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agree with in the opposing position using ṣaḥīḥun anna + a real concession (an accuracy mark).</a:t>
            </a:r>
            <a:endParaRPr lang="en-US" sz="1100" dirty="0"/>
          </a:p>
        </p:txBody>
      </p:sp>
      <p:sp>
        <p:nvSpPr>
          <p:cNvPr id="23" name="Text 20"/>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قُلْ مَا الَّذِي تُوَافِقُ عَلَيْهِ فِي المَوْقِفِ المُضَادِّ.</a:t>
            </a:r>
            <a:endParaRPr lang="ar-SA" sz="17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strongest counter-argument using ghayra anna + a refutation (an accuracy mark).</a:t>
            </a:r>
            <a:endParaRPr lang="en-US" sz="1100" dirty="0"/>
          </a:p>
        </p:txBody>
      </p:sp>
      <p:sp>
        <p:nvSpPr>
          <p:cNvPr id="26" name="Text 23"/>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اعْرِضْ حُجَّتَكَ الأَقْوَى.</a:t>
            </a:r>
            <a:endParaRPr lang="ar-SA" sz="1700" dirty="0"/>
          </a:p>
        </p:txBody>
      </p:sp>
      <p:sp>
        <p:nvSpPr>
          <p:cNvPr id="27" name="Shape 2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what the solution requires using yataṭallabu an + a verb in -a.</a:t>
            </a:r>
            <a:endParaRPr lang="en-US" sz="1100" dirty="0"/>
          </a:p>
        </p:txBody>
      </p:sp>
      <p:sp>
        <p:nvSpPr>
          <p:cNvPr id="29" name="Text 26"/>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اذْكُرْ مَا الَّذِي يَتَطَلَّبُهُ الحَلُّ.</a:t>
            </a:r>
            <a:endParaRPr lang="ar-SA" sz="1700" dirty="0"/>
          </a:p>
        </p:txBody>
      </p:sp>
      <p:sp>
        <p:nvSpPr>
          <p:cNvPr id="30" name="Text 2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2 (a genuine concession with ṣaḥīḥun anna in prompt 2 · a refutation with ghayra anna in prompt 3).</a:t>
            </a:r>
            <a:endParaRPr lang="en-US" sz="11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 → required</a:t>
            </a:r>
            <a:endParaRPr lang="en-US" sz="1100" dirty="0"/>
          </a:p>
        </p:txBody>
      </p:sp>
      <p:sp>
        <p:nvSpPr>
          <p:cNvPr id="17" name="Text 14"/>
          <p:cNvSpPr txBox="1"/>
          <p:nvPr/>
        </p:nvSpPr>
        <p:spPr>
          <a:xfrm>
            <a:off x="5303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327648" y="2267712"/>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social challenge facing the Arab world today? → a full argument with evidence expected</a:t>
            </a:r>
            <a:endParaRPr lang="en-US" sz="1100" dirty="0"/>
          </a:p>
        </p:txBody>
      </p:sp>
      <p:sp>
        <p:nvSpPr>
          <p:cNvPr id="20" name="Text 17"/>
          <p:cNvSpPr txBox="1"/>
          <p:nvPr/>
        </p:nvSpPr>
        <p:spPr>
          <a:xfrm>
            <a:off x="548640" y="2267712"/>
            <a:ext cx="5577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أَكْبَرُ تَحَدٍّ اجْتِمَاعِيٍّ يُوَاجِهُ العَالَمَ العَرَبِيَّ اليَوْمَ؟</a:t>
            </a:r>
            <a:endParaRPr lang="ar-SA" sz="16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327648" y="3054096"/>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think technology deepens or reduces inequality? → concession-refutation expected</a:t>
            </a:r>
            <a:endParaRPr lang="en-US" sz="1100" dirty="0"/>
          </a:p>
        </p:txBody>
      </p:sp>
      <p:sp>
        <p:nvSpPr>
          <p:cNvPr id="23" name="Text 20"/>
          <p:cNvSpPr txBox="1"/>
          <p:nvPr/>
        </p:nvSpPr>
        <p:spPr>
          <a:xfrm>
            <a:off x="548640" y="3054096"/>
            <a:ext cx="5577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تَعْتَقِدُ أَنَّ التَّكْنُولُوجِيَا تُعَمِّقُ أَمْ تُقَلِّلُ عَدَمَ المُسَاوَاةِ؟</a:t>
            </a:r>
            <a:endParaRPr lang="ar-SA" sz="16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327648" y="3840480"/>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were in a position of power, what would you change first? → Type 2 conditional required</a:t>
            </a:r>
            <a:endParaRPr lang="en-US" sz="1100" dirty="0"/>
          </a:p>
        </p:txBody>
      </p:sp>
      <p:sp>
        <p:nvSpPr>
          <p:cNvPr id="26" name="Text 23"/>
          <p:cNvSpPr txBox="1"/>
          <p:nvPr/>
        </p:nvSpPr>
        <p:spPr>
          <a:xfrm>
            <a:off x="548640" y="3840480"/>
            <a:ext cx="5577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كُنْتَ فِي مَوْقِعِ السُّلْطَةِ، مَاذَا كُنْتَ سَتُغَيِّرُ أَوَّلًا؟</a:t>
            </a:r>
            <a:endParaRPr lang="ar-SA" sz="16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Marks (website): communication 3 · quality of language 3 — the examiner records whether the concession–refutation (Q2) and the Type 2 (Q3) are produced or avoided.</a:t>
            </a:r>
            <a:endParaRPr lang="en-US" sz="110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P5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P5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balanced, accurate argument about social issues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P5-L01, L03 and L07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concede with ṣaḥīḥun anna + a verb in -u and answer with ghayra anna.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an + a verb in -a after a trigger, and anna + a noun after a reporting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insist, demand, prohibit and refuse (yuṣirru ʿalā · yuṭālibu bi- · yamnaʿu · yarfuḍu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regret with law … la- and close with wa-bināʾan ʿalā mā sabaqa +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150–165-word argumentative essay with all nine Range markers.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P5-L12 · P5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P6-L01 · Bridge Launch — Mapping the IGCSE and Setting Personal Targets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وَرَقَةُ الامْتِحَانِ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exam paper</a:t>
            </a:r>
            <a:pPr indent="0" marL="0">
              <a:buNone/>
            </a:pPr>
            <a:r>
              <a:rPr lang="ar-SA" sz="1000" i="1" dirty="0">
                <a:solidFill>
                  <a:srgbClr val="5A6472"/>
                </a:solidFill>
                <a:latin typeface="Calibri" pitchFamily="34" charset="0"/>
                <a:ea typeface="Amiri" pitchFamily="2" charset="-78"/>
                <a:cs typeface="Amiri" pitchFamily="2" charset="-78"/>
              </a:rPr>
              <a:t>  pl. أَوْرَاقُ</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مَعَايِيرُ التَّقْيِيمِ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assessment criteria</a:t>
            </a:r>
            <a:pPr indent="0" marL="0">
              <a:buNone/>
            </a:pPr>
            <a:r>
              <a:rPr lang="ar-SA" sz="1000" i="1" dirty="0">
                <a:solidFill>
                  <a:srgbClr val="5A6472"/>
                </a:solidFill>
                <a:latin typeface="Calibri" pitchFamily="34" charset="0"/>
                <a:ea typeface="Amiri" pitchFamily="2" charset="-78"/>
                <a:cs typeface="Amiri" pitchFamily="2" charset="-78"/>
              </a:rPr>
              <a:t>  sg. مِعْيَارٌ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جَاهِزِيَّةُ الامْتِحَانِ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exam readiness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r>
              <a:rPr lang="ar-SA" sz="1000" i="1" dirty="0">
                <a:solidFill>
                  <a:srgbClr val="5A6472"/>
                </a:solidFill>
                <a:latin typeface="Calibri" pitchFamily="34" charset="0"/>
                <a:ea typeface="Amiri" pitchFamily="2" charset="-78"/>
                <a:cs typeface="Amiri" pitchFamily="2" charset="-78"/>
              </a:rPr>
              <a:t>  pl. نِقَاطُ قُوَّةٍ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مَجَالُ تَحْسِينٍ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area for improvement</a:t>
            </a:r>
            <a:pPr indent="0" marL="0">
              <a:buNone/>
            </a:pPr>
            <a:r>
              <a:rPr lang="ar-SA" sz="1000" i="1" dirty="0">
                <a:solidFill>
                  <a:srgbClr val="5A6472"/>
                </a:solidFill>
                <a:latin typeface="Calibri" pitchFamily="34" charset="0"/>
                <a:ea typeface="Amiri" pitchFamily="2" charset="-78"/>
                <a:cs typeface="Amiri" pitchFamily="2" charset="-78"/>
              </a:rPr>
              <a:t>  pl. مَجَالَاتُ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of the four skills is your strongest — and which one needs the most work before the IGCSE?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نُقْطَةُ قُوَّتِي ______ ، وَمَجَالُ تَحْسِينِي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P5-L12 section with your lowest score; learn the five P6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essay (add the missing marker), then learn the five P6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your exam readiness with ṣaḥīḥun anna … ghayra anna and yataṭallabu 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P6-L01 · Bridge Launch — Mapping the IGCSE and Setting Personal Targets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إِطْلَاقُ الجِسْرِ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P5 complete — well done! Carry the P5 checklist into the IGCSE Bridge: ṣaḥīḥun anna + -u … ghayra anna · an + -a vs anna + noun · law … la- · kānat qad · wa-bināʾan ʿalā mā sabaqa.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P5-L12 · Review and Unit Assessment: Social Issues and Opinions</dc:title>
  <dc:subject>PptxGenJS Presentation</dc:subject>
  <dc:creator>Al Madina Online School · Arabic Department</dc:creator>
  <cp:lastModifiedBy>Al Madina Online School · Arabic Department</cp:lastModifiedBy>
  <cp:revision>1</cp:revision>
  <dcterms:created xsi:type="dcterms:W3CDTF">2026-10-11T06:43:32Z</dcterms:created>
  <dcterms:modified xsi:type="dcterms:W3CDTF">2026-10-11T06:43:32Z</dcterms:modified>
</cp:coreProperties>
</file>