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Map · 2–8 Do Now + answers · 8–9 Objectives · 9–14 Register words · 14–17 Register signals · 17–21 Same content, two registers (I Do) · 21–23 The Q1 mark scheme · 23–25 Choose your task · 25–45 Write (20 min, exam timing) · 45–51 Models + self-mark · 51–54 Difficulty profile · 54–58 Reflection + self-check · 58–60 Preparation.
FLEX slides are optional. Use them if the class is moving quickly; otherwise the same activities are on the website for homework.
Content source: Miftah Arabic website, Pathways › Progression › P6 IGCSE Bridge › P6-L04. The website P6-L04: the text-type and register vocabulary (16 words), the register-signals table, the Paper 4 Q1 mark scheme (TC 7 · Range 4 · Accuracy 4), three tasks with checklists and models (a formal letter to the Arab League Environment Committee · a youth-magazine article on wellbeing · a friendly email to an exchange student), the text-type difficulty profile and the reflection frames.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EXAM-TIMED WRITING: Q1 in the real Paper 4 has about 25–30 minutes; today students write ONE task in 20 minutes. Routes by register difficulty: Core → Task 3 (friendly email) · Develop → Task 2 (article) · Stretch → Task 1 (formal letter). Fast finishers start a second task.
• The key message of the website: in Q1, Task Completion carries the most weight (7 of 15) — the wrong register or one missing content point costs marks even when the Arabic is accurate.
• Models are shown ONLY after writing; students then self-mark against the website mark scheme (TC / Range / Accuracy) and write one improvement.
• Website fix: يَسْعُدُنِي → يُسْعِدُنِي (email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show the whole journey so students know when they will listen, read, speak or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P6-L03. Questions 4–5 retrieve two P5 accuracy points that appear in the formal-letter model.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In Q1 the reader decides the language: a minister, a magazine reader and a friend each need a different register — from the very first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Left: the website objectives. Right: the same objectives broken into three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رسمی, مقالہ and احترام are shared. Two traps: Urdu تقریر = a SPEECH, but Arabic التَّقْرِيرُ = a REPORT; Urdu خطاب = a speech or a title, but Arabic الخِطَابُ here = a (formal)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Text types (website vocabulary (1 of 2)). Hear → Say → See → Use. Transliteration is printed for Core students (cover it for Develop/Stretch).
Text types: خِطَابٌ رَسْمِيٌّ (a formal letter) · بَرِيدٌ إِلِكْتْرُونِيٌّ (an email) · مَقَالَةٌ (an article) · تَقْرِيرٌ (a report) · يَوْمِيَّاتٌ (a diary). Each has its own صِيغَةٌ (register): رَسْمِيَّةٌ or غَيْرُ رَسْمِيَّةٍ.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Text types (website vocabulary (2 of 2)). Hear → Say → See → Use. Transliteration is printed for Core students (cover it for Develop/Stretch).
Text types: خِطَابٌ رَسْمِيٌّ (a formal letter) · بَرِيدٌ إِلِكْتْرُونِيٌّ (an email) · مَقَالَةٌ (an article) · تَقْرِيرٌ (a report) · يَوْمِيَّاتٌ (a diary). Each has its own صِيغَةٌ (register): رَسْمِيَّةٌ or غَيْرُ رَسْمِيَّةٍ.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Register signals (website vocabulary (1 of 2)). Hear → Say → See → Use. Transliteration is printed for Core students (cover it for Develop/Stretch).
Register signals — learn them in PAIRS: formal أَتَشَرَّفُ بِمُخَاطَبَتِكُمْ … وَتَفَضَّلُوا بِقَبُولِ الاحْتِرَامِ · friendly حَيَّاكَ اللَّهُ … إِلَى اللِّقَاءِ. Never mix them in one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Register signals (website vocabulary (2 of 2)). Hear → Say → See → Use. Transliteration is printed for Core students (cover it for Develop/Stretch).
Register signals — learn them in PAIRS: formal أَتَشَرَّفُ بِمُخَاطَبَتِكُمْ … وَتَفَضَّلُوا بِقَبُولِ الاحْتِرَامِ · friendly حَيَّاكَ اللَّهُ … إِلَى اللِّقَاءِ. Never mix them in one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SIGNALS (3 min) — website table. Ask: which text type has NO address? (the article — it opens with a hook). Which uses numbered sections?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(4 min) — built from the two website models. Read each row across, formal then friendly. Point out: formal = plural “you” (تَتَّخِذُوا), passives (تُطْلَقَ), formal titles; friendly = singular “you” (أَنْصَحُكَ), names, exclamation. The P5 grammar works in BOTH registers.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Website note: In Q1, Task Completion carries the most weight: wrong register or a missing content point costs marks even when the Arabic is accurate. Get the register right from the opening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ROUTES (2 min to choose). Students may move UP a route if confident. Exam timing: 20 minutes, then pens down. Fast finishers: a second task in a different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
Website task: Write a friendly email (130–140 words) to an Arabic exchange student coming to your school for a month. Describe: your school, the local area, one cultural custom to be aware of, and a suggested activity. Register: friendly, semi-formal.
Website checklist: A warm opening (حَيَّاكَ اللَّهُ / عَزِيزِي …). · The school, the area, a custom and a suggested activity. · Friendly, first/second-person register. · A warm closing (إِلَى اللِّقَاءِ).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Website task: Write an article (130–140 words) for an Arabic youth magazine on: “How I manage stress and maintain my wellbeing.” Register: engaging, semi-formal, first person.
Website checklist: An engaging hook (no formal address). · First-person, semi-formal register. · At least one conditional and one subjunctive trigger. · A clear closing thought for the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
Website task: Write a formal letter (130–140 words) to the Arab League Environment Committee recommending a specific environmental measure. Include: the problem, your proposed solution, the expected benefit, and a request for action. Keep the register رَسْمِيًّا throughout.
Website checklist: Formal opening (أَتَشَرَّفُ بِمُخَاطَبَتِكُمْ …). · The problem, the solution, the benefit and a request for action. · Formal connectors and impersonal/passive structures. · A formal closing (وَتَفَضَّلُوا بِقَبُولِ الاحْتِرَامِ).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MODEL (website) — show AFTER students have written. Students find the four items on the chips, then choose ONE thing to add to their own answer.
Website model (email), with one fix: يَسْعُدُنِي → يُسْعِدُنِي (Form IV, “it makes me happy”). Register signals: عَزِيزِي · حَيَّاكَ اللَّهُ · أَنْصَحُكَ بِأَنْ تُحْضِرَ · إِلَى اللِّقَاءِ، صَدِيقُكَ.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MODEL (website) — show AFTER students have written. Students find the four items on the chips, then choose ONE thing to add to their own answer.
Website model (article). Register signals: a hook question, first person (أُشِيرُ · أُحَافِظُ), يَنْبَغِي أَنْ, a call to the reader (أَدْعُو … إِلَى أَنْ يَعْتَنِيَ). Note: إِذَا خَصَّصْتُ … شَعَرْتُ — a past-tense result for a habit (“whenever”).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MODEL (website) — show AFTER students have written. Students find the four items on the chips, then choose ONE thing to add to their own answer.
Website model (formal letter). Register signals: حَضَرَاتِ … المُحْتَرَمِينَ · أَتَشَرَّفُ بِمُخَاطَبَتِكُمْ · passives in -a (أَنْ تُطْلَقَ · أَنْ تُسْتَثْمَرَ) · وَتَفَضَّلُوا بِقَبُولِ فَائِقِ الاحْتِرَامِ.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DIFFICULTY PROFILE (3 min) — website fields, completed after self-marking against the mark scheme.
Website: In the real exam you cannot always choose the text type, so know your strengths and weaknesses.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(2 min) — website frames.
Website:  (Register — the TC multiplier)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(P6-L05 · Paper 4 Q2 — Extended Writing: Essay Architecture Under Exam Conditions) will spend class time USING this language, so students prepare it tonight — short, simple, easy to access (school guidance: “Simple, Short, Interesting, Relevant, Easy to access”). The five words come from the website P6-L05 vocabulary (extended writing).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P6  ·  P6-L04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P6-L04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Paper 4 Q1 — Directed Writing: Mastering Form and Register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350" b="1" dirty="0">
                <a:solidFill>
                  <a:srgbClr val="D4AF37"/>
                </a:solidFill>
                <a:latin typeface="Amiri" pitchFamily="2" charset="-78"/>
                <a:ea typeface="Amiri" pitchFamily="2" charset="-78"/>
                <a:cs typeface="Amiri" pitchFamily="2" charset="-78"/>
              </a:rPr>
              <a:t>الوَرَقَةُ الرَّابِعَةُ — الكِتَابَةُ المُوَجَّهَةُ: الشَّكْلُ وَالصِّيغَةُ</a:t>
            </a:r>
            <a:endParaRPr lang="ar-SA" sz="33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Write Paper 4 Q1 (130–140 words) in the right form and register — a formal letter, an article or a friendly email — with the right opening and closing, every content point covered, and the Q1 mark scheme (TC 7 · Range 4 · Accuracy 4) as your checklist.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P6-L04 · Progression P6 · IGCSE Bridge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P6 › P6-L04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register words and P5 accuracy.</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Text types, register signals, the mark scheme.</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الصِّيغَةُ</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Same content, two registers.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Choose your task and write (exam timing).</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Models, self-marking, difficulty profile, reflection.</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C45A3C"/>
          </a:solidFill>
          <a:ln w="12700">
            <a:solidFill>
              <a:srgbClr val="C45A3C"/>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the extended essay.</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This is an exam-preparation lesson. Every task uses the real IGCSE format — Core students use the green boxes, frames and English support; nobody is expected to get everything right first time.</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الكِتَابَةُ المُوَجَّهَةُ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free writing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directed writing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handwriting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صِيغَةٌ رَسْمِيَّةٌ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 register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official form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friendly tone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opens a formal letter?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حَيَّاكَ اللَّهُ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اللِّقَاءِ</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أَتَشَرَّفُ بِمُخَاطَبَتِكُمْ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أَقْتَرِحُ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حَمْلَةٌ لِتَرْشِيدِ الاسْتِهْلَاكِ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تُطْلَقُ</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أُطْلِقَتْ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تُطْلَقَ</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لَوْ طُبِّقَتْ هٰذِهِ الإِجْرَاءَاتُ،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الوَضْعُ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لَتَحَسَّنَ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سَيَتَحَسَّنُ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يَتَحَسَّنُ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الكِتَابَةُ المُوَجَّهَةُ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free writing</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directed writing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handwriting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صِيغَةٌ رَسْمِيَّةٌ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formal register</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official form</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friendly tone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opens a formal letter?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حَيَّاكَ اللَّهُ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 اللِّقَاءِ</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أَتَشَرَّفُ بِمُخَاطَبَتِكُمْ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(P6-L03).</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أَقْتَرِحُ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حَمْلَةٌ لِتَرْشِيدِ الاسْتِهْلَاكِ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تُطْلَقُ</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أُطْلِقَتْ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تُطْلَقَ</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 an + a passive in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لَوْ طُبِّقَتْ هٰذِهِ الإِجْرَاءَاتُ،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الوَضْعُ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لَتَحَسَّنَ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سَيَتَحَسَّنُ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يَتَحَسَّنُ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 law … la-.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100" b="1" dirty="0">
                <a:solidFill>
                  <a:srgbClr val="1F2A37"/>
                </a:solidFill>
                <a:latin typeface="Calibri" pitchFamily="34" charset="0"/>
                <a:cs typeface="Amiri" pitchFamily="2" charset="-78"/>
              </a:rPr>
              <a:t>In Q1 the reader decides the language: a minister, a magazine reader and a friend each need a different register — from the very first line.</a:t>
            </a:r>
            <a:endParaRPr lang="en-US" sz="11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أَتَشَرَّفُ بِمُخَاطَبَتِكُمْ ≠ حَيَّاكَ اللَّهُ</a:t>
            </a:r>
            <a:endParaRPr lang="ar-SA" sz="23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Paper 4 Q1 (130–140 words) in three different text types.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Match register — formal, semi-formal, friendly — to each text type.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Cover every required content point for Task Completion.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the Q1 mark scheme to self-assess each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open and close a friendly email correctly.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cover all four content points.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keep a semi-formal register in an article.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 conditional and a trigger.</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formal letter with passives and formal connectors.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self-mark against TC, Range and Accuracy.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16 exam words from the website in 2 groups. </a:t>
            </a:r>
            <a:endParaRPr lang="en-US" sz="1600" dirty="0"/>
          </a:p>
        </p:txBody>
      </p:sp>
      <p:sp>
        <p:nvSpPr>
          <p:cNvPr id="8" name="Shape 6"/>
          <p:cNvSpPr/>
          <p:nvPr/>
        </p:nvSpPr>
        <p:spPr>
          <a:xfrm>
            <a:off x="457200" y="4572000"/>
            <a:ext cx="3863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Text types · 8</a:t>
            </a:r>
            <a:endParaRPr lang="en-US" sz="900" dirty="0"/>
          </a:p>
        </p:txBody>
      </p:sp>
      <p:sp>
        <p:nvSpPr>
          <p:cNvPr id="10" name="Shape 8"/>
          <p:cNvSpPr/>
          <p:nvPr/>
        </p:nvSpPr>
        <p:spPr>
          <a:xfrm>
            <a:off x="4457700" y="4572000"/>
            <a:ext cx="3863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45948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Register signals · 8</a:t>
            </a:r>
            <a:endParaRPr lang="en-US" sz="900" dirty="0"/>
          </a:p>
        </p:txBody>
      </p:sp>
      <p:sp>
        <p:nvSpPr>
          <p:cNvPr id="12" name="Shape 10"/>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3" name="Text 11"/>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4" name="Text 12"/>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خِطَابٌ</a:t>
            </a:r>
            <a:endParaRPr lang="ar-SA" sz="1900" dirty="0"/>
          </a:p>
        </p:txBody>
      </p:sp>
      <p:sp>
        <p:nvSpPr>
          <p:cNvPr id="15" name="Text 13"/>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‎خطاب‎ </a:t>
            </a:r>
            <a:pPr indent="0" marL="0">
              <a:buNone/>
            </a:pPr>
            <a:r>
              <a:rPr lang="en-US" sz="950" b="1" dirty="0">
                <a:solidFill>
                  <a:srgbClr val="2E8B57"/>
                </a:solidFill>
                <a:latin typeface="Calibri" pitchFamily="34" charset="0"/>
                <a:cs typeface="Amiri" pitchFamily="2" charset="-78"/>
              </a:rPr>
              <a:t> khitāb · Arabic: a letter, an address · Urdu: a speech, a title</a:t>
            </a:r>
            <a:endParaRPr lang="en-US" sz="1400" dirty="0"/>
          </a:p>
        </p:txBody>
      </p:sp>
      <p:sp>
        <p:nvSpPr>
          <p:cNvPr id="16" name="Text 14"/>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رَسْمِيٌّ</a:t>
            </a:r>
            <a:endParaRPr lang="ar-SA" sz="1900" dirty="0"/>
          </a:p>
        </p:txBody>
      </p:sp>
      <p:sp>
        <p:nvSpPr>
          <p:cNvPr id="17" name="Text 15"/>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‎رسمی‎ </a:t>
            </a:r>
            <a:pPr indent="0" marL="0">
              <a:buNone/>
            </a:pPr>
            <a:r>
              <a:rPr lang="en-US" sz="950" b="1" dirty="0">
                <a:solidFill>
                  <a:srgbClr val="2E8B57"/>
                </a:solidFill>
                <a:latin typeface="Calibri" pitchFamily="34" charset="0"/>
                <a:cs typeface="Amiri" pitchFamily="2" charset="-78"/>
              </a:rPr>
              <a:t> rasmī · formal, official</a:t>
            </a:r>
            <a:endParaRPr lang="en-US" sz="1400" dirty="0"/>
          </a:p>
        </p:txBody>
      </p:sp>
      <p:sp>
        <p:nvSpPr>
          <p:cNvPr id="18" name="Text 16"/>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تَقْرِيرٌ</a:t>
            </a:r>
            <a:endParaRPr lang="ar-SA" sz="1900" dirty="0"/>
          </a:p>
        </p:txBody>
      </p:sp>
      <p:sp>
        <p:nvSpPr>
          <p:cNvPr id="19" name="Text 17"/>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‎تقریر‎ </a:t>
            </a:r>
            <a:pPr indent="0" marL="0">
              <a:buNone/>
            </a:pPr>
            <a:r>
              <a:rPr lang="en-US" sz="950" b="1" dirty="0">
                <a:solidFill>
                  <a:srgbClr val="2E8B57"/>
                </a:solidFill>
                <a:latin typeface="Calibri" pitchFamily="34" charset="0"/>
                <a:cs typeface="Amiri" pitchFamily="2" charset="-78"/>
              </a:rPr>
              <a:t> taqrīr · Arabic: a report · Urdu: a speech</a:t>
            </a:r>
            <a:endParaRPr lang="en-US" sz="1400" dirty="0"/>
          </a:p>
        </p:txBody>
      </p:sp>
      <p:sp>
        <p:nvSpPr>
          <p:cNvPr id="20" name="Text 18"/>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مَقَالَةٌ</a:t>
            </a:r>
            <a:endParaRPr lang="ar-SA" sz="1900" dirty="0"/>
          </a:p>
        </p:txBody>
      </p:sp>
      <p:sp>
        <p:nvSpPr>
          <p:cNvPr id="21" name="Text 19"/>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‎مقالہ‎ </a:t>
            </a:r>
            <a:pPr indent="0" marL="0">
              <a:buNone/>
            </a:pPr>
            <a:r>
              <a:rPr lang="en-US" sz="950" b="1" dirty="0">
                <a:solidFill>
                  <a:srgbClr val="2E8B57"/>
                </a:solidFill>
                <a:latin typeface="Calibri" pitchFamily="34" charset="0"/>
                <a:cs typeface="Amiri" pitchFamily="2" charset="-78"/>
              </a:rPr>
              <a:t> maqāla · an article</a:t>
            </a:r>
            <a:endParaRPr lang="en-US" sz="1400" dirty="0"/>
          </a:p>
        </p:txBody>
      </p:sp>
      <p:sp>
        <p:nvSpPr>
          <p:cNvPr id="22" name="Text 20"/>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اِحْتِرَامٌ</a:t>
            </a:r>
            <a:endParaRPr lang="ar-SA" sz="1900" dirty="0"/>
          </a:p>
        </p:txBody>
      </p:sp>
      <p:sp>
        <p:nvSpPr>
          <p:cNvPr id="23" name="Text 21"/>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‎احترام‎ </a:t>
            </a:r>
            <a:pPr indent="0" marL="0">
              <a:buNone/>
            </a:pPr>
            <a:r>
              <a:rPr lang="en-US" sz="950" b="1" dirty="0">
                <a:solidFill>
                  <a:srgbClr val="2E8B57"/>
                </a:solidFill>
                <a:latin typeface="Calibri" pitchFamily="34" charset="0"/>
                <a:cs typeface="Amiri" pitchFamily="2" charset="-78"/>
              </a:rPr>
              <a:t> ehtirām · respect</a:t>
            </a:r>
            <a:endParaRPr lang="en-US" sz="1400" dirty="0"/>
          </a:p>
        </p:txBody>
      </p:sp>
      <p:sp>
        <p:nvSpPr>
          <p:cNvPr id="25" name="Text 2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types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الكِتَابَةُ المُوَجَّهَةُ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directed writing</a:t>
            </a:r>
            <a:endParaRPr lang="en-US" sz="1350" dirty="0"/>
          </a:p>
          <a:p>
            <a:pPr indent="0" marL="0">
              <a:buNone/>
            </a:pPr>
            <a:r>
              <a:rPr lang="en-US" sz="1100" i="1" dirty="0">
                <a:solidFill>
                  <a:srgbClr val="5A6472"/>
                </a:solidFill>
                <a:latin typeface="Calibri" pitchFamily="34" charset="0"/>
                <a:cs typeface="Amiri" pitchFamily="2" charset="-78"/>
              </a:rPr>
              <a:t>al-ki-tā-ba-tu al-mu-waj-ja-ha-tu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خِطَابٌ رَسْمِيٌّ</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formal letter</a:t>
            </a:r>
            <a:endParaRPr lang="en-US" sz="1350" dirty="0"/>
          </a:p>
          <a:p>
            <a:pPr indent="0" marL="0">
              <a:buNone/>
            </a:pPr>
            <a:r>
              <a:rPr lang="en-US" sz="1100" i="1" dirty="0">
                <a:solidFill>
                  <a:srgbClr val="5A6472"/>
                </a:solidFill>
                <a:latin typeface="Calibri" pitchFamily="34" charset="0"/>
                <a:cs typeface="Amiri" pitchFamily="2" charset="-78"/>
              </a:rPr>
              <a:t>khi-ṭā-bun ras-miy-yun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خِطَابَاتٌ رَسْمِيَّةٌ</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بَرِيدٌ إِلِكْتْرُونِيٌّ</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email</a:t>
            </a:r>
            <a:endParaRPr lang="en-US" sz="1350" dirty="0"/>
          </a:p>
          <a:p>
            <a:pPr indent="0" marL="0">
              <a:buNone/>
            </a:pPr>
            <a:r>
              <a:rPr lang="en-US" sz="1100" i="1" dirty="0">
                <a:solidFill>
                  <a:srgbClr val="5A6472"/>
                </a:solidFill>
                <a:latin typeface="Calibri" pitchFamily="34" charset="0"/>
                <a:cs typeface="Amiri" pitchFamily="2" charset="-78"/>
              </a:rPr>
              <a:t>ba-rī-dun i-likt-rū-niy-yun</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Shape 41"/>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مَقَالَةٌ</a:t>
            </a:r>
            <a:endParaRPr lang="ar-SA" sz="3000" dirty="0"/>
          </a:p>
        </p:txBody>
      </p:sp>
      <p:sp>
        <p:nvSpPr>
          <p:cNvPr id="49" name="Text 4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article</a:t>
            </a:r>
            <a:endParaRPr lang="en-US" sz="1350" dirty="0"/>
          </a:p>
          <a:p>
            <a:pPr indent="0" marL="0">
              <a:buNone/>
            </a:pPr>
            <a:r>
              <a:rPr lang="en-US" sz="1100" i="1" dirty="0">
                <a:solidFill>
                  <a:srgbClr val="5A6472"/>
                </a:solidFill>
                <a:latin typeface="Calibri" pitchFamily="34" charset="0"/>
                <a:cs typeface="Amiri" pitchFamily="2" charset="-78"/>
              </a:rPr>
              <a:t>ma-qā-la-tun</a:t>
            </a:r>
            <a:endParaRPr lang="en-US" sz="1350" dirty="0"/>
          </a:p>
        </p:txBody>
      </p:sp>
      <p:sp>
        <p:nvSpPr>
          <p:cNvPr id="50" name="Shape 4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مَقَالَاتٌ</a:t>
            </a:r>
            <a:endParaRPr lang="ar-SA" sz="150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types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تَقْرِيرٌ</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report</a:t>
            </a:r>
            <a:endParaRPr lang="en-US" sz="1350" dirty="0"/>
          </a:p>
          <a:p>
            <a:pPr indent="0" marL="0">
              <a:buNone/>
            </a:pPr>
            <a:r>
              <a:rPr lang="en-US" sz="1100" i="1" dirty="0">
                <a:solidFill>
                  <a:srgbClr val="5A6472"/>
                </a:solidFill>
                <a:latin typeface="Calibri" pitchFamily="34" charset="0"/>
                <a:cs typeface="Amiri" pitchFamily="2" charset="-78"/>
              </a:rPr>
              <a:t>taq-rī-run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تَقَارِيرُ</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يَوْمِيَّاتٌ</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diary entry</a:t>
            </a:r>
            <a:endParaRPr lang="en-US" sz="1350" dirty="0"/>
          </a:p>
          <a:p>
            <a:pPr indent="0" marL="0">
              <a:buNone/>
            </a:pPr>
            <a:r>
              <a:rPr lang="en-US" sz="1100" i="1" dirty="0">
                <a:solidFill>
                  <a:srgbClr val="5A6472"/>
                </a:solidFill>
                <a:latin typeface="Calibri" pitchFamily="34" charset="0"/>
                <a:cs typeface="Amiri" pitchFamily="2" charset="-78"/>
              </a:rPr>
              <a:t>yaw-miy-yā-tun</a:t>
            </a:r>
            <a:endParaRPr lang="en-US" sz="135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3" name="Shape 3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صِيغَةٌ رَسْمِيَّةٌ</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formal register</a:t>
            </a:r>
            <a:endParaRPr lang="en-US" sz="1350" dirty="0"/>
          </a:p>
          <a:p>
            <a:pPr indent="0" marL="0">
              <a:buNone/>
            </a:pPr>
            <a:r>
              <a:rPr lang="en-US" sz="1100" i="1" dirty="0">
                <a:solidFill>
                  <a:srgbClr val="5A6472"/>
                </a:solidFill>
                <a:latin typeface="Calibri" pitchFamily="34" charset="0"/>
                <a:cs typeface="Amiri" pitchFamily="2" charset="-78"/>
              </a:rPr>
              <a:t>ṣī-gha-tun ras-miy-ya-tun</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0" name="Shape 3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صِيغَةٌ غَيْرُ رَسْمِيَّةٍ</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informal register</a:t>
            </a:r>
            <a:endParaRPr lang="en-US" sz="1350" dirty="0"/>
          </a:p>
          <a:p>
            <a:pPr indent="0" marL="0">
              <a:buNone/>
            </a:pPr>
            <a:r>
              <a:rPr lang="en-US" sz="1100" i="1" dirty="0">
                <a:solidFill>
                  <a:srgbClr val="5A6472"/>
                </a:solidFill>
                <a:latin typeface="Calibri" pitchFamily="34" charset="0"/>
                <a:cs typeface="Amiri" pitchFamily="2" charset="-78"/>
              </a:rPr>
              <a:t>ṣī-gha-tun ghay-ru ras-miy-ya-tin</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Register signals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مُقَدِّمَةٌ مُنَاسِبَةٌ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appropriate opening</a:t>
            </a:r>
            <a:endParaRPr lang="en-US" sz="1350" dirty="0"/>
          </a:p>
          <a:p>
            <a:pPr indent="0" marL="0">
              <a:buNone/>
            </a:pPr>
            <a:r>
              <a:rPr lang="en-US" sz="1100" i="1" dirty="0">
                <a:solidFill>
                  <a:srgbClr val="5A6472"/>
                </a:solidFill>
                <a:latin typeface="Calibri" pitchFamily="34" charset="0"/>
                <a:cs typeface="Amiri" pitchFamily="2" charset="-78"/>
              </a:rPr>
              <a:t>mu-qad-di-ma-tun mu-nā-si-ba-tun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خَاتِمَةٌ مُنَاسِبَةٌ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appropriate closing</a:t>
            </a:r>
            <a:endParaRPr lang="en-US" sz="1350" dirty="0"/>
          </a:p>
          <a:p>
            <a:pPr indent="0" marL="0">
              <a:buNone/>
            </a:pPr>
            <a:r>
              <a:rPr lang="en-US" sz="1100" i="1" dirty="0">
                <a:solidFill>
                  <a:srgbClr val="5A6472"/>
                </a:solidFill>
                <a:latin typeface="Calibri" pitchFamily="34" charset="0"/>
                <a:cs typeface="Amiri" pitchFamily="2" charset="-78"/>
              </a:rPr>
              <a:t>khā-ti-ma-tun mu-nā-si-ba-tun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اللُّغَةُ الإِقْنَاعِيَّةُ</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persuasive language</a:t>
            </a:r>
            <a:endParaRPr lang="en-US" sz="1350" dirty="0"/>
          </a:p>
          <a:p>
            <a:pPr indent="0" marL="0">
              <a:buNone/>
            </a:pPr>
            <a:r>
              <a:rPr lang="en-US" sz="1100" i="1" dirty="0">
                <a:solidFill>
                  <a:srgbClr val="5A6472"/>
                </a:solidFill>
                <a:latin typeface="Calibri" pitchFamily="34" charset="0"/>
                <a:cs typeface="Amiri" pitchFamily="2" charset="-78"/>
              </a:rPr>
              <a:t>all-lu-gha-tu al-iq-nā-ʿiy-ya-tu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المَعْلُومَاتُ المَطْلُوبَةُ</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required information</a:t>
            </a:r>
            <a:endParaRPr lang="en-US" sz="1350" dirty="0"/>
          </a:p>
          <a:p>
            <a:pPr indent="0" marL="0">
              <a:buNone/>
            </a:pPr>
            <a:r>
              <a:rPr lang="en-US" sz="1100" i="1" dirty="0">
                <a:solidFill>
                  <a:srgbClr val="5A6472"/>
                </a:solidFill>
                <a:latin typeface="Calibri" pitchFamily="34" charset="0"/>
                <a:cs typeface="Amiri" pitchFamily="2" charset="-78"/>
              </a:rPr>
              <a:t>al-maʿ-lū-mā-tu al-maṭ-lū-ba-tu</a:t>
            </a:r>
            <a:endParaRPr lang="en-US" sz="13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Register signals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Formal opener.</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أَتَشَرَّفُ بِمُخَاطَبَتِكُمْ</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the honour of writing to you</a:t>
            </a:r>
            <a:endParaRPr lang="en-US" sz="1350" dirty="0"/>
          </a:p>
          <a:p>
            <a:pPr indent="0" marL="0">
              <a:buNone/>
            </a:pPr>
            <a:r>
              <a:rPr lang="en-US" sz="1100" i="1" dirty="0">
                <a:solidFill>
                  <a:srgbClr val="5A6472"/>
                </a:solidFill>
                <a:latin typeface="Calibri" pitchFamily="34" charset="0"/>
                <a:cs typeface="Amiri" pitchFamily="2" charset="-78"/>
              </a:rPr>
              <a:t>a-ta-shar-ra-fu bi-mu-khā-ṭa-ba-ti-kum</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7" name="Shape 24"/>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a boy · girl</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حَيَّاكَ اللَّهُ</a:t>
            </a:r>
            <a:endParaRPr lang="ar-SA" sz="3000" dirty="0"/>
          </a:p>
        </p:txBody>
      </p:sp>
      <p:sp>
        <p:nvSpPr>
          <p:cNvPr id="32" name="Text 29"/>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welcome / hello</a:t>
            </a:r>
            <a:endParaRPr lang="en-US" sz="1350" dirty="0"/>
          </a:p>
          <a:p>
            <a:pPr indent="0" marL="0">
              <a:buNone/>
            </a:pPr>
            <a:r>
              <a:rPr lang="en-US" sz="1100" i="1" dirty="0">
                <a:solidFill>
                  <a:srgbClr val="5A6472"/>
                </a:solidFill>
                <a:latin typeface="Calibri" pitchFamily="34" charset="0"/>
                <a:cs typeface="Amiri" pitchFamily="2" charset="-78"/>
              </a:rPr>
              <a:t>ḥay-yā-ka all-la-hu</a:t>
            </a:r>
            <a:endParaRPr lang="en-US" sz="1350" dirty="0"/>
          </a:p>
        </p:txBody>
      </p:sp>
      <p:sp>
        <p:nvSpPr>
          <p:cNvPr id="33" name="Shape 30"/>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4" name="Text 31"/>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35" name="Text 32"/>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حَيَّاكِ اللَّهُ</a:t>
            </a:r>
            <a:endParaRPr lang="ar-SA"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9" name="Shape 36"/>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Formal closer.</a:t>
            </a:r>
            <a:endParaRPr lang="en-US" sz="800" dirty="0"/>
          </a:p>
        </p:txBody>
      </p:sp>
      <p:sp>
        <p:nvSpPr>
          <p:cNvPr id="41" name="Shape 38"/>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وَتَفَضَّلُوا بِقَبُولِ الاحْتِرَامِ</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yours faithfully</a:t>
            </a:r>
            <a:endParaRPr lang="en-US" sz="1350" dirty="0"/>
          </a:p>
          <a:p>
            <a:pPr indent="0" marL="0">
              <a:buNone/>
            </a:pPr>
            <a:r>
              <a:rPr lang="en-US" sz="1100" i="1" dirty="0">
                <a:solidFill>
                  <a:srgbClr val="5A6472"/>
                </a:solidFill>
                <a:latin typeface="Calibri" pitchFamily="34" charset="0"/>
                <a:cs typeface="Amiri" pitchFamily="2" charset="-78"/>
              </a:rPr>
              <a:t>wa-ta-faḍ-ḍa-lū bi-qa-bū-li alḥ-ti-rā-mi</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8" name="Shape 45"/>
          <p:cNvSpPr/>
          <p:nvPr/>
        </p:nvSpPr>
        <p:spPr>
          <a:xfrm>
            <a:off x="8604504" y="4279392"/>
            <a:ext cx="1269187"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Informal closer.</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إِلَى اللِّقَاءِ</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see you soon</a:t>
            </a:r>
            <a:endParaRPr lang="en-US" sz="1350" dirty="0"/>
          </a:p>
          <a:p>
            <a:pPr indent="0" marL="0">
              <a:buNone/>
            </a:pPr>
            <a:r>
              <a:rPr lang="en-US" sz="1100" i="1" dirty="0">
                <a:solidFill>
                  <a:srgbClr val="5A6472"/>
                </a:solidFill>
                <a:latin typeface="Calibri" pitchFamily="34" charset="0"/>
                <a:cs typeface="Amiri" pitchFamily="2" charset="-78"/>
              </a:rPr>
              <a:t>i-lā all-li-qā-ʾi</a:t>
            </a:r>
            <a:endParaRPr lang="en-US"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MATCH THE SIGNAL TO THE TYPE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Register signals by text type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عَلَامَاتُ الصِّيغَةِ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43016" y="1810512"/>
            <a:ext cx="58155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Register</a:t>
            </a:r>
            <a:endParaRPr lang="en-US" sz="1100" dirty="0"/>
          </a:p>
        </p:txBody>
      </p:sp>
      <p:sp>
        <p:nvSpPr>
          <p:cNvPr id="17" name="Text 14"/>
          <p:cNvSpPr txBox="1"/>
          <p:nvPr/>
        </p:nvSpPr>
        <p:spPr>
          <a:xfrm>
            <a:off x="2542032" y="1810512"/>
            <a:ext cx="31546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Opening signal</a:t>
            </a:r>
            <a:endParaRPr lang="en-US" sz="1100" dirty="0"/>
          </a:p>
        </p:txBody>
      </p:sp>
      <p:sp>
        <p:nvSpPr>
          <p:cNvPr id="18" name="Text 15"/>
          <p:cNvSpPr txBox="1"/>
          <p:nvPr/>
        </p:nvSpPr>
        <p:spPr>
          <a:xfrm>
            <a:off x="521208" y="1810512"/>
            <a:ext cx="18745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Text type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5879592" y="2267712"/>
            <a:ext cx="5779008"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Formal: third person, passive, formal connectors</a:t>
            </a:r>
            <a:endParaRPr lang="en-US" sz="1100" dirty="0"/>
          </a:p>
        </p:txBody>
      </p:sp>
      <p:sp>
        <p:nvSpPr>
          <p:cNvPr id="21" name="Text 18"/>
          <p:cNvSpPr txBox="1"/>
          <p:nvPr/>
        </p:nvSpPr>
        <p:spPr>
          <a:xfrm>
            <a:off x="2560320" y="2267712"/>
            <a:ext cx="3118104"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أَتَشَرَّفُ بِمُخَاطَبَتِكُمْ</a:t>
            </a:r>
            <a:endParaRPr lang="ar-SA" sz="1800" dirty="0"/>
          </a:p>
        </p:txBody>
      </p:sp>
      <p:sp>
        <p:nvSpPr>
          <p:cNvPr id="22" name="Text 19"/>
          <p:cNvSpPr txBox="1"/>
          <p:nvPr/>
        </p:nvSpPr>
        <p:spPr>
          <a:xfrm>
            <a:off x="557784" y="2267712"/>
            <a:ext cx="1837944"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Formal letter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5879592" y="3054096"/>
            <a:ext cx="5779008"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Friendly: first/second person, conversational</a:t>
            </a:r>
            <a:endParaRPr lang="en-US" sz="1100" dirty="0"/>
          </a:p>
        </p:txBody>
      </p:sp>
      <p:sp>
        <p:nvSpPr>
          <p:cNvPr id="27" name="Text 24"/>
          <p:cNvSpPr txBox="1"/>
          <p:nvPr/>
        </p:nvSpPr>
        <p:spPr>
          <a:xfrm>
            <a:off x="2560320" y="3054096"/>
            <a:ext cx="3118104"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حَيَّاكَ اللَّهُ / عَزِيزِي</a:t>
            </a:r>
            <a:endParaRPr lang="ar-SA" sz="1800" dirty="0"/>
          </a:p>
        </p:txBody>
      </p:sp>
      <p:sp>
        <p:nvSpPr>
          <p:cNvPr id="28" name="Text 25"/>
          <p:cNvSpPr txBox="1"/>
          <p:nvPr/>
        </p:nvSpPr>
        <p:spPr>
          <a:xfrm>
            <a:off x="557784" y="3054096"/>
            <a:ext cx="1837944"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Email (friend)</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5879592" y="3840480"/>
            <a:ext cx="5779008"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Semi-formal, engaging, first person</a:t>
            </a:r>
            <a:endParaRPr lang="en-US" sz="1100" dirty="0"/>
          </a:p>
        </p:txBody>
      </p:sp>
      <p:sp>
        <p:nvSpPr>
          <p:cNvPr id="33" name="Text 30"/>
          <p:cNvSpPr txBox="1"/>
          <p:nvPr/>
        </p:nvSpPr>
        <p:spPr>
          <a:xfrm>
            <a:off x="2578608" y="3840480"/>
            <a:ext cx="3118104"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hook, no address)</a:t>
            </a:r>
            <a:endParaRPr lang="en-US" sz="1100" dirty="0"/>
          </a:p>
        </p:txBody>
      </p:sp>
      <p:sp>
        <p:nvSpPr>
          <p:cNvPr id="34" name="Text 31"/>
          <p:cNvSpPr txBox="1"/>
          <p:nvPr/>
        </p:nvSpPr>
        <p:spPr>
          <a:xfrm>
            <a:off x="557784" y="3840480"/>
            <a:ext cx="1837944"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Article</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5879592" y="4626864"/>
            <a:ext cx="5779008"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Formal, impersonal, structured</a:t>
            </a:r>
            <a:endParaRPr lang="en-US" sz="1100" dirty="0"/>
          </a:p>
        </p:txBody>
      </p:sp>
      <p:sp>
        <p:nvSpPr>
          <p:cNvPr id="37" name="Text 34"/>
          <p:cNvSpPr txBox="1"/>
          <p:nvPr/>
        </p:nvSpPr>
        <p:spPr>
          <a:xfrm>
            <a:off x="2560320" y="4626864"/>
            <a:ext cx="3118104"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عُنْوَانٌ + أَقْسَامٌ مُرَقَّمَةٌ</a:t>
            </a:r>
            <a:endParaRPr lang="ar-SA" sz="1800" dirty="0"/>
          </a:p>
        </p:txBody>
      </p:sp>
      <p:sp>
        <p:nvSpPr>
          <p:cNvPr id="38" name="Text 35"/>
          <p:cNvSpPr txBox="1"/>
          <p:nvPr/>
        </p:nvSpPr>
        <p:spPr>
          <a:xfrm>
            <a:off x="557784" y="4626864"/>
            <a:ext cx="1837944"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opening line tells the examiner the register — get it right before anything else.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SAME CONTENT, TWO REGISTERS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One message — a minister or a friend?</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رَسْمِيٌّ أَمْ وُدِّيٌّ؟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114032" y="1810512"/>
            <a:ext cx="4544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Friendly email</a:t>
            </a:r>
            <a:endParaRPr lang="en-US" sz="1100" dirty="0"/>
          </a:p>
        </p:txBody>
      </p:sp>
      <p:sp>
        <p:nvSpPr>
          <p:cNvPr id="17" name="Text 14"/>
          <p:cNvSpPr txBox="1"/>
          <p:nvPr/>
        </p:nvSpPr>
        <p:spPr>
          <a:xfrm>
            <a:off x="2267712" y="1810512"/>
            <a:ext cx="4700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Formal letter</a:t>
            </a:r>
            <a:endParaRPr lang="en-US" sz="1100" dirty="0"/>
          </a:p>
        </p:txBody>
      </p:sp>
      <p:sp>
        <p:nvSpPr>
          <p:cNvPr id="18" name="Text 15"/>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Move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132320" y="2267712"/>
            <a:ext cx="4507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عَزِيزِي أَحْمَدُ، حَيَّاكَ اللَّهُ!</a:t>
            </a:r>
            <a:endParaRPr lang="ar-SA" sz="1600" dirty="0"/>
          </a:p>
        </p:txBody>
      </p:sp>
      <p:sp>
        <p:nvSpPr>
          <p:cNvPr id="21" name="Text 18"/>
          <p:cNvSpPr txBox="1"/>
          <p:nvPr/>
        </p:nvSpPr>
        <p:spPr>
          <a:xfrm>
            <a:off x="2286000" y="2267712"/>
            <a:ext cx="466344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حَضَرَاتِ أَعْضَاءِ اللَّجْنَةِ المُحْتَرَمِينَ، أَتَشَرَّفُ بِمُخَاطَبَتِكُمْ …</a:t>
            </a:r>
            <a:endParaRPr lang="ar-SA" sz="1600" dirty="0"/>
          </a:p>
        </p:txBody>
      </p:sp>
      <p:sp>
        <p:nvSpPr>
          <p:cNvPr id="22" name="Text 19"/>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open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132320" y="3004718"/>
            <a:ext cx="4507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صَحِيحٌ أَنَّ الطَّقْسَ بَارِدٌ، غَيْرَ أَنَّ …</a:t>
            </a:r>
            <a:endParaRPr lang="ar-SA" sz="1600" dirty="0"/>
          </a:p>
        </p:txBody>
      </p:sp>
      <p:sp>
        <p:nvSpPr>
          <p:cNvPr id="27" name="Text 24"/>
          <p:cNvSpPr txBox="1"/>
          <p:nvPr/>
        </p:nvSpPr>
        <p:spPr>
          <a:xfrm>
            <a:off x="2286000" y="3004718"/>
            <a:ext cx="466344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صَحِيحٌ أَنَّ المَوَارِدَ مَحْدُودَةٌ، غَيْرَ أَنَّ …</a:t>
            </a:r>
            <a:endParaRPr lang="ar-SA" sz="1600" dirty="0"/>
          </a:p>
        </p:txBody>
      </p:sp>
      <p:sp>
        <p:nvSpPr>
          <p:cNvPr id="28" name="Text 25"/>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problem</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7132320" y="3741725"/>
            <a:ext cx="4507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وَأَنْصَحُكَ بِأَنْ تُحْضِرَ مِعْطَفًا.</a:t>
            </a:r>
            <a:endParaRPr lang="ar-SA" sz="1600" dirty="0"/>
          </a:p>
        </p:txBody>
      </p:sp>
      <p:sp>
        <p:nvSpPr>
          <p:cNvPr id="31" name="Text 28"/>
          <p:cNvSpPr txBox="1"/>
          <p:nvPr/>
        </p:nvSpPr>
        <p:spPr>
          <a:xfrm>
            <a:off x="2286000" y="3741725"/>
            <a:ext cx="466344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وَأَقْتَرِحُ أَنْ تُطْلَقَ حَمْلَةٌ …</a:t>
            </a:r>
            <a:endParaRPr lang="ar-SA" sz="1600" dirty="0"/>
          </a:p>
        </p:txBody>
      </p:sp>
      <p:sp>
        <p:nvSpPr>
          <p:cNvPr id="32" name="Text 29"/>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advise / ask</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7132320" y="4478731"/>
            <a:ext cx="4507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تَوَفَّرَ الوَقْتُ، سَنَزُورُ المَتْحَفَ.</a:t>
            </a:r>
            <a:endParaRPr lang="ar-SA" sz="1600" dirty="0"/>
          </a:p>
        </p:txBody>
      </p:sp>
      <p:sp>
        <p:nvSpPr>
          <p:cNvPr id="35" name="Text 32"/>
          <p:cNvSpPr txBox="1"/>
          <p:nvPr/>
        </p:nvSpPr>
        <p:spPr>
          <a:xfrm>
            <a:off x="2286000" y="4478731"/>
            <a:ext cx="466344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أَرْجُو أَنْ تَتَّخِذُوا القَرَارَ المُنَاسِبَ عَاجِلًا.</a:t>
            </a:r>
            <a:endParaRPr lang="ar-SA" sz="1600" dirty="0"/>
          </a:p>
        </p:txBody>
      </p:sp>
      <p:sp>
        <p:nvSpPr>
          <p:cNvPr id="36" name="Text 33"/>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request</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7132320" y="5215738"/>
            <a:ext cx="4507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إِلَى اللِّقَاءِ، صَدِيقُكَ سَامِي.</a:t>
            </a:r>
            <a:endParaRPr lang="ar-SA" sz="1600" dirty="0"/>
          </a:p>
        </p:txBody>
      </p:sp>
      <p:sp>
        <p:nvSpPr>
          <p:cNvPr id="39" name="Text 36"/>
          <p:cNvSpPr txBox="1"/>
          <p:nvPr/>
        </p:nvSpPr>
        <p:spPr>
          <a:xfrm>
            <a:off x="2286000" y="5215738"/>
            <a:ext cx="466344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وَتَفَضَّلُوا بِقَبُولِ فَائِقِ الاحْتِرَامِ.</a:t>
            </a:r>
            <a:endParaRPr lang="ar-SA" sz="1600" dirty="0"/>
          </a:p>
        </p:txBody>
      </p:sp>
      <p:sp>
        <p:nvSpPr>
          <p:cNvPr id="40" name="Text 37"/>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close</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Same grammar (ṣaḥīḥun anna … ghayra anna · an + -a) — different register: you (plural) and passives vs. you (singular) and “I”.</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KNOW HOW YOU ARE MARKED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Paper 4 Q1 mark scheme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مَعَايِيرُ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096512" y="1810512"/>
            <a:ext cx="7562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the examiner looks for (website)</a:t>
            </a:r>
            <a:endParaRPr lang="en-US" sz="1100" dirty="0"/>
          </a:p>
        </p:txBody>
      </p:sp>
      <p:sp>
        <p:nvSpPr>
          <p:cNvPr id="17" name="Text 14"/>
          <p:cNvSpPr txBox="1"/>
          <p:nvPr/>
        </p:nvSpPr>
        <p:spPr>
          <a:xfrm>
            <a:off x="309067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Criterion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133088" y="2267712"/>
            <a:ext cx="7525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Every required content point is present. · The text type and register are correct from the opening. · An appropriate opening and closing for the text type.</a:t>
            </a:r>
            <a:endParaRPr lang="en-US" sz="1100" dirty="0"/>
          </a:p>
        </p:txBody>
      </p:sp>
      <p:sp>
        <p:nvSpPr>
          <p:cNvPr id="21" name="Text 18"/>
          <p:cNvSpPr txBox="1"/>
          <p:nvPr/>
        </p:nvSpPr>
        <p:spPr>
          <a:xfrm>
            <a:off x="3127248" y="2267712"/>
            <a:ext cx="822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22" name="Text 19"/>
          <p:cNvSpPr txBox="1"/>
          <p:nvPr/>
        </p:nvSpPr>
        <p:spPr>
          <a:xfrm>
            <a:off x="566928"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Completion (TC)</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4133088" y="3054096"/>
            <a:ext cx="7525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variety of vocabulary suited to the register. · Several different grammar structures (tenses, connectors).</a:t>
            </a:r>
            <a:endParaRPr lang="en-US" sz="1100" dirty="0"/>
          </a:p>
        </p:txBody>
      </p:sp>
      <p:sp>
        <p:nvSpPr>
          <p:cNvPr id="27" name="Text 24"/>
          <p:cNvSpPr txBox="1"/>
          <p:nvPr/>
        </p:nvSpPr>
        <p:spPr>
          <a:xfrm>
            <a:off x="3127248" y="3054096"/>
            <a:ext cx="822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28" name="Text 25"/>
          <p:cNvSpPr txBox="1"/>
          <p:nvPr/>
        </p:nvSpPr>
        <p:spPr>
          <a:xfrm>
            <a:off x="566928"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133088" y="3840480"/>
            <a:ext cx="7525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Correct tense, agreement and subjunctive forms. · Errors do not obscure the meaning.</a:t>
            </a:r>
            <a:endParaRPr lang="en-US" sz="1100" dirty="0"/>
          </a:p>
        </p:txBody>
      </p:sp>
      <p:sp>
        <p:nvSpPr>
          <p:cNvPr id="31" name="Text 28"/>
          <p:cNvSpPr txBox="1"/>
          <p:nvPr/>
        </p:nvSpPr>
        <p:spPr>
          <a:xfrm>
            <a:off x="3127248" y="3840480"/>
            <a:ext cx="822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2" name="Text 29"/>
          <p:cNvSpPr txBox="1"/>
          <p:nvPr/>
        </p:nvSpPr>
        <p:spPr>
          <a:xfrm>
            <a:off x="566928"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a:t>
            </a:r>
            <a:endParaRPr lang="en-US" sz="11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TC is 7 of 15: the right register from the first line, and EVERY content point.</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CHOOSE YOUR TASK · WRITE FOR 20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Task 3 · email</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friendly email (130–140 words) to an exchange student: the school, the area, one custom, one activity.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Open with عَزِيزِي … حَيَّاكَ اللَّهُ! · close with إِلَى اللِّقَاءِ. Tick the four points.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Task 2 · article</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 article (130–140 words) for a youth magazine: how I manage stress and keep my wellbeing.</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Open with a hook question · first person · one conditional + one trigger.</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Task 1 · letter</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formal letter (130–140 words) to the Arab League Environment Committee: problem, solution, benefit, request.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Formal opening and closing · passives in -a · law … la- · wa-bināʾan.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CORE ROUTE · TASK 3 — FRIENDLY EMAIL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Task 3 — A friendly email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بَرِيدٌ إِلِكْتْرُونِيٌّ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5577840" cy="4498848"/>
          </a:xfrm>
          <a:prstGeom prst="roundRect">
            <a:avLst>
              <a:gd name="adj" fmla="val 1626"/>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friendly email (130–140 words) to an Arabic exchange student coming to your school for a month. Describe: your school, the local area, one cultural custom to be aware of, and a suggested activity. Register: friendly, semi-formal.</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warm opening (</a:t>
            </a:r>
            <a:pPr algn="l" indent="0" marL="0">
              <a:buNone/>
            </a:pPr>
            <a:r>
              <a:rPr lang="ar-SA" altLang="en-US" sz="1550" dirty="0">
                <a:solidFill>
                  <a:srgbClr val="1F2A37"/>
                </a:solidFill>
                <a:latin typeface="Amiri" pitchFamily="2" charset="-78"/>
                <a:ea typeface="Amiri" pitchFamily="2" charset="-78"/>
                <a:cs typeface="Amiri" pitchFamily="2" charset="-78"/>
              </a:rPr>
              <a:t>حَيَّاكَ اللَّهُ / عَزِيزِي</a:t>
            </a:r>
            <a:pPr algn="l" indent="0" marL="0">
              <a:buNone/>
            </a:pPr>
            <a:r>
              <a:rPr lang="en-US" sz="1200" dirty="0">
                <a:solidFill>
                  <a:srgbClr val="1F2A37"/>
                </a:solidFill>
                <a:latin typeface="Calibri" pitchFamily="34" charset="0"/>
                <a:cs typeface="Amiri" pitchFamily="2" charset="-78"/>
              </a:rPr>
              <a:t> …).</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school, the area, a custom and a suggested activity.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Friendly, first/second-person register.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warm closing (</a:t>
            </a:r>
            <a:pPr algn="l" indent="0" marL="0">
              <a:buNone/>
            </a:pPr>
            <a:r>
              <a:rPr lang="ar-SA" altLang="en-US" sz="1550" dirty="0">
                <a:solidFill>
                  <a:srgbClr val="1F2A37"/>
                </a:solidFill>
                <a:latin typeface="Amiri" pitchFamily="2" charset="-78"/>
                <a:ea typeface="Amiri" pitchFamily="2" charset="-78"/>
                <a:cs typeface="Amiri" pitchFamily="2" charset="-78"/>
              </a:rPr>
              <a:t>إِلَى اللِّقَاءِ</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 FROM THE WEBSITE MODEL</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عَزِيزِي … ، حَيَّاكَ اللَّهُ!</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Dear …, hello!</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يُسْعِدُنِي أَنَّكَ سَتَزُورُ</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happy that you will visit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وَأَنْصَحُكَ بِأَنْ تُحْضِرَ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advise you to bring</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وَمِنَ العَادَاتِ المُهِمَّةِ أَنْ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important custom is that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أَتَطَلَّعُ إِلَى لِقَائِكَ</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look forward to meeting you</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DEVELOP ROUTE · TASK 2 — ARTICLE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Task 2 — An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article (130–140 words) for an Arabic youth magazine on: “How I manage stress and maintain my wellbeing.” Register: engaging, semi-formal, first person.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An engaging hook (no formal address).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First-person, semi-formal register.</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conditional and one subjunctive trigger.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clear closing thought for the reader.</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 FROM THE WEBSITE MODEL</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سُؤَالٌ يَشْغَلُ كَثِيرًا مِنَ الشَّبَابِ</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question on many young people’s minds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أَسَاسٌ لَا غِنَى عَنْهُ</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indispensable foundation</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تَنْظِيمُ الوَقْتِ يُخَفِّفُهُ</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organising time eases it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مَنْ نَثِقُ بِهِمْ</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people we trust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أَدْعُو كُلَّ قَارِئٍ إِلَى أَنْ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call on every reader to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ROUTE · TASK 1 — FORMAL LETTER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Task 1 — A formal 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خِطَابٌ رَسْمِيٌّ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 formal letter (130–140 words) to the Arab League Environment Committee recommending a specific environmental measure. Include: the problem, your proposed solution, the expected benefit, and a request for action. Keep the register </a:t>
            </a:r>
            <a:pPr algn="l" indent="0" marL="0">
              <a:buNone/>
            </a:pPr>
            <a:r>
              <a:rPr lang="ar-SA" altLang="en-US" sz="1500" b="1" dirty="0">
                <a:solidFill>
                  <a:srgbClr val="1F2A37"/>
                </a:solidFill>
                <a:latin typeface="Amiri" pitchFamily="2" charset="-78"/>
                <a:ea typeface="Amiri" pitchFamily="2" charset="-78"/>
                <a:cs typeface="Amiri" pitchFamily="2" charset="-78"/>
              </a:rPr>
              <a:t>رَسْمِيًّا</a:t>
            </a:r>
            <a:pPr algn="l" indent="0" marL="0">
              <a:buNone/>
            </a:pPr>
            <a:r>
              <a:rPr lang="en-US" sz="1150" b="1" dirty="0">
                <a:solidFill>
                  <a:srgbClr val="1F2A37"/>
                </a:solidFill>
                <a:latin typeface="Calibri" pitchFamily="34" charset="0"/>
                <a:cs typeface="Amiri" pitchFamily="2" charset="-78"/>
              </a:rPr>
              <a:t> throughout.</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Formal opening (</a:t>
            </a:r>
            <a:pPr algn="l" indent="0" marL="0">
              <a:buNone/>
            </a:pPr>
            <a:r>
              <a:rPr lang="ar-SA" altLang="en-US" sz="1550" dirty="0">
                <a:solidFill>
                  <a:srgbClr val="1F2A37"/>
                </a:solidFill>
                <a:latin typeface="Amiri" pitchFamily="2" charset="-78"/>
                <a:ea typeface="Amiri" pitchFamily="2" charset="-78"/>
                <a:cs typeface="Amiri" pitchFamily="2" charset="-78"/>
              </a:rPr>
              <a:t>أَتَشَرَّفُ بِمُخَاطَبَتِكُمْ</a:t>
            </a:r>
            <a:pPr algn="l" indent="0" marL="0">
              <a:buNone/>
            </a:pPr>
            <a:r>
              <a:rPr lang="en-US" sz="1200" dirty="0">
                <a:solidFill>
                  <a:srgbClr val="1F2A37"/>
                </a:solidFill>
                <a:latin typeface="Calibri" pitchFamily="34" charset="0"/>
                <a:cs typeface="Amiri" pitchFamily="2" charset="-78"/>
              </a:rPr>
              <a:t> …).</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problem, the solution, the benefit and a request for action.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Formal connectors and impersonal/passive structures.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formal closing (</a:t>
            </a:r>
            <a:pPr algn="l" indent="0" marL="0">
              <a:buNone/>
            </a:pPr>
            <a:r>
              <a:rPr lang="ar-SA" altLang="en-US" sz="1550" dirty="0">
                <a:solidFill>
                  <a:srgbClr val="1F2A37"/>
                </a:solidFill>
                <a:latin typeface="Amiri" pitchFamily="2" charset="-78"/>
                <a:ea typeface="Amiri" pitchFamily="2" charset="-78"/>
                <a:cs typeface="Amiri" pitchFamily="2" charset="-78"/>
              </a:rPr>
              <a:t>وَتَفَضَّلُوا بِقَبُولِ الاحْتِرَامِ</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 FROM THE WEBSITE MODEL</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أَتَشَرَّفُ بِمُخَاطَبَتِكُمْ بِشَأْنِ</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the honour of writing to you about</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يُفَاقِمُ الأَزْمَةَ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worsens the crisis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وَأَقْتَرِحُ أَنْ تُطْلَقَ حَمْلَةٌ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propose that a campaign be launched</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أَرْجُو أَنْ تَتَّخِذُوا القَرَارَ المُنَاسِبَ</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hope you will take the right decision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وَتَفَضَّلُوا بِقَبُولِ فَائِقِ الاحْتِرَامِ</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yours faithfully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TASK 3 — EMAIL · THE WEBSITE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What a full-mark answer looks like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عَزِيزِي أَحْمَدُ، حَيَّاكَ اللَّهُ! يُسْعِدُنِي أَنَّكَ سَتَزُورُ مَدْرَسَتَنَا الشَّهْرَ القَادِمَ. مَدْرَسَتُنَا كَبِيرَةٌ وَفِيهَا مُخْتَبَرَاتٌ حَدِيثَةٌ، وَتَقَعُ قُرْبَ حَدِيقَةٍ جَمِيلَةٍ. صَحِيحٌ أَنَّ الطَّقْسَ بَارِدٌ أَحْيَانًا، غَيْرَ أَنَّ النَّاسَ وَدُودُونَ. وَأَنْصَحُكَ بِأَنْ تُحْضِرَ مِعْطَفًا. وَمِنَ العَادَاتِ المُهِمَّةِ أَنْ نَخْلَعَ الحِذَاءَ عِنْدَ دُخُولِ البُيُوتِ. وَإِذَا تَوَفَّرَ الوَقْتُ، سَنَزُورُ المَتْحَفَ المَحَلِّيَّ مَعًا. أَتَطَلَّعُ إِلَى لِقَائِكَ. إِلَى اللِّقَاءِ، صَدِيقُكَ سَامِي.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Ahmad, hello! I am happy that you will visit our school next month. Our school is big and has modern laboratories, and it is near a beautiful park. It is true that the weather is sometimes cold, but people are friendly. I advise you to bring a coat. One important custom is that we take off our shoes when entering homes. If there is time, we will visit the local museum together. I look forward to meeting you. See you soon, your friend Sami.</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warm opening + closing</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school · area · custom · activity</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bi-an tuḥḍira · idhā … sa-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friendly 1st / 2nd person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TASK 2 — ARTICLE · THE WEBSITE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What a full-mark answer looks like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كَيْفَ أُحَافِظُ عَلَى تَوَازُنِي النَّفْسِيِّ؟ سُؤَالٌ يَشْغَلُ كَثِيرًا مِنَ الشَّبَابِ. أُشِيرُ أَوَّلًا إِلَى أَنَّ النَّوْمَ الجَيِّدَ وَالرِّيَاضَةَ أَسَاسٌ لَا غِنَى عَنْهُ. صَحِيحٌ أَنَّ الدِّرَاسَةَ تُسَبِّبُ ضَغْطًا، غَيْرَ أَنَّ تَنْظِيمَ الوَقْتِ يُخَفِّفُهُ. وَإِذَا خَصَّصْتُ سَاعَةً لِلرَّاحَةِ يَوْمِيًّا، شَعَرْتُ بِتَحَسُّنٍ وَاضِحٍ. وَيَنْبَغِي أَنْ نَحْرِصَ عَلَى الحَدِيثِ مَعَ مَنْ نَثِقُ بِهِمْ. وَخِتَامًا، أَدْعُو كُلَّ قَارِئٍ إِلَى أَنْ يَعْتَنِيَ بِصِحَّتِهِ النَّفْسِيَّةِ كَمَا يَعْتَنِي بِجَسَدِهِ.</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How do I keep my mental balance? It is a question on many young people’s minds. First, I point out that good sleep and exercise are an indispensable foundation. It is true that studying causes stress; however, organising my time eases it. When I set aside an hour a day for rest, I feel a clear improvement. We should make sure we talk to people we trust. Finally, I call on every reader to look after their mental health as they look after their body.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hook question, no address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first person, semi-formal</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idhā … · yanbaghī an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closing thought for the reader</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TASK 1 — FORMAL LETTER · THE WEBSITE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What a full-mark answer looks like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حَضَرَاتِ أَعْضَاءِ لَجْنَةِ البِيئَةِ المُحْتَرَمِينَ، أَتَشَرَّفُ بِمُخَاطَبَتِكُمْ بِشَأْنِ نُدْرَةِ المِيَاهِ فِي مِنْطَقَتِنَا. صَحِيحٌ أَنَّ المَوَارِدَ مَحْدُودَةٌ، غَيْرَ أَنَّ سُوءَ الإِدَارَةِ يُفَاقِمُ الأَزْمَةَ. وَأَقْتَرِحُ أَنْ تُطْلَقَ حَمْلَةٌ لِتَرْشِيدِ الاسْتِهْلَاكِ، وَأَنْ تُسْتَثْمَرَ الطَّاقَةُ الشَّمْسِيَّةُ فِي تَحْلِيَةِ المِيَاهِ. وَلَوْ طُبِّقَتْ هٰذِهِ الإِجْرَاءَاتُ، لَتَحَسَّنَ الوَضْعُ كَثِيرًا. وَبِنَاءً عَلَى مَا سَبَقَ، أَرْجُو أَنْ تَتَّخِذُوا القَرَارَ المُنَاسِبَ عَاجِلًا. وَتَفَضَّلُوا بِقَبُولِ فَائِقِ الاحْتِرَامِ.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Honourable members of the Environment Committee, I have the honour of writing to you about water scarcity in our region. It is true that resources are limited; however, poor management is worsening the crisis. I propose that a campaign be launched to rationalise consumption, and that solar energy be invested in desalination. Had these measures been applied, the situation would have improved greatly. Based on the above, I hope that you will take the appropriate decision urgently. Yours faithfully.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formal opening + closing</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problem · solution · benefit · request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passive in -a (an tuṭlaqa)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law … la- · wa-bināʾan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TEXT-TYPE DIFFICULTY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type difficulty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أَقْوَى نَوْعٍ وَأَضْعَفُهُ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2571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Yours</a:t>
            </a:r>
            <a:endParaRPr lang="en-US" sz="1100" dirty="0"/>
          </a:p>
        </p:txBody>
      </p:sp>
      <p:sp>
        <p:nvSpPr>
          <p:cNvPr id="17" name="Text 14"/>
          <p:cNvSpPr txBox="1"/>
          <p:nvPr/>
        </p:nvSpPr>
        <p:spPr>
          <a:xfrm>
            <a:off x="455371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Record</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162288" y="2267712"/>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4590288" y="2267712"/>
            <a:ext cx="4389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email — I know the friendly openings</a:t>
            </a:r>
            <a:endParaRPr lang="en-US" sz="1100" dirty="0"/>
          </a:p>
        </p:txBody>
      </p:sp>
      <p:sp>
        <p:nvSpPr>
          <p:cNvPr id="22" name="Text 19"/>
          <p:cNvSpPr txBox="1"/>
          <p:nvPr/>
        </p:nvSpPr>
        <p:spPr>
          <a:xfrm>
            <a:off x="566928" y="2267712"/>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strongest text type is … because …</a:t>
            </a:r>
            <a:endParaRPr lang="en-US" sz="11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9162288" y="3054096"/>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5" name="Text 22"/>
          <p:cNvSpPr txBox="1"/>
          <p:nvPr/>
        </p:nvSpPr>
        <p:spPr>
          <a:xfrm>
            <a:off x="4590288" y="3054096"/>
            <a:ext cx="4389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formal letter — the passives are hard</a:t>
            </a:r>
            <a:endParaRPr lang="en-US" sz="1100" dirty="0"/>
          </a:p>
        </p:txBody>
      </p:sp>
      <p:sp>
        <p:nvSpPr>
          <p:cNvPr id="26" name="Text 23"/>
          <p:cNvSpPr txBox="1"/>
          <p:nvPr/>
        </p:nvSpPr>
        <p:spPr>
          <a:xfrm>
            <a:off x="566928" y="3054096"/>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weakest text type is … because …</a:t>
            </a: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9162288" y="3840480"/>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4590288" y="3840480"/>
            <a:ext cx="4389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formal openings and closings from memory</a:t>
            </a:r>
            <a:endParaRPr lang="en-US" sz="1100" dirty="0"/>
          </a:p>
        </p:txBody>
      </p:sp>
      <p:sp>
        <p:nvSpPr>
          <p:cNvPr id="30" name="Text 27"/>
          <p:cNvSpPr txBox="1"/>
          <p:nvPr/>
        </p:nvSpPr>
        <p:spPr>
          <a:xfrm>
            <a:off x="566928" y="3840480"/>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the Lesson 9 mock I will practise …</a:t>
            </a:r>
            <a:endParaRPr lang="en-US" sz="1100" dirty="0"/>
          </a:p>
        </p:txBody>
      </p:sp>
      <p:sp>
        <p:nvSpPr>
          <p:cNvPr id="31" name="Text 2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real exam you cannot always choose the text type — practise your weakest before the L09 mock.</a:t>
            </a:r>
            <a:endParaRPr lang="en-US" sz="11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REGISTER — THE TC MULTIPLIER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Directed writing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التَّأَمُّلُ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ending</a:t>
            </a:r>
            <a:endParaRPr lang="en-US" sz="1100" dirty="0"/>
          </a:p>
        </p:txBody>
      </p:sp>
      <p:sp>
        <p:nvSpPr>
          <p:cNvPr id="17" name="Text 14"/>
          <p:cNvSpPr txBox="1"/>
          <p:nvPr/>
        </p:nvSpPr>
        <p:spPr>
          <a:xfrm>
            <a:off x="52852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Reflection frame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12480" y="2267712"/>
            <a:ext cx="322783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أَتَشَرَّفُ بِمُخَاطَبَتِكُمْ</a:t>
            </a:r>
            <a:endParaRPr lang="ar-SA" sz="1500" dirty="0"/>
          </a:p>
        </p:txBody>
      </p:sp>
      <p:sp>
        <p:nvSpPr>
          <p:cNvPr id="21" name="Text 18"/>
          <p:cNvSpPr txBox="1"/>
          <p:nvPr/>
        </p:nvSpPr>
        <p:spPr>
          <a:xfrm>
            <a:off x="532180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signal I use confidently</a:t>
            </a:r>
            <a:endParaRPr lang="en-US" sz="1100" dirty="0"/>
          </a:p>
        </p:txBody>
      </p:sp>
      <p:sp>
        <p:nvSpPr>
          <p:cNvPr id="22" name="Text 19"/>
          <p:cNvSpPr txBox="1"/>
          <p:nvPr/>
        </p:nvSpPr>
        <p:spPr>
          <a:xfrm>
            <a:off x="566928" y="2267712"/>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register signal I now use confidently is…</a:t>
            </a:r>
            <a:endParaRPr lang="en-US" sz="11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formal letter</a:t>
            </a:r>
            <a:endParaRPr lang="en-US" sz="1100" dirty="0"/>
          </a:p>
        </p:txBody>
      </p:sp>
      <p:sp>
        <p:nvSpPr>
          <p:cNvPr id="25" name="Text 22"/>
          <p:cNvSpPr txBox="1"/>
          <p:nvPr/>
        </p:nvSpPr>
        <p:spPr>
          <a:xfrm>
            <a:off x="532180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type I will practise most</a:t>
            </a:r>
            <a:endParaRPr lang="en-US" sz="1100" dirty="0"/>
          </a:p>
        </p:txBody>
      </p:sp>
      <p:sp>
        <p:nvSpPr>
          <p:cNvPr id="26" name="Text 23"/>
          <p:cNvSpPr txBox="1"/>
          <p:nvPr/>
        </p:nvSpPr>
        <p:spPr>
          <a:xfrm>
            <a:off x="566928" y="3054096"/>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text type I will practise most is…</a:t>
            </a: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8412480" y="3840480"/>
            <a:ext cx="322783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الخِطَابُ الرَّسْمِيُّ</a:t>
            </a:r>
            <a:endParaRPr lang="ar-SA" sz="1500" dirty="0"/>
          </a:p>
        </p:txBody>
      </p:sp>
      <p:sp>
        <p:nvSpPr>
          <p:cNvPr id="29" name="Text 26"/>
          <p:cNvSpPr txBox="1"/>
          <p:nvPr/>
        </p:nvSpPr>
        <p:spPr>
          <a:xfrm>
            <a:off x="532180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hardest type for me is …</a:t>
            </a:r>
            <a:endParaRPr lang="en-US" sz="1100" dirty="0"/>
          </a:p>
        </p:txBody>
      </p:sp>
      <p:sp>
        <p:nvSpPr>
          <p:cNvPr id="30" name="Text 27"/>
          <p:cNvSpPr txBox="1"/>
          <p:nvPr/>
        </p:nvSpPr>
        <p:spPr>
          <a:xfrm>
            <a:off x="548640" y="3840480"/>
            <a:ext cx="457200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أَصْعَبُ نَوْعٍ عِنْدِي هُوَ ______ .</a:t>
            </a:r>
            <a:endParaRPr lang="ar-SA" sz="1800" dirty="0"/>
          </a:p>
        </p:txBody>
      </p:sp>
      <p:sp>
        <p:nvSpPr>
          <p:cNvPr id="31" name="Text 2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Register is the TC multiplier: right from the first line, consistent to the last.</a:t>
            </a:r>
            <a:endParaRPr lang="en-US" sz="11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chose the correct opening and closing for my text type.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included every required content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kept the register consistent from the opening sentence.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conditional and a trigger +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scored my own writing against TC, Range and Accuracy.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P6-L04 · IGCSE Bridge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P6-L05: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P6-L05 · Paper 4 Q2 — Extended Writing: Essay Architecture Under Exam Conditions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الكِتَابَةُ المُوَسَّعَةُ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extended writing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هَيْكَلُ المَقَالِ</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essay structure</a:t>
            </a:r>
            <a:pPr indent="0" marL="0">
              <a:buNone/>
            </a:pPr>
            <a:r>
              <a:rPr lang="ar-SA" sz="1000" i="1" dirty="0">
                <a:solidFill>
                  <a:srgbClr val="5A6472"/>
                </a:solidFill>
                <a:latin typeface="Calibri" pitchFamily="34" charset="0"/>
                <a:ea typeface="Amiri" pitchFamily="2" charset="-78"/>
                <a:cs typeface="Amiri" pitchFamily="2" charset="-78"/>
              </a:rPr>
              <a:t>  pl. هَيَاكِلُ</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التَّنَوُّعُ المَعْجَمِيُّ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lexical variety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الدِّقَّةُ تَحْتَ ضَغْطِ الوَقْتِ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accuracy under time pressure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الأُطْرُوحَةُ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thesis</a:t>
            </a:r>
            <a:pPr indent="0" marL="0">
              <a:buNone/>
            </a:pPr>
            <a:r>
              <a:rPr lang="ar-SA" sz="1000" i="1" dirty="0">
                <a:solidFill>
                  <a:srgbClr val="5A6472"/>
                </a:solidFill>
                <a:latin typeface="Calibri" pitchFamily="34" charset="0"/>
                <a:ea typeface="Amiri" pitchFamily="2" charset="-78"/>
                <a:cs typeface="Amiri" pitchFamily="2" charset="-78"/>
              </a:rPr>
              <a:t>  pl. الأُطْرُوحَاتُ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many minutes would you spend planning a 150-word essay —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أُخَطِّطُ لِلْمَقَالِ ______ دَقَائِقَ، لِأَنَّ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Redraft your email using the model’s phrases; learn the five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the second paragraph of a different task in a new register; learn the five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second task in full (130–140 words) under 25 minutes; learn the five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P6-L04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P6-L05 · Paper 4 Q2 — Extended Writing: Essay Architecture Under Exam Conditions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الوَرَقَةُ الرَّابِعَةُ — الكِتَابَةُ المُوَسَّعَةُ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reader decides the register — formal letter, article or email — right from the first line; cover EVERY content point; TC is 7 of 15.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P6-L04 · Paper 4 Q1 — Directed Writing: Mastering Form and Register</dc:title>
  <dc:subject>PptxGenJS Presentation</dc:subject>
  <dc:creator>Al Madina Online School · Arabic Department</dc:creator>
  <cp:lastModifiedBy>Al Madina Online School · Arabic Department</cp:lastModifiedBy>
  <cp:revision>1</cp:revision>
  <dcterms:created xsi:type="dcterms:W3CDTF">2026-10-11T06:43:34Z</dcterms:created>
  <dcterms:modified xsi:type="dcterms:W3CDTF">2026-10-11T06:43:34Z</dcterms:modified>
</cp:coreProperties>
</file>