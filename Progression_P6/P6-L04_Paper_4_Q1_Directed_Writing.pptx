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9–14 Register words · 14–17 Register signals · 17–21 Same content, two registers (I Do) · 21–23 The Q1 mark scheme · 23–25 Choose your task · 25–45 Write (20 min, exam timing) · 45–51 Models + self-mark · 51–54 Difficulty profile · 54–58 Reflection + self-check · 58–60 Preparation.
FLEX slides are optional. Use them if the class is moving quickly; otherwise the same activities are on the website for homework.
Content source: Miftah Arabic website, Pathways › Progression › P6 IGCSE Bridge › P6-L04. The website P6-L04: the text-type and register vocabulary (16 words), the register-signals table, the Paper 4 Q1 mark scheme (TC 7 · Range 4 · Accuracy 4), three tasks with checklists and models (a formal letter to the Arab League Environment Committee · a youth-magazine article on wellbeing · a friendly email to an exchange student), the text-type difficulty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EXAM-TIMED WRITING: Q1 in the real Paper 4 has about 25–30 minutes; today students write ONE task in 20 minutes. Routes by register difficulty: Core → Task 3 (friendly email) · Develop → Task 2 (article) · Stretch → Task 1 (formal letter). Fast finishers start a second task.
• The key message of the website: in Q1, Task Completion carries the most weight (7 of 15) — the wrong register or one missing content point costs marks even when the Arabic is accurate.
• Models are shown ONLY after writing; students then self-mark against the website mark scheme (TC / Range / Accuracy) and write one improvement.
• Website fix: يَسْعُدُنِي → يُسْعِدُنِي (email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P6-L03. Questions 4–5 retrieve two P5 accuracy points that appear in the formal-letter model.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Q1 the reader decides the language: a minister, a magazine reader and a friend each need a different register — from the very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رسمی, مقالہ and احترام are shared. Two traps: Urdu تقریر = a SPEECH, but Arabic التَّقْرِيرُ = a REPORT; Urdu خطاب = a speech or a title, but Arabic الخِطَابُ here = a (formal)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(1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(2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SIGNALS (3 min) — website table. Ask: which text type has NO address? (the article — it opens with a hook). Which uses numbered sections?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built from the two website models. Read each row across, formal then friendly. Point out: formal = plural “you” (تَتَّخِذُوا), passives (تُطْلَقَ), formal titles; friendly = singular “you” (أَنْصَحُكَ), names, exclamation. The P5 grammar works in BOTH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In Q1, Task Completion carries the most weight: wrong register or a missing content point costs marks even when the Arabic is accurate. Get the register right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 choose). Students may move UP a route if confident. Exam timing: 20 minutes, then pens down. Fast finishers: a second task in a different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friendly email (130–140 words) to an Arabic exchange student coming to your school for a month. Describe: your school, the local area, one cultural custom to be aware of, and a suggested activity. Register: friendly, semi-formal.
Website checklist: A warm opening (حَيَّاكَ اللَّهُ / عَزِيزِي …). · The school, the area, a custom and a suggested activity. · Friendly, first/second-person register. · A warm closing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article (130–140 words) for an Arabic youth magazine on: “How I manage stress and maintain my wellbeing.” Register: engaging, semi-formal, first person.
Website checklist: An engaging hook (no formal address). · First-person, semi-formal register. · At least one conditional and one subjunctive trigger. · A clear closing thought for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formal letter (130–140 words) to the Arab League Environment Committee recommending a specific environmental measure. Include: the problem, your proposed solution, the expected benefit, and a request for action. Keep the register رَسْمِيًّا throughout.
Website checklist: Formal opening (أَتَشَرَّفُ بِمُخَاطَبَتِكُمْ …). · The problem, the solution, the benefit and a request for action. · Formal connectors and impersonal/passive structures. · A formal closing (وَتَفَضَّلُوا بِقَبُولِ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(email), with one fix: يَسْعُدُنِي → يُسْعِدُنِي (Form IV, “it makes me happy”). Register signals: عَزِيزِي · حَيَّاكَ اللَّهُ · أَنْصَحُكَ بِأَنْ تُحْضِرَ · إِلَى اللِّقَاءِ، صَدِيقُكَ.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(article). Register signals: a hook question, first person (أُشِيرُ · أُحَافِظُ), يَنْبَغِي أَنْ, a call to the reader (أَدْعُو … إِلَى أَنْ يَعْتَنِيَ). Note: إِذَا خَصَّصْتُ … شَعَرْتُ — a past-tense result for a habit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(formal letter). Register signals: حَضَرَاتِ … المُحْتَرَمِينَ · أَتَشَرَّفُ بِمُخَاطَبَتِكُمْ · passives in -a (أَنْ تُطْلَقَ · أَنْ تُسْتَثْمَرَ) · وَتَفَضَّلُوا بِقَبُولِ فَائِقِ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PROFILE (3 min) — website fields, completed after self-marking against the mark scheme.
Website: In the real exam you cannot always choose the text type, so know your strengths and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(Register — the TC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(P6-L05 · Paper 4 Q2 — Extended Writing: Essay Architecture Under Exam Conditions) will spend class time USING this language, so students prepare it tonight — short, simple, easy to access (school guidance: “Simple, Short, Interesting, Relevant, Easy to access”). The five words come from the website P6-L05 vocabulary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Q1 — Directed Writing: Mastering Form and Register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الوَرَقَةُ الرَّابِعَةُ — الكِتَابَةُ المُوَجَّهَةُ: الشَّكْلُ وَالصِّيغَةُ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Paper 4 Q1 (130–140 words) in the right form and register — a formal letter, an article or a friendly email — with the right opening and closing, every content point covered, and the Q1 mark scheme (TC 7 · Range 4 · Accuracy 4) as your checklist.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P6-L04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register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Text types, register signals,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الصِّيغَةُ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Same content, two registers.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task and write (exam timing).</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difficulty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extended essay.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official 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friendly 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حَيَّاكَ اللَّهُ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أَتَشَرَّفُ بِمُخَاطَبَتِكُمْ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أُطْلِقَتْ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الكِتَابَةُ المُوَجَّهَةُ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writing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directed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صِيغَةٌ رَسْمِيَّةٌ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 register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official form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friendly 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opens a formal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حَيَّاكَ اللَّهُ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أَتَشَرَّفُ بِمُخَاطَبَتِكُمْ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أَقْتَرِحُ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حَمْلَةٌ لِتَرْشِيدِ الاسْتِهْلَاكِ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تُطْلَقُ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أُطْلِقَتْ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تُطْلَقَ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طُبِّقَتْ هٰذِهِ الإِجْرَاءَاتُ،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الوَضْعُ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00" b="1" dirty="0">
                <a:solidFill>
                  <a:srgbClr val="1F2A37"/>
                </a:solidFill>
                <a:latin typeface="Calibri" pitchFamily="34" charset="0"/>
                <a:ea typeface="Calibri" pitchFamily="34" charset="-122"/>
                <a:cs typeface="Calibri" pitchFamily="34" charset="-120"/>
              </a:rPr>
              <a:t>In Q1 the reader decides the language: a minister, a magazine reader and a friend each need a different register — from the very first line.</a:t>
            </a:r>
            <a:endParaRPr lang="en-US" sz="11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أَتَشَرَّفُ بِمُخَاطَبَتِكُمْ ≠ حَيَّاكَ اللَّهُ</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Paper 4 Q1 (130–140 words) in three different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register — formal, semi-formal, friendly — to each text type.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Cover every required content point for Task Completion.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Q1 mark scheme to self-assess each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and close a friendly email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cover all four content points.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a semi-formal register in an article.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conditional and a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formal letter with passives and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Register signals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خِطَابٌ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‎خطاب‎ </a:t>
            </a:r>
            <a:pPr indent="0" marL="0">
              <a:buNone/>
            </a:pPr>
            <a:r>
              <a:rPr lang="en-US" sz="950" b="1" dirty="0">
                <a:solidFill>
                  <a:srgbClr val="2E8B57"/>
                </a:solidFill>
                <a:latin typeface="Calibri" pitchFamily="34" charset="0"/>
                <a:ea typeface="Calibri" pitchFamily="34" charset="-122"/>
                <a:cs typeface="Calibri" pitchFamily="34" charset="-120"/>
              </a:rPr>
              <a:t> khitāb · Arabic: a letter, an address · Urdu: a speech, a title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 official</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تَقْرِيرٌ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‎تقریر‎ </a:t>
            </a:r>
            <a:pPr indent="0" marL="0">
              <a:buNone/>
            </a:pPr>
            <a:r>
              <a:rPr lang="en-US" sz="950" b="1" dirty="0">
                <a:solidFill>
                  <a:srgbClr val="2E8B57"/>
                </a:solidFill>
                <a:latin typeface="Calibri" pitchFamily="34" charset="0"/>
                <a:ea typeface="Calibri" pitchFamily="34" charset="-122"/>
                <a:cs typeface="Calibri" pitchFamily="34" charset="-120"/>
              </a:rPr>
              <a:t> taqrīr · Arabic: a report · Urdu: a speech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مَقَالَةٌ</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an article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اِحْتِرَامٌ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ehtirām · respect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al-mu-waj-ja-ha-tu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خِطَابٌ رَسْمِيٌّ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khi-ṭā-bun ras-miy-yun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خِطَابَاتٌ رَسْمِيَّةٌ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بَرِيدٌ إِلِكْتْرُونِيٌّ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ba-rī-dun i-likt-rū-niy-yun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مَقَالَاتٌ</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diary entry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yaw-miy-yā-tun</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رَسْمِيَّةٌ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ras-miy-ya-tun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غَيْرُ رَسْمِيَّةٍ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informal register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ṣī-gha-tun ghay-ru ras-miy-ya-tin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مُقَدِّمَةٌ مُنَاسِبَةٌ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opening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mu-qad-di-ma-tun mu-nā-si-ba-tun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خَاتِمَةٌ مُنَاسِبَةٌ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appropriate closing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khā-ti-ma-tun mu-nā-si-ba-tun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الإِقْنَاعِيَّةُ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persuasive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all-lu-gha-tu al-iq-nā-ʿiy-ya-tu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المَعْلُومَاتُ المَطْلُوبَةُ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required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al-maʿ-lū-mā-tu al-maṭ-lū-ba-tu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opener.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أَتَشَرَّفُ بِمُخَاطَبَتِكُمْ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the honour of writing to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a-ta-shar-ra-fu bi-mu-khā-ṭa-ba-ti-kum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a boy · girl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حَيَّاكَ اللَّهُ</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 / hello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ḥay-yā-ka all-la-hu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حَيَّاكِ اللَّهُ</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Shape 36"/>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closer.</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وَتَفَضَّلُوا بِقَبُولِ 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yours faithfully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wa-ta-faḍ-ḍa-lū bi-qa-bū-li alḥ-ti-rā-mi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8" name="Shape 45"/>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Informal closer.</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إِلَى اللِّقَاءِ</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 you soon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 all-li-qā-ʾi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MATCH THE SIGNAL TO THE TYPE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Register signals by text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الصِّيغَةِ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43016" y="1810512"/>
            <a:ext cx="58155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Register</a:t>
            </a:r>
            <a:endParaRPr lang="en-US" sz="1100" dirty="0"/>
          </a:p>
        </p:txBody>
      </p:sp>
      <p:sp>
        <p:nvSpPr>
          <p:cNvPr id="17" name="Text 14"/>
          <p:cNvSpPr txBox="1"/>
          <p:nvPr/>
        </p:nvSpPr>
        <p:spPr>
          <a:xfrm>
            <a:off x="2542032" y="1810512"/>
            <a:ext cx="31546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Opening signal</a:t>
            </a:r>
            <a:endParaRPr lang="en-US" sz="1100" dirty="0"/>
          </a:p>
        </p:txBody>
      </p:sp>
      <p:sp>
        <p:nvSpPr>
          <p:cNvPr id="18" name="Text 15"/>
          <p:cNvSpPr txBox="1"/>
          <p:nvPr/>
        </p:nvSpPr>
        <p:spPr>
          <a:xfrm>
            <a:off x="521208" y="1810512"/>
            <a:ext cx="18745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Text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79592" y="2267712"/>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third person, passive, formal connectors</a:t>
            </a:r>
            <a:endParaRPr lang="en-US" sz="1100" dirty="0"/>
          </a:p>
        </p:txBody>
      </p:sp>
      <p:sp>
        <p:nvSpPr>
          <p:cNvPr id="21" name="Text 18"/>
          <p:cNvSpPr txBox="1"/>
          <p:nvPr/>
        </p:nvSpPr>
        <p:spPr>
          <a:xfrm>
            <a:off x="2560320" y="2267712"/>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a:t>
            </a:r>
            <a:endParaRPr lang="ar-SA" sz="1800" dirty="0"/>
          </a:p>
        </p:txBody>
      </p:sp>
      <p:sp>
        <p:nvSpPr>
          <p:cNvPr id="22" name="Text 19"/>
          <p:cNvSpPr txBox="1"/>
          <p:nvPr/>
        </p:nvSpPr>
        <p:spPr>
          <a:xfrm>
            <a:off x="557784" y="2267712"/>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letter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79592" y="3054096"/>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Friendly: first/second person, conversational</a:t>
            </a:r>
            <a:endParaRPr lang="en-US" sz="1100" dirty="0"/>
          </a:p>
        </p:txBody>
      </p:sp>
      <p:sp>
        <p:nvSpPr>
          <p:cNvPr id="27" name="Text 24"/>
          <p:cNvSpPr txBox="1"/>
          <p:nvPr/>
        </p:nvSpPr>
        <p:spPr>
          <a:xfrm>
            <a:off x="2560320" y="3054096"/>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حَيَّاكَ اللَّهُ / عَزِيزِي</a:t>
            </a:r>
            <a:endParaRPr lang="ar-SA" sz="1800" dirty="0"/>
          </a:p>
        </p:txBody>
      </p:sp>
      <p:sp>
        <p:nvSpPr>
          <p:cNvPr id="28" name="Text 25"/>
          <p:cNvSpPr txBox="1"/>
          <p:nvPr/>
        </p:nvSpPr>
        <p:spPr>
          <a:xfrm>
            <a:off x="557784" y="3054096"/>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Email (friend)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79592" y="3840480"/>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Semi-formal, engaging, first person</a:t>
            </a:r>
            <a:endParaRPr lang="en-US" sz="1100" dirty="0"/>
          </a:p>
        </p:txBody>
      </p:sp>
      <p:sp>
        <p:nvSpPr>
          <p:cNvPr id="33" name="Text 30"/>
          <p:cNvSpPr txBox="1"/>
          <p:nvPr/>
        </p:nvSpPr>
        <p:spPr>
          <a:xfrm>
            <a:off x="2578608" y="3840480"/>
            <a:ext cx="311810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hook, no address)</a:t>
            </a:r>
            <a:endParaRPr lang="en-US" sz="1100" dirty="0"/>
          </a:p>
        </p:txBody>
      </p:sp>
      <p:sp>
        <p:nvSpPr>
          <p:cNvPr id="34" name="Text 31"/>
          <p:cNvSpPr txBox="1"/>
          <p:nvPr/>
        </p:nvSpPr>
        <p:spPr>
          <a:xfrm>
            <a:off x="557784" y="3840480"/>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Article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879592" y="4626864"/>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impersonal, structured</a:t>
            </a:r>
            <a:endParaRPr lang="en-US" sz="1100" dirty="0"/>
          </a:p>
        </p:txBody>
      </p:sp>
      <p:sp>
        <p:nvSpPr>
          <p:cNvPr id="37" name="Text 34"/>
          <p:cNvSpPr txBox="1"/>
          <p:nvPr/>
        </p:nvSpPr>
        <p:spPr>
          <a:xfrm>
            <a:off x="2560320" y="4626864"/>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عُنْوَانٌ + أَقْسَامٌ مُرَقَّمَةٌ</a:t>
            </a:r>
            <a:endParaRPr lang="ar-SA" sz="1800" dirty="0"/>
          </a:p>
        </p:txBody>
      </p:sp>
      <p:sp>
        <p:nvSpPr>
          <p:cNvPr id="38" name="Text 35"/>
          <p:cNvSpPr txBox="1"/>
          <p:nvPr/>
        </p:nvSpPr>
        <p:spPr>
          <a:xfrm>
            <a:off x="557784" y="4626864"/>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opening line tells the examiner the register — get it right before anything else.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SAME CONTENT,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One message — a minister or a friend?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رَسْمِيٌّ أَمْ وُدِّيٌّ؟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Friendly email</a:t>
            </a:r>
            <a:endParaRPr lang="en-US" sz="1100" dirty="0"/>
          </a:p>
        </p:txBody>
      </p:sp>
      <p:sp>
        <p:nvSpPr>
          <p:cNvPr id="17" name="Text 14"/>
          <p:cNvSpPr txBox="1"/>
          <p:nvPr/>
        </p:nvSpPr>
        <p:spPr>
          <a:xfrm>
            <a:off x="226771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letter</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عَزِيزِي أَحْمَدُ، حَيَّاكَ اللَّهُ!</a:t>
            </a:r>
            <a:endParaRPr lang="ar-SA" sz="1600" dirty="0"/>
          </a:p>
        </p:txBody>
      </p:sp>
      <p:sp>
        <p:nvSpPr>
          <p:cNvPr id="21" name="Text 18"/>
          <p:cNvSpPr txBox="1"/>
          <p:nvPr/>
        </p:nvSpPr>
        <p:spPr>
          <a:xfrm>
            <a:off x="2286000" y="2267712"/>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حَضَرَاتِ أَعْضَاءِ اللَّجْنَةِ المُحْتَرَمِينَ، أَتَشَرَّفُ بِمُخَاطَبَتِكُمْ …</a:t>
            </a:r>
            <a:endParaRPr lang="ar-SA" sz="16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الطَّقْسَ بَارِدٌ، غَيْرَ أَنَّ …</a:t>
            </a:r>
            <a:endParaRPr lang="ar-SA" sz="1600" dirty="0"/>
          </a:p>
        </p:txBody>
      </p:sp>
      <p:sp>
        <p:nvSpPr>
          <p:cNvPr id="27" name="Text 24"/>
          <p:cNvSpPr txBox="1"/>
          <p:nvPr/>
        </p:nvSpPr>
        <p:spPr>
          <a:xfrm>
            <a:off x="2286000" y="300471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المَوَارِدَ مَحْدُودَةٌ، غَيْرَ أَنَّ …</a:t>
            </a:r>
            <a:endParaRPr lang="ar-SA" sz="16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problem</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وَأَنْصَحُكَ بِأَنْ تُحْضِرَ مِعْطَفًا.</a:t>
            </a:r>
            <a:endParaRPr lang="ar-SA" sz="1600" dirty="0"/>
          </a:p>
        </p:txBody>
      </p:sp>
      <p:sp>
        <p:nvSpPr>
          <p:cNvPr id="31" name="Text 28"/>
          <p:cNvSpPr txBox="1"/>
          <p:nvPr/>
        </p:nvSpPr>
        <p:spPr>
          <a:xfrm>
            <a:off x="2286000" y="3741725"/>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وَأَقْتَرِحُ أَنْ تُطْلَقَ حَمْلَةٌ …</a:t>
            </a:r>
            <a:endParaRPr lang="ar-SA" sz="1600" dirty="0"/>
          </a:p>
        </p:txBody>
      </p:sp>
      <p:sp>
        <p:nvSpPr>
          <p:cNvPr id="32" name="Text 29"/>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advise / ask</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تَوَفَّرَ الوَقْتُ، سَنَزُورُ المَتْحَفَ.</a:t>
            </a:r>
            <a:endParaRPr lang="ar-SA" sz="1600" dirty="0"/>
          </a:p>
        </p:txBody>
      </p:sp>
      <p:sp>
        <p:nvSpPr>
          <p:cNvPr id="35" name="Text 32"/>
          <p:cNvSpPr txBox="1"/>
          <p:nvPr/>
        </p:nvSpPr>
        <p:spPr>
          <a:xfrm>
            <a:off x="2286000" y="4478731"/>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أَرْجُو أَنْ تَتَّخِذُوا القَرَارَ المُنَاسِبَ عَاجِلًا.</a:t>
            </a:r>
            <a:endParaRPr lang="ar-SA" sz="1600" dirty="0"/>
          </a:p>
        </p:txBody>
      </p:sp>
      <p:sp>
        <p:nvSpPr>
          <p:cNvPr id="36" name="Text 33"/>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request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إِلَى اللِّقَاءِ، صَدِيقُكَ سَامِي.</a:t>
            </a:r>
            <a:endParaRPr lang="ar-SA" sz="1600" dirty="0"/>
          </a:p>
        </p:txBody>
      </p:sp>
      <p:sp>
        <p:nvSpPr>
          <p:cNvPr id="39" name="Text 36"/>
          <p:cNvSpPr txBox="1"/>
          <p:nvPr/>
        </p:nvSpPr>
        <p:spPr>
          <a:xfrm>
            <a:off x="2286000" y="521573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وَتَفَضَّلُوا بِقَبُولِ فَائِقِ الاحْتِرَامِ.</a:t>
            </a:r>
            <a:endParaRPr lang="ar-SA" sz="1600" dirty="0"/>
          </a:p>
        </p:txBody>
      </p:sp>
      <p:sp>
        <p:nvSpPr>
          <p:cNvPr id="40" name="Text 3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grammar (ṣaḥīḥun anna … ghayra anna · an + -a) — different register: you (plural) and passives vs. you (singular) and “I”.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Q1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required content point is present. · The text type and register are correct from the opening. · An appropriate opening and closing for the text type.</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variety of vocabulary suited to the register. · Several different grammar structures (tenses, connectors).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tense, agreement and subjunctive forms. · Errors do not obscure the meaning.</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TC is 7 of 15: the right register from the first line, and EVERY content point.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TASK · WRITE FOR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Task 3 · email</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friendly email (130–140 words) to an exchange student: the school, the area, one custom, one activity.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عَزِيزِي … حَيَّاكَ اللَّهُ! · close with إِلَى اللِّقَاءِ. Tick the four points.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Task 2 · article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article (130–140 words) for a youth magazine: how I manage stress and keep my wellbeing.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a hook question · first person · one conditional + one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Task 1 · letter</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formal letter (130–140 words) to the Arab League Environment Committee: problem, solution, benefit, request.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opening and closing · passives in -a · law … la- · wa-bināʾan.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CORE ROUTE · TASK 3 — FRIENDLY EMAIL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3 — A friendly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بَرِيدٌ إِلِكْتْرُونِيٌّ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friendly email (130–140 words) to an Arabic exchange student coming to your school for a month. Describe: your school, the local area, one cultural custom to be aware of, and a suggested activity. Register: friendly, semi-formal.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opening (</a:t>
            </a:r>
            <a:pPr algn="l" indent="0" marL="0">
              <a:buNone/>
            </a:pPr>
            <a:r>
              <a:rPr lang="ar-SA" altLang="en-US" sz="1550" dirty="0">
                <a:solidFill>
                  <a:srgbClr val="1F2A37"/>
                </a:solidFill>
                <a:latin typeface="Amiri" pitchFamily="34" charset="0"/>
                <a:ea typeface="Amiri" pitchFamily="34" charset="-122"/>
                <a:cs typeface="Amiri" pitchFamily="34" charset="-120"/>
              </a:rPr>
              <a:t>حَيَّاكَ اللَّهُ / عَزِيزِي</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school, the area, a custom and a suggested activity.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Friendly, first/second-person register.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warm closing (</a:t>
            </a:r>
            <a:pPr algn="l" indent="0" marL="0">
              <a:buNone/>
            </a:pPr>
            <a:r>
              <a:rPr lang="ar-SA" altLang="en-US" sz="1550" dirty="0">
                <a:solidFill>
                  <a:srgbClr val="1F2A37"/>
                </a:solidFill>
                <a:latin typeface="Amiri" pitchFamily="34" charset="0"/>
                <a:ea typeface="Amiri" pitchFamily="34" charset="-122"/>
                <a:cs typeface="Amiri" pitchFamily="34" charset="-120"/>
              </a:rPr>
              <a:t>إِلَى اللِّقَاءِ</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عَزِيزِي … ، حَيَّاكَ اللَّهُ!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 hello!</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يُسْعِدُنِي أَنَّكَ سَتَزُورُ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happy that you will visit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وَأَنْصَحُكَ بِأَنْ تُحْضِرَ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advise you to bring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العَادَاتِ المُهِمَّةِ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important custom is that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أَتَطَلَّعُ إِلَى لِقَائِكَ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forward to meeting you</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DEVELOP ROUTE · TASK 2 —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2 — An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article (130–140 words) for an Arabic youth magazine on: “How I manage stress and maintain my wellbeing.” Register: engaging, semi-formal, first person.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engaging hook (no formal address).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First-person, semi-formal register.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conditional and one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closing thought for the reader.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سُؤَالٌ يَشْغَلُ كَثِيرًا مِنَ الشَّبَابِ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question on many young people’s minds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أَسَاسٌ لَا غِنَى عَنْهُ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foundation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تَنْظِيمُ الوَقْتِ يُخَفِّفُهُ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organising time eases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نَثِقُ بِهِمْ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people we trust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أَدْعُو كُلَّ قَارِئٍ إِلَى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call on every reader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ROUTE · TASK 1 — FORMAL 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1 — A formal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خِطَابٌ رَسْمِيٌّ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a formal letter (130–140 words) to the Arab League Environment Committee recommending a specific environmental measure. Include: the problem, your proposed solution, the expected benefit, and a request for action. Keep the register </a:t>
            </a:r>
            <a:pPr algn="l" indent="0" marL="0">
              <a:buNone/>
            </a:pPr>
            <a:r>
              <a:rPr lang="ar-SA" altLang="en-US" sz="1500" b="1" dirty="0">
                <a:solidFill>
                  <a:srgbClr val="1F2A37"/>
                </a:solidFill>
                <a:latin typeface="Amiri" pitchFamily="34" charset="0"/>
                <a:ea typeface="Amiri" pitchFamily="34" charset="-122"/>
                <a:cs typeface="Amiri" pitchFamily="34" charset="-120"/>
              </a:rPr>
              <a:t>رَسْمِيًّا</a:t>
            </a:r>
            <a:pPr algn="l" indent="0" marL="0">
              <a:buNone/>
            </a:pPr>
            <a:r>
              <a:rPr lang="en-US" sz="1150" b="1" dirty="0">
                <a:solidFill>
                  <a:srgbClr val="1F2A37"/>
                </a:solidFill>
                <a:latin typeface="Calibri" pitchFamily="34" charset="0"/>
                <a:ea typeface="Calibri" pitchFamily="34" charset="-122"/>
                <a:cs typeface="Calibri" pitchFamily="34" charset="-120"/>
              </a:rPr>
              <a:t> throughout.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opening (</a:t>
            </a:r>
            <a:pPr algn="l" indent="0" marL="0">
              <a:buNone/>
            </a:pPr>
            <a:r>
              <a:rPr lang="ar-SA" altLang="en-US" sz="1550" dirty="0">
                <a:solidFill>
                  <a:srgbClr val="1F2A37"/>
                </a:solidFill>
                <a:latin typeface="Amiri" pitchFamily="34" charset="0"/>
                <a:ea typeface="Amiri" pitchFamily="34" charset="-122"/>
                <a:cs typeface="Amiri" pitchFamily="34" charset="-120"/>
              </a:rPr>
              <a:t>أَتَشَرَّفُ بِمُخَاطَبَتِكُمْ</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problem, the solution, the benefit and a request for action.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Formal connectors and impersonal/passive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closing (</a:t>
            </a:r>
            <a:pPr algn="l" indent="0" marL="0">
              <a:buNone/>
            </a:pPr>
            <a:r>
              <a:rPr lang="ar-SA" altLang="en-US" sz="1550" dirty="0">
                <a:solidFill>
                  <a:srgbClr val="1F2A37"/>
                </a:solidFill>
                <a:latin typeface="Amiri" pitchFamily="34" charset="0"/>
                <a:ea typeface="Amiri" pitchFamily="34" charset="-122"/>
                <a:cs typeface="Amiri" pitchFamily="34" charset="-120"/>
              </a:rPr>
              <a:t>وَتَفَضَّلُوا بِقَبُولِ الاحْتِرَامِ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أَتَشَرَّفُ بِمُخَاطَبَتِكُمْ بِشَأْنِ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the honour of writing to you about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يُفَاقِمُ الأَزْمَةَ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worsens the crisis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وَأَقْتَرِحُ أَنْ تُطْلَقَ حَمْلَةٌ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propose that a campaign be launched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أَرْجُو أَنْ تَتَّخِذُوا القَرَارَ المُنَاسِبَ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hope you will take the right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وَتَفَضَّلُوا بِقَبُولِ فَائِقِ الاحْتِرَامِ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yours faithfully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3 — EMAIL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عَزِيزِي أَحْمَدُ، حَيَّاكَ اللَّهُ! يُسْعِدُنِي أَنَّكَ سَتَزُورُ مَدْرَسَتَنَا الشَّهْرَ القَادِمَ. مَدْرَسَتُنَا كَبِيرَةٌ وَفِيهَا مُخْتَبَرَاتٌ حَدِيثَةٌ، وَتَقَعُ قُرْبَ حَدِيقَةٍ جَمِيلَةٍ. صَحِيحٌ أَنَّ الطَّقْسَ بَارِدٌ أَحْيَانًا، غَيْرَ أَنَّ النَّاسَ وَدُودُونَ. وَأَنْصَحُكَ بِأَنْ تُحْضِرَ مِعْطَفًا. وَمِنَ العَادَاتِ المُهِمَّةِ أَنْ نَخْلَعَ الحِذَاءَ عِنْدَ دُخُولِ البُيُوتِ. وَإِذَا تَوَفَّرَ الوَقْتُ، سَنَزُورُ المَتْحَفَ المَحَلِّيَّ مَعًا. أَتَطَلَّعُ إِلَى لِقَائِكَ. إِلَى اللِّقَاءِ، صَدِيقُكَ سَامِي.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Ahmad, hello! I am happy that you will visit our school next month. Our school is big and has modern laboratories, and it is near a beautiful park. It is true that the weather is sometimes cold, but people are friendly. I advise you to bring a coat. One important custom is that we take off our shoes when entering homes. If there is time, we will visit the local museum together. I look forward to meeting you. See you soon, your friend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warm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school · area · custom · activity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bi-an tuḥḍira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friendly 1st / 2nd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2 — ARTICLE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كَيْفَ أُحَافِظُ عَلَى تَوَازُنِي النَّفْسِيِّ؟ سُؤَالٌ يَشْغَلُ كَثِيرًا مِنَ الشَّبَابِ. أُشِيرُ أَوَّلًا إِلَى أَنَّ النَّوْمَ الجَيِّدَ وَالرِّيَاضَةَ أَسَاسٌ لَا غِنَى عَنْهُ. صَحِيحٌ أَنَّ الدِّرَاسَةَ تُسَبِّبُ ضَغْطًا، غَيْرَ أَنَّ تَنْظِيمَ الوَقْتِ يُخَفِّفُهُ. وَإِذَا خَصَّصْتُ سَاعَةً لِلرَّاحَةِ يَوْمِيًّا، شَعَرْتُ بِتَحَسُّنٍ وَاضِحٍ. وَيَنْبَغِي أَنْ نَحْرِصَ عَلَى الحَدِيثِ مَعَ مَنْ نَثِقُ بِهِمْ. وَخِتَامًا، أَدْعُو كُلَّ قَارِئٍ إِلَى أَنْ يَعْتَنِيَ بِصِحَّتِهِ النَّفْسِيَّةِ كَمَا يَعْتَنِي بِجَسَدِهِ.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How do I keep my mental balance? It is a question on many young people’s minds. First, I point out that good sleep and exercise are an indispensable foundation. It is true that studying causes stress; however, organising my time eases it. When I set aside an hour a day for rest, I feel a clear improvement. We should make sure we talk to people we trust. Finally, I call on every reader to look after their mental health as they look after their body.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hook question, no address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first person, semi-formal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 yanbaghī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closing thought for the reader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TASK 1 — FORMAL LETTER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حَضَرَاتِ أَعْضَاءِ لَجْنَةِ البِيئَةِ المُحْتَرَمِينَ، أَتَشَرَّفُ بِمُخَاطَبَتِكُمْ بِشَأْنِ نُدْرَةِ المِيَاهِ فِي مِنْطَقَتِنَا. صَحِيحٌ أَنَّ المَوَارِدَ مَحْدُودَةٌ، غَيْرَ أَنَّ سُوءَ الإِدَارَةِ يُفَاقِمُ الأَزْمَةَ. وَأَقْتَرِحُ أَنْ تُطْلَقَ حَمْلَةٌ لِتَرْشِيدِ الاسْتِهْلَاكِ، وَأَنْ تُسْتَثْمَرَ الطَّاقَةُ الشَّمْسِيَّةُ فِي تَحْلِيَةِ المِيَاهِ. وَلَوْ طُبِّقَتْ هٰذِهِ الإِجْرَاءَاتُ، لَتَحَسَّنَ الوَضْعُ كَثِيرًا. وَبِنَاءً عَلَى مَا سَبَقَ، أَرْجُو أَنْ تَتَّخِذُوا القَرَارَ المُنَاسِبَ عَاجِلًا. وَتَفَضَّلُوا بِقَبُولِ فَائِقِ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Honourable members of the Environment Committee, I have the honour of writing to you about water scarcity in our region. It is true that resources are limited; however, poor management is worsening the crisis. I propose that a campaign be launched to rationalise consumption, and that solar energy be invested in desalination. Had these measures been applied, the situation would have improved greatly. Based on the above, I hope that you will take the appropriate decision urgently. Yours faithfully.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formal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problem · solution · benefit · request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in -a (an tuṭlaqa)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TEXT-TYPE DIFFICULTY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 difficulty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أَقْوَى نَوْعٍ وَأَضْعَفُهُ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590288" y="2267712"/>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email — I know the friendly openings</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text type is … because …</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590288" y="3054096"/>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 — the passives are hard</a:t>
            </a:r>
            <a:endParaRPr lang="en-US" sz="1100" dirty="0"/>
          </a:p>
        </p:txBody>
      </p:sp>
      <p:sp>
        <p:nvSpPr>
          <p:cNvPr id="26" name="Text 23"/>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text type is … because …</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590288" y="3840480"/>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openings and closings from memory</a:t>
            </a:r>
            <a:endParaRPr lang="en-US" sz="1100" dirty="0"/>
          </a:p>
        </p:txBody>
      </p:sp>
      <p:sp>
        <p:nvSpPr>
          <p:cNvPr id="30" name="Text 27"/>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Lesson 9 mock I will practise …</a:t>
            </a:r>
            <a:endParaRPr lang="en-US" sz="11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cannot always choose the text type — practise your weakest before the L09 mock.</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REGISTER — THE TC MULTIPLIER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Directed 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أَتَشَرَّفُ بِمُخَاطَبَتِكُمْ</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signal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register signal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letter</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text type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الخِطَابُ الرَّسْمِيُّ</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hardest type for me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أَصْعَبُ نَوْعٍ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Register is the TC multiplier: right from the first line, consistent to the last.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correct opening and closing for my text type.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included every required content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register consistent from the opening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conditional and a trigger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scored my own writing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P6-L04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P6-L05 · Paper 4 Q2 — Extended Writing: Essay Architecture Under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المُوَسَّعَةُ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هَيْكَلُ المَقَالِ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essay structure</a:t>
            </a:r>
            <a:pPr indent="0" marL="0">
              <a:buNone/>
            </a:pPr>
            <a:r>
              <a:rPr lang="en-US" sz="1000" i="1" dirty="0">
                <a:solidFill>
                  <a:srgbClr val="5A6472"/>
                </a:solidFill>
                <a:latin typeface="Calibri" pitchFamily="34" charset="0"/>
                <a:ea typeface="Calibri" pitchFamily="34" charset="-122"/>
                <a:cs typeface="Calibri" pitchFamily="34" charset="-120"/>
              </a:rPr>
              <a:t>  pl. هَيَاكِلُ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التَّنَوُّعُ المَعْجَمِيُّ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lexical variety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الدِّقَّةُ تَحْتَ ضَغْطِ الوَقْتِ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 under time pressure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الأُطْرُوحَةُ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thesis</a:t>
            </a:r>
            <a:pPr indent="0" marL="0">
              <a:buNone/>
            </a:pPr>
            <a:r>
              <a:rPr lang="en-US" sz="1000" i="1" dirty="0">
                <a:solidFill>
                  <a:srgbClr val="5A6472"/>
                </a:solidFill>
                <a:latin typeface="Calibri" pitchFamily="34" charset="0"/>
                <a:ea typeface="Calibri" pitchFamily="34" charset="-122"/>
                <a:cs typeface="Calibri" pitchFamily="34" charset="-120"/>
              </a:rPr>
              <a:t>  pl. الأُطْرُوحَاتُ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many minutes would you spend planning a 150-word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أُخَطِّطُ لِلْمَقَالِ ______ دَقَائِقَ،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email using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second paragraph of a different task in a new register;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task in full (130–140 words) under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P6-L05 · Paper 4 Q2 — Extended Writing: Essay Architecture Under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reader decides the register — formal letter, article or email — right from the first line; cover EVERY content point; TC is 7 of 15.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P6-L04 · Paper 4 Q1 — Directed Writing: Mastering Form and Register</dc:title>
  <dc:subject>PptxGenJS Presentation</dc:subject>
  <dc:creator>Al Madina Online School · Arabic Department</dc:creator>
  <cp:lastModifiedBy>Al Madina Online School · Arabic Department</cp:lastModifiedBy>
  <cp:revision>1</cp:revision>
  <dcterms:created xsi:type="dcterms:W3CDTF">2026-10-11T03:31:09Z</dcterms:created>
  <dcterms:modified xsi:type="dcterms:W3CDTF">2026-10-11T03:31:09Z</dcterms:modified>
</cp:coreProperties>
</file>