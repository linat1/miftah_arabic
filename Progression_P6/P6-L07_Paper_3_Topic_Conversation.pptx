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Conversation words · 13–16 Band 2 · 3 · 5 · 16–18 The mark scheme · 18–21 I Do: build a Band 5 answer · 21–23 Pause-and-think phrases · 23–38 The full conversation in pairs · 38–45 Question bank · 45–51 Emergency sentences · 51–55 Reflection + self-check · 55–57 Preparation for the mock.
FLEX slides are optional. Use them if the class is moving quickly; otherwise the same activities are on the website for homework.
Content source: Miftah Arabic website, Pathways › Progression › P6 IGCSE Bridge › P6-L07. The website P6-L07: the topic-conversation vocabulary (8 words), the cards “What a Band 5 answer looks like” (Band 2 · 3 · 5 answers to one question), the mark scheme (Communication 15 · Quality of Language 5), the full three-question practice with a Band 5 model, the extra question bank (4 questions), the emergency-sentence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A = examiner (reads the question, times 1 minute), B = candidate; then swap. The teacher listens to one pair per question.
• Routes: Core — answer with opinion + reason + example (the three green frames), at least three sentences · Develop — add a concession (صَحِيحٌ أَنَّ … غَيْرَ أَنَّ) · Stretch — the full Band 5 chain: evidence + concession + conditional + subjunctive.
• Topic sensitivity: the question on study pressure may touch real anxiety. Allow students to answer about “students in general” rather than themselves.
• The website message: development is the key — two sentences cap at about Band 3; four to five developed sentences reach Band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P6-L06. Questions 4–5 retrieve the concession and the subjunctive of demand — the two structures that lift an answer to Band 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Development earns the band: opinion → reason → example →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whole Band 5 chain is built from words Urdu already shares — رائے (opinion), سبب (reason), مثال (example), دلیل (evidence), موضوع (topic). Students who say “meri rāy mein …” are already halfway to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(1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(2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Read Band 2 and Band 3 aloud; ask: what does Band 3 add? (a reason — لِأَنَّ). The full Band 5 answer is built on the I Do slide.
WEBSITE BAND 3: يُعَانِي كَثِيرٌ مِنَ الطُّلَّابِ مِنَ الضَّغْطِ. فِي رَأْيِي هُوَ مُفِيدٌ أَحْيَانًا لِأَنَّهُ يُحَفِّزُ.
WEBSITE CARDS “What a Band 5 answer looks like”: Band 2 — minimal: A bare opinion, no development. (الضَّغْطُ الدِّرَاسِيُّ صَعْبٌ. لَا أُحِبُّهُ.) · Band 3 — adequate: An opinion with one reason. (يُعَانِي كَثِيرٌ مِنَ الطُّلَّابِ مِنَ الضَّغْطِ. فِي رَأْيِي هُوَ مُفِيدٌ أَحْيَانًا لِأَنَّهُ يُحَفِّزُ.) · Band 5 — developed: Evidence + concession-refutation + conditional + subjunctive. (يُشَارُ إِلَى أَنَّ الضَّغْطَ فِي تَصَاعُدٍ. صَحِيحٌ أَنَّ بَعْضَهُ يُحَفِّزُ، غَيْرَ أَنَّهُ إِذَا تَجَاوَزَ حَدَّهُ سَيُؤَدِّي إِلَى الاحْتِرَاقِ. لِذَا يَتَطَلَّبُ الأَمْرُ أَنْ تُوَفِّرَ المَدَارِسُ بِيئَةً أَقَلَّ ضَغْطًا.)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website mark scheme. Communication = 5 marks for each of three questions; Quality of Language = one overall score out of 5.
Website note: Development is the key to Communication Band 5: a two-sentence answer caps at about Band 3, while a four-to-five-sentence answer with opinion, evidence and conditional analysis reaches Band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Build the answer live, one sentence at a time, naming each step: (1) EVIDENCE — يُشَارُ إِلَى أَنَّ (passive, P4-L05) · (2) CONCESSION — صَحِيحٌ أَنَّ … غَيْرَ أَنَّ (P5) · (3) CONDITIONAL — إِذَا تَجَاوَزَ … سَيُؤَدِّي (P4) · (4) SUBJUNCTIVE CONCLUSION — يَتَطَلَّبُ الأَمْرُ أَنْ تُوَفِّرَ (P5-L03). Then students find the four chips. Vocabulary: تَصَاعُدٌ = rise · الاحْتِرَاقُ =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teacher panel (no website panel for this). Choral repetition of the three phrases; students choose ONE to use in every answer today.
WEBSITE PANEL “Pause-and-think language”: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(15 min) — pairs, three questions each, then swap. The examiner times one minute and ticks: opinion ✓ reason ✓ example ✓ concession ✓ conditional ✓ subjunctive ✓. Core: question 1 with the green start. Question 3 needs the TYPE 2 conditional: لَوْ كُنْتُ … لَمَنَعْتُ / لَغَيَّرْتُ (P4).
WEBSITE MODEL: Examiner: مَا رَأْيُكَ فِي الضَّغْطِ الدِّرَاسِيِّ؟ (Question 1) · You: يُشَارُ إِلَى أَنَّ الضَّغْطَ فِي تَصَاعُدٍ. صَحِيحٌ أَنَّ بَعْضَهُ يُحَفِّزُ، غَيْرَ أَنَّهُ إِذَا تَجَاوَزَ حَدَّهُ سَيَضُرُّ. يَتَطَلَّبُ الأَمْرُ أَنْ تُوَفِّرَ المَدَارِسُ دَعْمًا نَفْسِيًّا. (Band 5 development)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each partner chooses two questions they have NOT prepared, to practise the unexpected. Question 3 needs two tenses: كُنْتُ أَقْضِي (past habit, P3)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EMERGENCY SENTENCES (6 min) — website fields. The teacher examples are deliberately topic-neutral: they fit health, environment, technology and society. Students adapt them to their two least confident topics.
Website: For your two least confident topics, prepare three transferable sentences you can use if you go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(Development earns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(P6-L08 · Mock Examination — Paper 1 Listening (Full Exam Conditions)) will spend class time USING this language, so students prepare it tonight — short, simple, easy to access (school guidance: “Simple, Short, Interesting, Relevant, Easy to access”). P6-L08 is a mock with no new vocabulary: these five words are revised from the website P6-L02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3 Topic Conversation — Extended Speaking at IGCSE Level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الوَرَقَةُ الثَّالِثَةُ — المُحَادَثَةُ المَوْضُوعِيَّةُ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a one-line answer into a Band 5 answer: opinion → reason → example → concession → conditional → subjunctive conclusion — and keep talking when a question surprises you.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P6-L07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conversation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Band 2 · 3 · 5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a Band 5 answer.</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full conversation, question bank, emergency sentences.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تَحَدَّثْ</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listening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الرَّأْيُ مَعَ الأَسْبَابِ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with reasons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without an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التَّعَافِي مِنَ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errors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counting errors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recovering from errors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 ___ </a:t>
            </a:r>
            <a:pPr algn="l" indent="0" marL="0">
              <a:buNone/>
            </a:pPr>
            <a:r>
              <a:rPr lang="ar-SA" altLang="en-US" sz="1650" b="1" dirty="0">
                <a:solidFill>
                  <a:srgbClr val="1B3B6F"/>
                </a:solidFill>
                <a:latin typeface="Amiri" pitchFamily="2" charset="-78"/>
                <a:cs typeface="Amiri" pitchFamily="2" charset="-78"/>
              </a:rPr>
              <a:t>أَنَّ التِّقْنِيَّةَ مُفِيدَةٌ، غَيْرَ 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demand: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المَدَارِسُ دَعْمًا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correct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الرَّأْيُ مَعَ الأَسْبَابِ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opinion with reasons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without an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other side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التَّعَافِي مِنَ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errors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counting errors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recovering from errors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 ___ </a:t>
            </a:r>
            <a:pPr algn="l" indent="0" marL="0">
              <a:buNone/>
            </a:pPr>
            <a:r>
              <a:rPr lang="ar-SA" altLang="en-US" sz="1650" b="1" dirty="0">
                <a:solidFill>
                  <a:srgbClr val="1B3B6F"/>
                </a:solidFill>
                <a:latin typeface="Amiri" pitchFamily="2" charset="-78"/>
                <a:cs typeface="Amiri" pitchFamily="2" charset="-78"/>
              </a:rPr>
              <a:t>أَنَّ التِّقْنِيَّةَ مُفِيدَةٌ، غَيْرَ 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ṣaḥīḥun anna …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demand: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المَدَارِسُ دَعْمًا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تُوَفِّرَ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تُوَفِّرُ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verb in -a (P5-L03).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Development earns the band: opinion → reason → example → analysis.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فِي رَأْيِي … لِأَنَّ … فَمَثَلًا … لِذَا يَتَطَلَّبُ الأَمْرُ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Develop each answer with a point, a reason and an example.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Deploy complex grammar spontaneously for Quality of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Handle unexpected questions with transferable “emergency”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topic-conversation mark scheme to self-assess.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with an opinion, a reason and an example.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speak for three sentences or more.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concession (ṣaḥīḥun anna … ghayra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pause-and-think phrase instead of going blank.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two tenses, a conditional and a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Communication and Quality of Language.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Extended speaking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سَبَبٌ</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 cause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مَوْضُوعٌ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‎موضوع‎ </a:t>
            </a:r>
            <a:pPr indent="0" marL="0">
              <a:buNone/>
            </a:pPr>
            <a:r>
              <a:rPr lang="en-US" sz="950" b="1" dirty="0">
                <a:solidFill>
                  <a:srgbClr val="2E8B57"/>
                </a:solidFill>
                <a:latin typeface="Calibri" pitchFamily="34" charset="0"/>
                <a:cs typeface="Amiri" pitchFamily="2" charset="-78"/>
              </a:rPr>
              <a:t> mauzū · topic</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argument</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speaking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المُحَادَثَةُ المَوْضُوعِيَّةُ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conversation</a:t>
            </a:r>
            <a:endParaRPr lang="en-US" sz="1350" dirty="0"/>
          </a:p>
          <a:p>
            <a:pPr indent="0" marL="0">
              <a:buNone/>
            </a:pPr>
            <a:r>
              <a:rPr lang="en-US" sz="1100" i="1" dirty="0">
                <a:solidFill>
                  <a:srgbClr val="5A6472"/>
                </a:solidFill>
                <a:latin typeface="Calibri" pitchFamily="34" charset="0"/>
                <a:cs typeface="Amiri" pitchFamily="2" charset="-78"/>
              </a:rPr>
              <a:t>al-mu-ḥā-da-tha-tu al-maw-ḍū-ʿiy-ya-tu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التَّوْسِيعُ فِي الإِجَابَةِ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extending the answer</a:t>
            </a:r>
            <a:endParaRPr lang="en-US" sz="1350" dirty="0"/>
          </a:p>
          <a:p>
            <a:pPr indent="0" marL="0">
              <a:buNone/>
            </a:pPr>
            <a:r>
              <a:rPr lang="en-US" sz="1100" i="1" dirty="0">
                <a:solidFill>
                  <a:srgbClr val="5A6472"/>
                </a:solidFill>
                <a:latin typeface="Calibri" pitchFamily="34" charset="0"/>
                <a:cs typeface="Amiri" pitchFamily="2" charset="-78"/>
              </a:rPr>
              <a:t>at-taw-sī-ʿu fī al-i-jā-ba-ti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الرَّأْيُ مَعَ الأَسْبَابِ</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opinion with reasons</a:t>
            </a:r>
            <a:endParaRPr lang="en-US" sz="1350" dirty="0"/>
          </a:p>
          <a:p>
            <a:pPr indent="0" marL="0">
              <a:buNone/>
            </a:pPr>
            <a:r>
              <a:rPr lang="en-US" sz="1100" i="1" dirty="0">
                <a:solidFill>
                  <a:srgbClr val="5A6472"/>
                </a:solidFill>
                <a:latin typeface="Calibri" pitchFamily="34" charset="0"/>
                <a:cs typeface="Amiri" pitchFamily="2" charset="-78"/>
              </a:rPr>
              <a:t>ar-raʾ-yu ma-ʿa al-as-bā-bi</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آرَاءٌ</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سَبَبٌ</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الأَمْثِلَةُ الدَّاعِمَةُ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supporting examples</a:t>
            </a:r>
            <a:endParaRPr lang="en-US" sz="1350" dirty="0"/>
          </a:p>
          <a:p>
            <a:pPr indent="0" marL="0">
              <a:buNone/>
            </a:pPr>
            <a:r>
              <a:rPr lang="en-US" sz="1100" i="1" dirty="0">
                <a:solidFill>
                  <a:srgbClr val="5A6472"/>
                </a:solidFill>
                <a:latin typeface="Calibri" pitchFamily="34" charset="0"/>
                <a:cs typeface="Amiri" pitchFamily="2" charset="-78"/>
              </a:rPr>
              <a:t>al-am-thi-la-tu ad-dā-ʿi-ma-tu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مِثَالٌ دَاعِمٌ</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speaking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 مَعَ الدِّقَّةِ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 with accuracy</a:t>
            </a:r>
            <a:endParaRPr lang="en-US" sz="1350" dirty="0"/>
          </a:p>
          <a:p>
            <a:pPr indent="0" marL="0">
              <a:buNone/>
            </a:pPr>
            <a:r>
              <a:rPr lang="en-US" sz="1100" i="1" dirty="0">
                <a:solidFill>
                  <a:srgbClr val="5A6472"/>
                </a:solidFill>
                <a:latin typeface="Calibri" pitchFamily="34" charset="0"/>
                <a:cs typeface="Amiri" pitchFamily="2" charset="-78"/>
              </a:rPr>
              <a:t>aṭ-ṭa-lā-qa-tu ma-ʿa ad-diq-qa-ti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التَّعَافِي مِنَ الأَخْطَاءِ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recovering from errors</a:t>
            </a:r>
            <a:endParaRPr lang="en-US" sz="1350" dirty="0"/>
          </a:p>
          <a:p>
            <a:pPr indent="0" marL="0">
              <a:buNone/>
            </a:pPr>
            <a:r>
              <a:rPr lang="en-US" sz="1100" i="1" dirty="0">
                <a:solidFill>
                  <a:srgbClr val="5A6472"/>
                </a:solidFill>
                <a:latin typeface="Calibri" pitchFamily="34" charset="0"/>
                <a:cs typeface="Amiri" pitchFamily="2" charset="-78"/>
              </a:rPr>
              <a:t>at-ta-ʿā-fī mi-na al-akh-ṭā-ʾi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التَّوَقُّفِ وَالتَّفْكِيرِ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pause-and-think language</a:t>
            </a:r>
            <a:endParaRPr lang="en-US" sz="1350" dirty="0"/>
          </a:p>
          <a:p>
            <a:pPr indent="0" marL="0">
              <a:buNone/>
            </a:pPr>
            <a:r>
              <a:rPr lang="en-US" sz="1100" i="1" dirty="0">
                <a:solidFill>
                  <a:srgbClr val="5A6472"/>
                </a:solidFill>
                <a:latin typeface="Calibri" pitchFamily="34" charset="0"/>
                <a:cs typeface="Amiri" pitchFamily="2" charset="-78"/>
              </a:rPr>
              <a:t>lu-gha-tu at-ta-waq-qu-fi wālt-taf-kī-ri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المُبَادَرَةُ فِي المُحَادَثَةِ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taking initiative</a:t>
            </a:r>
            <a:endParaRPr lang="en-US" sz="1350" dirty="0"/>
          </a:p>
          <a:p>
            <a:pPr indent="0" marL="0">
              <a:buNone/>
            </a:pPr>
            <a:r>
              <a:rPr lang="en-US" sz="1100" i="1" dirty="0">
                <a:solidFill>
                  <a:srgbClr val="5A6472"/>
                </a:solidFill>
                <a:latin typeface="Calibri" pitchFamily="34" charset="0"/>
                <a:cs typeface="Amiri" pitchFamily="2" charset="-78"/>
              </a:rPr>
              <a:t>al-mu-bā-da-ra-tu fī al-mu-ḥā-da-tha-ti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THREE ANSWERS TO ONE QUESTION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lifts an answer from Band 2 to Band 5</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٢ إِلَى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566928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3035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A BAND 5 ANSWER LOOKS LIKE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2 — minimal — A bare opinion, no development.</a:t>
            </a:r>
            <a:endParaRPr lang="en-US" sz="1300" dirty="0"/>
          </a:p>
        </p:txBody>
      </p:sp>
      <p:sp>
        <p:nvSpPr>
          <p:cNvPr id="20" name="Shape 17"/>
          <p:cNvSpPr/>
          <p:nvPr/>
        </p:nvSpPr>
        <p:spPr>
          <a:xfrm>
            <a:off x="658368" y="328574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8574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76016"/>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3 — adequate — An opinion with one reason.</a:t>
            </a:r>
            <a:endParaRPr lang="en-US" sz="1300" dirty="0"/>
          </a:p>
        </p:txBody>
      </p:sp>
      <p:sp>
        <p:nvSpPr>
          <p:cNvPr id="23" name="Shape 20"/>
          <p:cNvSpPr/>
          <p:nvPr/>
        </p:nvSpPr>
        <p:spPr>
          <a:xfrm>
            <a:off x="658368" y="4285488"/>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28548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75760"/>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Band 5 — developed — Evidence + concession-refutation + conditional + subjunctive.</a:t>
            </a:r>
            <a:endParaRPr lang="en-US" sz="1300" dirty="0"/>
          </a:p>
        </p:txBody>
      </p:sp>
      <p:sp>
        <p:nvSpPr>
          <p:cNvPr id="26" name="Shape 23"/>
          <p:cNvSpPr/>
          <p:nvPr/>
        </p:nvSpPr>
        <p:spPr>
          <a:xfrm>
            <a:off x="6309360" y="1810512"/>
            <a:ext cx="542239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492240" y="1883664"/>
            <a:ext cx="50566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6446520" y="2194560"/>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الضَّغْطُ الدِّرَاسِيُّ صَعْبٌ. لَا أُحِبُّهُ.</a:t>
            </a:r>
            <a:endParaRPr lang="ar-SA" sz="2600" dirty="0"/>
          </a:p>
        </p:txBody>
      </p:sp>
      <p:sp>
        <p:nvSpPr>
          <p:cNvPr id="29" name="Text 26"/>
          <p:cNvSpPr txBox="1"/>
          <p:nvPr/>
        </p:nvSpPr>
        <p:spPr>
          <a:xfrm>
            <a:off x="6446520" y="2761244"/>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2: “Study pressure is hard. I don’t like it.”</a:t>
            </a:r>
            <a:endParaRPr lang="en-US" sz="1100" dirty="0"/>
          </a:p>
        </p:txBody>
      </p:sp>
      <p:sp>
        <p:nvSpPr>
          <p:cNvPr id="30" name="Shape 27"/>
          <p:cNvSpPr/>
          <p:nvPr/>
        </p:nvSpPr>
        <p:spPr>
          <a:xfrm>
            <a:off x="6492240" y="3188208"/>
            <a:ext cx="5056632" cy="0"/>
          </a:xfrm>
          <a:prstGeom prst="line">
            <a:avLst/>
          </a:prstGeom>
          <a:noFill/>
          <a:ln w="9525">
            <a:solidFill>
              <a:srgbClr val="E4DCCB"/>
            </a:solidFill>
            <a:prstDash val="dash"/>
          </a:ln>
        </p:spPr>
      </p:sp>
      <p:sp>
        <p:nvSpPr>
          <p:cNvPr id="31" name="Text 28"/>
          <p:cNvSpPr txBox="1"/>
          <p:nvPr/>
        </p:nvSpPr>
        <p:spPr>
          <a:xfrm>
            <a:off x="6446520" y="3206496"/>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رَأْيِي هُوَ مُفِيدٌ أَحْيَانًا لِأَنَّهُ يُحَفِّزُ.</a:t>
            </a:r>
            <a:endParaRPr lang="ar-SA" sz="2600" dirty="0"/>
          </a:p>
        </p:txBody>
      </p:sp>
      <p:sp>
        <p:nvSpPr>
          <p:cNvPr id="32" name="Text 29"/>
          <p:cNvSpPr txBox="1"/>
          <p:nvPr/>
        </p:nvSpPr>
        <p:spPr>
          <a:xfrm>
            <a:off x="6446520" y="3773180"/>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3: “In my opinion it is sometimes useful because it motivates.”</a:t>
            </a:r>
            <a:endParaRPr lang="en-US" sz="1100" dirty="0"/>
          </a:p>
        </p:txBody>
      </p:sp>
      <p:sp>
        <p:nvSpPr>
          <p:cNvPr id="33" name="Shape 30"/>
          <p:cNvSpPr/>
          <p:nvPr/>
        </p:nvSpPr>
        <p:spPr>
          <a:xfrm>
            <a:off x="6492240" y="4200144"/>
            <a:ext cx="5056632" cy="0"/>
          </a:xfrm>
          <a:prstGeom prst="line">
            <a:avLst/>
          </a:prstGeom>
          <a:noFill/>
          <a:ln w="9525">
            <a:solidFill>
              <a:srgbClr val="E4DCCB"/>
            </a:solidFill>
            <a:prstDash val="dash"/>
          </a:ln>
        </p:spPr>
      </p:sp>
      <p:sp>
        <p:nvSpPr>
          <p:cNvPr id="34" name="Text 31"/>
          <p:cNvSpPr txBox="1"/>
          <p:nvPr/>
        </p:nvSpPr>
        <p:spPr>
          <a:xfrm>
            <a:off x="6446520" y="4218432"/>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صَحِيحٌ أَنَّ بَعْضَهُ يُحَفِّزُ، غَيْرَ أَنَّهُ …</a:t>
            </a:r>
            <a:endParaRPr lang="ar-SA" sz="2600" dirty="0"/>
          </a:p>
        </p:txBody>
      </p:sp>
      <p:sp>
        <p:nvSpPr>
          <p:cNvPr id="35" name="Text 32"/>
          <p:cNvSpPr txBox="1"/>
          <p:nvPr/>
        </p:nvSpPr>
        <p:spPr>
          <a:xfrm>
            <a:off x="6446520" y="4785116"/>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Band 5: concession + conditional + subjunctive (next slides).</a:t>
            </a:r>
            <a:endParaRPr lang="en-US" sz="1100" dirty="0"/>
          </a:p>
        </p:txBody>
      </p:sp>
      <p:sp>
        <p:nvSpPr>
          <p:cNvPr id="36" name="Shape 33"/>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7" name="Text 34"/>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THE QUESTION</a:t>
            </a:r>
            <a:endParaRPr lang="en-US" sz="1100" dirty="0"/>
          </a:p>
        </p:txBody>
      </p:sp>
      <p:sp>
        <p:nvSpPr>
          <p:cNvPr id="38" name="Text 35"/>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mā ra’yuka fī ḍ-ḍaghṭi d-dirāsiyy? — What do you think about study pressure?</a:t>
            </a:r>
            <a:endParaRPr lang="en-US" sz="12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topic-conversation mark scheme: 20 marks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مِعْيَارُ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marks per question across three questions. · Band 5 fully develops the answer with opinion, reasons and examples. · Band 3 is an adequate answer; Band 1 is minimal.</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Band 5 consistently uses complex structures. · At least two tenses, a conditional and a subjunctive across the answers. · Range is rewarded even if a vowel is occasionally imperfect.</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Quality of Language</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sentences ≈ Band 3. Four or five developed sentences with opinion, evidence and a conditional ≈ Band 5.</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A BAND 5 ANSWER, BUILT STEP BY STEP (WEBSITE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Band 5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إِجَابَةُ المُسْتَوَى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يُشَارُ إِلَى أَنَّ الضَّغْطَ فِي تَصَاعُدٍ. صَحِيحٌ أَنَّ بَعْضَهُ يُحَفِّزُ، غَيْرَ أَنَّهُ إِذَا تَجَاوَزَ حَدَّهُ سَيُؤَدِّي إِلَى الاحْتِرَاقِ. لِذَا يَتَطَلَّبُ الأَمْرُ أَنْ تُوَفِّرَ المَدَارِسُ بِيئَةً أَقَلَّ ضَغْطًا.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reported that pressure is rising. It is true that some of it motivates; however, if it goes beyond its limit, it will lead to burnout. So it is necessary that schools provide a less stressful environment.” — evidence · concession · conditional · subjunctive.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يُشَارُ إِلَى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 سَيُؤَدِّي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يَتَطَلَّبُ الأَمْرُ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WHEN A QUESTION SURPRISES YOU (TEACHER)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Never go blank: pause, then develop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التَّوَقُّفِ وَالتَّفْكِيرِ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Silence scores nothing; a natural pause phrase buys you three or four seconds.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Then use an EMERGENCY SENTENCE you prepared — it fits almost any topic.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If you make a mistake, correct it calmly (</a:t>
            </a:r>
            <a:pPr algn="l" indent="0" marL="0">
              <a:buNone/>
            </a:pPr>
            <a:r>
              <a:rPr lang="ar-SA" altLang="en-US" sz="1700" dirty="0">
                <a:solidFill>
                  <a:srgbClr val="1F2A37"/>
                </a:solidFill>
                <a:latin typeface="Amiri" pitchFamily="2" charset="-78"/>
                <a:cs typeface="Amiri" pitchFamily="2" charset="-78"/>
              </a:rPr>
              <a:t>عَفْوًا، أَقْصِدُ</a:t>
            </a:r>
            <a:pPr algn="l" indent="0" marL="0">
              <a:buNone/>
            </a:pPr>
            <a:r>
              <a:rPr lang="en-US" sz="1300" dirty="0">
                <a:solidFill>
                  <a:srgbClr val="1F2A37"/>
                </a:solidFill>
                <a:latin typeface="Calibri" pitchFamily="34" charset="0"/>
                <a:cs typeface="Amiri" pitchFamily="2" charset="-78"/>
              </a:rPr>
              <a:t> …) and carry on — recovering is rewarded.</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Develop with a question to yourself: why? for example? what if?</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PAUSE-AND-THINK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سُؤَالٌ مُهِمٌّ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That is an important question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فِي الحَقِيقَةِ، لَمْ أُفَكِّرْ فِي ذٰلِكَ مِنْ قَبْلُ، لٰكِنْ …</a:t>
            </a:r>
            <a:endParaRPr lang="ar-SA" sz="22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Actually, I hadn’t thought about that before, but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one hand … on the other hand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FULL TOPIC CONVERSATION · 3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 — full practice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رَأْيِي، الضَّغْطُ الدِّرَاسِيُّ … لِأَنَّ … فَمَثَلًا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about study pressure, and how can it be dealt with?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مَا رَأْيُكَ فِي الضَّغْطِ الدِّرَاسِيِّ، وَكَيْفَ يُمْكِنُ التَّعَامُلُ مَعَهُ؟</a:t>
            </a:r>
            <a:endParaRPr lang="ar-SA" sz="15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التِّقْنِيَّةَ تُسَاعِدُ،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deepen inequality or reduce it? (concede, then refute)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تُعَمِّقُ التِّقْنِيَّةُ عَدَمَ المُسَاوَاةِ أَمْ تُقَلِّلُهَا؟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كُنْتُ مَسْؤُولًا عَنِ البِيئَةِ، لَمَنَعْتُ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charge of the environment, what would you change first? (lau …)</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كُنْتَ مَسْؤُولًا عَنِ البِيئَةِ، مَاذَا كُنْتَ سَتُغَيِّرُ أَوَّلًا؟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15 (5 per question) · Quality of Language 5. One minute per question.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EXTRA QUESTION BANK · MIXED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bank: four more topics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بَنْكُ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أُحَافِظُ عَلَى المَشْيِ يَوْمِيًّا لِأَنَّهُ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healthy habit you keep, and why. (Health)</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 عَادَةً صِحِّيَّةً تُحَافِظُ عَلَيْهَا، وَلِمَاذَا.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أَرَى أَنَّ التُّرَاثَ يَرْبِطُنَا بِتَارِيخِنَا، فَمَثَلًا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preserving heritage important? (Culture)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أَهَمِّيَّةُ الحِفَاظِ عَلَى التُّرَاثِ فِي رَأْيِكَ؟</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كُنْتُ أَقْضِي وَقْتِي فِي …، أَمَّا الآنَ فَأَقْضِيهِ فِي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spend your free time — has it changed? (past and present)</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تَقْضِي وَقْتَ فَرَاغِكَ، وَهَلْ تَغَيَّرَ ذٰلِكَ؟</a:t>
            </a:r>
            <a:endParaRPr lang="ar-SA" sz="16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يَجِبُ عَلَى الشَّبَابِ أَنْ يُشَارِكُوا فِي …</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role of young people in changing society? (subjunctive of demand)</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دَوْرُ الشَّبَابِ فِي تَغْيِيرِ المُجْتَمَعِ؟</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Practice questions — no marks recorded. Choose two; aim for four or five sentences each.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EMERGENCY SENTENCES FOR YOUR WEAKEST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Emergency sentences for your weakest topics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الطَّوَارِئِ</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Emergency sentence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يُشَارُ إِلَى أَنَّ الشَّبَابَ يَقْضُونَ وَقْتًا طَوِيلًا أَمَامَ الشَّاشَاتِ.</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general observation (yushāru ilā anna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54096"/>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تَعَاوَنَّا، سَنُحَقِّقُ نَتَائِجَ أَفْضَلَ.</a:t>
            </a:r>
            <a:endParaRPr lang="ar-SA" sz="15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Type 1 conditional (idhā … sa-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840480"/>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لِذَا يَتَطَلَّبُ الأَمْرُ أَنْ نَتَحَمَّلَ مَسْؤُولِيَّتَنَا جَمِيعًا.</a:t>
            </a:r>
            <a:endParaRPr lang="ar-SA" sz="15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subjunctive conclusion (yataṭallabu an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three for each of your two weakest topics — they work in the mock and the real exam.</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DEVELOPMENT EARNS THE BAND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Topic-conversation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 study pressure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develop most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develop most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environment and technology</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emergency sentences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mock I will prepare emergency sentences for…</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سَبَبٍ وَمِثَالٍ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I can develop my answer with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أَسْتَطِيعُ الآنَ أَنْ أُطَوِّرَ إِجَابَتِي بِإِضَافَةِ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Development earns the band: opinion → reason → example → analysis.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extended each answer beyond a single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an opinion with a reason and an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concession (ṣaḥīḥun anna …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recovered from an unexpected question without going blank.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tenses, a conditional and a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P6-L07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P6-L08 · Mock Examination — Paper 1 Listening (Full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strategies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the questions in advance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التَّنَبُّؤُ بِالمُحْتَوَى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predicting the content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مُشَتِّتَاتُ الاسْتِمَاعِ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distractors</a:t>
            </a:r>
            <a:pPr indent="0" marL="0">
              <a:buNone/>
            </a:pPr>
            <a:r>
              <a:rPr lang="en-US" sz="1000" i="1" dirty="0">
                <a:solidFill>
                  <a:srgbClr val="5A6472"/>
                </a:solidFill>
                <a:latin typeface="Calibri" pitchFamily="34" charset="0"/>
                <a:cs typeface="Amiri" pitchFamily="2" charset="-78"/>
              </a:rPr>
              <a:t>  sg. مُشَتِّتٌ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التَّحَقُّقُ فِي الاسْتِمَاعِ الثَّانِي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verifying on the second listen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will you do in the two minutes before each listening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سَأَقْرَأُ ______ مُسْبَقًا، ثُمَّ سَأُرَكِّزُ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question 1 with opinion + reason + example; revise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all three questions with a concession in each; revise the five listening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two question-bank answers unprepared, one minute each; revise the five listening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P6-L08 · Mock Examination — Paper 1 Listening (Full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امْتِحَانٌ تَجْرِيبِيٌّ — الوَرَقَةُ الأُولَى: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development earns the band — opinion, reason, example, then a concession, a conditional and a subjunctive. If a question surprises you: pause, then use an emergency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P6-L07 · Paper 3 Topic Conversation — Extended Speaking at IGCSE Level</dc:title>
  <dc:subject>PptxGenJS Presentation</dc:subject>
  <dc:creator>Al Madina Online School · Arabic Department</dc:creator>
  <cp:lastModifiedBy>Al Madina Online School · Arabic Department</cp:lastModifiedBy>
  <cp:revision>1</cp:revision>
  <dcterms:created xsi:type="dcterms:W3CDTF">2026-10-11T06:43:36Z</dcterms:created>
  <dcterms:modified xsi:type="dcterms:W3CDTF">2026-10-11T06:43:36Z</dcterms:modified>
</cp:coreProperties>
</file>