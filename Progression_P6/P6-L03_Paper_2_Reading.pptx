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Reading words · 13–16 The R1–R4 ladder · 16–20 Q4 and Q5 strategy (I Do) · 20–25 Text 1 · 25–33 Text 2 · 33–41 Text 3 · 41–50 Write an R3 answer · 50–53 Performance analysis · 53–58 Reflection + self-check · 58–60 Preparation.
FLEX slides are optional. Use them if the class is moving quickly; otherwise the same activities are on the website for homework.
Content source: Miftah Arabic website, Pathways › Progression › P6 IGCSE Bridge › P6-L03. The website P6-L03: the reading terminology (8 words), the R1–R4 hierarchy cards, three full-format texts (a library notice — Q Groups 1–2, 4 marks · a volunteering argument — R1–R4 + Q4 gap-fill, 6 marks · a reading-vs-screens opinion — R3 analysis + Q5 cross-text matching, 6 marks), the reading performance-analysis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FULL-FORMAT PRACTICE: one text at a time — read (about 2 min), answer, check. The green key-words panel on each text is a teacher-made glossary for Core students (in the real exam there is none).
• Core: Text 1 all, Text 2 questions 1–2 and 5, Text 3 questions 4–6 (Q5 matching) — then the three Q4 gap-fills in the writing task. Develop: all 16. Stretch: all 16 + a written Arabic R3 answer.
• The two big Paper 2 skills today: Q4 gap-fill = find the TRIGGER first (P5-L08); Q5 cross-text = match by MEANING (paraphrase), not by one shared word.
• Website R3 card: “R3 decides whether you score 35 or 45” — give it the most teaching time.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P6-L02. Questions 4–5 retrieve the P5-L08 gap-fill rule — today it is tested as IGCSE Q4.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Paper 2 climbs a ladder: R1 the main idea → R2 the facts → R3 WHY the writer chose those words → R4 the exact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معنی and استنتاج are shared. Three traps: Urdu دلیل = an argument, but Arabic الدَّلِيلُ = the EVIDENCE; Urdu دقت = difficulty, but Arabic الدِّقَّةُ = ACCURACY; and مجہول — in Arabic المَجْهُولُ = unknown (الكَلِمَاتُ المَجْهُولَةُ = unknown words), and in grammar the passive (المَبْنِيُّ لِلْمَجْهُولِ).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R1–R4 hierarchy (website vocabulary (1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R1–R4 hierarchy (website vocabulary (2 of 2)). Hear → Say → See → Use. Transliteration is printed for Core students (cover it for Develop/Stretch).
The R1–R4 ladder in Arabic: المَعْنَى العَامُّ (R1) → التَّفَاصِيلُ الوَاقِعِيَّةُ (R2) → الرَّأْيُ وَالمَوْقِفُ وَالأُسْلُوبُ (R3) → الاِخْتِيَارُ وَتَحْدِيدُ المَعْلُومَاتِ (R4). Every answer needs الأَدِلَّةُ النَّصِّيَّةُ — the words in the text that 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R2 carries most marks; R3 separates 35 from 45. Ask: which level asks “why”? (R3).
WEBSITE CARDS “The R1–R4 hierarchy”: R1 — general meaning: Find the main idea. Surface level. · R2 — factual detail: Find specific facts. Most Paper 2 marks live here. · R3 — attitude and style: Analyse why the writer made a language choice — including a conditional, a subjunctive trigger or a concession. This decides whether you score 35 or 45. · R4 — select and identify: Choose the exact supported statement, and in Q4 the exact grammatical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 think aloud on the three Text 2 gap-fills BEFORE students meet the text. Then model one Q5: “Volunteering strengthens community bonds” → which text talks about community and volunteering? (Text 2) — show that Text 3 also mentions people, but not this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1 — Notices and short text (4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1 (website Q Groups 1–2, 4 marks) — R2 facts. Everyone answers all four. Note the passives (تُغْلَقُ · يُمْنَعُ · تُقَامُ) — typical of notices.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2 — R1–R4 + Q4 gap-fill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2 (website Q Groups 3–4, 6 marks): R1, R2, R3 and three Q4 gap-fills. Core: questions 1, 2 and 5. Develop / Stretch: all 6. After answering, students name the trigger for each gap-fill.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WEBSITE TEXT — Text 3 — R3 analysis + Q5 cross-text matching (6 marks). The green key-words panel is a teacher-made glossary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3 (website Q Groups 5–6, 6 marks): three R3 questions and three Q5 cross-text matches (all three texts). Core: questions 4–6. Develop / Stretch: all 6. For R3, insist on the WHY: لَا يُمْكِنُ إِنْكَارُ أَنَّ concedes before the stronger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together. For each answer ask: which words in the text proved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(7 min). Live feedback: Stretch students post their first sentence after 3 minutes. Check anna + noun after يَدُلُّ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Frames for all three routes (Core = Q4 explanation frames; Develop / Stretch = R3 frames). Word bank from Texts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(teacher-written on the website Text 3) — show after writing. Students find the four chips, then add ONE missing element to their own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PERFORMANCE ANALYSIS (3 min) — website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the website frames, plus one Arabic line.
Website:  (My Paper 2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(P6-L04 · Paper 4 Q1 — Directed Writing: Mastering Form and Register) will spend class time USING this language, so students prepare it tonight — short, simple, easy to access (school guidance: “Simple, Short, Interesting, Relevant, Easy to access”). The five words come from the website P6-L04 vocabulary (text types and register).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P6  ·  P6-L03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P6-L03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Paper 2 Reading — Full Format Practice and R1–R4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000" b="1" dirty="0">
                <a:solidFill>
                  <a:srgbClr val="D4AF37"/>
                </a:solidFill>
                <a:latin typeface="Amiri" pitchFamily="2" charset="-78"/>
                <a:ea typeface="Amiri" pitchFamily="2" charset="-78"/>
                <a:cs typeface="Amiri" pitchFamily="2" charset="-78"/>
              </a:rPr>
              <a:t>الوَرَقَةُ الثَّانِيَةُ — القِرَاءَةُ: تَدْرِيبٌ كَامِلٌ وَإِتْقَانُ المُسْتَوَيَاتِ</a:t>
            </a:r>
            <a:endParaRPr lang="ar-SA" sz="30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Sit three full-format Paper 2 texts with the R1–R4 ladder — main idea, facts, the writer’s choices, the exact answer — master the Q4 gap-fill (find the trigger first) and the Q5 cross-text match (spot the paraphrase).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P6-L03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P6 › P6-L03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reading words and the gap-fill rule.</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words and the R1–R4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المُسْتَوَيَاتُ</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solve a Q4 gap-fill and a Q5 match.</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21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Three full-format texts.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النُّصُوصُ الثَّلَاثَةُ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Write an R3 answer · analyse your score.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reflection and self-check.</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directed writing.</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This is an exam-preparation lesson. Every task uses the real IGCSE format — Core students use the green boxes, frames and English support; nobody is expected to get everything right first time.</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factual detail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general meaning (R1)</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unknown word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textual 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messages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title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translating every word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new words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deducing unknown 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تَتَّخِذُ</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تَتَحَرَّكُ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تَحَرَّكَتْ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المَعْنَى العَامُّ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factual detail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general meaning (R1)</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unknown word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الأَدِلَّةُ النَّصِّيَّةُ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textual 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messages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text title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اسْتِنْتَاجُ الكَلِمَاتِ المَجْهُولَةِ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translating every word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new words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deducing unknown 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(P6-L02).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الدَّوْلَةَ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إِجْرَاءَاتٍ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تَتَّخِذْ</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تَتَّخِذُ</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P5-L08: a conceded fact → -u.</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Gap-fill: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الحُكُومَاتُ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تَتَحَرَّكَ</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تَتَحَرَّكُ</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تَحَرَّكَتْ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P5-L08: a trigger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cs typeface="Amiri" pitchFamily="2" charset="-78"/>
              </a:rPr>
              <a:t>Paper 2 climbs a ladder: R1 the main idea → R2 the facts → R3 WHY the writer chose those words → R4 the exact answer.</a:t>
            </a:r>
            <a:endParaRPr lang="en-US" sz="12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المَعْنَى العَامُّ ← التَّفَاصِيلُ ← الرَّأْيُ وَالأُسْلُوبُ ← الدِّقَّةُ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R1–R4 comprehension systematically across three texts.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Master the Q4 gap-fill by identifying the grammar trigger before choosing the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Master the Q5 cross-text matching by recognising paraphrase.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Analyse your performance and set a Q4/Q5 target for the mock.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find the main idea and prove a fact from the text.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a Q5 statement to its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find the trigger before choosing a Q4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a writer’s choice (R3).</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by paraphrase, not by a shared word.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an R3 answer in Arabic.</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R1–R4 hierarchy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مَعْنًى</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‎معنی‎ </a:t>
            </a:r>
            <a:pPr indent="0" marL="0">
              <a:buNone/>
            </a:pPr>
            <a:r>
              <a:rPr lang="en-US" sz="950" b="1" dirty="0">
                <a:solidFill>
                  <a:srgbClr val="2E8B57"/>
                </a:solidFill>
                <a:latin typeface="Calibri" pitchFamily="34" charset="0"/>
                <a:cs typeface="Amiri" pitchFamily="2" charset="-78"/>
              </a:rPr>
              <a:t> maanā · meaning</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Arabic: evidence · Urdu: an argument</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اسْتِنْتَاجٌ</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‎استنتاج‎ </a:t>
            </a:r>
            <a:pPr indent="0" marL="0">
              <a:buNone/>
            </a:pPr>
            <a:r>
              <a:rPr lang="en-US" sz="950" b="1" dirty="0">
                <a:solidFill>
                  <a:srgbClr val="2E8B57"/>
                </a:solidFill>
                <a:latin typeface="Calibri" pitchFamily="34" charset="0"/>
                <a:cs typeface="Amiri" pitchFamily="2" charset="-78"/>
              </a:rPr>
              <a:t> istintāj · deduction, inference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مَجْهُولٌ</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‎مجہول‎ </a:t>
            </a:r>
            <a:pPr indent="0" marL="0">
              <a:buNone/>
            </a:pPr>
            <a:r>
              <a:rPr lang="en-US" sz="950" b="1" dirty="0">
                <a:solidFill>
                  <a:srgbClr val="2E8B57"/>
                </a:solidFill>
                <a:latin typeface="Calibri" pitchFamily="34" charset="0"/>
                <a:cs typeface="Amiri" pitchFamily="2" charset="-78"/>
              </a:rPr>
              <a:t> majhūl · unknown (grammar: passive)</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دِقَّةٌ</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‎دقت‎ </a:t>
            </a:r>
            <a:pPr indent="0" marL="0">
              <a:buNone/>
            </a:pPr>
            <a:r>
              <a:rPr lang="en-US" sz="950" b="1" dirty="0">
                <a:solidFill>
                  <a:srgbClr val="2E8B57"/>
                </a:solidFill>
                <a:latin typeface="Calibri" pitchFamily="34" charset="0"/>
                <a:cs typeface="Amiri" pitchFamily="2" charset="-78"/>
              </a:rPr>
              <a:t> diqqat · Arabic: accuracy · Urdu: difficulty</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R1–R4 hierarchy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المَعْنَى العَامُّ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R1 — general meaning</a:t>
            </a:r>
            <a:endParaRPr lang="en-US" sz="1350" dirty="0"/>
          </a:p>
          <a:p>
            <a:pPr indent="0" marL="0">
              <a:buNone/>
            </a:pPr>
            <a:r>
              <a:rPr lang="en-US" sz="1100" i="1" dirty="0">
                <a:solidFill>
                  <a:srgbClr val="5A6472"/>
                </a:solidFill>
                <a:latin typeface="Calibri" pitchFamily="34" charset="0"/>
                <a:cs typeface="Amiri" pitchFamily="2" charset="-78"/>
              </a:rPr>
              <a:t>al-maʿ-nā al-ʿām-mu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التَّفَاصِيلُ الوَاقِعِيَّةُ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R2 — factual details</a:t>
            </a:r>
            <a:endParaRPr lang="en-US" sz="1350" dirty="0"/>
          </a:p>
          <a:p>
            <a:pPr indent="0" marL="0">
              <a:buNone/>
            </a:pPr>
            <a:r>
              <a:rPr lang="en-US" sz="1100" i="1" dirty="0">
                <a:solidFill>
                  <a:srgbClr val="5A6472"/>
                </a:solidFill>
                <a:latin typeface="Calibri" pitchFamily="34" charset="0"/>
                <a:cs typeface="Amiri" pitchFamily="2" charset="-78"/>
              </a:rPr>
              <a:t>at-ta-fā-ṣī-lu al-wā-qi-ʿiy-ya-tu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تَفْصِيلٌ</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الرَّأْيُ وَالمَوْقِفُ وَالأُسْلُوبُ</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R3 — opinion, attitude, style</a:t>
            </a:r>
            <a:endParaRPr lang="en-US" sz="1350" dirty="0"/>
          </a:p>
          <a:p>
            <a:pPr indent="0" marL="0">
              <a:buNone/>
            </a:pPr>
            <a:r>
              <a:rPr lang="en-US" sz="1100" i="1" dirty="0">
                <a:solidFill>
                  <a:srgbClr val="5A6472"/>
                </a:solidFill>
                <a:latin typeface="Calibri" pitchFamily="34" charset="0"/>
                <a:cs typeface="Amiri" pitchFamily="2" charset="-78"/>
              </a:rPr>
              <a:t>ar-raʾ-yu wāl-maw-qi-fu wāl-ʾus-lū-bu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ea typeface="Amiri" pitchFamily="2" charset="-78"/>
                <a:cs typeface="Amiri" pitchFamily="2" charset="-78"/>
              </a:rPr>
              <a:t>الاخْتِيَارُ وَتَحْدِيدُ المَعْلُومَاتِ</a:t>
            </a:r>
            <a:endParaRPr lang="ar-SA" sz="265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R4 — selecting information</a:t>
            </a:r>
            <a:endParaRPr lang="en-US" sz="1350" dirty="0"/>
          </a:p>
          <a:p>
            <a:pPr indent="0" marL="0">
              <a:buNone/>
            </a:pPr>
            <a:r>
              <a:rPr lang="en-US" sz="1100" i="1" dirty="0">
                <a:solidFill>
                  <a:srgbClr val="5A6472"/>
                </a:solidFill>
                <a:latin typeface="Calibri" pitchFamily="34" charset="0"/>
                <a:cs typeface="Amiri" pitchFamily="2" charset="-78"/>
              </a:rPr>
              <a:t>alkh-ti-yā-ru wa-taḥ-dī-du al-maʿ-lū-mā-ti</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R1–R4 hierarchy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الأَدِلَّةُ النَّصِّيَّةُ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textual evidence</a:t>
            </a:r>
            <a:endParaRPr lang="en-US" sz="1350" dirty="0"/>
          </a:p>
          <a:p>
            <a:pPr indent="0" marL="0">
              <a:buNone/>
            </a:pPr>
            <a:r>
              <a:rPr lang="en-US" sz="1100" i="1" dirty="0">
                <a:solidFill>
                  <a:srgbClr val="5A6472"/>
                </a:solidFill>
                <a:latin typeface="Calibri" pitchFamily="34" charset="0"/>
                <a:cs typeface="Amiri" pitchFamily="2" charset="-78"/>
              </a:rPr>
              <a:t>al-a-dil-la-tu an-naṣ-ṣiy-ya-tu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دَلِيلٌ نَصِّيٌّ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اسْتِنْتَاجُ الكَلِمَاتِ المَجْهُولَةِ</a:t>
            </a:r>
            <a:endParaRPr lang="ar-SA" sz="28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deducing unknown words</a:t>
            </a:r>
            <a:endParaRPr lang="en-US" sz="1350" dirty="0"/>
          </a:p>
          <a:p>
            <a:pPr indent="0" marL="0">
              <a:buNone/>
            </a:pPr>
            <a:r>
              <a:rPr lang="en-US" sz="1100" i="1" dirty="0">
                <a:solidFill>
                  <a:srgbClr val="5A6472"/>
                </a:solidFill>
                <a:latin typeface="Calibri" pitchFamily="34" charset="0"/>
                <a:cs typeface="Amiri" pitchFamily="2" charset="-78"/>
              </a:rPr>
              <a:t>as-tin-tā-ju al-ka-li-mā-ti al-maj-hū-la-ti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التَّطَابُقُ عَبْرَ النُّصُوصِ</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cross-text matching</a:t>
            </a:r>
            <a:endParaRPr lang="en-US" sz="1350" dirty="0"/>
          </a:p>
          <a:p>
            <a:pPr indent="0" marL="0">
              <a:buNone/>
            </a:pPr>
            <a:r>
              <a:rPr lang="en-US" sz="1100" i="1" dirty="0">
                <a:solidFill>
                  <a:srgbClr val="5A6472"/>
                </a:solidFill>
                <a:latin typeface="Calibri" pitchFamily="34" charset="0"/>
                <a:cs typeface="Amiri" pitchFamily="2" charset="-78"/>
              </a:rPr>
              <a:t>at-ta-ṭā-bu-qu ʿab-ra an-nu-ṣū-ṣi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 فِي الاخْتِيَارِ</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 in selection</a:t>
            </a:r>
            <a:endParaRPr lang="en-US" sz="1350" dirty="0"/>
          </a:p>
          <a:p>
            <a:pPr indent="0" marL="0">
              <a:buNone/>
            </a:pPr>
            <a:r>
              <a:rPr lang="en-US" sz="1100" i="1" dirty="0">
                <a:solidFill>
                  <a:srgbClr val="5A6472"/>
                </a:solidFill>
                <a:latin typeface="Calibri" pitchFamily="34" charset="0"/>
                <a:cs typeface="Amiri" pitchFamily="2" charset="-78"/>
              </a:rPr>
              <a:t>ad-diq-qa-tu fī alkh-ti-yā-ri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SURFACE → DEEP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R1–R4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سُلَّمُ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630936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R1–R4 HIERARCHY</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R1 — general meaning — Find the main idea. Surface level.</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R2 — factual detail — Find specific facts. Most Paper 2 marks live here.</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R3 — attitude and style — Analyse why the writer made a language choice — including a conditional, a subjunctive trigger or a concession. This decides whether you score 35 or 45.</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53212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R4 — select and identify — Choose the exact supported statement, and in Q4 the exact grammatical form.</a:t>
            </a:r>
            <a:endParaRPr lang="en-US" sz="1300" dirty="0"/>
          </a:p>
        </p:txBody>
      </p:sp>
      <p:sp>
        <p:nvSpPr>
          <p:cNvPr id="29" name="Shape 26"/>
          <p:cNvSpPr/>
          <p:nvPr/>
        </p:nvSpPr>
        <p:spPr>
          <a:xfrm>
            <a:off x="6949440" y="1810512"/>
            <a:ext cx="478231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IN ARABIC</a:t>
            </a:r>
            <a:endParaRPr lang="en-US" sz="1000" dirty="0"/>
          </a:p>
        </p:txBody>
      </p:sp>
      <p:sp>
        <p:nvSpPr>
          <p:cNvPr id="31" name="Text 28"/>
          <p:cNvSpPr txBox="1"/>
          <p:nvPr/>
        </p:nvSpPr>
        <p:spPr>
          <a:xfrm>
            <a:off x="7086600" y="2194560"/>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يُشَارُ إِلَى أَنَّ …</a:t>
            </a:r>
            <a:endParaRPr lang="ar-SA" sz="2650" dirty="0"/>
          </a:p>
        </p:txBody>
      </p:sp>
      <p:sp>
        <p:nvSpPr>
          <p:cNvPr id="32" name="Text 29"/>
          <p:cNvSpPr txBox="1"/>
          <p:nvPr/>
        </p:nvSpPr>
        <p:spPr>
          <a:xfrm>
            <a:off x="7086600" y="2765511"/>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R1 — the thesis sentence</a:t>
            </a:r>
            <a:endParaRPr lang="en-US" sz="1100" dirty="0"/>
          </a:p>
        </p:txBody>
      </p:sp>
      <p:sp>
        <p:nvSpPr>
          <p:cNvPr id="33" name="Shape 30"/>
          <p:cNvSpPr/>
          <p:nvPr/>
        </p:nvSpPr>
        <p:spPr>
          <a:xfrm>
            <a:off x="7132320" y="3195828"/>
            <a:ext cx="4416552" cy="0"/>
          </a:xfrm>
          <a:prstGeom prst="line">
            <a:avLst/>
          </a:prstGeom>
          <a:noFill/>
          <a:ln w="9525">
            <a:solidFill>
              <a:srgbClr val="E4DCCB"/>
            </a:solidFill>
            <a:prstDash val="dash"/>
          </a:ln>
        </p:spPr>
      </p:sp>
      <p:sp>
        <p:nvSpPr>
          <p:cNvPr id="34" name="Text 31"/>
          <p:cNvSpPr txBox="1"/>
          <p:nvPr/>
        </p:nvSpPr>
        <p:spPr>
          <a:xfrm>
            <a:off x="7086600" y="3214116"/>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تُغْلَقُ المَكْتَبَةُ فِي السَّاعَةِ الثَّامِنَةِ</a:t>
            </a:r>
            <a:endParaRPr lang="ar-SA" sz="2650" dirty="0"/>
          </a:p>
        </p:txBody>
      </p:sp>
      <p:sp>
        <p:nvSpPr>
          <p:cNvPr id="35" name="Text 32"/>
          <p:cNvSpPr txBox="1"/>
          <p:nvPr/>
        </p:nvSpPr>
        <p:spPr>
          <a:xfrm>
            <a:off x="7086600" y="3785067"/>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R2 — a fact you can point to</a:t>
            </a:r>
            <a:endParaRPr lang="en-US" sz="1100" dirty="0"/>
          </a:p>
        </p:txBody>
      </p:sp>
      <p:sp>
        <p:nvSpPr>
          <p:cNvPr id="36" name="Shape 33"/>
          <p:cNvSpPr/>
          <p:nvPr/>
        </p:nvSpPr>
        <p:spPr>
          <a:xfrm>
            <a:off x="7132320" y="4215384"/>
            <a:ext cx="4416552" cy="0"/>
          </a:xfrm>
          <a:prstGeom prst="line">
            <a:avLst/>
          </a:prstGeom>
          <a:noFill/>
          <a:ln w="9525">
            <a:solidFill>
              <a:srgbClr val="E4DCCB"/>
            </a:solidFill>
            <a:prstDash val="dash"/>
          </a:ln>
        </p:spPr>
      </p:sp>
      <p:sp>
        <p:nvSpPr>
          <p:cNvPr id="37" name="Text 34"/>
          <p:cNvSpPr txBox="1"/>
          <p:nvPr/>
        </p:nvSpPr>
        <p:spPr>
          <a:xfrm>
            <a:off x="7086600" y="4233672"/>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صَحِيحٌ أَنَّ … غَيْرَ أَنَّ …</a:t>
            </a:r>
            <a:endParaRPr lang="ar-SA" sz="2650" dirty="0"/>
          </a:p>
        </p:txBody>
      </p:sp>
      <p:sp>
        <p:nvSpPr>
          <p:cNvPr id="38" name="Text 35"/>
          <p:cNvSpPr txBox="1"/>
          <p:nvPr/>
        </p:nvSpPr>
        <p:spPr>
          <a:xfrm>
            <a:off x="7086600" y="4804623"/>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R3 — why did the writer choose this?</a:t>
            </a:r>
            <a:endParaRPr lang="en-US" sz="1100" dirty="0"/>
          </a:p>
        </p:txBody>
      </p:sp>
      <p:sp>
        <p:nvSpPr>
          <p:cNvPr id="39" name="Shape 36"/>
          <p:cNvSpPr/>
          <p:nvPr/>
        </p:nvSpPr>
        <p:spPr>
          <a:xfrm>
            <a:off x="7132320" y="5234940"/>
            <a:ext cx="4416552" cy="0"/>
          </a:xfrm>
          <a:prstGeom prst="line">
            <a:avLst/>
          </a:prstGeom>
          <a:noFill/>
          <a:ln w="9525">
            <a:solidFill>
              <a:srgbClr val="E4DCCB"/>
            </a:solidFill>
            <a:prstDash val="dash"/>
          </a:ln>
        </p:spPr>
      </p:sp>
      <p:sp>
        <p:nvSpPr>
          <p:cNvPr id="40" name="Text 37"/>
          <p:cNvSpPr txBox="1"/>
          <p:nvPr/>
        </p:nvSpPr>
        <p:spPr>
          <a:xfrm>
            <a:off x="7086600" y="5253228"/>
            <a:ext cx="4507992" cy="570951"/>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أَنْ تُنَظِّمَ · لَتَغَيَّرَتْ</a:t>
            </a:r>
            <a:endParaRPr lang="ar-SA" sz="2650" dirty="0"/>
          </a:p>
        </p:txBody>
      </p:sp>
      <p:sp>
        <p:nvSpPr>
          <p:cNvPr id="41" name="Text 38"/>
          <p:cNvSpPr txBox="1"/>
          <p:nvPr/>
        </p:nvSpPr>
        <p:spPr>
          <a:xfrm>
            <a:off x="7086600" y="5824179"/>
            <a:ext cx="4507992" cy="407822"/>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R4 / Q4 — the exact form</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SOLVE Q4 AND Q5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Find the trigger · spot the paraphrase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السُّؤَالُ الرَّابِعُ وَالخَامِسُ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630936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9436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Q4 GAP-FILL · Q5 CROSS-TEXT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Q4 — cover the options. Look LEFT of the gap for the clue.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anna + a noun (a fact) → the verb stays -u · an / li-kay (an aim) → -a · law → the result takes la-.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Only now read the options — and reject the ones with the wrong ending.</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53212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Q5 — underline the KEY IDEA of each statement, then find the text that says the same thing in other words (a paraphrase). One shared word is not enough.</a:t>
            </a:r>
            <a:endParaRPr lang="en-US" sz="1300" dirty="0"/>
          </a:p>
        </p:txBody>
      </p:sp>
      <p:sp>
        <p:nvSpPr>
          <p:cNvPr id="29" name="Shape 26"/>
          <p:cNvSpPr/>
          <p:nvPr/>
        </p:nvSpPr>
        <p:spPr>
          <a:xfrm>
            <a:off x="6949440" y="1810512"/>
            <a:ext cx="478231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7132320" y="1883664"/>
            <a:ext cx="441655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FROM TEXT 2</a:t>
            </a:r>
            <a:endParaRPr lang="en-US" sz="1000" dirty="0"/>
          </a:p>
        </p:txBody>
      </p:sp>
      <p:sp>
        <p:nvSpPr>
          <p:cNvPr id="31" name="Text 28"/>
          <p:cNvSpPr txBox="1"/>
          <p:nvPr/>
        </p:nvSpPr>
        <p:spPr>
          <a:xfrm>
            <a:off x="7086600" y="2194560"/>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صَحِيحٌ أَنَّ الوَقْتَ مَحْدُودٌ</a:t>
            </a:r>
            <a:endParaRPr lang="ar-SA" sz="2600" dirty="0"/>
          </a:p>
        </p:txBody>
      </p:sp>
      <p:sp>
        <p:nvSpPr>
          <p:cNvPr id="32" name="Text 29"/>
          <p:cNvSpPr txBox="1"/>
          <p:nvPr/>
        </p:nvSpPr>
        <p:spPr>
          <a:xfrm>
            <a:off x="7086600" y="2761244"/>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anna → a fact → -un / -u</a:t>
            </a:r>
            <a:endParaRPr lang="en-US" sz="1100" dirty="0"/>
          </a:p>
        </p:txBody>
      </p:sp>
      <p:sp>
        <p:nvSpPr>
          <p:cNvPr id="33" name="Shape 30"/>
          <p:cNvSpPr/>
          <p:nvPr/>
        </p:nvSpPr>
        <p:spPr>
          <a:xfrm>
            <a:off x="7132320" y="3188208"/>
            <a:ext cx="4416552" cy="0"/>
          </a:xfrm>
          <a:prstGeom prst="line">
            <a:avLst/>
          </a:prstGeom>
          <a:noFill/>
          <a:ln w="9525">
            <a:solidFill>
              <a:srgbClr val="E4DCCB"/>
            </a:solidFill>
            <a:prstDash val="dash"/>
          </a:ln>
        </p:spPr>
      </p:sp>
      <p:sp>
        <p:nvSpPr>
          <p:cNvPr id="34" name="Text 31"/>
          <p:cNvSpPr txBox="1"/>
          <p:nvPr/>
        </p:nvSpPr>
        <p:spPr>
          <a:xfrm>
            <a:off x="7086600" y="3206496"/>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يَتَطَلَّبُ الأَمْرُ أَنْ تُنَظِّمَ</a:t>
            </a:r>
            <a:endParaRPr lang="ar-SA" sz="2600" dirty="0"/>
          </a:p>
        </p:txBody>
      </p:sp>
      <p:sp>
        <p:nvSpPr>
          <p:cNvPr id="35" name="Text 32"/>
          <p:cNvSpPr txBox="1"/>
          <p:nvPr/>
        </p:nvSpPr>
        <p:spPr>
          <a:xfrm>
            <a:off x="7086600" y="3773180"/>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an → an aim → -a</a:t>
            </a:r>
            <a:endParaRPr lang="en-US" sz="1100" dirty="0"/>
          </a:p>
        </p:txBody>
      </p:sp>
      <p:sp>
        <p:nvSpPr>
          <p:cNvPr id="36" name="Shape 33"/>
          <p:cNvSpPr/>
          <p:nvPr/>
        </p:nvSpPr>
        <p:spPr>
          <a:xfrm>
            <a:off x="7132320" y="4200144"/>
            <a:ext cx="4416552" cy="0"/>
          </a:xfrm>
          <a:prstGeom prst="line">
            <a:avLst/>
          </a:prstGeom>
          <a:noFill/>
          <a:ln w="9525">
            <a:solidFill>
              <a:srgbClr val="E4DCCB"/>
            </a:solidFill>
            <a:prstDash val="dash"/>
          </a:ln>
        </p:spPr>
      </p:sp>
      <p:sp>
        <p:nvSpPr>
          <p:cNvPr id="37" name="Text 34"/>
          <p:cNvSpPr txBox="1"/>
          <p:nvPr/>
        </p:nvSpPr>
        <p:spPr>
          <a:xfrm>
            <a:off x="7086600" y="4218432"/>
            <a:ext cx="450799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لَوْ شَارَكَ …، لَتَغَيَّرَتْ</a:t>
            </a:r>
            <a:endParaRPr lang="ar-SA" sz="2600" dirty="0"/>
          </a:p>
        </p:txBody>
      </p:sp>
      <p:sp>
        <p:nvSpPr>
          <p:cNvPr id="38" name="Text 35"/>
          <p:cNvSpPr txBox="1"/>
          <p:nvPr/>
        </p:nvSpPr>
        <p:spPr>
          <a:xfrm>
            <a:off x="7086600" y="4785116"/>
            <a:ext cx="450799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law → la- + past</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WEBSITE R3 CARD</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R3 asks WHY the writer made a language choice — a conditional, a trigger or a concession. This decides whether you score 35 or 45.</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 GROUPS 1–2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 Notices and short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إِعْلَانٌ: تُغْلَقُ المَكْتَبَةُ فِي السَّاعَةِ الثَّامِنَةِ مَسَاءً. يُمْنَعُ إِدْخَالُ الطَّعَامِ. لِاسْتِعَارَةِ الكُتُبِ، يَجِبُ إِبْرَازُ البِطَاقَةِ. وَتُقَامُ حَلْقَةُ قِرَاءَةٍ كُلَّ خَمِيسٍ فِي السَّاعَةِ الرَّابِعَةِ.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إِعْلَانٌ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notice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تُغْلَقُ</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closes, is closed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يُمْنَعُ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forbidden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إِدْخَالُ الطَّعَامِ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bringing in food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اسْتِعَارَةِ الكُتُبِ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borrowing books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إِبْرَازُ البِطَاقَةِ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showing the card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تُقَامُ</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held</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حَلْقَةُ قِرَاءَةٍ</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reading circle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1 — NOTICES AND SHORT TEXT (4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Factual comprehension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library close?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4 p.m.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does not close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8 p.m.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Bringing in food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books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Borrowing books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borrow books?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Paying a fee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Showing the card</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reading circle held?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Thursday at 4</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Friday at 8</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day</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1–2: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library close?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4 p.m.</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does not close</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8 p.m.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تُغْلَقُ المَكْتَبَةُ فِي السَّاعَةِ الثَّامِنَةِ مَسَاءً.</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forbidden?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Bringing in food</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books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Borrowing books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يُمْنَعُ إِدْخَالُ الطَّعَامِ.</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required to borrow books?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Paying a fee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Showing the card</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لِاسْتِعَارَةِ الكُتُبِ، يَجِبُ إِبْرَازُ البِطَاقَةِ.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reading circle held?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Every Thursday at 4</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Friday at 8</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day</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تُقَامُ حَلْقَةُ قِرَاءَةٍ كُلَّ خَمِيسٍ فِي السَّاعَةِ الرَّابِعَةِ.</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 GROUPS 3–4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 R1–R4 + Q4 gap-fill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يُشَارُ إِلَى أَنَّ العَمَلَ التَّطَوُّعِيَّ يُقَوِّي رَوَابِطَ المُجْتَمَعِ. صَحِيحٌ أَنَّ الوَقْتَ مَحْدُودٌ لَدَى الطُّلَّابِ، غَيْرَ أَنَّ سَاعَةً وَاحِدَةً أُسْبُوعِيًّا تَصْنَعُ فَرْقًا. وَيَتَطَلَّبُ الأَمْرُ أَنْ تُنَظِّمَ المَدَارِسُ بَرَامِجَ تَطَوُّعٍ. وَلَوْ شَارَكَ كُلُّ طَالِبٍ، لَتَغَيَّرَتِ الأَحْيَاءُ.</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العَمَلَ التَّطَوُّعِيَّ</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volunteering</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يُقَوِّي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strengthens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رَوَابِطَ المُجْتَمَعِ</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community bonds</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مَحْدُودٌ</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limited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أُسْبُوعِيًّا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weekly</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تَصْنَعُ فَرْقًا</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makes a difference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بَرَامِجَ تَطَوُّعٍ</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volunteering programmes</a:t>
            </a:r>
            <a:endParaRPr lang="en-US" sz="1050" dirty="0"/>
          </a:p>
        </p:txBody>
      </p:sp>
      <p:sp>
        <p:nvSpPr>
          <p:cNvPr id="33" name="Text 30"/>
          <p:cNvSpPr txBox="1"/>
          <p:nvPr/>
        </p:nvSpPr>
        <p:spPr>
          <a:xfrm>
            <a:off x="10102291" y="57332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الأَحْيَاءُ</a:t>
            </a:r>
            <a:endParaRPr lang="ar-SA" sz="1600" dirty="0"/>
          </a:p>
        </p:txBody>
      </p:sp>
      <p:sp>
        <p:nvSpPr>
          <p:cNvPr id="34" name="Text 31"/>
          <p:cNvSpPr txBox="1"/>
          <p:nvPr/>
        </p:nvSpPr>
        <p:spPr>
          <a:xfrm>
            <a:off x="8851392" y="57332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neighbourhoods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TEXT 2 — R1–R4 + Q4 GAP-FILL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Comprehend, then choose the correct form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Volunteering wastes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Volunteering strengthens community bonds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Schools should close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time makes a difference, per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 a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hours a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time at all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purpose of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الوَقْتَ مَحْدُودٌ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state the writer's conclusion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report a statistic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concede a real objection before answering it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الوَقْتَ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غَيْرَ أَنَّ</a:t>
            </a:r>
            <a:pPr algn="l" indent="0" marL="0">
              <a:buNone/>
            </a:pPr>
            <a:r>
              <a:rPr lang="en-US" sz="1250" b="1" dirty="0">
                <a:solidFill>
                  <a:srgbClr val="1B3B6F"/>
                </a:solidFill>
                <a:latin typeface="Calibri" pitchFamily="34" charset="0"/>
                <a:cs typeface="Amiri" pitchFamily="2" charset="-78"/>
              </a:rPr>
              <a:t> …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يَكُونَ مَحْدُودًا</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مَحْدُودٌ</a:t>
            </a:r>
            <a:pPr algn="l" indent="0" marL="0">
              <a:buNone/>
            </a:pPr>
            <a:r>
              <a:rPr lang="en-US" sz="1250" dirty="0">
                <a:solidFill>
                  <a:srgbClr val="1F2A37"/>
                </a:solidFill>
                <a:latin typeface="Calibri" pitchFamily="34" charset="0"/>
                <a:cs typeface="Amiri" pitchFamily="2" charset="-78"/>
              </a:rPr>
              <a:t> (indicative situation)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كَانَ مَحْدُودًا لَـ</a:t>
            </a:r>
            <a:pPr algn="l" indent="0" marL="0">
              <a:buNone/>
            </a:pPr>
            <a:r>
              <a:rPr lang="en-US" sz="1250" dirty="0">
                <a:solidFill>
                  <a:srgbClr val="1F2A37"/>
                </a:solidFill>
                <a:latin typeface="Calibri" pitchFamily="34" charset="0"/>
                <a:cs typeface="Amiri" pitchFamily="2" charset="-78"/>
              </a:rPr>
              <a:t> (Type 2)</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المَدَارِسُ بَرَامِجَ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تُنَظِّمُ</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تُنَظِّمَ</a:t>
            </a:r>
            <a:pPr algn="l" indent="0" marL="0">
              <a:buNone/>
            </a:pPr>
            <a:r>
              <a:rPr lang="en-US" sz="1250" dirty="0">
                <a:solidFill>
                  <a:srgbClr val="1F2A37"/>
                </a:solidFill>
                <a:latin typeface="Calibri" pitchFamily="34" charset="0"/>
                <a:cs typeface="Amiri" pitchFamily="2" charset="-78"/>
              </a:rPr>
              <a:t> (subjunctive)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نَظَّمَتْ</a:t>
            </a:r>
            <a:pPr algn="l" indent="0" marL="0">
              <a:buNone/>
            </a:pPr>
            <a:r>
              <a:rPr lang="en-US" sz="1250" dirty="0">
                <a:solidFill>
                  <a:srgbClr val="1F2A37"/>
                </a:solidFill>
                <a:latin typeface="Calibri" pitchFamily="34" charset="0"/>
                <a:cs typeface="Amiri" pitchFamily="2" charset="-78"/>
              </a:rPr>
              <a:t> (past)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لَوْ شَارَكَ كُلُّ 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الأَحْيَاءُ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سَتَتَغَيَّرُ</a:t>
            </a:r>
            <a:pPr algn="l" indent="0" marL="0">
              <a:buNone/>
            </a:pPr>
            <a:r>
              <a:rPr lang="en-US" sz="1250" dirty="0">
                <a:solidFill>
                  <a:srgbClr val="1F2A37"/>
                </a:solidFill>
                <a:latin typeface="Calibri" pitchFamily="34" charset="0"/>
                <a:cs typeface="Amiri" pitchFamily="2" charset="-78"/>
              </a:rPr>
              <a:t> (Type 1 result)</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تَتَغَيَّرُ</a:t>
            </a:r>
            <a:pPr algn="l" indent="0" marL="0">
              <a:buNone/>
            </a:pPr>
            <a:r>
              <a:rPr lang="en-US" sz="1250" dirty="0">
                <a:solidFill>
                  <a:srgbClr val="1F2A37"/>
                </a:solidFill>
                <a:latin typeface="Calibri" pitchFamily="34" charset="0"/>
                <a:cs typeface="Amiri" pitchFamily="2" charset="-78"/>
              </a:rPr>
              <a:t> (indicative)</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لَتَغَيَّرَتِ</a:t>
            </a:r>
            <a:pPr algn="l" indent="0" marL="0">
              <a:buNone/>
            </a:pPr>
            <a:r>
              <a:rPr lang="en-US" sz="1250" dirty="0">
                <a:solidFill>
                  <a:srgbClr val="1F2A37"/>
                </a:solidFill>
                <a:latin typeface="Calibri" pitchFamily="34" charset="0"/>
                <a:cs typeface="Amiri" pitchFamily="2" charset="-78"/>
              </a:rPr>
              <a:t> (Type 2 result)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3–4: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R1 — What is the main idea?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Volunteering wastes time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Volunteering strengthens community bonds</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Schools should close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يُشَارُ إِلَى أَنَّ العَمَلَ التَّطَوُّعِيَّ يُقَوِّي رَوَابِطَ المُجْتَمَعِ.</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R2 — How much time makes a difference, per the text?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One hour a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hours a day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time at all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سَاعَةً وَاحِدَةً أُسْبُوعِيًّا تَصْنَعُ فَرْقًا.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purpose of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الوَقْتَ مَحْدُودٌ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state the writer's conclusion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report a statistic</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concede a real objection before answering it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concession admits the opposing point before the refutation.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صَحِيحٌ أَنَّ الوَقْتَ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 غَيْرَ أَنَّ</a:t>
            </a:r>
            <a:pPr algn="l" indent="0" marL="0">
              <a:buNone/>
            </a:pPr>
            <a:r>
              <a:rPr lang="en-US" sz="1250" b="1" dirty="0">
                <a:solidFill>
                  <a:srgbClr val="1B3B6F"/>
                </a:solidFill>
                <a:latin typeface="Calibri" pitchFamily="34" charset="0"/>
                <a:cs typeface="Amiri" pitchFamily="2" charset="-78"/>
              </a:rPr>
              <a:t> …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يَكُونَ مَحْدُودًا</a:t>
            </a:r>
            <a:pPr algn="l" indent="0" marL="0">
              <a:buNone/>
            </a:pPr>
            <a:r>
              <a:rPr lang="en-US" sz="1250" dirty="0">
                <a:solidFill>
                  <a:srgbClr val="9AA1AB"/>
                </a:solidFill>
                <a:latin typeface="Calibri" pitchFamily="34" charset="0"/>
                <a:cs typeface="Amiri" pitchFamily="2" charset="-78"/>
              </a:rPr>
              <a:t> (subjunctive)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مَحْدُودٌ</a:t>
            </a:r>
            <a:pPr algn="l" indent="0" marL="0">
              <a:buNone/>
            </a:pPr>
            <a:r>
              <a:rPr lang="en-US" sz="1250" b="1" dirty="0">
                <a:solidFill>
                  <a:srgbClr val="1F2A37"/>
                </a:solidFill>
                <a:latin typeface="Calibri" pitchFamily="34" charset="0"/>
                <a:cs typeface="Amiri" pitchFamily="2" charset="-78"/>
              </a:rPr>
              <a:t> (indicative situation)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كَانَ مَحْدُودًا لَـ</a:t>
            </a:r>
            <a:pPr algn="l" indent="0" marL="0">
              <a:buNone/>
            </a:pPr>
            <a:r>
              <a:rPr lang="en-US" sz="1250" dirty="0">
                <a:solidFill>
                  <a:srgbClr val="9AA1AB"/>
                </a:solidFill>
                <a:latin typeface="Calibri" pitchFamily="34" charset="0"/>
                <a:cs typeface="Amiri" pitchFamily="2" charset="-78"/>
              </a:rPr>
              <a:t> (Type 2)</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صَحِيحٌ أَنَّ</a:t>
            </a:r>
            <a:pPr algn="l" indent="0" marL="0">
              <a:buNone/>
            </a:pPr>
            <a:r>
              <a:rPr lang="en-US" sz="1050" i="1" dirty="0">
                <a:solidFill>
                  <a:srgbClr val="8A6D1E"/>
                </a:solidFill>
                <a:latin typeface="Calibri" pitchFamily="34" charset="0"/>
                <a:cs typeface="Amiri" pitchFamily="2" charset="-78"/>
              </a:rPr>
              <a:t> the clause describes a real situation — the indicative.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المَدَارِسُ بَرَامِجَ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تُنَظِّمُ</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تُنَظِّمَ</a:t>
            </a:r>
            <a:pPr algn="l" indent="0" marL="0">
              <a:buNone/>
            </a:pPr>
            <a:r>
              <a:rPr lang="en-US" sz="1250" b="1" dirty="0">
                <a:solidFill>
                  <a:srgbClr val="1F2A37"/>
                </a:solidFill>
                <a:latin typeface="Calibri" pitchFamily="34" charset="0"/>
                <a:cs typeface="Amiri" pitchFamily="2" charset="-78"/>
              </a:rPr>
              <a:t> (subjunctive)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نَظَّمَتْ</a:t>
            </a:r>
            <a:pPr algn="l" indent="0" marL="0">
              <a:buNone/>
            </a:pPr>
            <a:r>
              <a:rPr lang="en-US" sz="1250" dirty="0">
                <a:solidFill>
                  <a:srgbClr val="9AA1AB"/>
                </a:solidFill>
                <a:latin typeface="Calibri" pitchFamily="34" charset="0"/>
                <a:cs typeface="Amiri" pitchFamily="2" charset="-78"/>
              </a:rPr>
              <a:t> (past)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يَتَطَلَّبُ</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تُنَظِّمَ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R4 gap-fill — </a:t>
            </a:r>
            <a:pPr algn="l" indent="0" marL="0">
              <a:buNone/>
            </a:pPr>
            <a:r>
              <a:rPr lang="ar-SA" altLang="en-US" sz="1650" b="1" dirty="0">
                <a:solidFill>
                  <a:srgbClr val="1B3B6F"/>
                </a:solidFill>
                <a:latin typeface="Amiri" pitchFamily="2" charset="-78"/>
                <a:ea typeface="Amiri" pitchFamily="2" charset="-78"/>
                <a:cs typeface="Amiri" pitchFamily="2" charset="-78"/>
              </a:rPr>
              <a:t>لَوْ شَارَكَ كُلُّ 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الأَحْيَاءُ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سَتَتَغَيَّرُ</a:t>
            </a:r>
            <a:pPr algn="l" indent="0" marL="0">
              <a:buNone/>
            </a:pPr>
            <a:r>
              <a:rPr lang="en-US" sz="1250" dirty="0">
                <a:solidFill>
                  <a:srgbClr val="9AA1AB"/>
                </a:solidFill>
                <a:latin typeface="Calibri" pitchFamily="34" charset="0"/>
                <a:cs typeface="Amiri" pitchFamily="2" charset="-78"/>
              </a:rPr>
              <a:t> (Type 1 result)</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تَتَغَيَّرُ</a:t>
            </a:r>
            <a:pPr algn="l" indent="0" marL="0">
              <a:buNone/>
            </a:pPr>
            <a:r>
              <a:rPr lang="en-US" sz="1250" dirty="0">
                <a:solidFill>
                  <a:srgbClr val="9AA1AB"/>
                </a:solidFill>
                <a:latin typeface="Calibri" pitchFamily="34" charset="0"/>
                <a:cs typeface="Amiri" pitchFamily="2" charset="-78"/>
              </a:rPr>
              <a:t> (indicative)</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لَتَغَيَّرَتِ</a:t>
            </a:r>
            <a:pPr algn="l" indent="0" marL="0">
              <a:buNone/>
            </a:pPr>
            <a:r>
              <a:rPr lang="en-US" sz="1250" b="1" dirty="0">
                <a:solidFill>
                  <a:srgbClr val="1F2A37"/>
                </a:solidFill>
                <a:latin typeface="Calibri" pitchFamily="34" charset="0"/>
                <a:cs typeface="Amiri" pitchFamily="2" charset="-78"/>
              </a:rPr>
              <a:t> (Type 2 result)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a:t>
            </a:r>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conditional takes a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result: </a:t>
            </a:r>
            <a:pPr algn="l" indent="0" marL="0">
              <a:buNone/>
            </a:pPr>
            <a:r>
              <a:rPr lang="ar-SA" altLang="en-US" sz="1350" dirty="0">
                <a:solidFill>
                  <a:srgbClr val="8A6D1E"/>
                </a:solidFill>
                <a:latin typeface="Amiri" pitchFamily="2" charset="-78"/>
                <a:ea typeface="Amiri" pitchFamily="2" charset="-78"/>
                <a:cs typeface="Amiri" pitchFamily="2" charset="-78"/>
              </a:rPr>
              <a:t>لَتَغَيَّرَتْ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 GROUPS 5–6 · READ THE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Text 3 — R3 analysis + Q5 cross-text matching</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يَرَى الكَاتِبُ أَنَّ القِرَاءَةَ الحُرَّةَ تُنَمِّي الخَيَالَ أَكْثَرَ مِنَ الشَّاشَاتِ. لَا يُمْكِنُ إِنْكَارُ أَنَّ التِّقْنِيَّةَ مُفِيدَةٌ، غَيْرَ أَنَّ الإِفْرَاطَ فِيهَا يُضْعِفُ التَّرْكِيزَ. وَبِنَاءً عَلَى مَا سَبَقَ، يَنْبَغِي أَنْ نُوَازِنَ بَيْنَ الكِتَابِ وَالشَّاشَةِ.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يَرَى الكَاتِبُ</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writer believes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القِرَاءَةَ الحُرَّةَ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free (leisure) reading</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تُنَمِّي الخَيَالَ</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develops the imagination</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يُمْكِنُ إِنْكَارُ</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cannot be denied</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الإِفْرَاطَ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excess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يُضْعِفُ التَّرْكِيزَ</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weakens concentration</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نُوَازِنَ</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(that) we balance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READING · TEXT 3 — R3 ANALYSIS + Q5 CROSS-TEXT MATCHING (6 MARKS)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Deep analysis and cross-text matching</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technology?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Wholly negative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Wholly positive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useful but harmful in excess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conclusion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concession before a counter-claim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statistic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argument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synthesising conclusion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quotation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“Free reading develops the imagination.” Which text?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strengthens community bonds.” Which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library closes at eight in the evening.” Which text?</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2</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1</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Text 3</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 Groups 5–6: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is the writer's attitude to technology?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Wholly negative</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Wholly positive</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Balanced: useful but harmful in excess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ea typeface="Amiri" pitchFamily="2" charset="-78"/>
                <a:cs typeface="Amiri" pitchFamily="2" charset="-78"/>
              </a:rPr>
              <a:t>لَا يُمْكِنُ إِنْكَارُ أَنَّ التِّقْنِيَّةَ مُفِيدَةٌ، غَيْرَ أَنَّ الإِفْرَاطَ فِيهَا يُضْعِفُ التَّرْكِيزَ.</a:t>
            </a:r>
            <a:endParaRPr lang="ar-SA" sz="10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conclusion</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concession before a counter-claim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statistic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concedes a difficult point before the writer makes the stronger claim.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R3 — What does </a:t>
            </a:r>
            <a:pPr algn="l" indent="0" marL="0">
              <a:buNone/>
            </a:pPr>
            <a:r>
              <a:rPr lang="ar-SA" altLang="en-US" sz="1650" b="1" dirty="0">
                <a:solidFill>
                  <a:srgbClr val="1B3B6F"/>
                </a:solidFill>
                <a:latin typeface="Amiri" pitchFamily="2" charset="-78"/>
                <a:ea typeface="Amiri" pitchFamily="2" charset="-78"/>
                <a:cs typeface="Amiri" pitchFamily="2" charset="-78"/>
              </a:rPr>
              <a:t>وَبِنَاءً عَلَى مَا سَبَقَ</a:t>
            </a:r>
            <a:pPr algn="l" indent="0" marL="0">
              <a:buNone/>
            </a:pPr>
            <a:r>
              <a:rPr lang="en-US" sz="1250" b="1" dirty="0">
                <a:solidFill>
                  <a:srgbClr val="1B3B6F"/>
                </a:solidFill>
                <a:latin typeface="Calibri" pitchFamily="34" charset="0"/>
                <a:cs typeface="Amiri" pitchFamily="2" charset="-78"/>
              </a:rPr>
              <a:t> mark?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argument</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synthesising conclusion</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quotation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وَبِنَاءً عَلَى مَا سَبَقَ</a:t>
            </a:r>
            <a:pPr algn="l" indent="0" marL="0">
              <a:buNone/>
            </a:pPr>
            <a:r>
              <a:rPr lang="en-US" sz="1050" i="1" dirty="0">
                <a:solidFill>
                  <a:srgbClr val="8A6D1E"/>
                </a:solidFill>
                <a:latin typeface="Calibri" pitchFamily="34" charset="0"/>
                <a:cs typeface="Amiri" pitchFamily="2" charset="-78"/>
              </a:rPr>
              <a:t> opens the conclusion.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“Free reading develops the imagination.” Which text?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3</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3: </a:t>
            </a:r>
            <a:pPr algn="l" indent="0" marL="0">
              <a:buNone/>
            </a:pPr>
            <a:r>
              <a:rPr lang="ar-SA" altLang="en-US" sz="1350" dirty="0">
                <a:solidFill>
                  <a:srgbClr val="8A6D1E"/>
                </a:solidFill>
                <a:latin typeface="Amiri" pitchFamily="2" charset="-78"/>
                <a:ea typeface="Amiri" pitchFamily="2" charset="-78"/>
                <a:cs typeface="Amiri" pitchFamily="2" charset="-78"/>
              </a:rPr>
              <a:t>القِرَاءَةُ الحُرَّةُ تُنَمِّي الخَيَالَ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“Volunteering strengthens community bonds.” Which text?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2: </a:t>
            </a:r>
            <a:pPr algn="l" indent="0" marL="0">
              <a:buNone/>
            </a:pPr>
            <a:r>
              <a:rPr lang="ar-SA" altLang="en-US" sz="1350" dirty="0">
                <a:solidFill>
                  <a:srgbClr val="8A6D1E"/>
                </a:solidFill>
                <a:latin typeface="Amiri" pitchFamily="2" charset="-78"/>
                <a:ea typeface="Amiri" pitchFamily="2" charset="-78"/>
                <a:cs typeface="Amiri" pitchFamily="2" charset="-78"/>
              </a:rPr>
              <a:t>العَمَلُ التَّطَوُّعِيُّ يُقَوِّي رَوَابِطَ المُجْتَمَعِ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Q5 — “The library closes at eight in the evening.” Which text?</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2</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Text 1</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Text 3</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Text 1: </a:t>
            </a:r>
            <a:pPr algn="l" indent="0" marL="0">
              <a:buNone/>
            </a:pPr>
            <a:r>
              <a:rPr lang="ar-SA" altLang="en-US" sz="1350" dirty="0">
                <a:solidFill>
                  <a:srgbClr val="8A6D1E"/>
                </a:solidFill>
                <a:latin typeface="Amiri" pitchFamily="2" charset="-78"/>
                <a:ea typeface="Amiri" pitchFamily="2" charset="-78"/>
                <a:cs typeface="Amiri" pitchFamily="2" charset="-78"/>
              </a:rPr>
              <a:t>تُغْلَقُ المَكْتَبَةُ فِي السَّاعَةِ الثَّامِنَةِ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WRITE AN R3 ANSWER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gap-fills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the three Text 2 gap-fill sentences with the correct form, and circle the trigger in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Look left of the gap: anna / an / law?</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2 R3 answers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 English: why does the writer of Text 3 use lā yumkinu inkāru anna? Why wa-bināʾan ʿalā mā sabaqa? Quote the Arabic.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Name the structure · say what it does · quote it.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40–50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 Arabic: an R3 analysis of Text 3 — the writer’s attitude and the two structures that show it.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frames: يَدُلُّ … عَلَى أَنَّ … · لِذٰلِكَ أَرَى أَنَّ مَوْقِفَهُ مُتَوَازِنٌ.</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R3 FRAMES AND WORD BANK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R3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التَّحْلِيلِ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الكَاتِبُ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writer believes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«لَا يُمْكِنُ إِنْكَارُ أَنَّ» يَدُلُّ عَلَى أَنَّ الكَاتِبَ ______ .</a:t>
            </a:r>
            <a:endParaRPr lang="ar-SA" sz="14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“lā yumkinu inkāru anna” shows that the writer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«وَبِنَاءً عَلَى مَا سَبَقَ» تَفْتَحُ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“wa-bināʾan ʿalā mā sabaqa” opens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أَرَى أَنَّ مَوْقِفَهُ مُتَوَازِنٌ.</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I think his position is balanced.</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المُسَبِّبُ فِي الجُمْلَةِ هُوَ «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trigger in the sentence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يَنْتَهِي الفِعْلُ بِالفَتْحَةِ: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 the verb ends in -a: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«صَحِيحٌ أَنَّ» نَجِدُ وَاقِعًا: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ṣaḥīḥun anna the clause is a fact: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جَوَابُ «لَوْ» يَبْدَأُ بِاللَّامِ: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law takes a la- result: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أَنْ تُنَظِّمَ  ·  لَتَغَيَّرَتْ  ·  مَحْدُودٌ  ·  يَتَطَلَّبُ  ·  القِرَاءَةَ الحُرَّةَ تُنَمِّي الخَيَالَ  ·  يُسَلِّمُ بِفَائِدَةِ التِّقْنِيَّةِ  ·  قَبْلَ أَنْ يَرُدَّ  ·  الخَاتِمَةَ  ·  مُتَوَازِنٌ  ·  أُحَادِيٌّ  ·  الإِفْرَاطَ  ·  التَّرْكِيزَ</a:t>
            </a:r>
            <a:endParaRPr lang="ar-SA" sz="15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A MODEL R3 ANSWER (TEACHER-WRITTEN)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What a strong R3 answer looks like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يَرَى الكَاتِبُ أَنَّ القِرَاءَةَ الحُرَّةَ تُنَمِّي الخَيَالَ أَكْثَرَ مِنَ الشَّاشَاتِ. وَعِبَارَةُ «لَا يُمْكِنُ إِنْكَارُ أَنَّ التِّقْنِيَّةَ مُفِيدَةٌ» تَدُلُّ عَلَى أَنَّهُ يُسَلِّمُ بِفَائِدَةِ التِّقْنِيَّةِ قَبْلَ أَنْ يَرُدَّ بِـ«غَيْرَ أَنَّ». ثُمَّ تَفْتَحُ «وَبِنَاءً عَلَى مَا سَبَقَ» الخَاتِمَةَ. لِذٰلِكَ أَرَى أَنَّ مَوْقِفَهُ مُتَوَازِنٌ لَا أُحَادِيٌّ.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writer believes that free reading develops the imagination more than screens. The phrase “it cannot be denied that technology is useful” shows that he concedes the benefit of technology before replying with “however”. Then “based on the above” opens the conclusion. So I think his position is balanced, not one-sided.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writer’s view (yarā)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concession and its job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conclusion connector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verdict: balanced</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PERFORMANCE ANALYSIS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performance analysis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تَحْلِيلُ الأَدَاءِ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Yours</a:t>
            </a:r>
            <a:endParaRPr lang="en-US" sz="1100" dirty="0"/>
          </a:p>
        </p:txBody>
      </p:sp>
      <p:sp>
        <p:nvSpPr>
          <p:cNvPr id="17" name="Text 14"/>
          <p:cNvSpPr txBox="1"/>
          <p:nvPr/>
        </p:nvSpPr>
        <p:spPr>
          <a:xfrm>
            <a:off x="473659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Record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4773168" y="2267712"/>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R1 / R2 / R3 / R4</a:t>
            </a:r>
            <a:endParaRPr lang="en-US" sz="1100" dirty="0"/>
          </a:p>
        </p:txBody>
      </p:sp>
      <p:sp>
        <p:nvSpPr>
          <p:cNvPr id="22" name="Text 19"/>
          <p:cNvSpPr txBox="1"/>
          <p:nvPr/>
        </p:nvSpPr>
        <p:spPr>
          <a:xfrm>
            <a:off x="566928" y="2267712"/>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Weakest R level (R1 / R2 / R3 / R4)</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5" name="Text 22"/>
          <p:cNvSpPr txBox="1"/>
          <p:nvPr/>
        </p:nvSpPr>
        <p:spPr>
          <a:xfrm>
            <a:off x="4773168" y="300471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26" name="Text 23"/>
          <p:cNvSpPr txBox="1"/>
          <p:nvPr/>
        </p:nvSpPr>
        <p:spPr>
          <a:xfrm>
            <a:off x="566928" y="300471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Q4 gap-fill accuracy (out of 3)</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4773168" y="3741725"/>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0" name="Text 27"/>
          <p:cNvSpPr txBox="1"/>
          <p:nvPr/>
        </p:nvSpPr>
        <p:spPr>
          <a:xfrm>
            <a:off x="566928" y="3741725"/>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Q5 cross-text accuracy (out of 3)</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4773168" y="4478731"/>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find the trigger first, I will cover the options</a:t>
            </a:r>
            <a:endParaRPr lang="en-US" sz="1100" dirty="0"/>
          </a:p>
        </p:txBody>
      </p:sp>
      <p:sp>
        <p:nvSpPr>
          <p:cNvPr id="34" name="Text 31"/>
          <p:cNvSpPr txBox="1"/>
          <p:nvPr/>
        </p:nvSpPr>
        <p:spPr>
          <a:xfrm>
            <a:off x="566928" y="4478731"/>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Q4 improvement action</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7" name="Text 34"/>
          <p:cNvSpPr txBox="1"/>
          <p:nvPr/>
        </p:nvSpPr>
        <p:spPr>
          <a:xfrm>
            <a:off x="4773168" y="5215738"/>
            <a:ext cx="3840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spot the paraphrase, I will underline the key idea</a:t>
            </a:r>
            <a:endParaRPr lang="en-US" sz="1100" dirty="0"/>
          </a:p>
        </p:txBody>
      </p:sp>
      <p:sp>
        <p:nvSpPr>
          <p:cNvPr id="38" name="Text 35"/>
          <p:cNvSpPr txBox="1"/>
          <p:nvPr/>
        </p:nvSpPr>
        <p:spPr>
          <a:xfrm>
            <a:off x="566928" y="5215738"/>
            <a:ext cx="40233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Q5 improvement action</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Total …/16. Write your Q4 and Q5 actions under your Paper 2 target.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READING REFLECTION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R2 — I proved every fact with the text</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level</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R level today was…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Q4 — covering the options first</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practice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 the mock I will practise…</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المَعْنَى العَامُّ</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strongest level is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أَقْوَى مُسْتَوًى عِنْدِي هُوَ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My Paper 2 priority — write it under your Paper 2 target.</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located the thesis (R1) and proved facts from the text (R2).</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matched each Q5 statement to its text by its key idea.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chose -u after ṣaḥīḥun anna and -a after a trigger in Q4.</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analysed attitude, register and purpose for R3.</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an R3 answer that names the structure, its job and the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P6-L03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P6-L04: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P6 · IGCSE Bridge · P6-L03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P6-L04 · Paper 4 Q1 — Directed Writing: Mastering Form and Register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الكِتَابَةُ المُوَجَّهَةُ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directed writing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خِطَابٌ رَسْمِيٌّ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formal letter</a:t>
            </a:r>
            <a:pPr indent="0" marL="0">
              <a:buNone/>
            </a:pPr>
            <a:r>
              <a:rPr lang="ar-SA" sz="1000" i="1" dirty="0">
                <a:solidFill>
                  <a:srgbClr val="5A6472"/>
                </a:solidFill>
                <a:latin typeface="Calibri" pitchFamily="34" charset="0"/>
                <a:ea typeface="Amiri" pitchFamily="2" charset="-78"/>
                <a:cs typeface="Amiri" pitchFamily="2" charset="-78"/>
              </a:rPr>
              <a:t>  pl. خِطَابَاتٌ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صِيغَةٌ رَسْمِيَّةٌ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formal register</a:t>
            </a:r>
            <a:pPr indent="0" marL="0">
              <a:buNone/>
            </a:pPr>
            <a:r>
              <a:rPr lang="ar-SA" sz="1000" i="1" dirty="0">
                <a:solidFill>
                  <a:srgbClr val="5A6472"/>
                </a:solidFill>
                <a:latin typeface="Calibri" pitchFamily="34" charset="0"/>
                <a:ea typeface="Amiri" pitchFamily="2" charset="-78"/>
                <a:cs typeface="Amiri" pitchFamily="2" charset="-78"/>
              </a:rPr>
              <a:t>  ≠ غَيْرُ رَسْمِيَّةٍ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أَتَشَرَّفُ بِمُخَاطَبَتِكُمْ</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have the honour of writing to you</a:t>
            </a:r>
            <a:pPr indent="0" marL="0">
              <a:buNone/>
            </a:pPr>
            <a:r>
              <a:rPr lang="en-US" sz="1000" i="1" dirty="0">
                <a:solidFill>
                  <a:srgbClr val="5A6472"/>
                </a:solidFill>
                <a:latin typeface="Calibri" pitchFamily="34" charset="0"/>
                <a:cs typeface="Amiri" pitchFamily="2" charset="-78"/>
              </a:rPr>
              <a:t>  formal opener</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وَتَفَضَّلُوا بِقَبُولِ الاحْتِرَامِ</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yours faithfully</a:t>
            </a:r>
            <a:pPr indent="0" marL="0">
              <a:buNone/>
            </a:pPr>
            <a:r>
              <a:rPr lang="en-US" sz="1000" i="1" dirty="0">
                <a:solidFill>
                  <a:srgbClr val="5A6472"/>
                </a:solidFill>
                <a:latin typeface="Calibri" pitchFamily="34" charset="0"/>
                <a:cs typeface="Amiri" pitchFamily="2" charset="-78"/>
              </a:rPr>
              <a:t>  formal closer</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does a letter to a minister begin differently from a message to a friend?</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أَبْدَأُ الخِطَابَ الرَّسْمِيَّ بِعِبَارَةِ «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Q4 gap-fills and Q5 matches you missed; learn the five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one R3 answer on Text 2 (why ṣaḥīḥun anna?); learn the five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40–50-word Arabic R3 analysis; learn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P6-L03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P6-L04 · Paper 4 Q1 — Directed Writing: Mastering Form and Register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الوَرَقَةُ الرَّابِعَةُ — الكِتَابَةُ المُوَجَّهَةُ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climb the ladder — R1 main idea · R2 facts · R3 WHY the writer chose it · R4 the exact answer. Q4: find the trigger first. Q5: match the meaning, not one word.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P6-L03 · Paper 2 Reading — Full Format Practice and R1–R4 Mastery</dc:title>
  <dc:subject>PptxGenJS Presentation</dc:subject>
  <dc:creator>Al Madina Online School · Arabic Department</dc:creator>
  <cp:lastModifiedBy>Al Madina Online School · Arabic Department</cp:lastModifiedBy>
  <cp:revision>1</cp:revision>
  <dcterms:created xsi:type="dcterms:W3CDTF">2026-10-11T06:43:34Z</dcterms:created>
  <dcterms:modified xsi:type="dcterms:W3CDTF">2026-10-11T06:43:34Z</dcterms:modified>
</cp:coreProperties>
</file>