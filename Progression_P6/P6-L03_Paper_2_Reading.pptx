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Reading words · 13–16 The R1–R4 ladder · 16–20 Q4 and Q5 strategy (I Do) · 20–25 Text 1 · 25–33 Text 2 · 33–41 Text 3 · 41–50 Write an R3 answer · 50–53 Performance analysis · 53–58 Reflection + self-check · 58–60 Preparation.
FLEX slides are optional. Use them if the class is moving quickly; otherwise the same activities are on the website for homework.
Content source: Miftah Arabic website, Pathways › Progression › P6 IGCSE Bridge › P6-L03. The website P6-L03: the reading terminology (8 words), the R1–R4 hierarchy cards, three full-format texts (a library notice — Q Groups 1–2, 4 marks · a volunteering argument — R1–R4 + Q4 gap-fill, 6 marks · a reading-vs-screens opinion — R3 analysis + Q5 cross-text matching, 6 marks), the reading performance-analysis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FULL-FORMAT PRACTICE: one text at a time — read (about 2 min), answer, check. The green key-words panel on each text is a teacher-made glossary for Core students (in the real exam there is none).
• Core: Text 1 all, Text 2 questions 1–2 and 5, Text 3 questions 4–6 (Q5 matching) — then the three Q4 gap-fills in the writing task. Develop: all 16. Stretch: all 16 + a written Arabic R3 answer.
• The two big Paper 2 skills today: Q4 gap-fill = find the TRIGGER first (P5-L08); Q5 cross-text = match by MEANING (paraphrase), not by one shared word.
• Website R3 card: “R3 decides whether you score 35 or 45” — give it the most teaching time.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P6-L02. Questions 4–5 retrieve the P5-L08 gap-fill rule — today it is tested as IGCSE Q4.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Paper 2 climbs a ladder: R1 the main idea → R2 the facts → R3 WHY the writer chose those words → R4 the exact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معنی and استنتاج are shared. Three traps: Urdu دلیل = an argument, but Arabic الدَّلِيلُ = the EVIDENCE; Urdu دقت = difficulty, but Arabic الدِّقَّةُ = ACCURACY; and مجہول — in Arabic المَجْهُولُ = unknown (الكَلِمَاتُ المَجْهُولَةُ = unknown words), and in grammar the passive (المَبْنِيُّ لِلْمَجْهُولِ).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R1–R4 hierarchy (website vocabulary (1 of 2)). Hear → Say → See → Use. Transliteration is printed for Core students (cover it for Develop/Stretch).
The R1–R4 ladder in Arabic: المَعْنَى العَامُّ (R1) → التَّفَاصِيلُ الوَاقِعِيَّةُ (R2) → الرَّأْيُ وَالمَوْقِفُ وَالأُسْلُوبُ (R3) → الاِخْتِيَارُ وَتَحْدِيدُ المَعْلُومَاتِ (R4). Every answer needs الأَدِلَّةُ النَّصِّيَّةُ — the words in the text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R1–R4 hierarchy (website vocabulary (2 of 2)). Hear → Say → See → Use. Transliteration is printed for Core students (cover it for Develop/Stretch).
The R1–R4 ladder in Arabic: المَعْنَى العَامُّ (R1) → التَّفَاصِيلُ الوَاقِعِيَّةُ (R2) → الرَّأْيُ وَالمَوْقِفُ وَالأُسْلُوبُ (R3) → الاِخْتِيَارُ وَتَحْدِيدُ المَعْلُومَاتِ (R4). Every answer needs الأَدِلَّةُ النَّصِّيَّةُ — the words in the text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R2 carries most marks; R3 separates 35 from 45. Ask: which level asks “why”? (R3).
WEBSITE CARDS “The R1–R4 hierarchy”: R1 — general meaning: Find the main idea. Surface level. · R2 — factual detail: Find specific facts. Most Paper 2 marks live here. · R3 — attitude and style: Analyse why the writer made a language choice — including a conditional, a subjunctive trigger or a concession. This decides whether you score 35 or 45. · R4 — select and identify: Choose the exact supported statement, and in Q4 the exact grammatical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think aloud on the three Text 2 gap-fills BEFORE students meet the text. Then model one Q5: “Volunteering strengthens community bonds” → which text talks about community and volunteering? (Text 2) — show that Text 3 also mentions people, but not this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1 — Notices and short text (4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1 (website Q Groups 1–2, 4 marks) — R2 facts. Everyone answers all four. Note the passives (تُغْلَقُ · يُمْنَعُ · تُقَامُ) — typical of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2 — R1–R4 + Q4 gap-fill (6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2 (website Q Groups 3–4, 6 marks): R1, R2, R3 and three Q4 gap-fills. Core: questions 1, 2 and 5. Develop / Stretch: all 6. After answering, students name the trigger for each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3 — R3 analysis + Q5 cross-text matching (6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3 (website Q Groups 5–6, 6 marks): three R3 questions and three Q5 cross-text matches (all three texts). Core: questions 4–6. Develop / Stretch: all 6. For R3, insist on the WHY: لَا يُمْكِنُ إِنْكَارُ أَنَّ concedes before the stronger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Live feedback: Stretch students post their first sentence after 3 minutes. Check anna + noun after يَدُلُّ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for all three routes (Core = Q4 explanation frames; Develop / Stretch = R3 frames). Word bank from Texts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(teacher-written on the website Text 3) — show after writing. Students find the four chips, then add ONE missing element to their own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ANALYSIS (3 min) — website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the website frames, plus one Arabic line.
Website:  (My Paper 2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(P6-L04 · Paper 4 Q1 — Directed Writing: Mastering Form and Register) will spend class time USING this language, so students prepare it tonight — short, simple, easy to access (school guidance: “Simple, Short, Interesting, Relevant, Easy to access”). The five words come from the website P6-L04 vocabulary (text types and register).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2 Reading — Full Format Practice and R1–R4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000" b="1" dirty="0">
                <a:solidFill>
                  <a:srgbClr val="D4AF37"/>
                </a:solidFill>
                <a:latin typeface="Amiri" pitchFamily="34" charset="0"/>
                <a:ea typeface="Amiri" pitchFamily="34" charset="-122"/>
                <a:cs typeface="Amiri" pitchFamily="34" charset="-120"/>
              </a:rPr>
              <a:t>الوَرَقَةُ الثَّانِيَةُ — القِرَاءَةُ: تَدْرِيبٌ كَامِلٌ وَإِتْقَانُ المُسْتَوَيَاتِ</a:t>
            </a:r>
            <a:endParaRPr lang="ar-SA" sz="30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Sit three full-format Paper 2 texts with the R1–R4 ladder — main idea, facts, the writer’s choices, the exact answer — master the Q4 gap-fill (find the trigger first) and the Q5 cross-text match (spot the paraphrase).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P6-L03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reading words and the gap-fill rule.</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words and the R1–R4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المُسْتَوَيَاتُ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solve a Q4 gap-fill and a Q5 match.</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21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full-format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النُّصُوصُ الثَّلَاثَةُ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Write an R3 answer · analyse your score.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اُكْتُبْ</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Model, reflection and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directed writing.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المَعْنَى العَامُّ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factual detail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general meaning (R1)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unknown word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الأَدِلَّةُ النَّصِّيَّةُ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textual 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messages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text title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اسْتِنْتَاجُ الكَلِمَاتِ المَجْهُولَةِ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translating every word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new words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deducing unknown 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تَحَرَّكَتْ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المَعْنَى العَامُّ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factual detail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general meaning (R1)</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unknown word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الأَدِلَّةُ النَّصِّيَّةُ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textual 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messages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text title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اسْتِنْتَاجُ الكَلِمَاتِ المَجْهُولَةِ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translating every word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learning new words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deducing unknown 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تَتَّخِذُ</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P5-L08: a conceded fact → -u.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تَتَحَرَّكَ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تَحَرَّكَتْ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P5-L08: a trigger →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Paper 2 climbs a ladder: R1 the main idea → R2 the facts → R3 WHY the writer chose those words → R4 the exact answer.</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المَعْنَى العَامُّ ← التَّفَاصِيلُ ← الرَّأْيُ وَالأُسْلُوبُ ← الدِّقَّةُ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R1–R4 comprehension systematically across three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Master the Q4 gap-fill by identifying the grammar trigger before choosing the form.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Master the Q5 cross-text matching by recognising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your performance and set a Q4/Q5 target for the mock.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main idea and prove a fact from the text.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match a Q5 statement to its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find the trigger before choosing a Q4 form.</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 writer’s choice (R3).</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match by paraphrase, not by a shared word.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R3 answer in Arabic.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R1–R4 hierarchy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مَعْنًى</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‎معنی‎ </a:t>
            </a:r>
            <a:pPr indent="0" marL="0">
              <a:buNone/>
            </a:pPr>
            <a:r>
              <a:rPr lang="en-US" sz="950" b="1" dirty="0">
                <a:solidFill>
                  <a:srgbClr val="2E8B57"/>
                </a:solidFill>
                <a:latin typeface="Calibri" pitchFamily="34" charset="0"/>
                <a:ea typeface="Calibri" pitchFamily="34" charset="-122"/>
                <a:cs typeface="Calibri" pitchFamily="34" charset="-120"/>
              </a:rPr>
              <a:t> maanā · meaning</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Arabic: evidence · Urdu: an argument</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اسْتِنْتَاجٌ</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‎استنتاج‎ </a:t>
            </a:r>
            <a:pPr indent="0" marL="0">
              <a:buNone/>
            </a:pPr>
            <a:r>
              <a:rPr lang="en-US" sz="950" b="1" dirty="0">
                <a:solidFill>
                  <a:srgbClr val="2E8B57"/>
                </a:solidFill>
                <a:latin typeface="Calibri" pitchFamily="34" charset="0"/>
                <a:ea typeface="Calibri" pitchFamily="34" charset="-122"/>
                <a:cs typeface="Calibri" pitchFamily="34" charset="-120"/>
              </a:rPr>
              <a:t> istintāj · deduction, inference</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مَجْهُولٌ</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‎مجہول‎ </a:t>
            </a:r>
            <a:pPr indent="0" marL="0">
              <a:buNone/>
            </a:pPr>
            <a:r>
              <a:rPr lang="en-US" sz="950" b="1" dirty="0">
                <a:solidFill>
                  <a:srgbClr val="2E8B57"/>
                </a:solidFill>
                <a:latin typeface="Calibri" pitchFamily="34" charset="0"/>
                <a:ea typeface="Calibri" pitchFamily="34" charset="-122"/>
                <a:cs typeface="Calibri" pitchFamily="34" charset="-120"/>
              </a:rPr>
              <a:t> majhūl · unknown (grammar: passive)</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دِقَّةٌ</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‎دقت‎ </a:t>
            </a:r>
            <a:pPr indent="0" marL="0">
              <a:buNone/>
            </a:pPr>
            <a:r>
              <a:rPr lang="en-US" sz="950" b="1" dirty="0">
                <a:solidFill>
                  <a:srgbClr val="2E8B57"/>
                </a:solidFill>
                <a:latin typeface="Calibri" pitchFamily="34" charset="0"/>
                <a:ea typeface="Calibri" pitchFamily="34" charset="-122"/>
                <a:cs typeface="Calibri" pitchFamily="34" charset="-120"/>
              </a:rPr>
              <a:t> diqqat · Arabic: accuracy · Urdu: difficulty</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R1–R4 hierarchy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المَعْنَى العَامُّ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R1 — general meaning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al-maʿ-nā al-ʿām-mu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التَّفَاصِيلُ الوَاقِعِيَّةُ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R2 — factual details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at-ta-fā-ṣī-lu al-wā-qi-ʿiy-ya-tu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تَفْصِيلٌ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الرَّأْيُ وَالمَوْقِفُ وَالأُسْلُوبُ</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R3 — opinion, attitude, style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ar-raʾ-yu wāl-maw-qi-fu wāl-ʾus-lū-bu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34" charset="0"/>
                <a:ea typeface="Amiri" pitchFamily="34" charset="-122"/>
                <a:cs typeface="Amiri" pitchFamily="34" charset="-120"/>
              </a:rPr>
              <a:t>الاخْتِيَارُ وَتَحْدِيدُ المَعْلُومَاتِ</a:t>
            </a:r>
            <a:endParaRPr lang="ar-SA" sz="265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R4 — selecting information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alkh-ti-yā-ru wa-taḥ-dī-du al-maʿ-lū-mā-ti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R1–R4 hierarchy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الأَدِلَّةُ النَّصِّيَّةُ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textual 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al-a-dil-la-tu an-naṣ-ṣiy-ya-tu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دَلِيلٌ نَصِّيٌّ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اسْتِنْتَاجُ الكَلِمَاتِ المَجْهُولَةِ</a:t>
            </a:r>
            <a:endParaRPr lang="ar-SA" sz="28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deducing unknown 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as-tin-tā-ju al-ka-li-mā-ti al-maj-hū-la-ti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التَّطَابُقُ عَبْرَ النُّصُوصِ</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cross-text matching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at-ta-ṭā-bu-qu ʿab-ra an-nu-ṣū-ṣi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 فِي الاخْتِيَارِ</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 in selection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 fī alkh-ti-yā-ri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SURFACE → DEEP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R1–R4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63093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R1–R4 HIERARCHY</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R1 — general meaning — Find the main idea. Surface level.</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R2 — factual detail — Find specific facts. Most Paper 2 marks live here.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R3 — attitude and style — Analyse why the writer made a language choice — including a conditional, a subjunctive trigger or a concession. This decides whether you score 35 or 45.</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R4 — select and identify — Choose the exact supported statement, and in Q4 the exact grammatical form.</a:t>
            </a:r>
            <a:endParaRPr lang="en-US" sz="1300" dirty="0"/>
          </a:p>
        </p:txBody>
      </p:sp>
      <p:sp>
        <p:nvSpPr>
          <p:cNvPr id="29" name="Shape 26"/>
          <p:cNvSpPr/>
          <p:nvPr/>
        </p:nvSpPr>
        <p:spPr>
          <a:xfrm>
            <a:off x="6949440" y="1810512"/>
            <a:ext cx="478231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7086600" y="2194560"/>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يُشَارُ إِلَى أَنَّ …</a:t>
            </a:r>
            <a:endParaRPr lang="ar-SA" sz="2650" dirty="0"/>
          </a:p>
        </p:txBody>
      </p:sp>
      <p:sp>
        <p:nvSpPr>
          <p:cNvPr id="32" name="Text 29"/>
          <p:cNvSpPr txBox="1"/>
          <p:nvPr/>
        </p:nvSpPr>
        <p:spPr>
          <a:xfrm>
            <a:off x="7086600" y="2765511"/>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R1 — the thesis sentence</a:t>
            </a:r>
            <a:endParaRPr lang="en-US" sz="1100" dirty="0"/>
          </a:p>
        </p:txBody>
      </p:sp>
      <p:sp>
        <p:nvSpPr>
          <p:cNvPr id="33" name="Shape 30"/>
          <p:cNvSpPr/>
          <p:nvPr/>
        </p:nvSpPr>
        <p:spPr>
          <a:xfrm>
            <a:off x="7132320" y="3195828"/>
            <a:ext cx="4416552" cy="0"/>
          </a:xfrm>
          <a:prstGeom prst="line">
            <a:avLst/>
          </a:prstGeom>
          <a:noFill/>
          <a:ln w="9525">
            <a:solidFill>
              <a:srgbClr val="E4DCCB"/>
            </a:solidFill>
            <a:prstDash val="dash"/>
          </a:ln>
        </p:spPr>
      </p:sp>
      <p:sp>
        <p:nvSpPr>
          <p:cNvPr id="34" name="Text 31"/>
          <p:cNvSpPr txBox="1"/>
          <p:nvPr/>
        </p:nvSpPr>
        <p:spPr>
          <a:xfrm>
            <a:off x="7086600" y="3214116"/>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تُغْلَقُ المَكْتَبَةُ فِي السَّاعَةِ الثَّامِنَةِ</a:t>
            </a:r>
            <a:endParaRPr lang="ar-SA" sz="2650" dirty="0"/>
          </a:p>
        </p:txBody>
      </p:sp>
      <p:sp>
        <p:nvSpPr>
          <p:cNvPr id="35" name="Text 32"/>
          <p:cNvSpPr txBox="1"/>
          <p:nvPr/>
        </p:nvSpPr>
        <p:spPr>
          <a:xfrm>
            <a:off x="7086600" y="3785067"/>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R2 — a fact you can point to</a:t>
            </a:r>
            <a:endParaRPr lang="en-US" sz="1100" dirty="0"/>
          </a:p>
        </p:txBody>
      </p:sp>
      <p:sp>
        <p:nvSpPr>
          <p:cNvPr id="36" name="Shape 33"/>
          <p:cNvSpPr/>
          <p:nvPr/>
        </p:nvSpPr>
        <p:spPr>
          <a:xfrm>
            <a:off x="7132320" y="4215384"/>
            <a:ext cx="4416552" cy="0"/>
          </a:xfrm>
          <a:prstGeom prst="line">
            <a:avLst/>
          </a:prstGeom>
          <a:noFill/>
          <a:ln w="9525">
            <a:solidFill>
              <a:srgbClr val="E4DCCB"/>
            </a:solidFill>
            <a:prstDash val="dash"/>
          </a:ln>
        </p:spPr>
      </p:sp>
      <p:sp>
        <p:nvSpPr>
          <p:cNvPr id="37" name="Text 34"/>
          <p:cNvSpPr txBox="1"/>
          <p:nvPr/>
        </p:nvSpPr>
        <p:spPr>
          <a:xfrm>
            <a:off x="7086600" y="4233672"/>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صَحِيحٌ أَنَّ … غَيْرَ أَنَّ …</a:t>
            </a:r>
            <a:endParaRPr lang="ar-SA" sz="2650" dirty="0"/>
          </a:p>
        </p:txBody>
      </p:sp>
      <p:sp>
        <p:nvSpPr>
          <p:cNvPr id="38" name="Text 35"/>
          <p:cNvSpPr txBox="1"/>
          <p:nvPr/>
        </p:nvSpPr>
        <p:spPr>
          <a:xfrm>
            <a:off x="7086600" y="4804623"/>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R3 — why did the writer choose this?</a:t>
            </a:r>
            <a:endParaRPr lang="en-US" sz="1100" dirty="0"/>
          </a:p>
        </p:txBody>
      </p:sp>
      <p:sp>
        <p:nvSpPr>
          <p:cNvPr id="39" name="Shape 36"/>
          <p:cNvSpPr/>
          <p:nvPr/>
        </p:nvSpPr>
        <p:spPr>
          <a:xfrm>
            <a:off x="7132320" y="5234940"/>
            <a:ext cx="4416552" cy="0"/>
          </a:xfrm>
          <a:prstGeom prst="line">
            <a:avLst/>
          </a:prstGeom>
          <a:noFill/>
          <a:ln w="9525">
            <a:solidFill>
              <a:srgbClr val="E4DCCB"/>
            </a:solidFill>
            <a:prstDash val="dash"/>
          </a:ln>
        </p:spPr>
      </p:sp>
      <p:sp>
        <p:nvSpPr>
          <p:cNvPr id="40" name="Text 37"/>
          <p:cNvSpPr txBox="1"/>
          <p:nvPr/>
        </p:nvSpPr>
        <p:spPr>
          <a:xfrm>
            <a:off x="7086600" y="5253228"/>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أَنْ تُنَظِّمَ · لَتَغَيَّرَتْ</a:t>
            </a:r>
            <a:endParaRPr lang="ar-SA" sz="2650" dirty="0"/>
          </a:p>
        </p:txBody>
      </p:sp>
      <p:sp>
        <p:nvSpPr>
          <p:cNvPr id="41" name="Text 38"/>
          <p:cNvSpPr txBox="1"/>
          <p:nvPr/>
        </p:nvSpPr>
        <p:spPr>
          <a:xfrm>
            <a:off x="7086600" y="5824179"/>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R4 / Q4 — the exact form</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SOLVE Q4 AND Q5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Find the trigger · spot the paraphrase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الرَّابِعُ وَالخَامِسُ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630936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Q4 GAP-FILL · Q5 CROSS-TEXT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Q4 — cover the options. Look LEFT of the gap for the clue.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26080"/>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anna + a noun (a fact) → the verb stays -u · an / li-kay (an aim) → -a · law → the result takes la-.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675888"/>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Only now read the options — and reject the ones with the wrong ending.</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425696"/>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Q5 — underline the KEY IDEA of each statement, then find the text that says the same thing in other words (a paraphrase). One shared word is not enough.</a:t>
            </a:r>
            <a:endParaRPr lang="en-US" sz="1300" dirty="0"/>
          </a:p>
        </p:txBody>
      </p:sp>
      <p:sp>
        <p:nvSpPr>
          <p:cNvPr id="29" name="Shape 26"/>
          <p:cNvSpPr/>
          <p:nvPr/>
        </p:nvSpPr>
        <p:spPr>
          <a:xfrm>
            <a:off x="6949440" y="1810512"/>
            <a:ext cx="478231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FROM TEXT 2</a:t>
            </a:r>
            <a:endParaRPr lang="en-US" sz="1000" dirty="0"/>
          </a:p>
        </p:txBody>
      </p:sp>
      <p:sp>
        <p:nvSpPr>
          <p:cNvPr id="31" name="Text 28"/>
          <p:cNvSpPr txBox="1"/>
          <p:nvPr/>
        </p:nvSpPr>
        <p:spPr>
          <a:xfrm>
            <a:off x="7086600" y="2194560"/>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صَحِيحٌ أَنَّ الوَقْتَ مَحْدُودٌ</a:t>
            </a:r>
            <a:endParaRPr lang="ar-SA" sz="2600" dirty="0"/>
          </a:p>
        </p:txBody>
      </p:sp>
      <p:sp>
        <p:nvSpPr>
          <p:cNvPr id="32" name="Text 29"/>
          <p:cNvSpPr txBox="1"/>
          <p:nvPr/>
        </p:nvSpPr>
        <p:spPr>
          <a:xfrm>
            <a:off x="7086600" y="2761244"/>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anna → a fact → -un / -u</a:t>
            </a:r>
            <a:endParaRPr lang="en-US" sz="1100" dirty="0"/>
          </a:p>
        </p:txBody>
      </p:sp>
      <p:sp>
        <p:nvSpPr>
          <p:cNvPr id="33" name="Shape 30"/>
          <p:cNvSpPr/>
          <p:nvPr/>
        </p:nvSpPr>
        <p:spPr>
          <a:xfrm>
            <a:off x="7132320" y="3188208"/>
            <a:ext cx="4416552" cy="0"/>
          </a:xfrm>
          <a:prstGeom prst="line">
            <a:avLst/>
          </a:prstGeom>
          <a:noFill/>
          <a:ln w="9525">
            <a:solidFill>
              <a:srgbClr val="E4DCCB"/>
            </a:solidFill>
            <a:prstDash val="dash"/>
          </a:ln>
        </p:spPr>
      </p:sp>
      <p:sp>
        <p:nvSpPr>
          <p:cNvPr id="34" name="Text 31"/>
          <p:cNvSpPr txBox="1"/>
          <p:nvPr/>
        </p:nvSpPr>
        <p:spPr>
          <a:xfrm>
            <a:off x="7086600" y="3206496"/>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يَتَطَلَّبُ الأَمْرُ أَنْ تُنَظِّمَ</a:t>
            </a:r>
            <a:endParaRPr lang="ar-SA" sz="2600" dirty="0"/>
          </a:p>
        </p:txBody>
      </p:sp>
      <p:sp>
        <p:nvSpPr>
          <p:cNvPr id="35" name="Text 32"/>
          <p:cNvSpPr txBox="1"/>
          <p:nvPr/>
        </p:nvSpPr>
        <p:spPr>
          <a:xfrm>
            <a:off x="7086600" y="3773180"/>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 an aim → -a</a:t>
            </a:r>
            <a:endParaRPr lang="en-US" sz="1100" dirty="0"/>
          </a:p>
        </p:txBody>
      </p:sp>
      <p:sp>
        <p:nvSpPr>
          <p:cNvPr id="36" name="Shape 33"/>
          <p:cNvSpPr/>
          <p:nvPr/>
        </p:nvSpPr>
        <p:spPr>
          <a:xfrm>
            <a:off x="7132320" y="4200144"/>
            <a:ext cx="4416552" cy="0"/>
          </a:xfrm>
          <a:prstGeom prst="line">
            <a:avLst/>
          </a:prstGeom>
          <a:noFill/>
          <a:ln w="9525">
            <a:solidFill>
              <a:srgbClr val="E4DCCB"/>
            </a:solidFill>
            <a:prstDash val="dash"/>
          </a:ln>
        </p:spPr>
      </p:sp>
      <p:sp>
        <p:nvSpPr>
          <p:cNvPr id="37" name="Text 34"/>
          <p:cNvSpPr txBox="1"/>
          <p:nvPr/>
        </p:nvSpPr>
        <p:spPr>
          <a:xfrm>
            <a:off x="7086600" y="4218432"/>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لَوْ شَارَكَ …، لَتَغَيَّرَتْ</a:t>
            </a:r>
            <a:endParaRPr lang="ar-SA" sz="2600" dirty="0"/>
          </a:p>
        </p:txBody>
      </p:sp>
      <p:sp>
        <p:nvSpPr>
          <p:cNvPr id="38" name="Text 35"/>
          <p:cNvSpPr txBox="1"/>
          <p:nvPr/>
        </p:nvSpPr>
        <p:spPr>
          <a:xfrm>
            <a:off x="7086600" y="4785116"/>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law → la- + past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WEBSITE R3 CARD</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R3 asks WHY the writer made a language choice — a conditional, a trigger or a concession. This decides whether you score 35 or 45.</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 GROUPS 1–2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Notices and short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إِعْلَانٌ: تُغْلَقُ المَكْتَبَةُ فِي السَّاعَةِ الثَّامِنَةِ مَسَاءً. يُمْنَعُ إِدْخَالُ الطَّعَامِ. لِاسْتِعَارَةِ الكُتُبِ، يَجِبُ إِبْرَازُ البِطَاقَةِ. وَتُقَامُ حَلْقَةُ قِرَاءَةٍ كُلَّ خَمِيسٍ فِي السَّاعَةِ الرَّابِعَةِ.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إِعْلَانٌ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notice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تُغْلَقُ</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closes, is closed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يُمْنَعُ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forbidden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إِدْخَالُ الطَّعَامِ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bringing in food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اسْتِعَارَةِ الكُتُبِ</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borrowing books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إِبْرَازُ البِطَاقَةِ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showing the card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تُقَامُ</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حَلْقَةُ قِرَاءَةٍ</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reading circle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1 — NOTICES AND SHORT TEXT (4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Factual comprehension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library close?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4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close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8 p.m.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Bringing in food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books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Borrowing books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required to borrow books?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Paying a fee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Showing the card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reading circle held?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Thursday at 4</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Friday at 8</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1–2: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library close?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4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close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8 p.m.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تُغْلَقُ المَكْتَبَةُ فِي السَّاعَةِ الثَّامِنَةِ مَسَاءً.</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Bringing in food</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books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Borrowing books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يُمْنَعُ إِدْخَالُ الطَّعَامِ.</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required to borrow books?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Paying a fee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Showing the card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لِاسْتِعَارَةِ الكُتُبِ، يَجِبُ إِبْرَازُ البِطَاقَةِ.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reading circle held?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Thursday at 4</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Friday at 8</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تُقَامُ حَلْقَةُ قِرَاءَةٍ كُلَّ خَمِيسٍ فِي السَّاعَةِ الرَّابِعَةِ.</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 GROUPS 3–4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R1–R4 + Q4 gap-fill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العَمَلَ التَّطَوُّعِيَّ يُقَوِّي رَوَابِطَ المُجْتَمَعِ. صَحِيحٌ أَنَّ الوَقْتَ مَحْدُودٌ لَدَى الطُّلَّابِ، غَيْرَ أَنَّ سَاعَةً وَاحِدَةً أُسْبُوعِيًّا تَصْنَعُ فَرْقًا. وَيَتَطَلَّبُ الأَمْرُ أَنْ تُنَظِّمَ المَدَارِسُ بَرَامِجَ تَطَوُّعٍ. وَلَوْ شَارَكَ كُلُّ طَالِبٍ، لَتَغَيَّرَتِ الأَحْيَاءُ.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العَمَلَ التَّطَوُّعِيَّ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volunteering</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يُقَوِّي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strengthens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رَوَابِطَ المُجْتَمَعِ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community bonds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مَحْدُودٌ</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limited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أُسْبُوعِيًّا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weekly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تَصْنَعُ فَرْقًا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makes a difference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بَرَامِجَ تَطَوُّعٍ</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volunteering programmes</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الأَحْيَاءُ</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neighbourhoods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2 — R1–R4 + Q4 GAP-FILL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Comprehend, then choose the correct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main idea?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Volunteering wastes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Volunteering strengthens community bonds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Schools should close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How much time makes a difference, per the text?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 a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hours a 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time at all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purpose of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 مَحْدُودٌ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state the writer's conclusion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report a statistic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concede a real objection before answering it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a:t>
            </a:r>
            <a:pPr algn="l" indent="0" marL="0">
              <a:buNone/>
            </a:pPr>
            <a:r>
              <a:rPr lang="en-US" sz="1250" b="1" dirty="0">
                <a:solidFill>
                  <a:srgbClr val="1B3B6F"/>
                </a:solidFill>
                <a:latin typeface="Calibri" pitchFamily="34" charset="0"/>
                <a:ea typeface="Calibri" pitchFamily="34" charset="-122"/>
                <a:cs typeface="Calibri" pitchFamily="34" charset="-120"/>
              </a:rPr>
              <a:t> …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يَكُونَ مَحْدُودًا</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مَحْدُودٌ</a:t>
            </a:r>
            <a:pPr algn="l" indent="0" marL="0">
              <a:buNone/>
            </a:pPr>
            <a:r>
              <a:rPr lang="en-US" sz="1250" dirty="0">
                <a:solidFill>
                  <a:srgbClr val="1F2A37"/>
                </a:solidFill>
                <a:latin typeface="Calibri" pitchFamily="34" charset="0"/>
                <a:ea typeface="Calibri" pitchFamily="34" charset="-122"/>
                <a:cs typeface="Calibri" pitchFamily="34" charset="-120"/>
              </a:rPr>
              <a:t> (indicative situation)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كَانَ مَحْدُودًا لَـ</a:t>
            </a:r>
            <a:pPr algn="l" indent="0" marL="0">
              <a:buNone/>
            </a:pPr>
            <a:r>
              <a:rPr lang="en-US" sz="1250" dirty="0">
                <a:solidFill>
                  <a:srgbClr val="1F2A37"/>
                </a:solidFill>
                <a:latin typeface="Calibri" pitchFamily="34" charset="0"/>
                <a:ea typeface="Calibri" pitchFamily="34" charset="-122"/>
                <a:cs typeface="Calibri" pitchFamily="34" charset="-120"/>
              </a:rPr>
              <a:t> (Type 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 بَرَامِجَ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تُنَظِّمُ</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تُنَظِّمَ</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نَظَّمَتْ</a:t>
            </a:r>
            <a:pPr algn="l" indent="0" marL="0">
              <a:buNone/>
            </a:pPr>
            <a:r>
              <a:rPr lang="en-US" sz="1250" dirty="0">
                <a:solidFill>
                  <a:srgbClr val="1F2A37"/>
                </a:solidFill>
                <a:latin typeface="Calibri" pitchFamily="34" charset="0"/>
                <a:ea typeface="Calibri" pitchFamily="34" charset="-122"/>
                <a:cs typeface="Calibri" pitchFamily="34" charset="-120"/>
              </a:rPr>
              <a:t> (past)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لَوْ شَارَكَ كُلُّ 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الأَحْيَاءُ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سَتَتَغَيَّرُ</a:t>
            </a:r>
            <a:pPr algn="l" indent="0" marL="0">
              <a:buNone/>
            </a:pPr>
            <a:r>
              <a:rPr lang="en-US" sz="1250" dirty="0">
                <a:solidFill>
                  <a:srgbClr val="1F2A37"/>
                </a:solidFill>
                <a:latin typeface="Calibri" pitchFamily="34" charset="0"/>
                <a:ea typeface="Calibri" pitchFamily="34" charset="-122"/>
                <a:cs typeface="Calibri" pitchFamily="34" charset="-120"/>
              </a:rPr>
              <a:t> (Type 1 result)</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تَتَغَيَّرُ</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لَتَغَيَّرَتِ</a:t>
            </a:r>
            <a:pPr algn="l" indent="0" marL="0">
              <a:buNone/>
            </a:pPr>
            <a:r>
              <a:rPr lang="en-US" sz="1250" dirty="0">
                <a:solidFill>
                  <a:srgbClr val="1F2A37"/>
                </a:solidFill>
                <a:latin typeface="Calibri" pitchFamily="34" charset="0"/>
                <a:ea typeface="Calibri" pitchFamily="34" charset="-122"/>
                <a:cs typeface="Calibri" pitchFamily="34" charset="-120"/>
              </a:rPr>
              <a:t> (Type 2 result)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3–4: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main idea?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Volunteering wastes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Volunteering strengthens community bonds</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Schools should close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يُشَارُ إِلَى أَنَّ العَمَلَ التَّطَوُّعِيَّ يُقَوِّي رَوَابِطَ المُجْتَمَعِ.</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How much time makes a difference, per the text?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 a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hours a day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time at all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سَاعَةً وَاحِدَةً أُسْبُوعِيًّا تَصْنَعُ فَرْقًا.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purpose of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 مَحْدُودٌ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state the writer's conclusion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report a statistic</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concede a real objection before answering it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concession admits the opposing point before the refutation.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الوَقْتَ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a:t>
            </a:r>
            <a:pPr algn="l" indent="0" marL="0">
              <a:buNone/>
            </a:pPr>
            <a:r>
              <a:rPr lang="en-US" sz="1250" b="1" dirty="0">
                <a:solidFill>
                  <a:srgbClr val="1B3B6F"/>
                </a:solidFill>
                <a:latin typeface="Calibri" pitchFamily="34" charset="0"/>
                <a:ea typeface="Calibri" pitchFamily="34" charset="-122"/>
                <a:cs typeface="Calibri" pitchFamily="34" charset="-120"/>
              </a:rPr>
              <a:t> …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يَكُونَ مَحْدُودًا</a:t>
            </a:r>
            <a:pPr algn="l" indent="0" marL="0">
              <a:buNone/>
            </a:pPr>
            <a:r>
              <a:rPr lang="en-US" sz="1250" dirty="0">
                <a:solidFill>
                  <a:srgbClr val="9AA1AB"/>
                </a:solidFill>
                <a:latin typeface="Calibri" pitchFamily="34" charset="0"/>
                <a:ea typeface="Calibri" pitchFamily="34" charset="-122"/>
                <a:cs typeface="Calibri" pitchFamily="34" charset="-120"/>
              </a:rPr>
              <a:t> (subjunctive)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مَحْدُودٌ</a:t>
            </a:r>
            <a:pPr algn="l" indent="0" marL="0">
              <a:buNone/>
            </a:pPr>
            <a:r>
              <a:rPr lang="en-US" sz="1250" b="1" dirty="0">
                <a:solidFill>
                  <a:srgbClr val="1F2A37"/>
                </a:solidFill>
                <a:latin typeface="Calibri" pitchFamily="34" charset="0"/>
                <a:ea typeface="Calibri" pitchFamily="34" charset="-122"/>
                <a:cs typeface="Calibri" pitchFamily="34" charset="-120"/>
              </a:rPr>
              <a:t> (indicative situation)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كَانَ مَحْدُودًا لَـ</a:t>
            </a:r>
            <a:pPr algn="l" indent="0" marL="0">
              <a:buNone/>
            </a:pPr>
            <a:r>
              <a:rPr lang="en-US" sz="1250" dirty="0">
                <a:solidFill>
                  <a:srgbClr val="9AA1AB"/>
                </a:solidFill>
                <a:latin typeface="Calibri" pitchFamily="34" charset="0"/>
                <a:ea typeface="Calibri" pitchFamily="34" charset="-122"/>
                <a:cs typeface="Calibri" pitchFamily="34" charset="-120"/>
              </a:rPr>
              <a:t> (Type 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clause describes a real situation — the indicative.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 بَرَامِجَ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تُنَظِّمُ</a:t>
            </a:r>
            <a:pPr algn="l" indent="0" marL="0">
              <a:buNone/>
            </a:pPr>
            <a:r>
              <a:rPr lang="en-US" sz="1250" dirty="0">
                <a:solidFill>
                  <a:srgbClr val="9AA1AB"/>
                </a:solidFill>
                <a:latin typeface="Calibri" pitchFamily="34" charset="0"/>
                <a:ea typeface="Calibri" pitchFamily="34" charset="-122"/>
                <a:cs typeface="Calibri" pitchFamily="34" charset="-120"/>
              </a:rPr>
              <a:t> (indicative)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تُنَظِّمَ</a:t>
            </a:r>
            <a:pPr algn="l" indent="0" marL="0">
              <a:buNone/>
            </a:pPr>
            <a:r>
              <a:rPr lang="en-US" sz="1250" b="1"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نَظَّمَتْ</a:t>
            </a:r>
            <a:pPr algn="l" indent="0" marL="0">
              <a:buNone/>
            </a:pPr>
            <a:r>
              <a:rPr lang="en-US" sz="1250" dirty="0">
                <a:solidFill>
                  <a:srgbClr val="9AA1AB"/>
                </a:solidFill>
                <a:latin typeface="Calibri" pitchFamily="34" charset="0"/>
                <a:ea typeface="Calibri" pitchFamily="34" charset="-122"/>
                <a:cs typeface="Calibri" pitchFamily="34" charset="-120"/>
              </a:rPr>
              <a:t> (past)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(with </a:t>
            </a:r>
            <a:pPr algn="l" indent="0" marL="0">
              <a:buNone/>
            </a:pPr>
            <a:r>
              <a:rPr lang="ar-SA" altLang="en-US" sz="1350" dirty="0">
                <a:solidFill>
                  <a:srgbClr val="8A6D1E"/>
                </a:solidFill>
                <a:latin typeface="Amiri" pitchFamily="34" charset="0"/>
                <a:ea typeface="Amiri" pitchFamily="34" charset="-122"/>
                <a:cs typeface="Amiri" pitchFamily="34" charset="-120"/>
              </a:rPr>
              <a:t>يَتَطَلَّبُ</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تُنَظِّمَ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لَوْ شَارَكَ كُلُّ 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الأَحْيَاءُ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سَتَتَغَيَّرُ</a:t>
            </a:r>
            <a:pPr algn="l" indent="0" marL="0">
              <a:buNone/>
            </a:pPr>
            <a:r>
              <a:rPr lang="en-US" sz="1250" dirty="0">
                <a:solidFill>
                  <a:srgbClr val="9AA1AB"/>
                </a:solidFill>
                <a:latin typeface="Calibri" pitchFamily="34" charset="0"/>
                <a:ea typeface="Calibri" pitchFamily="34" charset="-122"/>
                <a:cs typeface="Calibri" pitchFamily="34" charset="-120"/>
              </a:rPr>
              <a:t> (Type 1 result)</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تَتَغَيَّرُ</a:t>
            </a:r>
            <a:pPr algn="l" indent="0" marL="0">
              <a:buNone/>
            </a:pPr>
            <a:r>
              <a:rPr lang="en-US" sz="1250" dirty="0">
                <a:solidFill>
                  <a:srgbClr val="9AA1AB"/>
                </a:solidFill>
                <a:latin typeface="Calibri" pitchFamily="34" charset="0"/>
                <a:ea typeface="Calibri" pitchFamily="34" charset="-122"/>
                <a:cs typeface="Calibri" pitchFamily="34" charset="-120"/>
              </a:rPr>
              <a:t> (indicative)</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لَتَغَيَّرَتِ</a:t>
            </a:r>
            <a:pPr algn="l" indent="0" marL="0">
              <a:buNone/>
            </a:pPr>
            <a:r>
              <a:rPr lang="en-US" sz="1250" b="1" dirty="0">
                <a:solidFill>
                  <a:srgbClr val="1F2A37"/>
                </a:solidFill>
                <a:latin typeface="Calibri" pitchFamily="34" charset="0"/>
                <a:ea typeface="Calibri" pitchFamily="34" charset="-122"/>
                <a:cs typeface="Calibri" pitchFamily="34" charset="-120"/>
              </a:rPr>
              <a:t> (Type 2 result)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a:t>
            </a:r>
            <a:pPr algn="l" indent="0" marL="0">
              <a:buNone/>
            </a:pPr>
            <a:r>
              <a:rPr lang="ar-SA" altLang="en-US" sz="1350" dirty="0">
                <a:solidFill>
                  <a:srgbClr val="8A6D1E"/>
                </a:solidFill>
                <a:latin typeface="Amiri" pitchFamily="34" charset="0"/>
                <a:ea typeface="Amiri" pitchFamily="34" charset="-122"/>
                <a:cs typeface="Amiri" pitchFamily="34" charset="-120"/>
              </a:rPr>
              <a:t>لَتَغَيَّرَتْ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 GROUPS 5–6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Text 3 — R3 analysis + Q5 cross-text matching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يَرَى الكَاتِبُ أَنَّ القِرَاءَةَ الحُرَّةَ تُنَمِّي الخَيَالَ أَكْثَرَ مِنَ الشَّاشَاتِ. لَا يُمْكِنُ إِنْكَارُ أَنَّ التِّقْنِيَّةَ مُفِيدَةٌ، غَيْرَ أَنَّ الإِفْرَاطَ فِيهَا يُضْعِفُ التَّرْكِيزَ. وَبِنَاءً عَلَى مَا سَبَقَ، يَنْبَغِي أَنْ نُوَازِنَ بَيْنَ الكِتَابِ وَالشَّاشَةِ.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يَرَى الكَاتِبُ</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writer believes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القِرَاءَةَ الحُرَّةَ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free (leisure) reading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تُنَمِّي الخَيَالَ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develops the imagination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يُمْكِنُ إِنْكَارُ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cannot be denied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الإِفْرَاطَ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excess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يُضْعِفُ التَّرْكِيزَ</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weakens concentration</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نُوَازِنَ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(that) we balance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READING · TEXT 3 — R3 ANALYSIS + Q5 CROSS-TEXT MATCHING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Deep analysis and cross-text matching</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writer's attitude to technology?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Wholly negative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Wholly positive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useful but harmful in excess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 before a counter-claim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argument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synthesising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quotation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“Free reading develops the imagination.” Which text?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“Volunteering strengthens community bonds.” Which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“The library closes at eight in the evening.” Which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5–6: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writer's attitude to technology?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Wholly negative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Wholly positive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Balanced: useful but harmful in excess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لَا يُمْكِنُ إِنْكَارُ أَنَّ التِّقْنِيَّةَ مُفِيدَةٌ، غَيْرَ أَنَّ الإِفْرَاطَ فِيهَا يُضْعِفُ التَّرْكِيزَ.</a:t>
            </a:r>
            <a:endParaRPr lang="ar-SA"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conclusion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concession before a counter-claim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concedes a difficult point before the writer makes the stronger claim.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mark?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argument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synthesising conclusion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quotation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“Free reading develops the imagination.” Which text?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3: </a:t>
            </a:r>
            <a:pPr algn="l" indent="0" marL="0">
              <a:buNone/>
            </a:pPr>
            <a:r>
              <a:rPr lang="ar-SA" altLang="en-US" sz="1350" dirty="0">
                <a:solidFill>
                  <a:srgbClr val="8A6D1E"/>
                </a:solidFill>
                <a:latin typeface="Amiri" pitchFamily="34" charset="0"/>
                <a:ea typeface="Amiri" pitchFamily="34" charset="-122"/>
                <a:cs typeface="Amiri" pitchFamily="34" charset="-120"/>
              </a:rPr>
              <a:t>القِرَاءَةُ الحُرَّةُ تُنَمِّي الخَيَالَ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“Volunteering strengthens community bonds.” Which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1</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3</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2: </a:t>
            </a:r>
            <a:pPr algn="l" indent="0" marL="0">
              <a:buNone/>
            </a:pPr>
            <a:r>
              <a:rPr lang="ar-SA" altLang="en-US" sz="1350" dirty="0">
                <a:solidFill>
                  <a:srgbClr val="8A6D1E"/>
                </a:solidFill>
                <a:latin typeface="Amiri" pitchFamily="34" charset="0"/>
                <a:ea typeface="Amiri" pitchFamily="34" charset="-122"/>
                <a:cs typeface="Amiri" pitchFamily="34" charset="-120"/>
              </a:rPr>
              <a:t>العَمَلُ التَّطَوُّعِيُّ يُقَوِّي رَوَابِطَ المُجْتَمَعِ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“The library closes at eight in the evening.” Which text?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2</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1</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3</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1: </a:t>
            </a:r>
            <a:pPr algn="l" indent="0" marL="0">
              <a:buNone/>
            </a:pPr>
            <a:r>
              <a:rPr lang="ar-SA" altLang="en-US" sz="1350" dirty="0">
                <a:solidFill>
                  <a:srgbClr val="8A6D1E"/>
                </a:solidFill>
                <a:latin typeface="Amiri" pitchFamily="34" charset="0"/>
                <a:ea typeface="Amiri" pitchFamily="34" charset="-122"/>
                <a:cs typeface="Amiri" pitchFamily="34" charset="-120"/>
              </a:rPr>
              <a:t>تُغْلَقُ المَكْتَبَةُ فِي السَّاعَةِ الثَّامِنَةِ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WRITE AN R3 ANSWER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gap-fills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three Text 2 gap-fill sentences with the correct form, and circle the trigger in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Look left of the gap: anna / an / law?</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2 R3 answers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 English: why does the writer of Text 3 use lā yumkinu inkāru anna? Why wa-bināʾan ʿalā mā sabaqa? Quote the Arabic.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the structure · say what it does · quote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40–50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 Arabic: an R3 analysis of Text 3 — the writer’s attitude and the two structures that show 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يَدُلُّ … عَلَى أَنَّ … · لِذٰلِكَ أَرَى أَنَّ مَوْقِفَهُ مُتَوَازِنٌ.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R3 FRAMES AND WORD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R3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الكَاتِبُ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believes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«لَا يُمْكِنُ إِنْكَارُ أَنَّ» يَدُلُّ عَلَى أَنَّ الكَاتِبَ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“lā yumkinu inkāru anna” shows that the writer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«وَبِنَاءً عَلَى مَا سَبَقَ» تَفْتَحُ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“wa-bināʾan ʿalā mā sabaqa” opens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أَرَى أَنَّ مَوْقِفَهُ مُتَوَازِنٌ.</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I think his position is balanced.</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المُسَبِّبُ فِي الجُمْلَةِ هُوَ «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trigger in the sentence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يَنْتَهِي الفِعْلُ بِالفَتْحَةِ: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the verb ends in -a: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«صَحِيحٌ أَنَّ» نَجِدُ وَاقِعًا: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ṣaḥīḥun anna the clause is a fact: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جَوَابُ «لَوْ» يَبْدَأُ بِاللَّامِ: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law takes a la- result: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أَنْ تُنَظِّمَ  ·  لَتَغَيَّرَتْ  ·  مَحْدُودٌ  ·  يَتَطَلَّبُ  ·  القِرَاءَةَ الحُرَّةَ تُنَمِّي الخَيَالَ  ·  يُسَلِّمُ بِفَائِدَةِ التِّقْنِيَّةِ  ·  قَبْلَ أَنْ يَرُدَّ  ·  الخَاتِمَةَ  ·  مُتَوَازِنٌ  ·  أُحَادِيٌّ  ·  الإِفْرَاطَ  ·  التَّرْكِيزَ</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A MODEL R3 ANSWER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strong R3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يَرَى الكَاتِبُ أَنَّ القِرَاءَةَ الحُرَّةَ تُنَمِّي الخَيَالَ أَكْثَرَ مِنَ الشَّاشَاتِ. وَعِبَارَةُ «لَا يُمْكِنُ إِنْكَارُ أَنَّ التِّقْنِيَّةَ مُفِيدَةٌ» تَدُلُّ عَلَى أَنَّهُ يُسَلِّمُ بِفَائِدَةِ التِّقْنِيَّةِ قَبْلَ أَنْ يَرُدَّ بِـ«غَيْرَ أَنَّ». ثُمَّ تَفْتَحُ «وَبِنَاءً عَلَى مَا سَبَقَ» الخَاتِمَةَ. لِذٰلِكَ أَرَى أَنَّ مَوْقِفَهُ مُتَوَازِنٌ لَا أُحَادِيٌّ.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writer believes that free reading develops the imagination more than screens. The phrase “it cannot be denied that technology is useful” shows that he concedes the benefit of technology before replying with “however”. Then “based on the above” opens the conclusion. So I think his position is balanced, not one-sided.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writer’s view (yarā)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concession and its job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conclusion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verdict: balanced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PERFORMANCE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performance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تَحْلِيلُ الأَدَاءِ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773168" y="2267712"/>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R1 / R2 / R3 / R4</a:t>
            </a:r>
            <a:endParaRPr lang="en-US" sz="1100" dirty="0"/>
          </a:p>
        </p:txBody>
      </p:sp>
      <p:sp>
        <p:nvSpPr>
          <p:cNvPr id="22" name="Text 19"/>
          <p:cNvSpPr txBox="1"/>
          <p:nvPr/>
        </p:nvSpPr>
        <p:spPr>
          <a:xfrm>
            <a:off x="56692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Weakest R level (R1 / R2 / R3 / R4)</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773168" y="300471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26" name="Text 23"/>
          <p:cNvSpPr txBox="1"/>
          <p:nvPr/>
        </p:nvSpPr>
        <p:spPr>
          <a:xfrm>
            <a:off x="56692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Q4 gap-fill accuracy (out of 3)</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773168" y="3741725"/>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0" name="Text 27"/>
          <p:cNvSpPr txBox="1"/>
          <p:nvPr/>
        </p:nvSpPr>
        <p:spPr>
          <a:xfrm>
            <a:off x="56692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Q5 cross-text accuracy (out of 3)</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773168" y="4478731"/>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find the trigger first, I will cover the options</a:t>
            </a:r>
            <a:endParaRPr lang="en-US" sz="1100" dirty="0"/>
          </a:p>
        </p:txBody>
      </p:sp>
      <p:sp>
        <p:nvSpPr>
          <p:cNvPr id="34" name="Text 31"/>
          <p:cNvSpPr txBox="1"/>
          <p:nvPr/>
        </p:nvSpPr>
        <p:spPr>
          <a:xfrm>
            <a:off x="56692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Q4 improvement action</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477316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spot the paraphrase, I will underline the key idea</a:t>
            </a:r>
            <a:endParaRPr lang="en-US" sz="1100" dirty="0"/>
          </a:p>
        </p:txBody>
      </p:sp>
      <p:sp>
        <p:nvSpPr>
          <p:cNvPr id="38" name="Text 35"/>
          <p:cNvSpPr txBox="1"/>
          <p:nvPr/>
        </p:nvSpPr>
        <p:spPr>
          <a:xfrm>
            <a:off x="56692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Q5 improvement action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Total …/16. Write your Q4 and Q5 actions under your Paper 2 target.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READING REFLECTION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R2 — I proved every fact with the text</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level</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R level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Q4 — covering the options first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practice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mock I will practise…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المَعْنَى العَامُّ</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level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أَقْوَى مُسْتَوًى عِنْدِي هُوَ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My Paper 2 priority — write it under your Paper 2 target.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located the thesis (R1) and proved facts from the text (R2).</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matched each Q5 statement to its text by its key idea.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-u after ṣaḥīḥun anna and -a after a trigger in Q4.</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analysed attitude, register and purpose for R3.</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an R3 answer that names the structure, its job and the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P6-L03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P6-L04 · Paper 4 Q1 — Directed Writing: Mastering Form and Register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الكِتَابَةُ المُوَجَّهَةُ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directed writing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خِطَابٌ رَسْمِيٌّ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formal letter</a:t>
            </a:r>
            <a:pPr indent="0" marL="0">
              <a:buNone/>
            </a:pPr>
            <a:r>
              <a:rPr lang="en-US" sz="1000" i="1" dirty="0">
                <a:solidFill>
                  <a:srgbClr val="5A6472"/>
                </a:solidFill>
                <a:latin typeface="Calibri" pitchFamily="34" charset="0"/>
                <a:ea typeface="Calibri" pitchFamily="34" charset="-122"/>
                <a:cs typeface="Calibri" pitchFamily="34" charset="-120"/>
              </a:rPr>
              <a:t>  pl. خِطَابَاتٌ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صِيغَةٌ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formal register</a:t>
            </a:r>
            <a:pPr indent="0" marL="0">
              <a:buNone/>
            </a:pPr>
            <a:r>
              <a:rPr lang="en-US" sz="1000" i="1" dirty="0">
                <a:solidFill>
                  <a:srgbClr val="5A6472"/>
                </a:solidFill>
                <a:latin typeface="Calibri" pitchFamily="34" charset="0"/>
                <a:ea typeface="Calibri" pitchFamily="34" charset="-122"/>
                <a:cs typeface="Calibri" pitchFamily="34" charset="-120"/>
              </a:rPr>
              <a:t>  ≠ غَيْرُ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أَتَشَرَّفُ بِمُخَاطَبَتِكُمْ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the honour of writing to you</a:t>
            </a:r>
            <a:pPr indent="0" marL="0">
              <a:buNone/>
            </a:pPr>
            <a:r>
              <a:rPr lang="en-US" sz="1000" i="1" dirty="0">
                <a:solidFill>
                  <a:srgbClr val="5A6472"/>
                </a:solidFill>
                <a:latin typeface="Calibri" pitchFamily="34" charset="0"/>
                <a:ea typeface="Calibri" pitchFamily="34" charset="-122"/>
                <a:cs typeface="Calibri" pitchFamily="34" charset="-120"/>
              </a:rPr>
              <a:t>  formal opener</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وَتَفَضَّلُوا بِقَبُولِ الاحْتِرَامِ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yours faithfully</a:t>
            </a:r>
            <a:pPr indent="0" marL="0">
              <a:buNone/>
            </a:pPr>
            <a:r>
              <a:rPr lang="en-US" sz="1000" i="1" dirty="0">
                <a:solidFill>
                  <a:srgbClr val="5A6472"/>
                </a:solidFill>
                <a:latin typeface="Calibri" pitchFamily="34" charset="0"/>
                <a:ea typeface="Calibri" pitchFamily="34" charset="-122"/>
                <a:cs typeface="Calibri" pitchFamily="34" charset="-120"/>
              </a:rPr>
              <a:t>  formal closer</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does a letter to a minister begin differently from a message to a friend?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أَبْدَأُ الخِطَابَ الرَّسْمِيَّ بِعِبَارَةِ «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Q4 gap-fills and Q5 matches you missed;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R3 answer on Text 2 (why ṣaḥīḥun anna?);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your 40–50-word Arabic R3 analysis;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P6-L04 · Paper 4 Q1 — Directed Writing: Mastering Form and Register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الرَّابِعَةُ — الكِتَابَةُ المُوَجَّهَةُ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climb the ladder — R1 main idea · R2 facts · R3 WHY the writer chose it · R4 the exact answer. Q4: find the trigger first. Q5: match the meaning, not one word.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P6-L03 · Paper 2 Reading — Full Format Practice and R1–R4 Mastery</dc:title>
  <dc:subject>PptxGenJS Presentation</dc:subject>
  <dc:creator>Al Madina Online School · Arabic Department</dc:creator>
  <cp:lastModifiedBy>Al Madina Online School · Arabic Department</cp:lastModifiedBy>
  <cp:revision>1</cp:revision>
  <dcterms:created xsi:type="dcterms:W3CDTF">2026-10-11T03:31:09Z</dcterms:created>
  <dcterms:modified xsi:type="dcterms:W3CDTF">2026-10-11T03:31:09Z</dcterms:modified>
</cp:coreProperties>
</file>