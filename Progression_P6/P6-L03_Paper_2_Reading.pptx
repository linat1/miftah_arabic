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Map · 2–8 Do Now + answers · 8–9 Objectives · 9–13 Reading words · 13–16 The R1–R4 ladder · 16–20 Q4 and Q5 strategy (I Do) · 20–25 Text 1 · 25–33 Text 2 · 33–41 Text 3 · 41–50 Write an R3 answer · 50–53 Performance analysis · 53–58 Reflection + self-check · 58–60 Preparation.
FLEX slides are optional. Use them if the class is moving quickly; otherwise the same activities are on the website for homework.
Content source: Miftah Arabic website, Pathways › Progression › P6 IGCSE Bridge › P6-L03. The website P6-L03: the reading terminology (8 words), the R1–R4 hierarchy cards, three full-format texts (a library notice — Q Groups 1–2, 4 marks · a volunteering argument — R1–R4 + Q4 gap-fill, 6 marks · a reading-vs-screens opinion — R3 analysis + Q5 cross-text matching, 6 marks), the reading performance-analysis fields and the reflection frames.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FULL-FORMAT PRACTICE: one text at a time — read (about 2 min), answer, check. The green key-words panel on each text is a teacher-made glossary for Core students (in the real exam there is none).
• Core: Text 1 all, Text 2 questions 1–2 and 5, Text 3 questions 4–6 (Q5 matching) — then the three Q4 gap-fills in the writing task. Develop: all 16. Stretch: all 16 + a written Arabic R3 answer.
• The two big Paper 2 skills today: Q4 gap-fill = find the TRIGGER first (P5-L08); Q5 cross-text = match by MEANING (paraphrase), not by one shared word.
• Website R3 card: “R3 decides whether you score 35 or 45” — give it the most teaching time.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show the whole journey so students know when they will listen, read, speak or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P6-L02. Questions 4–5 retrieve the P5-L08 gap-fill rule — today it is tested as IGCSE Q4.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Paper 2 climbs a ladder: R1 the main idea → R2 the facts → R3 WHY the writer chose those words → R4 the exact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Left: the website objectives. Right: the same objectives broken into three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معنی and استنتاج are shared. Three traps: Urdu دلیل = an argument, but Arabic الدَّلِيلُ = the EVIDENCE; Urdu دقت = difficulty, but Arabic الدِّقَّةُ = ACCURACY; and مجہول — in Arabic المَجْهُولُ = unknown (الكَلِمَاتُ المَجْهُولَةُ = unknown words), and in grammar the passive (المَبْنِيُّ لِلْمَجْهُولِ).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R1–R4 hierarchy (website vocabulary (1 of 2)). Hear → Say → See → Use. Transliteration is printed for Core students (cover it for Develop/Stretch).
The R1–R4 ladder in Arabic: المَعْنَى العَامُّ (R1) → التَّفَاصِيلُ الوَاقِعِيَّةُ (R2) → الرَّأْيُ وَالمَوْقِفُ وَالأُسْلُوبُ (R3) → الاِخْتِيَارُ وَتَحْدِيدُ المَعْلُومَاتِ (R4). Every answer needs الأَدِلَّةُ النَّصِّيَّةُ — the words in the text that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R1–R4 hierarchy (website vocabulary (2 of 2)). Hear → Say → See → Use. Transliteration is printed for Core students (cover it for Develop/Stretch).
The R1–R4 ladder in Arabic: المَعْنَى العَامُّ (R1) → التَّفَاصِيلُ الوَاقِعِيَّةُ (R2) → الرَّأْيُ وَالمَوْقِفُ وَالأُسْلُوبُ (R3) → الاِخْتِيَارُ وَتَحْدِيدُ المَعْلُومَاتِ (R4). Every answer needs الأَدِلَّةُ النَّصِّيَّةُ — the words in the text that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 the website cards. R2 carries most marks; R3 separates 35 from 45. Ask: which level asks “why”? (R3).
WEBSITE CARDS “The R1–R4 hierarchy”: R1 — general meaning: Find the main idea. Surface level. · R2 — factual detail: Find specific facts. Most Paper 2 marks live here. · R3 — attitude and style: Analyse why the writer made a language choice — including a conditional, a subjunctive trigger or a concession. This decides whether you score 35 or 45. · R4 — select and identify: Choose the exact supported statement, and in Q4 the exact grammatical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(4 min) — think aloud on the three Text 2 gap-fills BEFORE students meet the text. Then model one Q5: “Volunteering strengthens community bonds” → which text talks about community and volunteering? (Text 2) — show that Text 3 also mentions people, but not this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WEBSITE TEXT — Text 1 — Notices and short text (4 marks). The green key-words panel is a teacher-made glossary for Core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TEXT 1 (website Q Groups 1–2, 4 marks) — R2 facts. Everyone answers all four. Note the passives (تُغْلَقُ · يُمْنَعُ · تُقَامُ) — typical of notices.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together. For each answer ask: which words in the text 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WEBSITE TEXT — Text 2 — R1–R4 + Q4 gap-fill (6 marks). The green key-words panel is a teacher-made glossary for Core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2 (website Q Groups 3–4, 6 marks): R1, R2, R3 and three Q4 gap-fills. Core: questions 1, 2 and 5. Develop / Stretch: all 6. After answering, students name the trigger for each gap-fill.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together. For each answer ask: which words in the text 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WEBSITE TEXT — Text 3 — R3 analysis + Q5 cross-text matching (6 marks). The green key-words panel is a teacher-made glossary for Core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TEXT 3 (website Q Groups 5–6, 6 marks): three R3 questions and three Q5 cross-text matches (all three texts). Core: questions 4–6. Develop / Stretch: all 6. For R3, insist on the WHY: لَا يُمْكِنُ إِنْكَارُ أَنَّ concedes before the stronger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together. For each answer ask: which words in the text 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(7 min). Live feedback: Stretch students post their first sentence after 3 minutes. Check anna + noun after يَدُلُّ عَلَى.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Frames for all three routes (Core = Q4 explanation frames; Develop / Stretch = R3 frames). Word bank from Texts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(teacher-written on the website Text 3) — show after writing. Students find the four chips, then add ONE missing element 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ANALYSIS (3 min) — website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(2 min) — the website frames, plus one Arabic line.
Website:  (My Paper 2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(P6-L04 · Paper 4 Q1 — Directed Writing: Mastering Form and Register) will spend class time USING this language, so students prepare it tonight — short, simple, easy to access (school guidance: “Simple, Short, Interesting, Relevant, Easy to access”). The five words come from the website P6-L04 vocabulary (text types and register).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P6  ·  P6-L03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P6-L03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Paper 2 Reading — Full Format Practice and R1–R4 Mastery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000" b="1" dirty="0">
                <a:solidFill>
                  <a:srgbClr val="D4AF37"/>
                </a:solidFill>
                <a:latin typeface="Amiri" pitchFamily="2" charset="-78"/>
                <a:ea typeface="Amiri" pitchFamily="2" charset="-78"/>
                <a:cs typeface="Amiri" pitchFamily="2" charset="-78"/>
              </a:rPr>
              <a:t>الوَرَقَةُ الثَّانِيَةُ — القِرَاءَةُ: تَدْرِيبٌ كَامِلٌ وَإِتْقَانُ المُسْتَوَيَاتِ</a:t>
            </a:r>
            <a:endParaRPr lang="ar-SA" sz="30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Sit three full-format Paper 2 texts with the R1–R4 ladder — main idea, facts, the writer’s choices, the exact answer — master the Q4 gap-fill (find the trigger first) and the Q5 cross-text match (spot the paraphrase).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P6-L03 · Progression P6 · IGCSE Bridge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P6 › P6-L03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reading words and the gap-fill rule.</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words and the R1–R4 ladder.</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المُسْتَوَيَاتُ</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solve a Q4 gap-fill and a Q5 match.</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21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Three full-format texts.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النُّصُوصُ الثَّلَاثَةُ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Write an R3 answer · analyse your score.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reflection and self-check.</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directed writing.</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This is an exam-preparation lesson. Every task uses the real IGCSE format — Core students use the green boxes, frames and English support; nobody is expected to get everything right first time.</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المَعْنَى العَامُّ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factual detail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general meaning (R1)</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unknown word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الأَدِلَّةُ النَّصِّيَّةُ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textual evidence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messages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text title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اسْتِنْتَاجُ الكَلِمَاتِ المَجْهُولَةِ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translating every word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learning new words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deducing unknown words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ea typeface="Amiri" pitchFamily="2" charset="-78"/>
                <a:cs typeface="Amiri" pitchFamily="2" charset="-78"/>
              </a:rPr>
              <a:t>صَحِيحٌ أَنَّ الدَّوْلَةَ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إِجْرَاءَاتٍ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تَتَّخِذَ</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تَتَّخِذْ</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تَتَّخِذُ</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الحُكُومَاتُ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تَتَحَرَّكَ</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تَتَحَرَّكُ</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تَحَرَّكَتْ</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المَعْنَى العَامُّ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factual detail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general meaning (R1)</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unknown word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الأَدِلَّةُ النَّصِّيَّةُ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textual evidence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text messages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text title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اسْتِنْتَاجُ الكَلِمَاتِ المَجْهُولَةِ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translating every word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learning new words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deducing unknown words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ea typeface="Amiri" pitchFamily="2" charset="-78"/>
                <a:cs typeface="Amiri" pitchFamily="2" charset="-78"/>
              </a:rPr>
              <a:t>صَحِيحٌ أَنَّ الدَّوْلَةَ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إِجْرَاءَاتٍ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تَتَّخِذَ</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تَتَّخِذْ</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تَتَّخِذُ</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P5-L08: a conceded fact → -u.</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الحُكُومَاتُ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تَتَحَرَّكَ</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تَتَحَرَّكُ</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تَحَرَّكَتْ</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P5-L08: a trigger → -a.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50" b="1" dirty="0">
                <a:solidFill>
                  <a:srgbClr val="1F2A37"/>
                </a:solidFill>
                <a:latin typeface="Calibri" pitchFamily="34" charset="0"/>
                <a:cs typeface="Amiri" pitchFamily="2" charset="-78"/>
              </a:rPr>
              <a:t>Paper 2 climbs a ladder: R1 the main idea → R2 the facts → R3 WHY the writer chose those words → R4 the exact answer.</a:t>
            </a:r>
            <a:endParaRPr lang="en-US" sz="125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المَعْنَى العَامُّ ← التَّفَاصِيلُ ← الرَّأْيُ وَالأُسْلُوبُ ← الدِّقَّةُ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R1–R4 comprehension systematically across three texts.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Master the Q4 gap-fill by identifying the grammar trigger before choosing the form.</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Master the Q5 cross-text matching by recognising paraphrase.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Analyse your performance and set a Q4/Q5 target for the mock.</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the main idea and prove a fact from the text.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match a Q5 statement to its text.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find the trigger before choosing a Q4 form.</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a writer’s choice (R3).</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match by paraphrase, not by a shared word.</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an R3 answer in Arabic.</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8 exam words from the website in one group. </a:t>
            </a:r>
            <a:endParaRPr lang="en-US" sz="1600" dirty="0"/>
          </a:p>
        </p:txBody>
      </p:sp>
      <p:sp>
        <p:nvSpPr>
          <p:cNvPr id="8" name="Shape 6"/>
          <p:cNvSpPr/>
          <p:nvPr/>
        </p:nvSpPr>
        <p:spPr>
          <a:xfrm>
            <a:off x="457200" y="4572000"/>
            <a:ext cx="7863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7589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The R1–R4 hierarchy · 8</a:t>
            </a:r>
            <a:endParaRPr lang="en-US" sz="900" dirty="0"/>
          </a:p>
        </p:txBody>
      </p:sp>
      <p:sp>
        <p:nvSpPr>
          <p:cNvPr id="10" name="Shape 8"/>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1" name="Text 9"/>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2" name="Text 10"/>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مَعْنًى</a:t>
            </a:r>
            <a:endParaRPr lang="ar-SA" sz="1900" dirty="0"/>
          </a:p>
        </p:txBody>
      </p:sp>
      <p:sp>
        <p:nvSpPr>
          <p:cNvPr id="13" name="Text 11"/>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‎معنی‎ </a:t>
            </a:r>
            <a:pPr indent="0" marL="0">
              <a:buNone/>
            </a:pPr>
            <a:r>
              <a:rPr lang="en-US" sz="950" b="1" dirty="0">
                <a:solidFill>
                  <a:srgbClr val="2E8B57"/>
                </a:solidFill>
                <a:latin typeface="Calibri" pitchFamily="34" charset="0"/>
                <a:cs typeface="Amiri" pitchFamily="2" charset="-78"/>
              </a:rPr>
              <a:t> maanā · meaning</a:t>
            </a:r>
            <a:endParaRPr lang="en-US" sz="1400" dirty="0"/>
          </a:p>
        </p:txBody>
      </p:sp>
      <p:sp>
        <p:nvSpPr>
          <p:cNvPr id="14" name="Text 12"/>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دَلِيلٌ</a:t>
            </a:r>
            <a:endParaRPr lang="ar-SA" sz="1900" dirty="0"/>
          </a:p>
        </p:txBody>
      </p:sp>
      <p:sp>
        <p:nvSpPr>
          <p:cNvPr id="15" name="Text 13"/>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‎دلیل‎ </a:t>
            </a:r>
            <a:pPr indent="0" marL="0">
              <a:buNone/>
            </a:pPr>
            <a:r>
              <a:rPr lang="en-US" sz="950" b="1" dirty="0">
                <a:solidFill>
                  <a:srgbClr val="2E8B57"/>
                </a:solidFill>
                <a:latin typeface="Calibri" pitchFamily="34" charset="0"/>
                <a:cs typeface="Amiri" pitchFamily="2" charset="-78"/>
              </a:rPr>
              <a:t> dalīl · Arabic: evidence · Urdu: an argument</a:t>
            </a:r>
            <a:endParaRPr lang="en-US" sz="1400" dirty="0"/>
          </a:p>
        </p:txBody>
      </p:sp>
      <p:sp>
        <p:nvSpPr>
          <p:cNvPr id="16" name="Text 14"/>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اسْتِنْتَاجٌ</a:t>
            </a:r>
            <a:endParaRPr lang="ar-SA" sz="1900" dirty="0"/>
          </a:p>
        </p:txBody>
      </p:sp>
      <p:sp>
        <p:nvSpPr>
          <p:cNvPr id="17" name="Text 15"/>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‎استنتاج‎ </a:t>
            </a:r>
            <a:pPr indent="0" marL="0">
              <a:buNone/>
            </a:pPr>
            <a:r>
              <a:rPr lang="en-US" sz="950" b="1" dirty="0">
                <a:solidFill>
                  <a:srgbClr val="2E8B57"/>
                </a:solidFill>
                <a:latin typeface="Calibri" pitchFamily="34" charset="0"/>
                <a:cs typeface="Amiri" pitchFamily="2" charset="-78"/>
              </a:rPr>
              <a:t> istintāj · deduction, inference</a:t>
            </a:r>
            <a:endParaRPr lang="en-US" sz="1400" dirty="0"/>
          </a:p>
        </p:txBody>
      </p:sp>
      <p:sp>
        <p:nvSpPr>
          <p:cNvPr id="18" name="Text 16"/>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مَجْهُولٌ</a:t>
            </a:r>
            <a:endParaRPr lang="ar-SA" sz="1900" dirty="0"/>
          </a:p>
        </p:txBody>
      </p:sp>
      <p:sp>
        <p:nvSpPr>
          <p:cNvPr id="19" name="Text 17"/>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‎مجہول‎ </a:t>
            </a:r>
            <a:pPr indent="0" marL="0">
              <a:buNone/>
            </a:pPr>
            <a:r>
              <a:rPr lang="en-US" sz="950" b="1" dirty="0">
                <a:solidFill>
                  <a:srgbClr val="2E8B57"/>
                </a:solidFill>
                <a:latin typeface="Calibri" pitchFamily="34" charset="0"/>
                <a:cs typeface="Amiri" pitchFamily="2" charset="-78"/>
              </a:rPr>
              <a:t> majhūl · unknown (grammar: passive)</a:t>
            </a:r>
            <a:endParaRPr lang="en-US" sz="1400" dirty="0"/>
          </a:p>
        </p:txBody>
      </p:sp>
      <p:sp>
        <p:nvSpPr>
          <p:cNvPr id="20" name="Text 18"/>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دِقَّةٌ</a:t>
            </a:r>
            <a:endParaRPr lang="ar-SA" sz="1900" dirty="0"/>
          </a:p>
        </p:txBody>
      </p:sp>
      <p:sp>
        <p:nvSpPr>
          <p:cNvPr id="21" name="Text 19"/>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‎دقت‎ </a:t>
            </a:r>
            <a:pPr indent="0" marL="0">
              <a:buNone/>
            </a:pPr>
            <a:r>
              <a:rPr lang="en-US" sz="950" b="1" dirty="0">
                <a:solidFill>
                  <a:srgbClr val="2E8B57"/>
                </a:solidFill>
                <a:latin typeface="Calibri" pitchFamily="34" charset="0"/>
                <a:cs typeface="Amiri" pitchFamily="2" charset="-78"/>
              </a:rPr>
              <a:t> diqqat · Arabic: accuracy · Urdu: difficulty</a:t>
            </a:r>
            <a:endParaRPr lang="en-US" sz="1400" dirty="0"/>
          </a:p>
        </p:txBody>
      </p:sp>
      <p:sp>
        <p:nvSpPr>
          <p:cNvPr id="23" name="Text 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R1–R4 hierarchy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المَعْنَى العَامُّ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R1 — general meaning</a:t>
            </a:r>
            <a:endParaRPr lang="en-US" sz="1350" dirty="0"/>
          </a:p>
          <a:p>
            <a:pPr indent="0" marL="0">
              <a:buNone/>
            </a:pPr>
            <a:r>
              <a:rPr lang="en-US" sz="1100" i="1" dirty="0">
                <a:solidFill>
                  <a:srgbClr val="5A6472"/>
                </a:solidFill>
                <a:latin typeface="Calibri" pitchFamily="34" charset="0"/>
                <a:cs typeface="Amiri" pitchFamily="2" charset="-78"/>
              </a:rPr>
              <a:t>al-maʿ-nā al-ʿām-mu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التَّفَاصِيلُ الوَاقِعِيَّةُ</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R2 — factual details</a:t>
            </a:r>
            <a:endParaRPr lang="en-US" sz="1350" dirty="0"/>
          </a:p>
          <a:p>
            <a:pPr indent="0" marL="0">
              <a:buNone/>
            </a:pPr>
            <a:r>
              <a:rPr lang="en-US" sz="1100" i="1" dirty="0">
                <a:solidFill>
                  <a:srgbClr val="5A6472"/>
                </a:solidFill>
                <a:latin typeface="Calibri" pitchFamily="34" charset="0"/>
                <a:cs typeface="Amiri" pitchFamily="2" charset="-78"/>
              </a:rPr>
              <a:t>at-ta-fā-ṣī-lu al-wā-qi-ʿiy-ya-tu</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تَفْصِيلٌ</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الرَّأْيُ وَالمَوْقِفُ وَالأُسْلُوبُ</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R3 — opinion, attitude, style</a:t>
            </a:r>
            <a:endParaRPr lang="en-US" sz="1350" dirty="0"/>
          </a:p>
          <a:p>
            <a:pPr indent="0" marL="0">
              <a:buNone/>
            </a:pPr>
            <a:r>
              <a:rPr lang="en-US" sz="1100" i="1" dirty="0">
                <a:solidFill>
                  <a:srgbClr val="5A6472"/>
                </a:solidFill>
                <a:latin typeface="Calibri" pitchFamily="34" charset="0"/>
                <a:cs typeface="Amiri" pitchFamily="2" charset="-78"/>
              </a:rPr>
              <a:t>ar-raʾ-yu wāl-maw-qi-fu wāl-ʾus-lū-bu</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2650" b="1" dirty="0">
                <a:solidFill>
                  <a:srgbClr val="1B3B6F"/>
                </a:solidFill>
                <a:latin typeface="Amiri" pitchFamily="2" charset="-78"/>
                <a:ea typeface="Amiri" pitchFamily="2" charset="-78"/>
                <a:cs typeface="Amiri" pitchFamily="2" charset="-78"/>
              </a:rPr>
              <a:t>الاخْتِيَارُ وَتَحْدِيدُ المَعْلُومَاتِ</a:t>
            </a:r>
            <a:endParaRPr lang="ar-SA" sz="265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R4 — selecting information</a:t>
            </a:r>
            <a:endParaRPr lang="en-US" sz="1350" dirty="0"/>
          </a:p>
          <a:p>
            <a:pPr indent="0" marL="0">
              <a:buNone/>
            </a:pPr>
            <a:r>
              <a:rPr lang="en-US" sz="1100" i="1" dirty="0">
                <a:solidFill>
                  <a:srgbClr val="5A6472"/>
                </a:solidFill>
                <a:latin typeface="Calibri" pitchFamily="34" charset="0"/>
                <a:cs typeface="Amiri" pitchFamily="2" charset="-78"/>
              </a:rPr>
              <a:t>alkh-ti-yā-ru wa-taḥ-dī-du al-maʿ-lū-mā-ti</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R1–R4 hierarchy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الأَدِلَّةُ النَّصِّيَّةُ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textual evidence</a:t>
            </a:r>
            <a:endParaRPr lang="en-US" sz="1350" dirty="0"/>
          </a:p>
          <a:p>
            <a:pPr indent="0" marL="0">
              <a:buNone/>
            </a:pPr>
            <a:r>
              <a:rPr lang="en-US" sz="1100" i="1" dirty="0">
                <a:solidFill>
                  <a:srgbClr val="5A6472"/>
                </a:solidFill>
                <a:latin typeface="Calibri" pitchFamily="34" charset="0"/>
                <a:cs typeface="Amiri" pitchFamily="2" charset="-78"/>
              </a:rPr>
              <a:t>al-a-dil-la-tu an-naṣ-ṣiy-ya-tu</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دَلِيلٌ نَصِّيٌّ</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اسْتِنْتَاجُ الكَلِمَاتِ المَجْهُولَةِ</a:t>
            </a:r>
            <a:endParaRPr lang="ar-SA" sz="28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deducing unknown words</a:t>
            </a:r>
            <a:endParaRPr lang="en-US" sz="1350" dirty="0"/>
          </a:p>
          <a:p>
            <a:pPr indent="0" marL="0">
              <a:buNone/>
            </a:pPr>
            <a:r>
              <a:rPr lang="en-US" sz="1100" i="1" dirty="0">
                <a:solidFill>
                  <a:srgbClr val="5A6472"/>
                </a:solidFill>
                <a:latin typeface="Calibri" pitchFamily="34" charset="0"/>
                <a:cs typeface="Amiri" pitchFamily="2" charset="-78"/>
              </a:rPr>
              <a:t>as-tin-tā-ju al-ka-li-mā-ti al-maj-hū-la-ti</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5" name="Shape 3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التَّطَابُقُ عَبْرَ النُّصُوصِ</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cross-text matching</a:t>
            </a:r>
            <a:endParaRPr lang="en-US" sz="1350" dirty="0"/>
          </a:p>
          <a:p>
            <a:pPr indent="0" marL="0">
              <a:buNone/>
            </a:pPr>
            <a:r>
              <a:rPr lang="en-US" sz="1100" i="1" dirty="0">
                <a:solidFill>
                  <a:srgbClr val="5A6472"/>
                </a:solidFill>
                <a:latin typeface="Calibri" pitchFamily="34" charset="0"/>
                <a:cs typeface="Amiri" pitchFamily="2" charset="-78"/>
              </a:rPr>
              <a:t>at-ta-ṭā-bu-qu ʿab-ra an-nu-ṣū-ṣi</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الدِّقَّةُ فِي الاخْتِيَارِ</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 in selection</a:t>
            </a:r>
            <a:endParaRPr lang="en-US" sz="1350" dirty="0"/>
          </a:p>
          <a:p>
            <a:pPr indent="0" marL="0">
              <a:buNone/>
            </a:pPr>
            <a:r>
              <a:rPr lang="en-US" sz="1100" i="1" dirty="0">
                <a:solidFill>
                  <a:srgbClr val="5A6472"/>
                </a:solidFill>
                <a:latin typeface="Calibri" pitchFamily="34" charset="0"/>
                <a:cs typeface="Amiri" pitchFamily="2" charset="-78"/>
              </a:rPr>
              <a:t>ad-diq-qa-tu fī alkh-ti-yā-ri</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SURFACE → DEEP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R1–R4 ladder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سُلَّمُ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630936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9436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R1–R4 HIERARCHY</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53212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R1 — general meaning — Find the main idea. Surface level.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53212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R2 — factual detail — Find specific facts. Most Paper 2 marks live here.</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53212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R3 — attitude and style — Analyse why the writer made a language choice — including a conditional, a subjunctive trigger or a concession. This decides whether you score 35 or 45.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53212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R4 — select and identify — Choose the exact supported statement, and in Q4 the exact grammatical form.</a:t>
            </a:r>
            <a:endParaRPr lang="en-US" sz="1300" dirty="0"/>
          </a:p>
        </p:txBody>
      </p:sp>
      <p:sp>
        <p:nvSpPr>
          <p:cNvPr id="29" name="Shape 26"/>
          <p:cNvSpPr/>
          <p:nvPr/>
        </p:nvSpPr>
        <p:spPr>
          <a:xfrm>
            <a:off x="6949440" y="1810512"/>
            <a:ext cx="478231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7132320" y="1883664"/>
            <a:ext cx="441655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IN ARABIC</a:t>
            </a:r>
            <a:endParaRPr lang="en-US" sz="1000" dirty="0"/>
          </a:p>
        </p:txBody>
      </p:sp>
      <p:sp>
        <p:nvSpPr>
          <p:cNvPr id="31" name="Text 28"/>
          <p:cNvSpPr txBox="1"/>
          <p:nvPr/>
        </p:nvSpPr>
        <p:spPr>
          <a:xfrm>
            <a:off x="7086600" y="2194560"/>
            <a:ext cx="450799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يُشَارُ إِلَى أَنَّ …</a:t>
            </a:r>
            <a:endParaRPr lang="ar-SA" sz="2650" dirty="0"/>
          </a:p>
        </p:txBody>
      </p:sp>
      <p:sp>
        <p:nvSpPr>
          <p:cNvPr id="32" name="Text 29"/>
          <p:cNvSpPr txBox="1"/>
          <p:nvPr/>
        </p:nvSpPr>
        <p:spPr>
          <a:xfrm>
            <a:off x="7086600" y="2765511"/>
            <a:ext cx="450799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R1 — the thesis sentence</a:t>
            </a:r>
            <a:endParaRPr lang="en-US" sz="1100" dirty="0"/>
          </a:p>
        </p:txBody>
      </p:sp>
      <p:sp>
        <p:nvSpPr>
          <p:cNvPr id="33" name="Shape 30"/>
          <p:cNvSpPr/>
          <p:nvPr/>
        </p:nvSpPr>
        <p:spPr>
          <a:xfrm>
            <a:off x="7132320" y="3195828"/>
            <a:ext cx="4416552" cy="0"/>
          </a:xfrm>
          <a:prstGeom prst="line">
            <a:avLst/>
          </a:prstGeom>
          <a:noFill/>
          <a:ln w="9525">
            <a:solidFill>
              <a:srgbClr val="E4DCCB"/>
            </a:solidFill>
            <a:prstDash val="dash"/>
          </a:ln>
        </p:spPr>
      </p:sp>
      <p:sp>
        <p:nvSpPr>
          <p:cNvPr id="34" name="Text 31"/>
          <p:cNvSpPr txBox="1"/>
          <p:nvPr/>
        </p:nvSpPr>
        <p:spPr>
          <a:xfrm>
            <a:off x="7086600" y="3214116"/>
            <a:ext cx="450799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تُغْلَقُ المَكْتَبَةُ فِي السَّاعَةِ الثَّامِنَةِ</a:t>
            </a:r>
            <a:endParaRPr lang="ar-SA" sz="2650" dirty="0"/>
          </a:p>
        </p:txBody>
      </p:sp>
      <p:sp>
        <p:nvSpPr>
          <p:cNvPr id="35" name="Text 32"/>
          <p:cNvSpPr txBox="1"/>
          <p:nvPr/>
        </p:nvSpPr>
        <p:spPr>
          <a:xfrm>
            <a:off x="7086600" y="3785067"/>
            <a:ext cx="450799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R2 — a fact you can point to</a:t>
            </a:r>
            <a:endParaRPr lang="en-US" sz="1100" dirty="0"/>
          </a:p>
        </p:txBody>
      </p:sp>
      <p:sp>
        <p:nvSpPr>
          <p:cNvPr id="36" name="Shape 33"/>
          <p:cNvSpPr/>
          <p:nvPr/>
        </p:nvSpPr>
        <p:spPr>
          <a:xfrm>
            <a:off x="7132320" y="4215384"/>
            <a:ext cx="4416552" cy="0"/>
          </a:xfrm>
          <a:prstGeom prst="line">
            <a:avLst/>
          </a:prstGeom>
          <a:noFill/>
          <a:ln w="9525">
            <a:solidFill>
              <a:srgbClr val="E4DCCB"/>
            </a:solidFill>
            <a:prstDash val="dash"/>
          </a:ln>
        </p:spPr>
      </p:sp>
      <p:sp>
        <p:nvSpPr>
          <p:cNvPr id="37" name="Text 34"/>
          <p:cNvSpPr txBox="1"/>
          <p:nvPr/>
        </p:nvSpPr>
        <p:spPr>
          <a:xfrm>
            <a:off x="7086600" y="4233672"/>
            <a:ext cx="450799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صَحِيحٌ أَنَّ … غَيْرَ أَنَّ …</a:t>
            </a:r>
            <a:endParaRPr lang="ar-SA" sz="2650" dirty="0"/>
          </a:p>
        </p:txBody>
      </p:sp>
      <p:sp>
        <p:nvSpPr>
          <p:cNvPr id="38" name="Text 35"/>
          <p:cNvSpPr txBox="1"/>
          <p:nvPr/>
        </p:nvSpPr>
        <p:spPr>
          <a:xfrm>
            <a:off x="7086600" y="4804623"/>
            <a:ext cx="450799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R3 — why did the writer choose this?</a:t>
            </a:r>
            <a:endParaRPr lang="en-US" sz="1100" dirty="0"/>
          </a:p>
        </p:txBody>
      </p:sp>
      <p:sp>
        <p:nvSpPr>
          <p:cNvPr id="39" name="Shape 36"/>
          <p:cNvSpPr/>
          <p:nvPr/>
        </p:nvSpPr>
        <p:spPr>
          <a:xfrm>
            <a:off x="7132320" y="5234940"/>
            <a:ext cx="4416552" cy="0"/>
          </a:xfrm>
          <a:prstGeom prst="line">
            <a:avLst/>
          </a:prstGeom>
          <a:noFill/>
          <a:ln w="9525">
            <a:solidFill>
              <a:srgbClr val="E4DCCB"/>
            </a:solidFill>
            <a:prstDash val="dash"/>
          </a:ln>
        </p:spPr>
      </p:sp>
      <p:sp>
        <p:nvSpPr>
          <p:cNvPr id="40" name="Text 37"/>
          <p:cNvSpPr txBox="1"/>
          <p:nvPr/>
        </p:nvSpPr>
        <p:spPr>
          <a:xfrm>
            <a:off x="7086600" y="5253228"/>
            <a:ext cx="450799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أَنْ تُنَظِّمَ · لَتَغَيَّرَتْ</a:t>
            </a:r>
            <a:endParaRPr lang="ar-SA" sz="2650" dirty="0"/>
          </a:p>
        </p:txBody>
      </p:sp>
      <p:sp>
        <p:nvSpPr>
          <p:cNvPr id="41" name="Text 38"/>
          <p:cNvSpPr txBox="1"/>
          <p:nvPr/>
        </p:nvSpPr>
        <p:spPr>
          <a:xfrm>
            <a:off x="7086600" y="5824179"/>
            <a:ext cx="450799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R4 / Q4 — the exact form</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ME SOLVE Q4 AND Q5</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Find the trigger · spot the paraphrase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السُّؤَالُ الرَّابِعُ وَالخَامِسُ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630936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9436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Q4 GAP-FILL · Q5 CROSS-TEXT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53212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Q4 — cover the options. Look LEFT of the gap for the clue.</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53212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anna + a noun (a fact) → the verb stays -u · an / li-kay (an aim) → -a · law → the result takes la-.</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53212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Only now read the options — and reject the ones with the wrong ending.</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53212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Q5 — underline the KEY IDEA of each statement, then find the text that says the same thing in other words (a paraphrase). One shared word is not enough.</a:t>
            </a:r>
            <a:endParaRPr lang="en-US" sz="1300" dirty="0"/>
          </a:p>
        </p:txBody>
      </p:sp>
      <p:sp>
        <p:nvSpPr>
          <p:cNvPr id="29" name="Shape 26"/>
          <p:cNvSpPr/>
          <p:nvPr/>
        </p:nvSpPr>
        <p:spPr>
          <a:xfrm>
            <a:off x="6949440" y="1810512"/>
            <a:ext cx="478231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7132320" y="1883664"/>
            <a:ext cx="441655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FROM TEXT 2</a:t>
            </a:r>
            <a:endParaRPr lang="en-US" sz="1000" dirty="0"/>
          </a:p>
        </p:txBody>
      </p:sp>
      <p:sp>
        <p:nvSpPr>
          <p:cNvPr id="31" name="Text 28"/>
          <p:cNvSpPr txBox="1"/>
          <p:nvPr/>
        </p:nvSpPr>
        <p:spPr>
          <a:xfrm>
            <a:off x="7086600" y="2194560"/>
            <a:ext cx="450799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صَحِيحٌ أَنَّ الوَقْتَ مَحْدُودٌ</a:t>
            </a:r>
            <a:endParaRPr lang="ar-SA" sz="2600" dirty="0"/>
          </a:p>
        </p:txBody>
      </p:sp>
      <p:sp>
        <p:nvSpPr>
          <p:cNvPr id="32" name="Text 29"/>
          <p:cNvSpPr txBox="1"/>
          <p:nvPr/>
        </p:nvSpPr>
        <p:spPr>
          <a:xfrm>
            <a:off x="7086600" y="2761244"/>
            <a:ext cx="450799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anna → a fact → -un / -u</a:t>
            </a:r>
            <a:endParaRPr lang="en-US" sz="1100" dirty="0"/>
          </a:p>
        </p:txBody>
      </p:sp>
      <p:sp>
        <p:nvSpPr>
          <p:cNvPr id="33" name="Shape 30"/>
          <p:cNvSpPr/>
          <p:nvPr/>
        </p:nvSpPr>
        <p:spPr>
          <a:xfrm>
            <a:off x="7132320" y="3188208"/>
            <a:ext cx="4416552" cy="0"/>
          </a:xfrm>
          <a:prstGeom prst="line">
            <a:avLst/>
          </a:prstGeom>
          <a:noFill/>
          <a:ln w="9525">
            <a:solidFill>
              <a:srgbClr val="E4DCCB"/>
            </a:solidFill>
            <a:prstDash val="dash"/>
          </a:ln>
        </p:spPr>
      </p:sp>
      <p:sp>
        <p:nvSpPr>
          <p:cNvPr id="34" name="Text 31"/>
          <p:cNvSpPr txBox="1"/>
          <p:nvPr/>
        </p:nvSpPr>
        <p:spPr>
          <a:xfrm>
            <a:off x="7086600" y="3206496"/>
            <a:ext cx="450799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يَتَطَلَّبُ الأَمْرُ أَنْ تُنَظِّمَ</a:t>
            </a:r>
            <a:endParaRPr lang="ar-SA" sz="2600" dirty="0"/>
          </a:p>
        </p:txBody>
      </p:sp>
      <p:sp>
        <p:nvSpPr>
          <p:cNvPr id="35" name="Text 32"/>
          <p:cNvSpPr txBox="1"/>
          <p:nvPr/>
        </p:nvSpPr>
        <p:spPr>
          <a:xfrm>
            <a:off x="7086600" y="3773180"/>
            <a:ext cx="450799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an → an aim → -a</a:t>
            </a:r>
            <a:endParaRPr lang="en-US" sz="1100" dirty="0"/>
          </a:p>
        </p:txBody>
      </p:sp>
      <p:sp>
        <p:nvSpPr>
          <p:cNvPr id="36" name="Shape 33"/>
          <p:cNvSpPr/>
          <p:nvPr/>
        </p:nvSpPr>
        <p:spPr>
          <a:xfrm>
            <a:off x="7132320" y="4200144"/>
            <a:ext cx="4416552" cy="0"/>
          </a:xfrm>
          <a:prstGeom prst="line">
            <a:avLst/>
          </a:prstGeom>
          <a:noFill/>
          <a:ln w="9525">
            <a:solidFill>
              <a:srgbClr val="E4DCCB"/>
            </a:solidFill>
            <a:prstDash val="dash"/>
          </a:ln>
        </p:spPr>
      </p:sp>
      <p:sp>
        <p:nvSpPr>
          <p:cNvPr id="37" name="Text 34"/>
          <p:cNvSpPr txBox="1"/>
          <p:nvPr/>
        </p:nvSpPr>
        <p:spPr>
          <a:xfrm>
            <a:off x="7086600" y="4218432"/>
            <a:ext cx="450799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لَوْ شَارَكَ …، لَتَغَيَّرَتْ</a:t>
            </a:r>
            <a:endParaRPr lang="ar-SA" sz="2600" dirty="0"/>
          </a:p>
        </p:txBody>
      </p:sp>
      <p:sp>
        <p:nvSpPr>
          <p:cNvPr id="38" name="Text 35"/>
          <p:cNvSpPr txBox="1"/>
          <p:nvPr/>
        </p:nvSpPr>
        <p:spPr>
          <a:xfrm>
            <a:off x="7086600" y="4785116"/>
            <a:ext cx="450799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law → la- + past</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WEBSITE R3 CARD</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R3 asks WHY the writer made a language choice — a conditional, a trigger or a concession. This decides whether you score 35 or 45.</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 GROUPS 1–2 · READ THE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 Notices and short text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إِعْلَانٌ: تُغْلَقُ المَكْتَبَةُ فِي السَّاعَةِ الثَّامِنَةِ مَسَاءً. يُمْنَعُ إِدْخَالُ الطَّعَامِ. لِاسْتِعَارَةِ الكُتُبِ، يَجِبُ إِبْرَازُ البِطَاقَةِ. وَتُقَامُ حَلْقَةُ قِرَاءَةٍ كُلَّ خَمِيسٍ فِي السَّاعَةِ الرَّابِعَةِ.</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إِعْلَانٌ</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notice</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تُغْلَقُ</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closes, is closed</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يُمْنَعُ</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forbidden</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إِدْخَالُ الطَّعَامِ</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bringing in food</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اسْتِعَارَةِ الكُتُبِ</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borrowing books</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إِبْرَازُ البِطَاقَةِ</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showing the card</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تُقَامُ</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held</a:t>
            </a:r>
            <a:endParaRPr lang="en-US" sz="1050" dirty="0"/>
          </a:p>
        </p:txBody>
      </p:sp>
      <p:sp>
        <p:nvSpPr>
          <p:cNvPr id="33" name="Text 30"/>
          <p:cNvSpPr txBox="1"/>
          <p:nvPr/>
        </p:nvSpPr>
        <p:spPr>
          <a:xfrm>
            <a:off x="10102291" y="57332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حَلْقَةُ قِرَاءَةٍ</a:t>
            </a:r>
            <a:endParaRPr lang="ar-SA" sz="1600" dirty="0"/>
          </a:p>
        </p:txBody>
      </p:sp>
      <p:sp>
        <p:nvSpPr>
          <p:cNvPr id="34" name="Text 31"/>
          <p:cNvSpPr txBox="1"/>
          <p:nvPr/>
        </p:nvSpPr>
        <p:spPr>
          <a:xfrm>
            <a:off x="8851392" y="57332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reading circle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TEXT 1 — NOTICES AND SHORT TEXT (4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Factual comprehension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library close?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4 p.m.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does not close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8 p.m.</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forbidden?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Bringing in food</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books</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Borrowing books</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required to borrow books?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Paying a fee</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Showing the card</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the reading circle held?</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Thursday at 4</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Friday at 8</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day</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 Groups 1–2: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library close?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4 p.m.</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does not close</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8 p.m.</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تُغْلَقُ المَكْتَبَةُ فِي السَّاعَةِ الثَّامِنَةِ مَسَاءً.</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forbidden?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Bringing in food</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 books</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Borrowing books</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يُمْنَعُ إِدْخَالُ الطَّعَامِ.</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required to borrow books?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Paying a fee</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Showing the card</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لِاسْتِعَارَةِ الكُتُبِ، يَجِبُ إِبْرَازُ البِطَاقَةِ.</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the reading circle held?</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Every Thursday at 4</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Friday at 8</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day</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تُقَامُ حَلْقَةُ قِرَاءَةٍ كُلَّ خَمِيسٍ فِي السَّاعَةِ الرَّابِعَةِ.</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 GROUPS 3–4 · READ THE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 R1–R4 + Q4 gap-fill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يُشَارُ إِلَى أَنَّ العَمَلَ التَّطَوُّعِيَّ يُقَوِّي رَوَابِطَ المُجْتَمَعِ. صَحِيحٌ أَنَّ الوَقْتَ مَحْدُودٌ لَدَى الطُّلَّابِ، غَيْرَ أَنَّ سَاعَةً وَاحِدَةً أُسْبُوعِيًّا تَصْنَعُ فَرْقًا. وَيَتَطَلَّبُ الأَمْرُ أَنْ تُنَظِّمَ المَدَارِسُ بَرَامِجَ تَطَوُّعٍ. وَلَوْ شَارَكَ كُلُّ طَالِبٍ، لَتَغَيَّرَتِ الأَحْيَاءُ.</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العَمَلَ التَّطَوُّعِيَّ</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volunteering</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يُقَوِّي</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strengthens</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رَوَابِطَ المُجْتَمَعِ</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community bonds</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مَحْدُودٌ</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limited</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أُسْبُوعِيًّا</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weekly</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تَصْنَعُ فَرْقًا</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makes a difference</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بَرَامِجَ تَطَوُّعٍ</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volunteering programmes</a:t>
            </a:r>
            <a:endParaRPr lang="en-US" sz="1050" dirty="0"/>
          </a:p>
        </p:txBody>
      </p:sp>
      <p:sp>
        <p:nvSpPr>
          <p:cNvPr id="33" name="Text 30"/>
          <p:cNvSpPr txBox="1"/>
          <p:nvPr/>
        </p:nvSpPr>
        <p:spPr>
          <a:xfrm>
            <a:off x="10102291" y="57332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الأَحْيَاءُ</a:t>
            </a:r>
            <a:endParaRPr lang="ar-SA" sz="1600" dirty="0"/>
          </a:p>
        </p:txBody>
      </p:sp>
      <p:sp>
        <p:nvSpPr>
          <p:cNvPr id="34" name="Text 31"/>
          <p:cNvSpPr txBox="1"/>
          <p:nvPr/>
        </p:nvSpPr>
        <p:spPr>
          <a:xfrm>
            <a:off x="8851392" y="57332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neighbourhoods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TEXT 2 — R1–R4 + Q4 GAP-FILL (6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Comprehend, then choose the correct form</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R1 — What is the main idea?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Volunteering wastes time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Volunteering strengthens community bonds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Schools should close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R2 — How much time makes a difference, per the text?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 a week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 hours a day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time at all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is the purpose of </a:t>
            </a:r>
            <a:pPr algn="l" indent="0" marL="0">
              <a:buNone/>
            </a:pPr>
            <a:r>
              <a:rPr lang="ar-SA" altLang="en-US" sz="1650" b="1" dirty="0">
                <a:solidFill>
                  <a:srgbClr val="1B3B6F"/>
                </a:solidFill>
                <a:latin typeface="Amiri" pitchFamily="2" charset="-78"/>
                <a:ea typeface="Amiri" pitchFamily="2" charset="-78"/>
                <a:cs typeface="Amiri" pitchFamily="2" charset="-78"/>
              </a:rPr>
              <a:t>صَحِيحٌ أَنَّ الوَقْتَ مَحْدُودٌ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state the writer's conclusion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report a statistic</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concede a real objection before answering it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gap-fill — </a:t>
            </a:r>
            <a:pPr algn="l" indent="0" marL="0">
              <a:buNone/>
            </a:pPr>
            <a:r>
              <a:rPr lang="ar-SA" altLang="en-US" sz="1650" b="1" dirty="0">
                <a:solidFill>
                  <a:srgbClr val="1B3B6F"/>
                </a:solidFill>
                <a:latin typeface="Amiri" pitchFamily="2" charset="-78"/>
                <a:ea typeface="Amiri" pitchFamily="2" charset="-78"/>
                <a:cs typeface="Amiri" pitchFamily="2" charset="-78"/>
              </a:rPr>
              <a:t>صَحِيحٌ أَنَّ الوَقْتَ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 غَيْرَ أَنَّ</a:t>
            </a:r>
            <a:pPr algn="l" indent="0" marL="0">
              <a:buNone/>
            </a:pPr>
            <a:r>
              <a:rPr lang="en-US" sz="1250" b="1" dirty="0">
                <a:solidFill>
                  <a:srgbClr val="1B3B6F"/>
                </a:solidFill>
                <a:latin typeface="Calibri" pitchFamily="34" charset="0"/>
                <a:cs typeface="Amiri" pitchFamily="2" charset="-78"/>
              </a:rPr>
              <a:t> …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يَكُونَ مَحْدُودًا</a:t>
            </a:r>
            <a:pPr algn="l" indent="0" marL="0">
              <a:buNone/>
            </a:pPr>
            <a:r>
              <a:rPr lang="en-US" sz="1250" dirty="0">
                <a:solidFill>
                  <a:srgbClr val="1F2A37"/>
                </a:solidFill>
                <a:latin typeface="Calibri" pitchFamily="34" charset="0"/>
                <a:cs typeface="Amiri" pitchFamily="2" charset="-78"/>
              </a:rPr>
              <a:t> (subjunctive)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مَحْدُودٌ</a:t>
            </a:r>
            <a:pPr algn="l" indent="0" marL="0">
              <a:buNone/>
            </a:pPr>
            <a:r>
              <a:rPr lang="en-US" sz="1250" dirty="0">
                <a:solidFill>
                  <a:srgbClr val="1F2A37"/>
                </a:solidFill>
                <a:latin typeface="Calibri" pitchFamily="34" charset="0"/>
                <a:cs typeface="Amiri" pitchFamily="2" charset="-78"/>
              </a:rPr>
              <a:t> (indicative situation)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كَانَ مَحْدُودًا لَـ</a:t>
            </a:r>
            <a:pPr algn="l" indent="0" marL="0">
              <a:buNone/>
            </a:pPr>
            <a:r>
              <a:rPr lang="en-US" sz="1250" dirty="0">
                <a:solidFill>
                  <a:srgbClr val="1F2A37"/>
                </a:solidFill>
                <a:latin typeface="Calibri" pitchFamily="34" charset="0"/>
                <a:cs typeface="Amiri" pitchFamily="2" charset="-78"/>
              </a:rPr>
              <a:t> (Type 2)</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gap-fill —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المَدَارِسُ بَرَامِجَ</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تُنَظِّمُ</a:t>
            </a:r>
            <a:pPr algn="l" indent="0" marL="0">
              <a:buNone/>
            </a:pPr>
            <a:r>
              <a:rPr lang="en-US" sz="1250" dirty="0">
                <a:solidFill>
                  <a:srgbClr val="1F2A37"/>
                </a:solidFill>
                <a:latin typeface="Calibri" pitchFamily="34" charset="0"/>
                <a:cs typeface="Amiri" pitchFamily="2" charset="-78"/>
              </a:rPr>
              <a:t> (indicative)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تُنَظِّمَ</a:t>
            </a:r>
            <a:pPr algn="l" indent="0" marL="0">
              <a:buNone/>
            </a:pPr>
            <a:r>
              <a:rPr lang="en-US" sz="1250" dirty="0">
                <a:solidFill>
                  <a:srgbClr val="1F2A37"/>
                </a:solidFill>
                <a:latin typeface="Calibri" pitchFamily="34" charset="0"/>
                <a:cs typeface="Amiri" pitchFamily="2" charset="-78"/>
              </a:rPr>
              <a:t> (subjunctive)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نَظَّمَتْ</a:t>
            </a:r>
            <a:pPr algn="l" indent="0" marL="0">
              <a:buNone/>
            </a:pPr>
            <a:r>
              <a:rPr lang="en-US" sz="1250" dirty="0">
                <a:solidFill>
                  <a:srgbClr val="1F2A37"/>
                </a:solidFill>
                <a:latin typeface="Calibri" pitchFamily="34" charset="0"/>
                <a:cs typeface="Amiri" pitchFamily="2" charset="-78"/>
              </a:rPr>
              <a:t> (past)</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gap-fill — </a:t>
            </a:r>
            <a:pPr algn="l" indent="0" marL="0">
              <a:buNone/>
            </a:pPr>
            <a:r>
              <a:rPr lang="ar-SA" altLang="en-US" sz="1650" b="1" dirty="0">
                <a:solidFill>
                  <a:srgbClr val="1B3B6F"/>
                </a:solidFill>
                <a:latin typeface="Amiri" pitchFamily="2" charset="-78"/>
                <a:ea typeface="Amiri" pitchFamily="2" charset="-78"/>
                <a:cs typeface="Amiri" pitchFamily="2" charset="-78"/>
              </a:rPr>
              <a:t>لَوْ شَارَكَ كُلُّ طَالِبٍ،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الأَحْيَاءُ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سَتَتَغَيَّرُ</a:t>
            </a:r>
            <a:pPr algn="l" indent="0" marL="0">
              <a:buNone/>
            </a:pPr>
            <a:r>
              <a:rPr lang="en-US" sz="1250" dirty="0">
                <a:solidFill>
                  <a:srgbClr val="1F2A37"/>
                </a:solidFill>
                <a:latin typeface="Calibri" pitchFamily="34" charset="0"/>
                <a:cs typeface="Amiri" pitchFamily="2" charset="-78"/>
              </a:rPr>
              <a:t> (Type 1 result)</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تَتَغَيَّرُ</a:t>
            </a:r>
            <a:pPr algn="l" indent="0" marL="0">
              <a:buNone/>
            </a:pPr>
            <a:r>
              <a:rPr lang="en-US" sz="1250" dirty="0">
                <a:solidFill>
                  <a:srgbClr val="1F2A37"/>
                </a:solidFill>
                <a:latin typeface="Calibri" pitchFamily="34" charset="0"/>
                <a:cs typeface="Amiri" pitchFamily="2" charset="-78"/>
              </a:rPr>
              <a:t> (indicative)</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لَتَغَيَّرَتِ</a:t>
            </a:r>
            <a:pPr algn="l" indent="0" marL="0">
              <a:buNone/>
            </a:pPr>
            <a:r>
              <a:rPr lang="en-US" sz="1250" dirty="0">
                <a:solidFill>
                  <a:srgbClr val="1F2A37"/>
                </a:solidFill>
                <a:latin typeface="Calibri" pitchFamily="34" charset="0"/>
                <a:cs typeface="Amiri" pitchFamily="2" charset="-78"/>
              </a:rPr>
              <a:t> (Type 2 result)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 Groups 3–4: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R1 — What is the main idea?</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Volunteering wastes time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Volunteering strengthens community bonds</a:t>
            </a:r>
            <a:endParaRPr lang="en-US" sz="11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Schools should close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يُشَارُ إِلَى أَنَّ العَمَلَ التَّطَوُّعِيَّ يُقَوِّي رَوَابِطَ المُجْتَمَعِ.</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R2 — How much time makes a difference, per the text?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One hour a week</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 hours a day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time at all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سَاعَةً وَاحِدَةً أُسْبُوعِيًّا تَصْنَعُ فَرْقًا.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is the purpose of </a:t>
            </a:r>
            <a:pPr algn="l" indent="0" marL="0">
              <a:buNone/>
            </a:pPr>
            <a:r>
              <a:rPr lang="ar-SA" altLang="en-US" sz="1650" b="1" dirty="0">
                <a:solidFill>
                  <a:srgbClr val="1B3B6F"/>
                </a:solidFill>
                <a:latin typeface="Amiri" pitchFamily="2" charset="-78"/>
                <a:ea typeface="Amiri" pitchFamily="2" charset="-78"/>
                <a:cs typeface="Amiri" pitchFamily="2" charset="-78"/>
              </a:rPr>
              <a:t>صَحِيحٌ أَنَّ الوَقْتَ مَحْدُودٌ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state the writer's conclusion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report a statistic</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concede a real objection before answering it</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concession admits the opposing point before the refutation.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gap-fill — </a:t>
            </a:r>
            <a:pPr algn="l" indent="0" marL="0">
              <a:buNone/>
            </a:pPr>
            <a:r>
              <a:rPr lang="ar-SA" altLang="en-US" sz="1650" b="1" dirty="0">
                <a:solidFill>
                  <a:srgbClr val="1B3B6F"/>
                </a:solidFill>
                <a:latin typeface="Amiri" pitchFamily="2" charset="-78"/>
                <a:ea typeface="Amiri" pitchFamily="2" charset="-78"/>
                <a:cs typeface="Amiri" pitchFamily="2" charset="-78"/>
              </a:rPr>
              <a:t>صَحِيحٌ أَنَّ الوَقْتَ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 غَيْرَ أَنَّ</a:t>
            </a:r>
            <a:pPr algn="l" indent="0" marL="0">
              <a:buNone/>
            </a:pPr>
            <a:r>
              <a:rPr lang="en-US" sz="1250" b="1" dirty="0">
                <a:solidFill>
                  <a:srgbClr val="1B3B6F"/>
                </a:solidFill>
                <a:latin typeface="Calibri" pitchFamily="34" charset="0"/>
                <a:cs typeface="Amiri" pitchFamily="2" charset="-78"/>
              </a:rPr>
              <a:t> …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يَكُونَ مَحْدُودًا</a:t>
            </a:r>
            <a:pPr algn="l" indent="0" marL="0">
              <a:buNone/>
            </a:pPr>
            <a:r>
              <a:rPr lang="en-US" sz="1250" dirty="0">
                <a:solidFill>
                  <a:srgbClr val="9AA1AB"/>
                </a:solidFill>
                <a:latin typeface="Calibri" pitchFamily="34" charset="0"/>
                <a:cs typeface="Amiri" pitchFamily="2" charset="-78"/>
              </a:rPr>
              <a:t> (subjunctive)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مَحْدُودٌ</a:t>
            </a:r>
            <a:pPr algn="l" indent="0" marL="0">
              <a:buNone/>
            </a:pPr>
            <a:r>
              <a:rPr lang="en-US" sz="1250" b="1" dirty="0">
                <a:solidFill>
                  <a:srgbClr val="1F2A37"/>
                </a:solidFill>
                <a:latin typeface="Calibri" pitchFamily="34" charset="0"/>
                <a:cs typeface="Amiri" pitchFamily="2" charset="-78"/>
              </a:rPr>
              <a:t> (indicative situation)</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كَانَ مَحْدُودًا لَـ</a:t>
            </a:r>
            <a:pPr algn="l" indent="0" marL="0">
              <a:buNone/>
            </a:pPr>
            <a:r>
              <a:rPr lang="en-US" sz="1250" dirty="0">
                <a:solidFill>
                  <a:srgbClr val="9AA1AB"/>
                </a:solidFill>
                <a:latin typeface="Calibri" pitchFamily="34" charset="0"/>
                <a:cs typeface="Amiri" pitchFamily="2" charset="-78"/>
              </a:rPr>
              <a:t> (Type 2)</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the clause describes a real situation — the indicative.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gap-fill —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المَدَارِسُ بَرَامِجَ</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تُنَظِّمُ</a:t>
            </a:r>
            <a:pPr algn="l" indent="0" marL="0">
              <a:buNone/>
            </a:pPr>
            <a:r>
              <a:rPr lang="en-US" sz="1250" dirty="0">
                <a:solidFill>
                  <a:srgbClr val="9AA1AB"/>
                </a:solidFill>
                <a:latin typeface="Calibri" pitchFamily="34" charset="0"/>
                <a:cs typeface="Amiri" pitchFamily="2" charset="-78"/>
              </a:rPr>
              <a:t> (indicative)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تُنَظِّمَ</a:t>
            </a:r>
            <a:pPr algn="l" indent="0" marL="0">
              <a:buNone/>
            </a:pPr>
            <a:r>
              <a:rPr lang="en-US" sz="1250" b="1" dirty="0">
                <a:solidFill>
                  <a:srgbClr val="1F2A37"/>
                </a:solidFill>
                <a:latin typeface="Calibri" pitchFamily="34" charset="0"/>
                <a:cs typeface="Amiri" pitchFamily="2" charset="-78"/>
              </a:rPr>
              <a:t> (subjunctive)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نَظَّمَتْ</a:t>
            </a:r>
            <a:pPr algn="l" indent="0" marL="0">
              <a:buNone/>
            </a:pPr>
            <a:r>
              <a:rPr lang="en-US" sz="1250" dirty="0">
                <a:solidFill>
                  <a:srgbClr val="9AA1AB"/>
                </a:solidFill>
                <a:latin typeface="Calibri" pitchFamily="34" charset="0"/>
                <a:cs typeface="Amiri" pitchFamily="2" charset="-78"/>
              </a:rPr>
              <a:t> (past)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(with </a:t>
            </a:r>
            <a:pPr algn="l" indent="0" marL="0">
              <a:buNone/>
            </a:pPr>
            <a:r>
              <a:rPr lang="ar-SA" altLang="en-US" sz="1350" dirty="0">
                <a:solidFill>
                  <a:srgbClr val="8A6D1E"/>
                </a:solidFill>
                <a:latin typeface="Amiri" pitchFamily="2" charset="-78"/>
                <a:ea typeface="Amiri" pitchFamily="2" charset="-78"/>
                <a:cs typeface="Amiri" pitchFamily="2" charset="-78"/>
              </a:rPr>
              <a:t>يَتَطَلَّبُ</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تُنَظِّمَ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gap-fill — </a:t>
            </a:r>
            <a:pPr algn="l" indent="0" marL="0">
              <a:buNone/>
            </a:pPr>
            <a:r>
              <a:rPr lang="ar-SA" altLang="en-US" sz="1650" b="1" dirty="0">
                <a:solidFill>
                  <a:srgbClr val="1B3B6F"/>
                </a:solidFill>
                <a:latin typeface="Amiri" pitchFamily="2" charset="-78"/>
                <a:ea typeface="Amiri" pitchFamily="2" charset="-78"/>
                <a:cs typeface="Amiri" pitchFamily="2" charset="-78"/>
              </a:rPr>
              <a:t>لَوْ شَارَكَ كُلُّ طَالِبٍ،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الأَحْيَاءُ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سَتَتَغَيَّرُ</a:t>
            </a:r>
            <a:pPr algn="l" indent="0" marL="0">
              <a:buNone/>
            </a:pPr>
            <a:r>
              <a:rPr lang="en-US" sz="1250" dirty="0">
                <a:solidFill>
                  <a:srgbClr val="9AA1AB"/>
                </a:solidFill>
                <a:latin typeface="Calibri" pitchFamily="34" charset="0"/>
                <a:cs typeface="Amiri" pitchFamily="2" charset="-78"/>
              </a:rPr>
              <a:t> (Type 1 result)</a:t>
            </a:r>
            <a:endParaRPr lang="en-US" sz="1250" dirty="0"/>
          </a:p>
        </p:txBody>
      </p:sp>
      <p:sp>
        <p:nvSpPr>
          <p:cNvPr id="97" name="Shape 94"/>
          <p:cNvSpPr/>
          <p:nvPr/>
        </p:nvSpPr>
        <p:spPr>
          <a:xfrm>
            <a:off x="827836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9" name="Text 96"/>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تَتَغَيَّرُ</a:t>
            </a:r>
            <a:pPr algn="l" indent="0" marL="0">
              <a:buNone/>
            </a:pPr>
            <a:r>
              <a:rPr lang="en-US" sz="1250" dirty="0">
                <a:solidFill>
                  <a:srgbClr val="9AA1AB"/>
                </a:solidFill>
                <a:latin typeface="Calibri" pitchFamily="34" charset="0"/>
                <a:cs typeface="Amiri" pitchFamily="2" charset="-78"/>
              </a:rPr>
              <a:t> (indicative)</a:t>
            </a:r>
            <a:endParaRPr lang="en-US" sz="1250" dirty="0"/>
          </a:p>
        </p:txBody>
      </p:sp>
      <p:sp>
        <p:nvSpPr>
          <p:cNvPr id="100" name="Shape 97"/>
          <p:cNvSpPr/>
          <p:nvPr/>
        </p:nvSpPr>
        <p:spPr>
          <a:xfrm>
            <a:off x="8186928" y="5538216"/>
            <a:ext cx="3453384"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827836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لَتَغَيَّرَتِ</a:t>
            </a:r>
            <a:pPr algn="l" indent="0" marL="0">
              <a:buNone/>
            </a:pPr>
            <a:r>
              <a:rPr lang="en-US" sz="1250" b="1" dirty="0">
                <a:solidFill>
                  <a:srgbClr val="1F2A37"/>
                </a:solidFill>
                <a:latin typeface="Calibri" pitchFamily="34" charset="0"/>
                <a:cs typeface="Amiri" pitchFamily="2" charset="-78"/>
              </a:rPr>
              <a:t> (Type 2 result)</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a:t>
            </a:r>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conditional takes a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result: </a:t>
            </a:r>
            <a:pPr algn="l" indent="0" marL="0">
              <a:buNone/>
            </a:pPr>
            <a:r>
              <a:rPr lang="ar-SA" altLang="en-US" sz="1350" dirty="0">
                <a:solidFill>
                  <a:srgbClr val="8A6D1E"/>
                </a:solidFill>
                <a:latin typeface="Amiri" pitchFamily="2" charset="-78"/>
                <a:ea typeface="Amiri" pitchFamily="2" charset="-78"/>
                <a:cs typeface="Amiri" pitchFamily="2" charset="-78"/>
              </a:rPr>
              <a:t>لَتَغَيَّرَتْ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 GROUPS 5–6 · READ THE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Text 3 — R3 analysis + Q5 cross-text matching</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يَرَى الكَاتِبُ أَنَّ القِرَاءَةَ الحُرَّةَ تُنَمِّي الخَيَالَ أَكْثَرَ مِنَ الشَّاشَاتِ. لَا يُمْكِنُ إِنْكَارُ أَنَّ التِّقْنِيَّةَ مُفِيدَةٌ، غَيْرَ أَنَّ الإِفْرَاطَ فِيهَا يُضْعِفُ التَّرْكِيزَ. وَبِنَاءً عَلَى مَا سَبَقَ، يَنْبَغِي أَنْ نُوَازِنَ بَيْنَ الكِتَابِ وَالشَّاشَةِ.</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يَرَى الكَاتِبُ</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writer believes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القِرَاءَةَ الحُرَّةَ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free (leisure) reading</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تُنَمِّي الخَيَالَ</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develops the imagination</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يُمْكِنُ إِنْكَارُ</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cannot be denied</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الإِفْرَاطَ</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excess</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يُضْعِفُ التَّرْكِيزَ</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weakens concentration</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نُوَازِنَ</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(that) we balance</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READING · TEXT 3 — R3 ANALYSIS + Q5 CROSS-TEXT MATCHING (6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Deep analysis and cross-text matching</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is the writer's attitude to technology?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Wholly negative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Wholly positive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Balanced: useful but harmful in excess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does </a:t>
            </a:r>
            <a:pPr algn="l" indent="0" marL="0">
              <a:buNone/>
            </a:pPr>
            <a:r>
              <a:rPr lang="ar-SA" altLang="en-US" sz="1650" b="1" dirty="0">
                <a:solidFill>
                  <a:srgbClr val="1B3B6F"/>
                </a:solidFill>
                <a:latin typeface="Amiri" pitchFamily="2" charset="-78"/>
                <a:ea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conclusion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concession before a counter-claim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statistic</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does </a:t>
            </a:r>
            <a:pPr algn="l" indent="0" marL="0">
              <a:buNone/>
            </a:pPr>
            <a:r>
              <a:rPr lang="ar-SA" altLang="en-US" sz="1650" b="1" dirty="0">
                <a:solidFill>
                  <a:srgbClr val="1B3B6F"/>
                </a:solidFill>
                <a:latin typeface="Amiri" pitchFamily="2" charset="-78"/>
                <a:ea typeface="Amiri" pitchFamily="2" charset="-78"/>
                <a:cs typeface="Amiri" pitchFamily="2" charset="-78"/>
              </a:rPr>
              <a:t>وَبِنَاءً عَلَى مَا سَبَقَ</a:t>
            </a:r>
            <a:pPr algn="l" indent="0" marL="0">
              <a:buNone/>
            </a:pPr>
            <a:r>
              <a:rPr lang="en-US" sz="1250" b="1" dirty="0">
                <a:solidFill>
                  <a:srgbClr val="1B3B6F"/>
                </a:solidFill>
                <a:latin typeface="Calibri" pitchFamily="34" charset="0"/>
                <a:cs typeface="Amiri" pitchFamily="2" charset="-78"/>
              </a:rPr>
              <a:t> mark?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argument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synthesising conclusion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quotation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Q5 — “Free reading develops the imagination.” Which text?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1</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2</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3</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Q5 — “Volunteering strengthens community bonds.” Which text?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2</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1</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3</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Q5 — “The library closes at eight in the evening.” Which text?</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2</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1</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3</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 Groups 5–6: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is the writer's attitude to technology?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Wholly negative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Wholly positive</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Balanced: useful but harmful in excess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000" dirty="0">
                <a:solidFill>
                  <a:srgbClr val="8A6D1E"/>
                </a:solidFill>
                <a:latin typeface="Amiri" pitchFamily="2" charset="-78"/>
                <a:ea typeface="Amiri" pitchFamily="2" charset="-78"/>
                <a:cs typeface="Amiri" pitchFamily="2" charset="-78"/>
              </a:rPr>
              <a:t>لَا يُمْكِنُ إِنْكَارُ أَنَّ التِّقْنِيَّةَ مُفِيدَةٌ، غَيْرَ أَنَّ الإِفْرَاطَ فِيهَا يُضْعِفُ التَّرْكِيزَ.</a:t>
            </a:r>
            <a:endParaRPr lang="ar-SA" sz="10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does </a:t>
            </a:r>
            <a:pPr algn="l" indent="0" marL="0">
              <a:buNone/>
            </a:pPr>
            <a:r>
              <a:rPr lang="ar-SA" altLang="en-US" sz="1650" b="1" dirty="0">
                <a:solidFill>
                  <a:srgbClr val="1B3B6F"/>
                </a:solidFill>
                <a:latin typeface="Amiri" pitchFamily="2" charset="-78"/>
                <a:ea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final conclusion</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concession before a counter-claim</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statistic</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concedes a difficult point before the writer makes the stronger claim.</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does </a:t>
            </a:r>
            <a:pPr algn="l" indent="0" marL="0">
              <a:buNone/>
            </a:pPr>
            <a:r>
              <a:rPr lang="ar-SA" altLang="en-US" sz="1650" b="1" dirty="0">
                <a:solidFill>
                  <a:srgbClr val="1B3B6F"/>
                </a:solidFill>
                <a:latin typeface="Amiri" pitchFamily="2" charset="-78"/>
                <a:ea typeface="Amiri" pitchFamily="2" charset="-78"/>
                <a:cs typeface="Amiri" pitchFamily="2" charset="-78"/>
              </a:rPr>
              <a:t>وَبِنَاءً عَلَى مَا سَبَقَ</a:t>
            </a:r>
            <a:pPr algn="l" indent="0" marL="0">
              <a:buNone/>
            </a:pPr>
            <a:r>
              <a:rPr lang="en-US" sz="1250" b="1" dirty="0">
                <a:solidFill>
                  <a:srgbClr val="1B3B6F"/>
                </a:solidFill>
                <a:latin typeface="Calibri" pitchFamily="34" charset="0"/>
                <a:cs typeface="Amiri" pitchFamily="2" charset="-78"/>
              </a:rPr>
              <a:t> mark?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argument</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synthesising conclusion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quotation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وَبِنَاءً عَلَى مَا سَبَقَ</a:t>
            </a:r>
            <a:pPr algn="l" indent="0" marL="0">
              <a:buNone/>
            </a:pPr>
            <a:r>
              <a:rPr lang="en-US" sz="1050" i="1" dirty="0">
                <a:solidFill>
                  <a:srgbClr val="8A6D1E"/>
                </a:solidFill>
                <a:latin typeface="Calibri" pitchFamily="34" charset="0"/>
                <a:cs typeface="Amiri" pitchFamily="2" charset="-78"/>
              </a:rPr>
              <a:t> opens the conclusion.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Q5 — “Free reading develops the imagination.” Which text?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Text 1</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Text 2</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Text 3</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Text 3: </a:t>
            </a:r>
            <a:pPr algn="l" indent="0" marL="0">
              <a:buNone/>
            </a:pPr>
            <a:r>
              <a:rPr lang="ar-SA" altLang="en-US" sz="1350" dirty="0">
                <a:solidFill>
                  <a:srgbClr val="8A6D1E"/>
                </a:solidFill>
                <a:latin typeface="Amiri" pitchFamily="2" charset="-78"/>
                <a:ea typeface="Amiri" pitchFamily="2" charset="-78"/>
                <a:cs typeface="Amiri" pitchFamily="2" charset="-78"/>
              </a:rPr>
              <a:t>القِرَاءَةُ الحُرَّةُ تُنَمِّي الخَيَالَ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Q5 — “Volunteering strengthens community bonds.” Which text?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Text 2</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Text 1</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Text 3</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Text 2: </a:t>
            </a:r>
            <a:pPr algn="l" indent="0" marL="0">
              <a:buNone/>
            </a:pPr>
            <a:r>
              <a:rPr lang="ar-SA" altLang="en-US" sz="1350" dirty="0">
                <a:solidFill>
                  <a:srgbClr val="8A6D1E"/>
                </a:solidFill>
                <a:latin typeface="Amiri" pitchFamily="2" charset="-78"/>
                <a:ea typeface="Amiri" pitchFamily="2" charset="-78"/>
                <a:cs typeface="Amiri" pitchFamily="2" charset="-78"/>
              </a:rPr>
              <a:t>العَمَلُ التَّطَوُّعِيُّ يُقَوِّي رَوَابِطَ المُجْتَمَعِ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Q5 — “The library closes at eight in the evening.” Which text?</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Text 2</a:t>
            </a:r>
            <a:endParaRPr lang="en-US" sz="1250" dirty="0"/>
          </a:p>
        </p:txBody>
      </p:sp>
      <p:sp>
        <p:nvSpPr>
          <p:cNvPr id="97" name="Shape 94"/>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827836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Text 1</a:t>
            </a:r>
            <a:endParaRPr lang="en-US" sz="12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Text 3</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Text 1: </a:t>
            </a:r>
            <a:pPr algn="l" indent="0" marL="0">
              <a:buNone/>
            </a:pPr>
            <a:r>
              <a:rPr lang="ar-SA" altLang="en-US" sz="1350" dirty="0">
                <a:solidFill>
                  <a:srgbClr val="8A6D1E"/>
                </a:solidFill>
                <a:latin typeface="Amiri" pitchFamily="2" charset="-78"/>
                <a:ea typeface="Amiri" pitchFamily="2" charset="-78"/>
                <a:cs typeface="Amiri" pitchFamily="2" charset="-78"/>
              </a:rPr>
              <a:t>تُغْلَقُ المَكْتَبَةُ فِي السَّاعَةِ الثَّامِنَةِ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WRITE AN R3 ANSWER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gap-fills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 the three Text 2 gap-fill sentences with the correct form, and circle the trigger in each.</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Look left of the gap: anna / an / law?</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2 R3 answers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In English: why does the writer of Text 3 use lā yumkinu inkāru anna? Why wa-bināʾan ʿalā mā sabaqa? Quote the Arabic.</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Name the structure · say what it does · quote it.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40–50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In Arabic: an R3 analysis of Text 3 — the writer’s attitude and the two structures that show it.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Use the frames: يَدُلُّ … عَلَى أَنَّ … · لِذٰلِكَ أَرَى أَنَّ مَوْقِفَهُ مُتَوَازِنٌ.</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R3 FRAMES AND WORD BANK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R3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التَّحْلِيلِ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يَرَى الكَاتِبُ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writer believes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«لَا يُمْكِنُ إِنْكَارُ أَنَّ» يَدُلُّ عَلَى أَنَّ الكَاتِبَ ______ .</a:t>
            </a:r>
            <a:endParaRPr lang="ar-SA" sz="14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“lā yumkinu inkāru anna” shows that the writer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«وَبِنَاءً عَلَى مَا سَبَقَ» تَفْتَحُ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“wa-bināʾan ʿalā mā sabaqa” opens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لِذٰلِكَ أَرَى أَنَّ مَوْقِفَهُ مُتَوَازِنٌ.</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 I think his position is balanced.</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المُسَبِّبُ فِي الجُمْلَةِ هُوَ «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trigger in the sentence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لِذٰلِكَ يَنْتَهِي الفِعْلُ بِالفَتْحَةِ: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 the verb ends in -a: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«صَحِيحٌ أَنَّ» نَجِدُ وَاقِعًا: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ṣaḥīḥun anna the clause is a fact: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جَوَابُ «لَوْ» يَبْدَأُ بِاللَّامِ: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law takes a la- result: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أَنْ تُنَظِّمَ  ·  لَتَغَيَّرَتْ  ·  مَحْدُودٌ  ·  يَتَطَلَّبُ  ·  القِرَاءَةَ الحُرَّةَ تُنَمِّي الخَيَالَ  ·  يُسَلِّمُ بِفَائِدَةِ التِّقْنِيَّةِ  ·  قَبْلَ أَنْ يَرُدَّ  ·  الخَاتِمَةَ  ·  مُتَوَازِنٌ  ·  أُحَادِيٌّ  ·  الإِفْرَاطَ  ·  التَّرْكِيزَ</a:t>
            </a:r>
            <a:endParaRPr lang="ar-SA" sz="15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A MODEL R3 ANSWER (TEACHER-WRITTEN)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What a strong R3 answer looks like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يَرَى الكَاتِبُ أَنَّ القِرَاءَةَ الحُرَّةَ تُنَمِّي الخَيَالَ أَكْثَرَ مِنَ الشَّاشَاتِ. وَعِبَارَةُ «لَا يُمْكِنُ إِنْكَارُ أَنَّ التِّقْنِيَّةَ مُفِيدَةٌ» تَدُلُّ عَلَى أَنَّهُ يُسَلِّمُ بِفَائِدَةِ التِّقْنِيَّةِ قَبْلَ أَنْ يَرُدَّ بِـ«غَيْرَ أَنَّ». ثُمَّ تَفْتَحُ «وَبِنَاءً عَلَى مَا سَبَقَ» الخَاتِمَةَ. لِذٰلِكَ أَرَى أَنَّ مَوْقِفَهُ مُتَوَازِنٌ لَا أُحَادِيٌّ.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writer believes that free reading develops the imagination more than screens. The phrase “it cannot be denied that technology is useful” shows that he concedes the benefit of technology before replying with “however”. Then “based on the above” opens the conclusion. So I think his position is balanced, not one-sided.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writer’s view (yarā)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concession and its job</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conclusion connector</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verdict: balanced</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PERFORMANCE ANALYSIS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performance analysis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تَحْلِيلُ الأَدَاءِ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Yours</a:t>
            </a:r>
            <a:endParaRPr lang="en-US" sz="1100" dirty="0"/>
          </a:p>
        </p:txBody>
      </p:sp>
      <p:sp>
        <p:nvSpPr>
          <p:cNvPr id="17" name="Text 14"/>
          <p:cNvSpPr txBox="1"/>
          <p:nvPr/>
        </p:nvSpPr>
        <p:spPr>
          <a:xfrm>
            <a:off x="473659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Record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796528" y="2267712"/>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4773168" y="2267712"/>
            <a:ext cx="3840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R1 / R2 / R3 / R4</a:t>
            </a:r>
            <a:endParaRPr lang="en-US" sz="1100" dirty="0"/>
          </a:p>
        </p:txBody>
      </p:sp>
      <p:sp>
        <p:nvSpPr>
          <p:cNvPr id="22" name="Text 19"/>
          <p:cNvSpPr txBox="1"/>
          <p:nvPr/>
        </p:nvSpPr>
        <p:spPr>
          <a:xfrm>
            <a:off x="566928" y="2267712"/>
            <a:ext cx="4023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Weakest R level (R1 / R2 / R3 / R4)</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8796528" y="300471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5" name="Text 22"/>
          <p:cNvSpPr txBox="1"/>
          <p:nvPr/>
        </p:nvSpPr>
        <p:spPr>
          <a:xfrm>
            <a:off x="4773168" y="3004718"/>
            <a:ext cx="3840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26" name="Text 23"/>
          <p:cNvSpPr txBox="1"/>
          <p:nvPr/>
        </p:nvSpPr>
        <p:spPr>
          <a:xfrm>
            <a:off x="566928" y="3004718"/>
            <a:ext cx="4023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Q4 gap-fill accuracy (out of 3)</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8796528" y="3741725"/>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4773168" y="3741725"/>
            <a:ext cx="3840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0" name="Text 27"/>
          <p:cNvSpPr txBox="1"/>
          <p:nvPr/>
        </p:nvSpPr>
        <p:spPr>
          <a:xfrm>
            <a:off x="566928" y="3741725"/>
            <a:ext cx="4023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Q5 cross-text accuracy (out of 3)</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8796528" y="4478731"/>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4773168" y="4478731"/>
            <a:ext cx="3840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find the trigger first, I will cover the options</a:t>
            </a:r>
            <a:endParaRPr lang="en-US" sz="1100" dirty="0"/>
          </a:p>
        </p:txBody>
      </p:sp>
      <p:sp>
        <p:nvSpPr>
          <p:cNvPr id="34" name="Text 31"/>
          <p:cNvSpPr txBox="1"/>
          <p:nvPr/>
        </p:nvSpPr>
        <p:spPr>
          <a:xfrm>
            <a:off x="566928" y="4478731"/>
            <a:ext cx="4023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Q4 improvement action</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8796528" y="521573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4773168" y="5215738"/>
            <a:ext cx="3840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spot the paraphrase, I will underline the key idea</a:t>
            </a:r>
            <a:endParaRPr lang="en-US" sz="1100" dirty="0"/>
          </a:p>
        </p:txBody>
      </p:sp>
      <p:sp>
        <p:nvSpPr>
          <p:cNvPr id="38" name="Text 35"/>
          <p:cNvSpPr txBox="1"/>
          <p:nvPr/>
        </p:nvSpPr>
        <p:spPr>
          <a:xfrm>
            <a:off x="566928" y="5215738"/>
            <a:ext cx="4023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Q5 improvement action</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Total …/16. Write your Q4 and Q5 actions under your Paper 2 target.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READING REFLECTION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reflection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التَّأَمُّلُ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ending</a:t>
            </a:r>
            <a:endParaRPr lang="en-US" sz="1100" dirty="0"/>
          </a:p>
        </p:txBody>
      </p:sp>
      <p:sp>
        <p:nvSpPr>
          <p:cNvPr id="17" name="Text 14"/>
          <p:cNvSpPr txBox="1"/>
          <p:nvPr/>
        </p:nvSpPr>
        <p:spPr>
          <a:xfrm>
            <a:off x="52852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Reflection frame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R2 — I proved every fact with the text</a:t>
            </a:r>
            <a:endParaRPr lang="en-US" sz="1100" dirty="0"/>
          </a:p>
        </p:txBody>
      </p:sp>
      <p:sp>
        <p:nvSpPr>
          <p:cNvPr id="21" name="Text 18"/>
          <p:cNvSpPr txBox="1"/>
          <p:nvPr/>
        </p:nvSpPr>
        <p:spPr>
          <a:xfrm>
            <a:off x="532180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strongest level</a:t>
            </a:r>
            <a:endParaRPr lang="en-US" sz="1100" dirty="0"/>
          </a:p>
        </p:txBody>
      </p:sp>
      <p:sp>
        <p:nvSpPr>
          <p:cNvPr id="22" name="Text 19"/>
          <p:cNvSpPr txBox="1"/>
          <p:nvPr/>
        </p:nvSpPr>
        <p:spPr>
          <a:xfrm>
            <a:off x="566928" y="2267712"/>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strongest R level today was…</a:t>
            </a:r>
            <a:endParaRPr lang="en-US" sz="11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Q4 — covering the options first</a:t>
            </a:r>
            <a:endParaRPr lang="en-US" sz="1100" dirty="0"/>
          </a:p>
        </p:txBody>
      </p:sp>
      <p:sp>
        <p:nvSpPr>
          <p:cNvPr id="25" name="Text 22"/>
          <p:cNvSpPr txBox="1"/>
          <p:nvPr/>
        </p:nvSpPr>
        <p:spPr>
          <a:xfrm>
            <a:off x="532180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practice for the mock</a:t>
            </a:r>
            <a:endParaRPr lang="en-US" sz="1100" dirty="0"/>
          </a:p>
        </p:txBody>
      </p:sp>
      <p:sp>
        <p:nvSpPr>
          <p:cNvPr id="26" name="Text 23"/>
          <p:cNvSpPr txBox="1"/>
          <p:nvPr/>
        </p:nvSpPr>
        <p:spPr>
          <a:xfrm>
            <a:off x="566928" y="3054096"/>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 the mock I will practise…</a:t>
            </a: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8412480" y="3840480"/>
            <a:ext cx="322783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المَعْنَى العَامُّ</a:t>
            </a:r>
            <a:endParaRPr lang="ar-SA" sz="1500" dirty="0"/>
          </a:p>
        </p:txBody>
      </p:sp>
      <p:sp>
        <p:nvSpPr>
          <p:cNvPr id="29" name="Text 26"/>
          <p:cNvSpPr txBox="1"/>
          <p:nvPr/>
        </p:nvSpPr>
        <p:spPr>
          <a:xfrm>
            <a:off x="5321808"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strongest level is …</a:t>
            </a:r>
            <a:endParaRPr lang="en-US" sz="1100" dirty="0"/>
          </a:p>
        </p:txBody>
      </p:sp>
      <p:sp>
        <p:nvSpPr>
          <p:cNvPr id="30" name="Text 27"/>
          <p:cNvSpPr txBox="1"/>
          <p:nvPr/>
        </p:nvSpPr>
        <p:spPr>
          <a:xfrm>
            <a:off x="548640" y="3840480"/>
            <a:ext cx="457200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أَقْوَى مُسْتَوًى عِنْدِي هُوَ ______ .</a:t>
            </a:r>
            <a:endParaRPr lang="ar-SA" sz="1800" dirty="0"/>
          </a:p>
        </p:txBody>
      </p:sp>
      <p:sp>
        <p:nvSpPr>
          <p:cNvPr id="31" name="Text 2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My Paper 2 priority — write it under your Paper 2 target.</a:t>
            </a:r>
            <a:endParaRPr lang="en-US" sz="11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located the thesis (R1) and proved facts from the text (R2).</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matched each Q5 statement to its text by its key idea.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chose -u after ṣaḥīḥun anna and -a after a trigger in Q4.</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analysed attitude, register and purpose for R3.</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an R3 answer that names the structure, its job and the evidence.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P6-L03 · IGCSE Bridge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P6-L04: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P6-L04 · Paper 4 Q1 — Directed Writing: Mastering Form and Register</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الكِتَابَةُ المُوَجَّهَةُ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directed writing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خِطَابٌ رَسْمِيٌّ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formal letter</a:t>
            </a:r>
            <a:pPr indent="0" marL="0">
              <a:buNone/>
            </a:pPr>
            <a:r>
              <a:rPr lang="ar-SA" sz="1000" i="1" dirty="0">
                <a:solidFill>
                  <a:srgbClr val="5A6472"/>
                </a:solidFill>
                <a:latin typeface="Calibri" pitchFamily="34" charset="0"/>
                <a:ea typeface="Amiri" pitchFamily="2" charset="-78"/>
                <a:cs typeface="Amiri" pitchFamily="2" charset="-78"/>
              </a:rPr>
              <a:t>  pl. خِطَابَاتٌ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صِيغَةٌ رَسْمِيَّةٌ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formal register</a:t>
            </a:r>
            <a:pPr indent="0" marL="0">
              <a:buNone/>
            </a:pPr>
            <a:r>
              <a:rPr lang="ar-SA" sz="1000" i="1" dirty="0">
                <a:solidFill>
                  <a:srgbClr val="5A6472"/>
                </a:solidFill>
                <a:latin typeface="Amiri" pitchFamily="2" charset="-78"/>
                <a:ea typeface="Amiri" pitchFamily="2" charset="-78"/>
                <a:cs typeface="Amiri" pitchFamily="2" charset="-78"/>
              </a:rPr>
              <a:t>  ≠ غَيْرُ رَسْمِيَّةٍ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أَتَشَرَّفُ بِمُخَاطَبَتِكُمْ</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have the honour of writing to you</a:t>
            </a:r>
            <a:pPr indent="0" marL="0">
              <a:buNone/>
            </a:pPr>
            <a:r>
              <a:rPr lang="en-US" sz="1000" i="1" dirty="0">
                <a:solidFill>
                  <a:srgbClr val="5A6472"/>
                </a:solidFill>
                <a:latin typeface="Calibri" pitchFamily="34" charset="0"/>
                <a:cs typeface="Amiri" pitchFamily="2" charset="-78"/>
              </a:rPr>
              <a:t>  formal opener</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وَتَفَضَّلُوا بِقَبُولِ الاحْتِرَامِ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yours faithfully</a:t>
            </a:r>
            <a:pPr indent="0" marL="0">
              <a:buNone/>
            </a:pPr>
            <a:r>
              <a:rPr lang="en-US" sz="1000" i="1" dirty="0">
                <a:solidFill>
                  <a:srgbClr val="5A6472"/>
                </a:solidFill>
                <a:latin typeface="Calibri" pitchFamily="34" charset="0"/>
                <a:cs typeface="Amiri" pitchFamily="2" charset="-78"/>
              </a:rPr>
              <a:t>  formal closer</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does a letter to a minister begin differently from a message to a friend?</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أَبْدَأُ الخِطَابَ الرَّسْمِيَّ بِعِبَارَةِ «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Q4 gap-fills and Q5 matches you missed; learn the five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one R3 answer on Text 2 (why ṣaḥīḥun anna?); learn the five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Finish your 40–50-word Arabic R3 analysis; learn the five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28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P6-L03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P6-L04 · Paper 4 Q1 — Directed Writing: Mastering Form and Register</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الوَرَقَةُ الرَّابِعَةُ — الكِتَابَةُ المُوَجَّهَةُ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climb the ladder — R1 main idea · R2 facts · R3 WHY the writer chose it · R4 the exact answer. Q4: find the trigger first. Q5: match the meaning, not one word.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P6-L03 · Paper 2 Reading — Full Format Practice and R1–R4 Mastery</dc:title>
  <dc:subject>PptxGenJS Presentation</dc:subject>
  <dc:creator>Al Madina Online School · Arabic Department</dc:creator>
  <cp:lastModifiedBy>Al Madina Online School · Arabic Department</cp:lastModifiedBy>
  <cp:revision>1</cp:revision>
  <dcterms:created xsi:type="dcterms:W3CDTF">2026-10-11T06:43:34Z</dcterms:created>
  <dcterms:modified xsi:type="dcterms:W3CDTF">2026-10-11T06:43:34Z</dcterms:modified>
</cp:coreProperties>
</file>