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9–12 Exam conditions + the six strategies · 12–40 THE MOCK: Text 1 · Text 2 · Text 3 (each read twice) · 40–48 Mark together · 48–53 Score and convert · 53–56 Reflection + self-check · 56–58 Preparation.
FLEX slides are optional. Use them if the class is moving quickly; otherwise the same activities are on the website for homework.
Content source: Miftah Arabic website, Pathways › Progression › P6 IGCSE Bridge › P6-L08. The website P6-L08: the panel “Before you begin”, three listening texts with scripts (a doctor on a balanced life — 8 multiple-choice questions · two friends on future plans — 6 matching questions · an official on a social programme — 6 select-the-statement questions), the score record (raw /20 → /45) and the post-mock reflection.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MOCK EXAM: the website asks for full exam conditions — no glossary, no read-along and no English support during the paper. The scripts are in the speaker notes; the teacher reads each one TWICE.
• Routes apply to the TARGET, not the paper: everyone sits the same mock. Core — answer every question (a guess is better than a blank) · Develop — annotate every question before the script · Stretch — use the second reading only to verify.
• Answers are shown TOGETHER after Text 3, as in a real exam. Students mark in a different colour.
• Extra time / access arrangements: follow each student’s plan (e.g. a third reading for a student with a listening-access arrangement).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listening words revised at the end of P6-L07. Questions 4–5 retrieve the two signals that most often decide a Paper 1 answer: the concession (the view comes after ghayra anna) and the unreal conditional.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label, listen for gist, listen to verify — and never leave a blank.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panel plus the six strategies from P6-L02. Then set up the exam room: paper ready, numbers 1–20 written down the margin, cameras on, chat closed.
WEBSITE PANEL “Before you begin”: This is a mock examination. Work silently, without notes, in one sitting. Read the questions in the two-minute gaps, then read each script twice. The three texts carry 8 + 6 + 6 = 20 raw marks; the real Paper 1 scales this section to 45. Record your raw score at the end and convert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Students write answers on paper (1A, 2C …) and photograph the sheet into the assignment at the end. Read the script twice at a steady pace with a short pause between readings; no further repetition.
TEXT 1 (website) — multiple choice, 8 marks. Two minutes to read the questions first.
TEACHER READS THE SCRIPT ALOUD TWICE (exam conditions: no pausing, no repetition beyond the second reading). Students read the questions first (30 s).
SCRIPT: تَقُولُ الطَّبِيبَةُ: أُشِيرُ إِلَى أَنَّ الوِقَايَةَ خَيْرٌ مِنَ العِلَاجِ. صَحِيحٌ أَنَّ الأَدْوِيَةَ ضَرُورِيَّةٌ أَحْيَانًا، غَيْرَ أَنَّ نَمَطَ الحَيَاةِ الصِّحِّيَّ يَقِي مِنْ كَثِيرٍ مِنَ الأَمْرَاضِ. كَانَ كَثِيرٌ مِنَ المَرْضَى قَدْ أَهْمَلُوا الرِّيَاضَةَ لِسَنَوَاتٍ. وَإِذَا مَشَى الإِنْسَانُ نِصْفَ سَاعَةٍ يَوْمِيًّا، سَيَتَحَسَّنُ قَلْبُهُ. وَلَوْ قَلَّلْنَا مِنَ السُّكَّرِ، لَانْخَفَضَتْ أَمْرَاضُ العَصْرِ. وَيَنْبَغِي أَنْ نَشْرَبَ المَاءَ بِوَفْرَةٍ. وَأَرْجُو أَنْ يَهْتَمَّ الشَّبَابُ بِصِحَّتِهِمْ مُبَكِّرًا.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Students write answers on paper (1A, 2C …) and photograph the sheet into the assignment at the end. Read the script twice at a steady pace with a short pause between readings; no further repetition.
TEXT 2 (website) — matching: who says it? 6 marks. Use a different voice for نُورٌ and زَيْدٌ, and say each name clearly.
TEACHER READS THE SCRIPT ALOUD TWICE (exam conditions: no pausing, no repetition beyond the second reading). Students read the questions first (30 s).
SCRIPT: نُورٌ: أَرَى أَنَّ التَّدْرِيبَ العَمَلِيَّ لَا يَقِلُّ أَهَمِّيَّةً عَنِ الشَّهَادَةِ. زَيْدٌ: صَحِيحٌ أَنَّ الشَّهَادَةَ مُهِمَّةٌ، غَيْرَ أَنَّ المَهَارَاتِ تَصْنَعُ الفَرْقَ. نُورٌ: وَلَوْ بَدَأْتُ التَّدَرُّبَ مُبَكِّرًا، لَاكْتَسَبْتُ خِبْرَةً أَكْبَرَ. زَيْدٌ: وَيَنْبَغِي أَنْ نَخْتَارَ مَجَالًا نُحِبُّهُ. نُورٌ: وَأَكَّدَ مُعَلِّمِي أَنَّ الشَّغَفَ يَقُودُ إِلَى النَّجَاحِ. زَيْدٌ: وَإِذَا حَدَّدْتُ هَدَفِي، سَأُخَطِّطُ لَهُ بِوُضُوحٍ.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Students write answers on paper (1A, 2C …) and photograph the sheet into the assignment at the end. Read the script twice at a steady pace with a short pause between readings; no further repetition.
TEXT 3 (website) — select the statement the text supports, 6 marks. Distractors use words from the text but change the meaning.
TEACHER READS THE SCRIPT ALOUD TWICE (exam conditions: no pausing, no repetition beyond the second reading). Students read the questions first (30 s).
SCRIPT: يَقُولُ المَسْؤُولُ: كَانَتِ المِنْطَقَةُ قَدْ عَانَتْ مِنَ البَطَالَةِ بَيْنَ الشَّبَابِ. وَاليَوْمَ يَتَطَلَّبُ الأَمْرُ أَنْ نُوَفِّرَ فُرَصَ تَدْرِيبٍ حَقِيقِيَّةً. أُطْلِقَ بَرْنَامَجٌ لِكَيْ يُمَكِّنَ الشَّبَابَ مِنْ سُوقِ العَمَلِ. صَحِيحٌ أَنَّ التَّمْوِيلَ مَحْدُودٌ، غَيْرَ أَنَّ الإِرَادَةَ مَوْجُودَةٌ. وَإِذَا تَعَاوَنَ القِطَاعَانِ العَامُّ وَالخَاصُّ، سَتَزْدَادُ الفُرَصُ. وَيَرْجُو المَسْؤُولُ أَنْ يُصْبِحَ البَرْنَامَجُ نَمُوذَجًا وَطَنِيًّا.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(5 min) — website fields. Core students may use a calculator for the conversion. Collect the scores privately (form or private chat); do not compare publicly.
Website: Add your three raw scores, then convert to /45 (raw × 2.25). Bring this to Lesson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Praise the effort of sitting a full paper; the score is information, not a judgement.
Website:  (Paper 1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(P6-L09 · Mock Examination — Papers 2 and 4 (Reading and Writing)) will spend class time USING this language, so students prepare it tonight — short, simple, easy to access (school guidance: “Simple, Short, Interesting, Relevant, Easy to access”). P6-L09 is a mock with no new vocabulary: these five words are revised from the website P6-L03 (reading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Mock Examination — Paper 1 Listening (Full Exam Conditions)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امْتِحَانُ المُحَاكَاةِ — الوَرَقَةُ الأُولَى: الاسْتِمَاعُ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Sit a full mock Paper 1 under exam conditions — three texts, three formats, every listening strategy at once — then mark it, convert the score to /45 and choose one priority for the real exam.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P6-L08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the listening strategies.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Exam conditions and the six strategies.</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ظُرُوفُ الامْتِحَانِ</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28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mock: three texts, each read twice.</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الامْتِحَانُ</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8A6D1E"/>
          </a:solidFill>
          <a:ln w="12700">
            <a:solidFill>
              <a:srgbClr val="8A6D1E"/>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13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Mark together, score and convert.</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صَحِّحْ</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Reflection and self-check.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the reading and writing mock.</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قِرَاءَةُ الأَسْئِلَةِ مُسْبَقًا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the answers aloud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the questions in advance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asking a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مُشَتِّتَاتُ الاسْتِمَاعِ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listening distractors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listening strategies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listening texts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التَّحَقُّقُ فِي الاسْتِمَاعِ الثَّانِي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listening a second time for fun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second question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verifying on the second listen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 غَيْرَ أَنَّ</a:t>
            </a:r>
            <a:pPr algn="l" indent="0" marL="0">
              <a:buNone/>
            </a:pPr>
            <a:r>
              <a:rPr lang="en-US" sz="1250" b="1" dirty="0">
                <a:solidFill>
                  <a:srgbClr val="1B3B6F"/>
                </a:solidFill>
                <a:latin typeface="Calibri" pitchFamily="34" charset="0"/>
                <a:ea typeface="Calibri" pitchFamily="34" charset="-122"/>
                <a:cs typeface="Calibri" pitchFamily="34" charset="-120"/>
              </a:rPr>
              <a:t> … Where is the speaker’s real view?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صَحِيحٌ أَنَّ</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neither part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غَيْرَ أَنَّ</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لَوْ دَرَسْتُ … لَنَجَحْتُ</a:t>
            </a:r>
            <a:pPr algn="l" indent="0" marL="0">
              <a:buNone/>
            </a:pPr>
            <a:r>
              <a:rPr lang="en-US" sz="1250" b="1" dirty="0">
                <a:solidFill>
                  <a:srgbClr val="1B3B6F"/>
                </a:solidFill>
                <a:latin typeface="Calibri" pitchFamily="34" charset="0"/>
                <a:ea typeface="Calibri" pitchFamily="34" charset="-122"/>
                <a:cs typeface="Calibri" pitchFamily="34" charset="-120"/>
              </a:rPr>
              <a:t> — what kind of sentence is it?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unreal (Type 2) conditional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(Type 1) conditional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قِرَاءَةُ الأَسْئِلَةِ مُسْبَقًا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the answers aloud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 the questions in advance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asking a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(P6-L07, from P6-L02).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مُشَتِّتَاتُ الاسْتِمَاعِ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listening distractors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listening strategies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listening texts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(P6-L07, from P6-L02).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التَّحَقُّقُ فِي الاسْتِمَاعِ الثَّانِي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listening a second time for fun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second question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verifying on the second listen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(P6-L07, from P6-L02).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 غَيْرَ أَنَّ</a:t>
            </a:r>
            <a:pPr algn="l" indent="0" marL="0">
              <a:buNone/>
            </a:pPr>
            <a:r>
              <a:rPr lang="en-US" sz="1250" b="1" dirty="0">
                <a:solidFill>
                  <a:srgbClr val="1B3B6F"/>
                </a:solidFill>
                <a:latin typeface="Calibri" pitchFamily="34" charset="0"/>
                <a:ea typeface="Calibri" pitchFamily="34" charset="-122"/>
                <a:cs typeface="Calibri" pitchFamily="34" charset="-120"/>
              </a:rPr>
              <a:t> … Where is the speaker’s real view?</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t>
            </a:r>
            <a:pPr algn="l" indent="0" marL="0">
              <a:buNone/>
            </a:pPr>
            <a:r>
              <a:rPr lang="ar-SA" altLang="en-US" sz="1650" dirty="0">
                <a:solidFill>
                  <a:srgbClr val="9AA1AB"/>
                </a:solidFill>
                <a:latin typeface="Amiri" pitchFamily="34" charset="0"/>
                <a:ea typeface="Amiri" pitchFamily="34" charset="-122"/>
                <a:cs typeface="Amiri" pitchFamily="34" charset="-120"/>
              </a:rPr>
              <a:t>صَحِيحٌ أَنَّ</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neither part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a:t>
            </a:r>
            <a:pPr algn="l" indent="0" marL="0">
              <a:buNone/>
            </a:pPr>
            <a:r>
              <a:rPr lang="ar-SA" altLang="en-US" sz="1650" b="1" dirty="0">
                <a:solidFill>
                  <a:srgbClr val="1F2A37"/>
                </a:solidFill>
                <a:latin typeface="Amiri" pitchFamily="34" charset="0"/>
                <a:ea typeface="Amiri" pitchFamily="34" charset="-122"/>
                <a:cs typeface="Amiri" pitchFamily="34" charset="-120"/>
              </a:rPr>
              <a:t>غَيْرَ أَنَّ</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concession comes first; the view follows ghayra anna.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لَوْ دَرَسْتُ … لَنَجَحْتُ</a:t>
            </a:r>
            <a:pPr algn="l" indent="0" marL="0">
              <a:buNone/>
            </a:pPr>
            <a:r>
              <a:rPr lang="en-US" sz="1250" b="1" dirty="0">
                <a:solidFill>
                  <a:srgbClr val="1B3B6F"/>
                </a:solidFill>
                <a:latin typeface="Calibri" pitchFamily="34" charset="0"/>
                <a:ea typeface="Calibri" pitchFamily="34" charset="-122"/>
                <a:cs typeface="Calibri" pitchFamily="34" charset="-120"/>
              </a:rPr>
              <a:t> — what kind of sentence is it?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unreal (Type 2) conditional</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real (Type 1) conditional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lau + past, la- + past = unreal.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Read, label, listen for gist, listen to verify — and never leave a blank.</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اقْرَأْ ← تَنَبَّأْ ← اسْتَمِعْ ← تَحَقَّقْ</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Sit the mock Paper 1 Listening under exam conditions.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all six listening strategies simultaneously.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F1–P6 grammar in fast speech across three formats.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Record your raw score and identify targets for the final exam.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every question — no blanks.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record my raw score.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annotate each question before the script.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convert my score to /45.</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the second reading to verify, not to over-change.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my priority format and a strategy to fix it.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EXAM CONDITIONS (WEBSITE) · THE SIX STRATEGIES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Before you begin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ظُرُوفُ الامْتِحَانِ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This is a mock examination. Work silently, without notes, in one sitting. Read the questions in the two-minute gaps, then read each script twice.</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523488"/>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three texts carry 8 + 6 + 6 = 20 raw marks; the real Paper 1 scales this section to 45. Record your raw score at the end and convert it.</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870704"/>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Never leave a blank: a guess may score; a blank never does.</a:t>
            </a:r>
            <a:endParaRPr lang="en-US" sz="1300" dirty="0"/>
          </a:p>
        </p:txBody>
      </p:sp>
      <p:sp>
        <p:nvSpPr>
          <p:cNvPr id="26" name="Shape 23"/>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SIX STRATEGIES (P6-L02)</a:t>
            </a:r>
            <a:endParaRPr lang="en-US" sz="1000" dirty="0"/>
          </a:p>
        </p:txBody>
      </p:sp>
      <p:sp>
        <p:nvSpPr>
          <p:cNvPr id="28" name="Text 25"/>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34" charset="0"/>
                <a:ea typeface="Amiri" pitchFamily="34" charset="-122"/>
                <a:cs typeface="Amiri" pitchFamily="34" charset="-120"/>
              </a:rPr>
              <a:t>قِرَاءَةُ الأَسْئِلَةِ مُسْبَقًا · التَّنَبُّؤُ بِالمُحْتَوَى</a:t>
            </a:r>
            <a:endParaRPr lang="ar-SA" sz="2450" dirty="0"/>
          </a:p>
        </p:txBody>
      </p:sp>
      <p:sp>
        <p:nvSpPr>
          <p:cNvPr id="29" name="Text 26"/>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1–2: read the questions first · predict the content</a:t>
            </a:r>
            <a:endParaRPr lang="en-US" sz="1100" dirty="0"/>
          </a:p>
        </p:txBody>
      </p:sp>
      <p:sp>
        <p:nvSpPr>
          <p:cNvPr id="30" name="Shape 27"/>
          <p:cNvSpPr/>
          <p:nvPr/>
        </p:nvSpPr>
        <p:spPr>
          <a:xfrm>
            <a:off x="6995160" y="3535680"/>
            <a:ext cx="4553712" cy="0"/>
          </a:xfrm>
          <a:prstGeom prst="line">
            <a:avLst/>
          </a:prstGeom>
          <a:noFill/>
          <a:ln w="9525">
            <a:solidFill>
              <a:srgbClr val="E4DCCB"/>
            </a:solidFill>
            <a:prstDash val="dash"/>
          </a:ln>
        </p:spPr>
      </p:sp>
      <p:sp>
        <p:nvSpPr>
          <p:cNvPr id="31" name="Text 28"/>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34" charset="0"/>
                <a:ea typeface="Amiri" pitchFamily="34" charset="-122"/>
                <a:cs typeface="Amiri" pitchFamily="34" charset="-120"/>
              </a:rPr>
              <a:t>الاسْتِمَاعُ الأَوَّلُ لِلْفَهْمِ العَامِّ · التَّرْكِيزُ عَلَى الإِشَارَاتِ</a:t>
            </a:r>
            <a:endParaRPr lang="ar-SA" sz="1850" dirty="0"/>
          </a:p>
        </p:txBody>
      </p:sp>
      <p:sp>
        <p:nvSpPr>
          <p:cNvPr id="32" name="Text 29"/>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3–4: first listen for gist · listen for the signals (</a:t>
            </a:r>
            <a:pPr algn="ctr" indent="0" marL="0">
              <a:buNone/>
            </a:pPr>
            <a:r>
              <a:rPr lang="ar-SA" altLang="en-US" sz="1450" dirty="0">
                <a:solidFill>
                  <a:srgbClr val="5A6472"/>
                </a:solidFill>
                <a:latin typeface="Amiri" pitchFamily="34" charset="0"/>
                <a:ea typeface="Amiri" pitchFamily="34" charset="-122"/>
                <a:cs typeface="Amiri" pitchFamily="34" charset="-120"/>
              </a:rPr>
              <a:t>لَوْ</a:t>
            </a:r>
            <a:pPr algn="ctr" indent="0" marL="0">
              <a:buNone/>
            </a:pPr>
            <a:r>
              <a:rPr lang="en-US" sz="1100" i="1" dirty="0">
                <a:solidFill>
                  <a:srgbClr val="5A6472"/>
                </a:solidFill>
                <a:latin typeface="Calibri" pitchFamily="34" charset="0"/>
                <a:ea typeface="Calibri" pitchFamily="34" charset="-122"/>
                <a:cs typeface="Calibri" pitchFamily="34" charset="-120"/>
              </a:rPr>
              <a:t> · </a:t>
            </a:r>
            <a:pPr algn="ctr" indent="0" marL="0">
              <a:buNone/>
            </a:pPr>
            <a:r>
              <a:rPr lang="ar-SA" altLang="en-US" sz="1450" dirty="0">
                <a:solidFill>
                  <a:srgbClr val="5A6472"/>
                </a:solidFill>
                <a:latin typeface="Amiri" pitchFamily="34" charset="0"/>
                <a:ea typeface="Amiri" pitchFamily="34" charset="-122"/>
                <a:cs typeface="Amiri" pitchFamily="34" charset="-120"/>
              </a:rPr>
              <a:t>غَيْرَ أَنَّ</a:t>
            </a:r>
            <a:pPr algn="ctr"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33" name="Shape 30"/>
          <p:cNvSpPr/>
          <p:nvPr/>
        </p:nvSpPr>
        <p:spPr>
          <a:xfrm>
            <a:off x="6995160" y="4895088"/>
            <a:ext cx="4553712" cy="0"/>
          </a:xfrm>
          <a:prstGeom prst="line">
            <a:avLst/>
          </a:prstGeom>
          <a:noFill/>
          <a:ln w="9525">
            <a:solidFill>
              <a:srgbClr val="E4DCCB"/>
            </a:solidFill>
            <a:prstDash val="dash"/>
          </a:ln>
        </p:spPr>
      </p:sp>
      <p:sp>
        <p:nvSpPr>
          <p:cNvPr id="34" name="Text 31"/>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الحَذَرُ مِنَ المُشَتِّتَاتِ · التَّحَقُّقُ فِي الاسْتِمَاعِ الثَّانِي</a:t>
            </a:r>
            <a:endParaRPr lang="ar-SA" sz="2000" dirty="0"/>
          </a:p>
        </p:txBody>
      </p:sp>
      <p:sp>
        <p:nvSpPr>
          <p:cNvPr id="35" name="Text 32"/>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5–6: beware of distractors · verify on the second listen</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MOCK · PAPER 1 · TEXT 1 — MULTIPLE CHOICE (8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the correct option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doctor say prevention 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waste of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Better than cure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for the old</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concede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Medicines are useless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Lifestyle does not matter</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Medicines are sometimes necessary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emphasise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healthy lifestyle prevents many diseases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medicine works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 is pointless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many patients done (past perfect)?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Exercised daily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Neglected exercise for years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Followed the advice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conditional claim?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If a person walks half an hour daily, their heart will improve</a:t>
            </a:r>
            <a:endParaRPr lang="en-US" sz="110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Walking harms the heart</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heart cannot improve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conditional claim?</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Sugar has no effect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Diseases cannot fall</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we cut sugar, modern diseases would have fallen</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say one ought to do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Skip meals</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 all fat</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 plenty of water</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hope for (</a:t>
            </a:r>
            <a:pPr algn="l" indent="0" marL="0">
              <a:buNone/>
            </a:pPr>
            <a:r>
              <a:rPr lang="ar-SA" altLang="en-US" sz="1650" b="1" dirty="0">
                <a:solidFill>
                  <a:srgbClr val="1B3B6F"/>
                </a:solidFill>
                <a:latin typeface="Amiri" pitchFamily="34" charset="0"/>
                <a:ea typeface="Amiri" pitchFamily="34" charset="-122"/>
                <a:cs typeface="Amiri" pitchFamily="34" charset="-120"/>
              </a:rPr>
              <a:t>أَرْجُو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young people care for their health early</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people ignore health</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medicine replaces lifestyle</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MOCK · PAPER 1 · TEXT 2 — MATCHING: WHO SAYS IT?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Match each statement to the speaker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practical training is no less important than the certificate?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Nour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Zayd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concedes the certificate matters but skills make the difference?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Nour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Zayd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2 conditional about starting training early?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Nour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Zayd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one ought to choose a field they love?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Nour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Zayd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reports the teacher's view that passion leads to success?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Zayd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Nour</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1 conditional about defining a goal?</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Zayd</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Nour</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MOCK · PAPER 1 · TEXT 3 — SELECT THE SUPPORTED STATEMENTS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Choose the statement the text supports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had suffered from youth unemployment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always had jobs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Unemployment began today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(necessity trigger)?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is unnecessary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Opportunities should be cut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matter requires providing real training opportunities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(purpose,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programme excludes youth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programme has no aim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programme was launched to empower youth for the job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(concession-refutation)?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Funding is limited, yet the will exists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will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Funding is unlimited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(Type 1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Cooperation reduces opportunities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 public and private sectors cooperate, opportunities will grow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Opportunities cannot grow</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(hope, </a:t>
            </a:r>
            <a:pPr algn="l" indent="0" marL="0">
              <a:buNone/>
            </a:pPr>
            <a:r>
              <a:rPr lang="ar-SA" altLang="en-US" sz="1650" b="1" dirty="0">
                <a:solidFill>
                  <a:srgbClr val="1B3B6F"/>
                </a:solidFill>
                <a:latin typeface="Amiri" pitchFamily="34" charset="0"/>
                <a:ea typeface="Amiri" pitchFamily="34" charset="-122"/>
                <a:cs typeface="Amiri" pitchFamily="34" charset="-120"/>
              </a:rPr>
              <a:t>يَرْجُو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official hopes the programme becomes a national model</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official expects it to fail</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official has no hopes</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MOCK · PAPER 1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A doctor on a balanced life: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doctor say prevention is?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waste of time</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Better than cure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for the old</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أُشِيرُ إِلَى أَنَّ الوِقَايَةَ خَيْرٌ مِنَ العِلَاجِ.</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concede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Medicines are useless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Lifestyle does not matter</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Medicines are sometimes necessary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صَحِيحٌ أَنَّ الأَدْوِيَةَ ضَرُورِيَّةٌ أَحْيَانًا.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emphasise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healthy lifestyle prevents many diseases</a:t>
            </a:r>
            <a:endParaRPr lang="en-US" sz="11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medicine works</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Exercise is pointless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34" charset="0"/>
                <a:ea typeface="Amiri" pitchFamily="34" charset="-122"/>
                <a:cs typeface="Amiri" pitchFamily="34" charset="-120"/>
              </a:rPr>
              <a:t>غَيْرَ أَنَّ نَمَطَ الحَيَاةِ الصِّحِّيَّ يَقِي مِنْ كَثِيرٍ مِنَ الأَمْرَاضِ.</a:t>
            </a:r>
            <a:endParaRPr lang="ar-SA" sz="100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many patients done (past perfect)?</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Exercised daily</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Neglected exercise for years</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Followed the advice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كَانَ كَثِيرٌ مِنَ المَرْضَى قَدْ أَهْمَلُوا الرِّيَاضَةَ لِسَنَوَاتٍ.</a:t>
            </a:r>
            <a:endParaRPr lang="ar-SA"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conditional claim?</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If a person walks half an hour daily, their heart will improve</a:t>
            </a:r>
            <a:endParaRPr lang="en-US" sz="110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Walking harms the heart</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heart cannot improve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إِذَا مَشَى الإِنْسَانُ نِصْفَ سَاعَةٍ يَوْمِيًّا، سَيَتَحَسَّنُ قَلْبُهُ.</a:t>
            </a:r>
            <a:endParaRPr lang="ar-SA"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conditional claim?</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Sugar has no effect</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Diseases cannot fall</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we cut sugar, modern diseases would have fallen</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لَوْ قَلَّلْنَا مِنَ السُّكَّرِ، لَانْخَفَضَتْ أَمْرَاضُ العَصْرِ.</a:t>
            </a:r>
            <a:endParaRPr lang="ar-SA" sz="120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say one ought to do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09" name="Shape 106"/>
          <p:cNvSpPr/>
          <p:nvPr/>
        </p:nvSpPr>
        <p:spPr>
          <a:xfrm>
            <a:off x="6368796" y="4831080"/>
            <a:ext cx="256032" cy="256032"/>
          </a:xfrm>
          <a:prstGeom prst="ellipse">
            <a:avLst/>
          </a:prstGeom>
          <a:solidFill>
            <a:srgbClr val="C9CED6"/>
          </a:solidFill>
          <a:ln w="12700">
            <a:solidFill>
              <a:srgbClr val="C9CED6"/>
            </a:solidFill>
            <a:prstDash val="solid"/>
          </a:ln>
        </p:spPr>
      </p:sp>
      <p:sp>
        <p:nvSpPr>
          <p:cNvPr id="110" name="Text 10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1" name="Text 108"/>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Skip meals</a:t>
            </a:r>
            <a:endParaRPr lang="en-US" sz="1250" dirty="0"/>
          </a:p>
        </p:txBody>
      </p:sp>
      <p:sp>
        <p:nvSpPr>
          <p:cNvPr id="112" name="Shape 109"/>
          <p:cNvSpPr/>
          <p:nvPr/>
        </p:nvSpPr>
        <p:spPr>
          <a:xfrm>
            <a:off x="6368796" y="5202936"/>
            <a:ext cx="256032" cy="256032"/>
          </a:xfrm>
          <a:prstGeom prst="ellipse">
            <a:avLst/>
          </a:prstGeom>
          <a:solidFill>
            <a:srgbClr val="C9CED6"/>
          </a:solidFill>
          <a:ln w="12700">
            <a:solidFill>
              <a:srgbClr val="C9CED6"/>
            </a:solidFill>
            <a:prstDash val="solid"/>
          </a:ln>
        </p:spPr>
      </p:sp>
      <p:sp>
        <p:nvSpPr>
          <p:cNvPr id="113" name="Text 11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4" name="Text 111"/>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 all fat</a:t>
            </a:r>
            <a:endParaRPr lang="en-US" sz="1250" dirty="0"/>
          </a:p>
        </p:txBody>
      </p:sp>
      <p:sp>
        <p:nvSpPr>
          <p:cNvPr id="115" name="Shape 112"/>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6" name="Shape 113"/>
          <p:cNvSpPr/>
          <p:nvPr/>
        </p:nvSpPr>
        <p:spPr>
          <a:xfrm>
            <a:off x="6368796" y="5574792"/>
            <a:ext cx="256032" cy="256032"/>
          </a:xfrm>
          <a:prstGeom prst="ellipse">
            <a:avLst/>
          </a:prstGeom>
          <a:solidFill>
            <a:srgbClr val="2E8B57"/>
          </a:solidFill>
          <a:ln w="12700">
            <a:solidFill>
              <a:srgbClr val="2E8B57"/>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Drink plenty of water</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يَنْبَغِي أَنْ نَشْرَبَ المَاءَ بِوَفْرَةٍ.</a:t>
            </a:r>
            <a:endParaRPr lang="ar-SA" sz="13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hope for (</a:t>
            </a:r>
            <a:pPr algn="l" indent="0" marL="0">
              <a:buNone/>
            </a:pPr>
            <a:r>
              <a:rPr lang="ar-SA" altLang="en-US" sz="1650" b="1" dirty="0">
                <a:solidFill>
                  <a:srgbClr val="1B3B6F"/>
                </a:solidFill>
                <a:latin typeface="Amiri" pitchFamily="34" charset="0"/>
                <a:ea typeface="Amiri" pitchFamily="34" charset="-122"/>
                <a:cs typeface="Amiri" pitchFamily="34" charset="-120"/>
              </a:rPr>
              <a:t>أَرْجُو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24" name="Shape 121"/>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5" name="Shape 122"/>
          <p:cNvSpPr/>
          <p:nvPr/>
        </p:nvSpPr>
        <p:spPr>
          <a:xfrm>
            <a:off x="9233154" y="4831080"/>
            <a:ext cx="256032" cy="256032"/>
          </a:xfrm>
          <a:prstGeom prst="ellipse">
            <a:avLst/>
          </a:prstGeom>
          <a:solidFill>
            <a:srgbClr val="2E8B57"/>
          </a:solidFill>
          <a:ln w="12700">
            <a:solidFill>
              <a:srgbClr val="2E8B57"/>
            </a:solidFill>
            <a:prstDash val="solid"/>
          </a:ln>
        </p:spPr>
      </p:sp>
      <p:sp>
        <p:nvSpPr>
          <p:cNvPr id="126" name="Text 123"/>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27" name="Text 124"/>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young people care for their health early</a:t>
            </a:r>
            <a:endParaRPr lang="en-US" sz="1150" dirty="0"/>
          </a:p>
        </p:txBody>
      </p:sp>
      <p:sp>
        <p:nvSpPr>
          <p:cNvPr id="128" name="Shape 125"/>
          <p:cNvSpPr/>
          <p:nvPr/>
        </p:nvSpPr>
        <p:spPr>
          <a:xfrm>
            <a:off x="9233154" y="5202936"/>
            <a:ext cx="256032" cy="256032"/>
          </a:xfrm>
          <a:prstGeom prst="ellipse">
            <a:avLst/>
          </a:prstGeom>
          <a:solidFill>
            <a:srgbClr val="C9CED6"/>
          </a:solidFill>
          <a:ln w="12700">
            <a:solidFill>
              <a:srgbClr val="C9CED6"/>
            </a:solidFill>
            <a:prstDash val="solid"/>
          </a:ln>
        </p:spPr>
      </p:sp>
      <p:sp>
        <p:nvSpPr>
          <p:cNvPr id="129" name="Text 126"/>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30" name="Text 127"/>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people ignore health</a:t>
            </a:r>
            <a:endParaRPr lang="en-US" sz="1250" dirty="0"/>
          </a:p>
        </p:txBody>
      </p:sp>
      <p:sp>
        <p:nvSpPr>
          <p:cNvPr id="131" name="Shape 128"/>
          <p:cNvSpPr/>
          <p:nvPr/>
        </p:nvSpPr>
        <p:spPr>
          <a:xfrm>
            <a:off x="9233154" y="5574792"/>
            <a:ext cx="256032" cy="256032"/>
          </a:xfrm>
          <a:prstGeom prst="ellipse">
            <a:avLst/>
          </a:prstGeom>
          <a:solidFill>
            <a:srgbClr val="C9CED6"/>
          </a:solidFill>
          <a:ln w="12700">
            <a:solidFill>
              <a:srgbClr val="C9CED6"/>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That medicine replaces lifestyle</a:t>
            </a:r>
            <a:endParaRPr lang="en-US" sz="11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أَرْجُو أَنْ يَهْتَمَّ الشَّبَابُ بِصِحَّتِهِمْ مُبَكِّرًا.</a:t>
            </a:r>
            <a:endParaRPr lang="ar-SA" sz="13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MOCK · PAPER 1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Two friends on future plans: answers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practical training is no less important than the certificate?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Nour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Zayd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نُورٌ: أَرَى أَنَّ التَّدْرِيبَ العَمَلِيَّ لَا يَقِلُّ أَهَمِّيَّةً عَنِ الشَّهَادَةِ.</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concedes the certificate matters but skills make the difference?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Nour</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Zayd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زَيْدٌ: صَحِيحٌ أَنَّ الشَّهَادَةَ مُهِمَّةٌ، غَيْرَ أَنَّ المَهَارَاتِ تَصْنَعُ الفَرْقَ.</a:t>
            </a:r>
            <a:endParaRPr lang="ar-SA" sz="12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2 conditional about starting training early?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Nour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Zayd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نُورٌ: لَوْ بَدَأْتُ التَّدَرُّبَ مُبَكِّرًا، لَاكْتَسَبْتُ خِبْرَةً.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one ought to choose a field they love?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Nour</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Zayd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زَيْدٌ: يَنْبَغِي أَنْ نَخْتَارَ مَجَالًا نُحِبُّهُ.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reports the teacher's view that passion leads to success?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Zayd</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Nour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نُورٌ: أَكَّدَ مُعَلِّمِي أَنَّ الشَّغَفَ يَقُودُ إِلَى النَّجَاحِ.</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1 conditional about defining a goal?</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Zayd</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Nour</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زَيْدٌ: إِذَا حَدَّدْتُ هَدَفِي، سَأُخَطِّطُ لَهُ بِوُضُوحٍ.</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MOCK · PAPER 1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An official on a social programme: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(past perfect)?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region had suffered from youth unemployment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region always had jobs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Unemployment began today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كَانَتِ المِنْطَقَةُ قَدْ عَانَتْ مِنَ البَطَالَةِ بَيْنَ الشَّبَابِ.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(necessity trigger)?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 is unnecessary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Opportunities should be cut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matter requires providing real training opportunities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يَتَطَلَّبُ الأَمْرُ أَنْ نُوَفِّرَ فُرَصَ تَدْرِيبٍ حَقِيقِيَّةً.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(purpose,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programme excludes youth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programme has no aim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programme was launched to empower youth for the job market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أُطْلِقَ بَرْنَامَجٌ لِكَيْ يُمَكِّنَ الشَّبَابَ مِنْ سُوقِ العَمَلِ.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(concession-refutation)?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Funding is limited, yet the will exists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will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Funding is unlimited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صَحِيحٌ أَنَّ التَّمْوِيلَ مَحْدُودٌ، غَيْرَ أَنَّ الإِرَادَةَ مَوْجُودَةٌ.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(Type 1 conditional)?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Cooperation reduces opportunities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the public and private sectors cooperate, opportunities will grow</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Opportunities cannot grow</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تَعَاوَنَ القِطَاعَانِ العَامُّ وَالخَاصُّ، سَتَزْدَادُ الفُرَصُ.</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 (hope, </a:t>
            </a:r>
            <a:pPr algn="l" indent="0" marL="0">
              <a:buNone/>
            </a:pPr>
            <a:r>
              <a:rPr lang="ar-SA" altLang="en-US" sz="1650" b="1" dirty="0">
                <a:solidFill>
                  <a:srgbClr val="1B3B6F"/>
                </a:solidFill>
                <a:latin typeface="Amiri" pitchFamily="34" charset="0"/>
                <a:ea typeface="Amiri" pitchFamily="34" charset="-122"/>
                <a:cs typeface="Amiri" pitchFamily="34" charset="-120"/>
              </a:rPr>
              <a:t>يَرْجُو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official hopes the programme becomes a national model</a:t>
            </a:r>
            <a:endParaRPr lang="en-US" sz="11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official expects it to fail</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official has no hopes</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يَرْجُو المَسْؤُولُ أَنْ يُصْبِحَ البَرْنَامَجُ نَمُوذَجًا وَطَنِيًّا.</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SCORE · CONVERT ·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Record your Paper 1 mock score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سَجِّلْ نَتِيجَتَكَ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9194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95604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6/8</a:t>
            </a:r>
            <a:endParaRPr lang="en-US" sz="1100" dirty="0"/>
          </a:p>
        </p:txBody>
      </p:sp>
      <p:sp>
        <p:nvSpPr>
          <p:cNvPr id="22" name="Text 19"/>
          <p:cNvSpPr txBox="1"/>
          <p:nvPr/>
        </p:nvSpPr>
        <p:spPr>
          <a:xfrm>
            <a:off x="566928" y="2267712"/>
            <a:ext cx="4206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Text 1 (out of 8)</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495604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4/6</a:t>
            </a:r>
            <a:endParaRPr lang="en-US" sz="1100" dirty="0"/>
          </a:p>
        </p:txBody>
      </p:sp>
      <p:sp>
        <p:nvSpPr>
          <p:cNvPr id="28" name="Text 25"/>
          <p:cNvSpPr txBox="1"/>
          <p:nvPr/>
        </p:nvSpPr>
        <p:spPr>
          <a:xfrm>
            <a:off x="566928" y="3004718"/>
            <a:ext cx="4206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Text 2 (out of 6)</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95604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5/6</a:t>
            </a:r>
            <a:endParaRPr lang="en-US" sz="1100" dirty="0"/>
          </a:p>
        </p:txBody>
      </p:sp>
      <p:sp>
        <p:nvSpPr>
          <p:cNvPr id="34" name="Text 31"/>
          <p:cNvSpPr txBox="1"/>
          <p:nvPr/>
        </p:nvSpPr>
        <p:spPr>
          <a:xfrm>
            <a:off x="566928" y="3741725"/>
            <a:ext cx="4206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Text 3 (out of 6)</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495604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15/20 → 33.75/45</a:t>
            </a:r>
            <a:endParaRPr lang="en-US" sz="1100" dirty="0"/>
          </a:p>
        </p:txBody>
      </p:sp>
      <p:sp>
        <p:nvSpPr>
          <p:cNvPr id="40" name="Text 37"/>
          <p:cNvSpPr txBox="1"/>
          <p:nvPr/>
        </p:nvSpPr>
        <p:spPr>
          <a:xfrm>
            <a:off x="566928" y="4478731"/>
            <a:ext cx="4206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Raw total (out of 20) and converted score (out of 45)</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495604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matching — listen for the names</a:t>
            </a:r>
            <a:endParaRPr lang="en-US" sz="1100" dirty="0"/>
          </a:p>
        </p:txBody>
      </p:sp>
      <p:sp>
        <p:nvSpPr>
          <p:cNvPr id="46" name="Text 43"/>
          <p:cNvSpPr txBox="1"/>
          <p:nvPr/>
        </p:nvSpPr>
        <p:spPr>
          <a:xfrm>
            <a:off x="566928" y="5215738"/>
            <a:ext cx="4206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priority format for the real exam (MC / matching / select-two)</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Convert: raw × 2.25. Example: 15 × 2.25 = 33.75 ≈ 34/45. Bring this record to P6-L11.</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PAPER 1 DONE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Post-mock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multiple choice</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format today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format today was…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matching — write the names first</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 will improve before the real exam</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 the real exam I will improve…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قِرَاءَةُ الأَسْئِلَةِ مُسْبَقًا</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strategy that helped me most was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الاسْتِرَاتِيجِيَّةُ الَّتِي سَاعَدَتْنِي أَكْثَرَ هِيَ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Paper 1 done — well done for sitting it under real conditions.</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every question — no blanks.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know my raw score out of 20.</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annotated each question before the script.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B83227"/>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 second reading to verify, not to over-change.</a:t>
            </a:r>
            <a:endParaRPr lang="en-US" sz="1300" dirty="0"/>
          </a:p>
        </p:txBody>
      </p:sp>
      <p:sp>
        <p:nvSpPr>
          <p:cNvPr id="33" name="Shape 30"/>
          <p:cNvSpPr/>
          <p:nvPr/>
        </p:nvSpPr>
        <p:spPr>
          <a:xfrm>
            <a:off x="6583680" y="4767682"/>
            <a:ext cx="1097280" cy="256032"/>
          </a:xfrm>
          <a:prstGeom prst="roundRect">
            <a:avLst>
              <a:gd name="adj" fmla="val 50000"/>
            </a:avLst>
          </a:prstGeom>
          <a:solidFill>
            <a:srgbClr val="B83227"/>
          </a:solidFill>
          <a:ln w="12700">
            <a:solidFill>
              <a:srgbClr val="B83227"/>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know my priority format for the real exam.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P6-L08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P6-L09 · Mock Examination — Papers 2 and 4 (Reading and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المَعْنَى العَامُّ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general meaning (R1)</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التَّفَاصِيلُ الوَاقِعِيَّةُ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factual details (R2)</a:t>
            </a:r>
            <a:pPr indent="0" marL="0">
              <a:buNone/>
            </a:pPr>
            <a:r>
              <a:rPr lang="en-US" sz="1000" i="1" dirty="0">
                <a:solidFill>
                  <a:srgbClr val="5A6472"/>
                </a:solidFill>
                <a:latin typeface="Calibri" pitchFamily="34" charset="0"/>
                <a:ea typeface="Calibri" pitchFamily="34" charset="-122"/>
                <a:cs typeface="Calibri" pitchFamily="34" charset="-120"/>
              </a:rPr>
              <a:t>  sg. تَفْصِيلٌ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الأَدِلَّةُ النَّصِّيَّةُ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textual evidence</a:t>
            </a:r>
            <a:pPr indent="0" marL="0">
              <a:buNone/>
            </a:pPr>
            <a:r>
              <a:rPr lang="en-US" sz="1000" i="1" dirty="0">
                <a:solidFill>
                  <a:srgbClr val="5A6472"/>
                </a:solidFill>
                <a:latin typeface="Calibri" pitchFamily="34" charset="0"/>
                <a:ea typeface="Calibri" pitchFamily="34" charset="-122"/>
                <a:cs typeface="Calibri" pitchFamily="34" charset="-120"/>
              </a:rPr>
              <a:t>  sg. دَلِيلٌ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اسْتِنْتَاجُ الكَلِمَاتِ المَجْهُولَةِ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deducing unknown words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الدِّقَّةُ فِي الاخْتِيَارِ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accuracy in selection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will you do first when you open the reading paper?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سَأَقْرَأُ ______ أَوَّلًا، ثُمَّ سَأَبْحَثُ عَنْ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Re-listen to Text 1 (teacher recording) and correct your answers; revise the five reading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Rewrite the three scripts’ signal phrases (</a:t>
            </a:r>
            <a:pPr algn="l" indent="0" marL="0">
              <a:buNone/>
            </a:pPr>
            <a:r>
              <a:rPr lang="ar-SA" altLang="en-US" sz="1550" dirty="0">
                <a:solidFill>
                  <a:srgbClr val="1F2A37"/>
                </a:solidFill>
                <a:latin typeface="Amiri" pitchFamily="34" charset="0"/>
                <a:ea typeface="Amiri" pitchFamily="34" charset="-122"/>
                <a:cs typeface="Amiri" pitchFamily="34" charset="-120"/>
              </a:rPr>
              <a:t>لَوْ</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غَيْرَ أَنَّ</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يَتَطَلَّبُ</a:t>
            </a:r>
            <a:pPr algn="l" indent="0" marL="0">
              <a:buNone/>
            </a:pPr>
            <a:r>
              <a:rPr lang="en-US" sz="1200" dirty="0">
                <a:solidFill>
                  <a:srgbClr val="1F2A37"/>
                </a:solidFill>
                <a:latin typeface="Calibri" pitchFamily="34" charset="0"/>
                <a:ea typeface="Calibri" pitchFamily="34" charset="-122"/>
                <a:cs typeface="Calibri" pitchFamily="34" charset="-120"/>
              </a:rPr>
              <a:t>) in your book; revise the five reading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Explain in writing why each wrong answer was wrong; revise the five reading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P6-L09 · Mock Examination — Papers 2 and 4 (Reading and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امْتِحَانُ المُحَاكَاةِ — الوَرَقَتَانِ الثَّانِيَةُ وَالرَّابِعَةُ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score is information, not a judgement. Read, label, listen for gist, verify — and never leave a blank.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P6-L08 · Mock Examination — Paper 1 Listening (Full Exam Conditions)</dc:title>
  <dc:subject>PptxGenJS Presentation</dc:subject>
  <dc:creator>Al Madina Online School · Arabic Department</dc:creator>
  <cp:lastModifiedBy>Al Madina Online School · Arabic Department</cp:lastModifiedBy>
  <cp:revision>1</cp:revision>
  <dcterms:created xsi:type="dcterms:W3CDTF">2026-10-11T03:35:02Z</dcterms:created>
  <dcterms:modified xsi:type="dcterms:W3CDTF">2026-10-11T03:35:02Z</dcterms:modified>
</cp:coreProperties>
</file>