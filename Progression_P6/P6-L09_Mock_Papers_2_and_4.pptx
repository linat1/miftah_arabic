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Do Now + answers · 6–7 Objectives · 7–9 Exam conditions · 9–29 Paper 2: Text 1 · Text 2 · Text 3 · 29–49 Paper 4 Q1 (20 min) · 49–55 Mark Paper 2 + the Q1 model · 55–57 Scores, reflection · 57–58 Preparation. Paper 4 Q2 (35 min) is timed homework — or use a double lesson.
FLEX slides are optional. Use them if the class is moving quickly; otherwise the same activities are on the website for homework.
Content source: Miftah Arabic website, Pathways › Progression › P6 IGCSE Bridge › P6-L09. The website P6-L09: the panel “Before you begin”, Paper 2 Text 1 (notices, 4 marks), Text 2 (R1–R4 + gap-fill, 6 marks), Text 3 (R3 + Q5 cross-text, 6 marks), Paper 4 Q1 (formal email, 15 marks) and Q2 (essay, three titles, 15 marks) with checklists and models, the score record and the reflection.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MOCK EXAM under full conditions: no glossary, no English support during the papers; the routes set the TARGET, not a different paper.
• TIMING: the website timings (Paper 2 ≈ 45 min · Paper 4 = 60 min) are longer than one lesson. This deck runs Paper 2 (the 16-mark version, ≈ 20 min) and Q1 (20 min) in class; Q2 (35 min) is timed homework or the second half of a double lesson.
• Answers and models come TOGETHER at the end, as in a real exam. Students mark Paper 2 in a different colour; Paper 4 is teacher-marked (15 + 15).
• Access arrangements: follow each student’s plan (extra time, a reader for the rubric).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show the whole journey so students know when they will listen, read, speak or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reading words revised at the end of P6-L08. Questions 4–5 retrieve Paper 4 register and timing (P6-L04 / P6-L05).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Prove every reading answer from the text; write in the right register from the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Left: the website objectives. Right: the same objectives broken into three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(2 min) — the website panel plus the timing plan. Students write the three timings at the top of their paper.
WEBSITE PANEL “Before you begin”: Paper 2 Reading is about 45 minutes for 45 marks; Paper 4 Writing is 60 minutes for 30 marks (Q1 in about 20, Q2 in about 35, with 5 to check). Work silently, without notes. Prove every reading answer from the text; write both Paper 4 answers to length in the correct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Paper 2 · Text 1 — Notices (4 marks). Exam conditions: no glossary, no English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or dictionaries. Reading answers on paper (1A, 2C …); writing on paper or in a blank document with spell-check OFF. Photograph / upload at the end.
TEXT 1 (website) — notices, 4 factual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Paper 2 · Text 2 — R1–R4 + Q4 gap-fill (6 marks). Exam conditions: no glossary, no English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or dictionaries. Reading answers on paper (1A, 2C …); writing on paper or in a blank document with spell-check OFF. Photograph / upload at the end.
TEXT 2 (website) — R1–R3 and three Q4-style gap-fills, 6 marks. The gap-fill options are shortened to the Arabic forms only (the website adds English labels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WEBSITE TEXT — Paper 2 · Text 3 — R3 + Q5 cross-text (6 marks). Exam conditions: no glossary, no English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or dictionaries. Reading answers on paper (1A, 2C …); writing on paper or in a blank document with spell-check OFF. Photograph / upload at the end.
TEXT 3 (website) — R3 analysis and Q5 cross-text matching across all three texts, 6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or dictionaries. Reading answers on paper (1A, 2C …); writing on paper or in a blank document with spell-check OFF. Photograph / upload at the end.
Q1 — 20 minutes, then move on even if unfinished. Core students may keep the three formulas on screen (they were learnt in P6-L04); Develop / Stretch: hide them.
Website task: Write a formal email (130–140 words) to your school principal proposing a new after-school club. Include: the idea, why it is needed, what it requires, and a request for approval. Register: formal.
Website checklist: A formal opening and closing. · The idea, the need, what it requires, and a request. · At least one subjunctive trigger and one conditional. · Correct register from the opening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together. For each answer ask: which words in the text 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The website model is about 60 words — it shows the ARCHITECTURE (formal opening · idea · need · requirement · request · formal close). A full answer needs 130–140 words: develop the need and the requirement with one more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 EXAM CONDITIONS: cameras on, mics muted, chat closed, no notes or dictionaries. Reading answers on paper (1A, 2C …); writing on paper or in a blank document with spell-check OFF. Photograph / upload at the end.
Q2 — 35 minutes. TIMING IN A 60-MINUTE LESSON: Paper 2 (≈20 min) + Q1 (20 min) fit in the lesson; Q2 is sat as TIMED HOMEWORK under the same conditions (camera-on study session, or a 35-minute timer at home) — or run this as a double lesson. The Q2 model is shown in P6-L10’s Do Now or when the essays are returned.
Website task: Choose ONE title and write an argumentative essay (130–150 words): (A) “السَّفَرُ أَفْضَلُ مُعَلِّمٍ — هَلْ تُوَافِقُ؟”  (B) “المُدُنُ الكُبْرَى أَفْضَلُ لِلْعَيْشِ مِنَ القُرَى — هَلْ تُوَافِقُ؟”  (C) “عَلَى الشَّبَابِ أَنْ يَخْدُمُوا مُجْتَمَعَهُمْ قَبْلَ أَنْفُسِهِمْ — هَلْ تُوَافِقُ؟”
Website checklist: A clear thesis and cited evidence. · A concession (صَحِيحٌ أَنَّ) and a refutation (غَيْرَ أَنَّ). · A conditional and a subjunctive trigger. · A conclusion connector with a subjunctive; 130–150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(website) — show AFTER students have written. Students find the four items on the chips, then choose ONE thing to add to their own answer.
The website model is about 65 words: thesis · cited evidence · concession-refutation · Type 2 and Type 1 conditionals · conclusion with a subjunctive and لِكَيْ. A full answer (130–150 words) adds one example to each body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(2 min) — website fields. Paper 2 raw is out of 16 (4 + 6 + 6); the conversion to /45 is ×45/16 = ×2.8125. Collect scores privately.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(2 min) — website frames.
Website:  (Papers 2 and 4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(P6-L10 · Mock Examination — Paper 3 Speaking (Full IGCSE Format)) will spend class time USING this language, so students prepare it tonight — short, simple, easy to access (school guidance: “Simple, Short, Interesting, Relevant, Easy to access”). P6-L10 is a speaking mock with no new vocabulary: these five words are revised from the website P6-L06 and P6-L07.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P6  ·  P6-L09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P6-L09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Mock Examination — Papers 2 and 4 (Reading and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امْتِحَانُ المُحَاكَاةِ — الوَرَقَتَانِ الثَّانِيَةُ وَالرَّابِعَةُ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Sit the mock Paper 2 Reading and Paper 4 Writing under exam conditions: prove every reading answer from the text, write Q1 in the right register in under 20 minutes, and give Q2 its full architecture.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P6-L09 · Progression P6 · IGCSE Bridge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P6 › P6-L09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reading words and register.</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Exam conditions and timing.</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ظُرُوفُ الامْتِحَانِ</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20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Paper 2 Reading: three texts.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القِرَاءَةُ</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20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Paper 4 Q1: a formal email.</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Mark Paper 2, the Q1 model, scores.</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C45A3C"/>
          </a:solidFill>
          <a:ln w="12700">
            <a:solidFill>
              <a:srgbClr val="C45A3C"/>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Q2 as timed homework; get ready for speaking.</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This is an exam-preparation lesson. Every task uses the real IGCSE format — Core students use the green boxes, frames and English support; nobody is expected to get everything right first time.</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الأَدِلَّةُ النَّصِّيَّةُ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messages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textual evidence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final text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اسْتِنْتَاجُ الكَلِمَاتِ المَجْهُولَةِ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deducing unknown 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looking up words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new words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المَعْنَى العَامُّ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factual details (R2)</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style (R3)</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general meaning (R1)</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suits a formal email to a principal?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مَرْحَبًا يَا صَدِيقِي!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أَهْلًا وَسَهْلًا،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حَضْرَةَ مُدِيرِ المَدْرَسَةِ المُحْتَرَمِ،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should Q1 take, so that Q2 has enough time?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20 minutes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40 minutes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5 minutes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الأَدِلَّةُ النَّصِّيَّةُ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messages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textual evidence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final text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(P6-L08, from P6-L03).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اسْتِنْتَاجُ الكَلِمَاتِ المَجْهُولَةِ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deducing unknown words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looking up words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learning new words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(P6-L08, from P6-L03).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المَعْنَى العَامُّ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factual details (R2)</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style (R3)</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general meaning (R1)</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(P6-L08, from P6-L03).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suits a formal email to a principal?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مَرْحَبًا يَا صَدِيقِي!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أَهْلًا وَسَهْلًا،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حَضْرَةَ مُدِيرِ المَدْرَسَةِ المُحْتَرَمِ،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Register from the first line (P6-L04).</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should Q1 take, so that Q2 has enough time?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20 minutes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40 minutes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5 minutes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Q1 ≈ 20 · Q2 ≈ 35 · check 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Prove every reading answer from the text; write in the right register from the first line.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أَثْبِتْ إِجَابَتَكَ مِنَ النَّصِّ.</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Sit the mock Paper 2 Reading under exam conditions.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Sit the mock Paper 4 Writing (Q1 directed + Q2 essay) under exam conditions.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Manage the 45 + 60 minutes across the two papers efficiently.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Record your scores and identify targets for the final exam.</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every reading question — no blanks.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and close Q1 formally.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prove every reading answer from the text.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finish Q1 in 20 minutes.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choose the right form in every gap-fill.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Q2 its full architecture.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EXAM CONDITIONS (WEBSITE) · TIMING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you begin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ظُرُوفُ الامْتِحَانِ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WHAT YOU NEED TO KNOW</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Paper 2 Reading is about 45 minutes for 45 marks; Paper 4 Writing is 60 minutes for 30 marks (Q1 in about 20, Q2 in about 35, with 5 to check).</a:t>
            </a:r>
            <a:endParaRPr lang="en-US" sz="1300" dirty="0"/>
          </a:p>
        </p:txBody>
      </p:sp>
      <p:sp>
        <p:nvSpPr>
          <p:cNvPr id="20" name="Shape 17"/>
          <p:cNvSpPr/>
          <p:nvPr/>
        </p:nvSpPr>
        <p:spPr>
          <a:xfrm>
            <a:off x="658368" y="363321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6332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523488"/>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Work silently, without notes. Prove every reading answer from the text; write both Paper 4 answers to length in the correct register.</a:t>
            </a:r>
            <a:endParaRPr lang="en-US" sz="1300" dirty="0"/>
          </a:p>
        </p:txBody>
      </p:sp>
      <p:sp>
        <p:nvSpPr>
          <p:cNvPr id="23" name="Shape 20"/>
          <p:cNvSpPr/>
          <p:nvPr/>
        </p:nvSpPr>
        <p:spPr>
          <a:xfrm>
            <a:off x="658368" y="4980432"/>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98043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870704"/>
            <a:ext cx="5394960" cy="131064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Today: Paper 2 and Q1 in class; Q2 is timed homework (35 minutes) under the same conditions.</a:t>
            </a:r>
            <a:endParaRPr lang="en-US" sz="1300" dirty="0"/>
          </a:p>
        </p:txBody>
      </p:sp>
      <p:sp>
        <p:nvSpPr>
          <p:cNvPr id="26" name="Shape 23"/>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Text 24"/>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TIMING</a:t>
            </a:r>
            <a:endParaRPr lang="en-US" sz="1000" dirty="0"/>
          </a:p>
        </p:txBody>
      </p:sp>
      <p:sp>
        <p:nvSpPr>
          <p:cNvPr id="28" name="Text 25"/>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القِرَاءَةُ: ٢٠ دَقِيقَةً</a:t>
            </a:r>
            <a:endParaRPr lang="ar-SA" sz="2800" dirty="0"/>
          </a:p>
        </p:txBody>
      </p:sp>
      <p:sp>
        <p:nvSpPr>
          <p:cNvPr id="29" name="Text 26"/>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Paper 2 — 3 texts · 16 marks</a:t>
            </a:r>
            <a:endParaRPr lang="en-US" sz="1100" dirty="0"/>
          </a:p>
        </p:txBody>
      </p:sp>
      <p:sp>
        <p:nvSpPr>
          <p:cNvPr id="30" name="Shape 27"/>
          <p:cNvSpPr/>
          <p:nvPr/>
        </p:nvSpPr>
        <p:spPr>
          <a:xfrm>
            <a:off x="6995160" y="3535680"/>
            <a:ext cx="4553712" cy="0"/>
          </a:xfrm>
          <a:prstGeom prst="line">
            <a:avLst/>
          </a:prstGeom>
          <a:noFill/>
          <a:ln w="9525">
            <a:solidFill>
              <a:srgbClr val="E4DCCB"/>
            </a:solidFill>
            <a:prstDash val="dash"/>
          </a:ln>
        </p:spPr>
      </p:sp>
      <p:sp>
        <p:nvSpPr>
          <p:cNvPr id="31" name="Text 28"/>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السُّؤَالُ الأَوَّلُ: ٢٠ دَقِيقَةً</a:t>
            </a:r>
            <a:endParaRPr lang="ar-SA" sz="2800" dirty="0"/>
          </a:p>
        </p:txBody>
      </p:sp>
      <p:sp>
        <p:nvSpPr>
          <p:cNvPr id="32" name="Text 29"/>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Paper 4 Q1 — a formal email · 15 marks</a:t>
            </a:r>
            <a:endParaRPr lang="en-US" sz="1100" dirty="0"/>
          </a:p>
        </p:txBody>
      </p:sp>
      <p:sp>
        <p:nvSpPr>
          <p:cNvPr id="33" name="Shape 30"/>
          <p:cNvSpPr/>
          <p:nvPr/>
        </p:nvSpPr>
        <p:spPr>
          <a:xfrm>
            <a:off x="6995160" y="4895088"/>
            <a:ext cx="4553712" cy="0"/>
          </a:xfrm>
          <a:prstGeom prst="line">
            <a:avLst/>
          </a:prstGeom>
          <a:noFill/>
          <a:ln w="9525">
            <a:solidFill>
              <a:srgbClr val="E4DCCB"/>
            </a:solidFill>
            <a:prstDash val="dash"/>
          </a:ln>
        </p:spPr>
      </p:sp>
      <p:sp>
        <p:nvSpPr>
          <p:cNvPr id="34" name="Text 31"/>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السُّؤَالُ الثَّانِي: ٣٥ دَقِيقَةً</a:t>
            </a:r>
            <a:endParaRPr lang="ar-SA" sz="2800" dirty="0"/>
          </a:p>
        </p:txBody>
      </p:sp>
      <p:sp>
        <p:nvSpPr>
          <p:cNvPr id="35" name="Text 32"/>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Paper 4 Q2 — an essay · 15 marks (homework)</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Q GROUPS 1–2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Paper 2 · Text 1 — Notices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إِعْلَانٌ: يُفْتَتَحُ المَرْكَزُ الرِّيَاضِيُّ فِي السَّاعَةِ السَّادِسَةِ صَبَاحًا. يُشْتَرَطُ حَجْزُ المَلْعَبِ مُسْبَقًا. تُقَامُ دُرُوسُ السِّبَاحَةِ لِلْمُبْتَدِئِينَ يَوْمَ السَّبْتِ. وَيُمْنَعُ اسْتِخْدَامُ الهَاتِفِ فِي قَاعَةِ التَّدْرِيبِ.</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PAPER 2 · TEXT 1 — NOTICES (4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Factual comprehension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sports centre open?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6 p.m.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open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6 a.m.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required to use the pitch?</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Paying at the door</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Booking in advance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beginners' swimming lessons?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Sunday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Saturday</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the training hall?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Drinking water</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shoes</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phone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Q GROUPS 3–4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Paper 2 · Text 2 — R1–R4 + Q4 gap-fill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يُشَارُ إِلَى أَنَّ القِرَاءَةَ عَادَةٌ تُثْرِي العَقْلَ. صَحِيحٌ أَنَّ الحَيَاةَ مَشْغُولَةٌ، غَيْرَ أَنَّ عَشْرَ دَقَائِقَ يَوْمِيًّا تَبْنِي عَادَةً رَاسِخَةً. وَيَتَطَلَّبُ الأَمْرُ أَنْ تُخَصِّصَ الأُسَرُ وَقْتًا لِلْقِرَاءَةِ. وَلَوْ قَرَأَ كُلُّ طِفْلٍ كِتَابًا شَهْرِيًّا، لَاتَّسَعَتْ مَدَارِكُهُ.</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PAPER 2 · TEXT 2 — R1–R4 + Q4 GAP-FILL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Comprehend, then choose the correct form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main idea?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wastes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enriches the mind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Families are too busy to matter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How much daily reading builds a habit?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minutes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صَحِيحٌ أَنَّ الحَيَاةَ مَشْغُولَةٌ</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Concedes an objection before answering 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States the conclusion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Reports a statistic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صَحِيحٌ أَنَّ الحَيَاةَ</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تَكُونَ مَشْغُولَةً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مَشْغُولَةٌ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مَشْغُولَةً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الأُسَرُ وَقْتًا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تُخَصِّصَ</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تُخَصِّصُ</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خَصَّصَتْ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لَوْ قَرَأَ كُلُّ طِفْلٍ كِتَابًا،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مَدَارِكُهُ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سَتَتَّسِعُ</a:t>
            </a:r>
            <a:endParaRPr lang="ar-SA" sz="20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تَتَّسِعُ</a:t>
            </a:r>
            <a:endParaRPr lang="ar-SA" sz="20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لَاتَّسَعَتْ</a:t>
            </a:r>
            <a:endParaRPr lang="ar-SA" sz="20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Q GROUPS 5–6 · READ THE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Paper 2 · Text 3 — R3 + Q5 cross-text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يَرَى الكَاتِبُ أَنَّ العَمَلَ التَّطَوُّعِيَّ يَبْنِي شَخْصِيَّةَ الشَّبَابِ. لَا يُمْكِنُ إِنْكَارُ أَنَّ الوَقْتَ ثَمِينٌ، غَيْرَ أَنَّ العَطَاءَ يَمْنَحُ مَعْنًى لَا يُشْتَرَى. وَبِنَاءً عَلَى مَا سَبَقَ، يَنْبَغِي أَنْ تُشَجِّعَ المَدَارِسُ التَّطَوُّعَ.</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MOCK · PAPER 2 · TEXT 3 — R3 + Q5 CROSS-TEXT (6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Deep analysis and cross-text matching</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writer's attitude to volunteering?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Positive: it gives meaning that cannot be bought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Negative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Neutral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conclusion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 before a counter-claim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 mark?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argument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quotation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“Volunteering builds young people's character.” Which text?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“Ten minutes of daily reading builds a habit.” Which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“The sports centre opens at six in the morning.” Which text?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MOCK · PAPER 4 · Q1 — DIRECTED WRITING (15 MARKS) · 20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Q1: a formal email to the principal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الكِتَابَةُ المُوَجَّهَةُ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751076"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751076"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MOCK · PAPER 4 · Q1</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formal email (130–140 words) to your school principal proposing a new after-school club. Include: the idea, why it is needed, what it requires, and a request for approval. Register: formal.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opening and closing.</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idea, the need, what it requires, and a request.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subjunctive trigger and one conditional.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register from the opening sentence.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EXAM FORMULAS (ALLOWED — LEARNT IN P6-L04)</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حَضْرَةَ مُدِيرِ المَدْرَسَةِ المُحْتَرَمِ،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Principal, (formal opening)</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أَتَشَرَّفُ بِأَنْ أَقْتَرِحَ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honoured to propose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وَتَفَضَّلُوا بِقَبُولِ الاحْتِرَامِ.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Yours respectfully (formal closing)</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MOCK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1–2: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sports centre open?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6 p.m.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open</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6 a.m.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يُفْتَتَحُ المَرْكَزُ الرِّيَاضِيُّ فِي السَّاعَةِ السَّادِسَةِ صَبَاحًا.</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required to use the pitch?</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Paying at the door</a:t>
            </a:r>
            <a:endParaRPr lang="en-US" sz="1250" dirty="0"/>
          </a:p>
        </p:txBody>
      </p:sp>
      <p:sp>
        <p:nvSpPr>
          <p:cNvPr id="37" name="Shape 34"/>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Booking in advance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يُشْتَرَطُ حَجْزُ المَلْعَبِ مُسْبَقًا.</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beginners' swimming lessons?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Sunday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Saturday</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تُقَامُ دُرُوسُ السِّبَاحَةِ لِلْمُبْتَدِئِينَ يَوْمَ السَّبْتِ.</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the training hall?</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Drinking water</a:t>
            </a:r>
            <a:endParaRPr lang="en-US" sz="1250" dirty="0"/>
          </a:p>
        </p:txBody>
      </p:sp>
      <p:sp>
        <p:nvSpPr>
          <p:cNvPr id="67" name="Shape 64"/>
          <p:cNvSpPr/>
          <p:nvPr/>
        </p:nvSpPr>
        <p:spPr>
          <a:xfrm>
            <a:off x="6368796"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shoes</a:t>
            </a:r>
            <a:endParaRPr lang="en-US" sz="1250" dirty="0"/>
          </a:p>
        </p:txBody>
      </p:sp>
      <p:sp>
        <p:nvSpPr>
          <p:cNvPr id="70" name="Shape 67"/>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368796"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the phone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يُمْنَعُ اسْتِخْدَامُ الهَاتِفِ فِي قَاعَةِ التَّدْرِيبِ.</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MOCK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3–4: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main idea?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wastes time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 enriches the mind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Families are too busy to matter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يُشَارُ إِلَى أَنَّ القِرَاءَةَ عَادَةٌ تُثْرِي العَقْلَ.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How much daily reading builds a habit?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time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Ten minutes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عَشْرَ دَقَائِقَ يَوْمِيًّا تَبْنِي عَادَةً رَاسِخَةً.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صَحِيحٌ أَنَّ الحَيَاةَ مَشْغُولَةٌ</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Concedes an objection before answering it</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States the conclusion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Reports a statistic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concedes a real objection before the refutation.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صَحِيحٌ أَنَّ الحَيَاةَ</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تَكُونَ مَشْغُولَةً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مَشْغُولَةٌ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مَشْغُولَةً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clause is indicative — a real situation.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الأُسَرُ وَقْتًا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تُخَصِّصَ</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تُخَصِّصُ</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خَصَّصَتْ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تُخَصِّصَ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gap-fill — </a:t>
            </a:r>
            <a:pPr algn="l" indent="0" marL="0">
              <a:buNone/>
            </a:pPr>
            <a:r>
              <a:rPr lang="ar-SA" altLang="en-US" sz="1650" b="1" dirty="0">
                <a:solidFill>
                  <a:srgbClr val="1B3B6F"/>
                </a:solidFill>
                <a:latin typeface="Amiri" pitchFamily="2" charset="-78"/>
                <a:cs typeface="Amiri" pitchFamily="2" charset="-78"/>
              </a:rPr>
              <a:t>لَوْ قَرَأَ كُلُّ طِفْلٍ كِتَابًا،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مَدَارِكُهُ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سَتَتَّسِعُ</a:t>
            </a:r>
            <a:endParaRPr lang="ar-SA" sz="170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تَتَّسِعُ</a:t>
            </a:r>
            <a:endParaRPr lang="ar-SA" sz="170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لَاتَّسَعَتْ</a:t>
            </a:r>
            <a:endParaRPr lang="ar-SA" sz="170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a:t>
            </a:r>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a:t>
            </a:r>
            <a:pPr algn="l" indent="0" marL="0">
              <a:buNone/>
            </a:pPr>
            <a:r>
              <a:rPr lang="ar-SA" altLang="en-US" sz="1350" dirty="0">
                <a:solidFill>
                  <a:srgbClr val="8A6D1E"/>
                </a:solidFill>
                <a:latin typeface="Amiri" pitchFamily="2" charset="-78"/>
                <a:cs typeface="Amiri" pitchFamily="2" charset="-78"/>
              </a:rPr>
              <a:t>لَاتَّسَعَتْ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MOCK · ANSWERS · SHOW AFTER THE WHOLE PAPER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 Groups 5–6: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is the writer's attitude to volunteering?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Positive: it gives meaning that cannot be bought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Negative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Neutral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غَيْرَ أَنَّ العَطَاءَ يَمْنَحُ مَعْنًى لَا يُشْتَرَى.</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conclusion</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 before a counter-claim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concedes a point before the stronger claim.</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What does </a:t>
            </a:r>
            <a:pPr algn="l" indent="0" marL="0">
              <a:buNone/>
            </a:pPr>
            <a:r>
              <a:rPr lang="ar-SA" altLang="en-US" sz="1650" b="1" dirty="0">
                <a:solidFill>
                  <a:srgbClr val="1B3B6F"/>
                </a:solidFill>
                <a:latin typeface="Amiri" pitchFamily="2" charset="-78"/>
                <a:cs typeface="Amiri" pitchFamily="2" charset="-78"/>
              </a:rPr>
              <a:t>وَبِنَاءً عَلَى مَا سَبَقَ</a:t>
            </a:r>
            <a:pPr algn="l" indent="0" marL="0">
              <a:buNone/>
            </a:pPr>
            <a:r>
              <a:rPr lang="en-US" sz="1250" b="1" dirty="0">
                <a:solidFill>
                  <a:srgbClr val="1B3B6F"/>
                </a:solidFill>
                <a:latin typeface="Calibri" pitchFamily="34" charset="0"/>
                <a:cs typeface="Amiri" pitchFamily="2" charset="-78"/>
              </a:rPr>
              <a:t> mark?</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conclusion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argument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quotation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“Volunteering builds young people's character.” Which text?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1</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2</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3</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3: </a:t>
            </a:r>
            <a:pPr algn="l" indent="0" marL="0">
              <a:buNone/>
            </a:pPr>
            <a:r>
              <a:rPr lang="ar-SA" altLang="en-US" sz="1350" dirty="0">
                <a:solidFill>
                  <a:srgbClr val="8A6D1E"/>
                </a:solidFill>
                <a:latin typeface="Amiri" pitchFamily="2" charset="-78"/>
                <a:cs typeface="Amiri" pitchFamily="2" charset="-78"/>
              </a:rPr>
              <a:t>العَمَلُ التَّطَوُّعِيُّ يَبْنِي شَخْصِيَّةَ الشَّبَابِ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“Ten minutes of daily reading builds a habit.” Which text?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1</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3</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2</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2: </a:t>
            </a:r>
            <a:pPr algn="l" indent="0" marL="0">
              <a:buNone/>
            </a:pPr>
            <a:r>
              <a:rPr lang="ar-SA" altLang="en-US" sz="1350" dirty="0">
                <a:solidFill>
                  <a:srgbClr val="8A6D1E"/>
                </a:solidFill>
                <a:latin typeface="Amiri" pitchFamily="2" charset="-78"/>
                <a:cs typeface="Amiri" pitchFamily="2" charset="-78"/>
              </a:rPr>
              <a:t>عَشْرَ دَقَائِقَ يَوْمِيًّا تَبْنِي عَادَةً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Q5 — “The sports centre opens at six in the morning.” Which text?</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Text 1</a:t>
            </a:r>
            <a:endParaRPr lang="en-US" sz="12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2</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Text 3</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Text 1: </a:t>
            </a:r>
            <a:pPr algn="l" indent="0" marL="0">
              <a:buNone/>
            </a:pPr>
            <a:r>
              <a:rPr lang="ar-SA" altLang="en-US" sz="1350" dirty="0">
                <a:solidFill>
                  <a:srgbClr val="8A6D1E"/>
                </a:solidFill>
                <a:latin typeface="Amiri" pitchFamily="2" charset="-78"/>
                <a:cs typeface="Amiri" pitchFamily="2" charset="-78"/>
              </a:rPr>
              <a:t>يُفْتَتَحُ المَرْكَزُ الرِّيَاضِيُّ فِي السَّادِسَةِ صَبَاحًا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PAPER 4 Q1 · THE WEBSITE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Q1: what the examiner wants to see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حَضْرَةَ مُدِيرِ المَدْرَسَةِ المُحْتَرَمِ، أَتَشَرَّفُ بِأَنْ أَقْتَرِحَ إِنْشَاءَ نَادٍ لِلْبِرْمَجَةِ بَعْدَ الدَّوَامِ. يُشَارُ إِلَى أَنَّ المَهَارَاتِ الرَّقْمِيَّةَ بَاتَتْ ضَرُورِيَّةً. صَحِيحٌ أَنَّ الوَقْتَ مَحْدُودٌ، غَيْرَ أَنَّ سَاعَةً أُسْبُوعِيَّةً تَكْفِي. وَيَتَطَلَّبُ الأَمْرُ أَنْ تُوَفِّرَ المَدْرَسَةُ قَاعَةً وَمُشْرِفًا. وَإِذَا وَافَقْتُمْ، سَيَسْتَفِيدُ عَدَدٌ كَبِيرٌ مِنَ الطُّلَّابِ. أَرْجُو أَنْ تَتَكَرَّمُوا بِالمُوَافَقَةِ، وَتَفَضَّلُوا بِقَبُولِ الاحْتِرَامِ.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Principal, I am honoured to propose setting up a coding club after school. It is noted that digital skills have become essential. It is true that time is limited; however, one hour a week is enough. It is necessary that the school provides a room and a supervisor. If you agree, many students will benefit. I hope you will kindly approve; please accept my respect.”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أَتَشَرَّفُ بِأَنْ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يَتَطَلَّبُ الأَمْرُ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وَافَقْتُمْ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MOCK · PAPER 4 · Q2 — EXTENDED WRITING (15 MARKS) · 35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Q2: an argumentative essay — choose ONE title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الكِتَابَةُ المُمْتَدَّةُ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751076"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751076"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MOCK · PAPER 4 · Q2</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Choose ONE title and write an argumentative essay of 130–150 words. Plan for 4 minutes, write for 26, check for 5.</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thesis and cited evidence.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a:t>
            </a:r>
            <a:pPr algn="l" indent="0" marL="0">
              <a:buNone/>
            </a:pPr>
            <a:r>
              <a:rPr lang="ar-SA" altLang="en-US" sz="1550" dirty="0">
                <a:solidFill>
                  <a:srgbClr val="1F2A37"/>
                </a:solidFill>
                <a:latin typeface="Amiri" pitchFamily="2" charset="-78"/>
                <a:cs typeface="Amiri" pitchFamily="2" charset="-78"/>
              </a:rPr>
              <a:t>صَحِيحٌ أَنَّ</a:t>
            </a:r>
            <a:pPr algn="l" indent="0" marL="0">
              <a:buNone/>
            </a:pPr>
            <a:r>
              <a:rPr lang="en-US" sz="1200" dirty="0">
                <a:solidFill>
                  <a:srgbClr val="1F2A37"/>
                </a:solidFill>
                <a:latin typeface="Calibri" pitchFamily="34" charset="0"/>
                <a:cs typeface="Amiri" pitchFamily="2" charset="-78"/>
              </a:rPr>
              <a:t>) and a refutation (</a:t>
            </a:r>
            <a:pPr algn="l" indent="0" marL="0">
              <a:buNone/>
            </a:pPr>
            <a:r>
              <a:rPr lang="ar-SA" altLang="en-US" sz="1550" dirty="0">
                <a:solidFill>
                  <a:srgbClr val="1F2A37"/>
                </a:solidFill>
                <a:latin typeface="Amiri" pitchFamily="2" charset="-78"/>
                <a:cs typeface="Amiri" pitchFamily="2" charset="-78"/>
              </a:rPr>
              <a:t>غَيْرَ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conditional and a subjunctive trigger.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connector with a subjunctive; 130–150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THE THREE TITLES (WEBSITE)</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السَّفَرُ أَفْضَلُ مُعَلِّمٍ — هَلْ تُوَافِقُ؟</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Travel is the best teacher — do you agree?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المُدُنُ الكُبْرَى أَفْضَلُ لِلْعَيْشِ مِنَ القُرَى — هَلْ تُوَافِقُ؟</a:t>
            </a:r>
            <a:endParaRPr lang="ar-SA" sz="14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 Big cities are better to live in than villages — do you agree?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cs typeface="Amiri" pitchFamily="2" charset="-78"/>
              </a:rPr>
              <a:t>عَلَى الشَّبَابِ أَنْ يَخْدُمُوا مُجْتَمَعَهُمْ قَبْلَ أَنْفُسِهِمْ — هَلْ تُوَافِقُ؟</a:t>
            </a:r>
            <a:endParaRPr lang="ar-SA" sz="12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(C) Young people should serve their community before themselves — do you agree?</a:t>
            </a:r>
            <a:endParaRPr lang="en-US" sz="10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PAPER 4 Q2 · THE WEBSITE MODEL (TITLE 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Q2: the full essay architecture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يُشَارُ إِلَى أَنَّ السَّفَرَ مِنْ أَعْظَمِ مَصَادِرِ التَّعَلُّمِ. أَكَّدَ التَّرْبَوِيُّونَ أَنَّ الاحْتِكَاكَ بِالثَّقَافَاتِ يُنَمِّي الوَعْيَ. صَحِيحٌ أَنَّ الكُتُبَ تُعَلِّمُ الكَثِيرَ، غَيْرَ أَنَّ التَّجْرِبَةَ المُبَاشِرَةَ تَتْرُكُ أَثَرًا أَعْمَقَ. وَلَوْ سَافَرَ كُلُّ طَالِبٍ مَرَّةً، لَتَغَيَّرَتْ نَظْرَتُهُ إِلَى العَالَمِ. وَإِذَا أُتِيحَتِ الفُرَصُ، سَيَتَعَلَّمُ الشَّبَابُ التَّسَامُحَ. وَبِنَاءً عَلَى مَا سَبَقَ، يَنْبَغِي أَنْ نُشَجِّعَ السَّفَرَ التَّعْلِيمِيَّ لِكَيْ نَبْنِيَ جِيلًا مُنْفَتِحًا.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travel is one of the greatest sources of learning. Educators have stressed that contact with cultures develops awareness. It is true that books teach a great deal; however, direct experience leaves a deeper mark. If every student travelled once, their view of the world would change. If opportunities are provided, young people will learn tolerance. Based on the above, we should encourage educational travel so that we build an open-minded generation.”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أَكَّدَ التَّرْبَوِيُّونَ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سَافَرَ … لَتَغَيَّرَتْ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أُتِيحَتِ الفُرَصُ</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وَبِنَاءً عَلَى مَا سَبَقَ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SCORE ·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Record your Papers 2 and 4 mock scores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سَجِّلْ نَتِيجَتَكَ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Yours</a:t>
            </a:r>
            <a:endParaRPr lang="en-US" sz="1100" dirty="0"/>
          </a:p>
        </p:txBody>
      </p:sp>
      <p:sp>
        <p:nvSpPr>
          <p:cNvPr id="17" name="Text 14"/>
          <p:cNvSpPr txBox="1"/>
          <p:nvPr/>
        </p:nvSpPr>
        <p:spPr>
          <a:xfrm>
            <a:off x="528523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Record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24788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532180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12/16 → 33.75/45</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2 Reading raw (out of 16) → converted (out of 45)</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24788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532180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10/15</a:t>
            </a:r>
            <a:endParaRPr lang="en-US" sz="1100" dirty="0"/>
          </a:p>
        </p:txBody>
      </p:sp>
      <p:sp>
        <p:nvSpPr>
          <p:cNvPr id="28" name="Text 25"/>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Q1 (out of 15)</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24788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532180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marking)</a:t>
            </a:r>
            <a:endParaRPr lang="en-US" sz="1100" dirty="0"/>
          </a:p>
        </p:txBody>
      </p:sp>
      <p:sp>
        <p:nvSpPr>
          <p:cNvPr id="34" name="Text 31"/>
          <p:cNvSpPr txBox="1"/>
          <p:nvPr/>
        </p:nvSpPr>
        <p:spPr>
          <a:xfrm>
            <a:off x="566928" y="3840480"/>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Paper 4 Q2 (out of 15)</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24788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532180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 ran over → plan in 2 minutes</a:t>
            </a:r>
            <a:endParaRPr lang="en-US" sz="1100" dirty="0"/>
          </a:p>
        </p:txBody>
      </p:sp>
      <p:sp>
        <p:nvSpPr>
          <p:cNvPr id="38" name="Text 35"/>
          <p:cNvSpPr txBox="1"/>
          <p:nvPr/>
        </p:nvSpPr>
        <p:spPr>
          <a:xfrm>
            <a:off x="566928" y="4626864"/>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biggest challenge today and my fix</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Convert Paper 2: raw × 2.8125 (e.g. 12/16 → 33.75 ≈ 34/45). Paper 4 scores come back after teacher marking. Bring this record to P6-L11.</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PAPERS 2 AND 4 DONE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Post-mock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التَّأَمُّلُ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ending</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Reflection frame (website)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formal opening and closing of Q1</a:t>
            </a:r>
            <a:endParaRPr lang="en-US" sz="1100" dirty="0"/>
          </a:p>
        </p:txBody>
      </p:sp>
      <p:sp>
        <p:nvSpPr>
          <p:cNvPr id="21" name="Text 18"/>
          <p:cNvSpPr txBox="1"/>
          <p:nvPr/>
        </p:nvSpPr>
        <p:spPr>
          <a:xfrm>
            <a:off x="532180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my register / architecture was strongest</a:t>
            </a:r>
            <a:endParaRPr lang="en-US" sz="1100" dirty="0"/>
          </a:p>
        </p:txBody>
      </p:sp>
      <p:sp>
        <p:nvSpPr>
          <p:cNvPr id="22" name="Text 19"/>
          <p:cNvSpPr txBox="1"/>
          <p:nvPr/>
        </p:nvSpPr>
        <p:spPr>
          <a:xfrm>
            <a:off x="566928"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Paper 4 register/architecture was strongest in…</a:t>
            </a:r>
            <a:endParaRPr lang="en-US" sz="11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timing — Q1 under 20 minutes</a:t>
            </a:r>
            <a:endParaRPr lang="en-US" sz="1100" dirty="0"/>
          </a:p>
        </p:txBody>
      </p:sp>
      <p:sp>
        <p:nvSpPr>
          <p:cNvPr id="25" name="Text 22"/>
          <p:cNvSpPr txBox="1"/>
          <p:nvPr/>
        </p:nvSpPr>
        <p:spPr>
          <a:xfrm>
            <a:off x="532180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 will improve for the real exam</a:t>
            </a:r>
            <a:endParaRPr lang="en-US" sz="1100" dirty="0"/>
          </a:p>
        </p:txBody>
      </p:sp>
      <p:sp>
        <p:nvSpPr>
          <p:cNvPr id="26" name="Text 23"/>
          <p:cNvSpPr txBox="1"/>
          <p:nvPr/>
        </p:nvSpPr>
        <p:spPr>
          <a:xfrm>
            <a:off x="566928"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real exam I will improve…</a:t>
            </a:r>
            <a:endParaRPr lang="en-US" sz="11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Papers 2 and 4 done — well done for sitting them under real conditions.</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103120"/>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proved every reading answer from the Arabic text.</a:t>
            </a:r>
            <a:endParaRPr lang="en-US" sz="1300" dirty="0"/>
          </a:p>
        </p:txBody>
      </p:sp>
      <p:sp>
        <p:nvSpPr>
          <p:cNvPr id="18" name="Shape 15"/>
          <p:cNvSpPr/>
          <p:nvPr/>
        </p:nvSpPr>
        <p:spPr>
          <a:xfrm>
            <a:off x="6583680" y="2084832"/>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8483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43200"/>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3035808"/>
            <a:ext cx="219456" cy="219456"/>
          </a:xfrm>
          <a:prstGeom prst="rect">
            <a:avLst/>
          </a:prstGeom>
          <a:solidFill>
            <a:srgbClr val="FFFFFF"/>
          </a:solidFill>
          <a:ln w="19050">
            <a:solidFill>
              <a:srgbClr val="C9780A"/>
            </a:solidFill>
            <a:prstDash val="solid"/>
          </a:ln>
        </p:spPr>
      </p:sp>
      <p:sp>
        <p:nvSpPr>
          <p:cNvPr id="22" name="Text 19"/>
          <p:cNvSpPr txBox="1"/>
          <p:nvPr/>
        </p:nvSpPr>
        <p:spPr>
          <a:xfrm>
            <a:off x="1097280" y="2743200"/>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the correct form in every Q4 gap.</a:t>
            </a:r>
            <a:endParaRPr lang="en-US" sz="1300" dirty="0"/>
          </a:p>
        </p:txBody>
      </p:sp>
      <p:sp>
        <p:nvSpPr>
          <p:cNvPr id="23" name="Shape 20"/>
          <p:cNvSpPr/>
          <p:nvPr/>
        </p:nvSpPr>
        <p:spPr>
          <a:xfrm>
            <a:off x="6583680" y="3017520"/>
            <a:ext cx="1097280" cy="256032"/>
          </a:xfrm>
          <a:prstGeom prst="roundRect">
            <a:avLst>
              <a:gd name="adj" fmla="val 50000"/>
            </a:avLst>
          </a:prstGeom>
          <a:solidFill>
            <a:srgbClr val="C9780A"/>
          </a:solidFill>
          <a:ln w="12700">
            <a:solidFill>
              <a:srgbClr val="C9780A"/>
            </a:solidFill>
            <a:prstDash val="solid"/>
          </a:ln>
        </p:spPr>
      </p:sp>
      <p:sp>
        <p:nvSpPr>
          <p:cNvPr id="24" name="Text 21"/>
          <p:cNvSpPr txBox="1"/>
          <p:nvPr/>
        </p:nvSpPr>
        <p:spPr>
          <a:xfrm>
            <a:off x="6583680" y="3017520"/>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25" name="Shape 22"/>
          <p:cNvSpPr/>
          <p:nvPr/>
        </p:nvSpPr>
        <p:spPr>
          <a:xfrm>
            <a:off x="457200" y="3675888"/>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968496"/>
            <a:ext cx="219456" cy="219456"/>
          </a:xfrm>
          <a:prstGeom prst="rect">
            <a:avLst/>
          </a:prstGeom>
          <a:solidFill>
            <a:srgbClr val="FFFFFF"/>
          </a:solidFill>
          <a:ln w="19050">
            <a:solidFill>
              <a:srgbClr val="B83227"/>
            </a:solidFill>
            <a:prstDash val="solid"/>
          </a:ln>
        </p:spPr>
      </p:sp>
      <p:sp>
        <p:nvSpPr>
          <p:cNvPr id="27" name="Text 24"/>
          <p:cNvSpPr txBox="1"/>
          <p:nvPr/>
        </p:nvSpPr>
        <p:spPr>
          <a:xfrm>
            <a:off x="1097280" y="3675888"/>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Q1 in the correct register and Q2 with full architecture.</a:t>
            </a:r>
            <a:endParaRPr lang="en-US" sz="1300" dirty="0"/>
          </a:p>
        </p:txBody>
      </p:sp>
      <p:sp>
        <p:nvSpPr>
          <p:cNvPr id="28" name="Shape 25"/>
          <p:cNvSpPr/>
          <p:nvPr/>
        </p:nvSpPr>
        <p:spPr>
          <a:xfrm>
            <a:off x="6583680" y="3950208"/>
            <a:ext cx="1097280" cy="256032"/>
          </a:xfrm>
          <a:prstGeom prst="roundRect">
            <a:avLst>
              <a:gd name="adj" fmla="val 50000"/>
            </a:avLst>
          </a:prstGeom>
          <a:solidFill>
            <a:srgbClr val="B83227"/>
          </a:solidFill>
          <a:ln w="12700">
            <a:solidFill>
              <a:srgbClr val="B83227"/>
            </a:solidFill>
            <a:prstDash val="solid"/>
          </a:ln>
        </p:spPr>
      </p:sp>
      <p:sp>
        <p:nvSpPr>
          <p:cNvPr id="29" name="Text 26"/>
          <p:cNvSpPr txBox="1"/>
          <p:nvPr/>
        </p:nvSpPr>
        <p:spPr>
          <a:xfrm>
            <a:off x="6583680" y="3950208"/>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30" name="Shape 27"/>
          <p:cNvSpPr/>
          <p:nvPr/>
        </p:nvSpPr>
        <p:spPr>
          <a:xfrm>
            <a:off x="457200" y="4608576"/>
            <a:ext cx="7406640"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901184"/>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608576"/>
            <a:ext cx="5394960" cy="804672"/>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Q1 under 20 minutes so Q2 had enough time.</a:t>
            </a:r>
            <a:endParaRPr lang="en-US" sz="1300" dirty="0"/>
          </a:p>
        </p:txBody>
      </p:sp>
      <p:sp>
        <p:nvSpPr>
          <p:cNvPr id="33" name="Shape 30"/>
          <p:cNvSpPr/>
          <p:nvPr/>
        </p:nvSpPr>
        <p:spPr>
          <a:xfrm>
            <a:off x="6583680" y="4882896"/>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882896"/>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37" name="Shape 34"/>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P6-L09 · IGCSE Bridge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P6-L10: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P6 · IGCSE Bridge · P6-L09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P6-L10 · Mock Examination — Paper 3 Speaking (Full IGCSE Format)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تَمْثِيلُ الدَّوْرِ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المُحَادَثَةُ المَوْضُوعِيَّةُ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topic conversation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التَّوْسِيعُ فِي الإِجَابَةِ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extending the answer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لُغَةُ التَّوَقُّفِ وَالتَّفْكِيرِ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pause-and-think language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التَّحَدُّثُ بِثِقَةٍ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speaking with confidence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three emergency sentences you will use in the speaking mock.</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يُشَارُ إِلَى أَنَّ ______ ، وَإِذَا ______ ، سَوْفَ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Sit Q2 in 35 minutes (title A or C); revise the five speaking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Sit Q2 in 35 minutes with the full checklist; revise the five speaking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Sit Q2 in 35 minutes, then check it against the four model chips; revise the five speaking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P6-L09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P6-L10 · Mock Examination — Paper 3 Speaking (Full IGCSE Format)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امْتِحَانُ المُحَاكَاةِ — الوَرَقَةُ الثَّالِثَةُ: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prove every reading answer from the text; write in the right register from the first line; Q1 under 20 minutes so that Q2 gets its full architecture.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P6-L09 · Mock Examination — Papers 2 and 4 (Reading and Writing)</dc:title>
  <dc:subject>PptxGenJS Presentation</dc:subject>
  <dc:creator>Al Madina Online School · Arabic Department</dc:creator>
  <cp:lastModifiedBy>Al Madina Online School · Arabic Department</cp:lastModifiedBy>
  <cp:revision>1</cp:revision>
  <dcterms:created xsi:type="dcterms:W3CDTF">2026-10-11T06:43:37Z</dcterms:created>
  <dcterms:modified xsi:type="dcterms:W3CDTF">2026-10-11T06:43:37Z</dcterms:modified>
</cp:coreProperties>
</file>