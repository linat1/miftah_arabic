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Do Now + answers · 6–7 Objectives · 7–9 Exam conditions · 9–29 Paper 2: Text 1 · Text 2 · Text 3 · 29–49 Paper 4 Q1 (20 min) · 49–55 Mark Paper 2 + the Q1 model · 55–57 Scores, reflection · 57–58 Preparation. Paper 4 Q2 (35 min) is timed homework — or use a double lesson.
FLEX slides are optional. Use them if the class is moving quickly; otherwise the same activities are on the website for homework.
Content source: Miftah Arabic website, Pathways › Progression › P6 IGCSE Bridge › P6-L09. The website P6-L09: the panel “Before you begin”, Paper 2 Text 1 (notices, 4 marks), Text 2 (R1–R4 + gap-fill, 6 marks), Text 3 (R3 + Q5 cross-text, 6 marks), Paper 4 Q1 (formal email, 15 marks) and Q2 (essay, three titles, 15 marks) with checklists and models, the score record and the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under full conditions: no glossary, no English support during the papers; the routes set the TARGET, not a different paper.
• TIMING: the website timings (Paper 2 ≈ 45 min · Paper 4 = 60 min) are longer than one lesson. This deck runs Paper 2 (the 16-mark version, ≈ 20 min) and Q1 (20 min) in class; Q2 (35 min) is timed homework or the second half of a double lesson.
• Answers and models come TOGETHER at the end, as in a real exam. Students mark Paper 2 in a different colour; Paper 4 is teacher-marked (15 + 15).
• Access arrangements: follow each student’s plan (extra time, a reader for the rubric).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reading words revised at the end of P6-L08. Questions 4–5 retrieve Paper 4 register and timing (P6-L04 / P6-L05).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Prove every reading answer from the text; write in the right register from the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plus the timing plan. Students write the three timings at the top of their paper.
WEBSITE PANEL “Before you begin”: Paper 2 Reading is about 45 minutes for 45 marks; Paper 4 Writing is 60 minutes for 30 marks (Q1 in about 20, Q2 in about 35, with 5 to check). Work silently, without notes. Prove every reading answer from the text; write both Paper 4 answers to length in the correct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1 — Notices (4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1 (website) — notices, 4 factual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2 — R1–R4 + Q4 gap-fill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2 (website) — R1–R3 and three Q4-style gap-fills, 6 marks. The gap-fill options are shortened to the Arabic forms only (the website adds English labels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3 — R3 + Q5 cross-text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3 (website) — R3 analysis and Q5 cross-text matching across all three texts, 6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Q1 — 20 minutes, then move on even if unfinished. Core students may keep the three formulas on screen (they were learnt in P6-L04); Develop / Stretch: hide them.
Website task: Write a formal email (130–140 words) to your school principal proposing a new after-school club. Include: the idea, why it is needed, what it requires, and a request for approval. Register: formal.
Website checklist: A formal opening and closing. · The idea, the need, what it requires, and a request. · At least one subjunctive trigger and one conditional. · Correct register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The website model is about 60 words — it shows the ARCHITECTURE (formal opening · idea · need · requirement · request · formal close). A full answer needs 130–140 words: develop the need and the requirement with one more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MOCK — EXAM CONDITIONS: cameras on, mics muted, chat closed, no notes or dictionaries. Reading answers on paper (1A, 2C …); writing on paper or in a blank document with spell-check OFF. Photograph / upload at the end.
Q2 — 35 minutes. TIMING IN A 60-MINUTE LESSON: Paper 2 (≈20 min) + Q1 (20 min) fit in the lesson; Q2 is sat as TIMED HOMEWORK under the same conditions (camera-on study session, or a 35-minute timer at home) — or run this as a double lesson. The Q2 model is shown in P6-L10’s Do Now or when the essays are returned.
Website task: Choose ONE title and write an argumentative essay (130–150 words): (A) “السَّفَرُ أَفْضَلُ مُعَلِّمٍ — هَلْ تُوَافِقُ؟”  (B) “المُدُنُ الكُبْرَى أَفْضَلُ لِلْعَيْشِ مِنَ القُرَى — هَلْ تُوَافِقُ؟”  (C) “عَلَى الشَّبَابِ أَنْ يَخْدُمُوا مُجْتَمَعَهُمْ قَبْلَ أَنْفُسِهِمْ — هَلْ تُوَافِقُ؟”
Website checklist: A clear thesis and cited evidence. · A concession (صَحِيحٌ أَنَّ) and a refutation (غَيْرَ أَنَّ). · A conditional and a subjunctive trigger.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The website model is about 65 words: thesis · cited evidence · concession-refutation · Type 2 and Type 1 conditionals · conclusion with a subjunctive and لِكَيْ. A full answer (130–150 words) adds one example to each body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(2 min) — website fields. Paper 2 raw is out of 16 (4 + 6 + 6); the conversion to /45 is ×45/16 = ×2.8125. Collect scores privately.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(Papers 2 and 4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(P6-L10 · Mock Examination — Paper 3 Speaking (Full IGCSE Format)) will spend class time USING this language, so students prepare it tonight — short, simple, easy to access (school guidance: “Simple, Short, Interesting, Relevant, Easy to access”). P6-L10 is a speaking mock with no new vocabulary: these five words are revised from the website P6-L06 and P6-L07.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Papers 2 and 4 (Reading and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امْتِحَانُ المُحَاكَاةِ — الوَرَقَتَانِ الثَّانِيَةُ وَالرَّابِعَةُ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the mock Paper 2 Reading and Paper 4 Writing under exam conditions: prove every reading answer from the text, write Q1 in the right register in under 20 minutes, and give Q2 its full architecture.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P6-L09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reading words and register.</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Exam conditions and timing.</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Paper 2 Reading: three texts.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القِرَاءَةُ</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Paper 4 Q1: a formal email.</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Mark Paper 2, the Q1 model, scores.</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صَحِّحْ</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Q2 as timed homework; get ready for speaking.</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messages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textual evidence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text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deducing unknown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looking up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factual details (R2)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style (R3)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general meaning (R1)</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suits a formal email to a principal?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 يَا صَدِيقِي!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حَضْرَةَ مُدِيرِ المَدْرَسَةِ المُحْتَرَمِ،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Q1 take, so that Q2 has enough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40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5 minutes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messages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textual evidence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text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(P6-L08, from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deducing unknown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looking up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(P6-L08, from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factual details (R2)</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style (R3)</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general meaning (R1)</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(P6-L08, from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suits a formal email to a principal?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 يَا صَدِيقِي!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أَهْلًا وَسَهْلًا،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حَضْرَةَ مُدِيرِ المَدْرَسَةِ المُحْتَرَمِ،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Register from the first line (P6-L04).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Q1 take, so that Q2 has enough time?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20 minutes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40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5 minutes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Q1 ≈ 20 · Q2 ≈ 35 · check 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Prove every reading answer from the text; write in the right register from the first 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أَثْبِتْ إِجَابَتَكَ مِنَ النَّصِّ.</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2 Reading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4 Writing (Q1 directed + Q2 essay) under exam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Manage the 45 + 60 minutes across the two papers efficiently.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scores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reading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and close Q1 formally.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prove every reading answer from the text.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finish Q1 in 20 minutes.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choose the right form in every gap-fill.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Q2 its full architecture.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EXAM CONDITIONS (WEBSITE) · TIMING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Paper 2 Reading is about 45 minutes for 45 marks; Paper 4 Writing is 60 minutes for 30 marks (Q1 in about 20, Q2 in about 35, with 5 to check).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Work silently, without notes. Prove every reading answer from the text; write both Paper 4 answers to length in the correct register.</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Today: Paper 2 and Q1 in class; Q2 is timed homework (35 minutes) under the same conditions.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TIMING</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القِرَاءَةُ: ٢٠ دَقِيقَةً</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Paper 2 — 3 texts · 16 marks</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السُّؤَالُ الأَوَّلُ: ٢٠ دَقِيقَةً</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Paper 4 Q1 — a formal email · 15 marks</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السُّؤَالُ الثَّانِي: ٣٥ دَقِيقَةً</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Paper 4 Q2 — an essay · 15 marks (homework)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Paper 2 · Text 1 — Notices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يُفْتَتَحُ المَرْكَزُ الرِّيَاضِيُّ فِي السَّاعَةِ السَّادِسَةِ صَبَاحًا. يُشْتَرَطُ حَجْزُ المَلْعَبِ مُسْبَقًا. تُقَامُ دُرُوسُ السِّبَاحَةِ لِلْمُبْتَدِئِينَ يَوْمَ السَّبْتِ. وَيُمْنَعُ اسْتِخْدَامُ الهَاتِفِ فِي قَاعَةِ التَّدْرِيبِ.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2 · TEXT 1 — NOTICES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sports centre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6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open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6 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use the pitch?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Paying at the door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Booking in advance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beginners' swimming lessons?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Saturday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the training hall?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shoes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Paper 2 · Text 2 — R1–R4 + Q4 gap-fill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القِرَاءَةَ عَادَةٌ تُثْرِي العَقْلَ. صَحِيحٌ أَنَّ الحَيَاةَ مَشْغُولَةٌ، غَيْرَ أَنَّ عَشْرَ دَقَائِقَ يَوْمِيًّا تَبْنِي عَادَةً رَاسِخَةً. وَيَتَطَلَّبُ الأَمْرُ أَنْ تُخَصِّصَ الأُسَرُ وَقْتًا لِلْقِرَاءَةِ. وَلَوْ قَرَأَ كُلُّ طِفْلٍ كِتَابًا شَهْرِيًّا، لَاتَّسَعَتْ مَدَارِكُهُ.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2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enriches the mind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 are too busy to matter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daily reading builds a habit?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 مَشْغُولَةٌ</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Concedes an objection before answering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States the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 a statistic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 مَشْغُولَةً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مَشْغُولَةٌ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مَشْغُولَةً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الأُسَرُ وَقْتًا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تُخَصِّصَ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تُخَصِّصُ</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خَصَّصَتْ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لَوْ قَرَأَ كُلُّ طِفْلٍ كِتَابًا،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مَدَارِكُهُ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سَتَتَّسِعُ</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تَتَّسِعُ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لَاتَّسَعَتْ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Paper 2 · Text 3 — R3 + Q5 cross-text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يَرَى الكَاتِبُ أَنَّ العَمَلَ التَّطَوُّعِيَّ يَبْنِي شَخْصِيَّةَ الشَّبَابِ. لَا يُمْكِنُ إِنْكَارُ أَنَّ الوَقْتَ ثَمِينٌ، غَيْرَ أَنَّ العَطَاءَ يَمْنَحُ مَعْنًى لَا يُشْتَرَى. وَبِنَاءً عَلَى مَا سَبَقَ، يَنْبَغِي أَنْ تُشَجِّعَ المَدَارِسُ التَّطَوُّعَ.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2 · TEXT 3 — R3 + Q5 CROSS-TEXT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volunteering?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Positive: it gives meaning that cannot be bought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Negative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Neutral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argument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builds young people's character.”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“Ten minutes of daily reading builds a habit.”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sports centre opens at six in the morning.”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4 · Q1 — DIRECTED WRITING (15 MARKS) ·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Q1: a formal email to the principal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الكِتَابَةُ المُوَجَّهَةُ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MOCK · PAPER 4 · Q1</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formal email (130–140 words) to your school principal proposing a new after-school club. Include: the idea, why it is needed, what it requires, and a request for approval. Register: 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opening and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idea, the need, what it requires, and a request.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subjunctive trigger and one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register from the opening sentence.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EXAM FORMULAS (ALLOWED — LEARNT IN P6-L04)</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حَضْرَةَ مُدِيرِ المَدْرَسَةِ المُحْتَرَمِ،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Principal, (formal opening)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أَتَشَرَّفُ بِأَنْ أَقْتَرِحَ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honoured to propose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وَتَفَضَّلُوا بِقَبُولِ الاحْتِرَامِ.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Yours respectfully (formal closing)</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sports centre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6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open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6 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يُفْتَتَحُ المَرْكَزُ الرِّيَاضِيُّ فِي السَّاعَةِ السَّادِسَةِ صَبَاحًا.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use the pitch?</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Paying at the door</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Booking in advance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يُشْتَرَطُ حَجْزُ المَلْعَبِ مُسْبَقًا.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are beginners' swimming lessons?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Sunday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Saturday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تُقَامُ دُرُوسُ السِّبَاحَةِ لِلْمُبْتَدِئِينَ يَوْمَ السَّبْتِ.</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the training hall?</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shoes</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phone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يُمْنَعُ اسْتِخْدَامُ الهَاتِفِ فِي قَاعَةِ التَّدْرِيبِ.</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enriches the mind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Families are too busy to matter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يُشَارُ إِلَى أَنَّ القِرَاءَةَ عَادَةٌ تُثْرِي العَقْلَ.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daily reading builds a habit?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time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 minutes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 دَقَائِقَ يَوْمِيًّا تَبْنِي عَادَةً رَاسِخَةً.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 مَشْغُولَةٌ</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Concedes an objection before answering it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States the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 a statistic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concedes a real objection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الحَيَاةَ</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تَكُونَ مَشْغُولَةً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مَشْغُولَةٌ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مَشْغُولَةً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clause is indicative — a real situation.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الأُسَرُ وَقْتًا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تُخَصِّصَ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تُخَصِّصُ</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خَصَّصَتْ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تُخَصِّصَ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لَوْ قَرَأَ كُلُّ طِفْلٍ كِتَابًا،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مَدَارِكُهُ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سَتَتَّسِعُ</a:t>
            </a:r>
            <a:endParaRPr lang="ar-SA" sz="170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تَتَّسِعُ</a:t>
            </a:r>
            <a:endParaRPr lang="ar-SA" sz="170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لَاتَّسَعَتْ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a:t>
            </a:r>
            <a:pPr algn="l" indent="0" marL="0">
              <a:buNone/>
            </a:pPr>
            <a:r>
              <a:rPr lang="ar-SA" altLang="en-US" sz="1350" dirty="0">
                <a:solidFill>
                  <a:srgbClr val="8A6D1E"/>
                </a:solidFill>
                <a:latin typeface="Amiri" pitchFamily="2" charset="-78"/>
                <a:ea typeface="Amiri" pitchFamily="2" charset="-78"/>
                <a:cs typeface="Amiri" pitchFamily="2" charset="-78"/>
              </a:rPr>
              <a:t>لَاتَّسَعَتْ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volunteering?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Positive: it gives meaning that cannot be bought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Negative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Neutral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غَيْرَ أَنَّ العَطَاءَ يَمْنَحُ مَعْنًى لَا يُشْتَرَى.</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concedes a point before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conclusion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argument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builds young people's character.”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3: </a:t>
            </a:r>
            <a:pPr algn="l" indent="0" marL="0">
              <a:buNone/>
            </a:pPr>
            <a:r>
              <a:rPr lang="ar-SA" altLang="en-US" sz="1350" dirty="0">
                <a:solidFill>
                  <a:srgbClr val="8A6D1E"/>
                </a:solidFill>
                <a:latin typeface="Amiri" pitchFamily="2" charset="-78"/>
                <a:ea typeface="Amiri" pitchFamily="2" charset="-78"/>
                <a:cs typeface="Amiri" pitchFamily="2" charset="-78"/>
              </a:rPr>
              <a:t>العَمَلُ التَّطَوُّعِيُّ يَبْنِي شَخْصِيَّةَ الشَّبَابِ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“Ten minutes of daily reading builds a habit.” Which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2: </a:t>
            </a:r>
            <a:pPr algn="l" indent="0" marL="0">
              <a:buNone/>
            </a:pPr>
            <a:r>
              <a:rPr lang="ar-SA" altLang="en-US" sz="1350" dirty="0">
                <a:solidFill>
                  <a:srgbClr val="8A6D1E"/>
                </a:solidFill>
                <a:latin typeface="Amiri" pitchFamily="2" charset="-78"/>
                <a:ea typeface="Amiri" pitchFamily="2" charset="-78"/>
                <a:cs typeface="Amiri" pitchFamily="2" charset="-78"/>
              </a:rPr>
              <a:t>عَشْرَ دَقَائِقَ يَوْمِيًّا تَبْنِي عَادَةً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sports centre opens at six in the morning.” Which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1</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1: </a:t>
            </a:r>
            <a:pPr algn="l" indent="0" marL="0">
              <a:buNone/>
            </a:pPr>
            <a:r>
              <a:rPr lang="ar-SA" altLang="en-US" sz="1350" dirty="0">
                <a:solidFill>
                  <a:srgbClr val="8A6D1E"/>
                </a:solidFill>
                <a:latin typeface="Amiri" pitchFamily="2" charset="-78"/>
                <a:ea typeface="Amiri" pitchFamily="2" charset="-78"/>
                <a:cs typeface="Amiri" pitchFamily="2" charset="-78"/>
              </a:rPr>
              <a:t>يُفْتَتَحُ المَرْكَزُ الرِّيَاضِيُّ فِي السَّادِسَةِ صَبَاحًا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 4 Q1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Q1: what the examiner wants to see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حَضْرَةَ مُدِيرِ المَدْرَسَةِ المُحْتَرَمِ، أَتَشَرَّفُ بِأَنْ أَقْتَرِحَ إِنْشَاءَ نَادٍ لِلْبِرْمَجَةِ بَعْدَ الدَّوَامِ. يُشَارُ إِلَى أَنَّ المَهَارَاتِ الرَّقْمِيَّةَ بَاتَتْ ضَرُورِيَّةً. صَحِيحٌ أَنَّ الوَقْتَ مَحْدُودٌ، غَيْرَ أَنَّ سَاعَةً أُسْبُوعِيَّةً تَكْفِي. وَيَتَطَلَّبُ الأَمْرُ أَنْ تُوَفِّرَ المَدْرَسَةُ قَاعَةً وَمُشْرِفًا. وَإِذَا وَافَقْتُمْ، سَيَسْتَفِيدُ عَدَدٌ كَبِيرٌ مِنَ الطُّلَّابِ. أَرْجُو أَنْ تَتَكَرَّمُوا بِالمُوَافَقَةِ، وَتَفَضَّلُوا بِقَبُولِ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Principal, I am honoured to propose setting up a coding club after school. It is noted that digital skills have become essential. It is true that time is limited; however, one hour a week is enough. It is necessary that the school provides a room and a supervisor. If you agree, many students will benefit. I hope you will kindly approve; please accept my respect.”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أَتَشَرَّفُ بِأَنْ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يَتَطَلَّبُ الأَمْرُ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وَافَقْتُمْ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4 · Q2 — EXTENDED WRITING (15 MARKS) · 35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Q2: an argumentative essay — choose ONE title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الكِتَابَةُ المُمْتَدَّةُ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MOCK · PAPER 4 · Q2</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Choose ONE title and write an argumentative essay of 130–150 words. Plan for 4 minutes, write for 26, check for 5.</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a:t>
            </a:r>
            <a:pPr algn="l" indent="0" marL="0">
              <a:buNone/>
            </a:pPr>
            <a:r>
              <a:rPr lang="ar-SA" altLang="en-US" sz="1550" dirty="0">
                <a:solidFill>
                  <a:srgbClr val="1F2A37"/>
                </a:solidFill>
                <a:latin typeface="Amiri" pitchFamily="2" charset="-78"/>
                <a:ea typeface="Amiri" pitchFamily="2" charset="-78"/>
                <a:cs typeface="Amiri" pitchFamily="2" charset="-78"/>
              </a:rPr>
              <a:t>صَحِيحٌ أَنَّ</a:t>
            </a:r>
            <a:pPr algn="l" indent="0" marL="0">
              <a:buNone/>
            </a:pPr>
            <a:r>
              <a:rPr lang="en-US" sz="1200" dirty="0">
                <a:solidFill>
                  <a:srgbClr val="1F2A37"/>
                </a:solidFill>
                <a:latin typeface="Calibri" pitchFamily="34" charset="0"/>
                <a:cs typeface="Amiri" pitchFamily="2" charset="-78"/>
              </a:rPr>
              <a:t>) and a refutation (</a:t>
            </a:r>
            <a:pPr algn="l" indent="0" marL="0">
              <a:buNone/>
            </a:pPr>
            <a:r>
              <a:rPr lang="ar-SA" altLang="en-US" sz="1550" dirty="0">
                <a:solidFill>
                  <a:srgbClr val="1F2A37"/>
                </a:solidFill>
                <a:latin typeface="Amiri" pitchFamily="2" charset="-78"/>
                <a:ea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conditional and a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THE THREE TITLES (WEBSITE)</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السَّفَرُ أَفْضَلُ مُعَلِّمٍ — هَلْ تُوَافِقُ؟</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Travel is the best teacher — do you agree?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المُدُنُ الكُبْرَى أَفْضَلُ لِلْعَيْشِ مِنَ القُرَى — هَلْ تُوَافِقُ؟</a:t>
            </a:r>
            <a:endParaRPr lang="ar-SA" sz="14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 Big cities are better to live in than villages — do you agree?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عَلَى الشَّبَابِ أَنْ يَخْدُمُوا مُجْتَمَعَهُمْ قَبْلَ أَنْفُسِهِمْ — هَلْ تُوَافِقُ؟</a:t>
            </a:r>
            <a:endParaRPr lang="ar-SA" sz="12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(C) Young people should serve their community before themselves — do you agree?</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 4 Q2 · THE WEBSITE MODEL (TITLE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Q2: the full essay architecture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السَّفَرَ مِنْ أَعْظَمِ مَصَادِرِ التَّعَلُّمِ. أَكَّدَ التَّرْبَوِيُّونَ أَنَّ الاحْتِكَاكَ بِالثَّقَافَاتِ يُنَمِّي الوَعْيَ. صَحِيحٌ أَنَّ الكُتُبَ تُعَلِّمُ الكَثِيرَ، غَيْرَ أَنَّ التَّجْرِبَةَ المُبَاشِرَةَ تَتْرُكُ أَثَرًا أَعْمَقَ. وَلَوْ سَافَرَ كُلُّ طَالِبٍ مَرَّةً، لَتَغَيَّرَتْ نَظْرَتُهُ إِلَى العَالَمِ. وَإِذَا أُتِيحَتِ الفُرَصُ، سَيَتَعَلَّمُ الشَّبَابُ التَّسَامُحَ. وَبِنَاءً عَلَى مَا سَبَقَ، يَنْبَغِي أَنْ نُشَجِّعَ السَّفَرَ التَّعْلِيمِيَّ لِكَيْ نَبْنِيَ جِيلًا مُنْفَتِحًا.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travel is one of the greatest sources of learning. Educators have stressed that contact with cultures develops awareness. It is true that books teach a great deal; however, direct experience leaves a deeper mark. If every student travelled once, their view of the world would change. If opportunities are provided, young people will learn tolerance. Based on the above, we should encourage educational travel so that we build an open-minded generation.”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أَكَّدَ التَّرْبَوِيُّونَ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سَافَرَ … لَتَغَيَّرَتْ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أُتِيحَتِ الفُرَصُ</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وَبِنَاءً عَلَى مَا سَبَقَ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Record your Papers 2 and 4 mock scores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52852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532180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12/16 → 33.75/45</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Reading raw (out of 16) → converted (out of 45)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532180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10/15</a:t>
            </a:r>
            <a:endParaRPr lang="en-US" sz="1100" dirty="0"/>
          </a:p>
        </p:txBody>
      </p:sp>
      <p:sp>
        <p:nvSpPr>
          <p:cNvPr id="28" name="Text 25"/>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Q1 (out of 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532180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marking)</a:t>
            </a:r>
            <a:endParaRPr lang="en-US" sz="1100" dirty="0"/>
          </a:p>
        </p:txBody>
      </p:sp>
      <p:sp>
        <p:nvSpPr>
          <p:cNvPr id="34" name="Text 31"/>
          <p:cNvSpPr txBox="1"/>
          <p:nvPr/>
        </p:nvSpPr>
        <p:spPr>
          <a:xfrm>
            <a:off x="566928"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Q2 (out of 15)</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532180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 ran over → plan in 2 minutes</a:t>
            </a:r>
            <a:endParaRPr lang="en-US" sz="1100" dirty="0"/>
          </a:p>
        </p:txBody>
      </p:sp>
      <p:sp>
        <p:nvSpPr>
          <p:cNvPr id="38" name="Text 35"/>
          <p:cNvSpPr txBox="1"/>
          <p:nvPr/>
        </p:nvSpPr>
        <p:spPr>
          <a:xfrm>
            <a:off x="566928"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biggest challenge today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Convert Paper 2: raw × 2.8125 (e.g. 12/16 → 33.75 ≈ 34/45). Paper 4 scores come back after teacher marking. Bring this record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PAPERS 2 AND 4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formal opening and closing of Q1</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my register / architecture was strongest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Paper 4 register/architecture was strongest in…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timing — Q1 under 20 minutes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improve for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real exam I will improve…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Papers 2 and 4 done — well done for sitting them under real conditions.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proved every reading answer from the Arabic text.</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correct form in every Q4 gap.</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Q1 in the correct register and Q2 with full architecture.</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Q1 under 20 minutes so Q2 had enough time.</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P6-L09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P6-L10 · Mock Examination — Paper 3 Speaking (Full IGCSE Format)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 المَوْضُوعِيَّةُ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topic conversation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التَّوْسِيعُ فِي الإِجَابَةِ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extending the answer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pause-and-think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التَّحَدُّثُ بِثِقَةٍ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speaking with confidence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three emergency sentences you will use in the speaking mock.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يُشَارُ إِلَى أَنَّ ______ ، وَإِذَا ______ ، سَوْفَ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Sit Q2 in 35 minutes (title A or C); revise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Sit Q2 in 35 minutes with the full checklist; revise the five speaking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Sit Q2 in 35 minutes, then check it against the four model chips; revise the five speaking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P6-L10 · Mock Examination — Paper 3 Speaking (Full IGCSE Format)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امْتِحَانُ المُحَاكَاةِ — الوَرَقَةُ الثَّالِثَةُ: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prove every reading answer from the text; write in the right register from the first line; Q1 under 20 minutes so that Q2 gets its full architecture.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P6-L09 · Mock Examination — Papers 2 and 4 (Reading and Writing)</dc:title>
  <dc:subject>PptxGenJS Presentation</dc:subject>
  <dc:creator>Al Madina Online School · Arabic Department</dc:creator>
  <cp:lastModifiedBy>Al Madina Online School · Arabic Department</cp:lastModifiedBy>
  <cp:revision>1</cp:revision>
  <dcterms:created xsi:type="dcterms:W3CDTF">2026-10-11T06:43:37Z</dcterms:created>
  <dcterms:modified xsi:type="dcterms:W3CDTF">2026-10-11T06:43:37Z</dcterms:modified>
</cp:coreProperties>
</file>