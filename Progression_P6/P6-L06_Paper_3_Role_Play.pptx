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2–8 Do Now + answers · 8–9 Objectives · 9–13 Role-play words · 13–16 The mark scheme · 16–19 Full Communication + repair phrases · 19–23 Role play 1 (I Do) · 23–47 Role plays 2–5 in pairs · 47–51 Communication analysis · 51–55 Reflection + self-check · 55–57 Preparation.
FLEX slides are optional. Use them if the class is moving quickly; otherwise the same activities are on the website for homework.
Content source: Miftah Arabic website, Pathways › Progression › P6 IGCSE Bridge › P6-L06. The website P6-L06: the transactional-language vocabulary (8 words), the role-play mark scheme cards (Communication 6 · Accuracy 4), the panel “How to score full Communication”, five role plays with four prompts each (health centre · travel agency · university admissions · community environment meeting · international conference) and a model, the Communication-analysis fields and the reflection frames.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SPEAKING LESSON in pairs on open mic (no breakout rooms): A = examiner, B = candidate, then swap. The teacher examines one pair per role play while others rehearse muted.
• Routes: Core — role plays 1–3 with the “start like this” column · Develop — role plays 1–4, starts covered after the first attempt · Stretch — all five, no starts, two or three sentences per prompt.
• The website message: perfect grammar is NOT needed for the Communication mark — but answering a different question, or one word instead of a sentence, loses the prompt. Precise, not long.
• Anxiety: many students fear speaking exams. Teach the repair phrases first and praise attempts; mistakes are expected in practice.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P6-L05. Questions 4–5 retrieve two structures the role-play prompts demand: a polite request (yumkinu an + -a) and the past perfect.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One prompt = one mark: answer exactly what is asked, in a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علاج, سفر and اقامت are shared — the health and travel role plays are full of them. Two traps: Urdu وعدہ = a promise, but Arabic مَوْعِدٌ = an APPOINTMENT; Urdu مذاکرات = negotiations, but Arabic مُذَاكَرَةٌ = STUDYING (negotiation = التَّفَاوُضُ).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Transactional language (website vocabulary (1 of 2)). Hear → Say → See → Use. Transliteration is printed for Core students (cover it for Develop/Stretch).
The role play is TRANSACTIONAL (اللُّغَةُ التَّعَامُلِيَّةُ): you give information (إِعْطَاءُ المَعْلُومَاتِ), ask for it (طَلَبُ المَعْلُومَاتِ), negotiate (التَّفَاوُضُ) and solve a problem (حَلُّ المُشْكِلَةِ). Each prompt (مُحَفِّزٌ) tells you which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Transactional language (website vocabulary (2 of 2)). Hear → Say → See → Use. Transliteration is printed for Core students (cover it for Develop/Stretch).
The role play is TRANSACTIONAL (اللُّغَةُ التَّعَامُلِيَّةُ): you give information (إِعْطَاءُ المَعْلُومَاتِ), ask for it (طَلَبُ المَعْلُومَاتِ), negotiate (التَّفَاوُضُ) and solve a problem (حَلُّ المُشْكِلَةِ). Each prompt (مُحَفِّزٌ) tells you which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 the website cards. Communication is per prompt (up to 6); Accuracy is one overall score (4 → 1). The three ways to lose a prompt: not answering it, answering a different question, one word instead of a sentence.
WEBSITE CARDS “The role-play mark scheme, demystified”: Communication (6 marks): One mark per prompt successfully communicated — up to six prompts. · Accuracy (4 marks): An overall score for language accuracy: 4 = consistently accurate, down to 1 = frequent errors that obscure meaning. · What costs you marks: Not answering the prompt; answering a different question; or using one word where a sentence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TEACH (3 min) — the website panel, plus three teacher repair phrases (also used in P4-L12 / P5-L12). Choral repetition of the repair phrases. To a girl: تُعِيدِي (هَلْ يُمْكِنُ أَنْ تُعِيدِي السُّؤَالَ؟).
WEBSITE PANEL “How to score full Communication”: Each prompt needs a relevant response with enough language to communicate the information clearly. Perfect grammar is not required for the Communication mark — but a serious error that causes misunderstanding loses that prompt. Give two to three sentences per prompt, delivered confidently.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1 (website, 10 marks: Communication 6 · Accuracy 4). Pairs: A = examiner (reads the prompts as questions), B = candidate; then swap. 30–40 seconds per prompt. I DO: the teacher is the CANDIDATE first; a confident student reads the prompts as the doctor. Model prompt 1 with the website answer, then improve it to three sentences (… وَلَا أَسْتَطِيعُ أَنْ أُرَكِّزَ فِي دُرُوسِي.). Then pairs repeat it. Doctor’s questions: مَا الَّذِي تَشْكُو مِنْهُ؟ · مَاذَا تُرِيدُ أَنْ تَعْرِفَ؟
WEBSITE MODEL: Examiner: مَا الَّذِي تَشْكُو مِنْهُ؟ (Prompt 1) · You: أَشْعُرُ بِصُدَاعٍ وَأُعَانِي مِنَ الأَرَقِ مُنْذُ أُسْبُوعٍ. (Full-sentence response)
Website feedback prompt: Feedback note (which prompt was hardest? which structure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2 (website, 10 marks: Communication 6 · Accuracy 4). Pairs: A = examiner (reads the prompts as questions), B = candidate; then swap. 30–40 seconds per prompt. Prompt 4 (negotiate) is the hardest: model a polite counter-offer — هَلْ هُنَاكَ خَصْمٌ لِلطُّلَّابِ؟ (Is there a student discount?).
Website feedback prompt: Feedback note (which prompt was hardest? which structure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3 (website, 10 marks: Communication 6 · Accuracy 4). Pairs: A = examiner (reads the prompts as questions), B = candidate; then swap. 30–40 seconds per prompt. The prompts name the structure (past perfect, conditional) — the examiner is listening for it. Core students: use the starts word for word; that already earns the prompt.
Website feedback prompt: Feedback note (which prompt was hardest? which structure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4 (website, 10 marks: Communication 6 · Accuracy 4). Pairs: A = examiner (reads the prompts as questions), B = candidate; then swap. 30–40 seconds per prompt. Develop and Stretch. Passives in prompt 1 (تُرْمَى · لُوِّثَ — P4-L05); an + passive -a in prompt 2 (أَنْ تُوضَعَ — P5-L03); a hope in prompt 4 (نَرْجُو أَنْ — P4).
Website feedback prompt: Feedback note (which prompt was hardest? which structure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5 (website, 10 marks: Communication 6 · Accuracy 4). Pairs: A = examiner (reads the prompts as questions), B = candidate; then swap. 30–40 seconds per prompt. Stretch. This is the P5-L12 role play at IGCSE level: position · concession · demand · formal close.
Website feedback prompt: Feedback note (which prompt was hardest? which structure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ANALYSIS (3 min) — website fields; partners give each other the Communication score (one per prompt answered).
Website: Rate your confidence 1–5 in each topic area, then diagnose your lowest.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website frames.
Website:  (Precise, not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(P6-L07 · Paper 3 Topic Conversation — Extended Speaking at IGCSE Level) will spend class time USING this language, so students prepare it tonight — short, simple, easy to access (school guidance: “Simple, Short, Interesting, Relevant, Easy to access”). The five words come from the website P6-L07 vocabulary (extended speaking).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Paper 3 Role Play — Transactional Language at IGCSE Standard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500" b="1" dirty="0">
                <a:solidFill>
                  <a:srgbClr val="D4AF37"/>
                </a:solidFill>
                <a:latin typeface="Amiri" pitchFamily="2" charset="-78"/>
                <a:ea typeface="Amiri" pitchFamily="2" charset="-78"/>
                <a:cs typeface="Amiri" pitchFamily="2" charset="-78"/>
              </a:rPr>
              <a:t>الوَرَقَةُ الثَّالِثَةُ — تَمْثِيلُ الدَّوْرِ: اللُّغَةُ التَّعَامُلِيَّةُ</a:t>
            </a:r>
            <a:endParaRPr lang="ar-SA" sz="35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Score full Communication in the role play: answer EXACTLY what each prompt asks, in two or three full sentences, in the right tense and structure — book, ask, request, negotiate, report, propose — across five IGCSE situations.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P6-L06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role-play words and polite requests.</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mark scheme, full Communication, repair phrases.</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المَعَايِيرُ</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do role play 1.</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Role plays 2–5 in pairs.</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تَمْثِيلُ الدَّوْرِ</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Communication analysis, reflection, self-check.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C45A3C"/>
          </a:solidFill>
          <a:ln w="12700">
            <a:solidFill>
              <a:srgbClr val="C45A3C"/>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the topic conversation.</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تَمْثِيلُ الدَّوْرِ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drama lesson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role play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turn to speak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طَلَبُ المَعْلُومَاتِ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requesting information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information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information sheet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التَّفَاوُضُ</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complaint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booking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negotiation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polite request: </a:t>
            </a:r>
            <a:pPr algn="l" indent="0" marL="0">
              <a:buNone/>
            </a:pPr>
            <a:r>
              <a:rPr lang="ar-SA" altLang="en-US" sz="1650" b="1" dirty="0">
                <a:solidFill>
                  <a:srgbClr val="1B3B6F"/>
                </a:solidFill>
                <a:latin typeface="Amiri" pitchFamily="2" charset="-78"/>
                <a:ea typeface="Amiri" pitchFamily="2" charset="-78"/>
                <a:cs typeface="Amiri" pitchFamily="2" charset="-78"/>
              </a:rPr>
              <a:t>هَلْ يُمْكِنُ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مَوْعِدًا؟</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a:t>
            </a:r>
            <a:pPr algn="l" indent="0" marL="0">
              <a:buNone/>
            </a:pPr>
            <a:r>
              <a:rPr lang="ar-SA" altLang="en-US" sz="1650" b="1" dirty="0">
                <a:solidFill>
                  <a:srgbClr val="1B3B6F"/>
                </a:solidFill>
                <a:latin typeface="Amiri" pitchFamily="2" charset="-78"/>
                <a:ea typeface="Amiri" pitchFamily="2" charset="-78"/>
                <a:cs typeface="Amiri" pitchFamily="2" charset="-78"/>
              </a:rPr>
              <a:t>كُنْتُ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دَرَسْتُ العُلُومَ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تَمْثِيلُ الدَّوْرِ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drama lesson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role play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turn to speak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طَلَبُ المَعْلُومَاتِ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requesting information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giving information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information sheet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التَّفَاوُضُ</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complaint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booking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negotiation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polite request: </a:t>
            </a:r>
            <a:pPr algn="l" indent="0" marL="0">
              <a:buNone/>
            </a:pPr>
            <a:r>
              <a:rPr lang="ar-SA" altLang="en-US" sz="1650" b="1" dirty="0">
                <a:solidFill>
                  <a:srgbClr val="1B3B6F"/>
                </a:solidFill>
                <a:latin typeface="Amiri" pitchFamily="2" charset="-78"/>
                <a:ea typeface="Amiri" pitchFamily="2" charset="-78"/>
                <a:cs typeface="Amiri" pitchFamily="2" charset="-78"/>
              </a:rPr>
              <a:t>هَلْ يُمْكِنُ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مَوْعِدًا؟</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أَحْجِزُ</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أَحْجِزَ</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yumkinu an + a verb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a:t>
            </a:r>
            <a:pPr algn="l" indent="0" marL="0">
              <a:buNone/>
            </a:pPr>
            <a:r>
              <a:rPr lang="ar-SA" altLang="en-US" sz="1650" b="1" dirty="0">
                <a:solidFill>
                  <a:srgbClr val="1B3B6F"/>
                </a:solidFill>
                <a:latin typeface="Amiri" pitchFamily="2" charset="-78"/>
                <a:ea typeface="Amiri" pitchFamily="2" charset="-78"/>
                <a:cs typeface="Amiri" pitchFamily="2" charset="-78"/>
              </a:rPr>
              <a:t>كُنْتُ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دَرَسْتُ العُلُومَ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P4–P5: kuntu qad + past.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One prompt = one mark: answer exactly what is asked, in a full sentence.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مَا الَّذِي تَشْكُو مِنْهُ؟ ← أَشْعُرُ بِصُدَاعٍ مُنْذُ أُسْبُوعٍ.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Respond to every role-play prompt with relevant, sufficient language.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right transactional language for each topic area.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Score Communication by answering exactly what each prompt asks.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the role-play mark scheme to self-assess each task.</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each prompt with a full sentence.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do role plays 1–3 with the starts.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exactly what each prompt asks.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right tense for each prompt.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two or three sentences per prompt.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self-mark Communication and Accuracy.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8 exam words from the website in one group. </a:t>
            </a:r>
            <a:endParaRPr lang="en-US" sz="1600" dirty="0"/>
          </a:p>
        </p:txBody>
      </p:sp>
      <p:sp>
        <p:nvSpPr>
          <p:cNvPr id="8" name="Shape 6"/>
          <p:cNvSpPr/>
          <p:nvPr/>
        </p:nvSpPr>
        <p:spPr>
          <a:xfrm>
            <a:off x="457200" y="4572000"/>
            <a:ext cx="7863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7589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Transactional language · 8</a:t>
            </a:r>
            <a:endParaRPr lang="en-US" sz="900" dirty="0"/>
          </a:p>
        </p:txBody>
      </p:sp>
      <p:sp>
        <p:nvSpPr>
          <p:cNvPr id="10" name="Shape 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1" name="Text 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2" name="Text 1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عِلَاجٌ</a:t>
            </a:r>
            <a:endParaRPr lang="ar-SA" sz="1900" dirty="0"/>
          </a:p>
        </p:txBody>
      </p:sp>
      <p:sp>
        <p:nvSpPr>
          <p:cNvPr id="13" name="Text 11"/>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‎علاج‎ </a:t>
            </a:r>
            <a:pPr indent="0" marL="0">
              <a:buNone/>
            </a:pPr>
            <a:r>
              <a:rPr lang="en-US" sz="950" b="1" dirty="0">
                <a:solidFill>
                  <a:srgbClr val="2E8B57"/>
                </a:solidFill>
                <a:latin typeface="Calibri" pitchFamily="34" charset="0"/>
                <a:cs typeface="Amiri" pitchFamily="2" charset="-78"/>
              </a:rPr>
              <a:t> ilāj · treatment</a:t>
            </a:r>
            <a:endParaRPr lang="en-US" sz="1400" dirty="0"/>
          </a:p>
        </p:txBody>
      </p:sp>
      <p:sp>
        <p:nvSpPr>
          <p:cNvPr id="14" name="Text 1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سَفَرٌ</a:t>
            </a:r>
            <a:endParaRPr lang="ar-SA" sz="1900" dirty="0"/>
          </a:p>
        </p:txBody>
      </p:sp>
      <p:sp>
        <p:nvSpPr>
          <p:cNvPr id="15" name="Text 13"/>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‎سفر‎ </a:t>
            </a:r>
            <a:pPr indent="0" marL="0">
              <a:buNone/>
            </a:pPr>
            <a:r>
              <a:rPr lang="en-US" sz="950" b="1" dirty="0">
                <a:solidFill>
                  <a:srgbClr val="2E8B57"/>
                </a:solidFill>
                <a:latin typeface="Calibri" pitchFamily="34" charset="0"/>
                <a:cs typeface="Amiri" pitchFamily="2" charset="-78"/>
              </a:rPr>
              <a:t> safar · travel</a:t>
            </a:r>
            <a:endParaRPr lang="en-US" sz="1400" dirty="0"/>
          </a:p>
        </p:txBody>
      </p:sp>
      <p:sp>
        <p:nvSpPr>
          <p:cNvPr id="16" name="Text 1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إِقَامَةٌ</a:t>
            </a:r>
            <a:endParaRPr lang="ar-SA" sz="1900" dirty="0"/>
          </a:p>
        </p:txBody>
      </p:sp>
      <p:sp>
        <p:nvSpPr>
          <p:cNvPr id="17" name="Text 15"/>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‎اقامت‎ </a:t>
            </a:r>
            <a:pPr indent="0" marL="0">
              <a:buNone/>
            </a:pPr>
            <a:r>
              <a:rPr lang="en-US" sz="950" b="1" dirty="0">
                <a:solidFill>
                  <a:srgbClr val="2E8B57"/>
                </a:solidFill>
                <a:latin typeface="Calibri" pitchFamily="34" charset="0"/>
                <a:cs typeface="Amiri" pitchFamily="2" charset="-78"/>
              </a:rPr>
              <a:t> iqāmat · accommodation, stay</a:t>
            </a:r>
            <a:endParaRPr lang="en-US" sz="1400" dirty="0"/>
          </a:p>
        </p:txBody>
      </p:sp>
      <p:sp>
        <p:nvSpPr>
          <p:cNvPr id="18" name="Text 1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مَوْعِدٌ</a:t>
            </a:r>
            <a:endParaRPr lang="ar-SA" sz="1900" dirty="0"/>
          </a:p>
        </p:txBody>
      </p:sp>
      <p:sp>
        <p:nvSpPr>
          <p:cNvPr id="19" name="Text 17"/>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‎وعدہ‎ </a:t>
            </a:r>
            <a:pPr indent="0" marL="0">
              <a:buNone/>
            </a:pPr>
            <a:r>
              <a:rPr lang="en-US" sz="950" b="1" dirty="0">
                <a:solidFill>
                  <a:srgbClr val="2E8B57"/>
                </a:solidFill>
                <a:latin typeface="Calibri" pitchFamily="34" charset="0"/>
                <a:cs typeface="Amiri" pitchFamily="2" charset="-78"/>
              </a:rPr>
              <a:t> wada · Arabic: an appointment · Urdu: a promise</a:t>
            </a:r>
            <a:endParaRPr lang="en-US" sz="1400" dirty="0"/>
          </a:p>
        </p:txBody>
      </p:sp>
      <p:sp>
        <p:nvSpPr>
          <p:cNvPr id="20" name="Text 1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مُذَاكَرَةٌ</a:t>
            </a:r>
            <a:endParaRPr lang="ar-SA" sz="1900" dirty="0"/>
          </a:p>
        </p:txBody>
      </p:sp>
      <p:sp>
        <p:nvSpPr>
          <p:cNvPr id="21" name="Text 19"/>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‎مذاکرات‎ </a:t>
            </a:r>
            <a:pPr indent="0" marL="0">
              <a:buNone/>
            </a:pPr>
            <a:r>
              <a:rPr lang="en-US" sz="950" b="1" dirty="0">
                <a:solidFill>
                  <a:srgbClr val="2E8B57"/>
                </a:solidFill>
                <a:latin typeface="Calibri" pitchFamily="34" charset="0"/>
                <a:cs typeface="Amiri" pitchFamily="2" charset="-78"/>
              </a:rPr>
              <a:t> muzākarāt · Arabic: studying · Urdu: negotiations</a:t>
            </a:r>
            <a:endParaRPr lang="en-US" sz="1400" dirty="0"/>
          </a:p>
        </p:txBody>
      </p:sp>
      <p:sp>
        <p:nvSpPr>
          <p:cNvPr id="23" name="Text 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Transactional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تَمْثِيلُ الدَّوْرِ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role play</a:t>
            </a:r>
            <a:endParaRPr lang="en-US" sz="1350" dirty="0"/>
          </a:p>
          <a:p>
            <a:pPr indent="0" marL="0">
              <a:buNone/>
            </a:pPr>
            <a:r>
              <a:rPr lang="en-US" sz="1100" i="1" dirty="0">
                <a:solidFill>
                  <a:srgbClr val="5A6472"/>
                </a:solidFill>
                <a:latin typeface="Calibri" pitchFamily="34" charset="0"/>
                <a:cs typeface="Amiri" pitchFamily="2" charset="-78"/>
              </a:rPr>
              <a:t>tam-thī-lu ad-daw-ri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الاسْتِجَابَةُ لِلْمُحَفِّزَاتِ</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responding to prompts</a:t>
            </a:r>
            <a:endParaRPr lang="en-US" sz="1350" dirty="0"/>
          </a:p>
          <a:p>
            <a:pPr indent="0" marL="0">
              <a:buNone/>
            </a:pPr>
            <a:r>
              <a:rPr lang="en-US" sz="1100" i="1" dirty="0">
                <a:solidFill>
                  <a:srgbClr val="5A6472"/>
                </a:solidFill>
                <a:latin typeface="Calibri" pitchFamily="34" charset="0"/>
                <a:cs typeface="Amiri" pitchFamily="2" charset="-78"/>
              </a:rPr>
              <a:t>als-ti-jā-ba-tu lil-mu-ḥaf-fi-zā-ti</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مُحَفِّزٌ</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 التَّعَامُلِيَّةُ</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transactional language</a:t>
            </a:r>
            <a:endParaRPr lang="en-US" sz="1350" dirty="0"/>
          </a:p>
          <a:p>
            <a:pPr indent="0" marL="0">
              <a:buNone/>
            </a:pPr>
            <a:r>
              <a:rPr lang="en-US" sz="1100" i="1" dirty="0">
                <a:solidFill>
                  <a:srgbClr val="5A6472"/>
                </a:solidFill>
                <a:latin typeface="Calibri" pitchFamily="34" charset="0"/>
                <a:cs typeface="Amiri" pitchFamily="2" charset="-78"/>
              </a:rPr>
              <a:t>all-lu-gha-tu at-ta-ʿā-mu-liy-ya-tu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إِعْطَاءُ المَعْلُومَاتِ</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giving information</a:t>
            </a:r>
            <a:endParaRPr lang="en-US" sz="1350" dirty="0"/>
          </a:p>
          <a:p>
            <a:pPr indent="0" marL="0">
              <a:buNone/>
            </a:pPr>
            <a:r>
              <a:rPr lang="en-US" sz="1100" i="1" dirty="0">
                <a:solidFill>
                  <a:srgbClr val="5A6472"/>
                </a:solidFill>
                <a:latin typeface="Calibri" pitchFamily="34" charset="0"/>
                <a:cs typeface="Amiri" pitchFamily="2" charset="-78"/>
              </a:rPr>
              <a:t>iʿ-ṭā-ʾu al-maʿ-lū-mā-ti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Transactional language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طَلَبُ المَعْلُومَاتِ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requesting information</a:t>
            </a:r>
            <a:endParaRPr lang="en-US" sz="1350" dirty="0"/>
          </a:p>
          <a:p>
            <a:pPr indent="0" marL="0">
              <a:buNone/>
            </a:pPr>
            <a:r>
              <a:rPr lang="en-US" sz="1100" i="1" dirty="0">
                <a:solidFill>
                  <a:srgbClr val="5A6472"/>
                </a:solidFill>
                <a:latin typeface="Calibri" pitchFamily="34" charset="0"/>
                <a:cs typeface="Amiri" pitchFamily="2" charset="-78"/>
              </a:rPr>
              <a:t>ṭa-la-bu al-maʿ-lū-mā-ti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التَّفَاوُضُ</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negotiation</a:t>
            </a:r>
            <a:endParaRPr lang="en-US" sz="1350" dirty="0"/>
          </a:p>
          <a:p>
            <a:pPr indent="0" marL="0">
              <a:buNone/>
            </a:pPr>
            <a:r>
              <a:rPr lang="en-US" sz="1100" i="1" dirty="0">
                <a:solidFill>
                  <a:srgbClr val="5A6472"/>
                </a:solidFill>
                <a:latin typeface="Calibri" pitchFamily="34" charset="0"/>
                <a:cs typeface="Amiri" pitchFamily="2" charset="-78"/>
              </a:rPr>
              <a:t>at-ta-fā-wu-ḍu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 المُشْكِلَةِ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problem-solving</a:t>
            </a:r>
            <a:endParaRPr lang="en-US" sz="1350" dirty="0"/>
          </a:p>
          <a:p>
            <a:pPr indent="0" marL="0">
              <a:buNone/>
            </a:pPr>
            <a:r>
              <a:rPr lang="en-US" sz="1100" i="1" dirty="0">
                <a:solidFill>
                  <a:srgbClr val="5A6472"/>
                </a:solidFill>
                <a:latin typeface="Calibri" pitchFamily="34" charset="0"/>
                <a:cs typeface="Amiri" pitchFamily="2" charset="-78"/>
              </a:rPr>
              <a:t>ḥal-lu al-mush-ki-la-ti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التَّحَدُّثُ بِثِقَةٍ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speaking with confidence</a:t>
            </a:r>
            <a:endParaRPr lang="en-US" sz="1350" dirty="0"/>
          </a:p>
          <a:p>
            <a:pPr indent="0" marL="0">
              <a:buNone/>
            </a:pPr>
            <a:r>
              <a:rPr lang="en-US" sz="1100" i="1" dirty="0">
                <a:solidFill>
                  <a:srgbClr val="5A6472"/>
                </a:solidFill>
                <a:latin typeface="Calibri" pitchFamily="34" charset="0"/>
                <a:cs typeface="Amiri" pitchFamily="2" charset="-78"/>
              </a:rPr>
              <a:t>at-ta-ḥad-du-thu bi-thi-qa-tin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THE ROLE-PLAY MARK SCHEME, DEMYSTIFIED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Ten marks: Communication 6 · Accuracy 4</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مِعْيَارُ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630936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9436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ROLE-PLAY MARK SCHEME, DEMYSTIFIED</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53212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Communication (6 marks) — One mark per prompt successfully communicated — up to six prompts.</a:t>
            </a:r>
            <a:endParaRPr lang="en-US" sz="1300" dirty="0"/>
          </a:p>
        </p:txBody>
      </p:sp>
      <p:sp>
        <p:nvSpPr>
          <p:cNvPr id="20" name="Shape 17"/>
          <p:cNvSpPr/>
          <p:nvPr/>
        </p:nvSpPr>
        <p:spPr>
          <a:xfrm>
            <a:off x="658368" y="363321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6332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523488"/>
            <a:ext cx="553212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Accuracy (4 marks) — An overall score for language accuracy: 4 = consistently accurate, down to 1 = frequent errors that obscure meaning.</a:t>
            </a:r>
            <a:endParaRPr lang="en-US" sz="1300" dirty="0"/>
          </a:p>
        </p:txBody>
      </p:sp>
      <p:sp>
        <p:nvSpPr>
          <p:cNvPr id="23" name="Shape 20"/>
          <p:cNvSpPr/>
          <p:nvPr/>
        </p:nvSpPr>
        <p:spPr>
          <a:xfrm>
            <a:off x="658368" y="4980432"/>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98043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870704"/>
            <a:ext cx="553212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costs you marks — Not answering the prompt; answering a different question; or using one word where a sentence is needed.</a:t>
            </a:r>
            <a:endParaRPr lang="en-US" sz="1300" dirty="0"/>
          </a:p>
        </p:txBody>
      </p:sp>
      <p:sp>
        <p:nvSpPr>
          <p:cNvPr id="26" name="Shape 23"/>
          <p:cNvSpPr/>
          <p:nvPr/>
        </p:nvSpPr>
        <p:spPr>
          <a:xfrm>
            <a:off x="6949440" y="1810512"/>
            <a:ext cx="478231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Text 24"/>
          <p:cNvSpPr txBox="1"/>
          <p:nvPr/>
        </p:nvSpPr>
        <p:spPr>
          <a:xfrm>
            <a:off x="7132320" y="1883664"/>
            <a:ext cx="441655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28" name="Text 25"/>
          <p:cNvSpPr txBox="1"/>
          <p:nvPr/>
        </p:nvSpPr>
        <p:spPr>
          <a:xfrm>
            <a:off x="7086600" y="2194560"/>
            <a:ext cx="45079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مُحَفِّزٌ وَاحِدٌ = دَرَجَةٌ وَاحِدَةٌ</a:t>
            </a:r>
            <a:endParaRPr lang="ar-SA" sz="2800" dirty="0"/>
          </a:p>
        </p:txBody>
      </p:sp>
      <p:sp>
        <p:nvSpPr>
          <p:cNvPr id="29" name="Text 26"/>
          <p:cNvSpPr txBox="1"/>
          <p:nvPr/>
        </p:nvSpPr>
        <p:spPr>
          <a:xfrm>
            <a:off x="7086600" y="2955828"/>
            <a:ext cx="45079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prompt = one Communication mark</a:t>
            </a:r>
            <a:endParaRPr lang="en-US" sz="1100" dirty="0"/>
          </a:p>
        </p:txBody>
      </p:sp>
      <p:sp>
        <p:nvSpPr>
          <p:cNvPr id="30" name="Shape 27"/>
          <p:cNvSpPr/>
          <p:nvPr/>
        </p:nvSpPr>
        <p:spPr>
          <a:xfrm>
            <a:off x="7132320" y="3535680"/>
            <a:ext cx="4416552" cy="0"/>
          </a:xfrm>
          <a:prstGeom prst="line">
            <a:avLst/>
          </a:prstGeom>
          <a:noFill/>
          <a:ln w="9525">
            <a:solidFill>
              <a:srgbClr val="E4DCCB"/>
            </a:solidFill>
            <a:prstDash val="dash"/>
          </a:ln>
        </p:spPr>
      </p:sp>
      <p:sp>
        <p:nvSpPr>
          <p:cNvPr id="31" name="Text 28"/>
          <p:cNvSpPr txBox="1"/>
          <p:nvPr/>
        </p:nvSpPr>
        <p:spPr>
          <a:xfrm>
            <a:off x="7086600" y="3553968"/>
            <a:ext cx="45079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 «صُدَاعٌ.»</a:t>
            </a:r>
            <a:endParaRPr lang="ar-SA" sz="2800" dirty="0"/>
          </a:p>
        </p:txBody>
      </p:sp>
      <p:sp>
        <p:nvSpPr>
          <p:cNvPr id="32" name="Text 29"/>
          <p:cNvSpPr txBox="1"/>
          <p:nvPr/>
        </p:nvSpPr>
        <p:spPr>
          <a:xfrm>
            <a:off x="7086600" y="4315236"/>
            <a:ext cx="45079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word — the prompt may be lost</a:t>
            </a:r>
            <a:endParaRPr lang="en-US" sz="1100" dirty="0"/>
          </a:p>
        </p:txBody>
      </p:sp>
      <p:sp>
        <p:nvSpPr>
          <p:cNvPr id="33" name="Shape 30"/>
          <p:cNvSpPr/>
          <p:nvPr/>
        </p:nvSpPr>
        <p:spPr>
          <a:xfrm>
            <a:off x="7132320" y="4895088"/>
            <a:ext cx="4416552" cy="0"/>
          </a:xfrm>
          <a:prstGeom prst="line">
            <a:avLst/>
          </a:prstGeom>
          <a:noFill/>
          <a:ln w="9525">
            <a:solidFill>
              <a:srgbClr val="E4DCCB"/>
            </a:solidFill>
            <a:prstDash val="dash"/>
          </a:ln>
        </p:spPr>
      </p:sp>
      <p:sp>
        <p:nvSpPr>
          <p:cNvPr id="34" name="Text 31"/>
          <p:cNvSpPr txBox="1"/>
          <p:nvPr/>
        </p:nvSpPr>
        <p:spPr>
          <a:xfrm>
            <a:off x="7086600" y="4913376"/>
            <a:ext cx="450799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 أَشْعُرُ بِصُدَاعٍ مُنْذُ أُسْبُوعٍ.</a:t>
            </a:r>
            <a:endParaRPr lang="ar-SA" sz="2800" dirty="0"/>
          </a:p>
        </p:txBody>
      </p:sp>
      <p:sp>
        <p:nvSpPr>
          <p:cNvPr id="35" name="Text 32"/>
          <p:cNvSpPr txBox="1"/>
          <p:nvPr/>
        </p:nvSpPr>
        <p:spPr>
          <a:xfrm>
            <a:off x="7086600" y="5674644"/>
            <a:ext cx="450799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full, relevant sentence</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 · HOW TO SCORE FULL COMMUNICATION (WEBSITE) · REPAIR PHRASES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to score full Communication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التَّوَاصُلُ الكَامِلُ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Each prompt needs a RELEVANT response with enough language to communicate clearly.</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Perfect grammar is not required for the Communication mark — but a serious error that causes misunderstanding loses that prompt.</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Give two to three sentences per prompt, delivered confidently.</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If you did not understand: ask, then answer. Silence scores zero; a repair phrase keeps you in the conversation.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REPAIR PHRASES (TEACHER)</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هَلْ يُمْكِنُ أَنْ تُعِيدَ السُّؤَالَ؟</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could you repeat the question?</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سُؤَالٌ مُهِمٌّ … دَعْنِي أُفَكِّرُ.</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 important question … let me think.</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أَقْصِدُ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I mean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ROLE PLAY 1 · HEALTH CENTRE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 play 1 — At the health centre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المَرْكَزِ الصِّحِّيِّ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06640" y="2267712"/>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أَشْعُرُ بِصُدَاعٍ وَأُعَانِي مِنَ الأَرَقِ مُنْذُ أُسْبُوعٍ.</a:t>
            </a:r>
            <a:endParaRPr lang="ar-SA" sz="15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symptoms to the doctor.</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أَعْرَاضَكَ لِلطَّبِيبِ.</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406640" y="3054096"/>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 العِلَاجُ المُنَاسِبُ؟ هَلْ يَجِبُ أَنْ آخُذَ دَوَاءً؟</a:t>
            </a:r>
            <a:endParaRPr lang="ar-SA" sz="1500" dirty="0"/>
          </a:p>
        </p:txBody>
      </p:sp>
      <p:sp>
        <p:nvSpPr>
          <p:cNvPr id="27" name="Text 24"/>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appropriate treatment.</a:t>
            </a:r>
            <a:endParaRPr lang="en-US" sz="1100" dirty="0"/>
          </a:p>
        </p:txBody>
      </p:sp>
      <p:sp>
        <p:nvSpPr>
          <p:cNvPr id="28" name="Text 25"/>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عَنِ العِلَاجِ المُنَاسِبِ.</a:t>
            </a:r>
            <a:endParaRPr lang="ar-SA" sz="1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406640" y="3840480"/>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يَنْبَغِي أَنْ أَفْعَلَ لِكَيْ لَا يَتَكَرَّرَ ذٰلِكَ؟</a:t>
            </a:r>
            <a:endParaRPr lang="ar-SA" sz="1500" dirty="0"/>
          </a:p>
        </p:txBody>
      </p:sp>
      <p:sp>
        <p:nvSpPr>
          <p:cNvPr id="33" name="Text 30"/>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prevention advice.</a:t>
            </a:r>
            <a:endParaRPr lang="en-US" sz="1100" dirty="0"/>
          </a:p>
        </p:txBody>
      </p:sp>
      <p:sp>
        <p:nvSpPr>
          <p:cNvPr id="34" name="Text 31"/>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اطْلُبْ نَصِيحَةً لِلْوِقَايَةِ.</a:t>
            </a:r>
            <a:endParaRPr lang="ar-SA" sz="16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7406640" y="4626864"/>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هَلْ يُمْكِنُ أَنْ أَحْجِزَ مَوْعِدًا يَوْمَ الخَمِيسِ؟</a:t>
            </a:r>
            <a:endParaRPr lang="ar-SA" sz="1500" dirty="0"/>
          </a:p>
        </p:txBody>
      </p:sp>
      <p:sp>
        <p:nvSpPr>
          <p:cNvPr id="39" name="Text 36"/>
          <p:cNvSpPr txBox="1"/>
          <p:nvPr/>
        </p:nvSpPr>
        <p:spPr>
          <a:xfrm>
            <a:off x="449884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on a follow-up appointment.</a:t>
            </a:r>
            <a:endParaRPr lang="en-US" sz="1100" dirty="0"/>
          </a:p>
        </p:txBody>
      </p:sp>
      <p:sp>
        <p:nvSpPr>
          <p:cNvPr id="40" name="Text 37"/>
          <p:cNvSpPr txBox="1"/>
          <p:nvPr/>
        </p:nvSpPr>
        <p:spPr>
          <a:xfrm>
            <a:off x="548640" y="4626864"/>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اتَّفِقْ عَلَى مَوْعِدٍ لِلْمُتَابَعَةِ.</a:t>
            </a:r>
            <a:endParaRPr lang="ar-SA" sz="16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6 · Accuracy 4.</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ROLE PLAY 2 · TRAVEL AGENCY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 play 2 — At the travel agency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وَكَالَةِ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06640" y="2267712"/>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أُرِيدُ أَنْ أَحْجِزَ رِحْلَةً إِلَى عَمَّانَ. مَتَى تُغَادِرُ الطَّائِرَةُ؟</a:t>
            </a:r>
            <a:endParaRPr lang="ar-SA" sz="15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Book a trip and ask about the schedule.</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احْجِزْ رِحْلَةً وَاسْأَلْ عَنِ المَوَاعِيدِ.</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406640" y="3054096"/>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هَلْ تُوجَدُ فَنَادِقُ قَرِيبَةٌ مِنْ وَسَطِ المَدِينَةِ؟</a:t>
            </a:r>
            <a:endParaRPr lang="ar-SA" sz="1500" dirty="0"/>
          </a:p>
        </p:txBody>
      </p:sp>
      <p:sp>
        <p:nvSpPr>
          <p:cNvPr id="27" name="Text 24"/>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accommodation options.</a:t>
            </a:r>
            <a:endParaRPr lang="en-US" sz="1100" dirty="0"/>
          </a:p>
        </p:txBody>
      </p:sp>
      <p:sp>
        <p:nvSpPr>
          <p:cNvPr id="28" name="Text 25"/>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عَنْ خِيَارَاتِ الإِقَامَةِ.</a:t>
            </a:r>
            <a:endParaRPr lang="ar-SA" sz="1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406640" y="3840480"/>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أُفَضِّلُ خِيَارًا صَدِيقًا لِلْبِيئَةِ، كَالقِطَارِ مَثَلًا.</a:t>
            </a:r>
            <a:endParaRPr lang="ar-SA" sz="1500" dirty="0"/>
          </a:p>
        </p:txBody>
      </p:sp>
      <p:sp>
        <p:nvSpPr>
          <p:cNvPr id="33" name="Text 30"/>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Request an environmentally friendly option.</a:t>
            </a:r>
            <a:endParaRPr lang="en-US" sz="1100" dirty="0"/>
          </a:p>
        </p:txBody>
      </p:sp>
      <p:sp>
        <p:nvSpPr>
          <p:cNvPr id="34" name="Text 31"/>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اطْلُبْ خِيَارًا صَدِيقًا لِلْبِيئَةِ.</a:t>
            </a:r>
            <a:endParaRPr lang="ar-SA" sz="16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406640" y="4626864"/>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السِّعْرُ مُرْتَفِعٌ قَلِيلًا؛ هَلْ يُمْكِنُ أَنْ تُخَفِّضُوهُ؟</a:t>
            </a:r>
            <a:endParaRPr lang="ar-SA" sz="1500" dirty="0"/>
          </a:p>
        </p:txBody>
      </p:sp>
      <p:sp>
        <p:nvSpPr>
          <p:cNvPr id="37" name="Text 34"/>
          <p:cNvSpPr txBox="1"/>
          <p:nvPr/>
        </p:nvSpPr>
        <p:spPr>
          <a:xfrm>
            <a:off x="449884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Negotiate on the price.</a:t>
            </a:r>
            <a:endParaRPr lang="en-US" sz="1100" dirty="0"/>
          </a:p>
        </p:txBody>
      </p:sp>
      <p:sp>
        <p:nvSpPr>
          <p:cNvPr id="38" name="Text 35"/>
          <p:cNvSpPr txBox="1"/>
          <p:nvPr/>
        </p:nvSpPr>
        <p:spPr>
          <a:xfrm>
            <a:off x="548640" y="4626864"/>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تَفَاوَضْ عَلَى السِّعْرِ.</a:t>
            </a:r>
            <a:endParaRPr lang="ar-SA" sz="16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6 · Accuracy 4.</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ROLE PLAY 3 · UNIVERSITY ADMISSIONS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Role play 3 — University admissions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مَكْتَبِ القَبُولِ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06640" y="2267712"/>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كُنْتُ قَدْ دَرَسْتُ العُلُومَ وَالعَرَبِيَّةَ فِي المَدْرَسَةِ الثَّانَوِيَّةِ.</a:t>
            </a:r>
            <a:endParaRPr lang="ar-SA" sz="15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academic background (past perfect).</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خَلْفِيَّتَكَ الدِّرَاسِيَّةَ (المَاضِي التَّامُّ).</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406640" y="3054096"/>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 البَرَامِجُ المُتَاحَةُ فِي كُلِّيَّةِ الطِّبِّ؟</a:t>
            </a:r>
            <a:endParaRPr lang="ar-SA" sz="1500" dirty="0"/>
          </a:p>
        </p:txBody>
      </p:sp>
      <p:sp>
        <p:nvSpPr>
          <p:cNvPr id="27" name="Text 24"/>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available programmes.</a:t>
            </a:r>
            <a:endParaRPr lang="en-US" sz="1100" dirty="0"/>
          </a:p>
        </p:txBody>
      </p:sp>
      <p:sp>
        <p:nvSpPr>
          <p:cNvPr id="28" name="Text 25"/>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عَنِ البَرَامِجِ المُتَاحَةِ.</a:t>
            </a:r>
            <a:endParaRPr lang="ar-SA" sz="1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406640" y="3840480"/>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إِذَا قُبِلْتُ، سَأَدْرُسُ الطِّبَّ لِكَيْ أُسَاعِدَ النَّاسَ.</a:t>
            </a:r>
            <a:endParaRPr lang="ar-SA" sz="1500" dirty="0"/>
          </a:p>
        </p:txBody>
      </p:sp>
      <p:sp>
        <p:nvSpPr>
          <p:cNvPr id="33" name="Text 30"/>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Talk about your future plans (a conditional).</a:t>
            </a:r>
            <a:endParaRPr lang="en-US" sz="1100" dirty="0"/>
          </a:p>
        </p:txBody>
      </p:sp>
      <p:sp>
        <p:nvSpPr>
          <p:cNvPr id="34" name="Text 31"/>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تَحَدَّثْ عَنْ خُطَطِكَ المُسْتَقْبَلِيَّةِ (شَرْطٌ).</a:t>
            </a:r>
            <a:endParaRPr lang="ar-SA" sz="16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406640" y="4626864"/>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هَلْ تُوجَدُ مِنَحٌ لِلطُّلَّابِ الدَّوْلِيِّينَ؟</a:t>
            </a:r>
            <a:endParaRPr lang="ar-SA" sz="1500" dirty="0"/>
          </a:p>
        </p:txBody>
      </p:sp>
      <p:sp>
        <p:nvSpPr>
          <p:cNvPr id="37" name="Text 34"/>
          <p:cNvSpPr txBox="1"/>
          <p:nvPr/>
        </p:nvSpPr>
        <p:spPr>
          <a:xfrm>
            <a:off x="449884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scholarship information.</a:t>
            </a:r>
            <a:endParaRPr lang="en-US" sz="1100" dirty="0"/>
          </a:p>
        </p:txBody>
      </p:sp>
      <p:sp>
        <p:nvSpPr>
          <p:cNvPr id="38" name="Text 35"/>
          <p:cNvSpPr txBox="1"/>
          <p:nvPr/>
        </p:nvSpPr>
        <p:spPr>
          <a:xfrm>
            <a:off x="548640" y="4626864"/>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اطْلُبْ مَعْلُومَاتٍ عَنِ المِنَحِ.</a:t>
            </a:r>
            <a:endParaRPr lang="ar-SA" sz="16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6 · Accuracy 4.</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ROLE PLAY 4 · COMMUNITY ENVIRONMENT MEETING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 play 4 — Community environment meeting</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اجْتِمَاعِ الحَيِّ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06640" y="2267712"/>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تُرْمَى النُّفَايَاتُ فِي الحَدِيقَةِ، وَقَدْ لُوِّثَ النَّهْرُ.</a:t>
            </a:r>
            <a:endParaRPr lang="ar-SA" sz="15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a local environmental problem (passive).</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أَبْلِغْ عَنْ مُشْكِلَةٍ بِيئِيَّةٍ مَحَلِّيَّةٍ (المَبْنِيُّ لِلْمَجْهُولِ).</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406640" y="3054096"/>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أَقْتَرِحُ أَنْ تُوضَعَ حَاوِيَاتٌ لِإِعَادَةِ التَّدْوِيرِ.</a:t>
            </a:r>
            <a:endParaRPr lang="ar-SA" sz="1500" dirty="0"/>
          </a:p>
        </p:txBody>
      </p:sp>
      <p:sp>
        <p:nvSpPr>
          <p:cNvPr id="27" name="Text 24"/>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solutions (a subjunctive trigger).</a:t>
            </a:r>
            <a:endParaRPr lang="en-US" sz="1100" dirty="0"/>
          </a:p>
        </p:txBody>
      </p:sp>
      <p:sp>
        <p:nvSpPr>
          <p:cNvPr id="28" name="Text 25"/>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اقْتَرِحْ حُلُولًا (مُسَبِّبُ نَصْبٍ).</a:t>
            </a:r>
            <a:endParaRPr lang="ar-SA" sz="1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406640" y="3840480"/>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 اللَّوَائِحُ الَّتِي تَمْنَعُ رَمْيَ النُّفَايَاتِ؟</a:t>
            </a:r>
            <a:endParaRPr lang="ar-SA" sz="1500" dirty="0"/>
          </a:p>
        </p:txBody>
      </p:sp>
      <p:sp>
        <p:nvSpPr>
          <p:cNvPr id="33" name="Text 30"/>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the regulations.</a:t>
            </a:r>
            <a:endParaRPr lang="en-US" sz="1100" dirty="0"/>
          </a:p>
        </p:txBody>
      </p:sp>
      <p:sp>
        <p:nvSpPr>
          <p:cNvPr id="34" name="Text 31"/>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عَنِ اللَّوَائِحِ.</a:t>
            </a:r>
            <a:endParaRPr lang="ar-SA" sz="16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406640" y="4626864"/>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نَرْجُو أَنْ تَدْعَمَ البَلَدِيَّةُ حَمْلَةَ تَنْظِيفٍ.</a:t>
            </a:r>
            <a:endParaRPr lang="ar-SA" sz="1500" dirty="0"/>
          </a:p>
        </p:txBody>
      </p:sp>
      <p:sp>
        <p:nvSpPr>
          <p:cNvPr id="37" name="Text 34"/>
          <p:cNvSpPr txBox="1"/>
          <p:nvPr/>
        </p:nvSpPr>
        <p:spPr>
          <a:xfrm>
            <a:off x="449884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Request the council’s support.</a:t>
            </a:r>
            <a:endParaRPr lang="en-US" sz="1100" dirty="0"/>
          </a:p>
        </p:txBody>
      </p:sp>
      <p:sp>
        <p:nvSpPr>
          <p:cNvPr id="38" name="Text 35"/>
          <p:cNvSpPr txBox="1"/>
          <p:nvPr/>
        </p:nvSpPr>
        <p:spPr>
          <a:xfrm>
            <a:off x="548640" y="4626864"/>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اطْلُبْ دَعْمَ البَلَدِيَّةِ.</a:t>
            </a:r>
            <a:endParaRPr lang="ar-SA" sz="16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6 · Accuracy 4.</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ROLE PLAY 5 · INTERNATIONAL CONFERENCE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Role play 5 — International conference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المُؤْتَمَرِ الدَّوْلِيِّ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44622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406640" y="2267712"/>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أَرَى أَنَّ الفَجْوَةَ الرَّقْمِيَّةَ تُعَمِّقُ عَدَمَ المُسَاوَاةِ.</a:t>
            </a:r>
            <a:endParaRPr lang="ar-SA" sz="1500" dirty="0"/>
          </a:p>
        </p:txBody>
      </p:sp>
      <p:sp>
        <p:nvSpPr>
          <p:cNvPr id="21" name="Text 18"/>
          <p:cNvSpPr txBox="1"/>
          <p:nvPr/>
        </p:nvSpPr>
        <p:spPr>
          <a:xfrm>
            <a:off x="449884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your position on a social issue.</a:t>
            </a:r>
            <a:endParaRPr lang="en-US" sz="1100" dirty="0"/>
          </a:p>
        </p:txBody>
      </p:sp>
      <p:sp>
        <p:nvSpPr>
          <p:cNvPr id="22" name="Text 19"/>
          <p:cNvSpPr txBox="1"/>
          <p:nvPr/>
        </p:nvSpPr>
        <p:spPr>
          <a:xfrm>
            <a:off x="548640"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اعْرِضْ مَوْقِفَكَ مِنْ قَضِيَّةٍ اجْتِمَاعِيَّةٍ.</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406640" y="3054096"/>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صَحِيحٌ أَنَّ التِّقْنِيَّةَ تُوَفِّرُ فُرَصًا، غَيْرَ أَنَّ …</a:t>
            </a:r>
            <a:endParaRPr lang="ar-SA" sz="1500" dirty="0"/>
          </a:p>
        </p:txBody>
      </p:sp>
      <p:sp>
        <p:nvSpPr>
          <p:cNvPr id="27" name="Text 24"/>
          <p:cNvSpPr txBox="1"/>
          <p:nvPr/>
        </p:nvSpPr>
        <p:spPr>
          <a:xfrm>
            <a:off x="449884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Concede the opposing view (ṣaḥīḥun anna).</a:t>
            </a:r>
            <a:endParaRPr lang="en-US" sz="1100" dirty="0"/>
          </a:p>
        </p:txBody>
      </p:sp>
      <p:sp>
        <p:nvSpPr>
          <p:cNvPr id="28" name="Text 25"/>
          <p:cNvSpPr txBox="1"/>
          <p:nvPr/>
        </p:nvSpPr>
        <p:spPr>
          <a:xfrm>
            <a:off x="548640"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سَلِّمْ بِرَأْيِ الطَّرَفِ الآخَرِ (صَحِيحٌ أَنَّ).</a:t>
            </a:r>
            <a:endParaRPr lang="ar-SA" sz="1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406640" y="3840480"/>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يَتَطَلَّبُ الأَمْرُ أَنْ تُوَفِّرَ الحُكُومَاتُ الإِنْتِرْنِتَ لِلْجَمِيعِ.</a:t>
            </a:r>
            <a:endParaRPr lang="ar-SA" sz="1500" dirty="0"/>
          </a:p>
        </p:txBody>
      </p:sp>
      <p:sp>
        <p:nvSpPr>
          <p:cNvPr id="33" name="Text 30"/>
          <p:cNvSpPr txBox="1"/>
          <p:nvPr/>
        </p:nvSpPr>
        <p:spPr>
          <a:xfrm>
            <a:off x="449884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Request action (yataṭallabu an).</a:t>
            </a:r>
            <a:endParaRPr lang="en-US" sz="1100" dirty="0"/>
          </a:p>
        </p:txBody>
      </p:sp>
      <p:sp>
        <p:nvSpPr>
          <p:cNvPr id="34" name="Text 31"/>
          <p:cNvSpPr txBox="1"/>
          <p:nvPr/>
        </p:nvSpPr>
        <p:spPr>
          <a:xfrm>
            <a:off x="548640"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اطْلُبْ إِجْرَاءً (يَتَطَلَّبُ أَنْ).</a:t>
            </a:r>
            <a:endParaRPr lang="ar-SA" sz="16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406640" y="4626864"/>
            <a:ext cx="423367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وَبِنَاءً عَلَى مَا سَبَقَ، أُوصِي بِأَنْ نَسْتَثْمِرَ فِي التَّعْلِيمِ.</a:t>
            </a:r>
            <a:endParaRPr lang="ar-SA" sz="1500" dirty="0"/>
          </a:p>
        </p:txBody>
      </p:sp>
      <p:sp>
        <p:nvSpPr>
          <p:cNvPr id="37" name="Text 34"/>
          <p:cNvSpPr txBox="1"/>
          <p:nvPr/>
        </p:nvSpPr>
        <p:spPr>
          <a:xfrm>
            <a:off x="449884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Close with a recommendation.</a:t>
            </a:r>
            <a:endParaRPr lang="en-US" sz="1100" dirty="0"/>
          </a:p>
        </p:txBody>
      </p:sp>
      <p:sp>
        <p:nvSpPr>
          <p:cNvPr id="38" name="Text 35"/>
          <p:cNvSpPr txBox="1"/>
          <p:nvPr/>
        </p:nvSpPr>
        <p:spPr>
          <a:xfrm>
            <a:off x="548640" y="4626864"/>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اخْتِمْ بِتَوْصِيَةٍ.</a:t>
            </a:r>
            <a:endParaRPr lang="ar-SA" sz="16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6 · Accuracy 4.</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COMMUNICATION MARK ANALYSIS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Communication mark analysis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تَحْلِيلُ التَّوَاصُلِ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473659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Record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965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773168" y="2267712"/>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22" name="Text 19"/>
          <p:cNvSpPr txBox="1"/>
          <p:nvPr/>
        </p:nvSpPr>
        <p:spPr>
          <a:xfrm>
            <a:off x="566928" y="2267712"/>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Average Communication across the tasks (out of 6)</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7965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5" name="Text 22"/>
          <p:cNvSpPr txBox="1"/>
          <p:nvPr/>
        </p:nvSpPr>
        <p:spPr>
          <a:xfrm>
            <a:off x="4773168" y="3054096"/>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26" name="Text 23"/>
          <p:cNvSpPr txBox="1"/>
          <p:nvPr/>
        </p:nvSpPr>
        <p:spPr>
          <a:xfrm>
            <a:off x="566928" y="3054096"/>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Average Accuracy across the tasks (out of 4)</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7965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4773168" y="3840480"/>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 (negotiating)</a:t>
            </a:r>
            <a:endParaRPr lang="en-US" sz="1100" dirty="0"/>
          </a:p>
        </p:txBody>
      </p:sp>
      <p:sp>
        <p:nvSpPr>
          <p:cNvPr id="30" name="Text 27"/>
          <p:cNvSpPr txBox="1"/>
          <p:nvPr/>
        </p:nvSpPr>
        <p:spPr>
          <a:xfrm>
            <a:off x="566928" y="3840480"/>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lowest-confidence topic area</a:t>
            </a:r>
            <a:endParaRPr lang="en-US" sz="11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87965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773168" y="4626864"/>
            <a:ext cx="3840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vocabulary → learn 5 travel phrases</a:t>
            </a:r>
            <a:endParaRPr lang="en-US" sz="1100" dirty="0"/>
          </a:p>
        </p:txBody>
      </p:sp>
      <p:sp>
        <p:nvSpPr>
          <p:cNvPr id="34" name="Text 31"/>
          <p:cNvSpPr txBox="1"/>
          <p:nvPr/>
        </p:nvSpPr>
        <p:spPr>
          <a:xfrm>
            <a:off x="566928" y="4626864"/>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cause (prompt recognition / vocabulary / hesitation) and my fix</a:t>
            </a: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Is the cause recognising the prompt, missing vocabulary, or hesitation? Each has a different fix.</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PRECISE, NOT LONG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12480" y="2267712"/>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هَلْ يُمْكِنُ أَنْ …؟</a:t>
            </a:r>
            <a:endParaRPr lang="ar-SA" sz="15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phrase I use confidently</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transactional phrase I now use confidently is…</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 — negotiating the price</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topic I will practise most</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topic I will practise most is…</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أَطْلُبَ مَعْلُومَاتٍ</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I can … confidently.</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أَسْتَطِيعُ الآنَ أَنْ ______ بِثِقَةٍ.</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Precise, not long: answer exactly what each prompt asks.</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exact question each prompt asks.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full sentence, not one word, for each prompt.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correct tense and structure for the situation.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repair phrase instead of staying silent.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scored my own role play on Communication and Accuracy.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P6-L06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P6-L07 · Paper 3 Topic Conversation — Extended Speaking at IGCSE Level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المُحَادَثَةُ المَوْضُوعِيَّةُ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topic conversation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التَّوْسِيعُ فِي الإِجَابَةِ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extending the answer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الرَّأْيُ مَعَ الأَسْبَابِ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opinion with reasons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لُغَةُ التَّوَقُّفِ وَالتَّفْكِيرِ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pause-and-think language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التَّعَافِي مِنَ الأَخْطَاءِ</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recovering from errors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can you make a one-sentence answer three times longer?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أَرَى أَنَّ ______ ، لِأَنَّ ______ ، فَمَثَلًا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yourself doing role plays 1–3 with the starts; learn the five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role play 4 without the starts; learn the five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role play 5 with two or three sentences per prompt; learn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P6-L07 · Paper 3 Topic Conversation — Extended Speaking at IGCSE Level</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الوَرَقَةُ الثَّالِثَةُ — المُحَادَثَةُ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one prompt = one mark — answer exactly what is asked, in full sentences, in the right tense; if you are lost, use a repair phrase, never silence.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P6-L06 · Paper 3 Role Play — Transactional Language at IGCSE Standard</dc:title>
  <dc:subject>PptxGenJS Presentation</dc:subject>
  <dc:creator>Al Madina Online School · Arabic Department</dc:creator>
  <cp:lastModifiedBy>Al Madina Online School · Arabic Department</cp:lastModifiedBy>
  <cp:revision>1</cp:revision>
  <dcterms:created xsi:type="dcterms:W3CDTF">2026-10-11T06:43:35Z</dcterms:created>
  <dcterms:modified xsi:type="dcterms:W3CDTF">2026-10-11T06:43:35Z</dcterms:modified>
</cp:coreProperties>
</file>