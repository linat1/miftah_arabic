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Strategy words · 13–17 The six strategies · 17–19 How Paper 1 is scored · 19–23 Annotate the questions (I Do) · 23–33 Text 1 · 33–40 Text 2 · 40–47 Text 3 · 47–51 Report what you heard · 51–55 Performance analysis · 55–58 Reflection + self-check · 58–60 Preparation.
FLEX slides are optional. Use them if the class is moving quickly; otherwise the same activities are on the website for homework.
Content source: Miftah Arabic website, Pathways › Progression › P6 IGCSE Bridge › P6-L02. The website P6-L02: the listening-strategy vocabulary (8 words), the six listening strategies, “How Paper 1 is scored”, three full-format texts (an expert on healthy living — multiple choice 8 · Salma and Karim on studying abroad — matching 6 · a planner on a green city — select the supported statement 6), the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the website audio is in production, so the TEACHER reads each script aloud twice (natural speed, pauses between sentences) — exactly as the website panel says. Students read and annotate the questions in the two-minute gap before each text.
• Core: annotate every question with ONE label (name? number? opinion? conditional?) and answer Text 1 questions 1–4, Text 2 and Text 3 questions 1–3; use the read-along after the second listening. Develop: all 20. Stretch: all 20, then justify each answer with the Arabic signal word.
• Practice, not a test: scores go into the performance analysis only. Celebrate improvement between Text 1 and Text 3.
• The read-along slides (Arabic + English) come AFTER the second listening and BEFORE the answers — for Core support and for checking evidence.
• Website fix: التَّنَبُّؤُ بِالمَحْتَوَى → بِالمُحْتَوَى (the content).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P6-L01. Questions 4–5 retrieve the listening signals of P5-L10 — today they are tested in full IGCSE format.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Paper 1 the grammar is a signpost: it tells you what KIND of information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تفصیل, اشارہ and توقع are shared. Careful: to VERIFY in Urdu is تصدیق کرنا, but in Arabic verifying = التَّحَقُّقُ (from حَقٌّ, truth); Arabic تَصْدِيقٌ = believing or approving.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strategies (website vocabulary (1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strategies (website vocabulary (2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(4 min) — the website cards. Model strategy 2 on the board: write a label next to a sample question. Stress strategy 5: an unanswered question scores zero — make the best-supported guess.
WEBSITE CARDS “The six listening strategies”: Read the questions first: Before the audio, read every question so you know what to listen for. · Annotate each question: Mark the type of information sought: a name, a number, an opinion, a conditional type, a tense. (اسْمٌ؟ رَقْمٌ؟ رَأْيٌ؟ نَوْعُ شَرْطٍ؟) · First listen for the gist: On the first hearing, answer only what you are confident about. · Second listen to verify: Use the second hearing to confirm, correct and complete — trust your first answer on plain facts. · Never leave a blank: An unanswered question scores zero; make your best-supported guess. · Listen for the grammar signal: A trigger, a conditional particle or صَحِيحٌ أَنَّ tells you the meaning that follows. (لِكَيْ · إِذَا · لَوْ · صَحِيحٌ أَنَّ · 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Three question types; each needs a slightly different focus: detail (Text 1), WHO (Text 2), what the text actually SUPPORTS (Text 3 — distractors use words from the text but change the meaning).
WEBSITE PANEL “How Paper 1 is scored”: The three texts carry 8 + 6 + 6 = 20 raw marks in this practice; in the real Paper 1 the section is scaled to 45. Read the questions in the two-minute gaps, then read each script twice (the audio is in production, so the script stands in for the recording). The texts below span the five P6 topic areas and carry P6 grammar naturally: conditionals, subjunctive triggers, reported speech and the concession-refutation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website Text 1 questions. “Question 2 says ‘concede’ — I’ll listen for ṣaḥīḥun anna. Question 4 says Type 1 — I’ll wait for idhā and the sa- result. Question 8 asks if the view is balanced — I need BOTH ṣaḥīḥun anna and ghayra anna.” Students copy the method for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 multiple choice, 8 marks. Two-minute gap: students read and label the questions (as in the I Do). Read the script twice. Core: questions 1–4. Develop / Stretch: all 8.
TEACHER READS THE SCRIPT ALOUD TWICE. Students read the questions first (30 s).
SCRIPT: يَقُولُ الخَبِيرُ: تُشِيرُ الدِّرَاسَاتُ إِلَى أَنَّ النَّوْمَ الجَيِّدَ أَسَاسُ الصِّحَّةِ. صَحِيحٌ أَنَّ الرِّيَاضَةَ مُهِمَّةٌ، غَيْرَ أَنَّ الرَّاحَةَ لَا تَقِلُّ أَهَمِّيَّةً عَنْهَا. إِذَا نَامَ الإِنْسَانُ سَبْعَ سَاعَاتٍ، سَيَتَحَسَّنُ تَرْكِيزُهُ. وَلَوْ قَلَّلْنَا مِنَ الشَّاشَاتِ لَيْلًا، لَنِمْنَا بِعُمْقٍ أَكْبَرَ. وَيَنْبَغِي أَنْ نَحْرِصَ عَلَى غِذَاءٍ مُتَوَازِنٍ. وَأَكَّدَ الخَبِيرُ أَنَّ التَّوَتُّرَ المُزْمِنَ يُضْعِفُ المَنَاعَةَ.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 matching: who says it? 6 marks. Read the speaker names clearly (سَلْمَى · كَرِيمٌ) — consider a different voice for each. Core: questions 1–3. Develop / Stretch: all 6.
TEACHER READS THE SCRIPT ALOUD TWICE. Students read the questions first (30 s).
SCRIPT: سَلْمَى: أَرَى أَنَّ الدِّرَاسَةَ فِي الخَارِجِ تُوَسِّعُ الآفَاقَ. كَرِيمٌ: صَحِيحٌ أَنَّهَا مُكْلِفَةٌ، غَيْرَ أَنَّ العَائِدَ يَسْتَحِقُّ. سَلْمَى: وَلَوْ تَعَلَّمْتُ لُغَةً جَدِيدَةً، لَانْفَتَحَتْ أَمَامِي فُرَصٌ أَكْثَرُ. كَرِيمٌ: وَيَنْبَغِي أَنْ نُخَطِّطَ لِلْمِيزَانِيَّةِ مُبَكِّرًا. سَلْمَى: وَأَكَّدَ مُسْتَشَارِي أَنَّ المِنَحَ تُخَفِّفُ العِبْءَ. كَرِيمٌ: وَإِذَا حَصَلْتُ عَلَى مِنْحَةٍ، سَأُسَافِرُ العَامَ القَادِمَ.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 select the statement the text supports, 6 marks. Warn about distractors: an option may use words from the text but change the meaning (e.g. “the parks were built to attract traffic”). Core: questions 1–3. Develop / Stretch: all 6. Question 6 asks about REGISTER — formal planning language (passives, triggers).
TEACHER READS THE SCRIPT ALOUD TWICE. Students read the questions first (30 s).
SCRIPT: يَقُولُ المُخَطِّطُ: كَانَتِ المَدِينَةُ قَدْ عَانَتْ مِنَ التَّلَوُّثِ لِسَنَوَاتٍ. وَاليَوْمَ يَتَطَلَّبُ الأَمْرُ أَنْ نَسْتَثْمِرَ فِي النَّقْلِ النَّظِيفِ. صُمِّمَتِ الحَدَائِقُ الجَدِيدَةُ لِكَيْ تُنَقِّيَ الهَوَاءَ. وَإِذَا اعْتَمَدْنَا عَلَى الطَّاقَةِ الشَّمْسِيَّةِ، سَتَنْخَفِضُ الانْبِعَاثَاتُ. وَيَرْجُو المُخَطِّطُ أَنْ تُصْبِحَ المَدِينَةُ نَمُوذَجًا يُحْتَذَى.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retell the three texts with reported speech (قَالَ إِنَّ · سَلَّمَ بِأَنَّ · رَدَّ بِأَنَّ). Note: قَالَ takes إِنَّ, other reporting verbs take أَنَّ (P3-L06). ● 10 s think → ↔ 45 s rehearse muted → ◎ two pairs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(4 min) — website fields. Students record their scores and the question type they found hardest. Ask: was the mistake in HEARING (missed the word) or in UNDERSTANDING (heard it, misread it)? Different fixes.
Website: Record your raw scores and identify your priority for the Lesson 8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(in English), plus one Arabic line for Develop / Stretch.
Website:  (Two things I will do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(P6-L03 · Paper 2 Reading — Full Format Practice and R1–R4 Mastery) will spend class time USING this language, so students prepare it tonight — short, simple, easy to access (school guidance: “Simple, Short, Interesting, Relevant, Easy to access”). The five words come from the website P6-L03 vocabulary (the R1–R4 reading hierarchy).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1 Listening — Full Format Practice and Strategy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750" b="1" dirty="0">
                <a:solidFill>
                  <a:srgbClr val="D4AF37"/>
                </a:solidFill>
                <a:latin typeface="Amiri" pitchFamily="34" charset="0"/>
                <a:ea typeface="Amiri" pitchFamily="34" charset="-122"/>
                <a:cs typeface="Amiri" pitchFamily="34" charset="-120"/>
              </a:rPr>
              <a:t>الوَرَقَةُ الأُولَى — الاسْتِمَاعُ: تَدْرِيبٌ كَامِلٌ وَإِتْقَانُ الاسْتِرَاتِيجِيَّاتِ</a:t>
            </a:r>
            <a:endParaRPr lang="ar-SA" sz="27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a full-format Paper 1 (multiple choice · matching · supported statements) with the six strategies: read and annotate every question, listen once for gist, twice to verify, never leave a blank — and hear the grammar signal.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strategy words and grammar by ear.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six strategies and how Paper 1 is scored.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الاسْتِرَاتِيجِيَّاتُ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annotate the questions.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full-format texts, each heard twice.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الاسْتِمَاعُ</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 what you heard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التَّحْلِيلُ</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Paper 2 Reading.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قِرَاءَةُ الأَسْئِلَةِ مُسْبَقًا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text twice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التَّحَقُّقُ فِي الاسْتِمَاعِ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verifying on the second listen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listen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second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مُشَتِّتَاتُ الاسْتِمَاعِ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strategies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loud noises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distractors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 The speaker means that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happen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did not happen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 The point that follows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conceded to the other side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قِرَاءَةُ الأَسْئِلَةِ مُسْبَقًا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the text twice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التَّحَقُّقُ فِي الاسْتِمَاعِ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verifying on the second listen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listen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second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مُشَتِّتَاتُ الاسْتِمَاعِ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listening strategies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loud noises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distractors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 The speaker means that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happen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did not happen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P5-L10: law … la- = a supposition.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 The point that follows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conceded to the other side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conclusion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P5-L10: the speaker’s view comes after ghayra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In Paper 1 the grammar is a signpost: it tells you what KIND of information comes next.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سَـ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لَـ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صَحِيحٌ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غَيْرَ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full-format Paper 1 Listening across all three question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six active-listening strategies, especially annotation and the second listen.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P6 grammar (conditionals, subjunctive triggers, concession) in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your performance by question type and set a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annotate every question before listening.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10 of the 20 questions.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second listen to verify, not over-change.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the conditional type and the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every answer with the Arabic signal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priority question type for the mock.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1 groups.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strategies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a question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a detail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إِشَارَةٌ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‎اشارہ‎ </a:t>
            </a:r>
            <a:pPr indent="0" marL="0">
              <a:buNone/>
            </a:pPr>
            <a:r>
              <a:rPr lang="en-US" sz="950" b="1" dirty="0">
                <a:solidFill>
                  <a:srgbClr val="2E8B57"/>
                </a:solidFill>
                <a:latin typeface="Calibri" pitchFamily="34" charset="0"/>
                <a:ea typeface="Calibri" pitchFamily="34" charset="-122"/>
                <a:cs typeface="Calibri" pitchFamily="34" charset="-120"/>
              </a:rPr>
              <a:t> ishāra · a signal</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تَوَقُّعٌ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an expectation, a prediction</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‎تصدیق‎ </a:t>
            </a:r>
            <a:pPr indent="0" marL="0">
              <a:buNone/>
            </a:pPr>
            <a:r>
              <a:rPr lang="en-US" sz="950" b="1" dirty="0">
                <a:solidFill>
                  <a:srgbClr val="2E8B57"/>
                </a:solidFill>
                <a:latin typeface="Calibri" pitchFamily="34" charset="0"/>
                <a:ea typeface="Calibri" pitchFamily="34" charset="-122"/>
                <a:cs typeface="Calibri" pitchFamily="34" charset="-120"/>
              </a:rPr>
              <a:t> tasdīq · verifying (Arabic تَصْدِيقٌ = believing, approving)</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اسْتِرَاتِيجِيَّاتُ الاسْتِمَاعِ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strategies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as-ti-rā-tī-jiy-yā-tu als-ti-mā-ʿi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اسْتِرَاتِيجِيَّةٌ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الاسْتِمَاعُ الأَوَّلُ لِلْفَهْمِ العَامِّ</a:t>
            </a:r>
            <a:endParaRPr lang="ar-SA" sz="255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listen for general 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al-aw-wa-lu lil-fah-mi al-ʿām-mi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الاسْتِمَاعُ الثَّانِي لِلتَّفَاصِيلِ</a:t>
            </a:r>
            <a:endParaRPr lang="ar-SA" sz="28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listen for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ath-thā-nī lilt-ta-fā-ṣī-li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قِرَاءَةُ الأَسْئِلَةِ مُسْبَقًا</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reading the questions in advance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qi-rā-ʾa-tu al-as-ʾi-la-ti mus-ba-qan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التَّنَبُّؤُ بِالمُحْتَوَى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predicting the content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at-ta-nab-bu-ʾu bil-muḥ-ta-wā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التَّرْكِيزُ عَلَى الإِشَارَاتِ اللُّغَوِيَّةِ</a:t>
            </a:r>
            <a:endParaRPr lang="ar-SA" sz="24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focusing on language signals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at-tar-kī-zu ʿa-lā al-i-shā-rā-ti all-lu-gha-wiy-ya-ti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مُشَتِّتَاتُ الاسْتِمَاعِ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distractors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mu-shat-ti-tā-tu als-ti-mā-ʿi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التَّحَقُّقُ فِي الاسْتِمَاعِ الثَّانِي</a:t>
            </a:r>
            <a:endParaRPr lang="ar-SA" sz="265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verifying on the second listen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at-ta-ḥaq-qu-qu fī als-ti-mā-ʿi ath-thā-nī</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APPLY ALL SIX TODAY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six listening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سِتُّ اسْتِرَاتِيجِيَّاتٍ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SIX LISTENING STRATEGIES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Read the questions first — Before the audio, read every question so you know what to listen for.</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Annotate each question — Mark the type of information sought: a name, a number, an opinion, a conditional type, a tense.</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First listen for the gist — On the first hearing, answer only what you are confident about.</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Second listen to verify — Use the second hearing to confirm, correct and complete — trust your first answer on plain facts.</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Never leave a blank — An unanswered question scores zero; make your best-supported guess.</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Listen for the grammar signal — A trigger, a conditional particle or </a:t>
            </a:r>
            <a:pPr algn="l" indent="0" marL="0">
              <a:buNone/>
            </a:pPr>
            <a:r>
              <a:rPr lang="ar-SA" altLang="en-US" sz="1700" dirty="0">
                <a:solidFill>
                  <a:srgbClr val="1F2A37"/>
                </a:solidFill>
                <a:latin typeface="Amiri" pitchFamily="34" charset="0"/>
                <a:ea typeface="Amiri" pitchFamily="34" charset="-122"/>
                <a:cs typeface="Amiri" pitchFamily="34" charset="-120"/>
              </a:rPr>
              <a:t>صَحِيحٌ أَنَّ</a:t>
            </a:r>
            <a:pPr algn="l" indent="0" marL="0">
              <a:buNone/>
            </a:pPr>
            <a:r>
              <a:rPr lang="en-US" sz="1300" dirty="0">
                <a:solidFill>
                  <a:srgbClr val="1F2A37"/>
                </a:solidFill>
                <a:latin typeface="Calibri" pitchFamily="34" charset="0"/>
                <a:ea typeface="Calibri" pitchFamily="34" charset="-122"/>
                <a:cs typeface="Calibri" pitchFamily="34" charset="-120"/>
              </a:rPr>
              <a:t> tells you the meaning that follows.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 رَقْمٌ؟ رَأْيٌ؟ نَوْعُ شَرْطٍ؟</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name? number? opinion? conditional type?  ·  annotate</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 إِذَا · لَوْ</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purpose · real condition · supposition  ·  grammar signals</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صَحِيحٌ أَنَّ · غَيْرَ أَنَّ</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conceded point · the speaker’s view  ·  grammar signals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HOW PAPER 1 IS SCORED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Paper 1 is scored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تَقْدِيرُ الدَّرَجَاتِ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Three texts today: 8 + 6 + 6 = 20 raw marks. In the real Paper 1 the section is scaled to 45.</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Read the questions in the two-minute gap before each text.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Each script is read twice — the script stands in for the recording while the website audio is in production.</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texts span the P6 topic areas and carry P6 grammar naturally: conditionals, triggers, reported speech, concession–refutation.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اخْتِيَارٌ مِنْ مُتَعَدِّدٍ</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Text 1 · multiple choice (8)</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قَالَ ذٰلِكَ؟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Text 2 · matching: who says it? (6)</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العِبَارَةُ الَّتِي يَدْعَمُهَا النَّصُّ</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Text 3 · the supported statement (6)</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ANNOTATE THE TEXT 1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Label every question before you listen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عَلِّمِ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 to listen for</a:t>
            </a:r>
            <a:endParaRPr lang="en-US" sz="1100" dirty="0"/>
          </a:p>
        </p:txBody>
      </p:sp>
      <p:sp>
        <p:nvSpPr>
          <p:cNvPr id="17" name="Text 14"/>
          <p:cNvSpPr txBox="1"/>
          <p:nvPr/>
        </p:nvSpPr>
        <p:spPr>
          <a:xfrm>
            <a:off x="5376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label</a:t>
            </a:r>
            <a:endParaRPr lang="en-US" sz="1100" dirty="0"/>
          </a:p>
        </p:txBody>
      </p:sp>
      <p:sp>
        <p:nvSpPr>
          <p:cNvPr id="18" name="Text 15"/>
          <p:cNvSpPr txBox="1"/>
          <p:nvPr/>
        </p:nvSpPr>
        <p:spPr>
          <a:xfrm>
            <a:off x="1170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question asks …</a:t>
            </a:r>
            <a:endParaRPr lang="en-US" sz="1100" dirty="0"/>
          </a:p>
        </p:txBody>
      </p:sp>
      <p:sp>
        <p:nvSpPr>
          <p:cNvPr id="19" name="Text 16"/>
          <p:cNvSpPr txBox="1"/>
          <p:nvPr/>
        </p:nvSpPr>
        <p:spPr>
          <a:xfrm>
            <a:off x="530352" y="1810512"/>
            <a:ext cx="493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772400" y="2267712"/>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تُشِيرُ الدِّرَاسَاتُ إِلَى أَنَّ</a:t>
            </a:r>
            <a:endParaRPr lang="ar-SA" sz="1800" dirty="0"/>
          </a:p>
        </p:txBody>
      </p:sp>
      <p:sp>
        <p:nvSpPr>
          <p:cNvPr id="22" name="Text 19"/>
          <p:cNvSpPr txBox="1"/>
          <p:nvPr/>
        </p:nvSpPr>
        <p:spPr>
          <a:xfrm>
            <a:off x="5413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detail · studies</a:t>
            </a:r>
            <a:endParaRPr lang="en-US" sz="1100" dirty="0"/>
          </a:p>
        </p:txBody>
      </p:sp>
      <p:sp>
        <p:nvSpPr>
          <p:cNvPr id="23" name="Text 20"/>
          <p:cNvSpPr txBox="1"/>
          <p:nvPr/>
        </p:nvSpPr>
        <p:spPr>
          <a:xfrm>
            <a:off x="1207008" y="226771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basis of health (a fact)</a:t>
            </a:r>
            <a:endParaRPr lang="en-US" sz="1100" dirty="0"/>
          </a:p>
        </p:txBody>
      </p:sp>
      <p:sp>
        <p:nvSpPr>
          <p:cNvPr id="24" name="Text 21"/>
          <p:cNvSpPr txBox="1"/>
          <p:nvPr/>
        </p:nvSpPr>
        <p:spPr>
          <a:xfrm>
            <a:off x="566928" y="226771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772400" y="2881884"/>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 غَيْرَ أَنَّ</a:t>
            </a:r>
            <a:endParaRPr lang="ar-SA" sz="1800" dirty="0"/>
          </a:p>
        </p:txBody>
      </p:sp>
      <p:sp>
        <p:nvSpPr>
          <p:cNvPr id="29" name="Text 26"/>
          <p:cNvSpPr txBox="1"/>
          <p:nvPr/>
        </p:nvSpPr>
        <p:spPr>
          <a:xfrm>
            <a:off x="54132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balance</a:t>
            </a:r>
            <a:endParaRPr lang="en-US" sz="1100" dirty="0"/>
          </a:p>
        </p:txBody>
      </p:sp>
      <p:sp>
        <p:nvSpPr>
          <p:cNvPr id="30" name="Text 27"/>
          <p:cNvSpPr txBox="1"/>
          <p:nvPr/>
        </p:nvSpPr>
        <p:spPr>
          <a:xfrm>
            <a:off x="1207008" y="2881884"/>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conceded · what is stressed</a:t>
            </a:r>
            <a:endParaRPr lang="en-US" sz="1100" dirty="0"/>
          </a:p>
        </p:txBody>
      </p:sp>
      <p:sp>
        <p:nvSpPr>
          <p:cNvPr id="31" name="Text 28"/>
          <p:cNvSpPr txBox="1"/>
          <p:nvPr/>
        </p:nvSpPr>
        <p:spPr>
          <a:xfrm>
            <a:off x="566928" y="2881884"/>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2–3</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772400" y="3496056"/>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سَـ · لَوْ … لَـ</a:t>
            </a:r>
            <a:endParaRPr lang="ar-SA" sz="1800" dirty="0"/>
          </a:p>
        </p:txBody>
      </p:sp>
      <p:sp>
        <p:nvSpPr>
          <p:cNvPr id="36" name="Text 33"/>
          <p:cNvSpPr txBox="1"/>
          <p:nvPr/>
        </p:nvSpPr>
        <p:spPr>
          <a:xfrm>
            <a:off x="54132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a:t>
            </a:r>
            <a:endParaRPr lang="en-US" sz="1100" dirty="0"/>
          </a:p>
        </p:txBody>
      </p:sp>
      <p:sp>
        <p:nvSpPr>
          <p:cNvPr id="37" name="Text 34"/>
          <p:cNvSpPr txBox="1"/>
          <p:nvPr/>
        </p:nvSpPr>
        <p:spPr>
          <a:xfrm>
            <a:off x="1207008" y="3496056"/>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1 and Type 2 claims</a:t>
            </a:r>
            <a:endParaRPr lang="en-US" sz="1100" dirty="0"/>
          </a:p>
        </p:txBody>
      </p:sp>
      <p:sp>
        <p:nvSpPr>
          <p:cNvPr id="38" name="Text 35"/>
          <p:cNvSpPr txBox="1"/>
          <p:nvPr/>
        </p:nvSpPr>
        <p:spPr>
          <a:xfrm>
            <a:off x="566928" y="3496056"/>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72400" y="4110228"/>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41" name="Text 38"/>
          <p:cNvSpPr txBox="1"/>
          <p:nvPr/>
        </p:nvSpPr>
        <p:spPr>
          <a:xfrm>
            <a:off x="54132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 trigger</a:t>
            </a:r>
            <a:endParaRPr lang="en-US" sz="1100" dirty="0"/>
          </a:p>
        </p:txBody>
      </p:sp>
      <p:sp>
        <p:nvSpPr>
          <p:cNvPr id="42" name="Text 39"/>
          <p:cNvSpPr txBox="1"/>
          <p:nvPr/>
        </p:nvSpPr>
        <p:spPr>
          <a:xfrm>
            <a:off x="1207008" y="4110228"/>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recommended</a:t>
            </a:r>
            <a:endParaRPr lang="en-US" sz="1100" dirty="0"/>
          </a:p>
        </p:txBody>
      </p:sp>
      <p:sp>
        <p:nvSpPr>
          <p:cNvPr id="43" name="Text 40"/>
          <p:cNvSpPr txBox="1"/>
          <p:nvPr/>
        </p:nvSpPr>
        <p:spPr>
          <a:xfrm>
            <a:off x="566928" y="4110228"/>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772400" y="4724400"/>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 أَنَّ</a:t>
            </a:r>
            <a:endParaRPr lang="ar-SA" sz="1800" dirty="0"/>
          </a:p>
        </p:txBody>
      </p:sp>
      <p:sp>
        <p:nvSpPr>
          <p:cNvPr id="46" name="Text 43"/>
          <p:cNvSpPr txBox="1"/>
          <p:nvPr/>
        </p:nvSpPr>
        <p:spPr>
          <a:xfrm>
            <a:off x="54132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47" name="Text 44"/>
          <p:cNvSpPr txBox="1"/>
          <p:nvPr/>
        </p:nvSpPr>
        <p:spPr>
          <a:xfrm>
            <a:off x="1207008" y="4724400"/>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the expert reported about stress</a:t>
            </a:r>
            <a:endParaRPr lang="en-US" sz="1100" dirty="0"/>
          </a:p>
        </p:txBody>
      </p:sp>
      <p:sp>
        <p:nvSpPr>
          <p:cNvPr id="48" name="Text 45"/>
          <p:cNvSpPr txBox="1"/>
          <p:nvPr/>
        </p:nvSpPr>
        <p:spPr>
          <a:xfrm>
            <a:off x="566928" y="4724400"/>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 = balanced</a:t>
            </a:r>
            <a:endParaRPr lang="en-US" sz="1100" dirty="0"/>
          </a:p>
        </p:txBody>
      </p:sp>
      <p:sp>
        <p:nvSpPr>
          <p:cNvPr id="51" name="Text 48"/>
          <p:cNvSpPr txBox="1"/>
          <p:nvPr/>
        </p:nvSpPr>
        <p:spPr>
          <a:xfrm>
            <a:off x="54132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R3-style judgement</a:t>
            </a:r>
            <a:endParaRPr lang="en-US" sz="1100" dirty="0"/>
          </a:p>
        </p:txBody>
      </p:sp>
      <p:sp>
        <p:nvSpPr>
          <p:cNvPr id="52" name="Text 49"/>
          <p:cNvSpPr txBox="1"/>
          <p:nvPr/>
        </p:nvSpPr>
        <p:spPr>
          <a:xfrm>
            <a:off x="1207008" y="533857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the view balanced?</a:t>
            </a:r>
            <a:endParaRPr lang="en-US" sz="1100" dirty="0"/>
          </a:p>
        </p:txBody>
      </p:sp>
      <p:sp>
        <p:nvSpPr>
          <p:cNvPr id="53" name="Text 50"/>
          <p:cNvSpPr txBox="1"/>
          <p:nvPr/>
        </p:nvSpPr>
        <p:spPr>
          <a:xfrm>
            <a:off x="566928" y="533857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minutes before every text: read all the questions and write a label beside each one. Then you know what to listen for.</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Choose the correct option for each question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 the studies indicate is the basis of health?</a:t>
            </a:r>
            <a:endParaRPr lang="en-US" sz="120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Constant exercise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income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sleep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sleep is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exercise is important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food does not matter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then emphasise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is the only thing that matters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is no less important than exercise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is unimportant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claim?</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harms focus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cannot improve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a person sleeps seven hours, their focus will improve</a:t>
            </a:r>
            <a:endParaRPr lang="en-US" sz="10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we cut screens at night, we would have slept more deeply</a:t>
            </a:r>
            <a:endParaRPr lang="en-US" sz="10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improve sleep</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depth cannot change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does the necessity trigger recommend (</a:t>
            </a:r>
            <a:pPr algn="l" indent="0" marL="0">
              <a:buNone/>
            </a:pPr>
            <a:r>
              <a:rPr lang="ar-SA" altLang="en-US" sz="1350" b="1" dirty="0">
                <a:solidFill>
                  <a:srgbClr val="1B3B6F"/>
                </a:solidFill>
                <a:latin typeface="Amiri" pitchFamily="34" charset="0"/>
                <a:ea typeface="Amiri" pitchFamily="34" charset="-122"/>
                <a:cs typeface="Amiri" pitchFamily="34" charset="-120"/>
              </a:rPr>
              <a:t>يَنْبَغِي أَنْ</a:t>
            </a:r>
            <a:pPr algn="l" indent="0" marL="0">
              <a:buNone/>
            </a:pPr>
            <a:r>
              <a:rPr lang="en-US" sz="1050" b="1" dirty="0">
                <a:solidFill>
                  <a:srgbClr val="1B3B6F"/>
                </a:solidFill>
                <a:latin typeface="Calibri" pitchFamily="34" charset="0"/>
                <a:ea typeface="Calibri" pitchFamily="34" charset="-122"/>
                <a:cs typeface="Calibri" pitchFamily="34" charset="-120"/>
              </a:rPr>
              <a:t>)?</a:t>
            </a:r>
            <a:endParaRPr lang="en-US" sz="10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Skipping meals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Maintaining a balanced diet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 only at night</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expert report about chronic stress?</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weakens immunity</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strengthens immunity</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effect</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Overall, is the expert's view balanced?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it is one-sided</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view</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it concedes then qualifies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الخَبِيرُ: تُشِيرُ الدِّرَاسَاتُ إِلَى أَنَّ النَّوْمَ الجَيِّدَ أَسَاسُ الصِّحَّةِ.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expert says: studies indicate that good sleep is the foundation of health.</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صَحِيحٌ أَنَّ الرِّيَاضَةَ مُهِمَّةٌ، غَيْرَ أَنَّ الرَّاحَةَ لَا تَقِلُّ أَهَمِّيَّةً عَنْهَا.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true that exercise is important; however, rest is no less important.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إِذَا نَامَ الإِنْسَانُ سَبْعَ سَاعَاتٍ، سَيَتَحَسَّنُ تَرْكِيزُهُ. وَلَوْ قَلَّلْنَا مِنَ الشَّاشَاتِ لَيْلًا، لَنِمْنَا بِعُمْقٍ أَكْبَرَ.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a person sleeps seven hours, their concentration will improve. Had we cut down on screens at night, we would have slept more deeply.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وَيَنْبَغِي أَنْ نَحْرِصَ عَلَى غِذَاءٍ مُتَوَازِنٍ. وَأَكَّدَ الخَبِيرُ أَنَّ التَّوَتُّرَ المُزْمِنَ يُضْعِفُ المَنَاعَةَ.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should take care to eat a balanced diet. The expert confirmed that chronic stress weakens immunity.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An expert on healthy living: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 the studies indicate is the basis of health?</a:t>
            </a:r>
            <a:endParaRPr lang="en-US" sz="120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Constant exercise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 income</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Good sleep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تُشِيرُ الدِّرَاسَاتُ إِلَى أَنَّ النَّوْمَ الجَيِّدَ أَسَاسُ الصِّحَّةِ.</a:t>
            </a:r>
            <a:endParaRPr lang="ar-SA"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sleep is useless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That exercise is important</a:t>
            </a:r>
            <a:endParaRPr lang="en-US" sz="120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That food does not matter</a:t>
            </a:r>
            <a:endParaRPr lang="en-US" sz="120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الرِّيَاضَةَ مُهِمَّةٌ.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then emphasise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Exercise is the only thing that matters</a:t>
            </a:r>
            <a:endParaRPr lang="en-US" sz="11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Rest is no less important than exercise</a:t>
            </a:r>
            <a:endParaRPr lang="en-US" sz="11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is unimportant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الرَّاحَةَ لَا تَقِلُّ أَهَمِّيَّةً عَنْهَا.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claim?</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harms focus</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Focus cannot improve</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If a person sleeps seven hours, their focus will improve</a:t>
            </a:r>
            <a:endParaRPr lang="en-US" sz="10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نَامَ الإِنْسَانُ سَبْعَ سَاعَاتٍ، سَيَتَحَسَّنُ تَرْكِيزُهُ.</a:t>
            </a:r>
            <a:endParaRPr lang="ar-SA" sz="11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we cut screens at night, we would have slept more deeply</a:t>
            </a:r>
            <a:endParaRPr lang="en-US" sz="10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 improve sleep</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depth cannot change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لَوْ قَلَّلْنَا مِنَ الشَّاشَاتِ لَيْلًا، لَنِمْنَا بِعُمْقٍ أَكْبَرَ.</a:t>
            </a:r>
            <a:endParaRPr lang="ar-SA" sz="110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does the necessity trigger recommend (</a:t>
            </a:r>
            <a:pPr algn="l" indent="0" marL="0">
              <a:buNone/>
            </a:pPr>
            <a:r>
              <a:rPr lang="ar-SA" altLang="en-US" sz="1350" b="1" dirty="0">
                <a:solidFill>
                  <a:srgbClr val="1B3B6F"/>
                </a:solidFill>
                <a:latin typeface="Amiri" pitchFamily="34" charset="0"/>
                <a:ea typeface="Amiri" pitchFamily="34" charset="-122"/>
                <a:cs typeface="Amiri" pitchFamily="34" charset="-120"/>
              </a:rPr>
              <a:t>يَنْبَغِي أَنْ</a:t>
            </a:r>
            <a:pPr algn="l" indent="0" marL="0">
              <a:buNone/>
            </a:pPr>
            <a:r>
              <a:rPr lang="en-US" sz="1050" b="1" dirty="0">
                <a:solidFill>
                  <a:srgbClr val="1B3B6F"/>
                </a:solidFill>
                <a:latin typeface="Calibri" pitchFamily="34" charset="0"/>
                <a:ea typeface="Calibri" pitchFamily="34" charset="-122"/>
                <a:cs typeface="Calibri" pitchFamily="34" charset="-120"/>
              </a:rPr>
              <a:t>)?</a:t>
            </a:r>
            <a:endParaRPr lang="en-US" sz="10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Skipping meals</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Maintaining a balanced diet</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Eating only at night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يَنْبَغِي أَنْ نَحْرِصَ عَلَى غِذَاءٍ مُتَوَازِنٍ.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expert report about chronic stress?</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weakens immunity</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strengthens immunity</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effect</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أَكَّدَ الخَبِيرُ أَنَّ التَّوَتُّرَ المُزْمِنَ يُضْعِفُ المَنَاعَةَ.</a:t>
            </a:r>
            <a:endParaRPr lang="ar-SA" sz="11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Overall, is the expert's view balanced?</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 it is one-sided</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view</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Yes — it concedes then qualifies</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850" i="1" dirty="0">
                <a:solidFill>
                  <a:srgbClr val="8A6D1E"/>
                </a:solidFill>
                <a:latin typeface="Calibri" pitchFamily="34" charset="0"/>
                <a:ea typeface="Calibri" pitchFamily="34" charset="-122"/>
                <a:cs typeface="Calibri" pitchFamily="34" charset="-120"/>
              </a:rPr>
              <a:t>The speaker concedes (</a:t>
            </a:r>
            <a:pPr algn="l" indent="0" marL="0">
              <a:buNone/>
            </a:pPr>
            <a:r>
              <a:rPr lang="ar-SA" altLang="en-US" sz="1100" dirty="0">
                <a:solidFill>
                  <a:srgbClr val="8A6D1E"/>
                </a:solidFill>
                <a:latin typeface="Amiri" pitchFamily="34" charset="0"/>
                <a:ea typeface="Amiri" pitchFamily="34" charset="-122"/>
                <a:cs typeface="Amiri" pitchFamily="34" charset="-120"/>
              </a:rPr>
              <a:t>صَحِيحٌ أَنَّ</a:t>
            </a:r>
            <a:pPr algn="l" indent="0" marL="0">
              <a:buNone/>
            </a:pPr>
            <a:r>
              <a:rPr lang="en-US" sz="850" i="1" dirty="0">
                <a:solidFill>
                  <a:srgbClr val="8A6D1E"/>
                </a:solidFill>
                <a:latin typeface="Calibri" pitchFamily="34" charset="0"/>
                <a:ea typeface="Calibri" pitchFamily="34" charset="-122"/>
                <a:cs typeface="Calibri" pitchFamily="34" charset="-120"/>
              </a:rPr>
              <a:t>) then qualifies (</a:t>
            </a:r>
            <a:pPr algn="l" indent="0" marL="0">
              <a:buNone/>
            </a:pPr>
            <a:r>
              <a:rPr lang="ar-SA" altLang="en-US" sz="1100" dirty="0">
                <a:solidFill>
                  <a:srgbClr val="8A6D1E"/>
                </a:solidFill>
                <a:latin typeface="Amiri" pitchFamily="34" charset="0"/>
                <a:ea typeface="Amiri" pitchFamily="34" charset="-122"/>
                <a:cs typeface="Amiri" pitchFamily="34" charset="-120"/>
              </a:rPr>
              <a:t>غَيْرَ أَنَّ</a:t>
            </a:r>
            <a:pPr algn="l" indent="0" marL="0">
              <a:buNone/>
            </a:pPr>
            <a:r>
              <a:rPr lang="en-US" sz="850" i="1" dirty="0">
                <a:solidFill>
                  <a:srgbClr val="8A6D1E"/>
                </a:solidFill>
                <a:latin typeface="Calibri" pitchFamily="34" charset="0"/>
                <a:ea typeface="Calibri" pitchFamily="34" charset="-122"/>
                <a:cs typeface="Calibri" pitchFamily="34" charset="-120"/>
              </a:rPr>
              <a:t>), so the view is balanced.</a:t>
            </a:r>
            <a:endParaRPr lang="en-US" sz="8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studying abroad broadens horizons?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concedes it is costly but worth it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 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conditional about a new language?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one ought to budget early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reports that scholarships ease the burden?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1 conditional about a scholarship?</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سَلْمَى: أَرَى أَنَّ الدِّرَاسَةَ فِي الخَارِجِ تُوَسِّعُ الآفَاقَ. كَرِيمٌ: صَحِيحٌ أَنَّهَا مُكْلِفَةٌ، غَيْرَ أَنَّ العَائِدَ يَسْتَحِقُّ.</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I think studying abroad broadens horizons. Karim: True, it is expensive; however, the return is worth it.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سَلْمَى: وَلَوْ تَعَلَّمْتُ لُغَةً جَدِيدَةً، لَانْفَتَحَتْ أَمَامِي فُرَصٌ أَكْثَرُ. كَرِيمٌ: وَيَنْبَغِي أَنْ نُخَطِّطَ لِلْمِيزَانِيَّةِ مُبَكِّرًا.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If I learned a new language, more opportunities would open up for me. Karim: We should plan the budget early.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سَلْمَى: وَأَكَّدَ مُسْتَشَارِي أَنَّ المِنَحَ تُخَفِّفُ العِبْءَ. كَرِيمٌ: وَإِذَا حَصَلْتُ عَلَى مِنْحَةٍ، سَأُسَافِرُ العَامَ القَادِمَ.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My adviser confirmed that scholarships ease the burden. Karim: If I get a scholarship, I will travel next year.</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Two students on studying abroad: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studying abroad broadens horizons?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سَلْمَى: أَرَى أَنَّ الدِّرَاسَةَ فِي الخَارِجِ تُوَسِّعُ الآفَاقَ.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concedes it is costly but worth it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 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صَحِيحٌ أَنَّهَا مُكْلِفَةٌ، غَيْرَ أَنَّ العَائِدَ يَسْتَحِقُّ.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conditional about a new language?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سَلْمَى: لَوْ تَعَلَّمْتُ لُغَةً جَدِيدَةً، لَانْفَتَحَتْ أَمَامِي فُرَصٌ.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one ought to budget early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يَنْبَغِي أَنْ نُخَطِّطَ لِلْمِيزَانِيَّةِ مُبَكِّرًا.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reports that scholarships ease the burden?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سَلْمَى: أَكَّدَ مُسْتَشَارِي أَنَّ المِنَحَ تُخَفِّفُ العِبْءَ.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1 conditional about a scholarship?</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إِذَا حَصَلْتُ عَلَى مِنْحَةٍ، سَأُسَافِرُ العَامَ القَادِمَ.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LISTENING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had suffered from pollution for years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was always clean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Pollution started this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 transport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matter requires investing in clean transport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should be reduced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parks were designed to purify the air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parks were built to attract traffic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parks have no purpose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power raises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cannot fall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rely on solar power, emissions will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wants the city to fail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has no hopes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hopes the city becomes a model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register of the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academic planning language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Casual conversation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diary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يَقُولُ المُخَطِّطُ: كَانَتِ المَدِينَةُ قَدْ عَانَتْ مِنَ التَّلَوُّثِ لِسَنَوَاتٍ. وَاليَوْمَ يَتَطَلَّبُ الأَمْرُ أَنْ نَسْتَثْمِرَ فِي النَّقْلِ النَّظِيفِ.</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says: the city had suffered from pollution for years. Today the matter requires us to invest in clean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صُمِّمَتِ الحَدَائِقُ الجَدِيدَةُ لِكَيْ تُنَقِّيَ الهَوَاءَ. وَإِذَا اعْتَمَدْنَا عَلَى الطَّاقَةِ الشَّمْسِيَّةِ، سَتَنْخَفِضُ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parks were designed to purify the air. If we rely on solar energy, emissions will fall.</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وَيَرْجُو المُخَطِّطُ أَنْ تُصْبِحَ المَدِينَةُ نَمُوذَجًا يُحْتَذَى.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hopes that the city will become a model to follow.</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 planner on a green city: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city had suffered from pollution for years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was always clean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Pollution started this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المَدِينَةُ قَدْ عَانَتْ مِنَ التَّلَوُّثِ لِسَنَوَاتٍ.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Clean transport is unnecessary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matter requires investing in clean transport</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should be reduced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الأَمْرُ أَنْ نَسْتَثْمِرَ فِي النَّقْلِ النَّظِيفِ.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new parks were designed to purify the air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parks were built to attract traffic</a:t>
            </a:r>
            <a:endParaRPr lang="en-US" sz="12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parks have no purpose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صُمِّمَتِ الحَدَائِقُ الجَدِيدَةُ لِكَيْ تُنَقِّيَ الهَوَاءَ.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Solar power raises emissions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Emissions cannot fall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rely on solar power, emissions will fall</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اعْتَمَدْنَا عَلَى الطَّاقَةِ الشَّمْسِيَّةِ،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planner wants the city to fail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planner has no hopes</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planner hopes the city becomes a model</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يَرْجُو المُخَطِّطُ أَنْ تُصْبِحَ المَدِينَةُ نَمُوذَجًا يُحْتَذَى.</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register of the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 academic planning language</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Casual conversation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diary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uses passives, subjunctive triggers and formal planning vocabulary — a formal register.</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REPORT WHAT YOU HEARD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Tell your partner what the speakers said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قَالَ الخَبِيرُ عَنِ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 سَلَّمَ كَرِيمٌ، وَكَيْفَ 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يَرْجُو المُخَطِّطُ، وَمَاذَا يَتَطَلَّبُ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قَالَ الخَبِيرُ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سَلَّمَ كَرِيمٌ بِأَنَّ ___ ، ثُمَّ رَدَّ بِأَنَّ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يَرْجُو المُخَطِّطُ أَنْ ___ ، وَيَتَطَلَّبُ ذٰلِكَ أَنْ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قَالَ الخَبِيرُ إِنَّ النَّوْمَ الجَيِّدَ أَسَاسُ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expert said that good sleep is the foundation of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سَلَّمَ كَرِيمٌ بِأَنَّ الدِّرَاسَةَ مُكْلِفَةٌ، ثُمَّ رَدَّ بِأَنَّ العَائِدَ يَسْتَحِقُّ.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Karim conceded that studying is expensive, then replied that the return is worth it.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1 score (out of 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2 score (out of 6)</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3 score (out of 6)</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conditional · grammar · detail</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Hardest question type (opinion / conditional / grammar / factual detail)</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improve conditionals by labelling idhā / law questions</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Lesson 8 mock, I will improve …</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Total …/20. Circle your priority question type — it becomes your target for the L08 mock.</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LISTENING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Annotating every question before the script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best strategy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effective strategy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Trust my first answer on plain facts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change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mock I will change…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important strategy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أَهَمُّ اسْتِرَاتِيجِيَّةٍ عِنْدِي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things I will do differently in the L08 mock — write them under your Paper 1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and annotated every question before the script.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left no blanks — I made a best-supported guess.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second reading to verify and correct, not to over-change.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heard the conditional type, the triggers and ṣaḥīḥun anna / ghayra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which question type is my priority for the mock.</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P6-L03 · Paper 2 Reading — Full Format Practice and R1–R4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R1 — the general meaning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R2 — factual details</a:t>
            </a:r>
            <a:pPr indent="0" marL="0">
              <a:buNone/>
            </a:pPr>
            <a:r>
              <a:rPr lang="en-US" sz="1000" i="1" dirty="0">
                <a:solidFill>
                  <a:srgbClr val="5A6472"/>
                </a:solidFill>
                <a:latin typeface="Calibri" pitchFamily="34" charset="0"/>
                <a:ea typeface="Calibri" pitchFamily="34" charset="-122"/>
                <a:cs typeface="Calibri" pitchFamily="34" charset="-120"/>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textual evidence</a:t>
            </a:r>
            <a:pPr indent="0" marL="0">
              <a:buNone/>
            </a:pPr>
            <a:r>
              <a:rPr lang="en-US" sz="1000" i="1" dirty="0">
                <a:solidFill>
                  <a:srgbClr val="5A6472"/>
                </a:solidFill>
                <a:latin typeface="Calibri" pitchFamily="34" charset="0"/>
                <a:ea typeface="Calibri" pitchFamily="34" charset="-122"/>
                <a:cs typeface="Calibri" pitchFamily="34" charset="-120"/>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deducing unknown words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التَّطَابُقُ عَبْرَ النُّصُوصِ</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cross-text matching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when you meet a word you do not know in a reading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إِذَا وَجَدْتُ كَلِمَةً مَجْهُولَةً، 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text where you scored lowest using the read-along;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six strategies from memory in English;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 five questions, write the Arabic signal word that proved the answer;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P6-L03 · Paper 2 Reading — Full Format Practice and R1–R4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الثَّانِيَةُ — 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and label every question first · listen once for gist, twice to verify · never leave a blank · the grammar is a signpost.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P6-L02 · Paper 1 Listening — Full Format Practice and Strategy Mastery</dc:title>
  <dc:subject>PptxGenJS Presentation</dc:subject>
  <dc:creator>Al Madina Online School · Arabic Department</dc:creator>
  <cp:lastModifiedBy>Al Madina Online School · Arabic Department</cp:lastModifiedBy>
  <cp:revision>1</cp:revision>
  <dcterms:created xsi:type="dcterms:W3CDTF">2026-10-11T03:22:30Z</dcterms:created>
  <dcterms:modified xsi:type="dcterms:W3CDTF">2026-10-11T03:22:30Z</dcterms:modified>
</cp:coreProperties>
</file>