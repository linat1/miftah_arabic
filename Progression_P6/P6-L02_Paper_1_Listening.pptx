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Map · 2–8 Do Now + answers · 8–9 Objectives · 9–13 Strategy words · 13–17 The six strategies · 17–19 How Paper 1 is scored · 19–23 Annotate the questions (I Do) · 23–33 Text 1 · 33–40 Text 2 · 40–47 Text 3 · 47–51 Report what you heard · 51–55 Performance analysis · 55–58 Reflection + self-check · 58–60 Preparation.
FLEX slides are optional. Use them if the class is moving quickly; otherwise the same activities are on the website for homework.
Content source: Miftah Arabic website, Pathways › Progression › P6 IGCSE Bridge › P6-L02. The website P6-L02: the listening-strategy vocabulary (8 words), the six listening strategies, “How Paper 1 is scored”, three full-format texts (an expert on healthy living — multiple choice 8 · Salma and Karim on studying abroad — matching 6 · a planner on a green city — select the supported statement 6), the performance-analysis fields and the reflection frames.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FULL-FORMAT PRACTICE: the website audio is in production, so the TEACHER reads each script aloud twice (natural speed, pauses between sentences) — exactly as the website panel says. Students read and annotate the questions in the two-minute gap before each text.
• Core: annotate every question with ONE label (name? number? opinion? conditional?) and answer Text 1 questions 1–4, Text 2 and Text 3 questions 1–3; use the read-along after the second listening. Develop: all 20. Stretch: all 20, then justify each answer with the Arabic signal word.
• Practice, not a test: scores go into the performance analysis only. Celebrate improvement between Text 1 and Text 3.
• The read-along slides (Arabic + English) come AFTER the second listening and BEFORE the answers — for Core support and for checking evidence.
• Website fix: التَّنَبُّؤُ بِالمَحْتَوَى → بِالمُحْتَوَى (the content).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show the whole journey so students know when they will listen, read, speak or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P6-L01. Questions 4–5 retrieve the listening signals of P5-L10 — today they are tested in full IGCSE format.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In Paper 1 the grammar is a signpost: it tells you what KIND of information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Left: the website objectives. Right: the same objectives broken into three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سوال, تفصیل, اشارہ and توقع are shared. Careful: to VERIFY in Urdu is تصدیق کرنا, but in Arabic verifying = التَّحَقُّقُ (from حَقٌّ, truth); Arabic تَصْدِيقٌ = believing or approving.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Listening strategies (website vocabulary (1 of 2)). Hear → Say → See → Use. Transliteration is printed for Core students (cover it for Develop/Stretch).
The strategy sequence in the words themselves: قِرَاءَةُ الأَسْئِلَةِ مُسْبَقًا (before) → الاسْتِمَاعُ الأَوَّلُ لِلْفَهْمِ العَامِّ (listen 1) → الاسْتِمَاعُ الثَّانِي لِلتَّفَاصِيلِ / التَّحَقُّقُ (listen 2). مُشَتِّتَاتٌ = distractors: an option that uses words from the text but says something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Listening strategies (website vocabulary (2 of 2)). Hear → Say → See → Use. Transliteration is printed for Core students (cover it for Develop/Stretch).
The strategy sequence in the words themselves: قِرَاءَةُ الأَسْئِلَةِ مُسْبَقًا (before) → الاسْتِمَاعُ الأَوَّلُ لِلْفَهْمِ العَامِّ (listen 1) → الاسْتِمَاعُ الثَّانِي لِلتَّفَاصِيلِ / التَّحَقُّقُ (listen 2). مُشَتِّتَاتٌ = distractors: an option that uses words from the text but says something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(4 min) — the website cards. Model strategy 2 on the board: write a label next to a sample question. Stress strategy 5: an unanswered question scores zero — make the best-supported guess.
WEBSITE CARDS “The six listening strategies”: Read the questions first: Before the audio, read every question so you know what to listen for. · Annotate each question: Mark the type of information sought: a name, a number, an opinion, a conditional type, a tense. (اسْمٌ؟ رَقْمٌ؟ رَأْيٌ؟ نَوْعُ شَرْطٍ؟) · First listen for the gist: On the first hearing, answer only what you are confident about. · Second listen to verify: Use the second hearing to confirm, correct and complete — trust your first answer on plain facts. · Never leave a blank: An unanswered question scores zero; make your best-supported guess. · Listen for the grammar signal: A trigger, a conditional particle or صَحِيحٌ أَنَّ tells you the meaning that follows. (لِكَيْ · إِذَا · لَوْ · صَحِيحٌ أَنَّ · غَيْرَ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(2 min) — the website panel. Three question types; each needs a slightly different focus: detail (Text 1), WHO (Text 2), what the text actually SUPPORTS (Text 3 — distractors use words from the text but change the meaning).
WEBSITE PANEL “How Paper 1 is scored”: The three texts carry 8 + 6 + 6 = 20 raw marks in this practice; in the real Paper 1 the section is scaled to 45. Read the questions in the two-minute gaps, then read each script twice (the audio is in production, so the script stands in for the recording). The texts below span the five P6 topic areas and carry P6 grammar naturally: conditionals, subjunctive triggers, reported speech and the concession-refutation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(4 min) — think aloud on the website Text 1 questions. “Question 2 says ‘concede’ — I’ll listen for ṣaḥīḥun anna. Question 4 says Type 1 — I’ll wait for idhā and the sa- result. Question 8 asks if the view is balanced — I need BOTH ṣaḥīḥun anna and ghayra anna.” Students copy the method for Texts 2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1 (website) — multiple choice, 8 marks. Two-minute gap: students read and label the questions (as in the I Do). Read the script twice. Core: questions 1–4. Develop / Stretch: all 8.
TEACHER READS THE SCRIPT ALOUD TWICE. Students read the questions first (30 s).
SCRIPT: يَقُولُ الخَبِيرُ: تُشِيرُ الدِّرَاسَاتُ إِلَى أَنَّ النَّوْمَ الجَيِّدَ أَسَاسُ الصِّحَّةِ. صَحِيحٌ أَنَّ الرِّيَاضَةَ مُهِمَّةٌ، غَيْرَ أَنَّ الرَّاحَةَ لَا تَقِلُّ أَهَمِّيَّةً عَنْهَا. إِذَا نَامَ الإِنْسَانُ سَبْعَ سَاعَاتٍ، سَيَتَحَسَّنُ تَرْكِيزُهُ. وَلَوْ قَلَّلْنَا مِنَ الشَّاشَاتِ لَيْلًا، لَنِمْنَا بِعُمْقٍ أَكْبَرَ. وَيَنْبَغِي أَنْ نَحْرِصَ عَلَى غِذَاءٍ مُتَوَازِنٍ. وَأَكَّدَ الخَبِيرُ أَنَّ التَّوَتُّرَ المُزْمِنَ يُضْعِفُ المَنَاعَةَ.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before the answers. Arabic = website script; English = teacher translation. Annotate the words that gave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together. For each answer ask: which words in the text proved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2 (website) — matching: who says it? 6 marks. Read the speaker names clearly (سَلْمَى · كَرِيمٌ) — consider a different voice for each. Core: questions 1–3. Develop / Stretch: all 6.
TEACHER READS THE SCRIPT ALOUD TWICE. Students read the questions first (30 s).
SCRIPT: سَلْمَى: أَرَى أَنَّ الدِّرَاسَةَ فِي الخَارِجِ تُوَسِّعُ الآفَاقَ. كَرِيمٌ: صَحِيحٌ أَنَّهَا مُكْلِفَةٌ، غَيْرَ أَنَّ العَائِدَ يَسْتَحِقُّ. سَلْمَى: وَلَوْ تَعَلَّمْتُ لُغَةً جَدِيدَةً، لَانْفَتَحَتْ أَمَامِي فُرَصٌ أَكْثَرُ. كَرِيمٌ: وَيَنْبَغِي أَنْ نُخَطِّطَ لِلْمِيزَانِيَّةِ مُبَكِّرًا. سَلْمَى: وَأَكَّدَ مُسْتَشَارِي أَنَّ المِنَحَ تُخَفِّفُ العِبْءَ. كَرِيمٌ: وَإِذَا حَصَلْتُ عَلَى مِنْحَةٍ، سَأُسَافِرُ العَامَ القَادِمَ.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before the answers. Arabic = website script; English = teacher translation. Annotate the words that gave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together. For each answer ask: which words in the text proved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3 (website) — select the statement the text supports, 6 marks. Warn about distractors: an option may use words from the text but change the meaning (e.g. “the parks were built to attract traffic”). Core: questions 1–3. Develop / Stretch: all 6. Question 6 asks about REGISTER — formal planning language (passives, triggers).
TEACHER READS THE SCRIPT ALOUD TWICE. Students read the questions first (30 s).
SCRIPT: يَقُولُ المُخَطِّطُ: كَانَتِ المَدِينَةُ قَدْ عَانَتْ مِنَ التَّلَوُّثِ لِسَنَوَاتٍ. وَاليَوْمَ يَتَطَلَّبُ الأَمْرُ أَنْ نَسْتَثْمِرَ فِي النَّقْلِ النَّظِيفِ. صُمِّمَتِ الحَدَائِقُ الجَدِيدَةُ لِكَيْ تُنَقِّيَ الهَوَاءَ. وَإِذَا اعْتَمَدْنَا عَلَى الطَّاقَةِ الشَّمْسِيَّةِ، سَتَنْخَفِضُ الانْبِعَاثَاتُ. وَيَرْجُو المُخَطِّطُ أَنْ تُصْبِحَ المَدِينَةُ نَمُوذَجًا يُحْتَذَى.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before the answers. Arabic = website script; English = teacher translation. Annotate the words that gave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together. For each answer ask: which words in the text proved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(4 min) — teacher-made: retell the three texts with reported speech (قَالَ إِنَّ · سَلَّمَ بِأَنَّ · رَدَّ بِأَنَّ). Note: قَالَ takes إِنَّ, other reporting verbs take أَنَّ (P3-L06). ● 10 s think → ↔ 45 s rehearse muted → ◎ two pairs on open 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ANALYSIS (4 min) — website fields. Students record their scores and the question type they found hardest. Ask: was the mistake in HEARING (missed the word) or in UNDERSTANDING (heard it, misread it)? Different fixes.
Website: Record your raw scores and identify your priority for the Lesson 8 mock.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(2 min) — the website frames (in English), plus one Arabic line for Develop / Stretch.
Website:  (Two things I will do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(P6-L03 · Paper 2 Reading — Full Format Practice and R1–R4 Mastery) will spend class time USING this language, so students prepare it tonight — short, simple, easy to access (school guidance: “Simple, Short, Interesting, Relevant, Easy to access”). The five words come from the website P6-L03 vocabulary (the R1–R4 reading hierarchy).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9  ·  PROGRESSION P6  ·  P6-L02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P6-L02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Paper 1 Listening — Full Format Practice and Strategy Mastery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2750" b="1" dirty="0">
                <a:solidFill>
                  <a:srgbClr val="D4AF37"/>
                </a:solidFill>
                <a:latin typeface="Amiri" pitchFamily="34" charset="0"/>
                <a:ea typeface="Amiri" pitchFamily="34" charset="-122"/>
                <a:cs typeface="Amiri" pitchFamily="34" charset="-120"/>
              </a:rPr>
              <a:t>الوَرَقَةُ الأُولَى — الاسْتِمَاعُ: تَدْرِيبٌ كَامِلٌ وَإِتْقَانُ الاسْتِرَاتِيجِيَّاتِ</a:t>
            </a:r>
            <a:endParaRPr lang="ar-SA" sz="275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Sit a full-format Paper 1 (multiple choice · matching · supported statements) with the six strategies: read and annotate every question, listen once for gist, twice to verify, never leave a blank — and hear the grammar signal.</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P6-L02 · Progression P6 · IGCSE Bridge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Pathways › Progression › P6 › P6-L02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27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6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strategy words and grammar by ear.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10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The six strategies and how Paper 1 is scored.</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الاسْتِرَاتِيجِيَّاتُ</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4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annotate the questions.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24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Three full-format texts, each heard twice.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الاسْتِمَاعُ</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8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Report what you heard · analyse your score.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التَّحْلِيلُ</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Reflection and self-check.</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for Paper 2 Reading.</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This is an exam-preparation lesson. Every task uses the real IGCSE format — Core students use the green boxes, frames and English support; nobody is expected to get everything right first time.</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27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قِرَاءَةُ الأَسْئِلَةِ مُسْبَقًا</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reading the answers aloud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reading the questions in advance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reading the text twice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التَّحَقُّقُ فِي الاسْتِمَاعِ الثَّانِي</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verifying on the second listen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first listen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second exam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مُشَتِّتَاتُ الاسْتِمَاعِ</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listening strategies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loud noises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listening distractors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You hear «</a:t>
            </a:r>
            <a:pPr algn="l" indent="0" marL="0">
              <a:buNone/>
            </a:pPr>
            <a:r>
              <a:rPr lang="ar-SA" altLang="en-US" sz="1650" b="1" dirty="0">
                <a:solidFill>
                  <a:srgbClr val="1B3B6F"/>
                </a:solidFill>
                <a:latin typeface="Amiri" pitchFamily="34" charset="0"/>
                <a:ea typeface="Amiri" pitchFamily="34" charset="-122"/>
                <a:cs typeface="Amiri" pitchFamily="34" charset="-120"/>
              </a:rPr>
              <a:t>لَوْ … لَـ</a:t>
            </a:r>
            <a:pPr algn="l" indent="0" marL="0">
              <a:buNone/>
            </a:pPr>
            <a:r>
              <a:rPr lang="en-US" sz="1250" b="1" dirty="0">
                <a:solidFill>
                  <a:srgbClr val="1B3B6F"/>
                </a:solidFill>
                <a:latin typeface="Calibri" pitchFamily="34" charset="0"/>
                <a:ea typeface="Calibri" pitchFamily="34" charset="-122"/>
                <a:cs typeface="Calibri" pitchFamily="34" charset="-120"/>
              </a:rPr>
              <a:t> …». The speaker means that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will happen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happened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did not happen</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You hear «</a:t>
            </a:r>
            <a:pPr algn="l" indent="0" marL="0">
              <a:buNone/>
            </a:pPr>
            <a:r>
              <a:rPr lang="ar-SA" altLang="en-US" sz="1650" b="1" dirty="0">
                <a:solidFill>
                  <a:srgbClr val="1B3B6F"/>
                </a:solidFill>
                <a:latin typeface="Amiri" pitchFamily="34" charset="0"/>
                <a:ea typeface="Amiri" pitchFamily="34" charset="-122"/>
                <a:cs typeface="Amiri" pitchFamily="34" charset="-120"/>
              </a:rPr>
              <a:t>صَحِيحٌ أَنَّ</a:t>
            </a:r>
            <a:pPr algn="l" indent="0" marL="0">
              <a:buNone/>
            </a:pPr>
            <a:r>
              <a:rPr lang="en-US" sz="1250" b="1" dirty="0">
                <a:solidFill>
                  <a:srgbClr val="1B3B6F"/>
                </a:solidFill>
                <a:latin typeface="Calibri" pitchFamily="34" charset="0"/>
                <a:ea typeface="Calibri" pitchFamily="34" charset="-122"/>
                <a:cs typeface="Calibri" pitchFamily="34" charset="-120"/>
              </a:rPr>
              <a:t> …». The point that follows is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conceded to the other side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speaker’s conclusion</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statistic</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27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قِرَاءَةُ الأَسْئِلَةِ مُسْبَقًا</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reading the answers aloud</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reading the questions in advance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reading the text twice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(P6-L01).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التَّحَقُّقُ فِي الاسْتِمَاعِ الثَّانِي</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verifying on the second listen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first listen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second exam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(P6-L01).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مُشَتِّتَاتُ الاسْتِمَاعِ</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listening strategies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loud noises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listening distractors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(P6-L01).</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You hear «</a:t>
            </a:r>
            <a:pPr algn="l" indent="0" marL="0">
              <a:buNone/>
            </a:pPr>
            <a:r>
              <a:rPr lang="ar-SA" altLang="en-US" sz="1650" b="1" dirty="0">
                <a:solidFill>
                  <a:srgbClr val="1B3B6F"/>
                </a:solidFill>
                <a:latin typeface="Amiri" pitchFamily="34" charset="0"/>
                <a:ea typeface="Amiri" pitchFamily="34" charset="-122"/>
                <a:cs typeface="Amiri" pitchFamily="34" charset="-120"/>
              </a:rPr>
              <a:t>لَوْ … لَـ</a:t>
            </a:r>
            <a:pPr algn="l" indent="0" marL="0">
              <a:buNone/>
            </a:pPr>
            <a:r>
              <a:rPr lang="en-US" sz="1250" b="1" dirty="0">
                <a:solidFill>
                  <a:srgbClr val="1B3B6F"/>
                </a:solidFill>
                <a:latin typeface="Calibri" pitchFamily="34" charset="0"/>
                <a:ea typeface="Calibri" pitchFamily="34" charset="-122"/>
                <a:cs typeface="Calibri" pitchFamily="34" charset="-120"/>
              </a:rPr>
              <a:t> …». The speaker means that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will happen</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happened</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it did not happen</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P5-L10: law … la- = a supposition.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You hear «</a:t>
            </a:r>
            <a:pPr algn="l" indent="0" marL="0">
              <a:buNone/>
            </a:pPr>
            <a:r>
              <a:rPr lang="ar-SA" altLang="en-US" sz="1650" b="1" dirty="0">
                <a:solidFill>
                  <a:srgbClr val="1B3B6F"/>
                </a:solidFill>
                <a:latin typeface="Amiri" pitchFamily="34" charset="0"/>
                <a:ea typeface="Amiri" pitchFamily="34" charset="-122"/>
                <a:cs typeface="Amiri" pitchFamily="34" charset="-120"/>
              </a:rPr>
              <a:t>صَحِيحٌ أَنَّ</a:t>
            </a:r>
            <a:pPr algn="l" indent="0" marL="0">
              <a:buNone/>
            </a:pPr>
            <a:r>
              <a:rPr lang="en-US" sz="1250" b="1" dirty="0">
                <a:solidFill>
                  <a:srgbClr val="1B3B6F"/>
                </a:solidFill>
                <a:latin typeface="Calibri" pitchFamily="34" charset="0"/>
                <a:ea typeface="Calibri" pitchFamily="34" charset="-122"/>
                <a:cs typeface="Calibri" pitchFamily="34" charset="-120"/>
              </a:rPr>
              <a:t> …». The point that follows is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conceded to the other side</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speaker’s conclusion</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statistic</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P5-L10: the speaker’s view comes after ghayra anna.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In Paper 1 the grammar is a signpost: it tells you what KIND of information comes next.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34" charset="0"/>
                <a:ea typeface="Amiri" pitchFamily="34" charset="-122"/>
                <a:cs typeface="Amiri" pitchFamily="34" charset="-120"/>
              </a:rPr>
              <a:t>إِذَا</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 سَـ · </a:t>
            </a:r>
            <a:pPr rtl="1" algn="ctr" indent="0" marL="0">
              <a:lnSpc>
                <a:spcPct val="120000"/>
              </a:lnSpc>
              <a:buNone/>
            </a:pPr>
            <a:r>
              <a:rPr lang="ar-SA" altLang="en-US" sz="1950" b="1" dirty="0">
                <a:solidFill>
                  <a:srgbClr val="7B3FA0"/>
                </a:solidFill>
                <a:latin typeface="Amiri" pitchFamily="34" charset="0"/>
                <a:ea typeface="Amiri" pitchFamily="34" charset="-122"/>
                <a:cs typeface="Amiri" pitchFamily="34" charset="-120"/>
              </a:rPr>
              <a:t>لَوْ</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 لَـ · </a:t>
            </a:r>
            <a:pPr rtl="1" algn="ctr" indent="0" marL="0">
              <a:lnSpc>
                <a:spcPct val="120000"/>
              </a:lnSpc>
              <a:buNone/>
            </a:pPr>
            <a:r>
              <a:rPr lang="ar-SA" altLang="en-US" sz="1950" b="1" dirty="0">
                <a:solidFill>
                  <a:srgbClr val="1D5FBF"/>
                </a:solidFill>
                <a:latin typeface="Amiri" pitchFamily="34" charset="0"/>
                <a:ea typeface="Amiri" pitchFamily="34" charset="-122"/>
                <a:cs typeface="Amiri" pitchFamily="34" charset="-120"/>
              </a:rPr>
              <a:t>صَحِيحٌ أَنَّ</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 </a:t>
            </a:r>
            <a:pPr rtl="1" algn="ctr" indent="0" marL="0">
              <a:lnSpc>
                <a:spcPct val="120000"/>
              </a:lnSpc>
              <a:buNone/>
            </a:pPr>
            <a:r>
              <a:rPr lang="ar-SA" altLang="en-US" sz="1950" b="1" dirty="0">
                <a:solidFill>
                  <a:srgbClr val="D6336C"/>
                </a:solidFill>
                <a:latin typeface="Amiri" pitchFamily="34" charset="0"/>
                <a:ea typeface="Amiri" pitchFamily="34" charset="-122"/>
                <a:cs typeface="Amiri" pitchFamily="34" charset="-120"/>
              </a:rPr>
              <a:t>غَيْرَ أَنَّ</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27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Complete a full-format Paper 1 Listening across all three question types.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Apply the six active-listening strategies, especially annotation and the second listen.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Recognise P6 grammar (conditionals, subjunctive triggers, concession) in speech.</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Analyse your performance by question type and set a target for the mock.</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annotate every question before listening.</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answer 10 of the 20 questions.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the second listen to verify, not over-change.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hear the conditional type and the trigger.</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justify every answer with the Arabic signal word.</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name my priority question type for the mock.</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27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8 exam words from the website in one group. </a:t>
            </a:r>
            <a:endParaRPr lang="en-US" sz="1600" dirty="0"/>
          </a:p>
        </p:txBody>
      </p:sp>
      <p:sp>
        <p:nvSpPr>
          <p:cNvPr id="8" name="Shape 6"/>
          <p:cNvSpPr/>
          <p:nvPr/>
        </p:nvSpPr>
        <p:spPr>
          <a:xfrm>
            <a:off x="457200" y="4572000"/>
            <a:ext cx="7863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7589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Listening strategies · 8</a:t>
            </a:r>
            <a:endParaRPr lang="en-US" sz="900" dirty="0"/>
          </a:p>
        </p:txBody>
      </p:sp>
      <p:sp>
        <p:nvSpPr>
          <p:cNvPr id="10" name="Shape 8"/>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1" name="Text 9"/>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2" name="Text 10"/>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سُؤَالٌ</a:t>
            </a:r>
            <a:endParaRPr lang="ar-SA" sz="1900" dirty="0"/>
          </a:p>
        </p:txBody>
      </p:sp>
      <p:sp>
        <p:nvSpPr>
          <p:cNvPr id="13" name="Text 11"/>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‎سوال‎ </a:t>
            </a:r>
            <a:pPr indent="0" marL="0">
              <a:buNone/>
            </a:pPr>
            <a:r>
              <a:rPr lang="en-US" sz="950" b="1" dirty="0">
                <a:solidFill>
                  <a:srgbClr val="2E8B57"/>
                </a:solidFill>
                <a:latin typeface="Calibri" pitchFamily="34" charset="0"/>
                <a:ea typeface="Calibri" pitchFamily="34" charset="-122"/>
                <a:cs typeface="Calibri" pitchFamily="34" charset="-120"/>
              </a:rPr>
              <a:t> sawāl · a question</a:t>
            </a:r>
            <a:endParaRPr lang="en-US" sz="1400" dirty="0"/>
          </a:p>
        </p:txBody>
      </p:sp>
      <p:sp>
        <p:nvSpPr>
          <p:cNvPr id="14" name="Text 12"/>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تَفْصِيلٌ</a:t>
            </a:r>
            <a:endParaRPr lang="ar-SA" sz="1900" dirty="0"/>
          </a:p>
        </p:txBody>
      </p:sp>
      <p:sp>
        <p:nvSpPr>
          <p:cNvPr id="15" name="Text 13"/>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‎تفصیل‎ </a:t>
            </a:r>
            <a:pPr indent="0" marL="0">
              <a:buNone/>
            </a:pPr>
            <a:r>
              <a:rPr lang="en-US" sz="950" b="1" dirty="0">
                <a:solidFill>
                  <a:srgbClr val="2E8B57"/>
                </a:solidFill>
                <a:latin typeface="Calibri" pitchFamily="34" charset="0"/>
                <a:ea typeface="Calibri" pitchFamily="34" charset="-122"/>
                <a:cs typeface="Calibri" pitchFamily="34" charset="-120"/>
              </a:rPr>
              <a:t> tafsīl · a detail</a:t>
            </a:r>
            <a:endParaRPr lang="en-US" sz="1400" dirty="0"/>
          </a:p>
        </p:txBody>
      </p:sp>
      <p:sp>
        <p:nvSpPr>
          <p:cNvPr id="16" name="Text 14"/>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إِشَارَةٌ</a:t>
            </a:r>
            <a:endParaRPr lang="ar-SA" sz="1900" dirty="0"/>
          </a:p>
        </p:txBody>
      </p:sp>
      <p:sp>
        <p:nvSpPr>
          <p:cNvPr id="17" name="Text 15"/>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‎اشارہ‎ </a:t>
            </a:r>
            <a:pPr indent="0" marL="0">
              <a:buNone/>
            </a:pPr>
            <a:r>
              <a:rPr lang="en-US" sz="950" b="1" dirty="0">
                <a:solidFill>
                  <a:srgbClr val="2E8B57"/>
                </a:solidFill>
                <a:latin typeface="Calibri" pitchFamily="34" charset="0"/>
                <a:ea typeface="Calibri" pitchFamily="34" charset="-122"/>
                <a:cs typeface="Calibri" pitchFamily="34" charset="-120"/>
              </a:rPr>
              <a:t> ishāra · a signal</a:t>
            </a:r>
            <a:endParaRPr lang="en-US" sz="1400" dirty="0"/>
          </a:p>
        </p:txBody>
      </p:sp>
      <p:sp>
        <p:nvSpPr>
          <p:cNvPr id="18" name="Text 16"/>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تَوَقُّعٌ</a:t>
            </a:r>
            <a:endParaRPr lang="ar-SA" sz="1900" dirty="0"/>
          </a:p>
        </p:txBody>
      </p:sp>
      <p:sp>
        <p:nvSpPr>
          <p:cNvPr id="19" name="Text 17"/>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‎توقع‎ </a:t>
            </a:r>
            <a:pPr indent="0" marL="0">
              <a:buNone/>
            </a:pPr>
            <a:r>
              <a:rPr lang="en-US" sz="950" b="1" dirty="0">
                <a:solidFill>
                  <a:srgbClr val="2E8B57"/>
                </a:solidFill>
                <a:latin typeface="Calibri" pitchFamily="34" charset="0"/>
                <a:ea typeface="Calibri" pitchFamily="34" charset="-122"/>
                <a:cs typeface="Calibri" pitchFamily="34" charset="-120"/>
              </a:rPr>
              <a:t> tawaqqo · an expectation, a prediction</a:t>
            </a:r>
            <a:endParaRPr lang="en-US" sz="1400" dirty="0"/>
          </a:p>
        </p:txBody>
      </p:sp>
      <p:sp>
        <p:nvSpPr>
          <p:cNvPr id="20" name="Text 18"/>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تَحَقُّقٌ</a:t>
            </a:r>
            <a:endParaRPr lang="ar-SA" sz="1900" dirty="0"/>
          </a:p>
        </p:txBody>
      </p:sp>
      <p:sp>
        <p:nvSpPr>
          <p:cNvPr id="21" name="Text 19"/>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‎تصدیق‎ </a:t>
            </a:r>
            <a:pPr indent="0" marL="0">
              <a:buNone/>
            </a:pPr>
            <a:r>
              <a:rPr lang="en-US" sz="950" b="1" dirty="0">
                <a:solidFill>
                  <a:srgbClr val="2E8B57"/>
                </a:solidFill>
                <a:latin typeface="Calibri" pitchFamily="34" charset="0"/>
                <a:ea typeface="Calibri" pitchFamily="34" charset="-122"/>
                <a:cs typeface="Calibri" pitchFamily="34" charset="-120"/>
              </a:rPr>
              <a:t> tasdīq · verifying (Arabic تَصْدِيقٌ = believing, approving)</a:t>
            </a:r>
            <a:endParaRPr lang="en-US" sz="1400" dirty="0"/>
          </a:p>
        </p:txBody>
      </p:sp>
      <p:sp>
        <p:nvSpPr>
          <p:cNvPr id="23" name="Text 2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27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strategies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pl · sg</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اسْتِرَاتِيجِيَّاتُ الاسْتِمَاعِ</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listening strategies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as-ti-rā-tī-jiy-yā-tu als-ti-mā-ʿi</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اسْتِرَاتِيجِيَّةٌ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34" charset="0"/>
                <a:ea typeface="Amiri" pitchFamily="34" charset="-122"/>
                <a:cs typeface="Amiri" pitchFamily="34" charset="-120"/>
              </a:rPr>
              <a:t>الاسْتِمَاعُ الأَوَّلُ لِلْفَهْمِ العَامِّ</a:t>
            </a:r>
            <a:endParaRPr lang="ar-SA" sz="255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first listen for general understanding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als-ti-mā-ʿu al-aw-wa-lu lil-fah-mi al-ʿām-mi</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الاسْتِمَاعُ الثَّانِي لِلتَّفَاصِيلِ</a:t>
            </a:r>
            <a:endParaRPr lang="ar-SA" sz="280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second listen for details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als-ti-mā-ʿu ath-thā-nī lilt-ta-fā-ṣī-li</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4" name="Shape 4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6" name="Text 4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قِرَاءَةُ الأَسْئِلَةِ مُسْبَقًا</a:t>
            </a:r>
            <a:endParaRPr lang="ar-SA" sz="3000" dirty="0"/>
          </a:p>
        </p:txBody>
      </p:sp>
      <p:sp>
        <p:nvSpPr>
          <p:cNvPr id="47" name="Text 4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reading the questions in advance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qi-rā-ʾa-tu al-as-ʾi-la-ti mus-ba-qan</a:t>
            </a:r>
            <a:endParaRPr lang="en-US" sz="13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27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strategies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التَّنَبُّؤُ بِالمُحْتَوَى</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predicting the content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at-ta-nab-bu-ʾu bil-muḥ-ta-wā</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2400" b="1" dirty="0">
                <a:solidFill>
                  <a:srgbClr val="1B3B6F"/>
                </a:solidFill>
                <a:latin typeface="Amiri" pitchFamily="34" charset="0"/>
                <a:ea typeface="Amiri" pitchFamily="34" charset="-122"/>
                <a:cs typeface="Amiri" pitchFamily="34" charset="-120"/>
              </a:rPr>
              <a:t>التَّرْكِيزُ عَلَى الإِشَارَاتِ اللُّغَوِيَّةِ</a:t>
            </a:r>
            <a:endParaRPr lang="ar-SA" sz="24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focusing on language signals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at-tar-kī-zu ʿa-lā al-i-shā-rā-ti all-lu-gha-wiy-ya-ti</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28" name="Shape 25"/>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pl · sg</a:t>
            </a:r>
            <a:endParaRPr lang="en-US" sz="8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2" name="Text 2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مُشَتِّتَاتُ الاسْتِمَاعِ</a:t>
            </a:r>
            <a:endParaRPr lang="ar-SA" sz="3000" dirty="0"/>
          </a:p>
        </p:txBody>
      </p:sp>
      <p:sp>
        <p:nvSpPr>
          <p:cNvPr id="33" name="Text 3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listening distractors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mu-shat-ti-tā-tu als-ti-mā-ʿi</a:t>
            </a:r>
            <a:endParaRPr lang="en-US" sz="1350" dirty="0"/>
          </a:p>
        </p:txBody>
      </p:sp>
      <p:sp>
        <p:nvSpPr>
          <p:cNvPr id="34" name="Shape 31"/>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36" name="Text 33"/>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مُشَتِّتٌ</a:t>
            </a:r>
            <a:endParaRPr lang="ar-SA" sz="150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40" name="Shape 3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2" name="Text 3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2650" b="1" dirty="0">
                <a:solidFill>
                  <a:srgbClr val="1B3B6F"/>
                </a:solidFill>
                <a:latin typeface="Amiri" pitchFamily="34" charset="0"/>
                <a:ea typeface="Amiri" pitchFamily="34" charset="-122"/>
                <a:cs typeface="Amiri" pitchFamily="34" charset="-120"/>
              </a:rPr>
              <a:t>التَّحَقُّقُ فِي الاسْتِمَاعِ الثَّانِي</a:t>
            </a:r>
            <a:endParaRPr lang="ar-SA" sz="2650" dirty="0"/>
          </a:p>
        </p:txBody>
      </p:sp>
      <p:sp>
        <p:nvSpPr>
          <p:cNvPr id="43" name="Text 4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verifying on the second listen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at-ta-ḥaq-qu-qu fī als-ti-mā-ʿi ath-thā-nī</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27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TEACH · APPLY ALL SIX TODAY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The six listening strategies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سِتُّ اسْتِرَاتِيجِيَّاتٍ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457200" y="1810512"/>
            <a:ext cx="676656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64008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THE SIX LISTENING STRATEGIES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ea typeface="Calibri" pitchFamily="34" charset="-122"/>
                <a:cs typeface="Calibri" pitchFamily="34" charset="-120"/>
              </a:rPr>
              <a:t>1</a:t>
            </a:r>
            <a:endParaRPr lang="en-US" sz="1100" dirty="0"/>
          </a:p>
        </p:txBody>
      </p:sp>
      <p:sp>
        <p:nvSpPr>
          <p:cNvPr id="19" name="Text 16"/>
          <p:cNvSpPr txBox="1"/>
          <p:nvPr/>
        </p:nvSpPr>
        <p:spPr>
          <a:xfrm>
            <a:off x="1078992" y="2176272"/>
            <a:ext cx="5989320" cy="6370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ea typeface="Calibri" pitchFamily="34" charset="-122"/>
                <a:cs typeface="Calibri" pitchFamily="34" charset="-120"/>
              </a:rPr>
              <a:t>Read the questions first — Before the audio, read every question so you know what to listen for.</a:t>
            </a:r>
            <a:endParaRPr lang="en-US" sz="1300" dirty="0"/>
          </a:p>
        </p:txBody>
      </p:sp>
      <p:sp>
        <p:nvSpPr>
          <p:cNvPr id="20" name="Shape 17"/>
          <p:cNvSpPr/>
          <p:nvPr/>
        </p:nvSpPr>
        <p:spPr>
          <a:xfrm>
            <a:off x="658368" y="29596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9596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ea typeface="Calibri" pitchFamily="34" charset="-122"/>
                <a:cs typeface="Calibri" pitchFamily="34" charset="-120"/>
              </a:rPr>
              <a:t>2</a:t>
            </a:r>
            <a:endParaRPr lang="en-US" sz="1100" dirty="0"/>
          </a:p>
        </p:txBody>
      </p:sp>
      <p:sp>
        <p:nvSpPr>
          <p:cNvPr id="22" name="Text 19"/>
          <p:cNvSpPr txBox="1"/>
          <p:nvPr/>
        </p:nvSpPr>
        <p:spPr>
          <a:xfrm>
            <a:off x="1078992" y="2849880"/>
            <a:ext cx="5989320" cy="6370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ea typeface="Calibri" pitchFamily="34" charset="-122"/>
                <a:cs typeface="Calibri" pitchFamily="34" charset="-120"/>
              </a:rPr>
              <a:t>Annotate each question — Mark the type of information sought: a name, a number, an opinion, a conditional type, a tense.</a:t>
            </a:r>
            <a:endParaRPr lang="en-US" sz="1300" dirty="0"/>
          </a:p>
        </p:txBody>
      </p:sp>
      <p:sp>
        <p:nvSpPr>
          <p:cNvPr id="23" name="Shape 20"/>
          <p:cNvSpPr/>
          <p:nvPr/>
        </p:nvSpPr>
        <p:spPr>
          <a:xfrm>
            <a:off x="658368" y="36332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6332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ea typeface="Calibri" pitchFamily="34" charset="-122"/>
                <a:cs typeface="Calibri" pitchFamily="34" charset="-120"/>
              </a:rPr>
              <a:t>3</a:t>
            </a:r>
            <a:endParaRPr lang="en-US" sz="1100" dirty="0"/>
          </a:p>
        </p:txBody>
      </p:sp>
      <p:sp>
        <p:nvSpPr>
          <p:cNvPr id="25" name="Text 22"/>
          <p:cNvSpPr txBox="1"/>
          <p:nvPr/>
        </p:nvSpPr>
        <p:spPr>
          <a:xfrm>
            <a:off x="1078992" y="3523488"/>
            <a:ext cx="5989320" cy="6370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ea typeface="Calibri" pitchFamily="34" charset="-122"/>
                <a:cs typeface="Calibri" pitchFamily="34" charset="-120"/>
              </a:rPr>
              <a:t>First listen for the gist — On the first hearing, answer only what you are confident about.</a:t>
            </a:r>
            <a:endParaRPr lang="en-US" sz="1300" dirty="0"/>
          </a:p>
        </p:txBody>
      </p:sp>
      <p:sp>
        <p:nvSpPr>
          <p:cNvPr id="26" name="Shape 23"/>
          <p:cNvSpPr/>
          <p:nvPr/>
        </p:nvSpPr>
        <p:spPr>
          <a:xfrm>
            <a:off x="658368" y="43068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ea typeface="Calibri" pitchFamily="34" charset="-122"/>
                <a:cs typeface="Calibri" pitchFamily="34" charset="-120"/>
              </a:rPr>
              <a:t>4</a:t>
            </a:r>
            <a:endParaRPr lang="en-US" sz="1100" dirty="0"/>
          </a:p>
        </p:txBody>
      </p:sp>
      <p:sp>
        <p:nvSpPr>
          <p:cNvPr id="28" name="Text 25"/>
          <p:cNvSpPr txBox="1"/>
          <p:nvPr/>
        </p:nvSpPr>
        <p:spPr>
          <a:xfrm>
            <a:off x="1078992" y="4197096"/>
            <a:ext cx="5989320" cy="6370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ea typeface="Calibri" pitchFamily="34" charset="-122"/>
                <a:cs typeface="Calibri" pitchFamily="34" charset="-120"/>
              </a:rPr>
              <a:t>Second listen to verify — Use the second hearing to confirm, correct and complete — trust your first answer on plain facts.</a:t>
            </a:r>
            <a:endParaRPr lang="en-US" sz="1300" dirty="0"/>
          </a:p>
        </p:txBody>
      </p:sp>
      <p:sp>
        <p:nvSpPr>
          <p:cNvPr id="29" name="Shape 26"/>
          <p:cNvSpPr/>
          <p:nvPr/>
        </p:nvSpPr>
        <p:spPr>
          <a:xfrm>
            <a:off x="658368" y="498043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98043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ea typeface="Calibri" pitchFamily="34" charset="-122"/>
                <a:cs typeface="Calibri" pitchFamily="34" charset="-120"/>
              </a:rPr>
              <a:t>5</a:t>
            </a:r>
            <a:endParaRPr lang="en-US" sz="1100" dirty="0"/>
          </a:p>
        </p:txBody>
      </p:sp>
      <p:sp>
        <p:nvSpPr>
          <p:cNvPr id="31" name="Text 28"/>
          <p:cNvSpPr txBox="1"/>
          <p:nvPr/>
        </p:nvSpPr>
        <p:spPr>
          <a:xfrm>
            <a:off x="1078992" y="4870704"/>
            <a:ext cx="5989320" cy="6370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ea typeface="Calibri" pitchFamily="34" charset="-122"/>
                <a:cs typeface="Calibri" pitchFamily="34" charset="-120"/>
              </a:rPr>
              <a:t>Never leave a blank — An unanswered question scores zero; make your best-supported guess.</a:t>
            </a:r>
            <a:endParaRPr lang="en-US" sz="1300" dirty="0"/>
          </a:p>
        </p:txBody>
      </p:sp>
      <p:sp>
        <p:nvSpPr>
          <p:cNvPr id="32" name="Shape 29"/>
          <p:cNvSpPr/>
          <p:nvPr/>
        </p:nvSpPr>
        <p:spPr>
          <a:xfrm>
            <a:off x="658368" y="5654040"/>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58368" y="565404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ea typeface="Calibri" pitchFamily="34" charset="-122"/>
                <a:cs typeface="Calibri" pitchFamily="34" charset="-120"/>
              </a:rPr>
              <a:t>6</a:t>
            </a:r>
            <a:endParaRPr lang="en-US" sz="1100" dirty="0"/>
          </a:p>
        </p:txBody>
      </p:sp>
      <p:sp>
        <p:nvSpPr>
          <p:cNvPr id="34" name="Text 31"/>
          <p:cNvSpPr txBox="1"/>
          <p:nvPr/>
        </p:nvSpPr>
        <p:spPr>
          <a:xfrm>
            <a:off x="1078992" y="5544312"/>
            <a:ext cx="5989320" cy="6370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ea typeface="Calibri" pitchFamily="34" charset="-122"/>
                <a:cs typeface="Calibri" pitchFamily="34" charset="-120"/>
              </a:rPr>
              <a:t>Listen for the grammar signal — A trigger, a conditional particle or </a:t>
            </a:r>
            <a:pPr algn="l" indent="0" marL="0">
              <a:buNone/>
            </a:pPr>
            <a:r>
              <a:rPr lang="ar-SA" altLang="en-US" sz="1700" dirty="0">
                <a:solidFill>
                  <a:srgbClr val="1F2A37"/>
                </a:solidFill>
                <a:latin typeface="Amiri" pitchFamily="34" charset="0"/>
                <a:ea typeface="Amiri" pitchFamily="34" charset="-122"/>
                <a:cs typeface="Amiri" pitchFamily="34" charset="-120"/>
              </a:rPr>
              <a:t>صَحِيحٌ أَنَّ</a:t>
            </a:r>
            <a:pPr algn="l" indent="0" marL="0">
              <a:buNone/>
            </a:pPr>
            <a:r>
              <a:rPr lang="en-US" sz="1300" dirty="0">
                <a:solidFill>
                  <a:srgbClr val="1F2A37"/>
                </a:solidFill>
                <a:latin typeface="Calibri" pitchFamily="34" charset="0"/>
                <a:ea typeface="Calibri" pitchFamily="34" charset="-122"/>
                <a:cs typeface="Calibri" pitchFamily="34" charset="-120"/>
              </a:rPr>
              <a:t> tells you the meaning that follows.</a:t>
            </a:r>
            <a:endParaRPr lang="en-US" sz="1300" dirty="0"/>
          </a:p>
        </p:txBody>
      </p:sp>
      <p:sp>
        <p:nvSpPr>
          <p:cNvPr id="35" name="Shape 32"/>
          <p:cNvSpPr/>
          <p:nvPr/>
        </p:nvSpPr>
        <p:spPr>
          <a:xfrm>
            <a:off x="7406640" y="1810512"/>
            <a:ext cx="4325112" cy="4498848"/>
          </a:xfrm>
          <a:prstGeom prst="roundRect">
            <a:avLst>
              <a:gd name="adj" fmla="val 16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7589520" y="1883664"/>
            <a:ext cx="395935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IN ARABIC</a:t>
            </a:r>
            <a:endParaRPr lang="en-US" sz="1000" dirty="0"/>
          </a:p>
        </p:txBody>
      </p:sp>
      <p:sp>
        <p:nvSpPr>
          <p:cNvPr id="37" name="Text 34"/>
          <p:cNvSpPr txBox="1"/>
          <p:nvPr/>
        </p:nvSpPr>
        <p:spPr>
          <a:xfrm>
            <a:off x="7543800" y="2194560"/>
            <a:ext cx="405079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اسْمٌ؟ رَقْمٌ؟ رَأْيٌ؟ نَوْعُ شَرْطٍ؟</a:t>
            </a:r>
            <a:endParaRPr lang="ar-SA" sz="2800" dirty="0"/>
          </a:p>
        </p:txBody>
      </p:sp>
      <p:sp>
        <p:nvSpPr>
          <p:cNvPr id="38" name="Text 35"/>
          <p:cNvSpPr txBox="1"/>
          <p:nvPr/>
        </p:nvSpPr>
        <p:spPr>
          <a:xfrm>
            <a:off x="7543800" y="2955828"/>
            <a:ext cx="405079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name? number? opinion? conditional type?  ·  annotate</a:t>
            </a:r>
            <a:endParaRPr lang="en-US" sz="1100" dirty="0"/>
          </a:p>
        </p:txBody>
      </p:sp>
      <p:sp>
        <p:nvSpPr>
          <p:cNvPr id="39" name="Shape 36"/>
          <p:cNvSpPr/>
          <p:nvPr/>
        </p:nvSpPr>
        <p:spPr>
          <a:xfrm>
            <a:off x="7589520" y="3535680"/>
            <a:ext cx="3959352" cy="0"/>
          </a:xfrm>
          <a:prstGeom prst="line">
            <a:avLst/>
          </a:prstGeom>
          <a:noFill/>
          <a:ln w="9525">
            <a:solidFill>
              <a:srgbClr val="E4DCCB"/>
            </a:solidFill>
            <a:prstDash val="dash"/>
          </a:ln>
        </p:spPr>
      </p:sp>
      <p:sp>
        <p:nvSpPr>
          <p:cNvPr id="40" name="Text 37"/>
          <p:cNvSpPr txBox="1"/>
          <p:nvPr/>
        </p:nvSpPr>
        <p:spPr>
          <a:xfrm>
            <a:off x="7543800" y="3553968"/>
            <a:ext cx="405079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لِكَيْ · إِذَا · لَوْ</a:t>
            </a:r>
            <a:endParaRPr lang="ar-SA" sz="2800" dirty="0"/>
          </a:p>
        </p:txBody>
      </p:sp>
      <p:sp>
        <p:nvSpPr>
          <p:cNvPr id="41" name="Text 38"/>
          <p:cNvSpPr txBox="1"/>
          <p:nvPr/>
        </p:nvSpPr>
        <p:spPr>
          <a:xfrm>
            <a:off x="7543800" y="4315236"/>
            <a:ext cx="405079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purpose · real condition · supposition  ·  grammar signals</a:t>
            </a:r>
            <a:endParaRPr lang="en-US" sz="1100" dirty="0"/>
          </a:p>
        </p:txBody>
      </p:sp>
      <p:sp>
        <p:nvSpPr>
          <p:cNvPr id="42" name="Shape 39"/>
          <p:cNvSpPr/>
          <p:nvPr/>
        </p:nvSpPr>
        <p:spPr>
          <a:xfrm>
            <a:off x="7589520" y="4895088"/>
            <a:ext cx="3959352" cy="0"/>
          </a:xfrm>
          <a:prstGeom prst="line">
            <a:avLst/>
          </a:prstGeom>
          <a:noFill/>
          <a:ln w="9525">
            <a:solidFill>
              <a:srgbClr val="E4DCCB"/>
            </a:solidFill>
            <a:prstDash val="dash"/>
          </a:ln>
        </p:spPr>
      </p:sp>
      <p:sp>
        <p:nvSpPr>
          <p:cNvPr id="43" name="Text 40"/>
          <p:cNvSpPr txBox="1"/>
          <p:nvPr/>
        </p:nvSpPr>
        <p:spPr>
          <a:xfrm>
            <a:off x="7543800" y="4913376"/>
            <a:ext cx="405079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صَحِيحٌ أَنَّ · غَيْرَ أَنَّ</a:t>
            </a:r>
            <a:endParaRPr lang="ar-SA" sz="2800" dirty="0"/>
          </a:p>
        </p:txBody>
      </p:sp>
      <p:sp>
        <p:nvSpPr>
          <p:cNvPr id="44" name="Text 41"/>
          <p:cNvSpPr txBox="1"/>
          <p:nvPr/>
        </p:nvSpPr>
        <p:spPr>
          <a:xfrm>
            <a:off x="7543800" y="5674644"/>
            <a:ext cx="405079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conceded point · the speaker’s view  ·  grammar signals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27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TEACH · HOW PAPER 1 IS SCORED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How Paper 1 is scored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تَقْدِيرُ الدَّرَجَاتِ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WHAT YOU NEED TO KNOW</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ea typeface="Calibri" pitchFamily="34" charset="-122"/>
                <a:cs typeface="Calibri" pitchFamily="34" charset="-120"/>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ea typeface="Calibri" pitchFamily="34" charset="-122"/>
                <a:cs typeface="Calibri" pitchFamily="34" charset="-120"/>
              </a:rPr>
              <a:t>Three texts today: 8 + 6 + 6 = 20 raw marks. In the real Paper 1 the section is scaled to 45.</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ea typeface="Calibri" pitchFamily="34" charset="-122"/>
                <a:cs typeface="Calibri" pitchFamily="34" charset="-120"/>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ea typeface="Calibri" pitchFamily="34" charset="-122"/>
                <a:cs typeface="Calibri" pitchFamily="34" charset="-120"/>
              </a:rPr>
              <a:t>Read the questions in the two-minute gap before each text.</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ea typeface="Calibri" pitchFamily="34" charset="-122"/>
                <a:cs typeface="Calibri" pitchFamily="34" charset="-120"/>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ea typeface="Calibri" pitchFamily="34" charset="-122"/>
                <a:cs typeface="Calibri" pitchFamily="34" charset="-120"/>
              </a:rPr>
              <a:t>Each script is read twice — the script stands in for the recording while the website audio is in production.</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ea typeface="Calibri" pitchFamily="34" charset="-122"/>
                <a:cs typeface="Calibri" pitchFamily="34" charset="-120"/>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ea typeface="Calibri" pitchFamily="34" charset="-122"/>
                <a:cs typeface="Calibri" pitchFamily="34" charset="-120"/>
              </a:rPr>
              <a:t>The texts span the P6 topic areas and carry P6 grammar naturally: conditionals, triggers, reported speech, concession–refutation.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IN ARABIC</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اخْتِيَارٌ مِنْ مُتَعَدِّدٍ</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Text 1 · multiple choice (8)</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مَنْ قَالَ ذٰلِكَ؟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Text 2 · matching: who says it? (6)</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العِبَارَةُ الَّتِي يَدْعَمُهَا النَّصُّ</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Text 3 · the supported statement (6)</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27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ME ANNOTATE THE TEXT 1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Label every question before you listen</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عَلِّمِ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Signal to listen for</a:t>
            </a:r>
            <a:endParaRPr lang="en-US" sz="1100" dirty="0"/>
          </a:p>
        </p:txBody>
      </p:sp>
      <p:sp>
        <p:nvSpPr>
          <p:cNvPr id="17" name="Text 14"/>
          <p:cNvSpPr txBox="1"/>
          <p:nvPr/>
        </p:nvSpPr>
        <p:spPr>
          <a:xfrm>
            <a:off x="53766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My label</a:t>
            </a:r>
            <a:endParaRPr lang="en-US" sz="1100" dirty="0"/>
          </a:p>
        </p:txBody>
      </p:sp>
      <p:sp>
        <p:nvSpPr>
          <p:cNvPr id="18" name="Text 15"/>
          <p:cNvSpPr txBox="1"/>
          <p:nvPr/>
        </p:nvSpPr>
        <p:spPr>
          <a:xfrm>
            <a:off x="117043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question asks …</a:t>
            </a:r>
            <a:endParaRPr lang="en-US" sz="1100" dirty="0"/>
          </a:p>
        </p:txBody>
      </p:sp>
      <p:sp>
        <p:nvSpPr>
          <p:cNvPr id="19" name="Text 16"/>
          <p:cNvSpPr txBox="1"/>
          <p:nvPr/>
        </p:nvSpPr>
        <p:spPr>
          <a:xfrm>
            <a:off x="530352" y="1810512"/>
            <a:ext cx="493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772400" y="2267712"/>
            <a:ext cx="386791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تُشِيرُ الدِّرَاسَاتُ إِلَى أَنَّ</a:t>
            </a:r>
            <a:endParaRPr lang="ar-SA" sz="1800" dirty="0"/>
          </a:p>
        </p:txBody>
      </p:sp>
      <p:sp>
        <p:nvSpPr>
          <p:cNvPr id="22" name="Text 19"/>
          <p:cNvSpPr txBox="1"/>
          <p:nvPr/>
        </p:nvSpPr>
        <p:spPr>
          <a:xfrm>
            <a:off x="541324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detail · studies</a:t>
            </a:r>
            <a:endParaRPr lang="en-US" sz="1100" dirty="0"/>
          </a:p>
        </p:txBody>
      </p:sp>
      <p:sp>
        <p:nvSpPr>
          <p:cNvPr id="23" name="Text 20"/>
          <p:cNvSpPr txBox="1"/>
          <p:nvPr/>
        </p:nvSpPr>
        <p:spPr>
          <a:xfrm>
            <a:off x="1207008" y="2267712"/>
            <a:ext cx="40233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basis of health (a fact)</a:t>
            </a:r>
            <a:endParaRPr lang="en-US" sz="1100" dirty="0"/>
          </a:p>
        </p:txBody>
      </p:sp>
      <p:sp>
        <p:nvSpPr>
          <p:cNvPr id="24" name="Text 21"/>
          <p:cNvSpPr txBox="1"/>
          <p:nvPr/>
        </p:nvSpPr>
        <p:spPr>
          <a:xfrm>
            <a:off x="566928" y="2267712"/>
            <a:ext cx="457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772400" y="2881884"/>
            <a:ext cx="386791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صَحِيحٌ أَنَّ … غَيْرَ أَنَّ</a:t>
            </a:r>
            <a:endParaRPr lang="ar-SA" sz="1800" dirty="0"/>
          </a:p>
        </p:txBody>
      </p:sp>
      <p:sp>
        <p:nvSpPr>
          <p:cNvPr id="29" name="Text 26"/>
          <p:cNvSpPr txBox="1"/>
          <p:nvPr/>
        </p:nvSpPr>
        <p:spPr>
          <a:xfrm>
            <a:off x="541324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opinion · balance</a:t>
            </a:r>
            <a:endParaRPr lang="en-US" sz="1100" dirty="0"/>
          </a:p>
        </p:txBody>
      </p:sp>
      <p:sp>
        <p:nvSpPr>
          <p:cNvPr id="30" name="Text 27"/>
          <p:cNvSpPr txBox="1"/>
          <p:nvPr/>
        </p:nvSpPr>
        <p:spPr>
          <a:xfrm>
            <a:off x="1207008" y="2881884"/>
            <a:ext cx="40233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what is conceded · what is stressed</a:t>
            </a:r>
            <a:endParaRPr lang="en-US" sz="1100" dirty="0"/>
          </a:p>
        </p:txBody>
      </p:sp>
      <p:sp>
        <p:nvSpPr>
          <p:cNvPr id="31" name="Text 28"/>
          <p:cNvSpPr txBox="1"/>
          <p:nvPr/>
        </p:nvSpPr>
        <p:spPr>
          <a:xfrm>
            <a:off x="566928" y="2881884"/>
            <a:ext cx="457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2–3</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772400" y="3496056"/>
            <a:ext cx="386791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إِذَا … سَـ · لَوْ … لَـ</a:t>
            </a:r>
            <a:endParaRPr lang="ar-SA" sz="1800" dirty="0"/>
          </a:p>
        </p:txBody>
      </p:sp>
      <p:sp>
        <p:nvSpPr>
          <p:cNvPr id="36" name="Text 33"/>
          <p:cNvSpPr txBox="1"/>
          <p:nvPr/>
        </p:nvSpPr>
        <p:spPr>
          <a:xfrm>
            <a:off x="541324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conditional type</a:t>
            </a:r>
            <a:endParaRPr lang="en-US" sz="1100" dirty="0"/>
          </a:p>
        </p:txBody>
      </p:sp>
      <p:sp>
        <p:nvSpPr>
          <p:cNvPr id="37" name="Text 34"/>
          <p:cNvSpPr txBox="1"/>
          <p:nvPr/>
        </p:nvSpPr>
        <p:spPr>
          <a:xfrm>
            <a:off x="1207008" y="3496056"/>
            <a:ext cx="40233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Type 1 and Type 2 claims</a:t>
            </a:r>
            <a:endParaRPr lang="en-US" sz="1100" dirty="0"/>
          </a:p>
        </p:txBody>
      </p:sp>
      <p:sp>
        <p:nvSpPr>
          <p:cNvPr id="38" name="Text 35"/>
          <p:cNvSpPr txBox="1"/>
          <p:nvPr/>
        </p:nvSpPr>
        <p:spPr>
          <a:xfrm>
            <a:off x="566928" y="3496056"/>
            <a:ext cx="457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4–5</a:t>
            </a:r>
            <a:endParaRPr lang="en-US" sz="11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72400" y="4110228"/>
            <a:ext cx="386791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يَنْبَغِي أَنْ</a:t>
            </a:r>
            <a:endParaRPr lang="ar-SA" sz="1800" dirty="0"/>
          </a:p>
        </p:txBody>
      </p:sp>
      <p:sp>
        <p:nvSpPr>
          <p:cNvPr id="41" name="Text 38"/>
          <p:cNvSpPr txBox="1"/>
          <p:nvPr/>
        </p:nvSpPr>
        <p:spPr>
          <a:xfrm>
            <a:off x="541324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necessity trigger</a:t>
            </a:r>
            <a:endParaRPr lang="en-US" sz="1100" dirty="0"/>
          </a:p>
        </p:txBody>
      </p:sp>
      <p:sp>
        <p:nvSpPr>
          <p:cNvPr id="42" name="Text 39"/>
          <p:cNvSpPr txBox="1"/>
          <p:nvPr/>
        </p:nvSpPr>
        <p:spPr>
          <a:xfrm>
            <a:off x="1207008" y="4110228"/>
            <a:ext cx="40233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what is recommended</a:t>
            </a:r>
            <a:endParaRPr lang="en-US" sz="1100" dirty="0"/>
          </a:p>
        </p:txBody>
      </p:sp>
      <p:sp>
        <p:nvSpPr>
          <p:cNvPr id="43" name="Text 40"/>
          <p:cNvSpPr txBox="1"/>
          <p:nvPr/>
        </p:nvSpPr>
        <p:spPr>
          <a:xfrm>
            <a:off x="566928" y="4110228"/>
            <a:ext cx="457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6</a:t>
            </a:r>
            <a:endParaRPr lang="en-US" sz="11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7772400" y="4724400"/>
            <a:ext cx="386791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أَكَّدَ … أَنَّ</a:t>
            </a:r>
            <a:endParaRPr lang="ar-SA" sz="1800" dirty="0"/>
          </a:p>
        </p:txBody>
      </p:sp>
      <p:sp>
        <p:nvSpPr>
          <p:cNvPr id="46" name="Text 43"/>
          <p:cNvSpPr txBox="1"/>
          <p:nvPr/>
        </p:nvSpPr>
        <p:spPr>
          <a:xfrm>
            <a:off x="541324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reported speech</a:t>
            </a:r>
            <a:endParaRPr lang="en-US" sz="1100" dirty="0"/>
          </a:p>
        </p:txBody>
      </p:sp>
      <p:sp>
        <p:nvSpPr>
          <p:cNvPr id="47" name="Text 44"/>
          <p:cNvSpPr txBox="1"/>
          <p:nvPr/>
        </p:nvSpPr>
        <p:spPr>
          <a:xfrm>
            <a:off x="1207008" y="4724400"/>
            <a:ext cx="40233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what the expert reported about stress</a:t>
            </a:r>
            <a:endParaRPr lang="en-US" sz="1100" dirty="0"/>
          </a:p>
        </p:txBody>
      </p:sp>
      <p:sp>
        <p:nvSpPr>
          <p:cNvPr id="48" name="Text 45"/>
          <p:cNvSpPr txBox="1"/>
          <p:nvPr/>
        </p:nvSpPr>
        <p:spPr>
          <a:xfrm>
            <a:off x="566928" y="4724400"/>
            <a:ext cx="457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7</a:t>
            </a:r>
            <a:endParaRPr lang="en-US" sz="110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concession + refutation = balanced</a:t>
            </a:r>
            <a:endParaRPr lang="en-US" sz="1100" dirty="0"/>
          </a:p>
        </p:txBody>
      </p:sp>
      <p:sp>
        <p:nvSpPr>
          <p:cNvPr id="51" name="Text 48"/>
          <p:cNvSpPr txBox="1"/>
          <p:nvPr/>
        </p:nvSpPr>
        <p:spPr>
          <a:xfrm>
            <a:off x="541324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R3-style judgement</a:t>
            </a:r>
            <a:endParaRPr lang="en-US" sz="1100" dirty="0"/>
          </a:p>
        </p:txBody>
      </p:sp>
      <p:sp>
        <p:nvSpPr>
          <p:cNvPr id="52" name="Text 49"/>
          <p:cNvSpPr txBox="1"/>
          <p:nvPr/>
        </p:nvSpPr>
        <p:spPr>
          <a:xfrm>
            <a:off x="1207008" y="5338572"/>
            <a:ext cx="40233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is the view balanced?</a:t>
            </a:r>
            <a:endParaRPr lang="en-US" sz="1100" dirty="0"/>
          </a:p>
        </p:txBody>
      </p:sp>
      <p:sp>
        <p:nvSpPr>
          <p:cNvPr id="53" name="Text 50"/>
          <p:cNvSpPr txBox="1"/>
          <p:nvPr/>
        </p:nvSpPr>
        <p:spPr>
          <a:xfrm>
            <a:off x="566928" y="5338572"/>
            <a:ext cx="457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8</a:t>
            </a:r>
            <a:endParaRPr lang="en-US" sz="1100" dirty="0"/>
          </a:p>
        </p:txBody>
      </p:sp>
      <p:sp>
        <p:nvSpPr>
          <p:cNvPr id="54" name="Text 5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Two minutes before every text: read all the questions and write a label beside each one. Then you know what to listen for.</a:t>
            </a:r>
            <a:endParaRPr lang="en-US" sz="11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27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LISTENING · TEXT 1 — MULTIPLE CHOICE (8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ea typeface="Cambria" pitchFamily="34" charset="-122"/>
                <a:cs typeface="Cambria" pitchFamily="34" charset="-120"/>
              </a:rPr>
              <a:t>Choose the correct option for each question</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 the studies indicate is the basis of health?</a:t>
            </a:r>
            <a:endParaRPr lang="en-US" sz="120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Constant exercise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high income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Good sleep</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expert concede (</a:t>
            </a:r>
            <a:pPr algn="l" indent="0" marL="0">
              <a:buNone/>
            </a:pPr>
            <a:r>
              <a:rPr lang="ar-SA" altLang="en-US" sz="1650" b="1" dirty="0">
                <a:solidFill>
                  <a:srgbClr val="1B3B6F"/>
                </a:solidFill>
                <a:latin typeface="Amiri" pitchFamily="34" charset="0"/>
                <a:ea typeface="Amiri" pitchFamily="34" charset="-122"/>
                <a:cs typeface="Amiri" pitchFamily="34" charset="-120"/>
              </a:rPr>
              <a:t>صَحِيحٌ 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That sleep is useless</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That exercise is important</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That food does not matter</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expert then emphasise (</a:t>
            </a:r>
            <a:pPr algn="l" indent="0" marL="0">
              <a:buNone/>
            </a:pPr>
            <a:r>
              <a:rPr lang="ar-SA" altLang="en-US" sz="1650" b="1" dirty="0">
                <a:solidFill>
                  <a:srgbClr val="1B3B6F"/>
                </a:solidFill>
                <a:latin typeface="Amiri" pitchFamily="34" charset="0"/>
                <a:ea typeface="Amiri" pitchFamily="34" charset="-122"/>
                <a:cs typeface="Amiri" pitchFamily="34" charset="-120"/>
              </a:rPr>
              <a:t>غَيْرَ 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Exercise is the only thing that matters</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Rest is no less important than exercise</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Rest is unimportant</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Type 1 conditional claim?</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Sleep harms focus</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Focus cannot improve</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If a person sleeps seven hours, their focus will improve</a:t>
            </a:r>
            <a:endParaRPr lang="en-US" sz="10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Type 2 conditional claim?</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000" dirty="0">
                <a:solidFill>
                  <a:srgbClr val="1F2A37"/>
                </a:solidFill>
                <a:latin typeface="Calibri" pitchFamily="34" charset="0"/>
                <a:ea typeface="Calibri" pitchFamily="34" charset="-122"/>
                <a:cs typeface="Calibri" pitchFamily="34" charset="-120"/>
              </a:rPr>
              <a:t>Had we cut screens at night, we would have slept more deeply</a:t>
            </a:r>
            <a:endParaRPr lang="en-US" sz="100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Screens improve sleep</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Sleep depth cannot change</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050" b="1" dirty="0">
                <a:solidFill>
                  <a:srgbClr val="1B3B6F"/>
                </a:solidFill>
                <a:latin typeface="Calibri" pitchFamily="34" charset="0"/>
                <a:ea typeface="Calibri" pitchFamily="34" charset="-122"/>
                <a:cs typeface="Calibri" pitchFamily="34" charset="-120"/>
              </a:rPr>
              <a:t>What does the necessity trigger recommend (</a:t>
            </a:r>
            <a:pPr algn="l" indent="0" marL="0">
              <a:buNone/>
            </a:pPr>
            <a:r>
              <a:rPr lang="ar-SA" altLang="en-US" sz="1350" b="1" dirty="0">
                <a:solidFill>
                  <a:srgbClr val="1B3B6F"/>
                </a:solidFill>
                <a:latin typeface="Amiri" pitchFamily="34" charset="0"/>
                <a:ea typeface="Amiri" pitchFamily="34" charset="-122"/>
                <a:cs typeface="Amiri" pitchFamily="34" charset="-120"/>
              </a:rPr>
              <a:t>يَنْبَغِي أَنْ</a:t>
            </a:r>
            <a:pPr algn="l" indent="0" marL="0">
              <a:buNone/>
            </a:pPr>
            <a:r>
              <a:rPr lang="en-US" sz="1050" b="1" dirty="0">
                <a:solidFill>
                  <a:srgbClr val="1B3B6F"/>
                </a:solidFill>
                <a:latin typeface="Calibri" pitchFamily="34" charset="0"/>
                <a:ea typeface="Calibri" pitchFamily="34" charset="-122"/>
                <a:cs typeface="Calibri" pitchFamily="34" charset="-120"/>
              </a:rPr>
              <a:t>)?</a:t>
            </a:r>
            <a:endParaRPr lang="en-US" sz="10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Skipping meals</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Maintaining a balanced diet</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Eating only at night</a:t>
            </a:r>
            <a:endParaRPr lang="en-US" sz="1250" dirty="0"/>
          </a:p>
        </p:txBody>
      </p:sp>
      <p:sp>
        <p:nvSpPr>
          <p:cNvPr id="93" name="Shape 90"/>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313932" y="4288536"/>
            <a:ext cx="310896" cy="310896"/>
          </a:xfrm>
          <a:prstGeom prst="ellipse">
            <a:avLst/>
          </a:prstGeom>
          <a:solidFill>
            <a:srgbClr val="1B3B6F"/>
          </a:solidFill>
          <a:ln w="12700">
            <a:solidFill>
              <a:srgbClr val="1B3B6F"/>
            </a:solidFill>
            <a:prstDash val="solid"/>
          </a:ln>
        </p:spPr>
      </p:sp>
      <p:sp>
        <p:nvSpPr>
          <p:cNvPr id="95" name="Text 9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96" name="Text 93"/>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did the expert report about chronic stress?</a:t>
            </a:r>
            <a:endParaRPr lang="en-US" sz="1250" dirty="0"/>
          </a:p>
        </p:txBody>
      </p:sp>
      <p:sp>
        <p:nvSpPr>
          <p:cNvPr id="97" name="Shape 94"/>
          <p:cNvSpPr/>
          <p:nvPr/>
        </p:nvSpPr>
        <p:spPr>
          <a:xfrm>
            <a:off x="6368796" y="4873752"/>
            <a:ext cx="256032" cy="256032"/>
          </a:xfrm>
          <a:prstGeom prst="ellipse">
            <a:avLst/>
          </a:prstGeom>
          <a:solidFill>
            <a:srgbClr val="F4F1EA"/>
          </a:solidFill>
          <a:ln w="12700">
            <a:solidFill>
              <a:srgbClr val="F4F1EA"/>
            </a:solidFill>
            <a:prstDash val="solid"/>
          </a:ln>
        </p:spPr>
      </p:sp>
      <p:sp>
        <p:nvSpPr>
          <p:cNvPr id="98" name="Text 95"/>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9" name="Text 96"/>
          <p:cNvSpPr txBox="1"/>
          <p:nvPr/>
        </p:nvSpPr>
        <p:spPr>
          <a:xfrm>
            <a:off x="6697980"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weakens immunity</a:t>
            </a:r>
            <a:endParaRPr lang="en-US" sz="1250" dirty="0"/>
          </a:p>
        </p:txBody>
      </p:sp>
      <p:sp>
        <p:nvSpPr>
          <p:cNvPr id="100" name="Shape 97"/>
          <p:cNvSpPr/>
          <p:nvPr/>
        </p:nvSpPr>
        <p:spPr>
          <a:xfrm>
            <a:off x="6368796" y="5330952"/>
            <a:ext cx="256032" cy="256032"/>
          </a:xfrm>
          <a:prstGeom prst="ellipse">
            <a:avLst/>
          </a:prstGeom>
          <a:solidFill>
            <a:srgbClr val="F4F1EA"/>
          </a:solidFill>
          <a:ln w="12700">
            <a:solidFill>
              <a:srgbClr val="F4F1EA"/>
            </a:solidFill>
            <a:prstDash val="solid"/>
          </a:ln>
        </p:spPr>
      </p:sp>
      <p:sp>
        <p:nvSpPr>
          <p:cNvPr id="101" name="Text 98"/>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2" name="Text 99"/>
          <p:cNvSpPr txBox="1"/>
          <p:nvPr/>
        </p:nvSpPr>
        <p:spPr>
          <a:xfrm>
            <a:off x="6697980"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strengthens immunity</a:t>
            </a:r>
            <a:endParaRPr lang="en-US" sz="1250" dirty="0"/>
          </a:p>
        </p:txBody>
      </p:sp>
      <p:sp>
        <p:nvSpPr>
          <p:cNvPr id="103" name="Shape 100"/>
          <p:cNvSpPr/>
          <p:nvPr/>
        </p:nvSpPr>
        <p:spPr>
          <a:xfrm>
            <a:off x="6368796" y="5788152"/>
            <a:ext cx="256032" cy="256032"/>
          </a:xfrm>
          <a:prstGeom prst="ellipse">
            <a:avLst/>
          </a:prstGeom>
          <a:solidFill>
            <a:srgbClr val="F4F1EA"/>
          </a:solidFill>
          <a:ln w="12700">
            <a:solidFill>
              <a:srgbClr val="F4F1EA"/>
            </a:solidFill>
            <a:prstDash val="solid"/>
          </a:ln>
        </p:spPr>
      </p:sp>
      <p:sp>
        <p:nvSpPr>
          <p:cNvPr id="104" name="Text 101"/>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5" name="Text 102"/>
          <p:cNvSpPr txBox="1"/>
          <p:nvPr/>
        </p:nvSpPr>
        <p:spPr>
          <a:xfrm>
            <a:off x="6697980"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has no effect</a:t>
            </a:r>
            <a:endParaRPr lang="en-US" sz="1250" dirty="0"/>
          </a:p>
        </p:txBody>
      </p:sp>
      <p:sp>
        <p:nvSpPr>
          <p:cNvPr id="106" name="Shape 103"/>
          <p:cNvSpPr/>
          <p:nvPr/>
        </p:nvSpPr>
        <p:spPr>
          <a:xfrm>
            <a:off x="9050274"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7" name="Shape 104"/>
          <p:cNvSpPr/>
          <p:nvPr/>
        </p:nvSpPr>
        <p:spPr>
          <a:xfrm>
            <a:off x="9178290" y="4288536"/>
            <a:ext cx="310896" cy="310896"/>
          </a:xfrm>
          <a:prstGeom prst="ellipse">
            <a:avLst/>
          </a:prstGeom>
          <a:solidFill>
            <a:srgbClr val="1B3B6F"/>
          </a:solidFill>
          <a:ln w="12700">
            <a:solidFill>
              <a:srgbClr val="1B3B6F"/>
            </a:solidFill>
            <a:prstDash val="solid"/>
          </a:ln>
        </p:spPr>
      </p:sp>
      <p:sp>
        <p:nvSpPr>
          <p:cNvPr id="108" name="Text 105"/>
          <p:cNvSpPr txBox="1"/>
          <p:nvPr/>
        </p:nvSpPr>
        <p:spPr>
          <a:xfrm>
            <a:off x="917829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109" name="Text 106"/>
          <p:cNvSpPr txBox="1"/>
          <p:nvPr/>
        </p:nvSpPr>
        <p:spPr>
          <a:xfrm>
            <a:off x="9544050"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Overall, is the expert's view balanced?</a:t>
            </a:r>
            <a:endParaRPr lang="en-US" sz="1250" dirty="0"/>
          </a:p>
        </p:txBody>
      </p:sp>
      <p:sp>
        <p:nvSpPr>
          <p:cNvPr id="110" name="Shape 107"/>
          <p:cNvSpPr/>
          <p:nvPr/>
        </p:nvSpPr>
        <p:spPr>
          <a:xfrm>
            <a:off x="9233154" y="4873752"/>
            <a:ext cx="256032" cy="256032"/>
          </a:xfrm>
          <a:prstGeom prst="ellipse">
            <a:avLst/>
          </a:prstGeom>
          <a:solidFill>
            <a:srgbClr val="F4F1EA"/>
          </a:solidFill>
          <a:ln w="12700">
            <a:solidFill>
              <a:srgbClr val="F4F1EA"/>
            </a:solidFill>
            <a:prstDash val="solid"/>
          </a:ln>
        </p:spPr>
      </p:sp>
      <p:sp>
        <p:nvSpPr>
          <p:cNvPr id="111" name="Text 108"/>
          <p:cNvSpPr txBox="1"/>
          <p:nvPr/>
        </p:nvSpPr>
        <p:spPr>
          <a:xfrm>
            <a:off x="923315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112" name="Text 109"/>
          <p:cNvSpPr txBox="1"/>
          <p:nvPr/>
        </p:nvSpPr>
        <p:spPr>
          <a:xfrm>
            <a:off x="9562338"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 — it is one-sided</a:t>
            </a:r>
            <a:endParaRPr lang="en-US" sz="1250" dirty="0"/>
          </a:p>
        </p:txBody>
      </p:sp>
      <p:sp>
        <p:nvSpPr>
          <p:cNvPr id="113" name="Shape 110"/>
          <p:cNvSpPr/>
          <p:nvPr/>
        </p:nvSpPr>
        <p:spPr>
          <a:xfrm>
            <a:off x="9233154" y="5330952"/>
            <a:ext cx="256032" cy="256032"/>
          </a:xfrm>
          <a:prstGeom prst="ellipse">
            <a:avLst/>
          </a:prstGeom>
          <a:solidFill>
            <a:srgbClr val="F4F1EA"/>
          </a:solidFill>
          <a:ln w="12700">
            <a:solidFill>
              <a:srgbClr val="F4F1EA"/>
            </a:solidFill>
            <a:prstDash val="solid"/>
          </a:ln>
        </p:spPr>
      </p:sp>
      <p:sp>
        <p:nvSpPr>
          <p:cNvPr id="114" name="Text 111"/>
          <p:cNvSpPr txBox="1"/>
          <p:nvPr/>
        </p:nvSpPr>
        <p:spPr>
          <a:xfrm>
            <a:off x="923315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15" name="Text 112"/>
          <p:cNvSpPr txBox="1"/>
          <p:nvPr/>
        </p:nvSpPr>
        <p:spPr>
          <a:xfrm>
            <a:off x="9562338"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There is no view</a:t>
            </a:r>
            <a:endParaRPr lang="en-US" sz="1250" dirty="0"/>
          </a:p>
        </p:txBody>
      </p:sp>
      <p:sp>
        <p:nvSpPr>
          <p:cNvPr id="116" name="Shape 113"/>
          <p:cNvSpPr/>
          <p:nvPr/>
        </p:nvSpPr>
        <p:spPr>
          <a:xfrm>
            <a:off x="9233154" y="5788152"/>
            <a:ext cx="256032" cy="256032"/>
          </a:xfrm>
          <a:prstGeom prst="ellipse">
            <a:avLst/>
          </a:prstGeom>
          <a:solidFill>
            <a:srgbClr val="F4F1EA"/>
          </a:solidFill>
          <a:ln w="12700">
            <a:solidFill>
              <a:srgbClr val="F4F1EA"/>
            </a:solidFill>
            <a:prstDash val="solid"/>
          </a:ln>
        </p:spPr>
      </p:sp>
      <p:sp>
        <p:nvSpPr>
          <p:cNvPr id="117" name="Text 114"/>
          <p:cNvSpPr txBox="1"/>
          <p:nvPr/>
        </p:nvSpPr>
        <p:spPr>
          <a:xfrm>
            <a:off x="923315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18" name="Text 115"/>
          <p:cNvSpPr txBox="1"/>
          <p:nvPr/>
        </p:nvSpPr>
        <p:spPr>
          <a:xfrm>
            <a:off x="9562338"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Yes — it concedes then qualifies</a:t>
            </a:r>
            <a:endParaRPr lang="en-US" sz="1250" dirty="0"/>
          </a:p>
        </p:txBody>
      </p:sp>
      <p:sp>
        <p:nvSpPr>
          <p:cNvPr id="119" name="Text 11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27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LISTENING · READ ALONG WITH ENGLISH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يَقُولُ الخَبِيرُ: تُشِيرُ الدِّرَاسَاتُ إِلَى أَنَّ النَّوْمَ الجَيِّدَ أَسَاسُ الصِّحَّةِ.</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expert says: studies indicate that good sleep is the foundation of health.</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صَحِيحٌ أَنَّ الرِّيَاضَةَ مُهِمَّةٌ، غَيْرَ أَنَّ الرَّاحَةَ لَا تَقِلُّ أَهَمِّيَّةً عَنْهَا.</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true that exercise is important; however, rest is no less important.</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34" charset="0"/>
                <a:ea typeface="Amiri" pitchFamily="34" charset="-122"/>
                <a:cs typeface="Amiri" pitchFamily="34" charset="-120"/>
              </a:rPr>
              <a:t>إِذَا نَامَ الإِنْسَانُ سَبْعَ سَاعَاتٍ، سَيَتَحَسَّنُ تَرْكِيزُهُ. وَلَوْ قَلَّلْنَا مِنَ الشَّاشَاتِ لَيْلًا، لَنِمْنَا بِعُمْقٍ أَكْبَرَ.</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If a person sleeps seven hours, their concentration will improve. Had we cut down on screens at night, we would have slept more deeply.</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34" charset="0"/>
                <a:ea typeface="Amiri" pitchFamily="34" charset="-122"/>
                <a:cs typeface="Amiri" pitchFamily="34" charset="-120"/>
              </a:rPr>
              <a:t>وَيَنْبَغِي أَنْ نَحْرِصَ عَلَى غِذَاءٍ مُتَوَازِنٍ. وَأَكَّدَ الخَبِيرُ أَنَّ التَّوَتُّرَ المُزْمِنَ يُضْعِفُ المَنَاعَةَ.</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 should take care to eat a balanced diet. The expert confirmed that chronic stress weakens immunity.</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27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LISTENING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An expert on healthy living: answers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 the studies indicate is the basis of health?</a:t>
            </a:r>
            <a:endParaRPr lang="en-US" sz="120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Constant exercise</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high income</a:t>
            </a:r>
            <a:endParaRPr lang="en-US" sz="1250" dirty="0"/>
          </a:p>
        </p:txBody>
      </p:sp>
      <p:sp>
        <p:nvSpPr>
          <p:cNvPr id="25" name="Shape 22"/>
          <p:cNvSpPr/>
          <p:nvPr/>
        </p:nvSpPr>
        <p:spPr>
          <a:xfrm>
            <a:off x="548640" y="3197352"/>
            <a:ext cx="2498598"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Good sleep</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34" charset="0"/>
                <a:ea typeface="Amiri" pitchFamily="34" charset="-122"/>
                <a:cs typeface="Amiri" pitchFamily="34" charset="-120"/>
              </a:rPr>
              <a:t>تُشِيرُ الدِّرَاسَاتُ إِلَى أَنَّ النَّوْمَ الجَيِّدَ أَسَاسُ الصِّحَّةِ.</a:t>
            </a:r>
            <a:endParaRPr lang="ar-SA"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expert concede (</a:t>
            </a:r>
            <a:pPr algn="l" indent="0" marL="0">
              <a:buNone/>
            </a:pPr>
            <a:r>
              <a:rPr lang="ar-SA" altLang="en-US" sz="1650" b="1" dirty="0">
                <a:solidFill>
                  <a:srgbClr val="1B3B6F"/>
                </a:solidFill>
                <a:latin typeface="Amiri" pitchFamily="34" charset="0"/>
                <a:ea typeface="Amiri" pitchFamily="34" charset="-122"/>
                <a:cs typeface="Amiri" pitchFamily="34" charset="-120"/>
              </a:rPr>
              <a:t>صَحِيحٌ 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That sleep is useless</a:t>
            </a:r>
            <a:endParaRPr lang="en-US" sz="1250" dirty="0"/>
          </a:p>
        </p:txBody>
      </p:sp>
      <p:sp>
        <p:nvSpPr>
          <p:cNvPr id="37" name="Shape 34"/>
          <p:cNvSpPr/>
          <p:nvPr/>
        </p:nvSpPr>
        <p:spPr>
          <a:xfrm>
            <a:off x="3412998" y="2825496"/>
            <a:ext cx="2498598"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3504438"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ea typeface="Calibri" pitchFamily="34" charset="-122"/>
                <a:cs typeface="Calibri" pitchFamily="34" charset="-120"/>
              </a:rPr>
              <a:t>That exercise is important</a:t>
            </a:r>
            <a:endParaRPr lang="en-US" sz="1200" dirty="0"/>
          </a:p>
        </p:txBody>
      </p:sp>
      <p:sp>
        <p:nvSpPr>
          <p:cNvPr id="41" name="Shape 38"/>
          <p:cNvSpPr/>
          <p:nvPr/>
        </p:nvSpPr>
        <p:spPr>
          <a:xfrm>
            <a:off x="3504438"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ea typeface="Calibri" pitchFamily="34" charset="-122"/>
                <a:cs typeface="Calibri" pitchFamily="34" charset="-120"/>
              </a:rPr>
              <a:t>That food does not matter</a:t>
            </a:r>
            <a:endParaRPr lang="en-US" sz="120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صَحِيحٌ أَنَّ الرِّيَاضَةَ مُهِمَّةٌ.</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expert then emphasise (</a:t>
            </a:r>
            <a:pPr algn="l" indent="0" marL="0">
              <a:buNone/>
            </a:pPr>
            <a:r>
              <a:rPr lang="ar-SA" altLang="en-US" sz="1650" b="1" dirty="0">
                <a:solidFill>
                  <a:srgbClr val="1B3B6F"/>
                </a:solidFill>
                <a:latin typeface="Amiri" pitchFamily="34" charset="0"/>
                <a:ea typeface="Amiri" pitchFamily="34" charset="-122"/>
                <a:cs typeface="Amiri" pitchFamily="34" charset="-120"/>
              </a:rPr>
              <a:t>غَيْرَ 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Exercise is the only thing that matters</a:t>
            </a:r>
            <a:endParaRPr lang="en-US" sz="1150" dirty="0"/>
          </a:p>
        </p:txBody>
      </p:sp>
      <p:sp>
        <p:nvSpPr>
          <p:cNvPr id="52" name="Shape 49"/>
          <p:cNvSpPr/>
          <p:nvPr/>
        </p:nvSpPr>
        <p:spPr>
          <a:xfrm>
            <a:off x="6277356" y="2825496"/>
            <a:ext cx="2498598"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368796"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Rest is no less important than exercise</a:t>
            </a:r>
            <a:endParaRPr lang="en-US" sz="1150" dirty="0"/>
          </a:p>
        </p:txBody>
      </p:sp>
      <p:sp>
        <p:nvSpPr>
          <p:cNvPr id="56" name="Shape 53"/>
          <p:cNvSpPr/>
          <p:nvPr/>
        </p:nvSpPr>
        <p:spPr>
          <a:xfrm>
            <a:off x="6368796"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Rest is unimportant</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غَيْرَ أَنَّ الرَّاحَةَ لَا تَقِلُّ أَهَمِّيَّةً عَنْهَا.</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Type 1 conditional claim?</a:t>
            </a:r>
            <a:endParaRPr lang="en-US" sz="1250" dirty="0"/>
          </a:p>
        </p:txBody>
      </p:sp>
      <p:sp>
        <p:nvSpPr>
          <p:cNvPr id="64" name="Shape 61"/>
          <p:cNvSpPr/>
          <p:nvPr/>
        </p:nvSpPr>
        <p:spPr>
          <a:xfrm>
            <a:off x="9233154" y="2490216"/>
            <a:ext cx="256032" cy="256032"/>
          </a:xfrm>
          <a:prstGeom prst="ellipse">
            <a:avLst/>
          </a:prstGeom>
          <a:solidFill>
            <a:srgbClr val="C9CED6"/>
          </a:solidFill>
          <a:ln w="12700">
            <a:solidFill>
              <a:srgbClr val="C9CED6"/>
            </a:solidFill>
            <a:prstDash val="solid"/>
          </a:ln>
        </p:spPr>
      </p:sp>
      <p:sp>
        <p:nvSpPr>
          <p:cNvPr id="65" name="Text 62"/>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Sleep harms focus</a:t>
            </a:r>
            <a:endParaRPr lang="en-US" sz="1250" dirty="0"/>
          </a:p>
        </p:txBody>
      </p:sp>
      <p:sp>
        <p:nvSpPr>
          <p:cNvPr id="67" name="Shape 64"/>
          <p:cNvSpPr/>
          <p:nvPr/>
        </p:nvSpPr>
        <p:spPr>
          <a:xfrm>
            <a:off x="9233154" y="2862072"/>
            <a:ext cx="256032" cy="256032"/>
          </a:xfrm>
          <a:prstGeom prst="ellipse">
            <a:avLst/>
          </a:prstGeom>
          <a:solidFill>
            <a:srgbClr val="C9CED6"/>
          </a:solidFill>
          <a:ln w="12700">
            <a:solidFill>
              <a:srgbClr val="C9CED6"/>
            </a:solidFill>
            <a:prstDash val="solid"/>
          </a:ln>
        </p:spPr>
      </p:sp>
      <p:sp>
        <p:nvSpPr>
          <p:cNvPr id="68" name="Text 65"/>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Focus cannot improve</a:t>
            </a:r>
            <a:endParaRPr lang="en-US" sz="1250" dirty="0"/>
          </a:p>
        </p:txBody>
      </p:sp>
      <p:sp>
        <p:nvSpPr>
          <p:cNvPr id="70" name="Shape 67"/>
          <p:cNvSpPr/>
          <p:nvPr/>
        </p:nvSpPr>
        <p:spPr>
          <a:xfrm>
            <a:off x="9141714" y="3197352"/>
            <a:ext cx="2498598"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9233154" y="3233928"/>
            <a:ext cx="256032" cy="256032"/>
          </a:xfrm>
          <a:prstGeom prst="ellipse">
            <a:avLst/>
          </a:prstGeom>
          <a:solidFill>
            <a:srgbClr val="2E8B57"/>
          </a:solidFill>
          <a:ln w="12700">
            <a:solidFill>
              <a:srgbClr val="2E8B57"/>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050" b="1" dirty="0">
                <a:solidFill>
                  <a:srgbClr val="1F2A37"/>
                </a:solidFill>
                <a:latin typeface="Calibri" pitchFamily="34" charset="0"/>
                <a:ea typeface="Calibri" pitchFamily="34" charset="-122"/>
                <a:cs typeface="Calibri" pitchFamily="34" charset="-120"/>
              </a:rPr>
              <a:t>If a person sleeps seven hours, their focus will improve</a:t>
            </a:r>
            <a:endParaRPr lang="en-US" sz="10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34" charset="0"/>
                <a:ea typeface="Amiri" pitchFamily="34" charset="-122"/>
                <a:cs typeface="Amiri" pitchFamily="34" charset="-120"/>
              </a:rPr>
              <a:t>إِذَا نَامَ الإِنْسَانُ سَبْعَ سَاعَاتٍ، سَيَتَحَسَّنُ تَرْكِيزُهُ.</a:t>
            </a:r>
            <a:endParaRPr lang="ar-SA" sz="11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Type 2 conditional claim?</a:t>
            </a:r>
            <a:endParaRPr lang="en-US" sz="1250" dirty="0"/>
          </a:p>
        </p:txBody>
      </p:sp>
      <p:sp>
        <p:nvSpPr>
          <p:cNvPr id="79" name="Shape 76"/>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640080"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000" b="1" dirty="0">
                <a:solidFill>
                  <a:srgbClr val="1F2A37"/>
                </a:solidFill>
                <a:latin typeface="Calibri" pitchFamily="34" charset="0"/>
                <a:ea typeface="Calibri" pitchFamily="34" charset="-122"/>
                <a:cs typeface="Calibri" pitchFamily="34" charset="-120"/>
              </a:rPr>
              <a:t>Had we cut screens at night, we would have slept more deeply</a:t>
            </a:r>
            <a:endParaRPr lang="en-US" sz="1000" dirty="0"/>
          </a:p>
        </p:txBody>
      </p:sp>
      <p:sp>
        <p:nvSpPr>
          <p:cNvPr id="83" name="Shape 80"/>
          <p:cNvSpPr/>
          <p:nvPr/>
        </p:nvSpPr>
        <p:spPr>
          <a:xfrm>
            <a:off x="640080"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Screens improve sleep</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Sleep depth cannot change</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100" dirty="0">
                <a:solidFill>
                  <a:srgbClr val="8A6D1E"/>
                </a:solidFill>
                <a:latin typeface="Amiri" pitchFamily="34" charset="0"/>
                <a:ea typeface="Amiri" pitchFamily="34" charset="-122"/>
                <a:cs typeface="Amiri" pitchFamily="34" charset="-120"/>
              </a:rPr>
              <a:t>لَوْ قَلَّلْنَا مِنَ الشَّاشَاتِ لَيْلًا، لَنِمْنَا بِعُمْقٍ أَكْبَرَ.</a:t>
            </a:r>
            <a:endParaRPr lang="ar-SA" sz="110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050" b="1" dirty="0">
                <a:solidFill>
                  <a:srgbClr val="1B3B6F"/>
                </a:solidFill>
                <a:latin typeface="Calibri" pitchFamily="34" charset="0"/>
                <a:ea typeface="Calibri" pitchFamily="34" charset="-122"/>
                <a:cs typeface="Calibri" pitchFamily="34" charset="-120"/>
              </a:rPr>
              <a:t>What does the necessity trigger recommend (</a:t>
            </a:r>
            <a:pPr algn="l" indent="0" marL="0">
              <a:buNone/>
            </a:pPr>
            <a:r>
              <a:rPr lang="ar-SA" altLang="en-US" sz="1350" b="1" dirty="0">
                <a:solidFill>
                  <a:srgbClr val="1B3B6F"/>
                </a:solidFill>
                <a:latin typeface="Amiri" pitchFamily="34" charset="0"/>
                <a:ea typeface="Amiri" pitchFamily="34" charset="-122"/>
                <a:cs typeface="Amiri" pitchFamily="34" charset="-120"/>
              </a:rPr>
              <a:t>يَنْبَغِي أَنْ</a:t>
            </a:r>
            <a:pPr algn="l" indent="0" marL="0">
              <a:buNone/>
            </a:pPr>
            <a:r>
              <a:rPr lang="en-US" sz="1050" b="1" dirty="0">
                <a:solidFill>
                  <a:srgbClr val="1B3B6F"/>
                </a:solidFill>
                <a:latin typeface="Calibri" pitchFamily="34" charset="0"/>
                <a:ea typeface="Calibri" pitchFamily="34" charset="-122"/>
                <a:cs typeface="Calibri" pitchFamily="34" charset="-120"/>
              </a:rPr>
              <a:t>)?</a:t>
            </a:r>
            <a:endParaRPr lang="en-US" sz="1050" dirty="0"/>
          </a:p>
        </p:txBody>
      </p:sp>
      <p:sp>
        <p:nvSpPr>
          <p:cNvPr id="94" name="Shape 91"/>
          <p:cNvSpPr/>
          <p:nvPr/>
        </p:nvSpPr>
        <p:spPr>
          <a:xfrm>
            <a:off x="350443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6" name="Text 93"/>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Skipping meals</a:t>
            </a:r>
            <a:endParaRPr lang="en-US" sz="1250" dirty="0"/>
          </a:p>
        </p:txBody>
      </p:sp>
      <p:sp>
        <p:nvSpPr>
          <p:cNvPr id="97" name="Shape 94"/>
          <p:cNvSpPr/>
          <p:nvPr/>
        </p:nvSpPr>
        <p:spPr>
          <a:xfrm>
            <a:off x="3412998" y="5166360"/>
            <a:ext cx="2498598" cy="347472"/>
          </a:xfrm>
          <a:prstGeom prst="roundRect">
            <a:avLst>
              <a:gd name="adj" fmla="val 15789"/>
            </a:avLst>
          </a:prstGeom>
          <a:solidFill>
            <a:srgbClr val="E6F4EC"/>
          </a:solidFill>
          <a:ln w="9525">
            <a:solidFill>
              <a:srgbClr val="2E8B57"/>
            </a:solidFill>
            <a:prstDash val="solid"/>
          </a:ln>
        </p:spPr>
      </p:sp>
      <p:sp>
        <p:nvSpPr>
          <p:cNvPr id="98" name="Shape 95"/>
          <p:cNvSpPr/>
          <p:nvPr/>
        </p:nvSpPr>
        <p:spPr>
          <a:xfrm>
            <a:off x="3504438" y="5202936"/>
            <a:ext cx="256032" cy="256032"/>
          </a:xfrm>
          <a:prstGeom prst="ellipse">
            <a:avLst/>
          </a:prstGeom>
          <a:solidFill>
            <a:srgbClr val="2E8B57"/>
          </a:solidFill>
          <a:ln w="12700">
            <a:solidFill>
              <a:srgbClr val="2E8B57"/>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ea typeface="Calibri" pitchFamily="34" charset="-122"/>
                <a:cs typeface="Calibri" pitchFamily="34" charset="-120"/>
              </a:rPr>
              <a:t>Maintaining a balanced diet</a:t>
            </a:r>
            <a:endParaRPr lang="en-US" sz="120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Eating only at night</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يَنْبَغِي أَنْ نَحْرِصَ عَلَى غِذَاءٍ مُتَوَازِنٍ.</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313932" y="4288536"/>
            <a:ext cx="310896" cy="310896"/>
          </a:xfrm>
          <a:prstGeom prst="ellipse">
            <a:avLst/>
          </a:prstGeom>
          <a:solidFill>
            <a:srgbClr val="1B3B6F"/>
          </a:solidFill>
          <a:ln w="12700">
            <a:solidFill>
              <a:srgbClr val="1B3B6F"/>
            </a:solidFill>
            <a:prstDash val="solid"/>
          </a:ln>
        </p:spPr>
      </p:sp>
      <p:sp>
        <p:nvSpPr>
          <p:cNvPr id="107" name="Text 10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108" name="Text 105"/>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did the expert report about chronic stress?</a:t>
            </a:r>
            <a:endParaRPr lang="en-US" sz="1250" dirty="0"/>
          </a:p>
        </p:txBody>
      </p:sp>
      <p:sp>
        <p:nvSpPr>
          <p:cNvPr id="109" name="Shape 106"/>
          <p:cNvSpPr/>
          <p:nvPr/>
        </p:nvSpPr>
        <p:spPr>
          <a:xfrm>
            <a:off x="6277356" y="4794504"/>
            <a:ext cx="2498598" cy="347472"/>
          </a:xfrm>
          <a:prstGeom prst="roundRect">
            <a:avLst>
              <a:gd name="adj" fmla="val 15789"/>
            </a:avLst>
          </a:prstGeom>
          <a:solidFill>
            <a:srgbClr val="E6F4EC"/>
          </a:solidFill>
          <a:ln w="9525">
            <a:solidFill>
              <a:srgbClr val="2E8B57"/>
            </a:solidFill>
            <a:prstDash val="solid"/>
          </a:ln>
        </p:spPr>
      </p:sp>
      <p:sp>
        <p:nvSpPr>
          <p:cNvPr id="110" name="Shape 107"/>
          <p:cNvSpPr/>
          <p:nvPr/>
        </p:nvSpPr>
        <p:spPr>
          <a:xfrm>
            <a:off x="6368796" y="4831080"/>
            <a:ext cx="256032" cy="256032"/>
          </a:xfrm>
          <a:prstGeom prst="ellipse">
            <a:avLst/>
          </a:prstGeom>
          <a:solidFill>
            <a:srgbClr val="2E8B57"/>
          </a:solidFill>
          <a:ln w="12700">
            <a:solidFill>
              <a:srgbClr val="2E8B57"/>
            </a:solidFill>
            <a:prstDash val="solid"/>
          </a:ln>
        </p:spPr>
      </p:sp>
      <p:sp>
        <p:nvSpPr>
          <p:cNvPr id="111" name="Text 108"/>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12" name="Text 109"/>
          <p:cNvSpPr txBox="1"/>
          <p:nvPr/>
        </p:nvSpPr>
        <p:spPr>
          <a:xfrm>
            <a:off x="6697980"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It weakens immunity</a:t>
            </a:r>
            <a:endParaRPr lang="en-US" sz="1250" dirty="0"/>
          </a:p>
        </p:txBody>
      </p:sp>
      <p:sp>
        <p:nvSpPr>
          <p:cNvPr id="113" name="Shape 110"/>
          <p:cNvSpPr/>
          <p:nvPr/>
        </p:nvSpPr>
        <p:spPr>
          <a:xfrm>
            <a:off x="6368796" y="5202936"/>
            <a:ext cx="256032" cy="256032"/>
          </a:xfrm>
          <a:prstGeom prst="ellipse">
            <a:avLst/>
          </a:prstGeom>
          <a:solidFill>
            <a:srgbClr val="C9CED6"/>
          </a:solidFill>
          <a:ln w="12700">
            <a:solidFill>
              <a:srgbClr val="C9CED6"/>
            </a:solidFill>
            <a:prstDash val="solid"/>
          </a:ln>
        </p:spPr>
      </p:sp>
      <p:sp>
        <p:nvSpPr>
          <p:cNvPr id="114" name="Text 111"/>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15" name="Text 112"/>
          <p:cNvSpPr txBox="1"/>
          <p:nvPr/>
        </p:nvSpPr>
        <p:spPr>
          <a:xfrm>
            <a:off x="6697980"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strengthens immunity</a:t>
            </a:r>
            <a:endParaRPr lang="en-US" sz="1250" dirty="0"/>
          </a:p>
        </p:txBody>
      </p:sp>
      <p:sp>
        <p:nvSpPr>
          <p:cNvPr id="116" name="Shape 113"/>
          <p:cNvSpPr/>
          <p:nvPr/>
        </p:nvSpPr>
        <p:spPr>
          <a:xfrm>
            <a:off x="6368796" y="5574792"/>
            <a:ext cx="256032" cy="256032"/>
          </a:xfrm>
          <a:prstGeom prst="ellipse">
            <a:avLst/>
          </a:prstGeom>
          <a:solidFill>
            <a:srgbClr val="C9CED6"/>
          </a:solidFill>
          <a:ln w="12700">
            <a:solidFill>
              <a:srgbClr val="C9CED6"/>
            </a:solidFill>
            <a:prstDash val="solid"/>
          </a:ln>
        </p:spPr>
      </p:sp>
      <p:sp>
        <p:nvSpPr>
          <p:cNvPr id="117" name="Text 114"/>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18" name="Text 115"/>
          <p:cNvSpPr txBox="1"/>
          <p:nvPr/>
        </p:nvSpPr>
        <p:spPr>
          <a:xfrm>
            <a:off x="6697980"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has no effect</a:t>
            </a:r>
            <a:endParaRPr lang="en-US" sz="1250" dirty="0"/>
          </a:p>
        </p:txBody>
      </p:sp>
      <p:sp>
        <p:nvSpPr>
          <p:cNvPr id="119" name="Text 116"/>
          <p:cNvSpPr txBox="1"/>
          <p:nvPr/>
        </p:nvSpPr>
        <p:spPr>
          <a:xfrm>
            <a:off x="6313932" y="5907024"/>
            <a:ext cx="2425446"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34" charset="0"/>
                <a:ea typeface="Amiri" pitchFamily="34" charset="-122"/>
                <a:cs typeface="Amiri" pitchFamily="34" charset="-120"/>
              </a:rPr>
              <a:t>أَكَّدَ الخَبِيرُ أَنَّ التَّوَتُّرَ المُزْمِنَ يُضْعِفُ المَنَاعَةَ.</a:t>
            </a:r>
            <a:endParaRPr lang="ar-SA" sz="1150" dirty="0"/>
          </a:p>
        </p:txBody>
      </p:sp>
      <p:sp>
        <p:nvSpPr>
          <p:cNvPr id="120" name="Shape 117"/>
          <p:cNvSpPr/>
          <p:nvPr/>
        </p:nvSpPr>
        <p:spPr>
          <a:xfrm>
            <a:off x="9050274"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21" name="Shape 118"/>
          <p:cNvSpPr/>
          <p:nvPr/>
        </p:nvSpPr>
        <p:spPr>
          <a:xfrm>
            <a:off x="9178290" y="4288536"/>
            <a:ext cx="310896" cy="310896"/>
          </a:xfrm>
          <a:prstGeom prst="ellipse">
            <a:avLst/>
          </a:prstGeom>
          <a:solidFill>
            <a:srgbClr val="1B3B6F"/>
          </a:solidFill>
          <a:ln w="12700">
            <a:solidFill>
              <a:srgbClr val="1B3B6F"/>
            </a:solidFill>
            <a:prstDash val="solid"/>
          </a:ln>
        </p:spPr>
      </p:sp>
      <p:sp>
        <p:nvSpPr>
          <p:cNvPr id="122" name="Text 119"/>
          <p:cNvSpPr txBox="1"/>
          <p:nvPr/>
        </p:nvSpPr>
        <p:spPr>
          <a:xfrm>
            <a:off x="917829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123" name="Text 120"/>
          <p:cNvSpPr txBox="1"/>
          <p:nvPr/>
        </p:nvSpPr>
        <p:spPr>
          <a:xfrm>
            <a:off x="9544050"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Overall, is the expert's view balanced?</a:t>
            </a:r>
            <a:endParaRPr lang="en-US" sz="1250" dirty="0"/>
          </a:p>
        </p:txBody>
      </p:sp>
      <p:sp>
        <p:nvSpPr>
          <p:cNvPr id="124" name="Shape 121"/>
          <p:cNvSpPr/>
          <p:nvPr/>
        </p:nvSpPr>
        <p:spPr>
          <a:xfrm>
            <a:off x="9233154" y="4831080"/>
            <a:ext cx="256032" cy="256032"/>
          </a:xfrm>
          <a:prstGeom prst="ellipse">
            <a:avLst/>
          </a:prstGeom>
          <a:solidFill>
            <a:srgbClr val="C9CED6"/>
          </a:solidFill>
          <a:ln w="12700">
            <a:solidFill>
              <a:srgbClr val="C9CED6"/>
            </a:solidFill>
            <a:prstDash val="solid"/>
          </a:ln>
        </p:spPr>
      </p:sp>
      <p:sp>
        <p:nvSpPr>
          <p:cNvPr id="125" name="Text 122"/>
          <p:cNvSpPr txBox="1"/>
          <p:nvPr/>
        </p:nvSpPr>
        <p:spPr>
          <a:xfrm>
            <a:off x="923315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126" name="Text 123"/>
          <p:cNvSpPr txBox="1"/>
          <p:nvPr/>
        </p:nvSpPr>
        <p:spPr>
          <a:xfrm>
            <a:off x="9562338"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 — it is one-sided</a:t>
            </a:r>
            <a:endParaRPr lang="en-US" sz="1250" dirty="0"/>
          </a:p>
        </p:txBody>
      </p:sp>
      <p:sp>
        <p:nvSpPr>
          <p:cNvPr id="127" name="Shape 124"/>
          <p:cNvSpPr/>
          <p:nvPr/>
        </p:nvSpPr>
        <p:spPr>
          <a:xfrm>
            <a:off x="9233154" y="5202936"/>
            <a:ext cx="256032" cy="256032"/>
          </a:xfrm>
          <a:prstGeom prst="ellipse">
            <a:avLst/>
          </a:prstGeom>
          <a:solidFill>
            <a:srgbClr val="C9CED6"/>
          </a:solidFill>
          <a:ln w="12700">
            <a:solidFill>
              <a:srgbClr val="C9CED6"/>
            </a:solidFill>
            <a:prstDash val="solid"/>
          </a:ln>
        </p:spPr>
      </p:sp>
      <p:sp>
        <p:nvSpPr>
          <p:cNvPr id="128" name="Text 125"/>
          <p:cNvSpPr txBox="1"/>
          <p:nvPr/>
        </p:nvSpPr>
        <p:spPr>
          <a:xfrm>
            <a:off x="923315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29" name="Text 126"/>
          <p:cNvSpPr txBox="1"/>
          <p:nvPr/>
        </p:nvSpPr>
        <p:spPr>
          <a:xfrm>
            <a:off x="9562338"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There is no view</a:t>
            </a:r>
            <a:endParaRPr lang="en-US" sz="1250" dirty="0"/>
          </a:p>
        </p:txBody>
      </p:sp>
      <p:sp>
        <p:nvSpPr>
          <p:cNvPr id="130" name="Shape 127"/>
          <p:cNvSpPr/>
          <p:nvPr/>
        </p:nvSpPr>
        <p:spPr>
          <a:xfrm>
            <a:off x="9141714" y="5538216"/>
            <a:ext cx="2498598" cy="347472"/>
          </a:xfrm>
          <a:prstGeom prst="roundRect">
            <a:avLst>
              <a:gd name="adj" fmla="val 15789"/>
            </a:avLst>
          </a:prstGeom>
          <a:solidFill>
            <a:srgbClr val="E6F4EC"/>
          </a:solidFill>
          <a:ln w="9525">
            <a:solidFill>
              <a:srgbClr val="2E8B57"/>
            </a:solidFill>
            <a:prstDash val="solid"/>
          </a:ln>
        </p:spPr>
      </p:sp>
      <p:sp>
        <p:nvSpPr>
          <p:cNvPr id="131" name="Shape 128"/>
          <p:cNvSpPr/>
          <p:nvPr/>
        </p:nvSpPr>
        <p:spPr>
          <a:xfrm>
            <a:off x="9233154" y="5574792"/>
            <a:ext cx="256032" cy="256032"/>
          </a:xfrm>
          <a:prstGeom prst="ellipse">
            <a:avLst/>
          </a:prstGeom>
          <a:solidFill>
            <a:srgbClr val="2E8B57"/>
          </a:solidFill>
          <a:ln w="12700">
            <a:solidFill>
              <a:srgbClr val="2E8B57"/>
            </a:solidFill>
            <a:prstDash val="solid"/>
          </a:ln>
        </p:spPr>
      </p:sp>
      <p:sp>
        <p:nvSpPr>
          <p:cNvPr id="132" name="Text 129"/>
          <p:cNvSpPr txBox="1"/>
          <p:nvPr/>
        </p:nvSpPr>
        <p:spPr>
          <a:xfrm>
            <a:off x="923315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133" name="Text 130"/>
          <p:cNvSpPr txBox="1"/>
          <p:nvPr/>
        </p:nvSpPr>
        <p:spPr>
          <a:xfrm>
            <a:off x="9562338"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Yes — it concedes then qualifies</a:t>
            </a:r>
            <a:endParaRPr lang="en-US" sz="1150" dirty="0"/>
          </a:p>
        </p:txBody>
      </p:sp>
      <p:sp>
        <p:nvSpPr>
          <p:cNvPr id="134" name="Text 131"/>
          <p:cNvSpPr txBox="1"/>
          <p:nvPr/>
        </p:nvSpPr>
        <p:spPr>
          <a:xfrm>
            <a:off x="9178290" y="5907024"/>
            <a:ext cx="2425446" cy="365760"/>
          </a:xfrm>
          <a:prstGeom prst="rect">
            <a:avLst/>
          </a:prstGeom>
          <a:noFill/>
          <a:ln/>
        </p:spPr>
        <p:txBody>
          <a:bodyPr wrap="square" lIns="0" tIns="0" rIns="0" bIns="0" rtlCol="0" anchor="ctr"/>
          <a:lstStyle/>
          <a:p>
            <a:pPr algn="l" indent="0" marL="0">
              <a:buNone/>
            </a:pPr>
            <a:r>
              <a:rPr lang="en-US" sz="850" i="1" dirty="0">
                <a:solidFill>
                  <a:srgbClr val="8A6D1E"/>
                </a:solidFill>
                <a:latin typeface="Calibri" pitchFamily="34" charset="0"/>
                <a:ea typeface="Calibri" pitchFamily="34" charset="-122"/>
                <a:cs typeface="Calibri" pitchFamily="34" charset="-120"/>
              </a:rPr>
              <a:t>The speaker concedes (</a:t>
            </a:r>
            <a:pPr algn="l" indent="0" marL="0">
              <a:buNone/>
            </a:pPr>
            <a:r>
              <a:rPr lang="ar-SA" altLang="en-US" sz="1100" dirty="0">
                <a:solidFill>
                  <a:srgbClr val="8A6D1E"/>
                </a:solidFill>
                <a:latin typeface="Amiri" pitchFamily="34" charset="0"/>
                <a:ea typeface="Amiri" pitchFamily="34" charset="-122"/>
                <a:cs typeface="Amiri" pitchFamily="34" charset="-120"/>
              </a:rPr>
              <a:t>صَحِيحٌ أَنَّ</a:t>
            </a:r>
            <a:pPr algn="l" indent="0" marL="0">
              <a:buNone/>
            </a:pPr>
            <a:r>
              <a:rPr lang="en-US" sz="850" i="1" dirty="0">
                <a:solidFill>
                  <a:srgbClr val="8A6D1E"/>
                </a:solidFill>
                <a:latin typeface="Calibri" pitchFamily="34" charset="0"/>
                <a:ea typeface="Calibri" pitchFamily="34" charset="-122"/>
                <a:cs typeface="Calibri" pitchFamily="34" charset="-120"/>
              </a:rPr>
              <a:t>) then qualifies (</a:t>
            </a:r>
            <a:pPr algn="l" indent="0" marL="0">
              <a:buNone/>
            </a:pPr>
            <a:r>
              <a:rPr lang="ar-SA" altLang="en-US" sz="1100" dirty="0">
                <a:solidFill>
                  <a:srgbClr val="8A6D1E"/>
                </a:solidFill>
                <a:latin typeface="Amiri" pitchFamily="34" charset="0"/>
                <a:ea typeface="Amiri" pitchFamily="34" charset="-122"/>
                <a:cs typeface="Amiri" pitchFamily="34" charset="-120"/>
              </a:rPr>
              <a:t>غَيْرَ أَنَّ</a:t>
            </a:r>
            <a:pPr algn="l" indent="0" marL="0">
              <a:buNone/>
            </a:pPr>
            <a:r>
              <a:rPr lang="en-US" sz="850" i="1" dirty="0">
                <a:solidFill>
                  <a:srgbClr val="8A6D1E"/>
                </a:solidFill>
                <a:latin typeface="Calibri" pitchFamily="34" charset="0"/>
                <a:ea typeface="Calibri" pitchFamily="34" charset="-122"/>
                <a:cs typeface="Calibri" pitchFamily="34" charset="-120"/>
              </a:rPr>
              <a:t>), so the view is balanced.</a:t>
            </a:r>
            <a:endParaRPr lang="en-US" sz="850" dirty="0"/>
          </a:p>
        </p:txBody>
      </p:sp>
      <p:sp>
        <p:nvSpPr>
          <p:cNvPr id="135" name="Text 1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27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LISTENING · TEXT 2 — MATCHING: WHO SAYS IT? (6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Match each statement to the speaker</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says studying abroad broadens horizons?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Karim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Salma</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Both</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concedes it is costly but worth it (</a:t>
            </a:r>
            <a:pPr algn="l" indent="0" marL="0">
              <a:buNone/>
            </a:pPr>
            <a:r>
              <a:rPr lang="ar-SA" altLang="en-US" sz="1650" b="1" dirty="0">
                <a:solidFill>
                  <a:srgbClr val="1B3B6F"/>
                </a:solidFill>
                <a:latin typeface="Amiri" pitchFamily="34" charset="0"/>
                <a:ea typeface="Amiri" pitchFamily="34" charset="-122"/>
                <a:cs typeface="Amiri" pitchFamily="34" charset="-120"/>
              </a:rPr>
              <a:t>صَحِيحٌ أَنَّ … غَيْرَ 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Salma</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Both</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Karim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makes the Type 2 conditional about a new language?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Salma</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Karim</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Both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says one ought to budget early (</a:t>
            </a:r>
            <a:pPr algn="l" indent="0" marL="0">
              <a:buNone/>
            </a:pPr>
            <a:r>
              <a:rPr lang="ar-SA" altLang="en-US" sz="1650" b="1" dirty="0">
                <a:solidFill>
                  <a:srgbClr val="1B3B6F"/>
                </a:solidFill>
                <a:latin typeface="Amiri" pitchFamily="34" charset="0"/>
                <a:ea typeface="Amiri" pitchFamily="34" charset="-122"/>
                <a:cs typeface="Amiri" pitchFamily="34" charset="-120"/>
              </a:rPr>
              <a:t>يَنْبَغِي 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Salma</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Karim</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Both</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reports that scholarships ease the burden?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Salma</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Karim</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Both</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makes the Type 1 conditional about a scholarship?</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Salma</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Both</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Karim</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27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LISTENING · READ ALONG WITH ENGLISH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34" charset="0"/>
                <a:ea typeface="Amiri" pitchFamily="34" charset="-122"/>
                <a:cs typeface="Amiri" pitchFamily="34" charset="-120"/>
              </a:rPr>
              <a:t>سَلْمَى: أَرَى أَنَّ الدِّرَاسَةَ فِي الخَارِجِ تُوَسِّعُ الآفَاقَ. كَرِيمٌ: صَحِيحٌ أَنَّهَا مُكْلِفَةٌ، غَيْرَ أَنَّ العَائِدَ يَسْتَحِقُّ.</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Salma: I think studying abroad broadens horizons. Karim: True, it is expensive; however, the return is worth it.</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34" charset="0"/>
                <a:ea typeface="Amiri" pitchFamily="34" charset="-122"/>
                <a:cs typeface="Amiri" pitchFamily="34" charset="-120"/>
              </a:rPr>
              <a:t>سَلْمَى: وَلَوْ تَعَلَّمْتُ لُغَةً جَدِيدَةً، لَانْفَتَحَتْ أَمَامِي فُرَصٌ أَكْثَرُ. كَرِيمٌ: وَيَنْبَغِي أَنْ نُخَطِّطَ لِلْمِيزَانِيَّةِ مُبَكِّرًا.</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Salma: If I learned a new language, more opportunities would open up for me. Karim: We should plan the budget early.</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34" charset="0"/>
                <a:ea typeface="Amiri" pitchFamily="34" charset="-122"/>
                <a:cs typeface="Amiri" pitchFamily="34" charset="-120"/>
              </a:rPr>
              <a:t>سَلْمَى: وَأَكَّدَ مُسْتَشَارِي أَنَّ المِنَحَ تُخَفِّفُ العِبْءَ. كَرِيمٌ: وَإِذَا حَصَلْتُ عَلَى مِنْحَةٍ، سَأُسَافِرُ العَامَ القَادِمَ.</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Salma: My adviser confirmed that scholarships ease the burden. Karim: If I get a scholarship, I will travel next year.</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27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LISTENING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ea typeface="Cambria" pitchFamily="34" charset="-122"/>
                <a:cs typeface="Cambria" pitchFamily="34" charset="-120"/>
              </a:rPr>
              <a:t>Two students on studying abroad: answers</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says studying abroad broadens horizons?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Karim</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Salma</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Both</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سَلْمَى: أَرَى أَنَّ الدِّرَاسَةَ فِي الخَارِجِ تُوَسِّعُ الآفَاقَ.</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concedes it is costly but worth it (</a:t>
            </a:r>
            <a:pPr algn="l" indent="0" marL="0">
              <a:buNone/>
            </a:pPr>
            <a:r>
              <a:rPr lang="ar-SA" altLang="en-US" sz="1650" b="1" dirty="0">
                <a:solidFill>
                  <a:srgbClr val="1B3B6F"/>
                </a:solidFill>
                <a:latin typeface="Amiri" pitchFamily="34" charset="0"/>
                <a:ea typeface="Amiri" pitchFamily="34" charset="-122"/>
                <a:cs typeface="Amiri" pitchFamily="34" charset="-120"/>
              </a:rPr>
              <a:t>صَحِيحٌ أَنَّ … غَيْرَ 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Salma</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Both</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Karim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كَرِيمٌ: صَحِيحٌ أَنَّهَا مُكْلِفَةٌ، غَيْرَ أَنَّ العَائِدَ يَسْتَحِقُّ.</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makes the Type 2 conditional about a new language?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Salma</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Karim</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Both</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سَلْمَى: لَوْ تَعَلَّمْتُ لُغَةً جَدِيدَةً، لَانْفَتَحَتْ أَمَامِي فُرَصٌ.</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says one ought to budget early (</a:t>
            </a:r>
            <a:pPr algn="l" indent="0" marL="0">
              <a:buNone/>
            </a:pPr>
            <a:r>
              <a:rPr lang="ar-SA" altLang="en-US" sz="1650" b="1" dirty="0">
                <a:solidFill>
                  <a:srgbClr val="1B3B6F"/>
                </a:solidFill>
                <a:latin typeface="Amiri" pitchFamily="34" charset="0"/>
                <a:ea typeface="Amiri" pitchFamily="34" charset="-122"/>
                <a:cs typeface="Amiri" pitchFamily="34" charset="-120"/>
              </a:rPr>
              <a:t>يَنْبَغِي 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Salma</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Karim</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Both</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كَرِيمٌ: يَنْبَغِي أَنْ نُخَطِّطَ لِلْمِيزَانِيَّةِ مُبَكِّرًا.</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reports that scholarships ease the burden?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Salma</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Karim</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Both</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سَلْمَى: أَكَّدَ مُسْتَشَارِي أَنَّ المِنَحَ تُخَفِّفُ العِبْءَ.</a:t>
            </a:r>
            <a:endParaRPr lang="ar-SA" sz="13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makes the Type 1 conditional about a scholarship?</a:t>
            </a:r>
            <a:endParaRPr lang="en-US" sz="1250" dirty="0"/>
          </a:p>
        </p:txBody>
      </p:sp>
      <p:sp>
        <p:nvSpPr>
          <p:cNvPr id="94" name="Shape 91"/>
          <p:cNvSpPr/>
          <p:nvPr/>
        </p:nvSpPr>
        <p:spPr>
          <a:xfrm>
            <a:off x="827836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6" name="Text 93"/>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Salma</a:t>
            </a:r>
            <a:endParaRPr lang="en-US" sz="1250" dirty="0"/>
          </a:p>
        </p:txBody>
      </p:sp>
      <p:sp>
        <p:nvSpPr>
          <p:cNvPr id="97" name="Shape 94"/>
          <p:cNvSpPr/>
          <p:nvPr/>
        </p:nvSpPr>
        <p:spPr>
          <a:xfrm>
            <a:off x="8278368" y="5202936"/>
            <a:ext cx="256032" cy="256032"/>
          </a:xfrm>
          <a:prstGeom prst="ellipse">
            <a:avLst/>
          </a:prstGeom>
          <a:solidFill>
            <a:srgbClr val="C9CED6"/>
          </a:solidFill>
          <a:ln w="12700">
            <a:solidFill>
              <a:srgbClr val="C9CED6"/>
            </a:solidFill>
            <a:prstDash val="solid"/>
          </a:ln>
        </p:spPr>
      </p:sp>
      <p:sp>
        <p:nvSpPr>
          <p:cNvPr id="98" name="Text 95"/>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9" name="Text 96"/>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Both</a:t>
            </a:r>
            <a:endParaRPr lang="en-US" sz="1250" dirty="0"/>
          </a:p>
        </p:txBody>
      </p:sp>
      <p:sp>
        <p:nvSpPr>
          <p:cNvPr id="100" name="Shape 97"/>
          <p:cNvSpPr/>
          <p:nvPr/>
        </p:nvSpPr>
        <p:spPr>
          <a:xfrm>
            <a:off x="8186928" y="5538216"/>
            <a:ext cx="3453384" cy="347472"/>
          </a:xfrm>
          <a:prstGeom prst="roundRect">
            <a:avLst>
              <a:gd name="adj" fmla="val 15789"/>
            </a:avLst>
          </a:prstGeom>
          <a:solidFill>
            <a:srgbClr val="E6F4EC"/>
          </a:solidFill>
          <a:ln w="9525">
            <a:solidFill>
              <a:srgbClr val="2E8B57"/>
            </a:solidFill>
            <a:prstDash val="solid"/>
          </a:ln>
        </p:spPr>
      </p:sp>
      <p:sp>
        <p:nvSpPr>
          <p:cNvPr id="101" name="Shape 98"/>
          <p:cNvSpPr/>
          <p:nvPr/>
        </p:nvSpPr>
        <p:spPr>
          <a:xfrm>
            <a:off x="8278368" y="5574792"/>
            <a:ext cx="256032" cy="256032"/>
          </a:xfrm>
          <a:prstGeom prst="ellipse">
            <a:avLst/>
          </a:prstGeom>
          <a:solidFill>
            <a:srgbClr val="2E8B57"/>
          </a:solidFill>
          <a:ln w="12700">
            <a:solidFill>
              <a:srgbClr val="2E8B57"/>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Karim</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كَرِيمٌ: إِذَا حَصَلْتُ عَلَى مِنْحَةٍ، سَأُسَافِرُ العَامَ القَادِمَ.</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27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LISTENING · TEXT 3 — SELECT THE SUPPORTED STATEMENTS (6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ea typeface="Cambria" pitchFamily="34" charset="-122"/>
                <a:cs typeface="Cambria" pitchFamily="34" charset="-120"/>
              </a:rPr>
              <a:t>Choose the statement the text supports</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supported (past perfect)?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city had suffered from pollution for years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city was always clean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Pollution started this year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supported (necessity trigger)?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Clean transport is unnecessary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matter requires investing in clean transport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Transport should be reduced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supported (purpose, </a:t>
            </a:r>
            <a:pPr algn="l" indent="0" marL="0">
              <a:buNone/>
            </a:pPr>
            <a:r>
              <a:rPr lang="ar-SA" altLang="en-US" sz="1650" b="1" dirty="0">
                <a:solidFill>
                  <a:srgbClr val="1B3B6F"/>
                </a:solidFill>
                <a:latin typeface="Amiri" pitchFamily="34" charset="0"/>
                <a:ea typeface="Amiri" pitchFamily="34" charset="-122"/>
                <a:cs typeface="Amiri" pitchFamily="34" charset="-120"/>
              </a:rPr>
              <a:t>لِكَيْ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new parks were designed to purify the air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parks were built to attract traffic</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parks have no purpose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supported (Type 1 conditional)?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Solar power raises emissions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Emissions cannot fall</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If they rely on solar power, emissions will fall</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supported (hope, </a:t>
            </a:r>
            <a:pPr algn="l" indent="0" marL="0">
              <a:buNone/>
            </a:pPr>
            <a:r>
              <a:rPr lang="ar-SA" altLang="en-US" sz="1650" b="1" dirty="0">
                <a:solidFill>
                  <a:srgbClr val="1B3B6F"/>
                </a:solidFill>
                <a:latin typeface="Amiri" pitchFamily="34" charset="0"/>
                <a:ea typeface="Amiri" pitchFamily="34" charset="-122"/>
                <a:cs typeface="Amiri" pitchFamily="34" charset="-120"/>
              </a:rPr>
              <a:t>يَرْجُو</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planner wants the city to fail</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planner has no hopes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planner hopes the city becomes a model</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overall register of the text?</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Formal, academic planning language</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Casual conversation</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personal diary</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27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LISTENING · READ ALONG WITH ENGLISH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34" charset="0"/>
                <a:ea typeface="Amiri" pitchFamily="34" charset="-122"/>
                <a:cs typeface="Amiri" pitchFamily="34" charset="-120"/>
              </a:rPr>
              <a:t>يَقُولُ المُخَطِّطُ: كَانَتِ المَدِينَةُ قَدْ عَانَتْ مِنَ التَّلَوُّثِ لِسَنَوَاتٍ. وَاليَوْمَ يَتَطَلَّبُ الأَمْرُ أَنْ نَسْتَثْمِرَ فِي النَّقْلِ النَّظِيفِ.</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planner says: the city had suffered from pollution for years. Today the matter requires us to invest in clean transport.</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34" charset="0"/>
                <a:ea typeface="Amiri" pitchFamily="34" charset="-122"/>
                <a:cs typeface="Amiri" pitchFamily="34" charset="-120"/>
              </a:rPr>
              <a:t>صُمِّمَتِ الحَدَائِقُ الجَدِيدَةُ لِكَيْ تُنَقِّيَ الهَوَاءَ. وَإِذَا اعْتَمَدْنَا عَلَى الطَّاقَةِ الشَّمْسِيَّةِ، سَتَنْخَفِضُ الانْبِعَاثَاتُ.</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new parks were designed to purify the air. If we rely on solar energy, emissions will fall.</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وَيَرْجُو المُخَطِّطُ أَنْ تُصْبِحَ المَدِينَةُ نَمُوذَجًا يُحْتَذَى.</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planner hopes that the city will become a model to follow.</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27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LISTENING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A planner on a green city: answers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supported (past perfect)?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 city had suffered from pollution for years</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city was always clean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Pollution started this year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كَانَتِ المَدِينَةُ قَدْ عَانَتْ مِنَ التَّلَوُّثِ لِسَنَوَاتٍ.</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supported (necessity trigger)?</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Clean transport is unnecessary</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 matter requires investing in clean transport</a:t>
            </a:r>
            <a:endParaRPr lang="en-US" sz="11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Transport should be reduced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يَتَطَلَّبُ الأَمْرُ أَنْ نَسْتَثْمِرَ فِي النَّقْلِ النَّظِيفِ.</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supported (purpose, </a:t>
            </a:r>
            <a:pPr algn="l" indent="0" marL="0">
              <a:buNone/>
            </a:pPr>
            <a:r>
              <a:rPr lang="ar-SA" altLang="en-US" sz="1650" b="1" dirty="0">
                <a:solidFill>
                  <a:srgbClr val="1B3B6F"/>
                </a:solidFill>
                <a:latin typeface="Amiri" pitchFamily="34" charset="0"/>
                <a:ea typeface="Amiri" pitchFamily="34" charset="-122"/>
                <a:cs typeface="Amiri" pitchFamily="34" charset="-120"/>
              </a:rPr>
              <a:t>لِكَيْ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 new parks were designed to purify the air</a:t>
            </a:r>
            <a:endParaRPr lang="en-US" sz="11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ea typeface="Calibri" pitchFamily="34" charset="-122"/>
                <a:cs typeface="Calibri" pitchFamily="34" charset="-120"/>
              </a:rPr>
              <a:t>The parks were built to attract traffic</a:t>
            </a:r>
            <a:endParaRPr lang="en-US" sz="12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parks have no purpose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صُمِّمَتِ الحَدَائِقُ الجَدِيدَةُ لِكَيْ تُنَقِّيَ الهَوَاءَ.</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supported (Type 1 conditional)?</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Solar power raises emissions</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Emissions cannot fall</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If they rely on solar power, emissions will fall</a:t>
            </a:r>
            <a:endParaRPr lang="en-US" sz="11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34" charset="0"/>
                <a:ea typeface="Amiri" pitchFamily="34" charset="-122"/>
                <a:cs typeface="Amiri" pitchFamily="34" charset="-120"/>
              </a:rPr>
              <a:t>إِذَا اعْتَمَدْنَا عَلَى الطَّاقَةِ الشَّمْسِيَّةِ، سَتَنْخَفِضُ الانْبِعَاثَاتُ.</a:t>
            </a:r>
            <a:endParaRPr lang="ar-SA" sz="130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supported (hope, </a:t>
            </a:r>
            <a:pPr algn="l" indent="0" marL="0">
              <a:buNone/>
            </a:pPr>
            <a:r>
              <a:rPr lang="ar-SA" altLang="en-US" sz="1650" b="1" dirty="0">
                <a:solidFill>
                  <a:srgbClr val="1B3B6F"/>
                </a:solidFill>
                <a:latin typeface="Amiri" pitchFamily="34" charset="0"/>
                <a:ea typeface="Amiri" pitchFamily="34" charset="-122"/>
                <a:cs typeface="Amiri" pitchFamily="34" charset="-120"/>
              </a:rPr>
              <a:t>يَرْجُو</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planner wants the city to fail</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planner has no hopes</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 planner hopes the city becomes a model</a:t>
            </a:r>
            <a:endParaRPr lang="en-US" sz="11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يَرْجُو المُخَطِّطُ أَنْ تُصْبِحَ المَدِينَةُ نَمُوذَجًا يُحْتَذَى.</a:t>
            </a:r>
            <a:endParaRPr lang="ar-SA" sz="13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overall register of the text?</a:t>
            </a:r>
            <a:endParaRPr lang="en-US" sz="1250" dirty="0"/>
          </a:p>
        </p:txBody>
      </p:sp>
      <p:sp>
        <p:nvSpPr>
          <p:cNvPr id="94" name="Shape 91"/>
          <p:cNvSpPr/>
          <p:nvPr/>
        </p:nvSpPr>
        <p:spPr>
          <a:xfrm>
            <a:off x="8186928" y="4794504"/>
            <a:ext cx="3453384"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827836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97" name="Text 94"/>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Formal, academic planning language</a:t>
            </a:r>
            <a:endParaRPr lang="en-US" sz="1250" dirty="0"/>
          </a:p>
        </p:txBody>
      </p:sp>
      <p:sp>
        <p:nvSpPr>
          <p:cNvPr id="98" name="Shape 95"/>
          <p:cNvSpPr/>
          <p:nvPr/>
        </p:nvSpPr>
        <p:spPr>
          <a:xfrm>
            <a:off x="827836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Casual conversation</a:t>
            </a:r>
            <a:endParaRPr lang="en-US" sz="125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personal diary</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text uses passives, subjunctive triggers and formal planning vocabulary — a formal register.</a:t>
            </a:r>
            <a:endParaRPr lang="en-US" sz="10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27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REPORT WHAT YOU HEARD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ea typeface="Cambria" pitchFamily="34" charset="-122"/>
                <a:cs typeface="Cambria" pitchFamily="34" charset="-120"/>
              </a:rPr>
              <a:t>Tell your partner what the speakers said</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مَاذَا قَالَ الخَبِيرُ عَنِ النَّوْمِ؟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بِمَ سَلَّمَ كَرِيمٌ، وَكَيْفَ رَدَّ؟</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مَاذَا يَرْجُو المُخَطِّطُ، وَمَاذَا يَتَطَلَّبُ ذٰلِكَ؟</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قَالَ الخَبِيرُ إِنَّ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34" charset="0"/>
                <a:ea typeface="Amiri" pitchFamily="34" charset="-122"/>
                <a:cs typeface="Amiri" pitchFamily="34" charset="-120"/>
              </a:rPr>
              <a:t>سَلَّمَ كَرِيمٌ بِأَنَّ ___ ، ثُمَّ رَدَّ بِأَنَّ ___ .</a:t>
            </a:r>
            <a:endParaRPr lang="ar-SA" sz="155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34" charset="0"/>
                <a:ea typeface="Amiri" pitchFamily="34" charset="-122"/>
                <a:cs typeface="Amiri" pitchFamily="34" charset="-120"/>
              </a:rPr>
              <a:t>يَرْجُو المُخَطِّطُ أَنْ ___ ، وَيَتَطَلَّبُ ذٰلِكَ أَنْ ___ .</a:t>
            </a:r>
            <a:endParaRPr lang="ar-SA" sz="13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قَالَ الخَبِيرُ إِنَّ النَّوْمَ الجَيِّدَ أَسَاسُ الصِّحَّةِ.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The expert said that good sleep is the foundation of health.</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سَلَّمَ كَرِيمٌ بِأَنَّ الدِّرَاسَةَ مُكْلِفَةٌ، ثُمَّ رَدَّ بِأَنَّ العَائِدَ يَسْتَحِقُّ.</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00" i="1" dirty="0">
                <a:solidFill>
                  <a:srgbClr val="5A6472"/>
                </a:solidFill>
                <a:latin typeface="Calibri" pitchFamily="34" charset="0"/>
                <a:ea typeface="Calibri" pitchFamily="34" charset="-122"/>
                <a:cs typeface="Calibri" pitchFamily="34" charset="-120"/>
              </a:rPr>
              <a:t>Karim conceded that studying is expensive, then replied that the return is worth it.</a:t>
            </a:r>
            <a:endParaRPr lang="en-US" sz="8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27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PERFORMANCE ANALYSIS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Performance analysis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تَحْلِيلُ الأَدَاءِ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Yours</a:t>
            </a:r>
            <a:endParaRPr lang="en-US" sz="1100" dirty="0"/>
          </a:p>
        </p:txBody>
      </p:sp>
      <p:sp>
        <p:nvSpPr>
          <p:cNvPr id="17" name="Text 14"/>
          <p:cNvSpPr txBox="1"/>
          <p:nvPr/>
        </p:nvSpPr>
        <p:spPr>
          <a:xfrm>
            <a:off x="473659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a:t>
            </a:r>
            <a:endParaRPr lang="en-US" sz="1100" dirty="0"/>
          </a:p>
        </p:txBody>
      </p:sp>
      <p:sp>
        <p:nvSpPr>
          <p:cNvPr id="18" name="Text 15"/>
          <p:cNvSpPr txBox="1"/>
          <p:nvPr/>
        </p:nvSpPr>
        <p:spPr>
          <a:xfrm>
            <a:off x="53035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Record</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796528" y="2267712"/>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______________</a:t>
            </a:r>
            <a:endParaRPr lang="en-US" sz="1100" dirty="0"/>
          </a:p>
        </p:txBody>
      </p:sp>
      <p:sp>
        <p:nvSpPr>
          <p:cNvPr id="21" name="Text 18"/>
          <p:cNvSpPr txBox="1"/>
          <p:nvPr/>
        </p:nvSpPr>
        <p:spPr>
          <a:xfrm>
            <a:off x="4773168" y="2267712"/>
            <a:ext cx="3840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…/8</a:t>
            </a:r>
            <a:endParaRPr lang="en-US" sz="1100" dirty="0"/>
          </a:p>
        </p:txBody>
      </p:sp>
      <p:sp>
        <p:nvSpPr>
          <p:cNvPr id="22" name="Text 19"/>
          <p:cNvSpPr txBox="1"/>
          <p:nvPr/>
        </p:nvSpPr>
        <p:spPr>
          <a:xfrm>
            <a:off x="566928" y="2267712"/>
            <a:ext cx="4023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Text 1 score (out of 8)</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8796528" y="300471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______________</a:t>
            </a:r>
            <a:endParaRPr lang="en-US" sz="1100" dirty="0"/>
          </a:p>
        </p:txBody>
      </p:sp>
      <p:sp>
        <p:nvSpPr>
          <p:cNvPr id="25" name="Text 22"/>
          <p:cNvSpPr txBox="1"/>
          <p:nvPr/>
        </p:nvSpPr>
        <p:spPr>
          <a:xfrm>
            <a:off x="4773168" y="3004718"/>
            <a:ext cx="3840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…/6</a:t>
            </a:r>
            <a:endParaRPr lang="en-US" sz="1100" dirty="0"/>
          </a:p>
        </p:txBody>
      </p:sp>
      <p:sp>
        <p:nvSpPr>
          <p:cNvPr id="26" name="Text 23"/>
          <p:cNvSpPr txBox="1"/>
          <p:nvPr/>
        </p:nvSpPr>
        <p:spPr>
          <a:xfrm>
            <a:off x="566928" y="3004718"/>
            <a:ext cx="4023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Text 2 score (out of 6)</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8796528" y="3741725"/>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______________</a:t>
            </a:r>
            <a:endParaRPr lang="en-US" sz="1100" dirty="0"/>
          </a:p>
        </p:txBody>
      </p:sp>
      <p:sp>
        <p:nvSpPr>
          <p:cNvPr id="29" name="Text 26"/>
          <p:cNvSpPr txBox="1"/>
          <p:nvPr/>
        </p:nvSpPr>
        <p:spPr>
          <a:xfrm>
            <a:off x="4773168" y="3741725"/>
            <a:ext cx="3840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…/6</a:t>
            </a:r>
            <a:endParaRPr lang="en-US" sz="1100" dirty="0"/>
          </a:p>
        </p:txBody>
      </p:sp>
      <p:sp>
        <p:nvSpPr>
          <p:cNvPr id="30" name="Text 27"/>
          <p:cNvSpPr txBox="1"/>
          <p:nvPr/>
        </p:nvSpPr>
        <p:spPr>
          <a:xfrm>
            <a:off x="566928" y="3741725"/>
            <a:ext cx="4023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Text 3 score (out of 6)</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8796528" y="4478731"/>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______________</a:t>
            </a:r>
            <a:endParaRPr lang="en-US" sz="1100" dirty="0"/>
          </a:p>
        </p:txBody>
      </p:sp>
      <p:sp>
        <p:nvSpPr>
          <p:cNvPr id="33" name="Text 30"/>
          <p:cNvSpPr txBox="1"/>
          <p:nvPr/>
        </p:nvSpPr>
        <p:spPr>
          <a:xfrm>
            <a:off x="4773168" y="4478731"/>
            <a:ext cx="3840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opinion · conditional · grammar · detail</a:t>
            </a:r>
            <a:endParaRPr lang="en-US" sz="1100" dirty="0"/>
          </a:p>
        </p:txBody>
      </p:sp>
      <p:sp>
        <p:nvSpPr>
          <p:cNvPr id="34" name="Text 31"/>
          <p:cNvSpPr txBox="1"/>
          <p:nvPr/>
        </p:nvSpPr>
        <p:spPr>
          <a:xfrm>
            <a:off x="566928" y="4478731"/>
            <a:ext cx="4023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Hardest question type (opinion / conditional / grammar / factual detail)</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8796528" y="521573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______________</a:t>
            </a:r>
            <a:endParaRPr lang="en-US" sz="1100" dirty="0"/>
          </a:p>
        </p:txBody>
      </p:sp>
      <p:sp>
        <p:nvSpPr>
          <p:cNvPr id="37" name="Text 34"/>
          <p:cNvSpPr txBox="1"/>
          <p:nvPr/>
        </p:nvSpPr>
        <p:spPr>
          <a:xfrm>
            <a:off x="4773168" y="5215738"/>
            <a:ext cx="3840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 will improve conditionals by labelling idhā / law questions</a:t>
            </a:r>
            <a:endParaRPr lang="en-US" sz="1100" dirty="0"/>
          </a:p>
        </p:txBody>
      </p:sp>
      <p:sp>
        <p:nvSpPr>
          <p:cNvPr id="38" name="Text 35"/>
          <p:cNvSpPr txBox="1"/>
          <p:nvPr/>
        </p:nvSpPr>
        <p:spPr>
          <a:xfrm>
            <a:off x="566928" y="5215738"/>
            <a:ext cx="4023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For the Lesson 8 mock, I will improve …</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Total …/20. Circle your priority question type — it becomes your target for the L08 mock.</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27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LISTENING REFLECTION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reflection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التَّأَمُّلُ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Model ending</a:t>
            </a:r>
            <a:endParaRPr lang="en-US" sz="1100" dirty="0"/>
          </a:p>
        </p:txBody>
      </p:sp>
      <p:sp>
        <p:nvSpPr>
          <p:cNvPr id="17" name="Text 14"/>
          <p:cNvSpPr txBox="1"/>
          <p:nvPr/>
        </p:nvSpPr>
        <p:spPr>
          <a:xfrm>
            <a:off x="528523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18" name="Text 15"/>
          <p:cNvSpPr txBox="1"/>
          <p:nvPr/>
        </p:nvSpPr>
        <p:spPr>
          <a:xfrm>
            <a:off x="53035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Reflection frame (website)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Annotating every question before the script</a:t>
            </a:r>
            <a:endParaRPr lang="en-US" sz="1100" dirty="0"/>
          </a:p>
        </p:txBody>
      </p:sp>
      <p:sp>
        <p:nvSpPr>
          <p:cNvPr id="21" name="Text 18"/>
          <p:cNvSpPr txBox="1"/>
          <p:nvPr/>
        </p:nvSpPr>
        <p:spPr>
          <a:xfrm>
            <a:off x="5321808"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my best strategy</a:t>
            </a:r>
            <a:endParaRPr lang="en-US" sz="1100" dirty="0"/>
          </a:p>
        </p:txBody>
      </p:sp>
      <p:sp>
        <p:nvSpPr>
          <p:cNvPr id="22" name="Text 19"/>
          <p:cNvSpPr txBox="1"/>
          <p:nvPr/>
        </p:nvSpPr>
        <p:spPr>
          <a:xfrm>
            <a:off x="566928" y="2267712"/>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My most effective strategy today was…</a:t>
            </a:r>
            <a:endParaRPr lang="en-US" sz="11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Trust my first answer on plain facts</a:t>
            </a:r>
            <a:endParaRPr lang="en-US" sz="1100" dirty="0"/>
          </a:p>
        </p:txBody>
      </p:sp>
      <p:sp>
        <p:nvSpPr>
          <p:cNvPr id="25" name="Text 22"/>
          <p:cNvSpPr txBox="1"/>
          <p:nvPr/>
        </p:nvSpPr>
        <p:spPr>
          <a:xfrm>
            <a:off x="5321808"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my change for the mock</a:t>
            </a:r>
            <a:endParaRPr lang="en-US" sz="1100" dirty="0"/>
          </a:p>
        </p:txBody>
      </p:sp>
      <p:sp>
        <p:nvSpPr>
          <p:cNvPr id="26" name="Text 23"/>
          <p:cNvSpPr txBox="1"/>
          <p:nvPr/>
        </p:nvSpPr>
        <p:spPr>
          <a:xfrm>
            <a:off x="566928" y="3054096"/>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In the mock I will change…</a:t>
            </a: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8412480" y="3840480"/>
            <a:ext cx="322783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قِرَاءَةُ الأَسْئِلَةِ مُسْبَقًا</a:t>
            </a:r>
            <a:endParaRPr lang="ar-SA" sz="1500" dirty="0"/>
          </a:p>
        </p:txBody>
      </p:sp>
      <p:sp>
        <p:nvSpPr>
          <p:cNvPr id="29" name="Text 26"/>
          <p:cNvSpPr txBox="1"/>
          <p:nvPr/>
        </p:nvSpPr>
        <p:spPr>
          <a:xfrm>
            <a:off x="5321808"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My most important strategy is …</a:t>
            </a:r>
            <a:endParaRPr lang="en-US" sz="1100" dirty="0"/>
          </a:p>
        </p:txBody>
      </p:sp>
      <p:sp>
        <p:nvSpPr>
          <p:cNvPr id="30" name="Text 27"/>
          <p:cNvSpPr txBox="1"/>
          <p:nvPr/>
        </p:nvSpPr>
        <p:spPr>
          <a:xfrm>
            <a:off x="548640" y="3840480"/>
            <a:ext cx="457200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أَهَمُّ اسْتِرَاتِيجِيَّةٍ عِنْدِي هِيَ ______ .</a:t>
            </a:r>
            <a:endParaRPr lang="ar-SA" sz="1800" dirty="0"/>
          </a:p>
        </p:txBody>
      </p:sp>
      <p:sp>
        <p:nvSpPr>
          <p:cNvPr id="31" name="Text 2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Two things I will do differently in the L08 mock — write them under your Paper 1 target.</a:t>
            </a:r>
            <a:endParaRPr lang="en-US" sz="11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27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read and annotated every question before the script.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left no blanks — I made a best-supported guess.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the second reading to verify and correct, not to over-change.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heard the conditional type, the triggers and ṣaḥīḥun anna / ghayra anna.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know which question type is my priority for the mock.</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27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P6-L02 · IGCSE Bridge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P6-L03: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P6-L03 · Paper 2 Reading — Full Format Practice and R1–R4 Mastery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المَعْنَى العَامُّ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R1 — the general meaning</a:t>
            </a:r>
            <a:pPr indent="0" marL="0">
              <a:buNone/>
            </a:pPr>
            <a:r>
              <a:rPr lang="en-US" sz="1000" i="1" dirty="0">
                <a:solidFill>
                  <a:srgbClr val="5A6472"/>
                </a:solidFill>
                <a:latin typeface="Calibri" pitchFamily="34" charset="0"/>
                <a:ea typeface="Calibri" pitchFamily="34" charset="-122"/>
                <a:cs typeface="Calibri" pitchFamily="34" charset="-120"/>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التَّفَاصِيلُ الوَاقِعِيَّةُ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R2 — factual details</a:t>
            </a:r>
            <a:pPr indent="0" marL="0">
              <a:buNone/>
            </a:pPr>
            <a:r>
              <a:rPr lang="en-US" sz="1000" i="1" dirty="0">
                <a:solidFill>
                  <a:srgbClr val="5A6472"/>
                </a:solidFill>
                <a:latin typeface="Calibri" pitchFamily="34" charset="0"/>
                <a:ea typeface="Calibri" pitchFamily="34" charset="-122"/>
                <a:cs typeface="Calibri" pitchFamily="34" charset="-120"/>
              </a:rPr>
              <a:t>  sg. تَفْصِيلٌ</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الأَدِلَّةُ النَّصِّيَّةُ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textual evidence</a:t>
            </a:r>
            <a:pPr indent="0" marL="0">
              <a:buNone/>
            </a:pPr>
            <a:r>
              <a:rPr lang="en-US" sz="1000" i="1" dirty="0">
                <a:solidFill>
                  <a:srgbClr val="5A6472"/>
                </a:solidFill>
                <a:latin typeface="Calibri" pitchFamily="34" charset="0"/>
                <a:ea typeface="Calibri" pitchFamily="34" charset="-122"/>
                <a:cs typeface="Calibri" pitchFamily="34" charset="-120"/>
              </a:rPr>
              <a:t>  sg. دَلِيلٌ</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اسْتِنْتَاجُ الكَلِمَاتِ المَجْهُولَةِ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deducing unknown words</a:t>
            </a:r>
            <a:pPr indent="0" marL="0">
              <a:buNone/>
            </a:pPr>
            <a:r>
              <a:rPr lang="en-US" sz="1000" i="1" dirty="0">
                <a:solidFill>
                  <a:srgbClr val="5A6472"/>
                </a:solidFill>
                <a:latin typeface="Calibri" pitchFamily="34" charset="0"/>
                <a:ea typeface="Calibri" pitchFamily="34" charset="-122"/>
                <a:cs typeface="Calibri" pitchFamily="34" charset="-120"/>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التَّطَابُقُ عَبْرَ النُّصُوصِ</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cross-text matching</a:t>
            </a:r>
            <a:pPr indent="0" marL="0">
              <a:buNone/>
            </a:pPr>
            <a:r>
              <a:rPr lang="en-US" sz="1000" i="1" dirty="0">
                <a:solidFill>
                  <a:srgbClr val="5A6472"/>
                </a:solidFill>
                <a:latin typeface="Calibri" pitchFamily="34" charset="0"/>
                <a:ea typeface="Calibri" pitchFamily="34" charset="-122"/>
                <a:cs typeface="Calibri" pitchFamily="34" charset="-120"/>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What do you do when you meet a word you do not know in a reading text?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34" charset="0"/>
                <a:ea typeface="Amiri" pitchFamily="34" charset="-122"/>
                <a:cs typeface="Amiri" pitchFamily="34" charset="-120"/>
              </a:rPr>
              <a:t>إِذَا وَجَدْتُ كَلِمَةً مَجْهُولَةً، أَبْحَثُ عَنْ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Redo the text where you scored lowest using the read-along; learn the five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the six strategies from memory in English; learn the five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For five questions, write the Arabic signal word that proved the answer; learn the five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27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P6-L02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ea typeface="Cambria" pitchFamily="34" charset="-122"/>
                <a:cs typeface="Cambria" pitchFamily="34" charset="-120"/>
              </a:rPr>
              <a:t>P6-L03 · Paper 2 Reading — Full Format Practice and R1–R4 Mastery</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الوَرَقَةُ الثَّانِيَةُ — القِرَاءَةُ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read and label every question first · listen once for gist, twice to verify · never leave a blank · the grammar is a signpost.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P6-L02 · Paper 1 Listening — Full Format Practice and Strategy Mastery</dc:title>
  <dc:subject>PptxGenJS Presentation</dc:subject>
  <dc:creator>Al Madina Online School · Arabic Department</dc:creator>
  <cp:lastModifiedBy>Al Madina Online School · Arabic Department</cp:lastModifiedBy>
  <cp:revision>1</cp:revision>
  <dcterms:created xsi:type="dcterms:W3CDTF">2026-10-11T03:41:39Z</dcterms:created>
  <dcterms:modified xsi:type="dcterms:W3CDTF">2026-10-11T03:41:39Z</dcterms:modified>
</cp:coreProperties>
</file>