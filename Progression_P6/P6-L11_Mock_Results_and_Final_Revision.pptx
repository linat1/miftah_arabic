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9–11 Your mock profile · 11–17 The /150 calculator · 17–22 The three most common errors (I Do) · 22–30 Fix the errors (We Do) · 30–34 The revision hierarchy · 34–42 Readiness checklist · 42–50 My revision plan · 50–54 Reflection + self-check · 54–56 Preparation.
FLEX slides are optional. Use them if the class is moving quickly; otherwise the same activities are on the website for homework.
Content source: Miftah Arabic website, Pathways › Progression › P6 IGCSE Bridge › P6-L11. The website P6-L11: the panel “Your mock profile” (grade guidance), the mock results calculator (four papers, /150), the cards “The three most common errors — and their fixes” and “Grammar revision hierarchy”, the final exam-readiness checklist (8 items), the revision-plan fields and the reflection “What we know now that we did not know in F1”.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RESULTS LESSON: scores are personal. Students calculate privately; never share individual scores on screen. Collect totals by private chat or form.
• Grade boundaries on the website are GUIDANCE only — Cambridge sets the real boundaries for each exam series. Say this clearly to avoid false reassurance or panic.
• Routes: Core — calculate the total, fix error 1 (the subjunctive fatḥa) · Develop — fix all three errors, complete the checklist · Stretch — a dated two-week revision plan with practice for each unticked item.
• Wellbeing: a disappointing mock can feel heavy. Lead with the website message: students typically gain 5–15 marks between the mock and the exam through targeted revision.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revision words prepared at the end of P6-L10. Questions 4–5 preview the two most costly mock errors: the subjunctive fatḥa and the Type 2 la- prefix.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Stress: typical gain of 5–15 marks between mock and exam through targeted revision.
WEBSITE PANEL “Your mock profile”: Enter your four mock scores below to see your total out of 150 and your predicted grade. Grade boundaries (guidance): A* = 135+, A = 120+, B = 105+, C = 90+, D = 75+. Your mock score is not your final score. Students typically gain 5–15 marks between the mock and the real exam through targeted revision. The gap between your mock and your target is today's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CALCULATOR (6 min) — the website calculator, on paper. Students copy the table, enter their four scores, add them, and read the guidance grade. Everything private. Students missing a score enter their best estimate and mark it “est.”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the website cards with transliterated rule names (the website writes the prefix as a split letter; we write whole words). Write a WRONG version of each on the whiteboard (أَنْ تُوَفِّرُ · لَوْ دَرَسْتُ، نَجَحْتُ · أَكَّدَ أَنْ …), think aloud while fixing it.
WEBSITE CARDS “The three most common errors — and their fixes”: The subjunctive fatḥa: After a trigger, the verb must end in ـَ — not ـُ, not ـِ. Worth 2 Accuracy marks and very frequent. (يَتَطَلَّبُ / يَنْبَغِي / لِكَيْ + فِعْلٌ مَنْصُوبٌ بِفَتْحَةٍ) · The Type 2 لَـ prefix: لَوْ + past, then لَـ + past in the result. The لَـ cannot be dropped. Worth 2 Accuracy marks. (لَوْ دَرَسْتُ، لَنَجَحْتُ) · أَنْ vs أَنَّ · صَحِيحٌ أَنَّ + indicative: أَنْ introduces a subjunctive; أَنَّ introduces a reported fact. And صَحِيحٌ أَنَّ concedes a real situation, so its verb stays indicative. (يُطَالِبُ بِأَنْ تُوَقِّعَ · أَكَّدَ أَنَّ الوَقْتَ يَنْفَدُ · صَحِيحٌ أَنَّ الوَقْتَ مَحْدُودٌ)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(6 min) — teacher-made, one question per error from the website hierarchy. Students answer in the chat; Core: questions 1–3. After each answer ask: which error number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rule for each answer. Question 6 is hierarchy item 5 (passive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(4 min) — the website hierarchy. The examples expand item 3 (reported speech): after قَالَ use إِنَّ; after other reporting verbs (ذَكَرَ · أَكَّدَ · أَشَارَ إِلَى) use أَنَّ.
WEBSITE CARDS “Grammar revision hierarchy — most marks per minute”: 1 · Subjunctive ـَ marker: High-frequency, 2 Accuracy marks. · 2 · Type 2 لَـ prefix: Common error, 2 Accuracy marks. · 3 · Reported speech إِنَّ / أَنَّ: 2 Accuracy marks. · 4 · صَحِيحٌ أَنَّ + indicative: 1 mark, but crucial for Task Completion. · 5 · Passive agreement: 1 Accuracy mark. · 6 · Vocabulary by topic: Target your three weakest topic areas from the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(8 min) — website items; the model column shows full, vowelled examples (teacher). Students tick ONLY what they can do from memory now. Unticked items = the revision list.
Website: Tick each item you can do confidently from memory. Anything unticked is your final revision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PLAN (8 min) — website fields. Circulate (private chat) and approve each student’s “single most important action”: it must be specific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(3 min) — website frames and intro. The model sentence (“Had I not learned Arabic, I would not have understood the Qur’an this deeply”) is a teacher example; students choose their own sentence on any theme.
Website: In F1 you could not read one Arabic letter. Today you read academic texts, write argumentative essays and speak for five minutes on complex topics. (Three years of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(P6-L12 · Celebration — Reflection and the Road Ahead) will spend class time USING this language, so students prepare it tonight — short, simple, easy to access (school guidance: “Simple, Short, Interesting, Relevant, Easy to access”). P6-L12 has no vocabulary list: these five celebration words are teacher-chosen; the frame is the website’s P6-L12 “Name the journey” frame.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Results, Targeted Revision and Final IGCSE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34" charset="0"/>
                <a:ea typeface="Amiri" pitchFamily="34" charset="-122"/>
                <a:cs typeface="Amiri" pitchFamily="34" charset="-120"/>
              </a:rPr>
              <a:t>نَتَائِجُ المُحَاكَاةِ وَالمُرَاجَعَةُ المُوَجَّهَةُ وَالاسْتِعْدَادُ النِّهَائِيُّ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four mock scores into one /150 profile, fix the three errors that cost the most Accuracy marks, and leave with a personal revision plan and a readiness checklist for the real exam.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P6-L11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revision words and two quick fixes.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Your mock profile and the /150 calculator.</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النَّتَائِجُ</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three most common errors.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الأَخْطَاءُ</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Revision hierarchy, checklist, my plan.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خُطَّتِي</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self-check, preparation.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نِقَاطُ الضَّعْفِ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strengths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weaknesses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points scored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الأَخْطَاءُ الشَّائِعَةُ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common errors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 errors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corrected errors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 المُرَاجَعَةِ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paper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result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result: </a:t>
            </a:r>
            <a:pPr algn="l" indent="0" marL="0">
              <a:buNone/>
            </a:pPr>
            <a:r>
              <a:rPr lang="ar-SA" altLang="en-US" sz="1650" b="1" dirty="0">
                <a:solidFill>
                  <a:srgbClr val="1B3B6F"/>
                </a:solidFill>
                <a:latin typeface="Amiri" pitchFamily="34" charset="0"/>
                <a:ea typeface="Amiri" pitchFamily="34" charset="-122"/>
                <a:cs typeface="Amiri" pitchFamily="34" charset="-120"/>
              </a:rPr>
              <a:t>لَوْ تَدَرَّبْتُ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نِقَاطُ الضَّعْفِ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strengths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weaknesses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points scored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الأَخْطَاءُ الشَّائِعَةُ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common errors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rare errors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corrected errors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 المُرَاجَعَةِ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paper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final result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revision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trigger + an: the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result: </a:t>
            </a:r>
            <a:pPr algn="l" indent="0" marL="0">
              <a:buNone/>
            </a:pPr>
            <a:r>
              <a:rPr lang="ar-SA" altLang="en-US" sz="1650" b="1" dirty="0">
                <a:solidFill>
                  <a:srgbClr val="1B3B6F"/>
                </a:solidFill>
                <a:latin typeface="Amiri" pitchFamily="34" charset="0"/>
                <a:ea typeface="Amiri" pitchFamily="34" charset="-122"/>
                <a:cs typeface="Amiri" pitchFamily="34" charset="-120"/>
              </a:rPr>
              <a:t>لَوْ تَدَرَّبْتُ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Type 2: lau + past, la-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gap between your mock and your target is today’s agenda.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نَتِيجَةُ المُحَاكَاةِ لَيْسَتْ نَتِيجَتَكَ النِّهَائِيَّةَ.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Calculate your full mock profile across all four papers (/150) and read your predicted grade.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highest-impact grammar errors from the mocks.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Revise your personal weakest grammar and vocabulary areas.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final exam-readiness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calculate my mock total out of 150.</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the subjunctive fatḥa after a trigger.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correct the three most common errors.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complete the readiness checklist honestly.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revise my two weakest structures with examples.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dated revision plan.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RESULTS · GRADE · AGENDA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mock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المُحَاكَاةِ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Enter your four mock scores below to see your total out of 150 and your predicted grade. Grade boundaries (guidance): A* = 135+, A = 120+, B = 105+, C = 90+, D = 75+.</a:t>
            </a:r>
            <a:endParaRPr lang="en-US" sz="1300" dirty="0"/>
          </a:p>
        </p:txBody>
      </p:sp>
      <p:sp>
        <p:nvSpPr>
          <p:cNvPr id="20" name="Shape 17"/>
          <p:cNvSpPr/>
          <p:nvPr/>
        </p:nvSpPr>
        <p:spPr>
          <a:xfrm>
            <a:off x="658368" y="37856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675888"/>
            <a:ext cx="5394960" cy="14630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Your mock score is not your final score. Students typically gain 5–15 marks between the mock and the real exam through targeted revision. The gap between your mock and your target is today's agenda.</a:t>
            </a:r>
            <a:endParaRPr lang="en-US" sz="1300" dirty="0"/>
          </a:p>
        </p:txBody>
      </p:sp>
      <p:sp>
        <p:nvSpPr>
          <p:cNvPr id="23" name="Shape 20"/>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MESSAGE</a:t>
            </a:r>
            <a:endParaRPr lang="en-US" sz="1000" dirty="0"/>
          </a:p>
        </p:txBody>
      </p:sp>
      <p:sp>
        <p:nvSpPr>
          <p:cNvPr id="25" name="Text 22"/>
          <p:cNvSpPr txBox="1"/>
          <p:nvPr/>
        </p:nvSpPr>
        <p:spPr>
          <a:xfrm>
            <a:off x="6949440" y="2194560"/>
            <a:ext cx="4645152" cy="850026"/>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نَتِيجَةُ المُحَاكَاةِ لَيْسَتْ نَتِيجَتَكَ النِّهَائِيَّةَ.</a:t>
            </a:r>
            <a:endParaRPr lang="ar-SA" sz="2550" dirty="0"/>
          </a:p>
        </p:txBody>
      </p:sp>
      <p:sp>
        <p:nvSpPr>
          <p:cNvPr id="26" name="Text 23"/>
          <p:cNvSpPr txBox="1"/>
          <p:nvPr/>
        </p:nvSpPr>
        <p:spPr>
          <a:xfrm>
            <a:off x="6949440" y="3044586"/>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Your mock score is not your final score.</a:t>
            </a:r>
            <a:endParaRPr lang="en-US" sz="1100" dirty="0"/>
          </a:p>
        </p:txBody>
      </p:sp>
      <p:sp>
        <p:nvSpPr>
          <p:cNvPr id="27" name="Shape 24"/>
          <p:cNvSpPr/>
          <p:nvPr/>
        </p:nvSpPr>
        <p:spPr>
          <a:xfrm>
            <a:off x="6995160" y="3694176"/>
            <a:ext cx="4553712" cy="0"/>
          </a:xfrm>
          <a:prstGeom prst="line">
            <a:avLst/>
          </a:prstGeom>
          <a:noFill/>
          <a:ln w="9525">
            <a:solidFill>
              <a:srgbClr val="E4DCCB"/>
            </a:solidFill>
            <a:prstDash val="dash"/>
          </a:ln>
        </p:spPr>
      </p:sp>
      <p:sp>
        <p:nvSpPr>
          <p:cNvPr id="28" name="Text 25"/>
          <p:cNvSpPr txBox="1"/>
          <p:nvPr/>
        </p:nvSpPr>
        <p:spPr>
          <a:xfrm>
            <a:off x="6949440" y="3712464"/>
            <a:ext cx="4645152" cy="850026"/>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المُرَاجَعَةُ المُوَجَّهَةُ تَصْنَعُ الفَرْقَ.</a:t>
            </a:r>
            <a:endParaRPr lang="ar-SA" sz="2800" dirty="0"/>
          </a:p>
        </p:txBody>
      </p:sp>
      <p:sp>
        <p:nvSpPr>
          <p:cNvPr id="29" name="Text 26"/>
          <p:cNvSpPr txBox="1"/>
          <p:nvPr/>
        </p:nvSpPr>
        <p:spPr>
          <a:xfrm>
            <a:off x="6949440" y="4562490"/>
            <a:ext cx="4645152" cy="60716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Targeted revision makes the difference.</a:t>
            </a:r>
            <a:endParaRPr lang="en-US" sz="1100" dirty="0"/>
          </a:p>
        </p:txBody>
      </p:sp>
      <p:sp>
        <p:nvSpPr>
          <p:cNvPr id="30" name="Shape 27"/>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GUIDANCE ONLY</a:t>
            </a:r>
            <a:endParaRPr lang="en-US" sz="1100" dirty="0"/>
          </a:p>
        </p:txBody>
      </p:sp>
      <p:sp>
        <p:nvSpPr>
          <p:cNvPr id="32" name="Text 29"/>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grade boundaries are the website’s guidance; Cambridge sets the real boundaries for each exam series.</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ENTER · TOTAL · PREDICT (WEBSITE CALCULATOR)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Mock results calculator (/150)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حَاسِبَةُ النَّتَائِجِ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 it came from</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mock score</a:t>
            </a:r>
            <a:endParaRPr lang="en-US" sz="1100" dirty="0"/>
          </a:p>
        </p:txBody>
      </p:sp>
      <p:sp>
        <p:nvSpPr>
          <p:cNvPr id="18" name="Text 15"/>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Out of</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P6-L08 (raw /20 × 2.25)</a:t>
            </a:r>
            <a:endParaRPr lang="en-US" sz="11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23" name="Text 20"/>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24" name="Text 21"/>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 Listening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P6-L09 (raw /16 × 2.8125)</a:t>
            </a:r>
            <a:endParaRPr lang="en-US" sz="1100" dirty="0"/>
          </a:p>
        </p:txBody>
      </p:sp>
      <p:sp>
        <p:nvSpPr>
          <p:cNvPr id="29" name="Text 26"/>
          <p:cNvSpPr txBox="1"/>
          <p:nvPr/>
        </p:nvSpPr>
        <p:spPr>
          <a:xfrm>
            <a:off x="58704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30" name="Text 27"/>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1" name="Text 28"/>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 Reading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P6-L10 (role play + conversation)</a:t>
            </a:r>
            <a:endParaRPr lang="en-US" sz="1100" dirty="0"/>
          </a:p>
        </p:txBody>
      </p:sp>
      <p:sp>
        <p:nvSpPr>
          <p:cNvPr id="36" name="Text 33"/>
          <p:cNvSpPr txBox="1"/>
          <p:nvPr/>
        </p:nvSpPr>
        <p:spPr>
          <a:xfrm>
            <a:off x="58704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37" name="Text 34"/>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38" name="Text 35"/>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Speaking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P6-L09 (Q1 + Q2, teacher-marked)</a:t>
            </a:r>
            <a:endParaRPr lang="en-US" sz="1100" dirty="0"/>
          </a:p>
        </p:txBody>
      </p:sp>
      <p:sp>
        <p:nvSpPr>
          <p:cNvPr id="43" name="Text 40"/>
          <p:cNvSpPr txBox="1"/>
          <p:nvPr/>
        </p:nvSpPr>
        <p:spPr>
          <a:xfrm>
            <a:off x="58704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44" name="Text 41"/>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5" name="Text 42"/>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 Writing</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the four scores</a:t>
            </a:r>
            <a:endParaRPr lang="en-US" sz="1100" dirty="0"/>
          </a:p>
        </p:txBody>
      </p:sp>
      <p:sp>
        <p:nvSpPr>
          <p:cNvPr id="50" name="Text 47"/>
          <p:cNvSpPr txBox="1"/>
          <p:nvPr/>
        </p:nvSpPr>
        <p:spPr>
          <a:xfrm>
            <a:off x="58704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a:t>
            </a:r>
            <a:endParaRPr lang="en-US" sz="1100" dirty="0"/>
          </a:p>
        </p:txBody>
      </p:sp>
      <p:sp>
        <p:nvSpPr>
          <p:cNvPr id="51" name="Text 48"/>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150</a:t>
            </a:r>
            <a:endParaRPr lang="en-US" sz="1100" dirty="0"/>
          </a:p>
        </p:txBody>
      </p:sp>
      <p:sp>
        <p:nvSpPr>
          <p:cNvPr id="52" name="Text 49"/>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TOTAL</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Grade guidance (website): A* = 135+ · A = 120+ · B = 105+ · C = 90+ · D = 75+. Guidance only — Cambridge sets the real boundaries each series.</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THE THREE MOST COMMON ERRORS — HIGHEST IMPACT FIRST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The three most common errors — and their fixes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الأَخْطَاءُ الثَّلَاثَةُ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0350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66928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THREE MOST COMMON ERRORS — AND THEIR FIXES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subjunctive fatḥa — after a trigger the verb ends in -a, not -u or -i. Worth 2 Accuracy marks and very frequent.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Type 2 la- prefix — lau + past, then la- + past in the result. The la- cannot be dropped. Worth 2 Accuracy marks.</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25780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 vs anna — an + subjunctive; anna + a reported fact. And ṣaḥīḥun anna concedes a real situation, so its verb stays indicative.</a:t>
            </a:r>
            <a:endParaRPr lang="en-US" sz="1300" dirty="0"/>
          </a:p>
        </p:txBody>
      </p:sp>
      <p:sp>
        <p:nvSpPr>
          <p:cNvPr id="26" name="Shape 23"/>
          <p:cNvSpPr/>
          <p:nvPr/>
        </p:nvSpPr>
        <p:spPr>
          <a:xfrm>
            <a:off x="6675120" y="1810512"/>
            <a:ext cx="50566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858000" y="1883664"/>
            <a:ext cx="469087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6812280" y="2194560"/>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يَتَطَلَّبُ الأَمْرُ أَنْ تُوَفِّرَ المَدَارِسُ دَعْمًا.</a:t>
            </a:r>
            <a:endParaRPr lang="ar-SA" sz="2800" dirty="0"/>
          </a:p>
        </p:txBody>
      </p:sp>
      <p:sp>
        <p:nvSpPr>
          <p:cNvPr id="29" name="Text 26"/>
          <p:cNvSpPr txBox="1"/>
          <p:nvPr/>
        </p:nvSpPr>
        <p:spPr>
          <a:xfrm>
            <a:off x="6812280" y="2955828"/>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 tuwaffira — not tuwaffiru</a:t>
            </a:r>
            <a:endParaRPr lang="en-US" sz="1100" dirty="0"/>
          </a:p>
        </p:txBody>
      </p:sp>
      <p:sp>
        <p:nvSpPr>
          <p:cNvPr id="30" name="Shape 27"/>
          <p:cNvSpPr/>
          <p:nvPr/>
        </p:nvSpPr>
        <p:spPr>
          <a:xfrm>
            <a:off x="6858000" y="3535680"/>
            <a:ext cx="4690872" cy="0"/>
          </a:xfrm>
          <a:prstGeom prst="line">
            <a:avLst/>
          </a:prstGeom>
          <a:noFill/>
          <a:ln w="9525">
            <a:solidFill>
              <a:srgbClr val="E4DCCB"/>
            </a:solidFill>
            <a:prstDash val="dash"/>
          </a:ln>
        </p:spPr>
      </p:sp>
      <p:sp>
        <p:nvSpPr>
          <p:cNvPr id="31" name="Text 28"/>
          <p:cNvSpPr txBox="1"/>
          <p:nvPr/>
        </p:nvSpPr>
        <p:spPr>
          <a:xfrm>
            <a:off x="6812280" y="3553968"/>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لَوْ دَرَسْتُ، لَنَجَحْتُ.</a:t>
            </a:r>
            <a:endParaRPr lang="ar-SA" sz="2800" dirty="0"/>
          </a:p>
        </p:txBody>
      </p:sp>
      <p:sp>
        <p:nvSpPr>
          <p:cNvPr id="32" name="Text 29"/>
          <p:cNvSpPr txBox="1"/>
          <p:nvPr/>
        </p:nvSpPr>
        <p:spPr>
          <a:xfrm>
            <a:off x="6812280" y="4315236"/>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 la-najaḥtu — keep the la-</a:t>
            </a:r>
            <a:endParaRPr lang="en-US" sz="1100" dirty="0"/>
          </a:p>
        </p:txBody>
      </p:sp>
      <p:sp>
        <p:nvSpPr>
          <p:cNvPr id="33" name="Shape 30"/>
          <p:cNvSpPr/>
          <p:nvPr/>
        </p:nvSpPr>
        <p:spPr>
          <a:xfrm>
            <a:off x="6858000" y="4895088"/>
            <a:ext cx="4690872" cy="0"/>
          </a:xfrm>
          <a:prstGeom prst="line">
            <a:avLst/>
          </a:prstGeom>
          <a:noFill/>
          <a:ln w="9525">
            <a:solidFill>
              <a:srgbClr val="E4DCCB"/>
            </a:solidFill>
            <a:prstDash val="dash"/>
          </a:ln>
        </p:spPr>
      </p:sp>
      <p:sp>
        <p:nvSpPr>
          <p:cNvPr id="34" name="Text 31"/>
          <p:cNvSpPr txBox="1"/>
          <p:nvPr/>
        </p:nvSpPr>
        <p:spPr>
          <a:xfrm>
            <a:off x="6812280" y="4913376"/>
            <a:ext cx="478231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أَكَّدَ أَنَّ الوَقْتَ يَنْفَدُ.</a:t>
            </a:r>
            <a:endParaRPr lang="ar-SA" sz="2800" dirty="0"/>
          </a:p>
        </p:txBody>
      </p:sp>
      <p:sp>
        <p:nvSpPr>
          <p:cNvPr id="35" name="Text 32"/>
          <p:cNvSpPr txBox="1"/>
          <p:nvPr/>
        </p:nvSpPr>
        <p:spPr>
          <a:xfrm>
            <a:off x="6812280" y="5674644"/>
            <a:ext cx="478231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 · anna + a fact (indicative)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FIX THE MOST COSTLY ERRORS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correct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 بِوَفْرَةٍ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purpose: </a:t>
            </a:r>
            <a:pPr algn="l" indent="0" marL="0">
              <a:buNone/>
            </a:pPr>
            <a:r>
              <a:rPr lang="ar-SA" altLang="en-US" sz="1650" b="1" dirty="0">
                <a:solidFill>
                  <a:srgbClr val="1B3B6F"/>
                </a:solidFill>
                <a:latin typeface="Amiri" pitchFamily="34" charset="0"/>
                <a:ea typeface="Amiri" pitchFamily="34" charset="-122"/>
                <a:cs typeface="Amiri" pitchFamily="34" charset="-120"/>
              </a:rPr>
              <a:t>أُطْلِقَ بَرْنَامَجٌ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2 ·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مُفْرَدَاتِي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سَتَزِيدُ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reported fact: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المُعَلِّمُ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الامْتِحَانَ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concession: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التِّقْنِيَّةَ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لَقَرَّبَتْ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الرِّسَالَةُ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the rule behind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 بِوَفْرَةٍ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نَشْرَبُ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نَشْرَبِ</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subjunctive: nashraba.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1 · purpose: </a:t>
            </a:r>
            <a:pPr algn="l" indent="0" marL="0">
              <a:buNone/>
            </a:pPr>
            <a:r>
              <a:rPr lang="ar-SA" altLang="en-US" sz="1650" b="1" dirty="0">
                <a:solidFill>
                  <a:srgbClr val="1B3B6F"/>
                </a:solidFill>
                <a:latin typeface="Amiri" pitchFamily="34" charset="0"/>
                <a:ea typeface="Amiri" pitchFamily="34" charset="-122"/>
                <a:cs typeface="Amiri" pitchFamily="34" charset="-120"/>
              </a:rPr>
              <a:t>أُطْلِقَ بَرْنَامَجٌ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الشَّبَابَ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يُسَاعِدَ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يُسَاعِدُ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subjunctive: yusāʿida.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2 ·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قَرَأْتُ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مُفْرَدَاتِي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زَادَتْ</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لَزَادَتْ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سَتَزِيدُ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lau + past → la-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reported fact: </a:t>
            </a:r>
            <a:pPr algn="l" indent="0" marL="0">
              <a:buNone/>
            </a:pPr>
            <a:r>
              <a:rPr lang="ar-SA" altLang="en-US" sz="1650" b="1" dirty="0">
                <a:solidFill>
                  <a:srgbClr val="1B3B6F"/>
                </a:solidFill>
                <a:latin typeface="Amiri" pitchFamily="34" charset="0"/>
                <a:ea typeface="Amiri" pitchFamily="34" charset="-122"/>
                <a:cs typeface="Amiri" pitchFamily="34" charset="-120"/>
              </a:rPr>
              <a:t>أَكَّدَ المُعَلِّمُ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الامْتِحَانَ 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reported fact: anna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Error 3 · concession: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التِّقْنِيَّةَ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تُقَرِّبَ</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لَقَرَّبَتْ</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ṣaḥīḥun anna + indicative: tuqarribu.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الرِّسَالَةُ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 kutibat (passive).</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 · REVISE IN THIS ORDER — MOST MARKS PER MINUTE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Grammar revision hierarchy — most marks per minute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تَرْتِيبُ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REVISE IN THIS ORDER</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1 · Subjunctive -a marker — high-frequency, 2 Accuracy marks.</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2 · Type 2 la- prefix — common error, 2 Accuracy marks.</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3 · Reported speech inna / anna — 2 Accuracy marks.</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4 · ṣaḥīḥun anna + indicative — 1 mark, crucial for Task Completion.</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5 · Passive agreement — 1 Accuracy mark.</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6 · Vocabulary by topic — your three weakest topic areas.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قَالَ: «إِنَّ الوَقْتَ يَنْفَدُ.»</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direct speech → inna</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قَالَ إِنَّ الوَقْتَ يَنْفَدُ.</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after qāla → inna</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ذَكَرَ أَنَّ الوَقْتَ يَنْفَدُ.</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after other verbs → anna</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TICK WHAT IS SECURE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Final exam-readiness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قَائِمَةُ التَّحَقُّقِ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7" name="Text 14"/>
          <p:cNvSpPr txBox="1"/>
          <p:nvPr/>
        </p:nvSpPr>
        <p:spPr>
          <a:xfrm>
            <a:off x="17190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can …</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Secure?</a:t>
            </a:r>
            <a:endParaRPr lang="en-US" sz="1100" dirty="0"/>
          </a:p>
        </p:txBody>
      </p:sp>
      <p:sp>
        <p:nvSpPr>
          <p:cNvPr id="19" name="Shape 16"/>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0" name="Text 17"/>
          <p:cNvSpPr txBox="1"/>
          <p:nvPr/>
        </p:nvSpPr>
        <p:spPr>
          <a:xfrm>
            <a:off x="7772400" y="2267712"/>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يَنْبَغِي أَنْ نَعْمَلَ لِكَيْ نَنْجَحَ.</a:t>
            </a:r>
            <a:endParaRPr lang="ar-SA" sz="1500" dirty="0"/>
          </a:p>
        </p:txBody>
      </p:sp>
      <p:sp>
        <p:nvSpPr>
          <p:cNvPr id="21" name="Text 18"/>
          <p:cNvSpPr txBox="1"/>
          <p:nvPr/>
        </p:nvSpPr>
        <p:spPr>
          <a:xfrm>
            <a:off x="1755648" y="2267712"/>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can form the subjunctive after every trigger (likay · yanbaghī an · yataṭallabu an).</a:t>
            </a:r>
            <a:endParaRPr lang="en-US" sz="1100" dirty="0"/>
          </a:p>
        </p:txBody>
      </p:sp>
      <p:sp>
        <p:nvSpPr>
          <p:cNvPr id="22" name="Text 19"/>
          <p:cNvSpPr txBox="1"/>
          <p:nvPr/>
        </p:nvSpPr>
        <p:spPr>
          <a:xfrm>
            <a:off x="566928" y="2267712"/>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4" name="Text 21"/>
          <p:cNvSpPr txBox="1"/>
          <p:nvPr/>
        </p:nvSpPr>
        <p:spPr>
          <a:xfrm>
            <a:off x="7772400" y="2728341"/>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دَرَسْتُ، لَنَجَحْتُ.</a:t>
            </a:r>
            <a:endParaRPr lang="ar-SA" sz="1500" dirty="0"/>
          </a:p>
        </p:txBody>
      </p:sp>
      <p:sp>
        <p:nvSpPr>
          <p:cNvPr id="25" name="Text 22"/>
          <p:cNvSpPr txBox="1"/>
          <p:nvPr/>
        </p:nvSpPr>
        <p:spPr>
          <a:xfrm>
            <a:off x="1755648" y="2728341"/>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keep the la- prefix in every Type 2 result.</a:t>
            </a:r>
            <a:endParaRPr lang="en-US" sz="1100" dirty="0"/>
          </a:p>
        </p:txBody>
      </p:sp>
      <p:sp>
        <p:nvSpPr>
          <p:cNvPr id="26" name="Text 23"/>
          <p:cNvSpPr txBox="1"/>
          <p:nvPr/>
        </p:nvSpPr>
        <p:spPr>
          <a:xfrm>
            <a:off x="566928" y="2728341"/>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7" name="Shape 24"/>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28" name="Text 25"/>
          <p:cNvSpPr txBox="1"/>
          <p:nvPr/>
        </p:nvSpPr>
        <p:spPr>
          <a:xfrm>
            <a:off x="7772400" y="3188970"/>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أَنْجَحَ · ذَكَرَ أَنَّ الوَقْتَ قَصِيرٌ.</a:t>
            </a:r>
            <a:endParaRPr lang="ar-SA" sz="1500" dirty="0"/>
          </a:p>
        </p:txBody>
      </p:sp>
      <p:sp>
        <p:nvSpPr>
          <p:cNvPr id="29" name="Text 26"/>
          <p:cNvSpPr txBox="1"/>
          <p:nvPr/>
        </p:nvSpPr>
        <p:spPr>
          <a:xfrm>
            <a:off x="1755648" y="3188970"/>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 an before a subjunctive and anna before a reported fact.</a:t>
            </a:r>
            <a:endParaRPr lang="en-US" sz="1100" dirty="0"/>
          </a:p>
        </p:txBody>
      </p:sp>
      <p:sp>
        <p:nvSpPr>
          <p:cNvPr id="30" name="Text 27"/>
          <p:cNvSpPr txBox="1"/>
          <p:nvPr/>
        </p:nvSpPr>
        <p:spPr>
          <a:xfrm>
            <a:off x="566928" y="3188970"/>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2" name="Text 29"/>
          <p:cNvSpPr txBox="1"/>
          <p:nvPr/>
        </p:nvSpPr>
        <p:spPr>
          <a:xfrm>
            <a:off x="7772400" y="3649599"/>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الوَقْتَ مَحْدُودٌ …</a:t>
            </a:r>
            <a:endParaRPr lang="ar-SA" sz="1500" dirty="0"/>
          </a:p>
        </p:txBody>
      </p:sp>
      <p:sp>
        <p:nvSpPr>
          <p:cNvPr id="33" name="Text 30"/>
          <p:cNvSpPr txBox="1"/>
          <p:nvPr/>
        </p:nvSpPr>
        <p:spPr>
          <a:xfrm>
            <a:off x="1755648" y="3649599"/>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keep the indicative after ṣaḥīḥun anna.</a:t>
            </a:r>
            <a:endParaRPr lang="en-US" sz="1100" dirty="0"/>
          </a:p>
        </p:txBody>
      </p:sp>
      <p:sp>
        <p:nvSpPr>
          <p:cNvPr id="34" name="Text 31"/>
          <p:cNvSpPr txBox="1"/>
          <p:nvPr/>
        </p:nvSpPr>
        <p:spPr>
          <a:xfrm>
            <a:off x="566928" y="3649599"/>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5" name="Shape 32"/>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36" name="Text 33"/>
          <p:cNvSpPr txBox="1"/>
          <p:nvPr/>
        </p:nvSpPr>
        <p:spPr>
          <a:xfrm>
            <a:off x="7772400" y="4110228"/>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أُطْرُوحَةٌ ← دَلِيلٌ ← تَنَازُلٌ ← رَدٌّ ← خَاتِمَةٌ</a:t>
            </a:r>
            <a:endParaRPr lang="ar-SA" sz="1500" dirty="0"/>
          </a:p>
        </p:txBody>
      </p:sp>
      <p:sp>
        <p:nvSpPr>
          <p:cNvPr id="37" name="Text 34"/>
          <p:cNvSpPr txBox="1"/>
          <p:nvPr/>
        </p:nvSpPr>
        <p:spPr>
          <a:xfrm>
            <a:off x="1755648" y="4110228"/>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can build the full essay architecture from memory.</a:t>
            </a:r>
            <a:endParaRPr lang="en-US" sz="1100" dirty="0"/>
          </a:p>
        </p:txBody>
      </p:sp>
      <p:sp>
        <p:nvSpPr>
          <p:cNvPr id="38" name="Text 35"/>
          <p:cNvSpPr txBox="1"/>
          <p:nvPr/>
        </p:nvSpPr>
        <p:spPr>
          <a:xfrm>
            <a:off x="566928" y="4110228"/>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0" name="Text 37"/>
          <p:cNvSpPr txBox="1"/>
          <p:nvPr/>
        </p:nvSpPr>
        <p:spPr>
          <a:xfrm>
            <a:off x="7790688" y="4570857"/>
            <a:ext cx="3867912" cy="405765"/>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1755648" y="4570857"/>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remember my top Paper 1 listening strategy (annotate + second listen)</a:t>
            </a:r>
            <a:endParaRPr lang="en-US" sz="1100" dirty="0"/>
          </a:p>
        </p:txBody>
      </p:sp>
      <p:sp>
        <p:nvSpPr>
          <p:cNvPr id="42" name="Text 39"/>
          <p:cNvSpPr txBox="1"/>
          <p:nvPr/>
        </p:nvSpPr>
        <p:spPr>
          <a:xfrm>
            <a:off x="566928" y="4570857"/>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Shape 40"/>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44" name="Text 41"/>
          <p:cNvSpPr txBox="1"/>
          <p:nvPr/>
        </p:nvSpPr>
        <p:spPr>
          <a:xfrm>
            <a:off x="7790688" y="5031486"/>
            <a:ext cx="3867912" cy="405765"/>
          </a:xfrm>
          <a:prstGeom prst="rect">
            <a:avLst/>
          </a:prstGeom>
          <a:noFill/>
          <a:ln/>
        </p:spPr>
        <p:txBody>
          <a:bodyPr wrap="square" lIns="0" tIns="0" rIns="0" bIns="0" rtlCol="0" anchor="ctr"/>
          <a:lstStyle/>
          <a:p>
            <a:pPr algn="l" indent="0" marL="0">
              <a:buNone/>
            </a:pPr>
            <a:endParaRPr lang="en-US" sz="1100" dirty="0"/>
          </a:p>
        </p:txBody>
      </p:sp>
      <p:sp>
        <p:nvSpPr>
          <p:cNvPr id="45" name="Text 42"/>
          <p:cNvSpPr txBox="1"/>
          <p:nvPr/>
        </p:nvSpPr>
        <p:spPr>
          <a:xfrm>
            <a:off x="1755648" y="5031486"/>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remember my Paper 2 R3 strategy (analyse the language choice)</a:t>
            </a:r>
            <a:endParaRPr lang="en-US" sz="1100" dirty="0"/>
          </a:p>
        </p:txBody>
      </p:sp>
      <p:sp>
        <p:nvSpPr>
          <p:cNvPr id="46" name="Text 43"/>
          <p:cNvSpPr txBox="1"/>
          <p:nvPr/>
        </p:nvSpPr>
        <p:spPr>
          <a:xfrm>
            <a:off x="566928" y="5031486"/>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Shape 4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48" name="Text 45"/>
          <p:cNvSpPr txBox="1"/>
          <p:nvPr/>
        </p:nvSpPr>
        <p:spPr>
          <a:xfrm>
            <a:off x="7772400" y="5492115"/>
            <a:ext cx="3867912" cy="405765"/>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a:t>
            </a:r>
            <a:endParaRPr lang="ar-SA" sz="1500" dirty="0"/>
          </a:p>
        </p:txBody>
      </p:sp>
      <p:sp>
        <p:nvSpPr>
          <p:cNvPr id="49" name="Text 46"/>
          <p:cNvSpPr txBox="1"/>
          <p:nvPr/>
        </p:nvSpPr>
        <p:spPr>
          <a:xfrm>
            <a:off x="1755648" y="5492115"/>
            <a:ext cx="58521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emergency topic sentences for my three weakest speaking topics</a:t>
            </a:r>
            <a:endParaRPr lang="en-US" sz="1100" dirty="0"/>
          </a:p>
        </p:txBody>
      </p:sp>
      <p:sp>
        <p:nvSpPr>
          <p:cNvPr id="50" name="Text 47"/>
          <p:cNvSpPr txBox="1"/>
          <p:nvPr/>
        </p:nvSpPr>
        <p:spPr>
          <a:xfrm>
            <a:off x="566928" y="5492115"/>
            <a:ext cx="10058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Anything unticked is your final revision list.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PRIORITISE · ACT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final revision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3708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plan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40740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 keep annotating</a:t>
            </a:r>
            <a:endParaRPr lang="en-US" sz="1100" dirty="0"/>
          </a:p>
        </p:txBody>
      </p:sp>
      <p:sp>
        <p:nvSpPr>
          <p:cNvPr id="22" name="Text 19"/>
          <p:cNvSpPr txBox="1"/>
          <p:nvPr/>
        </p:nvSpPr>
        <p:spPr>
          <a:xfrm>
            <a:off x="56692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highest-scoring paper (build on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40740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Writing — the biggest gain</a:t>
            </a:r>
            <a:endParaRPr lang="en-US" sz="1100" dirty="0"/>
          </a:p>
        </p:txBody>
      </p:sp>
      <p:sp>
        <p:nvSpPr>
          <p:cNvPr id="28" name="Text 25"/>
          <p:cNvSpPr txBox="1"/>
          <p:nvPr/>
        </p:nvSpPr>
        <p:spPr>
          <a:xfrm>
            <a:off x="56692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lowest-scoring paper (greatest opportunity)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40740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subjunctive fatḥa · Type 2 la-</a:t>
            </a:r>
            <a:endParaRPr lang="en-US" sz="1100" dirty="0"/>
          </a:p>
        </p:txBody>
      </p:sp>
      <p:sp>
        <p:nvSpPr>
          <p:cNvPr id="34" name="Text 31"/>
          <p:cNvSpPr txBox="1"/>
          <p:nvPr/>
        </p:nvSpPr>
        <p:spPr>
          <a:xfrm>
            <a:off x="56692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two weakest grammar structures</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40740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timed essay every week until the exam</a:t>
            </a:r>
            <a:endParaRPr lang="en-US" sz="1100" dirty="0"/>
          </a:p>
        </p:txBody>
      </p:sp>
      <p:sp>
        <p:nvSpPr>
          <p:cNvPr id="38" name="Text 35"/>
          <p:cNvSpPr txBox="1"/>
          <p:nvPr/>
        </p:nvSpPr>
        <p:spPr>
          <a:xfrm>
            <a:off x="56692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single most important revision action before the exam</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Stretch: put a date beside each action for the next two weeks.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THREE YEARS OF ARABIC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What we know now that we did not know in F1</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لَوْ لَمْ أَتَعَلَّمِ العَرَبِيَّةَ، لَمَا فَهِمْتُ القُرْآنَ بِهٰذَا العُمْقِ.</a:t>
            </a:r>
            <a:endParaRPr lang="ar-SA" sz="14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Arabic sentence</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important Arabic sentence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 the subjunctive fatḥa</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final revision priority</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final revision priority is…</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F1 you could not read one Arabic letter. Today you read academic texts, write argumentative essays and speak on complex topics.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my mock total and predicted grade.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and correct the three most common errors.</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revised my two weakest structures with examples.</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readiness checklist shows what to do before the exam.</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P6-L12 · Celebration — Reflection and the Road Ahead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الاحْتِفَالُ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celebration</a:t>
            </a:r>
            <a:pPr indent="0" marL="0">
              <a:buNone/>
            </a:pPr>
            <a:r>
              <a:rPr lang="en-US" sz="1000" i="1" dirty="0">
                <a:solidFill>
                  <a:srgbClr val="5A6472"/>
                </a:solidFill>
                <a:latin typeface="Calibri" pitchFamily="34" charset="0"/>
                <a:ea typeface="Calibri" pitchFamily="34" charset="-122"/>
                <a:cs typeface="Calibri" pitchFamily="34" charset="-120"/>
              </a:rPr>
              <a:t>  pl. احْتِفَالَاتٌ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الإِنْجَازُ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achievement</a:t>
            </a:r>
            <a:pPr indent="0" marL="0">
              <a:buNone/>
            </a:pPr>
            <a:r>
              <a:rPr lang="en-US" sz="1000" i="1" dirty="0">
                <a:solidFill>
                  <a:srgbClr val="5A6472"/>
                </a:solidFill>
                <a:latin typeface="Calibri" pitchFamily="34" charset="0"/>
                <a:ea typeface="Calibri" pitchFamily="34" charset="-122"/>
                <a:cs typeface="Calibri" pitchFamily="34" charset="-120"/>
              </a:rPr>
              <a:t>  pl. إِنْجَازَاتٌ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الرِّحْلَةُ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journey</a:t>
            </a:r>
            <a:pPr indent="0" marL="0">
              <a:buNone/>
            </a:pPr>
            <a:r>
              <a:rPr lang="en-US" sz="1000" i="1" dirty="0">
                <a:solidFill>
                  <a:srgbClr val="5A6472"/>
                </a:solidFill>
                <a:latin typeface="Calibri" pitchFamily="34" charset="0"/>
                <a:ea typeface="Calibri" pitchFamily="34" charset="-122"/>
                <a:cs typeface="Calibri" pitchFamily="34" charset="-120"/>
              </a:rPr>
              <a:t>  pl. رِحْلَاتٌ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ambition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الطَّرِيقُ إِلَى الأَمَامِ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road ahead</a:t>
            </a:r>
            <a:pPr indent="0" marL="0">
              <a:buNone/>
            </a:pPr>
            <a:r>
              <a:rPr lang="en-US" sz="1000" i="1" dirty="0">
                <a:solidFill>
                  <a:srgbClr val="5A6472"/>
                </a:solidFill>
                <a:latin typeface="Calibri" pitchFamily="34" charset="0"/>
                <a:ea typeface="Calibri" pitchFamily="34" charset="-122"/>
                <a:cs typeface="Calibri" pitchFamily="34" charset="-120"/>
              </a:rPr>
              <a:t>  pl. طُرُقٌ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most beautiful Arabic sentence you can — it will go on your certificate.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الصَّفِّ الأَوَّلِ كُنْتُ ______ ، أَمَّا اليَوْمَ فَأَسْتَطِيعُ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Do one revision action from your plan;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Do two revision actions and re-test the checklist;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Follow day 1 of your dated plan; draft your certificate sentence;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P6-L12 · Celebration — Reflection and the Road Ahead</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الاحْتِفَالُ وَالتَّأَمُّلُ وَالطَّرِيقُ إِلَى الأَمَامِ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your mock is not your final score — fix the subjunctive fatḥa, keep the la- in Type 2 results, use anna for facts, and follow your plan.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P6-L11 · Mock Results, Targeted Revision and Final IGCSE Preparation</dc:title>
  <dc:subject>PptxGenJS Presentation</dc:subject>
  <dc:creator>Al Madina Online School · Arabic Department</dc:creator>
  <cp:lastModifiedBy>Al Madina Online School · Arabic Department</cp:lastModifiedBy>
  <cp:revision>1</cp:revision>
  <dcterms:created xsi:type="dcterms:W3CDTF">2026-10-11T03:39:55Z</dcterms:created>
  <dcterms:modified xsi:type="dcterms:W3CDTF">2026-10-11T03:39:55Z</dcterms:modified>
</cp:coreProperties>
</file>