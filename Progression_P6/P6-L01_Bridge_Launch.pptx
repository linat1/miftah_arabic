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9–15 Exam words · 15–21 The four papers + quick check · 21–31 Readiness audit · 31–36 The Bridge map · 36–41 SMART targets (I Do) · 41–52 Speak + write your targets · 52–57 Journey reflection + self-check · 57–60 Preparation.
FLEX slides are optional. Use them if the class is moving quickly; otherwise the same activities are on the website for homework.
Content source: Miftah Arabic website, Pathways › Progression › P6 IGCSE Bridge › P6-L01. The website P6-L01 “Bridge Launch”: the panel “What is IGCSE Arabic 0544?”, the table of the four papers, the exam-terminology vault (16 words), the F1–P6 grammar readiness tracker (16 structures), the Bridge lesson map (L02–L12), the SMART-target fields (one per paper) and the journey exit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P6 IS DIFFERENT: no new grammar. It is the bridge between three years of Arabic and the IGCSE (0544): full-format practice for each paper (L02–L07), three mock papers under exam conditions (L08–L10), targeted revision (L11) and a celebration (L12).
• Tone: many students feel anxious about exams. Present the audit as a map, not a judgement — a low rating is simply the next revision step. Keep each student’s ratings private (book or private chat).
• Core: rate the 16 structures and write ONE target in English + one Arabic sentence with the frame. Develop: four SMART targets + an Arabic strategy for each. Stretch: a 60–80-word Arabic paragraph on the journey and the plan, with ṣaḥīḥun anna … ghayra anna, yataṭallabu an and law … la-.
• Faith link (optional): «وَقُلْ رَبِّ زِدْنِي عِلْمًا» (Ṭā Hā 20:114) — a dua to open the Bridge; and the hadith «إِنَّ اللَّهَ يُحِبُّ إِذَا عَمِلَ أَحَدُكُمْ عَمَلًا أَنْ يُتْقِنَهُ» — itqān (mastery) is in today’s vocabulary.
• Website fix: هَدَفٌ مَحَدَّدٌ → هَدَفٌ مُحَدَّدٌ (passive participle of Form II حَدَّدَ, “specified”).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P5-L12. Questions 4–5 retrieve the two P5 accuracy rules (ṣaḥīḥun anna + a fact; an + -a) — today students use an + -a for their targets: هَدَفِي أَنْ أُحَسِّنَ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Everything you learned from F1 to P5 is tested somewhere in the IGCSE — today we map it, and set targets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معیار and ہدف are shared — the exam already speaks your language. Careful: Urdu تحقیق = research, but in تَحْقِيقُ الأَهْدَافِ it means ACHIEVING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(1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(2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(1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(2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Ask: “How many of you have ever sat a full four-skill exam?” Reassure: they already sat four-skill unit assessments at the end of every unit (P1–P5 L12). The IGCSE is the same idea — longer, and with every unit mixed together.
WEBSITE PANEL “What is IGCSE Arabic 0544?”: The Cambridge IGCSE Arabic (Foreign Language) 0544 examination has four papers testing the four skills. Together they carry 150 marks. Every structure you have learned from F1 to P6 is tested somewhere across them. P6 is not a new content unit — it is the bridge between three years of learning and the exam. Over the next ten lessons you will practise each paper in full format, sit three mock papers under exam conditions, revise your weak points, and celebrate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PAPERS (3 min) — website table. Point to the last row: grade boundaries A* 135+ · A 120+ · B 105+ · C 90+ (website). Ask students to calculate: what percentage is an A? (120 / 150 =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(2 min) — teacher-made from the website table. Chat four letters on “3-2-1-go”.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point back to the row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1 (website lesson map, L02–L07). The website asks students to annotate their personal targets against each lesson — the third column is for that.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2 (website lesson map, L08–L12). Stress: the mocks are practice, not judgement — their purpose is to find the last gaps in time.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(5 min) — think aloud with the website example. Turn a vague wish into a SMART target on screen: “I want to be better at listening” → S (Paper 1) → M (35+/45) → A (annotate + verify) → T (by the L08 mock). Then say it in Arabic with an + -a: هَدَفِي أَنْ أُحَسِّنَ … · يَتَطَلَّبُ ذٰلِكَ أَنْ أَقْرَأَ … — P5 grammar now serves the student’s own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SMART TARGETS (5 min, website fields). Core: one target in English (Paper 1 or the paper they feel strongest in). Develop / Stretch: all four, each with a strategy. Students keep these in the front of their book — L11 compares them with the mock results.
Website: Make each target specific and tied to a strategy, for example: “Score 35+/45 in Paper 1 by annotating every question before the audio and verifying on the second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prompts on today’s vocabulary. ● 10 s think → ↔ 45 s rehearse muted → ◎ two pairs on open mic → ↺ one student summarises (نُقْطَةُ قُوَّتِهِ … · هَدَفُهُ أَنْ …). To a girl: قُوَّتِكِ · عِنْدَكِ · هَدَفُكِ.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(6 min writing). Live feedback: students post one Arabic sentence in the chat after 3 minutes; correct the an + -a and the ṣaḥīḥun anna + -u in private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on today’s vocabulary and the P5 structures. Develop frame 4 (law … la-) is a reflection: لَوْ رَاجَعْتُ مُبَكِّرًا، لَأَتْقَنْتُ القَوَاعِدَ.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REFLECTION (3 min) — the website exit frames. Note: after أَسْتَطِيعُ أَنْ the verb ends in -a (أَكْتُبَ) — the P4 subjunctive, used about themselves. Invite two or three students to read theirs aloud (by invitation). A moment to celebrate how far they have come.
Website: In F1 you learned to write the letter ب. Today you can construct a formal Arabic argument. Name that journey. (My Arabic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(P6-L02 · Paper 1 Listening — Full Format Practice and Strategy Mastery) will spend class time USING this language, so students prepare it tonight — short, simple, easy to access (school guidance: “Simple, Short, Interesting, Relevant, Easy to access”). The five words come from the website P6-L02 vocabulary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Bridge Launch — Mapping the IGCSE and Setting Personal Targets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إِطْلَاقُ الجِسْرِ — رَسْمُ خَرِيطَةِ الامْتِحَانِ وَتَحْدِيدُ الأَهْدَافِ</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Map the four papers of IGCSE Arabic 0544 (150 marks), audit every grammar structure from F1 to P6 honestly, and set one SMART target per paper — then say it in Arabic: hadafī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P5 grammar and the words you prepared.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Exam words and the four papers.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الامْتِحَانُ</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Audit your grammar and read the Bridge map.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الجَاهِزِيَّةُ</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6B4C9A"/>
          </a:solidFill>
          <a:ln w="12700">
            <a:solidFill>
              <a:srgbClr val="6B4C9A"/>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write a SMART target.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Say and write your four targets.</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أَهْدَافِي</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your journey ·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رِحْلَتِي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Paper 1 Listening.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وَرَقَةُ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hall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paper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page of notes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assessment criteria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results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revision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جَاهِزِيَّةُ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anxiety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date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readiness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أَنَّنَا مُسْتَعِدُّونَ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هَدَفِي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دَرَجَتِي فِي الاسْتِمَاعِ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وَرَقَةُ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 hall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exam paper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page of notes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assessment criteria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results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revision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جَاهِزِيَّةُ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anxiety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 date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exam readiness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أَنَّنَا مُسْتَعِدُّونَ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صَعْبًا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after ṣaḥīḥun anna, the predicate is in -un (a fact).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هَدَفِي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دَرَجَتِي فِي الاسْتِمَاعِ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P4–P5: an + a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Everything you learned from F1 to P5 is tested somewhere in the IGCSE — today we map it, and set targets in Arabic.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هَدَفِي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أَنْ أُحَسِّنَ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صَحِيحٌ أَنَّ … غَيْرَ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the full structure of IGCSE Arabic 0544 Papers 1–4 and their mark allocations.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Audit your own readiness across every grammar structure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Set specific, measurable targets for each of the four papers.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your Arabic learning journey from the first letter to the formal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four papers and their marks.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rate my grammar honestly and write one target.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one SMART target per paper.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a strategy for each target in Arabic.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the 150-mark map and grade boundaries.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60–80-word Arabic plan with P5 structures.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16 exam words from the website in 2 groups. The language of the exam itself — know these terms so instructions and mark schemes are never a barrier.</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Papers and components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Readiness and targets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imtihān · an exam</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وَرَقَةٌ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‎ورق‎ </a:t>
            </a:r>
            <a:pPr indent="0" marL="0">
              <a:buNone/>
            </a:pPr>
            <a:r>
              <a:rPr lang="en-US" sz="950" b="1" dirty="0">
                <a:solidFill>
                  <a:srgbClr val="2E8B57"/>
                </a:solidFill>
                <a:latin typeface="Calibri" pitchFamily="34" charset="0"/>
                <a:ea typeface="Calibri" pitchFamily="34" charset="-122"/>
                <a:cs typeface="Calibri" pitchFamily="34" charset="-120"/>
              </a:rPr>
              <a:t> waraq · a sheet → an exam paper</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مِعْيَارٌ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‎معیار‎ </a:t>
            </a:r>
            <a:pPr indent="0" marL="0">
              <a:buNone/>
            </a:pPr>
            <a:r>
              <a:rPr lang="en-US" sz="950" b="1" dirty="0">
                <a:solidFill>
                  <a:srgbClr val="2E8B57"/>
                </a:solidFill>
                <a:latin typeface="Calibri" pitchFamily="34" charset="0"/>
                <a:ea typeface="Calibri" pitchFamily="34" charset="-122"/>
                <a:cs typeface="Calibri" pitchFamily="34" charset="-120"/>
              </a:rPr>
              <a:t> meyār · a standard, a criterion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a target, an aim</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تَحْقِيقٌ</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Arabic: achieving · Urdu: research</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Papers and components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وَرَقَةُ الامْتِحَانِ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exam paper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wa-ra-qa-tu alm-ti-ḥā-ni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أَوْرَاقُ الامْتِحَانِ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الأُولَى — الاسْتِمَاعُ</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1 —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al-ū-lā — als-ti-mā-ʿu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الثَّانِيَةُ — القِرَاءَةُ</a:t>
            </a:r>
            <a:endParaRPr lang="ar-SA" sz="28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2 — Reading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ath-thā-ni-ya-tu — al-qi-rā-ʾa-tu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الوَرَقَةُ الثَّالِثَةُ — التَّحَدُّثُ</a:t>
            </a:r>
            <a:endParaRPr lang="ar-SA" sz="29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3 — Speaking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ath-thā-li-tha-tu — at-ta-ḥad-du-thu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Papers and components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الرَّابِعَةُ — الكِتَابَةُ</a:t>
            </a:r>
            <a:endParaRPr lang="ar-SA" sz="28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4 —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ar-rā-bi-ʿa-tu — al-ki-tā-ba-tu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مَعَايِيرُ التَّقْيِيمِ</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assessment criteria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ma-ʿā-yī-ru at-taq-yī-mi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مِعْيَارُ التَّقْيِيمِ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مَحَاوِرُ المَوْضُوعَاتِ</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areas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ma-ḥā-wi-ru al-maw-ḍū-ʿā-ti</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مِحْوَرٌ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جَاهِزِيَّةُ الامْتِحَانِ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 readiness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jā-hi-ziy-ya-tu alm-ti-ḥā-ni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Readiness and targets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التَّقْيِيمُ الذَّاتِيُّ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self-assessment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at-taq-yī-mu adh-dhā-tiy-yu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 قُوَّةٍ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 تَحْسِينٍ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area for improvement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ma-jā-lu taḥ-sī-nin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مَجَالَاتُ تَحْسِينٍ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مُحَدَّدٌ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specific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mu-ḥad-da-dun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أَهْدَافٌ مُحَدَّدَةٌ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Readiness and targets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المُرَاجَعَةِ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revision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 al-mu-rā-ja-ʿa-ti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كِفَاءَةُ اللُّغَةِ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ki-fā-ʾa-tu all-lu-gha-ti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إِتْقَانٌ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mastery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it-qā-nun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تَحْقِيقُ الأَهْدَافِ</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achieving goals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taḥ-qī-qu al-ah-dā-fi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MAP · ORIENT · OWN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IGCSE Arabic 0544?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الامْتِحَانُ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Cambridge IGCSE Arabic (Foreign Language) 0544 has FOUR papers testing the four skills: listening, reading, speaking and writing.</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Together they carry 150 marks. Every structure you have learned from F1 to P6 is tested somewhere across them.</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P6 is not a new content unit — it is the bridge between three years of learning and the exam.</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Over the next ten lessons: each paper in full format (L02–L07), three mock papers under exam conditions (L08–L10), targeted revision (L11), and a celebration (L12).</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أَرْبَعُ أَوْرَاقٍ لِأَرْبَعِ مَهَارَاتٍ</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four papers for four skills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مِئَةٌ وَخَمْسُونَ دَرَجَةً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150 marks in total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الحَرْفِ إِلَى الحُجَّةِ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the letter to the argument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FOUR PAPERS AT A GLANCE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 papers at a glance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الأَوْرَاقُ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61888" y="1810512"/>
            <a:ext cx="56967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a:t>
            </a:r>
            <a:endParaRPr lang="en-US" sz="1100" dirty="0"/>
          </a:p>
        </p:txBody>
      </p:sp>
      <p:sp>
        <p:nvSpPr>
          <p:cNvPr id="17" name="Text 14"/>
          <p:cNvSpPr txBox="1"/>
          <p:nvPr/>
        </p:nvSpPr>
        <p:spPr>
          <a:xfrm>
            <a:off x="4608576" y="1810512"/>
            <a:ext cx="1207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3456432" y="1810512"/>
            <a:ext cx="10058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Text 16"/>
          <p:cNvSpPr txBox="1"/>
          <p:nvPr/>
        </p:nvSpPr>
        <p:spPr>
          <a:xfrm>
            <a:off x="19933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20" name="Text 17"/>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5998464" y="2267712"/>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texts: multiple choice / matching / select two</a:t>
            </a:r>
            <a:endParaRPr lang="en-US" sz="1100" dirty="0"/>
          </a:p>
        </p:txBody>
      </p:sp>
      <p:sp>
        <p:nvSpPr>
          <p:cNvPr id="23" name="Text 20"/>
          <p:cNvSpPr txBox="1"/>
          <p:nvPr/>
        </p:nvSpPr>
        <p:spPr>
          <a:xfrm>
            <a:off x="4645152" y="2267712"/>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 min</a:t>
            </a:r>
            <a:endParaRPr lang="en-US" sz="1100" dirty="0"/>
          </a:p>
        </p:txBody>
      </p:sp>
      <p:sp>
        <p:nvSpPr>
          <p:cNvPr id="24" name="Text 21"/>
          <p:cNvSpPr txBox="1"/>
          <p:nvPr/>
        </p:nvSpPr>
        <p:spPr>
          <a:xfrm>
            <a:off x="3493008" y="2267712"/>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25" name="Text 22"/>
          <p:cNvSpPr txBox="1"/>
          <p:nvPr/>
        </p:nvSpPr>
        <p:spPr>
          <a:xfrm>
            <a:off x="202996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a:t>
            </a:r>
            <a:endParaRPr lang="en-US" sz="1100" dirty="0"/>
          </a:p>
        </p:txBody>
      </p:sp>
      <p:sp>
        <p:nvSpPr>
          <p:cNvPr id="26" name="Text 23"/>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5998464" y="300471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texts, six question groups (incl. Q4 gap-fill, Q5 cross-text)</a:t>
            </a:r>
            <a:endParaRPr lang="en-US" sz="1100" dirty="0"/>
          </a:p>
        </p:txBody>
      </p:sp>
      <p:sp>
        <p:nvSpPr>
          <p:cNvPr id="31" name="Text 28"/>
          <p:cNvSpPr txBox="1"/>
          <p:nvPr/>
        </p:nvSpPr>
        <p:spPr>
          <a:xfrm>
            <a:off x="4645152" y="300471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 min</a:t>
            </a:r>
            <a:endParaRPr lang="en-US" sz="1100" dirty="0"/>
          </a:p>
        </p:txBody>
      </p:sp>
      <p:sp>
        <p:nvSpPr>
          <p:cNvPr id="32" name="Text 29"/>
          <p:cNvSpPr txBox="1"/>
          <p:nvPr/>
        </p:nvSpPr>
        <p:spPr>
          <a:xfrm>
            <a:off x="3493008" y="300471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3" name="Text 30"/>
          <p:cNvSpPr txBox="1"/>
          <p:nvPr/>
        </p:nvSpPr>
        <p:spPr>
          <a:xfrm>
            <a:off x="202996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a:t>
            </a:r>
            <a:endParaRPr lang="en-US" sz="1100" dirty="0"/>
          </a:p>
        </p:txBody>
      </p:sp>
      <p:sp>
        <p:nvSpPr>
          <p:cNvPr id="34" name="Text 31"/>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5998464" y="3741725"/>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(10) + topic conversation (20)</a:t>
            </a:r>
            <a:endParaRPr lang="en-US" sz="1100" dirty="0"/>
          </a:p>
        </p:txBody>
      </p:sp>
      <p:sp>
        <p:nvSpPr>
          <p:cNvPr id="39" name="Text 36"/>
          <p:cNvSpPr txBox="1"/>
          <p:nvPr/>
        </p:nvSpPr>
        <p:spPr>
          <a:xfrm>
            <a:off x="4645152" y="3741725"/>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 min</a:t>
            </a:r>
            <a:endParaRPr lang="en-US" sz="1100" dirty="0"/>
          </a:p>
        </p:txBody>
      </p:sp>
      <p:sp>
        <p:nvSpPr>
          <p:cNvPr id="40" name="Text 37"/>
          <p:cNvSpPr txBox="1"/>
          <p:nvPr/>
        </p:nvSpPr>
        <p:spPr>
          <a:xfrm>
            <a:off x="3493008" y="3741725"/>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1" name="Text 38"/>
          <p:cNvSpPr txBox="1"/>
          <p:nvPr/>
        </p:nvSpPr>
        <p:spPr>
          <a:xfrm>
            <a:off x="202996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Speaking</a:t>
            </a:r>
            <a:endParaRPr lang="en-US" sz="1100" dirty="0"/>
          </a:p>
        </p:txBody>
      </p:sp>
      <p:sp>
        <p:nvSpPr>
          <p:cNvPr id="42" name="Text 39"/>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5998464" y="4478731"/>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 directed writing (15) + Q2 extended writing (15)</a:t>
            </a:r>
            <a:endParaRPr lang="en-US" sz="1100" dirty="0"/>
          </a:p>
        </p:txBody>
      </p:sp>
      <p:sp>
        <p:nvSpPr>
          <p:cNvPr id="47" name="Text 44"/>
          <p:cNvSpPr txBox="1"/>
          <p:nvPr/>
        </p:nvSpPr>
        <p:spPr>
          <a:xfrm>
            <a:off x="4645152" y="4478731"/>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60 min</a:t>
            </a:r>
            <a:endParaRPr lang="en-US" sz="1100" dirty="0"/>
          </a:p>
        </p:txBody>
      </p:sp>
      <p:sp>
        <p:nvSpPr>
          <p:cNvPr id="48" name="Text 45"/>
          <p:cNvSpPr txBox="1"/>
          <p:nvPr/>
        </p:nvSpPr>
        <p:spPr>
          <a:xfrm>
            <a:off x="3493008" y="4478731"/>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9" name="Text 46"/>
          <p:cNvSpPr txBox="1"/>
          <p:nvPr/>
        </p:nvSpPr>
        <p:spPr>
          <a:xfrm>
            <a:off x="202996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a:t>
            </a:r>
            <a:endParaRPr lang="en-US" sz="1100" dirty="0"/>
          </a:p>
        </p:txBody>
      </p:sp>
      <p:sp>
        <p:nvSpPr>
          <p:cNvPr id="50" name="Text 47"/>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a:t>
            </a:r>
            <a:endParaRPr lang="en-US" sz="11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5998464" y="521573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Grade A* = 135+ · A = 120+ · B = 105+ · C = 90+</a:t>
            </a:r>
            <a:endParaRPr lang="en-US" sz="1100" dirty="0"/>
          </a:p>
        </p:txBody>
      </p:sp>
      <p:sp>
        <p:nvSpPr>
          <p:cNvPr id="55" name="Text 52"/>
          <p:cNvSpPr txBox="1"/>
          <p:nvPr/>
        </p:nvSpPr>
        <p:spPr>
          <a:xfrm>
            <a:off x="4645152" y="521573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3493008" y="521573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150</a:t>
            </a:r>
            <a:endParaRPr lang="en-US" sz="1100" dirty="0"/>
          </a:p>
        </p:txBody>
      </p:sp>
      <p:sp>
        <p:nvSpPr>
          <p:cNvPr id="57" name="Text 54"/>
          <p:cNvSpPr txBox="1"/>
          <p:nvPr/>
        </p:nvSpPr>
        <p:spPr>
          <a:xfrm>
            <a:off x="202996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four</a:t>
            </a:r>
            <a:endParaRPr lang="en-US" sz="1100" dirty="0"/>
          </a:p>
        </p:txBody>
      </p:sp>
      <p:sp>
        <p:nvSpPr>
          <p:cNvPr id="58" name="Text 55"/>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Total</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Listening and reading carry 90 of the 150 marks — 60% of the exam is understanding.</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THE FOUR PAPERS (TEACHER-MADE)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marks is Paper 1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paper includes a role play?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3 — Speaking</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4 — Writing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2 — Reading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Paper 4 (Writing)?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minutes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minutes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 minutes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total gives an A*?</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marks is Paper 1 (Listening)?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table: Paper 1 = 45 marks.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paper includes a role play?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 3 — Speaking</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4 — Writing</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2 — Reading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Paper 3: role play (10) + topic conversation (20).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Paper 4 (Writing)?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minutes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 minutes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 minutes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Paper 4: Q1 directed writing (15) + Q2 extended writing (15), 60 minutes.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total gives an A*?</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120+</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boundaries: A* 135+ · A 120+ · B 105+ · C 90+.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F1–P6 GRAMMAR READINESS AUDIT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Grammar readiness tracker — the full F1–P6 audit</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يَكْتُبُ / يَتَنَاوَلُ / يَسْتَمِعُ</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tense (Forms I/V/VIII)</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كَتَبَ / كَتَبُوا</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(singular and plural)</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سَـ / سَوْفَ / لَنْ</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tense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الَّذِي / الَّتِي</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clauses</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أَفْعَلُ / أَكْثَرُ</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Comparatives and superlatives</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يُكْتَبُ / دُمِّرَتْ</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passive voice</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 سَـ</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 1</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 لَـ</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 2</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F1–P6 GRAMMAR READINESS AUDIT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Grammar readiness tracker — the full F1–P6 audit (continued)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قَالَ إِنَّ / أَكَّدَ أَنَّ</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قَدْ</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purpose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necessity</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 يُطَالِبُ بِأَنْ</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volition</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Refutation</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وَبِنَاءً عَلَى مَا سَبَقَ</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 connector</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Bridge: lessons 2–7 (full-format practice)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357616" y="226771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572768" y="226771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 full-format practice and strategy</a:t>
            </a:r>
            <a:endParaRPr lang="en-US" sz="1100" dirty="0"/>
          </a:p>
        </p:txBody>
      </p:sp>
      <p:sp>
        <p:nvSpPr>
          <p:cNvPr id="22" name="Text 19"/>
          <p:cNvSpPr txBox="1"/>
          <p:nvPr/>
        </p:nvSpPr>
        <p:spPr>
          <a:xfrm>
            <a:off x="566928" y="226771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L02</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357616" y="2881884"/>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1572768" y="2881884"/>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 full-format practice and R1–R4 mastery</a:t>
            </a:r>
            <a:endParaRPr lang="en-US" sz="1100" dirty="0"/>
          </a:p>
        </p:txBody>
      </p:sp>
      <p:sp>
        <p:nvSpPr>
          <p:cNvPr id="26" name="Text 23"/>
          <p:cNvSpPr txBox="1"/>
          <p:nvPr/>
        </p:nvSpPr>
        <p:spPr>
          <a:xfrm>
            <a:off x="566928" y="2881884"/>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357616" y="3496056"/>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1572768" y="3496056"/>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Q1 — directed writing, form and register</a:t>
            </a:r>
            <a:endParaRPr lang="en-US" sz="1100" dirty="0"/>
          </a:p>
        </p:txBody>
      </p:sp>
      <p:sp>
        <p:nvSpPr>
          <p:cNvPr id="30" name="Text 27"/>
          <p:cNvSpPr txBox="1"/>
          <p:nvPr/>
        </p:nvSpPr>
        <p:spPr>
          <a:xfrm>
            <a:off x="566928" y="3496056"/>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L04</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357616" y="4110228"/>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572768" y="4110228"/>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Q2 — extended writing, essay architecture</a:t>
            </a:r>
            <a:endParaRPr lang="en-US" sz="1100" dirty="0"/>
          </a:p>
        </p:txBody>
      </p:sp>
      <p:sp>
        <p:nvSpPr>
          <p:cNvPr id="34" name="Text 31"/>
          <p:cNvSpPr txBox="1"/>
          <p:nvPr/>
        </p:nvSpPr>
        <p:spPr>
          <a:xfrm>
            <a:off x="566928" y="4110228"/>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357616" y="4724400"/>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1572768" y="4724400"/>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role play, transactional language</a:t>
            </a:r>
            <a:endParaRPr lang="en-US" sz="1100" dirty="0"/>
          </a:p>
        </p:txBody>
      </p:sp>
      <p:sp>
        <p:nvSpPr>
          <p:cNvPr id="38" name="Text 35"/>
          <p:cNvSpPr txBox="1"/>
          <p:nvPr/>
        </p:nvSpPr>
        <p:spPr>
          <a:xfrm>
            <a:off x="566928" y="4724400"/>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L06</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357616" y="533857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1" name="Text 38"/>
          <p:cNvSpPr txBox="1"/>
          <p:nvPr/>
        </p:nvSpPr>
        <p:spPr>
          <a:xfrm>
            <a:off x="1572768" y="533857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topic conversation, extended speaking</a:t>
            </a:r>
            <a:endParaRPr lang="en-US" sz="1100" dirty="0"/>
          </a:p>
        </p:txBody>
      </p:sp>
      <p:sp>
        <p:nvSpPr>
          <p:cNvPr id="42" name="Text 39"/>
          <p:cNvSpPr txBox="1"/>
          <p:nvPr/>
        </p:nvSpPr>
        <p:spPr>
          <a:xfrm>
            <a:off x="566928" y="533857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L07</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next to each lesson: which of your two lowest audit ratings it will help.</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 Bridge: lessons 8–12 (mocks, revision, celebration)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57616" y="2267712"/>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572768" y="2267712"/>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 1 Listening (exam conditions)</a:t>
            </a:r>
            <a:endParaRPr lang="en-US" sz="1100" dirty="0"/>
          </a:p>
        </p:txBody>
      </p:sp>
      <p:sp>
        <p:nvSpPr>
          <p:cNvPr id="22" name="Text 19"/>
          <p:cNvSpPr txBox="1"/>
          <p:nvPr/>
        </p:nvSpPr>
        <p:spPr>
          <a:xfrm>
            <a:off x="566928" y="2267712"/>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357616" y="300471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1572768" y="300471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Papers 2 + 4 Reading + Writing (exam conditions)</a:t>
            </a:r>
            <a:endParaRPr lang="en-US" sz="1100" dirty="0"/>
          </a:p>
        </p:txBody>
      </p:sp>
      <p:sp>
        <p:nvSpPr>
          <p:cNvPr id="26" name="Text 23"/>
          <p:cNvSpPr txBox="1"/>
          <p:nvPr/>
        </p:nvSpPr>
        <p:spPr>
          <a:xfrm>
            <a:off x="566928" y="300471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L09</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357616" y="3741725"/>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1572768" y="3741725"/>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 3 Speaking (exam conditions)</a:t>
            </a:r>
            <a:endParaRPr lang="en-US" sz="1100" dirty="0"/>
          </a:p>
        </p:txBody>
      </p:sp>
      <p:sp>
        <p:nvSpPr>
          <p:cNvPr id="30" name="Text 27"/>
          <p:cNvSpPr txBox="1"/>
          <p:nvPr/>
        </p:nvSpPr>
        <p:spPr>
          <a:xfrm>
            <a:off x="566928" y="3741725"/>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L10</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357616" y="4478731"/>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572768" y="4478731"/>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results, targeted revision, final preparation</a:t>
            </a:r>
            <a:endParaRPr lang="en-US" sz="1100" dirty="0"/>
          </a:p>
        </p:txBody>
      </p:sp>
      <p:sp>
        <p:nvSpPr>
          <p:cNvPr id="34" name="Text 31"/>
          <p:cNvSpPr txBox="1"/>
          <p:nvPr/>
        </p:nvSpPr>
        <p:spPr>
          <a:xfrm>
            <a:off x="566928" y="4478731"/>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L11</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357616" y="521573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1572768" y="521573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Celebration, reflection and the road ahead</a:t>
            </a:r>
            <a:endParaRPr lang="en-US" sz="1100" dirty="0"/>
          </a:p>
        </p:txBody>
      </p:sp>
      <p:sp>
        <p:nvSpPr>
          <p:cNvPr id="38" name="Text 35"/>
          <p:cNvSpPr txBox="1"/>
          <p:nvPr/>
        </p:nvSpPr>
        <p:spPr>
          <a:xfrm>
            <a:off x="566928" y="521573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L12</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mocks, one revision lesson, one celebration — the exam format becomes familiar before the real day.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WRITE A SMART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a wish to a SMART target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هَدَفٌ مُحَدَّدٌ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 · M · A · R · 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SPECIFIC — name the paper and the skill: not “get better at Arabic” but “Paper 1 Listening”.</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MEASURABLE — a score: “35+ out of 45” (website example).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ACTION-BASED — tie it to a strategy: “by annotating every question before the audio”.</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REALISTIC + TIMED — check it against your audit; “by the L08 mock”.</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SAY IT IN ARABIC (an + -a)</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هَدَفِي أَنْ أُحَسِّنَ دَرَجَتِي فِي الاسْتِمَاعِ</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target is to improve my listening score</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وَيَتَطَلَّبُ ذٰلِكَ أَنْ أَقْرَأَ الأَسْئِلَةَ قَبْلَ الاسْتِمَاعِ</a:t>
            </a:r>
            <a:endParaRPr lang="ar-SA" sz="225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and that requires me to read the questions before listening</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وَلَوْ رَاجَعْتُ كُلَّ أُسْبُوعٍ، لَأَتْقَنْتُ القَوَاعِدَ</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had I revised every week, I would have mastered the grammar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WEBSITE EXAMPLE</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“Score 35+/45 in Paper 1 by annotating every question before the audio and verifying on the second listen.”</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SMART TARGETS — ONE PER PAPER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SMART targets — one per paper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أَهْدَافِي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style)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49300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35+/45 by annotating every question and verifying on the 2nd listen</a:t>
            </a:r>
            <a:endParaRPr lang="en-US" sz="11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target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49300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35+/45 by finding the key word in the text before choosing</a:t>
            </a:r>
            <a:endParaRPr lang="en-US" sz="11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target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1" name="Text 28"/>
          <p:cNvSpPr txBox="1"/>
          <p:nvPr/>
        </p:nvSpPr>
        <p:spPr>
          <a:xfrm>
            <a:off x="349300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24+/30 by answering every question with opinion + reason + example</a:t>
            </a:r>
            <a:endParaRPr lang="en-US" sz="1100" dirty="0"/>
          </a:p>
        </p:txBody>
      </p:sp>
      <p:sp>
        <p:nvSpPr>
          <p:cNvPr id="32" name="Text 2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(Speaking) target</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5" name="Text 32"/>
          <p:cNvSpPr txBox="1"/>
          <p:nvPr/>
        </p:nvSpPr>
        <p:spPr>
          <a:xfrm>
            <a:off x="349300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24+/30 by planning the essay architecture before writing</a:t>
            </a:r>
            <a:endParaRPr lang="en-US" sz="1100" dirty="0"/>
          </a:p>
        </p:txBody>
      </p:sp>
      <p:sp>
        <p:nvSpPr>
          <p:cNvPr id="36" name="Text 3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(Writing) target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Specific · measurable · tied to a strategy. Write all four in your book — we will check them after each mock.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strengths, my targets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 فِي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مَجَالُ التَّحْسِينِ عِنْدَكَ، وَمَا هَدَفُكَ؟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يَتَطَلَّبُ تَحْقِيقُ هَدَفِكَ؟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نُقْطَةُ قُوَّتِي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مَجَالُ تَحْسِينِي ___ ، وَهَدَفِي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يَتَطَلَّبُ تَحْقِيقُ هَدَفِي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نُقْطَةُ قُوَّتِي القِرَاءَةُ، وَمَجَالُ تَحْسِينِي الاسْتِمَاعُ.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strength is reading; my area for improvement is listening.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هَدَفِي أَنْ أُحَسِّنَ دَرَجَتِي، وَيَتَطَلَّبُ ذٰلِكَ أَنْ أَقْرَأَ الأَسْئِلَةَ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My target is to improve my score; that requires reading the questions first.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WRITE YOUR PLAN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ea typeface="Cambria" pitchFamily="34" charset="-122"/>
                <a:cs typeface="Cambria" pitchFamily="34" charset="-120"/>
              </a:rPr>
              <a:t>1 target + 2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One SMART target in English, then two Arabic sentences with the frames nuqṭatu quwwatī … and hadafī an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slide. Check: the verb after أَنْ ends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800" b="1" dirty="0">
                <a:solidFill>
                  <a:srgbClr val="C9780A"/>
                </a:solidFill>
                <a:latin typeface="Cambria" pitchFamily="34" charset="0"/>
                <a:ea typeface="Cambria" pitchFamily="34" charset="-122"/>
                <a:cs typeface="Cambria" pitchFamily="34" charset="-120"/>
              </a:rPr>
              <a:t>4 targets + 4 strategies</a:t>
            </a:r>
            <a:endParaRPr lang="en-US" sz="18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All four SMART targets, and for each one an Arabic strategy with yataṭallabu an or yanbaghī 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line per paper. Check every -a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Arabic paragraph: my journey and my exam plan — with ṣaḥīḥun anna … ghayra anna, yataṭallabu an and law … la-.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bada’tu riḥlatī …; close with wa-bināʾan ʿalā mā sabaqa.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تَحْقِيقُ هَدَفِي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Achieving my target requires me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______ قَبْلَ الامْتِحَانِ.</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ought to … before the exam.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 however,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رَاجَعْتُ مُبَكِّرًا، لَأَتْقَنْتُ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I revised earlier,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نُقْطَةُ قُوَّتِي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strength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مَجَالُ تَحْسِينِي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area for improvement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أَنْ أُحَسِّنَ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to improve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سَأُرَاجِعُ ______ كُلَّ أُسْبُوعٍ.</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revise … every week.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القِرَاءَةُ  ·  الاسْتِمَاعُ  ·  التَّحَدُّثُ  ·  الكِتَابَةُ  ·  دَرَجَتِي  ·  أَقْرَأَ الأَسْئِلَةَ أَوَّلًا  ·  أُرَاجِعَ القَوَاعِدَ  ·  أُخَطِّطَ لِلْمَقَالِ  ·  المُضَارِعَ المَنْصُوبَ  ·  الشَّرْطَ  ·  الوَقْتَ مَحْدُودٌ  ·  الإِتْقَانَ مُمْكِنٌ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JOURNEY — FROM LETTER TO ARGUMENT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journey — from letter to argument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رِحْلَتِي مَعَ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حَرْفِ البَاءِ</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began my journey with Arabic with …</a:t>
            </a:r>
            <a:endParaRPr lang="en-US" sz="1100" dirty="0"/>
          </a:p>
        </p:txBody>
      </p:sp>
      <p:sp>
        <p:nvSpPr>
          <p:cNvPr id="22" name="Text 19"/>
          <p:cNvSpPr txBox="1"/>
          <p:nvPr/>
        </p:nvSpPr>
        <p:spPr>
          <a:xfrm>
            <a:off x="548640" y="2267712"/>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بَدَأْتُ رِحْلَتِي مَعَ العَرَبِيَّةِ بِـ…</a:t>
            </a:r>
            <a:endParaRPr lang="ar-SA" sz="18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12480" y="3054096"/>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أَكْتُبَ مَقَالًا حِجَاجِيًّا</a:t>
            </a:r>
            <a:endParaRPr lang="ar-SA" sz="15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today I am able to …</a:t>
            </a:r>
            <a:endParaRPr lang="en-US" sz="1100" dirty="0"/>
          </a:p>
        </p:txBody>
      </p:sp>
      <p:sp>
        <p:nvSpPr>
          <p:cNvPr id="26" name="Text 23"/>
          <p:cNvSpPr txBox="1"/>
          <p:nvPr/>
        </p:nvSpPr>
        <p:spPr>
          <a:xfrm>
            <a:off x="548640" y="3054096"/>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وَاليَوْمَ أَسْتَطِيعُ أَنْ…</a:t>
            </a:r>
            <a:endParaRPr lang="ar-SA" sz="18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أُحَقِّقَ أَعْلَى دَرَجَةٍ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my target in the exam is to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وَهَدَفِي فِي الامْتِحَانِ أَنْ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F1 you learned to write the letter </a:t>
            </a:r>
            <a:pPr algn="l" indent="0" marL="0">
              <a:buNone/>
            </a:pPr>
            <a:r>
              <a:rPr lang="ar-SA" altLang="en-US" sz="1500" b="1" dirty="0">
                <a:solidFill>
                  <a:srgbClr val="1B3B6F"/>
                </a:solidFill>
                <a:latin typeface="Amiri" pitchFamily="34" charset="0"/>
                <a:ea typeface="Amiri" pitchFamily="34" charset="-122"/>
                <a:cs typeface="Amiri" pitchFamily="34" charset="-120"/>
              </a:rPr>
              <a:t>ب</a:t>
            </a:r>
            <a:pPr algn="l" indent="0" marL="0">
              <a:buNone/>
            </a:pPr>
            <a:r>
              <a:rPr lang="en-US" sz="1150" b="1" dirty="0">
                <a:solidFill>
                  <a:srgbClr val="1B3B6F"/>
                </a:solidFill>
                <a:latin typeface="Calibri" pitchFamily="34" charset="0"/>
                <a:ea typeface="Calibri" pitchFamily="34" charset="-122"/>
                <a:cs typeface="Calibri" pitchFamily="34" charset="-120"/>
              </a:rPr>
              <a:t>. Today you can build a formal Arabic argument. Name that journey.</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state the marks, timing and format of each of the four papers.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rated my confidence in every F1–P6 grammar structure honestly.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written one SMART target per paper.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a specific strategy that will move each target forward.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my target in Arabic with an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P6-L02 · Paper 1 Listening — Full Format Practice and Strategy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strategies</a:t>
            </a:r>
            <a:pPr indent="0" marL="0">
              <a:buNone/>
            </a:pPr>
            <a:r>
              <a:rPr lang="en-US" sz="1000" i="1" dirty="0">
                <a:solidFill>
                  <a:srgbClr val="5A6472"/>
                </a:solidFill>
                <a:latin typeface="Calibri" pitchFamily="34" charset="0"/>
                <a:ea typeface="Calibri" pitchFamily="34" charset="-122"/>
                <a:cs typeface="Calibri" pitchFamily="34" charset="-120"/>
              </a:rPr>
              <a:t>  sg. اسْتِرَاتِيجِيَّةٌ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the questions in advance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الاسْتِمَاعُ الأَوَّلُ لِلْفَهْمِ العَامِّ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listen for gist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التَّحَقُّقُ فِي الاسْتِمَاعِ الثَّانِي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verifying on the second listen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مُشَتِّتَاتُ الاسْتِمَاعِ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distractors</a:t>
            </a:r>
            <a:pPr indent="0" marL="0">
              <a:buNone/>
            </a:pPr>
            <a:r>
              <a:rPr lang="en-US" sz="1000" i="1" dirty="0">
                <a:solidFill>
                  <a:srgbClr val="5A6472"/>
                </a:solidFill>
                <a:latin typeface="Calibri" pitchFamily="34" charset="0"/>
                <a:ea typeface="Calibri" pitchFamily="34" charset="-122"/>
                <a:cs typeface="Calibri" pitchFamily="34" charset="-120"/>
              </a:rPr>
              <a:t>  sg. مُشَتِّتٌ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in the 30 seconds before a listening text begins?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قَبْلَ الاسْتِمَاعِ، أَقْرَأُ ______ وَأُحَدِّدُ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your four SMART targets into the front of your book;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an Arabic strategy line to each target;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60–80-word Arabic paragraph on your journey and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P6-L02 · Paper 1 Listening — Full Format Practice and Strategy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الأُولَى —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papers · 150 marks · one SMART target per paper — and say it in Arabic: hadafī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P6-L01 · Bridge Launch — Mapping the IGCSE and Setting Personal Targets</dc:title>
  <dc:subject>PptxGenJS Presentation</dc:subject>
  <dc:creator>Al Madina Online School · Arabic Department</dc:creator>
  <cp:lastModifiedBy>Al Madina Online School · Arabic Department</cp:lastModifiedBy>
  <cp:revision>1</cp:revision>
  <dcterms:created xsi:type="dcterms:W3CDTF">2026-10-11T03:31:08Z</dcterms:created>
  <dcterms:modified xsi:type="dcterms:W3CDTF">2026-10-11T03:31:08Z</dcterms:modified>
</cp:coreProperties>
</file>