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2–8 Do Now + answers · 8–9 Objectives · 9–15 Exam words · 15–21 The four papers + quick check · 21–31 Readiness audit · 31–36 The Bridge map · 36–41 SMART targets (I Do) · 41–52 Speak + write your targets · 52–57 Journey reflection + self-check · 57–60 Preparation.
FLEX slides are optional. Use them if the class is moving quickly; otherwise the same activities are on the website for homework.
Content source: Miftah Arabic website, Pathways › Progression › P6 IGCSE Bridge › P6-L01. The website P6-L01 “Bridge Launch”: the panel “What is IGCSE Arabic 0544?”, the table of the four papers, the exam-terminology vault (16 words), the F1–P6 grammar readiness tracker (16 structures), the Bridge lesson map (L02–L12), the SMART-target fields (one per paper) and the journey exit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P6 IS DIFFERENT: no new grammar. It is the bridge between three years of Arabic and the IGCSE (0544): full-format practice for each paper (L02–L07), three mock papers under exam conditions (L08–L10), targeted revision (L11) and a celebration (L12).
• Tone: many students feel anxious about exams. Present the audit as a map, not a judgement — a low rating is simply the next revision step. Keep each student’s ratings private (book or private chat).
• Core: rate the 16 structures and write ONE target in English + one Arabic sentence with the frame. Develop: four SMART targets + an Arabic strategy for each. Stretch: a 60–80-word Arabic paragraph on the journey and the plan, with ṣaḥīḥun anna … ghayra anna, yataṭallabu an and law … la-.
• Faith link (optional): «وَقُلْ رَبِّ زِدْنِي عِلْمًا» (Ṭā Hā 20:114) — a dua to open the Bridge; and the hadith «إِنَّ اللَّهَ يُحِبُّ إِذَا عَمِلَ أَحَدُكُمْ عَمَلًا أَنْ يُتْقِنَهُ» — itqān (mastery) is in today’s vocabulary.
• Website fix: هَدَفٌ مَحَدَّدٌ → هَدَفٌ مُحَدَّدٌ (passive participle of Form II حَدَّدَ, “specified”).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P5-L12. Questions 4–5 retrieve the two P5 accuracy rules (ṣaḥīḥun anna + a fact; an + -a) — today students use an + -a for their targets: هَدَفِي أَنْ أُحَسِّنَ …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Everything you learned from F1 to P5 is tested somewhere in the IGCSE — today we map it, and set targets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امتحان, معیار and ہدف are shared — the exam already speaks your language. Careful: Urdu تحقیق = research, but in تَحْقِيقُ الأَهْدَافِ it means ACHIEVING (the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Papers and components (website vocabulary (1 of 2)). Hear → Say → See → Use. Transliteration is printed for Core students (cover it for Develop/Stretch).
Papers: the ordinal numbers are feminine because وَرَقَةٌ is feminine — الوَرَقَةُ الأُولَى · الثَّانِيَةُ · الثَّالِثَةُ · الرَّابِعَةُ. مَعَايِيرُ (sg. مِعْيَارٌ) are the criteria the examiner uses — Task Completion, Range,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Papers and components (website vocabulary (2 of 2)). Hear → Say → See → Use. Transliteration is printed for Core students (cover it for Develop/Stretch).
Papers: the ordinal numbers are feminine because وَرَقَةٌ is feminine — الوَرَقَةُ الأُولَى · الثَّانِيَةُ · الثَّالِثَةُ · الرَّابِعَةُ. مَعَايِيرُ (sg. مِعْيَارٌ) are the criteria the examiner uses — Task Completion, Range,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Readiness and targets (website vocabulary (1 of 2)). Hear → Say → See → Use. Transliteration is printed for Core students (cover it for Develop/Stretch).
Readiness and targets: نُقْطَةُ قُوَّةٍ (a strength) ↔ مَجَالُ تَحْسِينٍ (an area for improvement). هَدَفٌ مُحَدَّدٌ = a SPECIFIC target (the website prints مَحَدَّدٌ; the participle of Form II حَدَّدَ is مُحَدَّدٌ). Say your target with an + -a: هَدَفِي أَنْ أُتْقِنَ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Readiness and targets (website vocabulary (2 of 2)). Hear → Say → See → Use. Transliteration is printed for Core students (cover it for Develop/Stretch).
Readiness and targets: نُقْطَةُ قُوَّةٍ (a strength) ↔ مَجَالُ تَحْسِينٍ (an area for improvement). هَدَفٌ مُحَدَّدٌ = a SPECIFIC target (the website prints مَحَدَّدٌ; the participle of Form II حَدَّدَ is مُحَدَّدٌ). Say your target with an + -a: هَدَفِي أَنْ أُتْقِنَ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the website panel. Ask: “How many of you have ever sat a full four-skill exam?” Reassure: they already sat four-skill unit assessments at the end of every unit (P1–P5 L12). The IGCSE is the same idea — longer, and with every unit mixed together.
WEBSITE PANEL “What is IGCSE Arabic 0544?”: The Cambridge IGCSE Arabic (Foreign Language) 0544 examination has four papers testing the four skills. Together they carry 150 marks. Every structure you have learned from F1 to P6 is tested somewhere across them. P6 is not a new content unit — it is the bridge between three years of learning and the exam. Over the next ten lessons you will practise each paper in full format, sit three mock papers under exam conditions, revise your weak points, and celebrate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PAPERS (3 min) — website table. Point to the last row: grade boundaries A* 135+ · A 120+ · B 105+ · C 90+ (website). Ask students to calculate: what percentage is an A? (120 / 150 =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(2 min) — teacher-made from the website table. Chat four letters on “3-2-1-go”.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point back to the row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READINESS AUDIT (8 min, both slides). Students copy the table into their book (or use the website tracker) and rate each structure 1–5, then write ONE example sentence from memory for each structure they rate 3+.
Core: rate all 16, write examples for four. Develop: examples for eight. Stretch: examples for all 16.
Keep ratings private. After 8 minutes: each student circles their TWO lowest ratings — these become their revision agenda (L11 returns to them).
Website: For each structure, rate your confidence 1–5 and write one example sentence from memory. Your lowest ratings are your revision agenda for the lessons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READINESS AUDIT (8 min, both slides). Students copy the table into their book (or use the website tracker) and rate each structure 1–5, then write ONE example sentence from memory for each structure they rate 3+.
Core: rate all 16, write examples for four. Develop: examples for eight. Stretch: examples for all 16.
Keep ratings private. After 8 minutes: each student circles their TWO lowest ratings — these become their revision agenda (L11 returns to them).
Website: For each structure, rate your confidence 1–5 and write one example sentence from memory. Your lowest ratings are your revision agenda for the lessons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MAP 1 (website lesson map, L02–L07). The website asks students to annotate their personal targets against each lesson — the third column is for that.
Website: Annotate your personal targets against each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MAP 2 (website lesson map, L08–L12). Stress: the mocks are practice, not judgement — their purpose is to find the last gaps in time.
Website: Annotate your personal targets against each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(5 min) — think aloud with the website example. Turn a vague wish into a SMART target on screen: “I want to be better at listening” → S (Paper 1) → M (35+/45) → A (annotate + verify) → T (by the L08 mock). Then say it in Arabic with an + -a: هَدَفِي أَنْ أُحَسِّنَ … · يَتَطَلَّبُ ذٰلِكَ أَنْ أَقْرَأَ … — P5 grammar now serves the student’s own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SMART TARGETS (5 min, website fields). Core: one target in English (Paper 1 or the paper they feel strongest in). Develop / Stretch: all four, each with a strategy. Students keep these in the front of their book — L11 compares them with the mock results.
Website: Make each target specific and tied to a strategy, for example: “Score 35+/45 in Paper 1 by annotating every question before the audio and verifying on the second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(4 min) — teacher-made prompts on today’s vocabulary. ● 10 s think → ↔ 45 s rehearse muted → ◎ two pairs on open mic → ↺ one student summarises (نُقْطَةُ قُوَّتِهِ … · هَدَفُهُ أَنْ …). To a girl: قُوَّتِكِ · عِنْدَكِ · هَدَفُكِ.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(6 min writing). Live feedback: students post one Arabic sentence in the chat after 3 minutes; correct the an + -a and the ṣaḥīḥun anna + -u in private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Frames on today’s vocabulary and the P5 structures. Develop frame 4 (law … la-) is a reflection: لَوْ رَاجَعْتُ مُبَكِّرًا، لَأَتْقَنْتُ القَوَاعِدَ.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JOURNEY REFLECTION (3 min) — the website exit frames. Note: after أَسْتَطِيعُ أَنْ the verb ends in -a (أَكْتُبَ) — the P4 subjunctive, used about themselves. Invite two or three students to read theirs aloud (by invitation). A moment to celebrate how far they have come.
Website: In F1 you learned to write the letter ب. Today you can construct a formal Arabic argument. Name that journey. (My Arabic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(P6-L02 · Paper 1 Listening — Full Format Practice and Strategy Mastery) will spend class time USING this language, so students prepare it tonight — short, simple, easy to access (school guidance: “Simple, Short, Interesting, Relevant, Easy to access”). The five words come from the website P6-L02 vocabulary (listening strategies).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Bridge Launch — Mapping the IGCSE and Setting Personal Targets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ea typeface="Amiri" pitchFamily="2" charset="-78"/>
                <a:cs typeface="Amiri" pitchFamily="2" charset="-78"/>
              </a:rPr>
              <a:t>إِطْلَاقُ الجِسْرِ — رَسْمُ خَرِيطَةِ الامْتِحَانِ وَتَحْدِيدُ الأَهْدَافِ</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Map the four papers of IGCSE Arabic 0544 (150 marks), audit every grammar structure from F1 to P6 honestly, and set one SMART target per paper — then say it in Arabic: hadafī an + a verb in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P6-L01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P5 grammar and the words you prepared.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Exam words and the four papers.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الامْتِحَانُ</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Audit your grammar and read the Bridge map.</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الجَاهِزِيَّةُ</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6B4C9A"/>
          </a:solidFill>
          <a:ln w="12700">
            <a:solidFill>
              <a:srgbClr val="6B4C9A"/>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write a SMART target.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11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Say and write your four targets.</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أَهْدَافِي</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Name your journey · self-check.</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رِحْلَتِي</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Paper 1 Listening.</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وَرَقَةُ الامْتِحَانِ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exam hall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exam paper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page of notes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مَعَايِيرُ التَّقْيِيمِ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assessment criteria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 results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revision plan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جَاهِزِيَّةُ الامْتِحَانِ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 anxiety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exam date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 readiness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الامْتِحَانَ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غَيْرَ أَنَّنَا مُسْتَعِدُّونَ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صَعْبًا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صَعْبٍ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صَعْبٌ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هَدَفِي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دَرَجَتِي فِي الاسْتِمَاعِ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أُحَسِّنَ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أُحَسِّنُ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حَسَّنْتُ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وَرَقَةُ الامْتِحَانِ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exam hall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exam paper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page of notes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مَعَايِيرُ التَّقْيِيمِ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assessment criteria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 results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revision plan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جَاهِزِيَّةُ الامْتِحَانِ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 anxiety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exam date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exam readiness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الامْتِحَانَ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غَيْرَ أَنَّنَا مُسْتَعِدُّونَ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صَعْبًا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صَعْبٍ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صَعْبٌ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 after ṣaḥīḥun anna, the predicate is in -un (a fact).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هَدَفِي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دَرَجَتِي فِي الاسْتِمَاعِ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أُحَسِّنَ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أُحَسِّنُ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حَسَّنْتُ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P4–P5: an + a verb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Everything you learned from F1 to P5 is tested somewhere in the IGCSE — today we map it, and set targets in Arabic.</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هَدَفِي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أَنْ أُحَسِّنَ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صَحِيحٌ أَنَّ … غَيْرَ 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the full structure of IGCSE Arabic 0544 Papers 1–4 and their mark allocations.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Audit your own readiness across every grammar structure from F1 to P6.</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Set specific, measurable targets for each of the four papers.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your Arabic learning journey from the first letter to the formal argument.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four papers and their marks.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rate my grammar honestly and write one target.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one SMART target per paper.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a strategy for each target in Arabic.</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the 150-mark map and grade boundaries.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60–80-word Arabic plan with P5 structures.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16 exam words from the website in 2 groups. The language of the exam itself — know these terms so instructions and mark schemes are never a barrier.</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Papers and components · 8</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Readiness and targets · 8</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امْتِحَانٌ</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‎امتحان‎ </a:t>
            </a:r>
            <a:pPr indent="0" marL="0">
              <a:buNone/>
            </a:pPr>
            <a:r>
              <a:rPr lang="en-US" sz="950" b="1" dirty="0">
                <a:solidFill>
                  <a:srgbClr val="2E8B57"/>
                </a:solidFill>
                <a:latin typeface="Calibri" pitchFamily="34" charset="0"/>
                <a:cs typeface="Amiri" pitchFamily="2" charset="-78"/>
              </a:rPr>
              <a:t> imtihān · an exam</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وَرَقَةٌ</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‎ورق‎ </a:t>
            </a:r>
            <a:pPr indent="0" marL="0">
              <a:buNone/>
            </a:pPr>
            <a:r>
              <a:rPr lang="en-US" sz="950" b="1" dirty="0">
                <a:solidFill>
                  <a:srgbClr val="2E8B57"/>
                </a:solidFill>
                <a:latin typeface="Calibri" pitchFamily="34" charset="0"/>
                <a:cs typeface="Amiri" pitchFamily="2" charset="-78"/>
              </a:rPr>
              <a:t> waraq · a sheet → an exam paper</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مِعْيَارٌ</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‎معیار‎ </a:t>
            </a:r>
            <a:pPr indent="0" marL="0">
              <a:buNone/>
            </a:pPr>
            <a:r>
              <a:rPr lang="en-US" sz="950" b="1" dirty="0">
                <a:solidFill>
                  <a:srgbClr val="2E8B57"/>
                </a:solidFill>
                <a:latin typeface="Calibri" pitchFamily="34" charset="0"/>
                <a:cs typeface="Amiri" pitchFamily="2" charset="-78"/>
              </a:rPr>
              <a:t> meyār · a standard, a criterion</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هَدَفٌ</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‎ہدف‎ </a:t>
            </a:r>
            <a:pPr indent="0" marL="0">
              <a:buNone/>
            </a:pPr>
            <a:r>
              <a:rPr lang="en-US" sz="950" b="1" dirty="0">
                <a:solidFill>
                  <a:srgbClr val="2E8B57"/>
                </a:solidFill>
                <a:latin typeface="Calibri" pitchFamily="34" charset="0"/>
                <a:cs typeface="Amiri" pitchFamily="2" charset="-78"/>
              </a:rPr>
              <a:t> hadaf · a target, an aim</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تَحْقِيقٌ</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‎تحقیق‎ </a:t>
            </a:r>
            <a:pPr indent="0" marL="0">
              <a:buNone/>
            </a:pPr>
            <a:r>
              <a:rPr lang="en-US" sz="950" b="1" dirty="0">
                <a:solidFill>
                  <a:srgbClr val="2E8B57"/>
                </a:solidFill>
                <a:latin typeface="Calibri" pitchFamily="34" charset="0"/>
                <a:cs typeface="Amiri" pitchFamily="2" charset="-78"/>
              </a:rPr>
              <a:t> tahqīq · Arabic: achieving · Urdu: research</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Papers and components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وَرَقَةُ الامْتِحَانِ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exam paper</a:t>
            </a:r>
            <a:endParaRPr lang="en-US" sz="1350" dirty="0"/>
          </a:p>
          <a:p>
            <a:pPr indent="0" marL="0">
              <a:buNone/>
            </a:pPr>
            <a:r>
              <a:rPr lang="en-US" sz="1100" i="1" dirty="0">
                <a:solidFill>
                  <a:srgbClr val="5A6472"/>
                </a:solidFill>
                <a:latin typeface="Calibri" pitchFamily="34" charset="0"/>
                <a:cs typeface="Amiri" pitchFamily="2" charset="-78"/>
              </a:rPr>
              <a:t>wa-ra-qa-tu alm-ti-ḥā-ni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أَوْرَاقُ الامْتِحَانِ</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الوَرَقَةُ الأُولَى — الاسْتِمَاعُ</a:t>
            </a:r>
            <a:endParaRPr lang="ar-SA" sz="28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Paper 1 — Listening</a:t>
            </a:r>
            <a:endParaRPr lang="en-US" sz="1350" dirty="0"/>
          </a:p>
          <a:p>
            <a:pPr indent="0" marL="0">
              <a:buNone/>
            </a:pPr>
            <a:r>
              <a:rPr lang="en-US" sz="1100" i="1" dirty="0">
                <a:solidFill>
                  <a:srgbClr val="5A6472"/>
                </a:solidFill>
                <a:latin typeface="Calibri" pitchFamily="34" charset="0"/>
                <a:cs typeface="Amiri" pitchFamily="2" charset="-78"/>
              </a:rPr>
              <a:t>al-wa-ra-qa-tu al-ū-lā — als-ti-mā-ʿu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الوَرَقَةُ الثَّانِيَةُ — القِرَاءَةُ</a:t>
            </a:r>
            <a:endParaRPr lang="ar-SA" sz="28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Paper 2 — Reading</a:t>
            </a:r>
            <a:endParaRPr lang="en-US" sz="1350" dirty="0"/>
          </a:p>
          <a:p>
            <a:pPr indent="0" marL="0">
              <a:buNone/>
            </a:pPr>
            <a:r>
              <a:rPr lang="en-US" sz="1100" i="1" dirty="0">
                <a:solidFill>
                  <a:srgbClr val="5A6472"/>
                </a:solidFill>
                <a:latin typeface="Calibri" pitchFamily="34" charset="0"/>
                <a:cs typeface="Amiri" pitchFamily="2" charset="-78"/>
              </a:rPr>
              <a:t>al-wa-ra-qa-tu ath-thā-ni-ya-tu — al-qi-rā-ʾa-tu</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الوَرَقَةُ الثَّالِثَةُ — التَّحَدُّثُ</a:t>
            </a:r>
            <a:endParaRPr lang="ar-SA" sz="29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Paper 3 — Speaking</a:t>
            </a:r>
            <a:endParaRPr lang="en-US" sz="1350" dirty="0"/>
          </a:p>
          <a:p>
            <a:pPr indent="0" marL="0">
              <a:buNone/>
            </a:pPr>
            <a:r>
              <a:rPr lang="en-US" sz="1100" i="1" dirty="0">
                <a:solidFill>
                  <a:srgbClr val="5A6472"/>
                </a:solidFill>
                <a:latin typeface="Calibri" pitchFamily="34" charset="0"/>
                <a:cs typeface="Amiri" pitchFamily="2" charset="-78"/>
              </a:rPr>
              <a:t>al-wa-ra-qa-tu ath-thā-li-tha-tu — at-ta-ḥad-du-thu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Papers and components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الوَرَقَةُ الرَّابِعَةُ — الكِتَابَةُ</a:t>
            </a:r>
            <a:endParaRPr lang="ar-SA" sz="28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Paper 4 — Writing</a:t>
            </a:r>
            <a:endParaRPr lang="en-US" sz="1350" dirty="0"/>
          </a:p>
          <a:p>
            <a:pPr indent="0" marL="0">
              <a:buNone/>
            </a:pPr>
            <a:r>
              <a:rPr lang="en-US" sz="1100" i="1" dirty="0">
                <a:solidFill>
                  <a:srgbClr val="5A6472"/>
                </a:solidFill>
                <a:latin typeface="Calibri" pitchFamily="34" charset="0"/>
                <a:cs typeface="Amiri" pitchFamily="2" charset="-78"/>
              </a:rPr>
              <a:t>al-wa-ra-qa-tu ar-rā-bi-ʿa-tu — al-ki-tā-ba-tu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مَعَايِيرُ التَّقْيِيمِ</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assessment criteria</a:t>
            </a:r>
            <a:endParaRPr lang="en-US" sz="1350" dirty="0"/>
          </a:p>
          <a:p>
            <a:pPr indent="0" marL="0">
              <a:buNone/>
            </a:pPr>
            <a:r>
              <a:rPr lang="en-US" sz="1100" i="1" dirty="0">
                <a:solidFill>
                  <a:srgbClr val="5A6472"/>
                </a:solidFill>
                <a:latin typeface="Calibri" pitchFamily="34" charset="0"/>
                <a:cs typeface="Amiri" pitchFamily="2" charset="-78"/>
              </a:rPr>
              <a:t>ma-ʿā-yī-ru at-taq-yī-mi</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مِعْيَارُ التَّقْيِيمِ</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مَحَاوِرُ المَوْضُوعَاتِ</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areas</a:t>
            </a:r>
            <a:endParaRPr lang="en-US" sz="1350" dirty="0"/>
          </a:p>
          <a:p>
            <a:pPr indent="0" marL="0">
              <a:buNone/>
            </a:pPr>
            <a:r>
              <a:rPr lang="en-US" sz="1100" i="1" dirty="0">
                <a:solidFill>
                  <a:srgbClr val="5A6472"/>
                </a:solidFill>
                <a:latin typeface="Calibri" pitchFamily="34" charset="0"/>
                <a:cs typeface="Amiri" pitchFamily="2" charset="-78"/>
              </a:rPr>
              <a:t>ma-ḥā-wi-ru al-maw-ḍū-ʿā-ti</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مِحْوَرٌ</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جَاهِزِيَّةُ الامْتِحَانِ</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 readiness</a:t>
            </a:r>
            <a:endParaRPr lang="en-US" sz="1350" dirty="0"/>
          </a:p>
          <a:p>
            <a:pPr indent="0" marL="0">
              <a:buNone/>
            </a:pPr>
            <a:r>
              <a:rPr lang="en-US" sz="1100" i="1" dirty="0">
                <a:solidFill>
                  <a:srgbClr val="5A6472"/>
                </a:solidFill>
                <a:latin typeface="Calibri" pitchFamily="34" charset="0"/>
                <a:cs typeface="Amiri" pitchFamily="2" charset="-78"/>
              </a:rPr>
              <a:t>jā-hi-ziy-ya-tu alm-ti-ḥā-ni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Readiness and targets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التَّقْيِيمُ الذَّاتِيُّ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self-assessment</a:t>
            </a:r>
            <a:endParaRPr lang="en-US" sz="1350" dirty="0"/>
          </a:p>
          <a:p>
            <a:pPr indent="0" marL="0">
              <a:buNone/>
            </a:pPr>
            <a:r>
              <a:rPr lang="en-US" sz="1100" i="1" dirty="0">
                <a:solidFill>
                  <a:srgbClr val="5A6472"/>
                </a:solidFill>
                <a:latin typeface="Calibri" pitchFamily="34" charset="0"/>
                <a:cs typeface="Amiri" pitchFamily="2" charset="-78"/>
              </a:rPr>
              <a:t>at-taq-yī-mu adh-dhā-tiy-yu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نِقَاطُ قُوَّةٍ</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مَجَالُ تَحْسِينٍ</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area for improvement</a:t>
            </a:r>
            <a:endParaRPr lang="en-US" sz="1350" dirty="0"/>
          </a:p>
          <a:p>
            <a:pPr indent="0" marL="0">
              <a:buNone/>
            </a:pPr>
            <a:r>
              <a:rPr lang="en-US" sz="1100" i="1" dirty="0">
                <a:solidFill>
                  <a:srgbClr val="5A6472"/>
                </a:solidFill>
                <a:latin typeface="Calibri" pitchFamily="34" charset="0"/>
                <a:cs typeface="Amiri" pitchFamily="2" charset="-78"/>
              </a:rPr>
              <a:t>ma-jā-lu taḥ-sī-nin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مَجَالَاتُ تَحْسِينٍ</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هَدَفٌ مُحَدَّدٌ</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specific target</a:t>
            </a:r>
            <a:endParaRPr lang="en-US" sz="1350" dirty="0"/>
          </a:p>
          <a:p>
            <a:pPr indent="0" marL="0">
              <a:buNone/>
            </a:pPr>
            <a:r>
              <a:rPr lang="en-US" sz="1100" i="1" dirty="0">
                <a:solidFill>
                  <a:srgbClr val="5A6472"/>
                </a:solidFill>
                <a:latin typeface="Calibri" pitchFamily="34" charset="0"/>
                <a:cs typeface="Amiri" pitchFamily="2" charset="-78"/>
              </a:rPr>
              <a:t>ha-da-fun mu-ḥad-da-dun</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أَهْدَافٌ مُحَدَّدَةٌ</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Readiness and targets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خُطَّةُ المُرَاجَعَةِ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revision plan</a:t>
            </a:r>
            <a:endParaRPr lang="en-US" sz="1350" dirty="0"/>
          </a:p>
          <a:p>
            <a:pPr indent="0" marL="0">
              <a:buNone/>
            </a:pPr>
            <a:r>
              <a:rPr lang="en-US" sz="1100" i="1" dirty="0">
                <a:solidFill>
                  <a:srgbClr val="5A6472"/>
                </a:solidFill>
                <a:latin typeface="Calibri" pitchFamily="34" charset="0"/>
                <a:cs typeface="Amiri" pitchFamily="2" charset="-78"/>
              </a:rPr>
              <a:t>khuṭ-ṭa-tu al-mu-rā-ja-ʿa-ti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كِفَاءَةُ اللُّغَةِ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ki-fā-ʾa-tu all-lu-gha-ti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إِتْقَانٌ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mastery</a:t>
            </a:r>
            <a:endParaRPr lang="en-US" sz="1350" dirty="0"/>
          </a:p>
          <a:p>
            <a:pPr indent="0" marL="0">
              <a:buNone/>
            </a:pPr>
            <a:r>
              <a:rPr lang="en-US" sz="1100" i="1" dirty="0">
                <a:solidFill>
                  <a:srgbClr val="5A6472"/>
                </a:solidFill>
                <a:latin typeface="Calibri" pitchFamily="34" charset="0"/>
                <a:cs typeface="Amiri" pitchFamily="2" charset="-78"/>
              </a:rPr>
              <a:t>it-qā-nun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تَحْقِيقُ الأَهْدَافِ</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achieving goals</a:t>
            </a:r>
            <a:endParaRPr lang="en-US" sz="1350" dirty="0"/>
          </a:p>
          <a:p>
            <a:pPr indent="0" marL="0">
              <a:buNone/>
            </a:pPr>
            <a:r>
              <a:rPr lang="en-US" sz="1100" i="1" dirty="0">
                <a:solidFill>
                  <a:srgbClr val="5A6472"/>
                </a:solidFill>
                <a:latin typeface="Calibri" pitchFamily="34" charset="0"/>
                <a:cs typeface="Amiri" pitchFamily="2" charset="-78"/>
              </a:rPr>
              <a:t>taḥ-qī-qu al-ah-dā-fi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MAP · ORIENT · OWN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IGCSE Arabic 0544?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الامْتِحَانُ الدَّوْلِيُّ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Cambridge IGCSE Arabic (Foreign Language) 0544 has FOUR papers testing the four skills: listening, reading, speaking and writing.</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Together they carry 150 marks. Every structure you have learned from F1 to P6 is tested somewhere across them.</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P6 is not a new content unit — it is the bridge between three years of learning and the exam.</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Over the next ten lessons: each paper in full format (L02–L07), three mock papers under exam conditions (L08–L10), targeted revision (L11), and a celebration (L12).</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أَرْبَعُ أَوْرَاقٍ لِأَرْبَعِ مَهَارَاتٍ</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four papers for four skills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مِئَةٌ وَخَمْسُونَ دَرَجَةً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150 marks in total</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الحَرْفِ إِلَى الحُجَّةِ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the letter to the argument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THE FOUR PAPERS AT A GLANCE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four papers at a glance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الأَوْرَاقُ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61888" y="1810512"/>
            <a:ext cx="569671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a:t>
            </a:r>
            <a:endParaRPr lang="en-US" sz="1100" dirty="0"/>
          </a:p>
        </p:txBody>
      </p:sp>
      <p:sp>
        <p:nvSpPr>
          <p:cNvPr id="17" name="Text 14"/>
          <p:cNvSpPr txBox="1"/>
          <p:nvPr/>
        </p:nvSpPr>
        <p:spPr>
          <a:xfrm>
            <a:off x="4608576" y="1810512"/>
            <a:ext cx="1207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8" name="Text 15"/>
          <p:cNvSpPr txBox="1"/>
          <p:nvPr/>
        </p:nvSpPr>
        <p:spPr>
          <a:xfrm>
            <a:off x="3456432" y="1810512"/>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Text 16"/>
          <p:cNvSpPr txBox="1"/>
          <p:nvPr/>
        </p:nvSpPr>
        <p:spPr>
          <a:xfrm>
            <a:off x="199339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20" name="Text 17"/>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5998464" y="2267712"/>
            <a:ext cx="5660136"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texts: multiple choice / matching / select two</a:t>
            </a:r>
            <a:endParaRPr lang="en-US" sz="1100" dirty="0"/>
          </a:p>
        </p:txBody>
      </p:sp>
      <p:sp>
        <p:nvSpPr>
          <p:cNvPr id="23" name="Text 20"/>
          <p:cNvSpPr txBox="1"/>
          <p:nvPr/>
        </p:nvSpPr>
        <p:spPr>
          <a:xfrm>
            <a:off x="4645152" y="2267712"/>
            <a:ext cx="1170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~40 min</a:t>
            </a:r>
            <a:endParaRPr lang="en-US" sz="1100" dirty="0"/>
          </a:p>
        </p:txBody>
      </p:sp>
      <p:sp>
        <p:nvSpPr>
          <p:cNvPr id="24" name="Text 21"/>
          <p:cNvSpPr txBox="1"/>
          <p:nvPr/>
        </p:nvSpPr>
        <p:spPr>
          <a:xfrm>
            <a:off x="3493008" y="2267712"/>
            <a:ext cx="96926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a:t>
            </a:r>
            <a:endParaRPr lang="en-US" sz="1100" dirty="0"/>
          </a:p>
        </p:txBody>
      </p:sp>
      <p:sp>
        <p:nvSpPr>
          <p:cNvPr id="25" name="Text 22"/>
          <p:cNvSpPr txBox="1"/>
          <p:nvPr/>
        </p:nvSpPr>
        <p:spPr>
          <a:xfrm>
            <a:off x="202996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Listening</a:t>
            </a:r>
            <a:endParaRPr lang="en-US" sz="1100" dirty="0"/>
          </a:p>
        </p:txBody>
      </p:sp>
      <p:sp>
        <p:nvSpPr>
          <p:cNvPr id="26" name="Text 23"/>
          <p:cNvSpPr txBox="1"/>
          <p:nvPr/>
        </p:nvSpPr>
        <p:spPr>
          <a:xfrm>
            <a:off x="56692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5998464" y="3004718"/>
            <a:ext cx="5660136"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texts, six question groups (incl. Q4 gap-fill, Q5 cross-text)</a:t>
            </a:r>
            <a:endParaRPr lang="en-US" sz="1100" dirty="0"/>
          </a:p>
        </p:txBody>
      </p:sp>
      <p:sp>
        <p:nvSpPr>
          <p:cNvPr id="31" name="Text 28"/>
          <p:cNvSpPr txBox="1"/>
          <p:nvPr/>
        </p:nvSpPr>
        <p:spPr>
          <a:xfrm>
            <a:off x="4645152" y="3004718"/>
            <a:ext cx="1170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 min</a:t>
            </a:r>
            <a:endParaRPr lang="en-US" sz="1100" dirty="0"/>
          </a:p>
        </p:txBody>
      </p:sp>
      <p:sp>
        <p:nvSpPr>
          <p:cNvPr id="32" name="Text 29"/>
          <p:cNvSpPr txBox="1"/>
          <p:nvPr/>
        </p:nvSpPr>
        <p:spPr>
          <a:xfrm>
            <a:off x="3493008" y="3004718"/>
            <a:ext cx="96926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a:t>
            </a:r>
            <a:endParaRPr lang="en-US" sz="1100" dirty="0"/>
          </a:p>
        </p:txBody>
      </p:sp>
      <p:sp>
        <p:nvSpPr>
          <p:cNvPr id="33" name="Text 30"/>
          <p:cNvSpPr txBox="1"/>
          <p:nvPr/>
        </p:nvSpPr>
        <p:spPr>
          <a:xfrm>
            <a:off x="202996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a:t>
            </a:r>
            <a:endParaRPr lang="en-US" sz="1100" dirty="0"/>
          </a:p>
        </p:txBody>
      </p:sp>
      <p:sp>
        <p:nvSpPr>
          <p:cNvPr id="34" name="Text 31"/>
          <p:cNvSpPr txBox="1"/>
          <p:nvPr/>
        </p:nvSpPr>
        <p:spPr>
          <a:xfrm>
            <a:off x="56692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5998464" y="3741725"/>
            <a:ext cx="5660136"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(10) + topic conversation (20)</a:t>
            </a:r>
            <a:endParaRPr lang="en-US" sz="1100" dirty="0"/>
          </a:p>
        </p:txBody>
      </p:sp>
      <p:sp>
        <p:nvSpPr>
          <p:cNvPr id="39" name="Text 36"/>
          <p:cNvSpPr txBox="1"/>
          <p:nvPr/>
        </p:nvSpPr>
        <p:spPr>
          <a:xfrm>
            <a:off x="4645152" y="3741725"/>
            <a:ext cx="1170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min</a:t>
            </a:r>
            <a:endParaRPr lang="en-US" sz="1100" dirty="0"/>
          </a:p>
        </p:txBody>
      </p:sp>
      <p:sp>
        <p:nvSpPr>
          <p:cNvPr id="40" name="Text 37"/>
          <p:cNvSpPr txBox="1"/>
          <p:nvPr/>
        </p:nvSpPr>
        <p:spPr>
          <a:xfrm>
            <a:off x="3493008" y="3741725"/>
            <a:ext cx="96926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a:t>
            </a:r>
            <a:endParaRPr lang="en-US" sz="1100" dirty="0"/>
          </a:p>
        </p:txBody>
      </p:sp>
      <p:sp>
        <p:nvSpPr>
          <p:cNvPr id="41" name="Text 38"/>
          <p:cNvSpPr txBox="1"/>
          <p:nvPr/>
        </p:nvSpPr>
        <p:spPr>
          <a:xfrm>
            <a:off x="202996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Speaking</a:t>
            </a:r>
            <a:endParaRPr lang="en-US" sz="1100" dirty="0"/>
          </a:p>
        </p:txBody>
      </p:sp>
      <p:sp>
        <p:nvSpPr>
          <p:cNvPr id="42" name="Text 39"/>
          <p:cNvSpPr txBox="1"/>
          <p:nvPr/>
        </p:nvSpPr>
        <p:spPr>
          <a:xfrm>
            <a:off x="56692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5998464" y="4478731"/>
            <a:ext cx="5660136"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 directed writing (15) + Q2 extended writing (15)</a:t>
            </a:r>
            <a:endParaRPr lang="en-US" sz="1100" dirty="0"/>
          </a:p>
        </p:txBody>
      </p:sp>
      <p:sp>
        <p:nvSpPr>
          <p:cNvPr id="47" name="Text 44"/>
          <p:cNvSpPr txBox="1"/>
          <p:nvPr/>
        </p:nvSpPr>
        <p:spPr>
          <a:xfrm>
            <a:off x="4645152" y="4478731"/>
            <a:ext cx="1170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60 min</a:t>
            </a:r>
            <a:endParaRPr lang="en-US" sz="1100" dirty="0"/>
          </a:p>
        </p:txBody>
      </p:sp>
      <p:sp>
        <p:nvSpPr>
          <p:cNvPr id="48" name="Text 45"/>
          <p:cNvSpPr txBox="1"/>
          <p:nvPr/>
        </p:nvSpPr>
        <p:spPr>
          <a:xfrm>
            <a:off x="3493008" y="4478731"/>
            <a:ext cx="96926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a:t>
            </a:r>
            <a:endParaRPr lang="en-US" sz="1100" dirty="0"/>
          </a:p>
        </p:txBody>
      </p:sp>
      <p:sp>
        <p:nvSpPr>
          <p:cNvPr id="49" name="Text 46"/>
          <p:cNvSpPr txBox="1"/>
          <p:nvPr/>
        </p:nvSpPr>
        <p:spPr>
          <a:xfrm>
            <a:off x="202996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a:t>
            </a:r>
            <a:endParaRPr lang="en-US" sz="1100" dirty="0"/>
          </a:p>
        </p:txBody>
      </p:sp>
      <p:sp>
        <p:nvSpPr>
          <p:cNvPr id="50" name="Text 47"/>
          <p:cNvSpPr txBox="1"/>
          <p:nvPr/>
        </p:nvSpPr>
        <p:spPr>
          <a:xfrm>
            <a:off x="56692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a:t>
            </a:r>
            <a:endParaRPr lang="en-US" sz="1100" dirty="0"/>
          </a:p>
        </p:txBody>
      </p:sp>
      <p:sp>
        <p:nvSpPr>
          <p:cNvPr id="51" name="Shape 4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4" name="Text 51"/>
          <p:cNvSpPr txBox="1"/>
          <p:nvPr/>
        </p:nvSpPr>
        <p:spPr>
          <a:xfrm>
            <a:off x="5998464" y="5215738"/>
            <a:ext cx="5660136"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Grade A* = 135+ · A = 120+ · B = 105+ · C = 90+</a:t>
            </a:r>
            <a:endParaRPr lang="en-US" sz="1100" dirty="0"/>
          </a:p>
        </p:txBody>
      </p:sp>
      <p:sp>
        <p:nvSpPr>
          <p:cNvPr id="55" name="Text 52"/>
          <p:cNvSpPr txBox="1"/>
          <p:nvPr/>
        </p:nvSpPr>
        <p:spPr>
          <a:xfrm>
            <a:off x="4645152" y="5215738"/>
            <a:ext cx="1170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6" name="Text 53"/>
          <p:cNvSpPr txBox="1"/>
          <p:nvPr/>
        </p:nvSpPr>
        <p:spPr>
          <a:xfrm>
            <a:off x="3493008" y="5215738"/>
            <a:ext cx="96926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150</a:t>
            </a:r>
            <a:endParaRPr lang="en-US" sz="1100" dirty="0"/>
          </a:p>
        </p:txBody>
      </p:sp>
      <p:sp>
        <p:nvSpPr>
          <p:cNvPr id="57" name="Text 54"/>
          <p:cNvSpPr txBox="1"/>
          <p:nvPr/>
        </p:nvSpPr>
        <p:spPr>
          <a:xfrm>
            <a:off x="202996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four</a:t>
            </a:r>
            <a:endParaRPr lang="en-US" sz="1100" dirty="0"/>
          </a:p>
        </p:txBody>
      </p:sp>
      <p:sp>
        <p:nvSpPr>
          <p:cNvPr id="58" name="Text 55"/>
          <p:cNvSpPr txBox="1"/>
          <p:nvPr/>
        </p:nvSpPr>
        <p:spPr>
          <a:xfrm>
            <a:off x="56692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Total</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Listening and reading carry 90 of the 150 marks — 60% of the exam is understanding.</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THE FOUR PAPERS (TEACHER-MADE)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marks is Paper 1 (Listening)?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paper includes a role play?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 3 — Speaking</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 4 — Writing</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 2 — Reading</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Paper 4 (Writing)?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minutes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 minutes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 minutes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total gives an A*?</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120+</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135+</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marks is Paper 1 (Listening)?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table: Paper 1 = 45 marks.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paper includes a role play?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Paper 3 — Speaking</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Paper 4 — Writing</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Paper 2 — Reading</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Paper 3: role play (10) + topic conversation (20).</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Paper 4 (Writing)?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minutes</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 minutes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 minutes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Paper 4: Q1 directed writing (15) + Q2 extended writing (15), 60 minutes.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total gives an A*?</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120+</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135+</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boundaries: A* 135+ · A 120+ · B 105+ · C 90+.</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THE F1–P6 GRAMMAR READINESS AUDIT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Grammar readiness tracker — the full F1–P6 audit</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الجَاهِزِيَّةِ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example from memory</a:t>
            </a:r>
            <a:endParaRPr lang="en-US" sz="1100" dirty="0"/>
          </a:p>
        </p:txBody>
      </p:sp>
      <p:sp>
        <p:nvSpPr>
          <p:cNvPr id="17" name="Text 14"/>
          <p:cNvSpPr txBox="1"/>
          <p:nvPr/>
        </p:nvSpPr>
        <p:spPr>
          <a:xfrm>
            <a:off x="674827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Confidence 1–5</a:t>
            </a:r>
            <a:endParaRPr lang="en-US" sz="1100" dirty="0"/>
          </a:p>
        </p:txBody>
      </p:sp>
      <p:sp>
        <p:nvSpPr>
          <p:cNvPr id="18" name="Text 15"/>
          <p:cNvSpPr txBox="1"/>
          <p:nvPr/>
        </p:nvSpPr>
        <p:spPr>
          <a:xfrm>
            <a:off x="3456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887968" y="2267712"/>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784848" y="2267712"/>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23" name="Text 20"/>
          <p:cNvSpPr txBox="1"/>
          <p:nvPr/>
        </p:nvSpPr>
        <p:spPr>
          <a:xfrm>
            <a:off x="3474720" y="2267712"/>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يَكْتُبُ / يَتَنَاوَلُ / يَسْتَمِعُ</a:t>
            </a:r>
            <a:endParaRPr lang="ar-SA" sz="1700" dirty="0"/>
          </a:p>
        </p:txBody>
      </p:sp>
      <p:sp>
        <p:nvSpPr>
          <p:cNvPr id="24" name="Text 21"/>
          <p:cNvSpPr txBox="1"/>
          <p:nvPr/>
        </p:nvSpPr>
        <p:spPr>
          <a:xfrm>
            <a:off x="566928" y="2267712"/>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tense (Forms I/V/VIII)</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8887968" y="2728341"/>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6784848" y="2728341"/>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28" name="Text 25"/>
          <p:cNvSpPr txBox="1"/>
          <p:nvPr/>
        </p:nvSpPr>
        <p:spPr>
          <a:xfrm>
            <a:off x="3474720" y="2728341"/>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كَتَبَ / كَتَبُوا</a:t>
            </a:r>
            <a:endParaRPr lang="ar-SA" sz="1700" dirty="0"/>
          </a:p>
        </p:txBody>
      </p:sp>
      <p:sp>
        <p:nvSpPr>
          <p:cNvPr id="29" name="Text 26"/>
          <p:cNvSpPr txBox="1"/>
          <p:nvPr/>
        </p:nvSpPr>
        <p:spPr>
          <a:xfrm>
            <a:off x="566928" y="2728341"/>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tense (singular and plural)</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8887968" y="3188970"/>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2" name="Text 29"/>
          <p:cNvSpPr txBox="1"/>
          <p:nvPr/>
        </p:nvSpPr>
        <p:spPr>
          <a:xfrm>
            <a:off x="6784848" y="3188970"/>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33" name="Text 30"/>
          <p:cNvSpPr txBox="1"/>
          <p:nvPr/>
        </p:nvSpPr>
        <p:spPr>
          <a:xfrm>
            <a:off x="3474720" y="3188970"/>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سَـ / سَوْفَ / لَنْ</a:t>
            </a:r>
            <a:endParaRPr lang="ar-SA" sz="1700" dirty="0"/>
          </a:p>
        </p:txBody>
      </p:sp>
      <p:sp>
        <p:nvSpPr>
          <p:cNvPr id="34" name="Text 31"/>
          <p:cNvSpPr txBox="1"/>
          <p:nvPr/>
        </p:nvSpPr>
        <p:spPr>
          <a:xfrm>
            <a:off x="566928" y="3188970"/>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tense</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8887968" y="3649599"/>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6784848" y="3649599"/>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38" name="Text 35"/>
          <p:cNvSpPr txBox="1"/>
          <p:nvPr/>
        </p:nvSpPr>
        <p:spPr>
          <a:xfrm>
            <a:off x="3474720" y="3649599"/>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الَّذِي / الَّتِي</a:t>
            </a:r>
            <a:endParaRPr lang="ar-SA" sz="1700" dirty="0"/>
          </a:p>
        </p:txBody>
      </p:sp>
      <p:sp>
        <p:nvSpPr>
          <p:cNvPr id="39" name="Text 36"/>
          <p:cNvSpPr txBox="1"/>
          <p:nvPr/>
        </p:nvSpPr>
        <p:spPr>
          <a:xfrm>
            <a:off x="566928" y="3649599"/>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clauses</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8887968" y="4110228"/>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6784848" y="4110228"/>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43" name="Text 40"/>
          <p:cNvSpPr txBox="1"/>
          <p:nvPr/>
        </p:nvSpPr>
        <p:spPr>
          <a:xfrm>
            <a:off x="3474720" y="4110228"/>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أَفْعَلُ / أَكْثَرُ</a:t>
            </a:r>
            <a:endParaRPr lang="ar-SA" sz="1700" dirty="0"/>
          </a:p>
        </p:txBody>
      </p:sp>
      <p:sp>
        <p:nvSpPr>
          <p:cNvPr id="44" name="Text 41"/>
          <p:cNvSpPr txBox="1"/>
          <p:nvPr/>
        </p:nvSpPr>
        <p:spPr>
          <a:xfrm>
            <a:off x="566928" y="4110228"/>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Comparatives and superlatives</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8887968" y="4570857"/>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6784848" y="4570857"/>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48" name="Text 45"/>
          <p:cNvSpPr txBox="1"/>
          <p:nvPr/>
        </p:nvSpPr>
        <p:spPr>
          <a:xfrm>
            <a:off x="3474720" y="4570857"/>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يُكْتَبُ / دُمِّرَتْ</a:t>
            </a:r>
            <a:endParaRPr lang="ar-SA" sz="1700" dirty="0"/>
          </a:p>
        </p:txBody>
      </p:sp>
      <p:sp>
        <p:nvSpPr>
          <p:cNvPr id="49" name="Text 46"/>
          <p:cNvSpPr txBox="1"/>
          <p:nvPr/>
        </p:nvSpPr>
        <p:spPr>
          <a:xfrm>
            <a:off x="566928" y="4570857"/>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passive voice</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8887968" y="5031486"/>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2" name="Text 49"/>
          <p:cNvSpPr txBox="1"/>
          <p:nvPr/>
        </p:nvSpPr>
        <p:spPr>
          <a:xfrm>
            <a:off x="6784848" y="5031486"/>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53" name="Text 50"/>
          <p:cNvSpPr txBox="1"/>
          <p:nvPr/>
        </p:nvSpPr>
        <p:spPr>
          <a:xfrm>
            <a:off x="3474720" y="5031486"/>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 سَـ</a:t>
            </a:r>
            <a:endParaRPr lang="ar-SA" sz="1700" dirty="0"/>
          </a:p>
        </p:txBody>
      </p:sp>
      <p:sp>
        <p:nvSpPr>
          <p:cNvPr id="54" name="Text 51"/>
          <p:cNvSpPr txBox="1"/>
          <p:nvPr/>
        </p:nvSpPr>
        <p:spPr>
          <a:xfrm>
            <a:off x="566928" y="5031486"/>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Type 1</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887968" y="5492115"/>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6784848" y="5492115"/>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58" name="Text 55"/>
          <p:cNvSpPr txBox="1"/>
          <p:nvPr/>
        </p:nvSpPr>
        <p:spPr>
          <a:xfrm>
            <a:off x="3474720" y="5492115"/>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 لَـ</a:t>
            </a:r>
            <a:endParaRPr lang="ar-SA" sz="1700" dirty="0"/>
          </a:p>
        </p:txBody>
      </p:sp>
      <p:sp>
        <p:nvSpPr>
          <p:cNvPr id="59" name="Text 56"/>
          <p:cNvSpPr txBox="1"/>
          <p:nvPr/>
        </p:nvSpPr>
        <p:spPr>
          <a:xfrm>
            <a:off x="566928" y="5492115"/>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Type 2</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Your two lowest ratings are your revision agenda for the Bridge.</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THE F1–P6 GRAMMAR READINESS AUDIT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Grammar readiness tracker — the full F1–P6 audit (continued)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الجَاهِزِيَّةِ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example from memory</a:t>
            </a:r>
            <a:endParaRPr lang="en-US" sz="1100" dirty="0"/>
          </a:p>
        </p:txBody>
      </p:sp>
      <p:sp>
        <p:nvSpPr>
          <p:cNvPr id="17" name="Text 14"/>
          <p:cNvSpPr txBox="1"/>
          <p:nvPr/>
        </p:nvSpPr>
        <p:spPr>
          <a:xfrm>
            <a:off x="674827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Confidence 1–5</a:t>
            </a:r>
            <a:endParaRPr lang="en-US" sz="1100" dirty="0"/>
          </a:p>
        </p:txBody>
      </p:sp>
      <p:sp>
        <p:nvSpPr>
          <p:cNvPr id="18" name="Text 15"/>
          <p:cNvSpPr txBox="1"/>
          <p:nvPr/>
        </p:nvSpPr>
        <p:spPr>
          <a:xfrm>
            <a:off x="3456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887968" y="2267712"/>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784848" y="2267712"/>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23" name="Text 20"/>
          <p:cNvSpPr txBox="1"/>
          <p:nvPr/>
        </p:nvSpPr>
        <p:spPr>
          <a:xfrm>
            <a:off x="3474720" y="2267712"/>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قَالَ إِنَّ / أَكَّدَ أَنَّ</a:t>
            </a:r>
            <a:endParaRPr lang="ar-SA" sz="1700" dirty="0"/>
          </a:p>
        </p:txBody>
      </p:sp>
      <p:sp>
        <p:nvSpPr>
          <p:cNvPr id="24" name="Text 21"/>
          <p:cNvSpPr txBox="1"/>
          <p:nvPr/>
        </p:nvSpPr>
        <p:spPr>
          <a:xfrm>
            <a:off x="566928" y="2267712"/>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8887968" y="2728341"/>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6784848" y="2728341"/>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28" name="Text 25"/>
          <p:cNvSpPr txBox="1"/>
          <p:nvPr/>
        </p:nvSpPr>
        <p:spPr>
          <a:xfrm>
            <a:off x="3474720" y="2728341"/>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 قَدْ</a:t>
            </a:r>
            <a:endParaRPr lang="ar-SA" sz="1700" dirty="0"/>
          </a:p>
        </p:txBody>
      </p:sp>
      <p:sp>
        <p:nvSpPr>
          <p:cNvPr id="29" name="Text 26"/>
          <p:cNvSpPr txBox="1"/>
          <p:nvPr/>
        </p:nvSpPr>
        <p:spPr>
          <a:xfrm>
            <a:off x="566928" y="2728341"/>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8887968" y="3188970"/>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2" name="Text 29"/>
          <p:cNvSpPr txBox="1"/>
          <p:nvPr/>
        </p:nvSpPr>
        <p:spPr>
          <a:xfrm>
            <a:off x="6784848" y="3188970"/>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33" name="Text 30"/>
          <p:cNvSpPr txBox="1"/>
          <p:nvPr/>
        </p:nvSpPr>
        <p:spPr>
          <a:xfrm>
            <a:off x="3474720" y="3188970"/>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a:t>
            </a:r>
            <a:endParaRPr lang="ar-SA" sz="1700" dirty="0"/>
          </a:p>
        </p:txBody>
      </p:sp>
      <p:sp>
        <p:nvSpPr>
          <p:cNvPr id="34" name="Text 31"/>
          <p:cNvSpPr txBox="1"/>
          <p:nvPr/>
        </p:nvSpPr>
        <p:spPr>
          <a:xfrm>
            <a:off x="566928" y="3188970"/>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 — purpose</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8887968" y="3649599"/>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6784848" y="3649599"/>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38" name="Text 35"/>
          <p:cNvSpPr txBox="1"/>
          <p:nvPr/>
        </p:nvSpPr>
        <p:spPr>
          <a:xfrm>
            <a:off x="3474720" y="3649599"/>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يَنْبَغِي أَنْ</a:t>
            </a:r>
            <a:endParaRPr lang="ar-SA" sz="1700" dirty="0"/>
          </a:p>
        </p:txBody>
      </p:sp>
      <p:sp>
        <p:nvSpPr>
          <p:cNvPr id="39" name="Text 36"/>
          <p:cNvSpPr txBox="1"/>
          <p:nvPr/>
        </p:nvSpPr>
        <p:spPr>
          <a:xfrm>
            <a:off x="566928" y="3649599"/>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 — necessity</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8887968" y="4110228"/>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6784848" y="4110228"/>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43" name="Text 40"/>
          <p:cNvSpPr txBox="1"/>
          <p:nvPr/>
        </p:nvSpPr>
        <p:spPr>
          <a:xfrm>
            <a:off x="3474720" y="4110228"/>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 يُطَالِبُ بِأَنْ</a:t>
            </a:r>
            <a:endParaRPr lang="ar-SA" sz="1700" dirty="0"/>
          </a:p>
        </p:txBody>
      </p:sp>
      <p:sp>
        <p:nvSpPr>
          <p:cNvPr id="44" name="Text 41"/>
          <p:cNvSpPr txBox="1"/>
          <p:nvPr/>
        </p:nvSpPr>
        <p:spPr>
          <a:xfrm>
            <a:off x="566928" y="4110228"/>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 — volition</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8887968" y="4570857"/>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6784848" y="4570857"/>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48" name="Text 45"/>
          <p:cNvSpPr txBox="1"/>
          <p:nvPr/>
        </p:nvSpPr>
        <p:spPr>
          <a:xfrm>
            <a:off x="3474720" y="4570857"/>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أَنَّ</a:t>
            </a:r>
            <a:endParaRPr lang="ar-SA" sz="1700" dirty="0"/>
          </a:p>
        </p:txBody>
      </p:sp>
      <p:sp>
        <p:nvSpPr>
          <p:cNvPr id="49" name="Text 46"/>
          <p:cNvSpPr txBox="1"/>
          <p:nvPr/>
        </p:nvSpPr>
        <p:spPr>
          <a:xfrm>
            <a:off x="566928" y="4570857"/>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8887968" y="5031486"/>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2" name="Text 49"/>
          <p:cNvSpPr txBox="1"/>
          <p:nvPr/>
        </p:nvSpPr>
        <p:spPr>
          <a:xfrm>
            <a:off x="6784848" y="5031486"/>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53" name="Text 50"/>
          <p:cNvSpPr txBox="1"/>
          <p:nvPr/>
        </p:nvSpPr>
        <p:spPr>
          <a:xfrm>
            <a:off x="3474720" y="5031486"/>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غَيْرَ أَنَّ</a:t>
            </a:r>
            <a:endParaRPr lang="ar-SA" sz="1700" dirty="0"/>
          </a:p>
        </p:txBody>
      </p:sp>
      <p:sp>
        <p:nvSpPr>
          <p:cNvPr id="54" name="Text 51"/>
          <p:cNvSpPr txBox="1"/>
          <p:nvPr/>
        </p:nvSpPr>
        <p:spPr>
          <a:xfrm>
            <a:off x="566928" y="5031486"/>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Refutation</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887968" y="5492115"/>
            <a:ext cx="277063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6784848" y="5492115"/>
            <a:ext cx="19202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2 · 3 · 4 · 5</a:t>
            </a:r>
            <a:endParaRPr lang="en-US" sz="1100" dirty="0"/>
          </a:p>
        </p:txBody>
      </p:sp>
      <p:sp>
        <p:nvSpPr>
          <p:cNvPr id="58" name="Text 55"/>
          <p:cNvSpPr txBox="1"/>
          <p:nvPr/>
        </p:nvSpPr>
        <p:spPr>
          <a:xfrm>
            <a:off x="3474720" y="5492115"/>
            <a:ext cx="310896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وَبِنَاءً عَلَى مَا سَبَقَ</a:t>
            </a:r>
            <a:endParaRPr lang="ar-SA" sz="1700" dirty="0"/>
          </a:p>
        </p:txBody>
      </p:sp>
      <p:sp>
        <p:nvSpPr>
          <p:cNvPr id="59" name="Text 56"/>
          <p:cNvSpPr txBox="1"/>
          <p:nvPr/>
        </p:nvSpPr>
        <p:spPr>
          <a:xfrm>
            <a:off x="566928" y="5492115"/>
            <a:ext cx="274320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 connector</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Your two lowest ratings are your revision agenda for the Bridge.</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THE BRIDGE LESSON MAP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The Bridge: lessons 2–7 (full-format practice)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الجِسْرِ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21040" y="1810512"/>
            <a:ext cx="3337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target note</a:t>
            </a:r>
            <a:endParaRPr lang="en-US" sz="1100" dirty="0"/>
          </a:p>
        </p:txBody>
      </p:sp>
      <p:sp>
        <p:nvSpPr>
          <p:cNvPr id="17" name="Text 14"/>
          <p:cNvSpPr txBox="1"/>
          <p:nvPr/>
        </p:nvSpPr>
        <p:spPr>
          <a:xfrm>
            <a:off x="1536192" y="1810512"/>
            <a:ext cx="663854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Focus</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357616" y="2267712"/>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1572768" y="2267712"/>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1 Listening — full-format practice and strategy</a:t>
            </a:r>
            <a:endParaRPr lang="en-US" sz="1100" dirty="0"/>
          </a:p>
        </p:txBody>
      </p:sp>
      <p:sp>
        <p:nvSpPr>
          <p:cNvPr id="22" name="Text 19"/>
          <p:cNvSpPr txBox="1"/>
          <p:nvPr/>
        </p:nvSpPr>
        <p:spPr>
          <a:xfrm>
            <a:off x="566928" y="2267712"/>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L02</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8357616" y="2881884"/>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1572768" y="2881884"/>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2 Reading — full-format practice and R1–R4 mastery</a:t>
            </a:r>
            <a:endParaRPr lang="en-US" sz="1100" dirty="0"/>
          </a:p>
        </p:txBody>
      </p:sp>
      <p:sp>
        <p:nvSpPr>
          <p:cNvPr id="26" name="Text 23"/>
          <p:cNvSpPr txBox="1"/>
          <p:nvPr/>
        </p:nvSpPr>
        <p:spPr>
          <a:xfrm>
            <a:off x="566928" y="2881884"/>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8357616" y="3496056"/>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1572768" y="3496056"/>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Q1 — directed writing, form and register</a:t>
            </a:r>
            <a:endParaRPr lang="en-US" sz="1100" dirty="0"/>
          </a:p>
        </p:txBody>
      </p:sp>
      <p:sp>
        <p:nvSpPr>
          <p:cNvPr id="30" name="Text 27"/>
          <p:cNvSpPr txBox="1"/>
          <p:nvPr/>
        </p:nvSpPr>
        <p:spPr>
          <a:xfrm>
            <a:off x="566928" y="3496056"/>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L04</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8357616" y="4110228"/>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1572768" y="4110228"/>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Q2 — extended writing, essay architecture</a:t>
            </a:r>
            <a:endParaRPr lang="en-US" sz="1100" dirty="0"/>
          </a:p>
        </p:txBody>
      </p:sp>
      <p:sp>
        <p:nvSpPr>
          <p:cNvPr id="34" name="Text 31"/>
          <p:cNvSpPr txBox="1"/>
          <p:nvPr/>
        </p:nvSpPr>
        <p:spPr>
          <a:xfrm>
            <a:off x="566928" y="4110228"/>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8357616" y="4724400"/>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572768" y="4724400"/>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3 — role play, transactional language</a:t>
            </a:r>
            <a:endParaRPr lang="en-US" sz="1100" dirty="0"/>
          </a:p>
        </p:txBody>
      </p:sp>
      <p:sp>
        <p:nvSpPr>
          <p:cNvPr id="38" name="Text 35"/>
          <p:cNvSpPr txBox="1"/>
          <p:nvPr/>
        </p:nvSpPr>
        <p:spPr>
          <a:xfrm>
            <a:off x="566928" y="4724400"/>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L06</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357616" y="5338572"/>
            <a:ext cx="3300984"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1572768" y="5338572"/>
            <a:ext cx="6601968"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3 — topic conversation, extended speaking</a:t>
            </a:r>
            <a:endParaRPr lang="en-US" sz="1100" dirty="0"/>
          </a:p>
        </p:txBody>
      </p:sp>
      <p:sp>
        <p:nvSpPr>
          <p:cNvPr id="42" name="Text 39"/>
          <p:cNvSpPr txBox="1"/>
          <p:nvPr/>
        </p:nvSpPr>
        <p:spPr>
          <a:xfrm>
            <a:off x="566928" y="5338572"/>
            <a:ext cx="822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L07</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next to each lesson: which of your two lowest audit ratings it will help.</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THE BRIDGE LESSON MAP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The Bridge: lessons 8–12 (mocks, revision, celebration)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الجِسْرِ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21040" y="1810512"/>
            <a:ext cx="3337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target note</a:t>
            </a:r>
            <a:endParaRPr lang="en-US" sz="1100" dirty="0"/>
          </a:p>
        </p:txBody>
      </p:sp>
      <p:sp>
        <p:nvSpPr>
          <p:cNvPr id="17" name="Text 14"/>
          <p:cNvSpPr txBox="1"/>
          <p:nvPr/>
        </p:nvSpPr>
        <p:spPr>
          <a:xfrm>
            <a:off x="1536192" y="1810512"/>
            <a:ext cx="663854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Focus</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357616" y="2267712"/>
            <a:ext cx="330098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1572768" y="2267712"/>
            <a:ext cx="6601968"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Mock Paper 1 Listening (exam conditions)</a:t>
            </a:r>
            <a:endParaRPr lang="en-US" sz="1100" dirty="0"/>
          </a:p>
        </p:txBody>
      </p:sp>
      <p:sp>
        <p:nvSpPr>
          <p:cNvPr id="22" name="Text 19"/>
          <p:cNvSpPr txBox="1"/>
          <p:nvPr/>
        </p:nvSpPr>
        <p:spPr>
          <a:xfrm>
            <a:off x="566928" y="2267712"/>
            <a:ext cx="822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L08</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8357616" y="3004718"/>
            <a:ext cx="330098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1572768" y="3004718"/>
            <a:ext cx="6601968"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Mock Papers 2 + 4 Reading + Writing (exam conditions)</a:t>
            </a:r>
            <a:endParaRPr lang="en-US" sz="1100" dirty="0"/>
          </a:p>
        </p:txBody>
      </p:sp>
      <p:sp>
        <p:nvSpPr>
          <p:cNvPr id="26" name="Text 23"/>
          <p:cNvSpPr txBox="1"/>
          <p:nvPr/>
        </p:nvSpPr>
        <p:spPr>
          <a:xfrm>
            <a:off x="566928" y="3004718"/>
            <a:ext cx="822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L09</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8357616" y="3741725"/>
            <a:ext cx="330098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1572768" y="3741725"/>
            <a:ext cx="6601968"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Mock Paper 3 Speaking (exam conditions)</a:t>
            </a:r>
            <a:endParaRPr lang="en-US" sz="1100" dirty="0"/>
          </a:p>
        </p:txBody>
      </p:sp>
      <p:sp>
        <p:nvSpPr>
          <p:cNvPr id="30" name="Text 27"/>
          <p:cNvSpPr txBox="1"/>
          <p:nvPr/>
        </p:nvSpPr>
        <p:spPr>
          <a:xfrm>
            <a:off x="566928" y="3741725"/>
            <a:ext cx="822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L10</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8357616" y="4478731"/>
            <a:ext cx="330098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1572768" y="4478731"/>
            <a:ext cx="6601968"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Mock results, targeted revision, final preparation</a:t>
            </a:r>
            <a:endParaRPr lang="en-US" sz="1100" dirty="0"/>
          </a:p>
        </p:txBody>
      </p:sp>
      <p:sp>
        <p:nvSpPr>
          <p:cNvPr id="34" name="Text 31"/>
          <p:cNvSpPr txBox="1"/>
          <p:nvPr/>
        </p:nvSpPr>
        <p:spPr>
          <a:xfrm>
            <a:off x="566928" y="4478731"/>
            <a:ext cx="822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L11</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8357616" y="5215738"/>
            <a:ext cx="3300984"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572768" y="5215738"/>
            <a:ext cx="6601968"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Celebration, reflection and the road ahead</a:t>
            </a:r>
            <a:endParaRPr lang="en-US" sz="1100" dirty="0"/>
          </a:p>
        </p:txBody>
      </p:sp>
      <p:sp>
        <p:nvSpPr>
          <p:cNvPr id="38" name="Text 35"/>
          <p:cNvSpPr txBox="1"/>
          <p:nvPr/>
        </p:nvSpPr>
        <p:spPr>
          <a:xfrm>
            <a:off x="566928" y="5215738"/>
            <a:ext cx="822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L12</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 mocks, one revision lesson, one celebration — the exam format becomes familiar before the real day.</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ME WRITE A SMART TARGET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a wish to a SMART target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هَدَفٌ مُحَدَّدٌ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630936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9436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 · M · A · R · 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SPECIFIC — name the paper and the skill: not “get better at Arabic” but “Paper 1 Listening”.</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MEASURABLE — a score: “35+ out of 45” (website example).</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ACTION-BASED — tie it to a strategy: “by annotating every question before the audio”.</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REALISTIC + TIMED — check it against your audit; “by the L08 mock”.</a:t>
            </a:r>
            <a:endParaRPr lang="en-US" sz="1300" dirty="0"/>
          </a:p>
        </p:txBody>
      </p:sp>
      <p:sp>
        <p:nvSpPr>
          <p:cNvPr id="29" name="Shape 26"/>
          <p:cNvSpPr/>
          <p:nvPr/>
        </p:nvSpPr>
        <p:spPr>
          <a:xfrm>
            <a:off x="6949440" y="1810512"/>
            <a:ext cx="478231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132320" y="1883664"/>
            <a:ext cx="44165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SAY IT IN ARABIC (an + -a)</a:t>
            </a:r>
            <a:endParaRPr lang="en-US" sz="1000" dirty="0"/>
          </a:p>
        </p:txBody>
      </p:sp>
      <p:sp>
        <p:nvSpPr>
          <p:cNvPr id="31" name="Text 28"/>
          <p:cNvSpPr txBox="1"/>
          <p:nvPr/>
        </p:nvSpPr>
        <p:spPr>
          <a:xfrm>
            <a:off x="7086600" y="2194560"/>
            <a:ext cx="450799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هَدَفِي أَنْ أُحَسِّنَ دَرَجَتِي فِي الاسْتِمَاعِ</a:t>
            </a:r>
            <a:endParaRPr lang="ar-SA" sz="2600" dirty="0"/>
          </a:p>
        </p:txBody>
      </p:sp>
      <p:sp>
        <p:nvSpPr>
          <p:cNvPr id="32" name="Text 29"/>
          <p:cNvSpPr txBox="1"/>
          <p:nvPr/>
        </p:nvSpPr>
        <p:spPr>
          <a:xfrm>
            <a:off x="7086600" y="2761244"/>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target is to improve my listening score</a:t>
            </a:r>
            <a:endParaRPr lang="en-US" sz="1100" dirty="0"/>
          </a:p>
        </p:txBody>
      </p:sp>
      <p:sp>
        <p:nvSpPr>
          <p:cNvPr id="33" name="Shape 30"/>
          <p:cNvSpPr/>
          <p:nvPr/>
        </p:nvSpPr>
        <p:spPr>
          <a:xfrm>
            <a:off x="7132320" y="3188208"/>
            <a:ext cx="4416552" cy="0"/>
          </a:xfrm>
          <a:prstGeom prst="line">
            <a:avLst/>
          </a:prstGeom>
          <a:noFill/>
          <a:ln w="9525">
            <a:solidFill>
              <a:srgbClr val="E4DCCB"/>
            </a:solidFill>
            <a:prstDash val="dash"/>
          </a:ln>
        </p:spPr>
      </p:sp>
      <p:sp>
        <p:nvSpPr>
          <p:cNvPr id="34" name="Text 31"/>
          <p:cNvSpPr txBox="1"/>
          <p:nvPr/>
        </p:nvSpPr>
        <p:spPr>
          <a:xfrm>
            <a:off x="7086600" y="3206496"/>
            <a:ext cx="4507992" cy="566684"/>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وَيَتَطَلَّبُ ذٰلِكَ أَنْ أَقْرَأَ الأَسْئِلَةَ قَبْلَ الاسْتِمَاعِ</a:t>
            </a:r>
            <a:endParaRPr lang="ar-SA" sz="2250" dirty="0"/>
          </a:p>
        </p:txBody>
      </p:sp>
      <p:sp>
        <p:nvSpPr>
          <p:cNvPr id="35" name="Text 32"/>
          <p:cNvSpPr txBox="1"/>
          <p:nvPr/>
        </p:nvSpPr>
        <p:spPr>
          <a:xfrm>
            <a:off x="7086600" y="3773180"/>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and that requires me to read the questions before listening</a:t>
            </a:r>
            <a:endParaRPr lang="en-US" sz="1100" dirty="0"/>
          </a:p>
        </p:txBody>
      </p:sp>
      <p:sp>
        <p:nvSpPr>
          <p:cNvPr id="36" name="Shape 33"/>
          <p:cNvSpPr/>
          <p:nvPr/>
        </p:nvSpPr>
        <p:spPr>
          <a:xfrm>
            <a:off x="7132320" y="4200144"/>
            <a:ext cx="4416552" cy="0"/>
          </a:xfrm>
          <a:prstGeom prst="line">
            <a:avLst/>
          </a:prstGeom>
          <a:noFill/>
          <a:ln w="9525">
            <a:solidFill>
              <a:srgbClr val="E4DCCB"/>
            </a:solidFill>
            <a:prstDash val="dash"/>
          </a:ln>
        </p:spPr>
      </p:sp>
      <p:sp>
        <p:nvSpPr>
          <p:cNvPr id="37" name="Text 34"/>
          <p:cNvSpPr txBox="1"/>
          <p:nvPr/>
        </p:nvSpPr>
        <p:spPr>
          <a:xfrm>
            <a:off x="7086600" y="4218432"/>
            <a:ext cx="450799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وَلَوْ رَاجَعْتُ كُلَّ أُسْبُوعٍ، لَأَتْقَنْتُ القَوَاعِدَ</a:t>
            </a:r>
            <a:endParaRPr lang="ar-SA" sz="2600" dirty="0"/>
          </a:p>
        </p:txBody>
      </p:sp>
      <p:sp>
        <p:nvSpPr>
          <p:cNvPr id="38" name="Text 35"/>
          <p:cNvSpPr txBox="1"/>
          <p:nvPr/>
        </p:nvSpPr>
        <p:spPr>
          <a:xfrm>
            <a:off x="7086600" y="4785116"/>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had I revised every week, I would have mastered the grammar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WEBSITE EXAMPLE</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“Score 35+/45 in Paper 1 by annotating every question before the audio and verifying on the second listen.”</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SMART TARGETS — ONE PER PAPER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SMART targets — one per paper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أَهْدَافِي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345643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style)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61364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493008"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35+/45 by annotating every question and verifying on the 2nd listen</a:t>
            </a:r>
            <a:endParaRPr lang="en-US" sz="1100" dirty="0"/>
          </a:p>
        </p:txBody>
      </p:sp>
      <p:sp>
        <p:nvSpPr>
          <p:cNvPr id="22" name="Text 19"/>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1 (Listening) target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61364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493008"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35+/45 by finding the key word in the text before choosing</a:t>
            </a:r>
            <a:endParaRPr lang="en-US" sz="1100" dirty="0"/>
          </a:p>
        </p:txBody>
      </p:sp>
      <p:sp>
        <p:nvSpPr>
          <p:cNvPr id="28" name="Text 25"/>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2 (Reading) target</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61364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1" name="Text 28"/>
          <p:cNvSpPr txBox="1"/>
          <p:nvPr/>
        </p:nvSpPr>
        <p:spPr>
          <a:xfrm>
            <a:off x="3493008"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24+/30 by answering every question with opinion + reason + example</a:t>
            </a:r>
            <a:endParaRPr lang="en-US" sz="1100" dirty="0"/>
          </a:p>
        </p:txBody>
      </p:sp>
      <p:sp>
        <p:nvSpPr>
          <p:cNvPr id="32" name="Text 29"/>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3 (Speaking) target</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61364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5" name="Text 32"/>
          <p:cNvSpPr txBox="1"/>
          <p:nvPr/>
        </p:nvSpPr>
        <p:spPr>
          <a:xfrm>
            <a:off x="3493008"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24+/30 by planning the essay architecture before writing</a:t>
            </a:r>
            <a:endParaRPr lang="en-US" sz="1100" dirty="0"/>
          </a:p>
        </p:txBody>
      </p:sp>
      <p:sp>
        <p:nvSpPr>
          <p:cNvPr id="36" name="Text 33"/>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(Writing) target</a:t>
            </a:r>
            <a:endParaRPr lang="en-US" sz="11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Specific · measurable · tied to a strategy. Write all four in your book — we will check them after each mock.</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strengths, my targets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نُقْطَةُ قُوَّتِكَ فِي العَرَبِيَّةِ؟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مَجَالُ التَّحْسِينِ عِنْدَكَ، وَمَا هَدَفُكَ؟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يَتَطَلَّبُ تَحْقِيقُ هَدَفِكَ؟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نُقْطَةُ قُوَّتِي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مَجَالُ تَحْسِينِي ___ ، وَهَدَفِي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يَتَطَلَّبُ تَحْقِيقُ هَدَفِي 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نُقْطَةُ قُوَّتِي القِرَاءَةُ، وَمَجَالُ تَحْسِينِي الاسْتِمَاعُ.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strength is reading; my area for improvement is listening.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هَدَفِي أَنْ أُحَسِّنَ دَرَجَتِي، وَيَتَطَلَّبُ ذٰلِكَ أَنْ أَقْرَأَ الأَسْئِلَةَ أَوَّلًا.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My target is to improve my score; that requires reading the questions first.</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WRITE YOUR PLAN · 6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950" b="1" dirty="0">
                <a:solidFill>
                  <a:srgbClr val="2E8B57"/>
                </a:solidFill>
                <a:latin typeface="Cambria" pitchFamily="34" charset="0"/>
                <a:cs typeface="Amiri" pitchFamily="2" charset="-78"/>
              </a:rPr>
              <a:t>1 target + 2 sentences</a:t>
            </a:r>
            <a:endParaRPr lang="en-US" sz="19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One SMART target in English, then two Arabic sentences with the frames nuqṭatu quwwatī … and hadafī an …</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frames slide. Check: the verb after أَنْ ends in -a.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1800" b="1" dirty="0">
                <a:solidFill>
                  <a:srgbClr val="C9780A"/>
                </a:solidFill>
                <a:latin typeface="Cambria" pitchFamily="34" charset="0"/>
                <a:cs typeface="Amiri" pitchFamily="2" charset="-78"/>
              </a:rPr>
              <a:t>4 targets + 4 strategies</a:t>
            </a:r>
            <a:endParaRPr lang="en-US" sz="18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All four SMART targets, and for each one an Arabic strategy with yataṭallabu an or yanbaghī an.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line per paper. Check every -a after 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60–80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Arabic paragraph: my journey and my exam plan — with ṣaḥīḥun anna … ghayra anna, yataṭallabu an and law … la-.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Open with bada’tu riḥlatī …; close with wa-bināʾan ʿalā mā sabaqa.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يَتَطَلَّبُ تَحْقِيقُ هَدَفِي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Achieving my target requires me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______ قَبْلَ الامْتِحَانِ.</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ought to … before the exam.</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 غَيْرَ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true that …; however,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رَاجَعْتُ مُبَكِّرًا، لَأَتْقَنْتُ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I revised earlier,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نُقْطَةُ قُوَّتِي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strength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مَجَالُ تَحْسِينِي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area for improvement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أَنْ أُحَسِّنَ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target is to improve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سَأُرَاجِعُ ______ كُلَّ أُسْبُوعٍ.</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revise … every week.</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القِرَاءَةُ  ·  الاسْتِمَاعُ  ·  التَّحَدُّثُ  ·  الكِتَابَةُ  ·  دَرَجَتِي  ·  أَقْرَأَ الأَسْئِلَةَ أَوَّلًا  ·  أُرَاجِعَ القَوَاعِدَ  ·  أُخَطِّطَ لِلْمَقَالِ  ·  المُضَارِعَ المَنْصُوبَ  ·  الشَّرْطَ  ·  الوَقْتَ مَحْدُودٌ  ·  الإِتْقَانَ مُمْكِنٌ</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THE JOURNEY — FROM LETTER TO ARGUMENT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journey — from letter to argument</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رِحْلَتِي مَعَ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12480" y="2267712"/>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حَرْفِ البَاءِ</a:t>
            </a:r>
            <a:endParaRPr lang="ar-SA" sz="15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began my journey with Arabic with …</a:t>
            </a:r>
            <a:endParaRPr lang="en-US" sz="1100" dirty="0"/>
          </a:p>
        </p:txBody>
      </p:sp>
      <p:sp>
        <p:nvSpPr>
          <p:cNvPr id="22" name="Text 19"/>
          <p:cNvSpPr txBox="1"/>
          <p:nvPr/>
        </p:nvSpPr>
        <p:spPr>
          <a:xfrm>
            <a:off x="548640" y="2267712"/>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رِحْلَتِي مَعَ العَرَبِيَّةِ بِـ…</a:t>
            </a:r>
            <a:endParaRPr lang="ar-SA" sz="18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12480" y="3054096"/>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أَكْتُبَ مَقَالًا حِجَاجِيًّا</a:t>
            </a:r>
            <a:endParaRPr lang="ar-SA" sz="15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today I am able to …</a:t>
            </a:r>
            <a:endParaRPr lang="en-US" sz="1100" dirty="0"/>
          </a:p>
        </p:txBody>
      </p:sp>
      <p:sp>
        <p:nvSpPr>
          <p:cNvPr id="26" name="Text 23"/>
          <p:cNvSpPr txBox="1"/>
          <p:nvPr/>
        </p:nvSpPr>
        <p:spPr>
          <a:xfrm>
            <a:off x="548640" y="3054096"/>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وَاليَوْمَ أَسْتَطِيعُ أَنْ…</a:t>
            </a:r>
            <a:endParaRPr lang="ar-SA" sz="18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أُحَقِّقَ أَعْلَى دَرَجَةٍ</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my target in the exam is to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وَهَدَفِي فِي الامْتِحَانِ أَنْ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F1 you learned to write the letter </a:t>
            </a:r>
            <a:pPr algn="l" indent="0" marL="0">
              <a:buNone/>
            </a:pPr>
            <a:r>
              <a:rPr lang="ar-SA" altLang="en-US" sz="1500" b="1" dirty="0">
                <a:solidFill>
                  <a:srgbClr val="1B3B6F"/>
                </a:solidFill>
                <a:latin typeface="Amiri" pitchFamily="2" charset="-78"/>
                <a:ea typeface="Amiri" pitchFamily="2" charset="-78"/>
                <a:cs typeface="Amiri" pitchFamily="2" charset="-78"/>
              </a:rPr>
              <a:t>ب</a:t>
            </a:r>
            <a:pPr algn="l" indent="0" marL="0">
              <a:buNone/>
            </a:pPr>
            <a:r>
              <a:rPr lang="en-US" sz="1150" b="1" dirty="0">
                <a:solidFill>
                  <a:srgbClr val="1B3B6F"/>
                </a:solidFill>
                <a:latin typeface="Calibri" pitchFamily="34" charset="0"/>
                <a:cs typeface="Amiri" pitchFamily="2" charset="-78"/>
              </a:rPr>
              <a:t>. Today you can build a formal Arabic argument. Name that journey.</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state the marks, timing and format of each of the four papers.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rated my confidence in every F1–P6 grammar structure honestly.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written one SMART target per paper.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a specific strategy that will move each target forward.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my target in Arabic with an + a verb in -a.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P6-L01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P6-L02 · Paper 1 Listening — Full Format Practice and Strategy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اسْتِرَاتِيجِيَّاتُ الاسْتِمَاعِ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strategies</a:t>
            </a:r>
            <a:pPr indent="0" marL="0">
              <a:buNone/>
            </a:pPr>
            <a:r>
              <a:rPr lang="ar-SA" sz="1000" i="1" dirty="0">
                <a:solidFill>
                  <a:srgbClr val="5A6472"/>
                </a:solidFill>
                <a:latin typeface="Calibri" pitchFamily="34" charset="0"/>
                <a:ea typeface="Amiri" pitchFamily="2" charset="-78"/>
                <a:cs typeface="Amiri" pitchFamily="2" charset="-78"/>
              </a:rPr>
              <a:t>  sg. اسْتِرَاتِيجِيَّةٌ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قِرَاءَةُ الأَسْئِلَةِ مُسْبَقًا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the questions in advance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الاسْتِمَاعُ الأَوَّلُ لِلْفَهْمِ العَامِّ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 listen for gist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التَّحَقُّقُ فِي الاسْتِمَاعِ الثَّانِي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verifying on the second listen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مُشَتِّتَاتُ الاسْتِمَاعِ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distractors</a:t>
            </a:r>
            <a:pPr indent="0" marL="0">
              <a:buNone/>
            </a:pPr>
            <a:r>
              <a:rPr lang="ar-SA" sz="1000" i="1" dirty="0">
                <a:solidFill>
                  <a:srgbClr val="5A6472"/>
                </a:solidFill>
                <a:latin typeface="Calibri" pitchFamily="34" charset="0"/>
                <a:ea typeface="Amiri" pitchFamily="2" charset="-78"/>
                <a:cs typeface="Amiri" pitchFamily="2" charset="-78"/>
              </a:rPr>
              <a:t>  sg. مُشَتِّتٌ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in the 30 seconds before a listening text begins?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قَبْلَ الاسْتِمَاعِ، أَقْرَأُ ______ وَأُحَدِّدُ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Copy your four SMART targets into the front of your book;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an Arabic strategy line to each target;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60–80-word Arabic paragraph on your journey and plan;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P6-L02 · Paper 1 Listening — Full Format Practice and Strategy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الوَرَقَةُ الأُولَى — الاسْتِمَاعُ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papers · 150 marks · one SMART target per paper — and say it in Arabic: hadafī an + a verb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P6-L01 · Bridge Launch — Mapping the IGCSE and Setting Personal Targets</dc:title>
  <dc:subject>PptxGenJS Presentation</dc:subject>
  <dc:creator>Al Madina Online School · Arabic Department</dc:creator>
  <cp:lastModifiedBy>Al Madina Online School · Arabic Department</cp:lastModifiedBy>
  <cp:revision>1</cp:revision>
  <dcterms:created xsi:type="dcterms:W3CDTF">2026-10-11T06:43:33Z</dcterms:created>
  <dcterms:modified xsi:type="dcterms:W3CDTF">2026-10-11T06:43:33Z</dcterms:modified>
</cp:coreProperties>
</file>