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2–7 Do Now + answers · 7–8 Objectives · 8–11 Before you speak + the routine · 11–13 The mark scheme · 13–20 PART 1: role play (recorded) · 20–30 PART 2: topic conversation (recorded) · 30–44 Listen back and self-mark · 44–48 The two models · 48–54 Record scores, reflection · 54–58 Self-check + preparation. Live examining: the teacher examines 3–4 students in full during the lesson and the rest of the class across the following week.
FLEX slides are optional. Use them if the class is moving quickly; otherwise the same activities are on the website for homework.
Content source: Miftah Arabic website, Pathways › Progression › P6 IGCSE Bridge › P6-L10. The website P6-L10: the panel “Before you speak”, the Paper 3 mark scheme (role play 10 · topic conversation 20), Part 1 role play at a cultural centre (4 prompts, model for prompt 1), Part 2 topic conversation (3 questions, model for question 2), the score record and the reflection “All four mocks complete”.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ONLINE SPEAKING MOCK: everyone sits it at the SAME time. Students stay MUTED in Teams and record themselves on a phone or laptop voice recorder. The teacher reads each prompt aloud as the examiner; students answer into their own recording. Recordings are uploaded to the assignment.
• LIVE EXAMINING: during the self-marking time, the teacher examines 3–4 students one at a time with the full paper (camera on, others muted); set a rota for the rest of the class in the following week.
• Routes set the TARGET, not a different paper: Core — a full sentence for every prompt · Develop — opinion + reason + example in every answer · Stretch — a conditional, a subjunctive and a concession across the conversation.
• Anxiety: speaking mocks can be stressful. Remind students the recording is for them; allow a student to re-record once if they freeze completely.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speaking words revised at the end of P6-L09. Questions 4–5 retrieve the two different rules of Paper 3: precision in the role play (P6-L06) and development in the conversation (P6-L07).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Role play: precise, not long. Conversation: develop, develop,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SETTLE (3 min) — read the website panel slowly; give 20 seconds of quiet to recall “the Arabic sentence you are most proud of”. Test that every student can record before you begin.
WEBSITE PANEL “Before you speak”: Sit quietly for a moment. Bring to mind the Arabic sentence you are most proud of — proof of what you can do — then show the examiner that sentence and the many like it. Paper 3 is about 12 minutes: a role play (about 5 minutes, 10 marks) and a topic conversation (about 7 minutes, 20 marks). Record yourself if you can, and self-mark against the scheme.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the website mark scheme: Role play 10 (Communication 6 + Accuracy 4) · Topic conversation 20 (Communication 15 + Quality of Language 5).
Website note: Give credit to yourself for any correct trigger or conditional even if a vowel is imperfect in spontaneous speech — consistent use of complex structures is the realistic top-band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EXAMINER SCRIPT — read each prompt as a question, then wait 30–40 seconds: (1) أَهْلًا بِكَ فِي المَرْكَزِ الثَّقَافِيِّ. عَرِّفْنَا بِنَفْسِكَ وَبِاهْتِمَامَاتِكَ. (2) مَاذَا تُرِيدُ أَنْ تَعْرِفَ عَنْ أَنْشِطَتِنَا؟ (3) هَلْ عِنْدَكَ اقْتِرَاحٌ لِنَشَاطٍ جَدِيدٍ؟ مَا فَائِدَتُهُ؟ (4) مَتَى تُرِيدُ أَنْ تُسَجِّلَ؟ Prompts 3 and 4 name the structure (a subjunctive trigger · a conditional).
WEBSITE MODEL: Examiner: عَرِّفْ بِنَفْسِكَ. (Prompt 1) · You: اسْمِي سَامِي، وَأُحِبُّ القِرَاءَةَ وَكُرَةَ القَدَمِ، وَأَرْغَبُ فِي تَعَلُّمِ مَهَارَاتٍ جَدِيدَةٍ. (Full-sentence response)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EXAMINER: read each question twice, then allow about 2 minutes. If a student stops early in a live examination, prompt once: لِمَاذَا؟ · هَلْ عِنْدَكَ مِثَالٌ؟ — as the real examiner may.
WEBSITE MODEL: Examiner: هَلْ تُعَمِّقُ التِّقْنِيَّةُ العُزْلَةَ؟ (Question 2) · You: صَحِيحٌ أَنَّ التِّقْنِيَّةَ تُقَرِّبُ البَعِيدَ، غَيْرَ أَنَّهَا قَدْ تُبْعِدُ القَرِيبَ. وَلَوِ اسْتَخْدَمْنَاهَا بِوَعْيٍ، لَحَقَّقْنَا التَّوَازُنَ. (Concession-refutation + Type 2)
Website feedback prompt: Feedback note (which structures appeared spontaneously?)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SELF-MARK (12 min) — students listen back to their own recording with headphones and complete the grid. Meanwhile the TEACHER examines 3–4 students live (one at a time, camera on). Website mark-scheme note: credit any correct trigger or conditional even with an imperfect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(3 min) — website models for role-play prompt 1 and conversation question 2. Note the elegant contrast تُقَرِّبُ البَعِيدَ … تُبْعِدُ القَرِيبَ (brings the far near … pushes the near away) — students may borrow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SCORES (3 min) — website fields; self-marks are moderated by the teacher from the uploaded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Celebrate: the class has now sat every IGCSE paper under exam conditions.
Website:  (All four mocks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(P6-L11 · Mock Results, Targeted Revision and Final IGCSE Preparation) will spend class time USING this language, so students prepare it tonight — short, simple, easy to access (school guidance: “Simple, Short, Interesting, Relevant, Easy to access”). P6-L11 has no vocabulary list: these five revision words are teacher-chosen for the results lesson.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Mock Examination — Paper 3 Speaking (Full IGCSE Format)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امْتِحَانُ المُحَاكَاةِ — الوَرَقَةُ الثَّالِثَةُ: التَّحَدُّثُ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Sit the mock Paper 3 in full IGCSE format — a role play (10) and a topic conversation (20) — recorded under exam conditions, then self-mark Communication, Accuracy and Quality of Language against the scheme.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P6-L10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speaking words and Band 5 structures.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Settle, the routine and the mark scheme.</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التَّهَيُّؤُ</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mock: role play + topic conversation (recorded).</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الامْتِحَانُ</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8A6D1E"/>
          </a:solidFill>
          <a:ln w="12700">
            <a:solidFill>
              <a:srgbClr val="8A6D1E"/>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 back, self-mark, the two models.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صَحِّحْ</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Scores, reflection, self-check.</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Bring all four mock scores.</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التَّوْسِيعُ فِي الإِجَابَةِ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answer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extending the answer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repeating the question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لُغَةُ التَّوَقُّفِ وَالتَّفْكِيرِ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pause-and-think language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silent reading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stopping the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التَّحَدُّثُ بِثِقَةٍ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quickly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quietly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with confidence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role play, one prompt is worth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 marks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unless it is perfect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Communication mark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reaches Band 5 in the conversation?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 reason + example + a conditional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correct sentence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list of words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التَّوْسِيعُ فِي الإِجَابَةِ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answer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extending the answer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repeating the question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(P6-L09, from P6-L07).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لُغَةُ التَّوَقُّفِ وَالتَّفْكِيرِ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pause-and-think language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silent reading</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stopping the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(P6-L09, from P6-L07).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التَّحَدُّثُ بِثِقَةٍ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speaking quickly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speaking quietly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speaking with confidence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(P6-L09, from P6-L06).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role play, one prompt is worth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 marks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unless it is perfect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Communication mark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Role play: Communication 6 = one per prompt (P6-L06).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reaches Band 5 in the conversation?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opinion + reason + example + a conditional</a:t>
            </a:r>
            <a:endParaRPr lang="en-US" sz="12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correct sentence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list of words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Development earns the band (P6-L07).</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Role play: precise, not long. Conversation: develop, develop, develop.</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مُحَفِّزٌ وَاحِدٌ = دَرَجَةٌ · رَأْيٌ + سَبَبٌ + مِثَالٌ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Sit the mock Paper 3 Speaking under full IGCSE format.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Address every role-play prompt and develop every topic-conversation answer.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Deploy conditionals, subjunctive triggers and concession-refutation spontaneously.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Record your Communication and Quality-of-Language scores.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every role-play prompt with a full sentence.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keep speaking for each conversation question.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develop each answer with opinion, reason and example.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recover from a pause with a pause-and-think phrase.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 conditional, a subjunctive and a concession.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self-mark accurately against the scheme.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BEFORE YOU SPEAK (WEBSITE) · THE ONLINE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Before you speak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التَّهَيُّؤُ الذِّهْنِيُّ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Sit quietly for a moment. Bring to mind the Arabic sentence you are most proud of — proof of what you can do — then show the examiner that sentence and the many like it.</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523488"/>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Paper 3 is about 12 minutes: a role play (about 5 minutes, 10 marks) and a topic conversation (about 7 minutes, 20 marks). Record yourself if you can, and self-mark against the scheme.</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870704"/>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Today: stay muted in Teams; record yourself on your phone or laptop; answer each prompt when I read it.</a:t>
            </a:r>
            <a:endParaRPr lang="en-US" sz="1300" dirty="0"/>
          </a:p>
        </p:txBody>
      </p:sp>
      <p:sp>
        <p:nvSpPr>
          <p:cNvPr id="26" name="Shape 23"/>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ROUTINE (TEACHER)</a:t>
            </a:r>
            <a:endParaRPr lang="en-US" sz="1000" dirty="0"/>
          </a:p>
        </p:txBody>
      </p:sp>
      <p:sp>
        <p:nvSpPr>
          <p:cNvPr id="28" name="Text 25"/>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١. اِبْدَأِ التَّسْجِيلَ</a:t>
            </a:r>
            <a:endParaRPr lang="ar-SA" sz="2800" dirty="0"/>
          </a:p>
        </p:txBody>
      </p:sp>
      <p:sp>
        <p:nvSpPr>
          <p:cNvPr id="29" name="Text 26"/>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Start your recording — say your name and the date.</a:t>
            </a:r>
            <a:endParaRPr lang="en-US" sz="1100" dirty="0"/>
          </a:p>
        </p:txBody>
      </p:sp>
      <p:sp>
        <p:nvSpPr>
          <p:cNvPr id="30" name="Shape 27"/>
          <p:cNvSpPr/>
          <p:nvPr/>
        </p:nvSpPr>
        <p:spPr>
          <a:xfrm>
            <a:off x="6995160" y="3535680"/>
            <a:ext cx="4553712" cy="0"/>
          </a:xfrm>
          <a:prstGeom prst="line">
            <a:avLst/>
          </a:prstGeom>
          <a:noFill/>
          <a:ln w="9525">
            <a:solidFill>
              <a:srgbClr val="E4DCCB"/>
            </a:solidFill>
            <a:prstDash val="dash"/>
          </a:ln>
        </p:spPr>
      </p:sp>
      <p:sp>
        <p:nvSpPr>
          <p:cNvPr id="31" name="Text 28"/>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٢. اِسْتَمِعْ ثُمَّ أَجِبْ</a:t>
            </a:r>
            <a:endParaRPr lang="ar-SA" sz="2800" dirty="0"/>
          </a:p>
        </p:txBody>
      </p:sp>
      <p:sp>
        <p:nvSpPr>
          <p:cNvPr id="32" name="Text 29"/>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 Listen to my prompt, then answer straight away.</a:t>
            </a:r>
            <a:endParaRPr lang="en-US" sz="1100" dirty="0"/>
          </a:p>
        </p:txBody>
      </p:sp>
      <p:sp>
        <p:nvSpPr>
          <p:cNvPr id="33" name="Shape 30"/>
          <p:cNvSpPr/>
          <p:nvPr/>
        </p:nvSpPr>
        <p:spPr>
          <a:xfrm>
            <a:off x="6995160" y="4895088"/>
            <a:ext cx="4553712" cy="0"/>
          </a:xfrm>
          <a:prstGeom prst="line">
            <a:avLst/>
          </a:prstGeom>
          <a:noFill/>
          <a:ln w="9525">
            <a:solidFill>
              <a:srgbClr val="E4DCCB"/>
            </a:solidFill>
            <a:prstDash val="dash"/>
          </a:ln>
        </p:spPr>
      </p:sp>
      <p:sp>
        <p:nvSpPr>
          <p:cNvPr id="34" name="Text 31"/>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٣. لَا صَمْتَ</a:t>
            </a:r>
            <a:endParaRPr lang="ar-SA" sz="2800" dirty="0"/>
          </a:p>
        </p:txBody>
      </p:sp>
      <p:sp>
        <p:nvSpPr>
          <p:cNvPr id="35" name="Text 32"/>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3. No silence: use a pause-and-think phrase.</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KNOW HOW YOU ARE MARKED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Paper 3 mark scheme: 30 marks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مِعْيَارُ الوَرَقَةِ الثَّالِثَةِ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096512" y="1810512"/>
            <a:ext cx="7562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the examiner looks for (website)</a:t>
            </a:r>
            <a:endParaRPr lang="en-US" sz="1100" dirty="0"/>
          </a:p>
        </p:txBody>
      </p:sp>
      <p:sp>
        <p:nvSpPr>
          <p:cNvPr id="17" name="Text 14"/>
          <p:cNvSpPr txBox="1"/>
          <p:nvPr/>
        </p:nvSpPr>
        <p:spPr>
          <a:xfrm>
            <a:off x="309067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Criterion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133088" y="2267712"/>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Communication (6): one mark per prompt successfully addressed. · Accuracy (4): overall language accuracy across the role play.</a:t>
            </a:r>
            <a:endParaRPr lang="en-US" sz="1100" dirty="0"/>
          </a:p>
        </p:txBody>
      </p:sp>
      <p:sp>
        <p:nvSpPr>
          <p:cNvPr id="21" name="Text 18"/>
          <p:cNvSpPr txBox="1"/>
          <p:nvPr/>
        </p:nvSpPr>
        <p:spPr>
          <a:xfrm>
            <a:off x="3127248" y="2267712"/>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133088" y="3054096"/>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Communication (15): 5 per question — develop with opinion, reason and example. · Quality of Language (5): consistent complex structures — tenses, conditionals, subjunctives.</a:t>
            </a:r>
            <a:endParaRPr lang="en-US" sz="1100" dirty="0"/>
          </a:p>
        </p:txBody>
      </p:sp>
      <p:sp>
        <p:nvSpPr>
          <p:cNvPr id="27" name="Text 24"/>
          <p:cNvSpPr txBox="1"/>
          <p:nvPr/>
        </p:nvSpPr>
        <p:spPr>
          <a:xfrm>
            <a:off x="3127248" y="3054096"/>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conversation</a:t>
            </a:r>
            <a:endParaRPr lang="en-US" sz="1100" dirty="0"/>
          </a:p>
        </p:txBody>
      </p:sp>
      <p:sp>
        <p:nvSpPr>
          <p:cNvPr id="29" name="Text 2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Role play: precise, not long. Topic conversation: develop every answer.</a:t>
            </a:r>
            <a:endParaRPr lang="en-US" sz="11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MOCK · PAPER 3 · PART 1 — ROLE PLAY (10 MARKS) · ABOUT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Part 1 — Role play at a cultural centre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تَمْثِيلُ الدَّوْرِ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 to answer</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24928" y="2267712"/>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30–40 seconds</a:t>
            </a:r>
            <a:endParaRPr lang="en-US" sz="11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yourself and your interests.</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أَنْتَ فِي مَرْكَزٍ ثَقَافِيٍّ: عَرِّفْ بِنَفْسِكَ وَاهْتِمَامَاتِكَ.</a:t>
            </a:r>
            <a:endParaRPr lang="ar-SA" sz="16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424928" y="3054096"/>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30–40 seconds</a:t>
            </a:r>
            <a:endParaRPr lang="en-US" sz="1100" dirty="0"/>
          </a:p>
        </p:txBody>
      </p:sp>
      <p:sp>
        <p:nvSpPr>
          <p:cNvPr id="25" name="Text 22"/>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the available activities.</a:t>
            </a:r>
            <a:endParaRPr lang="en-US" sz="1100" dirty="0"/>
          </a:p>
        </p:txBody>
      </p:sp>
      <p:sp>
        <p:nvSpPr>
          <p:cNvPr id="26" name="Text 23"/>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اسْأَلْ عَنِ الأَنْشِطَةِ المُتَاحَةِ.</a:t>
            </a:r>
            <a:endParaRPr lang="ar-SA" sz="16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424928" y="3840480"/>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30–40 seconds</a:t>
            </a:r>
            <a:endParaRPr lang="en-US" sz="1100" dirty="0"/>
          </a:p>
        </p:txBody>
      </p:sp>
      <p:sp>
        <p:nvSpPr>
          <p:cNvPr id="29" name="Text 26"/>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Suggest a new activity and explain its benefit (subjunctive trigger).</a:t>
            </a:r>
            <a:endParaRPr lang="en-US" sz="1100" dirty="0"/>
          </a:p>
        </p:txBody>
      </p:sp>
      <p:sp>
        <p:nvSpPr>
          <p:cNvPr id="30" name="Text 27"/>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اقْتَرِحْ نَشَاطًا جَدِيدًا وَاشْرَحْ فَائِدَتَهُ (مُسَبِّبُ نَصْبٍ).</a:t>
            </a:r>
            <a:endParaRPr lang="ar-SA" sz="16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424928" y="4626864"/>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30–40 seconds</a:t>
            </a:r>
            <a:endParaRPr lang="en-US" sz="1100" dirty="0"/>
          </a:p>
        </p:txBody>
      </p:sp>
      <p:sp>
        <p:nvSpPr>
          <p:cNvPr id="33" name="Text 30"/>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 on a registration time (conditional).</a:t>
            </a:r>
            <a:endParaRPr lang="en-US" sz="1100" dirty="0"/>
          </a:p>
        </p:txBody>
      </p:sp>
      <p:sp>
        <p:nvSpPr>
          <p:cNvPr id="34" name="Text 31"/>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اتَّفِقْ عَلَى مَوْعِدِ التَّسْجِيلِ (شَرْطٌ).</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6 · Accuracy 4. One prompt = one mark — a full, relevant sentence each time.</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E6B52"/>
                </a:solidFill>
                <a:latin typeface="Calibri" pitchFamily="34" charset="0"/>
                <a:cs typeface="Amiri" pitchFamily="2" charset="-78"/>
              </a:rPr>
              <a:t>MOCK · PAPER 3 · PART 2 — TOPIC CONVERSATION (20 MARKS) · ABOUT 7 MINUTES</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 2 —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المُحَادَثَةُ المَوْضُوعِيَّةُ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 to answer</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24928" y="2267712"/>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2 minutes</a:t>
            </a:r>
            <a:endParaRPr lang="en-US" sz="11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biggest social challenge facing young people today, and why? (opinion · reason · example)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مَا أَكْبَرُ تَحَدٍّ اجْتِمَاعِيٍّ يُوَاجِهُ الشَّبَابَ اليَوْمَ؟ وَلِمَاذَا؟</a:t>
            </a:r>
            <a:endParaRPr lang="ar-SA" sz="15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424928" y="3054096"/>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2 minutes</a:t>
            </a:r>
            <a:endParaRPr lang="en-US" sz="1100" dirty="0"/>
          </a:p>
        </p:txBody>
      </p:sp>
      <p:sp>
        <p:nvSpPr>
          <p:cNvPr id="25" name="Text 22"/>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technology deepen isolation or reduce it? (concede, then refute)</a:t>
            </a:r>
            <a:endParaRPr lang="en-US" sz="1100" dirty="0"/>
          </a:p>
        </p:txBody>
      </p:sp>
      <p:sp>
        <p:nvSpPr>
          <p:cNvPr id="26" name="Text 23"/>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هَلْ تُعَمِّقُ التِّقْنِيَّةُ العُزْلَةَ أَمْ تُقَلِّلُهَا؟</a:t>
            </a:r>
            <a:endParaRPr lang="ar-SA" sz="16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424928" y="3840480"/>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2 minutes</a:t>
            </a:r>
            <a:endParaRPr lang="en-US" sz="1100" dirty="0"/>
          </a:p>
        </p:txBody>
      </p:sp>
      <p:sp>
        <p:nvSpPr>
          <p:cNvPr id="29" name="Text 26"/>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were in charge of education, what would you change? (lau …)</a:t>
            </a:r>
            <a:endParaRPr lang="en-US" sz="1100" dirty="0"/>
          </a:p>
        </p:txBody>
      </p:sp>
      <p:sp>
        <p:nvSpPr>
          <p:cNvPr id="30" name="Text 27"/>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لَوْ كُنْتَ مَسْؤُولًا عَنِ التَّعْلِيمِ، مَاذَا كُنْتَ سَتُغَيِّرُ؟</a:t>
            </a:r>
            <a:endParaRPr lang="ar-SA" sz="16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15 (5 per question) · Quality of Language 5. Develop every answer: four or five sentences.</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067398" y="274320"/>
            <a:ext cx="1692554"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067398" y="274320"/>
            <a:ext cx="169255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LISTEN BACK AND SELF-MARK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Listen to your recording and mark it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تَسْجِيلَكَ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Evidence (a phrase I said)</a:t>
            </a:r>
            <a:endParaRPr lang="en-US" sz="1100" dirty="0"/>
          </a:p>
        </p:txBody>
      </p:sp>
      <p:sp>
        <p:nvSpPr>
          <p:cNvPr id="17" name="Text 14"/>
          <p:cNvSpPr txBox="1"/>
          <p:nvPr/>
        </p:nvSpPr>
        <p:spPr>
          <a:xfrm>
            <a:off x="71140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mark</a:t>
            </a:r>
            <a:endParaRPr lang="en-US" sz="1100" dirty="0"/>
          </a:p>
        </p:txBody>
      </p:sp>
      <p:sp>
        <p:nvSpPr>
          <p:cNvPr id="18" name="Text 15"/>
          <p:cNvSpPr txBox="1"/>
          <p:nvPr/>
        </p:nvSpPr>
        <p:spPr>
          <a:xfrm>
            <a:off x="56509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Text 16"/>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Listen for …</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613648" y="2267712"/>
            <a:ext cx="3044952" cy="731520"/>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150608" y="2267712"/>
            <a:ext cx="1280160" cy="731520"/>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568756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24" name="Text 21"/>
          <p:cNvSpPr txBox="1"/>
          <p:nvPr/>
        </p:nvSpPr>
        <p:spPr>
          <a:xfrm>
            <a:off x="566928"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 each prompt answered with a full, relevant sentence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613648" y="3054096"/>
            <a:ext cx="3044952" cy="731520"/>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150608" y="3054096"/>
            <a:ext cx="1280160" cy="731520"/>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568756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1" name="Text 28"/>
          <p:cNvSpPr txBox="1"/>
          <p:nvPr/>
        </p:nvSpPr>
        <p:spPr>
          <a:xfrm>
            <a:off x="566928"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 accuracy across the four answers (4 = consistently accurate)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613648" y="3840480"/>
            <a:ext cx="3044952" cy="731520"/>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150608" y="3840480"/>
            <a:ext cx="1280160" cy="731520"/>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568756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38" name="Text 35"/>
          <p:cNvSpPr txBox="1"/>
          <p:nvPr/>
        </p:nvSpPr>
        <p:spPr>
          <a:xfrm>
            <a:off x="566928"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Conversation — each answer developed: opinion, reason, example (5 per question)</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613648" y="4626864"/>
            <a:ext cx="3044952" cy="731520"/>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150608" y="4626864"/>
            <a:ext cx="1280160" cy="731520"/>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568756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3" name="Text 40"/>
          <p:cNvSpPr txBox="1"/>
          <p:nvPr/>
        </p:nvSpPr>
        <p:spPr>
          <a:xfrm>
            <a:off x="566928"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Conversation — complex structures: two tenses, a conditional, a subjunctive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yourself credit for a correct trigger or conditional even if a vowel slipped — the website’s top-band standard is consistent use of complex structures.</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THE WEBSITE MODELS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full marks sound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اسْمِي سَامِي، وَأُحِبُّ القِرَاءَةَ وَكُرَةَ القَدَمِ، وَأَرْغَبُ فِي تَعَلُّمِ مَهَارَاتٍ جَدِيدَةٍ.</a:t>
            </a:r>
            <a:endParaRPr lang="ar-SA" sz="2600" dirty="0"/>
          </a:p>
          <a:p>
            <a:pPr rtl="1" algn="r" indent="0" marL="0">
              <a:lnSpc>
                <a:spcPct val="120000"/>
              </a:lnSpc>
              <a:buNone/>
            </a:pPr>
            <a:endParaRPr lang="ar-SA" sz="2600" dirty="0"/>
          </a:p>
          <a:p>
            <a:pPr rtl="1" algn="r" indent="0" marL="0">
              <a:lnSpc>
                <a:spcPct val="120000"/>
              </a:lnSpc>
              <a:buNone/>
            </a:pPr>
            <a:r>
              <a:rPr lang="ar-SA" altLang="en-US" sz="2600" dirty="0">
                <a:solidFill>
                  <a:srgbClr val="1F2A37"/>
                </a:solidFill>
                <a:latin typeface="Amiri" pitchFamily="2" charset="-78"/>
                <a:cs typeface="Amiri" pitchFamily="2" charset="-78"/>
              </a:rPr>
              <a:t>صَحِيحٌ أَنَّ التِّقْنِيَّةَ تُقَرِّبُ البَعِيدَ، غَيْرَ أَنَّهَا قَدْ تُبْعِدُ القَرِيبَ. وَلَوِ اسْتَخْدَمْنَاهَا بِوَعْيٍ، لَحَقَّقْنَا التَّوَازُنَ.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Role play, prompt 1: “My name is Sami; I love reading and football, and I would like to learn new skills.” — a full sentence. Conversation, question 2: “It is true that technology brings the distant near; however, it may push the near away. If we used it consciously, we would achieve balance.” — concession-refutation + a Type 2 conditional.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وَأَرْغَبُ فِي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اسْتَخْدَمْنَاهَا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لَحَقَّقْنَا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SCORE ·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Record your Paper 3 mock score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سَجِّلْ نَتِيجَتَكَ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45537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59028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7/10</a:t>
            </a:r>
            <a:endParaRPr lang="en-US" sz="1100" dirty="0"/>
          </a:p>
        </p:txBody>
      </p:sp>
      <p:sp>
        <p:nvSpPr>
          <p:cNvPr id="22" name="Text 19"/>
          <p:cNvSpPr txBox="1"/>
          <p:nvPr/>
        </p:nvSpPr>
        <p:spPr>
          <a:xfrm>
            <a:off x="56692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(out of 10)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459028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14/20</a:t>
            </a:r>
            <a:endParaRPr lang="en-US" sz="1100" dirty="0"/>
          </a:p>
        </p:txBody>
      </p:sp>
      <p:sp>
        <p:nvSpPr>
          <p:cNvPr id="28" name="Text 25"/>
          <p:cNvSpPr txBox="1"/>
          <p:nvPr/>
        </p:nvSpPr>
        <p:spPr>
          <a:xfrm>
            <a:off x="56692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conversation (out of 20)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59028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conditional (lau) and a subjunctive (yataṭallabu an)</a:t>
            </a:r>
            <a:endParaRPr lang="en-US" sz="1100" dirty="0"/>
          </a:p>
        </p:txBody>
      </p:sp>
      <p:sp>
        <p:nvSpPr>
          <p:cNvPr id="34" name="Text 31"/>
          <p:cNvSpPr txBox="1"/>
          <p:nvPr/>
        </p:nvSpPr>
        <p:spPr>
          <a:xfrm>
            <a:off x="56692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Structures I used spontaneously</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61364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459028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stopping after two sentences → ask myself “why?”</a:t>
            </a:r>
            <a:endParaRPr lang="en-US" sz="1100" dirty="0"/>
          </a:p>
        </p:txBody>
      </p:sp>
      <p:sp>
        <p:nvSpPr>
          <p:cNvPr id="38" name="Text 35"/>
          <p:cNvSpPr txBox="1"/>
          <p:nvPr/>
        </p:nvSpPr>
        <p:spPr>
          <a:xfrm>
            <a:off x="56692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weakest point and my fix</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Paper 3 total: role play + conversation = …/30. The teacher confirms your mark from your recording. Bring all four mock scores to P6-L11.</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ALL FOUR MOCKS COMPLETE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Post-speaking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question on technology</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 developed my answers best</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developed my answers best on…</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role play — negotiating</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 will practise before the real exam</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the real exam I will practise…</a:t>
            </a:r>
            <a:endParaRPr lang="en-US" sz="11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All four mocks complete — that is a real achievement. Well done.</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103120"/>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addressed all the role-play prompts with full sentences.</a:t>
            </a:r>
            <a:endParaRPr lang="en-US" sz="1300" dirty="0"/>
          </a:p>
        </p:txBody>
      </p:sp>
      <p:sp>
        <p:nvSpPr>
          <p:cNvPr id="18" name="Shape 15"/>
          <p:cNvSpPr/>
          <p:nvPr/>
        </p:nvSpPr>
        <p:spPr>
          <a:xfrm>
            <a:off x="6583680" y="2084832"/>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8483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43200"/>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3035808"/>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43200"/>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developed each topic answer with opinion, reason and example.</a:t>
            </a:r>
            <a:endParaRPr lang="en-US" sz="1300" dirty="0"/>
          </a:p>
        </p:txBody>
      </p:sp>
      <p:sp>
        <p:nvSpPr>
          <p:cNvPr id="23" name="Shape 20"/>
          <p:cNvSpPr/>
          <p:nvPr/>
        </p:nvSpPr>
        <p:spPr>
          <a:xfrm>
            <a:off x="6583680" y="3017520"/>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3017520"/>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75888"/>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968496"/>
            <a:ext cx="219456" cy="219456"/>
          </a:xfrm>
          <a:prstGeom prst="rect">
            <a:avLst/>
          </a:prstGeom>
          <a:solidFill>
            <a:srgbClr val="FFFFFF"/>
          </a:solidFill>
          <a:ln w="19050">
            <a:solidFill>
              <a:srgbClr val="B83227"/>
            </a:solidFill>
            <a:prstDash val="solid"/>
          </a:ln>
        </p:spPr>
      </p:sp>
      <p:sp>
        <p:nvSpPr>
          <p:cNvPr id="27" name="Text 24"/>
          <p:cNvSpPr txBox="1"/>
          <p:nvPr/>
        </p:nvSpPr>
        <p:spPr>
          <a:xfrm>
            <a:off x="1097280" y="3675888"/>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complex grammar spontaneously.</a:t>
            </a:r>
            <a:endParaRPr lang="en-US" sz="1300" dirty="0"/>
          </a:p>
        </p:txBody>
      </p:sp>
      <p:sp>
        <p:nvSpPr>
          <p:cNvPr id="28" name="Shape 25"/>
          <p:cNvSpPr/>
          <p:nvPr/>
        </p:nvSpPr>
        <p:spPr>
          <a:xfrm>
            <a:off x="6583680" y="3950208"/>
            <a:ext cx="1097280" cy="256032"/>
          </a:xfrm>
          <a:prstGeom prst="roundRect">
            <a:avLst>
              <a:gd name="adj" fmla="val 50000"/>
            </a:avLst>
          </a:prstGeom>
          <a:solidFill>
            <a:srgbClr val="B83227"/>
          </a:solidFill>
          <a:ln w="12700">
            <a:solidFill>
              <a:srgbClr val="B83227"/>
            </a:solidFill>
            <a:prstDash val="solid"/>
          </a:ln>
        </p:spPr>
      </p:sp>
      <p:sp>
        <p:nvSpPr>
          <p:cNvPr id="29" name="Text 26"/>
          <p:cNvSpPr txBox="1"/>
          <p:nvPr/>
        </p:nvSpPr>
        <p:spPr>
          <a:xfrm>
            <a:off x="6583680" y="3950208"/>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30" name="Shape 27"/>
          <p:cNvSpPr/>
          <p:nvPr/>
        </p:nvSpPr>
        <p:spPr>
          <a:xfrm>
            <a:off x="457200" y="4608576"/>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901184"/>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608576"/>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recovered from any hesitation and kept speaking.</a:t>
            </a:r>
            <a:endParaRPr lang="en-US" sz="1300" dirty="0"/>
          </a:p>
        </p:txBody>
      </p:sp>
      <p:sp>
        <p:nvSpPr>
          <p:cNvPr id="33" name="Shape 30"/>
          <p:cNvSpPr/>
          <p:nvPr/>
        </p:nvSpPr>
        <p:spPr>
          <a:xfrm>
            <a:off x="6583680" y="4882896"/>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882896"/>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37" name="Shape 34"/>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P6-L11 · Mock Results, Targeted Revision and Final IGCSE Preparation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revision</a:t>
            </a:r>
            <a:pPr indent="0" marL="0">
              <a:buNone/>
            </a:pPr>
            <a:r>
              <a:rPr lang="en-US" sz="1000" i="1" dirty="0">
                <a:solidFill>
                  <a:srgbClr val="5A6472"/>
                </a:solidFill>
                <a:latin typeface="Calibri" pitchFamily="34" charset="0"/>
                <a:cs typeface="Amiri" pitchFamily="2" charset="-78"/>
              </a:rPr>
              <a:t>  v. رَاجَعَ</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نِقَاطُ القُوَّةِ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strengths</a:t>
            </a:r>
            <a:pPr indent="0" marL="0">
              <a:buNone/>
            </a:pPr>
            <a:r>
              <a:rPr lang="en-US" sz="1000" i="1" dirty="0">
                <a:solidFill>
                  <a:srgbClr val="5A6472"/>
                </a:solidFill>
                <a:latin typeface="Calibri" pitchFamily="34" charset="0"/>
                <a:cs typeface="Amiri" pitchFamily="2" charset="-78"/>
              </a:rPr>
              <a:t>  sg. نُقْطَةُ قُوَّةٍ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نِقَاطُ الضَّعْفِ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weaknesses</a:t>
            </a:r>
            <a:pPr indent="0" marL="0">
              <a:buNone/>
            </a:pPr>
            <a:r>
              <a:rPr lang="en-US" sz="1000" i="1" dirty="0">
                <a:solidFill>
                  <a:srgbClr val="5A6472"/>
                </a:solidFill>
                <a:latin typeface="Calibri" pitchFamily="34" charset="0"/>
                <a:cs typeface="Amiri" pitchFamily="2" charset="-78"/>
              </a:rPr>
              <a:t>  sg. نُقْطَةُ ضَعْفٍ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الأَخْطَاءُ الشَّائِعَةُ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common errors</a:t>
            </a:r>
            <a:pPr indent="0" marL="0">
              <a:buNone/>
            </a:pPr>
            <a:r>
              <a:rPr lang="en-US" sz="1000" i="1" dirty="0">
                <a:solidFill>
                  <a:srgbClr val="5A6472"/>
                </a:solidFill>
                <a:latin typeface="Calibri" pitchFamily="34" charset="0"/>
                <a:cs typeface="Amiri" pitchFamily="2" charset="-78"/>
              </a:rPr>
              <a:t>  sg. خَطَأٌ شَائِعٌ</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خُطَّةُ المُرَاجَعَةِ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revision plan</a:t>
            </a:r>
            <a:pPr indent="0" marL="0">
              <a:buNone/>
            </a:pPr>
            <a:r>
              <a:rPr lang="en-US" sz="1000" i="1" dirty="0">
                <a:solidFill>
                  <a:srgbClr val="5A6472"/>
                </a:solidFill>
                <a:latin typeface="Calibri" pitchFamily="34" charset="0"/>
                <a:cs typeface="Amiri" pitchFamily="2" charset="-78"/>
              </a:rPr>
              <a:t>  pl. خُطَطٌ</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of the four papers is your strongest, and which needs the most work?</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أَقْوَى وَرَقَةٍ عِنْدِي هِيَ ______ ، وَأَحْتَاجُ إِلَى مُرَاجَعَةِ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Collect your four mock scores in one place;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Collect your scores and list your three most common errors;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Collect your scores, list your errors, and draft a two-week revision plan;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P6-L11 · Mock Results, Targeted Revision and Final IGCSE Preparation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نَتَائِجُ المُحَاكَاةِ وَالمُرَاجَعَةُ المُوَجَّهَةُ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role play — precise, not long; topic conversation — develop every answer. All four mocks are done: bring your scores to P6-L11.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P6-L10 · Mock Examination — Paper 3 Speaking (Full IGCSE Format)</dc:title>
  <dc:subject>PptxGenJS Presentation</dc:subject>
  <dc:creator>Al Madina Online School · Arabic Department</dc:creator>
  <cp:lastModifiedBy>Al Madina Online School · Arabic Department</cp:lastModifiedBy>
  <cp:revision>1</cp:revision>
  <dcterms:created xsi:type="dcterms:W3CDTF">2026-10-11T06:43:37Z</dcterms:created>
  <dcterms:modified xsi:type="dcterms:W3CDTF">2026-10-11T06:43:37Z</dcterms:modified>
</cp:coreProperties>
</file>