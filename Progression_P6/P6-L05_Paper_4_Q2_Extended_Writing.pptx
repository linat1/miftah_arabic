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Map · 2–8 Do Now + answers · 8–9 Objectives · 9–12 Essay words · 12–15 Time and architecture · 15–17 The Q2 mark scheme · 17–21 A four-minute plan (I Do) · 21–23 Choose your essay · 23–48 Plan 4 + write 21 (exam conditions) · 48–53 Models + self-mark · 53–55 Writing profile · 55–58 Reflection + self-check · 58–60 Preparation.
FLEX slides are optional. Use them if the class is moving quickly; otherwise the same activities are on the website for homework.
Content source: Miftah Arabic website, Pathways › Progression › P6 IGCSE Bridge › P6-L05. The website P6-L05: the extended-writing vocabulary (8 words), the time-management and architecture cards, the Paper 4 Q2 mark scheme (TC 5 · Range 5 · Accuracy 5), three argumentative essays with checklists and models (mental vs physical health · is university still necessary? · social media: more good than harm?), the writing performance profile and the reflection frames.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EXAM CONDITIONS: one essay, 25 minutes (4 planning + 21 writing) — in the real Paper 4 about 35 minutes are available for Q2. Students choose the topic whose vocabulary they know best (website mark-scheme note: Range falls when you are hunting for words).
• Routes by length and scaffold: Core — the essay skeleton frames, 90–110 words · Develop — 130 words · Stretch — 150 words with both conditionals. Everyone uses the same architecture.
• Website note: length is capped at 130–150 words — more words do not gain marks if quality drops. Models are shown ONLY after writing; students self-mark against the website mark scheme.
• Website fix: نُوَلِيَ → نُولِيَ (essay 1 model).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show the whole journey so students know when they will listen, read, speak or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P6-L04. Questions 4–5 retrieve the P5 essay close (P5-L07, L09) — today it is written against the clock.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Q2 is the P5 essay under exam conditions — four minutes of planning buys you the whole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Left: the website objectives. Right: the same objectives broken into three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وقت and نقیض are shared. Remember the traps from earlier: خاتمہ (Urdu: an end) → الخَاتِمَةُ (Arabic: the conclusion paragraph); دقت (Urdu: difficulty) → الدِّقَّةُ (Arabic: accuracy). Today’s phrase: الدِّقَّةُ تَحْتَ ضَغْطِ الوَقْتِ — accuracy under time pressure.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Essay and exam craft (website vocabulary (1 of 2)). Hear → Say → See → Use. Transliteration is printed for Core students (cover it for Develop/Stretch).
The essay in five words: الأُطْرُوحَةُ (thesis) → الدَّلِيلُ (evidence) → نَقِيضُ الحُجَّةِ (the counter-argument, conceded) → الرَّدُّ (the refutation) → الخَاتِمَةُ (the conclusion). التَّنَوُّعُ المَعْجَمِيُّ (lexical variety) and الدِّقَّةُ تَحْتَ ضَغْطِ الوَقْتِ (accuracy under time pressure) are today’s two challenges.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Essay and exam craft (website vocabulary (2 of 2)). Hear → Say → See → Use. Transliteration is printed for Core students (cover it for Develop/Stretch).
The essay in five words: الأُطْرُوحَةُ (thesis) → الدَّلِيلُ (evidence) → نَقِيضُ الحُجَّةِ (the counter-argument, conceded) → الرَّدُّ (the refutation) → الخَاتِمَةُ (the conclusion). التَّنَوُّعُ المَعْجَمِيُّ (lexical variety) and الدِّقَّةُ تَحْتَ ضَغْطِ الوَقْتِ (accuracy under time pressure) are today’s two challenges.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 the website cards. Draw the hour as a bar: 20 min Q1 · 35 min Q2 · 5 min checking. Stress card 4: Range WITHOUT risk — a simple accurate sentence beats an ambitious broken one.
WEBSITE CARDS “Time management and architecture”: Split the hour: Paper 4 is 60 minutes: about 20 for Q1, about 35 for Q2, and 5 to check. Do not let Q1 eat Q2's time. · Plan for four minutes: Before writing Q2, plan the thesis, the evidence, the concession-refutation, and the conclusion. · Write the architecture: Each paragraph has a job. (أُطْرُوحَةٌ ← دَلِيلٌ ← صَحِيحٌ أَنَّ … غَيْرَ أَنَّ ← وَبِنَاءً عَلَى مَا سَبَقَ) · Range without risk: Aim for grammar variety — different tenses, a conditional, a subjunctive trigger, a formal connector — but never at the cost of accuracy.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Website note: Length is capped at 130–150 words: writing more does not gain marks if quality drops. Choose the topic whose vocabulary you know best — Range falls when you are hunting for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(4 min) — plan Essay 3 live, against a visible 4-minute timer, in short Arabic notes. Show that the Range column is planned BEFORE writing (website teaching: plan both marks at once — P5-L09). Then hide the plan and start the timer for students.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ROUTES (2 min). Topics: Essay 1 health · Essay 2 education · Essay 3 social issues (website). Exam conditions from now: cameras on, no translation tools, no talking. Show a visible timer.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Website task: Write an argumentative essay (130–150 words): “الصِّحَّةُ النَّفْسِيَّةُ أَهَمُّ مِنَ الصِّحَّةِ الجَسَدِيَّةِ — هَلْ تُوَافِقُ؟” Use the full architecture.
Website checklist: A clear thesis stating your position. · Cited evidence (أَكَّدَ … أَنَّ) and a concession (صَحِيحٌ أَنَّ). · A refutation (غَيْرَ أَنَّ) and a Type 2 conditional. · A conclusion (وَبِنَاءً عَلَى مَا سَبَقَ) with a subjunctive; 130–150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Website task: Write an argumentative essay (130–150 words): “التَّعْلِيمُ الجَامِعِيُّ لَمْ يَعُدْ ضَرُورِيًّا لِلنَّجَاحِ فِي عَالَمِ اليَوْمِ — هَلْ تُوَافِقُ؟”
Website checklist: A clear thesis and cited evidence. · A concession (صَحِيحٌ أَنَّ) answered by a refutation (غَيْرَ أَنَّ). · Both a Type 1 and a Type 2 conditional if you can. · A conclusion connector with a subjunctive; 130–150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Website task: Write an argumentative essay (130–150 words): “وَسَائِلُ التَّوَاصُلِ الاجْتِمَاعِيِّ تُفِيدُ المُجْتَمَعَاتِ أَكْثَرَ مِمَّا تَضُرُّهَا — هَلْ تُوَافِقُ؟”
Website checklist: A clear thesis and cited evidence. · A concession (صَحِيحٌ أَنَّ) and a refutation (غَيْرَ أَنَّ). · A subjunctive trigger and a Type 2 conditional. · A conclusion connector with a subjunctive; 130–150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Frames for all three topics. Core: the four skeleton frames give the full architecture. Develop: the four upgrade frames add Range.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(website) — show AFTER students have written. Students find the four items on the chips, then choose ONE thing to add to their own answer.
Website model (health), with one fix: نُوَلِيَ → نُولِيَ (Form IV أَوْلَى، يُولِي). Note إِذَا وَازَنَ … عَاشَ — a past-tense result for a general truth (“whenever”).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(website) — show AFTER students have written. Students find the four items on the chips, then choose ONE thing to add to their own answer.
Website model (education). Stretch point: يَنْبَغِي أَنْ نُطَوِّرَ … لَا أَنْ نَسْتَغْنِيَ — two verbs in -a, contrasted with لَا.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(website) — show AFTER students have written. Students find the four items on the chips, then choose ONE thing to add to their own answer.
Website model (social issues). Count the verbs in -a in the last sentence: نُرَبِّيَ · نَجْنِيَ · نَتَجَنَّبَ.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PROFILE (2 min) — website fields, after self-marking with the mark scheme and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(2 min) — website frames. Encourage: if they managed the architecture in 25 minutes, 35 minutes will feel comfortable.
Website:  (The exam gives you more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(P6-L06 · Paper 3 Role Play — Transactional Language at IGCSE Standard) will spend class time USING this language, so students prepare it tonight — short, simple, easy to access (school guidance: “Simple, Short, Interesting, Relevant, Easy to access”). The five words come from the website P6-L06 vocabulary (role play and transactional language).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9  ·  PROGRESSION P6  ·  P6-L05</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P6-L05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Paper 4 Q2 — Extended Writing: Essay Architecture Under Exam Conditions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2650" b="1" dirty="0">
                <a:solidFill>
                  <a:srgbClr val="D4AF37"/>
                </a:solidFill>
                <a:latin typeface="Amiri" pitchFamily="34" charset="0"/>
                <a:ea typeface="Amiri" pitchFamily="34" charset="-122"/>
                <a:cs typeface="Amiri" pitchFamily="34" charset="-120"/>
              </a:rPr>
              <a:t>الوَرَقَةُ الرَّابِعَةُ — الكِتَابَةُ المُوَسَّعَةُ: هَيْكَلُ المَقَالِ تَحْتَ ضَغْطِ الوَقْتِ</a:t>
            </a:r>
            <a:endParaRPr lang="ar-SA" sz="265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Write a full 130–150-word argumentative essay against the clock: plan for four minutes, then thesis → evidence → ṣaḥīḥun anna … ghayra anna → law … la- → wa-bināʾan ʿalā mā sabaqa + -a — with Range that never costs Accuracy.</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P6-L05 · Progression P6 · IGCSE Bridge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Progression › P6 › P6-L05</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P6-L05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P6-L05</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25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P6-L05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P6-L05</a:t>
            </a:r>
            <a:endParaRPr lang="en-US" sz="850" dirty="0"/>
          </a:p>
        </p:txBody>
      </p:sp>
      <p:sp>
        <p:nvSpPr>
          <p:cNvPr id="15" name="Shape 12"/>
          <p:cNvSpPr/>
          <p:nvPr/>
        </p:nvSpPr>
        <p:spPr>
          <a:xfrm>
            <a:off x="457200"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55295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6 min</a:t>
            </a:r>
            <a:endParaRPr lang="en-US" sz="1000" dirty="0"/>
          </a:p>
        </p:txBody>
      </p:sp>
      <p:sp>
        <p:nvSpPr>
          <p:cNvPr id="19" name="Shape 16"/>
          <p:cNvSpPr/>
          <p:nvPr/>
        </p:nvSpPr>
        <p:spPr>
          <a:xfrm>
            <a:off x="1142238"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14223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essay words and P5 accuracy.</a:t>
            </a:r>
            <a:endParaRPr lang="en-US" sz="1200" dirty="0"/>
          </a:p>
        </p:txBody>
      </p:sp>
      <p:sp>
        <p:nvSpPr>
          <p:cNvPr id="22" name="Text 19"/>
          <p:cNvSpPr txBox="1"/>
          <p:nvPr/>
        </p:nvSpPr>
        <p:spPr>
          <a:xfrm>
            <a:off x="548640"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357628"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467356" y="1938528"/>
            <a:ext cx="155295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503932"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503932"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8 min</a:t>
            </a:r>
            <a:endParaRPr lang="en-US" sz="1000" dirty="0"/>
          </a:p>
        </p:txBody>
      </p:sp>
      <p:sp>
        <p:nvSpPr>
          <p:cNvPr id="27" name="Shape 24"/>
          <p:cNvSpPr/>
          <p:nvPr/>
        </p:nvSpPr>
        <p:spPr>
          <a:xfrm>
            <a:off x="3042666"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04266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485644"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Time, architecture and the Q2 mark scheme.</a:t>
            </a:r>
            <a:endParaRPr lang="en-US" sz="1200" dirty="0"/>
          </a:p>
        </p:txBody>
      </p:sp>
      <p:sp>
        <p:nvSpPr>
          <p:cNvPr id="30" name="Text 27"/>
          <p:cNvSpPr txBox="1"/>
          <p:nvPr/>
        </p:nvSpPr>
        <p:spPr>
          <a:xfrm>
            <a:off x="2449068"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الهَيْكَلُ</a:t>
            </a:r>
            <a:endParaRPr lang="ar-SA" sz="1500" dirty="0"/>
          </a:p>
        </p:txBody>
      </p:sp>
      <p:sp>
        <p:nvSpPr>
          <p:cNvPr id="31" name="Shape 28"/>
          <p:cNvSpPr/>
          <p:nvPr/>
        </p:nvSpPr>
        <p:spPr>
          <a:xfrm>
            <a:off x="4258056"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367784" y="1938528"/>
            <a:ext cx="155295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4404360"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4404360"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4 min</a:t>
            </a:r>
            <a:endParaRPr lang="en-US" sz="1000" dirty="0"/>
          </a:p>
        </p:txBody>
      </p:sp>
      <p:sp>
        <p:nvSpPr>
          <p:cNvPr id="35" name="Shape 32"/>
          <p:cNvSpPr/>
          <p:nvPr/>
        </p:nvSpPr>
        <p:spPr>
          <a:xfrm>
            <a:off x="4943094"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9430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4386072"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plan in four minutes.</a:t>
            </a:r>
            <a:endParaRPr lang="en-US" sz="1200" dirty="0"/>
          </a:p>
        </p:txBody>
      </p:sp>
      <p:sp>
        <p:nvSpPr>
          <p:cNvPr id="38" name="Text 35"/>
          <p:cNvSpPr txBox="1"/>
          <p:nvPr/>
        </p:nvSpPr>
        <p:spPr>
          <a:xfrm>
            <a:off x="4349496"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6158484"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6268212" y="1938528"/>
            <a:ext cx="1552956"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6304788"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42" name="Text 39"/>
          <p:cNvSpPr txBox="1"/>
          <p:nvPr/>
        </p:nvSpPr>
        <p:spPr>
          <a:xfrm>
            <a:off x="6304788"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27 min</a:t>
            </a:r>
            <a:endParaRPr lang="en-US" sz="1000" dirty="0"/>
          </a:p>
        </p:txBody>
      </p:sp>
      <p:sp>
        <p:nvSpPr>
          <p:cNvPr id="43" name="Shape 40"/>
          <p:cNvSpPr/>
          <p:nvPr/>
        </p:nvSpPr>
        <p:spPr>
          <a:xfrm>
            <a:off x="68435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68435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6286500"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Choose your essay · plan · write (exam conditions).</a:t>
            </a:r>
            <a:endParaRPr lang="en-US" sz="1200" dirty="0"/>
          </a:p>
        </p:txBody>
      </p:sp>
      <p:sp>
        <p:nvSpPr>
          <p:cNvPr id="46" name="Text 43"/>
          <p:cNvSpPr txBox="1"/>
          <p:nvPr/>
        </p:nvSpPr>
        <p:spPr>
          <a:xfrm>
            <a:off x="6249924"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اُكْتُبْ</a:t>
            </a:r>
            <a:endParaRPr lang="ar-SA" sz="1500" dirty="0"/>
          </a:p>
        </p:txBody>
      </p:sp>
      <p:sp>
        <p:nvSpPr>
          <p:cNvPr id="47" name="Shape 44"/>
          <p:cNvSpPr/>
          <p:nvPr/>
        </p:nvSpPr>
        <p:spPr>
          <a:xfrm>
            <a:off x="8058912"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168640" y="1938528"/>
            <a:ext cx="1552956"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8205216"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0" name="Text 47"/>
          <p:cNvSpPr txBox="1"/>
          <p:nvPr/>
        </p:nvSpPr>
        <p:spPr>
          <a:xfrm>
            <a:off x="8205216"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10 min</a:t>
            </a:r>
            <a:endParaRPr lang="en-US" sz="1000" dirty="0"/>
          </a:p>
        </p:txBody>
      </p:sp>
      <p:sp>
        <p:nvSpPr>
          <p:cNvPr id="51" name="Shape 48"/>
          <p:cNvSpPr/>
          <p:nvPr/>
        </p:nvSpPr>
        <p:spPr>
          <a:xfrm>
            <a:off x="8743950"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874395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8186928"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Models, self-marking, profile, reflection.</a:t>
            </a:r>
            <a:endParaRPr lang="en-US" sz="1200" dirty="0"/>
          </a:p>
        </p:txBody>
      </p:sp>
      <p:sp>
        <p:nvSpPr>
          <p:cNvPr id="54" name="Text 51"/>
          <p:cNvSpPr txBox="1"/>
          <p:nvPr/>
        </p:nvSpPr>
        <p:spPr>
          <a:xfrm>
            <a:off x="8150352"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a:t>
            </a:r>
            <a:endParaRPr lang="ar-SA" sz="1500" dirty="0"/>
          </a:p>
        </p:txBody>
      </p:sp>
      <p:sp>
        <p:nvSpPr>
          <p:cNvPr id="55" name="Shape 52"/>
          <p:cNvSpPr/>
          <p:nvPr/>
        </p:nvSpPr>
        <p:spPr>
          <a:xfrm>
            <a:off x="9959340"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10069068" y="1938528"/>
            <a:ext cx="1552956" cy="566928"/>
          </a:xfrm>
          <a:prstGeom prst="roundRect">
            <a:avLst>
              <a:gd name="adj" fmla="val 9677"/>
            </a:avLst>
          </a:prstGeom>
          <a:solidFill>
            <a:srgbClr val="C45A3C"/>
          </a:solidFill>
          <a:ln w="12700">
            <a:solidFill>
              <a:srgbClr val="C45A3C"/>
            </a:solidFill>
            <a:prstDash val="solid"/>
          </a:ln>
        </p:spPr>
      </p:sp>
      <p:sp>
        <p:nvSpPr>
          <p:cNvPr id="57" name="Text 54"/>
          <p:cNvSpPr txBox="1"/>
          <p:nvPr/>
        </p:nvSpPr>
        <p:spPr>
          <a:xfrm>
            <a:off x="10105644"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58" name="Text 55"/>
          <p:cNvSpPr txBox="1"/>
          <p:nvPr/>
        </p:nvSpPr>
        <p:spPr>
          <a:xfrm>
            <a:off x="10105644"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59" name="Shape 56"/>
          <p:cNvSpPr/>
          <p:nvPr/>
        </p:nvSpPr>
        <p:spPr>
          <a:xfrm>
            <a:off x="10644378"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1064437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10087356"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for the role play.</a:t>
            </a:r>
            <a:endParaRPr lang="en-US" sz="1200" dirty="0"/>
          </a:p>
        </p:txBody>
      </p:sp>
      <p:sp>
        <p:nvSpPr>
          <p:cNvPr id="62" name="Text 59"/>
          <p:cNvSpPr txBox="1"/>
          <p:nvPr/>
        </p:nvSpPr>
        <p:spPr>
          <a:xfrm>
            <a:off x="10050780"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63" name="Shape 60"/>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4" name="Text 61"/>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65" name="Text 62"/>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This is an exam-preparation lesson. Every task uses the real IGCSE format — Core students use the green boxes, frames and English support; nobody is expected to get everything right first time.</a:t>
            </a:r>
            <a:endParaRPr lang="en-US" sz="125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25</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P6-L05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هَيْكَلُ المَقَالِ</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essay title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essay structure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essay length</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التَّنَوُّعُ المَعْجَمِيُّ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lexical variety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dictionary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spelling</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الدِّقَّةُ تَحْتَ ضَغْطِ الوَقْتِ</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time limit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pressure at work</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accuracy under time pressure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opens the conclusion?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صَحِيحٌ أَنَّ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أَكَّدَ البَاحِثُونَ أَنَّ</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وَبِنَاءً عَلَى مَا سَبَقَ</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يَتَطَلَّبُ الأَمْرُ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الأَجْيَالَ عَلَى الاسْتِخْدَامِ المَسْؤُولِ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نُرَبِّيَ</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نُرَبِّي</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رَبَّيْنَا</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25</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P6-L05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هَيْكَلُ المَقَالِ</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essay title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essay structure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essay length</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(P6-L04).</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التَّنَوُّعُ المَعْجَمِيُّ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lexical variety</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dictionary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spelling</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(P6-L04).</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الدِّقَّةُ تَحْتَ ضَغْطِ الوَقْتِ</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time limit</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pressure at work</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accuracy under time pressure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(P6-L04).</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opens the conclusion?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صَحِيحٌ أَنَّ</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أَكَّدَ البَاحِثُونَ أَنَّ</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وَبِنَاءً عَلَى مَا سَبَقَ</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P5-L07: the formal conclusion connector.</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يَتَطَلَّبُ الأَمْرُ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الأَجْيَالَ عَلَى الاسْتِخْدَامِ المَسْؤُولِ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نُرَبِّيَ</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نُرَبِّي</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رَبَّيْنَا</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P5: an + -a (hidden in -ī verbs: nurabbiya).</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Q2 is the P5 essay under exam conditions — four minutes of planning buys you the whole architecture.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أُطْرُوحَةٌ ← دَلِيلٌ ← صَحِيحٌ أَنَّ … غَيْرَ أَنَّ ← وَبِنَاءً عَلَى مَا سَبَقَ</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25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P6-L05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P6-L05</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Write a full argumentative essay (130–150 words) under timed conditions.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Show the complete architecture: thesis, evidence, concession, refutation, conclusion.</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Balance quantity and quality — enough Range without losing Accuracy.</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Apply the Q2 mark scheme to identify your writing strengths and weaknesses.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plan the four paragraphs before writing.</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write a thesis and one concession–refutation.</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write 130 words with the full architecture.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close with a connector + a verb in -a.</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150 words with both conditionals.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self-mark against TC, Range and Accuracy.</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25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8 exam words from the website in 1 groups. </a:t>
            </a:r>
            <a:endParaRPr lang="en-US" sz="1600" dirty="0"/>
          </a:p>
        </p:txBody>
      </p:sp>
      <p:sp>
        <p:nvSpPr>
          <p:cNvPr id="8" name="Shape 6"/>
          <p:cNvSpPr/>
          <p:nvPr/>
        </p:nvSpPr>
        <p:spPr>
          <a:xfrm>
            <a:off x="457200" y="4572000"/>
            <a:ext cx="7863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7589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Essay and exam craft · 8</a:t>
            </a:r>
            <a:endParaRPr lang="en-US" sz="900" dirty="0"/>
          </a:p>
        </p:txBody>
      </p:sp>
      <p:sp>
        <p:nvSpPr>
          <p:cNvPr id="10" name="Shape 8"/>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1" name="Text 9"/>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2" name="Text 10"/>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وَقْتٌ</a:t>
            </a:r>
            <a:endParaRPr lang="ar-SA" sz="1900" dirty="0"/>
          </a:p>
        </p:txBody>
      </p:sp>
      <p:sp>
        <p:nvSpPr>
          <p:cNvPr id="13" name="Text 11"/>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‎وقت‎ </a:t>
            </a:r>
            <a:pPr indent="0" marL="0">
              <a:buNone/>
            </a:pPr>
            <a:r>
              <a:rPr lang="en-US" sz="950" b="1" dirty="0">
                <a:solidFill>
                  <a:srgbClr val="2E8B57"/>
                </a:solidFill>
                <a:latin typeface="Calibri" pitchFamily="34" charset="0"/>
                <a:ea typeface="Calibri" pitchFamily="34" charset="-122"/>
                <a:cs typeface="Calibri" pitchFamily="34" charset="-120"/>
              </a:rPr>
              <a:t> waqt · time</a:t>
            </a:r>
            <a:endParaRPr lang="en-US" sz="1400" dirty="0"/>
          </a:p>
        </p:txBody>
      </p:sp>
      <p:sp>
        <p:nvSpPr>
          <p:cNvPr id="14" name="Text 12"/>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نَقِيضٌ</a:t>
            </a:r>
            <a:endParaRPr lang="ar-SA" sz="1900" dirty="0"/>
          </a:p>
        </p:txBody>
      </p:sp>
      <p:sp>
        <p:nvSpPr>
          <p:cNvPr id="15" name="Text 13"/>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‎نقیض‎ </a:t>
            </a:r>
            <a:pPr indent="0" marL="0">
              <a:buNone/>
            </a:pPr>
            <a:r>
              <a:rPr lang="en-US" sz="950" b="1" dirty="0">
                <a:solidFill>
                  <a:srgbClr val="2E8B57"/>
                </a:solidFill>
                <a:latin typeface="Calibri" pitchFamily="34" charset="0"/>
                <a:ea typeface="Calibri" pitchFamily="34" charset="-122"/>
                <a:cs typeface="Calibri" pitchFamily="34" charset="-120"/>
              </a:rPr>
              <a:t> naqīz · the opposite, the counter</a:t>
            </a:r>
            <a:endParaRPr lang="en-US" sz="1400" dirty="0"/>
          </a:p>
        </p:txBody>
      </p:sp>
      <p:sp>
        <p:nvSpPr>
          <p:cNvPr id="16" name="Text 14"/>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خَاتِمَةٌ</a:t>
            </a:r>
            <a:endParaRPr lang="ar-SA" sz="1900" dirty="0"/>
          </a:p>
        </p:txBody>
      </p:sp>
      <p:sp>
        <p:nvSpPr>
          <p:cNvPr id="17" name="Text 15"/>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‎خاتمہ‎ </a:t>
            </a:r>
            <a:pPr indent="0" marL="0">
              <a:buNone/>
            </a:pPr>
            <a:r>
              <a:rPr lang="en-US" sz="950" b="1" dirty="0">
                <a:solidFill>
                  <a:srgbClr val="2E8B57"/>
                </a:solidFill>
                <a:latin typeface="Calibri" pitchFamily="34" charset="0"/>
                <a:ea typeface="Calibri" pitchFamily="34" charset="-122"/>
                <a:cs typeface="Calibri" pitchFamily="34" charset="-120"/>
              </a:rPr>
              <a:t> khātima · Arabic: a conclusion · Urdu: an end</a:t>
            </a:r>
            <a:endParaRPr lang="en-US" sz="1400" dirty="0"/>
          </a:p>
        </p:txBody>
      </p:sp>
      <p:sp>
        <p:nvSpPr>
          <p:cNvPr id="18" name="Text 16"/>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دِقَّةٌ</a:t>
            </a:r>
            <a:endParaRPr lang="ar-SA" sz="1900" dirty="0"/>
          </a:p>
        </p:txBody>
      </p:sp>
      <p:sp>
        <p:nvSpPr>
          <p:cNvPr id="19" name="Text 17"/>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‎دقت‎ </a:t>
            </a:r>
            <a:pPr indent="0" marL="0">
              <a:buNone/>
            </a:pPr>
            <a:r>
              <a:rPr lang="en-US" sz="950" b="1" dirty="0">
                <a:solidFill>
                  <a:srgbClr val="2E8B57"/>
                </a:solidFill>
                <a:latin typeface="Calibri" pitchFamily="34" charset="0"/>
                <a:ea typeface="Calibri" pitchFamily="34" charset="-122"/>
                <a:cs typeface="Calibri" pitchFamily="34" charset="-120"/>
              </a:rPr>
              <a:t> diqqat · Arabic: accuracy · Urdu: difficulty</a:t>
            </a:r>
            <a:endParaRPr lang="en-US" sz="1400" dirty="0"/>
          </a:p>
        </p:txBody>
      </p:sp>
      <p:sp>
        <p:nvSpPr>
          <p:cNvPr id="20" name="Text 18"/>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ضَغْطٌ</a:t>
            </a:r>
            <a:endParaRPr lang="ar-SA" sz="1900" dirty="0"/>
          </a:p>
        </p:txBody>
      </p:sp>
      <p:sp>
        <p:nvSpPr>
          <p:cNvPr id="21" name="Text 19"/>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‎دباؤ‎ </a:t>
            </a:r>
            <a:pPr indent="0" marL="0">
              <a:buNone/>
            </a:pPr>
            <a:r>
              <a:rPr lang="en-US" sz="950" b="1" dirty="0">
                <a:solidFill>
                  <a:srgbClr val="2E8B57"/>
                </a:solidFill>
                <a:latin typeface="Calibri" pitchFamily="34" charset="0"/>
                <a:ea typeface="Calibri" pitchFamily="34" charset="-122"/>
                <a:cs typeface="Calibri" pitchFamily="34" charset="-120"/>
              </a:rPr>
              <a:t> dabāo · pressure (Arabic ضَغْطٌ, Urdu دباؤ)</a:t>
            </a:r>
            <a:endParaRPr lang="en-US" sz="1400" dirty="0"/>
          </a:p>
        </p:txBody>
      </p:sp>
      <p:sp>
        <p:nvSpPr>
          <p:cNvPr id="23" name="Text 2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25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P6-L05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Essay and exam craft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الكِتَابَةُ المُوَسَّعَةُ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extended writing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al-ki-tā-ba-tu al-mu-was-sa-ʿa-tu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Shape 22"/>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هَيْكَلُ المَقَالِ</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essay structure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hay-ka-lu al-ma-qā-li</a:t>
            </a:r>
            <a:endParaRPr lang="en-US" sz="1350" dirty="0"/>
          </a:p>
        </p:txBody>
      </p:sp>
      <p:sp>
        <p:nvSpPr>
          <p:cNvPr id="31" name="Shape 28"/>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3" name="Text 30"/>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هَيَاكِلُ</a:t>
            </a:r>
            <a:endParaRPr lang="ar-SA" sz="150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7" name="Shape 34"/>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9" name="Shape 36"/>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1" name="Text 38"/>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الأُطْرُوحَةُ</a:t>
            </a:r>
            <a:endParaRPr lang="ar-SA" sz="3000" dirty="0"/>
          </a:p>
        </p:txBody>
      </p:sp>
      <p:sp>
        <p:nvSpPr>
          <p:cNvPr id="42" name="Text 39"/>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thesis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al-uṭ-rū-ḥa-tu</a:t>
            </a:r>
            <a:endParaRPr lang="en-US" sz="1350" dirty="0"/>
          </a:p>
        </p:txBody>
      </p:sp>
      <p:sp>
        <p:nvSpPr>
          <p:cNvPr id="43" name="Shape 40"/>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5" name="Text 42"/>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الأُطْرُوحَاتُ</a:t>
            </a:r>
            <a:endParaRPr lang="ar-SA" sz="1500" dirty="0"/>
          </a:p>
        </p:txBody>
      </p:sp>
      <p:sp>
        <p:nvSpPr>
          <p:cNvPr id="46" name="Shape 4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11312"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9" name="Shape 4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1" name="Text 4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نَقِيضُ الحُجَّةِ</a:t>
            </a:r>
            <a:endParaRPr lang="ar-SA" sz="3000" dirty="0"/>
          </a:p>
        </p:txBody>
      </p:sp>
      <p:sp>
        <p:nvSpPr>
          <p:cNvPr id="52" name="Text 4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counter-argument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na-qī-ḍu al-ḥuj-ja-ti</a:t>
            </a:r>
            <a:endParaRPr lang="en-US" sz="13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25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P6-L05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Essay and exam craft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الرَّدُّ</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refutation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ar-rad-du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25" name="Shape 22"/>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الخَاتِمَةُ</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conclusion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al-khā-ti-ma-tu</a:t>
            </a:r>
            <a:endParaRPr lang="en-US" sz="1350" dirty="0"/>
          </a:p>
        </p:txBody>
      </p:sp>
      <p:sp>
        <p:nvSpPr>
          <p:cNvPr id="31" name="Shape 28"/>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3" name="Text 30"/>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الخَوَاتِمُ</a:t>
            </a:r>
            <a:endParaRPr lang="ar-SA" sz="150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37" name="Text 34"/>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التَّنَوُّعُ المَعْجَمِيُّ</a:t>
            </a:r>
            <a:endParaRPr lang="ar-SA" sz="3000" dirty="0"/>
          </a:p>
        </p:txBody>
      </p:sp>
      <p:sp>
        <p:nvSpPr>
          <p:cNvPr id="38" name="Text 35"/>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lexical variety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at-ta-naw-wu-ʿu al-maʿ-ja-miy-yu</a:t>
            </a:r>
            <a:endParaRPr lang="en-US" sz="135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42" name="Text 3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الدِّقَّةُ تَحْتَ ضَغْطِ الوَقْتِ</a:t>
            </a:r>
            <a:endParaRPr lang="ar-SA" sz="3000" dirty="0"/>
          </a:p>
        </p:txBody>
      </p:sp>
      <p:sp>
        <p:nvSpPr>
          <p:cNvPr id="43" name="Text 4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accuracy under time pressure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ad-diq-qa-tu taḥ-ta ḍagh-ṭi al-waq-ti</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25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P6-L05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TEACH · PLAN · WRITE · CHECK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Time management and architecture</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الوَقْتُ وَالهَيْكَلُ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P6-L05</a:t>
            </a:r>
            <a:endParaRPr lang="en-US" sz="850" dirty="0"/>
          </a:p>
        </p:txBody>
      </p:sp>
      <p:sp>
        <p:nvSpPr>
          <p:cNvPr id="15" name="Shape 12"/>
          <p:cNvSpPr/>
          <p:nvPr/>
        </p:nvSpPr>
        <p:spPr>
          <a:xfrm>
            <a:off x="457200" y="1810512"/>
            <a:ext cx="676656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64008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TIME MANAGEMENT AND ARCHITECTURE</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1</a:t>
            </a:r>
            <a:endParaRPr lang="en-US" sz="1100" dirty="0"/>
          </a:p>
        </p:txBody>
      </p:sp>
      <p:sp>
        <p:nvSpPr>
          <p:cNvPr id="19" name="Text 16"/>
          <p:cNvSpPr txBox="1"/>
          <p:nvPr/>
        </p:nvSpPr>
        <p:spPr>
          <a:xfrm>
            <a:off x="1078992" y="2176272"/>
            <a:ext cx="598932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Split the hour — Paper 4 is 60 minutes: about 20 for Q1, about 35 for Q2, and 5 to check. Do not let Q1 eat Q2's time.</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2</a:t>
            </a:r>
            <a:endParaRPr lang="en-US" sz="1100" dirty="0"/>
          </a:p>
        </p:txBody>
      </p:sp>
      <p:sp>
        <p:nvSpPr>
          <p:cNvPr id="22" name="Text 19"/>
          <p:cNvSpPr txBox="1"/>
          <p:nvPr/>
        </p:nvSpPr>
        <p:spPr>
          <a:xfrm>
            <a:off x="1078992" y="3186684"/>
            <a:ext cx="598932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Plan for four minutes — Before writing Q2, plan the thesis, the evidence, the concession-refutation, and the conclusion.</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3</a:t>
            </a:r>
            <a:endParaRPr lang="en-US" sz="1100" dirty="0"/>
          </a:p>
        </p:txBody>
      </p:sp>
      <p:sp>
        <p:nvSpPr>
          <p:cNvPr id="25" name="Text 22"/>
          <p:cNvSpPr txBox="1"/>
          <p:nvPr/>
        </p:nvSpPr>
        <p:spPr>
          <a:xfrm>
            <a:off x="1078992" y="4197096"/>
            <a:ext cx="598932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Write the architecture — Each paragraph has a job.</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4</a:t>
            </a:r>
            <a:endParaRPr lang="en-US" sz="1100" dirty="0"/>
          </a:p>
        </p:txBody>
      </p:sp>
      <p:sp>
        <p:nvSpPr>
          <p:cNvPr id="28" name="Text 25"/>
          <p:cNvSpPr txBox="1"/>
          <p:nvPr/>
        </p:nvSpPr>
        <p:spPr>
          <a:xfrm>
            <a:off x="1078992" y="5207508"/>
            <a:ext cx="598932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Range without risk — Aim for grammar variety — different tenses, a conditional, a subjunctive trigger, a formal connector — but never at the cost of accuracy.</a:t>
            </a:r>
            <a:endParaRPr lang="en-US" sz="1300" dirty="0"/>
          </a:p>
        </p:txBody>
      </p:sp>
      <p:sp>
        <p:nvSpPr>
          <p:cNvPr id="29" name="Shape 26"/>
          <p:cNvSpPr/>
          <p:nvPr/>
        </p:nvSpPr>
        <p:spPr>
          <a:xfrm>
            <a:off x="7406640" y="1810512"/>
            <a:ext cx="4325112" cy="4498848"/>
          </a:xfrm>
          <a:prstGeom prst="roundRect">
            <a:avLst>
              <a:gd name="adj" fmla="val 16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7589520" y="1883664"/>
            <a:ext cx="395935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IN ARABIC</a:t>
            </a:r>
            <a:endParaRPr lang="en-US" sz="1000" dirty="0"/>
          </a:p>
        </p:txBody>
      </p:sp>
      <p:sp>
        <p:nvSpPr>
          <p:cNvPr id="31" name="Text 28"/>
          <p:cNvSpPr txBox="1"/>
          <p:nvPr/>
        </p:nvSpPr>
        <p:spPr>
          <a:xfrm>
            <a:off x="7543800" y="2194560"/>
            <a:ext cx="4050792" cy="761268"/>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34" charset="0"/>
                <a:ea typeface="Amiri" pitchFamily="34" charset="-122"/>
                <a:cs typeface="Amiri" pitchFamily="34" charset="-120"/>
              </a:rPr>
              <a:t>عِشْرُونَ دَقِيقَةً · خَمْسٌ وَثَلَاثُونَ · خَمْسٌ</a:t>
            </a:r>
            <a:endParaRPr lang="ar-SA" sz="2550" dirty="0"/>
          </a:p>
        </p:txBody>
      </p:sp>
      <p:sp>
        <p:nvSpPr>
          <p:cNvPr id="32" name="Text 29"/>
          <p:cNvSpPr txBox="1"/>
          <p:nvPr/>
        </p:nvSpPr>
        <p:spPr>
          <a:xfrm>
            <a:off x="7543800" y="2955828"/>
            <a:ext cx="405079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Q1 · Q2 · checking</a:t>
            </a:r>
            <a:endParaRPr lang="en-US" sz="1100" dirty="0"/>
          </a:p>
        </p:txBody>
      </p:sp>
      <p:sp>
        <p:nvSpPr>
          <p:cNvPr id="33" name="Shape 30"/>
          <p:cNvSpPr/>
          <p:nvPr/>
        </p:nvSpPr>
        <p:spPr>
          <a:xfrm>
            <a:off x="7589520" y="3535680"/>
            <a:ext cx="3959352" cy="0"/>
          </a:xfrm>
          <a:prstGeom prst="line">
            <a:avLst/>
          </a:prstGeom>
          <a:noFill/>
          <a:ln w="9525">
            <a:solidFill>
              <a:srgbClr val="E4DCCB"/>
            </a:solidFill>
            <a:prstDash val="dash"/>
          </a:ln>
        </p:spPr>
      </p:sp>
      <p:sp>
        <p:nvSpPr>
          <p:cNvPr id="34" name="Text 31"/>
          <p:cNvSpPr txBox="1"/>
          <p:nvPr/>
        </p:nvSpPr>
        <p:spPr>
          <a:xfrm>
            <a:off x="7543800" y="3553968"/>
            <a:ext cx="405079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أُطْرُوحَةٌ ← دَلِيلٌ</a:t>
            </a:r>
            <a:endParaRPr lang="ar-SA" sz="2800" dirty="0"/>
          </a:p>
        </p:txBody>
      </p:sp>
      <p:sp>
        <p:nvSpPr>
          <p:cNvPr id="35" name="Text 32"/>
          <p:cNvSpPr txBox="1"/>
          <p:nvPr/>
        </p:nvSpPr>
        <p:spPr>
          <a:xfrm>
            <a:off x="7543800" y="4315236"/>
            <a:ext cx="405079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thesis → evidence</a:t>
            </a:r>
            <a:endParaRPr lang="en-US" sz="1100" dirty="0"/>
          </a:p>
        </p:txBody>
      </p:sp>
      <p:sp>
        <p:nvSpPr>
          <p:cNvPr id="36" name="Shape 33"/>
          <p:cNvSpPr/>
          <p:nvPr/>
        </p:nvSpPr>
        <p:spPr>
          <a:xfrm>
            <a:off x="7589520" y="4895088"/>
            <a:ext cx="3959352" cy="0"/>
          </a:xfrm>
          <a:prstGeom prst="line">
            <a:avLst/>
          </a:prstGeom>
          <a:noFill/>
          <a:ln w="9525">
            <a:solidFill>
              <a:srgbClr val="E4DCCB"/>
            </a:solidFill>
            <a:prstDash val="dash"/>
          </a:ln>
        </p:spPr>
      </p:sp>
      <p:sp>
        <p:nvSpPr>
          <p:cNvPr id="37" name="Text 34"/>
          <p:cNvSpPr txBox="1"/>
          <p:nvPr/>
        </p:nvSpPr>
        <p:spPr>
          <a:xfrm>
            <a:off x="7543800" y="4913376"/>
            <a:ext cx="4050792" cy="761268"/>
          </a:xfrm>
          <a:prstGeom prst="rect">
            <a:avLst/>
          </a:prstGeom>
          <a:noFill/>
          <a:ln/>
        </p:spPr>
        <p:txBody>
          <a:bodyPr wrap="square" lIns="0" tIns="0" rIns="0" bIns="0" rtlCol="0" anchor="ctr"/>
          <a:lstStyle/>
          <a:p>
            <a:pPr rtl="1" algn="ctr" indent="0" marL="0">
              <a:buNone/>
            </a:pPr>
            <a:r>
              <a:rPr lang="ar-SA" altLang="en-US" sz="2250" b="1" dirty="0">
                <a:solidFill>
                  <a:srgbClr val="1B3B6F"/>
                </a:solidFill>
                <a:latin typeface="Amiri" pitchFamily="34" charset="0"/>
                <a:ea typeface="Amiri" pitchFamily="34" charset="-122"/>
                <a:cs typeface="Amiri" pitchFamily="34" charset="-120"/>
              </a:rPr>
              <a:t>صَحِيحٌ أَنَّ … غَيْرَ أَنَّ ← وَبِنَاءً عَلَى مَا سَبَقَ</a:t>
            </a:r>
            <a:endParaRPr lang="ar-SA" sz="2250" dirty="0"/>
          </a:p>
        </p:txBody>
      </p:sp>
      <p:sp>
        <p:nvSpPr>
          <p:cNvPr id="38" name="Text 35"/>
          <p:cNvSpPr txBox="1"/>
          <p:nvPr/>
        </p:nvSpPr>
        <p:spPr>
          <a:xfrm>
            <a:off x="7543800" y="5674644"/>
            <a:ext cx="405079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concession → refutation → conclusion</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25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P6-L05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TEACH · KNOW HOW YOU ARE MARKED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Paper 4 Q2 mark scheme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مَعَايِيرُ التَّقْيِيمِ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096512" y="1810512"/>
            <a:ext cx="75620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What the examiner looks for (website)</a:t>
            </a:r>
            <a:endParaRPr lang="en-US" sz="1100" dirty="0"/>
          </a:p>
        </p:txBody>
      </p:sp>
      <p:sp>
        <p:nvSpPr>
          <p:cNvPr id="17" name="Text 14"/>
          <p:cNvSpPr txBox="1"/>
          <p:nvPr/>
        </p:nvSpPr>
        <p:spPr>
          <a:xfrm>
            <a:off x="309067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Marks</a:t>
            </a:r>
            <a:endParaRPr lang="en-US" sz="1100" dirty="0"/>
          </a:p>
        </p:txBody>
      </p:sp>
      <p:sp>
        <p:nvSpPr>
          <p:cNvPr id="18" name="Text 15"/>
          <p:cNvSpPr txBox="1"/>
          <p:nvPr/>
        </p:nvSpPr>
        <p:spPr>
          <a:xfrm>
            <a:off x="5303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Criterion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4133088" y="2267712"/>
            <a:ext cx="75255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clear thesis (a position, not just a topic) · cited evidence, a genuine concession and a clear refutation · a formal conclusion connector with a verb in -a.</a:t>
            </a:r>
            <a:endParaRPr lang="en-US" sz="1100" dirty="0"/>
          </a:p>
        </p:txBody>
      </p:sp>
      <p:sp>
        <p:nvSpPr>
          <p:cNvPr id="21" name="Text 18"/>
          <p:cNvSpPr txBox="1"/>
          <p:nvPr/>
        </p:nvSpPr>
        <p:spPr>
          <a:xfrm>
            <a:off x="3127248" y="2267712"/>
            <a:ext cx="822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a:t>
            </a:r>
            <a:endParaRPr lang="en-US" sz="1100" dirty="0"/>
          </a:p>
        </p:txBody>
      </p:sp>
      <p:sp>
        <p:nvSpPr>
          <p:cNvPr id="22" name="Text 19"/>
          <p:cNvSpPr txBox="1"/>
          <p:nvPr/>
        </p:nvSpPr>
        <p:spPr>
          <a:xfrm>
            <a:off x="566928" y="2267712"/>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Task Completion (TC)</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4133088" y="3054096"/>
            <a:ext cx="75255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At least three different tenses · one conditional and one subjunctive trigger · a concession structure and a formal connector.</a:t>
            </a:r>
            <a:endParaRPr lang="en-US" sz="1100" dirty="0"/>
          </a:p>
        </p:txBody>
      </p:sp>
      <p:sp>
        <p:nvSpPr>
          <p:cNvPr id="27" name="Text 24"/>
          <p:cNvSpPr txBox="1"/>
          <p:nvPr/>
        </p:nvSpPr>
        <p:spPr>
          <a:xfrm>
            <a:off x="3127248" y="3054096"/>
            <a:ext cx="822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a:t>
            </a:r>
            <a:endParaRPr lang="en-US" sz="1100" dirty="0"/>
          </a:p>
        </p:txBody>
      </p:sp>
      <p:sp>
        <p:nvSpPr>
          <p:cNvPr id="28" name="Text 25"/>
          <p:cNvSpPr txBox="1"/>
          <p:nvPr/>
        </p:nvSpPr>
        <p:spPr>
          <a:xfrm>
            <a:off x="566928" y="3054096"/>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Range</a:t>
            </a:r>
            <a:endParaRPr lang="en-US" sz="11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4133088" y="3840480"/>
            <a:ext cx="75255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Correct -a after triggers and the Type 2 la- · the indicative after ṣaḥīḥun anna · agreement and tense free of major errors.</a:t>
            </a:r>
            <a:endParaRPr lang="en-US" sz="1100" dirty="0"/>
          </a:p>
        </p:txBody>
      </p:sp>
      <p:sp>
        <p:nvSpPr>
          <p:cNvPr id="31" name="Text 28"/>
          <p:cNvSpPr txBox="1"/>
          <p:nvPr/>
        </p:nvSpPr>
        <p:spPr>
          <a:xfrm>
            <a:off x="3127248" y="3840480"/>
            <a:ext cx="822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a:t>
            </a:r>
            <a:endParaRPr lang="en-US" sz="1100" dirty="0"/>
          </a:p>
        </p:txBody>
      </p:sp>
      <p:sp>
        <p:nvSpPr>
          <p:cNvPr id="32" name="Text 29"/>
          <p:cNvSpPr txBox="1"/>
          <p:nvPr/>
        </p:nvSpPr>
        <p:spPr>
          <a:xfrm>
            <a:off x="566928" y="3840480"/>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Accuracy</a:t>
            </a:r>
            <a:endParaRPr lang="en-US" sz="110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Three equal criteria. Length is capped at 130–150 words — choose the topic whose vocabulary you know best.</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25</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P6-L05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ME PLAN ESSAY 3 IN FOUR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four-minute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خُطَّةُ أَرْبَعِ دَقَائِقَ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Range ticks</a:t>
            </a:r>
            <a:endParaRPr lang="en-US" sz="1100" dirty="0"/>
          </a:p>
        </p:txBody>
      </p:sp>
      <p:sp>
        <p:nvSpPr>
          <p:cNvPr id="17" name="Text 14"/>
          <p:cNvSpPr txBox="1"/>
          <p:nvPr/>
        </p:nvSpPr>
        <p:spPr>
          <a:xfrm>
            <a:off x="3639312"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My plan (notes, not sentences)</a:t>
            </a:r>
            <a:endParaRPr lang="en-US" sz="1100" dirty="0"/>
          </a:p>
        </p:txBody>
      </p:sp>
      <p:sp>
        <p:nvSpPr>
          <p:cNvPr id="18" name="Text 15"/>
          <p:cNvSpPr txBox="1"/>
          <p:nvPr/>
        </p:nvSpPr>
        <p:spPr>
          <a:xfrm>
            <a:off x="14447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Job</a:t>
            </a:r>
            <a:endParaRPr lang="en-US" sz="1100" dirty="0"/>
          </a:p>
        </p:txBody>
      </p:sp>
      <p:sp>
        <p:nvSpPr>
          <p:cNvPr id="19" name="Text 16"/>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Para.</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yushāru ilā anna</a:t>
            </a:r>
            <a:endParaRPr lang="en-US" sz="1100" dirty="0"/>
          </a:p>
        </p:txBody>
      </p:sp>
      <p:sp>
        <p:nvSpPr>
          <p:cNvPr id="22" name="Text 19"/>
          <p:cNvSpPr txBox="1"/>
          <p:nvPr/>
        </p:nvSpPr>
        <p:spPr>
          <a:xfrm>
            <a:off x="3657600" y="2267712"/>
            <a:ext cx="49377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سِلَاحٌ ذُو حَدَّيْنِ</a:t>
            </a:r>
            <a:endParaRPr lang="ar-SA" sz="1600" dirty="0"/>
          </a:p>
        </p:txBody>
      </p:sp>
      <p:sp>
        <p:nvSpPr>
          <p:cNvPr id="23" name="Text 20"/>
          <p:cNvSpPr txBox="1"/>
          <p:nvPr/>
        </p:nvSpPr>
        <p:spPr>
          <a:xfrm>
            <a:off x="148132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thesis</a:t>
            </a:r>
            <a:endParaRPr lang="en-US" sz="1100" dirty="0"/>
          </a:p>
        </p:txBody>
      </p:sp>
      <p:sp>
        <p:nvSpPr>
          <p:cNvPr id="24" name="Text 21"/>
          <p:cNvSpPr txBox="1"/>
          <p:nvPr/>
        </p:nvSpPr>
        <p:spPr>
          <a:xfrm>
            <a:off x="566928" y="2267712"/>
            <a:ext cx="7315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akkada … anna · present</a:t>
            </a:r>
            <a:endParaRPr lang="en-US" sz="1100" dirty="0"/>
          </a:p>
        </p:txBody>
      </p:sp>
      <p:sp>
        <p:nvSpPr>
          <p:cNvPr id="29" name="Text 26"/>
          <p:cNvSpPr txBox="1"/>
          <p:nvPr/>
        </p:nvSpPr>
        <p:spPr>
          <a:xfrm>
            <a:off x="3657600" y="3004718"/>
            <a:ext cx="49377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البَاحِثُونَ: الإِفْرَاطُ ← التَّرْكِيزُ</a:t>
            </a:r>
            <a:endParaRPr lang="ar-SA" sz="1600" dirty="0"/>
          </a:p>
        </p:txBody>
      </p:sp>
      <p:sp>
        <p:nvSpPr>
          <p:cNvPr id="30" name="Text 27"/>
          <p:cNvSpPr txBox="1"/>
          <p:nvPr/>
        </p:nvSpPr>
        <p:spPr>
          <a:xfrm>
            <a:off x="148132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evidence</a:t>
            </a:r>
            <a:endParaRPr lang="en-US" sz="1100" dirty="0"/>
          </a:p>
        </p:txBody>
      </p:sp>
      <p:sp>
        <p:nvSpPr>
          <p:cNvPr id="31" name="Text 28"/>
          <p:cNvSpPr txBox="1"/>
          <p:nvPr/>
        </p:nvSpPr>
        <p:spPr>
          <a:xfrm>
            <a:off x="566928" y="3004718"/>
            <a:ext cx="7315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ṣaḥīḥun anna … ghayra anna</a:t>
            </a:r>
            <a:endParaRPr lang="en-US" sz="1100" dirty="0"/>
          </a:p>
        </p:txBody>
      </p:sp>
      <p:sp>
        <p:nvSpPr>
          <p:cNvPr id="36" name="Text 33"/>
          <p:cNvSpPr txBox="1"/>
          <p:nvPr/>
        </p:nvSpPr>
        <p:spPr>
          <a:xfrm>
            <a:off x="3657600" y="3741725"/>
            <a:ext cx="49377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تُقَرِّبُ النَّاسَ ✗ ← تَنْشُرُ المَعْلُومَاتِ المُضَلِّلَةَ</a:t>
            </a:r>
            <a:endParaRPr lang="ar-SA" sz="1600" dirty="0"/>
          </a:p>
        </p:txBody>
      </p:sp>
      <p:sp>
        <p:nvSpPr>
          <p:cNvPr id="37" name="Text 34"/>
          <p:cNvSpPr txBox="1"/>
          <p:nvPr/>
        </p:nvSpPr>
        <p:spPr>
          <a:xfrm>
            <a:off x="148132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concession + refutation</a:t>
            </a:r>
            <a:endParaRPr lang="en-US" sz="1100" dirty="0"/>
          </a:p>
        </p:txBody>
      </p:sp>
      <p:sp>
        <p:nvSpPr>
          <p:cNvPr id="38" name="Text 35"/>
          <p:cNvSpPr txBox="1"/>
          <p:nvPr/>
        </p:nvSpPr>
        <p:spPr>
          <a:xfrm>
            <a:off x="566928" y="3741725"/>
            <a:ext cx="7315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796528" y="4478731"/>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law … la- · idhā … sa-</a:t>
            </a:r>
            <a:endParaRPr lang="en-US" sz="1100" dirty="0"/>
          </a:p>
        </p:txBody>
      </p:sp>
      <p:sp>
        <p:nvSpPr>
          <p:cNvPr id="43" name="Text 40"/>
          <p:cNvSpPr txBox="1"/>
          <p:nvPr/>
        </p:nvSpPr>
        <p:spPr>
          <a:xfrm>
            <a:off x="3657600" y="4478731"/>
            <a:ext cx="49377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ضَوَابِطُ حَكِيمَةٌ · اسْتِخْدَامٌ وَاعٍ</a:t>
            </a:r>
            <a:endParaRPr lang="ar-SA" sz="1600" dirty="0"/>
          </a:p>
        </p:txBody>
      </p:sp>
      <p:sp>
        <p:nvSpPr>
          <p:cNvPr id="44" name="Text 41"/>
          <p:cNvSpPr txBox="1"/>
          <p:nvPr/>
        </p:nvSpPr>
        <p:spPr>
          <a:xfrm>
            <a:off x="148132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analysis</a:t>
            </a:r>
            <a:endParaRPr lang="en-US" sz="1100" dirty="0"/>
          </a:p>
        </p:txBody>
      </p:sp>
      <p:sp>
        <p:nvSpPr>
          <p:cNvPr id="45" name="Text 42"/>
          <p:cNvSpPr txBox="1"/>
          <p:nvPr/>
        </p:nvSpPr>
        <p:spPr>
          <a:xfrm>
            <a:off x="566928" y="4478731"/>
            <a:ext cx="7315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a:t>
            </a:r>
            <a:endParaRPr lang="en-US" sz="11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8796528" y="5215738"/>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wa-bināʾan + an / li-kay</a:t>
            </a:r>
            <a:endParaRPr lang="en-US" sz="1100" dirty="0"/>
          </a:p>
        </p:txBody>
      </p:sp>
      <p:sp>
        <p:nvSpPr>
          <p:cNvPr id="48" name="Text 45"/>
          <p:cNvSpPr txBox="1"/>
          <p:nvPr/>
        </p:nvSpPr>
        <p:spPr>
          <a:xfrm>
            <a:off x="3657600" y="5215738"/>
            <a:ext cx="49377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تَرْبِيَةُ الأَجْيَالِ ← الفَوَائِدُ</a:t>
            </a:r>
            <a:endParaRPr lang="ar-SA" sz="1600" dirty="0"/>
          </a:p>
        </p:txBody>
      </p:sp>
      <p:sp>
        <p:nvSpPr>
          <p:cNvPr id="49" name="Text 46"/>
          <p:cNvSpPr txBox="1"/>
          <p:nvPr/>
        </p:nvSpPr>
        <p:spPr>
          <a:xfrm>
            <a:off x="148132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conclusion</a:t>
            </a:r>
            <a:endParaRPr lang="en-US" sz="1100" dirty="0"/>
          </a:p>
        </p:txBody>
      </p:sp>
      <p:sp>
        <p:nvSpPr>
          <p:cNvPr id="50" name="Text 47"/>
          <p:cNvSpPr txBox="1"/>
          <p:nvPr/>
        </p:nvSpPr>
        <p:spPr>
          <a:xfrm>
            <a:off x="566928" y="5215738"/>
            <a:ext cx="7315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a:t>
            </a:r>
            <a:endParaRPr lang="en-US" sz="1100" dirty="0"/>
          </a:p>
        </p:txBody>
      </p:sp>
      <p:sp>
        <p:nvSpPr>
          <p:cNvPr id="51" name="Shape 48"/>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3" name="Text 5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Notes, not sentences: four minutes. Then write paragraph by paragraph, ticking the Range column.</a:t>
            </a:r>
            <a:endParaRPr lang="en-US" sz="115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25</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P6-L05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CHOOSE YOUR ESSAY · PLAN 4 + WRITE 21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Choose your essay and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اخْتَرْ مَقَالَكَ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P6-L05</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90–110 words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Any essay, with the essay skeleton frames: thesis · evidence · concession–refutation · conclusion.</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Fill the frames, then add one sentence of your own to each paragraph.</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130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Any essay with the full architecture and one conditional.</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Plan 4 min · write 21 min · leave 2 min to check every -a.</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150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Any essay with the full architecture, BOTH conditionals and two triggers.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Choose the topic whose vocabulary you know best. Check ṣaḥīḥun anna + -u.</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25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P6-L05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ESSAY 1 — HEALTH TOPIC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Essay 1 — Mental vs physical health</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الصِّحَّةُ النَّفْسِيَّةُ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P6-L05</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51790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51790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ESSAY 1 · HEALTH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an argumentative essay (130–150 words): “</a:t>
            </a:r>
            <a:pPr algn="l" indent="0" marL="0">
              <a:buNone/>
            </a:pPr>
            <a:r>
              <a:rPr lang="ar-SA" altLang="en-US" sz="1750" b="1" dirty="0">
                <a:solidFill>
                  <a:srgbClr val="1F2A37"/>
                </a:solidFill>
                <a:latin typeface="Amiri" pitchFamily="34" charset="0"/>
                <a:ea typeface="Amiri" pitchFamily="34" charset="-122"/>
                <a:cs typeface="Amiri" pitchFamily="34" charset="-120"/>
              </a:rPr>
              <a:t>الصِّحَّةُ النَّفْسِيَّةُ أَهَمُّ مِنَ الصِّحَّةِ الجَسَدِيَّةِ</a:t>
            </a:r>
            <a:pPr algn="l" indent="0" marL="0">
              <a:buNone/>
            </a:pPr>
            <a:r>
              <a:rPr lang="en-US" sz="1350" b="1" dirty="0">
                <a:solidFill>
                  <a:srgbClr val="1F2A37"/>
                </a:solidFill>
                <a:latin typeface="Calibri" pitchFamily="34" charset="0"/>
                <a:ea typeface="Calibri" pitchFamily="34" charset="-122"/>
                <a:cs typeface="Calibri" pitchFamily="34" charset="-120"/>
              </a:rPr>
              <a:t> — </a:t>
            </a:r>
            <a:pPr algn="l" indent="0" marL="0">
              <a:buNone/>
            </a:pPr>
            <a:r>
              <a:rPr lang="ar-SA" altLang="en-US" sz="1750" b="1" dirty="0">
                <a:solidFill>
                  <a:srgbClr val="1F2A37"/>
                </a:solidFill>
                <a:latin typeface="Amiri" pitchFamily="34" charset="0"/>
                <a:ea typeface="Amiri" pitchFamily="34" charset="-122"/>
                <a:cs typeface="Amiri" pitchFamily="34" charset="-120"/>
              </a:rPr>
              <a:t>هَلْ تُوَافِقُ؟</a:t>
            </a:r>
            <a:pPr algn="l" indent="0" marL="0">
              <a:buNone/>
            </a:pPr>
            <a:r>
              <a:rPr lang="en-US" sz="1350" b="1" dirty="0">
                <a:solidFill>
                  <a:srgbClr val="1F2A37"/>
                </a:solidFill>
                <a:latin typeface="Calibri" pitchFamily="34" charset="0"/>
                <a:ea typeface="Calibri" pitchFamily="34" charset="-122"/>
                <a:cs typeface="Calibri" pitchFamily="34" charset="-120"/>
              </a:rPr>
              <a:t>” Use the full architecture.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clear thesis stating your position.</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Cited evidence (</a:t>
            </a:r>
            <a:pPr algn="l" indent="0" marL="0">
              <a:buNone/>
            </a:pPr>
            <a:r>
              <a:rPr lang="ar-SA" altLang="en-US" sz="1550" dirty="0">
                <a:solidFill>
                  <a:srgbClr val="1F2A37"/>
                </a:solidFill>
                <a:latin typeface="Amiri" pitchFamily="34" charset="0"/>
                <a:ea typeface="Amiri" pitchFamily="34" charset="-122"/>
                <a:cs typeface="Amiri" pitchFamily="34" charset="-120"/>
              </a:rPr>
              <a:t>أَكَّدَ … أَنَّ</a:t>
            </a:r>
            <a:pPr algn="l" indent="0" marL="0">
              <a:buNone/>
            </a:pPr>
            <a:r>
              <a:rPr lang="en-US" sz="1200" dirty="0">
                <a:solidFill>
                  <a:srgbClr val="1F2A37"/>
                </a:solidFill>
                <a:latin typeface="Calibri" pitchFamily="34" charset="0"/>
                <a:ea typeface="Calibri" pitchFamily="34" charset="-122"/>
                <a:cs typeface="Calibri" pitchFamily="34" charset="-120"/>
              </a:rPr>
              <a:t>) and a concession (</a:t>
            </a:r>
            <a:pPr algn="l" indent="0" marL="0">
              <a:buNone/>
            </a:pPr>
            <a:r>
              <a:rPr lang="ar-SA" altLang="en-US" sz="1550" dirty="0">
                <a:solidFill>
                  <a:srgbClr val="1F2A37"/>
                </a:solidFill>
                <a:latin typeface="Amiri" pitchFamily="34" charset="0"/>
                <a:ea typeface="Amiri" pitchFamily="34" charset="-122"/>
                <a:cs typeface="Amiri" pitchFamily="34" charset="-120"/>
              </a:rPr>
              <a:t>صَحِيحٌ أَنَّ</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refutation (</a:t>
            </a:r>
            <a:pPr algn="l" indent="0" marL="0">
              <a:buNone/>
            </a:pPr>
            <a:r>
              <a:rPr lang="ar-SA" altLang="en-US" sz="1550" dirty="0">
                <a:solidFill>
                  <a:srgbClr val="1F2A37"/>
                </a:solidFill>
                <a:latin typeface="Amiri" pitchFamily="34" charset="0"/>
                <a:ea typeface="Amiri" pitchFamily="34" charset="-122"/>
                <a:cs typeface="Amiri" pitchFamily="34" charset="-120"/>
              </a:rPr>
              <a:t>غَيْرَ أَنَّ</a:t>
            </a:r>
            <a:pPr algn="l" indent="0" marL="0">
              <a:buNone/>
            </a:pPr>
            <a:r>
              <a:rPr lang="en-US" sz="1200" dirty="0">
                <a:solidFill>
                  <a:srgbClr val="1F2A37"/>
                </a:solidFill>
                <a:latin typeface="Calibri" pitchFamily="34" charset="0"/>
                <a:ea typeface="Calibri" pitchFamily="34" charset="-122"/>
                <a:cs typeface="Calibri" pitchFamily="34" charset="-120"/>
              </a:rPr>
              <a:t>) and a Type 2 conditional.</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conclusion (</a:t>
            </a:r>
            <a:pPr algn="l" indent="0" marL="0">
              <a:buNone/>
            </a:pPr>
            <a:r>
              <a:rPr lang="ar-SA" altLang="en-US" sz="1550" dirty="0">
                <a:solidFill>
                  <a:srgbClr val="1F2A37"/>
                </a:solidFill>
                <a:latin typeface="Amiri" pitchFamily="34" charset="0"/>
                <a:ea typeface="Amiri" pitchFamily="34" charset="-122"/>
                <a:cs typeface="Amiri" pitchFamily="34" charset="-120"/>
              </a:rPr>
              <a:t>وَبِنَاءً عَلَى مَا سَبَقَ</a:t>
            </a:r>
            <a:pPr algn="l" indent="0" marL="0">
              <a:buNone/>
            </a:pPr>
            <a:r>
              <a:rPr lang="en-US" sz="1200" dirty="0">
                <a:solidFill>
                  <a:srgbClr val="1F2A37"/>
                </a:solidFill>
                <a:latin typeface="Calibri" pitchFamily="34" charset="0"/>
                <a:ea typeface="Calibri" pitchFamily="34" charset="-122"/>
                <a:cs typeface="Calibri" pitchFamily="34" charset="-120"/>
              </a:rPr>
              <a:t>) with a subjunctive; 130–150 words.</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USEFUL LANGUAGE — FROM THE WEBSITE MODEL</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لَا تَقِلُّ أَهَمِّيَّةً عَنِ</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is no less important than</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التَّوَتُّرَ المُزْمِنَ يُضْعِفُ المَنَاعَةَ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chronic stress weakens immunity</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إِهْمَالَ النَّفْسِ</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neglecting the mind</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لَقَلَّتْ حَالَاتُ الاحْتِرَاقِ</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burnout cases would have fallen</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أَنْ نُولِيَ … العِنَايَةَ</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that we give … care</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25</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P6-L05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ESSAY 2 — EDUCATION TOPIC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Essay 2 — Is university still necessary?</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التَّعْلِيمُ الجَامِعِيُّ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P6-L05</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751076"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751076"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ESSAY 2 · EDUCATION</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an argumentative essay (130–150 words): “</a:t>
            </a:r>
            <a:pPr algn="l" indent="0" marL="0">
              <a:buNone/>
            </a:pPr>
            <a:r>
              <a:rPr lang="ar-SA" altLang="en-US" sz="1750" b="1" dirty="0">
                <a:solidFill>
                  <a:srgbClr val="1F2A37"/>
                </a:solidFill>
                <a:latin typeface="Amiri" pitchFamily="34" charset="0"/>
                <a:ea typeface="Amiri" pitchFamily="34" charset="-122"/>
                <a:cs typeface="Amiri" pitchFamily="34" charset="-120"/>
              </a:rPr>
              <a:t>التَّعْلِيمُ الجَامِعِيُّ لَمْ يَعُدْ ضَرُورِيًّا لِلنَّجَاحِ فِي عَالَمِ اليَوْمِ</a:t>
            </a:r>
            <a:pPr algn="l" indent="0" marL="0">
              <a:buNone/>
            </a:pPr>
            <a:r>
              <a:rPr lang="en-US" sz="1350" b="1" dirty="0">
                <a:solidFill>
                  <a:srgbClr val="1F2A37"/>
                </a:solidFill>
                <a:latin typeface="Calibri" pitchFamily="34" charset="0"/>
                <a:ea typeface="Calibri" pitchFamily="34" charset="-122"/>
                <a:cs typeface="Calibri" pitchFamily="34" charset="-120"/>
              </a:rPr>
              <a:t> — </a:t>
            </a:r>
            <a:pPr algn="l" indent="0" marL="0">
              <a:buNone/>
            </a:pPr>
            <a:r>
              <a:rPr lang="ar-SA" altLang="en-US" sz="1750" b="1" dirty="0">
                <a:solidFill>
                  <a:srgbClr val="1F2A37"/>
                </a:solidFill>
                <a:latin typeface="Amiri" pitchFamily="34" charset="0"/>
                <a:ea typeface="Amiri" pitchFamily="34" charset="-122"/>
                <a:cs typeface="Amiri" pitchFamily="34" charset="-120"/>
              </a:rPr>
              <a:t>هَلْ تُوَافِقُ؟</a:t>
            </a:r>
            <a:pPr algn="l" indent="0" marL="0">
              <a:buNone/>
            </a:pPr>
            <a:r>
              <a:rPr lang="en-US" sz="1350" b="1" dirty="0">
                <a:solidFill>
                  <a:srgbClr val="1F2A37"/>
                </a:solidFill>
                <a:latin typeface="Calibri" pitchFamily="34" charset="0"/>
                <a:ea typeface="Calibri" pitchFamily="34" charset="-122"/>
                <a:cs typeface="Calibri" pitchFamily="34" charset="-120"/>
              </a:rPr>
              <a: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clear thesis and cited evidence.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concession (</a:t>
            </a:r>
            <a:pPr algn="l" indent="0" marL="0">
              <a:buNone/>
            </a:pPr>
            <a:r>
              <a:rPr lang="ar-SA" altLang="en-US" sz="1550" dirty="0">
                <a:solidFill>
                  <a:srgbClr val="1F2A37"/>
                </a:solidFill>
                <a:latin typeface="Amiri" pitchFamily="34" charset="0"/>
                <a:ea typeface="Amiri" pitchFamily="34" charset="-122"/>
                <a:cs typeface="Amiri" pitchFamily="34" charset="-120"/>
              </a:rPr>
              <a:t>صَحِيحٌ أَنَّ</a:t>
            </a:r>
            <a:pPr algn="l" indent="0" marL="0">
              <a:buNone/>
            </a:pPr>
            <a:r>
              <a:rPr lang="en-US" sz="1200" dirty="0">
                <a:solidFill>
                  <a:srgbClr val="1F2A37"/>
                </a:solidFill>
                <a:latin typeface="Calibri" pitchFamily="34" charset="0"/>
                <a:ea typeface="Calibri" pitchFamily="34" charset="-122"/>
                <a:cs typeface="Calibri" pitchFamily="34" charset="-120"/>
              </a:rPr>
              <a:t>) answered by a refutation (</a:t>
            </a:r>
            <a:pPr algn="l" indent="0" marL="0">
              <a:buNone/>
            </a:pPr>
            <a:r>
              <a:rPr lang="ar-SA" altLang="en-US" sz="1550" dirty="0">
                <a:solidFill>
                  <a:srgbClr val="1F2A37"/>
                </a:solidFill>
                <a:latin typeface="Amiri" pitchFamily="34" charset="0"/>
                <a:ea typeface="Amiri" pitchFamily="34" charset="-122"/>
                <a:cs typeface="Amiri" pitchFamily="34" charset="-120"/>
              </a:rPr>
              <a:t>غَيْرَ أَنَّ</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Both a Type 1 and a Type 2 conditional if you can.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conclusion connector with a subjunctive; 130–150 words.</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USEFUL LANGUAGE — FROM THE WEBSITE MODEL</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لَا يَزَالُ رَكِيزَةً مُهِمَّةً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is still an important pillar</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رُوَّادِ الأَعْمَالِ</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entrepreneurs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لَا تُبْنَى إِلَّا بِـ…</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are only built through …</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تَرْفَعُ فُرَصَ التَّوْظِيفِ</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raises employment chances</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لَا أَنْ نَسْتَغْنِيَ عَنْهُ</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not do without it</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25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P6-L05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ESSAY 3 — SOCIAL ISSUES TOPIC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ea typeface="Cambria" pitchFamily="34" charset="-122"/>
                <a:cs typeface="Cambria" pitchFamily="34" charset="-120"/>
              </a:rPr>
              <a:t>Essay 3 — Social media: more good than harm?</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وَسَائِلُ التَّوَاصُلِ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P6-L05</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2061972"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2061972"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ESSAY 3 · SOCIAL ISSUES</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an argumentative essay (130–150 words): “</a:t>
            </a:r>
            <a:pPr algn="l" indent="0" marL="0">
              <a:buNone/>
            </a:pPr>
            <a:r>
              <a:rPr lang="ar-SA" altLang="en-US" sz="1750" b="1" dirty="0">
                <a:solidFill>
                  <a:srgbClr val="1F2A37"/>
                </a:solidFill>
                <a:latin typeface="Amiri" pitchFamily="34" charset="0"/>
                <a:ea typeface="Amiri" pitchFamily="34" charset="-122"/>
                <a:cs typeface="Amiri" pitchFamily="34" charset="-120"/>
              </a:rPr>
              <a:t>وَسَائِلُ التَّوَاصُلِ الاجْتِمَاعِيِّ تُفِيدُ المُجْتَمَعَاتِ أَكْثَرَ مِمَّا تَضُرُّهَا</a:t>
            </a:r>
            <a:pPr algn="l" indent="0" marL="0">
              <a:buNone/>
            </a:pPr>
            <a:r>
              <a:rPr lang="en-US" sz="1350" b="1" dirty="0">
                <a:solidFill>
                  <a:srgbClr val="1F2A37"/>
                </a:solidFill>
                <a:latin typeface="Calibri" pitchFamily="34" charset="0"/>
                <a:ea typeface="Calibri" pitchFamily="34" charset="-122"/>
                <a:cs typeface="Calibri" pitchFamily="34" charset="-120"/>
              </a:rPr>
              <a:t> — </a:t>
            </a:r>
            <a:pPr algn="l" indent="0" marL="0">
              <a:buNone/>
            </a:pPr>
            <a:r>
              <a:rPr lang="ar-SA" altLang="en-US" sz="1750" b="1" dirty="0">
                <a:solidFill>
                  <a:srgbClr val="1F2A37"/>
                </a:solidFill>
                <a:latin typeface="Amiri" pitchFamily="34" charset="0"/>
                <a:ea typeface="Amiri" pitchFamily="34" charset="-122"/>
                <a:cs typeface="Amiri" pitchFamily="34" charset="-120"/>
              </a:rPr>
              <a:t>هَلْ تُوَافِقُ؟</a:t>
            </a:r>
            <a:pPr algn="l" indent="0" marL="0">
              <a:buNone/>
            </a:pPr>
            <a:r>
              <a:rPr lang="en-US" sz="1350" b="1" dirty="0">
                <a:solidFill>
                  <a:srgbClr val="1F2A37"/>
                </a:solidFill>
                <a:latin typeface="Calibri" pitchFamily="34" charset="0"/>
                <a:ea typeface="Calibri" pitchFamily="34" charset="-122"/>
                <a:cs typeface="Calibri" pitchFamily="34" charset="-120"/>
              </a:rPr>
              <a: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clear thesis and cited evidence.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concession (</a:t>
            </a:r>
            <a:pPr algn="l" indent="0" marL="0">
              <a:buNone/>
            </a:pPr>
            <a:r>
              <a:rPr lang="ar-SA" altLang="en-US" sz="1550" dirty="0">
                <a:solidFill>
                  <a:srgbClr val="1F2A37"/>
                </a:solidFill>
                <a:latin typeface="Amiri" pitchFamily="34" charset="0"/>
                <a:ea typeface="Amiri" pitchFamily="34" charset="-122"/>
                <a:cs typeface="Amiri" pitchFamily="34" charset="-120"/>
              </a:rPr>
              <a:t>صَحِيحٌ أَنَّ</a:t>
            </a:r>
            <a:pPr algn="l" indent="0" marL="0">
              <a:buNone/>
            </a:pPr>
            <a:r>
              <a:rPr lang="en-US" sz="1200" dirty="0">
                <a:solidFill>
                  <a:srgbClr val="1F2A37"/>
                </a:solidFill>
                <a:latin typeface="Calibri" pitchFamily="34" charset="0"/>
                <a:ea typeface="Calibri" pitchFamily="34" charset="-122"/>
                <a:cs typeface="Calibri" pitchFamily="34" charset="-120"/>
              </a:rPr>
              <a:t>) and a refutation (</a:t>
            </a:r>
            <a:pPr algn="l" indent="0" marL="0">
              <a:buNone/>
            </a:pPr>
            <a:r>
              <a:rPr lang="ar-SA" altLang="en-US" sz="1550" dirty="0">
                <a:solidFill>
                  <a:srgbClr val="1F2A37"/>
                </a:solidFill>
                <a:latin typeface="Amiri" pitchFamily="34" charset="0"/>
                <a:ea typeface="Amiri" pitchFamily="34" charset="-122"/>
                <a:cs typeface="Amiri" pitchFamily="34" charset="-120"/>
              </a:rPr>
              <a:t>غَيْرَ أَنَّ</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subjunctive trigger and a Type 2 conditional.</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conclusion connector with a subjunctive; 130–150 words.</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USEFUL LANGUAGE — FROM THE WEBSITE MODEL</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سِلَاحٌ ذُو حَدَّيْنِ</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 double-edged sword</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تُقَرِّبُ النَّاسَ</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brings people closer</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المَعْلُومَاتِ المُضَلِّلَةَ</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misinformation</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لَوْ وُضِعَتْ ضَوَابِطُ حَكِيمَةٌ</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had wise controls been set</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لِكَيْ نَجْنِيَ فَوَائِدَهَا</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so that we reap its benefits</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25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P6-L05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ea typeface="Calibri" pitchFamily="34" charset="-122"/>
                <a:cs typeface="Calibri" pitchFamily="34" charset="-120"/>
              </a:rPr>
              <a:t>YOU DO · SUPPORT · THE ESSAY SKELETON (CORE) AND UPGRADES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Essay skeleton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هَيْكَلُ المَقَالِ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P6-L05</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لَوْ ______ مُبَكِّرًا، لَكَانَ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Had … been …, … would have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إِذَا ______ ، سَيَكُونُ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If we …, … will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لَا يَقِلُّ أَهَمِّيَّةً عَنْ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is no less important than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لِكَيْ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so that we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يُشَارُ إِلَى أَنَّ ______ أَكْثَرَ مِمَّا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P1 · It is noted that … more than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أَكَّدَ البَاحِثُونَ أَنَّ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P2 · Researchers confirmed that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صَحِيحٌ أَنَّ ______ ، غَيْرَ أَنَّ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P3 · It is true that …; however,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وَبِنَاءً عَلَى مَا سَبَقَ، يَتَطَلَّبُ الأَمْرُ أَنْ ______ .</a:t>
            </a:r>
            <a:endParaRPr lang="ar-SA" sz="16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P4 · Based on the above, … requires that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150" b="1" dirty="0">
                <a:solidFill>
                  <a:srgbClr val="1B3B6F"/>
                </a:solidFill>
                <a:latin typeface="Amiri" pitchFamily="34" charset="0"/>
                <a:ea typeface="Amiri" pitchFamily="34" charset="-122"/>
                <a:cs typeface="Amiri" pitchFamily="34" charset="-120"/>
              </a:rPr>
              <a:t>الصِّحَّةَ النَّفْسِيَّةَ  ·  التَّعْلِيمَ الجَامِعِيَّ  ·  وَسَائِلَ التَّوَاصُلِ  ·  سِلَاحٌ ذُو حَدَّيْنِ  ·  يُضْعِفُ التَّرْكِيزَ  ·  فُرَصَ التَّوْظِيفِ  ·  الدَّعْمِ النَّفْسِيِّ  ·  المَعْلُومَاتِ المُضَلِّلَةَ  ·  نُطَوِّرَ  ·  نُولِيَ … العِنَايَةَ  ·  نَجْنِيَ فَوَائِدَهَا  ·  الاسْتِخْدَامِ المَسْؤُولِ</a:t>
            </a:r>
            <a:endParaRPr lang="ar-SA"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25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P6-L05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ESSAY 1 · THE WEBSITE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What a full-mark answer looks like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450" dirty="0">
                <a:solidFill>
                  <a:srgbClr val="1F2A37"/>
                </a:solidFill>
                <a:latin typeface="Amiri" pitchFamily="34" charset="0"/>
                <a:ea typeface="Amiri" pitchFamily="34" charset="-122"/>
                <a:cs typeface="Amiri" pitchFamily="34" charset="-120"/>
              </a:rPr>
              <a:t>يُشَارُ إِلَى أَنَّ الصِّحَّةَ النَّفْسِيَّةَ لَا تَقِلُّ أَهَمِّيَّةً عَنِ الصِّحَّةِ الجَسَدِيَّةِ. أَكَّدَ البَاحِثُونَ أَنَّ التَّوَتُّرَ المُزْمِنَ يُضْعِفُ المَنَاعَةَ وَيُؤَثِّرُ فِي الجَسَدِ. صَحِيحٌ أَنَّ الجَسَدَ يَحْتَاجُ إِلَى رِعَايَةٍ، غَيْرَ أَنَّ إِهْمَالَ النَّفْسِ يَهْدِمُ الصِّحَّةَ كُلَّهَا. وَلَوِ اهْتَمَّتِ المَدَارِسُ بِالدَّعْمِ النَّفْسِيِّ مُبَكِّرًا، لَقَلَّتْ حَالَاتُ الاحْتِرَاقِ. وَإِذَا وَازَنَ الإِنْسَانُ بَيْنَ الجَسَدِ وَالنَّفْسِ، عَاشَ حَيَاةً أَفْضَلَ. وَبِنَاءً عَلَى مَا سَبَقَ، يَتَطَلَّبُ الأَمْرُ أَنْ نُولِيَ الصِّحَّةَ النَّفْسِيَّةَ العِنَايَةَ الَّتِي تَسْتَحِقُّهَا.</a:t>
            </a:r>
            <a:endParaRPr lang="ar-SA" sz="24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It is noted that mental health is no less important than physical health. Researchers have confirmed that chronic stress weakens immunity and affects the body. It is true that the body needs care; however, neglecting the mind destroys health as a whole. Had schools cared about psychological support early, cases of burnout would have fallen. When a person balances body and mind, they live a better life. Based on the above, the matter requires us to give mental health the care it deserves.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thesis (yushāru ilā anna)</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evidence (akkada … anna)</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ṣaḥīḥun anna … ghayra anna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law … la- · wa-bināʾan + -a</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25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P6-L05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ESSAY 2 · THE WEBSITE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What a full-mark answer looks like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يُشَارُ إِلَى أَنَّ التَّعْلِيمَ الجَامِعِيَّ لَا يَزَالُ رَكِيزَةً مُهِمَّةً لِلنَّجَاحِ. صَحِيحٌ أَنَّ بَعْضَ رُوَّادِ الأَعْمَالِ نَجَحُوا دُونَ شَهَادَةٍ، غَيْرَ أَنَّ الأَغْلَبِيَّةَ تَحْتَاجُ إِلَى مَهَارَاتٍ لَا تُبْنَى إِلَّا بِالتَّعَلُّمِ المُنَظَّمِ. أَكَّدَ خُبَرَاءُ سُوقِ العَمَلِ أَنَّ المَعْرِفَةَ المُتَخَصِّصَةَ تَرْفَعُ فُرَصَ التَّوْظِيفِ. وَإِذَا طَوَّرَتِ الجَامِعَاتُ مَنَاهِجَهَا، سَيَزْدَادُ ارْتِبَاطُهَا بِالوَاقِعِ. وَلَوِ اقْتَصَرْنَا عَلَى المَهَارَاتِ الذَّاتِيَّةِ وَحْدَهَا، لَحُرِمَ كَثِيرُونَ مِنْ فُرَصٍ عَادِلَةٍ. وَبِنَاءً عَلَى مَا سَبَقَ، يَنْبَغِي أَنْ نُطَوِّرَ التَّعْلِيمَ لَا أَنْ نَسْتَغْنِيَ عَنْهُ.</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It is noted that university education is still an important pillar of success. It is true that some entrepreneurs have succeeded without a degree; however, the majority need skills that are only built through organised learning. Labour-market experts have confirmed that specialised knowledge raises employment chances. If universities develop their curricula, their link with reality will grow. Had we relied on self-taught skills alone, many would have been deprived of fair opportunities. Based on the above, we should develop education, not do without it.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thesis + concession</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expert evidence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idhā … sa- · law … la-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yanbaghī an … lā an …</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25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P6-L05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ESSAY 3 · THE WEBSITE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What a full-mark answer looks like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يُشَارُ إِلَى أَنَّ وَسَائِلَ التَّوَاصُلِ الاجْتِمَاعِيِّ سِلَاحٌ ذُو حَدَّيْنِ. صَحِيحٌ أَنَّهَا تُقَرِّبُ النَّاسَ وَتَنْشُرُ المَعْرِفَةَ، غَيْرَ أَنَّهَا تُعَمِّقُ الفَجْوَةَ وَتَنْشُرُ المَعْلُومَاتِ المُضَلِّلَةَ. أَكَّدَ البَاحِثُونَ أَنَّ الإِفْرَاطَ فِيهَا يُضْعِفُ التَّرْكِيزَ. وَلَوْ وُضِعَتْ ضَوَابِطُ حَكِيمَةٌ، لَتَقَلَّصَتِ الأَضْرَارُ. وَإِذَا اسْتَخْدَمْنَاهَا بِوَعْيٍ، سَتُصْبِحُ أَدَاةً لِلْبِنَاءِ. وَبِنَاءً عَلَى مَا سَبَقَ، يَتَطَلَّبُ الأَمْرُ أَنْ نُرَبِّيَ الأَجْيَالَ عَلَى الاسْتِخْدَامِ المَسْؤُولِ لِكَيْ نَجْنِيَ فَوَائِدَهَا وَنَتَجَنَّبَ مَخَاطِرَهَا.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It is noted that social media is a double-edged sword. It is true that it brings people closer and spreads knowledge; however, it deepens the gap and spreads misinformation. Researchers have confirmed that excessive use weakens concentration. Had wise controls been put in place, the harm would have shrunk. If we use it consciously, it will become a tool for building. Based on the above, the matter requires us to raise generations on responsible use so that we reap its benefits and avoid its dangers.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thesis image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ṣaḥīḥun anna-hā … ghayra anna-hā</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passive law wuḍiʿat … la-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an + li-kay: three verbs in -a</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25</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P6-L05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WRITING PERFORMANCE PROFILE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Writing performance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مِلَفُّ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Yours</a:t>
            </a:r>
            <a:endParaRPr lang="en-US" sz="1100" dirty="0"/>
          </a:p>
        </p:txBody>
      </p:sp>
      <p:sp>
        <p:nvSpPr>
          <p:cNvPr id="17" name="Text 14"/>
          <p:cNvSpPr txBox="1"/>
          <p:nvPr/>
        </p:nvSpPr>
        <p:spPr>
          <a:xfrm>
            <a:off x="473659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8" name="Text 15"/>
          <p:cNvSpPr txBox="1"/>
          <p:nvPr/>
        </p:nvSpPr>
        <p:spPr>
          <a:xfrm>
            <a:off x="53035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Record</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796528" y="2267712"/>
            <a:ext cx="28620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1" name="Text 18"/>
          <p:cNvSpPr txBox="1"/>
          <p:nvPr/>
        </p:nvSpPr>
        <p:spPr>
          <a:xfrm>
            <a:off x="4773168" y="2267712"/>
            <a:ext cx="3840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TC 4/5 · Range 3/5 · Accuracy 3/5</a:t>
            </a:r>
            <a:endParaRPr lang="en-US" sz="1100" dirty="0"/>
          </a:p>
        </p:txBody>
      </p:sp>
      <p:sp>
        <p:nvSpPr>
          <p:cNvPr id="22" name="Text 19"/>
          <p:cNvSpPr txBox="1"/>
          <p:nvPr/>
        </p:nvSpPr>
        <p:spPr>
          <a:xfrm>
            <a:off x="566928" y="2267712"/>
            <a:ext cx="4023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My best essay today (TC / Range / Accuracy out of 5 each)</a:t>
            </a:r>
            <a:endParaRPr lang="en-US" sz="11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8796528" y="3054096"/>
            <a:ext cx="28620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5" name="Text 22"/>
          <p:cNvSpPr txBox="1"/>
          <p:nvPr/>
        </p:nvSpPr>
        <p:spPr>
          <a:xfrm>
            <a:off x="4773168" y="3054096"/>
            <a:ext cx="3840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my concession–refutation</a:t>
            </a:r>
            <a:endParaRPr lang="en-US" sz="1100" dirty="0"/>
          </a:p>
        </p:txBody>
      </p:sp>
      <p:sp>
        <p:nvSpPr>
          <p:cNvPr id="26" name="Text 23"/>
          <p:cNvSpPr txBox="1"/>
          <p:nvPr/>
        </p:nvSpPr>
        <p:spPr>
          <a:xfrm>
            <a:off x="566928" y="3054096"/>
            <a:ext cx="4023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My strongest TC element</a:t>
            </a: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8796528" y="3840480"/>
            <a:ext cx="28620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9" name="Text 26"/>
          <p:cNvSpPr txBox="1"/>
          <p:nvPr/>
        </p:nvSpPr>
        <p:spPr>
          <a:xfrm>
            <a:off x="4773168" y="3840480"/>
            <a:ext cx="3840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second conditional</a:t>
            </a:r>
            <a:endParaRPr lang="en-US" sz="1100" dirty="0"/>
          </a:p>
        </p:txBody>
      </p:sp>
      <p:sp>
        <p:nvSpPr>
          <p:cNvPr id="30" name="Text 27"/>
          <p:cNvSpPr txBox="1"/>
          <p:nvPr/>
        </p:nvSpPr>
        <p:spPr>
          <a:xfrm>
            <a:off x="566928" y="3840480"/>
            <a:ext cx="4023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My weakest Range marker</a:t>
            </a:r>
            <a:endParaRPr lang="en-US" sz="11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8796528" y="4626864"/>
            <a:ext cx="28620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33" name="Text 30"/>
          <p:cNvSpPr txBox="1"/>
          <p:nvPr/>
        </p:nvSpPr>
        <p:spPr>
          <a:xfrm>
            <a:off x="4773168" y="4626864"/>
            <a:ext cx="3840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-a after an</a:t>
            </a:r>
            <a:endParaRPr lang="en-US" sz="1100" dirty="0"/>
          </a:p>
        </p:txBody>
      </p:sp>
      <p:sp>
        <p:nvSpPr>
          <p:cNvPr id="34" name="Text 31"/>
          <p:cNvSpPr txBox="1"/>
          <p:nvPr/>
        </p:nvSpPr>
        <p:spPr>
          <a:xfrm>
            <a:off x="566928" y="4626864"/>
            <a:ext cx="4023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My most common Accuracy error</a:t>
            </a: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Copy your weakest Range marker and your most common Accuracy error under your Paper 4 target.</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25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P6-L05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THE EXAM GIVES YOU MORE TIME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Extended-writing reflection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التَّأَمُّلُ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Model ending</a:t>
            </a:r>
            <a:endParaRPr lang="en-US" sz="1100" dirty="0"/>
          </a:p>
        </p:txBody>
      </p:sp>
      <p:sp>
        <p:nvSpPr>
          <p:cNvPr id="17" name="Text 14"/>
          <p:cNvSpPr txBox="1"/>
          <p:nvPr/>
        </p:nvSpPr>
        <p:spPr>
          <a:xfrm>
            <a:off x="528523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8" name="Text 15"/>
          <p:cNvSpPr txBox="1"/>
          <p:nvPr/>
        </p:nvSpPr>
        <p:spPr>
          <a:xfrm>
            <a:off x="53035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Reflection frame (website)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43076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concession–refutation pair</a:t>
            </a:r>
            <a:endParaRPr lang="en-US" sz="1100" dirty="0"/>
          </a:p>
        </p:txBody>
      </p:sp>
      <p:sp>
        <p:nvSpPr>
          <p:cNvPr id="21" name="Text 18"/>
          <p:cNvSpPr txBox="1"/>
          <p:nvPr/>
        </p:nvSpPr>
        <p:spPr>
          <a:xfrm>
            <a:off x="5321808"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element I write confidently</a:t>
            </a:r>
            <a:endParaRPr lang="en-US" sz="1100" dirty="0"/>
          </a:p>
        </p:txBody>
      </p:sp>
      <p:sp>
        <p:nvSpPr>
          <p:cNvPr id="22" name="Text 19"/>
          <p:cNvSpPr txBox="1"/>
          <p:nvPr/>
        </p:nvSpPr>
        <p:spPr>
          <a:xfrm>
            <a:off x="566928" y="2267712"/>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architecture element I now write confidently is…</a:t>
            </a:r>
            <a:endParaRPr lang="en-US" sz="11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843076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Type 2 la- result</a:t>
            </a:r>
            <a:endParaRPr lang="en-US" sz="1100" dirty="0"/>
          </a:p>
        </p:txBody>
      </p:sp>
      <p:sp>
        <p:nvSpPr>
          <p:cNvPr id="25" name="Text 22"/>
          <p:cNvSpPr txBox="1"/>
          <p:nvPr/>
        </p:nvSpPr>
        <p:spPr>
          <a:xfrm>
            <a:off x="5321808"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my practice before the mock</a:t>
            </a:r>
            <a:endParaRPr lang="en-US" sz="1100" dirty="0"/>
          </a:p>
        </p:txBody>
      </p:sp>
      <p:sp>
        <p:nvSpPr>
          <p:cNvPr id="26" name="Text 23"/>
          <p:cNvSpPr txBox="1"/>
          <p:nvPr/>
        </p:nvSpPr>
        <p:spPr>
          <a:xfrm>
            <a:off x="566928" y="3054096"/>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Before the mock I will practise…</a:t>
            </a: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8412480" y="3840480"/>
            <a:ext cx="322783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بِنْيَةَ المَقَالِ</a:t>
            </a:r>
            <a:endParaRPr lang="ar-SA" sz="1500" dirty="0"/>
          </a:p>
        </p:txBody>
      </p:sp>
      <p:sp>
        <p:nvSpPr>
          <p:cNvPr id="29" name="Text 26"/>
          <p:cNvSpPr txBox="1"/>
          <p:nvPr/>
        </p:nvSpPr>
        <p:spPr>
          <a:xfrm>
            <a:off x="5321808" y="3840480"/>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have now mastered …</a:t>
            </a:r>
            <a:endParaRPr lang="en-US" sz="1100" dirty="0"/>
          </a:p>
        </p:txBody>
      </p:sp>
      <p:sp>
        <p:nvSpPr>
          <p:cNvPr id="30" name="Text 27"/>
          <p:cNvSpPr txBox="1"/>
          <p:nvPr/>
        </p:nvSpPr>
        <p:spPr>
          <a:xfrm>
            <a:off x="548640" y="3840480"/>
            <a:ext cx="457200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أُتْقِنُ الآنَ ______ .</a:t>
            </a:r>
            <a:endParaRPr lang="ar-SA" sz="1800" dirty="0"/>
          </a:p>
        </p:txBody>
      </p:sp>
      <p:sp>
        <p:nvSpPr>
          <p:cNvPr id="31" name="Text 2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In the real exam you have about 35 minutes for Q2 — today’s 25 minutes was the harder version.</a:t>
            </a:r>
            <a:endParaRPr lang="en-US" sz="11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25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P6-L05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P6-L05</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opened with a clear thesis and supported it with cited evidence.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conceded with ṣaḥīḥun anna and refuted with ghayra anna.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closed with wa-bināʾan ʿalā mā sabaqa and a verb in -a.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kept to 130–150 words and checked accuracy before submitting.</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both conditionals and self-marked against TC, Range and Accuracy.</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25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P6-L05 · IGCSE Bridge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P6-L06: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P6-L05</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P6-L06 · Paper 3 Role Play — Transactional Language at IGCSE Standard</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تَمْثِيلُ الدَّوْرِ</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role play</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الاسْتِجَابَةُ لِلْمُحَفِّزَاتِ</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responding to prompts</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طَلَبُ المَعْلُومَاتِ</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requesting information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التَّفَاوُضُ</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negotiation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حَلُّ المُشْكِلَةِ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problem-solving</a:t>
            </a:r>
            <a:pPr indent="0" marL="0">
              <a:buNone/>
            </a:pPr>
            <a:r>
              <a:rPr lang="en-US" sz="1000" i="1" dirty="0">
                <a:solidFill>
                  <a:srgbClr val="5A6472"/>
                </a:solidFill>
                <a:latin typeface="Calibri" pitchFamily="34" charset="0"/>
                <a:ea typeface="Calibri" pitchFamily="34" charset="-122"/>
                <a:cs typeface="Calibri" pitchFamily="34" charset="-120"/>
              </a:rPr>
              <a:t>  pl. حُلُولٌ</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How would you ask politely for an appointment at a health centre?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مِنْ فَضْلِكَ، أُرِيدُ أَنْ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Redraft your essay with the model’s phrases; learn the five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a second essay plan (4 minutes) for another topic; learn the five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a second essay in 25 minutes; learn the five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25</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P6-L05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ea typeface="Cambria" pitchFamily="34" charset="-122"/>
                <a:cs typeface="Cambria" pitchFamily="34" charset="-120"/>
              </a:rPr>
              <a:t>P6-L06 · Paper 3 Role Play — Transactional Language at IGCSE Standard</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الوَرَقَةُ الثَّالِثَةُ — تَمْثِيلُ الدَّوْرِ</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plan for four minutes — then thesis → evidence → ṣaḥīḥun anna … ghayra anna → law … la- → wa-bināʾan + -a. 130–150 words; Range without risk.</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P6-L05 · Paper 4 Q2 — Extended Writing: Essay Architecture Under Exam Conditions</dc:title>
  <dc:subject>PptxGenJS Presentation</dc:subject>
  <dc:creator>Al Madina Online School · Arabic Department</dc:creator>
  <cp:lastModifiedBy>Al Madina Online School · Arabic Department</cp:lastModifiedBy>
  <cp:revision>1</cp:revision>
  <dcterms:created xsi:type="dcterms:W3CDTF">2026-10-11T03:28:21Z</dcterms:created>
  <dcterms:modified xsi:type="dcterms:W3CDTF">2026-10-11T03:28:21Z</dcterms:modified>
</cp:coreProperties>
</file>