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Map · 2–8 Do Now + answers · 8–9 Objectives · 9–12 Essay words · 12–15 Time and architecture · 15–17 The Q2 mark scheme · 17–21 A four-minute plan (I Do) · 21–23 Choose your essay · 23–48 Plan 4 + write 21 (exam conditions) · 48–53 Models + self-mark · 53–55 Writing profile · 55–58 Reflection + self-check · 58–60 Preparation.
FLEX slides are optional. Use them if the class is moving quickly; otherwise the same activities are on the website for homework.
Content source: Miftah Arabic website, Pathways › Progression › P6 IGCSE Bridge › P6-L05. The website P6-L05: the extended-writing vocabulary (8 words), the time-management and architecture cards, the Paper 4 Q2 mark scheme (TC 5 · Range 5 · Accuracy 5), three argumentative essays with checklists and models (mental vs physical health · is university still necessary? · social media: more good than harm?), the writing performance profile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EXAM CONDITIONS: one essay, 25 minutes (4 planning + 21 writing) — in the real Paper 4 about 35 minutes are available for Q2. Students choose the topic whose vocabulary they know best (website mark-scheme note: Range falls when you are hunting for words).
• Routes by length and scaffold: Core — the essay skeleton frames, 90–110 words · Develop — 130 words · Stretch — 150 words with both conditionals. Everyone uses the same architecture.
• Website note: length is capped at 130–150 words — more words do not gain marks if quality drops. Models are shown ONLY after writing; students self-mark against the website mark scheme.
• Website fix: نُوَلِيَ → نُولِيَ (essay 1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P6-L04. Questions 4–5 retrieve the P5 essay close (P5-L07, L09) — today it is written against the clock.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Q2 is the P5 essay under exam conditions — four minutes of planning buys you the whole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and نقیض are shared. Remember the traps from earlier: خاتمہ (Urdu: an end) → الخَاتِمَةُ (Arabic: the conclusion paragraph); دقت (Urdu: difficulty) → الدِّقَّةُ (Arabic: accuracy). Today’s phrase: الدِّقَّةُ تَحْتَ ضَغْطِ الوَقْتِ — accuracy under time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Essay and exam craft (website vocabulary (1 of 2)). Hear → Say → See → Use. Transliteration is printed for Core students (cover it for Develop/Stretch).
The essay in five words: الأُطْرُوحَةُ (thesis) → الدَّلِيلُ (evidence) → نَقِيضُ الحُجَّةِ (the counter-argument, conceded) → الرَّدُّ (the refutation) → الخَاتِمَةُ (the conclusion). التَّنَوُّعُ المَعْجَمِيُّ (lexical variety) and الدِّقَّةُ تَحْتَ ضَغْطِ الوَقْتِ (accuracy under time pressure) are today’s two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Essay and exam craft (website vocabulary (2 of 2)). Hear → Say → See → Use. Transliteration is printed for Core students (cover it for Develop/Stretch).
The essay in five words: الأُطْرُوحَةُ (thesis) → الدَّلِيلُ (evidence) → نَقِيضُ الحُجَّةِ (the counter-argument, conceded) → الرَّدُّ (the refutation) → الخَاتِمَةُ (the conclusion). التَّنَوُّعُ المَعْجَمِيُّ (lexical variety) and الدِّقَّةُ تَحْتَ ضَغْطِ الوَقْتِ (accuracy under time pressure) are today’s two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TEACH (3 min) — the website cards. Draw the hour as a bar: 20 min Q1 · 35 min Q2 · 5 min checking. Stress card 4: Range WITHOUT risk — a simple accurate sentence beats an ambitious broken one.
WEBSITE CARDS “Time management and architecture”: Split the hour: Paper 4 is 60 minutes: about 20 for Q1, about 35 for Q2, and 5 to check. Do not let Q1 eat Q2's time. · Plan for four minutes: Before writing Q2, plan the thesis, the evidence, the concession-refutation, and the conclusion. · Write the architecture: Each paragraph has a job. (أُطْرُوحَةٌ ← دَلِيلٌ ← صَحِيحٌ أَنَّ … غَيْرَ أَنَّ ← وَبِنَاءً عَلَى مَا سَبَقَ) · Range without risk: Aim for grammar variety — different tenses, a conditional, a subjunctive trigger, a formal connector — but never at the cost of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note: Length is capped at 130–150 words: writing more does not gain marks if quality drops. Choose the topic whose vocabulary you know best — Range falls when you are hunting for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plan Essay 3 live, against a visible 4-minute timer, in short Arabic notes. Show that the Range column is planned BEFORE writing (website teaching: plan both marks at once — P5-L09). Then hide the plan and start the timer for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(2 min). Topics: Essay 1 health · Essay 2 education · Essay 3 social issues (website). Exam conditions from now: cameras on, no translation tools, no talking. Show a visible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
Website task: Write an argumentative essay (130–150 words): “الصِّحَّةُ النَّفْسِيَّةُ أَهَمُّ مِنَ الصِّحَّةِ الجَسَدِيَّةِ — هَلْ تُوَافِقُ؟” Use the full architecture.
Website checklist: A clear thesis stating your position. · Cited evidence (أَكَّدَ … أَنَّ) and a concession (صَحِيحٌ أَنَّ). · A refutation (غَيْرَ أَنَّ) and a Type 2 conditional. · A conclusion (وَبِنَاءً عَلَى مَا سَبَقَ)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
Website task: Write an argumentative essay (130–150 words): “التَّعْلِيمُ الجَامِعِيُّ لَمْ يَعُدْ ضَرُورِيًّا لِلنَّجَاحِ فِي عَالَمِ اليَوْمِ — هَلْ تُوَافِقُ؟”
Website checklist: A clear thesis and cited evidence. · A concession (صَحِيحٌ أَنَّ) answered by a refutation (غَيْرَ أَنَّ). · Both a Type 1 and a Type 2 conditional if you can.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
Website task: Write an argumentative essay (130–150 words): “وَسَائِلُ التَّوَاصُلِ الاجْتِمَاعِيِّ تُفِيدُ المُجْتَمَعَاتِ أَكْثَرَ مِمَّا تَضُرُّهَا — هَلْ تُوَافِقُ؟”
Website checklist: A clear thesis and cited evidence. · A concession (صَحِيحٌ أَنَّ) and a refutation (غَيْرَ أَنَّ). · A subjunctive trigger and a Type 2 conditional.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for all three topics. Core: the four skeleton frames give the full architecture. Develop: the four upgrade frames add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(website) — show AFTER students have written. Students find the four items on the chips, then choose ONE thing to add to their own answer.
Website model (health), with one fix: نُوَلِيَ → نُولِيَ (Form IV أَوْلَى، يُولِي). Note إِذَا وَازَنَ … عَاشَ — a past-tense result for a general truth (“whenever”).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(website) — show AFTER students have written. Students find the four items on the chips, then choose ONE thing to add to their own answer.
Website model (education). Stretch point: يَنْبَغِي أَنْ نُطَوِّرَ … لَا أَنْ نَسْتَغْنِيَ — two verbs in -a, contrasted with 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(website) — show AFTER students have written. Students find the four items on the chips, then choose ONE thing to add to their own answer.
Website model (social issues). Count the verbs in -a in the last sentence: نُرَبِّيَ · نَجْنِيَ · نَتَجَنَّبَ.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PROFILE (2 min) — website fields, after self-marking with the mark scheme and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Encourage: if they managed the architecture in 25 minutes, 35 minutes will feel comfortable.
Website:  (The exam gives you more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(P6-L06 · Paper 3 Role Play — Transactional Language at IGCSE Standard) will spend class time USING this language, so students prepare it tonight — short, simple, easy to access (school guidance: “Simple, Short, Interesting, Relevant, Easy to access”). The five words come from the website P6-L06 vocabulary (role play and transactional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Paper 4 Q2 — Extended Writing: Essay Architecture Under Exam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650" b="1" dirty="0">
                <a:solidFill>
                  <a:srgbClr val="D4AF37"/>
                </a:solidFill>
                <a:latin typeface="Amiri" pitchFamily="2" charset="-78"/>
                <a:ea typeface="Amiri" pitchFamily="2" charset="-78"/>
                <a:cs typeface="Amiri" pitchFamily="2" charset="-78"/>
              </a:rPr>
              <a:t>الوَرَقَةُ الرَّابِعَةُ — الكِتَابَةُ المُوَسَّعَةُ: هَيْكَلُ المَقَالِ تَحْتَ ضَغْطِ الوَقْتِ</a:t>
            </a:r>
            <a:endParaRPr lang="ar-SA" sz="26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Write a full 130–150-word argumentative essay against the clock: plan for four minutes, then thesis → evidence → ṣaḥīḥun anna … ghayra anna → law … la- → wa-bināʾan ʿalā mā sabaqa + -a — with Range that never costs Accuracy.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P6-L05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essay words and P5 accuracy.</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Time, architecture and the Q2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الهَيْكَلُ</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plan in four minutes.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Choose your essay · plan · write (exam conditions).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Models, self-marking, profile,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the role play.</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هَيْكَلُ المَقَالِ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essay title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essay structure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essay length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التَّنَوُّعُ المَعْجَمِيُّ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lexical variety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الدِّقَّةُ تَحْتَ ضَغْطِ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 limit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pressure at work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 under time pressure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the conclusion?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 البَاحِثُونَ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عَلَى الاسْتِخْدَامِ المَسْؤُولِ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نُرَبِّيَ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نُرَبِّي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رَبَّيْنَا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هَيْكَلُ المَقَالِ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essay title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essay structure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essay length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التَّنَوُّعُ المَعْجَمِيُّ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lexical variety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dictionary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spelling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الدِّقَّةُ تَحْتَ ضَغْطِ الوَقْتِ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 limit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pressure at work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accuracy under time pressure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the conclusion?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أَكَّدَ البَاحِثُونَ أَنَّ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وَبِنَاءً عَلَى مَا سَبَقَ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P5-L07: the formal conclusion connector.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الأَجْيَالَ عَلَى الاسْتِخْدَامِ المَسْؤُولِ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نُرَبِّيَ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نُرَبِّي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رَبَّيْنَا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 an + -a (hidden in -ī verbs: nurabbiya).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Q2 is the P5 essay under exam conditions — four minutes of planning buys you the whole architecture.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أُطْرُوحَةٌ ← دَلِيلٌ ← صَحِيحٌ أَنَّ … غَيْرَ أَنَّ ← وَبِنَاءً عَلَى مَا سَبَقَ</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full argumentative essay (130–150 words) under timed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Show the complete architecture: thesis, evidence, concession, refutation, conclusion.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Balance quantity and quality — enough Range without losing Accuracy.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the Q2 mark scheme to identify your writing strengths and weaknesses.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the four paragraphs before writing.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a thesis and one concession–refutation.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130 words with the full architecture.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close with a connector + a verb in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150 words with both conditionals.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against TC, Range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Essay and exam craft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وَقْتٌ</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‎وقت‎ </a:t>
            </a:r>
            <a:pPr indent="0" marL="0">
              <a:buNone/>
            </a:pPr>
            <a:r>
              <a:rPr lang="en-US" sz="950" b="1" dirty="0">
                <a:solidFill>
                  <a:srgbClr val="2E8B57"/>
                </a:solidFill>
                <a:latin typeface="Calibri" pitchFamily="34" charset="0"/>
                <a:cs typeface="Amiri" pitchFamily="2" charset="-78"/>
              </a:rPr>
              <a:t> waqt · time</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نَقِيضٌ</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‎نقیض‎ </a:t>
            </a:r>
            <a:pPr indent="0" marL="0">
              <a:buNone/>
            </a:pPr>
            <a:r>
              <a:rPr lang="en-US" sz="950" b="1" dirty="0">
                <a:solidFill>
                  <a:srgbClr val="2E8B57"/>
                </a:solidFill>
                <a:latin typeface="Calibri" pitchFamily="34" charset="0"/>
                <a:cs typeface="Amiri" pitchFamily="2" charset="-78"/>
              </a:rPr>
              <a:t> naqīz · the opposite, the counter</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خَاتِمَةٌ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Arabic: a conclusion · Urdu: an end</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دِقَّةٌ</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‎دقت‎ </a:t>
            </a:r>
            <a:pPr indent="0" marL="0">
              <a:buNone/>
            </a:pPr>
            <a:r>
              <a:rPr lang="en-US" sz="950" b="1" dirty="0">
                <a:solidFill>
                  <a:srgbClr val="2E8B57"/>
                </a:solidFill>
                <a:latin typeface="Calibri" pitchFamily="34" charset="0"/>
                <a:cs typeface="Amiri" pitchFamily="2" charset="-78"/>
              </a:rPr>
              <a:t> diqqat · Arabic: accuracy · Urdu: difficulty</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ضَغْطٌ</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‎دباؤ‎ </a:t>
            </a:r>
            <a:pPr indent="0" marL="0">
              <a:buNone/>
            </a:pPr>
            <a:r>
              <a:rPr lang="ar-SA" sz="950" b="1" dirty="0">
                <a:solidFill>
                  <a:srgbClr val="2E8B57"/>
                </a:solidFill>
                <a:latin typeface="Calibri" pitchFamily="34" charset="0"/>
                <a:ea typeface="Amiri" pitchFamily="2" charset="-78"/>
                <a:cs typeface="Amiri" pitchFamily="2" charset="-78"/>
              </a:rPr>
              <a:t> dabāo · pressure (Arabic ضَغْطٌ, Urdu دباؤ)</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Essay and exam craft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الكِتَابَةُ المُوَسَّعَةُ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extended writing</a:t>
            </a:r>
            <a:endParaRPr lang="en-US" sz="1350" dirty="0"/>
          </a:p>
          <a:p>
            <a:pPr indent="0" marL="0">
              <a:buNone/>
            </a:pPr>
            <a:r>
              <a:rPr lang="en-US" sz="1100" i="1" dirty="0">
                <a:solidFill>
                  <a:srgbClr val="5A6472"/>
                </a:solidFill>
                <a:latin typeface="Calibri" pitchFamily="34" charset="0"/>
                <a:cs typeface="Amiri" pitchFamily="2" charset="-78"/>
              </a:rPr>
              <a:t>al-ki-tā-ba-tu al-mu-was-sa-ʿa-tu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هَيْكَلُ المَقَالِ</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essay structure</a:t>
            </a:r>
            <a:endParaRPr lang="en-US" sz="1350" dirty="0"/>
          </a:p>
          <a:p>
            <a:pPr indent="0" marL="0">
              <a:buNone/>
            </a:pPr>
            <a:r>
              <a:rPr lang="en-US" sz="1100" i="1" dirty="0">
                <a:solidFill>
                  <a:srgbClr val="5A6472"/>
                </a:solidFill>
                <a:latin typeface="Calibri" pitchFamily="34" charset="0"/>
                <a:cs typeface="Amiri" pitchFamily="2" charset="-78"/>
              </a:rPr>
              <a:t>hay-ka-lu al-ma-qā-li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هَيَاكِلُ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الأُطْرُوحَةُ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thesis</a:t>
            </a:r>
            <a:endParaRPr lang="en-US" sz="1350" dirty="0"/>
          </a:p>
          <a:p>
            <a:pPr indent="0" marL="0">
              <a:buNone/>
            </a:pPr>
            <a:r>
              <a:rPr lang="en-US" sz="1100" i="1" dirty="0">
                <a:solidFill>
                  <a:srgbClr val="5A6472"/>
                </a:solidFill>
                <a:latin typeface="Calibri" pitchFamily="34" charset="0"/>
                <a:cs typeface="Amiri" pitchFamily="2" charset="-78"/>
              </a:rPr>
              <a:t>al-uṭ-rū-ḥa-tu</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الأُطْرُوحَاتُ</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نَقِيضُ الحُجَّةِ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counter-argument</a:t>
            </a:r>
            <a:endParaRPr lang="en-US" sz="1350" dirty="0"/>
          </a:p>
          <a:p>
            <a:pPr indent="0" marL="0">
              <a:buNone/>
            </a:pPr>
            <a:r>
              <a:rPr lang="en-US" sz="1100" i="1" dirty="0">
                <a:solidFill>
                  <a:srgbClr val="5A6472"/>
                </a:solidFill>
                <a:latin typeface="Calibri" pitchFamily="34" charset="0"/>
                <a:cs typeface="Amiri" pitchFamily="2" charset="-78"/>
              </a:rPr>
              <a:t>na-qī-ḍu al-ḥuj-ja-ti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Essay and exam craft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refutation</a:t>
            </a:r>
            <a:endParaRPr lang="en-US" sz="1350" dirty="0"/>
          </a:p>
          <a:p>
            <a:pPr indent="0" marL="0">
              <a:buNone/>
            </a:pPr>
            <a:r>
              <a:rPr lang="en-US" sz="1100" i="1" dirty="0">
                <a:solidFill>
                  <a:srgbClr val="5A6472"/>
                </a:solidFill>
                <a:latin typeface="Calibri" pitchFamily="34" charset="0"/>
                <a:cs typeface="Amiri" pitchFamily="2" charset="-78"/>
              </a:rPr>
              <a:t>ar-rad-du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الخَاتِمَةُ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conclusion</a:t>
            </a:r>
            <a:endParaRPr lang="en-US" sz="1350" dirty="0"/>
          </a:p>
          <a:p>
            <a:pPr indent="0" marL="0">
              <a:buNone/>
            </a:pPr>
            <a:r>
              <a:rPr lang="en-US" sz="1100" i="1" dirty="0">
                <a:solidFill>
                  <a:srgbClr val="5A6472"/>
                </a:solidFill>
                <a:latin typeface="Calibri" pitchFamily="34" charset="0"/>
                <a:cs typeface="Amiri" pitchFamily="2" charset="-78"/>
              </a:rPr>
              <a:t>al-khā-ti-ma-tu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الخَوَاتِمُ</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التَّنَوُّعُ المَعْجَمِيُّ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lexical variety</a:t>
            </a:r>
            <a:endParaRPr lang="en-US" sz="1350" dirty="0"/>
          </a:p>
          <a:p>
            <a:pPr indent="0" marL="0">
              <a:buNone/>
            </a:pPr>
            <a:r>
              <a:rPr lang="en-US" sz="1100" i="1" dirty="0">
                <a:solidFill>
                  <a:srgbClr val="5A6472"/>
                </a:solidFill>
                <a:latin typeface="Calibri" pitchFamily="34" charset="0"/>
                <a:cs typeface="Amiri" pitchFamily="2" charset="-78"/>
              </a:rPr>
              <a:t>at-ta-naw-wu-ʿu al-maʿ-ja-miy-yu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 تَحْتَ ضَغْطِ الوَقْتِ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 under time pressure</a:t>
            </a:r>
            <a:endParaRPr lang="en-US" sz="1350" dirty="0"/>
          </a:p>
          <a:p>
            <a:pPr indent="0" marL="0">
              <a:buNone/>
            </a:pPr>
            <a:r>
              <a:rPr lang="en-US" sz="1100" i="1" dirty="0">
                <a:solidFill>
                  <a:srgbClr val="5A6472"/>
                </a:solidFill>
                <a:latin typeface="Calibri" pitchFamily="34" charset="0"/>
                <a:cs typeface="Amiri" pitchFamily="2" charset="-78"/>
              </a:rPr>
              <a:t>ad-diq-qa-tu taḥ-ta ḍagh-ṭi al-waq-ti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PLAN · WRITE · CHECK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Time management and architecture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الوَقْتُ وَالهَيْكَلُ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67665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4008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TIME MANAGEMENT AND ARCHITECTURE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Split the hour — Paper 4 is 60 minutes: about 20 for Q1, about 35 for Q2, and 5 to check. Do not let Q1 eat Q2's time.</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Plan for four minutes — Before writing Q2, plan the thesis, the evidence, the concession-refutation, and the conclusion.</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Write the architecture — Each paragraph has a job.</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Range without risk — Aim for grammar variety — different tenses, a conditional, a subjunctive trigger, a formal connector — but never at the cost of accuracy.</a:t>
            </a:r>
            <a:endParaRPr lang="en-US" sz="1300" dirty="0"/>
          </a:p>
        </p:txBody>
      </p:sp>
      <p:sp>
        <p:nvSpPr>
          <p:cNvPr id="29" name="Shape 26"/>
          <p:cNvSpPr/>
          <p:nvPr/>
        </p:nvSpPr>
        <p:spPr>
          <a:xfrm>
            <a:off x="7406640" y="1810512"/>
            <a:ext cx="4325112" cy="4498848"/>
          </a:xfrm>
          <a:prstGeom prst="roundRect">
            <a:avLst>
              <a:gd name="adj" fmla="val 16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589520" y="1883664"/>
            <a:ext cx="39593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1" name="Text 28"/>
          <p:cNvSpPr txBox="1"/>
          <p:nvPr/>
        </p:nvSpPr>
        <p:spPr>
          <a:xfrm>
            <a:off x="7543800" y="2194560"/>
            <a:ext cx="405079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عِشْرُونَ دَقِيقَةً · خَمْسٌ وَثَلَاثُونَ · خَمْسٌ</a:t>
            </a:r>
            <a:endParaRPr lang="ar-SA" sz="2550" dirty="0"/>
          </a:p>
        </p:txBody>
      </p:sp>
      <p:sp>
        <p:nvSpPr>
          <p:cNvPr id="32" name="Text 29"/>
          <p:cNvSpPr txBox="1"/>
          <p:nvPr/>
        </p:nvSpPr>
        <p:spPr>
          <a:xfrm>
            <a:off x="7543800" y="2955828"/>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Q1 · Q2 · checking</a:t>
            </a:r>
            <a:endParaRPr lang="en-US" sz="1100" dirty="0"/>
          </a:p>
        </p:txBody>
      </p:sp>
      <p:sp>
        <p:nvSpPr>
          <p:cNvPr id="33" name="Shape 30"/>
          <p:cNvSpPr/>
          <p:nvPr/>
        </p:nvSpPr>
        <p:spPr>
          <a:xfrm>
            <a:off x="7589520" y="3535680"/>
            <a:ext cx="3959352" cy="0"/>
          </a:xfrm>
          <a:prstGeom prst="line">
            <a:avLst/>
          </a:prstGeom>
          <a:noFill/>
          <a:ln w="9525">
            <a:solidFill>
              <a:srgbClr val="E4DCCB"/>
            </a:solidFill>
            <a:prstDash val="dash"/>
          </a:ln>
        </p:spPr>
      </p:sp>
      <p:sp>
        <p:nvSpPr>
          <p:cNvPr id="34" name="Text 31"/>
          <p:cNvSpPr txBox="1"/>
          <p:nvPr/>
        </p:nvSpPr>
        <p:spPr>
          <a:xfrm>
            <a:off x="7543800" y="3553968"/>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أُطْرُوحَةٌ ← دَلِيلٌ</a:t>
            </a:r>
            <a:endParaRPr lang="ar-SA" sz="2800" dirty="0"/>
          </a:p>
        </p:txBody>
      </p:sp>
      <p:sp>
        <p:nvSpPr>
          <p:cNvPr id="35" name="Text 32"/>
          <p:cNvSpPr txBox="1"/>
          <p:nvPr/>
        </p:nvSpPr>
        <p:spPr>
          <a:xfrm>
            <a:off x="7543800" y="4315236"/>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thesis → evidence</a:t>
            </a:r>
            <a:endParaRPr lang="en-US" sz="1100" dirty="0"/>
          </a:p>
        </p:txBody>
      </p:sp>
      <p:sp>
        <p:nvSpPr>
          <p:cNvPr id="36" name="Shape 33"/>
          <p:cNvSpPr/>
          <p:nvPr/>
        </p:nvSpPr>
        <p:spPr>
          <a:xfrm>
            <a:off x="7589520" y="4895088"/>
            <a:ext cx="3959352" cy="0"/>
          </a:xfrm>
          <a:prstGeom prst="line">
            <a:avLst/>
          </a:prstGeom>
          <a:noFill/>
          <a:ln w="9525">
            <a:solidFill>
              <a:srgbClr val="E4DCCB"/>
            </a:solidFill>
            <a:prstDash val="dash"/>
          </a:ln>
        </p:spPr>
      </p:sp>
      <p:sp>
        <p:nvSpPr>
          <p:cNvPr id="37" name="Text 34"/>
          <p:cNvSpPr txBox="1"/>
          <p:nvPr/>
        </p:nvSpPr>
        <p:spPr>
          <a:xfrm>
            <a:off x="7543800" y="4913376"/>
            <a:ext cx="4050792" cy="76126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ea typeface="Amiri" pitchFamily="2" charset="-78"/>
                <a:cs typeface="Amiri" pitchFamily="2" charset="-78"/>
              </a:rPr>
              <a:t>صَحِيحٌ أَنَّ … غَيْرَ أَنَّ ← وَبِنَاءً عَلَى مَا سَبَقَ</a:t>
            </a:r>
            <a:endParaRPr lang="ar-SA" sz="2250" dirty="0"/>
          </a:p>
        </p:txBody>
      </p:sp>
      <p:sp>
        <p:nvSpPr>
          <p:cNvPr id="38" name="Text 35"/>
          <p:cNvSpPr txBox="1"/>
          <p:nvPr/>
        </p:nvSpPr>
        <p:spPr>
          <a:xfrm>
            <a:off x="7543800" y="5674644"/>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concession → refutation → conclusion</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KNOW HOW YOU ARE MARKED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Paper 4 Q2 mark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مَعَايِيرُ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clear thesis (a position, not just a topic) · cited evidence, a genuine concession and a clear refutation · a formal conclusion connector with a verb in -a.</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least three different tenses · one conditional and one subjunctive trigger · a concession structure and a formal connector.</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133088" y="3840480"/>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Correct -a after triggers and the Type 2 la- · the indicative after ṣaḥīḥun anna · agreement and tense free of major errors.</a:t>
            </a:r>
            <a:endParaRPr lang="en-US" sz="1100" dirty="0"/>
          </a:p>
        </p:txBody>
      </p:sp>
      <p:sp>
        <p:nvSpPr>
          <p:cNvPr id="31" name="Text 28"/>
          <p:cNvSpPr txBox="1"/>
          <p:nvPr/>
        </p:nvSpPr>
        <p:spPr>
          <a:xfrm>
            <a:off x="3127248" y="3840480"/>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2" name="Text 29"/>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Three equal criteria. Length is capped at 130–150 words — choose the topic whose vocabulary you know best.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ME PLAN ESSAY 3 IN FOUR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four-minute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أَرْبَعِ دَقَائِقَ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 ticks</a:t>
            </a:r>
            <a:endParaRPr lang="en-US" sz="1100" dirty="0"/>
          </a:p>
        </p:txBody>
      </p:sp>
      <p:sp>
        <p:nvSpPr>
          <p:cNvPr id="17" name="Text 14"/>
          <p:cNvSpPr txBox="1"/>
          <p:nvPr/>
        </p:nvSpPr>
        <p:spPr>
          <a:xfrm>
            <a:off x="36393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plan (notes, not sentences)</a:t>
            </a:r>
            <a:endParaRPr lang="en-US" sz="1100" dirty="0"/>
          </a:p>
        </p:txBody>
      </p:sp>
      <p:sp>
        <p:nvSpPr>
          <p:cNvPr id="18" name="Text 15"/>
          <p:cNvSpPr txBox="1"/>
          <p:nvPr/>
        </p:nvSpPr>
        <p:spPr>
          <a:xfrm>
            <a:off x="14447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Text 16"/>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yushāru ilā anna</a:t>
            </a:r>
            <a:endParaRPr lang="en-US" sz="1100" dirty="0"/>
          </a:p>
        </p:txBody>
      </p:sp>
      <p:sp>
        <p:nvSpPr>
          <p:cNvPr id="22" name="Text 19"/>
          <p:cNvSpPr txBox="1"/>
          <p:nvPr/>
        </p:nvSpPr>
        <p:spPr>
          <a:xfrm>
            <a:off x="3657600" y="2267712"/>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سِلَاحٌ ذُو حَدَّيْنِ</a:t>
            </a:r>
            <a:endParaRPr lang="ar-SA" sz="1600" dirty="0"/>
          </a:p>
        </p:txBody>
      </p:sp>
      <p:sp>
        <p:nvSpPr>
          <p:cNvPr id="23" name="Text 20"/>
          <p:cNvSpPr txBox="1"/>
          <p:nvPr/>
        </p:nvSpPr>
        <p:spPr>
          <a:xfrm>
            <a:off x="14813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thesis</a:t>
            </a:r>
            <a:endParaRPr lang="en-US" sz="1100" dirty="0"/>
          </a:p>
        </p:txBody>
      </p:sp>
      <p:sp>
        <p:nvSpPr>
          <p:cNvPr id="24" name="Text 21"/>
          <p:cNvSpPr txBox="1"/>
          <p:nvPr/>
        </p:nvSpPr>
        <p:spPr>
          <a:xfrm>
            <a:off x="566928" y="2267712"/>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akkada … anna · present</a:t>
            </a:r>
            <a:endParaRPr lang="en-US" sz="1100" dirty="0"/>
          </a:p>
        </p:txBody>
      </p:sp>
      <p:sp>
        <p:nvSpPr>
          <p:cNvPr id="29" name="Text 26"/>
          <p:cNvSpPr txBox="1"/>
          <p:nvPr/>
        </p:nvSpPr>
        <p:spPr>
          <a:xfrm>
            <a:off x="3657600" y="3004718"/>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البَاحِثُونَ: الإِفْرَاطُ ← التَّرْكِيزُ</a:t>
            </a:r>
            <a:endParaRPr lang="ar-SA" sz="1600" dirty="0"/>
          </a:p>
        </p:txBody>
      </p:sp>
      <p:sp>
        <p:nvSpPr>
          <p:cNvPr id="30" name="Text 27"/>
          <p:cNvSpPr txBox="1"/>
          <p:nvPr/>
        </p:nvSpPr>
        <p:spPr>
          <a:xfrm>
            <a:off x="14813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evidence</a:t>
            </a:r>
            <a:endParaRPr lang="en-US" sz="1100" dirty="0"/>
          </a:p>
        </p:txBody>
      </p:sp>
      <p:sp>
        <p:nvSpPr>
          <p:cNvPr id="31" name="Text 28"/>
          <p:cNvSpPr txBox="1"/>
          <p:nvPr/>
        </p:nvSpPr>
        <p:spPr>
          <a:xfrm>
            <a:off x="566928" y="300471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ṣaḥīḥun anna … ghayra anna</a:t>
            </a:r>
            <a:endParaRPr lang="en-US" sz="1100" dirty="0"/>
          </a:p>
        </p:txBody>
      </p:sp>
      <p:sp>
        <p:nvSpPr>
          <p:cNvPr id="36" name="Text 33"/>
          <p:cNvSpPr txBox="1"/>
          <p:nvPr/>
        </p:nvSpPr>
        <p:spPr>
          <a:xfrm>
            <a:off x="3657600" y="3741725"/>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تُقَرِّبُ النَّاسَ ✗ ← تَنْشُرُ المَعْلُومَاتِ المُضَلِّلَةَ</a:t>
            </a:r>
            <a:endParaRPr lang="ar-SA" sz="1600" dirty="0"/>
          </a:p>
        </p:txBody>
      </p:sp>
      <p:sp>
        <p:nvSpPr>
          <p:cNvPr id="37" name="Text 34"/>
          <p:cNvSpPr txBox="1"/>
          <p:nvPr/>
        </p:nvSpPr>
        <p:spPr>
          <a:xfrm>
            <a:off x="14813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concession + refutation</a:t>
            </a:r>
            <a:endParaRPr lang="en-US" sz="1100" dirty="0"/>
          </a:p>
        </p:txBody>
      </p:sp>
      <p:sp>
        <p:nvSpPr>
          <p:cNvPr id="38" name="Text 35"/>
          <p:cNvSpPr txBox="1"/>
          <p:nvPr/>
        </p:nvSpPr>
        <p:spPr>
          <a:xfrm>
            <a:off x="566928" y="3741725"/>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 · idhā … sa-</a:t>
            </a:r>
            <a:endParaRPr lang="en-US" sz="1100" dirty="0"/>
          </a:p>
        </p:txBody>
      </p:sp>
      <p:sp>
        <p:nvSpPr>
          <p:cNvPr id="43" name="Text 40"/>
          <p:cNvSpPr txBox="1"/>
          <p:nvPr/>
        </p:nvSpPr>
        <p:spPr>
          <a:xfrm>
            <a:off x="3657600" y="4478731"/>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ضَوَابِطُ حَكِيمَةٌ · اسْتِخْدَامٌ وَاعٍ</a:t>
            </a:r>
            <a:endParaRPr lang="ar-SA" sz="1600" dirty="0"/>
          </a:p>
        </p:txBody>
      </p:sp>
      <p:sp>
        <p:nvSpPr>
          <p:cNvPr id="44" name="Text 41"/>
          <p:cNvSpPr txBox="1"/>
          <p:nvPr/>
        </p:nvSpPr>
        <p:spPr>
          <a:xfrm>
            <a:off x="14813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analysis</a:t>
            </a:r>
            <a:endParaRPr lang="en-US" sz="1100" dirty="0"/>
          </a:p>
        </p:txBody>
      </p:sp>
      <p:sp>
        <p:nvSpPr>
          <p:cNvPr id="45" name="Text 42"/>
          <p:cNvSpPr txBox="1"/>
          <p:nvPr/>
        </p:nvSpPr>
        <p:spPr>
          <a:xfrm>
            <a:off x="566928" y="4478731"/>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wa-bināʾan + an / li-kay</a:t>
            </a:r>
            <a:endParaRPr lang="en-US" sz="1100" dirty="0"/>
          </a:p>
        </p:txBody>
      </p:sp>
      <p:sp>
        <p:nvSpPr>
          <p:cNvPr id="48" name="Text 45"/>
          <p:cNvSpPr txBox="1"/>
          <p:nvPr/>
        </p:nvSpPr>
        <p:spPr>
          <a:xfrm>
            <a:off x="3657600" y="5215738"/>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تَرْبِيَةُ الأَجْيَالِ ← الفَوَائِدُ</a:t>
            </a:r>
            <a:endParaRPr lang="ar-SA" sz="1600" dirty="0"/>
          </a:p>
        </p:txBody>
      </p:sp>
      <p:sp>
        <p:nvSpPr>
          <p:cNvPr id="49" name="Text 46"/>
          <p:cNvSpPr txBox="1"/>
          <p:nvPr/>
        </p:nvSpPr>
        <p:spPr>
          <a:xfrm>
            <a:off x="14813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50" name="Text 47"/>
          <p:cNvSpPr txBox="1"/>
          <p:nvPr/>
        </p:nvSpPr>
        <p:spPr>
          <a:xfrm>
            <a:off x="566928" y="521573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Notes, not sentences: four minutes. Then write paragraph by paragraph, ticking the Range column.</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CHOOSE YOUR ESSAY · PLAN 4 + WRITE 21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your essay and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مَقَالَكَ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90–110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Any essay, with the essay skeleton frames: thesis · evidence · concession–refutation · conclusion.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Fill the frames, then add one sentence of your own to each paragraph.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Any essay with the full architecture and one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Plan 4 min · write 21 min · leave 2 min to check every -a.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Any essay with the full architecture, BOTH conditionals and two triggers.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Choose the topic whose vocabulary you know best. Check ṣaḥīḥun anna + -u.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ESSAY 1 — HEALTH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Essay 1 — Mental vs physical health</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الصِّحَّةُ النَّفْسِيَّةُ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51790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5179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ESSAY 1 · HEALTH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argumentative essay (130–150 words): “</a:t>
            </a:r>
            <a:pPr algn="l" indent="0" marL="0">
              <a:buNone/>
            </a:pPr>
            <a:r>
              <a:rPr lang="ar-SA" altLang="en-US" sz="1750" b="1" dirty="0">
                <a:solidFill>
                  <a:srgbClr val="1F2A37"/>
                </a:solidFill>
                <a:latin typeface="Amiri" pitchFamily="2" charset="-78"/>
                <a:ea typeface="Amiri" pitchFamily="2" charset="-78"/>
                <a:cs typeface="Amiri" pitchFamily="2" charset="-78"/>
              </a:rPr>
              <a:t>الصِّحَّةُ النَّفْسِيَّةُ أَهَمُّ مِنَ الصِّحَّةِ الجَسَدِيَّةِ</a:t>
            </a:r>
            <a:pPr algn="l" indent="0" marL="0">
              <a:buNone/>
            </a:pPr>
            <a:r>
              <a:rPr lang="en-US" sz="1350" b="1" dirty="0">
                <a:solidFill>
                  <a:srgbClr val="1F2A37"/>
                </a:solidFill>
                <a:latin typeface="Calibri" pitchFamily="34" charset="0"/>
                <a:cs typeface="Amiri" pitchFamily="2" charset="-78"/>
              </a:rPr>
              <a:t> — </a:t>
            </a:r>
            <a:pPr algn="l" indent="0" marL="0">
              <a:buNone/>
            </a:pPr>
            <a:r>
              <a:rPr lang="ar-SA" altLang="en-US" sz="1750" b="1" dirty="0">
                <a:solidFill>
                  <a:srgbClr val="1F2A37"/>
                </a:solidFill>
                <a:latin typeface="Amiri" pitchFamily="2" charset="-78"/>
                <a:ea typeface="Amiri" pitchFamily="2" charset="-78"/>
                <a:cs typeface="Amiri" pitchFamily="2" charset="-78"/>
              </a:rPr>
              <a:t>هَلْ تُوَافِقُ؟</a:t>
            </a:r>
            <a:pPr algn="l" indent="0" marL="0">
              <a:buNone/>
            </a:pPr>
            <a:r>
              <a:rPr lang="en-US" sz="1350" b="1" dirty="0">
                <a:solidFill>
                  <a:srgbClr val="1F2A37"/>
                </a:solidFill>
                <a:latin typeface="Calibri" pitchFamily="34" charset="0"/>
                <a:cs typeface="Amiri" pitchFamily="2" charset="-78"/>
              </a:rPr>
              <a:t>” Use the full architecture.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clear thesis stating your 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Cited evidence (</a:t>
            </a:r>
            <a:pPr algn="l" indent="0" marL="0">
              <a:buNone/>
            </a:pPr>
            <a:r>
              <a:rPr lang="ar-SA" altLang="en-US" sz="1550" dirty="0">
                <a:solidFill>
                  <a:srgbClr val="1F2A37"/>
                </a:solidFill>
                <a:latin typeface="Amiri" pitchFamily="2" charset="-78"/>
                <a:ea typeface="Amiri" pitchFamily="2" charset="-78"/>
                <a:cs typeface="Amiri" pitchFamily="2" charset="-78"/>
              </a:rPr>
              <a:t>أَكَّدَ … أَنَّ</a:t>
            </a:r>
            <a:pPr algn="l" indent="0" marL="0">
              <a:buNone/>
            </a:pPr>
            <a:r>
              <a:rPr lang="en-US" sz="1200" dirty="0">
                <a:solidFill>
                  <a:srgbClr val="1F2A37"/>
                </a:solidFill>
                <a:latin typeface="Calibri" pitchFamily="34" charset="0"/>
                <a:cs typeface="Amiri" pitchFamily="2" charset="-78"/>
              </a:rPr>
              <a:t>) and a concession (</a:t>
            </a:r>
            <a:pPr algn="l" indent="0" marL="0">
              <a:buNone/>
            </a:pPr>
            <a:r>
              <a:rPr lang="ar-SA" altLang="en-US" sz="1550" dirty="0">
                <a:solidFill>
                  <a:srgbClr val="1F2A37"/>
                </a:solidFill>
                <a:latin typeface="Amiri" pitchFamily="2" charset="-78"/>
                <a:ea typeface="Amiri" pitchFamily="2" charset="-78"/>
                <a:cs typeface="Amiri" pitchFamily="2" charset="-78"/>
              </a:rPr>
              <a:t>صَحِيحٌ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refutation (</a:t>
            </a:r>
            <a:pPr algn="l" indent="0" marL="0">
              <a:buNone/>
            </a:pPr>
            <a:r>
              <a:rPr lang="ar-SA" altLang="en-US" sz="1550" dirty="0">
                <a:solidFill>
                  <a:srgbClr val="1F2A37"/>
                </a:solidFill>
                <a:latin typeface="Amiri" pitchFamily="2" charset="-78"/>
                <a:ea typeface="Amiri" pitchFamily="2" charset="-78"/>
                <a:cs typeface="Amiri" pitchFamily="2" charset="-78"/>
              </a:rPr>
              <a:t>غَيْرَ أَنَّ</a:t>
            </a:r>
            <a:pPr algn="l" indent="0" marL="0">
              <a:buNone/>
            </a:pPr>
            <a:r>
              <a:rPr lang="en-US" sz="1200" dirty="0">
                <a:solidFill>
                  <a:srgbClr val="1F2A37"/>
                </a:solidFill>
                <a:latin typeface="Calibri" pitchFamily="34" charset="0"/>
                <a:cs typeface="Amiri" pitchFamily="2" charset="-78"/>
              </a:rPr>
              <a:t>) and a Type 2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conclusion (</a:t>
            </a:r>
            <a:pPr algn="l" indent="0" marL="0">
              <a:buNone/>
            </a:pPr>
            <a:r>
              <a:rPr lang="ar-SA" altLang="en-US" sz="1550" dirty="0">
                <a:solidFill>
                  <a:srgbClr val="1F2A37"/>
                </a:solidFill>
                <a:latin typeface="Amiri" pitchFamily="2" charset="-78"/>
                <a:ea typeface="Amiri" pitchFamily="2" charset="-78"/>
                <a:cs typeface="Amiri" pitchFamily="2" charset="-78"/>
              </a:rPr>
              <a:t>وَبِنَاءً عَلَى مَا سَبَقَ</a:t>
            </a:r>
            <a:pPr algn="l" indent="0" marL="0">
              <a:buNone/>
            </a:pPr>
            <a:r>
              <a:rPr lang="en-US" sz="1200" dirty="0">
                <a:solidFill>
                  <a:srgbClr val="1F2A37"/>
                </a:solidFill>
                <a:latin typeface="Calibri" pitchFamily="34" charset="0"/>
                <a:cs typeface="Amiri" pitchFamily="2" charset="-78"/>
              </a:rPr>
              <a:t>)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تَقِلُّ أَهَمِّيَّةً عَنِ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no less important than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التَّوَتُّرَ المُزْمِنَ يُضْعِفُ المَنَاعَةَ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chronic stress weakens immunity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إِهْمَالَ النَّفْسِ</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neglecting the mind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لَقَلَّتْ حَالَاتُ الاحْتِرَاقِ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burnout cases would have fallen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 نُولِيَ … العِنَايَةَ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we give … care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ESSAY 2 — EDUCATION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Essay 2 — Is university still necessary?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التَّعْلِيمُ الجَامِعِيُّ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ESSAY 2 · EDUCATION</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argumentative essay (130–150 words): “</a:t>
            </a:r>
            <a:pPr algn="l" indent="0" marL="0">
              <a:buNone/>
            </a:pPr>
            <a:r>
              <a:rPr lang="ar-SA" altLang="en-US" sz="1750" b="1" dirty="0">
                <a:solidFill>
                  <a:srgbClr val="1F2A37"/>
                </a:solidFill>
                <a:latin typeface="Amiri" pitchFamily="2" charset="-78"/>
                <a:ea typeface="Amiri" pitchFamily="2" charset="-78"/>
                <a:cs typeface="Amiri" pitchFamily="2" charset="-78"/>
              </a:rPr>
              <a:t>التَّعْلِيمُ الجَامِعِيُّ لَمْ يَعُدْ ضَرُورِيًّا لِلنَّجَاحِ فِي عَالَمِ اليَوْمِ</a:t>
            </a:r>
            <a:pPr algn="l" indent="0" marL="0">
              <a:buNone/>
            </a:pPr>
            <a:r>
              <a:rPr lang="en-US" sz="1350" b="1" dirty="0">
                <a:solidFill>
                  <a:srgbClr val="1F2A37"/>
                </a:solidFill>
                <a:latin typeface="Calibri" pitchFamily="34" charset="0"/>
                <a:cs typeface="Amiri" pitchFamily="2" charset="-78"/>
              </a:rPr>
              <a:t> — </a:t>
            </a:r>
            <a:pPr algn="l" indent="0" marL="0">
              <a:buNone/>
            </a:pPr>
            <a:r>
              <a:rPr lang="ar-SA" altLang="en-US" sz="1750" b="1" dirty="0">
                <a:solidFill>
                  <a:srgbClr val="1F2A37"/>
                </a:solidFill>
                <a:latin typeface="Amiri" pitchFamily="2" charset="-78"/>
                <a:ea typeface="Amiri" pitchFamily="2" charset="-78"/>
                <a:cs typeface="Amiri" pitchFamily="2" charset="-78"/>
              </a:rPr>
              <a:t>هَلْ تُوَافِقُ؟</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concession (</a:t>
            </a:r>
            <a:pPr algn="l" indent="0" marL="0">
              <a:buNone/>
            </a:pPr>
            <a:r>
              <a:rPr lang="ar-SA" altLang="en-US" sz="1550" dirty="0">
                <a:solidFill>
                  <a:srgbClr val="1F2A37"/>
                </a:solidFill>
                <a:latin typeface="Amiri" pitchFamily="2" charset="-78"/>
                <a:ea typeface="Amiri" pitchFamily="2" charset="-78"/>
                <a:cs typeface="Amiri" pitchFamily="2" charset="-78"/>
              </a:rPr>
              <a:t>صَحِيحٌ أَنَّ</a:t>
            </a:r>
            <a:pPr algn="l" indent="0" marL="0">
              <a:buNone/>
            </a:pPr>
            <a:r>
              <a:rPr lang="en-US" sz="1200" dirty="0">
                <a:solidFill>
                  <a:srgbClr val="1F2A37"/>
                </a:solidFill>
                <a:latin typeface="Calibri" pitchFamily="34" charset="0"/>
                <a:cs typeface="Amiri" pitchFamily="2" charset="-78"/>
              </a:rPr>
              <a:t>) answered by a refutation (</a:t>
            </a:r>
            <a:pPr algn="l" indent="0" marL="0">
              <a:buNone/>
            </a:pPr>
            <a:r>
              <a:rPr lang="ar-SA" altLang="en-US" sz="1550" dirty="0">
                <a:solidFill>
                  <a:srgbClr val="1F2A37"/>
                </a:solidFill>
                <a:latin typeface="Amiri" pitchFamily="2" charset="-78"/>
                <a:ea typeface="Amiri" pitchFamily="2" charset="-78"/>
                <a:cs typeface="Amiri" pitchFamily="2" charset="-78"/>
              </a:rPr>
              <a:t>غَيْرَ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Both a Type 1 and a Type 2 conditional if you can.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يَزَالُ رَكِيزَةً مُهِمَّةً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still an important pillar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رُوَّادِ الأَعْمَالِ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entrepreneurs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تُبْنَى إِلَّا بِـ…</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are only built through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تَرْفَعُ فُرَصَ التَّوْظِيفِ</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raises employment chances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أَنْ نَسْتَغْنِيَ عَنْهُ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do without 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ESSAY 3 — SOCIAL ISSUES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Essay 3 — Social media: more good than harm?</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وَسَائِلُ التَّوَاصُلِ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ESSAY 3 · SOCIAL ISSUES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argumentative essay (130–150 words): “</a:t>
            </a:r>
            <a:pPr algn="l" indent="0" marL="0">
              <a:buNone/>
            </a:pPr>
            <a:r>
              <a:rPr lang="ar-SA" altLang="en-US" sz="1750" b="1" dirty="0">
                <a:solidFill>
                  <a:srgbClr val="1F2A37"/>
                </a:solidFill>
                <a:latin typeface="Amiri" pitchFamily="2" charset="-78"/>
                <a:ea typeface="Amiri" pitchFamily="2" charset="-78"/>
                <a:cs typeface="Amiri" pitchFamily="2" charset="-78"/>
              </a:rPr>
              <a:t>وَسَائِلُ التَّوَاصُلِ الاجْتِمَاعِيِّ تُفِيدُ المُجْتَمَعَاتِ أَكْثَرَ مِمَّا تَضُرُّهَا</a:t>
            </a:r>
            <a:pPr algn="l" indent="0" marL="0">
              <a:buNone/>
            </a:pPr>
            <a:r>
              <a:rPr lang="en-US" sz="1350" b="1" dirty="0">
                <a:solidFill>
                  <a:srgbClr val="1F2A37"/>
                </a:solidFill>
                <a:latin typeface="Calibri" pitchFamily="34" charset="0"/>
                <a:cs typeface="Amiri" pitchFamily="2" charset="-78"/>
              </a:rPr>
              <a:t> — </a:t>
            </a:r>
            <a:pPr algn="l" indent="0" marL="0">
              <a:buNone/>
            </a:pPr>
            <a:r>
              <a:rPr lang="ar-SA" altLang="en-US" sz="1750" b="1" dirty="0">
                <a:solidFill>
                  <a:srgbClr val="1F2A37"/>
                </a:solidFill>
                <a:latin typeface="Amiri" pitchFamily="2" charset="-78"/>
                <a:ea typeface="Amiri" pitchFamily="2" charset="-78"/>
                <a:cs typeface="Amiri" pitchFamily="2" charset="-78"/>
              </a:rPr>
              <a:t>هَلْ تُوَافِقُ؟</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concession (</a:t>
            </a:r>
            <a:pPr algn="l" indent="0" marL="0">
              <a:buNone/>
            </a:pPr>
            <a:r>
              <a:rPr lang="ar-SA" altLang="en-US" sz="1550" dirty="0">
                <a:solidFill>
                  <a:srgbClr val="1F2A37"/>
                </a:solidFill>
                <a:latin typeface="Amiri" pitchFamily="2" charset="-78"/>
                <a:ea typeface="Amiri" pitchFamily="2" charset="-78"/>
                <a:cs typeface="Amiri" pitchFamily="2" charset="-78"/>
              </a:rPr>
              <a:t>صَحِيحٌ أَنَّ</a:t>
            </a:r>
            <a:pPr algn="l" indent="0" marL="0">
              <a:buNone/>
            </a:pPr>
            <a:r>
              <a:rPr lang="en-US" sz="1200" dirty="0">
                <a:solidFill>
                  <a:srgbClr val="1F2A37"/>
                </a:solidFill>
                <a:latin typeface="Calibri" pitchFamily="34" charset="0"/>
                <a:cs typeface="Amiri" pitchFamily="2" charset="-78"/>
              </a:rPr>
              <a:t>) and a refutation (</a:t>
            </a:r>
            <a:pPr algn="l" indent="0" marL="0">
              <a:buNone/>
            </a:pPr>
            <a:r>
              <a:rPr lang="ar-SA" altLang="en-US" sz="1550" dirty="0">
                <a:solidFill>
                  <a:srgbClr val="1F2A37"/>
                </a:solidFill>
                <a:latin typeface="Amiri" pitchFamily="2" charset="-78"/>
                <a:ea typeface="Amiri" pitchFamily="2" charset="-78"/>
                <a:cs typeface="Amiri" pitchFamily="2" charset="-78"/>
              </a:rPr>
              <a:t>غَيْرَ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subjunctive trigger and a Type 2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سِلَاحٌ ذُو حَدَّيْنِ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double-edged sword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تُقَرِّبُ النَّاسَ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brings people closer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المَعْلُومَاتِ المُضَلِّلَةَ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misinformation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وُضِعَتْ ضَوَابِطُ حَكِيمَةٌ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had wise controls been set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لِكَيْ نَجْنِيَ فَوَائِدَهَا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that we reap its benefits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SUPPORT · THE ESSAY SKELETON (CORE) AND UPGRADES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Essay skeleton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هَيْكَلُ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______ مُبَكِّرًا، لَكَانَ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 been …, … would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______ ، سَيَكُونُ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 …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لَا يَقِلُّ أَهَمِّيَّةً عَنْ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no less important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لِكَيْ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so that we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يُشَارُ إِلَى أَنَّ ______ أَكْثَرَ مِمَّا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P1 · It is noted that … more than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أَكَّدَ البَاحِثُونَ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P2 · Researchers confirmed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صَحِيحٌ أَنَّ ______ ، غَيْرَ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P3 · It is true that …; however,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وَبِنَاءً عَلَى مَا سَبَقَ، يَتَطَلَّبُ الأَمْرُ أَنْ ______ .</a:t>
            </a:r>
            <a:endParaRPr lang="ar-SA" sz="16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P4 · Based on the above, … requires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الصِّحَّةَ النَّفْسِيَّةَ  ·  التَّعْلِيمَ الجَامِعِيَّ  ·  وَسَائِلَ التَّوَاصُلِ  ·  سِلَاحٌ ذُو حَدَّيْنِ  ·  يُضْعِفُ التَّرْكِيزَ  ·  فُرَصَ التَّوْظِيفِ  ·  الدَّعْمِ النَّفْسِيِّ  ·  المَعْلُومَاتِ المُضَلِّلَةَ  ·  نُطَوِّرَ  ·  نُولِيَ … العِنَايَةَ  ·  نَجْنِيَ فَوَائِدَهَا  ·  الاسْتِخْدَامِ المَسْؤُولِ</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ESSAY 1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يُشَارُ إِلَى أَنَّ الصِّحَّةَ النَّفْسِيَّةَ لَا تَقِلُّ أَهَمِّيَّةً عَنِ الصِّحَّةِ الجَسَدِيَّةِ. أَكَّدَ البَاحِثُونَ أَنَّ التَّوَتُّرَ المُزْمِنَ يُضْعِفُ المَنَاعَةَ وَيُؤَثِّرُ فِي الجَسَدِ. صَحِيحٌ أَنَّ الجَسَدَ يَحْتَاجُ إِلَى رِعَايَةٍ، غَيْرَ أَنَّ إِهْمَالَ النَّفْسِ يَهْدِمُ الصِّحَّةَ كُلَّهَا. وَلَوِ اهْتَمَّتِ المَدَارِسُ بِالدَّعْمِ النَّفْسِيِّ مُبَكِّرًا، لَقَلَّتْ حَالَاتُ الاحْتِرَاقِ. وَإِذَا وَازَنَ الإِنْسَانُ بَيْنَ الجَسَدِ وَالنَّفْسِ، عَاشَ حَيَاةً أَفْضَلَ. وَبِنَاءً عَلَى مَا سَبَقَ، يَتَطَلَّبُ الأَمْرُ أَنْ نُولِيَ الصِّحَّةَ النَّفْسِيَّةَ العِنَايَةَ الَّتِي تَسْتَحِقُّهَا.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noted that mental health is no less important than physical health. Researchers have confirmed that chronic stress weakens immunity and affects the body. It is true that the body needs care; however, neglecting the mind destroys health as a whole. Had schools cared about psychological support early, cases of burnout would have fallen. When a person balances body and mind, they live a better life. Based on the above, the matter requires us to give mental health the care it deserves.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thesis (yushāru ilā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evidence (akkada …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 … ghayra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 · wa-bināʾan +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ESSAY 2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يُشَارُ إِلَى أَنَّ التَّعْلِيمَ الجَامِعِيَّ لَا يَزَالُ رَكِيزَةً مُهِمَّةً لِلنَّجَاحِ. صَحِيحٌ أَنَّ بَعْضَ رُوَّادِ الأَعْمَالِ نَجَحُوا دُونَ شَهَادَةٍ، غَيْرَ أَنَّ الأَغْلَبِيَّةَ تَحْتَاجُ إِلَى مَهَارَاتٍ لَا تُبْنَى إِلَّا بِالتَّعَلُّمِ المُنَظَّمِ. أَكَّدَ خُبَرَاءُ سُوقِ العَمَلِ أَنَّ المَعْرِفَةَ المُتَخَصِّصَةَ تَرْفَعُ فُرَصَ التَّوْظِيفِ. وَإِذَا طَوَّرَتِ الجَامِعَاتُ مَنَاهِجَهَا، سَيَزْدَادُ ارْتِبَاطُهَا بِالوَاقِعِ. وَلَوِ اقْتَصَرْنَا عَلَى المَهَارَاتِ الذَّاتِيَّةِ وَحْدَهَا، لَحُرِمَ كَثِيرُونَ مِنْ فُرَصٍ عَادِلَةٍ. وَبِنَاءً عَلَى مَا سَبَقَ، يَنْبَغِي أَنْ نُطَوِّرَ التَّعْلِيمَ لَا أَنْ نَسْتَغْنِيَ عَنْهُ.</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noted that university education is still an important pillar of success. It is true that some entrepreneurs have succeeded without a degree; however, the majority need skills that are only built through organised learning. Labour-market experts have confirmed that specialised knowledge raises employment chances. If universities develop their curricula, their link with reality will grow. Had we relied on self-taught skills alone, many would have been deprived of fair opportunities. Based on the above, we should develop education, not do without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thesis + concession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expert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sa- ·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yanbaghī an … lā an …</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ESSAY 3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يُشَارُ إِلَى أَنَّ وَسَائِلَ التَّوَاصُلِ الاجْتِمَاعِيِّ سِلَاحٌ ذُو حَدَّيْنِ. صَحِيحٌ أَنَّهَا تُقَرِّبُ النَّاسَ وَتَنْشُرُ المَعْرِفَةَ، غَيْرَ أَنَّهَا تُعَمِّقُ الفَجْوَةَ وَتَنْشُرُ المَعْلُومَاتِ المُضَلِّلَةَ. أَكَّدَ البَاحِثُونَ أَنَّ الإِفْرَاطَ فِيهَا يُضْعِفُ التَّرْكِيزَ. وَلَوْ وُضِعَتْ ضَوَابِطُ حَكِيمَةٌ، لَتَقَلَّصَتِ الأَضْرَارُ. وَإِذَا اسْتَخْدَمْنَاهَا بِوَعْيٍ، سَتُصْبِحُ أَدَاةً لِلْبِنَاءِ. وَبِنَاءً عَلَى مَا سَبَقَ، يَتَطَلَّبُ الأَمْرُ أَنْ نُرَبِّيَ الأَجْيَالَ عَلَى الاسْتِخْدَامِ المَسْؤُولِ لِكَيْ نَجْنِيَ فَوَائِدَهَا وَنَتَجَنَّبَ مَخَاطِرَهَا.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noted that social media is a double-edged sword. It is true that it brings people closer and spreads knowledge; however, it deepens the gap and spreads misinformation. Researchers have confirmed that excessive use weakens concentration. Had wise controls been put in place, the harm would have shrunk. If we use it consciously, it will become a tool for building. Based on the above, the matter requires us to raise generations on responsible use so that we reap its benefits and avoid its dangers.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thesis image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ṣaḥīḥun anna-hā … ghayra anna-hā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passive law wuḍiʿat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 li-kay: three verbs in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WRITING PERFORMANCE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Writing performance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77316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TC 4/5 · Range 3/5 · Accuracy 3/5</a:t>
            </a:r>
            <a:endParaRPr lang="en-US" sz="1100" dirty="0"/>
          </a:p>
        </p:txBody>
      </p:sp>
      <p:sp>
        <p:nvSpPr>
          <p:cNvPr id="22" name="Text 19"/>
          <p:cNvSpPr txBox="1"/>
          <p:nvPr/>
        </p:nvSpPr>
        <p:spPr>
          <a:xfrm>
            <a:off x="566928"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best essay today (TC / Range / Accuracy out of 5 each)</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477316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concession–refutation</a:t>
            </a:r>
            <a:endParaRPr lang="en-US" sz="1100" dirty="0"/>
          </a:p>
        </p:txBody>
      </p:sp>
      <p:sp>
        <p:nvSpPr>
          <p:cNvPr id="26" name="Text 23"/>
          <p:cNvSpPr txBox="1"/>
          <p:nvPr/>
        </p:nvSpPr>
        <p:spPr>
          <a:xfrm>
            <a:off x="566928"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TC element</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477316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second conditional</a:t>
            </a:r>
            <a:endParaRPr lang="en-US" sz="1100" dirty="0"/>
          </a:p>
        </p:txBody>
      </p:sp>
      <p:sp>
        <p:nvSpPr>
          <p:cNvPr id="30" name="Text 27"/>
          <p:cNvSpPr txBox="1"/>
          <p:nvPr/>
        </p:nvSpPr>
        <p:spPr>
          <a:xfrm>
            <a:off x="566928"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weakest Range marker</a:t>
            </a:r>
            <a:endParaRPr lang="en-US" sz="11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77316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 after an</a:t>
            </a:r>
            <a:endParaRPr lang="en-US" sz="1100" dirty="0"/>
          </a:p>
        </p:txBody>
      </p:sp>
      <p:sp>
        <p:nvSpPr>
          <p:cNvPr id="34" name="Text 31"/>
          <p:cNvSpPr txBox="1"/>
          <p:nvPr/>
        </p:nvSpPr>
        <p:spPr>
          <a:xfrm>
            <a:off x="56692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most common Accuracy error</a:t>
            </a: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Copy your weakest Range marker and your most common Accuracy error under your Paper 4 target.</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EXAM GIVES YOU MORE TIME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Extended-writing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concession–refutation pair</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element I write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architecture element I now write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Type 2 la- result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practice before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the mock I will practise…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بِنْيَةَ المَقَالِ</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now mastered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أُتْقِنُ الآنَ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real exam you have about 35 minutes for Q2 — today’s 25 minutes was the harder version.</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opened with a clear thesis and supported it with cited evidence.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conceded with ṣaḥīḥun anna and refuted with ghayra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closed with wa-bināʾan ʿalā mā sabaqa and a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to 130–150 words and checked accuracy before submitting.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both conditionals and self-marked against TC, Range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P6-L05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P6-L06 · Paper 3 Role Play — Transactional Language at IGCSE Standard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تَمْثِيلُ الدَّوْرِ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role play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الاسْتِجَابَةُ لِلْمُحَفِّزَاتِ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responding to prompts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طَلَبُ المَعْلُومَاتِ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requesting information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التَّفَاوُضُ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negotiation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حَلُّ المُشْكِلَةِ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problem-solving</a:t>
            </a:r>
            <a:pPr indent="0" marL="0">
              <a:buNone/>
            </a:pPr>
            <a:r>
              <a:rPr lang="ar-SA" sz="1000" i="1" dirty="0">
                <a:solidFill>
                  <a:srgbClr val="5A6472"/>
                </a:solidFill>
                <a:latin typeface="Calibri" pitchFamily="34" charset="0"/>
                <a:ea typeface="Amiri" pitchFamily="2" charset="-78"/>
                <a:cs typeface="Amiri" pitchFamily="2" charset="-78"/>
              </a:rPr>
              <a:t>  pl. حُلُولٌ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would you ask politely for an appointment at a health centre?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فَضْلِكَ، أُرِيدُ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Redraft your essay with the model’s phrases;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second essay plan (4 minutes) for another topic;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second essay in 25 minutes;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P6-L06 · Paper 3 Role Play — Transactional Language at IGCSE Standard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الوَرَقَةُ الثَّالِثَةُ — تَمْثِيلُ الدَّوْرِ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plan for four minutes — then thesis → evidence → ṣaḥīḥun anna … ghayra anna → law … la- → wa-bināʾan + -a. 130–150 words; Range without risk.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P6-L05 · Paper 4 Q2 — Extended Writing: Essay Architecture Under Exam Conditions</dc:title>
  <dc:subject>PptxGenJS Presentation</dc:subject>
  <dc:creator>Al Madina Online School · Arabic Department</dc:creator>
  <cp:lastModifiedBy>Al Madina Online School · Arabic Department</cp:lastModifiedBy>
  <cp:revision>1</cp:revision>
  <dcterms:created xsi:type="dcterms:W3CDTF">2026-10-11T06:43:35Z</dcterms:created>
  <dcterms:modified xsi:type="dcterms:W3CDTF">2026-10-11T06:43:35Z</dcterms:modified>
</cp:coreProperties>
</file>