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Map · 2–7 Do Now + answers · 7–8 Objectives · 8–11 From F1 to P6 · 11–17 Name the journey · 17–20 Arabic in the wild · 20–35 Free Arabic (choose A, B or C) · 35–39 The model letter · 39–46 My certificate sentence · 46–50 The road ahead · 50–55 Sharing + the programme is complete · 55–58 Final reflection + self-check · 58–60 Celebration.
FLEX slides are optional. Use them if the class is moving quickly; otherwise the same activities are on the website for homework.
Content source: Miftah Arabic website, Pathways › Progression › P6 IGCSE Bridge › P6-L12. The website P6-L12: the panel “From F1 to P6 — the distance”, the field “Name the journey”, the cards “Arabic in the wild” (conversation · creative · cultural), the free-writing task with the model letter to a future student, the certificate-sentence fields, the cards “The road ahead”, the closing panel and the final reflection.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CELEBRATION LESSON: nothing is marked. The aim is pride and free use of Arabic. Keep the tone warm; praise effort and risk-taking, not accuracy.
• Routes: Core — the journey sentence and a certificate sentence with the frame · Develop — option B or C (a 100-word piece or a three-minute talk) · Stretch — option A, a genuine five-minute conversation entirely in Arabic, plus the free writing.
• Sharing is by invitation only: some students will happily read aloud; others may type their sentence in the chat or send it privately.
• Faith and heritage: for many of our students Arabic is the language of the Qur’an and of their family heritage. Welcome sentences that express this, but never require a personal or religious disclosure.
• Before the lesson: prepare a certificate template so each student’s sentence can be added afterwards.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show the whole journey so students know when they will listen, read, speak or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celebration words prepared at the end of P6-L11. Questions 4–5 look back on the mocks and forward to today’s message.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You are an Arabic speaker — and that does not expire.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Left: the website objectives. Right: the same objectives broken into three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TEACH (3 min) — read the website panel slowly. Pause on the last line: “You are an Arabic speaker — and that does not expire.” If you have a photo or worksheet from F1, show it now.
WEBSITE PANEL “From F1 to P6 — the distance”: In F1 you learned to write the letter ب. Today you can construct a formal Arabic argument in 150 words with conditionals, reported speech, the past perfect, three subjunctive triggers and a concession-refutation architecture. Whatever grade the exam returns, you are not the person who walked into the F1 classroom. You are an Arabic speaker — and that does not expire.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JOURNEY (6 min) — website frame (row 1) plus two teacher rows. Invite three volunteers to read row 1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(3 min) — the website cards with a teacher starter for each. Option A pairs talk on open mic one pair at a time, or record; options B and C work independently. Students type A, B or C in the chat.
WEBSITE CARDS “Arabic in the wild — authentic communication”: A · Conversation: Have a genuine five-minute conversation entirely in Arabic — no topic set, just talk. · B · Creative: Write a 100-word piece of free Arabic: a story opening, a poem, a diary entry, or a letter to a future student. · C · Cultural: Give a three-minute spoken summary of something about the Arab world that genuinely moved or surprised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ARABIC (15 min) — website task, unmarked. Stretch students who chose option A hold their conversation now (teacher listens to one pair at a time); everyone else writes. Circulate and celebrate a good sentence publicly (with permission).
Website task: Write freely in Arabic — a story, a poem, a diary entry, or a letter to a student beginning F1. This is not marked; it is yours.
Website checklist: Write for meaning, not for the mark scheme. · Use the Arabic that feels most yours. · Enjoy how much you can now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(website) — show AFTER students have written. Students find the four items on the chips, then choose ONE thing to add to their own answer.
Read the website model aloud warmly — it is the whole programme in five sentences: a negative imperative (F-level), a concession-refutation (P5), a subjunctive (P4–P5) and a Type 2 conditional (P4). Consider sending the class’s letters to a real F1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CERTIFICATE SENTENCE (7 min) — website fields. Students send the final sentence to the teacher privately; check vowels kindly before it goes on the certificate. Teacher example: “Had I not persevered, I would not have reached here; but I persevered, and Arabic became my language.”
Website: Write the most beautiful, most complete Arabic sentence you can. This is the sentence that goes on your certificate — the proof of three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 AHEAD (4 min) — the website cards. Ask: which door is yours? Students type one word in the chat (exam · A-Level · medicine · translation · travel · Qur’an …). The Qur’an example is offered for students for whom it matters; it is not required.
WEBSITE CARDS “The road ahead — Arabic after P6”: The IGCSE exam: The immediate bridge — sit it with confidence, knowing what three years built. · Further study: A-Level Arabic and university Arabic programmes deepen everything you have begun. · Professional Arabic: Diplomacy, journalism, medicine, business, engineering and translation all open with Arabic. · Personal Arabic: Travel, heritage, cultural engagement and dialogue — Arabic is a key to a world, not a school subject.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PANEL (3 min) — read the website panel; the whole class repeats the two Arabic sentences together (unmuted, all at once — a joyful chorus). Invite volunteers to read their certificate sentence.
WEBSITE PANEL “The programme is complete”: The Cambridge IGCSE Arabic 0544 preparation programme — F1 to P6, 216 lessons — is complete. You can now speak, read, write and listen in Arabic: the language of 400 million people and of a civilisation spanning fourteen centuries.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FINAL REFLECTION (2 min) — website frames plus a teacher frame with masculine and feminine forms (فَخُورٌ / فَخُورَةٌ).
Website:  (The road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the final slide of the programme. Thank the class; if possible, keep the call open a few minutes for goodbyes. After the lesson: add each certificate sentence to the certificates and send them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P6  ·  P6-L12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P6-L12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Celebration — Reflection and the Road Ahead</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الاحْتِفَالُ وَالتَّأَمُّلُ وَالطَّرِيقُ إِلَى الأَمَامِ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Celebrate three years of Arabic: measure the distance from the first letter to the formal argument, produce free Arabic with no mark scheme, write your certificate sentence, and look at the doors Arabic opens next.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P6-L12 · Progression P6 · IGCSE Bridge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P6 › P6-L12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P6-L12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P6-L12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P6-L12</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celebration words.</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From F1 to P6 — name the journey.</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الرِّحْلَةُ</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Arabic in the wild: free Arabic, your choice.</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تَحَدَّثْ وَاكْتُبْ</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My certificate sentence.</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جُمْلَتِي</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road ahead, sharing, final reflection.</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التَّأَمُّلُ</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Celebrate!</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أَحْسَنْتُمْ</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This is an exam-preparation lesson. Every task uses the real IGCSE format — Core students use the green boxes, frames and English support; nobody is expected to get everything right first time.</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P6-L12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الإِنْجَازُ</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celebration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achievement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ambition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الطُّمُوحُ</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ambition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journey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road ahead</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الطَّرِيقُ إِلَى الأَمَامِ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road behind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long road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road ahead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IGCSE papers did you sit as mocks?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العَرَبِيَّةُ الآنَ لَكَ</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is now yours.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is now difficult.</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is for later.</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P6-L12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الإِنْجَازُ</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celebration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achievement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ambition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(P6-L11).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الطُّمُوحُ</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ambition</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journey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road ahead</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(P6-L11).</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الطَّرِيقُ إِلَى الأَمَامِ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road behind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long road</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road ahead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(P6-L11).</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IGCSE papers did you sit as mocks?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four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Listening · Reading · Speaking · Writing (P6-L08 to P6-L10).</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العَرَبِيَّةُ الآنَ لَكَ</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Arabic is now yours.</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 is now difficult.</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 is for later.</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last line of today’s model letter.</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You are an Arabic speaker — and that does not expire.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العَرَبِيَّةُ الآنَ لَكَ.</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P6-L12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Celebrate completing the full three-year IGCSE Arabic 0544 preparation programme.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Reflect on your linguistic journey from F1 to P6.</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Produce free, authentic Arabic communication.</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Look ahead to the exam and to Arabic beyond it.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how far I have come in Arabic.</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my proudest Arabic sentence.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write or speak freely for one of the three options.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name the structures in my sentence.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hold a five-minute conversation in Arabic, without a script.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name the doors Arabic opens next.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P6-L12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THEN · NOW · DISTANCE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From F1 to P6 — the distance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المَسَافَةُ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WHAT YOU NEED TO KNOW</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1984248"/>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In F1 you learned to write the letter </a:t>
            </a:r>
            <a:pPr algn="l" indent="0" marL="0">
              <a:buNone/>
            </a:pPr>
            <a:r>
              <a:rPr lang="ar-SA" altLang="en-US" sz="1700" dirty="0">
                <a:solidFill>
                  <a:srgbClr val="1F2A37"/>
                </a:solidFill>
                <a:latin typeface="Amiri" pitchFamily="2" charset="-78"/>
                <a:ea typeface="Amiri" pitchFamily="2" charset="-78"/>
                <a:cs typeface="Amiri" pitchFamily="2" charset="-78"/>
              </a:rPr>
              <a:t>ب</a:t>
            </a:r>
            <a:pPr algn="l" indent="0" marL="0">
              <a:buNone/>
            </a:pPr>
            <a:r>
              <a:rPr lang="en-US" sz="1300" dirty="0">
                <a:solidFill>
                  <a:srgbClr val="1F2A37"/>
                </a:solidFill>
                <a:latin typeface="Calibri" pitchFamily="34" charset="0"/>
                <a:cs typeface="Amiri" pitchFamily="2" charset="-78"/>
              </a:rPr>
              <a:t>. Today you can construct a formal Arabic argument in 150 words with conditionals, reported speech, the past perfect, three subjunctive triggers and a concession-refutation architecture.</a:t>
            </a:r>
            <a:endParaRPr lang="en-US" sz="1300" dirty="0"/>
          </a:p>
        </p:txBody>
      </p:sp>
      <p:sp>
        <p:nvSpPr>
          <p:cNvPr id="20" name="Shape 17"/>
          <p:cNvSpPr/>
          <p:nvPr/>
        </p:nvSpPr>
        <p:spPr>
          <a:xfrm>
            <a:off x="658368" y="4306824"/>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4197096"/>
            <a:ext cx="5394960" cy="1984248"/>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Whatever grade the exam returns, you are not the person who walked into the F1 classroom. You are an Arabic speaker — and that does not expire.</a:t>
            </a:r>
            <a:endParaRPr lang="en-US" sz="1300" dirty="0"/>
          </a:p>
        </p:txBody>
      </p:sp>
      <p:sp>
        <p:nvSpPr>
          <p:cNvPr id="23" name="Shape 20"/>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THEN → NOW</a:t>
            </a:r>
            <a:endParaRPr lang="en-US" sz="1000" dirty="0"/>
          </a:p>
        </p:txBody>
      </p:sp>
      <p:sp>
        <p:nvSpPr>
          <p:cNvPr id="25" name="Text 22"/>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بَ</a:t>
            </a:r>
            <a:endParaRPr lang="ar-SA" sz="2800" dirty="0"/>
          </a:p>
        </p:txBody>
      </p:sp>
      <p:sp>
        <p:nvSpPr>
          <p:cNvPr id="26" name="Text 23"/>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F1 — the first letter you wrote</a:t>
            </a:r>
            <a:endParaRPr lang="en-US" sz="1100" dirty="0"/>
          </a:p>
        </p:txBody>
      </p:sp>
      <p:sp>
        <p:nvSpPr>
          <p:cNvPr id="27" name="Shape 24"/>
          <p:cNvSpPr/>
          <p:nvPr/>
        </p:nvSpPr>
        <p:spPr>
          <a:xfrm>
            <a:off x="6995160" y="4215384"/>
            <a:ext cx="4553712" cy="0"/>
          </a:xfrm>
          <a:prstGeom prst="line">
            <a:avLst/>
          </a:prstGeom>
          <a:noFill/>
          <a:ln w="9525">
            <a:solidFill>
              <a:srgbClr val="E4DCCB"/>
            </a:solidFill>
            <a:prstDash val="dash"/>
          </a:ln>
        </p:spPr>
      </p:sp>
      <p:sp>
        <p:nvSpPr>
          <p:cNvPr id="28" name="Text 25"/>
          <p:cNvSpPr txBox="1"/>
          <p:nvPr/>
        </p:nvSpPr>
        <p:spPr>
          <a:xfrm>
            <a:off x="6949440" y="4233672"/>
            <a:ext cx="4645152" cy="1141903"/>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صَحِيحٌ أَنَّ الطَّرِيقَ طَوِيلٌ، غَيْرَ أَنَّهُ يَسْتَحِقُّ كُلَّ جُهْدٍ.</a:t>
            </a:r>
            <a:endParaRPr lang="ar-SA" sz="2200" dirty="0"/>
          </a:p>
        </p:txBody>
      </p:sp>
      <p:sp>
        <p:nvSpPr>
          <p:cNvPr id="29" name="Text 26"/>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P6 — “It is true that the road is long; however, it is worth every effort.”</a:t>
            </a:r>
            <a:endParaRPr lang="en-US" sz="11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P6-L12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THEN → NOW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Name the journey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سَمِّ الرِّحْلَةَ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4283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Yours</a:t>
            </a:r>
            <a:endParaRPr lang="en-US" sz="1100" dirty="0"/>
          </a:p>
        </p:txBody>
      </p:sp>
      <p:sp>
        <p:nvSpPr>
          <p:cNvPr id="17" name="Text 14"/>
          <p:cNvSpPr txBox="1"/>
          <p:nvPr/>
        </p:nvSpPr>
        <p:spPr>
          <a:xfrm>
            <a:off x="382219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Name the journey</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979408" y="2267712"/>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1" name="Text 18"/>
          <p:cNvSpPr txBox="1"/>
          <p:nvPr/>
        </p:nvSpPr>
        <p:spPr>
          <a:xfrm>
            <a:off x="3840480" y="2267712"/>
            <a:ext cx="493776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فِي الصَّفِّ الأَوَّلِ كُنْتُ لَا أَقْرَأُ حَرْفًا، أَمَّا اليَوْمَ فَأَسْتَطِيعُ أَنْ أَكْتُبَ مَقَالًا.</a:t>
            </a:r>
            <a:endParaRPr lang="ar-SA" sz="1500" dirty="0"/>
          </a:p>
        </p:txBody>
      </p:sp>
      <p:sp>
        <p:nvSpPr>
          <p:cNvPr id="22" name="Text 19"/>
          <p:cNvSpPr txBox="1"/>
          <p:nvPr/>
        </p:nvSpPr>
        <p:spPr>
          <a:xfrm>
            <a:off x="56692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F1 I was… but today I can…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979408" y="3054096"/>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7" name="Text 24"/>
          <p:cNvSpPr txBox="1"/>
          <p:nvPr/>
        </p:nvSpPr>
        <p:spPr>
          <a:xfrm>
            <a:off x="3858768" y="3054096"/>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first time I read a whole sentence aloud</a:t>
            </a:r>
            <a:endParaRPr lang="en-US" sz="1100" dirty="0"/>
          </a:p>
        </p:txBody>
      </p:sp>
      <p:sp>
        <p:nvSpPr>
          <p:cNvPr id="28" name="Text 25"/>
          <p:cNvSpPr txBox="1"/>
          <p:nvPr/>
        </p:nvSpPr>
        <p:spPr>
          <a:xfrm>
            <a:off x="56692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lesson or moment I remember most</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979408" y="3840480"/>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1" name="Text 28"/>
          <p:cNvSpPr txBox="1"/>
          <p:nvPr/>
        </p:nvSpPr>
        <p:spPr>
          <a:xfrm>
            <a:off x="3858768" y="3840480"/>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Type 2 conditional (lau … la-)</a:t>
            </a:r>
            <a:endParaRPr lang="en-US" sz="1100" dirty="0"/>
          </a:p>
        </p:txBody>
      </p:sp>
      <p:sp>
        <p:nvSpPr>
          <p:cNvPr id="32" name="Text 29"/>
          <p:cNvSpPr txBox="1"/>
          <p:nvPr/>
        </p:nvSpPr>
        <p:spPr>
          <a:xfrm>
            <a:off x="56692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structure I am proudest of now</a:t>
            </a:r>
            <a:endParaRPr lang="en-US" sz="11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Row 1 is the website frame — write it in Arabic. Rows 2–3 can be in English.</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P6-L12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CHOOSE ONE · SPEAK OR WRITE FREELY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Arabic in the wild — authentic communication</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العَرَبِيَّةُ فِي الحَيَاةِ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P6-L12</a:t>
            </a:r>
            <a:endParaRPr lang="en-US" sz="850" dirty="0"/>
          </a:p>
        </p:txBody>
      </p:sp>
      <p:sp>
        <p:nvSpPr>
          <p:cNvPr id="15" name="Shape 12"/>
          <p:cNvSpPr/>
          <p:nvPr/>
        </p:nvSpPr>
        <p:spPr>
          <a:xfrm>
            <a:off x="457200" y="1810512"/>
            <a:ext cx="60350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66928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ARABIC IN THE WILD — AUTHENTIC COMMUNICATION</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257800" cy="131064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 · Conversation — Have a genuine five-minute conversation entirely in Arabic — no topic set, just talk.</a:t>
            </a:r>
            <a:endParaRPr lang="en-US" sz="1300" dirty="0"/>
          </a:p>
        </p:txBody>
      </p:sp>
      <p:sp>
        <p:nvSpPr>
          <p:cNvPr id="20" name="Shape 17"/>
          <p:cNvSpPr/>
          <p:nvPr/>
        </p:nvSpPr>
        <p:spPr>
          <a:xfrm>
            <a:off x="658368" y="363321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6332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523488"/>
            <a:ext cx="5257800" cy="131064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 · Creative — Write a 100-word piece of free Arabic: a story opening, a poem, a diary entry, or a letter to a future student.</a:t>
            </a:r>
            <a:endParaRPr lang="en-US" sz="1300" dirty="0"/>
          </a:p>
        </p:txBody>
      </p:sp>
      <p:sp>
        <p:nvSpPr>
          <p:cNvPr id="23" name="Shape 20"/>
          <p:cNvSpPr/>
          <p:nvPr/>
        </p:nvSpPr>
        <p:spPr>
          <a:xfrm>
            <a:off x="658368" y="4980432"/>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98043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870704"/>
            <a:ext cx="5257800" cy="131064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 · Cultural — Give a three-minute spoken summary of something about the Arab world that genuinely moved or surprised you.</a:t>
            </a:r>
            <a:endParaRPr lang="en-US" sz="1300" dirty="0"/>
          </a:p>
        </p:txBody>
      </p:sp>
      <p:sp>
        <p:nvSpPr>
          <p:cNvPr id="26" name="Shape 23"/>
          <p:cNvSpPr/>
          <p:nvPr/>
        </p:nvSpPr>
        <p:spPr>
          <a:xfrm>
            <a:off x="6675120" y="1810512"/>
            <a:ext cx="50566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Text 24"/>
          <p:cNvSpPr txBox="1"/>
          <p:nvPr/>
        </p:nvSpPr>
        <p:spPr>
          <a:xfrm>
            <a:off x="6858000" y="1883664"/>
            <a:ext cx="469087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IN ARABIC</a:t>
            </a:r>
            <a:endParaRPr lang="en-US" sz="1000" dirty="0"/>
          </a:p>
        </p:txBody>
      </p:sp>
      <p:sp>
        <p:nvSpPr>
          <p:cNvPr id="28" name="Text 25"/>
          <p:cNvSpPr txBox="1"/>
          <p:nvPr/>
        </p:nvSpPr>
        <p:spPr>
          <a:xfrm>
            <a:off x="6812280" y="2194560"/>
            <a:ext cx="478231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مَا أَجْمَلُ شَيْءٍ تَعَلَّمْتَهُ هٰذَا العَامَ؟</a:t>
            </a:r>
            <a:endParaRPr lang="ar-SA" sz="2800" dirty="0"/>
          </a:p>
        </p:txBody>
      </p:sp>
      <p:sp>
        <p:nvSpPr>
          <p:cNvPr id="29" name="Text 26"/>
          <p:cNvSpPr txBox="1"/>
          <p:nvPr/>
        </p:nvSpPr>
        <p:spPr>
          <a:xfrm>
            <a:off x="6812280" y="2955828"/>
            <a:ext cx="478231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 a conversation opener</a:t>
            </a:r>
            <a:endParaRPr lang="en-US" sz="1100" dirty="0"/>
          </a:p>
        </p:txBody>
      </p:sp>
      <p:sp>
        <p:nvSpPr>
          <p:cNvPr id="30" name="Shape 27"/>
          <p:cNvSpPr/>
          <p:nvPr/>
        </p:nvSpPr>
        <p:spPr>
          <a:xfrm>
            <a:off x="6858000" y="3535680"/>
            <a:ext cx="4690872" cy="0"/>
          </a:xfrm>
          <a:prstGeom prst="line">
            <a:avLst/>
          </a:prstGeom>
          <a:noFill/>
          <a:ln w="9525">
            <a:solidFill>
              <a:srgbClr val="E4DCCB"/>
            </a:solidFill>
            <a:prstDash val="dash"/>
          </a:ln>
        </p:spPr>
      </p:sp>
      <p:sp>
        <p:nvSpPr>
          <p:cNvPr id="31" name="Text 28"/>
          <p:cNvSpPr txBox="1"/>
          <p:nvPr/>
        </p:nvSpPr>
        <p:spPr>
          <a:xfrm>
            <a:off x="6812280" y="3553968"/>
            <a:ext cx="478231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فِي صَبَاحٍ هَادِئٍ، فَتَحْتُ البَابَ فَوَجَدْتُ …</a:t>
            </a:r>
            <a:endParaRPr lang="ar-SA" sz="2800" dirty="0"/>
          </a:p>
        </p:txBody>
      </p:sp>
      <p:sp>
        <p:nvSpPr>
          <p:cNvPr id="32" name="Text 29"/>
          <p:cNvSpPr txBox="1"/>
          <p:nvPr/>
        </p:nvSpPr>
        <p:spPr>
          <a:xfrm>
            <a:off x="6812280" y="4315236"/>
            <a:ext cx="478231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 · a story opening</a:t>
            </a:r>
            <a:endParaRPr lang="en-US" sz="1100" dirty="0"/>
          </a:p>
        </p:txBody>
      </p:sp>
      <p:sp>
        <p:nvSpPr>
          <p:cNvPr id="33" name="Shape 30"/>
          <p:cNvSpPr/>
          <p:nvPr/>
        </p:nvSpPr>
        <p:spPr>
          <a:xfrm>
            <a:off x="6858000" y="4895088"/>
            <a:ext cx="4690872" cy="0"/>
          </a:xfrm>
          <a:prstGeom prst="line">
            <a:avLst/>
          </a:prstGeom>
          <a:noFill/>
          <a:ln w="9525">
            <a:solidFill>
              <a:srgbClr val="E4DCCB"/>
            </a:solidFill>
            <a:prstDash val="dash"/>
          </a:ln>
        </p:spPr>
      </p:sp>
      <p:sp>
        <p:nvSpPr>
          <p:cNvPr id="34" name="Text 31"/>
          <p:cNvSpPr txBox="1"/>
          <p:nvPr/>
        </p:nvSpPr>
        <p:spPr>
          <a:xfrm>
            <a:off x="6812280" y="4913376"/>
            <a:ext cx="4782312" cy="76126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أَكْثَرُ مَا أَدْهَشَنِي فِي العَالَمِ العَرَبِيِّ هُوَ …</a:t>
            </a:r>
            <a:endParaRPr lang="ar-SA" sz="2600" dirty="0"/>
          </a:p>
        </p:txBody>
      </p:sp>
      <p:sp>
        <p:nvSpPr>
          <p:cNvPr id="35" name="Text 32"/>
          <p:cNvSpPr txBox="1"/>
          <p:nvPr/>
        </p:nvSpPr>
        <p:spPr>
          <a:xfrm>
            <a:off x="6812280" y="5674644"/>
            <a:ext cx="478231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 · a cultural talk</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P6-L12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FREE ARABIC — YOUR CHOICE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Free Arabic — write or speak for meaning</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العَرَبِيَّةُ الحُرَّةُ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84248"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8424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FREE ARABIC · UNMARKED</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freely in Arabic — a story, a poem, a diary entry, or a letter to a student beginning F1. This is not marked; it is yours.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Write for meaning, not for the mark scheme.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the Arabic that feels most yours.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Enjoy how much you can now say.</a:t>
            </a:r>
            <a:endParaRPr lang="en-US" sz="1200" dirty="0"/>
          </a:p>
        </p:txBody>
      </p:sp>
      <p:sp>
        <p:nvSpPr>
          <p:cNvPr id="22" name="Shape 19"/>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Text 20"/>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STARTERS (TEACHER)</a:t>
            </a:r>
            <a:endParaRPr lang="en-US" sz="950" dirty="0"/>
          </a:p>
        </p:txBody>
      </p:sp>
      <p:sp>
        <p:nvSpPr>
          <p:cNvPr id="24" name="Text 21"/>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إِلَى طَالِبٍ يَبْدَأُ رِحْلَتَهُ مَعَ العَرَبِيَّةِ،</a:t>
            </a:r>
            <a:endParaRPr lang="ar-SA" sz="1800" dirty="0"/>
          </a:p>
        </p:txBody>
      </p:sp>
      <p:sp>
        <p:nvSpPr>
          <p:cNvPr id="25" name="Text 22"/>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 a student beginning their journey with Arabic,</a:t>
            </a:r>
            <a:endParaRPr lang="en-US" sz="1050" dirty="0"/>
          </a:p>
        </p:txBody>
      </p:sp>
      <p:sp>
        <p:nvSpPr>
          <p:cNvPr id="26" name="Text 23"/>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أَتَذَكَّرُ يَوْمَ …</a:t>
            </a:r>
            <a:endParaRPr lang="ar-SA" sz="1800" dirty="0"/>
          </a:p>
        </p:txBody>
      </p:sp>
      <p:sp>
        <p:nvSpPr>
          <p:cNvPr id="27" name="Text 24"/>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remember the day …</a:t>
            </a:r>
            <a:endParaRPr lang="en-US" sz="1050" dirty="0"/>
          </a:p>
        </p:txBody>
      </p:sp>
      <p:sp>
        <p:nvSpPr>
          <p:cNvPr id="28" name="Text 25"/>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أَنْصَحُكَ بِأَنْ …</a:t>
            </a:r>
            <a:endParaRPr lang="ar-SA" sz="1800" dirty="0"/>
          </a:p>
        </p:txBody>
      </p:sp>
      <p:sp>
        <p:nvSpPr>
          <p:cNvPr id="29" name="Text 26"/>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advise you to …</a:t>
            </a:r>
            <a:endParaRPr lang="en-US" sz="10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P6-L12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THE WEBSITE MODEL · A LETTER TO A FUTURE STUDENT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letter to a student starting F1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أَكْتُبُ إِلَى طَالِبٍ يَبْدَأُ رِحْلَتَهُ مَعَ العَرَبِيَّةِ: لَا تَخَفْ مِنَ الحَرْفِ الأَوَّلِ، فَكُلُّ لُغَةٍ تَبْدَأُ بِخُطْوَةٍ. صَحِيحٌ أَنَّ الطَّرِيقَ طَوِيلٌ، غَيْرَ أَنَّهُ يَسْتَحِقُّ كُلَّ جُهْدٍ. وَبِنَاءً عَلَى تَجْرِبَتِي، أَنْصَحُكَ بِأَنْ تَقْرَأَ وَتَتَحَدَّثَ كُلَّ يَوْمٍ. وَلَوْ ثَابَرْتَ، لَوَجَدْتَ نَفْسَكَ يَوْمًا تَكْتُبُ بِالعَرَبِيَّةِ بِثِقَةٍ. العَرَبِيَّةُ الآنَ لَكَ.</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am writing to a student beginning their journey with Arabic: do not fear the first letter, for every language begins with a step. It is true that the road is long; however, it is worth every effort. Based on my experience, I advise you to read and speak every day. If you persevere, you will one day find yourself writing in Arabic with confidence. Arabic is now yours.”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لَا تَخَفْ</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صَحِيحٌ أَنَّ … غَيْرَ أَنَّ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أَنْصَحُكَ بِأَنْ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وَلَوْ ثَابَرْتَ، لَوَجَدْتَ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P6-L12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THE PROOF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My achievement certificate — my best Arabic sentence</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شَهَادَةُ الإِنْجَازِ</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4283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Yours</a:t>
            </a:r>
            <a:endParaRPr lang="en-US" sz="1100" dirty="0"/>
          </a:p>
        </p:txBody>
      </p:sp>
      <p:sp>
        <p:nvSpPr>
          <p:cNvPr id="17" name="Text 14"/>
          <p:cNvSpPr txBox="1"/>
          <p:nvPr/>
        </p:nvSpPr>
        <p:spPr>
          <a:xfrm>
            <a:off x="382219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certificate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979408" y="2267712"/>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1" name="Text 18"/>
          <p:cNvSpPr txBox="1"/>
          <p:nvPr/>
        </p:nvSpPr>
        <p:spPr>
          <a:xfrm>
            <a:off x="3840480" y="2267712"/>
            <a:ext cx="4937760" cy="731520"/>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لَوْ لَمْ أُثَابِرْ، لَمَا وَصَلْتُ إِلَى هُنَا؛ غَيْرَ أَنِّي ثَابَرْتُ، فَأَصْبَحَتِ العَرَبِيَّةُ لُغَتِي.</a:t>
            </a:r>
            <a:endParaRPr lang="ar-SA" sz="1450" dirty="0"/>
          </a:p>
        </p:txBody>
      </p:sp>
      <p:sp>
        <p:nvSpPr>
          <p:cNvPr id="22" name="Text 19"/>
          <p:cNvSpPr txBox="1"/>
          <p:nvPr/>
        </p:nvSpPr>
        <p:spPr>
          <a:xfrm>
            <a:off x="56692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proudest Arabic sentence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979408" y="3054096"/>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7" name="Text 24"/>
          <p:cNvSpPr txBox="1"/>
          <p:nvPr/>
        </p:nvSpPr>
        <p:spPr>
          <a:xfrm>
            <a:off x="3858768" y="3054096"/>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2 conditional (lau lam … la-mā) · concession (ghayra anna)</a:t>
            </a:r>
            <a:endParaRPr lang="en-US" sz="1100" dirty="0"/>
          </a:p>
        </p:txBody>
      </p:sp>
      <p:sp>
        <p:nvSpPr>
          <p:cNvPr id="28" name="Text 25"/>
          <p:cNvSpPr txBox="1"/>
          <p:nvPr/>
        </p:nvSpPr>
        <p:spPr>
          <a:xfrm>
            <a:off x="56692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structures it uses (in English)</a:t>
            </a:r>
            <a:endParaRPr lang="en-US" sz="1100" dirty="0"/>
          </a:p>
        </p:txBody>
      </p:sp>
      <p:sp>
        <p:nvSpPr>
          <p:cNvPr id="29" name="Text 2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This sentence goes on your certificate — the proof of three years.</a:t>
            </a:r>
            <a:endParaRPr lang="en-US" sz="11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P6-L12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A KEY TO A WORLD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road ahead — Arabic after P6</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الطَّرِيقُ إِلَى الأَمَامِ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P6-L12</a:t>
            </a:r>
            <a:endParaRPr lang="en-US" sz="850" dirty="0"/>
          </a:p>
        </p:txBody>
      </p:sp>
      <p:sp>
        <p:nvSpPr>
          <p:cNvPr id="15" name="Shape 12"/>
          <p:cNvSpPr/>
          <p:nvPr/>
        </p:nvSpPr>
        <p:spPr>
          <a:xfrm>
            <a:off x="457200" y="1810512"/>
            <a:ext cx="658368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621792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ROAD AHEAD — ARABIC AFTER P6</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80644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IGCSE exam — The immediate bridge — sit it with confidence, knowing what three years built.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80644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Further study — A-Level Arabic and university Arabic programmes deepen everything you have begun.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80644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Professional Arabic — Diplomacy, journalism, medicine, business, engineering and translation all open with Arabic.</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80644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Personal Arabic — Travel, heritage, cultural engagement and dialogue — Arabic is a key to a world, not a school subject.</a:t>
            </a:r>
            <a:endParaRPr lang="en-US" sz="1300" dirty="0"/>
          </a:p>
        </p:txBody>
      </p:sp>
      <p:sp>
        <p:nvSpPr>
          <p:cNvPr id="29" name="Shape 26"/>
          <p:cNvSpPr/>
          <p:nvPr/>
        </p:nvSpPr>
        <p:spPr>
          <a:xfrm>
            <a:off x="7223760" y="1810512"/>
            <a:ext cx="450799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7406640" y="1883664"/>
            <a:ext cx="414223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IN ARABIC</a:t>
            </a:r>
            <a:endParaRPr lang="en-US" sz="1000" dirty="0"/>
          </a:p>
        </p:txBody>
      </p:sp>
      <p:sp>
        <p:nvSpPr>
          <p:cNvPr id="31" name="Text 28"/>
          <p:cNvSpPr txBox="1"/>
          <p:nvPr/>
        </p:nvSpPr>
        <p:spPr>
          <a:xfrm>
            <a:off x="7360920" y="2194560"/>
            <a:ext cx="423367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العَرَبِيَّةُ مِفْتَاحٌ إِلَى عَالَمٍ.</a:t>
            </a:r>
            <a:endParaRPr lang="ar-SA" sz="2800" dirty="0"/>
          </a:p>
        </p:txBody>
      </p:sp>
      <p:sp>
        <p:nvSpPr>
          <p:cNvPr id="32" name="Text 29"/>
          <p:cNvSpPr txBox="1"/>
          <p:nvPr/>
        </p:nvSpPr>
        <p:spPr>
          <a:xfrm>
            <a:off x="7360920" y="2955828"/>
            <a:ext cx="423367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Arabic is a key to a world.</a:t>
            </a:r>
            <a:endParaRPr lang="en-US" sz="1100" dirty="0"/>
          </a:p>
        </p:txBody>
      </p:sp>
      <p:sp>
        <p:nvSpPr>
          <p:cNvPr id="33" name="Shape 30"/>
          <p:cNvSpPr/>
          <p:nvPr/>
        </p:nvSpPr>
        <p:spPr>
          <a:xfrm>
            <a:off x="7406640" y="3535680"/>
            <a:ext cx="4142232" cy="0"/>
          </a:xfrm>
          <a:prstGeom prst="line">
            <a:avLst/>
          </a:prstGeom>
          <a:noFill/>
          <a:ln w="9525">
            <a:solidFill>
              <a:srgbClr val="E4DCCB"/>
            </a:solidFill>
            <a:prstDash val="dash"/>
          </a:ln>
        </p:spPr>
      </p:sp>
      <p:sp>
        <p:nvSpPr>
          <p:cNvPr id="34" name="Text 31"/>
          <p:cNvSpPr txBox="1"/>
          <p:nvPr/>
        </p:nvSpPr>
        <p:spPr>
          <a:xfrm>
            <a:off x="7360920" y="3553968"/>
            <a:ext cx="423367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لُغَةُ القُرْآنِ الكَرِيمِ</a:t>
            </a:r>
            <a:endParaRPr lang="ar-SA" sz="2800" dirty="0"/>
          </a:p>
        </p:txBody>
      </p:sp>
      <p:sp>
        <p:nvSpPr>
          <p:cNvPr id="35" name="Text 32"/>
          <p:cNvSpPr txBox="1"/>
          <p:nvPr/>
        </p:nvSpPr>
        <p:spPr>
          <a:xfrm>
            <a:off x="7360920" y="4315236"/>
            <a:ext cx="423367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language of the Qur’an — understood, not only recited</a:t>
            </a:r>
            <a:endParaRPr lang="en-US" sz="1100" dirty="0"/>
          </a:p>
        </p:txBody>
      </p:sp>
      <p:sp>
        <p:nvSpPr>
          <p:cNvPr id="36" name="Shape 33"/>
          <p:cNvSpPr/>
          <p:nvPr/>
        </p:nvSpPr>
        <p:spPr>
          <a:xfrm>
            <a:off x="7406640" y="4895088"/>
            <a:ext cx="4142232" cy="0"/>
          </a:xfrm>
          <a:prstGeom prst="line">
            <a:avLst/>
          </a:prstGeom>
          <a:noFill/>
          <a:ln w="9525">
            <a:solidFill>
              <a:srgbClr val="E4DCCB"/>
            </a:solidFill>
            <a:prstDash val="dash"/>
          </a:ln>
        </p:spPr>
      </p:sp>
      <p:sp>
        <p:nvSpPr>
          <p:cNvPr id="37" name="Text 34"/>
          <p:cNvSpPr txBox="1"/>
          <p:nvPr/>
        </p:nvSpPr>
        <p:spPr>
          <a:xfrm>
            <a:off x="7360920" y="4913376"/>
            <a:ext cx="423367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أَرْبَعُمِائَةِ مِلْيُونِ مُتَحَدِّثٍ</a:t>
            </a:r>
            <a:endParaRPr lang="ar-SA" sz="2800" dirty="0"/>
          </a:p>
        </p:txBody>
      </p:sp>
      <p:sp>
        <p:nvSpPr>
          <p:cNvPr id="38" name="Text 35"/>
          <p:cNvSpPr txBox="1"/>
          <p:nvPr/>
        </p:nvSpPr>
        <p:spPr>
          <a:xfrm>
            <a:off x="7360920" y="5674644"/>
            <a:ext cx="423367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400 million speakers</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P6-L12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THE PROGRAMME IS COMPLETE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programme is complete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اكْتَمَلَ البَرْنَامَجُ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WHAT YOU NEED TO KNOW</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1984248"/>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Cambridge IGCSE Arabic 0544 preparation programme — F1 to P6, 216 lessons — is complete. You can now speak, read, write and listen in Arabic: the language of 400 million people and of a civilisation spanning fourteen centuries.</a:t>
            </a:r>
            <a:endParaRPr lang="en-US" sz="1300" dirty="0"/>
          </a:p>
        </p:txBody>
      </p:sp>
      <p:sp>
        <p:nvSpPr>
          <p:cNvPr id="20" name="Shape 17"/>
          <p:cNvSpPr/>
          <p:nvPr/>
        </p:nvSpPr>
        <p:spPr>
          <a:xfrm>
            <a:off x="658368" y="4306824"/>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4197096"/>
            <a:ext cx="5394960" cy="1984248"/>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Use it: read, speak and write Arabic every week — even after the exam.</a:t>
            </a:r>
            <a:endParaRPr lang="en-US" sz="1300" dirty="0"/>
          </a:p>
        </p:txBody>
      </p:sp>
      <p:sp>
        <p:nvSpPr>
          <p:cNvPr id="23" name="Shape 20"/>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TWO SENTENCES TO KEEP (WEBSITE)</a:t>
            </a:r>
            <a:endParaRPr lang="en-US" sz="1000" dirty="0"/>
          </a:p>
        </p:txBody>
      </p:sp>
      <p:sp>
        <p:nvSpPr>
          <p:cNvPr id="25" name="Text 22"/>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العَرَبِيَّةُ الآنَ لَكَ.</a:t>
            </a:r>
            <a:endParaRPr lang="ar-SA" sz="2800" dirty="0"/>
          </a:p>
        </p:txBody>
      </p:sp>
      <p:sp>
        <p:nvSpPr>
          <p:cNvPr id="26" name="Text 23"/>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Arabic is now yours.</a:t>
            </a:r>
            <a:endParaRPr lang="en-US" sz="1100" dirty="0"/>
          </a:p>
        </p:txBody>
      </p:sp>
      <p:sp>
        <p:nvSpPr>
          <p:cNvPr id="27" name="Shape 24"/>
          <p:cNvSpPr/>
          <p:nvPr/>
        </p:nvSpPr>
        <p:spPr>
          <a:xfrm>
            <a:off x="6995160" y="4215384"/>
            <a:ext cx="4553712" cy="0"/>
          </a:xfrm>
          <a:prstGeom prst="line">
            <a:avLst/>
          </a:prstGeom>
          <a:noFill/>
          <a:ln w="9525">
            <a:solidFill>
              <a:srgbClr val="E4DCCB"/>
            </a:solidFill>
            <a:prstDash val="dash"/>
          </a:ln>
        </p:spPr>
      </p:sp>
      <p:sp>
        <p:nvSpPr>
          <p:cNvPr id="28" name="Text 25"/>
          <p:cNvSpPr txBox="1"/>
          <p:nvPr/>
        </p:nvSpPr>
        <p:spPr>
          <a:xfrm>
            <a:off x="6949440" y="4233672"/>
            <a:ext cx="4645152" cy="1141903"/>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الامْتِحَانُ جِسْرٌ — وَالجِسْرُ يُوصِلُكَ إِلَى الضَّفَّةِ الأُخْرَى.</a:t>
            </a:r>
            <a:endParaRPr lang="ar-SA" sz="2200" dirty="0"/>
          </a:p>
        </p:txBody>
      </p:sp>
      <p:sp>
        <p:nvSpPr>
          <p:cNvPr id="29" name="Text 26"/>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exam is a bridge — and a bridge takes you to the other bank.</a:t>
            </a:r>
            <a:endParaRPr lang="en-US" sz="11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P6-L12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THE ROAD AHEAD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Final reflection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التَّأَمُّلُ الأَخِيرُ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ending</a:t>
            </a:r>
            <a:endParaRPr lang="en-US" sz="1100" dirty="0"/>
          </a:p>
        </p:txBody>
      </p:sp>
      <p:sp>
        <p:nvSpPr>
          <p:cNvPr id="17" name="Text 14"/>
          <p:cNvSpPr txBox="1"/>
          <p:nvPr/>
        </p:nvSpPr>
        <p:spPr>
          <a:xfrm>
            <a:off x="528523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Reflection frame (website)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writing a full essay in Arabic</a:t>
            </a:r>
            <a:endParaRPr lang="en-US" sz="1100" dirty="0"/>
          </a:p>
        </p:txBody>
      </p:sp>
      <p:sp>
        <p:nvSpPr>
          <p:cNvPr id="21" name="Text 18"/>
          <p:cNvSpPr txBox="1"/>
          <p:nvPr/>
        </p:nvSpPr>
        <p:spPr>
          <a:xfrm>
            <a:off x="5321808"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 am proudest of this year</a:t>
            </a:r>
            <a:endParaRPr lang="en-US" sz="1100" dirty="0"/>
          </a:p>
        </p:txBody>
      </p:sp>
      <p:sp>
        <p:nvSpPr>
          <p:cNvPr id="22" name="Text 19"/>
          <p:cNvSpPr txBox="1"/>
          <p:nvPr/>
        </p:nvSpPr>
        <p:spPr>
          <a:xfrm>
            <a:off x="566928" y="2267712"/>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Year 9 I am proudest of…</a:t>
            </a:r>
            <a:endParaRPr lang="en-US" sz="11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reading the Qur’an and travelling</a:t>
            </a:r>
            <a:endParaRPr lang="en-US" sz="1100" dirty="0"/>
          </a:p>
        </p:txBody>
      </p:sp>
      <p:sp>
        <p:nvSpPr>
          <p:cNvPr id="25" name="Text 22"/>
          <p:cNvSpPr txBox="1"/>
          <p:nvPr/>
        </p:nvSpPr>
        <p:spPr>
          <a:xfrm>
            <a:off x="5321808"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 will use my Arabic for</a:t>
            </a:r>
            <a:endParaRPr lang="en-US" sz="1100" dirty="0"/>
          </a:p>
        </p:txBody>
      </p:sp>
      <p:sp>
        <p:nvSpPr>
          <p:cNvPr id="26" name="Text 23"/>
          <p:cNvSpPr txBox="1"/>
          <p:nvPr/>
        </p:nvSpPr>
        <p:spPr>
          <a:xfrm>
            <a:off x="566928" y="3054096"/>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will use my Arabic to…</a:t>
            </a: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8412480" y="3840480"/>
            <a:ext cx="322783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تَعَلَّمْتُ العَرَبِيَّةَ</a:t>
            </a:r>
            <a:endParaRPr lang="ar-SA" sz="1500" dirty="0"/>
          </a:p>
        </p:txBody>
      </p:sp>
      <p:sp>
        <p:nvSpPr>
          <p:cNvPr id="29" name="Text 26"/>
          <p:cNvSpPr txBox="1"/>
          <p:nvPr/>
        </p:nvSpPr>
        <p:spPr>
          <a:xfrm>
            <a:off x="5321808"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proud that I … (girls: anā fakhūratun)</a:t>
            </a:r>
            <a:endParaRPr lang="en-US" sz="1100" dirty="0"/>
          </a:p>
        </p:txBody>
      </p:sp>
      <p:sp>
        <p:nvSpPr>
          <p:cNvPr id="30" name="Text 27"/>
          <p:cNvSpPr txBox="1"/>
          <p:nvPr/>
        </p:nvSpPr>
        <p:spPr>
          <a:xfrm>
            <a:off x="548640" y="3840480"/>
            <a:ext cx="457200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فَخُورٌ بِأَنِّي ______ .</a:t>
            </a:r>
            <a:endParaRPr lang="ar-SA" sz="1800" dirty="0"/>
          </a:p>
        </p:txBody>
      </p:sp>
      <p:sp>
        <p:nvSpPr>
          <p:cNvPr id="31" name="Text 2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Whatever grade the exam returns, you are an Arabic speaker — and that does not expire.</a:t>
            </a:r>
            <a:endParaRPr lang="en-US" sz="11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P6-L12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P6-L12</a:t>
            </a:r>
            <a:endParaRPr lang="en-US" sz="850" dirty="0"/>
          </a:p>
        </p:txBody>
      </p:sp>
      <p:sp>
        <p:nvSpPr>
          <p:cNvPr id="15" name="Shape 12"/>
          <p:cNvSpPr/>
          <p:nvPr/>
        </p:nvSpPr>
        <p:spPr>
          <a:xfrm>
            <a:off x="457200" y="1810512"/>
            <a:ext cx="7406640"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103120"/>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804672"/>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name how far I have come as an Arabic learner.</a:t>
            </a:r>
            <a:endParaRPr lang="en-US" sz="1300" dirty="0"/>
          </a:p>
        </p:txBody>
      </p:sp>
      <p:sp>
        <p:nvSpPr>
          <p:cNvPr id="18" name="Shape 15"/>
          <p:cNvSpPr/>
          <p:nvPr/>
        </p:nvSpPr>
        <p:spPr>
          <a:xfrm>
            <a:off x="6583680" y="2084832"/>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8483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43200"/>
            <a:ext cx="7406640"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3035808"/>
            <a:ext cx="219456" cy="219456"/>
          </a:xfrm>
          <a:prstGeom prst="rect">
            <a:avLst/>
          </a:prstGeom>
          <a:solidFill>
            <a:srgbClr val="FFFFFF"/>
          </a:solidFill>
          <a:ln w="19050">
            <a:solidFill>
              <a:srgbClr val="B83227"/>
            </a:solidFill>
            <a:prstDash val="solid"/>
          </a:ln>
        </p:spPr>
      </p:sp>
      <p:sp>
        <p:nvSpPr>
          <p:cNvPr id="22" name="Text 19"/>
          <p:cNvSpPr txBox="1"/>
          <p:nvPr/>
        </p:nvSpPr>
        <p:spPr>
          <a:xfrm>
            <a:off x="1097280" y="2743200"/>
            <a:ext cx="5394960" cy="804672"/>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communicate freely in Arabic without a script.</a:t>
            </a:r>
            <a:endParaRPr lang="en-US" sz="1300" dirty="0"/>
          </a:p>
        </p:txBody>
      </p:sp>
      <p:sp>
        <p:nvSpPr>
          <p:cNvPr id="23" name="Shape 20"/>
          <p:cNvSpPr/>
          <p:nvPr/>
        </p:nvSpPr>
        <p:spPr>
          <a:xfrm>
            <a:off x="6583680" y="3017520"/>
            <a:ext cx="1097280" cy="256032"/>
          </a:xfrm>
          <a:prstGeom prst="roundRect">
            <a:avLst>
              <a:gd name="adj" fmla="val 50000"/>
            </a:avLst>
          </a:prstGeom>
          <a:solidFill>
            <a:srgbClr val="B83227"/>
          </a:solidFill>
          <a:ln w="12700">
            <a:solidFill>
              <a:srgbClr val="B83227"/>
            </a:solidFill>
            <a:prstDash val="solid"/>
          </a:ln>
        </p:spPr>
      </p:sp>
      <p:sp>
        <p:nvSpPr>
          <p:cNvPr id="24" name="Text 21"/>
          <p:cNvSpPr txBox="1"/>
          <p:nvPr/>
        </p:nvSpPr>
        <p:spPr>
          <a:xfrm>
            <a:off x="6583680" y="3017520"/>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25" name="Shape 22"/>
          <p:cNvSpPr/>
          <p:nvPr/>
        </p:nvSpPr>
        <p:spPr>
          <a:xfrm>
            <a:off x="457200" y="3675888"/>
            <a:ext cx="7406640"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968496"/>
            <a:ext cx="219456" cy="219456"/>
          </a:xfrm>
          <a:prstGeom prst="rect">
            <a:avLst/>
          </a:prstGeom>
          <a:solidFill>
            <a:srgbClr val="FFFFFF"/>
          </a:solidFill>
          <a:ln w="19050">
            <a:solidFill>
              <a:srgbClr val="2E8B57"/>
            </a:solidFill>
            <a:prstDash val="solid"/>
          </a:ln>
        </p:spPr>
      </p:sp>
      <p:sp>
        <p:nvSpPr>
          <p:cNvPr id="27" name="Text 24"/>
          <p:cNvSpPr txBox="1"/>
          <p:nvPr/>
        </p:nvSpPr>
        <p:spPr>
          <a:xfrm>
            <a:off x="1097280" y="3675888"/>
            <a:ext cx="5394960" cy="804672"/>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have recorded my proudest Arabic sentence.</a:t>
            </a:r>
            <a:endParaRPr lang="en-US" sz="1300" dirty="0"/>
          </a:p>
        </p:txBody>
      </p:sp>
      <p:sp>
        <p:nvSpPr>
          <p:cNvPr id="28" name="Shape 25"/>
          <p:cNvSpPr/>
          <p:nvPr/>
        </p:nvSpPr>
        <p:spPr>
          <a:xfrm>
            <a:off x="6583680" y="3950208"/>
            <a:ext cx="109728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6583680" y="3950208"/>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Shape 27"/>
          <p:cNvSpPr/>
          <p:nvPr/>
        </p:nvSpPr>
        <p:spPr>
          <a:xfrm>
            <a:off x="457200" y="4608576"/>
            <a:ext cx="7406640"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901184"/>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608576"/>
            <a:ext cx="5394960" cy="804672"/>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know the doors Arabic can open next.</a:t>
            </a:r>
            <a:endParaRPr lang="en-US" sz="1300" dirty="0"/>
          </a:p>
        </p:txBody>
      </p:sp>
      <p:sp>
        <p:nvSpPr>
          <p:cNvPr id="33" name="Shape 30"/>
          <p:cNvSpPr/>
          <p:nvPr/>
        </p:nvSpPr>
        <p:spPr>
          <a:xfrm>
            <a:off x="6583680" y="4882896"/>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882896"/>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37" name="Shape 34"/>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P6-L12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the programme is complete. Thank you!</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WHAT COMES 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cs typeface="Amiri" pitchFamily="2" charset="-78"/>
              </a:rPr>
              <a:t>IGCSE 0544 · The real exam — go in with confidence</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الامْتِحَانُ جِسْرٌ — وَالجِسْرُ يُوصِلُكَ إِلَى الضَّفَّةِ الأُخْرَى</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Arabic is now yours. Go into the exam with confidence: you have done the work. Well done, and thank you for three wonderful years.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P6-L12 · Celebration — Reflection and the Road Ahead</dc:title>
  <dc:subject>PptxGenJS Presentation</dc:subject>
  <dc:creator>Al Madina Online School · Arabic Department</dc:creator>
  <cp:lastModifiedBy>Al Madina Online School · Arabic Department</cp:lastModifiedBy>
  <cp:revision>1</cp:revision>
  <dcterms:created xsi:type="dcterms:W3CDTF">2026-10-11T06:43:38Z</dcterms:created>
  <dcterms:modified xsi:type="dcterms:W3CDTF">2026-10-11T06:43:38Z</dcterms:modified>
</cp:coreProperties>
</file>