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F4 My School › Lesson 7 (F4-L07). Website sections used: the eight-question F4 retrieval bridge and the narration route, the school-day verb bank (16 first-person phrases, place patterns إِلَى / فِي / مَعَ) and the 16-question check, keeping the first person (12), sequence and time expressions (14), the timeline studio, the School-Day Mission (14), Salma’s day (listening, 10), Yusuf (fully vowelled) and Huda (unvowelled challenge) (reading, 12), the 60-second talk (4 prompts), the 80–100-word narration with its review checklist and model, and the 16-question checkpoint. Picture match: website visual game.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F4-L07 JOINS the unit: subjects, times, preferences, reasons and rules become one connected narrative (website narration route: action + time + sequence + detail / opinion).
• Core: 10 verbs + أَوَّلًا / ثُمَّ / أَخِيرًا + two times (60–70 words). Develop: 16 verbs, exact and approximate time, an opinion (80–100 words). Stretch: a contrast and one rule sentence (فِي الْفَصْلِ يَجِبُ أَنْ أَسْتَمِعَ …).
• Reading Text B is UNVOWELLED on the website (a reading challenge). On the slide it is shown fully vowelled; Stretch students try the unvowelled version on the website.
• Real or invented days are equally acceptable; students without a school routine (e.g. home-educated) can describe an ideal day (website prompt 4).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phrases prepared at home at the end of F4-L06. Questions 3–5 are the website “F4 retrieval bridge” (10:30, must, must not).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narration = action + time + sequence word + detail. The verbs stay with “I” (a- / u-) from start to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اول، آخر، عادتاً are shared. Urdu تقریباً (approximately) is also Arabic تَقْرِيبًا — accept it as an alternative to حَوَالَيْ.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SCHOOL-DAY VERBS (website, 6 of 16). Website: learn each action as a useful first-person phrase, not an isolated dictionary entry. Also: أَكْتُبُ فِي دَفْتَرِي (I write in my notebook), أَسْتَمِعُ إِلَى الْمُعَلِّمِ (I listen to the teacher), أَدْرُسُ (I study), أَقْرَأُ كِتَابِي (I read my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SCHOOL-DAY VERBS (website, 6 more). Website place patterns: إِلَى = movement towards a destination (إِلَى الْمَدْرَسَةِ / إِلَى الْبَيْتِ) · فِي = an action inside a place (فِي الْفَصْلِ / فِي الْمَقْصَفِ) · مَعَ / إِلَى = with people or listening towards someone (مَعَ زُمَلَائِي / إِلَى الْمُعَلِّمِ).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section 3 “Keep the narration in the first person”: do not change randomly to “he” or “she” — the reader must know who performs every action.
Stretch: the he / she forms are used when COMPARING with Yusuf or Huda (أَمَّا يُوسُفُ فَيَذْهَبُ مَاشِيًا).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section 4 “Control sequence and time expressions”: 1 opening (عَادَةً / أَوَّلًا) · 2 school begins (عِنْدَ السَّاعَةِ …) · 3 midday (بَعْدَ ذَلِكَ / فِي مُنْتَصَفِ النَّهَارِ) · 4 closing (أَخِيرًا / فِي النِّهَايَةِ).
Website connector bank: أَوَّلًا، فِي الْبِدَايَةِ، فِي الصَّبَاحِ الْبَاكِرِ، ثُمَّ، بَعْدَ ذَلِكَ، قَبْلَ / بَعْدَ الاِسْتِرَاحَةِ، فِي مُنْتَصَفِ النَّهَارِ، أَخِيرًا، فِي النِّهَايَةِ، عَادَةً، غَالِبًا، أَحْيَانًا. وَلَكِنْ adds contrast, not sequence.
Exact vs approximate (website): عِنْدَ السَّاعَةِ الثَّامِنَةِ = at eight exactly · حَوَالَيِ السَّاعَةِ الثَّامِنَةِ = at about 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narration laboratory questions 5–6 and sequence-and-time check questions 9 and 12.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four-stage plan (morning → school → midday → home) and model response. Circle every connector, underline every verb (all first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Put the six cards in order with a connector each: أَوَّلًا أَسْتَيْقِظُ … ثُمَّ أُنَظِّفُ أَسْنَانِي … بَعْدَ ذَلِكَ أَتَنَاوَلُ الإِفْطَارَ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Put the six cards in order with a connector each: أَوَّلًا أَسْتَيْقِظُ … ثُمَّ أُنَظِّفُ أَسْنَانِي … بَعْدَ ذَلِكَ أَتَنَاوَلُ الإِفْطَارَ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School-Day Mission rounds (arrival, classroom, approximate time, after that, home).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 student adds the NEXT event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اِسْمِي سَلْمَى، وَهَذَا يَوْمِي الدِّرَاسِيُّ. عَادَةً أَسْتَيْقِظُ فِي السَّاعَةِ السَّادِسَةِ وَالنِّصْفِ، وَأَذْهَبُ إِلَى الْمَدْرَسَةِ بِالْحَافِلَةِ. أَصِلُ فِي السَّاعَةِ الثَّامِنَةِ، ثُمَّ أَدْخُلُ الْفَصْلَ وَأَجْلِسُ فِي مَكَانِي. الْحِصَّةُ الأُولَى هِيَ الرِّيَاضِيَّاتُ، وَلَكِنَّ مَادَّتِي الْمُفَضَّلَةَ هِيَ الْعُلُومُ لِأَنَّهَا شَيِّقَةٌ وَمُفِيدَةٌ. فِي الاِسْتِرَاحَةِ آكُلُ وَأَتَحَدَّثُ مَعَ زَمِيلَاتِي. بَعْدَ ذَلِكَ أَدْرُسُ اللُّغَةَ الْعَرَبِيَّةَ وَالتَّارِيخَ. تَنْتَهِي الْحِصَصُ فِي السَّاعَةِ الثَّالِثَةِ، فَأَعُودُ إِلَى الْبَيْتِ. فِي النِّهَايَةِ أَسْتَرِيحُ قَلِيلًا، ثُمَّ أُكْمِلُ وَاجِبِي الْمَنْزِلِيَّ.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A (website, complete, fully vowelled).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B — on the website this text is deliberately UNVOWELLED (a reading challenge using familiar language). It is shown vowelled here; Stretch students read the unvowelled version on the website first. Website inference: who has the later day? (Huda.)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2, 4, 8, 10 and 11.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60-SECOND TALK — short cue words, not a memorised English script; morning → school → break → favourite lesson → home. Prompts (website):
• Describe your real school day: Give at least six events, three times and four connectors.
• Compare two school days: Compare your day with Yusuf’s or Huda’s day from the reading.
• Describe your busiest school day: Name the day, lessons, break, finishing time and why it is busy.
• Describe your ideal school day: Change the timetable and explain two choices.
Website live checklist: six events · three time phrases · four connectors · one subject opinion · one reason · a clear final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60–70 words with six events and four connectors. · Develop — 80–100 words with varied times, places and a justified opinion. · Stretch — Exact and approximate time, a contrast and one sentence about a rule.
Website writing task (Stretch): Website writing task: an 80–100-word connected narration of a real or invented school day in four stages — morning → school → midday → home — with times, varied connectors, one opinion with a reason and a clear final event.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The website model narration (shortened). Stretch: add the website’s group-activity sentence and one rule.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(F4-L08 · Reading School Texts and Timetables) will spend class time USING this language, so students prepare it tonight — short, simple, easy to access (school guidance: “Simple, Short, Interesting, Relevant, Easy to access”). The five words come from the website F4-L08 text-type bank.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F4  ·  F4-L07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F4-L07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 Typical School Day — Narrating a Sequence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يَوْمٌ مَدْرَسِيٌّ عَادِيٌّ — سَرْدُ التَّسَلْسُلِ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Narrate a whole school day in the first person: sixteen everyday actions, exact and approximate times, and varied connectors that move the reader from morning to evening.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F4-L07 · Foundation F4 · My School</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F4 › F4-L07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F4-L07 · My School Day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F4-L07 · My School Day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Sixteen school-day actions, keep “I”, then time and sequence.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School-day mission, listen to Salma, compare Yusuf and Huda.</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F4-L08.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F4-L07 · My School Day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أَصِلُ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return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arrive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wake up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أَعُودُ إِلَى الْبَيْتِ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return home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go to school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leave the house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10:30.</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العَاشِرَةُ وَالرُّبُعُ</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الحَادِيَةُ عَشْرَةَ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العَاشِرَةُ وَالنِّصْفُ</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must complete the homework.”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يَجُوزُ أَنْ تُكْمِلَ الْوَاجِبَ.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يَجِبُ أَنْ تُكْمِلَ الْوَاجِبَ.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تُكْمِلَ الْوَاجِبَ.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must not use the phone.”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يَجُوزُ أَنْ تَسْتَخْدِمَ الْهَاتِفَ.</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تَسْتَخْدِمَ الْهَاتِفَ.</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يَجِبُ أَنْ تَسْتَخْدِمَ الْهَاتِفَ.</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F4-L07 · My School Day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أَصِلُ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return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arrive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wake up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أَعُودُ إِلَى الْبَيْتِ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return home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go to school</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leave the house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10:30.</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العَاشِرَةُ وَالرُّبُعُ</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الحَادِيَةُ عَشْرَةَ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السَّاعَةُ العَاشِرَةُ وَالنِّصْفُ</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وَالنِّصْفُ</a:t>
            </a:r>
            <a:pPr algn="l" indent="0" marL="0">
              <a:buNone/>
            </a:pPr>
            <a:r>
              <a:rPr lang="en-US" sz="1050" i="1" dirty="0">
                <a:solidFill>
                  <a:srgbClr val="8A6D1E"/>
                </a:solidFill>
                <a:latin typeface="Calibri" pitchFamily="34" charset="0"/>
                <a:cs typeface="Amiri" pitchFamily="2" charset="-78"/>
              </a:rPr>
              <a:t> means half past.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must complete the homework.”</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يَجُوزُ أَنْ تُكْمِلَ الْوَاجِبَ.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يَجِبُ أَنْ تُكْمِلَ الْوَاجِبَ.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يَجِبُ أَنْ تُكْمِلَ الْوَاجِبَ.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يَجِبُ أَنْ</a:t>
            </a:r>
            <a:pPr algn="l" indent="0" marL="0">
              <a:buNone/>
            </a:pPr>
            <a:r>
              <a:rPr lang="en-US" sz="1050" i="1" dirty="0">
                <a:solidFill>
                  <a:srgbClr val="8A6D1E"/>
                </a:solidFill>
                <a:latin typeface="Calibri" pitchFamily="34" charset="0"/>
                <a:cs typeface="Amiri" pitchFamily="2" charset="-78"/>
              </a:rPr>
              <a:t> expresses obligation.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must not use the phone.”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يَجُوزُ أَنْ تَسْتَخْدِمَ الْهَاتِفَ.</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أَنْ تَسْتَخْدِمَ الْهَاتِفَ.</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يَجِبُ أَنْ تَسْتَخْدِمَ الْهَاتِفَ.</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لَا يَجُوزُ أَنْ</a:t>
            </a:r>
            <a:pPr algn="l" indent="0" marL="0">
              <a:buNone/>
            </a:pPr>
            <a:r>
              <a:rPr lang="en-US" sz="1050" i="1" dirty="0">
                <a:solidFill>
                  <a:srgbClr val="8A6D1E"/>
                </a:solidFill>
                <a:latin typeface="Calibri" pitchFamily="34" charset="0"/>
                <a:cs typeface="Amiri" pitchFamily="2" charset="-78"/>
              </a:rPr>
              <a:t> expresses prohibition.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narration = action + time + sequence word + detail. The verbs stay with “I” (a- / u-) from start to finish.</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عَادَةً</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أَذْهَبُ إِلَى الْمَدْرَسَةِ فِي السَّاعَةِ الثَّامِنَةِ،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ثُمَّ</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أَدْخُلُ الْفَصْلَ.</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F4-L07 · My School Day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least sixteen school-day verbs and phrases.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Keep a first-person narration consistent with anā.</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Order events with varied connectors and exact / approximate times.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an 80–100-word school-day narration.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six things I do in a school day.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first, then and finally.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exact and approximate times.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an opinion with a reason.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school days.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include a rule in my narration.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School-day actions, place words and time connectors. Core: ten actions, first, then, finally.</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School-day verbs · 16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Places · ilā · fī · ma‘a</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Sequence and time</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أَوَّلًا</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‎اول‎ </a:t>
            </a:r>
            <a:pPr indent="0" marL="0">
              <a:buNone/>
            </a:pPr>
            <a:r>
              <a:rPr lang="en-US" sz="950" b="1" dirty="0">
                <a:solidFill>
                  <a:srgbClr val="2E8B57"/>
                </a:solidFill>
                <a:latin typeface="Calibri" pitchFamily="34" charset="0"/>
                <a:cs typeface="Amiri" pitchFamily="2" charset="-78"/>
              </a:rPr>
              <a:t> awwalan · first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أَخِيرًا</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‎آخر‎ </a:t>
            </a:r>
            <a:pPr indent="0" marL="0">
              <a:buNone/>
            </a:pPr>
            <a:r>
              <a:rPr lang="en-US" sz="950" b="1" dirty="0">
                <a:solidFill>
                  <a:srgbClr val="2E8B57"/>
                </a:solidFill>
                <a:latin typeface="Calibri" pitchFamily="34" charset="0"/>
                <a:cs typeface="Amiri" pitchFamily="2" charset="-78"/>
              </a:rPr>
              <a:t> akhīran · finally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عَادَةً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‎عادتاً‎ </a:t>
            </a:r>
            <a:pPr indent="0" marL="0">
              <a:buNone/>
            </a:pPr>
            <a:r>
              <a:rPr lang="en-US" sz="950" b="1" dirty="0">
                <a:solidFill>
                  <a:srgbClr val="2E8B57"/>
                </a:solidFill>
                <a:latin typeface="Calibri" pitchFamily="34" charset="0"/>
                <a:cs typeface="Amiri" pitchFamily="2" charset="-78"/>
              </a:rPr>
              <a:t> ‘ādatan · usually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حَوَالَيْ</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‎تقریباً‎ </a:t>
            </a:r>
            <a:pPr indent="0" marL="0">
              <a:buNone/>
            </a:pPr>
            <a:r>
              <a:rPr lang="en-US" sz="950" b="1" dirty="0">
                <a:solidFill>
                  <a:srgbClr val="2E8B57"/>
                </a:solidFill>
                <a:latin typeface="Calibri" pitchFamily="34" charset="0"/>
                <a:cs typeface="Amiri" pitchFamily="2" charset="-78"/>
              </a:rPr>
              <a:t> ḥawālay · about (different word)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الْمَقْصَفُ</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‎کینٹین‎ </a:t>
            </a:r>
            <a:pPr indent="0" marL="0">
              <a:buNone/>
            </a:pPr>
            <a:r>
              <a:rPr lang="en-US" sz="950" b="1" dirty="0">
                <a:solidFill>
                  <a:srgbClr val="2E8B57"/>
                </a:solidFill>
                <a:latin typeface="Calibri" pitchFamily="34" charset="0"/>
                <a:cs typeface="Amiri" pitchFamily="2" charset="-78"/>
              </a:rPr>
              <a:t> al-maqṣaf · canteen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F4-L07 · My School Day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SCHOOL-DAY VERBS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Wake up, go, arrive, enter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أَفْعَالُ الْيَوْمِ الدِّرَاسِيِّ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أَسْتَيْقِظُ</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wake up</a:t>
            </a:r>
            <a:endParaRPr lang="en-US" sz="1350" dirty="0"/>
          </a:p>
          <a:p>
            <a:pPr indent="0" marL="0">
              <a:buNone/>
            </a:pPr>
            <a:r>
              <a:rPr lang="en-US" sz="1100" i="1" dirty="0">
                <a:solidFill>
                  <a:srgbClr val="5A6472"/>
                </a:solidFill>
                <a:latin typeface="Calibri" pitchFamily="34" charset="0"/>
                <a:cs typeface="Amiri" pitchFamily="2" charset="-78"/>
              </a:rPr>
              <a:t>as-tay-qi-ẓu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أَتَنَاوَلُ الْفُطُورَ</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have breakfast</a:t>
            </a:r>
            <a:endParaRPr lang="en-US" sz="1350" dirty="0"/>
          </a:p>
          <a:p>
            <a:pPr indent="0" marL="0">
              <a:buNone/>
            </a:pPr>
            <a:r>
              <a:rPr lang="en-US" sz="1100" i="1" dirty="0">
                <a:solidFill>
                  <a:srgbClr val="5A6472"/>
                </a:solidFill>
                <a:latin typeface="Calibri" pitchFamily="34" charset="0"/>
                <a:cs typeface="Amiri" pitchFamily="2" charset="-78"/>
              </a:rPr>
              <a:t>a-ta-nā-wa-lu l-fu-ṭūr</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ilā</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أَذْهَبُ إِلَى الْمَدْرَسَةِ</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go to school</a:t>
            </a:r>
            <a:endParaRPr lang="en-US" sz="1350" dirty="0"/>
          </a:p>
          <a:p>
            <a:pPr indent="0" marL="0">
              <a:buNone/>
            </a:pPr>
            <a:r>
              <a:rPr lang="en-US" sz="1100" i="1" dirty="0">
                <a:solidFill>
                  <a:srgbClr val="5A6472"/>
                </a:solidFill>
                <a:latin typeface="Calibri" pitchFamily="34" charset="0"/>
                <a:cs typeface="Amiri" pitchFamily="2" charset="-78"/>
              </a:rPr>
              <a:t>adh-ha-bu i-lā l-mad-ra-sa</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5" name="Shape 4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ilā</a:t>
            </a:r>
            <a:endParaRPr lang="en-US" sz="8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أَصِلُ إِلَى الْمَدْرَسَةِ</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arrive at school</a:t>
            </a:r>
            <a:endParaRPr lang="en-US" sz="1350" dirty="0"/>
          </a:p>
          <a:p>
            <a:pPr indent="0" marL="0">
              <a:buNone/>
            </a:pPr>
            <a:r>
              <a:rPr lang="en-US" sz="1100" i="1" dirty="0">
                <a:solidFill>
                  <a:srgbClr val="5A6472"/>
                </a:solidFill>
                <a:latin typeface="Calibri" pitchFamily="34" charset="0"/>
                <a:cs typeface="Amiri" pitchFamily="2" charset="-78"/>
              </a:rPr>
              <a:t>a-ṣi-lu i-lā l-mad-ra-sa</a:t>
            </a:r>
            <a:endParaRPr lang="en-US" sz="135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4" name="Shape 5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a:t>
            </a:r>
            <a:endParaRPr lang="en-US" sz="800" dirty="0"/>
          </a:p>
        </p:txBody>
      </p:sp>
      <p:sp>
        <p:nvSpPr>
          <p:cNvPr id="56" name="Shape 5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أَدْخُلُ الْفَصْلَ</a:t>
            </a:r>
            <a:endParaRPr lang="ar-SA" sz="3000" dirty="0"/>
          </a:p>
        </p:txBody>
      </p:sp>
      <p:sp>
        <p:nvSpPr>
          <p:cNvPr id="59" name="Text 5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enter the classroom</a:t>
            </a:r>
            <a:endParaRPr lang="en-US" sz="1350" dirty="0"/>
          </a:p>
          <a:p>
            <a:pPr indent="0" marL="0">
              <a:buNone/>
            </a:pPr>
            <a:r>
              <a:rPr lang="en-US" sz="1100" i="1" dirty="0">
                <a:solidFill>
                  <a:srgbClr val="5A6472"/>
                </a:solidFill>
                <a:latin typeface="Calibri" pitchFamily="34" charset="0"/>
                <a:cs typeface="Amiri" pitchFamily="2" charset="-78"/>
              </a:rPr>
              <a:t>ad-khu-lu l-faṣl</a:t>
            </a:r>
            <a:endParaRPr lang="en-US" sz="1350" dirty="0"/>
          </a:p>
        </p:txBody>
      </p:sp>
      <p:sp>
        <p:nvSpPr>
          <p:cNvPr id="60" name="Shape 5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66928"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3" name="Shape 6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fī</a:t>
            </a:r>
            <a:endParaRPr lang="en-US" sz="800" dirty="0"/>
          </a:p>
        </p:txBody>
      </p:sp>
      <p:sp>
        <p:nvSpPr>
          <p:cNvPr id="65" name="Text 6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أَجْلِسُ فِي مَكَانِي</a:t>
            </a:r>
            <a:endParaRPr lang="ar-SA" sz="3000" dirty="0"/>
          </a:p>
        </p:txBody>
      </p:sp>
      <p:sp>
        <p:nvSpPr>
          <p:cNvPr id="66" name="Text 6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sit in my place</a:t>
            </a:r>
            <a:endParaRPr lang="en-US" sz="1350" dirty="0"/>
          </a:p>
          <a:p>
            <a:pPr indent="0" marL="0">
              <a:buNone/>
            </a:pPr>
            <a:r>
              <a:rPr lang="en-US" sz="1100" i="1" dirty="0">
                <a:solidFill>
                  <a:srgbClr val="5A6472"/>
                </a:solidFill>
                <a:latin typeface="Calibri" pitchFamily="34" charset="0"/>
                <a:cs typeface="Amiri" pitchFamily="2" charset="-78"/>
              </a:rPr>
              <a:t>aj-li-su fī ma-kā-nī</a:t>
            </a:r>
            <a:endParaRPr lang="en-US" sz="13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F4-L07 · My School Day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SCHOOL-DAY VERBS (WEBSITE)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Talk, eat, play, return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أَفْعَالُ الْيَوْمِ الدِّرَاسِيِّ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ma‘a</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أَتَحَدَّثُ مَعَ زُمَلَائِي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talk with my classmates</a:t>
            </a:r>
            <a:endParaRPr lang="en-US" sz="1350" dirty="0"/>
          </a:p>
          <a:p>
            <a:pPr indent="0" marL="0">
              <a:buNone/>
            </a:pPr>
            <a:r>
              <a:rPr lang="en-US" sz="1100" i="1" dirty="0">
                <a:solidFill>
                  <a:srgbClr val="5A6472"/>
                </a:solidFill>
                <a:latin typeface="Calibri" pitchFamily="34" charset="0"/>
                <a:cs typeface="Amiri" pitchFamily="2" charset="-78"/>
              </a:rPr>
              <a:t>a-ta-ḥad-da-thu ma-‘a zu-ma-lā-’ī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fī</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آكُلُ فِي الْمَقْصَفِ</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eat in the canteen</a:t>
            </a:r>
            <a:endParaRPr lang="en-US" sz="1350" dirty="0"/>
          </a:p>
          <a:p>
            <a:pPr indent="0" marL="0">
              <a:buNone/>
            </a:pPr>
            <a:r>
              <a:rPr lang="en-US" sz="1100" i="1" dirty="0">
                <a:solidFill>
                  <a:srgbClr val="5A6472"/>
                </a:solidFill>
                <a:latin typeface="Calibri" pitchFamily="34" charset="0"/>
                <a:cs typeface="Amiri" pitchFamily="2" charset="-78"/>
              </a:rPr>
              <a:t>ā-ku-lu fī l-maq-ṣaf</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4" name="Shape 31"/>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fī</a:t>
            </a:r>
            <a:endParaRPr lang="en-US" sz="8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أَلْعَبُ فِي الْمَلْعَبِ</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play in the playground</a:t>
            </a:r>
            <a:endParaRPr lang="en-US" sz="1350" dirty="0"/>
          </a:p>
          <a:p>
            <a:pPr indent="0" marL="0">
              <a:buNone/>
            </a:pPr>
            <a:r>
              <a:rPr lang="en-US" sz="1100" i="1" dirty="0">
                <a:solidFill>
                  <a:srgbClr val="5A6472"/>
                </a:solidFill>
                <a:latin typeface="Calibri" pitchFamily="34" charset="0"/>
                <a:cs typeface="Amiri" pitchFamily="2" charset="-78"/>
              </a:rPr>
              <a:t>al-‘a-bu fī l-mal-‘ab</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3" name="Shape 4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ilā</a:t>
            </a:r>
            <a:endParaRPr lang="en-US" sz="8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أَعُودُ إِلَى الْبَيْتِ</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return home</a:t>
            </a:r>
            <a:endParaRPr lang="en-US" sz="1350" dirty="0"/>
          </a:p>
          <a:p>
            <a:pPr indent="0" marL="0">
              <a:buNone/>
            </a:pPr>
            <a:r>
              <a:rPr lang="en-US" sz="1100" i="1" dirty="0">
                <a:solidFill>
                  <a:srgbClr val="5A6472"/>
                </a:solidFill>
                <a:latin typeface="Calibri" pitchFamily="34" charset="0"/>
                <a:cs typeface="Amiri" pitchFamily="2" charset="-78"/>
              </a:rPr>
              <a:t>a-‘ū-du i-lā l-bayt</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2" name="Shape 4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a:t>
            </a:r>
            <a:endParaRPr lang="en-US" sz="800" dirty="0"/>
          </a:p>
        </p:txBody>
      </p:sp>
      <p:sp>
        <p:nvSpPr>
          <p:cNvPr id="54" name="Shape 5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أُكْمِلُ وَاجِبِي الْمَنْزِلِيَّ</a:t>
            </a:r>
            <a:endParaRPr lang="ar-SA" sz="3000" dirty="0"/>
          </a:p>
        </p:txBody>
      </p:sp>
      <p:sp>
        <p:nvSpPr>
          <p:cNvPr id="57" name="Text 5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complete my homework</a:t>
            </a:r>
            <a:endParaRPr lang="en-US" sz="1350" dirty="0"/>
          </a:p>
          <a:p>
            <a:pPr indent="0" marL="0">
              <a:buNone/>
            </a:pPr>
            <a:r>
              <a:rPr lang="en-US" sz="1100" i="1" dirty="0">
                <a:solidFill>
                  <a:srgbClr val="5A6472"/>
                </a:solidFill>
                <a:latin typeface="Calibri" pitchFamily="34" charset="0"/>
                <a:cs typeface="Amiri" pitchFamily="2" charset="-78"/>
              </a:rPr>
              <a:t>uk-mi-lu wā-ji-bī l-man-zi-liyy</a:t>
            </a:r>
            <a:endParaRPr lang="en-US" sz="1350" dirty="0"/>
          </a:p>
        </p:txBody>
      </p:sp>
      <p:sp>
        <p:nvSpPr>
          <p:cNvPr id="58" name="Shape 5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66928"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1" name="Shape 58"/>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a:t>
            </a:r>
            <a:endParaRPr lang="en-US" sz="800" dirty="0"/>
          </a:p>
        </p:txBody>
      </p:sp>
      <p:sp>
        <p:nvSpPr>
          <p:cNvPr id="63" name="Text 6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أَسْتَرِيحُ</a:t>
            </a:r>
            <a:endParaRPr lang="ar-SA" sz="3000" dirty="0"/>
          </a:p>
        </p:txBody>
      </p:sp>
      <p:sp>
        <p:nvSpPr>
          <p:cNvPr id="64" name="Text 6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rest</a:t>
            </a:r>
            <a:endParaRPr lang="en-US" sz="1350" dirty="0"/>
          </a:p>
          <a:p>
            <a:pPr indent="0" marL="0">
              <a:buNone/>
            </a:pPr>
            <a:r>
              <a:rPr lang="en-US" sz="1100" i="1" dirty="0">
                <a:solidFill>
                  <a:srgbClr val="5A6472"/>
                </a:solidFill>
                <a:latin typeface="Calibri" pitchFamily="34" charset="0"/>
                <a:cs typeface="Amiri" pitchFamily="2" charset="-78"/>
              </a:rPr>
              <a:t>as-ta-rī-ḥu</a:t>
            </a:r>
            <a:endParaRPr lang="en-US" sz="13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F4-L07 · My School Day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cs typeface="Amiri" pitchFamily="2" charset="-78"/>
              </a:rPr>
              <a:t>GRAMMAR FOCUS · PART 1 · KEEP THE NARRATION IN THE FIRST PERSON (WEBSITE)</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goes? Keep “I”</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حَافِظْ عَلَى سَرْدِ الْمُتَكَلِّمِ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17" name="Text 14"/>
          <p:cNvSpPr txBox="1"/>
          <p:nvPr/>
        </p:nvSpPr>
        <p:spPr>
          <a:xfrm>
            <a:off x="741578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8" name="Text 15"/>
          <p:cNvSpPr txBox="1"/>
          <p:nvPr/>
        </p:nvSpPr>
        <p:spPr>
          <a:xfrm>
            <a:off x="2660904"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9" name="Text 16"/>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811512" y="2267712"/>
            <a:ext cx="18288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أَنَا</a:t>
            </a:r>
            <a:endParaRPr lang="ar-SA" sz="2400" dirty="0"/>
          </a:p>
        </p:txBody>
      </p:sp>
      <p:sp>
        <p:nvSpPr>
          <p:cNvPr id="22" name="Text 19"/>
          <p:cNvSpPr txBox="1"/>
          <p:nvPr/>
        </p:nvSpPr>
        <p:spPr>
          <a:xfrm>
            <a:off x="7434072" y="2267712"/>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أَ</a:t>
            </a:r>
            <a:pPr rtl="1" algn="ctr" indent="0" marL="0">
              <a:buNone/>
            </a:pPr>
            <a:r>
              <a:rPr lang="ar-SA" altLang="en-US" sz="2600" b="1" dirty="0">
                <a:solidFill>
                  <a:srgbClr val="1B3B6F"/>
                </a:solidFill>
                <a:latin typeface="Amiri" pitchFamily="2" charset="-78"/>
                <a:ea typeface="Amiri" pitchFamily="2" charset="-78"/>
                <a:cs typeface="Amiri" pitchFamily="2" charset="-78"/>
              </a:rPr>
              <a:t>ذْهَبُ</a:t>
            </a:r>
            <a:endParaRPr lang="ar-SA" sz="2600" dirty="0"/>
          </a:p>
        </p:txBody>
      </p:sp>
      <p:sp>
        <p:nvSpPr>
          <p:cNvPr id="23" name="Text 20"/>
          <p:cNvSpPr txBox="1"/>
          <p:nvPr/>
        </p:nvSpPr>
        <p:spPr>
          <a:xfrm>
            <a:off x="2679192" y="2267712"/>
            <a:ext cx="45720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أَذْهَبُ ثُمَّ أَدْخُلُ وَأَجْلِسُ.</a:t>
            </a:r>
            <a:endParaRPr lang="ar-SA" sz="2200" dirty="0"/>
          </a:p>
        </p:txBody>
      </p:sp>
      <p:sp>
        <p:nvSpPr>
          <p:cNvPr id="24" name="Text 21"/>
          <p:cNvSpPr txBox="1"/>
          <p:nvPr/>
        </p:nvSpPr>
        <p:spPr>
          <a:xfrm>
            <a:off x="566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go</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811512" y="3054096"/>
            <a:ext cx="18288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هُوَ</a:t>
            </a:r>
            <a:endParaRPr lang="ar-SA" sz="2400" dirty="0"/>
          </a:p>
        </p:txBody>
      </p:sp>
      <p:sp>
        <p:nvSpPr>
          <p:cNvPr id="29" name="Text 26"/>
          <p:cNvSpPr txBox="1"/>
          <p:nvPr/>
        </p:nvSpPr>
        <p:spPr>
          <a:xfrm>
            <a:off x="7434072" y="3054096"/>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ea typeface="Amiri" pitchFamily="2" charset="-78"/>
                <a:cs typeface="Amiri" pitchFamily="2" charset="-78"/>
              </a:rPr>
              <a:t>يَ</a:t>
            </a:r>
            <a:pPr rtl="1" algn="ctr" indent="0" marL="0">
              <a:buNone/>
            </a:pPr>
            <a:r>
              <a:rPr lang="ar-SA" altLang="en-US" sz="2600" b="1" dirty="0">
                <a:solidFill>
                  <a:srgbClr val="1B3B6F"/>
                </a:solidFill>
                <a:latin typeface="Amiri" pitchFamily="2" charset="-78"/>
                <a:ea typeface="Amiri" pitchFamily="2" charset="-78"/>
                <a:cs typeface="Amiri" pitchFamily="2" charset="-78"/>
              </a:rPr>
              <a:t>ذْهَبُ</a:t>
            </a:r>
            <a:endParaRPr lang="ar-SA" sz="2600" dirty="0"/>
          </a:p>
        </p:txBody>
      </p:sp>
      <p:sp>
        <p:nvSpPr>
          <p:cNvPr id="30" name="Text 27"/>
          <p:cNvSpPr txBox="1"/>
          <p:nvPr/>
        </p:nvSpPr>
        <p:spPr>
          <a:xfrm>
            <a:off x="2679192" y="3054096"/>
            <a:ext cx="45720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يَذْهَبُ يُوسُفُ مَاشِيًا.</a:t>
            </a:r>
            <a:endParaRPr lang="ar-SA" sz="2200" dirty="0"/>
          </a:p>
        </p:txBody>
      </p:sp>
      <p:sp>
        <p:nvSpPr>
          <p:cNvPr id="31" name="Text 28"/>
          <p:cNvSpPr txBox="1"/>
          <p:nvPr/>
        </p:nvSpPr>
        <p:spPr>
          <a:xfrm>
            <a:off x="566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goes</a:t>
            </a:r>
            <a:endParaRPr lang="en-US" sz="1100" dirty="0"/>
          </a:p>
        </p:txBody>
      </p:sp>
      <p:sp>
        <p:nvSpPr>
          <p:cNvPr id="32" name="Shape 29"/>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3" name="Text 30"/>
          <p:cNvSpPr txBox="1"/>
          <p:nvPr/>
        </p:nvSpPr>
        <p:spPr>
          <a:xfrm>
            <a:off x="9811512" y="3840480"/>
            <a:ext cx="18288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هِيَ</a:t>
            </a:r>
            <a:endParaRPr lang="ar-SA" sz="2400" dirty="0"/>
          </a:p>
        </p:txBody>
      </p:sp>
      <p:sp>
        <p:nvSpPr>
          <p:cNvPr id="34" name="Text 31"/>
          <p:cNvSpPr txBox="1"/>
          <p:nvPr/>
        </p:nvSpPr>
        <p:spPr>
          <a:xfrm>
            <a:off x="7434072" y="3840480"/>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ea typeface="Amiri" pitchFamily="2" charset="-78"/>
                <a:cs typeface="Amiri" pitchFamily="2" charset="-78"/>
              </a:rPr>
              <a:t>تَ</a:t>
            </a:r>
            <a:pPr rtl="1" algn="ctr" indent="0" marL="0">
              <a:buNone/>
            </a:pPr>
            <a:r>
              <a:rPr lang="ar-SA" altLang="en-US" sz="2600" b="1" dirty="0">
                <a:solidFill>
                  <a:srgbClr val="1B3B6F"/>
                </a:solidFill>
                <a:latin typeface="Amiri" pitchFamily="2" charset="-78"/>
                <a:ea typeface="Amiri" pitchFamily="2" charset="-78"/>
                <a:cs typeface="Amiri" pitchFamily="2" charset="-78"/>
              </a:rPr>
              <a:t>ذْهَبُ</a:t>
            </a:r>
            <a:endParaRPr lang="ar-SA" sz="2600" dirty="0"/>
          </a:p>
        </p:txBody>
      </p:sp>
      <p:sp>
        <p:nvSpPr>
          <p:cNvPr id="35" name="Text 32"/>
          <p:cNvSpPr txBox="1"/>
          <p:nvPr/>
        </p:nvSpPr>
        <p:spPr>
          <a:xfrm>
            <a:off x="2679192" y="3840480"/>
            <a:ext cx="45720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تَذْهَبُ هُدَى بِالسَّيَّارَةِ.</a:t>
            </a:r>
            <a:endParaRPr lang="ar-SA" sz="2200" dirty="0"/>
          </a:p>
        </p:txBody>
      </p:sp>
      <p:sp>
        <p:nvSpPr>
          <p:cNvPr id="36" name="Text 33"/>
          <p:cNvSpPr txBox="1"/>
          <p:nvPr/>
        </p:nvSpPr>
        <p:spPr>
          <a:xfrm>
            <a:off x="566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goes</a:t>
            </a:r>
            <a:endParaRPr lang="en-US" sz="110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9811512" y="4626864"/>
            <a:ext cx="18288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نَحْنُ</a:t>
            </a:r>
            <a:endParaRPr lang="ar-SA" sz="2400" dirty="0"/>
          </a:p>
        </p:txBody>
      </p:sp>
      <p:sp>
        <p:nvSpPr>
          <p:cNvPr id="39" name="Text 36"/>
          <p:cNvSpPr txBox="1"/>
          <p:nvPr/>
        </p:nvSpPr>
        <p:spPr>
          <a:xfrm>
            <a:off x="7434072" y="4626864"/>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نَذْهَبُ</a:t>
            </a:r>
            <a:endParaRPr lang="ar-SA" sz="2600" dirty="0"/>
          </a:p>
        </p:txBody>
      </p:sp>
      <p:sp>
        <p:nvSpPr>
          <p:cNvPr id="40" name="Text 37"/>
          <p:cNvSpPr txBox="1"/>
          <p:nvPr/>
        </p:nvSpPr>
        <p:spPr>
          <a:xfrm>
            <a:off x="2679192" y="4626864"/>
            <a:ext cx="45720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نَصِلُ فِي السَّاعَةِ الثَّامِنَةِ.</a:t>
            </a:r>
            <a:endParaRPr lang="ar-SA" sz="2200" dirty="0"/>
          </a:p>
        </p:txBody>
      </p:sp>
      <p:sp>
        <p:nvSpPr>
          <p:cNvPr id="41" name="Text 38"/>
          <p:cNvSpPr txBox="1"/>
          <p:nvPr/>
        </p:nvSpPr>
        <p:spPr>
          <a:xfrm>
            <a:off x="566928" y="4626864"/>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go</a:t>
            </a:r>
            <a:endParaRPr lang="en-US" sz="1100" dirty="0"/>
          </a:p>
        </p:txBody>
      </p:sp>
      <p:sp>
        <p:nvSpPr>
          <p:cNvPr id="42" name="Text 3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personal routine uses the a- / u- form throughout. Website repair: yadkhulu (he enters) → adkhulu (I enter).</a:t>
            </a:r>
            <a:endParaRPr lang="en-US" sz="11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F4-L07 · My School Day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SEQUENCE AND TIME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Open, move on, close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التَّسَلْسُلُ وَالْوَقْتُ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5486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5486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OPEN</a:t>
            </a:r>
            <a:endParaRPr lang="en-US" sz="850" dirty="0"/>
          </a:p>
        </p:txBody>
      </p:sp>
      <p:sp>
        <p:nvSpPr>
          <p:cNvPr id="18" name="Text 15"/>
          <p:cNvSpPr txBox="1"/>
          <p:nvPr/>
        </p:nvSpPr>
        <p:spPr>
          <a:xfrm>
            <a:off x="8827008" y="1874520"/>
            <a:ext cx="27675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عَادَةً · أَوَّلًا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عَادَةً أَسْتَيْقِظُ فِي السَّاعَةِ السَّادِسَةِ.</a:t>
            </a:r>
            <a:endParaRPr lang="ar-SA" sz="2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Usually I wake up at six.</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Also: fī l-bidāya.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75438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MOVE ON</a:t>
            </a:r>
            <a:endParaRPr lang="en-US" sz="850" dirty="0"/>
          </a:p>
        </p:txBody>
      </p:sp>
      <p:sp>
        <p:nvSpPr>
          <p:cNvPr id="26" name="Text 23"/>
          <p:cNvSpPr txBox="1"/>
          <p:nvPr/>
        </p:nvSpPr>
        <p:spPr>
          <a:xfrm>
            <a:off x="5213604"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ثُمَّ · بَعْدَ ذَلِكَ</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ea typeface="Amiri" pitchFamily="2" charset="-78"/>
                <a:cs typeface="Amiri" pitchFamily="2" charset="-78"/>
              </a:rPr>
              <a:t>بَعْدَ الاِسْتِرَاحَةِ أَدْرُسُ التَّارِيخَ.</a:t>
            </a:r>
            <a:endParaRPr lang="ar-SA" sz="24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After break I study history.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Also: fī muntaṣafi n-nahār.</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61722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CLOSE</a:t>
            </a:r>
            <a:endParaRPr lang="en-US" sz="850" dirty="0"/>
          </a:p>
        </p:txBody>
      </p:sp>
      <p:sp>
        <p:nvSpPr>
          <p:cNvPr id="34" name="Text 31"/>
          <p:cNvSpPr txBox="1"/>
          <p:nvPr/>
        </p:nvSpPr>
        <p:spPr>
          <a:xfrm>
            <a:off x="1257300"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أَخِيرًا · فِي النِّهَايَةِ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أَخِيرًا أَعُودُ إِلَى الْبَيْتِ وَأُكْمِلُ وَاجِبِي.</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Finally I go home and finish my homework.</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Make the last event clear.</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Order: the sequence word goes BEFORE the action it introduces.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أَوَّلًا أَدْخُلُ الْفَصْلَ، ثُمَّ أَجْلِسُ.</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B83227"/>
                </a:solidFill>
                <a:latin typeface="Amiri" pitchFamily="2" charset="-78"/>
                <a:ea typeface="Amiri" pitchFamily="2" charset="-78"/>
                <a:cs typeface="Amiri" pitchFamily="2" charset="-78"/>
              </a:rPr>
              <a:t>ثُمَّ أَوَّلًا أَدْخُلُ الْفَصْلَ.</a:t>
            </a:r>
            <a:endParaRPr lang="ar-SA" sz="17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F4-L07 · My School Day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a personal narrative: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ثُمَّ ___ الْفَصْلَ.</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يَدْخُلُ</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تَدْخُلُ</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أَدْخُلُ</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 the viewpoint:</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أَذْهَبُ إِلَى الْمَدْرَسَةِ، ثُمَّ يَجْلِسُ فِي مَكَانِهِ.</a:t>
            </a:r>
            <a:endParaRPr lang="ar-SA" sz="14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أَذْهَبُ إِلَى الْمَدْرَسَةِ، ثُمَّ أَجْلِسُ فِي مَكَانِي.</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يَذْهَبُ إِلَى الْمَدْرَسَةِ، ثُمَّ أَجْلِسُ فِي مَكَانِي.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أَذْهَبُ إِلَى الْمَدْرَسَةِ، ثُمَّ تَجْلِسُ فِي مَكَانِهَا.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gives an approximate time?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 السَّاعَةِ الثَّامِنَةِ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حَوَالَي السَّاعَةِ الثَّامِنَةِ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يَوْمِ الثُّلَاثَاءِ</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___ الاِسْتِرَاحَةِ أَدْرُسُ التَّارِيخَ.</a:t>
            </a:r>
            <a:endParaRPr lang="ar-SA" sz="18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F4-L07 · My School Day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a personal narrative: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ثُمَّ ___ الْفَصْلَ.</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يَدْخُلُ</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تَدْخُلُ</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أَدْخُلُ</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narrator is “I”, so use </a:t>
            </a:r>
            <a:pPr algn="l" indent="0" marL="0">
              <a:buNone/>
            </a:pPr>
            <a:r>
              <a:rPr lang="ar-SA" altLang="en-US" sz="1350" dirty="0">
                <a:solidFill>
                  <a:srgbClr val="8A6D1E"/>
                </a:solidFill>
                <a:latin typeface="Amiri" pitchFamily="2" charset="-78"/>
                <a:ea typeface="Amiri" pitchFamily="2" charset="-78"/>
                <a:cs typeface="Amiri" pitchFamily="2" charset="-78"/>
              </a:rPr>
              <a:t>أَدْخُلُ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 the viewpoint:</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أَذْهَبُ إِلَى الْمَدْرَسَةِ، ثُمَّ يَجْلِسُ فِي مَكَانِهِ.</a:t>
            </a:r>
            <a:endParaRPr lang="ar-SA" sz="145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أَذْهَبُ إِلَى الْمَدْرَسَةِ، ثُمَّ أَجْلِسُ فِي مَكَانِي.</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يَذْهَبُ إِلَى الْمَدْرَسَةِ، ثُمَّ أَجْلِسُ فِي مَكَانِي.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أَذْهَبُ إِلَى الْمَدْرَسَةِ، ثُمَّ تَجْلِسُ فِي مَكَانِهَا.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verbs and possessive ending must stay with “I”.</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gives an approximate time?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 السَّاعَةِ الثَّامِنَةِ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حَوَالَي السَّاعَةِ الثَّامِنَةِ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يَوْمِ الثُّلَاثَاءِ</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حَوَالَي</a:t>
            </a:r>
            <a:pPr algn="l" indent="0" marL="0">
              <a:buNone/>
            </a:pPr>
            <a:r>
              <a:rPr lang="en-US" sz="1050" i="1" dirty="0">
                <a:solidFill>
                  <a:srgbClr val="8A6D1E"/>
                </a:solidFill>
                <a:latin typeface="Calibri" pitchFamily="34" charset="0"/>
                <a:cs typeface="Amiri" pitchFamily="2" charset="-78"/>
              </a:rPr>
              <a:t> means around or approximately.</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___ الاِسْتِرَاحَةِ أَدْرُسُ التَّارِيخَ.</a:t>
            </a:r>
            <a:endParaRPr lang="ar-SA" sz="18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بَعْدَ</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بَعْدَ الاِسْتِرَاحَةِ</a:t>
            </a:r>
            <a:pPr algn="l" indent="0" marL="0">
              <a:buNone/>
            </a:pPr>
            <a:r>
              <a:rPr lang="en-US" sz="1050" i="1" dirty="0">
                <a:solidFill>
                  <a:srgbClr val="8A6D1E"/>
                </a:solidFill>
                <a:latin typeface="Calibri" pitchFamily="34" charset="0"/>
                <a:cs typeface="Amiri" pitchFamily="2" charset="-78"/>
              </a:rPr>
              <a:t> means after break.</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F4-L07 · My School Day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narrate a school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Morning</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عَادَةً</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أَسْتَيْقِظُ فِي السَّاعَةِ السَّادِسَةِ وَالنِّصْفِ.</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Open + time.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School</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أَصِلُ حَوَالَيِ الثَّامِنَةِ،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ثُمَّ</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أَدْخُلُ الْفَصْلَ.</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Keep “I”.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Midday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0E7C86"/>
                </a:solidFill>
                <a:latin typeface="Amiri" pitchFamily="2" charset="-78"/>
                <a:ea typeface="Amiri" pitchFamily="2" charset="-78"/>
                <a:cs typeface="Amiri" pitchFamily="2" charset="-78"/>
              </a:rPr>
              <a:t>فِي الاِسْتِرَاحَةِ</a:t>
            </a:r>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 آكُلُ فِي الْمَقْصَفِ.</a:t>
            </a:r>
            <a:endParaRPr lang="ar-SA" sz="1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Place: fī.</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Home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أَخِيرًا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أَعُودُ إِلَى الْبَيْتِ وَأُكْمِلُ وَاجِبِي.</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Clear close.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SEQUENCE / TIME</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عَادَةً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أَسْتَيْقِظُ فِي السَّاعَةِ السَّادِسَةِ وَالنِّصْفِ،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ثُمَّ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أَتَنَاوَلُ الْفُطُورَ. أَذْهَبُ إِلَى الْمَدْرَسَةِ بِالْحَافِلَةِ، وَأَصِلُ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حَوَالَيِ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السَّاعَةِ الثَّامِنَةِ.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فِي الاِسْتِرَاحَةِ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آكُلُ فِي الْمَقْصَفِ.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أَخِيرًا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أَعُودُ إِلَى الْبَيْتِ وَأُكْمِلُ وَاجِبِي.</a:t>
            </a:r>
            <a:endParaRPr lang="ar-SA" sz="140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Usually I wake up at half past six, then I have breakfast. I go to school by bus and arrive at about eight. At break I eat in the canteen. Finally I go home and finish my homework.</a:t>
            </a:r>
            <a:endParaRPr lang="en-US" sz="11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F4-L07 · My School Day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“VISUAL GAME — ROUTINE”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happens?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مَشْهَدُ 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sun + bed</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bag + school</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book + pen</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أَذْهَبُ إِلَى المَدْرَسَةِ.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أَدْرُسُ بَعْدَ المَدْرَسَةِ.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أَسْتَيْقِظُ صَبَاحًا.</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F4-L07 · My School Day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مَشْهَدُ 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sun + bed</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أَسْتَيْقِظُ صَبَاحًا.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wake up in the morning.</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bag + school</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أَذْهَبُ إِلَى المَدْرَسَةِ.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go to school.</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book + pen</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أَدْرُسُ بَعْدَ المَدْرَسَةِ.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study after school.</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F4-L07 · My School Day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“SCHOOL-DAY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school-day mission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الْيَوْمِ الدِّرَاسِيِّ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Arrival: What happens next after going to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أَصِلُ إِلَى الْمَدْرَسَةِ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أُكْمِلُ وَاجِبِي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أَعُودُ إِلَى الْبَيْتِ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ثُمَّ ___ الْفَصْلَ.</a:t>
            </a:r>
            <a:endParaRPr lang="ar-SA" sz="22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يَدْخُلُ</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تَدْخُلُ</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أَدْخُلُ</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Approximate: Choose “at around three o’clock”.</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 السَّاعَةِ الثَّالِثَةِ</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حَوَالَي السَّاعَةِ الثَّالِثَةِ</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 السَّاعَةِ الثَّالِثَةِ دَائِمًا</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Connector: Choose “after that”.</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ذَلِكَ</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 ذَلِكَ</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 ذَلِكَ</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Home: Choose the logical final sequence.</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أُكْمِلُ وَاجِبِي، ثُمَّ أَصِلُ إِلَى الْمَدْرَسَةِ فِي النِّهَايَةِ.</a:t>
            </a:r>
            <a:endParaRPr lang="ar-SA" sz="140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أَدْخُلُ الْفَصْلَ بَعْدَ أَنْ أَنَامَ فِي الْمَدْرَسَةِ.</a:t>
            </a:r>
            <a:endParaRPr lang="ar-SA" sz="140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أَعُودُ إِلَى الْبَيْتِ، ثُمَّ أُكْمِلُ وَاجِبِي.</a:t>
            </a:r>
            <a:endParaRPr lang="ar-SA" sz="1400" dirty="0"/>
          </a:p>
        </p:txBody>
      </p:sp>
      <p:sp>
        <p:nvSpPr>
          <p:cNvPr id="81" name="Shape 7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3" name="Text 8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4" name="Text 8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keep “I”: a- / u-</a:t>
            </a:r>
            <a:endParaRPr lang="en-US" sz="1250" dirty="0"/>
          </a:p>
          <a:p>
            <a:pPr algn="l" indent="0" marL="0">
              <a:buNone/>
            </a:pPr>
            <a:r>
              <a:rPr lang="en-US" sz="1250" dirty="0">
                <a:solidFill>
                  <a:srgbClr val="1E6B52"/>
                </a:solidFill>
                <a:latin typeface="Calibri" pitchFamily="34" charset="0"/>
                <a:cs typeface="Amiri" pitchFamily="2" charset="-78"/>
              </a:rPr>
              <a:t>ilā = towards · fī = in</a:t>
            </a:r>
            <a:endParaRPr lang="en-US" sz="1250" dirty="0"/>
          </a:p>
          <a:p>
            <a:pPr algn="l" indent="0" marL="0">
              <a:buNone/>
            </a:pPr>
            <a:r>
              <a:rPr lang="en-US" sz="1250" dirty="0">
                <a:solidFill>
                  <a:srgbClr val="1E6B52"/>
                </a:solidFill>
                <a:latin typeface="Calibri" pitchFamily="34" charset="0"/>
                <a:cs typeface="Amiri" pitchFamily="2" charset="-78"/>
              </a:rPr>
              <a:t>exact ‘inda · about ḥawālay</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F4-L07 · My School Day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Arrival: What happens next after going to school?</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أَصِلُ إِلَى الْمَدْرَسَةِ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أُكْمِلُ وَاجِبِي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أَعُودُ إِلَى الْبَيْتِ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Arrival follows the journey.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ثُمَّ ___ الْفَصْلَ.</a:t>
            </a:r>
            <a:endParaRPr lang="ar-SA" sz="2200" dirty="0"/>
          </a:p>
        </p:txBody>
      </p:sp>
      <p:sp>
        <p:nvSpPr>
          <p:cNvPr id="35" name="Shape 32"/>
          <p:cNvSpPr/>
          <p:nvPr/>
        </p:nvSpPr>
        <p:spPr>
          <a:xfrm>
            <a:off x="4459224" y="2490216"/>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يَدْخُلُ</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تَدْخُلُ</a:t>
            </a:r>
            <a:endParaRPr lang="ar-SA" sz="1700" dirty="0"/>
          </a:p>
        </p:txBody>
      </p:sp>
      <p:sp>
        <p:nvSpPr>
          <p:cNvPr id="41" name="Shape 38"/>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4459224" y="3233928"/>
            <a:ext cx="256032" cy="256032"/>
          </a:xfrm>
          <a:prstGeom prst="ellipse">
            <a:avLst/>
          </a:prstGeom>
          <a:solidFill>
            <a:srgbClr val="2E8B57"/>
          </a:solidFill>
          <a:ln w="12700">
            <a:solidFill>
              <a:srgbClr val="2E8B57"/>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أَدْخُلُ</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narrator stays in first person.</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Approximate: Choose “at around three o’clock”.</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 السَّاعَةِ الثَّالِثَةِ</a:t>
            </a:r>
            <a:endParaRPr lang="ar-SA" sz="1700" dirty="0"/>
          </a:p>
        </p:txBody>
      </p:sp>
      <p:sp>
        <p:nvSpPr>
          <p:cNvPr id="53" name="Shape 50"/>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8278368" y="2862072"/>
            <a:ext cx="256032" cy="256032"/>
          </a:xfrm>
          <a:prstGeom prst="ellipse">
            <a:avLst/>
          </a:prstGeom>
          <a:solidFill>
            <a:srgbClr val="2E8B57"/>
          </a:solidFill>
          <a:ln w="12700">
            <a:solidFill>
              <a:srgbClr val="2E8B57"/>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حَوَالَي السَّاعَةِ الثَّالِثَةِ</a:t>
            </a:r>
            <a:endParaRPr lang="ar-SA" sz="1700" dirty="0"/>
          </a:p>
        </p:txBody>
      </p:sp>
      <p:sp>
        <p:nvSpPr>
          <p:cNvPr id="57" name="Shape 54"/>
          <p:cNvSpPr/>
          <p:nvPr/>
        </p:nvSpPr>
        <p:spPr>
          <a:xfrm>
            <a:off x="8278368" y="323392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بَعْدَ السَّاعَةِ الثَّالِثَةِ دَائِمًا</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حَوَالَي</a:t>
            </a:r>
            <a:pPr algn="l" indent="0" marL="0">
              <a:buNone/>
            </a:pPr>
            <a:r>
              <a:rPr lang="en-US" sz="1050" i="1" dirty="0">
                <a:solidFill>
                  <a:srgbClr val="8A6D1E"/>
                </a:solidFill>
                <a:latin typeface="Calibri" pitchFamily="34" charset="0"/>
                <a:cs typeface="Amiri" pitchFamily="2" charset="-78"/>
              </a:rPr>
              <a:t> signals approximation.</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Connector: Choose “after that”.</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قَبْلَ ذَلِكَ</a:t>
            </a:r>
            <a:endParaRPr lang="ar-SA" sz="1700" dirty="0"/>
          </a:p>
        </p:txBody>
      </p:sp>
      <p:sp>
        <p:nvSpPr>
          <p:cNvPr id="68" name="Shape 65"/>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40080" y="5202936"/>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بَعْدَ ذَلِكَ</a:t>
            </a:r>
            <a:endParaRPr lang="ar-SA" sz="1700" dirty="0"/>
          </a:p>
        </p:txBody>
      </p:sp>
      <p:sp>
        <p:nvSpPr>
          <p:cNvPr id="72" name="Shape 69"/>
          <p:cNvSpPr/>
          <p:nvPr/>
        </p:nvSpPr>
        <p:spPr>
          <a:xfrm>
            <a:off x="640080"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 ذَلِكَ</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بَعْدَ ذَلِكَ</a:t>
            </a:r>
            <a:pPr algn="l" indent="0" marL="0">
              <a:buNone/>
            </a:pPr>
            <a:r>
              <a:rPr lang="en-US" sz="1050" i="1" dirty="0">
                <a:solidFill>
                  <a:srgbClr val="8A6D1E"/>
                </a:solidFill>
                <a:latin typeface="Calibri" pitchFamily="34" charset="0"/>
                <a:cs typeface="Amiri" pitchFamily="2" charset="-78"/>
              </a:rPr>
              <a:t> advances the sequence.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Home: Choose the logical final sequence.</a:t>
            </a:r>
            <a:endParaRPr lang="en-US" sz="1250" dirty="0"/>
          </a:p>
        </p:txBody>
      </p:sp>
      <p:sp>
        <p:nvSpPr>
          <p:cNvPr id="80" name="Shape 77"/>
          <p:cNvSpPr/>
          <p:nvPr/>
        </p:nvSpPr>
        <p:spPr>
          <a:xfrm>
            <a:off x="4459224" y="4831080"/>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ea typeface="Amiri" pitchFamily="2" charset="-78"/>
                <a:cs typeface="Amiri" pitchFamily="2" charset="-78"/>
              </a:rPr>
              <a:t>أُكْمِلُ وَاجِبِي، ثُمَّ أَصِلُ إِلَى الْمَدْرَسَةِ فِي النِّهَايَةِ.</a:t>
            </a:r>
            <a:endParaRPr lang="ar-SA" sz="14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ea typeface="Amiri" pitchFamily="2" charset="-78"/>
                <a:cs typeface="Amiri" pitchFamily="2" charset="-78"/>
              </a:rPr>
              <a:t>أَدْخُلُ الْفَصْلَ بَعْدَ أَنْ أَنَامَ فِي الْمَدْرَسَةِ.</a:t>
            </a:r>
            <a:endParaRPr lang="ar-SA" sz="1400" dirty="0"/>
          </a:p>
        </p:txBody>
      </p:sp>
      <p:sp>
        <p:nvSpPr>
          <p:cNvPr id="86" name="Shape 83"/>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7" name="Shape 84"/>
          <p:cNvSpPr/>
          <p:nvPr/>
        </p:nvSpPr>
        <p:spPr>
          <a:xfrm>
            <a:off x="4459224" y="5574792"/>
            <a:ext cx="256032" cy="256032"/>
          </a:xfrm>
          <a:prstGeom prst="ellipse">
            <a:avLst/>
          </a:prstGeom>
          <a:solidFill>
            <a:srgbClr val="2E8B57"/>
          </a:solidFill>
          <a:ln w="12700">
            <a:solidFill>
              <a:srgbClr val="2E8B57"/>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أَعُودُ إِلَى الْبَيْتِ، ثُمَّ أُكْمِلُ وَاجِبِي.</a:t>
            </a:r>
            <a:endParaRPr lang="ar-SA" sz="14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Returning home logically precedes home study.</a:t>
            </a:r>
            <a:endParaRPr lang="en-US" sz="1050" dirty="0"/>
          </a:p>
        </p:txBody>
      </p:sp>
      <p:sp>
        <p:nvSpPr>
          <p:cNvPr id="91" name="Shape 8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2" name="Shape 8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4" name="Text 9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keep “I”: a- / u-</a:t>
            </a:r>
            <a:endParaRPr lang="en-US" sz="1250" dirty="0"/>
          </a:p>
          <a:p>
            <a:pPr algn="l" indent="0" marL="0">
              <a:buNone/>
            </a:pPr>
            <a:r>
              <a:rPr lang="en-US" sz="1250" dirty="0">
                <a:solidFill>
                  <a:srgbClr val="1E6B52"/>
                </a:solidFill>
                <a:latin typeface="Calibri" pitchFamily="34" charset="0"/>
                <a:cs typeface="Amiri" pitchFamily="2" charset="-78"/>
              </a:rPr>
              <a:t>ilā = towards · fī = in</a:t>
            </a:r>
            <a:endParaRPr lang="en-US" sz="1250" dirty="0"/>
          </a:p>
          <a:p>
            <a:pPr algn="l" indent="0" marL="0">
              <a:buNone/>
            </a:pPr>
            <a:r>
              <a:rPr lang="en-US" sz="1250" dirty="0">
                <a:solidFill>
                  <a:srgbClr val="1E6B52"/>
                </a:solidFill>
                <a:latin typeface="Calibri" pitchFamily="34" charset="0"/>
                <a:cs typeface="Amiri" pitchFamily="2" charset="-78"/>
              </a:rPr>
              <a:t>exact ‘inda · about ḥawālay</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F4-L07 · My School Day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أَذْهَبُ إِلَى الْمَدْرَسَةِ، ثُمَّ يَدْخُلُ الْفَصْلَ.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 enters? Keep “I”.</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أَذْهَبُ فِي الْمَدْرَسَةِ.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Towards a place: fī or ilā?</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أَخِيرًا أَسْتَيْقِظُ فِي السَّاعَةِ السَّادِسَةِ.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word opens the day?</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F4-L07 · My School Day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أَذْهَبُ إِلَى الْمَدْرَسَةِ، ثُمَّ يَدْخُلُ الْفَصْلَ.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أَذْهَبُ إِلَى الْمَدْرَسَةِ، ثُمَّ أَدْخُلُ الْفَصْلَ.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Keep “I”: yadkhulu = he enters.</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أَذْهَبُ فِي الْمَدْرَسَةِ.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أَذْهَبُ إِلَى الْمَدْرَسَةِ.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Movement towards a place = ilā.</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أَخِيرًا أَسْتَيْقِظُ فِي السَّاعَةِ السَّادِسَةِ.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عَادَةً أَسْتَيْقِظُ فِي السَّاعَةِ السَّادِسَةِ.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Akhīran closes the day; ‘ādatan opens it.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F4-L07 · My School Day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Salma’s school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travel to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bus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foot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car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first subject?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mathematics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favourite subject?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mathematics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do at break?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eats and talks with classmates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plays football alone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reads in the library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 lessons finish?</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2:00</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3:00</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4:00</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Four headings: Morning · School · Break · Home.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F4-L07 · My School Day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اِسْمِي سَلْمَى، وَهَذَا يَوْمِي الدِّرَاسِيُّ. عَادَةً أَسْتَيْقِظُ فِي السَّاعَةِ السَّادِسَةِ وَالنِّصْفِ، وَأَذْهَبُ إِلَى الْمَدْرَسَةِ بِالْحَافِلَةِ.</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 Salma; this is my school day. Usually I wake up at 6:30 and go to school by bus.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أَصِلُ فِي السَّاعَةِ الثَّامِنَةِ، ثُمَّ أَدْخُلُ الْفَصْلَ وَأَجْلِسُ فِي مَكَانِي.</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arrive at eight, then I enter the classroom and sit in my place.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الْحِصَّةُ الأُولَى هِيَ الرِّيَاضِيَّاتُ، وَلَكِنَّ مَادَّتِي الْمُفَضَّلَةَ هِيَ الْعُلُومُ لِأَنَّهَا شَيِّقَةٌ وَمُفِيدَةٌ.</a:t>
            </a:r>
            <a:endParaRPr lang="ar-SA" sz="17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lesson is maths, but my favourite subject is science because it is engaging and useful.</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فِي الاِسْتِرَاحَةِ آكُلُ وَأَتَحَدَّثُ مَعَ زَمِيلَاتِي. بَعْدَ ذَلِكَ أَدْرُسُ اللُّغَةَ الْعَرَبِيَّةَ وَالتَّارِيخَ.</a:t>
            </a:r>
            <a:endParaRPr lang="ar-SA" sz="18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break I eat and talk with my classmates. After that I study Arabic and history.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تَنْتَهِي الْحِصَصُ فِي السَّاعَةِ الثَّالِثَةِ، فَأَعُودُ إِلَى الْبَيْتِ. فِي النِّهَايَةِ أَسْتَرِيحُ قَلِيلًا، ثُمَّ أُكْمِلُ وَاجِبِي الْمَنْزِلِيَّ.</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Lessons end at three, so I go home. In the end I rest a little, then finish my homework.</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F4-L07 · My School Day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travel to school?</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bus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foot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car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بِالْحَافِلَةِ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first subject?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science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mathematics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الْحِصَّةُ الأُولَى هِيَ الرِّيَاضِيَّاتُ.</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favourite subject?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history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mathematics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science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مَادَّتِي الْمُفَضَّلَةَ هِيَ العُلُومُ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do at break?</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eats and talks with classmates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plays football alone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reads in the library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آكُلُ وَأَتَحَدَّثُ مَعَ زَمِيلَاتِي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 lessons finish?</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2:00</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3:00</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4:00</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فِي السَّاعَةِ الثَّالِثَةِ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Four headings: Morning · School · Break · Home.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F4-L07 · My School Day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TEXT A · FULLY VOWELLED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Yusuf’s early start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يُوسُفُ. كُلَّ يَوْمٍ أَذْهَبُ إِلَى الْمَدْرَسَةِ مَاشِيًا لِأَنَّ بَيْتِي قَرِيبٌ مِنْهَا.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Walks to school — his house is near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أَصِلُ حَوَالَيِ السَّاعَةِ السَّابِعَةِ وَخَمْسِينَ دَقِيقَةً.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Arrives at about 7:50</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أَوَّلًا أَتَحَدَّثُ مَعَ أَصْدِقَائِي، ثُمَّ أَدْخُلُ الْفَصْلَ.</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First talks with friends, then enters class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أَدْرُسُ سِتَّ حِصَصٍ، وَفِي مُنْتَصَفِ النَّهَارِ آكُلُ فِي الْمَقْصَفِ.</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 lessons · lunch in the canteen at midday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أُحِبُّ التَّرْبِيَةَ الْبَدَنِيَّةَ، فَأَلْعَبُ فِي الْمَلْعَبِ بَعْدَ الغَدَاءِ. أَعُودُ إِلَى الْبَيْتِ فِي السَّاعَةِ الثَّالِثَةِ وَالنِّصْفِ.</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Plays after lunch · home at 3:30</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F4-L07 · My School Day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cs typeface="Amiri" pitchFamily="2" charset="-78"/>
              </a:rPr>
              <a:t>WE DO · READING · TEXT B · UNVOWELLED CHALLENGE ON THE WEBSITE · FLEX / STRETCH</a:t>
            </a:r>
            <a:endParaRPr lang="en-US" sz="87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Huda’s later day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F4-L07</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اِسْمِي هُدَى. أَذْهَبُ إِلَى الْمَدْرَسَةِ بِالسَّيَّارَةِ مَعَ أُخْتِي.</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car with her sister</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نَصِلُ فِي السَّاعَةِ الثَّامِنَةِ وَالنِّصْفِ لِأَنَّ الْحِصَّةَ الأُولَى تَبْدَأُ فِي التَّاسِعَةِ.</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Arrive 8:30 — first lesson at 9:00</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أَدْرُسُ اللُّغَةَ الْعَرَبِيَّةَ وَالْعُلُومَ وَالْجُغْرَافِيَا، وَأُفَضِّلُ الْجُغْرَافِيَا لِأَنَّهَا مُمْتِعَةٌ.</a:t>
            </a:r>
            <a:endParaRPr lang="ar-SA" sz="195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Prefers geography — enjoyable</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فِي الاِسْتِرَاحَةِ أَقْرَأُ فِي الْمَكْتَبَةِ أَحْيَانًا. بَعْدَ ذَلِكَ آكُلُ فِي الْمَقْصَفِ مَعَ زَمِيلَاتِي.</a:t>
            </a:r>
            <a:endParaRPr lang="ar-SA" sz="185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Break: sometimes reads in the library · then eats</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تَنْتَهِي الْحِصَصُ حَوَالَيِ السَّاعَةِ الرَّابِعَةِ، ثُمَّ أَعُودُ إِلَى الْبَيْتِ وَأُكْمِلُ وَاجِبِي الْمَنْزِلِيَّ.</a:t>
            </a:r>
            <a:endParaRPr lang="ar-SA" sz="18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Lessons end about 4:00 · home + homework</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F4-L07 · My School Day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Yusuf or Huda?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Yusuf walk?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dislikes buses.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house is near the school.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 starts late.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Yusuf do before entering class?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talks with friends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eats lunch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completes homework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Huda arrive at 8:30?</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has breakfast at school.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house is far away.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lesson begins at 9:00.</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Huda sometimes do at break?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plays outside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reads in the library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talks to a teacher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has the later school day?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Yusuf</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finish at the same time.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COMPARE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time in each text,</a:t>
            </a:r>
            <a:endParaRPr lang="en-US" sz="1250" dirty="0"/>
          </a:p>
          <a:p>
            <a:pPr algn="l" indent="0" marL="0">
              <a:buNone/>
            </a:pPr>
            <a:r>
              <a:rPr lang="en-US" sz="1250" dirty="0">
                <a:solidFill>
                  <a:srgbClr val="1F2A37"/>
                </a:solidFill>
                <a:latin typeface="Calibri" pitchFamily="34" charset="0"/>
                <a:cs typeface="Amiri" pitchFamily="2" charset="-78"/>
              </a:rPr>
              <a:t>then compare them.</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F4-L07 · My School Day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Yusuf walk?</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dislikes buses.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His house is near the school.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School starts late.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لِأَنَّ بَيْتِي قَرِيبٌ مِنْهَا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Yusuf do before entering class?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talks with friends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eats lunch</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completes homework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أَوَّلًا أَتَحَدَّثُ مَعَ أَصْدِقَائِي.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Huda arrive at 8:30?</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has breakfast at school.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house is far away.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first lesson begins at 9:00.</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states the first lesson begins at 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Huda sometimes do at break?</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plays outside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reads in the library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talks to a teacher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في الاستراحة أقرأ في المكتبة أحياناً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has the later school day?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Yusuf</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Huda</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finish at the same time.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Huda finishes around four; Yusuf returns at 3:30.</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COMPARE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time in each text,</a:t>
            </a:r>
            <a:endParaRPr lang="en-US" sz="1250" dirty="0"/>
          </a:p>
          <a:p>
            <a:pPr algn="l" indent="0" marL="0">
              <a:buNone/>
            </a:pPr>
            <a:r>
              <a:rPr lang="en-US" sz="1250" dirty="0">
                <a:solidFill>
                  <a:srgbClr val="1F2A37"/>
                </a:solidFill>
                <a:latin typeface="Calibri" pitchFamily="34" charset="0"/>
                <a:cs typeface="Amiri" pitchFamily="2" charset="-78"/>
              </a:rPr>
              <a:t>then compare them.</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F4-L07 · My School Day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Speak for 60 seconds about a school day</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تَسْتَيْقِظُ؟ وَكَيْفَ تَذْهَبُ إِلَى الْمَدْرَسَةِ؟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يَوْمَكَ الدِّرَاسِيَّ فِي سِتِّينَ ثَانِيَةً.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أَكْثَرُ أَيَّامِكَ اِنْشِغَالًا؟ وَلِمَاذَا؟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قَارِنْ يَوْمَكَ بِيَوْمِ يُوسُفَ أَوْ هُدَى.</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D5FBF"/>
                </a:solidFill>
                <a:latin typeface="Amiri" pitchFamily="2" charset="-78"/>
                <a:ea typeface="Amiri" pitchFamily="2" charset="-78"/>
                <a:cs typeface="Amiri" pitchFamily="2" charset="-78"/>
              </a:rPr>
              <a:t>عَادَةً أَسْتَيْقِظُ فِي السَّاعَةِ ___ ، وَأَذْهَبُ ___ .</a:t>
            </a:r>
            <a:endParaRPr lang="ar-SA" sz="135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أَوَّلًا … ثُمَّ … بَعْدَ ذَلِكَ … أَخِيرًا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أَكْثَرُ أَيَّامِي اِنْشِغَالًا هُوَ يَوْمُ ___ لِأَنَّ ___ .</a:t>
            </a:r>
            <a:endParaRPr lang="ar-SA" sz="135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أَذْهَبُ ___ ، أَمَّا يُوسُفُ فَيَذْهَبُ مَاشِيًا.</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صِفْ يَوْمَكَ الدِّرَاسِيَّ.</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your school day.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عَادَةً أَذْهَبُ إِلَى الْمَدْرَسَةِ فِي السَّاعَةِ الثَّامِنَةِ. أَوَّلًا أَدْخُلُ الْفَصْلَ، ثُمَّ أَدْرُسُ الْعُلُومَ.</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cs typeface="Amiri" pitchFamily="2" charset="-78"/>
              </a:rPr>
              <a:t>Usually I go to school at eight. First I enter the classroom, then I study science.</a:t>
            </a:r>
            <a:endParaRPr lang="en-US" sz="8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F4-L07 · My School Day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60–70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60–70 words with six events and four connectors.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Six events and four connectors, all with “I”.</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80–100 words with varied times, places and a justified opinion.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Varied times and places and a justified opinion.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Exact and approximate time, a contrast and one sentence about a rule.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Exact and approximate time, a contrast and a rule sentence.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F4-L07 · My School Day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أَصِلُ حَوَالَيِ السَّاعَةِ الثَّامِنَةِ.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arrive at about eight.</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الاِسْتِرَاحَةِ أَدْرُسُ التَّارِيخَ.</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break I study history.</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الْعُلُومَ لِأَنَّهَا مُفِيدَةٌ.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science because it is useful.</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الْفَصْلِ يَجِبُ أَنْ أَسْتَمِعَ إِلَى الْمُعَلِّمِ.</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class I must listen to the teacher.</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يُوسُفُ فَيَذْهَبُ مَاشِيًا.</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Yusuf, he walks to school.</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عَادَةً أَسْتَيْقِظُ فِي السَّاعَةِ السَّادِسَةِ.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Usually I wake up at six.</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أَذْهَبُ إِلَى الْمَدْرَسَةِ بِالْحَافِلَةِ.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go to school by bus.</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أَوَّلًا أَدْخُلُ الْفَصْلَ.</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First I enter the classroom.</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الاِسْتِرَاحَةِ آكُلُ فِي الْمَقْصَفِ.</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At break I eat in the canteen.</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أَخِيرًا أَعُودُ إِلَى الْبَيْتِ.</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Finally I return home.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أَسْتَيْقِظُ  ·  أَذْهَبُ إِلَى  ·  أَصِلُ  ·  أَدْخُلُ  ·  آكُلُ  ·  أَعُودُ  ·  عَادَةً  ·  أَوَّلًا  ·  ثُمَّ  ·  بَعْدَ ذَلِكَ  ·  أَخِيرًا  ·  حَوَالَيْ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F4-L07 · My School Day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ea typeface="Amiri" pitchFamily="2" charset="-78"/>
                <a:cs typeface="Amiri" pitchFamily="2" charset="-78"/>
              </a:rPr>
              <a:t>عَادَةً أَسْتَيْقِظُ فِي السَّاعَةِ السَّادِسَةِ وَالنِّصْفِ، ثُمَّ أَتَنَاوَلُ الْفُطُورَ مَعَ عَائِلَتِي. أَذْهَبُ إِلَى الْمَدْرَسَةِ بِالْحَافِلَةِ، وَأَصِلُ حَوَالَيِ السَّاعَةِ الثَّامِنَةِ. أَوَّلًا أَدْخُلُ الْفَصْلَ وَأَجْلِسُ فِي مَكَانِي، ثُمَّ أَدْرُسُ الرِّيَاضِيَّاتِ وَالْعُلُومَ. أُفَضِّلُ الْعُلُومَ لِأَنَّهَا شَيِّقَةٌ وَمُفِيدَةٌ. فِي الاِسْتِرَاحَةِ آكُلُ فِي الْمَقْصَفِ وَأَتَحَدَّثُ مَعَ زُمَلَائِي. تَنْتَهِي الْحِصَصُ فِي السَّاعَةِ الثَّالِثَةِ، فَأَعُودُ إِلَى الْبَيْتِ. أَخِيرًا أَسْتَرِيحُ قَلِيلًا، ثُمَّ أُكْمِلُ وَاجِبِي الْمَنْزِلِيَّ.</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Usually I wake up at half past six, then I have breakfast with my family. I go to school by bus and arrive at about eight. First I enter the classroom and sit in my place, then I study maths and science. I prefer science because it is engaging and useful. At break I eat in the canteen and talk with my classmates. Lessons end at three, so I go home. Finally I rest a little, then I finish my homework.</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first-person verbs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times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connectors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opinion +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F4-L07 · My School Day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Six events, in a logical order.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verb stays with “I”.</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Four time phrases, exact and approximate.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One opinion with a reason.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 contrast and a rule sentence.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F4-L07 · My School Day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personal sequence: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أَصِلُ، ثُمَّ ___ الْفَصْلَ.</a:t>
            </a:r>
            <a:endParaRPr lang="ar-SA" sz="17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أَدْخُلُ</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يَدْخُلُ</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تَدْخُلُ</a:t>
            </a:r>
            <a:endParaRPr lang="ar-SA" sz="2050" dirty="0"/>
          </a:p>
        </p:txBody>
      </p:sp>
      <p:sp>
        <p:nvSpPr>
          <p:cNvPr id="29" name="Shape 26"/>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approximate time?</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 السَّاعَةِ الثَّالِثَةِ</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حَوَالَي السَّاعَةِ الثَّالِثَةِ</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يَوْمِ الثُّلَاثَاءِ</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includes a school rule naturally?</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فِي الْفَصْلِ يَجِبُ أَنْ أَسْتَمِعَ إِلَى الْمُعَلِّمِ.</a:t>
            </a:r>
            <a:endParaRPr lang="ar-SA" sz="17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فِي الْفَصْلِ لَا يَجُوزُ أَنْ أَدْرُسَ.</a:t>
            </a:r>
            <a:endParaRPr lang="ar-SA" sz="17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يَجِبُ الْفَصْلُ أَنْ الْمُعَلِّمُ.</a:t>
            </a:r>
            <a:endParaRPr lang="ar-SA" sz="17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F4-L07 · My School Day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personal sequence: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أَصِلُ، ثُمَّ ___ الْفَصْلَ.</a:t>
            </a:r>
            <a:endParaRPr lang="ar-SA" sz="17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أَدْخُلُ</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يَدْخُلُ</a:t>
            </a:r>
            <a:endParaRPr lang="ar-SA" sz="2050" dirty="0"/>
          </a:p>
        </p:txBody>
      </p:sp>
      <p:sp>
        <p:nvSpPr>
          <p:cNvPr id="27" name="Shape 24"/>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تَدْخُلُ</a:t>
            </a:r>
            <a:endParaRPr lang="ar-SA" sz="2050" dirty="0"/>
          </a:p>
        </p:txBody>
      </p:sp>
      <p:sp>
        <p:nvSpPr>
          <p:cNvPr id="30" name="Text 27"/>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narrator remains first person.</a:t>
            </a:r>
            <a:endParaRPr lang="en-US" sz="1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approximate time?</a:t>
            </a:r>
            <a:endParaRPr lang="en-US" sz="125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عِنْدَ السَّاعَةِ الثَّالِثَةِ</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حَوَالَي السَّاعَةِ الثَّالِثَةِ</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 يَوْمِ الثُّلَاثَاءِ</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حَوَالَي</a:t>
            </a:r>
            <a:pPr algn="l" indent="0" marL="0">
              <a:buNone/>
            </a:pPr>
            <a:r>
              <a:rPr lang="en-US" sz="1050" i="1" dirty="0">
                <a:solidFill>
                  <a:srgbClr val="8A6D1E"/>
                </a:solidFill>
                <a:latin typeface="Calibri" pitchFamily="34" charset="0"/>
                <a:cs typeface="Amiri" pitchFamily="2" charset="-78"/>
              </a:rPr>
              <a:t> means around.</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includes a school rule naturally?</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750" b="1" dirty="0">
                <a:solidFill>
                  <a:srgbClr val="1F2A37"/>
                </a:solidFill>
                <a:latin typeface="Amiri" pitchFamily="2" charset="-78"/>
                <a:ea typeface="Amiri" pitchFamily="2" charset="-78"/>
                <a:cs typeface="Amiri" pitchFamily="2" charset="-78"/>
              </a:rPr>
              <a:t>فِي الْفَصْلِ يَجِبُ أَنْ أَسْتَمِعَ إِلَى الْمُعَلِّمِ.</a:t>
            </a:r>
            <a:endParaRPr lang="ar-SA" sz="17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750" dirty="0">
                <a:solidFill>
                  <a:srgbClr val="9AA1AB"/>
                </a:solidFill>
                <a:latin typeface="Amiri" pitchFamily="2" charset="-78"/>
                <a:ea typeface="Amiri" pitchFamily="2" charset="-78"/>
                <a:cs typeface="Amiri" pitchFamily="2" charset="-78"/>
              </a:rPr>
              <a:t>فِي الْفَصْلِ لَا يَجُوزُ أَنْ أَدْرُسَ.</a:t>
            </a:r>
            <a:endParaRPr lang="ar-SA" sz="17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750" dirty="0">
                <a:solidFill>
                  <a:srgbClr val="9AA1AB"/>
                </a:solidFill>
                <a:latin typeface="Amiri" pitchFamily="2" charset="-78"/>
                <a:ea typeface="Amiri" pitchFamily="2" charset="-78"/>
                <a:cs typeface="Amiri" pitchFamily="2" charset="-78"/>
              </a:rPr>
              <a:t>يَجِبُ الْفَصْلُ أَنْ الْمُعَلِّمُ.</a:t>
            </a:r>
            <a:endParaRPr lang="ar-SA" sz="17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Listening to the teacher is an appropriate obligation.</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F4-L07 · My School Day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F4-L08: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F4-L08 · Reading School Texts and Timetables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نَصٌّ</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text</a:t>
            </a:r>
            <a:pPr indent="0" marL="0">
              <a:buNone/>
            </a:pPr>
            <a:r>
              <a:rPr lang="ar-SA" sz="1000" i="1" dirty="0">
                <a:solidFill>
                  <a:srgbClr val="5A6472"/>
                </a:solidFill>
                <a:latin typeface="Calibri" pitchFamily="34" charset="0"/>
                <a:ea typeface="Amiri" pitchFamily="2" charset="-78"/>
                <a:cs typeface="Amiri" pitchFamily="2" charset="-78"/>
              </a:rPr>
              <a:t>  pl. نُصُوصٌ</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إِعْلَانٌ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announcement / notice</a:t>
            </a:r>
            <a:pPr indent="0" marL="0">
              <a:buNone/>
            </a:pPr>
            <a:r>
              <a:rPr lang="ar-SA" sz="1000" i="1" dirty="0">
                <a:solidFill>
                  <a:srgbClr val="5A6472"/>
                </a:solidFill>
                <a:latin typeface="Calibri" pitchFamily="34" charset="0"/>
                <a:ea typeface="Amiri" pitchFamily="2" charset="-78"/>
                <a:cs typeface="Amiri" pitchFamily="2" charset="-78"/>
              </a:rPr>
              <a:t>  pl. إِعْلَانَاتٌ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رِسَالَةٌ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letter / message</a:t>
            </a:r>
            <a:pPr indent="0" marL="0">
              <a:buNone/>
            </a:pPr>
            <a:r>
              <a:rPr lang="ar-SA" sz="1000" i="1" dirty="0">
                <a:solidFill>
                  <a:srgbClr val="5A6472"/>
                </a:solidFill>
                <a:latin typeface="Calibri" pitchFamily="34" charset="0"/>
                <a:ea typeface="Amiri" pitchFamily="2" charset="-78"/>
                <a:cs typeface="Amiri" pitchFamily="2" charset="-78"/>
              </a:rPr>
              <a:t>  pl. رَسَائِلُ</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عُنْوَانٌ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title / heading</a:t>
            </a:r>
            <a:pPr indent="0" marL="0">
              <a:buNone/>
            </a:pPr>
            <a:r>
              <a:rPr lang="ar-SA" sz="1000" i="1" dirty="0">
                <a:solidFill>
                  <a:srgbClr val="5A6472"/>
                </a:solidFill>
                <a:latin typeface="Calibri" pitchFamily="34" charset="0"/>
                <a:ea typeface="Amiri" pitchFamily="2" charset="-78"/>
                <a:cs typeface="Amiri" pitchFamily="2" charset="-78"/>
              </a:rPr>
              <a:t>  pl. عَنَاوِينُ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دَلِيلٌ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evidence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Find one school notice at home or online. What type of text is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 نَوْعُ النَّصِّ؟</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F4-L07: the School-Day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timeline studio: change three details and add one opinion with a reason.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your 80–100-word narration; underline verbs, circle connectors, box times.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F4-L07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cs typeface="Amiri" pitchFamily="2" charset="-78"/>
              </a:rPr>
              <a:t>F4-L08 · Reading School Texts and Timetables</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قِرَاءَةُ النُّصُوصِ وَالجَدَاوِلِ المَدْرَسِيَّةِ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action + time + connector · keep “I” · ilā = towards, fī = in.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F4-L07 · A Typical School Day — Narrating a Sequence</dc:title>
  <dc:subject>PptxGenJS Presentation</dc:subject>
  <dc:creator>Al Madina Online School · Arabic Department</dc:creator>
  <cp:lastModifiedBy>Al Madina Online School · Arabic Department</cp:lastModifiedBy>
  <cp:revision>1</cp:revision>
  <dcterms:created xsi:type="dcterms:W3CDTF">2026-10-11T06:41:40Z</dcterms:created>
  <dcterms:modified xsi:type="dcterms:W3CDTF">2026-10-11T06:41:40Z</dcterms:modified>
</cp:coreProperties>
</file>