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Foundation › F4 My School › Lesson 7 (F4-L07). Website sections used: the eight-question F4 retrieval bridge and the narration route, the school-day verb bank (16 first-person phrases, place patterns إِلَى / فِي / مَعَ) and the 16-question check, keeping the first person (12), sequence and time expressions (14), the timeline studio, the School-Day Mission (14), Salma’s day (listening, 10), Yusuf (fully vowelled) and Huda (unvowelled challenge) (reading, 12), the 60-second talk (4 prompts), the 80–100-word narration with its review checklist and model, and the 16-question checkpoint. Picture match: website visual game.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F4-L07 JOINS the unit: subjects, times, preferences, reasons and rules become one connected narrative (website narration route: action + time + sequence + detail / opinion).
• Core: 10 verbs + أَوَّلًا / ثُمَّ / أَخِيرًا + two times (60–70 words). Develop: 16 verbs, exact and approximate time, an opinion (80–100 words). Stretch: a contrast and one rule sentence (فِي الْفَصْلِ يَجِبُ أَنْ أَسْتَمِعَ …).
• Reading Text B is UNVOWELLED on the website (a reading challenge). On the slide it is shown fully vowelled; Stretch students try the unvowelled version on the website.
• Real or invented days are equally acceptable; students without a school routine (e.g. home-educated) can describe an ideal day (website prompt 4).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phrases prepared at home at the end of F4-L06. Questions 3–5 are the website “F4 retrieval bridge” (10:30, must, must not).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A narration = action + time + sequence word + detail. The verbs stay with “I” (a- / u-) from start to finish.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Website “By the end, I can…” (left) and the website writing Core / Develop / Stretch routes (right).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اول، آخر، عادتاً are shared. Urdu تقریباً (approximately) is also Arabic تَقْرِيبًا — accept it as an alternative to حَوَالَيْ.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SCHOOL-DAY VERBS (website, 6 of 16). Website: learn each action as a useful first-person phrase, not an isolated dictionary entry. Also: أَكْتُبُ فِي دَفْتَرِي (I write in my notebook), أَسْتَمِعُ إِلَى الْمُعَلِّمِ (I listen to the teacher), أَدْرُسُ (I study), أَقْرَأُ كِتَابِي (I read my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SCHOOL-DAY VERBS (website, 6 more). Website place patterns: إِلَى = movement towards a destination (إِلَى الْمَدْرَسَةِ / إِلَى الْبَيْتِ) · فِي = an action inside a place (فِي الْفَصْلِ / فِي الْمَقْصَفِ) · مَعَ / إِلَى = with people or listening towards someone (مَعَ زُمَلَائِي / إِلَى الْمُعَلِّمِ).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section 3 “Keep the narration in the first person”: do not change randomly to “he” or “she” — the reader must know who performs every action.
Stretch: the he / she forms are used when COMPARING with Yusuf or Huda (أَمَّا يُوسُفُ فَيَذْهَبُ مَاشِيًا).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website section 4 “Control sequence and time expressions”: 1 opening (عَادَةً / أَوَّلًا) · 2 school begins (عِنْدَ السَّاعَةِ …) · 3 midday (بَعْدَ ذَلِكَ / فِي مُنْتَصَفِ النَّهَارِ) · 4 closing (أَخِيرًا / فِي النِّهَايَةِ).
Website connector bank: أَوَّلًا، فِي الْبِدَايَةِ، فِي الصَّبَاحِ الْبَاكِرِ، ثُمَّ، بَعْدَ ذَلِكَ، قَبْلَ / بَعْدَ الاِسْتِرَاحَةِ، فِي مُنْتَصَفِ النَّهَارِ، أَخِيرًا، فِي النِّهَايَةِ، عَادَةً، غَالِبًا، أَحْيَانًا. وَلَكِنْ adds contrast, not sequence.
Exact vs approximate (website): عِنْدَ السَّاعَةِ الثَّامِنَةِ = at eight exactly · حَوَالَيِ السَّاعَةِ الثَّامِنَةِ = at about 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narration laboratory questions 5–6 and sequence-and-time check questions 9 and 12.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website four-stage plan (morning → school → midday → home) and model response. Circle every connector, underline every verb (all first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Routine”)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Put the six cards in order with a connector each: أَوَّلًا أَسْتَيْقِظُ … ثُمَّ أُنَظِّفُ أَسْنَانِي … بَعْدَ ذَلِكَ أَتَنَاوَلُ الإِفْطَارَ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Routine”)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Put the six cards in order with a connector each: أَوَّلًا أَسْتَيْقِظُ … ثُمَّ أُنَظِّفُ أَسْنَانِي … بَعْدَ ذَلِكَ أَتَنَاوَلُ الإِفْطَارَ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5 of the website’s 14 School-Day Mission rounds (arrival, classroom, approximate time, after that, home). The other 9 are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each answer, a student adds the NEXT event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2 and 3. Develop / Stretch: all 5.
Listen 1: just listen. Listen 2: note answers. Then chat the letters.
Support: after the second listening, show the read-along slide (Arabic + English, line by line) for Core students.
SCRIPT (read aloud):
اِسْمِي سَلْمَى، وَهَذَا يَوْمِي الدِّرَاسِيُّ. عَادَةً أَسْتَيْقِظُ فِي السَّاعَةِ السَّادِسَةِ وَالنِّصْفِ، وَأَذْهَبُ إِلَى الْمَدْرَسَةِ بِالْحَافِلَةِ. أَصِلُ فِي السَّاعَةِ الثَّامِنَةِ، ثُمَّ أَدْخُلُ الْفَصْلَ وَأَجْلِسُ فِي مَكَانِي. الْحِصَّةُ الأُولَى هِيَ الرِّيَاضِيَّاتُ، وَلَكِنَّ مَادَّتِي الْمُفَضَّلَةَ هِيَ الْعُلُومُ لِأَنَّهَا شَيِّقَةٌ وَمُفِيدَةٌ. فِي الاِسْتِرَاحَةِ آكُلُ وَأَتَحَدَّثُ مَعَ زَمِيلَاتِي. بَعْدَ ذَلِكَ أَدْرُسُ اللُّغَةَ الْعَرَبِيَّةَ وَالتَّارِيخَ. تَنْتَهِي الْحِصَصُ فِي السَّاعَةِ الثَّالِثَةِ، فَأَعُودُ إِلَى الْبَيْتِ. فِي النِّهَايَةِ أَسْتَرِيحُ قَلِيلًا، ثُمَّ أُكْمِلُ وَاجِبِي الْمَنْزِلِيَّ.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 A (website, complete, fully vowelled).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 B — on the website this text is deliberately UNVOWELLED (a reading challenge using familiar language). It is shown vowelled here; Stretch students read the unvowelled version on the website first. Website inference: who has the later day? (Huda.)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reading questions 2, 4, 8, 10 and 11. The other 7 are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student reads aloud the evidence phrase (by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WEBSITE 60-SECOND TALK — short cue words, not a memorised English script; morning → school → break → favourite lesson → home. Prompts (website):
• Describe your real school day: Give at least six events, three times and four connectors.
• Compare two school days: Compare your day with Yusuf’s or Huda’s day from the reading.
• Describe your busiest school day: Name the day, lessons, break, finishing time and why it is busy.
• Describe your ideal school day: Change the timetable and explain two choices.
Website live checklist: six events · three time phrases · four connectors · one subject opinion · one reason · a clear final 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60–70 words with six events and four connectors. · Develop — 80–100 words with varied times, places and a justified opinion. · Stretch — Exact and approximate time, a contrast and one sentence about a rule.
Website writing task (Stretch): Website writing task: an 80–100-word connected narration of a real or invented school day in four stages — morning → school → midday → home — with times, varied connectors, one opinion with a reason and a clear final event.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The website model narration (shortened). Stretch: add the website’s group-activity sentence and one rule.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16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(F4-L08 · Reading School Texts and Timetables) will spend class time USING this language, so students prepare it tonight — short, simple, easy to access (school guidance: “Simple, Short, Interesting, Relevant, Easy to access”). The five words come from the website F4-L08 text-type bank.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F4  ·  F4-L07</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F4-L07</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A Typical School Day — Narrating a Sequence</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يَوْمٌ مَدْرَسِيٌّ عَادِيٌّ — سَرْدُ التَّسَلْسُلِ</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Narrate a whole school day in the first person: sixteen everyday actions, exact and approximate times, and varied connectors that move the reader from morning to evening.</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F4-L07 · Foundation F4 · My School</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F4 › F4-L07</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F4-L07 · My School Day</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F4-L07</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F4-L07 · My School Day</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F4-L07</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Sixteen school-day actions, keep “I”, then time and sequence.</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School-day mission, listen to Salma, compare Yusuf and Huda.</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F4-L08.</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F4-L07 · My School Day</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أَصِلُ</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return</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arrive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wake up</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أَعُودُ إِلَى الْبَيْتِ</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return home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go to school</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leave the house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10:30.</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السَّاعَةُ العَاشِرَةُ وَالرُّبُعُ</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السَّاعَةُ الحَادِيَةُ عَشْرَةَ</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السَّاعَةُ العَاشِرَةُ وَالنِّصْفُ</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“You must complete the homework.”</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لَا يَجُوزُ أَنْ تُكْمِلَ الْوَاجِبَ.</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لَا يَجِبُ أَنْ تُكْمِلَ الْوَاجِبَ.</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يَجِبُ أَنْ تُكْمِلَ الْوَاجِبَ.</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“You must not use the phone.”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لَا يَجُوزُ أَنْ تَسْتَخْدِمَ الْهَاتِفَ.</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يَجِبُ أَنْ تَسْتَخْدِمَ الْهَاتِفَ.</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لَا يَجِبُ أَنْ تَسْتَخْدِمَ الْهَاتِفَ.</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F4-L07 · My School Day</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أَصِلُ</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return</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 arrive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wake up</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(F4-L06).</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أَعُودُ إِلَى الْبَيْتِ</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 return home</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go to school</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leave the house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(F4-L06).</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10:30.</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السَّاعَةُ العَاشِرَةُ وَالرُّبُعُ</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السَّاعَةُ الحَادِيَةُ عَشْرَةَ</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السَّاعَةُ العَاشِرَةُ وَالنِّصْفُ</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وَالنِّصْفُ</a:t>
            </a:r>
            <a:pPr algn="l" indent="0" marL="0">
              <a:buNone/>
            </a:pPr>
            <a:r>
              <a:rPr lang="en-US" sz="1050" i="1" dirty="0">
                <a:solidFill>
                  <a:srgbClr val="8A6D1E"/>
                </a:solidFill>
                <a:latin typeface="Calibri" pitchFamily="34" charset="0"/>
                <a:cs typeface="Amiri" pitchFamily="2" charset="-78"/>
              </a:rPr>
              <a:t> means half past.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“You must complete the homework.”</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لَا يَجُوزُ أَنْ تُكْمِلَ الْوَاجِبَ.</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لَا يَجِبُ أَنْ تُكْمِلَ الْوَاجِبَ.</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يَجِبُ أَنْ تُكْمِلَ الْوَاجِبَ.</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يَجِبُ أَنْ</a:t>
            </a:r>
            <a:pPr algn="l" indent="0" marL="0">
              <a:buNone/>
            </a:pPr>
            <a:r>
              <a:rPr lang="en-US" sz="1050" i="1" dirty="0">
                <a:solidFill>
                  <a:srgbClr val="8A6D1E"/>
                </a:solidFill>
                <a:latin typeface="Calibri" pitchFamily="34" charset="0"/>
                <a:cs typeface="Amiri" pitchFamily="2" charset="-78"/>
              </a:rPr>
              <a:t> expresses obligation.</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“You must not use the phone.”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لَا يَجُوزُ أَنْ تَسْتَخْدِمَ الْهَاتِفَ.</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يَجِبُ أَنْ تَسْتَخْدِمَ الْهَاتِفَ.</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لَا يَجِبُ أَنْ تَسْتَخْدِمَ الْهَاتِفَ.</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لَا يَجُوزُ أَنْ</a:t>
            </a:r>
            <a:pPr algn="l" indent="0" marL="0">
              <a:buNone/>
            </a:pPr>
            <a:r>
              <a:rPr lang="en-US" sz="1050" i="1" dirty="0">
                <a:solidFill>
                  <a:srgbClr val="8A6D1E"/>
                </a:solidFill>
                <a:latin typeface="Calibri" pitchFamily="34" charset="0"/>
                <a:cs typeface="Amiri" pitchFamily="2" charset="-78"/>
              </a:rPr>
              <a:t> expresses prohibition.</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A narration = action + time + sequence word + detail. The verbs stay with “I” (a- / u-) from start to finish.</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0E7C86"/>
                </a:solidFill>
                <a:latin typeface="Amiri" pitchFamily="2" charset="-78"/>
                <a:cs typeface="Amiri" pitchFamily="2" charset="-78"/>
              </a:rPr>
              <a:t>عَادَةً</a:t>
            </a:r>
            <a:pPr rtl="1" algn="ctr" indent="0" marL="0">
              <a:lnSpc>
                <a:spcPct val="120000"/>
              </a:lnSpc>
              <a:buNone/>
            </a:pPr>
            <a:r>
              <a:rPr lang="ar-SA" altLang="en-US" sz="1950" b="1" dirty="0">
                <a:solidFill>
                  <a:srgbClr val="1B3B6F"/>
                </a:solidFill>
                <a:latin typeface="Amiri" pitchFamily="2" charset="-78"/>
                <a:cs typeface="Amiri" pitchFamily="2" charset="-78"/>
              </a:rPr>
              <a:t> أَذْهَبُ إِلَى الْمَدْرَسَةِ فِي السَّاعَةِ الثَّامِنَةِ، </a:t>
            </a:r>
            <a:pPr rtl="1" algn="ctr" indent="0" marL="0">
              <a:lnSpc>
                <a:spcPct val="120000"/>
              </a:lnSpc>
              <a:buNone/>
            </a:pPr>
            <a:r>
              <a:rPr lang="ar-SA" altLang="en-US" sz="1950" b="1" dirty="0">
                <a:solidFill>
                  <a:srgbClr val="0E7C86"/>
                </a:solidFill>
                <a:latin typeface="Amiri" pitchFamily="2" charset="-78"/>
                <a:cs typeface="Amiri" pitchFamily="2" charset="-78"/>
              </a:rPr>
              <a:t>ثُمَّ</a:t>
            </a:r>
            <a:pPr rtl="1" algn="ctr" indent="0" marL="0">
              <a:lnSpc>
                <a:spcPct val="120000"/>
              </a:lnSpc>
              <a:buNone/>
            </a:pPr>
            <a:r>
              <a:rPr lang="ar-SA" altLang="en-US" sz="1950" b="1" dirty="0">
                <a:solidFill>
                  <a:srgbClr val="1B3B6F"/>
                </a:solidFill>
                <a:latin typeface="Amiri" pitchFamily="2" charset="-78"/>
                <a:cs typeface="Amiri" pitchFamily="2" charset="-78"/>
              </a:rPr>
              <a:t> أَدْخُلُ الْفَصْلَ.</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F4-L07 · My School Day</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F4-L07</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at least sixteen school-day verbs and phrases.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Keep a first-person narration consistent with anā.</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Order events with varied connectors and exact / approximate times.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Produce an 80–100-word school-day narration.</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six things I do in a school day.</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use first, then and finally.</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give exact and approximate times.</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add an opinion with a reason.</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compare two school days.</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include a rule in my narration.</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School-day actions, place words and time connectors. Core: ten actions, first, then, finally.</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School-day verbs · 16</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Places · ilā · fī · ma‘a</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Sequence and time</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أَوَّلًا</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‎اول‎ </a:t>
            </a:r>
            <a:pPr indent="0" marL="0">
              <a:buNone/>
            </a:pPr>
            <a:r>
              <a:rPr lang="en-US" sz="950" b="1" dirty="0">
                <a:solidFill>
                  <a:srgbClr val="2E8B57"/>
                </a:solidFill>
                <a:latin typeface="Calibri" pitchFamily="34" charset="0"/>
                <a:cs typeface="Amiri" pitchFamily="2" charset="-78"/>
              </a:rPr>
              <a:t> awwalan · first</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أَخِيرًا</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‎آخر‎ </a:t>
            </a:r>
            <a:pPr indent="0" marL="0">
              <a:buNone/>
            </a:pPr>
            <a:r>
              <a:rPr lang="en-US" sz="950" b="1" dirty="0">
                <a:solidFill>
                  <a:srgbClr val="2E8B57"/>
                </a:solidFill>
                <a:latin typeface="Calibri" pitchFamily="34" charset="0"/>
                <a:cs typeface="Amiri" pitchFamily="2" charset="-78"/>
              </a:rPr>
              <a:t> akhīran · finally</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عَادَةً</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‎عادتاً‎ </a:t>
            </a:r>
            <a:pPr indent="0" marL="0">
              <a:buNone/>
            </a:pPr>
            <a:r>
              <a:rPr lang="en-US" sz="950" b="1" dirty="0">
                <a:solidFill>
                  <a:srgbClr val="2E8B57"/>
                </a:solidFill>
                <a:latin typeface="Calibri" pitchFamily="34" charset="0"/>
                <a:cs typeface="Amiri" pitchFamily="2" charset="-78"/>
              </a:rPr>
              <a:t> ‘ādatan · usually</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حَوَالَيْ</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‎تقریباً‎ </a:t>
            </a:r>
            <a:pPr indent="0" marL="0">
              <a:buNone/>
            </a:pPr>
            <a:r>
              <a:rPr lang="en-US" sz="950" b="1" dirty="0">
                <a:solidFill>
                  <a:srgbClr val="2E8B57"/>
                </a:solidFill>
                <a:latin typeface="Calibri" pitchFamily="34" charset="0"/>
                <a:cs typeface="Amiri" pitchFamily="2" charset="-78"/>
              </a:rPr>
              <a:t> ḥawālay · about (different word)</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الْمَقْصَفُ</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‎کینٹین‎ </a:t>
            </a:r>
            <a:pPr indent="0" marL="0">
              <a:buNone/>
            </a:pPr>
            <a:r>
              <a:rPr lang="en-US" sz="950" b="1" dirty="0">
                <a:solidFill>
                  <a:srgbClr val="2E8B57"/>
                </a:solidFill>
                <a:latin typeface="Calibri" pitchFamily="34" charset="0"/>
                <a:cs typeface="Amiri" pitchFamily="2" charset="-78"/>
              </a:rPr>
              <a:t> al-maqṣaf · canteen</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F4-L07 · My School Day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 · SCHOOL-DAY VERBS (WEBSITE) · 1 OF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Wake up, go, arrive, enter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أَفْعَالُ الْيَوْمِ الدِّرَاسِيِّ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F4-L07</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أَسْتَيْقِظُ</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wake up</a:t>
            </a:r>
            <a:endParaRPr lang="en-US" sz="1350" dirty="0"/>
          </a:p>
          <a:p>
            <a:pPr indent="0" marL="0">
              <a:buNone/>
            </a:pPr>
            <a:r>
              <a:rPr lang="en-US" sz="1100" i="1" dirty="0">
                <a:solidFill>
                  <a:srgbClr val="5A6472"/>
                </a:solidFill>
                <a:latin typeface="Calibri" pitchFamily="34" charset="0"/>
                <a:cs typeface="Amiri" pitchFamily="2" charset="-78"/>
              </a:rPr>
              <a:t>as-tay-qi-ẓu</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7" name="Shape 24"/>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a:t>
            </a:r>
            <a:endParaRPr lang="en-US" sz="800" dirty="0"/>
          </a:p>
        </p:txBody>
      </p:sp>
      <p:sp>
        <p:nvSpPr>
          <p:cNvPr id="29" name="Shape 26"/>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1" name="Text 28"/>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أَتَنَاوَلُ الْفُطُورَ</a:t>
            </a:r>
            <a:endParaRPr lang="ar-SA" sz="3000" dirty="0"/>
          </a:p>
        </p:txBody>
      </p:sp>
      <p:sp>
        <p:nvSpPr>
          <p:cNvPr id="32" name="Text 29"/>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have breakfast</a:t>
            </a:r>
            <a:endParaRPr lang="en-US" sz="1350" dirty="0"/>
          </a:p>
          <a:p>
            <a:pPr indent="0" marL="0">
              <a:buNone/>
            </a:pPr>
            <a:r>
              <a:rPr lang="en-US" sz="1100" i="1" dirty="0">
                <a:solidFill>
                  <a:srgbClr val="5A6472"/>
                </a:solidFill>
                <a:latin typeface="Calibri" pitchFamily="34" charset="0"/>
                <a:cs typeface="Amiri" pitchFamily="2" charset="-78"/>
              </a:rPr>
              <a:t>a-ta-nā-wa-lu l-fu-ṭūr</a:t>
            </a:r>
            <a:endParaRPr lang="en-US" sz="1350" dirty="0"/>
          </a:p>
        </p:txBody>
      </p:sp>
      <p:sp>
        <p:nvSpPr>
          <p:cNvPr id="33" name="Shape 3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566928"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6" name="Shape 33"/>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ilā</a:t>
            </a:r>
            <a:endParaRPr lang="en-US" sz="800" dirty="0"/>
          </a:p>
        </p:txBody>
      </p:sp>
      <p:sp>
        <p:nvSpPr>
          <p:cNvPr id="38" name="Shape 3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أَذْهَبُ إِلَى الْمَدْرَسَةِ</a:t>
            </a:r>
            <a:endParaRPr lang="ar-SA" sz="3000" dirty="0"/>
          </a:p>
        </p:txBody>
      </p:sp>
      <p:sp>
        <p:nvSpPr>
          <p:cNvPr id="41" name="Text 3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go to school</a:t>
            </a:r>
            <a:endParaRPr lang="en-US" sz="1350" dirty="0"/>
          </a:p>
          <a:p>
            <a:pPr indent="0" marL="0">
              <a:buNone/>
            </a:pPr>
            <a:r>
              <a:rPr lang="en-US" sz="1100" i="1" dirty="0">
                <a:solidFill>
                  <a:srgbClr val="5A6472"/>
                </a:solidFill>
                <a:latin typeface="Calibri" pitchFamily="34" charset="0"/>
                <a:cs typeface="Amiri" pitchFamily="2" charset="-78"/>
              </a:rPr>
              <a:t>adh-ha-bu i-lā l-mad-ra-sa</a:t>
            </a:r>
            <a:endParaRPr lang="en-US" sz="1350" dirty="0"/>
          </a:p>
        </p:txBody>
      </p:sp>
      <p:sp>
        <p:nvSpPr>
          <p:cNvPr id="42" name="Shape 3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11312"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5" name="Shape 42"/>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46" name="Text 43"/>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ilā</a:t>
            </a:r>
            <a:endParaRPr lang="en-US" sz="800" dirty="0"/>
          </a:p>
        </p:txBody>
      </p:sp>
      <p:sp>
        <p:nvSpPr>
          <p:cNvPr id="47" name="Shape 4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9" name="Text 4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أَصِلُ إِلَى الْمَدْرَسَةِ</a:t>
            </a:r>
            <a:endParaRPr lang="ar-SA" sz="3000" dirty="0"/>
          </a:p>
        </p:txBody>
      </p:sp>
      <p:sp>
        <p:nvSpPr>
          <p:cNvPr id="50" name="Text 4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arrive at school</a:t>
            </a:r>
            <a:endParaRPr lang="en-US" sz="1350" dirty="0"/>
          </a:p>
          <a:p>
            <a:pPr indent="0" marL="0">
              <a:buNone/>
            </a:pPr>
            <a:r>
              <a:rPr lang="en-US" sz="1100" i="1" dirty="0">
                <a:solidFill>
                  <a:srgbClr val="5A6472"/>
                </a:solidFill>
                <a:latin typeface="Calibri" pitchFamily="34" charset="0"/>
                <a:cs typeface="Amiri" pitchFamily="2" charset="-78"/>
              </a:rPr>
              <a:t>a-ṣi-lu i-lā l-mad-ra-sa</a:t>
            </a:r>
            <a:endParaRPr lang="en-US" sz="1350" dirty="0"/>
          </a:p>
        </p:txBody>
      </p:sp>
      <p:sp>
        <p:nvSpPr>
          <p:cNvPr id="51" name="Shape 4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4389120"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4" name="Shape 51"/>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a:t>
            </a:r>
            <a:endParaRPr lang="en-US" sz="800" dirty="0"/>
          </a:p>
        </p:txBody>
      </p:sp>
      <p:sp>
        <p:nvSpPr>
          <p:cNvPr id="56" name="Shape 5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أَدْخُلُ الْفَصْلَ</a:t>
            </a:r>
            <a:endParaRPr lang="ar-SA" sz="3000" dirty="0"/>
          </a:p>
        </p:txBody>
      </p:sp>
      <p:sp>
        <p:nvSpPr>
          <p:cNvPr id="59" name="Text 5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enter the classroom</a:t>
            </a:r>
            <a:endParaRPr lang="en-US" sz="1350" dirty="0"/>
          </a:p>
          <a:p>
            <a:pPr indent="0" marL="0">
              <a:buNone/>
            </a:pPr>
            <a:r>
              <a:rPr lang="en-US" sz="1100" i="1" dirty="0">
                <a:solidFill>
                  <a:srgbClr val="5A6472"/>
                </a:solidFill>
                <a:latin typeface="Calibri" pitchFamily="34" charset="0"/>
                <a:cs typeface="Amiri" pitchFamily="2" charset="-78"/>
              </a:rPr>
              <a:t>ad-khu-lu l-faṣl</a:t>
            </a:r>
            <a:endParaRPr lang="en-US" sz="1350" dirty="0"/>
          </a:p>
        </p:txBody>
      </p:sp>
      <p:sp>
        <p:nvSpPr>
          <p:cNvPr id="60" name="Shape 5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66928"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63" name="Shape 60"/>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fī</a:t>
            </a:r>
            <a:endParaRPr lang="en-US" sz="800" dirty="0"/>
          </a:p>
        </p:txBody>
      </p:sp>
      <p:sp>
        <p:nvSpPr>
          <p:cNvPr id="65" name="Text 6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أَجْلِسُ فِي مَكَانِي</a:t>
            </a:r>
            <a:endParaRPr lang="ar-SA" sz="3000" dirty="0"/>
          </a:p>
        </p:txBody>
      </p:sp>
      <p:sp>
        <p:nvSpPr>
          <p:cNvPr id="66" name="Text 6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sit in my place</a:t>
            </a:r>
            <a:endParaRPr lang="en-US" sz="1350" dirty="0"/>
          </a:p>
          <a:p>
            <a:pPr indent="0" marL="0">
              <a:buNone/>
            </a:pPr>
            <a:r>
              <a:rPr lang="en-US" sz="1100" i="1" dirty="0">
                <a:solidFill>
                  <a:srgbClr val="5A6472"/>
                </a:solidFill>
                <a:latin typeface="Calibri" pitchFamily="34" charset="0"/>
                <a:cs typeface="Amiri" pitchFamily="2" charset="-78"/>
              </a:rPr>
              <a:t>aj-li-su fī ma-kā-nī</a:t>
            </a:r>
            <a:endParaRPr lang="en-US" sz="13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F4-L07 · My School Day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 · SCHOOL-DAY VERBS (WEBSITE) · 2 OF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Talk, eat, play, return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أَفْعَالُ الْيَوْمِ الدِّرَاسِيِّ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F4-L07</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ma‘a</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أَتَحَدَّثُ مَعَ زُمَلَائِي</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talk with my classmates</a:t>
            </a:r>
            <a:endParaRPr lang="en-US" sz="1350" dirty="0"/>
          </a:p>
          <a:p>
            <a:pPr indent="0" marL="0">
              <a:buNone/>
            </a:pPr>
            <a:r>
              <a:rPr lang="en-US" sz="1100" i="1" dirty="0">
                <a:solidFill>
                  <a:srgbClr val="5A6472"/>
                </a:solidFill>
                <a:latin typeface="Calibri" pitchFamily="34" charset="0"/>
                <a:cs typeface="Amiri" pitchFamily="2" charset="-78"/>
              </a:rPr>
              <a:t>a-ta-ḥad-da-thu ma-‘a zu-ma-lā-’ī</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fī</a:t>
            </a:r>
            <a:endParaRPr lang="en-US" sz="8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آكُلُ فِي الْمَقْصَفِ</a:t>
            </a:r>
            <a:endParaRPr lang="ar-SA" sz="3000" dirty="0"/>
          </a:p>
        </p:txBody>
      </p:sp>
      <p:sp>
        <p:nvSpPr>
          <p:cNvPr id="30" name="Text 27"/>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eat in the canteen</a:t>
            </a:r>
            <a:endParaRPr lang="en-US" sz="1350" dirty="0"/>
          </a:p>
          <a:p>
            <a:pPr indent="0" marL="0">
              <a:buNone/>
            </a:pPr>
            <a:r>
              <a:rPr lang="en-US" sz="1100" i="1" dirty="0">
                <a:solidFill>
                  <a:srgbClr val="5A6472"/>
                </a:solidFill>
                <a:latin typeface="Calibri" pitchFamily="34" charset="0"/>
                <a:cs typeface="Amiri" pitchFamily="2" charset="-78"/>
              </a:rPr>
              <a:t>ā-ku-lu fī l-maq-ṣaf</a:t>
            </a:r>
            <a:endParaRPr lang="en-US" sz="135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4" name="Shape 31"/>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35" name="Text 32"/>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fī</a:t>
            </a:r>
            <a:endParaRPr lang="en-US" sz="800" dirty="0"/>
          </a:p>
        </p:txBody>
      </p:sp>
      <p:sp>
        <p:nvSpPr>
          <p:cNvPr id="36" name="Shape 3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8" name="Text 3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أَلْعَبُ فِي الْمَلْعَبِ</a:t>
            </a:r>
            <a:endParaRPr lang="ar-SA" sz="3000" dirty="0"/>
          </a:p>
        </p:txBody>
      </p:sp>
      <p:sp>
        <p:nvSpPr>
          <p:cNvPr id="39" name="Text 3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play in the playground</a:t>
            </a:r>
            <a:endParaRPr lang="en-US" sz="1350" dirty="0"/>
          </a:p>
          <a:p>
            <a:pPr indent="0" marL="0">
              <a:buNone/>
            </a:pPr>
            <a:r>
              <a:rPr lang="en-US" sz="1100" i="1" dirty="0">
                <a:solidFill>
                  <a:srgbClr val="5A6472"/>
                </a:solidFill>
                <a:latin typeface="Calibri" pitchFamily="34" charset="0"/>
                <a:cs typeface="Amiri" pitchFamily="2" charset="-78"/>
              </a:rPr>
              <a:t>al-‘a-bu fī l-mal-‘ab</a:t>
            </a:r>
            <a:endParaRPr lang="en-US" sz="1350" dirty="0"/>
          </a:p>
        </p:txBody>
      </p:sp>
      <p:sp>
        <p:nvSpPr>
          <p:cNvPr id="40" name="Shape 3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8211312" y="4261104"/>
            <a:ext cx="310896" cy="310896"/>
          </a:xfrm>
          <a:prstGeom prst="ellipse">
            <a:avLst/>
          </a:prstGeom>
          <a:solidFill>
            <a:srgbClr val="F4F1EA"/>
          </a:solidFill>
          <a:ln w="12700">
            <a:solidFill>
              <a:srgbClr val="F4F1EA"/>
            </a:solidFill>
            <a:prstDash val="solid"/>
          </a:ln>
        </p:spPr>
      </p:sp>
      <p:sp>
        <p:nvSpPr>
          <p:cNvPr id="42" name="Text 3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43" name="Shape 40"/>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44" name="Text 41"/>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ilā</a:t>
            </a:r>
            <a:endParaRPr lang="en-US" sz="800" dirty="0"/>
          </a:p>
        </p:txBody>
      </p:sp>
      <p:sp>
        <p:nvSpPr>
          <p:cNvPr id="45" name="Shape 4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6" name="Text 4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7" name="Text 4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أَعُودُ إِلَى الْبَيْتِ</a:t>
            </a:r>
            <a:endParaRPr lang="ar-SA" sz="3000" dirty="0"/>
          </a:p>
        </p:txBody>
      </p:sp>
      <p:sp>
        <p:nvSpPr>
          <p:cNvPr id="48" name="Text 4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return home</a:t>
            </a:r>
            <a:endParaRPr lang="en-US" sz="1350" dirty="0"/>
          </a:p>
          <a:p>
            <a:pPr indent="0" marL="0">
              <a:buNone/>
            </a:pPr>
            <a:r>
              <a:rPr lang="en-US" sz="1100" i="1" dirty="0">
                <a:solidFill>
                  <a:srgbClr val="5A6472"/>
                </a:solidFill>
                <a:latin typeface="Calibri" pitchFamily="34" charset="0"/>
                <a:cs typeface="Amiri" pitchFamily="2" charset="-78"/>
              </a:rPr>
              <a:t>a-‘ū-du i-lā l-bayt</a:t>
            </a:r>
            <a:endParaRPr lang="en-US" sz="1350" dirty="0"/>
          </a:p>
        </p:txBody>
      </p:sp>
      <p:sp>
        <p:nvSpPr>
          <p:cNvPr id="49" name="Shape 4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4389120" y="4261104"/>
            <a:ext cx="310896" cy="310896"/>
          </a:xfrm>
          <a:prstGeom prst="ellipse">
            <a:avLst/>
          </a:prstGeom>
          <a:solidFill>
            <a:srgbClr val="F4F1EA"/>
          </a:solidFill>
          <a:ln w="12700">
            <a:solidFill>
              <a:srgbClr val="F4F1EA"/>
            </a:solidFill>
            <a:prstDash val="solid"/>
          </a:ln>
        </p:spPr>
      </p:sp>
      <p:sp>
        <p:nvSpPr>
          <p:cNvPr id="51" name="Text 4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52" name="Shape 49"/>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a:t>
            </a:r>
            <a:endParaRPr lang="en-US" sz="800" dirty="0"/>
          </a:p>
        </p:txBody>
      </p:sp>
      <p:sp>
        <p:nvSpPr>
          <p:cNvPr id="54" name="Shape 51"/>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5" name="Text 52"/>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6" name="Text 53"/>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أُكْمِلُ وَاجِبِي الْمَنْزِلِيَّ</a:t>
            </a:r>
            <a:endParaRPr lang="ar-SA" sz="3000" dirty="0"/>
          </a:p>
        </p:txBody>
      </p:sp>
      <p:sp>
        <p:nvSpPr>
          <p:cNvPr id="57" name="Text 54"/>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complete my homework</a:t>
            </a:r>
            <a:endParaRPr lang="en-US" sz="1350" dirty="0"/>
          </a:p>
          <a:p>
            <a:pPr indent="0" marL="0">
              <a:buNone/>
            </a:pPr>
            <a:r>
              <a:rPr lang="en-US" sz="1100" i="1" dirty="0">
                <a:solidFill>
                  <a:srgbClr val="5A6472"/>
                </a:solidFill>
                <a:latin typeface="Calibri" pitchFamily="34" charset="0"/>
                <a:cs typeface="Amiri" pitchFamily="2" charset="-78"/>
              </a:rPr>
              <a:t>uk-mi-lu wā-ji-bī l-man-zi-liyy</a:t>
            </a:r>
            <a:endParaRPr lang="en-US" sz="1350" dirty="0"/>
          </a:p>
        </p:txBody>
      </p:sp>
      <p:sp>
        <p:nvSpPr>
          <p:cNvPr id="58" name="Shape 55"/>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566928"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61" name="Shape 58"/>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62" name="Text 59"/>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a:t>
            </a:r>
            <a:endParaRPr lang="en-US" sz="800" dirty="0"/>
          </a:p>
        </p:txBody>
      </p:sp>
      <p:sp>
        <p:nvSpPr>
          <p:cNvPr id="63" name="Text 60"/>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أَسْتَرِيحُ</a:t>
            </a:r>
            <a:endParaRPr lang="ar-SA" sz="3000" dirty="0"/>
          </a:p>
        </p:txBody>
      </p:sp>
      <p:sp>
        <p:nvSpPr>
          <p:cNvPr id="64" name="Text 61"/>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rest</a:t>
            </a:r>
            <a:endParaRPr lang="en-US" sz="1350" dirty="0"/>
          </a:p>
          <a:p>
            <a:pPr indent="0" marL="0">
              <a:buNone/>
            </a:pPr>
            <a:r>
              <a:rPr lang="en-US" sz="1100" i="1" dirty="0">
                <a:solidFill>
                  <a:srgbClr val="5A6472"/>
                </a:solidFill>
                <a:latin typeface="Calibri" pitchFamily="34" charset="0"/>
                <a:cs typeface="Amiri" pitchFamily="2" charset="-78"/>
              </a:rPr>
              <a:t>as-ta-rī-ḥu</a:t>
            </a:r>
            <a:endParaRPr lang="en-US" sz="1350" dirty="0"/>
          </a:p>
        </p:txBody>
      </p:sp>
      <p:sp>
        <p:nvSpPr>
          <p:cNvPr id="65" name="Text 6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F4-L07 · My School Day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66" b="1" spc="150" kern="0" dirty="0">
                <a:solidFill>
                  <a:srgbClr val="1B3B6F"/>
                </a:solidFill>
                <a:latin typeface="Calibri" pitchFamily="34" charset="0"/>
                <a:cs typeface="Amiri" pitchFamily="2" charset="-78"/>
              </a:rPr>
              <a:t>GRAMMAR FOCUS · PART 1 · KEEP THE NARRATION IN THE FIRST PERSON (WEBSITE)</a:t>
            </a:r>
            <a:endParaRPr lang="en-US" sz="966"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Who goes? Keep “I”</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حَافِظْ عَلَى سَرْدِ الْمُتَكَلِّمِ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9322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Person</a:t>
            </a:r>
            <a:endParaRPr lang="en-US" sz="1100" dirty="0"/>
          </a:p>
        </p:txBody>
      </p:sp>
      <p:sp>
        <p:nvSpPr>
          <p:cNvPr id="17" name="Text 14"/>
          <p:cNvSpPr txBox="1"/>
          <p:nvPr/>
        </p:nvSpPr>
        <p:spPr>
          <a:xfrm>
            <a:off x="7415784"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a:t>
            </a:r>
            <a:endParaRPr lang="en-US" sz="1100" dirty="0"/>
          </a:p>
        </p:txBody>
      </p:sp>
      <p:sp>
        <p:nvSpPr>
          <p:cNvPr id="18" name="Text 15"/>
          <p:cNvSpPr txBox="1"/>
          <p:nvPr/>
        </p:nvSpPr>
        <p:spPr>
          <a:xfrm>
            <a:off x="2660904" y="1810512"/>
            <a:ext cx="46085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19" name="Text 16"/>
          <p:cNvSpPr txBox="1"/>
          <p:nvPr/>
        </p:nvSpPr>
        <p:spPr>
          <a:xfrm>
            <a:off x="530352" y="1810512"/>
            <a:ext cx="19842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9811512" y="2267712"/>
            <a:ext cx="182880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أَنَا</a:t>
            </a:r>
            <a:endParaRPr lang="ar-SA" sz="2400" dirty="0"/>
          </a:p>
        </p:txBody>
      </p:sp>
      <p:sp>
        <p:nvSpPr>
          <p:cNvPr id="22" name="Text 19"/>
          <p:cNvSpPr txBox="1"/>
          <p:nvPr/>
        </p:nvSpPr>
        <p:spPr>
          <a:xfrm>
            <a:off x="7434072" y="2267712"/>
            <a:ext cx="2194560" cy="731520"/>
          </a:xfrm>
          <a:prstGeom prst="rect">
            <a:avLst/>
          </a:prstGeom>
          <a:noFill/>
          <a:ln/>
        </p:spPr>
        <p:txBody>
          <a:bodyPr wrap="square" lIns="0" tIns="0" rIns="0" bIns="0" rtlCol="0" anchor="ctr"/>
          <a:lstStyle/>
          <a:p>
            <a:pPr rtl="1" algn="ctr" indent="0" marL="0">
              <a:buNone/>
            </a:pPr>
            <a:r>
              <a:rPr lang="ar-SA" altLang="en-US" sz="2600" b="1" dirty="0">
                <a:solidFill>
                  <a:srgbClr val="0E7C86"/>
                </a:solidFill>
                <a:latin typeface="Amiri" pitchFamily="2" charset="-78"/>
                <a:cs typeface="Amiri" pitchFamily="2" charset="-78"/>
              </a:rPr>
              <a:t>أَ</a:t>
            </a:r>
            <a:pPr rtl="1" algn="ctr" indent="0" marL="0">
              <a:buNone/>
            </a:pPr>
            <a:r>
              <a:rPr lang="ar-SA" altLang="en-US" sz="2600" b="1" dirty="0">
                <a:solidFill>
                  <a:srgbClr val="1B3B6F"/>
                </a:solidFill>
                <a:latin typeface="Amiri" pitchFamily="2" charset="-78"/>
                <a:cs typeface="Amiri" pitchFamily="2" charset="-78"/>
              </a:rPr>
              <a:t>ذْهَبُ</a:t>
            </a:r>
            <a:endParaRPr lang="ar-SA" sz="2600" dirty="0"/>
          </a:p>
        </p:txBody>
      </p:sp>
      <p:sp>
        <p:nvSpPr>
          <p:cNvPr id="23" name="Text 20"/>
          <p:cNvSpPr txBox="1"/>
          <p:nvPr/>
        </p:nvSpPr>
        <p:spPr>
          <a:xfrm>
            <a:off x="2679192" y="2267712"/>
            <a:ext cx="457200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أَذْهَبُ ثُمَّ أَدْخُلُ وَأَجْلِسُ.</a:t>
            </a:r>
            <a:endParaRPr lang="ar-SA" sz="2200" dirty="0"/>
          </a:p>
        </p:txBody>
      </p:sp>
      <p:sp>
        <p:nvSpPr>
          <p:cNvPr id="24" name="Text 21"/>
          <p:cNvSpPr txBox="1"/>
          <p:nvPr/>
        </p:nvSpPr>
        <p:spPr>
          <a:xfrm>
            <a:off x="566928" y="2267712"/>
            <a:ext cx="19476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go</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9811512" y="3054096"/>
            <a:ext cx="182880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هُوَ</a:t>
            </a:r>
            <a:endParaRPr lang="ar-SA" sz="2400" dirty="0"/>
          </a:p>
        </p:txBody>
      </p:sp>
      <p:sp>
        <p:nvSpPr>
          <p:cNvPr id="29" name="Text 26"/>
          <p:cNvSpPr txBox="1"/>
          <p:nvPr/>
        </p:nvSpPr>
        <p:spPr>
          <a:xfrm>
            <a:off x="7434072" y="3054096"/>
            <a:ext cx="2194560" cy="731520"/>
          </a:xfrm>
          <a:prstGeom prst="rect">
            <a:avLst/>
          </a:prstGeom>
          <a:noFill/>
          <a:ln/>
        </p:spPr>
        <p:txBody>
          <a:bodyPr wrap="square" lIns="0" tIns="0" rIns="0" bIns="0" rtlCol="0" anchor="ctr"/>
          <a:lstStyle/>
          <a:p>
            <a:pPr rtl="1" algn="ctr" indent="0" marL="0">
              <a:buNone/>
            </a:pPr>
            <a:r>
              <a:rPr lang="ar-SA" altLang="en-US" sz="2600" b="1" dirty="0">
                <a:solidFill>
                  <a:srgbClr val="1D5FBF"/>
                </a:solidFill>
                <a:latin typeface="Amiri" pitchFamily="2" charset="-78"/>
                <a:cs typeface="Amiri" pitchFamily="2" charset="-78"/>
              </a:rPr>
              <a:t>يَ</a:t>
            </a:r>
            <a:pPr rtl="1" algn="ctr" indent="0" marL="0">
              <a:buNone/>
            </a:pPr>
            <a:r>
              <a:rPr lang="ar-SA" altLang="en-US" sz="2600" b="1" dirty="0">
                <a:solidFill>
                  <a:srgbClr val="1B3B6F"/>
                </a:solidFill>
                <a:latin typeface="Amiri" pitchFamily="2" charset="-78"/>
                <a:cs typeface="Amiri" pitchFamily="2" charset="-78"/>
              </a:rPr>
              <a:t>ذْهَبُ</a:t>
            </a:r>
            <a:endParaRPr lang="ar-SA" sz="2600" dirty="0"/>
          </a:p>
        </p:txBody>
      </p:sp>
      <p:sp>
        <p:nvSpPr>
          <p:cNvPr id="30" name="Text 27"/>
          <p:cNvSpPr txBox="1"/>
          <p:nvPr/>
        </p:nvSpPr>
        <p:spPr>
          <a:xfrm>
            <a:off x="2679192" y="3054096"/>
            <a:ext cx="457200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يَذْهَبُ يُوسُفُ مَاشِيًا.</a:t>
            </a:r>
            <a:endParaRPr lang="ar-SA" sz="2200" dirty="0"/>
          </a:p>
        </p:txBody>
      </p:sp>
      <p:sp>
        <p:nvSpPr>
          <p:cNvPr id="31" name="Text 28"/>
          <p:cNvSpPr txBox="1"/>
          <p:nvPr/>
        </p:nvSpPr>
        <p:spPr>
          <a:xfrm>
            <a:off x="566928" y="3054096"/>
            <a:ext cx="19476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 goes</a:t>
            </a:r>
            <a:endParaRPr lang="en-US" sz="1100" dirty="0"/>
          </a:p>
        </p:txBody>
      </p:sp>
      <p:sp>
        <p:nvSpPr>
          <p:cNvPr id="32" name="Shape 29"/>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3" name="Text 30"/>
          <p:cNvSpPr txBox="1"/>
          <p:nvPr/>
        </p:nvSpPr>
        <p:spPr>
          <a:xfrm>
            <a:off x="9811512" y="3840480"/>
            <a:ext cx="182880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هِيَ</a:t>
            </a:r>
            <a:endParaRPr lang="ar-SA" sz="2400" dirty="0"/>
          </a:p>
        </p:txBody>
      </p:sp>
      <p:sp>
        <p:nvSpPr>
          <p:cNvPr id="34" name="Text 31"/>
          <p:cNvSpPr txBox="1"/>
          <p:nvPr/>
        </p:nvSpPr>
        <p:spPr>
          <a:xfrm>
            <a:off x="7434072" y="3840480"/>
            <a:ext cx="2194560" cy="731520"/>
          </a:xfrm>
          <a:prstGeom prst="rect">
            <a:avLst/>
          </a:prstGeom>
          <a:noFill/>
          <a:ln/>
        </p:spPr>
        <p:txBody>
          <a:bodyPr wrap="square" lIns="0" tIns="0" rIns="0" bIns="0" rtlCol="0" anchor="ctr"/>
          <a:lstStyle/>
          <a:p>
            <a:pPr rtl="1" algn="ctr" indent="0" marL="0">
              <a:buNone/>
            </a:pPr>
            <a:r>
              <a:rPr lang="ar-SA" altLang="en-US" sz="2600" b="1" dirty="0">
                <a:solidFill>
                  <a:srgbClr val="D6336C"/>
                </a:solidFill>
                <a:latin typeface="Amiri" pitchFamily="2" charset="-78"/>
                <a:cs typeface="Amiri" pitchFamily="2" charset="-78"/>
              </a:rPr>
              <a:t>تَ</a:t>
            </a:r>
            <a:pPr rtl="1" algn="ctr" indent="0" marL="0">
              <a:buNone/>
            </a:pPr>
            <a:r>
              <a:rPr lang="ar-SA" altLang="en-US" sz="2600" b="1" dirty="0">
                <a:solidFill>
                  <a:srgbClr val="1B3B6F"/>
                </a:solidFill>
                <a:latin typeface="Amiri" pitchFamily="2" charset="-78"/>
                <a:cs typeface="Amiri" pitchFamily="2" charset="-78"/>
              </a:rPr>
              <a:t>ذْهَبُ</a:t>
            </a:r>
            <a:endParaRPr lang="ar-SA" sz="2600" dirty="0"/>
          </a:p>
        </p:txBody>
      </p:sp>
      <p:sp>
        <p:nvSpPr>
          <p:cNvPr id="35" name="Text 32"/>
          <p:cNvSpPr txBox="1"/>
          <p:nvPr/>
        </p:nvSpPr>
        <p:spPr>
          <a:xfrm>
            <a:off x="2679192" y="3840480"/>
            <a:ext cx="457200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تَذْهَبُ هُدَى بِالسَّيَّارَةِ.</a:t>
            </a:r>
            <a:endParaRPr lang="ar-SA" sz="2200" dirty="0"/>
          </a:p>
        </p:txBody>
      </p:sp>
      <p:sp>
        <p:nvSpPr>
          <p:cNvPr id="36" name="Text 33"/>
          <p:cNvSpPr txBox="1"/>
          <p:nvPr/>
        </p:nvSpPr>
        <p:spPr>
          <a:xfrm>
            <a:off x="566928" y="3840480"/>
            <a:ext cx="19476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she goes</a:t>
            </a:r>
            <a:endParaRPr lang="en-US" sz="110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9811512" y="4626864"/>
            <a:ext cx="182880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نَحْنُ</a:t>
            </a:r>
            <a:endParaRPr lang="ar-SA" sz="2400" dirty="0"/>
          </a:p>
        </p:txBody>
      </p:sp>
      <p:sp>
        <p:nvSpPr>
          <p:cNvPr id="39" name="Text 36"/>
          <p:cNvSpPr txBox="1"/>
          <p:nvPr/>
        </p:nvSpPr>
        <p:spPr>
          <a:xfrm>
            <a:off x="7434072" y="4626864"/>
            <a:ext cx="219456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نَذْهَبُ</a:t>
            </a:r>
            <a:endParaRPr lang="ar-SA" sz="2600" dirty="0"/>
          </a:p>
        </p:txBody>
      </p:sp>
      <p:sp>
        <p:nvSpPr>
          <p:cNvPr id="40" name="Text 37"/>
          <p:cNvSpPr txBox="1"/>
          <p:nvPr/>
        </p:nvSpPr>
        <p:spPr>
          <a:xfrm>
            <a:off x="2679192" y="4626864"/>
            <a:ext cx="457200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نَصِلُ فِي السَّاعَةِ الثَّامِنَةِ.</a:t>
            </a:r>
            <a:endParaRPr lang="ar-SA" sz="2200" dirty="0"/>
          </a:p>
        </p:txBody>
      </p:sp>
      <p:sp>
        <p:nvSpPr>
          <p:cNvPr id="41" name="Text 38"/>
          <p:cNvSpPr txBox="1"/>
          <p:nvPr/>
        </p:nvSpPr>
        <p:spPr>
          <a:xfrm>
            <a:off x="566928" y="4626864"/>
            <a:ext cx="19476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go</a:t>
            </a:r>
            <a:endParaRPr lang="en-US" sz="1100" dirty="0"/>
          </a:p>
        </p:txBody>
      </p:sp>
      <p:sp>
        <p:nvSpPr>
          <p:cNvPr id="42" name="Text 3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personal routine uses the a- / u- form throughout. Website repair: yadkhulu (he enters) → adkhulu (I enter).</a:t>
            </a:r>
            <a:endParaRPr lang="en-US" sz="11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F4-L07 · My School Day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2 · SEQUENCE AND TIME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Open, move on, close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التَّسَلْسُلُ وَالْوَقْتُ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F4-L07</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54864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5486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OPEN</a:t>
            </a:r>
            <a:endParaRPr lang="en-US" sz="850" dirty="0"/>
          </a:p>
        </p:txBody>
      </p:sp>
      <p:sp>
        <p:nvSpPr>
          <p:cNvPr id="18" name="Text 15"/>
          <p:cNvSpPr txBox="1"/>
          <p:nvPr/>
        </p:nvSpPr>
        <p:spPr>
          <a:xfrm>
            <a:off x="8827008" y="1874520"/>
            <a:ext cx="27675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عَادَةً · أَوَّلًا</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cs typeface="Amiri" pitchFamily="2" charset="-78"/>
              </a:rPr>
              <a:t>عَادَةً أَسْتَيْقِظُ فِي السَّاعَةِ السَّادِسَةِ.</a:t>
            </a:r>
            <a:endParaRPr lang="ar-SA" sz="2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Usually I wake up at six.</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Also: fī l-bidāya.</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75438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4413504" y="1920240"/>
            <a:ext cx="7543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MOVE ON</a:t>
            </a:r>
            <a:endParaRPr lang="en-US" sz="850" dirty="0"/>
          </a:p>
        </p:txBody>
      </p:sp>
      <p:sp>
        <p:nvSpPr>
          <p:cNvPr id="26" name="Text 23"/>
          <p:cNvSpPr txBox="1"/>
          <p:nvPr/>
        </p:nvSpPr>
        <p:spPr>
          <a:xfrm>
            <a:off x="5213604" y="1874520"/>
            <a:ext cx="25618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ثُمَّ · بَعْدَ ذَلِكَ</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450" b="1" dirty="0">
                <a:solidFill>
                  <a:srgbClr val="1B3B6F"/>
                </a:solidFill>
                <a:latin typeface="Amiri" pitchFamily="2" charset="-78"/>
                <a:cs typeface="Amiri" pitchFamily="2" charset="-78"/>
              </a:rPr>
              <a:t>بَعْدَ الاِسْتِرَاحَةِ أَدْرُسُ التَّارِيخَ.</a:t>
            </a:r>
            <a:endParaRPr lang="ar-SA" sz="24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After break I study history.</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Also: fī muntaṣafi n-nahār.</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617220" cy="274320"/>
          </a:xfrm>
          <a:prstGeom prst="roundRect">
            <a:avLst>
              <a:gd name="adj" fmla="val 50000"/>
            </a:avLst>
          </a:prstGeom>
          <a:solidFill>
            <a:srgbClr val="1E6B52"/>
          </a:solidFill>
          <a:ln w="12700">
            <a:solidFill>
              <a:srgbClr val="1E6B52"/>
            </a:solidFill>
            <a:prstDash val="solid"/>
          </a:ln>
        </p:spPr>
      </p:sp>
      <p:sp>
        <p:nvSpPr>
          <p:cNvPr id="33" name="Text 30"/>
          <p:cNvSpPr txBox="1"/>
          <p:nvPr/>
        </p:nvSpPr>
        <p:spPr>
          <a:xfrm>
            <a:off x="594360" y="1920240"/>
            <a:ext cx="6172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CLOSE</a:t>
            </a:r>
            <a:endParaRPr lang="en-US" sz="850" dirty="0"/>
          </a:p>
        </p:txBody>
      </p:sp>
      <p:sp>
        <p:nvSpPr>
          <p:cNvPr id="34" name="Text 31"/>
          <p:cNvSpPr txBox="1"/>
          <p:nvPr/>
        </p:nvSpPr>
        <p:spPr>
          <a:xfrm>
            <a:off x="1257300" y="1874520"/>
            <a:ext cx="26990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أَخِيرًا · فِي النِّهَايَةِ</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أَخِيرًا أَعُودُ إِلَى الْبَيْتِ وَأُكْمِلُ وَاجِبِي.</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Finally I go home and finish my homework.</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Make the last event clear.</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Order: the sequence word goes BEFORE the action it introduces.</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cs typeface="Amiri" pitchFamily="2" charset="-78"/>
              </a:rPr>
              <a:t>أَوَّلًا أَدْخُلُ الْفَصْلَ، ثُمَّ أَجْلِسُ.</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700" b="1" dirty="0">
                <a:solidFill>
                  <a:srgbClr val="B83227"/>
                </a:solidFill>
                <a:latin typeface="Amiri" pitchFamily="2" charset="-78"/>
                <a:cs typeface="Amiri" pitchFamily="2" charset="-78"/>
              </a:rPr>
              <a:t>ثُمَّ أَوَّلًا أَدْخُلُ الْفَصْلَ.</a:t>
            </a:r>
            <a:endParaRPr lang="ar-SA" sz="17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F4-L07 · My School Day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F4-L07</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a personal narrative: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ثُمَّ ___ الْفَصْلَ.</a:t>
            </a:r>
            <a:endParaRPr lang="ar-SA" sz="22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يَدْخُلُ</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تَدْخُلُ</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أَدْخُلُ</a:t>
            </a:r>
            <a:endParaRPr lang="ar-SA" sz="2050" dirty="0"/>
          </a:p>
        </p:txBody>
      </p:sp>
      <p:sp>
        <p:nvSpPr>
          <p:cNvPr id="29" name="Shape 26"/>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313932"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Repair the viewpoint:</a:t>
            </a:r>
            <a:endParaRPr lang="en-US" sz="1200" dirty="0"/>
          </a:p>
        </p:txBody>
      </p:sp>
      <p:sp>
        <p:nvSpPr>
          <p:cNvPr id="33" name="Text 30"/>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cs typeface="Amiri" pitchFamily="2" charset="-78"/>
              </a:rPr>
              <a:t>أَذْهَبُ إِلَى الْمَدْرَسَةِ، ثُمَّ يَجْلِسُ فِي مَكَانِهِ.</a:t>
            </a:r>
            <a:endParaRPr lang="ar-SA" sz="14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أَذْهَبُ إِلَى الْمَدْرَسَةِ، ثُمَّ أَجْلِسُ فِي مَكَانِي.</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يَذْهَبُ إِلَى الْمَدْرَسَةِ، ثُمَّ أَجْلِسُ فِي مَكَانِي.</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أَذْهَبُ إِلَى الْمَدْرَسَةِ، ثُمَّ تَجْلِسُ فِي مَكَانِهَا.</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gives an approximate time?</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عِنْدَ السَّاعَةِ الثَّامِنَةِ</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حَوَالَي السَّاعَةِ الثَّامِنَةِ</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يَوْمِ الثُّلَاثَاءِ</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0" name="Text 57"/>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850" b="1" dirty="0">
                <a:solidFill>
                  <a:srgbClr val="1B3B6F"/>
                </a:solidFill>
                <a:latin typeface="Amiri" pitchFamily="2" charset="-78"/>
                <a:cs typeface="Amiri" pitchFamily="2" charset="-78"/>
              </a:rPr>
              <a:t>___ الاِسْتِرَاحَةِ أَدْرُسُ التَّارِيخَ.</a:t>
            </a:r>
            <a:endParaRPr lang="ar-SA" sz="18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بَعْدَ</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مَعَ</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36</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F4-L07 · My School Day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F4-L07</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a personal narrative: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ثُمَّ ___ الْفَصْلَ.</a:t>
            </a:r>
            <a:endParaRPr lang="ar-SA" sz="22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يَدْخُلُ</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تَدْخُلُ</a:t>
            </a:r>
            <a:endParaRPr lang="ar-SA" sz="1700" dirty="0"/>
          </a:p>
        </p:txBody>
      </p:sp>
      <p:sp>
        <p:nvSpPr>
          <p:cNvPr id="26" name="Shape 23"/>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9" name="Text 26"/>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أَدْخُلُ</a:t>
            </a:r>
            <a:endParaRPr lang="ar-SA" sz="1700" dirty="0"/>
          </a:p>
        </p:txBody>
      </p:sp>
      <p:sp>
        <p:nvSpPr>
          <p:cNvPr id="30" name="Text 27"/>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narrator is “I”, so use </a:t>
            </a:r>
            <a:pPr algn="l" indent="0" marL="0">
              <a:buNone/>
            </a:pPr>
            <a:r>
              <a:rPr lang="ar-SA" altLang="en-US" sz="1350" dirty="0">
                <a:solidFill>
                  <a:srgbClr val="8A6D1E"/>
                </a:solidFill>
                <a:latin typeface="Amiri" pitchFamily="2" charset="-78"/>
                <a:cs typeface="Amiri" pitchFamily="2" charset="-78"/>
              </a:rPr>
              <a:t>أَدْخُلُ</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Repair the viewpoint:</a:t>
            </a:r>
            <a:endParaRPr lang="en-US" sz="1200" dirty="0"/>
          </a:p>
        </p:txBody>
      </p:sp>
      <p:sp>
        <p:nvSpPr>
          <p:cNvPr id="35" name="Text 32"/>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cs typeface="Amiri" pitchFamily="2" charset="-78"/>
              </a:rPr>
              <a:t>أَذْهَبُ إِلَى الْمَدْرَسَةِ، ثُمَّ يَجْلِسُ فِي مَكَانِهِ.</a:t>
            </a:r>
            <a:endParaRPr lang="ar-SA" sz="1450" dirty="0"/>
          </a:p>
        </p:txBody>
      </p:sp>
      <p:sp>
        <p:nvSpPr>
          <p:cNvPr id="36" name="Shape 33"/>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7" name="Shape 34"/>
          <p:cNvSpPr/>
          <p:nvPr/>
        </p:nvSpPr>
        <p:spPr>
          <a:xfrm>
            <a:off x="6368796" y="2490216"/>
            <a:ext cx="256032" cy="256032"/>
          </a:xfrm>
          <a:prstGeom prst="ellipse">
            <a:avLst/>
          </a:prstGeom>
          <a:solidFill>
            <a:srgbClr val="2E8B57"/>
          </a:solidFill>
          <a:ln w="12700">
            <a:solidFill>
              <a:srgbClr val="2E8B57"/>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أَذْهَبُ إِلَى الْمَدْرَسَةِ، ثُمَّ أَجْلِسُ فِي مَكَانِي.</a:t>
            </a:r>
            <a:endParaRPr lang="ar-SA" sz="1700" dirty="0"/>
          </a:p>
        </p:txBody>
      </p:sp>
      <p:sp>
        <p:nvSpPr>
          <p:cNvPr id="40" name="Shape 37"/>
          <p:cNvSpPr/>
          <p:nvPr/>
        </p:nvSpPr>
        <p:spPr>
          <a:xfrm>
            <a:off x="6368796" y="2862072"/>
            <a:ext cx="256032" cy="256032"/>
          </a:xfrm>
          <a:prstGeom prst="ellipse">
            <a:avLst/>
          </a:prstGeom>
          <a:solidFill>
            <a:srgbClr val="C9CED6"/>
          </a:solidFill>
          <a:ln w="12700">
            <a:solidFill>
              <a:srgbClr val="C9CED6"/>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يَذْهَبُ إِلَى الْمَدْرَسَةِ، ثُمَّ أَجْلِسُ فِي مَكَانِي.</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أَذْهَبُ إِلَى الْمَدْرَسَةِ، ثُمَّ تَجْلِسُ فِي مَكَانِهَا.</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Both verbs and possessive ending must stay with “I”.</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gives an approximate time?</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عِنْدَ السَّاعَةِ الثَّامِنَةِ</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حَوَالَي السَّاعَةِ الثَّامِنَةِ</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فِي يَوْمِ الثُّلَاثَاءِ</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حَوَالَي</a:t>
            </a:r>
            <a:pPr algn="l" indent="0" marL="0">
              <a:buNone/>
            </a:pPr>
            <a:r>
              <a:rPr lang="en-US" sz="1050" i="1" dirty="0">
                <a:solidFill>
                  <a:srgbClr val="8A6D1E"/>
                </a:solidFill>
                <a:latin typeface="Calibri" pitchFamily="34" charset="0"/>
                <a:cs typeface="Amiri" pitchFamily="2" charset="-78"/>
              </a:rPr>
              <a:t> means around or approximately.</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6" name="Text 63"/>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850" b="1" dirty="0">
                <a:solidFill>
                  <a:srgbClr val="1B3B6F"/>
                </a:solidFill>
                <a:latin typeface="Amiri" pitchFamily="2" charset="-78"/>
                <a:cs typeface="Amiri" pitchFamily="2" charset="-78"/>
              </a:rPr>
              <a:t>___ الاِسْتِرَاحَةِ أَدْرُسُ التَّارِيخَ.</a:t>
            </a:r>
            <a:endParaRPr lang="ar-SA" sz="1850" dirty="0"/>
          </a:p>
        </p:txBody>
      </p:sp>
      <p:sp>
        <p:nvSpPr>
          <p:cNvPr id="67" name="Shape 64"/>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368796" y="4831080"/>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70" name="Text 67"/>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بَعْدَ</a:t>
            </a:r>
            <a:endParaRPr lang="ar-SA" sz="1700" dirty="0"/>
          </a:p>
        </p:txBody>
      </p:sp>
      <p:sp>
        <p:nvSpPr>
          <p:cNvPr id="71" name="Shape 68"/>
          <p:cNvSpPr/>
          <p:nvPr/>
        </p:nvSpPr>
        <p:spPr>
          <a:xfrm>
            <a:off x="6368796" y="5202936"/>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3" name="Text 70"/>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إِلَى</a:t>
            </a:r>
            <a:endParaRPr lang="ar-SA" sz="1700" dirty="0"/>
          </a:p>
        </p:txBody>
      </p:sp>
      <p:sp>
        <p:nvSpPr>
          <p:cNvPr id="74" name="Shape 71"/>
          <p:cNvSpPr/>
          <p:nvPr/>
        </p:nvSpPr>
        <p:spPr>
          <a:xfrm>
            <a:off x="6368796" y="5574792"/>
            <a:ext cx="256032" cy="256032"/>
          </a:xfrm>
          <a:prstGeom prst="ellipse">
            <a:avLst/>
          </a:prstGeom>
          <a:solidFill>
            <a:srgbClr val="C9CED6"/>
          </a:solidFill>
          <a:ln w="12700">
            <a:solidFill>
              <a:srgbClr val="C9CED6"/>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مَعَ</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بَعْدَ الاِسْتِرَاحَةِ</a:t>
            </a:r>
            <a:pPr algn="l" indent="0" marL="0">
              <a:buNone/>
            </a:pPr>
            <a:r>
              <a:rPr lang="en-US" sz="1050" i="1" dirty="0">
                <a:solidFill>
                  <a:srgbClr val="8A6D1E"/>
                </a:solidFill>
                <a:latin typeface="Calibri" pitchFamily="34" charset="0"/>
                <a:cs typeface="Amiri" pitchFamily="2" charset="-78"/>
              </a:rPr>
              <a:t> means after break.</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36</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F4-L07 · My School Day</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narrate a school day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F4-L07</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Morning</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0E7C86"/>
                </a:solidFill>
                <a:latin typeface="Amiri" pitchFamily="2" charset="-78"/>
                <a:cs typeface="Amiri" pitchFamily="2" charset="-78"/>
              </a:rPr>
              <a:t>عَادَةً</a:t>
            </a:r>
            <a:pPr rtl="1" algn="ctr" indent="0" marL="0">
              <a:lnSpc>
                <a:spcPct val="120000"/>
              </a:lnSpc>
              <a:buNone/>
            </a:pPr>
            <a:r>
              <a:rPr lang="ar-SA" altLang="en-US" sz="1750" b="1" dirty="0">
                <a:solidFill>
                  <a:srgbClr val="1B3B6F"/>
                </a:solidFill>
                <a:latin typeface="Amiri" pitchFamily="2" charset="-78"/>
                <a:cs typeface="Amiri" pitchFamily="2" charset="-78"/>
              </a:rPr>
              <a:t> أَسْتَيْقِظُ فِي السَّاعَةِ السَّادِسَةِ وَالنِّصْفِ.</a:t>
            </a:r>
            <a:endParaRPr lang="ar-SA" sz="175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Open + time.</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School</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cs typeface="Amiri" pitchFamily="2" charset="-78"/>
              </a:rPr>
              <a:t>أَصِلُ حَوَالَيِ الثَّامِنَةِ، </a:t>
            </a:r>
            <a:pPr rtl="1" algn="ctr" indent="0" marL="0">
              <a:lnSpc>
                <a:spcPct val="120000"/>
              </a:lnSpc>
              <a:buNone/>
            </a:pPr>
            <a:r>
              <a:rPr lang="ar-SA" altLang="en-US" sz="1750" b="1" dirty="0">
                <a:solidFill>
                  <a:srgbClr val="0E7C86"/>
                </a:solidFill>
                <a:latin typeface="Amiri" pitchFamily="2" charset="-78"/>
                <a:cs typeface="Amiri" pitchFamily="2" charset="-78"/>
              </a:rPr>
              <a:t>ثُمَّ</a:t>
            </a:r>
            <a:pPr rtl="1" algn="ctr" indent="0" marL="0">
              <a:lnSpc>
                <a:spcPct val="120000"/>
              </a:lnSpc>
              <a:buNone/>
            </a:pPr>
            <a:r>
              <a:rPr lang="ar-SA" altLang="en-US" sz="1750" b="1" dirty="0">
                <a:solidFill>
                  <a:srgbClr val="1B3B6F"/>
                </a:solidFill>
                <a:latin typeface="Amiri" pitchFamily="2" charset="-78"/>
                <a:cs typeface="Amiri" pitchFamily="2" charset="-78"/>
              </a:rPr>
              <a:t> أَدْخُلُ الْفَصْلَ.</a:t>
            </a:r>
            <a:endParaRPr lang="ar-SA" sz="17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Keep “I”.</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Midday</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800" b="1" dirty="0">
                <a:solidFill>
                  <a:srgbClr val="0E7C86"/>
                </a:solidFill>
                <a:latin typeface="Amiri" pitchFamily="2" charset="-78"/>
                <a:cs typeface="Amiri" pitchFamily="2" charset="-78"/>
              </a:rPr>
              <a:t>فِي الاِسْتِرَاحَةِ</a:t>
            </a:r>
            <a:pPr rtl="1" algn="ctr" indent="0" marL="0">
              <a:lnSpc>
                <a:spcPct val="120000"/>
              </a:lnSpc>
              <a:buNone/>
            </a:pPr>
            <a:r>
              <a:rPr lang="ar-SA" altLang="en-US" sz="1800" b="1" dirty="0">
                <a:solidFill>
                  <a:srgbClr val="1B3B6F"/>
                </a:solidFill>
                <a:latin typeface="Amiri" pitchFamily="2" charset="-78"/>
                <a:cs typeface="Amiri" pitchFamily="2" charset="-78"/>
              </a:rPr>
              <a:t> آكُلُ فِي الْمَقْصَفِ.</a:t>
            </a:r>
            <a:endParaRPr lang="ar-SA" sz="1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Place: fī.</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Home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0E7C86"/>
                </a:solidFill>
                <a:latin typeface="Amiri" pitchFamily="2" charset="-78"/>
                <a:cs typeface="Amiri" pitchFamily="2" charset="-78"/>
              </a:rPr>
              <a:t>أَخِيرًا</a:t>
            </a:r>
            <a:pPr rtl="1" algn="ctr" indent="0" marL="0">
              <a:lnSpc>
                <a:spcPct val="120000"/>
              </a:lnSpc>
              <a:buNone/>
            </a:pPr>
            <a:r>
              <a:rPr lang="ar-SA" altLang="en-US" sz="1750" b="1" dirty="0">
                <a:solidFill>
                  <a:srgbClr val="1B3B6F"/>
                </a:solidFill>
                <a:latin typeface="Amiri" pitchFamily="2" charset="-78"/>
                <a:cs typeface="Amiri" pitchFamily="2" charset="-78"/>
              </a:rPr>
              <a:t> أَعُودُ إِلَى الْبَيْتِ وَأُكْمِلُ وَاجِبِي.</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Clear close.</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SEQUENCE / TIME</a:t>
            </a:r>
            <a:endParaRPr lang="en-US" sz="800" dirty="0"/>
          </a:p>
        </p:txBody>
      </p:sp>
      <p:sp>
        <p:nvSpPr>
          <p:cNvPr id="47" name="Text 43"/>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0E7C86"/>
                </a:solidFill>
                <a:latin typeface="Amiri" pitchFamily="2" charset="-78"/>
                <a:cs typeface="Amiri" pitchFamily="2" charset="-78"/>
              </a:rPr>
              <a:t>عَادَةً</a:t>
            </a:r>
            <a:pPr rtl="1" algn="r" indent="0" marL="0">
              <a:lnSpc>
                <a:spcPct val="120000"/>
              </a:lnSpc>
              <a:buNone/>
            </a:pPr>
            <a:r>
              <a:rPr lang="ar-SA" altLang="en-US" sz="1400" b="1" dirty="0">
                <a:solidFill>
                  <a:srgbClr val="1B3B6F"/>
                </a:solidFill>
                <a:latin typeface="Amiri" pitchFamily="2" charset="-78"/>
                <a:cs typeface="Amiri" pitchFamily="2" charset="-78"/>
              </a:rPr>
              <a:t> أَسْتَيْقِظُ فِي السَّاعَةِ السَّادِسَةِ وَالنِّصْفِ، </a:t>
            </a:r>
            <a:pPr rtl="1" algn="r" indent="0" marL="0">
              <a:lnSpc>
                <a:spcPct val="120000"/>
              </a:lnSpc>
              <a:buNone/>
            </a:pPr>
            <a:r>
              <a:rPr lang="ar-SA" altLang="en-US" sz="1400" b="1" dirty="0">
                <a:solidFill>
                  <a:srgbClr val="0E7C86"/>
                </a:solidFill>
                <a:latin typeface="Amiri" pitchFamily="2" charset="-78"/>
                <a:cs typeface="Amiri" pitchFamily="2" charset="-78"/>
              </a:rPr>
              <a:t>ثُمَّ</a:t>
            </a:r>
            <a:pPr rtl="1" algn="r" indent="0" marL="0">
              <a:lnSpc>
                <a:spcPct val="120000"/>
              </a:lnSpc>
              <a:buNone/>
            </a:pPr>
            <a:r>
              <a:rPr lang="ar-SA" altLang="en-US" sz="1400" b="1" dirty="0">
                <a:solidFill>
                  <a:srgbClr val="1B3B6F"/>
                </a:solidFill>
                <a:latin typeface="Amiri" pitchFamily="2" charset="-78"/>
                <a:cs typeface="Amiri" pitchFamily="2" charset="-78"/>
              </a:rPr>
              <a:t> أَتَنَاوَلُ الْفُطُورَ. أَذْهَبُ إِلَى الْمَدْرَسَةِ بِالْحَافِلَةِ، وَأَصِلُ </a:t>
            </a:r>
            <a:pPr rtl="1" algn="r" indent="0" marL="0">
              <a:lnSpc>
                <a:spcPct val="120000"/>
              </a:lnSpc>
              <a:buNone/>
            </a:pPr>
            <a:r>
              <a:rPr lang="ar-SA" altLang="en-US" sz="1400" b="1" dirty="0">
                <a:solidFill>
                  <a:srgbClr val="0E7C86"/>
                </a:solidFill>
                <a:latin typeface="Amiri" pitchFamily="2" charset="-78"/>
                <a:cs typeface="Amiri" pitchFamily="2" charset="-78"/>
              </a:rPr>
              <a:t>حَوَالَيِ</a:t>
            </a:r>
            <a:pPr rtl="1" algn="r" indent="0" marL="0">
              <a:lnSpc>
                <a:spcPct val="120000"/>
              </a:lnSpc>
              <a:buNone/>
            </a:pPr>
            <a:r>
              <a:rPr lang="ar-SA" altLang="en-US" sz="1400" b="1" dirty="0">
                <a:solidFill>
                  <a:srgbClr val="1B3B6F"/>
                </a:solidFill>
                <a:latin typeface="Amiri" pitchFamily="2" charset="-78"/>
                <a:cs typeface="Amiri" pitchFamily="2" charset="-78"/>
              </a:rPr>
              <a:t> السَّاعَةِ الثَّامِنَةِ. </a:t>
            </a:r>
            <a:pPr rtl="1" algn="r" indent="0" marL="0">
              <a:lnSpc>
                <a:spcPct val="120000"/>
              </a:lnSpc>
              <a:buNone/>
            </a:pPr>
            <a:r>
              <a:rPr lang="ar-SA" altLang="en-US" sz="1400" b="1" dirty="0">
                <a:solidFill>
                  <a:srgbClr val="0E7C86"/>
                </a:solidFill>
                <a:latin typeface="Amiri" pitchFamily="2" charset="-78"/>
                <a:cs typeface="Amiri" pitchFamily="2" charset="-78"/>
              </a:rPr>
              <a:t>فِي الاِسْتِرَاحَةِ</a:t>
            </a:r>
            <a:pPr rtl="1" algn="r" indent="0" marL="0">
              <a:lnSpc>
                <a:spcPct val="120000"/>
              </a:lnSpc>
              <a:buNone/>
            </a:pPr>
            <a:r>
              <a:rPr lang="ar-SA" altLang="en-US" sz="1400" b="1" dirty="0">
                <a:solidFill>
                  <a:srgbClr val="1B3B6F"/>
                </a:solidFill>
                <a:latin typeface="Amiri" pitchFamily="2" charset="-78"/>
                <a:cs typeface="Amiri" pitchFamily="2" charset="-78"/>
              </a:rPr>
              <a:t> آكُلُ فِي الْمَقْصَفِ. </a:t>
            </a:r>
            <a:pPr rtl="1" algn="r" indent="0" marL="0">
              <a:lnSpc>
                <a:spcPct val="120000"/>
              </a:lnSpc>
              <a:buNone/>
            </a:pPr>
            <a:r>
              <a:rPr lang="ar-SA" altLang="en-US" sz="1400" b="1" dirty="0">
                <a:solidFill>
                  <a:srgbClr val="0E7C86"/>
                </a:solidFill>
                <a:latin typeface="Amiri" pitchFamily="2" charset="-78"/>
                <a:cs typeface="Amiri" pitchFamily="2" charset="-78"/>
              </a:rPr>
              <a:t>أَخِيرًا</a:t>
            </a:r>
            <a:pPr rtl="1" algn="r" indent="0" marL="0">
              <a:lnSpc>
                <a:spcPct val="120000"/>
              </a:lnSpc>
              <a:buNone/>
            </a:pPr>
            <a:r>
              <a:rPr lang="ar-SA" altLang="en-US" sz="1400" b="1" dirty="0">
                <a:solidFill>
                  <a:srgbClr val="1B3B6F"/>
                </a:solidFill>
                <a:latin typeface="Amiri" pitchFamily="2" charset="-78"/>
                <a:cs typeface="Amiri" pitchFamily="2" charset="-78"/>
              </a:rPr>
              <a:t> أَعُودُ إِلَى الْبَيْتِ وَأُكْمِلُ وَاجِبِي.</a:t>
            </a:r>
            <a:endParaRPr lang="ar-SA" sz="1400" dirty="0"/>
          </a:p>
        </p:txBody>
      </p:sp>
      <p:sp>
        <p:nvSpPr>
          <p:cNvPr id="48" name="Text 44"/>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Usually I wake up at half past six, then I have breakfast. I go to school by bus and arrive at about eight. At break I eat in the canteen. Finally I go home and finish my homework.</a:t>
            </a:r>
            <a:endParaRPr lang="en-US" sz="1100" dirty="0"/>
          </a:p>
        </p:txBody>
      </p:sp>
      <p:sp>
        <p:nvSpPr>
          <p:cNvPr id="49"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36</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F4-L07 · My School Day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PICTURE MATCH · WEBSITE GAME “VISUAL GAME — ROUTINE”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happens? Match the picture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مَشْهَدُ الرُّوتِينِ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F4-L07</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sun + bed</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bag + school</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book + pen</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أَذْهَبُ إِلَى المَدْرَسَةِ.</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أَدْرُسُ بَعْدَ المَدْرَسَةِ.</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أَسْتَيْقِظُ صَبَاحًا.</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36</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F4-L07 · My School Day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مَشْهَدُ الرُّوتِينِ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F4-L07</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sun + bed</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أَسْتَيْقِظُ صَبَاحًا.</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wake up in the morning.</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bag + school</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أَذْهَبُ إِلَى المَدْرَسَةِ.</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go to school.</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book + pen</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أَدْرُسُ بَعْدَ المَدْرَسَةِ.</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study after school.</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F4-L07 · My School Day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“SCHOOL-DAY MISSION”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Complete the school-day mission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الْيَوْمِ الدِّرَاسِيِّ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Arrival: What happens next after going to school?</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أَصِلُ إِلَى الْمَدْرَسَةِ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أُكْمِلُ وَاجِبِي</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أَعُودُ إِلَى الْبَيْتِ</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2" name="Text 29"/>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ثُمَّ ___ الْفَصْلَ.</a:t>
            </a:r>
            <a:endParaRPr lang="ar-SA" sz="2200" dirty="0"/>
          </a:p>
        </p:txBody>
      </p:sp>
      <p:sp>
        <p:nvSpPr>
          <p:cNvPr id="33" name="Shape 30"/>
          <p:cNvSpPr/>
          <p:nvPr/>
        </p:nvSpPr>
        <p:spPr>
          <a:xfrm>
            <a:off x="4459224"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يَدْخُلُ</a:t>
            </a:r>
            <a:endParaRPr lang="ar-SA" sz="2050" dirty="0"/>
          </a:p>
        </p:txBody>
      </p:sp>
      <p:sp>
        <p:nvSpPr>
          <p:cNvPr id="36" name="Shape 33"/>
          <p:cNvSpPr/>
          <p:nvPr/>
        </p:nvSpPr>
        <p:spPr>
          <a:xfrm>
            <a:off x="4459224"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تَدْخُلُ</a:t>
            </a:r>
            <a:endParaRPr lang="ar-SA" sz="2050" dirty="0"/>
          </a:p>
        </p:txBody>
      </p:sp>
      <p:sp>
        <p:nvSpPr>
          <p:cNvPr id="39" name="Shape 36"/>
          <p:cNvSpPr/>
          <p:nvPr/>
        </p:nvSpPr>
        <p:spPr>
          <a:xfrm>
            <a:off x="4459224"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أَدْخُلُ</a:t>
            </a:r>
            <a:endParaRPr lang="ar-SA" sz="2050" dirty="0"/>
          </a:p>
        </p:txBody>
      </p:sp>
      <p:sp>
        <p:nvSpPr>
          <p:cNvPr id="42" name="Shape 39"/>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Approximate: Choose “at around three o’clock”.</a:t>
            </a:r>
            <a:endParaRPr lang="en-US" sz="1250" dirty="0"/>
          </a:p>
        </p:txBody>
      </p:sp>
      <p:sp>
        <p:nvSpPr>
          <p:cNvPr id="46" name="Shape 43"/>
          <p:cNvSpPr/>
          <p:nvPr/>
        </p:nvSpPr>
        <p:spPr>
          <a:xfrm>
            <a:off x="8278368" y="2532888"/>
            <a:ext cx="256032" cy="256032"/>
          </a:xfrm>
          <a:prstGeom prst="ellipse">
            <a:avLst/>
          </a:prstGeom>
          <a:solidFill>
            <a:srgbClr val="F4F1EA"/>
          </a:solidFill>
          <a:ln w="12700">
            <a:solidFill>
              <a:srgbClr val="F4F1EA"/>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عِنْدَ السَّاعَةِ الثَّالِثَةِ</a:t>
            </a:r>
            <a:endParaRPr lang="ar-SA" sz="2050" dirty="0"/>
          </a:p>
        </p:txBody>
      </p:sp>
      <p:sp>
        <p:nvSpPr>
          <p:cNvPr id="49" name="Shape 46"/>
          <p:cNvSpPr/>
          <p:nvPr/>
        </p:nvSpPr>
        <p:spPr>
          <a:xfrm>
            <a:off x="8278368" y="29900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حَوَالَي السَّاعَةِ الثَّالِثَةِ</a:t>
            </a:r>
            <a:endParaRPr lang="ar-SA" sz="2050" dirty="0"/>
          </a:p>
        </p:txBody>
      </p:sp>
      <p:sp>
        <p:nvSpPr>
          <p:cNvPr id="52" name="Shape 49"/>
          <p:cNvSpPr/>
          <p:nvPr/>
        </p:nvSpPr>
        <p:spPr>
          <a:xfrm>
            <a:off x="8278368" y="34472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بَعْدَ السَّاعَةِ الثَّالِثَةِ دَائِمًا</a:t>
            </a:r>
            <a:endParaRPr lang="ar-SA" sz="2050" dirty="0"/>
          </a:p>
        </p:txBody>
      </p:sp>
      <p:sp>
        <p:nvSpPr>
          <p:cNvPr id="55" name="Shape 52"/>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85216"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Connector: Choose “after that”.</a:t>
            </a:r>
            <a:endParaRPr lang="en-US" sz="1250" dirty="0"/>
          </a:p>
        </p:txBody>
      </p:sp>
      <p:sp>
        <p:nvSpPr>
          <p:cNvPr id="59" name="Shape 56"/>
          <p:cNvSpPr/>
          <p:nvPr/>
        </p:nvSpPr>
        <p:spPr>
          <a:xfrm>
            <a:off x="640080"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قَبْلَ ذَلِكَ</a:t>
            </a:r>
            <a:endParaRPr lang="ar-SA" sz="2050" dirty="0"/>
          </a:p>
        </p:txBody>
      </p:sp>
      <p:sp>
        <p:nvSpPr>
          <p:cNvPr id="62" name="Shape 59"/>
          <p:cNvSpPr/>
          <p:nvPr/>
        </p:nvSpPr>
        <p:spPr>
          <a:xfrm>
            <a:off x="640080"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بَعْدَ ذَلِكَ</a:t>
            </a:r>
            <a:endParaRPr lang="ar-SA" sz="2050" dirty="0"/>
          </a:p>
        </p:txBody>
      </p:sp>
      <p:sp>
        <p:nvSpPr>
          <p:cNvPr id="65" name="Shape 62"/>
          <p:cNvSpPr/>
          <p:nvPr/>
        </p:nvSpPr>
        <p:spPr>
          <a:xfrm>
            <a:off x="640080"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لِأَنَّ ذَلِكَ</a:t>
            </a:r>
            <a:endParaRPr lang="ar-SA" sz="2050" dirty="0"/>
          </a:p>
        </p:txBody>
      </p:sp>
      <p:sp>
        <p:nvSpPr>
          <p:cNvPr id="68" name="Shape 6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9" name="Shape 66"/>
          <p:cNvSpPr/>
          <p:nvPr/>
        </p:nvSpPr>
        <p:spPr>
          <a:xfrm>
            <a:off x="4404360" y="4288536"/>
            <a:ext cx="310896" cy="310896"/>
          </a:xfrm>
          <a:prstGeom prst="ellipse">
            <a:avLst/>
          </a:prstGeom>
          <a:solidFill>
            <a:srgbClr val="1B3B6F"/>
          </a:solidFill>
          <a:ln w="12700">
            <a:solidFill>
              <a:srgbClr val="1B3B6F"/>
            </a:solidFill>
            <a:prstDash val="solid"/>
          </a:ln>
        </p:spPr>
      </p:sp>
      <p:sp>
        <p:nvSpPr>
          <p:cNvPr id="70" name="Text 6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1" name="Text 68"/>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Home: Choose the logical final sequence.</a:t>
            </a:r>
            <a:endParaRPr lang="en-US" sz="1250" dirty="0"/>
          </a:p>
        </p:txBody>
      </p:sp>
      <p:sp>
        <p:nvSpPr>
          <p:cNvPr id="72" name="Shape 69"/>
          <p:cNvSpPr/>
          <p:nvPr/>
        </p:nvSpPr>
        <p:spPr>
          <a:xfrm>
            <a:off x="4459224" y="4873752"/>
            <a:ext cx="256032" cy="256032"/>
          </a:xfrm>
          <a:prstGeom prst="ellipse">
            <a:avLst/>
          </a:prstGeom>
          <a:solidFill>
            <a:srgbClr val="F4F1EA"/>
          </a:solidFill>
          <a:ln w="12700">
            <a:solidFill>
              <a:srgbClr val="F4F1EA"/>
            </a:solidFill>
            <a:prstDash val="solid"/>
          </a:ln>
        </p:spPr>
      </p:sp>
      <p:sp>
        <p:nvSpPr>
          <p:cNvPr id="73" name="Text 70"/>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4" name="Text 71"/>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1400" dirty="0">
                <a:solidFill>
                  <a:srgbClr val="1F2A37"/>
                </a:solidFill>
                <a:latin typeface="Amiri" pitchFamily="2" charset="-78"/>
                <a:cs typeface="Amiri" pitchFamily="2" charset="-78"/>
              </a:rPr>
              <a:t>أُكْمِلُ وَاجِبِي، ثُمَّ أَصِلُ إِلَى الْمَدْرَسَةِ فِي النِّهَايَةِ.</a:t>
            </a:r>
            <a:endParaRPr lang="ar-SA" sz="1400" dirty="0"/>
          </a:p>
        </p:txBody>
      </p:sp>
      <p:sp>
        <p:nvSpPr>
          <p:cNvPr id="75" name="Shape 72"/>
          <p:cNvSpPr/>
          <p:nvPr/>
        </p:nvSpPr>
        <p:spPr>
          <a:xfrm>
            <a:off x="4459224" y="53309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7" name="Text 74"/>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1400" dirty="0">
                <a:solidFill>
                  <a:srgbClr val="1F2A37"/>
                </a:solidFill>
                <a:latin typeface="Amiri" pitchFamily="2" charset="-78"/>
                <a:cs typeface="Amiri" pitchFamily="2" charset="-78"/>
              </a:rPr>
              <a:t>أَدْخُلُ الْفَصْلَ بَعْدَ أَنْ أَنَامَ فِي الْمَدْرَسَةِ.</a:t>
            </a:r>
            <a:endParaRPr lang="ar-SA" sz="1400" dirty="0"/>
          </a:p>
        </p:txBody>
      </p:sp>
      <p:sp>
        <p:nvSpPr>
          <p:cNvPr id="78" name="Shape 75"/>
          <p:cNvSpPr/>
          <p:nvPr/>
        </p:nvSpPr>
        <p:spPr>
          <a:xfrm>
            <a:off x="4459224" y="57881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0" name="Text 77"/>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1400" dirty="0">
                <a:solidFill>
                  <a:srgbClr val="1F2A37"/>
                </a:solidFill>
                <a:latin typeface="Amiri" pitchFamily="2" charset="-78"/>
                <a:cs typeface="Amiri" pitchFamily="2" charset="-78"/>
              </a:rPr>
              <a:t>أَعُودُ إِلَى الْبَيْتِ، ثُمَّ أُكْمِلُ وَاجِبِي.</a:t>
            </a:r>
            <a:endParaRPr lang="ar-SA" sz="1400" dirty="0"/>
          </a:p>
        </p:txBody>
      </p:sp>
      <p:sp>
        <p:nvSpPr>
          <p:cNvPr id="81" name="Shape 78"/>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2" name="Shape 79"/>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3" name="Text 80"/>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4" name="Text 81"/>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keep “I”: a- / u-</a:t>
            </a:r>
            <a:endParaRPr lang="en-US" sz="1250" dirty="0"/>
          </a:p>
          <a:p>
            <a:pPr algn="l" indent="0" marL="0">
              <a:buNone/>
            </a:pPr>
            <a:r>
              <a:rPr lang="en-US" sz="1250" dirty="0">
                <a:solidFill>
                  <a:srgbClr val="1E6B52"/>
                </a:solidFill>
                <a:latin typeface="Calibri" pitchFamily="34" charset="0"/>
                <a:cs typeface="Amiri" pitchFamily="2" charset="-78"/>
              </a:rPr>
              <a:t>ilā = towards · fī = in</a:t>
            </a:r>
            <a:endParaRPr lang="en-US" sz="1250" dirty="0"/>
          </a:p>
          <a:p>
            <a:pPr algn="l" indent="0" marL="0">
              <a:buNone/>
            </a:pPr>
            <a:r>
              <a:rPr lang="en-US" sz="1250" dirty="0">
                <a:solidFill>
                  <a:srgbClr val="1E6B52"/>
                </a:solidFill>
                <a:latin typeface="Calibri" pitchFamily="34" charset="0"/>
                <a:cs typeface="Amiri" pitchFamily="2" charset="-78"/>
              </a:rPr>
              <a:t>exact ‘inda · about ḥawālay</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36</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F4-L07 · My School Day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MISSION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Arrival: What happens next after going to school?</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أَصِلُ إِلَى الْمَدْرَسَةِ</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أُكْمِلُ وَاجِبِي</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أَعُودُ إِلَى الْبَيْتِ</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Arrival follows the journey.</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4" name="Text 31"/>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ثُمَّ ___ الْفَصْلَ.</a:t>
            </a:r>
            <a:endParaRPr lang="ar-SA" sz="2200" dirty="0"/>
          </a:p>
        </p:txBody>
      </p:sp>
      <p:sp>
        <p:nvSpPr>
          <p:cNvPr id="35" name="Shape 32"/>
          <p:cNvSpPr/>
          <p:nvPr/>
        </p:nvSpPr>
        <p:spPr>
          <a:xfrm>
            <a:off x="4459224" y="2490216"/>
            <a:ext cx="256032" cy="256032"/>
          </a:xfrm>
          <a:prstGeom prst="ellipse">
            <a:avLst/>
          </a:prstGeom>
          <a:solidFill>
            <a:srgbClr val="C9CED6"/>
          </a:solidFill>
          <a:ln w="12700">
            <a:solidFill>
              <a:srgbClr val="C9CED6"/>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يَدْخُلُ</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تَدْخُلُ</a:t>
            </a:r>
            <a:endParaRPr lang="ar-SA" sz="1700" dirty="0"/>
          </a:p>
        </p:txBody>
      </p:sp>
      <p:sp>
        <p:nvSpPr>
          <p:cNvPr id="41" name="Shape 38"/>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2" name="Shape 39"/>
          <p:cNvSpPr/>
          <p:nvPr/>
        </p:nvSpPr>
        <p:spPr>
          <a:xfrm>
            <a:off x="4459224" y="3233928"/>
            <a:ext cx="256032" cy="256032"/>
          </a:xfrm>
          <a:prstGeom prst="ellipse">
            <a:avLst/>
          </a:prstGeom>
          <a:solidFill>
            <a:srgbClr val="2E8B57"/>
          </a:solidFill>
          <a:ln w="12700">
            <a:solidFill>
              <a:srgbClr val="2E8B57"/>
            </a:solidFill>
            <a:prstDash val="solid"/>
          </a:ln>
        </p:spPr>
      </p:sp>
      <p:sp>
        <p:nvSpPr>
          <p:cNvPr id="43" name="Text 40"/>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4" name="Text 41"/>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أَدْخُلُ</a:t>
            </a:r>
            <a:endParaRPr lang="ar-SA" sz="1700" dirty="0"/>
          </a:p>
        </p:txBody>
      </p:sp>
      <p:sp>
        <p:nvSpPr>
          <p:cNvPr id="45" name="Text 42"/>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narrator stays in first person.</a:t>
            </a:r>
            <a:endParaRPr lang="en-US" sz="1050" dirty="0"/>
          </a:p>
        </p:txBody>
      </p:sp>
      <p:sp>
        <p:nvSpPr>
          <p:cNvPr id="46" name="Shape 43"/>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5"/>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Approximate: Choose “at around three o’clock”.</a:t>
            </a:r>
            <a:endParaRPr lang="en-US" sz="1250" dirty="0"/>
          </a:p>
        </p:txBody>
      </p:sp>
      <p:sp>
        <p:nvSpPr>
          <p:cNvPr id="50" name="Shape 47"/>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عِنْدَ السَّاعَةِ الثَّالِثَةِ</a:t>
            </a:r>
            <a:endParaRPr lang="ar-SA" sz="1700" dirty="0"/>
          </a:p>
        </p:txBody>
      </p:sp>
      <p:sp>
        <p:nvSpPr>
          <p:cNvPr id="53" name="Shape 50"/>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4" name="Shape 51"/>
          <p:cNvSpPr/>
          <p:nvPr/>
        </p:nvSpPr>
        <p:spPr>
          <a:xfrm>
            <a:off x="8278368" y="2862072"/>
            <a:ext cx="256032" cy="256032"/>
          </a:xfrm>
          <a:prstGeom prst="ellipse">
            <a:avLst/>
          </a:prstGeom>
          <a:solidFill>
            <a:srgbClr val="2E8B57"/>
          </a:solidFill>
          <a:ln w="12700">
            <a:solidFill>
              <a:srgbClr val="2E8B57"/>
            </a:solidFill>
            <a:prstDash val="solid"/>
          </a:ln>
        </p:spPr>
      </p:sp>
      <p:sp>
        <p:nvSpPr>
          <p:cNvPr id="55"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6"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حَوَالَي السَّاعَةِ الثَّالِثَةِ</a:t>
            </a:r>
            <a:endParaRPr lang="ar-SA" sz="1700" dirty="0"/>
          </a:p>
        </p:txBody>
      </p:sp>
      <p:sp>
        <p:nvSpPr>
          <p:cNvPr id="57" name="Shape 54"/>
          <p:cNvSpPr/>
          <p:nvPr/>
        </p:nvSpPr>
        <p:spPr>
          <a:xfrm>
            <a:off x="8278368" y="3233928"/>
            <a:ext cx="256032" cy="256032"/>
          </a:xfrm>
          <a:prstGeom prst="ellipse">
            <a:avLst/>
          </a:prstGeom>
          <a:solidFill>
            <a:srgbClr val="C9CED6"/>
          </a:solidFill>
          <a:ln w="12700">
            <a:solidFill>
              <a:srgbClr val="C9CED6"/>
            </a:solidFill>
            <a:prstDash val="solid"/>
          </a:ln>
        </p:spPr>
      </p:sp>
      <p:sp>
        <p:nvSpPr>
          <p:cNvPr id="58" name="Text 55"/>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بَعْدَ السَّاعَةِ الثَّالِثَةِ دَائِمًا</a:t>
            </a:r>
            <a:endParaRPr lang="ar-SA" sz="1700" dirty="0"/>
          </a:p>
        </p:txBody>
      </p:sp>
      <p:sp>
        <p:nvSpPr>
          <p:cNvPr id="60" name="Text 57"/>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حَوَالَي</a:t>
            </a:r>
            <a:pPr algn="l" indent="0" marL="0">
              <a:buNone/>
            </a:pPr>
            <a:r>
              <a:rPr lang="en-US" sz="1050" i="1" dirty="0">
                <a:solidFill>
                  <a:srgbClr val="8A6D1E"/>
                </a:solidFill>
                <a:latin typeface="Calibri" pitchFamily="34" charset="0"/>
                <a:cs typeface="Amiri" pitchFamily="2" charset="-78"/>
              </a:rPr>
              <a:t> signals approximation.</a:t>
            </a:r>
            <a:endParaRPr lang="en-US" sz="1050" dirty="0"/>
          </a:p>
        </p:txBody>
      </p:sp>
      <p:sp>
        <p:nvSpPr>
          <p:cNvPr id="61" name="Shape 58"/>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Connector: Choose “after that”.</a:t>
            </a:r>
            <a:endParaRPr lang="en-US" sz="1250" dirty="0"/>
          </a:p>
        </p:txBody>
      </p:sp>
      <p:sp>
        <p:nvSpPr>
          <p:cNvPr id="65" name="Shape 62"/>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قَبْلَ ذَلِكَ</a:t>
            </a:r>
            <a:endParaRPr lang="ar-SA" sz="1700" dirty="0"/>
          </a:p>
        </p:txBody>
      </p:sp>
      <p:sp>
        <p:nvSpPr>
          <p:cNvPr id="68" name="Shape 65"/>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9" name="Shape 66"/>
          <p:cNvSpPr/>
          <p:nvPr/>
        </p:nvSpPr>
        <p:spPr>
          <a:xfrm>
            <a:off x="640080" y="5202936"/>
            <a:ext cx="256032" cy="256032"/>
          </a:xfrm>
          <a:prstGeom prst="ellipse">
            <a:avLst/>
          </a:prstGeom>
          <a:solidFill>
            <a:srgbClr val="2E8B57"/>
          </a:solidFill>
          <a:ln w="12700">
            <a:solidFill>
              <a:srgbClr val="2E8B57"/>
            </a:solidFill>
            <a:prstDash val="solid"/>
          </a:ln>
        </p:spPr>
      </p:sp>
      <p:sp>
        <p:nvSpPr>
          <p:cNvPr id="70"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1"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بَعْدَ ذَلِكَ</a:t>
            </a:r>
            <a:endParaRPr lang="ar-SA" sz="1700" dirty="0"/>
          </a:p>
        </p:txBody>
      </p:sp>
      <p:sp>
        <p:nvSpPr>
          <p:cNvPr id="72" name="Shape 69"/>
          <p:cNvSpPr/>
          <p:nvPr/>
        </p:nvSpPr>
        <p:spPr>
          <a:xfrm>
            <a:off x="640080"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4" name="Text 71"/>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لِأَنَّ ذَلِكَ</a:t>
            </a:r>
            <a:endParaRPr lang="ar-SA" sz="1700" dirty="0"/>
          </a:p>
        </p:txBody>
      </p:sp>
      <p:sp>
        <p:nvSpPr>
          <p:cNvPr id="75" name="Text 72"/>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بَعْدَ ذَلِكَ</a:t>
            </a:r>
            <a:pPr algn="l" indent="0" marL="0">
              <a:buNone/>
            </a:pPr>
            <a:r>
              <a:rPr lang="en-US" sz="1050" i="1" dirty="0">
                <a:solidFill>
                  <a:srgbClr val="8A6D1E"/>
                </a:solidFill>
                <a:latin typeface="Calibri" pitchFamily="34" charset="0"/>
                <a:cs typeface="Amiri" pitchFamily="2" charset="-78"/>
              </a:rPr>
              <a:t> advances the sequence.</a:t>
            </a:r>
            <a:endParaRPr lang="en-US" sz="1050" dirty="0"/>
          </a:p>
        </p:txBody>
      </p:sp>
      <p:sp>
        <p:nvSpPr>
          <p:cNvPr id="76" name="Shape 73"/>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4"/>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5"/>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6"/>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Home: Choose the logical final sequence.</a:t>
            </a:r>
            <a:endParaRPr lang="en-US" sz="1250" dirty="0"/>
          </a:p>
        </p:txBody>
      </p:sp>
      <p:sp>
        <p:nvSpPr>
          <p:cNvPr id="80" name="Shape 77"/>
          <p:cNvSpPr/>
          <p:nvPr/>
        </p:nvSpPr>
        <p:spPr>
          <a:xfrm>
            <a:off x="4459224" y="4831080"/>
            <a:ext cx="256032" cy="256032"/>
          </a:xfrm>
          <a:prstGeom prst="ellipse">
            <a:avLst/>
          </a:prstGeom>
          <a:solidFill>
            <a:srgbClr val="C9CED6"/>
          </a:solidFill>
          <a:ln w="12700">
            <a:solidFill>
              <a:srgbClr val="C9CED6"/>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400" dirty="0">
                <a:solidFill>
                  <a:srgbClr val="9AA1AB"/>
                </a:solidFill>
                <a:latin typeface="Amiri" pitchFamily="2" charset="-78"/>
                <a:cs typeface="Amiri" pitchFamily="2" charset="-78"/>
              </a:rPr>
              <a:t>أُكْمِلُ وَاجِبِي، ثُمَّ أَصِلُ إِلَى الْمَدْرَسَةِ فِي النِّهَايَةِ.</a:t>
            </a:r>
            <a:endParaRPr lang="ar-SA" sz="14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400" dirty="0">
                <a:solidFill>
                  <a:srgbClr val="9AA1AB"/>
                </a:solidFill>
                <a:latin typeface="Amiri" pitchFamily="2" charset="-78"/>
                <a:cs typeface="Amiri" pitchFamily="2" charset="-78"/>
              </a:rPr>
              <a:t>أَدْخُلُ الْفَصْلَ بَعْدَ أَنْ أَنَامَ فِي الْمَدْرَسَةِ.</a:t>
            </a:r>
            <a:endParaRPr lang="ar-SA" sz="1400" dirty="0"/>
          </a:p>
        </p:txBody>
      </p:sp>
      <p:sp>
        <p:nvSpPr>
          <p:cNvPr id="86" name="Shape 83"/>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87" name="Shape 84"/>
          <p:cNvSpPr/>
          <p:nvPr/>
        </p:nvSpPr>
        <p:spPr>
          <a:xfrm>
            <a:off x="4459224" y="5574792"/>
            <a:ext cx="256032" cy="256032"/>
          </a:xfrm>
          <a:prstGeom prst="ellipse">
            <a:avLst/>
          </a:prstGeom>
          <a:solidFill>
            <a:srgbClr val="2E8B57"/>
          </a:solidFill>
          <a:ln w="12700">
            <a:solidFill>
              <a:srgbClr val="2E8B57"/>
            </a:solidFill>
            <a:prstDash val="solid"/>
          </a:ln>
        </p:spPr>
      </p:sp>
      <p:sp>
        <p:nvSpPr>
          <p:cNvPr id="88" name="Text 85"/>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89" name="Text 86"/>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2" charset="-78"/>
                <a:cs typeface="Amiri" pitchFamily="2" charset="-78"/>
              </a:rPr>
              <a:t>أَعُودُ إِلَى الْبَيْتِ، ثُمَّ أُكْمِلُ وَاجِبِي.</a:t>
            </a:r>
            <a:endParaRPr lang="ar-SA" sz="1400" dirty="0"/>
          </a:p>
        </p:txBody>
      </p:sp>
      <p:sp>
        <p:nvSpPr>
          <p:cNvPr id="90" name="Text 87"/>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Returning home logically precedes home study.</a:t>
            </a:r>
            <a:endParaRPr lang="en-US" sz="1050" dirty="0"/>
          </a:p>
        </p:txBody>
      </p:sp>
      <p:sp>
        <p:nvSpPr>
          <p:cNvPr id="91" name="Shape 88"/>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2" name="Shape 89"/>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3" name="Text 90"/>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4" name="Text 91"/>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keep “I”: a- / u-</a:t>
            </a:r>
            <a:endParaRPr lang="en-US" sz="1250" dirty="0"/>
          </a:p>
          <a:p>
            <a:pPr algn="l" indent="0" marL="0">
              <a:buNone/>
            </a:pPr>
            <a:r>
              <a:rPr lang="en-US" sz="1250" dirty="0">
                <a:solidFill>
                  <a:srgbClr val="1E6B52"/>
                </a:solidFill>
                <a:latin typeface="Calibri" pitchFamily="34" charset="0"/>
                <a:cs typeface="Amiri" pitchFamily="2" charset="-78"/>
              </a:rPr>
              <a:t>ilā = towards · fī = in</a:t>
            </a:r>
            <a:endParaRPr lang="en-US" sz="1250" dirty="0"/>
          </a:p>
          <a:p>
            <a:pPr algn="l" indent="0" marL="0">
              <a:buNone/>
            </a:pPr>
            <a:r>
              <a:rPr lang="en-US" sz="1250" dirty="0">
                <a:solidFill>
                  <a:srgbClr val="1E6B52"/>
                </a:solidFill>
                <a:latin typeface="Calibri" pitchFamily="34" charset="0"/>
                <a:cs typeface="Amiri" pitchFamily="2" charset="-78"/>
              </a:rPr>
              <a:t>exact ‘inda · about ḥawālay</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36</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F4-L07 · My School Day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F4-L07</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أَذْهَبُ إِلَى الْمَدْرَسَةِ، ثُمَّ يَدْخُلُ الْفَصْلَ.</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Who enters? Keep “I”.</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أَذْهَبُ فِي الْمَدْرَسَةِ.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Towards a place: fī or ilā?</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أَخِيرًا أَسْتَيْقِظُ فِي السَّاعَةِ السَّادِسَةِ.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Which word opens the day?</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36</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F4-L07 · My School Day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F4-L07</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أَذْهَبُ إِلَى الْمَدْرَسَةِ، ثُمَّ يَدْخُلُ الْفَصْلَ.</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أَذْهَبُ إِلَى الْمَدْرَسَةِ، ثُمَّ أَدْخُلُ الْفَصْلَ.</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Keep “I”: yadkhulu = he enters.</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أَذْهَبُ فِي الْمَدْرَسَةِ.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أَذْهَبُ إِلَى الْمَدْرَسَةِ.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Movement towards a place = ilā.</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أَخِيرًا أَسْتَيْقِظُ فِي السَّاعَةِ السَّادِسَةِ.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عَادَةً أَسْتَيْقِظُ فِي السَّاعَةِ السَّادِسَةِ.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Akhīran closes the day; ‘ādatan opens it.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36</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F4-L07 · My School Day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Salma’s school day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she travel to school?</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by bus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foot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by car</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her first subject?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science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Arabic</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mathematics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her favourite subject?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history</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mathematics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science</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she do at break?</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eats and talks with classmates</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plays football alone</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reads in the library</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 lessons finish?</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2:00</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3:00</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4:00</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a:t>
            </a:r>
            <a:endParaRPr lang="en-US" sz="1250" dirty="0"/>
          </a:p>
          <a:p>
            <a:pPr algn="l" indent="0" marL="0">
              <a:buNone/>
            </a:pPr>
            <a:r>
              <a:rPr lang="en-US" sz="1250" dirty="0">
                <a:solidFill>
                  <a:srgbClr val="1E6B52"/>
                </a:solidFill>
                <a:latin typeface="Calibri" pitchFamily="34" charset="0"/>
                <a:cs typeface="Amiri" pitchFamily="2" charset="-78"/>
              </a:rPr>
              <a:t>Four headings: Morning · School · Break · Home.</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36</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F4-L07 · My School Day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F4-L07</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اِسْمِي سَلْمَى، وَهَذَا يَوْمِي الدِّرَاسِيُّ. عَادَةً أَسْتَيْقِظُ فِي السَّاعَةِ السَّادِسَةِ وَالنِّصْفِ، وَأَذْهَبُ إِلَى الْمَدْرَسَةِ بِالْحَافِلَةِ.</a:t>
            </a:r>
            <a:endParaRPr lang="ar-SA" sz="155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I’m Salma; this is my school day. Usually I wake up at 6:30 and go to school by bus.</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أَصِلُ فِي السَّاعَةِ الثَّامِنَةِ، ثُمَّ أَدْخُلُ الْفَصْلَ وَأَجْلِسُ فِي مَكَانِي.</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arrive at eight, then I enter the classroom and sit in my place.</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lnSpc>
                <a:spcPct val="120000"/>
              </a:lnSpc>
              <a:buNone/>
            </a:pPr>
            <a:r>
              <a:rPr lang="ar-SA" altLang="en-US" sz="1750" b="1" dirty="0">
                <a:solidFill>
                  <a:srgbClr val="1B3B6F"/>
                </a:solidFill>
                <a:latin typeface="Amiri" pitchFamily="2" charset="-78"/>
                <a:cs typeface="Amiri" pitchFamily="2" charset="-78"/>
              </a:rPr>
              <a:t>الْحِصَّةُ الأُولَى هِيَ الرِّيَاضِيَّاتُ، وَلَكِنَّ مَادَّتِي الْمُفَضَّلَةَ هِيَ الْعُلُومُ لِأَنَّهَا شَيِّقَةٌ وَمُفِيدَةٌ.</a:t>
            </a:r>
            <a:endParaRPr lang="ar-SA" sz="175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first lesson is maths, but my favourite subject is science because it is engaging and useful.</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1B3B6F"/>
                </a:solidFill>
                <a:latin typeface="Amiri" pitchFamily="2" charset="-78"/>
                <a:cs typeface="Amiri" pitchFamily="2" charset="-78"/>
              </a:rPr>
              <a:t>فِي الاِسْتِرَاحَةِ آكُلُ وَأَتَحَدَّثُ مَعَ زَمِيلَاتِي. بَعْدَ ذَلِكَ أَدْرُسُ اللُّغَةَ الْعَرَبِيَّةَ وَالتَّارِيخَ.</a:t>
            </a:r>
            <a:endParaRPr lang="ar-SA" sz="18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break I eat and talk with my classmates. After that I study Arabic and history.</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تَنْتَهِي الْحِصَصُ فِي السَّاعَةِ الثَّالِثَةِ، فَأَعُودُ إِلَى الْبَيْتِ. فِي النِّهَايَةِ أَسْتَرِيحُ قَلِيلًا، ثُمَّ أُكْمِلُ وَاجِبِي الْمَنْزِلِيَّ.</a:t>
            </a:r>
            <a:endParaRPr lang="ar-SA" sz="155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Lessons end at three, so I go home. In the end I rest a little, then finish my homework.</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36</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F4-L07 · My School Day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she travel to school?</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by bus</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 foot</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by car</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says </a:t>
            </a:r>
            <a:pPr algn="l" indent="0" marL="0">
              <a:buNone/>
            </a:pPr>
            <a:r>
              <a:rPr lang="ar-SA" altLang="en-US" sz="1350" dirty="0">
                <a:solidFill>
                  <a:srgbClr val="8A6D1E"/>
                </a:solidFill>
                <a:latin typeface="Amiri" pitchFamily="2" charset="-78"/>
                <a:cs typeface="Amiri" pitchFamily="2" charset="-78"/>
              </a:rPr>
              <a:t>بِالْحَافِلَةِ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her first subject?</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science</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Arabic</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mathematics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الْحِصَّةُ الأُولَى هِيَ الرِّيَاضِيَّاتُ.</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her favourite subject?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history</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mathematics</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science</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says </a:t>
            </a:r>
            <a:pPr algn="l" indent="0" marL="0">
              <a:buNone/>
            </a:pPr>
            <a:r>
              <a:rPr lang="ar-SA" altLang="en-US" sz="1350" dirty="0">
                <a:solidFill>
                  <a:srgbClr val="8A6D1E"/>
                </a:solidFill>
                <a:latin typeface="Amiri" pitchFamily="2" charset="-78"/>
                <a:cs typeface="Amiri" pitchFamily="2" charset="-78"/>
              </a:rPr>
              <a:t>مَادَّتِي الْمُفَضَّلَةَ هِيَ العُلُومُ</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she do at break?</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eats and talks with classmates</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plays football alone</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reads in the library</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says </a:t>
            </a:r>
            <a:pPr algn="l" indent="0" marL="0">
              <a:buNone/>
            </a:pPr>
            <a:r>
              <a:rPr lang="ar-SA" altLang="en-US" sz="1350" dirty="0">
                <a:solidFill>
                  <a:srgbClr val="8A6D1E"/>
                </a:solidFill>
                <a:latin typeface="Amiri" pitchFamily="2" charset="-78"/>
                <a:cs typeface="Amiri" pitchFamily="2" charset="-78"/>
              </a:rPr>
              <a:t>آكُلُ وَأَتَحَدَّثُ مَعَ زَمِيلَاتِي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 lessons finish?</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2:00</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3:00</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4:00</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says </a:t>
            </a:r>
            <a:pPr algn="l" indent="0" marL="0">
              <a:buNone/>
            </a:pPr>
            <a:r>
              <a:rPr lang="ar-SA" altLang="en-US" sz="1350" dirty="0">
                <a:solidFill>
                  <a:srgbClr val="8A6D1E"/>
                </a:solidFill>
                <a:latin typeface="Amiri" pitchFamily="2" charset="-78"/>
                <a:cs typeface="Amiri" pitchFamily="2" charset="-78"/>
              </a:rPr>
              <a:t>فِي السَّاعَةِ الثَّالِثَةِ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a:t>
            </a:r>
            <a:endParaRPr lang="en-US" sz="1250" dirty="0"/>
          </a:p>
          <a:p>
            <a:pPr algn="l" indent="0" marL="0">
              <a:buNone/>
            </a:pPr>
            <a:r>
              <a:rPr lang="en-US" sz="1250" dirty="0">
                <a:solidFill>
                  <a:srgbClr val="1E6B52"/>
                </a:solidFill>
                <a:latin typeface="Calibri" pitchFamily="34" charset="0"/>
                <a:cs typeface="Amiri" pitchFamily="2" charset="-78"/>
              </a:rPr>
              <a:t>Four headings: Morning · School · Break · Home.</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36</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F4-L07 · My School Day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 TEXT A · FULLY VOWELLED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Yusuf’s early start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النَّصُّ (أ)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F4-L07</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أَنَا يُوسُفُ. كُلَّ يَوْمٍ أَذْهَبُ إِلَى الْمَدْرَسَةِ مَاشِيًا لِأَنَّ بَيْتِي قَرِيبٌ مِنْهَا.</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Walks to school — his house is near</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أَصِلُ حَوَالَيِ السَّاعَةِ السَّابِعَةِ وَخَمْسِينَ دَقِيقَةً.</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Arrives at about 7:50</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أَوَّلًا أَتَحَدَّثُ مَعَ أَصْدِقَائِي، ثُمَّ أَدْخُلُ الْفَصْلَ.</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First talks with friends, then enters class</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أَدْرُسُ سِتَّ حِصَصٍ، وَفِي مُنْتَصَفِ النَّهَارِ آكُلُ فِي الْمَقْصَفِ.</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Six lessons · lunch in the canteen at midday</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أُحِبُّ التَّرْبِيَةَ الْبَدَنِيَّةَ، فَأَلْعَبُ فِي الْمَلْعَبِ بَعْدَ الغَدَاءِ. أَعُودُ إِلَى الْبَيْتِ فِي السَّاعَةِ الثَّالِثَةِ وَالنِّصْفِ.</a:t>
            </a:r>
            <a:endParaRPr lang="ar-SA" sz="155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Plays after lunch · home at 3:30</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36</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F4-L07 · My School Day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74" b="1" spc="150" kern="0" dirty="0">
                <a:solidFill>
                  <a:srgbClr val="2F6FB0"/>
                </a:solidFill>
                <a:latin typeface="Calibri" pitchFamily="34" charset="0"/>
                <a:cs typeface="Amiri" pitchFamily="2" charset="-78"/>
              </a:rPr>
              <a:t>WE DO · READING · TEXT B · UNVOWELLED CHALLENGE ON THE WEBSITE · FLEX / STRETCH</a:t>
            </a:r>
            <a:endParaRPr lang="en-US" sz="874"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Huda’s later day</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النَّصُّ (ب)</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F4-L07</a:t>
            </a:r>
            <a:endParaRPr lang="en-US" sz="850" dirty="0"/>
          </a:p>
        </p:txBody>
      </p:sp>
      <p:sp>
        <p:nvSpPr>
          <p:cNvPr id="17" name="Shape 14"/>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8" name="Text 15"/>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اِسْمِي هُدَى. أَذْهَبُ إِلَى الْمَدْرَسَةِ بِالسَّيَّارَةِ مَعَ أُخْتِي.</a:t>
            </a:r>
            <a:endParaRPr lang="ar-SA" sz="2000" dirty="0"/>
          </a:p>
        </p:txBody>
      </p:sp>
      <p:sp>
        <p:nvSpPr>
          <p:cNvPr id="19" name="Text 16"/>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By car with her sister</a:t>
            </a:r>
            <a:endParaRPr lang="en-US" sz="1250" dirty="0"/>
          </a:p>
        </p:txBody>
      </p:sp>
      <p:sp>
        <p:nvSpPr>
          <p:cNvPr id="20" name="Shape 17"/>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21" name="Text 18"/>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نَصِلُ فِي السَّاعَةِ الثَّامِنَةِ وَالنِّصْفِ لِأَنَّ الْحِصَّةَ الأُولَى تَبْدَأُ فِي التَّاسِعَةِ.</a:t>
            </a:r>
            <a:endParaRPr lang="ar-SA" sz="2000" dirty="0"/>
          </a:p>
        </p:txBody>
      </p:sp>
      <p:sp>
        <p:nvSpPr>
          <p:cNvPr id="22" name="Text 19"/>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Arrive 8:30 — first lesson at 9:00</a:t>
            </a:r>
            <a:endParaRPr lang="en-US" sz="1250" dirty="0"/>
          </a:p>
        </p:txBody>
      </p:sp>
      <p:sp>
        <p:nvSpPr>
          <p:cNvPr id="23" name="Shape 20"/>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4" name="Text 21"/>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1950" b="1" dirty="0">
                <a:solidFill>
                  <a:srgbClr val="1B3B6F"/>
                </a:solidFill>
                <a:latin typeface="Amiri" pitchFamily="2" charset="-78"/>
                <a:cs typeface="Amiri" pitchFamily="2" charset="-78"/>
              </a:rPr>
              <a:t>أَدْرُسُ اللُّغَةَ الْعَرَبِيَّةَ وَالْعُلُومَ وَالْجُغْرَافِيَا، وَأُفَضِّلُ الْجُغْرَافِيَا لِأَنَّهَا مُمْتِعَةٌ.</a:t>
            </a:r>
            <a:endParaRPr lang="ar-SA" sz="1950" dirty="0"/>
          </a:p>
        </p:txBody>
      </p:sp>
      <p:sp>
        <p:nvSpPr>
          <p:cNvPr id="25" name="Text 22"/>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Prefers geography — enjoyable</a:t>
            </a:r>
            <a:endParaRPr lang="en-US" sz="1250" dirty="0"/>
          </a:p>
        </p:txBody>
      </p:sp>
      <p:sp>
        <p:nvSpPr>
          <p:cNvPr id="26" name="Shape 23"/>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7" name="Text 24"/>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1850" b="1" dirty="0">
                <a:solidFill>
                  <a:srgbClr val="1B3B6F"/>
                </a:solidFill>
                <a:latin typeface="Amiri" pitchFamily="2" charset="-78"/>
                <a:cs typeface="Amiri" pitchFamily="2" charset="-78"/>
              </a:rPr>
              <a:t>فِي الاِسْتِرَاحَةِ أَقْرَأُ فِي الْمَكْتَبَةِ أَحْيَانًا. بَعْدَ ذَلِكَ آكُلُ فِي الْمَقْصَفِ مَعَ زَمِيلَاتِي.</a:t>
            </a:r>
            <a:endParaRPr lang="ar-SA" sz="1850" dirty="0"/>
          </a:p>
        </p:txBody>
      </p:sp>
      <p:sp>
        <p:nvSpPr>
          <p:cNvPr id="28" name="Text 25"/>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Break: sometimes reads in the library · then eats</a:t>
            </a:r>
            <a:endParaRPr lang="en-US" sz="1250" dirty="0"/>
          </a:p>
        </p:txBody>
      </p:sp>
      <p:sp>
        <p:nvSpPr>
          <p:cNvPr id="29" name="Shape 26"/>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30" name="Text 27"/>
          <p:cNvSpPr txBox="1"/>
          <p:nvPr/>
        </p:nvSpPr>
        <p:spPr>
          <a:xfrm>
            <a:off x="4937760" y="5486400"/>
            <a:ext cx="6675120" cy="804672"/>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1B3B6F"/>
                </a:solidFill>
                <a:latin typeface="Amiri" pitchFamily="2" charset="-78"/>
                <a:cs typeface="Amiri" pitchFamily="2" charset="-78"/>
              </a:rPr>
              <a:t>تَنْتَهِي الْحِصَصُ حَوَالَيِ السَّاعَةِ الرَّابِعَةِ، ثُمَّ أَعُودُ إِلَى الْبَيْتِ وَأُكْمِلُ وَاجِبِي الْمَنْزِلِيَّ.</a:t>
            </a:r>
            <a:endParaRPr lang="ar-SA" sz="1800" dirty="0"/>
          </a:p>
        </p:txBody>
      </p:sp>
      <p:sp>
        <p:nvSpPr>
          <p:cNvPr id="31" name="Text 28"/>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Lessons end about 4:00 · home + homework</a:t>
            </a:r>
            <a:endParaRPr lang="en-US" sz="1250" dirty="0"/>
          </a:p>
        </p:txBody>
      </p:sp>
      <p:sp>
        <p:nvSpPr>
          <p:cNvPr id="32" name="Text 2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36</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F4-L07 · My School Day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QUESTIONS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Yusuf or Huda?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Yusuf walk?</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dislikes buses.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His house is near the school.</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School starts late.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Yusuf do before entering class?</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talks with friends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eats lunch</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completes homework</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Huda arrive at 8:30?</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has breakfast at school.</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house is far away.</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first lesson begins at 9:00.</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Huda sometimes do at break?</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plays outside</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reads in the library</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talks to a teacher</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has the later school day?</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Yusuf</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Huda</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finish at the same time.</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COMPARE</a:t>
            </a:r>
            <a:endParaRPr lang="en-US" sz="1000" dirty="0"/>
          </a:p>
        </p:txBody>
      </p:sp>
      <p:sp>
        <p:nvSpPr>
          <p:cNvPr id="82" name="Text 7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Find the time in each text,</a:t>
            </a:r>
            <a:endParaRPr lang="en-US" sz="1250" dirty="0"/>
          </a:p>
          <a:p>
            <a:pPr algn="l" indent="0" marL="0">
              <a:buNone/>
            </a:pPr>
            <a:r>
              <a:rPr lang="en-US" sz="1250" dirty="0">
                <a:solidFill>
                  <a:srgbClr val="1F2A37"/>
                </a:solidFill>
                <a:latin typeface="Calibri" pitchFamily="34" charset="0"/>
                <a:cs typeface="Amiri" pitchFamily="2" charset="-78"/>
              </a:rPr>
              <a:t>then compare them.</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36</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F4-L07 · My School Day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Yusuf walk?</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dislikes buses.</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His house is near the school.</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School starts late.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 says </a:t>
            </a:r>
            <a:pPr algn="l" indent="0" marL="0">
              <a:buNone/>
            </a:pPr>
            <a:r>
              <a:rPr lang="ar-SA" altLang="en-US" sz="1350" dirty="0">
                <a:solidFill>
                  <a:srgbClr val="8A6D1E"/>
                </a:solidFill>
                <a:latin typeface="Amiri" pitchFamily="2" charset="-78"/>
                <a:cs typeface="Amiri" pitchFamily="2" charset="-78"/>
              </a:rPr>
              <a:t>لِأَنَّ بَيْتِي قَرِيبٌ مِنْهَا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Yusuf do before entering class?</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talks with friends</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eats lunch</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completes homework</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أَوَّلًا أَتَحَدَّثُ مَعَ أَصْدِقَائِي.</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Huda arrive at 8:30?</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has breakfast at school.</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Her house is far away.</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first lesson begins at 9:00.</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states the first lesson begins at nine.</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Huda sometimes do at break?</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plays outside</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reads in the library</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talks to a teacher</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says </a:t>
            </a:r>
            <a:pPr algn="l" indent="0" marL="0">
              <a:buNone/>
            </a:pPr>
            <a:r>
              <a:rPr lang="ar-SA" altLang="en-US" sz="1350" dirty="0">
                <a:solidFill>
                  <a:srgbClr val="8A6D1E"/>
                </a:solidFill>
                <a:latin typeface="Amiri" pitchFamily="2" charset="-78"/>
                <a:cs typeface="Amiri" pitchFamily="2" charset="-78"/>
              </a:rPr>
              <a:t>في الاستراحة أقرأ في المكتبة أحياناً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has the later school day?</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Yusuf</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Huda</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finish at the same time.</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Huda finishes around four; Yusuf returns at 3:30.</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COMPARE</a:t>
            </a:r>
            <a:endParaRPr lang="en-US" sz="1000" dirty="0"/>
          </a:p>
        </p:txBody>
      </p:sp>
      <p:sp>
        <p:nvSpPr>
          <p:cNvPr id="92" name="Text 8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Find the time in each text,</a:t>
            </a:r>
            <a:endParaRPr lang="en-US" sz="1250" dirty="0"/>
          </a:p>
          <a:p>
            <a:pPr algn="l" indent="0" marL="0">
              <a:buNone/>
            </a:pPr>
            <a:r>
              <a:rPr lang="en-US" sz="1250" dirty="0">
                <a:solidFill>
                  <a:srgbClr val="1F2A37"/>
                </a:solidFill>
                <a:latin typeface="Calibri" pitchFamily="34" charset="0"/>
                <a:cs typeface="Amiri" pitchFamily="2" charset="-78"/>
              </a:rPr>
              <a:t>then compare them.</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36</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F4-L07 · My School Day</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Speak for 60 seconds about a school day</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F4-L07</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مَتَى تَسْتَيْقِظُ؟ وَكَيْفَ تَذْهَبُ إِلَى الْمَدْرَسَةِ؟</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صِفْ يَوْمَكَ الدِّرَاسِيَّ فِي سِتِّينَ ثَانِيَةً.</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أَكْثَرُ أَيَّامِكَ اِنْشِغَالًا؟ وَلِمَاذَا؟</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قَارِنْ يَوْمَكَ بِيَوْمِ يُوسُفَ أَوْ هُدَى.</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350" b="1" dirty="0">
                <a:solidFill>
                  <a:srgbClr val="1D5FBF"/>
                </a:solidFill>
                <a:latin typeface="Amiri" pitchFamily="2" charset="-78"/>
                <a:cs typeface="Amiri" pitchFamily="2" charset="-78"/>
              </a:rPr>
              <a:t>عَادَةً أَسْتَيْقِظُ فِي السَّاعَةِ ___ ، وَأَذْهَبُ ___ .</a:t>
            </a:r>
            <a:endParaRPr lang="ar-SA" sz="135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أَوَّلًا … ثُمَّ … بَعْدَ ذَلِكَ … أَخِيرًا …</a:t>
            </a:r>
            <a:endParaRPr lang="ar-SA" sz="1600" dirty="0"/>
          </a:p>
        </p:txBody>
      </p:sp>
      <p:sp>
        <p:nvSpPr>
          <p:cNvPr id="54" name="Shape 51"/>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350" b="1" dirty="0">
                <a:solidFill>
                  <a:srgbClr val="1F2A37"/>
                </a:solidFill>
                <a:latin typeface="Amiri" pitchFamily="2" charset="-78"/>
                <a:cs typeface="Amiri" pitchFamily="2" charset="-78"/>
              </a:rPr>
              <a:t>أَكْثَرُ أَيَّامِي اِنْشِغَالًا هُوَ يَوْمُ ___ لِأَنَّ ___ .</a:t>
            </a:r>
            <a:endParaRPr lang="ar-SA" sz="1350" dirty="0"/>
          </a:p>
        </p:txBody>
      </p:sp>
      <p:sp>
        <p:nvSpPr>
          <p:cNvPr id="57" name="Shape 54"/>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أَذْهَبُ ___ ، أَمَّا يُوسُفُ فَيَذْهَبُ مَاشِيًا.</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صِفْ يَوْمَكَ الدِّرَاسِيَّ.</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Describe your school day.</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عَادَةً أَذْهَبُ إِلَى الْمَدْرَسَةِ فِي السَّاعَةِ الثَّامِنَةِ. أَوَّلًا أَدْخُلُ الْفَصْلَ، ثُمَّ أَدْرُسُ الْعُلُومَ.</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800" i="1" dirty="0">
                <a:solidFill>
                  <a:srgbClr val="5A6472"/>
                </a:solidFill>
                <a:latin typeface="Calibri" pitchFamily="34" charset="0"/>
                <a:cs typeface="Amiri" pitchFamily="2" charset="-78"/>
              </a:rPr>
              <a:t>Usually I go to school at eight. First I enter the classroom, then I study science.</a:t>
            </a:r>
            <a:endParaRPr lang="en-US" sz="80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36</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F4-L07 · My School Day</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F4-L07</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60–70 words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60–70 words with six events and four connectors.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Six events and four connectors, all with “I”.</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80–100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80–100 words with varied times, places and a justified opinion.</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Varied times and places and a justified opinion.</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Exact and approximate time, a contrast and one sentence about a rule.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Exact and approximate time, a contrast and a rule sentence.</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36</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F4-L07 · My School Day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F4-L07</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أَصِلُ حَوَالَيِ السَّاعَةِ الثَّامِنَةِ.</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arrive at about eight.</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بَعْدَ الاِسْتِرَاحَةِ أَدْرُسُ التَّارِيخَ.</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After break I study history.</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أُفَضِّلُ الْعُلُومَ لِأَنَّهَا مُفِيدَةٌ.</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prefer science because it is useful.</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الْفَصْلِ يَجِبُ أَنْ أَسْتَمِعَ إِلَى الْمُعَلِّمِ.</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class I must listen to the teacher.</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أَمَّا يُوسُفُ فَيَذْهَبُ مَاشِيًا.</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As for Yusuf, he walks to school.</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عَادَةً أَسْتَيْقِظُ فِي السَّاعَةِ السَّادِسَةِ.</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Usually I wake up at six.</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أَذْهَبُ إِلَى الْمَدْرَسَةِ بِالْحَافِلَةِ.</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go to school by bus.</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أَوَّلًا أَدْخُلُ الْفَصْلَ.</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First I enter the classroom.</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الاِسْتِرَاحَةِ آكُلُ فِي الْمَقْصَفِ.</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At break I eat in the canteen.</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أَخِيرًا أَعُودُ إِلَى الْبَيْتِ.</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Finally I return home.</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أَسْتَيْقِظُ  ·  أَذْهَبُ إِلَى  ·  أَصِلُ  ·  أَدْخُلُ  ·  آكُلُ  ·  أَعُودُ  ·  عَادَةً  ·  أَوَّلًا  ·  ثُمَّ  ·  بَعْدَ ذَلِكَ  ·  أَخِيرًا  ·  حَوَالَيْ</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36</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F4-L07 · My School Day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F4-L07</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550" dirty="0">
                <a:solidFill>
                  <a:srgbClr val="1F2A37"/>
                </a:solidFill>
                <a:latin typeface="Amiri" pitchFamily="2" charset="-78"/>
                <a:cs typeface="Amiri" pitchFamily="2" charset="-78"/>
              </a:rPr>
              <a:t>عَادَةً أَسْتَيْقِظُ فِي السَّاعَةِ السَّادِسَةِ وَالنِّصْفِ، ثُمَّ أَتَنَاوَلُ الْفُطُورَ مَعَ عَائِلَتِي. أَذْهَبُ إِلَى الْمَدْرَسَةِ بِالْحَافِلَةِ، وَأَصِلُ حَوَالَيِ السَّاعَةِ الثَّامِنَةِ. أَوَّلًا أَدْخُلُ الْفَصْلَ وَأَجْلِسُ فِي مَكَانِي، ثُمَّ أَدْرُسُ الرِّيَاضِيَّاتِ وَالْعُلُومَ. أُفَضِّلُ الْعُلُومَ لِأَنَّهَا شَيِّقَةٌ وَمُفِيدَةٌ. فِي الاِسْتِرَاحَةِ آكُلُ فِي الْمَقْصَفِ وَأَتَحَدَّثُ مَعَ زُمَلَائِي. تَنْتَهِي الْحِصَصُ فِي السَّاعَةِ الثَّالِثَةِ، فَأَعُودُ إِلَى الْبَيْتِ. أَخِيرًا أَسْتَرِيحُ قَلِيلًا، ثُمَّ أُكْمِلُ وَاجِبِي الْمَنْزِلِيَّ.</a:t>
            </a:r>
            <a:endParaRPr lang="ar-SA" sz="25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Usually I wake up at half past six, then I have breakfast with my family. I go to school by bus and arrive at about eight. First I enter the classroom and sit in my place, then I study maths and science. I prefer science because it is engaging and useful. At break I eat in the canteen and talk with my classmates. Lessons end at three, so I go home. Finally I rest a little, then I finish my homework.</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first-person verbs</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times</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connectors</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opinion + reason</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36</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F4-L07 · My School Day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F4-L07</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Six events, in a logical order.</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Every verb stays with “I”.</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Four time phrases, exact and approximate.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One opinion with a reason.</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 contrast and a rule sentence.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36</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F4-L07 · My School Day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F4-L07</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personal sequence:</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أَصِلُ، ثُمَّ ___ الْفَصْلَ.</a:t>
            </a:r>
            <a:endParaRPr lang="ar-SA" sz="17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أَدْخُلُ</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يَدْخُلُ</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تَدْخُلُ</a:t>
            </a:r>
            <a:endParaRPr lang="ar-SA" sz="2050" dirty="0"/>
          </a:p>
        </p:txBody>
      </p:sp>
      <p:sp>
        <p:nvSpPr>
          <p:cNvPr id="29" name="Shape 26"/>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404360"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gives approximate time?</a:t>
            </a:r>
            <a:endParaRPr lang="en-US" sz="1250" dirty="0"/>
          </a:p>
        </p:txBody>
      </p:sp>
      <p:sp>
        <p:nvSpPr>
          <p:cNvPr id="33" name="Shape 30"/>
          <p:cNvSpPr/>
          <p:nvPr/>
        </p:nvSpPr>
        <p:spPr>
          <a:xfrm>
            <a:off x="4459224"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عِنْدَ السَّاعَةِ الثَّالِثَةِ</a:t>
            </a:r>
            <a:endParaRPr lang="ar-SA" sz="2050" dirty="0"/>
          </a:p>
        </p:txBody>
      </p:sp>
      <p:sp>
        <p:nvSpPr>
          <p:cNvPr id="36" name="Shape 33"/>
          <p:cNvSpPr/>
          <p:nvPr/>
        </p:nvSpPr>
        <p:spPr>
          <a:xfrm>
            <a:off x="4459224"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حَوَالَي السَّاعَةِ الثَّالِثَةِ</a:t>
            </a:r>
            <a:endParaRPr lang="ar-SA" sz="2050" dirty="0"/>
          </a:p>
        </p:txBody>
      </p:sp>
      <p:sp>
        <p:nvSpPr>
          <p:cNvPr id="39" name="Shape 36"/>
          <p:cNvSpPr/>
          <p:nvPr/>
        </p:nvSpPr>
        <p:spPr>
          <a:xfrm>
            <a:off x="4459224"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يَوْمِ الثُّلَاثَاءِ</a:t>
            </a:r>
            <a:endParaRPr lang="ar-SA" sz="2050" dirty="0"/>
          </a:p>
        </p:txBody>
      </p:sp>
      <p:sp>
        <p:nvSpPr>
          <p:cNvPr id="42" name="Shape 39"/>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includes a school rule naturally?</a:t>
            </a:r>
            <a:endParaRPr lang="en-US" sz="1250" dirty="0"/>
          </a:p>
        </p:txBody>
      </p:sp>
      <p:sp>
        <p:nvSpPr>
          <p:cNvPr id="46" name="Shape 43"/>
          <p:cNvSpPr/>
          <p:nvPr/>
        </p:nvSpPr>
        <p:spPr>
          <a:xfrm>
            <a:off x="8278368" y="2532888"/>
            <a:ext cx="256032" cy="256032"/>
          </a:xfrm>
          <a:prstGeom prst="ellipse">
            <a:avLst/>
          </a:prstGeom>
          <a:solidFill>
            <a:srgbClr val="F4F1EA"/>
          </a:solidFill>
          <a:ln w="12700">
            <a:solidFill>
              <a:srgbClr val="F4F1EA"/>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750" dirty="0">
                <a:solidFill>
                  <a:srgbClr val="1F2A37"/>
                </a:solidFill>
                <a:latin typeface="Amiri" pitchFamily="2" charset="-78"/>
                <a:cs typeface="Amiri" pitchFamily="2" charset="-78"/>
              </a:rPr>
              <a:t>فِي الْفَصْلِ يَجِبُ أَنْ أَسْتَمِعَ إِلَى الْمُعَلِّمِ.</a:t>
            </a:r>
            <a:endParaRPr lang="ar-SA" sz="1750" dirty="0"/>
          </a:p>
        </p:txBody>
      </p:sp>
      <p:sp>
        <p:nvSpPr>
          <p:cNvPr id="49" name="Shape 46"/>
          <p:cNvSpPr/>
          <p:nvPr/>
        </p:nvSpPr>
        <p:spPr>
          <a:xfrm>
            <a:off x="8278368" y="29900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750" dirty="0">
                <a:solidFill>
                  <a:srgbClr val="1F2A37"/>
                </a:solidFill>
                <a:latin typeface="Amiri" pitchFamily="2" charset="-78"/>
                <a:cs typeface="Amiri" pitchFamily="2" charset="-78"/>
              </a:rPr>
              <a:t>فِي الْفَصْلِ لَا يَجُوزُ أَنْ أَدْرُسَ.</a:t>
            </a:r>
            <a:endParaRPr lang="ar-SA" sz="1750" dirty="0"/>
          </a:p>
        </p:txBody>
      </p:sp>
      <p:sp>
        <p:nvSpPr>
          <p:cNvPr id="52" name="Shape 49"/>
          <p:cNvSpPr/>
          <p:nvPr/>
        </p:nvSpPr>
        <p:spPr>
          <a:xfrm>
            <a:off x="8278368" y="34472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750" dirty="0">
                <a:solidFill>
                  <a:srgbClr val="1F2A37"/>
                </a:solidFill>
                <a:latin typeface="Amiri" pitchFamily="2" charset="-78"/>
                <a:cs typeface="Amiri" pitchFamily="2" charset="-78"/>
              </a:rPr>
              <a:t>يَجِبُ الْفَصْلُ أَنْ الْمُعَلِّمُ.</a:t>
            </a:r>
            <a:endParaRPr lang="ar-SA" sz="1750" dirty="0"/>
          </a:p>
        </p:txBody>
      </p:sp>
      <p:sp>
        <p:nvSpPr>
          <p:cNvPr id="55" name="Shape 52"/>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7" name="Text 54"/>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36</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F4-L07 · My School Day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F4-L07</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personal sequence:</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أَصِلُ، ثُمَّ ___ الْفَصْلَ.</a:t>
            </a:r>
            <a:endParaRPr lang="ar-SA" sz="1700" dirty="0"/>
          </a:p>
        </p:txBody>
      </p:sp>
      <p:sp>
        <p:nvSpPr>
          <p:cNvPr id="20" name="Shape 17"/>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1" name="Shape 18"/>
          <p:cNvSpPr/>
          <p:nvPr/>
        </p:nvSpPr>
        <p:spPr>
          <a:xfrm>
            <a:off x="640080" y="2532888"/>
            <a:ext cx="256032" cy="256032"/>
          </a:xfrm>
          <a:prstGeom prst="ellipse">
            <a:avLst/>
          </a:prstGeom>
          <a:solidFill>
            <a:srgbClr val="2E8B57"/>
          </a:solidFill>
          <a:ln w="12700">
            <a:solidFill>
              <a:srgbClr val="2E8B57"/>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أَدْخُلُ</a:t>
            </a:r>
            <a:endParaRPr lang="ar-SA" sz="2050" dirty="0"/>
          </a:p>
        </p:txBody>
      </p:sp>
      <p:sp>
        <p:nvSpPr>
          <p:cNvPr id="24" name="Shape 21"/>
          <p:cNvSpPr/>
          <p:nvPr/>
        </p:nvSpPr>
        <p:spPr>
          <a:xfrm>
            <a:off x="640080" y="2990088"/>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يَدْخُلُ</a:t>
            </a:r>
            <a:endParaRPr lang="ar-SA" sz="2050" dirty="0"/>
          </a:p>
        </p:txBody>
      </p:sp>
      <p:sp>
        <p:nvSpPr>
          <p:cNvPr id="27" name="Shape 24"/>
          <p:cNvSpPr/>
          <p:nvPr/>
        </p:nvSpPr>
        <p:spPr>
          <a:xfrm>
            <a:off x="640080" y="3447288"/>
            <a:ext cx="256032" cy="256032"/>
          </a:xfrm>
          <a:prstGeom prst="ellipse">
            <a:avLst/>
          </a:prstGeom>
          <a:solidFill>
            <a:srgbClr val="C9CED6"/>
          </a:solidFill>
          <a:ln w="12700">
            <a:solidFill>
              <a:srgbClr val="C9CED6"/>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تَدْخُلُ</a:t>
            </a:r>
            <a:endParaRPr lang="ar-SA" sz="2050" dirty="0"/>
          </a:p>
        </p:txBody>
      </p:sp>
      <p:sp>
        <p:nvSpPr>
          <p:cNvPr id="30" name="Text 27"/>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narrator remains first person.</a:t>
            </a:r>
            <a:endParaRPr lang="en-US" sz="1050" dirty="0"/>
          </a:p>
        </p:txBody>
      </p:sp>
      <p:sp>
        <p:nvSpPr>
          <p:cNvPr id="31" name="Shape 28"/>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gives approximate time?</a:t>
            </a:r>
            <a:endParaRPr lang="en-US" sz="1250" dirty="0"/>
          </a:p>
        </p:txBody>
      </p:sp>
      <p:sp>
        <p:nvSpPr>
          <p:cNvPr id="35" name="Shape 32"/>
          <p:cNvSpPr/>
          <p:nvPr/>
        </p:nvSpPr>
        <p:spPr>
          <a:xfrm>
            <a:off x="4459224" y="2532888"/>
            <a:ext cx="256032" cy="256032"/>
          </a:xfrm>
          <a:prstGeom prst="ellipse">
            <a:avLst/>
          </a:prstGeom>
          <a:solidFill>
            <a:srgbClr val="C9CED6"/>
          </a:solidFill>
          <a:ln w="12700">
            <a:solidFill>
              <a:srgbClr val="C9CED6"/>
            </a:solidFill>
            <a:prstDash val="solid"/>
          </a:ln>
        </p:spPr>
      </p:sp>
      <p:sp>
        <p:nvSpPr>
          <p:cNvPr id="36" name="Text 33"/>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عِنْدَ السَّاعَةِ الثَّالِثَةِ</a:t>
            </a:r>
            <a:endParaRPr lang="ar-SA" sz="2050" dirty="0"/>
          </a:p>
        </p:txBody>
      </p:sp>
      <p:sp>
        <p:nvSpPr>
          <p:cNvPr id="38" name="Shape 35"/>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9" name="Shape 36"/>
          <p:cNvSpPr/>
          <p:nvPr/>
        </p:nvSpPr>
        <p:spPr>
          <a:xfrm>
            <a:off x="4459224" y="2990088"/>
            <a:ext cx="256032" cy="256032"/>
          </a:xfrm>
          <a:prstGeom prst="ellipse">
            <a:avLst/>
          </a:prstGeom>
          <a:solidFill>
            <a:srgbClr val="2E8B57"/>
          </a:solidFill>
          <a:ln w="12700">
            <a:solidFill>
              <a:srgbClr val="2E8B57"/>
            </a:solidFill>
            <a:prstDash val="solid"/>
          </a:ln>
        </p:spPr>
      </p:sp>
      <p:sp>
        <p:nvSpPr>
          <p:cNvPr id="40" name="Text 37"/>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1" name="Text 38"/>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حَوَالَي السَّاعَةِ الثَّالِثَةِ</a:t>
            </a:r>
            <a:endParaRPr lang="ar-SA" sz="2050" dirty="0"/>
          </a:p>
        </p:txBody>
      </p:sp>
      <p:sp>
        <p:nvSpPr>
          <p:cNvPr id="42" name="Shape 39"/>
          <p:cNvSpPr/>
          <p:nvPr/>
        </p:nvSpPr>
        <p:spPr>
          <a:xfrm>
            <a:off x="4459224" y="344728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فِي يَوْمِ الثُّلَاثَاءِ</a:t>
            </a:r>
            <a:endParaRPr lang="ar-SA" sz="2050" dirty="0"/>
          </a:p>
        </p:txBody>
      </p:sp>
      <p:sp>
        <p:nvSpPr>
          <p:cNvPr id="45" name="Text 42"/>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حَوَالَي</a:t>
            </a:r>
            <a:pPr algn="l" indent="0" marL="0">
              <a:buNone/>
            </a:pPr>
            <a:r>
              <a:rPr lang="en-US" sz="1050" i="1" dirty="0">
                <a:solidFill>
                  <a:srgbClr val="8A6D1E"/>
                </a:solidFill>
                <a:latin typeface="Calibri" pitchFamily="34" charset="0"/>
                <a:cs typeface="Amiri" pitchFamily="2" charset="-78"/>
              </a:rPr>
              <a:t> means around.</a:t>
            </a:r>
            <a:endParaRPr lang="en-US" sz="1050" dirty="0"/>
          </a:p>
        </p:txBody>
      </p:sp>
      <p:sp>
        <p:nvSpPr>
          <p:cNvPr id="46" name="Shape 43"/>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5"/>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includes a school rule naturally?</a:t>
            </a:r>
            <a:endParaRPr lang="en-US" sz="1250" dirty="0"/>
          </a:p>
        </p:txBody>
      </p:sp>
      <p:sp>
        <p:nvSpPr>
          <p:cNvPr id="50" name="Shape 47"/>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1" name="Shape 48"/>
          <p:cNvSpPr/>
          <p:nvPr/>
        </p:nvSpPr>
        <p:spPr>
          <a:xfrm>
            <a:off x="8278368" y="2532888"/>
            <a:ext cx="256032" cy="256032"/>
          </a:xfrm>
          <a:prstGeom prst="ellipse">
            <a:avLst/>
          </a:prstGeom>
          <a:solidFill>
            <a:srgbClr val="2E8B57"/>
          </a:solidFill>
          <a:ln w="12700">
            <a:solidFill>
              <a:srgbClr val="2E8B57"/>
            </a:solidFill>
            <a:prstDash val="solid"/>
          </a:ln>
        </p:spPr>
      </p:sp>
      <p:sp>
        <p:nvSpPr>
          <p:cNvPr id="52" name="Text 49"/>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3" name="Text 50"/>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750" b="1" dirty="0">
                <a:solidFill>
                  <a:srgbClr val="1F2A37"/>
                </a:solidFill>
                <a:latin typeface="Amiri" pitchFamily="2" charset="-78"/>
                <a:cs typeface="Amiri" pitchFamily="2" charset="-78"/>
              </a:rPr>
              <a:t>فِي الْفَصْلِ يَجِبُ أَنْ أَسْتَمِعَ إِلَى الْمُعَلِّمِ.</a:t>
            </a:r>
            <a:endParaRPr lang="ar-SA" sz="1750" dirty="0"/>
          </a:p>
        </p:txBody>
      </p:sp>
      <p:sp>
        <p:nvSpPr>
          <p:cNvPr id="54" name="Shape 51"/>
          <p:cNvSpPr/>
          <p:nvPr/>
        </p:nvSpPr>
        <p:spPr>
          <a:xfrm>
            <a:off x="8278368" y="2990088"/>
            <a:ext cx="256032" cy="256032"/>
          </a:xfrm>
          <a:prstGeom prst="ellipse">
            <a:avLst/>
          </a:prstGeom>
          <a:solidFill>
            <a:srgbClr val="C9CED6"/>
          </a:solidFill>
          <a:ln w="12700">
            <a:solidFill>
              <a:srgbClr val="C9CED6"/>
            </a:solidFill>
            <a:prstDash val="solid"/>
          </a:ln>
        </p:spPr>
      </p:sp>
      <p:sp>
        <p:nvSpPr>
          <p:cNvPr id="55" name="Text 52"/>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6" name="Text 53"/>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750" dirty="0">
                <a:solidFill>
                  <a:srgbClr val="9AA1AB"/>
                </a:solidFill>
                <a:latin typeface="Amiri" pitchFamily="2" charset="-78"/>
                <a:cs typeface="Amiri" pitchFamily="2" charset="-78"/>
              </a:rPr>
              <a:t>فِي الْفَصْلِ لَا يَجُوزُ أَنْ أَدْرُسَ.</a:t>
            </a:r>
            <a:endParaRPr lang="ar-SA" sz="1750" dirty="0"/>
          </a:p>
        </p:txBody>
      </p:sp>
      <p:sp>
        <p:nvSpPr>
          <p:cNvPr id="57" name="Shape 54"/>
          <p:cNvSpPr/>
          <p:nvPr/>
        </p:nvSpPr>
        <p:spPr>
          <a:xfrm>
            <a:off x="8278368" y="3447288"/>
            <a:ext cx="256032" cy="256032"/>
          </a:xfrm>
          <a:prstGeom prst="ellipse">
            <a:avLst/>
          </a:prstGeom>
          <a:solidFill>
            <a:srgbClr val="C9CED6"/>
          </a:solidFill>
          <a:ln w="12700">
            <a:solidFill>
              <a:srgbClr val="C9CED6"/>
            </a:solidFill>
            <a:prstDash val="solid"/>
          </a:ln>
        </p:spPr>
      </p:sp>
      <p:sp>
        <p:nvSpPr>
          <p:cNvPr id="58" name="Text 55"/>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750" dirty="0">
                <a:solidFill>
                  <a:srgbClr val="9AA1AB"/>
                </a:solidFill>
                <a:latin typeface="Amiri" pitchFamily="2" charset="-78"/>
                <a:cs typeface="Amiri" pitchFamily="2" charset="-78"/>
              </a:rPr>
              <a:t>يَجِبُ الْفَصْلُ أَنْ الْمُعَلِّمُ.</a:t>
            </a:r>
            <a:endParaRPr lang="ar-SA" sz="1750" dirty="0"/>
          </a:p>
        </p:txBody>
      </p:sp>
      <p:sp>
        <p:nvSpPr>
          <p:cNvPr id="60" name="Text 57"/>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Listening to the teacher is an appropriate obligation.</a:t>
            </a:r>
            <a:endParaRPr lang="en-US" sz="1050" dirty="0"/>
          </a:p>
        </p:txBody>
      </p:sp>
      <p:sp>
        <p:nvSpPr>
          <p:cNvPr id="61" name="Shape 58"/>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2" name="Text 59"/>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3" name="Text 60"/>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4" name="Text 6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36</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F4-L07 · My School Day</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F4-L08: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F4-L07</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F4-L08 · Reading School Texts and Timetables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نَصٌّ</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text</a:t>
            </a:r>
            <a:pPr indent="0" marL="0">
              <a:buNone/>
            </a:pPr>
            <a:r>
              <a:rPr lang="en-US" sz="1000" i="1" dirty="0">
                <a:solidFill>
                  <a:srgbClr val="5A6472"/>
                </a:solidFill>
                <a:latin typeface="Calibri" pitchFamily="34" charset="0"/>
                <a:cs typeface="Amiri" pitchFamily="2" charset="-78"/>
              </a:rPr>
              <a:t>  pl. نُصُوصٌ</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إِعْلَانٌ</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an announcement / notice</a:t>
            </a:r>
            <a:pPr indent="0" marL="0">
              <a:buNone/>
            </a:pPr>
            <a:r>
              <a:rPr lang="en-US" sz="1000" i="1" dirty="0">
                <a:solidFill>
                  <a:srgbClr val="5A6472"/>
                </a:solidFill>
                <a:latin typeface="Calibri" pitchFamily="34" charset="0"/>
                <a:cs typeface="Amiri" pitchFamily="2" charset="-78"/>
              </a:rPr>
              <a:t>  pl. إِعْلَانَاتٌ</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رِسَالَةٌ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letter / message</a:t>
            </a:r>
            <a:pPr indent="0" marL="0">
              <a:buNone/>
            </a:pPr>
            <a:r>
              <a:rPr lang="en-US" sz="1000" i="1" dirty="0">
                <a:solidFill>
                  <a:srgbClr val="5A6472"/>
                </a:solidFill>
                <a:latin typeface="Calibri" pitchFamily="34" charset="0"/>
                <a:cs typeface="Amiri" pitchFamily="2" charset="-78"/>
              </a:rPr>
              <a:t>  pl. رَسَائِلُ</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عُنْوَانٌ</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title / heading</a:t>
            </a:r>
            <a:pPr indent="0" marL="0">
              <a:buNone/>
            </a:pPr>
            <a:r>
              <a:rPr lang="en-US" sz="1000" i="1" dirty="0">
                <a:solidFill>
                  <a:srgbClr val="5A6472"/>
                </a:solidFill>
                <a:latin typeface="Calibri" pitchFamily="34" charset="0"/>
                <a:cs typeface="Amiri" pitchFamily="2" charset="-78"/>
              </a:rPr>
              <a:t>  pl. عَنَاوِينُ</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دَلِيلٌ</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evidence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Find one school notice at home or online. What type of text is it?</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مَا نَوْعُ النَّصِّ؟</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F4-L07: the School-Day Mission (14) and the picture game.</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timeline studio: change three details and add one opinion with a reason.</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your 80–100-word narration; underline verbs, circle connectors, box times.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36</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F4-L07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150" b="1" dirty="0">
                <a:solidFill>
                  <a:srgbClr val="FFFFFF"/>
                </a:solidFill>
                <a:latin typeface="Cambria" pitchFamily="34" charset="0"/>
                <a:cs typeface="Amiri" pitchFamily="2" charset="-78"/>
              </a:rPr>
              <a:t>F4-L08 · Reading School Texts and Timetables</a:t>
            </a:r>
            <a:endParaRPr lang="en-US" sz="21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قِرَاءَةُ النُّصُوصِ وَالجَدَاوِلِ المَدْرَسِيَّةِ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action + time + connector · keep “I” · ilā = towards, fī = in.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F4-L07 · A Typical School Day — Narrating a Sequence</dc:title>
  <dc:subject>PptxGenJS Presentation</dc:subject>
  <dc:creator>Al Madina Online School · Arabic Department</dc:creator>
  <cp:lastModifiedBy>Al Madina Online School · Arabic Department</cp:lastModifiedBy>
  <cp:revision>1</cp:revision>
  <dcterms:created xsi:type="dcterms:W3CDTF">2026-10-11T06:41:40Z</dcterms:created>
  <dcterms:modified xsi:type="dcterms:W3CDTF">2026-10-11T06:41:40Z</dcterms:modified>
</cp:coreProperties>
</file>