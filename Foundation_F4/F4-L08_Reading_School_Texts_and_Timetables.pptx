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8 (F4-L08). Website sections used: the eight-question F4 reading bridge and the central principle, school text types (8, with the 16-question check), the five-step reading route, the reading language vault and purpose verbs (12), the evidence finder (14), the authentic-style timetable and the 14-question scan, the Reading Detective Mission (14), the reading-project announcement (listening, 10), the reading workshop — Text A newsletter, Text B unvowelled notice, Text C message (18), speaking like a reading detective (4 prompts), the 50–70-word school notice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READING-LED lesson: the aim is strategy, not new topic vocabulary. Website central principle: لَا تَحْتَاجُ إِلَى فَهْمِ كُلِّ كَلِمَةٍ — you do not need to understand every word.
• Core: the five-step route + question words مَتَى / أَيْنَ / كَمْ + timetable scanning. Develop: purpose and audience, concise answers with evidence. Stretch: inference from context (e.g. اِسْتِعَارَةٌ = borrowing) and the unvowelled Text B.
• Text B is UNVOWELLED on the website (reading challenge). It is shown fully vowelled on the slide; Stretch reads the unvowelled version on the website.
• The timetable is fictional (website): school-week patterns vary by country and institution.
• No picture-match slide: the website game for this lesson repeats the F4-L01 subject cards.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F4-L07. Questions 3–5 are the website “F4 reading bridge” (9:30, must bring, how many periods?).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like a detective, not a translator: text type → question word → key word → evidence → answer only what is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lesson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اعلان، معلومات، تفصیل، عنوان، دلیل، مقصد (≈ هَدَفٌ) are shared words — Urdu speakers already know most of the reading-strategy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TYPES (website, 6 of 8). Also: قَوَاعِدُ مَدْرَسِيَّةٌ (school rules — a list of obligations and prohibitions) and وَاجِبٌ مَنْزِلِيٌّ (homework task — subject, instruction and deadline). Website: layout, headings, dates, tables, bullet points and greetings reveal what kind of text you are looking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sections 3 “Use the five-step reading route” and 4 “Build an evidence-finding system”.
Five steps (website, Arabic): ١ حَدِّدْ نَوْعَ النَّصِّ · ٢ ضَعْ دَائِرَةً حَوْلَ كَلِمَةِ السُّؤَالِ · ٣ ابْحَثْ عَنِ الكَلِمَاتِ المِفْتَاحِيَّةِ · ٤ اِسْتَخْرِجِ الدَّلِيلَ · ٥ أَجِبْ عَمَّا طَلَبَهُ السُّؤَالُ فَقَطْ.
Reading language vault (website): مَعْلُومَةٌ، تَفْصِيلٌ، عُنْوَانٌ، تَارِيخٌ، وَقْتٌ، مَكَانٌ، هَدَفُ النَّصِّ، الجُمْهُورُ المُسْتَهْدَفُ، السِّيَاقُ، دَلِيلٌ، الفِكْرَةُ الرَّئِيسِيَّةُ، كَلِمَةٌ مِفْتَاحِيَّةٌ، يَسْتَخْرِجُ، يُلَاحِظُ، يُقَارِنُ، يَفْهَمُ مِنَ السِّيَاقِ.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“Purpose language”: inform يُخْبِرُ · لِلإِخْبَارِ · announce يُعْلِنُ · لِلإِعْلَانِ · instruct يُوَجِّهُ · لِلتَّوْجِيهِ · remind يُذَكِّرُ · لِلتَّذْكِيرِ · describe يَصِفُ · لِلوَصْفِ · request يَطْلُبُ · لِلطَّلَبِ.
Inference (website): a sentence containing “library”, “books” and اِسْتِعَارَة → most likely “borrowing”.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text-type check questions 2 and 5, and evidence finder questions 4–5.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fictional timetable (العَرَبِيَّةُ / الإِنْجِلِيزِيَّةُ = اللُّغَةُ العَرَبِيَّةُ / الإِنْجِلِيزِيَّةُ). Model two website scan questions aloud:
• What subject is on Tuesday at 9:30? → عِلْمُ الحَاسُوبِ
• Which day has history at 9:30? → الاِثْنَيْنُ
Website: locate the DAY column first and the TIME row second — this prevents choosing the right time from the wrong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timetable scan questions 2, 5, 7, 10 and 11. Keep the previous slide handy (or paste the timetable into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explains the scan order for one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Reading Detective rounds (greeting clue, audience, purpose, evidence, concise answer).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clue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إِعْلَانٌ لِجَمِيعِ طُلَّابِ الصَّفِّ السَّابِعِ: يَبْدَأُ مَشْرُوعُ القِرَاءَةِ الجَدِيدُ يَوْمَ الأَرْبِعَاءِ فِي السَّاعَةِ الوَاحِدَةِ بَعْدَ الظُّهْرِ فِي مَكْتَبَةِ المَدْرَسَةِ. يَجِبُ عَلَى كُلِّ طَالِبٍ وَطَالِبَةٍ أَنْ يُحْضِرَ كِتَابًا قَصِيرًا بِاللُّغَةِ العَرَبِيَّةِ. سَيَقْرَأُ الطُّلَّابُ فِي مَجْمُوعَاتٍ، ثُمَّ يَكْتُبُونَ تَلْخِيصًا قَصِيرًا. المَشْرُوعُ لِلطُّلَّابِ فَقَطْ، وَلَكِنْ يَسْتَطِيعُ الآبَاءُ وَالأُمَّهَاتُ إِرْسَالَ اقْتِرَاحَاتٍ لِلكُتُبِ قَبْلَ يَوْمِ الثُّلَاثَاءِ.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partly vowelled — shown fully vowelled here). Purpose: to inform (students and parents). Stretch inference: يَسْتَعِيرُوا — library + books → “borrow”.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is UNVOWELLED on the website (Stretch challenge) — vowelled here. TEXT C is a message from the science teacher (greeting + direct address = a letter / message). Compare purposes: B instructs / informs; C reminds.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workshop questions 3, 5, 7, 10 and 14 (Core: 3 and 5 on Text A). The other 13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with the frame: أَعْرِفُ ذَلِكَ لِأَنَّ النَّصَّ يَقُولُ…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“Speak like a reading detective” (45-second timer) — explain not only the answer but how the text proves it. Prompts (website):
• Explain one answer: Choose a reading question and cite the exact evidence.
• Explain a timetable answer: State the day, time and subject, then explain your scan order.
• Explain purpose and audience: Choose one text and say what it is trying to do and for whom.
• Explain an inference: Name the clue, then state what you conclude from it.
Website checklist: name the text type · answer the exact question · cite evidence (لِأَنَّ النَّصَّ يَقُولُ…) · explain one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Heading, audience, day and time, place and one action. · Develop — 50–70 words with a rule structure and a reason. · Stretch — Add a deadline, a contact person and an optional extra.
Website writing task (Stretch): Website writing task: a 50–70-word school notice whose layout and language make its purpose obvious — a concise heading, the audience, a date and time, a place, one required action, one reason or extra detail and at least one rule or instruction structure.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model notice (shortened). Stretch: add its last two sentences (visitors can choose a new book · speak to the librarian before Monday).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(F4-L09 · Extended Writing: My School) will spend class time USING this language, so students prepare it tonight — short, simple, easy to access (school guidance: “Simple, Short, Interesting, Relevant, Easy to access”). The five words come from the website F4-L09 writing-format and school-description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Reading School Texts and Timetables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وَجَدَاوِلُ مَدْرَسِيَّةٌ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like a detective, not a translator: recognise the text type, use the question word to predict the evidence, scan a timetable day → time → subject, and answer with exact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F4-L08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Text types, the five-step reading route and question words.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Scan a timetable, detective mission, the announcement, three school texts.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إِعْلَانٌ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announcement / notice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دَلِيلٌ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title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text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9:30.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التَّاسِعَةُ وَالرُّبُعُ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العَاشِرَةُ إِلَّا رُبُعًا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التَّاسِعَةُ وَالنِّصْفُ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must bring a notebook.”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تُحْضِرَ دَفْتَرًا.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يَجِبُ أَنْ تُحْضِرَ دَفْتَرًا.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تُحْضِرَ دَفْتَرًا.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“How many periods?”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حِصَّةً؟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الحِصَّةُ؟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الحِصَّةُ؟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إِعْلَانٌ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letter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announcement / notice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دَلِيلٌ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title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text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9:30.</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التَّاسِعَةُ وَالرُّبُعُ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إِلَّا رُبُعًا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التَّاسِعَةُ وَالنِّصْفُ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وَالنِّصْفُ</a:t>
            </a:r>
            <a:pPr algn="l" indent="0" marL="0">
              <a:buNone/>
            </a:pPr>
            <a:r>
              <a:rPr lang="en-US" sz="1050" i="1" dirty="0">
                <a:solidFill>
                  <a:srgbClr val="8A6D1E"/>
                </a:solidFill>
                <a:latin typeface="Calibri" pitchFamily="34" charset="0"/>
                <a:ea typeface="Calibri" pitchFamily="34" charset="-122"/>
                <a:cs typeface="Calibri" pitchFamily="34" charset="-120"/>
              </a:rPr>
              <a:t> means half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must bring a notebook.”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يَجُوزُ أَنْ تُحْضِرَ دَفْتَرًا.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يَجِبُ أَنْ تُحْضِرَ دَفْتَرًا.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تُحْضِرَ دَفْتَرًا.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يَجِبُ أَنْ</a:t>
            </a:r>
            <a:pPr algn="l" indent="0" marL="0">
              <a:buNone/>
            </a:pPr>
            <a:r>
              <a:rPr lang="en-US" sz="1050" i="1" dirty="0">
                <a:solidFill>
                  <a:srgbClr val="8A6D1E"/>
                </a:solidFill>
                <a:latin typeface="Calibri" pitchFamily="34" charset="0"/>
                <a:ea typeface="Calibri" pitchFamily="34" charset="-122"/>
                <a:cs typeface="Calibri" pitchFamily="34" charset="-120"/>
              </a:rPr>
              <a:t> expresses an obligation.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“How many periods?”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حِصَّةً؟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الحِصَّةُ؟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الحِصَّةُ؟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a:t>
            </a:r>
            <a:pPr algn="l" indent="0" marL="0">
              <a:buNone/>
            </a:pPr>
            <a:r>
              <a:rPr lang="en-US" sz="1050" i="1" dirty="0">
                <a:solidFill>
                  <a:srgbClr val="8A6D1E"/>
                </a:solidFill>
                <a:latin typeface="Calibri" pitchFamily="34" charset="0"/>
                <a:ea typeface="Calibri" pitchFamily="34" charset="-122"/>
                <a:cs typeface="Calibri" pitchFamily="34" charset="-120"/>
              </a:rPr>
              <a:t> asks for a number or quantity.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Read like a detective, not a translator: text type → question word → key word → evidence → answer only what is asked.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تَحْتَاجُ إِلَى فَهْمِ كُلِّ كَلِمَةٍ.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at least eight common school text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question words to predict the evidence I need.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Scan a timetable accurately by day, time and subject.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purpose and audience, and answer with concise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text type from its layout.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a day or time in a timetable.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who a text is for and why.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with evidence from the text.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guess a new word from context.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the unvowelled notice.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Text types, reading-strategy words and question words. Core: timetable, notice, letter, when, where, evidence.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School 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language · 16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Question words → evidence</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إِعْلَانٌ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‎اعلان‎ </a:t>
            </a:r>
            <a:pPr indent="0" marL="0">
              <a:buNone/>
            </a:pPr>
            <a:r>
              <a:rPr lang="en-US" sz="950" b="1" dirty="0">
                <a:solidFill>
                  <a:srgbClr val="2E8B57"/>
                </a:solidFill>
                <a:latin typeface="Calibri" pitchFamily="34" charset="0"/>
                <a:ea typeface="Calibri" pitchFamily="34" charset="-122"/>
                <a:cs typeface="Calibri" pitchFamily="34" charset="-120"/>
              </a:rPr>
              <a:t> i‘lān · announcement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مَعْلُومَةٌ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‎معلومات‎ </a:t>
            </a:r>
            <a:pPr indent="0" marL="0">
              <a:buNone/>
            </a:pPr>
            <a:r>
              <a:rPr lang="en-US" sz="950" b="1" dirty="0">
                <a:solidFill>
                  <a:srgbClr val="2E8B57"/>
                </a:solidFill>
                <a:latin typeface="Calibri" pitchFamily="34" charset="0"/>
                <a:ea typeface="Calibri" pitchFamily="34" charset="-122"/>
                <a:cs typeface="Calibri" pitchFamily="34" charset="-120"/>
              </a:rPr>
              <a:t> ma‘lūma · information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tafṣīl · detail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عُنْوَانٌ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‎عنوان‎ </a:t>
            </a:r>
            <a:pPr indent="0" marL="0">
              <a:buNone/>
            </a:pPr>
            <a:r>
              <a:rPr lang="en-US" sz="950" b="1" dirty="0">
                <a:solidFill>
                  <a:srgbClr val="2E8B57"/>
                </a:solidFill>
                <a:latin typeface="Calibri" pitchFamily="34" charset="0"/>
                <a:ea typeface="Calibri" pitchFamily="34" charset="-122"/>
                <a:cs typeface="Calibri" pitchFamily="34" charset="-120"/>
              </a:rPr>
              <a:t> ‘unwān · title / heading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 proof</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SCHOOL TEXT TYPES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Timetable, notice, newsletter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أَنْوَاعُ النُّصُوصِ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rows · columns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جَدْوَلٌ دِرَاسِيٌّ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 timetable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jad-wal di-rā-siyy</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heading · date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إِعْلَانٌ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announcement / notice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i‘-lān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news paragraphs</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نَشْرَةٌ مَدْرَسِيَّةٌ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 newsletter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nash-ra mad-ra-siy-ya</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1393546"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greeting · closing</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letter / message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4" name="Shape 51"/>
          <p:cNvSpPr/>
          <p:nvPr/>
        </p:nvSpPr>
        <p:spPr>
          <a:xfrm>
            <a:off x="4782312" y="4279392"/>
            <a:ext cx="1455725"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very short · symbol</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لَافِتَةٌ</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sign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lā-fi-ta</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1" name="Shape 58"/>
          <p:cNvSpPr/>
          <p:nvPr/>
        </p:nvSpPr>
        <p:spPr>
          <a:xfrm>
            <a:off x="960120" y="4279392"/>
            <a:ext cx="1331366"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short information</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مَنْشُورٌ</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circular / leaflet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man-shūr</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EVIDENCE FINDER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The question word tells you what to find</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نِظَامُ العُثُورِ عَلَى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7" name="Text 14"/>
          <p:cNvSpPr txBox="1"/>
          <p:nvPr/>
        </p:nvSpPr>
        <p:spPr>
          <a:xfrm>
            <a:off x="62270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Search for</a:t>
            </a:r>
            <a:endParaRPr lang="en-US" sz="1100" dirty="0"/>
          </a:p>
        </p:txBody>
      </p:sp>
      <p:sp>
        <p:nvSpPr>
          <p:cNvPr id="18" name="Text 15"/>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 frame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171432" y="2267712"/>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مَتَى…؟</a:t>
            </a:r>
            <a:endParaRPr lang="ar-SA" sz="2400" dirty="0"/>
          </a:p>
        </p:txBody>
      </p:sp>
      <p:sp>
        <p:nvSpPr>
          <p:cNvPr id="21" name="Text 18"/>
          <p:cNvSpPr txBox="1"/>
          <p:nvPr/>
        </p:nvSpPr>
        <p:spPr>
          <a:xfrm>
            <a:off x="6263640"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time or date</a:t>
            </a:r>
            <a:endParaRPr lang="en-US" sz="1100" dirty="0"/>
          </a:p>
        </p:txBody>
      </p:sp>
      <p:sp>
        <p:nvSpPr>
          <p:cNvPr id="22" name="Text 19"/>
          <p:cNvSpPr txBox="1"/>
          <p:nvPr/>
        </p:nvSpPr>
        <p:spPr>
          <a:xfrm>
            <a:off x="548640" y="2267712"/>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السَّاعَةِ… / يَوْمَ…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171432" y="2881884"/>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أَيِّ يَوْمٍ…؟</a:t>
            </a:r>
            <a:endParaRPr lang="ar-SA" sz="2400" dirty="0"/>
          </a:p>
        </p:txBody>
      </p:sp>
      <p:sp>
        <p:nvSpPr>
          <p:cNvPr id="27" name="Text 24"/>
          <p:cNvSpPr txBox="1"/>
          <p:nvPr/>
        </p:nvSpPr>
        <p:spPr>
          <a:xfrm>
            <a:off x="6263640"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particular day</a:t>
            </a:r>
            <a:endParaRPr lang="en-US" sz="1100" dirty="0"/>
          </a:p>
        </p:txBody>
      </p:sp>
      <p:sp>
        <p:nvSpPr>
          <p:cNvPr id="28" name="Text 25"/>
          <p:cNvSpPr txBox="1"/>
          <p:nvPr/>
        </p:nvSpPr>
        <p:spPr>
          <a:xfrm>
            <a:off x="548640" y="2881884"/>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يَوْمِ…</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171432" y="3496056"/>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أَيْنَ…؟</a:t>
            </a:r>
            <a:endParaRPr lang="ar-SA" sz="2400" dirty="0"/>
          </a:p>
        </p:txBody>
      </p:sp>
      <p:sp>
        <p:nvSpPr>
          <p:cNvPr id="33" name="Text 30"/>
          <p:cNvSpPr txBox="1"/>
          <p:nvPr/>
        </p:nvSpPr>
        <p:spPr>
          <a:xfrm>
            <a:off x="6263640"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place</a:t>
            </a:r>
            <a:endParaRPr lang="en-US" sz="1100" dirty="0"/>
          </a:p>
        </p:txBody>
      </p:sp>
      <p:sp>
        <p:nvSpPr>
          <p:cNvPr id="34" name="Text 31"/>
          <p:cNvSpPr txBox="1"/>
          <p:nvPr/>
        </p:nvSpPr>
        <p:spPr>
          <a:xfrm>
            <a:off x="548640" y="3496056"/>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 إِلَى…</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171432" y="4110228"/>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حِصَّةً…؟</a:t>
            </a:r>
            <a:endParaRPr lang="ar-SA" sz="2400" dirty="0"/>
          </a:p>
        </p:txBody>
      </p:sp>
      <p:sp>
        <p:nvSpPr>
          <p:cNvPr id="39" name="Text 36"/>
          <p:cNvSpPr txBox="1"/>
          <p:nvPr/>
        </p:nvSpPr>
        <p:spPr>
          <a:xfrm>
            <a:off x="6263640"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number</a:t>
            </a:r>
            <a:endParaRPr lang="en-US" sz="1100" dirty="0"/>
          </a:p>
        </p:txBody>
      </p:sp>
      <p:sp>
        <p:nvSpPr>
          <p:cNvPr id="40" name="Text 37"/>
          <p:cNvSpPr txBox="1"/>
          <p:nvPr/>
        </p:nvSpPr>
        <p:spPr>
          <a:xfrm>
            <a:off x="548640" y="4110228"/>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 حِصَصٍ</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9171432" y="4724400"/>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لِمَنْ…؟</a:t>
            </a:r>
            <a:endParaRPr lang="ar-SA" sz="2400" dirty="0"/>
          </a:p>
        </p:txBody>
      </p:sp>
      <p:sp>
        <p:nvSpPr>
          <p:cNvPr id="43" name="Text 40"/>
          <p:cNvSpPr txBox="1"/>
          <p:nvPr/>
        </p:nvSpPr>
        <p:spPr>
          <a:xfrm>
            <a:off x="6263640"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audience</a:t>
            </a:r>
            <a:endParaRPr lang="en-US" sz="1100" dirty="0"/>
          </a:p>
        </p:txBody>
      </p:sp>
      <p:sp>
        <p:nvSpPr>
          <p:cNvPr id="44" name="Text 41"/>
          <p:cNvSpPr txBox="1"/>
          <p:nvPr/>
        </p:nvSpPr>
        <p:spPr>
          <a:xfrm>
            <a:off x="548640" y="4724400"/>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لِلطُّلَّابِ / لِلْآبَاءِ وَالأُمَّهَاتِ</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171432" y="5338572"/>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لِمَاذَا…؟ · كَيْفَ تَعْرِفُ؟</a:t>
            </a:r>
            <a:endParaRPr lang="ar-SA" sz="2400" dirty="0"/>
          </a:p>
        </p:txBody>
      </p:sp>
      <p:sp>
        <p:nvSpPr>
          <p:cNvPr id="47" name="Text 44"/>
          <p:cNvSpPr txBox="1"/>
          <p:nvPr/>
        </p:nvSpPr>
        <p:spPr>
          <a:xfrm>
            <a:off x="6263640"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reason · proof</a:t>
            </a:r>
            <a:endParaRPr lang="en-US" sz="1100" dirty="0"/>
          </a:p>
        </p:txBody>
      </p:sp>
      <p:sp>
        <p:nvSpPr>
          <p:cNvPr id="48" name="Text 45"/>
          <p:cNvSpPr txBox="1"/>
          <p:nvPr/>
        </p:nvSpPr>
        <p:spPr>
          <a:xfrm>
            <a:off x="548640" y="5338572"/>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 · لِأَنَّ النَّصَّ يَقُولُ…</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Five-step route: 1 identify the text type · 2 circle the question word · 3 scan for key words · 4 extract the evidence · 5 answer only what was asked.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PURPOSE AND AUDIENCE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Why was it written — and for whom?</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هَدَفُ النَّصِّ وَجُمْهُورُهُ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INFORM · ANNOUNCE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يُخْبِرُ · يُعْلِنُ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إِعْلَانٌ لِجَمِيعِ طُلَّابِ الصَّفِّ السَّابِعِ</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notice for all Year 7 students.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Audience after li-.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INSTRUCT · REMIND</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يُوَجِّهُ · يُذَكِّرُ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لَا تَنْسَوْا إِحْضَارَ دَفْتَرِ التَّجَارِبِ.</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Don’t forget to bring the experiment notebook.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Commands, deadlines.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CONTEXT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يَفْهَمُ مِنَ السِّيَاقِ</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مَكْتَبَةٌ · كُتُبٌ · اِسْتِعَارَةٌ</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library · books · borrowing?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Clues around a new word.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answer only what the question asks — concisely.</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أَيْنَ؟ — فِي المَكْتَبَةِ.</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أَيْنَ؟ — يَوْمَ الأَحَدِ فِي السَّاعَةِ الثَّانِيَةِ.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text has a greeting, a named reader and a closing. What is 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قَوَاعِدُ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رِسَالَةٌ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one-line text beside a crossed-out phone symbol is most likely 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لَافِتَةٌ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رِسَالَةٌ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مَنْشُورٌ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kind of answer does this question need?</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لِمَنْ هٰذَا الإِعْلَانُ؟</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time</a:t>
            </a:r>
            <a:endParaRPr lang="en-US" sz="12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audience</a:t>
            </a:r>
            <a:endParaRPr lang="en-US" sz="12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subject studied</a:t>
            </a:r>
            <a:endParaRPr lang="en-US" sz="12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kind of answer does this question need?</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لِمَاذَا تُغْلَقُ المَكْتَبَةُ؟</a:t>
            </a:r>
            <a:endParaRPr lang="ar-SA" sz="22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text has a greeting, a named reader and a closing. What is it?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جَدْوَلٌ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قَوَاعِدُ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رِسَالَةٌ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greeting and closing are strong letter or message clues.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one-line text beside a crossed-out phone symbol is most likely 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لَافِتَةٌ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رِسَالَةٌ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مَنْشُورٌ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sign is short and often works with a symbol.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kind of answer does this question need?</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لِمَنْ هٰذَا الإِعْلَانُ؟</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time</a:t>
            </a:r>
            <a:endParaRPr lang="en-US" sz="125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audience</a:t>
            </a:r>
            <a:endParaRPr lang="en-US" sz="125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subject studied</a:t>
            </a:r>
            <a:endParaRPr lang="en-US" sz="125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Li-man asks for whom.</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kind of answer does this question need?</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لِمَاذَا تُغْلَقُ المَكْتَبَةُ؟</a:t>
            </a:r>
            <a:endParaRPr lang="ar-SA" sz="22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reason</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place</a:t>
            </a:r>
            <a:endParaRPr lang="en-US" sz="125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number</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Li-mādhā asks why.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SCAN THE WEBSITE TIMETABLE WITH ME · DAY → TIME → SUBJECT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day column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جَدْوَلًا مَدْرَسِيًّا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Thursday</a:t>
            </a:r>
            <a:endParaRPr lang="en-US" sz="1100" dirty="0"/>
          </a:p>
        </p:txBody>
      </p:sp>
      <p:sp>
        <p:nvSpPr>
          <p:cNvPr id="17" name="Text 14"/>
          <p:cNvSpPr txBox="1"/>
          <p:nvPr/>
        </p:nvSpPr>
        <p:spPr>
          <a:xfrm>
            <a:off x="78455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Wednesday</a:t>
            </a:r>
            <a:endParaRPr lang="en-US" sz="1100" dirty="0"/>
          </a:p>
        </p:txBody>
      </p:sp>
      <p:sp>
        <p:nvSpPr>
          <p:cNvPr id="18" name="Text 15"/>
          <p:cNvSpPr txBox="1"/>
          <p:nvPr/>
        </p:nvSpPr>
        <p:spPr>
          <a:xfrm>
            <a:off x="58338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Tuesday</a:t>
            </a:r>
            <a:endParaRPr lang="en-US" sz="1100" dirty="0"/>
          </a:p>
        </p:txBody>
      </p:sp>
      <p:sp>
        <p:nvSpPr>
          <p:cNvPr id="19" name="Text 16"/>
          <p:cNvSpPr txBox="1"/>
          <p:nvPr/>
        </p:nvSpPr>
        <p:spPr>
          <a:xfrm>
            <a:off x="382219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Monday</a:t>
            </a:r>
            <a:endParaRPr lang="en-US" sz="1100" dirty="0"/>
          </a:p>
        </p:txBody>
      </p:sp>
      <p:sp>
        <p:nvSpPr>
          <p:cNvPr id="20" name="Text 17"/>
          <p:cNvSpPr txBox="1"/>
          <p:nvPr/>
        </p:nvSpPr>
        <p:spPr>
          <a:xfrm>
            <a:off x="18105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Sunday</a:t>
            </a:r>
            <a:endParaRPr lang="en-US" sz="1100" dirty="0"/>
          </a:p>
        </p:txBody>
      </p:sp>
      <p:sp>
        <p:nvSpPr>
          <p:cNvPr id="21" name="Text 18"/>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22" name="Shape 19"/>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3" name="Text 20"/>
          <p:cNvSpPr txBox="1"/>
          <p:nvPr/>
        </p:nvSpPr>
        <p:spPr>
          <a:xfrm>
            <a:off x="9875520" y="2267712"/>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الرِّيَاضِيَّاتُ</a:t>
            </a:r>
            <a:endParaRPr lang="ar-SA" sz="1600" dirty="0"/>
          </a:p>
        </p:txBody>
      </p:sp>
      <p:sp>
        <p:nvSpPr>
          <p:cNvPr id="24" name="Text 21"/>
          <p:cNvSpPr txBox="1"/>
          <p:nvPr/>
        </p:nvSpPr>
        <p:spPr>
          <a:xfrm>
            <a:off x="7863840" y="226771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العُلُومُ</a:t>
            </a:r>
            <a:endParaRPr lang="ar-SA" sz="1600" dirty="0"/>
          </a:p>
        </p:txBody>
      </p:sp>
      <p:sp>
        <p:nvSpPr>
          <p:cNvPr id="25" name="Text 22"/>
          <p:cNvSpPr txBox="1"/>
          <p:nvPr/>
        </p:nvSpPr>
        <p:spPr>
          <a:xfrm>
            <a:off x="5852160" y="226771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الجُغْرَافِيَا</a:t>
            </a:r>
            <a:endParaRPr lang="ar-SA" sz="1600" dirty="0"/>
          </a:p>
        </p:txBody>
      </p:sp>
      <p:sp>
        <p:nvSpPr>
          <p:cNvPr id="26" name="Text 23"/>
          <p:cNvSpPr txBox="1"/>
          <p:nvPr/>
        </p:nvSpPr>
        <p:spPr>
          <a:xfrm>
            <a:off x="3840480" y="226771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الإِنْجِلِيزِيَّةُ</a:t>
            </a:r>
            <a:endParaRPr lang="ar-SA" sz="1600" dirty="0"/>
          </a:p>
        </p:txBody>
      </p:sp>
      <p:sp>
        <p:nvSpPr>
          <p:cNvPr id="27" name="Text 24"/>
          <p:cNvSpPr txBox="1"/>
          <p:nvPr/>
        </p:nvSpPr>
        <p:spPr>
          <a:xfrm>
            <a:off x="1828800" y="226771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العَرَبِيَّةُ</a:t>
            </a:r>
            <a:endParaRPr lang="ar-SA" sz="1600" dirty="0"/>
          </a:p>
        </p:txBody>
      </p:sp>
      <p:sp>
        <p:nvSpPr>
          <p:cNvPr id="28" name="Text 25"/>
          <p:cNvSpPr txBox="1"/>
          <p:nvPr/>
        </p:nvSpPr>
        <p:spPr>
          <a:xfrm>
            <a:off x="56692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8:30</a:t>
            </a:r>
            <a:endParaRPr lang="en-US" sz="110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875520" y="2881884"/>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العَرَبِيَّةُ</a:t>
            </a:r>
            <a:endParaRPr lang="ar-SA" sz="1600" dirty="0"/>
          </a:p>
        </p:txBody>
      </p:sp>
      <p:sp>
        <p:nvSpPr>
          <p:cNvPr id="31" name="Text 28"/>
          <p:cNvSpPr txBox="1"/>
          <p:nvPr/>
        </p:nvSpPr>
        <p:spPr>
          <a:xfrm>
            <a:off x="7863840" y="2881884"/>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الفَنُّ</a:t>
            </a:r>
            <a:endParaRPr lang="ar-SA" sz="1600" dirty="0"/>
          </a:p>
        </p:txBody>
      </p:sp>
      <p:sp>
        <p:nvSpPr>
          <p:cNvPr id="32" name="Text 29"/>
          <p:cNvSpPr txBox="1"/>
          <p:nvPr/>
        </p:nvSpPr>
        <p:spPr>
          <a:xfrm>
            <a:off x="5852160" y="2881884"/>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عِلْمُ الحَاسُوبِ</a:t>
            </a:r>
            <a:endParaRPr lang="ar-SA" sz="1600" dirty="0"/>
          </a:p>
        </p:txBody>
      </p:sp>
      <p:sp>
        <p:nvSpPr>
          <p:cNvPr id="33" name="Text 30"/>
          <p:cNvSpPr txBox="1"/>
          <p:nvPr/>
        </p:nvSpPr>
        <p:spPr>
          <a:xfrm>
            <a:off x="3840480" y="2881884"/>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التَّارِيخُ</a:t>
            </a:r>
            <a:endParaRPr lang="ar-SA" sz="1600" dirty="0"/>
          </a:p>
        </p:txBody>
      </p:sp>
      <p:sp>
        <p:nvSpPr>
          <p:cNvPr id="34" name="Text 31"/>
          <p:cNvSpPr txBox="1"/>
          <p:nvPr/>
        </p:nvSpPr>
        <p:spPr>
          <a:xfrm>
            <a:off x="1828800" y="2881884"/>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الرِّيَاضِيَّاتُ</a:t>
            </a:r>
            <a:endParaRPr lang="ar-SA" sz="1600" dirty="0"/>
          </a:p>
        </p:txBody>
      </p:sp>
      <p:sp>
        <p:nvSpPr>
          <p:cNvPr id="35" name="Text 32"/>
          <p:cNvSpPr txBox="1"/>
          <p:nvPr/>
        </p:nvSpPr>
        <p:spPr>
          <a:xfrm>
            <a:off x="56692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9:30</a:t>
            </a:r>
            <a:endParaRPr lang="en-US" sz="1100" dirty="0"/>
          </a:p>
        </p:txBody>
      </p:sp>
      <p:sp>
        <p:nvSpPr>
          <p:cNvPr id="36" name="Shape 33"/>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7" name="Text 34"/>
          <p:cNvSpPr txBox="1"/>
          <p:nvPr/>
        </p:nvSpPr>
        <p:spPr>
          <a:xfrm>
            <a:off x="9875520" y="3496056"/>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المُوسِيقَى</a:t>
            </a:r>
            <a:endParaRPr lang="ar-SA" sz="1600" dirty="0"/>
          </a:p>
        </p:txBody>
      </p:sp>
      <p:sp>
        <p:nvSpPr>
          <p:cNvPr id="38" name="Text 35"/>
          <p:cNvSpPr txBox="1"/>
          <p:nvPr/>
        </p:nvSpPr>
        <p:spPr>
          <a:xfrm>
            <a:off x="7863840" y="3496056"/>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التَّرْبِيَةُ الدِّينِيَّةُ</a:t>
            </a:r>
            <a:endParaRPr lang="ar-SA" sz="1600" dirty="0"/>
          </a:p>
        </p:txBody>
      </p:sp>
      <p:sp>
        <p:nvSpPr>
          <p:cNvPr id="39" name="Text 36"/>
          <p:cNvSpPr txBox="1"/>
          <p:nvPr/>
        </p:nvSpPr>
        <p:spPr>
          <a:xfrm>
            <a:off x="5852160" y="3496056"/>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التَّرْبِيَةُ البَدَنِيَّةُ</a:t>
            </a:r>
            <a:endParaRPr lang="ar-SA" sz="1600" dirty="0"/>
          </a:p>
        </p:txBody>
      </p:sp>
      <p:sp>
        <p:nvSpPr>
          <p:cNvPr id="40" name="Text 37"/>
          <p:cNvSpPr txBox="1"/>
          <p:nvPr/>
        </p:nvSpPr>
        <p:spPr>
          <a:xfrm>
            <a:off x="3840480" y="3496056"/>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العَرَبِيَّةُ</a:t>
            </a:r>
            <a:endParaRPr lang="ar-SA" sz="1600" dirty="0"/>
          </a:p>
        </p:txBody>
      </p:sp>
      <p:sp>
        <p:nvSpPr>
          <p:cNvPr id="41" name="Text 38"/>
          <p:cNvSpPr txBox="1"/>
          <p:nvPr/>
        </p:nvSpPr>
        <p:spPr>
          <a:xfrm>
            <a:off x="1828800" y="3496056"/>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العُلُومُ</a:t>
            </a:r>
            <a:endParaRPr lang="ar-SA" sz="1600" dirty="0"/>
          </a:p>
        </p:txBody>
      </p:sp>
      <p:sp>
        <p:nvSpPr>
          <p:cNvPr id="42" name="Text 39"/>
          <p:cNvSpPr txBox="1"/>
          <p:nvPr/>
        </p:nvSpPr>
        <p:spPr>
          <a:xfrm>
            <a:off x="56692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10:30</a:t>
            </a:r>
            <a:endParaRPr lang="en-US" sz="1100" dirty="0"/>
          </a:p>
        </p:txBody>
      </p:sp>
      <p:sp>
        <p:nvSpPr>
          <p:cNvPr id="43" name="Shape 40"/>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9875520" y="4110228"/>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الاِسْتِرَاحَةُ</a:t>
            </a:r>
            <a:endParaRPr lang="ar-SA" sz="1600" dirty="0"/>
          </a:p>
        </p:txBody>
      </p:sp>
      <p:sp>
        <p:nvSpPr>
          <p:cNvPr id="45" name="Text 42"/>
          <p:cNvSpPr txBox="1"/>
          <p:nvPr/>
        </p:nvSpPr>
        <p:spPr>
          <a:xfrm>
            <a:off x="7863840" y="4110228"/>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الاِسْتِرَاحَةُ</a:t>
            </a:r>
            <a:endParaRPr lang="ar-SA" sz="1600" dirty="0"/>
          </a:p>
        </p:txBody>
      </p:sp>
      <p:sp>
        <p:nvSpPr>
          <p:cNvPr id="46" name="Text 43"/>
          <p:cNvSpPr txBox="1"/>
          <p:nvPr/>
        </p:nvSpPr>
        <p:spPr>
          <a:xfrm>
            <a:off x="5852160" y="4110228"/>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الاِسْتِرَاحَةُ</a:t>
            </a:r>
            <a:endParaRPr lang="ar-SA" sz="1600" dirty="0"/>
          </a:p>
        </p:txBody>
      </p:sp>
      <p:sp>
        <p:nvSpPr>
          <p:cNvPr id="47" name="Text 44"/>
          <p:cNvSpPr txBox="1"/>
          <p:nvPr/>
        </p:nvSpPr>
        <p:spPr>
          <a:xfrm>
            <a:off x="3840480" y="4110228"/>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الاِسْتِرَاحَةُ</a:t>
            </a:r>
            <a:endParaRPr lang="ar-SA" sz="1600" dirty="0"/>
          </a:p>
        </p:txBody>
      </p:sp>
      <p:sp>
        <p:nvSpPr>
          <p:cNvPr id="48" name="Text 45"/>
          <p:cNvSpPr txBox="1"/>
          <p:nvPr/>
        </p:nvSpPr>
        <p:spPr>
          <a:xfrm>
            <a:off x="1828800" y="4110228"/>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الاِسْتِرَاحَةُ</a:t>
            </a:r>
            <a:endParaRPr lang="ar-SA" sz="1600" dirty="0"/>
          </a:p>
        </p:txBody>
      </p:sp>
      <p:sp>
        <p:nvSpPr>
          <p:cNvPr id="49" name="Text 46"/>
          <p:cNvSpPr txBox="1"/>
          <p:nvPr/>
        </p:nvSpPr>
        <p:spPr>
          <a:xfrm>
            <a:off x="56692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11:00</a:t>
            </a:r>
            <a:endParaRPr lang="en-US" sz="1100" dirty="0"/>
          </a:p>
        </p:txBody>
      </p:sp>
      <p:sp>
        <p:nvSpPr>
          <p:cNvPr id="50" name="Shape 47"/>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1" name="Text 48"/>
          <p:cNvSpPr txBox="1"/>
          <p:nvPr/>
        </p:nvSpPr>
        <p:spPr>
          <a:xfrm>
            <a:off x="9875520" y="4724400"/>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الجُغْرَافِيَا</a:t>
            </a:r>
            <a:endParaRPr lang="ar-SA" sz="1600" dirty="0"/>
          </a:p>
        </p:txBody>
      </p:sp>
      <p:sp>
        <p:nvSpPr>
          <p:cNvPr id="52" name="Text 49"/>
          <p:cNvSpPr txBox="1"/>
          <p:nvPr/>
        </p:nvSpPr>
        <p:spPr>
          <a:xfrm>
            <a:off x="7863840" y="4724400"/>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الرِّيَاضِيَّاتُ</a:t>
            </a:r>
            <a:endParaRPr lang="ar-SA" sz="1600" dirty="0"/>
          </a:p>
        </p:txBody>
      </p:sp>
      <p:sp>
        <p:nvSpPr>
          <p:cNvPr id="53" name="Text 50"/>
          <p:cNvSpPr txBox="1"/>
          <p:nvPr/>
        </p:nvSpPr>
        <p:spPr>
          <a:xfrm>
            <a:off x="5852160" y="4724400"/>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الإِنْجِلِيزِيَّةُ</a:t>
            </a:r>
            <a:endParaRPr lang="ar-SA" sz="1600" dirty="0"/>
          </a:p>
        </p:txBody>
      </p:sp>
      <p:sp>
        <p:nvSpPr>
          <p:cNvPr id="54" name="Text 51"/>
          <p:cNvSpPr txBox="1"/>
          <p:nvPr/>
        </p:nvSpPr>
        <p:spPr>
          <a:xfrm>
            <a:off x="3840480" y="4724400"/>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العُلُومُ</a:t>
            </a:r>
            <a:endParaRPr lang="ar-SA" sz="1600" dirty="0"/>
          </a:p>
        </p:txBody>
      </p:sp>
      <p:sp>
        <p:nvSpPr>
          <p:cNvPr id="55" name="Text 52"/>
          <p:cNvSpPr txBox="1"/>
          <p:nvPr/>
        </p:nvSpPr>
        <p:spPr>
          <a:xfrm>
            <a:off x="1828800" y="4724400"/>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التَّارِيخُ</a:t>
            </a:r>
            <a:endParaRPr lang="ar-SA" sz="1600" dirty="0"/>
          </a:p>
        </p:txBody>
      </p:sp>
      <p:sp>
        <p:nvSpPr>
          <p:cNvPr id="56" name="Text 53"/>
          <p:cNvSpPr txBox="1"/>
          <p:nvPr/>
        </p:nvSpPr>
        <p:spPr>
          <a:xfrm>
            <a:off x="56692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11:30</a:t>
            </a:r>
            <a:endParaRPr lang="en-US" sz="1100" dirty="0"/>
          </a:p>
        </p:txBody>
      </p:sp>
      <p:sp>
        <p:nvSpPr>
          <p:cNvPr id="57" name="Shape 5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8" name="Text 55"/>
          <p:cNvSpPr txBox="1"/>
          <p:nvPr/>
        </p:nvSpPr>
        <p:spPr>
          <a:xfrm>
            <a:off x="9875520" y="5338572"/>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التَّرْبِيَةُ البَدَنِيَّةُ</a:t>
            </a:r>
            <a:endParaRPr lang="ar-SA" sz="1600" dirty="0"/>
          </a:p>
        </p:txBody>
      </p:sp>
      <p:sp>
        <p:nvSpPr>
          <p:cNvPr id="59" name="Text 56"/>
          <p:cNvSpPr txBox="1"/>
          <p:nvPr/>
        </p:nvSpPr>
        <p:spPr>
          <a:xfrm>
            <a:off x="7863840" y="533857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عِلْمُ الحَاسُوبِ</a:t>
            </a:r>
            <a:endParaRPr lang="ar-SA" sz="1600" dirty="0"/>
          </a:p>
        </p:txBody>
      </p:sp>
      <p:sp>
        <p:nvSpPr>
          <p:cNvPr id="60" name="Text 57"/>
          <p:cNvSpPr txBox="1"/>
          <p:nvPr/>
        </p:nvSpPr>
        <p:spPr>
          <a:xfrm>
            <a:off x="5852160" y="533857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العَرَبِيَّةُ</a:t>
            </a:r>
            <a:endParaRPr lang="ar-SA" sz="1600" dirty="0"/>
          </a:p>
        </p:txBody>
      </p:sp>
      <p:sp>
        <p:nvSpPr>
          <p:cNvPr id="61" name="Text 58"/>
          <p:cNvSpPr txBox="1"/>
          <p:nvPr/>
        </p:nvSpPr>
        <p:spPr>
          <a:xfrm>
            <a:off x="3840480" y="533857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المُوسِيقَى</a:t>
            </a:r>
            <a:endParaRPr lang="ar-SA" sz="1600" dirty="0"/>
          </a:p>
        </p:txBody>
      </p:sp>
      <p:sp>
        <p:nvSpPr>
          <p:cNvPr id="62" name="Text 59"/>
          <p:cNvSpPr txBox="1"/>
          <p:nvPr/>
        </p:nvSpPr>
        <p:spPr>
          <a:xfrm>
            <a:off x="1828800" y="533857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الفَنُّ</a:t>
            </a:r>
            <a:endParaRPr lang="ar-SA" sz="1600" dirty="0"/>
          </a:p>
        </p:txBody>
      </p:sp>
      <p:sp>
        <p:nvSpPr>
          <p:cNvPr id="63" name="Text 60"/>
          <p:cNvSpPr txBox="1"/>
          <p:nvPr/>
        </p:nvSpPr>
        <p:spPr>
          <a:xfrm>
            <a:off x="56692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12:30</a:t>
            </a:r>
            <a:endParaRPr lang="en-US" sz="1100" dirty="0"/>
          </a:p>
        </p:txBody>
      </p:sp>
      <p:sp>
        <p:nvSpPr>
          <p:cNvPr id="64" name="Text 6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Think aloud: “Tuesday column → 9:30 row → computer science. The answer: ‘ilm al-ḥāsūb.”</a:t>
            </a:r>
            <a:endParaRPr lang="en-US" sz="11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TIMETABLE SCAN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Scan the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مَسْحُ الجَدْوَلِ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subject is on Thursday at 8:30?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الجُغْرَافِيَا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PE at 10:30?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الخَمِيسُ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الثُّلَاثَاءُ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الاِثْنَيْنُ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Arabic periods appear in the whole timetable?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days include music?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الاِثْنَيْنُ وَالخَمِيسُ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الأَحَدُ وَالثُّلَاثَاءُ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الثُّلَاثَاءُ وَالأَرْبِعَاءُ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immediately after break on Sunday?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التَّارِيخُ</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DAY → TIME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find the day column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time row</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the cell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Flick back to the timetable.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TIMETABLE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Timetable: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subject is on Thursday at 8:30?</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العُلُومُ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الرِّيَاضِيَّاتُ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الجُغْرَافِيَا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Thursday at 8:30 is mathematics.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PE at 10:30?</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الخَمِيسُ</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الثُّلَاثَاءُ</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الاِثْنَيْنُ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Tuesday at 10:30 contains PE.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Arabic periods appear in the whole timetable?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appears Sunday 8:30, Monday 10:30, Thursday 9:30 and Tuesday 12:30.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days include music?</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الاِثْنَيْنُ وَالخَمِيسُ</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الأَحَدُ وَالثُّلَاثَاءُ</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الثُّلَاثَاءُ وَالأَرْبِعَاءُ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Music is Monday at 12:30 and Thursday at 10:30.</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immediately after break on Sunday?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الفَنُّ</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التَّارِيخُ</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lesson after 11:00 break is the 11:30 row: history.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DAY → TIME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find the day column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time row</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the cell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Flick back to the timetable.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“READING DETECTIVE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detective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مُحَقِّقِ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The text begins this What is it likely to be?</a:t>
            </a:r>
            <a:endParaRPr lang="en-US" sz="10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أَعِزَّائِي الطُّلَّابَ.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جَدْوَلٌ</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لَافِتَةٌ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رِسَالَةٌ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 whom?: Which phrase names the audience?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الثَّانِيَةِ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لِجَمِيعِ طُلَّابِ الصَّفِّ السَّابِعِ</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الاِجْتِمَاعِ</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Purpose: A notice says books must be returned by noon. What is its purpose?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entertain with a story</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instruct or remind</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compare subjects</a:t>
            </a:r>
            <a:endParaRPr lang="en-US" sz="12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Evidence: Choose the strongest supported answer.</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أَظُنُّ ذَلِكَ فَقَطْ.</a:t>
            </a:r>
            <a:endParaRPr lang="ar-SA" sz="200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رُبَّمَا مِنْ غَيْرِ دَلِيلٍ.</a:t>
            </a:r>
            <a:endParaRPr lang="ar-SA" sz="200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أَعْرِفُ لِأَنَّ النَّصَّ يَذْكُرُ يَوْمَ الأَحَدِ.</a:t>
            </a:r>
            <a:endParaRPr lang="ar-SA" sz="200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Concise answer: The question asks where. Choose the best answer.</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فِي المَكْتَبَةِ.</a:t>
            </a:r>
            <a:endParaRPr lang="ar-SA" sz="18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يَوْمَ الأَرْبِعَاءِ فِي السَّاعَةِ الوَاحِدَةِ.</a:t>
            </a:r>
            <a:endParaRPr lang="ar-SA" sz="18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لِأَنَّ القِرَاءَةَ مُفِيدَةٌ.</a:t>
            </a:r>
            <a:endParaRPr lang="ar-SA" sz="18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Use the clue, not guesswork.</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Type → question word → evidence.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The text begins this What is it likely to be?</a:t>
            </a:r>
            <a:endParaRPr lang="en-US" sz="10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أَعِزَّائِي الطُّلَّابَ.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جَدْوَلٌ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لَافِتَةٌ</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رِسَالَةٌ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Direct greeting signals a message.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For whom?: Which phrase names the audience?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الثَّانِيَةِ</a:t>
            </a:r>
            <a:endParaRPr lang="ar-SA" sz="1700" dirty="0"/>
          </a:p>
        </p:txBody>
      </p:sp>
      <p:sp>
        <p:nvSpPr>
          <p:cNvPr id="38" name="Shape 35"/>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862072"/>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لِجَمِيعِ طُلَّابِ الصَّفِّ السَّابِعِ</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الاِجْتِمَاعِ</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plus people names who the text is for.</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Purpose: A notice says books must be returned by noon. What is its purpose?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entertain with a story</a:t>
            </a:r>
            <a:endParaRPr lang="en-US" sz="1250" dirty="0"/>
          </a:p>
        </p:txBody>
      </p:sp>
      <p:sp>
        <p:nvSpPr>
          <p:cNvPr id="53" name="Shape 50"/>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8278368" y="2862072"/>
            <a:ext cx="256032" cy="256032"/>
          </a:xfrm>
          <a:prstGeom prst="ellipse">
            <a:avLst/>
          </a:prstGeom>
          <a:solidFill>
            <a:srgbClr val="2E8B57"/>
          </a:solidFill>
          <a:ln w="12700">
            <a:solidFill>
              <a:srgbClr val="2E8B57"/>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instruct or remind</a:t>
            </a:r>
            <a:endParaRPr lang="en-US" sz="125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compare subjects</a:t>
            </a:r>
            <a:endParaRPr lang="en-US" sz="125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Required action and deadline signal instruction or reminder.</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Evidence: Choose the strongest supported answer.</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أَظُنُّ ذَلِكَ فَقَطْ.</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رُبَّمَا مِنْ غَيْرِ دَلِيلٍ.</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أَعْرِفُ لِأَنَّ النَّصَّ يَذْكُرُ يَوْمَ الأَحَدِ.</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answer identifies a textual clue.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Concise answer: The question asks where. Choose the best answer.</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المَكْتَبَةِ.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الأَرْبِعَاءِ فِي السَّاعَةِ الوَاحِدَةِ.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القِرَاءَةَ مُفِيدَةٌ.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Only the correct answer supplies a place.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Use the clue, not guesswork.</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Type → question word → evidence.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مَتَى يَبْدَأُ المَشْرُوعُ؟ — فِي المَكْتَبَةِ.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Matā: time or place?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لِمَنْ الإِعْلَانُ؟ — يَوْمَ الثُّلَاثَاءِ.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Li-man: what must you find?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B83227"/>
                </a:solidFill>
                <a:latin typeface="Amiri" pitchFamily="34" charset="0"/>
                <a:ea typeface="Amiri" pitchFamily="34" charset="-122"/>
                <a:cs typeface="Amiri" pitchFamily="34" charset="-120"/>
              </a:rPr>
              <a:t>أَيْنَ يَجْتَمِعُونَ؟ — يَجْتَمِعُ طُلَّابُ الصَّفِّ السَّابِعِ فِي المَكْتَبَةِ يَوْمَ الأَحَدِ وَالثُّلَاثَاءِ.</a:t>
            </a:r>
            <a:endParaRPr lang="ar-SA" sz="21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answer concise?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مَتَى يَبْدَأُ المَشْرُوعُ؟ — فِي المَكْتَبَةِ.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مَتَى يَبْدَأُ المَشْرُوعُ؟ — يَوْمَ الأَرْبِعَاءِ.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Matā asks WHEN: find a time or a day, not a place.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لِمَنْ الإِعْلَانُ؟ — يَوْمَ الثُّلَاثَاءِ.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لِمَنْ الإِعْلَانُ؟ — لِطُلَّابِ الصَّفِّ السَّابِعِ.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Li-man asks for the audience.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B83227"/>
                </a:solidFill>
                <a:latin typeface="Amiri" pitchFamily="34" charset="0"/>
                <a:ea typeface="Amiri" pitchFamily="34" charset="-122"/>
                <a:cs typeface="Amiri" pitchFamily="34" charset="-120"/>
              </a:rPr>
              <a:t>أَيْنَ يَجْتَمِعُونَ؟ — يَجْتَمِعُ طُلَّابُ الصَّفِّ السَّابِعِ فِي المَكْتَبَةِ يَوْمَ الأَحَدِ وَالثُّلَاثَاءِ.</a:t>
            </a:r>
            <a:endParaRPr lang="ar-SA" sz="16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أَيْنَ يَجْتَمِعُونَ؟ — فِي المَكْتَبَةِ.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Answer ONLY what is asked — concisely.</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reading-project announcement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purpose of the announcement?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announce a new reading project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cancel all lessons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describe a sports match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does the project begin?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Wednesday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students meet?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science laboratory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playground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 library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each student bring?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Arabic book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calculator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kit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deadline for parent suggestions?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Thursday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Tuesday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Sunday morning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Six boxes: purpose · date · time · place · audience · action.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إِعْلَانٌ لِجَمِيعِ طُلَّابِ الصَّفِّ السَّابِعِ: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announcement for all Year 7 students: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يَبْدَأُ مَشْرُوعُ القِرَاءَةِ الجَدِيدُ يَوْمَ الأَرْبِعَاءِ فِي السَّاعَةِ الوَاحِدَةِ بَعْدَ الظُّهْرِ فِي مَكْتَبَةِ المَدْرَسَةِ.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new reading project begins on Wednesday at 1 pm in the school library.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عَلَى كُلِّ طَالِبٍ وَطَالِبَةٍ أَنْ يُحْضِرَ كِتَابًا قَصِيرًا بِاللُّغَةِ العَرَبِيَّةِ.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student must bring a short book in Arabic.</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سَيَقْرَأُ الطُّلَّابُ فِي مَجْمُوعَاتٍ، ثُمَّ يَكْتُبُونَ تَلْخِيصًا قَصِيرًا.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will read in groups, then write a short summary.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المَشْرُوعُ لِلطُّلَّابِ فَقَطْ، وَلَكِنْ يَسْتَطِيعُ الآبَاءُ وَالأُمَّهَاتُ إِرْسَالَ اقْتِرَاحَاتٍ لِلكُتُبِ قَبْلَ يَوْمِ الثُّلَاثَاءِ.</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project is for students only, but parents can send book suggestions before Tuesday.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purpose of the announcement?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announce a new reading project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cancel all lessons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describe a sports match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states that a new reading project begins.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does the project begin?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Sunday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Wednesday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transcript says </a:t>
            </a:r>
            <a:pPr algn="l" indent="0" marL="0">
              <a:buNone/>
            </a:pPr>
            <a:r>
              <a:rPr lang="ar-SA" altLang="en-US" sz="1350" dirty="0">
                <a:solidFill>
                  <a:srgbClr val="8A6D1E"/>
                </a:solidFill>
                <a:latin typeface="Amiri" pitchFamily="34" charset="0"/>
                <a:ea typeface="Amiri" pitchFamily="34" charset="-122"/>
                <a:cs typeface="Amiri" pitchFamily="34" charset="-120"/>
              </a:rPr>
              <a:t>يَوْمَ الأَرْبِعَاءِ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students meet?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science laboratory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playground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school library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place is </a:t>
            </a:r>
            <a:pPr algn="l" indent="0" marL="0">
              <a:buNone/>
            </a:pPr>
            <a:r>
              <a:rPr lang="ar-SA" altLang="en-US" sz="1350" dirty="0">
                <a:solidFill>
                  <a:srgbClr val="8A6D1E"/>
                </a:solidFill>
                <a:latin typeface="Amiri" pitchFamily="34" charset="0"/>
                <a:ea typeface="Amiri" pitchFamily="34" charset="-122"/>
                <a:cs typeface="Amiri" pitchFamily="34" charset="-120"/>
              </a:rPr>
              <a:t>مَكْتَبَةِ المَدْرَسَةِ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each student bring?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short Arabic book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calculator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kit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Students must bring </a:t>
            </a:r>
            <a:pPr algn="l" indent="0" marL="0">
              <a:buNone/>
            </a:pPr>
            <a:r>
              <a:rPr lang="ar-SA" altLang="en-US" sz="1350" dirty="0">
                <a:solidFill>
                  <a:srgbClr val="8A6D1E"/>
                </a:solidFill>
                <a:latin typeface="Amiri" pitchFamily="34" charset="0"/>
                <a:ea typeface="Amiri" pitchFamily="34" charset="-122"/>
                <a:cs typeface="Amiri" pitchFamily="34" charset="-120"/>
              </a:rPr>
              <a:t>كِتَابًا قَصِيرًا بِاللُّغَةِ العَرَبِيَّةِ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deadline for parent suggestions?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Thursday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Tuesday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Sunday morning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announcement says </a:t>
            </a:r>
            <a:pPr algn="l" indent="0" marL="0">
              <a:buNone/>
            </a:pPr>
            <a:r>
              <a:rPr lang="ar-SA" altLang="en-US" sz="1350" dirty="0">
                <a:solidFill>
                  <a:srgbClr val="8A6D1E"/>
                </a:solidFill>
                <a:latin typeface="Amiri" pitchFamily="34" charset="0"/>
                <a:ea typeface="Amiri" pitchFamily="34" charset="-122"/>
                <a:cs typeface="Amiri" pitchFamily="34" charset="-120"/>
              </a:rPr>
              <a:t>قَبْلَ يَوْمِ الثُّلَاثَاءِ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Six boxes: purpose · date · time · place · audience · action.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 SCHOOL NEWSLETTER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المَدْرَسَةِ — أُسْبُوعُ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هٰذَا الأُسْبُوعِ تَبْدَأُ مَدْرَسَتُنَا مَشْرُوعًا جَدِيدًا عَنِ القِرَاءَةِ.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Main idea: a new reading project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يَجْتَمِعُ طُلَّابُ الصَّفِّ السَّابِعِ فِي المَكْتَبَةِ يَوْمَ الأَحَدِ وَالثُّلَاثَاءِ فِي السَّاعَةِ الثَّانِيَةِ.</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Year 7 · library · Sun + Tue · 2:00</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يَقْرَأُ كُلُّ طَالِبٍ قِصَّةً قَصِيرَةً، ثُمَّ يُقَدِّمُ فِكْرَتَهُ الرَّئِيسِيَّةَ لِمَجْمُوعَتِهِ. نَرْجُو مِنَ الآبَاءِ وَالأُمَّهَاتِ مُسَاعَدَةَ أَبْنَائِهِمْ فِي اخْتِيَارِ كِتَابٍ مُنَاسِبٍ.</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 the main idea · parents: help choose a book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وَيَسْتَطِيعُ الطُّلَّابُ أَيْضًا أَنْ يَسْتَعِيرُوا كِتَابَيْنِ مِنَ المَكْتَبَةِ لِمُدَّةِ أُسْبُوعَيْنِ.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Borrow two books for two weeks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يَوْمِ الخَمِيسِ سَيَشْتَرِكُونَ فِي مُسَابَقَةٍ قَصِيرَةٍ لِفَهْمِ المَقْرُوءِ، وَسَيَحْصُلُ الفَائِزُونَ عَلَى جَوَائِزَ. سَنَنْشُرُ أَفْضَلَ التَّلْخِيصَاتِ فِي نَشْرَةِ الشَّهْرِ القَادِمِ.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 a reading quiz with prizes · best summaries next month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READING · TEXT B NOTICE (UNVOWELLED ON THE WEBSITE) + TEXT C MESSAGE · FLEX / STRETCH</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notice and a message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إِعْلَانٌ وَرِسَالَةٌ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تُغْلَقُ مَكْتَبَةُ المَدْرَسَةِ يَوْمَ الخَمِيسِ بَعْدَ الحِصَّةِ الرَّابِعَةِ بِسَبَبِ اجْتِمَاعِ المُعَلِّمِينَ.</a:t>
            </a:r>
            <a:endParaRPr lang="ar-SA" sz="19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 · library closes Thu after P4 — teachers’ meeting</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يُرْجَى مِنَ الطُّلَّابِ إِعَادَةُ الكُتُبِ قَبْلَ السَّاعَةِ الثَّانِيَةَ عَشْرَةَ. يُمْكِنُ اسْتِعَارَةُ الكُتُبِ مَرَّةً أُخْرَى صَبَاحَ يَوْمِ الأَحَدِ.</a:t>
            </a:r>
            <a:endParaRPr lang="ar-SA" sz="155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 · return books before 12 · borrow again Sun morning</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لِلاِسْتِفْسَارِ تَحَدَّثُوا مَعَ أَمِينَةِ المَكْتَبَةِ.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 · questions: the librarian</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أَعِزَّائِي الطُّلَّابَ، لَا تَنْسَوْا إِحْضَارَ دَفْتَرِ التَّجَارِبِ وَمِسْطَرَةٍ يَوْمَ الاِثْنَيْنِ.</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 · bring the experiment notebook + ruler on Mon</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سَنَعْمَلُ فِي المَخْتَبَرِ خِلَالَ الحِصَّةِ الثَّالِثَةِ، وَلِذَلِكَ يَجِبُ أَنْ تَصِلُوا فِي الوَقْتِ. شُكْرًا لَكُمْ.</a:t>
            </a:r>
            <a:endParaRPr lang="ar-SA" sz="175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 · lab in P3 · arrive on time</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WORKSHOP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Newsletter, notice or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On which two days do they meet?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and Thursday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Wednesday and Friday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Sunday and Tuesday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What are parents asked to help with?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choosing a suitable book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every summary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changing the meeting time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Why will the library close?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students lost books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of a teachers’ meeting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is a holiday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When can books be borrowed again?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Sunday morning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 evening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afternoon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C: What two items must students bring?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dictionary and calculator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 and sports kit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experiment notebook and ruler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Which text? Then which</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question word? Then scan.</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On which two days do they meet?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 and Thursday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Wednesday and Friday</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Sunday and Tuesday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يَوْمَ الأَحَدِ وَالثُّلَاثَاءِ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What are parents asked to help with?</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choosing a suitable book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writing every summary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changing the meeting time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Parents help children choose an appropriate book.</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Why will the library close?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students lost books</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because of a teachers’ meeting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it is a holiday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notice says </a:t>
            </a:r>
            <a:pPr algn="l" indent="0" marL="0">
              <a:buNone/>
            </a:pPr>
            <a:r>
              <a:rPr lang="ar-SA" altLang="en-US" sz="1350" dirty="0">
                <a:solidFill>
                  <a:srgbClr val="8A6D1E"/>
                </a:solidFill>
                <a:latin typeface="Amiri" pitchFamily="34" charset="0"/>
                <a:ea typeface="Amiri" pitchFamily="34" charset="-122"/>
                <a:cs typeface="Amiri" pitchFamily="34" charset="-120"/>
              </a:rPr>
              <a:t>بسبب اجتماع المعلمين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When can books be borrowed again?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Sunday morning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Thursday evening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 afternoon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notice says </a:t>
            </a:r>
            <a:pPr algn="l" indent="0" marL="0">
              <a:buNone/>
            </a:pPr>
            <a:r>
              <a:rPr lang="ar-SA" altLang="en-US" sz="1350" dirty="0">
                <a:solidFill>
                  <a:srgbClr val="8A6D1E"/>
                </a:solidFill>
                <a:latin typeface="Amiri" pitchFamily="34" charset="0"/>
                <a:ea typeface="Amiri" pitchFamily="34" charset="-122"/>
                <a:cs typeface="Amiri" pitchFamily="34" charset="-120"/>
              </a:rPr>
              <a:t>صباح يوم الأحد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C: What two items must students bring?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dictionary and calculator</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 and sports kit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experiment notebook and ruler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message names </a:t>
            </a:r>
            <a:pPr algn="l" indent="0" marL="0">
              <a:buNone/>
            </a:pPr>
            <a:r>
              <a:rPr lang="ar-SA" altLang="en-US" sz="1350" dirty="0">
                <a:solidFill>
                  <a:srgbClr val="8A6D1E"/>
                </a:solidFill>
                <a:latin typeface="Amiri" pitchFamily="34" charset="0"/>
                <a:ea typeface="Amiri" pitchFamily="34" charset="-122"/>
                <a:cs typeface="Amiri" pitchFamily="34" charset="-120"/>
              </a:rPr>
              <a:t>دَفْتَرِ التَّجَارِبِ وَمِسْطَرَةٍ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Which text? Then which</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question word? Then scan.</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 like a reading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نَوْعُ هٰذَا النَّصِّ؟ كَيْفَ تَعْرِفُ؟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يَبْدَأُ المَشْرُوعُ؟ كَيْفَ تَعْرِفُ؟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لِمَنْ هٰذَا الإِعْلَانُ؟ وَمَا هَدَفُهُ؟</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مَعْنَى «اِسْتِعَارَةٌ»؟ مَا الدَّلِيلُ فِي السِّيَاقِ؟</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النَّصُّ ___ لِأَنَّ فِيهِ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الإِجَابَةُ هِيَ … وَأَعْرِفُ ذَلِكَ لِأَنَّ النَّصَّ يَقُولُ …</a:t>
            </a:r>
            <a:endParaRPr lang="ar-SA" sz="14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الإِعْلَانُ لِـ ___ ، وَهَدَفُهُ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أُلَاحِظُ كَلِمَةَ … ، لِذَلِكَ أَفْهَمُ أَنَّ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يَبْدَأُ المَشْرُوعُ؟ كَيْفَ تَعْرِفُ؟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does the project begin? How do you know?</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الإِجَابَةُ هِيَ يَوْمَ الأَرْبِعَاءِ، وَأَعْرِفُ ذَلِكَ لِأَنَّ النَّصَّ يَقُولُ «يَبْدَأُ يَوْمَ الأَرْبِعَاءِ».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The answer is Wednesday, and I know because the text says “it begins on Wednesday”.</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notice · 5 parts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Heading, audience, day and time, place and one action.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Heading, audience, day and time, place and one action.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50–70 words with a rule structure and a reason.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rule structure (yajibu / lā yajūzu) and a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deadline, a contact person and an optional extra.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deadline, a contact person and an optional extra.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يَجُوزُ إِحْضَارُ كُتُبٍ مُمَزَّقَةٍ.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Bringing torn books is not allowed.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لِأَنَّنَا نُرِيدُ تَشْجِيعَ القِرَاءَةِ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because we want to encourage reading</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يَوْمِ الاِثْنَيْنِ</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Monday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لِمَزِيدٍ مِنَ المَعْلُومَاتِ تَحَدَّثُوا مَعَ أَمِينَةِ المَكْتَبَةِ.</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For more information, speak to the librarian.</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الإِجَابَةُ هِيَ … لِأَنَّ النَّصَّ يَقُولُ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answer is … because the text says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إِعْلَانٌ مُهِمٌّ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Important announcement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لِطُلَّابِ الصَّفِّ السَّابِعِ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for Year 7 students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الثُّلَاثَاءِ فِي السَّاعَةِ الثَّانِيَةِ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Tuesday at two o’clock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قَاعَةِ المَدْرَسَةِ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school hall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كُلِّ طَالِبٍ أَنْ يُحْضِرَ كِتَابًا وَاحِدًا.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Every student must bring one book.</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إِعْلَانٌ  ·  نَشْرَةٌ  ·  رِسَالَةٌ  ·  جَدْوَلٌ  ·  لِـ  ·  يَوْمَ  ·  فِي السَّاعَةِ  ·  فِي  ·  يَجِبُ  ·  لَا يَجُوزُ  ·  لِأَنَّ  ·  قَبْلَ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إِعْلَانٌ مُهِمٌّ لِطُلَّابِ الصَّفِّ السَّابِعِ: سَيُقَامُ مَعْرِضُ الكُتُبِ يَوْمَ الثُّلَاثَاءِ فِي السَّاعَةِ الثَّانِيَةِ فِي قَاعَةِ المَدْرَسَةِ. يَجِبُ عَلَى كُلِّ طَالِبٍ وَطَالِبَةٍ أَنْ يُحْضِرَ كِتَابًا وَاحِدًا لِلمُبَادَلَةِ. لَا يَجُوزُ إِحْضَارُ كُتُبٍ مُمَزَّقَةٍ. نُنَظِّمُ المَعْرِضَ لِأَنَّنَا نُرِيدُ تَشْجِيعَ القِرَاءَةِ بَيْنَ الطُّلَّابِ.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Important announcement for Year 7 students: a book fair will be held on Tuesday at two o’clock in the school hall. Every student must bring one book to exchange. Bringing torn books is not allowed. We are organising the fair because we want to encourage reading among students.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heading + audience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when + where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rule structures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identified the text type first.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scanned the timetable day → time → subject.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only what was asked.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evidence: li’anna n-naṣṣa yaqūlu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inferred a new word from context.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evidence does this request?</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مَتَى</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or date</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place</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a:t>
            </a:r>
            <a:endParaRPr lang="en-US" sz="12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evidence does this request?</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لِمَنْ</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number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audience or recipient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reason</a:t>
            </a:r>
            <a:endParaRPr lang="en-US" sz="1250" dirty="0"/>
          </a:p>
        </p:txBody>
      </p:sp>
      <p:sp>
        <p:nvSpPr>
          <p:cNvPr id="43" name="Shape 40"/>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sequence is best for a timetable scan?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day → time → subject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subject → guess → day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all cells → ignore time</a:t>
            </a:r>
            <a:endParaRPr lang="en-US" sz="12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evidence does this request?</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مَتَى</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or date</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place</a:t>
            </a:r>
            <a:endParaRPr lang="en-US" sz="12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person</a:t>
            </a:r>
            <a:endParaRPr lang="en-US" sz="12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مَتَى</a:t>
            </a:r>
            <a:pPr algn="l" indent="0" marL="0">
              <a:buNone/>
            </a:pPr>
            <a:r>
              <a:rPr lang="en-US" sz="1050" i="1" dirty="0">
                <a:solidFill>
                  <a:srgbClr val="8A6D1E"/>
                </a:solidFill>
                <a:latin typeface="Calibri" pitchFamily="34" charset="0"/>
                <a:ea typeface="Calibri" pitchFamily="34" charset="-122"/>
                <a:cs typeface="Calibri" pitchFamily="34" charset="-120"/>
              </a:rPr>
              <a:t> asks when.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evidence does this request?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لِمَنْ</a:t>
            </a:r>
            <a:endParaRPr lang="ar-SA" sz="220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number</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audience or recipient</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reason</a:t>
            </a:r>
            <a:endParaRPr lang="en-US" sz="1250" dirty="0"/>
          </a:p>
        </p:txBody>
      </p:sp>
      <p:sp>
        <p:nvSpPr>
          <p:cNvPr id="46" name="Text 43"/>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لِمَنْ</a:t>
            </a:r>
            <a:pPr algn="l" indent="0" marL="0">
              <a:buNone/>
            </a:pPr>
            <a:r>
              <a:rPr lang="en-US" sz="1050" i="1" dirty="0">
                <a:solidFill>
                  <a:srgbClr val="8A6D1E"/>
                </a:solidFill>
                <a:latin typeface="Calibri" pitchFamily="34" charset="0"/>
                <a:ea typeface="Calibri" pitchFamily="34" charset="-122"/>
                <a:cs typeface="Calibri" pitchFamily="34" charset="-120"/>
              </a:rPr>
              <a:t> asks for whom.</a:t>
            </a:r>
            <a:endParaRPr lang="en-US" sz="1050" dirty="0"/>
          </a:p>
        </p:txBody>
      </p:sp>
      <p:sp>
        <p:nvSpPr>
          <p:cNvPr id="47" name="Shape 44"/>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sequence is best for a timetable scan?</a:t>
            </a:r>
            <a:endParaRPr lang="en-US" sz="125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day → time → subject</a:t>
            </a:r>
            <a:endParaRPr lang="en-US" sz="12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subject → guess → day</a:t>
            </a:r>
            <a:endParaRPr lang="en-US" sz="12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all cells → ignore time</a:t>
            </a:r>
            <a:endParaRPr lang="en-US" sz="12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Day and time provide the coordinates.</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F4-L08 · Reading School Texts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F4-L09 · Extended Writing: My School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article</a:t>
            </a:r>
            <a:pPr indent="0" marL="0">
              <a:buNone/>
            </a:pPr>
            <a:r>
              <a:rPr lang="en-US" sz="1000" i="1" dirty="0">
                <a:solidFill>
                  <a:srgbClr val="5A6472"/>
                </a:solidFill>
                <a:latin typeface="Calibri" pitchFamily="34" charset="0"/>
                <a:ea typeface="Calibri" pitchFamily="34" charset="-122"/>
                <a:cs typeface="Calibri" pitchFamily="34" charset="-120"/>
              </a:rPr>
              <a:t>  pl. مَقَالَاتٌ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بَرِيدٌ إِلِكْتُرُونِيٌّ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email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فِقْرَةٌ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paragraph</a:t>
            </a:r>
            <a:pPr indent="0" marL="0">
              <a:buNone/>
            </a:pPr>
            <a:r>
              <a:rPr lang="en-US" sz="1000" i="1" dirty="0">
                <a:solidFill>
                  <a:srgbClr val="5A6472"/>
                </a:solidFill>
                <a:latin typeface="Calibri" pitchFamily="34" charset="0"/>
                <a:ea typeface="Calibri" pitchFamily="34" charset="-122"/>
                <a:cs typeface="Calibri" pitchFamily="34" charset="-120"/>
              </a:rPr>
              <a:t>  pl. فِقْرَاتٌ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مَرَافِقُ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facilities</a:t>
            </a:r>
            <a:pPr indent="0" marL="0">
              <a:buNone/>
            </a:pPr>
            <a:r>
              <a:rPr lang="en-US" sz="1000" i="1" dirty="0">
                <a:solidFill>
                  <a:srgbClr val="5A6472"/>
                </a:solidFill>
                <a:latin typeface="Calibri" pitchFamily="34" charset="0"/>
                <a:ea typeface="Calibri" pitchFamily="34" charset="-122"/>
                <a:cs typeface="Calibri" pitchFamily="34" charset="-120"/>
              </a:rPr>
              <a:t>  sg. مِرْفَقٌ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حَدِيثٌ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modern</a:t>
            </a:r>
            <a:pPr indent="0" marL="0">
              <a:buNone/>
            </a:pPr>
            <a:r>
              <a:rPr lang="en-US" sz="1000" i="1" dirty="0">
                <a:solidFill>
                  <a:srgbClr val="5A6472"/>
                </a:solidFill>
                <a:latin typeface="Calibri" pitchFamily="34" charset="0"/>
                <a:ea typeface="Calibri" pitchFamily="34" charset="-122"/>
                <a:cs typeface="Calibri" pitchFamily="34" charset="-120"/>
              </a:rPr>
              <a:t>  f. حَدِيثَةٌ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Describe your school in English in three facts: type, size, one facility.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مَدْرَسَتِي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F4-L08: the Reading Detective Mission (14) and the timetable scan.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evidence notebook: three questions → key word → evidence → answer.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50–70-word school notice; read the unvowelled Text B on the website.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F4-L09 · Extended Writing: My School</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المُطَوَّلَةُ — مَدْرَسَتِي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type → question word → key word → evidence → answer only what is asked.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F4-L08 · Reading School Texts and Timetables</dc:title>
  <dc:subject>PptxGenJS Presentation</dc:subject>
  <dc:creator>Al Madina Online School · Arabic Department</dc:creator>
  <cp:lastModifiedBy>Al Madina Online School · Arabic Department</cp:lastModifiedBy>
  <cp:revision>1</cp:revision>
  <dcterms:created xsi:type="dcterms:W3CDTF">2026-09-27T19:39:57Z</dcterms:created>
  <dcterms:modified xsi:type="dcterms:W3CDTF">2026-09-27T19:39:57Z</dcterms:modified>
</cp:coreProperties>
</file>