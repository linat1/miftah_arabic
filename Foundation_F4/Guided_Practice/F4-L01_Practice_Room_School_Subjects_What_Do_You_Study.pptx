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PRACTICE ROOM AT A GLANCE — one combined lesson (speaking, then writing), 55–60 minutes: about 6 minutes in the main room, about 45 minutes in breakout rooms of two or three, about 6 minutes back together.
0–2 Welcome · 2–5 How the room works · ROOMS, Part A Speaking: Step 1 Word warm-up (5) · Step 2 Say the model dialogue (5) · Step 3 Question cards (7) · Step 4 Role-play card (7) · Step 5 Short talk (4) · Part B Writing: Step 6 Sentence builder (4) · Step 7 Spot and fix (3) · Step 8 Write your text (12) + buddy check (3) · back in the main room: Check yourself (4) · Self-check + close (2).
PURPOSE: students practise the lesson’s language ON THEIR OWN with a clear structure. The teacher visits each room (about 3 minutes per room), listens, reads one piece of writing per student and gives one live correction.
CONTENT: F4-L01 (School Subjects — What Do You Study?) — new practice tasks built on the lesson’s own word bank and grammar (adrusu / yadrusu / tadrusu + subject; uḥibbu …; li-annahu (m. subject) / li-annahā (f. subject) + adjective that agrees).
SET-UP: rooms of two or three (same-level rooms keep the routes simple). Share this deck or its PDF in the chat so every room can follow the steps. Each student writes in their own book or document.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 (1 min) — Part A is speaking, Part B is writing. The step number is always in the top-left of each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THE ROOM WORKS (3 min, main room). Model the roles quickly with two volunteers using one question from Step 3. Stress: the Coach is kind and specific. Then open the breakout rooms.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(5 min in rooms). The two word slides that follow come from the F4-L01 lesson. Teacher: visit the first room straight away to model the pace.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reference — the Leader picks the English, the Speaker gives the Arabic.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reference.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(5 min). The dialogue models today’s language in a real exchange.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3 (7 min). The starter column is support, not the answer: students finish it with their OWN information. Coach listens for the key structure of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STEP 4 (7 min). SUPPORTED: the plan column models the thinking (first words), not the full answer. Everyone is Speaker once. To a girl the Leader says: مَادَّتُكِ · تُرِيدِينَ · تُحِبِّينَهَا. Language: li-annahu for a masculine subject (al-fann, al-tārīkh), li-annahā for a feminine one (al-ʿulūm, al-riyāḍiyyāt).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5 (4 min). A short talk builds fluency and confidence.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6 (4 min). Read the English, then choose the correct part from each column (start on the RIGHT, column 1). Buddies agree before checking the answer slide. Students copy the three correct sentences into their book — they are useful for Step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6 (4 min). Read the English, then choose the correct part from each column (start on the RIGHT, column 1). Buddies agree before checking the answer slide. Students copy the three correct sentences into their book — they are useful for Step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7 (3 min). Pairs agree on each correction before the answer slide. These are the mistakes to look for in the buddy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7 (3 min). Pairs agree on each correction before the answer slide. These are the mistakes to look for in the buddy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8 support. Core: use the Core frames for every sentence. Develop: use the Develop frames only if stuck. Stretch: no frames — add a reason, a time phrase and one extra detail.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8 (10 min writing). Core: frames for every bullet (25–35 words). Develop: 40–60 words, frames only if stuck. Stretch: no frames, add reasons and another time frame. Teacher visits rooms and reads ONE sentence per student.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BUDDY CHECK (3 min). Then everyone returns to the main room.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YOURSELF (2 min, main room). Each student finds one task they answered less fully and says it again using the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(35 words). CHECK YOURSELF (2 min). Find each bullet point in the model. Then each student copies ONE phrase from the model into their own 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YEAR 7  ·  FOUNDATION F4  ·  F4-L01 · PRACTICE ROOM</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F4-L01</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650" b="1" dirty="0">
                <a:solidFill>
                  <a:srgbClr val="FFFFFF"/>
                </a:solidFill>
                <a:latin typeface="Cambria" pitchFamily="34" charset="0"/>
                <a:cs typeface="Amiri" pitchFamily="2" charset="-78"/>
              </a:rPr>
              <a:t>Practice Room — School Subjects — What Do You Study?</a:t>
            </a:r>
            <a:endParaRPr lang="en-US" sz="26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غُرْفَةُ التَّدَرُّبِ — المَوَادُّ الدِّرَاسِيَّةُ</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350" dirty="0">
                <a:solidFill>
                  <a:srgbClr val="C6D2E6"/>
                </a:solidFill>
                <a:latin typeface="Calibri" pitchFamily="34" charset="0"/>
                <a:cs typeface="Amiri" pitchFamily="2" charset="-78"/>
              </a:rPr>
              <a:t>Students run their own speaking and writing practice about school subjects: say the subject words, act a short dialogue, answer question cards, do a role-play card choosing options with a tutor, give a 30-second talk, then build, fix and write about their subjects with reasons.</a:t>
            </a:r>
            <a:endParaRPr lang="en-US" sz="135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F4-L01 · Foundation F4 · My School</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Foundation · A1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Pathways › Foundation › F4 › F4-L01</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F4-L01 · Speaking + writing practice room</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F4-L01 · practice room</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22</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F4-L01 · Speaking + writing practice room</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ROOM PLAN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00" b="1" dirty="0">
                <a:solidFill>
                  <a:srgbClr val="1B3B6F"/>
                </a:solidFill>
                <a:latin typeface="Cambria" pitchFamily="34" charset="0"/>
                <a:cs typeface="Amiri" pitchFamily="2" charset="-78"/>
              </a:rPr>
              <a:t>Speak first, then write — you run it yourselves</a:t>
            </a:r>
            <a:endParaRPr lang="en-US" sz="20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خُطُوَاتُ الغُرْفَةِ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F4-L01 · practice room</a:t>
            </a:r>
            <a:endParaRPr lang="en-US" sz="850" dirty="0"/>
          </a:p>
        </p:txBody>
      </p:sp>
      <p:sp>
        <p:nvSpPr>
          <p:cNvPr id="15" name="Shape 12"/>
          <p:cNvSpPr/>
          <p:nvPr/>
        </p:nvSpPr>
        <p:spPr>
          <a:xfrm>
            <a:off x="457200"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933042" cy="566928"/>
          </a:xfrm>
          <a:prstGeom prst="roundRect">
            <a:avLst>
              <a:gd name="adj" fmla="val 9677"/>
            </a:avLst>
          </a:prstGeom>
          <a:solidFill>
            <a:srgbClr val="2F6FB0"/>
          </a:solidFill>
          <a:ln w="12700">
            <a:solidFill>
              <a:srgbClr val="2F6FB0"/>
            </a:solidFill>
            <a:prstDash val="solid"/>
          </a:ln>
        </p:spPr>
      </p:sp>
      <p:sp>
        <p:nvSpPr>
          <p:cNvPr id="17" name="Text 14"/>
          <p:cNvSpPr txBox="1"/>
          <p:nvPr/>
        </p:nvSpPr>
        <p:spPr>
          <a:xfrm>
            <a:off x="603504"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18" name="Text 15"/>
          <p:cNvSpPr txBox="1"/>
          <p:nvPr/>
        </p:nvSpPr>
        <p:spPr>
          <a:xfrm>
            <a:off x="603504"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10 min</a:t>
            </a:r>
            <a:endParaRPr lang="en-US" sz="1000" dirty="0"/>
          </a:p>
        </p:txBody>
      </p:sp>
      <p:sp>
        <p:nvSpPr>
          <p:cNvPr id="19" name="Shape 16"/>
          <p:cNvSpPr/>
          <p:nvPr/>
        </p:nvSpPr>
        <p:spPr>
          <a:xfrm>
            <a:off x="1332281"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33228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Steps 1–2: word warm-up · say the model dialogue.</a:t>
            </a:r>
            <a:endParaRPr lang="en-US" sz="1200" dirty="0"/>
          </a:p>
        </p:txBody>
      </p:sp>
      <p:sp>
        <p:nvSpPr>
          <p:cNvPr id="22" name="Text 19"/>
          <p:cNvSpPr txBox="1"/>
          <p:nvPr/>
        </p:nvSpPr>
        <p:spPr>
          <a:xfrm>
            <a:off x="548640"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الكَلِمَاتُ وَالحِوَارُ</a:t>
            </a:r>
            <a:endParaRPr lang="ar-SA" sz="1500" dirty="0"/>
          </a:p>
        </p:txBody>
      </p:sp>
      <p:sp>
        <p:nvSpPr>
          <p:cNvPr id="23" name="Shape 20"/>
          <p:cNvSpPr/>
          <p:nvPr/>
        </p:nvSpPr>
        <p:spPr>
          <a:xfrm>
            <a:off x="273771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847442" y="1938528"/>
            <a:ext cx="1933042" cy="566928"/>
          </a:xfrm>
          <a:prstGeom prst="roundRect">
            <a:avLst>
              <a:gd name="adj" fmla="val 9677"/>
            </a:avLst>
          </a:prstGeom>
          <a:solidFill>
            <a:srgbClr val="1E6B52"/>
          </a:solidFill>
          <a:ln w="12700">
            <a:solidFill>
              <a:srgbClr val="1E6B52"/>
            </a:solidFill>
            <a:prstDash val="solid"/>
          </a:ln>
        </p:spPr>
      </p:sp>
      <p:sp>
        <p:nvSpPr>
          <p:cNvPr id="25" name="Text 22"/>
          <p:cNvSpPr txBox="1"/>
          <p:nvPr/>
        </p:nvSpPr>
        <p:spPr>
          <a:xfrm>
            <a:off x="288401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26" name="Text 23"/>
          <p:cNvSpPr txBox="1"/>
          <p:nvPr/>
        </p:nvSpPr>
        <p:spPr>
          <a:xfrm>
            <a:off x="288401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18 min</a:t>
            </a:r>
            <a:endParaRPr lang="en-US" sz="1000" dirty="0"/>
          </a:p>
        </p:txBody>
      </p:sp>
      <p:sp>
        <p:nvSpPr>
          <p:cNvPr id="27" name="Shape 24"/>
          <p:cNvSpPr/>
          <p:nvPr/>
        </p:nvSpPr>
        <p:spPr>
          <a:xfrm>
            <a:off x="3612794"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3612794"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86573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Steps 3–5: question cards · role-play card · short talk.</a:t>
            </a:r>
            <a:endParaRPr lang="en-US" sz="1200" dirty="0"/>
          </a:p>
        </p:txBody>
      </p:sp>
      <p:sp>
        <p:nvSpPr>
          <p:cNvPr id="30" name="Text 27"/>
          <p:cNvSpPr txBox="1"/>
          <p:nvPr/>
        </p:nvSpPr>
        <p:spPr>
          <a:xfrm>
            <a:off x="282915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تَكَلَّمْ</a:t>
            </a:r>
            <a:endParaRPr lang="ar-SA" sz="1500" dirty="0"/>
          </a:p>
        </p:txBody>
      </p:sp>
      <p:sp>
        <p:nvSpPr>
          <p:cNvPr id="31" name="Shape 28"/>
          <p:cNvSpPr/>
          <p:nvPr/>
        </p:nvSpPr>
        <p:spPr>
          <a:xfrm>
            <a:off x="5018227"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127955" y="1938528"/>
            <a:ext cx="1933042" cy="566928"/>
          </a:xfrm>
          <a:prstGeom prst="roundRect">
            <a:avLst>
              <a:gd name="adj" fmla="val 9677"/>
            </a:avLst>
          </a:prstGeom>
          <a:solidFill>
            <a:srgbClr val="2F6FB0"/>
          </a:solidFill>
          <a:ln w="12700">
            <a:solidFill>
              <a:srgbClr val="2F6FB0"/>
            </a:solidFill>
            <a:prstDash val="solid"/>
          </a:ln>
        </p:spPr>
      </p:sp>
      <p:sp>
        <p:nvSpPr>
          <p:cNvPr id="33" name="Text 30"/>
          <p:cNvSpPr txBox="1"/>
          <p:nvPr/>
        </p:nvSpPr>
        <p:spPr>
          <a:xfrm>
            <a:off x="5164531"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34" name="Text 31"/>
          <p:cNvSpPr txBox="1"/>
          <p:nvPr/>
        </p:nvSpPr>
        <p:spPr>
          <a:xfrm>
            <a:off x="5164531"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7 min</a:t>
            </a:r>
            <a:endParaRPr lang="en-US" sz="1000" dirty="0"/>
          </a:p>
        </p:txBody>
      </p:sp>
      <p:sp>
        <p:nvSpPr>
          <p:cNvPr id="35" name="Shape 32"/>
          <p:cNvSpPr/>
          <p:nvPr/>
        </p:nvSpPr>
        <p:spPr>
          <a:xfrm>
            <a:off x="5893308"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5146243"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Steps 6–7: sentence builder · spot and fix.</a:t>
            </a:r>
            <a:endParaRPr lang="en-US" sz="1200" dirty="0"/>
          </a:p>
        </p:txBody>
      </p:sp>
      <p:sp>
        <p:nvSpPr>
          <p:cNvPr id="38" name="Text 35"/>
          <p:cNvSpPr txBox="1"/>
          <p:nvPr/>
        </p:nvSpPr>
        <p:spPr>
          <a:xfrm>
            <a:off x="5109667"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ابْنِ وَصَحِّحْ</a:t>
            </a:r>
            <a:endParaRPr lang="ar-SA" sz="1500" dirty="0"/>
          </a:p>
        </p:txBody>
      </p:sp>
      <p:sp>
        <p:nvSpPr>
          <p:cNvPr id="39" name="Shape 36"/>
          <p:cNvSpPr/>
          <p:nvPr/>
        </p:nvSpPr>
        <p:spPr>
          <a:xfrm>
            <a:off x="7298741"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7408469" y="1938528"/>
            <a:ext cx="1933042" cy="566928"/>
          </a:xfrm>
          <a:prstGeom prst="roundRect">
            <a:avLst>
              <a:gd name="adj" fmla="val 9677"/>
            </a:avLst>
          </a:prstGeom>
          <a:solidFill>
            <a:srgbClr val="1E6B52"/>
          </a:solidFill>
          <a:ln w="12700">
            <a:solidFill>
              <a:srgbClr val="1E6B52"/>
            </a:solidFill>
            <a:prstDash val="solid"/>
          </a:ln>
        </p:spPr>
      </p:sp>
      <p:sp>
        <p:nvSpPr>
          <p:cNvPr id="41" name="Text 38"/>
          <p:cNvSpPr txBox="1"/>
          <p:nvPr/>
        </p:nvSpPr>
        <p:spPr>
          <a:xfrm>
            <a:off x="7445045"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42" name="Text 39"/>
          <p:cNvSpPr txBox="1"/>
          <p:nvPr/>
        </p:nvSpPr>
        <p:spPr>
          <a:xfrm>
            <a:off x="7445045"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15 min</a:t>
            </a:r>
            <a:endParaRPr lang="en-US" sz="1000" dirty="0"/>
          </a:p>
        </p:txBody>
      </p:sp>
      <p:sp>
        <p:nvSpPr>
          <p:cNvPr id="43" name="Shape 40"/>
          <p:cNvSpPr/>
          <p:nvPr/>
        </p:nvSpPr>
        <p:spPr>
          <a:xfrm>
            <a:off x="8173822"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8173822"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7426757"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 8: write your text · buddy check.</a:t>
            </a:r>
            <a:endParaRPr lang="en-US" sz="1200" dirty="0"/>
          </a:p>
        </p:txBody>
      </p:sp>
      <p:sp>
        <p:nvSpPr>
          <p:cNvPr id="46" name="Text 43"/>
          <p:cNvSpPr txBox="1"/>
          <p:nvPr/>
        </p:nvSpPr>
        <p:spPr>
          <a:xfrm>
            <a:off x="7390181"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اكْتُبْ</a:t>
            </a:r>
            <a:endParaRPr lang="ar-SA" sz="1500" dirty="0"/>
          </a:p>
        </p:txBody>
      </p:sp>
      <p:sp>
        <p:nvSpPr>
          <p:cNvPr id="47" name="Shape 44"/>
          <p:cNvSpPr/>
          <p:nvPr/>
        </p:nvSpPr>
        <p:spPr>
          <a:xfrm>
            <a:off x="957925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9688982" y="1938528"/>
            <a:ext cx="1933042" cy="566928"/>
          </a:xfrm>
          <a:prstGeom prst="roundRect">
            <a:avLst>
              <a:gd name="adj" fmla="val 9677"/>
            </a:avLst>
          </a:prstGeom>
          <a:solidFill>
            <a:srgbClr val="8A6D1E"/>
          </a:solidFill>
          <a:ln w="12700">
            <a:solidFill>
              <a:srgbClr val="8A6D1E"/>
            </a:solidFill>
            <a:prstDash val="solid"/>
          </a:ln>
        </p:spPr>
      </p:sp>
      <p:sp>
        <p:nvSpPr>
          <p:cNvPr id="49" name="Text 46"/>
          <p:cNvSpPr txBox="1"/>
          <p:nvPr/>
        </p:nvSpPr>
        <p:spPr>
          <a:xfrm>
            <a:off x="972555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0" name="Text 47"/>
          <p:cNvSpPr txBox="1"/>
          <p:nvPr/>
        </p:nvSpPr>
        <p:spPr>
          <a:xfrm>
            <a:off x="972555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4 min</a:t>
            </a:r>
            <a:endParaRPr lang="en-US" sz="1000" dirty="0"/>
          </a:p>
        </p:txBody>
      </p:sp>
      <p:sp>
        <p:nvSpPr>
          <p:cNvPr id="51" name="Shape 48"/>
          <p:cNvSpPr/>
          <p:nvPr/>
        </p:nvSpPr>
        <p:spPr>
          <a:xfrm>
            <a:off x="10454335"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1045433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970727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Check yourself with the models.</a:t>
            </a:r>
            <a:endParaRPr lang="en-US" sz="1200" dirty="0"/>
          </a:p>
        </p:txBody>
      </p:sp>
      <p:sp>
        <p:nvSpPr>
          <p:cNvPr id="54" name="Text 51"/>
          <p:cNvSpPr txBox="1"/>
          <p:nvPr/>
        </p:nvSpPr>
        <p:spPr>
          <a:xfrm>
            <a:off x="967069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ea typeface="Amiri" pitchFamily="2" charset="-78"/>
                <a:cs typeface="Amiri" pitchFamily="2" charset="-78"/>
              </a:rPr>
              <a:t>قَارِنْ</a:t>
            </a:r>
            <a:endParaRPr lang="ar-SA" sz="1500" dirty="0"/>
          </a:p>
        </p:txBody>
      </p:sp>
      <p:sp>
        <p:nvSpPr>
          <p:cNvPr id="55" name="Shape 52"/>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56" name="Text 53"/>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HOW THE ROOM RUNS</a:t>
            </a:r>
            <a:endParaRPr lang="en-US" sz="1000" dirty="0"/>
          </a:p>
        </p:txBody>
      </p:sp>
      <p:sp>
        <p:nvSpPr>
          <p:cNvPr id="57" name="Text 54"/>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Everybody speaks in every step and everybody writes their own text. Swap roles after each task. If you finish early, do the step again with the Stretch route.</a:t>
            </a:r>
            <a:endParaRPr lang="en-US" sz="125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22</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F4-L01 · Speaking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BEFORE THE ROOMS · HOW YOUR ROOM WORKS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00" b="1" dirty="0">
                <a:solidFill>
                  <a:srgbClr val="1B3B6F"/>
                </a:solidFill>
                <a:latin typeface="Cambria" pitchFamily="34" charset="0"/>
                <a:cs typeface="Amiri" pitchFamily="2" charset="-78"/>
              </a:rPr>
              <a:t>Three roles — then write alone, check together</a:t>
            </a:r>
            <a:endParaRPr lang="en-US" sz="20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كَيْفَ نَعْمَلُ فِي الغُرْفَةِ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F4-L01 · practice room</a:t>
            </a:r>
            <a:endParaRPr lang="en-US" sz="850" dirty="0"/>
          </a:p>
        </p:txBody>
      </p:sp>
      <p:sp>
        <p:nvSpPr>
          <p:cNvPr id="15" name="Shape 12"/>
          <p:cNvSpPr/>
          <p:nvPr/>
        </p:nvSpPr>
        <p:spPr>
          <a:xfrm>
            <a:off x="457200" y="1810512"/>
            <a:ext cx="617220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58368" y="1883664"/>
            <a:ext cx="580644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ROLES (SWAP AFTER EVERY TASK)</a:t>
            </a:r>
            <a:endParaRPr lang="en-US" sz="1000" dirty="0"/>
          </a:p>
        </p:txBody>
      </p:sp>
      <p:sp>
        <p:nvSpPr>
          <p:cNvPr id="17" name="Shape 14"/>
          <p:cNvSpPr/>
          <p:nvPr/>
        </p:nvSpPr>
        <p:spPr>
          <a:xfrm>
            <a:off x="658368" y="2286000"/>
            <a:ext cx="310896" cy="310896"/>
          </a:xfrm>
          <a:prstGeom prst="ellipse">
            <a:avLst/>
          </a:prstGeom>
          <a:solidFill>
            <a:srgbClr val="1B3B6F"/>
          </a:solidFill>
          <a:ln w="12700">
            <a:solidFill>
              <a:srgbClr val="1B3B6F"/>
            </a:solidFill>
            <a:prstDash val="solid"/>
          </a:ln>
        </p:spPr>
      </p:sp>
      <p:sp>
        <p:nvSpPr>
          <p:cNvPr id="18" name="Text 15"/>
          <p:cNvSpPr txBox="1"/>
          <p:nvPr/>
        </p:nvSpPr>
        <p:spPr>
          <a:xfrm>
            <a:off x="658368" y="2286000"/>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1</a:t>
            </a:r>
            <a:endParaRPr lang="en-US" sz="1100" dirty="0"/>
          </a:p>
        </p:txBody>
      </p:sp>
      <p:sp>
        <p:nvSpPr>
          <p:cNvPr id="19" name="Text 16"/>
          <p:cNvSpPr txBox="1"/>
          <p:nvPr/>
        </p:nvSpPr>
        <p:spPr>
          <a:xfrm>
            <a:off x="1078992" y="2176272"/>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LEADER — opens the next step, keeps the time and reads the questions.</a:t>
            </a:r>
            <a:endParaRPr lang="en-US" sz="1300" dirty="0"/>
          </a:p>
        </p:txBody>
      </p:sp>
      <p:sp>
        <p:nvSpPr>
          <p:cNvPr id="20" name="Shape 17"/>
          <p:cNvSpPr/>
          <p:nvPr/>
        </p:nvSpPr>
        <p:spPr>
          <a:xfrm>
            <a:off x="658368" y="3296412"/>
            <a:ext cx="310896" cy="310896"/>
          </a:xfrm>
          <a:prstGeom prst="ellipse">
            <a:avLst/>
          </a:prstGeom>
          <a:solidFill>
            <a:srgbClr val="1B3B6F"/>
          </a:solidFill>
          <a:ln w="12700">
            <a:solidFill>
              <a:srgbClr val="1B3B6F"/>
            </a:solidFill>
            <a:prstDash val="solid"/>
          </a:ln>
        </p:spPr>
      </p:sp>
      <p:sp>
        <p:nvSpPr>
          <p:cNvPr id="21" name="Text 18"/>
          <p:cNvSpPr txBox="1"/>
          <p:nvPr/>
        </p:nvSpPr>
        <p:spPr>
          <a:xfrm>
            <a:off x="658368" y="3296412"/>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2</a:t>
            </a:r>
            <a:endParaRPr lang="en-US" sz="1100" dirty="0"/>
          </a:p>
        </p:txBody>
      </p:sp>
      <p:sp>
        <p:nvSpPr>
          <p:cNvPr id="22" name="Text 19"/>
          <p:cNvSpPr txBox="1"/>
          <p:nvPr/>
        </p:nvSpPr>
        <p:spPr>
          <a:xfrm>
            <a:off x="1078992" y="3186684"/>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SPEAKER — answers in Arabic, in a full sentence. Think for a few seconds, then speak.</a:t>
            </a:r>
            <a:endParaRPr lang="en-US" sz="1300" dirty="0"/>
          </a:p>
        </p:txBody>
      </p:sp>
      <p:sp>
        <p:nvSpPr>
          <p:cNvPr id="23" name="Shape 20"/>
          <p:cNvSpPr/>
          <p:nvPr/>
        </p:nvSpPr>
        <p:spPr>
          <a:xfrm>
            <a:off x="658368" y="4306824"/>
            <a:ext cx="310896" cy="310896"/>
          </a:xfrm>
          <a:prstGeom prst="ellipse">
            <a:avLst/>
          </a:prstGeom>
          <a:solidFill>
            <a:srgbClr val="1B3B6F"/>
          </a:solidFill>
          <a:ln w="12700">
            <a:solidFill>
              <a:srgbClr val="1B3B6F"/>
            </a:solidFill>
            <a:prstDash val="solid"/>
          </a:ln>
        </p:spPr>
      </p:sp>
      <p:sp>
        <p:nvSpPr>
          <p:cNvPr id="24" name="Text 21"/>
          <p:cNvSpPr txBox="1"/>
          <p:nvPr/>
        </p:nvSpPr>
        <p:spPr>
          <a:xfrm>
            <a:off x="658368" y="4306824"/>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3</a:t>
            </a:r>
            <a:endParaRPr lang="en-US" sz="1100" dirty="0"/>
          </a:p>
        </p:txBody>
      </p:sp>
      <p:sp>
        <p:nvSpPr>
          <p:cNvPr id="25" name="Text 22"/>
          <p:cNvSpPr txBox="1"/>
          <p:nvPr/>
        </p:nvSpPr>
        <p:spPr>
          <a:xfrm>
            <a:off x="1078992" y="4197096"/>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COACH — listens, checks with the slide, then says one thing that went well and one thing to improve. (In a pair, the Leader is also the Coach.)</a:t>
            </a:r>
            <a:endParaRPr lang="en-US" sz="1300" dirty="0"/>
          </a:p>
        </p:txBody>
      </p:sp>
      <p:sp>
        <p:nvSpPr>
          <p:cNvPr id="26" name="Shape 23"/>
          <p:cNvSpPr/>
          <p:nvPr/>
        </p:nvSpPr>
        <p:spPr>
          <a:xfrm>
            <a:off x="658368" y="5317236"/>
            <a:ext cx="310896" cy="310896"/>
          </a:xfrm>
          <a:prstGeom prst="ellipse">
            <a:avLst/>
          </a:prstGeom>
          <a:solidFill>
            <a:srgbClr val="1B3B6F"/>
          </a:solidFill>
          <a:ln w="12700">
            <a:solidFill>
              <a:srgbClr val="1B3B6F"/>
            </a:solidFill>
            <a:prstDash val="solid"/>
          </a:ln>
        </p:spPr>
      </p:sp>
      <p:sp>
        <p:nvSpPr>
          <p:cNvPr id="27" name="Text 24"/>
          <p:cNvSpPr txBox="1"/>
          <p:nvPr/>
        </p:nvSpPr>
        <p:spPr>
          <a:xfrm>
            <a:off x="658368" y="5317236"/>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4</a:t>
            </a:r>
            <a:endParaRPr lang="en-US" sz="1100" dirty="0"/>
          </a:p>
        </p:txBody>
      </p:sp>
      <p:sp>
        <p:nvSpPr>
          <p:cNvPr id="28" name="Text 25"/>
          <p:cNvSpPr txBox="1"/>
          <p:nvPr/>
        </p:nvSpPr>
        <p:spPr>
          <a:xfrm>
            <a:off x="1078992" y="5207508"/>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WRITING (Part B): everyone writes their OWN text; then swap with a buddy and check.</a:t>
            </a:r>
            <a:endParaRPr lang="en-US" sz="1300" dirty="0"/>
          </a:p>
        </p:txBody>
      </p:sp>
      <p:sp>
        <p:nvSpPr>
          <p:cNvPr id="29" name="Shape 26"/>
          <p:cNvSpPr/>
          <p:nvPr/>
        </p:nvSpPr>
        <p:spPr>
          <a:xfrm>
            <a:off x="6812280" y="1810512"/>
            <a:ext cx="491947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995160" y="1883664"/>
            <a:ext cx="4553712" cy="274320"/>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USEFUL ROOM PHRASES</a:t>
            </a:r>
            <a:endParaRPr lang="en-US" sz="1000" dirty="0"/>
          </a:p>
        </p:txBody>
      </p:sp>
      <p:sp>
        <p:nvSpPr>
          <p:cNvPr id="31" name="Text 28"/>
          <p:cNvSpPr txBox="1"/>
          <p:nvPr/>
        </p:nvSpPr>
        <p:spPr>
          <a:xfrm>
            <a:off x="6949440" y="2194560"/>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دَوْرُكَ! / دَوْرُكِ!</a:t>
            </a:r>
            <a:endParaRPr lang="ar-SA" sz="2800" dirty="0"/>
          </a:p>
        </p:txBody>
      </p:sp>
      <p:sp>
        <p:nvSpPr>
          <p:cNvPr id="32" name="Text 29"/>
          <p:cNvSpPr txBox="1"/>
          <p:nvPr/>
        </p:nvSpPr>
        <p:spPr>
          <a:xfrm>
            <a:off x="6949440" y="2955828"/>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Your turn! (m. / f.)</a:t>
            </a:r>
            <a:endParaRPr lang="en-US" sz="1100" dirty="0"/>
          </a:p>
        </p:txBody>
      </p:sp>
      <p:sp>
        <p:nvSpPr>
          <p:cNvPr id="33" name="Shape 30"/>
          <p:cNvSpPr/>
          <p:nvPr/>
        </p:nvSpPr>
        <p:spPr>
          <a:xfrm>
            <a:off x="6995160" y="3535680"/>
            <a:ext cx="4553712" cy="0"/>
          </a:xfrm>
          <a:prstGeom prst="line">
            <a:avLst/>
          </a:prstGeom>
          <a:noFill/>
          <a:ln w="9525">
            <a:solidFill>
              <a:srgbClr val="E4DCCB"/>
            </a:solidFill>
            <a:prstDash val="dash"/>
          </a:ln>
        </p:spPr>
      </p:sp>
      <p:sp>
        <p:nvSpPr>
          <p:cNvPr id="34" name="Text 31"/>
          <p:cNvSpPr txBox="1"/>
          <p:nvPr/>
        </p:nvSpPr>
        <p:spPr>
          <a:xfrm>
            <a:off x="6949440" y="3553968"/>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عَفْوًا، أَعِدْ مِنْ فَضْلِكَ.</a:t>
            </a:r>
            <a:endParaRPr lang="ar-SA" sz="2800" dirty="0"/>
          </a:p>
        </p:txBody>
      </p:sp>
      <p:sp>
        <p:nvSpPr>
          <p:cNvPr id="35" name="Text 32"/>
          <p:cNvSpPr txBox="1"/>
          <p:nvPr/>
        </p:nvSpPr>
        <p:spPr>
          <a:xfrm>
            <a:off x="6949440" y="4315236"/>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Sorry, repeat please.</a:t>
            </a:r>
            <a:endParaRPr lang="en-US" sz="1100" dirty="0"/>
          </a:p>
        </p:txBody>
      </p:sp>
      <p:sp>
        <p:nvSpPr>
          <p:cNvPr id="36" name="Shape 33"/>
          <p:cNvSpPr/>
          <p:nvPr/>
        </p:nvSpPr>
        <p:spPr>
          <a:xfrm>
            <a:off x="6995160" y="4895088"/>
            <a:ext cx="4553712" cy="0"/>
          </a:xfrm>
          <a:prstGeom prst="line">
            <a:avLst/>
          </a:prstGeom>
          <a:noFill/>
          <a:ln w="9525">
            <a:solidFill>
              <a:srgbClr val="E4DCCB"/>
            </a:solidFill>
            <a:prstDash val="dash"/>
          </a:ln>
        </p:spPr>
      </p:sp>
      <p:sp>
        <p:nvSpPr>
          <p:cNvPr id="37" name="Text 34"/>
          <p:cNvSpPr txBox="1"/>
          <p:nvPr/>
        </p:nvSpPr>
        <p:spPr>
          <a:xfrm>
            <a:off x="6949440" y="4913376"/>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لَحْظَةً، أُفَكِّرُ …</a:t>
            </a:r>
            <a:endParaRPr lang="ar-SA" sz="2800" dirty="0"/>
          </a:p>
        </p:txBody>
      </p:sp>
      <p:sp>
        <p:nvSpPr>
          <p:cNvPr id="38" name="Text 35"/>
          <p:cNvSpPr txBox="1"/>
          <p:nvPr/>
        </p:nvSpPr>
        <p:spPr>
          <a:xfrm>
            <a:off x="6949440" y="5674644"/>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One moment, I’m thinking …</a:t>
            </a:r>
            <a:endParaRPr lang="en-US" sz="11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22</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F4-L01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PART A · STEP 1 · WORD WARM-UP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Say it — then use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قُلْهَا وَاسْتَعْمِلْهَا</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F4-L01 · practice room</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STEP 1 · IN YOUR ROOM</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2200" b="1" dirty="0">
                <a:solidFill>
                  <a:srgbClr val="1B3B6F"/>
                </a:solidFill>
                <a:latin typeface="Calibri" pitchFamily="34" charset="0"/>
                <a:cs typeface="Amiri" pitchFamily="2" charset="-78"/>
              </a:rPr>
              <a:t>🔤  Word ping-pong</a:t>
            </a:r>
            <a:endParaRPr lang="en-US" sz="22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The Leader says a word in ENGLISH from the next two slides. The Speaker says it in ARABIC. The Coach checks the Arabic (and the ending) on the slide.</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Leader: say 4 English words; Speaker answers in Arabic.</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Coach checks the word on the slide.</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Swap roles — new words each time.</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Last round: use each word in a short sentence.</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Say the Arabic word clearly.</a:t>
            </a:r>
            <a:endParaRPr lang="en-US" sz="11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Say the word, then a short sentence: </a:t>
            </a:r>
            <a:pPr algn="l" indent="0" marL="0">
              <a:buNone/>
            </a:pPr>
            <a:r>
              <a:rPr lang="ar-SA" altLang="en-US" sz="1500" dirty="0">
                <a:solidFill>
                  <a:srgbClr val="1F2A37"/>
                </a:solidFill>
                <a:latin typeface="Amiri" pitchFamily="2" charset="-78"/>
                <a:ea typeface="Amiri" pitchFamily="2" charset="-78"/>
                <a:cs typeface="Amiri" pitchFamily="2" charset="-78"/>
              </a:rPr>
              <a:t>أَنَا … / عِنْدِي … / هٰذَا</a:t>
            </a:r>
            <a:pPr algn="l" indent="0" marL="0">
              <a:buNone/>
            </a:pPr>
            <a:r>
              <a:rPr lang="en-US" sz="1150" dirty="0">
                <a:solidFill>
                  <a:srgbClr val="1F2A37"/>
                </a:solidFill>
                <a:latin typeface="Calibri" pitchFamily="34" charset="0"/>
                <a:cs typeface="Amiri" pitchFamily="2" charset="-78"/>
              </a:rPr>
              <a:t> …</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Give the feminine or plural form too, then a sentence with two words.</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دَوْرُكَ! / دَوْرُكِ!</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your turn! (m. / f.)</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أَعِدْ مِنْ فَضْلِكَ / أَعِيدِي</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repeat please (m. / f.)</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أَحْسَنْتَ! / أَحْسَنْتِ!</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well done! (m. / f.)</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بِبُطْءٍ مِنْ فَضْلِكَ</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slowly, please</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22</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F4-L01 · Speaking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1 · WORD BANK (1) · FROM THE LESSON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School subjects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F4-L01 · practice room</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8604504" y="1938528"/>
            <a:ext cx="704088"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f.</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اللُّغَةُ العَرَبِيَّةُ</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Arabic</a:t>
            </a:r>
            <a:endParaRPr lang="en-US" sz="1350" dirty="0"/>
          </a:p>
          <a:p>
            <a:pPr indent="0" marL="0">
              <a:buNone/>
            </a:pPr>
            <a:r>
              <a:rPr lang="en-US" sz="1100" i="1" dirty="0">
                <a:solidFill>
                  <a:srgbClr val="5A6472"/>
                </a:solidFill>
                <a:latin typeface="Calibri" pitchFamily="34" charset="0"/>
                <a:cs typeface="Amiri" pitchFamily="2" charset="-78"/>
              </a:rPr>
              <a:t>al-lugha al-‘arabiyya</a:t>
            </a:r>
            <a:endParaRPr lang="en-US" sz="1350" dirty="0"/>
          </a:p>
        </p:txBody>
      </p:sp>
      <p:sp>
        <p:nvSpPr>
          <p:cNvPr id="24" name="Shape 21"/>
          <p:cNvSpPr/>
          <p:nvPr/>
        </p:nvSpPr>
        <p:spPr>
          <a:xfrm>
            <a:off x="8238744" y="3438144"/>
            <a:ext cx="3364992"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8293608" y="3447288"/>
            <a:ext cx="3255264"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because</a:t>
            </a:r>
            <a:endParaRPr lang="en-US" sz="700" dirty="0"/>
          </a:p>
        </p:txBody>
      </p:sp>
      <p:sp>
        <p:nvSpPr>
          <p:cNvPr id="26" name="Text 23"/>
          <p:cNvSpPr txBox="1"/>
          <p:nvPr/>
        </p:nvSpPr>
        <p:spPr>
          <a:xfrm>
            <a:off x="8284464" y="3575304"/>
            <a:ext cx="3273552"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لِأَنَّهَا …</a:t>
            </a:r>
            <a:endParaRPr lang="ar-SA" sz="1350" dirty="0"/>
          </a:p>
        </p:txBody>
      </p:sp>
      <p:sp>
        <p:nvSpPr>
          <p:cNvPr id="27" name="Shape 24"/>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5"/>
          <p:cNvSpPr/>
          <p:nvPr/>
        </p:nvSpPr>
        <p:spPr>
          <a:xfrm>
            <a:off x="4389120" y="1920240"/>
            <a:ext cx="310896" cy="310896"/>
          </a:xfrm>
          <a:prstGeom prst="ellipse">
            <a:avLst/>
          </a:prstGeom>
          <a:solidFill>
            <a:srgbClr val="F4F1EA"/>
          </a:solidFill>
          <a:ln w="12700">
            <a:solidFill>
              <a:srgbClr val="F4F1EA"/>
            </a:solidFill>
            <a:prstDash val="solid"/>
          </a:ln>
        </p:spPr>
      </p:sp>
      <p:sp>
        <p:nvSpPr>
          <p:cNvPr id="29" name="Text 26"/>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30" name="Shape 27"/>
          <p:cNvSpPr/>
          <p:nvPr/>
        </p:nvSpPr>
        <p:spPr>
          <a:xfrm>
            <a:off x="4782312" y="1938528"/>
            <a:ext cx="704088" cy="256032"/>
          </a:xfrm>
          <a:prstGeom prst="roundRect">
            <a:avLst>
              <a:gd name="adj" fmla="val 50000"/>
            </a:avLst>
          </a:prstGeom>
          <a:solidFill>
            <a:srgbClr val="EFE7D2"/>
          </a:solidFill>
          <a:ln w="12700">
            <a:solidFill>
              <a:srgbClr val="EFE7D2"/>
            </a:solidFill>
            <a:prstDash val="solid"/>
          </a:ln>
        </p:spPr>
      </p:sp>
      <p:sp>
        <p:nvSpPr>
          <p:cNvPr id="31" name="Text 28"/>
          <p:cNvSpPr txBox="1"/>
          <p:nvPr/>
        </p:nvSpPr>
        <p:spPr>
          <a:xfrm>
            <a:off x="4782312"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f.</a:t>
            </a:r>
            <a:endParaRPr lang="en-US" sz="800" dirty="0"/>
          </a:p>
        </p:txBody>
      </p:sp>
      <p:sp>
        <p:nvSpPr>
          <p:cNvPr id="32" name="Shape 29"/>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4" name="Text 31"/>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الرِّيَاضِيَّاتُ</a:t>
            </a:r>
            <a:endParaRPr lang="ar-SA" sz="3000" dirty="0"/>
          </a:p>
        </p:txBody>
      </p:sp>
      <p:sp>
        <p:nvSpPr>
          <p:cNvPr id="35" name="Text 32"/>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mathematics</a:t>
            </a:r>
            <a:endParaRPr lang="en-US" sz="1350" dirty="0"/>
          </a:p>
          <a:p>
            <a:pPr indent="0" marL="0">
              <a:buNone/>
            </a:pPr>
            <a:r>
              <a:rPr lang="en-US" sz="1100" i="1" dirty="0">
                <a:solidFill>
                  <a:srgbClr val="5A6472"/>
                </a:solidFill>
                <a:latin typeface="Calibri" pitchFamily="34" charset="0"/>
                <a:cs typeface="Amiri" pitchFamily="2" charset="-78"/>
              </a:rPr>
              <a:t>ar-ri-yā-ḍiy-yāt</a:t>
            </a:r>
            <a:endParaRPr lang="en-US" sz="1350" dirty="0"/>
          </a:p>
        </p:txBody>
      </p:sp>
      <p:sp>
        <p:nvSpPr>
          <p:cNvPr id="36" name="Shape 33"/>
          <p:cNvSpPr/>
          <p:nvPr/>
        </p:nvSpPr>
        <p:spPr>
          <a:xfrm>
            <a:off x="4416552" y="3438144"/>
            <a:ext cx="3364992" cy="438912"/>
          </a:xfrm>
          <a:prstGeom prst="roundRect">
            <a:avLst>
              <a:gd name="adj" fmla="val 10417"/>
            </a:avLst>
          </a:prstGeom>
          <a:solidFill>
            <a:srgbClr val="F4F1EA"/>
          </a:solidFill>
          <a:ln w="9525">
            <a:solidFill>
              <a:srgbClr val="F4F1EA"/>
            </a:solidFill>
            <a:prstDash val="solid"/>
          </a:ln>
        </p:spPr>
      </p:sp>
      <p:sp>
        <p:nvSpPr>
          <p:cNvPr id="37" name="Text 34"/>
          <p:cNvSpPr txBox="1"/>
          <p:nvPr/>
        </p:nvSpPr>
        <p:spPr>
          <a:xfrm>
            <a:off x="4471416" y="3447288"/>
            <a:ext cx="3255264"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because</a:t>
            </a:r>
            <a:endParaRPr lang="en-US" sz="700" dirty="0"/>
          </a:p>
        </p:txBody>
      </p:sp>
      <p:sp>
        <p:nvSpPr>
          <p:cNvPr id="38" name="Text 35"/>
          <p:cNvSpPr txBox="1"/>
          <p:nvPr/>
        </p:nvSpPr>
        <p:spPr>
          <a:xfrm>
            <a:off x="4462272" y="3575304"/>
            <a:ext cx="3273552"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لِأَنَّهَا …</a:t>
            </a:r>
            <a:endParaRPr lang="ar-SA" sz="1350" dirty="0"/>
          </a:p>
        </p:txBody>
      </p:sp>
      <p:sp>
        <p:nvSpPr>
          <p:cNvPr id="39" name="Shape 3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66928" y="1920240"/>
            <a:ext cx="310896" cy="310896"/>
          </a:xfrm>
          <a:prstGeom prst="ellipse">
            <a:avLst/>
          </a:prstGeom>
          <a:solidFill>
            <a:srgbClr val="F4F1EA"/>
          </a:solidFill>
          <a:ln w="12700">
            <a:solidFill>
              <a:srgbClr val="F4F1EA"/>
            </a:solidFill>
            <a:prstDash val="solid"/>
          </a:ln>
        </p:spPr>
      </p:sp>
      <p:sp>
        <p:nvSpPr>
          <p:cNvPr id="41" name="Text 3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42" name="Shape 39"/>
          <p:cNvSpPr/>
          <p:nvPr/>
        </p:nvSpPr>
        <p:spPr>
          <a:xfrm>
            <a:off x="960120" y="1938528"/>
            <a:ext cx="704088" cy="256032"/>
          </a:xfrm>
          <a:prstGeom prst="roundRect">
            <a:avLst>
              <a:gd name="adj" fmla="val 50000"/>
            </a:avLst>
          </a:prstGeom>
          <a:solidFill>
            <a:srgbClr val="EFE7D2"/>
          </a:solidFill>
          <a:ln w="12700">
            <a:solidFill>
              <a:srgbClr val="EFE7D2"/>
            </a:solidFill>
            <a:prstDash val="solid"/>
          </a:ln>
        </p:spPr>
      </p:sp>
      <p:sp>
        <p:nvSpPr>
          <p:cNvPr id="43" name="Text 40"/>
          <p:cNvSpPr txBox="1"/>
          <p:nvPr/>
        </p:nvSpPr>
        <p:spPr>
          <a:xfrm>
            <a:off x="960120"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f.</a:t>
            </a:r>
            <a:endParaRPr lang="en-US" sz="800" dirty="0"/>
          </a:p>
        </p:txBody>
      </p:sp>
      <p:sp>
        <p:nvSpPr>
          <p:cNvPr id="44" name="Shape 41"/>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45" name="Text 42"/>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6" name="Text 43"/>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العُلُومُ</a:t>
            </a:r>
            <a:endParaRPr lang="ar-SA" sz="3000" dirty="0"/>
          </a:p>
        </p:txBody>
      </p:sp>
      <p:sp>
        <p:nvSpPr>
          <p:cNvPr id="47" name="Text 44"/>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science</a:t>
            </a:r>
            <a:endParaRPr lang="en-US" sz="1350" dirty="0"/>
          </a:p>
          <a:p>
            <a:pPr indent="0" marL="0">
              <a:buNone/>
            </a:pPr>
            <a:r>
              <a:rPr lang="en-US" sz="1100" i="1" dirty="0">
                <a:solidFill>
                  <a:srgbClr val="5A6472"/>
                </a:solidFill>
                <a:latin typeface="Calibri" pitchFamily="34" charset="0"/>
                <a:cs typeface="Amiri" pitchFamily="2" charset="-78"/>
              </a:rPr>
              <a:t>al-‘u-lūm</a:t>
            </a:r>
            <a:endParaRPr lang="en-US" sz="1350" dirty="0"/>
          </a:p>
        </p:txBody>
      </p:sp>
      <p:sp>
        <p:nvSpPr>
          <p:cNvPr id="48" name="Shape 45"/>
          <p:cNvSpPr/>
          <p:nvPr/>
        </p:nvSpPr>
        <p:spPr>
          <a:xfrm>
            <a:off x="594360" y="3438144"/>
            <a:ext cx="3364992" cy="438912"/>
          </a:xfrm>
          <a:prstGeom prst="roundRect">
            <a:avLst>
              <a:gd name="adj" fmla="val 10417"/>
            </a:avLst>
          </a:prstGeom>
          <a:solidFill>
            <a:srgbClr val="F4F1EA"/>
          </a:solidFill>
          <a:ln w="9525">
            <a:solidFill>
              <a:srgbClr val="F4F1EA"/>
            </a:solidFill>
            <a:prstDash val="solid"/>
          </a:ln>
        </p:spPr>
      </p:sp>
      <p:sp>
        <p:nvSpPr>
          <p:cNvPr id="49" name="Text 46"/>
          <p:cNvSpPr txBox="1"/>
          <p:nvPr/>
        </p:nvSpPr>
        <p:spPr>
          <a:xfrm>
            <a:off x="649224" y="3447288"/>
            <a:ext cx="3255264"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because</a:t>
            </a:r>
            <a:endParaRPr lang="en-US" sz="700" dirty="0"/>
          </a:p>
        </p:txBody>
      </p:sp>
      <p:sp>
        <p:nvSpPr>
          <p:cNvPr id="50" name="Text 47"/>
          <p:cNvSpPr txBox="1"/>
          <p:nvPr/>
        </p:nvSpPr>
        <p:spPr>
          <a:xfrm>
            <a:off x="640080" y="3575304"/>
            <a:ext cx="3273552"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لِأَنَّهَا …</a:t>
            </a:r>
            <a:endParaRPr lang="ar-SA" sz="1350" dirty="0"/>
          </a:p>
        </p:txBody>
      </p:sp>
      <p:sp>
        <p:nvSpPr>
          <p:cNvPr id="51" name="Shape 48"/>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2" name="Shape 49"/>
          <p:cNvSpPr/>
          <p:nvPr/>
        </p:nvSpPr>
        <p:spPr>
          <a:xfrm>
            <a:off x="8211312" y="4261104"/>
            <a:ext cx="310896" cy="310896"/>
          </a:xfrm>
          <a:prstGeom prst="ellipse">
            <a:avLst/>
          </a:prstGeom>
          <a:solidFill>
            <a:srgbClr val="F4F1EA"/>
          </a:solidFill>
          <a:ln w="12700">
            <a:solidFill>
              <a:srgbClr val="F4F1EA"/>
            </a:solidFill>
            <a:prstDash val="solid"/>
          </a:ln>
        </p:spPr>
      </p:sp>
      <p:sp>
        <p:nvSpPr>
          <p:cNvPr id="53" name="Text 50"/>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54" name="Shape 51"/>
          <p:cNvSpPr/>
          <p:nvPr/>
        </p:nvSpPr>
        <p:spPr>
          <a:xfrm>
            <a:off x="8604504" y="4279392"/>
            <a:ext cx="704088" cy="256032"/>
          </a:xfrm>
          <a:prstGeom prst="roundRect">
            <a:avLst>
              <a:gd name="adj" fmla="val 50000"/>
            </a:avLst>
          </a:prstGeom>
          <a:solidFill>
            <a:srgbClr val="EFE7D2"/>
          </a:solidFill>
          <a:ln w="12700">
            <a:solidFill>
              <a:srgbClr val="EFE7D2"/>
            </a:solidFill>
            <a:prstDash val="solid"/>
          </a:ln>
        </p:spPr>
      </p:sp>
      <p:sp>
        <p:nvSpPr>
          <p:cNvPr id="55" name="Text 52"/>
          <p:cNvSpPr txBox="1"/>
          <p:nvPr/>
        </p:nvSpPr>
        <p:spPr>
          <a:xfrm>
            <a:off x="8604504" y="4279392"/>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f.</a:t>
            </a:r>
            <a:endParaRPr lang="en-US" sz="800" dirty="0"/>
          </a:p>
        </p:txBody>
      </p:sp>
      <p:sp>
        <p:nvSpPr>
          <p:cNvPr id="56" name="Shape 53"/>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57" name="Text 54"/>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8" name="Text 55"/>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الجُغْرَافِيَا</a:t>
            </a:r>
            <a:endParaRPr lang="ar-SA" sz="3000" dirty="0"/>
          </a:p>
        </p:txBody>
      </p:sp>
      <p:sp>
        <p:nvSpPr>
          <p:cNvPr id="59" name="Text 56"/>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geography</a:t>
            </a:r>
            <a:endParaRPr lang="en-US" sz="1350" dirty="0"/>
          </a:p>
          <a:p>
            <a:pPr indent="0" marL="0">
              <a:buNone/>
            </a:pPr>
            <a:r>
              <a:rPr lang="en-US" sz="1100" i="1" dirty="0">
                <a:solidFill>
                  <a:srgbClr val="5A6472"/>
                </a:solidFill>
                <a:latin typeface="Calibri" pitchFamily="34" charset="0"/>
                <a:cs typeface="Amiri" pitchFamily="2" charset="-78"/>
              </a:rPr>
              <a:t>al-jugh-rā-fi-yā</a:t>
            </a:r>
            <a:endParaRPr lang="en-US" sz="1350" dirty="0"/>
          </a:p>
        </p:txBody>
      </p:sp>
      <p:sp>
        <p:nvSpPr>
          <p:cNvPr id="60" name="Shape 57"/>
          <p:cNvSpPr/>
          <p:nvPr/>
        </p:nvSpPr>
        <p:spPr>
          <a:xfrm>
            <a:off x="8238744" y="5779008"/>
            <a:ext cx="3364992" cy="438912"/>
          </a:xfrm>
          <a:prstGeom prst="roundRect">
            <a:avLst>
              <a:gd name="adj" fmla="val 10417"/>
            </a:avLst>
          </a:prstGeom>
          <a:solidFill>
            <a:srgbClr val="F4F1EA"/>
          </a:solidFill>
          <a:ln w="9525">
            <a:solidFill>
              <a:srgbClr val="F4F1EA"/>
            </a:solidFill>
            <a:prstDash val="solid"/>
          </a:ln>
        </p:spPr>
      </p:sp>
      <p:sp>
        <p:nvSpPr>
          <p:cNvPr id="61" name="Text 58"/>
          <p:cNvSpPr txBox="1"/>
          <p:nvPr/>
        </p:nvSpPr>
        <p:spPr>
          <a:xfrm>
            <a:off x="8293608" y="5788152"/>
            <a:ext cx="3255264"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because</a:t>
            </a:r>
            <a:endParaRPr lang="en-US" sz="700" dirty="0"/>
          </a:p>
        </p:txBody>
      </p:sp>
      <p:sp>
        <p:nvSpPr>
          <p:cNvPr id="62" name="Text 59"/>
          <p:cNvSpPr txBox="1"/>
          <p:nvPr/>
        </p:nvSpPr>
        <p:spPr>
          <a:xfrm>
            <a:off x="8284464" y="5916168"/>
            <a:ext cx="3273552"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لِأَنَّهَا …</a:t>
            </a:r>
            <a:endParaRPr lang="ar-SA" sz="1350" dirty="0"/>
          </a:p>
        </p:txBody>
      </p:sp>
      <p:sp>
        <p:nvSpPr>
          <p:cNvPr id="63" name="Shape 60"/>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4389120" y="4261104"/>
            <a:ext cx="310896" cy="310896"/>
          </a:xfrm>
          <a:prstGeom prst="ellipse">
            <a:avLst/>
          </a:prstGeom>
          <a:solidFill>
            <a:srgbClr val="F4F1EA"/>
          </a:solidFill>
          <a:ln w="12700">
            <a:solidFill>
              <a:srgbClr val="F4F1EA"/>
            </a:solidFill>
            <a:prstDash val="solid"/>
          </a:ln>
        </p:spPr>
      </p:sp>
      <p:sp>
        <p:nvSpPr>
          <p:cNvPr id="65" name="Text 62"/>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66" name="Shape 63"/>
          <p:cNvSpPr/>
          <p:nvPr/>
        </p:nvSpPr>
        <p:spPr>
          <a:xfrm>
            <a:off x="4782312" y="4279392"/>
            <a:ext cx="704088" cy="256032"/>
          </a:xfrm>
          <a:prstGeom prst="roundRect">
            <a:avLst>
              <a:gd name="adj" fmla="val 50000"/>
            </a:avLst>
          </a:prstGeom>
          <a:solidFill>
            <a:srgbClr val="EFE7D2"/>
          </a:solidFill>
          <a:ln w="12700">
            <a:solidFill>
              <a:srgbClr val="EFE7D2"/>
            </a:solidFill>
            <a:prstDash val="solid"/>
          </a:ln>
        </p:spPr>
      </p:sp>
      <p:sp>
        <p:nvSpPr>
          <p:cNvPr id="67" name="Text 64"/>
          <p:cNvSpPr txBox="1"/>
          <p:nvPr/>
        </p:nvSpPr>
        <p:spPr>
          <a:xfrm>
            <a:off x="4782312" y="4279392"/>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a:t>
            </a:r>
            <a:endParaRPr lang="en-US" sz="800" dirty="0"/>
          </a:p>
        </p:txBody>
      </p:sp>
      <p:sp>
        <p:nvSpPr>
          <p:cNvPr id="68" name="Shape 65"/>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69" name="Text 66"/>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70" name="Text 67"/>
          <p:cNvSpPr txBox="1"/>
          <p:nvPr/>
        </p:nvSpPr>
        <p:spPr>
          <a:xfrm>
            <a:off x="4389120"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الفَنُّ</a:t>
            </a:r>
            <a:endParaRPr lang="ar-SA" sz="3000" dirty="0"/>
          </a:p>
        </p:txBody>
      </p:sp>
      <p:sp>
        <p:nvSpPr>
          <p:cNvPr id="71" name="Text 68"/>
          <p:cNvSpPr txBox="1"/>
          <p:nvPr/>
        </p:nvSpPr>
        <p:spPr>
          <a:xfrm>
            <a:off x="4416552"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art</a:t>
            </a:r>
            <a:endParaRPr lang="en-US" sz="1350" dirty="0"/>
          </a:p>
          <a:p>
            <a:pPr indent="0" marL="0">
              <a:buNone/>
            </a:pPr>
            <a:r>
              <a:rPr lang="en-US" sz="1100" i="1" dirty="0">
                <a:solidFill>
                  <a:srgbClr val="5A6472"/>
                </a:solidFill>
                <a:latin typeface="Calibri" pitchFamily="34" charset="0"/>
                <a:cs typeface="Amiri" pitchFamily="2" charset="-78"/>
              </a:rPr>
              <a:t>al-fann</a:t>
            </a:r>
            <a:endParaRPr lang="en-US" sz="1350" dirty="0"/>
          </a:p>
        </p:txBody>
      </p:sp>
      <p:sp>
        <p:nvSpPr>
          <p:cNvPr id="72" name="Shape 69"/>
          <p:cNvSpPr/>
          <p:nvPr/>
        </p:nvSpPr>
        <p:spPr>
          <a:xfrm>
            <a:off x="4416552" y="5779008"/>
            <a:ext cx="3364992" cy="438912"/>
          </a:xfrm>
          <a:prstGeom prst="roundRect">
            <a:avLst>
              <a:gd name="adj" fmla="val 10417"/>
            </a:avLst>
          </a:prstGeom>
          <a:solidFill>
            <a:srgbClr val="F4F1EA"/>
          </a:solidFill>
          <a:ln w="9525">
            <a:solidFill>
              <a:srgbClr val="F4F1EA"/>
            </a:solidFill>
            <a:prstDash val="solid"/>
          </a:ln>
        </p:spPr>
      </p:sp>
      <p:sp>
        <p:nvSpPr>
          <p:cNvPr id="73" name="Text 70"/>
          <p:cNvSpPr txBox="1"/>
          <p:nvPr/>
        </p:nvSpPr>
        <p:spPr>
          <a:xfrm>
            <a:off x="4471416" y="5788152"/>
            <a:ext cx="3255264"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because</a:t>
            </a:r>
            <a:endParaRPr lang="en-US" sz="700" dirty="0"/>
          </a:p>
        </p:txBody>
      </p:sp>
      <p:sp>
        <p:nvSpPr>
          <p:cNvPr id="74" name="Text 71"/>
          <p:cNvSpPr txBox="1"/>
          <p:nvPr/>
        </p:nvSpPr>
        <p:spPr>
          <a:xfrm>
            <a:off x="4462272" y="5916168"/>
            <a:ext cx="3273552"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لِأَنَّهُ …</a:t>
            </a:r>
            <a:endParaRPr lang="ar-SA" sz="1350" dirty="0"/>
          </a:p>
        </p:txBody>
      </p:sp>
      <p:sp>
        <p:nvSpPr>
          <p:cNvPr id="75" name="Shape 72"/>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566928" y="4261104"/>
            <a:ext cx="310896" cy="310896"/>
          </a:xfrm>
          <a:prstGeom prst="ellipse">
            <a:avLst/>
          </a:prstGeom>
          <a:solidFill>
            <a:srgbClr val="F4F1EA"/>
          </a:solidFill>
          <a:ln w="12700">
            <a:solidFill>
              <a:srgbClr val="F4F1EA"/>
            </a:solidFill>
            <a:prstDash val="solid"/>
          </a:ln>
        </p:spPr>
      </p:sp>
      <p:sp>
        <p:nvSpPr>
          <p:cNvPr id="77" name="Text 74"/>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78" name="Shape 75"/>
          <p:cNvSpPr/>
          <p:nvPr/>
        </p:nvSpPr>
        <p:spPr>
          <a:xfrm>
            <a:off x="960120" y="4279392"/>
            <a:ext cx="704088" cy="256032"/>
          </a:xfrm>
          <a:prstGeom prst="roundRect">
            <a:avLst>
              <a:gd name="adj" fmla="val 50000"/>
            </a:avLst>
          </a:prstGeom>
          <a:solidFill>
            <a:srgbClr val="EFE7D2"/>
          </a:solidFill>
          <a:ln w="12700">
            <a:solidFill>
              <a:srgbClr val="EFE7D2"/>
            </a:solidFill>
            <a:prstDash val="solid"/>
          </a:ln>
        </p:spPr>
      </p:sp>
      <p:sp>
        <p:nvSpPr>
          <p:cNvPr id="79" name="Text 76"/>
          <p:cNvSpPr txBox="1"/>
          <p:nvPr/>
        </p:nvSpPr>
        <p:spPr>
          <a:xfrm>
            <a:off x="960120" y="4279392"/>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f.</a:t>
            </a:r>
            <a:endParaRPr lang="en-US" sz="800" dirty="0"/>
          </a:p>
        </p:txBody>
      </p:sp>
      <p:sp>
        <p:nvSpPr>
          <p:cNvPr id="80" name="Text 77"/>
          <p:cNvSpPr txBox="1"/>
          <p:nvPr/>
        </p:nvSpPr>
        <p:spPr>
          <a:xfrm>
            <a:off x="566928"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التَّرْبِيَةُ البَدَنِيَّةُ</a:t>
            </a:r>
            <a:endParaRPr lang="ar-SA" sz="3000" dirty="0"/>
          </a:p>
        </p:txBody>
      </p:sp>
      <p:sp>
        <p:nvSpPr>
          <p:cNvPr id="81" name="Text 78"/>
          <p:cNvSpPr txBox="1"/>
          <p:nvPr/>
        </p:nvSpPr>
        <p:spPr>
          <a:xfrm>
            <a:off x="594360"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PE</a:t>
            </a:r>
            <a:endParaRPr lang="en-US" sz="1350" dirty="0"/>
          </a:p>
          <a:p>
            <a:pPr indent="0" marL="0">
              <a:buNone/>
            </a:pPr>
            <a:r>
              <a:rPr lang="en-US" sz="1100" i="1" dirty="0">
                <a:solidFill>
                  <a:srgbClr val="5A6472"/>
                </a:solidFill>
                <a:latin typeface="Calibri" pitchFamily="34" charset="0"/>
                <a:cs typeface="Amiri" pitchFamily="2" charset="-78"/>
              </a:rPr>
              <a:t>at-tar-bi-ya al-ba-da-niy-ya</a:t>
            </a:r>
            <a:endParaRPr lang="en-US" sz="1350" dirty="0"/>
          </a:p>
        </p:txBody>
      </p:sp>
      <p:sp>
        <p:nvSpPr>
          <p:cNvPr id="82" name="Shape 79"/>
          <p:cNvSpPr/>
          <p:nvPr/>
        </p:nvSpPr>
        <p:spPr>
          <a:xfrm>
            <a:off x="594360" y="5779008"/>
            <a:ext cx="3364992" cy="438912"/>
          </a:xfrm>
          <a:prstGeom prst="roundRect">
            <a:avLst>
              <a:gd name="adj" fmla="val 10417"/>
            </a:avLst>
          </a:prstGeom>
          <a:solidFill>
            <a:srgbClr val="F4F1EA"/>
          </a:solidFill>
          <a:ln w="9525">
            <a:solidFill>
              <a:srgbClr val="F4F1EA"/>
            </a:solidFill>
            <a:prstDash val="solid"/>
          </a:ln>
        </p:spPr>
      </p:sp>
      <p:sp>
        <p:nvSpPr>
          <p:cNvPr id="83" name="Text 80"/>
          <p:cNvSpPr txBox="1"/>
          <p:nvPr/>
        </p:nvSpPr>
        <p:spPr>
          <a:xfrm>
            <a:off x="649224" y="5788152"/>
            <a:ext cx="3255264"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because</a:t>
            </a:r>
            <a:endParaRPr lang="en-US" sz="700" dirty="0"/>
          </a:p>
        </p:txBody>
      </p:sp>
      <p:sp>
        <p:nvSpPr>
          <p:cNvPr id="84" name="Text 81"/>
          <p:cNvSpPr txBox="1"/>
          <p:nvPr/>
        </p:nvSpPr>
        <p:spPr>
          <a:xfrm>
            <a:off x="640080" y="5916168"/>
            <a:ext cx="3273552"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لِأَنَّهَا …</a:t>
            </a:r>
            <a:endParaRPr lang="ar-SA" sz="135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22</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F4-L01 · Speaking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1 · WORD BANK (2) · FROM THE LESSON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Describing subjects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F4-L01 · practice room</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7</a:t>
            </a:r>
            <a:endParaRPr lang="en-US" sz="1000" dirty="0"/>
          </a:p>
        </p:txBody>
      </p:sp>
      <p:sp>
        <p:nvSpPr>
          <p:cNvPr id="18" name="Shape 15"/>
          <p:cNvSpPr/>
          <p:nvPr/>
        </p:nvSpPr>
        <p:spPr>
          <a:xfrm>
            <a:off x="8604504" y="1938528"/>
            <a:ext cx="704088"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a:t>
            </a:r>
            <a:endParaRPr lang="en-US" sz="800" dirty="0"/>
          </a:p>
        </p:txBody>
      </p:sp>
      <p:sp>
        <p:nvSpPr>
          <p:cNvPr id="20" name="Text 17"/>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عِلْمُ الحَاسُوبِ</a:t>
            </a:r>
            <a:endParaRPr lang="ar-SA" sz="3000" dirty="0"/>
          </a:p>
        </p:txBody>
      </p:sp>
      <p:sp>
        <p:nvSpPr>
          <p:cNvPr id="21" name="Text 18"/>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computer science</a:t>
            </a:r>
            <a:endParaRPr lang="en-US" sz="1350" dirty="0"/>
          </a:p>
          <a:p>
            <a:pPr indent="0" marL="0">
              <a:buNone/>
            </a:pPr>
            <a:r>
              <a:rPr lang="en-US" sz="1100" i="1" dirty="0">
                <a:solidFill>
                  <a:srgbClr val="5A6472"/>
                </a:solidFill>
                <a:latin typeface="Calibri" pitchFamily="34" charset="0"/>
                <a:cs typeface="Amiri" pitchFamily="2" charset="-78"/>
              </a:rPr>
              <a:t>‘ilm al-ḥā-sūb</a:t>
            </a:r>
            <a:endParaRPr lang="en-US" sz="1350" dirty="0"/>
          </a:p>
        </p:txBody>
      </p:sp>
      <p:sp>
        <p:nvSpPr>
          <p:cNvPr id="22" name="Shape 19"/>
          <p:cNvSpPr/>
          <p:nvPr/>
        </p:nvSpPr>
        <p:spPr>
          <a:xfrm>
            <a:off x="8238744" y="3438144"/>
            <a:ext cx="3364992" cy="438912"/>
          </a:xfrm>
          <a:prstGeom prst="roundRect">
            <a:avLst>
              <a:gd name="adj" fmla="val 10417"/>
            </a:avLst>
          </a:prstGeom>
          <a:solidFill>
            <a:srgbClr val="F4F1EA"/>
          </a:solidFill>
          <a:ln w="9525">
            <a:solidFill>
              <a:srgbClr val="F4F1EA"/>
            </a:solidFill>
            <a:prstDash val="solid"/>
          </a:ln>
        </p:spPr>
      </p:sp>
      <p:sp>
        <p:nvSpPr>
          <p:cNvPr id="23" name="Text 20"/>
          <p:cNvSpPr txBox="1"/>
          <p:nvPr/>
        </p:nvSpPr>
        <p:spPr>
          <a:xfrm>
            <a:off x="8293608" y="3447288"/>
            <a:ext cx="3255264"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because</a:t>
            </a:r>
            <a:endParaRPr lang="en-US" sz="700" dirty="0"/>
          </a:p>
        </p:txBody>
      </p:sp>
      <p:sp>
        <p:nvSpPr>
          <p:cNvPr id="24" name="Text 21"/>
          <p:cNvSpPr txBox="1"/>
          <p:nvPr/>
        </p:nvSpPr>
        <p:spPr>
          <a:xfrm>
            <a:off x="8284464" y="3575304"/>
            <a:ext cx="3273552"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لِأَنَّهُ …</a:t>
            </a:r>
            <a:endParaRPr lang="ar-SA" sz="1350" dirty="0"/>
          </a:p>
        </p:txBody>
      </p:sp>
      <p:sp>
        <p:nvSpPr>
          <p:cNvPr id="25" name="Shape 22"/>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4389120" y="1920240"/>
            <a:ext cx="310896" cy="310896"/>
          </a:xfrm>
          <a:prstGeom prst="ellipse">
            <a:avLst/>
          </a:prstGeom>
          <a:solidFill>
            <a:srgbClr val="F4F1EA"/>
          </a:solidFill>
          <a:ln w="12700">
            <a:solidFill>
              <a:srgbClr val="F4F1EA"/>
            </a:solidFill>
            <a:prstDash val="solid"/>
          </a:ln>
        </p:spPr>
      </p:sp>
      <p:sp>
        <p:nvSpPr>
          <p:cNvPr id="27" name="Text 24"/>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8</a:t>
            </a:r>
            <a:endParaRPr lang="en-US" sz="1000" dirty="0"/>
          </a:p>
        </p:txBody>
      </p:sp>
      <p:sp>
        <p:nvSpPr>
          <p:cNvPr id="28" name="Shape 25"/>
          <p:cNvSpPr/>
          <p:nvPr/>
        </p:nvSpPr>
        <p:spPr>
          <a:xfrm>
            <a:off x="4782312" y="1938528"/>
            <a:ext cx="704088" cy="256032"/>
          </a:xfrm>
          <a:prstGeom prst="roundRect">
            <a:avLst>
              <a:gd name="adj" fmla="val 50000"/>
            </a:avLst>
          </a:prstGeom>
          <a:solidFill>
            <a:srgbClr val="EFE7D2"/>
          </a:solidFill>
          <a:ln w="12700">
            <a:solidFill>
              <a:srgbClr val="EFE7D2"/>
            </a:solidFill>
            <a:prstDash val="solid"/>
          </a:ln>
        </p:spPr>
      </p:sp>
      <p:sp>
        <p:nvSpPr>
          <p:cNvPr id="29" name="Text 26"/>
          <p:cNvSpPr txBox="1"/>
          <p:nvPr/>
        </p:nvSpPr>
        <p:spPr>
          <a:xfrm>
            <a:off x="4782312"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f.</a:t>
            </a:r>
            <a:endParaRPr lang="en-US" sz="800" dirty="0"/>
          </a:p>
        </p:txBody>
      </p:sp>
      <p:sp>
        <p:nvSpPr>
          <p:cNvPr id="30" name="Shape 27"/>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1" name="Text 28"/>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2" name="Text 29"/>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مَادَّةٌ</a:t>
            </a:r>
            <a:endParaRPr lang="ar-SA" sz="3000" dirty="0"/>
          </a:p>
        </p:txBody>
      </p:sp>
      <p:sp>
        <p:nvSpPr>
          <p:cNvPr id="33" name="Text 30"/>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 school subject</a:t>
            </a:r>
            <a:endParaRPr lang="en-US" sz="1350" dirty="0"/>
          </a:p>
          <a:p>
            <a:pPr indent="0" marL="0">
              <a:buNone/>
            </a:pPr>
            <a:r>
              <a:rPr lang="en-US" sz="1100" i="1" dirty="0">
                <a:solidFill>
                  <a:srgbClr val="5A6472"/>
                </a:solidFill>
                <a:latin typeface="Calibri" pitchFamily="34" charset="0"/>
                <a:cs typeface="Amiri" pitchFamily="2" charset="-78"/>
              </a:rPr>
              <a:t>mād-da</a:t>
            </a:r>
            <a:endParaRPr lang="en-US" sz="1350" dirty="0"/>
          </a:p>
        </p:txBody>
      </p:sp>
      <p:sp>
        <p:nvSpPr>
          <p:cNvPr id="34" name="Shape 31"/>
          <p:cNvSpPr/>
          <p:nvPr/>
        </p:nvSpPr>
        <p:spPr>
          <a:xfrm>
            <a:off x="6144768" y="3438144"/>
            <a:ext cx="1636776" cy="438912"/>
          </a:xfrm>
          <a:prstGeom prst="roundRect">
            <a:avLst>
              <a:gd name="adj" fmla="val 10417"/>
            </a:avLst>
          </a:prstGeom>
          <a:solidFill>
            <a:srgbClr val="F4F1EA"/>
          </a:solidFill>
          <a:ln w="9525">
            <a:solidFill>
              <a:srgbClr val="F4F1EA"/>
            </a:solidFill>
            <a:prstDash val="solid"/>
          </a:ln>
        </p:spPr>
      </p:sp>
      <p:sp>
        <p:nvSpPr>
          <p:cNvPr id="35" name="Text 32"/>
          <p:cNvSpPr txBox="1"/>
          <p:nvPr/>
        </p:nvSpPr>
        <p:spPr>
          <a:xfrm>
            <a:off x="6199632"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36" name="Text 33"/>
          <p:cNvSpPr txBox="1"/>
          <p:nvPr/>
        </p:nvSpPr>
        <p:spPr>
          <a:xfrm>
            <a:off x="6190488"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مَوَادُّ</a:t>
            </a:r>
            <a:endParaRPr lang="ar-SA" sz="1500" dirty="0"/>
          </a:p>
        </p:txBody>
      </p:sp>
      <p:sp>
        <p:nvSpPr>
          <p:cNvPr id="37" name="Shape 34"/>
          <p:cNvSpPr/>
          <p:nvPr/>
        </p:nvSpPr>
        <p:spPr>
          <a:xfrm>
            <a:off x="4416552" y="3438144"/>
            <a:ext cx="1636776" cy="438912"/>
          </a:xfrm>
          <a:prstGeom prst="roundRect">
            <a:avLst>
              <a:gd name="adj" fmla="val 10417"/>
            </a:avLst>
          </a:prstGeom>
          <a:solidFill>
            <a:srgbClr val="F4F1EA"/>
          </a:solidFill>
          <a:ln w="9525">
            <a:solidFill>
              <a:srgbClr val="F4F1EA"/>
            </a:solidFill>
            <a:prstDash val="solid"/>
          </a:ln>
        </p:spPr>
      </p:sp>
      <p:sp>
        <p:nvSpPr>
          <p:cNvPr id="38" name="Text 35"/>
          <p:cNvSpPr txBox="1"/>
          <p:nvPr/>
        </p:nvSpPr>
        <p:spPr>
          <a:xfrm>
            <a:off x="4471416" y="3447288"/>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my fav.</a:t>
            </a:r>
            <a:endParaRPr lang="en-US" sz="700" dirty="0"/>
          </a:p>
        </p:txBody>
      </p:sp>
      <p:sp>
        <p:nvSpPr>
          <p:cNvPr id="39" name="Text 36"/>
          <p:cNvSpPr txBox="1"/>
          <p:nvPr/>
        </p:nvSpPr>
        <p:spPr>
          <a:xfrm>
            <a:off x="4462272" y="3575304"/>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مَادَّتِي المُفَضَّلَةُ</a:t>
            </a:r>
            <a:endParaRPr lang="ar-SA" sz="1350" dirty="0"/>
          </a:p>
        </p:txBody>
      </p:sp>
      <p:sp>
        <p:nvSpPr>
          <p:cNvPr id="40" name="Shape 37"/>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1" name="Shape 38"/>
          <p:cNvSpPr/>
          <p:nvPr/>
        </p:nvSpPr>
        <p:spPr>
          <a:xfrm>
            <a:off x="566928" y="1920240"/>
            <a:ext cx="310896" cy="310896"/>
          </a:xfrm>
          <a:prstGeom prst="ellipse">
            <a:avLst/>
          </a:prstGeom>
          <a:solidFill>
            <a:srgbClr val="F4F1EA"/>
          </a:solidFill>
          <a:ln w="12700">
            <a:solidFill>
              <a:srgbClr val="F4F1EA"/>
            </a:solidFill>
            <a:prstDash val="solid"/>
          </a:ln>
        </p:spPr>
      </p:sp>
      <p:sp>
        <p:nvSpPr>
          <p:cNvPr id="42" name="Text 39"/>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9</a:t>
            </a:r>
            <a:endParaRPr lang="en-US" sz="1000" dirty="0"/>
          </a:p>
        </p:txBody>
      </p:sp>
      <p:sp>
        <p:nvSpPr>
          <p:cNvPr id="43" name="Shape 40"/>
          <p:cNvSpPr/>
          <p:nvPr/>
        </p:nvSpPr>
        <p:spPr>
          <a:xfrm>
            <a:off x="960120" y="1938528"/>
            <a:ext cx="704088" cy="256032"/>
          </a:xfrm>
          <a:prstGeom prst="roundRect">
            <a:avLst>
              <a:gd name="adj" fmla="val 50000"/>
            </a:avLst>
          </a:prstGeom>
          <a:solidFill>
            <a:srgbClr val="EFE7D2"/>
          </a:solidFill>
          <a:ln w="12700">
            <a:solidFill>
              <a:srgbClr val="EFE7D2"/>
            </a:solidFill>
            <a:prstDash val="solid"/>
          </a:ln>
        </p:spPr>
      </p:sp>
      <p:sp>
        <p:nvSpPr>
          <p:cNvPr id="44" name="Text 41"/>
          <p:cNvSpPr txBox="1"/>
          <p:nvPr/>
        </p:nvSpPr>
        <p:spPr>
          <a:xfrm>
            <a:off x="960120"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a:t>
            </a:r>
            <a:endParaRPr lang="en-US" sz="800" dirty="0"/>
          </a:p>
        </p:txBody>
      </p:sp>
      <p:sp>
        <p:nvSpPr>
          <p:cNvPr id="45" name="Shape 42"/>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46" name="Text 43"/>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7" name="Text 44"/>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سَهْلٌ</a:t>
            </a:r>
            <a:endParaRPr lang="ar-SA" sz="3000" dirty="0"/>
          </a:p>
        </p:txBody>
      </p:sp>
      <p:sp>
        <p:nvSpPr>
          <p:cNvPr id="48" name="Text 45"/>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easy</a:t>
            </a:r>
            <a:endParaRPr lang="en-US" sz="1350" dirty="0"/>
          </a:p>
          <a:p>
            <a:pPr indent="0" marL="0">
              <a:buNone/>
            </a:pPr>
            <a:r>
              <a:rPr lang="en-US" sz="1100" i="1" dirty="0">
                <a:solidFill>
                  <a:srgbClr val="5A6472"/>
                </a:solidFill>
                <a:latin typeface="Calibri" pitchFamily="34" charset="0"/>
                <a:cs typeface="Amiri" pitchFamily="2" charset="-78"/>
              </a:rPr>
              <a:t>sahl</a:t>
            </a:r>
            <a:endParaRPr lang="en-US" sz="1350" dirty="0"/>
          </a:p>
        </p:txBody>
      </p:sp>
      <p:sp>
        <p:nvSpPr>
          <p:cNvPr id="49" name="Shape 46"/>
          <p:cNvSpPr/>
          <p:nvPr/>
        </p:nvSpPr>
        <p:spPr>
          <a:xfrm>
            <a:off x="2322576" y="3438144"/>
            <a:ext cx="1636776" cy="438912"/>
          </a:xfrm>
          <a:prstGeom prst="roundRect">
            <a:avLst>
              <a:gd name="adj" fmla="val 10417"/>
            </a:avLst>
          </a:prstGeom>
          <a:solidFill>
            <a:srgbClr val="F4F1EA"/>
          </a:solidFill>
          <a:ln w="9525">
            <a:solidFill>
              <a:srgbClr val="F4F1EA"/>
            </a:solidFill>
            <a:prstDash val="solid"/>
          </a:ln>
        </p:spPr>
      </p:sp>
      <p:sp>
        <p:nvSpPr>
          <p:cNvPr id="50" name="Text 47"/>
          <p:cNvSpPr txBox="1"/>
          <p:nvPr/>
        </p:nvSpPr>
        <p:spPr>
          <a:xfrm>
            <a:off x="2377440"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51" name="Text 48"/>
          <p:cNvSpPr txBox="1"/>
          <p:nvPr/>
        </p:nvSpPr>
        <p:spPr>
          <a:xfrm>
            <a:off x="2368296"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سَهْلَةٌ</a:t>
            </a:r>
            <a:endParaRPr lang="ar-SA" sz="1500" dirty="0"/>
          </a:p>
        </p:txBody>
      </p:sp>
      <p:sp>
        <p:nvSpPr>
          <p:cNvPr id="52" name="Shape 49"/>
          <p:cNvSpPr/>
          <p:nvPr/>
        </p:nvSpPr>
        <p:spPr>
          <a:xfrm>
            <a:off x="594360" y="3438144"/>
            <a:ext cx="1636776" cy="438912"/>
          </a:xfrm>
          <a:prstGeom prst="roundRect">
            <a:avLst>
              <a:gd name="adj" fmla="val 10417"/>
            </a:avLst>
          </a:prstGeom>
          <a:solidFill>
            <a:srgbClr val="F4F1EA"/>
          </a:solidFill>
          <a:ln w="9525">
            <a:solidFill>
              <a:srgbClr val="F4F1EA"/>
            </a:solidFill>
            <a:prstDash val="solid"/>
          </a:ln>
        </p:spPr>
      </p:sp>
      <p:sp>
        <p:nvSpPr>
          <p:cNvPr id="53" name="Text 50"/>
          <p:cNvSpPr txBox="1"/>
          <p:nvPr/>
        </p:nvSpPr>
        <p:spPr>
          <a:xfrm>
            <a:off x="649224"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54" name="Text 51"/>
          <p:cNvSpPr txBox="1"/>
          <p:nvPr/>
        </p:nvSpPr>
        <p:spPr>
          <a:xfrm>
            <a:off x="640080"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سَهْلٌ</a:t>
            </a:r>
            <a:endParaRPr lang="ar-SA" sz="1500" dirty="0"/>
          </a:p>
        </p:txBody>
      </p:sp>
      <p:sp>
        <p:nvSpPr>
          <p:cNvPr id="55" name="Shape 52"/>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8211312" y="4261104"/>
            <a:ext cx="310896" cy="310896"/>
          </a:xfrm>
          <a:prstGeom prst="ellipse">
            <a:avLst/>
          </a:prstGeom>
          <a:solidFill>
            <a:srgbClr val="F4F1EA"/>
          </a:solidFill>
          <a:ln w="12700">
            <a:solidFill>
              <a:srgbClr val="F4F1EA"/>
            </a:solidFill>
            <a:prstDash val="solid"/>
          </a:ln>
        </p:spPr>
      </p:sp>
      <p:sp>
        <p:nvSpPr>
          <p:cNvPr id="57" name="Text 54"/>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10</a:t>
            </a:r>
            <a:endParaRPr lang="en-US" sz="1000" dirty="0"/>
          </a:p>
        </p:txBody>
      </p:sp>
      <p:sp>
        <p:nvSpPr>
          <p:cNvPr id="58" name="Shape 55"/>
          <p:cNvSpPr/>
          <p:nvPr/>
        </p:nvSpPr>
        <p:spPr>
          <a:xfrm>
            <a:off x="8604504" y="4279392"/>
            <a:ext cx="704088" cy="256032"/>
          </a:xfrm>
          <a:prstGeom prst="roundRect">
            <a:avLst>
              <a:gd name="adj" fmla="val 50000"/>
            </a:avLst>
          </a:prstGeom>
          <a:solidFill>
            <a:srgbClr val="EFE7D2"/>
          </a:solidFill>
          <a:ln w="12700">
            <a:solidFill>
              <a:srgbClr val="EFE7D2"/>
            </a:solidFill>
            <a:prstDash val="solid"/>
          </a:ln>
        </p:spPr>
      </p:sp>
      <p:sp>
        <p:nvSpPr>
          <p:cNvPr id="59" name="Text 56"/>
          <p:cNvSpPr txBox="1"/>
          <p:nvPr/>
        </p:nvSpPr>
        <p:spPr>
          <a:xfrm>
            <a:off x="8604504" y="4279392"/>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a:t>
            </a:r>
            <a:endParaRPr lang="en-US" sz="800" dirty="0"/>
          </a:p>
        </p:txBody>
      </p:sp>
      <p:sp>
        <p:nvSpPr>
          <p:cNvPr id="60" name="Shape 57"/>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61" name="Text 58"/>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62" name="Text 59"/>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مُفِيدٌ</a:t>
            </a:r>
            <a:endParaRPr lang="ar-SA" sz="3000" dirty="0"/>
          </a:p>
        </p:txBody>
      </p:sp>
      <p:sp>
        <p:nvSpPr>
          <p:cNvPr id="63" name="Text 60"/>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useful</a:t>
            </a:r>
            <a:endParaRPr lang="en-US" sz="1350" dirty="0"/>
          </a:p>
          <a:p>
            <a:pPr indent="0" marL="0">
              <a:buNone/>
            </a:pPr>
            <a:r>
              <a:rPr lang="en-US" sz="1100" i="1" dirty="0">
                <a:solidFill>
                  <a:srgbClr val="5A6472"/>
                </a:solidFill>
                <a:latin typeface="Calibri" pitchFamily="34" charset="0"/>
                <a:cs typeface="Amiri" pitchFamily="2" charset="-78"/>
              </a:rPr>
              <a:t>mu-fīd</a:t>
            </a:r>
            <a:endParaRPr lang="en-US" sz="1350" dirty="0"/>
          </a:p>
        </p:txBody>
      </p:sp>
      <p:sp>
        <p:nvSpPr>
          <p:cNvPr id="64" name="Shape 61"/>
          <p:cNvSpPr/>
          <p:nvPr/>
        </p:nvSpPr>
        <p:spPr>
          <a:xfrm>
            <a:off x="9966960" y="5779008"/>
            <a:ext cx="1636776" cy="438912"/>
          </a:xfrm>
          <a:prstGeom prst="roundRect">
            <a:avLst>
              <a:gd name="adj" fmla="val 10417"/>
            </a:avLst>
          </a:prstGeom>
          <a:solidFill>
            <a:srgbClr val="F4F1EA"/>
          </a:solidFill>
          <a:ln w="9525">
            <a:solidFill>
              <a:srgbClr val="F4F1EA"/>
            </a:solidFill>
            <a:prstDash val="solid"/>
          </a:ln>
        </p:spPr>
      </p:sp>
      <p:sp>
        <p:nvSpPr>
          <p:cNvPr id="65" name="Text 62"/>
          <p:cNvSpPr txBox="1"/>
          <p:nvPr/>
        </p:nvSpPr>
        <p:spPr>
          <a:xfrm>
            <a:off x="10021824"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66" name="Text 63"/>
          <p:cNvSpPr txBox="1"/>
          <p:nvPr/>
        </p:nvSpPr>
        <p:spPr>
          <a:xfrm>
            <a:off x="10012680"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مُفِيدَةٌ</a:t>
            </a:r>
            <a:endParaRPr lang="ar-SA" sz="1500" dirty="0"/>
          </a:p>
        </p:txBody>
      </p:sp>
      <p:sp>
        <p:nvSpPr>
          <p:cNvPr id="67" name="Shape 64"/>
          <p:cNvSpPr/>
          <p:nvPr/>
        </p:nvSpPr>
        <p:spPr>
          <a:xfrm>
            <a:off x="8238744" y="5779008"/>
            <a:ext cx="1636776" cy="438912"/>
          </a:xfrm>
          <a:prstGeom prst="roundRect">
            <a:avLst>
              <a:gd name="adj" fmla="val 10417"/>
            </a:avLst>
          </a:prstGeom>
          <a:solidFill>
            <a:srgbClr val="F4F1EA"/>
          </a:solidFill>
          <a:ln w="9525">
            <a:solidFill>
              <a:srgbClr val="F4F1EA"/>
            </a:solidFill>
            <a:prstDash val="solid"/>
          </a:ln>
        </p:spPr>
      </p:sp>
      <p:sp>
        <p:nvSpPr>
          <p:cNvPr id="68" name="Text 65"/>
          <p:cNvSpPr txBox="1"/>
          <p:nvPr/>
        </p:nvSpPr>
        <p:spPr>
          <a:xfrm>
            <a:off x="8293608"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69" name="Text 66"/>
          <p:cNvSpPr txBox="1"/>
          <p:nvPr/>
        </p:nvSpPr>
        <p:spPr>
          <a:xfrm>
            <a:off x="8284464"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مُفِيدٌ</a:t>
            </a:r>
            <a:endParaRPr lang="ar-SA" sz="1500" dirty="0"/>
          </a:p>
        </p:txBody>
      </p:sp>
      <p:sp>
        <p:nvSpPr>
          <p:cNvPr id="70" name="Shape 67"/>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1" name="Shape 68"/>
          <p:cNvSpPr/>
          <p:nvPr/>
        </p:nvSpPr>
        <p:spPr>
          <a:xfrm>
            <a:off x="4389120" y="4261104"/>
            <a:ext cx="310896" cy="310896"/>
          </a:xfrm>
          <a:prstGeom prst="ellipse">
            <a:avLst/>
          </a:prstGeom>
          <a:solidFill>
            <a:srgbClr val="F4F1EA"/>
          </a:solidFill>
          <a:ln w="12700">
            <a:solidFill>
              <a:srgbClr val="F4F1EA"/>
            </a:solidFill>
            <a:prstDash val="solid"/>
          </a:ln>
        </p:spPr>
      </p:sp>
      <p:sp>
        <p:nvSpPr>
          <p:cNvPr id="72" name="Text 69"/>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11</a:t>
            </a:r>
            <a:endParaRPr lang="en-US" sz="1000" dirty="0"/>
          </a:p>
        </p:txBody>
      </p:sp>
      <p:sp>
        <p:nvSpPr>
          <p:cNvPr id="73" name="Shape 70"/>
          <p:cNvSpPr/>
          <p:nvPr/>
        </p:nvSpPr>
        <p:spPr>
          <a:xfrm>
            <a:off x="4782312" y="4279392"/>
            <a:ext cx="704088" cy="256032"/>
          </a:xfrm>
          <a:prstGeom prst="roundRect">
            <a:avLst>
              <a:gd name="adj" fmla="val 50000"/>
            </a:avLst>
          </a:prstGeom>
          <a:solidFill>
            <a:srgbClr val="EFE7D2"/>
          </a:solidFill>
          <a:ln w="12700">
            <a:solidFill>
              <a:srgbClr val="EFE7D2"/>
            </a:solidFill>
            <a:prstDash val="solid"/>
          </a:ln>
        </p:spPr>
      </p:sp>
      <p:sp>
        <p:nvSpPr>
          <p:cNvPr id="74" name="Text 71"/>
          <p:cNvSpPr txBox="1"/>
          <p:nvPr/>
        </p:nvSpPr>
        <p:spPr>
          <a:xfrm>
            <a:off x="4782312" y="4279392"/>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a:t>
            </a:r>
            <a:endParaRPr lang="en-US" sz="800" dirty="0"/>
          </a:p>
        </p:txBody>
      </p:sp>
      <p:sp>
        <p:nvSpPr>
          <p:cNvPr id="75" name="Shape 72"/>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76" name="Text 73"/>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77" name="Text 74"/>
          <p:cNvSpPr txBox="1"/>
          <p:nvPr/>
        </p:nvSpPr>
        <p:spPr>
          <a:xfrm>
            <a:off x="4389120"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مُمْتِعٌ</a:t>
            </a:r>
            <a:endParaRPr lang="ar-SA" sz="3000" dirty="0"/>
          </a:p>
        </p:txBody>
      </p:sp>
      <p:sp>
        <p:nvSpPr>
          <p:cNvPr id="78" name="Text 75"/>
          <p:cNvSpPr txBox="1"/>
          <p:nvPr/>
        </p:nvSpPr>
        <p:spPr>
          <a:xfrm>
            <a:off x="4416552"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enjoyable</a:t>
            </a:r>
            <a:endParaRPr lang="en-US" sz="1350" dirty="0"/>
          </a:p>
          <a:p>
            <a:pPr indent="0" marL="0">
              <a:buNone/>
            </a:pPr>
            <a:r>
              <a:rPr lang="en-US" sz="1100" i="1" dirty="0">
                <a:solidFill>
                  <a:srgbClr val="5A6472"/>
                </a:solidFill>
                <a:latin typeface="Calibri" pitchFamily="34" charset="0"/>
                <a:cs typeface="Amiri" pitchFamily="2" charset="-78"/>
              </a:rPr>
              <a:t>mum-ti‘</a:t>
            </a:r>
            <a:endParaRPr lang="en-US" sz="1350" dirty="0"/>
          </a:p>
        </p:txBody>
      </p:sp>
      <p:sp>
        <p:nvSpPr>
          <p:cNvPr id="79" name="Shape 76"/>
          <p:cNvSpPr/>
          <p:nvPr/>
        </p:nvSpPr>
        <p:spPr>
          <a:xfrm>
            <a:off x="6144768" y="5779008"/>
            <a:ext cx="1636776" cy="438912"/>
          </a:xfrm>
          <a:prstGeom prst="roundRect">
            <a:avLst>
              <a:gd name="adj" fmla="val 10417"/>
            </a:avLst>
          </a:prstGeom>
          <a:solidFill>
            <a:srgbClr val="F4F1EA"/>
          </a:solidFill>
          <a:ln w="9525">
            <a:solidFill>
              <a:srgbClr val="F4F1EA"/>
            </a:solidFill>
            <a:prstDash val="solid"/>
          </a:ln>
        </p:spPr>
      </p:sp>
      <p:sp>
        <p:nvSpPr>
          <p:cNvPr id="80" name="Text 77"/>
          <p:cNvSpPr txBox="1"/>
          <p:nvPr/>
        </p:nvSpPr>
        <p:spPr>
          <a:xfrm>
            <a:off x="6199632"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81" name="Text 78"/>
          <p:cNvSpPr txBox="1"/>
          <p:nvPr/>
        </p:nvSpPr>
        <p:spPr>
          <a:xfrm>
            <a:off x="6190488"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مُمْتِعَةٌ</a:t>
            </a:r>
            <a:endParaRPr lang="ar-SA" sz="1500" dirty="0"/>
          </a:p>
        </p:txBody>
      </p:sp>
      <p:sp>
        <p:nvSpPr>
          <p:cNvPr id="82" name="Shape 79"/>
          <p:cNvSpPr/>
          <p:nvPr/>
        </p:nvSpPr>
        <p:spPr>
          <a:xfrm>
            <a:off x="4416552" y="5779008"/>
            <a:ext cx="1636776" cy="438912"/>
          </a:xfrm>
          <a:prstGeom prst="roundRect">
            <a:avLst>
              <a:gd name="adj" fmla="val 10417"/>
            </a:avLst>
          </a:prstGeom>
          <a:solidFill>
            <a:srgbClr val="F4F1EA"/>
          </a:solidFill>
          <a:ln w="9525">
            <a:solidFill>
              <a:srgbClr val="F4F1EA"/>
            </a:solidFill>
            <a:prstDash val="solid"/>
          </a:ln>
        </p:spPr>
      </p:sp>
      <p:sp>
        <p:nvSpPr>
          <p:cNvPr id="83" name="Text 80"/>
          <p:cNvSpPr txBox="1"/>
          <p:nvPr/>
        </p:nvSpPr>
        <p:spPr>
          <a:xfrm>
            <a:off x="4471416"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84" name="Text 81"/>
          <p:cNvSpPr txBox="1"/>
          <p:nvPr/>
        </p:nvSpPr>
        <p:spPr>
          <a:xfrm>
            <a:off x="4462272"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مُمْتِعٌ</a:t>
            </a:r>
            <a:endParaRPr lang="ar-SA" sz="1500" dirty="0"/>
          </a:p>
        </p:txBody>
      </p:sp>
      <p:sp>
        <p:nvSpPr>
          <p:cNvPr id="85" name="Shape 82"/>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6" name="Shape 83"/>
          <p:cNvSpPr/>
          <p:nvPr/>
        </p:nvSpPr>
        <p:spPr>
          <a:xfrm>
            <a:off x="566928" y="4261104"/>
            <a:ext cx="310896" cy="310896"/>
          </a:xfrm>
          <a:prstGeom prst="ellipse">
            <a:avLst/>
          </a:prstGeom>
          <a:solidFill>
            <a:srgbClr val="F4F1EA"/>
          </a:solidFill>
          <a:ln w="12700">
            <a:solidFill>
              <a:srgbClr val="F4F1EA"/>
            </a:solidFill>
            <a:prstDash val="solid"/>
          </a:ln>
        </p:spPr>
      </p:sp>
      <p:sp>
        <p:nvSpPr>
          <p:cNvPr id="87" name="Text 84"/>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12</a:t>
            </a:r>
            <a:endParaRPr lang="en-US" sz="1000" dirty="0"/>
          </a:p>
        </p:txBody>
      </p:sp>
      <p:sp>
        <p:nvSpPr>
          <p:cNvPr id="88" name="Shape 85"/>
          <p:cNvSpPr/>
          <p:nvPr/>
        </p:nvSpPr>
        <p:spPr>
          <a:xfrm>
            <a:off x="960120" y="4279392"/>
            <a:ext cx="704088" cy="256032"/>
          </a:xfrm>
          <a:prstGeom prst="roundRect">
            <a:avLst>
              <a:gd name="adj" fmla="val 50000"/>
            </a:avLst>
          </a:prstGeom>
          <a:solidFill>
            <a:srgbClr val="EFE7D2"/>
          </a:solidFill>
          <a:ln w="12700">
            <a:solidFill>
              <a:srgbClr val="EFE7D2"/>
            </a:solidFill>
            <a:prstDash val="solid"/>
          </a:ln>
        </p:spPr>
      </p:sp>
      <p:sp>
        <p:nvSpPr>
          <p:cNvPr id="89" name="Text 86"/>
          <p:cNvSpPr txBox="1"/>
          <p:nvPr/>
        </p:nvSpPr>
        <p:spPr>
          <a:xfrm>
            <a:off x="960120" y="4279392"/>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a:t>
            </a:r>
            <a:endParaRPr lang="en-US" sz="800" dirty="0"/>
          </a:p>
        </p:txBody>
      </p:sp>
      <p:sp>
        <p:nvSpPr>
          <p:cNvPr id="90" name="Text 87"/>
          <p:cNvSpPr txBox="1"/>
          <p:nvPr/>
        </p:nvSpPr>
        <p:spPr>
          <a:xfrm>
            <a:off x="566928"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مُهِمٌّ</a:t>
            </a:r>
            <a:endParaRPr lang="ar-SA" sz="3000" dirty="0"/>
          </a:p>
        </p:txBody>
      </p:sp>
      <p:sp>
        <p:nvSpPr>
          <p:cNvPr id="91" name="Text 88"/>
          <p:cNvSpPr txBox="1"/>
          <p:nvPr/>
        </p:nvSpPr>
        <p:spPr>
          <a:xfrm>
            <a:off x="594360"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important</a:t>
            </a:r>
            <a:endParaRPr lang="en-US" sz="1350" dirty="0"/>
          </a:p>
          <a:p>
            <a:pPr indent="0" marL="0">
              <a:buNone/>
            </a:pPr>
            <a:r>
              <a:rPr lang="en-US" sz="1100" i="1" dirty="0">
                <a:solidFill>
                  <a:srgbClr val="5A6472"/>
                </a:solidFill>
                <a:latin typeface="Calibri" pitchFamily="34" charset="0"/>
                <a:cs typeface="Amiri" pitchFamily="2" charset="-78"/>
              </a:rPr>
              <a:t>mu-himm</a:t>
            </a:r>
            <a:endParaRPr lang="en-US" sz="1350" dirty="0"/>
          </a:p>
        </p:txBody>
      </p:sp>
      <p:sp>
        <p:nvSpPr>
          <p:cNvPr id="92" name="Shape 89"/>
          <p:cNvSpPr/>
          <p:nvPr/>
        </p:nvSpPr>
        <p:spPr>
          <a:xfrm>
            <a:off x="2322576" y="5779008"/>
            <a:ext cx="1636776" cy="438912"/>
          </a:xfrm>
          <a:prstGeom prst="roundRect">
            <a:avLst>
              <a:gd name="adj" fmla="val 10417"/>
            </a:avLst>
          </a:prstGeom>
          <a:solidFill>
            <a:srgbClr val="F4F1EA"/>
          </a:solidFill>
          <a:ln w="9525">
            <a:solidFill>
              <a:srgbClr val="F4F1EA"/>
            </a:solidFill>
            <a:prstDash val="solid"/>
          </a:ln>
        </p:spPr>
      </p:sp>
      <p:sp>
        <p:nvSpPr>
          <p:cNvPr id="93" name="Text 90"/>
          <p:cNvSpPr txBox="1"/>
          <p:nvPr/>
        </p:nvSpPr>
        <p:spPr>
          <a:xfrm>
            <a:off x="2377440"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94" name="Text 91"/>
          <p:cNvSpPr txBox="1"/>
          <p:nvPr/>
        </p:nvSpPr>
        <p:spPr>
          <a:xfrm>
            <a:off x="2368296"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مُهِمَّةٌ</a:t>
            </a:r>
            <a:endParaRPr lang="ar-SA" sz="1500" dirty="0"/>
          </a:p>
        </p:txBody>
      </p:sp>
      <p:sp>
        <p:nvSpPr>
          <p:cNvPr id="95" name="Shape 92"/>
          <p:cNvSpPr/>
          <p:nvPr/>
        </p:nvSpPr>
        <p:spPr>
          <a:xfrm>
            <a:off x="594360" y="5779008"/>
            <a:ext cx="1636776" cy="438912"/>
          </a:xfrm>
          <a:prstGeom prst="roundRect">
            <a:avLst>
              <a:gd name="adj" fmla="val 10417"/>
            </a:avLst>
          </a:prstGeom>
          <a:solidFill>
            <a:srgbClr val="F4F1EA"/>
          </a:solidFill>
          <a:ln w="9525">
            <a:solidFill>
              <a:srgbClr val="F4F1EA"/>
            </a:solidFill>
            <a:prstDash val="solid"/>
          </a:ln>
        </p:spPr>
      </p:sp>
      <p:sp>
        <p:nvSpPr>
          <p:cNvPr id="96" name="Text 93"/>
          <p:cNvSpPr txBox="1"/>
          <p:nvPr/>
        </p:nvSpPr>
        <p:spPr>
          <a:xfrm>
            <a:off x="649224"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97" name="Text 94"/>
          <p:cNvSpPr txBox="1"/>
          <p:nvPr/>
        </p:nvSpPr>
        <p:spPr>
          <a:xfrm>
            <a:off x="640080"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مُهِمٌّ</a:t>
            </a:r>
            <a:endParaRPr lang="ar-SA" sz="1500" dirty="0"/>
          </a:p>
        </p:txBody>
      </p:sp>
      <p:sp>
        <p:nvSpPr>
          <p:cNvPr id="98" name="Text 9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22</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F4-L01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STEP 2 · SAY THE MODEL DIALOGUE · READ IT, THEN SAY IT WITHOUT LOOKING</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What do you study?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مَاذَا تَدْرُسُ؟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F4-L01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754112" y="1810512"/>
            <a:ext cx="39044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7" name="Text 14"/>
          <p:cNvSpPr txBox="1"/>
          <p:nvPr/>
        </p:nvSpPr>
        <p:spPr>
          <a:xfrm>
            <a:off x="1444752" y="1810512"/>
            <a:ext cx="61630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Say it in Arabic</a:t>
            </a:r>
            <a:endParaRPr lang="en-US" sz="1100" dirty="0"/>
          </a:p>
        </p:txBody>
      </p:sp>
      <p:sp>
        <p:nvSpPr>
          <p:cNvPr id="18" name="Text 15"/>
          <p:cNvSpPr txBox="1"/>
          <p:nvPr/>
        </p:nvSpPr>
        <p:spPr>
          <a:xfrm>
            <a:off x="530352" y="1810512"/>
            <a:ext cx="7680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Who</a:t>
            </a:r>
            <a:endParaRPr lang="en-US" sz="1100" dirty="0"/>
          </a:p>
        </p:txBody>
      </p:sp>
      <p:sp>
        <p:nvSpPr>
          <p:cNvPr id="19" name="Shape 16"/>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0" name="Text 17"/>
          <p:cNvSpPr txBox="1"/>
          <p:nvPr/>
        </p:nvSpPr>
        <p:spPr>
          <a:xfrm>
            <a:off x="7790688" y="2267712"/>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do you study on Monday?</a:t>
            </a:r>
            <a:endParaRPr lang="en-US" sz="1100" dirty="0"/>
          </a:p>
        </p:txBody>
      </p:sp>
      <p:sp>
        <p:nvSpPr>
          <p:cNvPr id="21" name="Text 18"/>
          <p:cNvSpPr txBox="1"/>
          <p:nvPr/>
        </p:nvSpPr>
        <p:spPr>
          <a:xfrm>
            <a:off x="1463040" y="2267712"/>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مَاذَا تَدْرُسُ يَوْمَ الإِثْنَيْنِ؟</a:t>
            </a:r>
            <a:endParaRPr lang="ar-SA" sz="2000" dirty="0"/>
          </a:p>
        </p:txBody>
      </p:sp>
      <p:sp>
        <p:nvSpPr>
          <p:cNvPr id="22" name="Text 19"/>
          <p:cNvSpPr txBox="1"/>
          <p:nvPr/>
        </p:nvSpPr>
        <p:spPr>
          <a:xfrm>
            <a:off x="566928" y="2267712"/>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23" name="Shape 20"/>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4" name="Text 21"/>
          <p:cNvSpPr txBox="1"/>
          <p:nvPr/>
        </p:nvSpPr>
        <p:spPr>
          <a:xfrm>
            <a:off x="7790688" y="2881884"/>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 study maths, science and Arabic.</a:t>
            </a:r>
            <a:endParaRPr lang="en-US" sz="1100" dirty="0"/>
          </a:p>
        </p:txBody>
      </p:sp>
      <p:sp>
        <p:nvSpPr>
          <p:cNvPr id="25" name="Text 22"/>
          <p:cNvSpPr txBox="1"/>
          <p:nvPr/>
        </p:nvSpPr>
        <p:spPr>
          <a:xfrm>
            <a:off x="1463040" y="2881884"/>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أَدْرُسُ الرِّيَاضِيَّاتِ وَالعُلُومَ وَاللُّغَةَ العَرَبِيَّةَ.</a:t>
            </a:r>
            <a:endParaRPr lang="ar-SA" sz="2000" dirty="0"/>
          </a:p>
        </p:txBody>
      </p:sp>
      <p:sp>
        <p:nvSpPr>
          <p:cNvPr id="26" name="Text 23"/>
          <p:cNvSpPr txBox="1"/>
          <p:nvPr/>
        </p:nvSpPr>
        <p:spPr>
          <a:xfrm>
            <a:off x="566928" y="2881884"/>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27" name="Shape 24"/>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28" name="Text 25"/>
          <p:cNvSpPr txBox="1"/>
          <p:nvPr/>
        </p:nvSpPr>
        <p:spPr>
          <a:xfrm>
            <a:off x="7790688" y="3496056"/>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is your favourite subject?</a:t>
            </a:r>
            <a:endParaRPr lang="en-US" sz="1100" dirty="0"/>
          </a:p>
        </p:txBody>
      </p:sp>
      <p:sp>
        <p:nvSpPr>
          <p:cNvPr id="29" name="Text 26"/>
          <p:cNvSpPr txBox="1"/>
          <p:nvPr/>
        </p:nvSpPr>
        <p:spPr>
          <a:xfrm>
            <a:off x="1463040" y="3496056"/>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مَا مَادَّتُكَ المُفَضَّلَةُ؟</a:t>
            </a:r>
            <a:endParaRPr lang="ar-SA" sz="2000" dirty="0"/>
          </a:p>
        </p:txBody>
      </p:sp>
      <p:sp>
        <p:nvSpPr>
          <p:cNvPr id="30" name="Text 27"/>
          <p:cNvSpPr txBox="1"/>
          <p:nvPr/>
        </p:nvSpPr>
        <p:spPr>
          <a:xfrm>
            <a:off x="566928" y="3496056"/>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31" name="Shape 28"/>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32" name="Text 29"/>
          <p:cNvSpPr txBox="1"/>
          <p:nvPr/>
        </p:nvSpPr>
        <p:spPr>
          <a:xfrm>
            <a:off x="7790688" y="4110228"/>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My favourite subject is art, because it is enjoyable.</a:t>
            </a:r>
            <a:endParaRPr lang="en-US" sz="1100" dirty="0"/>
          </a:p>
        </p:txBody>
      </p:sp>
      <p:sp>
        <p:nvSpPr>
          <p:cNvPr id="33" name="Text 30"/>
          <p:cNvSpPr txBox="1"/>
          <p:nvPr/>
        </p:nvSpPr>
        <p:spPr>
          <a:xfrm>
            <a:off x="1463040" y="4110228"/>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مَادَّتِي المُفَضَّلَةُ الفَنُّ، لِأَنَّهُ مُمْتِعٌ.</a:t>
            </a:r>
            <a:endParaRPr lang="ar-SA" sz="2000" dirty="0"/>
          </a:p>
        </p:txBody>
      </p:sp>
      <p:sp>
        <p:nvSpPr>
          <p:cNvPr id="34" name="Text 31"/>
          <p:cNvSpPr txBox="1"/>
          <p:nvPr/>
        </p:nvSpPr>
        <p:spPr>
          <a:xfrm>
            <a:off x="566928" y="4110228"/>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35" name="Shape 32"/>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36" name="Text 33"/>
          <p:cNvSpPr txBox="1"/>
          <p:nvPr/>
        </p:nvSpPr>
        <p:spPr>
          <a:xfrm>
            <a:off x="7790688" y="4724400"/>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Do you like geography?</a:t>
            </a:r>
            <a:endParaRPr lang="en-US" sz="1100" dirty="0"/>
          </a:p>
        </p:txBody>
      </p:sp>
      <p:sp>
        <p:nvSpPr>
          <p:cNvPr id="37" name="Text 34"/>
          <p:cNvSpPr txBox="1"/>
          <p:nvPr/>
        </p:nvSpPr>
        <p:spPr>
          <a:xfrm>
            <a:off x="1463040" y="4724400"/>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هَلْ تُحِبُّ الجُغْرَافِيَا؟</a:t>
            </a:r>
            <a:endParaRPr lang="ar-SA" sz="2000" dirty="0"/>
          </a:p>
        </p:txBody>
      </p:sp>
      <p:sp>
        <p:nvSpPr>
          <p:cNvPr id="38" name="Text 35"/>
          <p:cNvSpPr txBox="1"/>
          <p:nvPr/>
        </p:nvSpPr>
        <p:spPr>
          <a:xfrm>
            <a:off x="566928" y="4724400"/>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39" name="Shape 36"/>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40" name="Text 37"/>
          <p:cNvSpPr txBox="1"/>
          <p:nvPr/>
        </p:nvSpPr>
        <p:spPr>
          <a:xfrm>
            <a:off x="7790688" y="5338572"/>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Yes, I like it because it is useful, but it is a little difficult.</a:t>
            </a:r>
            <a:endParaRPr lang="en-US" sz="1100" dirty="0"/>
          </a:p>
        </p:txBody>
      </p:sp>
      <p:sp>
        <p:nvSpPr>
          <p:cNvPr id="41" name="Text 38"/>
          <p:cNvSpPr txBox="1"/>
          <p:nvPr/>
        </p:nvSpPr>
        <p:spPr>
          <a:xfrm>
            <a:off x="1463040" y="5338572"/>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نَعَمْ، أُحِبُّهَا لِأَنَّهَا مُفِيدَةٌ، لٰكِنَّهَا صَعْبَةٌ قَلِيلًا.</a:t>
            </a:r>
            <a:endParaRPr lang="ar-SA" sz="2000" dirty="0"/>
          </a:p>
        </p:txBody>
      </p:sp>
      <p:sp>
        <p:nvSpPr>
          <p:cNvPr id="42" name="Text 39"/>
          <p:cNvSpPr txBox="1"/>
          <p:nvPr/>
        </p:nvSpPr>
        <p:spPr>
          <a:xfrm>
            <a:off x="566928" y="5338572"/>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43" name="Text 40"/>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Round 1: read it in pairs. Round 2: swap letters. Round 3: use YOUR subjects and opinions — check </a:t>
            </a:r>
            <a:pPr algn="l" indent="0" marL="0">
              <a:buNone/>
            </a:pPr>
            <a:r>
              <a:rPr lang="ar-SA" altLang="en-US" sz="1500" b="1" dirty="0">
                <a:solidFill>
                  <a:srgbClr val="1B3B6F"/>
                </a:solidFill>
                <a:latin typeface="Amiri" pitchFamily="2" charset="-78"/>
                <a:ea typeface="Amiri" pitchFamily="2" charset="-78"/>
                <a:cs typeface="Amiri" pitchFamily="2" charset="-78"/>
              </a:rPr>
              <a:t>لِأَنَّهُ / لِأَنَّهَا</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22</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F4-L01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7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STEP 3 · QUESTION CARDS · THE LEADER ASKS, THE SPEAKER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250" b="1" dirty="0">
                <a:solidFill>
                  <a:srgbClr val="1B3B6F"/>
                </a:solidFill>
                <a:latin typeface="Cambria" pitchFamily="34" charset="0"/>
                <a:cs typeface="Amiri" pitchFamily="2" charset="-78"/>
              </a:rPr>
              <a:t>Answer in a full sentence — then add more</a:t>
            </a:r>
            <a:endParaRPr lang="en-US" sz="22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أَسْئِلَةٌ وَأَجْوِبَةٌ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F4-L01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720072" y="1810512"/>
            <a:ext cx="193852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Add more (Develop · Stretch)</a:t>
            </a:r>
            <a:endParaRPr lang="en-US" sz="1100" dirty="0"/>
          </a:p>
        </p:txBody>
      </p:sp>
      <p:sp>
        <p:nvSpPr>
          <p:cNvPr id="17" name="Text 14"/>
          <p:cNvSpPr txBox="1"/>
          <p:nvPr/>
        </p:nvSpPr>
        <p:spPr>
          <a:xfrm>
            <a:off x="6976872" y="1810512"/>
            <a:ext cx="25968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Start your answer (Core)</a:t>
            </a:r>
            <a:endParaRPr lang="en-US" sz="1100" dirty="0"/>
          </a:p>
        </p:txBody>
      </p:sp>
      <p:sp>
        <p:nvSpPr>
          <p:cNvPr id="18" name="Text 15"/>
          <p:cNvSpPr txBox="1"/>
          <p:nvPr/>
        </p:nvSpPr>
        <p:spPr>
          <a:xfrm>
            <a:off x="4599432" y="1810512"/>
            <a:ext cx="22311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9" name="Text 16"/>
          <p:cNvSpPr txBox="1"/>
          <p:nvPr/>
        </p:nvSpPr>
        <p:spPr>
          <a:xfrm>
            <a:off x="1033272" y="1810512"/>
            <a:ext cx="3419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Leader asks</a:t>
            </a:r>
            <a:endParaRPr lang="en-US" sz="1100" dirty="0"/>
          </a:p>
        </p:txBody>
      </p:sp>
      <p:sp>
        <p:nvSpPr>
          <p:cNvPr id="20" name="Text 17"/>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1" name="Shape 18"/>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2" name="Text 19"/>
          <p:cNvSpPr txBox="1"/>
          <p:nvPr/>
        </p:nvSpPr>
        <p:spPr>
          <a:xfrm>
            <a:off x="9738360" y="2267712"/>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وَأَيْضًا …</a:t>
            </a:r>
            <a:endParaRPr lang="ar-SA" sz="1500" dirty="0"/>
          </a:p>
        </p:txBody>
      </p:sp>
      <p:sp>
        <p:nvSpPr>
          <p:cNvPr id="23" name="Text 20"/>
          <p:cNvSpPr txBox="1"/>
          <p:nvPr/>
        </p:nvSpPr>
        <p:spPr>
          <a:xfrm>
            <a:off x="6995160" y="2267712"/>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أَدْرُسُ … وَ… وَ…</a:t>
            </a:r>
            <a:endParaRPr lang="ar-SA" sz="1600" dirty="0"/>
          </a:p>
        </p:txBody>
      </p:sp>
      <p:sp>
        <p:nvSpPr>
          <p:cNvPr id="24" name="Text 21"/>
          <p:cNvSpPr txBox="1"/>
          <p:nvPr/>
        </p:nvSpPr>
        <p:spPr>
          <a:xfrm>
            <a:off x="4636008" y="2267712"/>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do you study at school?</a:t>
            </a:r>
            <a:endParaRPr lang="en-US" sz="1100" dirty="0"/>
          </a:p>
        </p:txBody>
      </p:sp>
      <p:sp>
        <p:nvSpPr>
          <p:cNvPr id="25" name="Text 22"/>
          <p:cNvSpPr txBox="1"/>
          <p:nvPr/>
        </p:nvSpPr>
        <p:spPr>
          <a:xfrm>
            <a:off x="1051560" y="2267712"/>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مَاذَا تَدْرُسُ فِي المَدْرَسَةِ؟</a:t>
            </a:r>
            <a:endParaRPr lang="ar-SA" sz="1700" dirty="0"/>
          </a:p>
        </p:txBody>
      </p:sp>
      <p:sp>
        <p:nvSpPr>
          <p:cNvPr id="26" name="Text 23"/>
          <p:cNvSpPr txBox="1"/>
          <p:nvPr/>
        </p:nvSpPr>
        <p:spPr>
          <a:xfrm>
            <a:off x="566928" y="2267712"/>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7" name="Shape 24"/>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9" name="Shape 26"/>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30" name="Text 27"/>
          <p:cNvSpPr txBox="1"/>
          <p:nvPr/>
        </p:nvSpPr>
        <p:spPr>
          <a:xfrm>
            <a:off x="9738360" y="3004718"/>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لِأَنَّهُ / لِأَنَّهَا …</a:t>
            </a:r>
            <a:endParaRPr lang="ar-SA" sz="1500" dirty="0"/>
          </a:p>
        </p:txBody>
      </p:sp>
      <p:sp>
        <p:nvSpPr>
          <p:cNvPr id="31" name="Text 28"/>
          <p:cNvSpPr txBox="1"/>
          <p:nvPr/>
        </p:nvSpPr>
        <p:spPr>
          <a:xfrm>
            <a:off x="6995160" y="3004718"/>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مَادَّتِي المُفَضَّلَةُ …</a:t>
            </a:r>
            <a:endParaRPr lang="ar-SA" sz="1600" dirty="0"/>
          </a:p>
        </p:txBody>
      </p:sp>
      <p:sp>
        <p:nvSpPr>
          <p:cNvPr id="32" name="Text 29"/>
          <p:cNvSpPr txBox="1"/>
          <p:nvPr/>
        </p:nvSpPr>
        <p:spPr>
          <a:xfrm>
            <a:off x="4636008" y="3004718"/>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is your favourite subject?</a:t>
            </a:r>
            <a:endParaRPr lang="en-US" sz="1100" dirty="0"/>
          </a:p>
        </p:txBody>
      </p:sp>
      <p:sp>
        <p:nvSpPr>
          <p:cNvPr id="33" name="Text 30"/>
          <p:cNvSpPr txBox="1"/>
          <p:nvPr/>
        </p:nvSpPr>
        <p:spPr>
          <a:xfrm>
            <a:off x="1051560" y="3004718"/>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 مَادَّتُكَ المُفَضَّلَةُ؟</a:t>
            </a:r>
            <a:endParaRPr lang="ar-SA" sz="1700" dirty="0"/>
          </a:p>
        </p:txBody>
      </p:sp>
      <p:sp>
        <p:nvSpPr>
          <p:cNvPr id="34" name="Text 31"/>
          <p:cNvSpPr txBox="1"/>
          <p:nvPr/>
        </p:nvSpPr>
        <p:spPr>
          <a:xfrm>
            <a:off x="566928" y="300471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5" name="Shape 32"/>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8" name="Text 35"/>
          <p:cNvSpPr txBox="1"/>
          <p:nvPr/>
        </p:nvSpPr>
        <p:spPr>
          <a:xfrm>
            <a:off x="9738360" y="3741725"/>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لِأَنَّهَا …</a:t>
            </a:r>
            <a:endParaRPr lang="ar-SA" sz="1500" dirty="0"/>
          </a:p>
        </p:txBody>
      </p:sp>
      <p:sp>
        <p:nvSpPr>
          <p:cNvPr id="39" name="Text 36"/>
          <p:cNvSpPr txBox="1"/>
          <p:nvPr/>
        </p:nvSpPr>
        <p:spPr>
          <a:xfrm>
            <a:off x="6995160" y="3741725"/>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نَعَمْ، أُحِبُّهَا … / لَا، …</a:t>
            </a:r>
            <a:endParaRPr lang="ar-SA" sz="1600" dirty="0"/>
          </a:p>
        </p:txBody>
      </p:sp>
      <p:sp>
        <p:nvSpPr>
          <p:cNvPr id="40" name="Text 37"/>
          <p:cNvSpPr txBox="1"/>
          <p:nvPr/>
        </p:nvSpPr>
        <p:spPr>
          <a:xfrm>
            <a:off x="4636008" y="3741725"/>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Do you like maths?</a:t>
            </a:r>
            <a:endParaRPr lang="en-US" sz="1100" dirty="0"/>
          </a:p>
        </p:txBody>
      </p:sp>
      <p:sp>
        <p:nvSpPr>
          <p:cNvPr id="41" name="Text 38"/>
          <p:cNvSpPr txBox="1"/>
          <p:nvPr/>
        </p:nvSpPr>
        <p:spPr>
          <a:xfrm>
            <a:off x="1051560" y="3741725"/>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هَلْ تُحِبُّ الرِّيَاضِيَّاتِ؟</a:t>
            </a:r>
            <a:endParaRPr lang="ar-SA" sz="1700" dirty="0"/>
          </a:p>
        </p:txBody>
      </p:sp>
      <p:sp>
        <p:nvSpPr>
          <p:cNvPr id="42" name="Text 39"/>
          <p:cNvSpPr txBox="1"/>
          <p:nvPr/>
        </p:nvSpPr>
        <p:spPr>
          <a:xfrm>
            <a:off x="566928" y="3741725"/>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43" name="Shape 40"/>
          <p:cNvSpPr/>
          <p:nvPr/>
        </p:nvSpPr>
        <p:spPr>
          <a:xfrm>
            <a:off x="11091672" y="3787445"/>
            <a:ext cx="548640" cy="182880"/>
          </a:xfrm>
          <a:prstGeom prst="roundRect">
            <a:avLst>
              <a:gd name="adj" fmla="val 50000"/>
            </a:avLst>
          </a:prstGeom>
          <a:solidFill>
            <a:srgbClr val="2E8B57"/>
          </a:solidFill>
          <a:ln w="12700">
            <a:solidFill>
              <a:srgbClr val="2E8B57"/>
            </a:solidFill>
            <a:prstDash val="solid"/>
          </a:ln>
        </p:spPr>
      </p:sp>
      <p:sp>
        <p:nvSpPr>
          <p:cNvPr id="44" name="Text 41"/>
          <p:cNvSpPr txBox="1"/>
          <p:nvPr/>
        </p:nvSpPr>
        <p:spPr>
          <a:xfrm>
            <a:off x="11091672" y="3787445"/>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5" name="Shape 42"/>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6" name="Text 43"/>
          <p:cNvSpPr txBox="1"/>
          <p:nvPr/>
        </p:nvSpPr>
        <p:spPr>
          <a:xfrm>
            <a:off x="9738360" y="4478731"/>
            <a:ext cx="1901952" cy="682142"/>
          </a:xfrm>
          <a:prstGeom prst="rect">
            <a:avLst/>
          </a:prstGeom>
          <a:noFill/>
          <a:ln/>
        </p:spPr>
        <p:txBody>
          <a:bodyPr wrap="square" lIns="0" tIns="0" rIns="0" bIns="0" rtlCol="0" anchor="ctr"/>
          <a:lstStyle/>
          <a:p>
            <a:pPr rtl="1" algn="ctr" indent="0" marL="0">
              <a:lnSpc>
                <a:spcPct val="120000"/>
              </a:lnSpc>
              <a:buNone/>
            </a:pPr>
            <a:r>
              <a:rPr lang="ar-SA" altLang="en-US" sz="1350" b="1" dirty="0">
                <a:solidFill>
                  <a:srgbClr val="1B3B6F"/>
                </a:solidFill>
                <a:latin typeface="Amiri" pitchFamily="2" charset="-78"/>
                <a:ea typeface="Amiri" pitchFamily="2" charset="-78"/>
                <a:cs typeface="Amiri" pitchFamily="2" charset="-78"/>
              </a:rPr>
              <a:t>… لٰكِنَّهُ / لٰكِنَّهَا مُفِيدٌ / مُفِيدَةٌ</a:t>
            </a:r>
            <a:endParaRPr lang="ar-SA" sz="1350" dirty="0"/>
          </a:p>
        </p:txBody>
      </p:sp>
      <p:sp>
        <p:nvSpPr>
          <p:cNvPr id="47" name="Text 44"/>
          <p:cNvSpPr txBox="1"/>
          <p:nvPr/>
        </p:nvSpPr>
        <p:spPr>
          <a:xfrm>
            <a:off x="6995160" y="4478731"/>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فِي رَأْيِي … صَعْبٌ / صَعْبَةٌ</a:t>
            </a:r>
            <a:endParaRPr lang="ar-SA" sz="1600" dirty="0"/>
          </a:p>
        </p:txBody>
      </p:sp>
      <p:sp>
        <p:nvSpPr>
          <p:cNvPr id="48" name="Text 45"/>
          <p:cNvSpPr txBox="1"/>
          <p:nvPr/>
        </p:nvSpPr>
        <p:spPr>
          <a:xfrm>
            <a:off x="4636008" y="4478731"/>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Which subject is difficult in your opinion?</a:t>
            </a:r>
            <a:endParaRPr lang="en-US" sz="1100" dirty="0"/>
          </a:p>
        </p:txBody>
      </p:sp>
      <p:sp>
        <p:nvSpPr>
          <p:cNvPr id="49" name="Text 46"/>
          <p:cNvSpPr txBox="1"/>
          <p:nvPr/>
        </p:nvSpPr>
        <p:spPr>
          <a:xfrm>
            <a:off x="1051560" y="4478731"/>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 المَادَّةُ الصَّعْبَةُ فِي رَأْيِكَ؟</a:t>
            </a:r>
            <a:endParaRPr lang="ar-SA" sz="1700" dirty="0"/>
          </a:p>
        </p:txBody>
      </p:sp>
      <p:sp>
        <p:nvSpPr>
          <p:cNvPr id="50" name="Text 47"/>
          <p:cNvSpPr txBox="1"/>
          <p:nvPr/>
        </p:nvSpPr>
        <p:spPr>
          <a:xfrm>
            <a:off x="566928" y="4478731"/>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51" name="Shape 48"/>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52" name="Text 49"/>
          <p:cNvSpPr txBox="1"/>
          <p:nvPr/>
        </p:nvSpPr>
        <p:spPr>
          <a:xfrm>
            <a:off x="9738360" y="5215738"/>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وَهُوَ يُحِبُّ …</a:t>
            </a:r>
            <a:endParaRPr lang="ar-SA" sz="1500" dirty="0"/>
          </a:p>
        </p:txBody>
      </p:sp>
      <p:sp>
        <p:nvSpPr>
          <p:cNvPr id="53" name="Text 50"/>
          <p:cNvSpPr txBox="1"/>
          <p:nvPr/>
        </p:nvSpPr>
        <p:spPr>
          <a:xfrm>
            <a:off x="6995160" y="5215738"/>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صَدِيقِي يَدْرُسُ …</a:t>
            </a:r>
            <a:endParaRPr lang="ar-SA" sz="1600" dirty="0"/>
          </a:p>
        </p:txBody>
      </p:sp>
      <p:sp>
        <p:nvSpPr>
          <p:cNvPr id="54" name="Text 51"/>
          <p:cNvSpPr txBox="1"/>
          <p:nvPr/>
        </p:nvSpPr>
        <p:spPr>
          <a:xfrm>
            <a:off x="4636008" y="5215738"/>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does your friend study?</a:t>
            </a:r>
            <a:endParaRPr lang="en-US" sz="1100" dirty="0"/>
          </a:p>
        </p:txBody>
      </p:sp>
      <p:sp>
        <p:nvSpPr>
          <p:cNvPr id="55" name="Text 52"/>
          <p:cNvSpPr txBox="1"/>
          <p:nvPr/>
        </p:nvSpPr>
        <p:spPr>
          <a:xfrm>
            <a:off x="1051560" y="5215738"/>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مَاذَا يَدْرُسُ صَدِيقُكَ؟</a:t>
            </a:r>
            <a:endParaRPr lang="ar-SA" sz="1700" dirty="0"/>
          </a:p>
        </p:txBody>
      </p:sp>
      <p:sp>
        <p:nvSpPr>
          <p:cNvPr id="56" name="Text 53"/>
          <p:cNvSpPr txBox="1"/>
          <p:nvPr/>
        </p:nvSpPr>
        <p:spPr>
          <a:xfrm>
            <a:off x="566928" y="521573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57" name="Text 54"/>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Each Speaker answers every question. Core: a full sentence from the starter. Develop: add the “more” part. Stretch: add a reason with </a:t>
            </a:r>
            <a:pPr algn="l" indent="0" marL="0">
              <a:buNone/>
            </a:pPr>
            <a:r>
              <a:rPr lang="ar-SA" altLang="en-US" sz="1450" b="1" dirty="0">
                <a:solidFill>
                  <a:srgbClr val="1B3B6F"/>
                </a:solidFill>
                <a:latin typeface="Amiri" pitchFamily="2" charset="-78"/>
                <a:ea typeface="Amiri" pitchFamily="2" charset="-78"/>
                <a:cs typeface="Amiri" pitchFamily="2" charset="-78"/>
              </a:rPr>
              <a:t>لِأَنَّ</a:t>
            </a:r>
            <a:pPr algn="l" indent="0" marL="0">
              <a:buNone/>
            </a:pPr>
            <a:r>
              <a:rPr lang="en-US" sz="1100" b="1" dirty="0">
                <a:solidFill>
                  <a:srgbClr val="1B3B6F"/>
                </a:solidFill>
                <a:latin typeface="Calibri" pitchFamily="34" charset="0"/>
                <a:cs typeface="Amiri" pitchFamily="2" charset="-78"/>
              </a:rPr>
              <a:t> or a second detail. Swap after each question.</a:t>
            </a:r>
            <a:endParaRPr lang="en-US" sz="110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22</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F4-L01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7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STEP 4 · ROLE-PLAY CARD · USE THE PLAN, THEN HIDE IT AND SPEAK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750" b="1" dirty="0">
                <a:solidFill>
                  <a:srgbClr val="1B3B6F"/>
                </a:solidFill>
                <a:latin typeface="Cambria" pitchFamily="34" charset="0"/>
                <a:cs typeface="Amiri" pitchFamily="2" charset="-78"/>
              </a:rPr>
              <a:t>Role-play card — choosing your subjects with the tutor</a:t>
            </a:r>
            <a:endParaRPr lang="en-US" sz="1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أَخْتَارُ مَوَادِّي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F4-L01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257032" y="1810512"/>
            <a:ext cx="34015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Plan: first words</a:t>
            </a:r>
            <a:endParaRPr lang="en-US" sz="1100" dirty="0"/>
          </a:p>
        </p:txBody>
      </p:sp>
      <p:sp>
        <p:nvSpPr>
          <p:cNvPr id="17" name="Text 14"/>
          <p:cNvSpPr txBox="1"/>
          <p:nvPr/>
        </p:nvSpPr>
        <p:spPr>
          <a:xfrm>
            <a:off x="4965192" y="1810512"/>
            <a:ext cx="3145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Speaker’s task</a:t>
            </a:r>
            <a:endParaRPr lang="en-US" sz="1100" dirty="0"/>
          </a:p>
        </p:txBody>
      </p:sp>
      <p:sp>
        <p:nvSpPr>
          <p:cNvPr id="18" name="Text 15"/>
          <p:cNvSpPr txBox="1"/>
          <p:nvPr/>
        </p:nvSpPr>
        <p:spPr>
          <a:xfrm>
            <a:off x="1033272" y="1810512"/>
            <a:ext cx="3785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Leader reads</a:t>
            </a:r>
            <a:endParaRPr lang="en-US" sz="1100" dirty="0"/>
          </a:p>
        </p:txBody>
      </p:sp>
      <p:sp>
        <p:nvSpPr>
          <p:cNvPr id="19" name="Text 16"/>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0" name="Shape 17"/>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1" name="Text 18"/>
          <p:cNvSpPr txBox="1"/>
          <p:nvPr/>
        </p:nvSpPr>
        <p:spPr>
          <a:xfrm>
            <a:off x="8275320" y="2267712"/>
            <a:ext cx="3364992"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مَا ← مَادَّتِي المُفَضَّلَةُ …</a:t>
            </a:r>
            <a:endParaRPr lang="ar-SA" sz="1600" dirty="0"/>
          </a:p>
        </p:txBody>
      </p:sp>
      <p:sp>
        <p:nvSpPr>
          <p:cNvPr id="22" name="Text 19"/>
          <p:cNvSpPr txBox="1"/>
          <p:nvPr/>
        </p:nvSpPr>
        <p:spPr>
          <a:xfrm>
            <a:off x="5001768" y="2267712"/>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Name it.</a:t>
            </a:r>
            <a:endParaRPr lang="en-US" sz="1100" dirty="0"/>
          </a:p>
        </p:txBody>
      </p:sp>
      <p:sp>
        <p:nvSpPr>
          <p:cNvPr id="23" name="Text 20"/>
          <p:cNvSpPr txBox="1"/>
          <p:nvPr/>
        </p:nvSpPr>
        <p:spPr>
          <a:xfrm>
            <a:off x="1051560" y="2267712"/>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 مَادَّتُكَ المُفَضَّلَةُ؟</a:t>
            </a:r>
            <a:endParaRPr lang="ar-SA" sz="1700" dirty="0"/>
          </a:p>
        </p:txBody>
      </p:sp>
      <p:sp>
        <p:nvSpPr>
          <p:cNvPr id="24" name="Text 21"/>
          <p:cNvSpPr txBox="1"/>
          <p:nvPr/>
        </p:nvSpPr>
        <p:spPr>
          <a:xfrm>
            <a:off x="566928" y="2267712"/>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8" name="Text 25"/>
          <p:cNvSpPr txBox="1"/>
          <p:nvPr/>
        </p:nvSpPr>
        <p:spPr>
          <a:xfrm>
            <a:off x="8275320" y="3054096"/>
            <a:ext cx="3364992"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لِمَاذَا ← لِأَنَّهَا … ← مُفِيدَةٌ</a:t>
            </a:r>
            <a:endParaRPr lang="ar-SA" sz="1600" dirty="0"/>
          </a:p>
        </p:txBody>
      </p:sp>
      <p:sp>
        <p:nvSpPr>
          <p:cNvPr id="29" name="Text 26"/>
          <p:cNvSpPr txBox="1"/>
          <p:nvPr/>
        </p:nvSpPr>
        <p:spPr>
          <a:xfrm>
            <a:off x="5001768" y="3054096"/>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Give a reason (agreement!).</a:t>
            </a:r>
            <a:endParaRPr lang="en-US" sz="1100" dirty="0"/>
          </a:p>
        </p:txBody>
      </p:sp>
      <p:sp>
        <p:nvSpPr>
          <p:cNvPr id="30" name="Text 27"/>
          <p:cNvSpPr txBox="1"/>
          <p:nvPr/>
        </p:nvSpPr>
        <p:spPr>
          <a:xfrm>
            <a:off x="1051560" y="3054096"/>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لِمَاذَا؟</a:t>
            </a:r>
            <a:endParaRPr lang="ar-SA" sz="1700" dirty="0"/>
          </a:p>
        </p:txBody>
      </p:sp>
      <p:sp>
        <p:nvSpPr>
          <p:cNvPr id="31" name="Text 28"/>
          <p:cNvSpPr txBox="1"/>
          <p:nvPr/>
        </p:nvSpPr>
        <p:spPr>
          <a:xfrm>
            <a:off x="566928" y="3054096"/>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2" name="Shape 29"/>
          <p:cNvSpPr/>
          <p:nvPr/>
        </p:nvSpPr>
        <p:spPr>
          <a:xfrm>
            <a:off x="11091672" y="3099816"/>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9981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5" name="Text 32"/>
          <p:cNvSpPr txBox="1"/>
          <p:nvPr/>
        </p:nvSpPr>
        <p:spPr>
          <a:xfrm>
            <a:off x="8275320" y="3840480"/>
            <a:ext cx="3364992"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هَلْ ← نَعَمْ / لَا ، لِأَنَّهُ …</a:t>
            </a:r>
            <a:endParaRPr lang="ar-SA" sz="1600" dirty="0"/>
          </a:p>
        </p:txBody>
      </p:sp>
      <p:sp>
        <p:nvSpPr>
          <p:cNvPr id="36" name="Text 33"/>
          <p:cNvSpPr txBox="1"/>
          <p:nvPr/>
        </p:nvSpPr>
        <p:spPr>
          <a:xfrm>
            <a:off x="5001768" y="3840480"/>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Answer yes / no + reason.</a:t>
            </a:r>
            <a:endParaRPr lang="en-US" sz="1100" dirty="0"/>
          </a:p>
        </p:txBody>
      </p:sp>
      <p:sp>
        <p:nvSpPr>
          <p:cNvPr id="37" name="Text 34"/>
          <p:cNvSpPr txBox="1"/>
          <p:nvPr/>
        </p:nvSpPr>
        <p:spPr>
          <a:xfrm>
            <a:off x="1051560" y="3840480"/>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هَلْ تُرِيدُ أَنْ تَدْرُسَ الفَنَّ أَيْضًا؟</a:t>
            </a:r>
            <a:endParaRPr lang="ar-SA" sz="1700" dirty="0"/>
          </a:p>
        </p:txBody>
      </p:sp>
      <p:sp>
        <p:nvSpPr>
          <p:cNvPr id="38" name="Text 35"/>
          <p:cNvSpPr txBox="1"/>
          <p:nvPr/>
        </p:nvSpPr>
        <p:spPr>
          <a:xfrm>
            <a:off x="566928" y="3840480"/>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9" name="Shape 36"/>
          <p:cNvSpPr/>
          <p:nvPr/>
        </p:nvSpPr>
        <p:spPr>
          <a:xfrm>
            <a:off x="11091672" y="3886200"/>
            <a:ext cx="548640" cy="182880"/>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1091672" y="388620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1" name="Shape 38"/>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42" name="Text 39"/>
          <p:cNvSpPr txBox="1"/>
          <p:nvPr/>
        </p:nvSpPr>
        <p:spPr>
          <a:xfrm>
            <a:off x="8275320" y="4626864"/>
            <a:ext cx="3364992"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لَا تُحِبُّ ← لَا أُحِبُّ … لِأَنَّهُ / لِأَنَّهَا …</a:t>
            </a:r>
            <a:endParaRPr lang="ar-SA" sz="1600" dirty="0"/>
          </a:p>
        </p:txBody>
      </p:sp>
      <p:sp>
        <p:nvSpPr>
          <p:cNvPr id="43" name="Text 40"/>
          <p:cNvSpPr txBox="1"/>
          <p:nvPr/>
        </p:nvSpPr>
        <p:spPr>
          <a:xfrm>
            <a:off x="5001768" y="4626864"/>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Name one + reason.</a:t>
            </a:r>
            <a:endParaRPr lang="en-US" sz="1100" dirty="0"/>
          </a:p>
        </p:txBody>
      </p:sp>
      <p:sp>
        <p:nvSpPr>
          <p:cNvPr id="44" name="Text 41"/>
          <p:cNvSpPr txBox="1"/>
          <p:nvPr/>
        </p:nvSpPr>
        <p:spPr>
          <a:xfrm>
            <a:off x="1051560" y="4626864"/>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وَمَا المَادَّةُ الَّتِي لَا تُحِبُّهَا؟</a:t>
            </a:r>
            <a:endParaRPr lang="ar-SA" sz="1700" dirty="0"/>
          </a:p>
        </p:txBody>
      </p:sp>
      <p:sp>
        <p:nvSpPr>
          <p:cNvPr id="45" name="Text 42"/>
          <p:cNvSpPr txBox="1"/>
          <p:nvPr/>
        </p:nvSpPr>
        <p:spPr>
          <a:xfrm>
            <a:off x="566928" y="4626864"/>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46" name="Shape 43"/>
          <p:cNvSpPr/>
          <p:nvPr/>
        </p:nvSpPr>
        <p:spPr>
          <a:xfrm>
            <a:off x="11091672" y="4672584"/>
            <a:ext cx="548640" cy="182880"/>
          </a:xfrm>
          <a:prstGeom prst="roundRect">
            <a:avLst>
              <a:gd name="adj" fmla="val 50000"/>
            </a:avLst>
          </a:prstGeom>
          <a:solidFill>
            <a:srgbClr val="2E8B57"/>
          </a:solidFill>
          <a:ln w="12700">
            <a:solidFill>
              <a:srgbClr val="2E8B57"/>
            </a:solidFill>
            <a:prstDash val="solid"/>
          </a:ln>
        </p:spPr>
      </p:sp>
      <p:sp>
        <p:nvSpPr>
          <p:cNvPr id="47" name="Text 44"/>
          <p:cNvSpPr txBox="1"/>
          <p:nvPr/>
        </p:nvSpPr>
        <p:spPr>
          <a:xfrm>
            <a:off x="11091672" y="467258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8" name="Text 45"/>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Speaker = a student · Leader = the form tutor. Read the plan for 1 minute, then hide it and speak. Then swap roles.</a:t>
            </a:r>
            <a:endParaRPr lang="en-US" sz="1150" dirty="0"/>
          </a:p>
        </p:txBody>
      </p:sp>
      <p:sp>
        <p:nvSpPr>
          <p:cNvPr id="49" name="Text 4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22</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F4-L01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5 · SHORT TALK · 30 SECONDS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30 seconds: my subjects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مَوَادِّي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F4-L01 · practice room</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STEP 5 · IN YOUR ROOM</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2200" b="1" dirty="0">
                <a:solidFill>
                  <a:srgbClr val="1B3B6F"/>
                </a:solidFill>
                <a:latin typeface="Calibri" pitchFamily="34" charset="0"/>
                <a:cs typeface="Amiri" pitchFamily="2" charset="-78"/>
              </a:rPr>
              <a:t>⏱  Talk for 30 seconds — no stopping</a:t>
            </a:r>
            <a:endParaRPr lang="en-US" sz="22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Talk for 30 seconds: the subjects you study, your favourite and least favourite — each with a reason.</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Think for 30 seconds: 3–4 key words, no sentences.</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Speaker talks; the Leader times it.</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Coach: one thing that went well + one thing to improve.</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Swap until everyone has spoken.</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rtl="1" algn="r" indent="0" marL="0">
              <a:buNone/>
            </a:pPr>
            <a:r>
              <a:rPr lang="ar-SA" altLang="en-US" sz="1450" dirty="0">
                <a:solidFill>
                  <a:srgbClr val="1F2A37"/>
                </a:solidFill>
                <a:latin typeface="Amiri" pitchFamily="2" charset="-78"/>
                <a:ea typeface="Amiri" pitchFamily="2" charset="-78"/>
                <a:cs typeface="Amiri" pitchFamily="2" charset="-78"/>
              </a:rPr>
              <a:t>أَدْرُسُ … · أُحِبُّ … · لَا أُحِبُّ …</a:t>
            </a:r>
            <a:endParaRPr lang="ar-SA" sz="14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Add a reason with </a:t>
            </a:r>
            <a:pPr algn="l" indent="0" marL="0">
              <a:buNone/>
            </a:pPr>
            <a:r>
              <a:rPr lang="ar-SA" altLang="en-US" sz="1500" dirty="0">
                <a:solidFill>
                  <a:srgbClr val="1F2A37"/>
                </a:solidFill>
                <a:latin typeface="Amiri" pitchFamily="2" charset="-78"/>
                <a:ea typeface="Amiri" pitchFamily="2" charset="-78"/>
                <a:cs typeface="Amiri" pitchFamily="2" charset="-78"/>
              </a:rPr>
              <a:t>لِأَنَّهُ / لِأَنَّهَا</a:t>
            </a:r>
            <a:pPr algn="l" indent="0" marL="0">
              <a:buNone/>
            </a:pPr>
            <a:r>
              <a:rPr lang="en-US" sz="1150" dirty="0">
                <a:solidFill>
                  <a:srgbClr val="1F2A37"/>
                </a:solidFill>
                <a:latin typeface="Calibri" pitchFamily="34" charset="0"/>
                <a:cs typeface="Amiri" pitchFamily="2" charset="-78"/>
              </a:rPr>
              <a:t> + an agreeing adjective.</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Add a friend’s favourite (</a:t>
            </a:r>
            <a:pPr algn="l" indent="0" marL="0">
              <a:buNone/>
            </a:pPr>
            <a:r>
              <a:rPr lang="ar-SA" altLang="en-US" sz="1500" dirty="0">
                <a:solidFill>
                  <a:srgbClr val="1F2A37"/>
                </a:solidFill>
                <a:latin typeface="Amiri" pitchFamily="2" charset="-78"/>
                <a:ea typeface="Amiri" pitchFamily="2" charset="-78"/>
                <a:cs typeface="Amiri" pitchFamily="2" charset="-78"/>
              </a:rPr>
              <a:t>صَدِيقِي يُحِبُّ</a:t>
            </a:r>
            <a:pPr algn="l" indent="0" marL="0">
              <a:buNone/>
            </a:pPr>
            <a:r>
              <a:rPr lang="en-US" sz="1150" dirty="0">
                <a:solidFill>
                  <a:srgbClr val="1F2A37"/>
                </a:solidFill>
                <a:latin typeface="Calibri" pitchFamily="34" charset="0"/>
                <a:cs typeface="Amiri" pitchFamily="2" charset="-78"/>
              </a:rPr>
              <a:t> …) and </a:t>
            </a:r>
            <a:pPr algn="l" indent="0" marL="0">
              <a:buNone/>
            </a:pPr>
            <a:r>
              <a:rPr lang="ar-SA" altLang="en-US" sz="1500" dirty="0">
                <a:solidFill>
                  <a:srgbClr val="1F2A37"/>
                </a:solidFill>
                <a:latin typeface="Amiri" pitchFamily="2" charset="-78"/>
                <a:ea typeface="Amiri" pitchFamily="2" charset="-78"/>
                <a:cs typeface="Amiri" pitchFamily="2" charset="-78"/>
              </a:rPr>
              <a:t>لٰكِنَّ</a:t>
            </a:r>
            <a:pPr algn="l" indent="0" marL="0">
              <a:buNone/>
            </a:pPr>
            <a:r>
              <a:rPr lang="en-US" sz="1150" dirty="0">
                <a:solidFill>
                  <a:srgbClr val="1F2A37"/>
                </a:solidFill>
                <a:latin typeface="Calibri" pitchFamily="34" charset="0"/>
                <a:cs typeface="Amiri" pitchFamily="2" charset="-78"/>
              </a:rPr>
              <a:t>.</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أَنَا … وَ…</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I am … and …</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عِنْدِي …</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I have …</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أُحِبُّ … لِأَنَّ …</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I like … because …</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وَأَيْضًا …</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and also …</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22</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F4-L01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PART B · STEP 6 · SENTENCE BUILDER · CHOOSE A OR B IN EACH COLUMN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Build three correct sentences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F4-L01 · practice room</a:t>
            </a:r>
            <a:endParaRPr lang="en-US" sz="850" dirty="0"/>
          </a:p>
        </p:txBody>
      </p:sp>
      <p:sp>
        <p:nvSpPr>
          <p:cNvPr id="15" name="Text 12"/>
          <p:cNvSpPr txBox="1"/>
          <p:nvPr/>
        </p:nvSpPr>
        <p:spPr>
          <a:xfrm>
            <a:off x="9180576"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1 · start here</a:t>
            </a:r>
            <a:endParaRPr lang="en-US" sz="1000" dirty="0"/>
          </a:p>
        </p:txBody>
      </p:sp>
      <p:sp>
        <p:nvSpPr>
          <p:cNvPr id="16" name="Text 13"/>
          <p:cNvSpPr txBox="1"/>
          <p:nvPr/>
        </p:nvSpPr>
        <p:spPr>
          <a:xfrm>
            <a:off x="6624828"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2</a:t>
            </a:r>
            <a:endParaRPr lang="en-US" sz="1000" dirty="0"/>
          </a:p>
        </p:txBody>
      </p:sp>
      <p:sp>
        <p:nvSpPr>
          <p:cNvPr id="17" name="Text 14"/>
          <p:cNvSpPr txBox="1"/>
          <p:nvPr/>
        </p:nvSpPr>
        <p:spPr>
          <a:xfrm>
            <a:off x="4069080"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3</a:t>
            </a:r>
            <a:endParaRPr lang="en-US" sz="1000" dirty="0"/>
          </a:p>
        </p:txBody>
      </p:sp>
      <p:sp>
        <p:nvSpPr>
          <p:cNvPr id="18" name="Shape 15"/>
          <p:cNvSpPr/>
          <p:nvPr/>
        </p:nvSpPr>
        <p:spPr>
          <a:xfrm>
            <a:off x="457200" y="2011680"/>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9" name="Shape 16"/>
          <p:cNvSpPr/>
          <p:nvPr/>
        </p:nvSpPr>
        <p:spPr>
          <a:xfrm>
            <a:off x="594360" y="2148840"/>
            <a:ext cx="365760" cy="365760"/>
          </a:xfrm>
          <a:prstGeom prst="ellipse">
            <a:avLst/>
          </a:prstGeom>
          <a:solidFill>
            <a:srgbClr val="2F6FB0"/>
          </a:solidFill>
          <a:ln w="12700">
            <a:solidFill>
              <a:srgbClr val="2F6FB0"/>
            </a:solidFill>
            <a:prstDash val="solid"/>
          </a:ln>
        </p:spPr>
      </p:sp>
      <p:sp>
        <p:nvSpPr>
          <p:cNvPr id="20" name="Text 17"/>
          <p:cNvSpPr txBox="1"/>
          <p:nvPr/>
        </p:nvSpPr>
        <p:spPr>
          <a:xfrm>
            <a:off x="594360" y="214884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21" name="Text 18"/>
          <p:cNvSpPr txBox="1"/>
          <p:nvPr/>
        </p:nvSpPr>
        <p:spPr>
          <a:xfrm>
            <a:off x="1051560" y="2121408"/>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I like science because it is useful.</a:t>
            </a:r>
            <a:endParaRPr lang="en-US" sz="1400" dirty="0"/>
          </a:p>
        </p:txBody>
      </p:sp>
      <p:sp>
        <p:nvSpPr>
          <p:cNvPr id="22" name="Shape 19"/>
          <p:cNvSpPr/>
          <p:nvPr/>
        </p:nvSpPr>
        <p:spPr>
          <a:xfrm>
            <a:off x="9180576" y="2103120"/>
            <a:ext cx="2414016" cy="512064"/>
          </a:xfrm>
          <a:prstGeom prst="roundRect">
            <a:avLst>
              <a:gd name="adj" fmla="val 10714"/>
            </a:avLst>
          </a:prstGeom>
          <a:solidFill>
            <a:srgbClr val="EEF3FA"/>
          </a:solidFill>
          <a:ln w="9525">
            <a:solidFill>
              <a:srgbClr val="C9D6EA"/>
            </a:solidFill>
            <a:prstDash val="solid"/>
          </a:ln>
        </p:spPr>
      </p:sp>
      <p:sp>
        <p:nvSpPr>
          <p:cNvPr id="23" name="Text 20"/>
          <p:cNvSpPr txBox="1"/>
          <p:nvPr/>
        </p:nvSpPr>
        <p:spPr>
          <a:xfrm>
            <a:off x="9235440"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24" name="Text 21"/>
          <p:cNvSpPr txBox="1"/>
          <p:nvPr/>
        </p:nvSpPr>
        <p:spPr>
          <a:xfrm>
            <a:off x="9500616"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أُحِبُّ العُلُومَ</a:t>
            </a:r>
            <a:endParaRPr lang="ar-SA" sz="1800" dirty="0"/>
          </a:p>
        </p:txBody>
      </p:sp>
      <p:sp>
        <p:nvSpPr>
          <p:cNvPr id="25" name="Shape 22"/>
          <p:cNvSpPr/>
          <p:nvPr/>
        </p:nvSpPr>
        <p:spPr>
          <a:xfrm>
            <a:off x="9180576" y="2670048"/>
            <a:ext cx="2414016" cy="512064"/>
          </a:xfrm>
          <a:prstGeom prst="roundRect">
            <a:avLst>
              <a:gd name="adj" fmla="val 10714"/>
            </a:avLst>
          </a:prstGeom>
          <a:solidFill>
            <a:srgbClr val="EEF3FA"/>
          </a:solidFill>
          <a:ln w="9525">
            <a:solidFill>
              <a:srgbClr val="C9D6EA"/>
            </a:solidFill>
            <a:prstDash val="solid"/>
          </a:ln>
        </p:spPr>
      </p:sp>
      <p:sp>
        <p:nvSpPr>
          <p:cNvPr id="26" name="Text 23"/>
          <p:cNvSpPr txBox="1"/>
          <p:nvPr/>
        </p:nvSpPr>
        <p:spPr>
          <a:xfrm>
            <a:off x="9235440"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27" name="Text 24"/>
          <p:cNvSpPr txBox="1"/>
          <p:nvPr/>
        </p:nvSpPr>
        <p:spPr>
          <a:xfrm>
            <a:off x="9500616"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أُحِبُّ العُلُومُ</a:t>
            </a:r>
            <a:endParaRPr lang="ar-SA" sz="1800" dirty="0"/>
          </a:p>
        </p:txBody>
      </p:sp>
      <p:sp>
        <p:nvSpPr>
          <p:cNvPr id="28" name="Shape 25"/>
          <p:cNvSpPr/>
          <p:nvPr/>
        </p:nvSpPr>
        <p:spPr>
          <a:xfrm>
            <a:off x="6624828" y="2103120"/>
            <a:ext cx="2414016" cy="512064"/>
          </a:xfrm>
          <a:prstGeom prst="roundRect">
            <a:avLst>
              <a:gd name="adj" fmla="val 10714"/>
            </a:avLst>
          </a:prstGeom>
          <a:solidFill>
            <a:srgbClr val="EEF3FA"/>
          </a:solidFill>
          <a:ln w="9525">
            <a:solidFill>
              <a:srgbClr val="C9D6EA"/>
            </a:solidFill>
            <a:prstDash val="solid"/>
          </a:ln>
        </p:spPr>
      </p:sp>
      <p:sp>
        <p:nvSpPr>
          <p:cNvPr id="29" name="Text 26"/>
          <p:cNvSpPr txBox="1"/>
          <p:nvPr/>
        </p:nvSpPr>
        <p:spPr>
          <a:xfrm>
            <a:off x="6679692"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0" name="Text 27"/>
          <p:cNvSpPr txBox="1"/>
          <p:nvPr/>
        </p:nvSpPr>
        <p:spPr>
          <a:xfrm>
            <a:off x="6944868"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لِأَنَّهَا</a:t>
            </a:r>
            <a:endParaRPr lang="ar-SA" sz="1800" dirty="0"/>
          </a:p>
        </p:txBody>
      </p:sp>
      <p:sp>
        <p:nvSpPr>
          <p:cNvPr id="31" name="Shape 28"/>
          <p:cNvSpPr/>
          <p:nvPr/>
        </p:nvSpPr>
        <p:spPr>
          <a:xfrm>
            <a:off x="6624828" y="2670048"/>
            <a:ext cx="2414016" cy="512064"/>
          </a:xfrm>
          <a:prstGeom prst="roundRect">
            <a:avLst>
              <a:gd name="adj" fmla="val 10714"/>
            </a:avLst>
          </a:prstGeom>
          <a:solidFill>
            <a:srgbClr val="EEF3FA"/>
          </a:solidFill>
          <a:ln w="9525">
            <a:solidFill>
              <a:srgbClr val="C9D6EA"/>
            </a:solidFill>
            <a:prstDash val="solid"/>
          </a:ln>
        </p:spPr>
      </p:sp>
      <p:sp>
        <p:nvSpPr>
          <p:cNvPr id="32" name="Text 29"/>
          <p:cNvSpPr txBox="1"/>
          <p:nvPr/>
        </p:nvSpPr>
        <p:spPr>
          <a:xfrm>
            <a:off x="6679692"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3" name="Text 30"/>
          <p:cNvSpPr txBox="1"/>
          <p:nvPr/>
        </p:nvSpPr>
        <p:spPr>
          <a:xfrm>
            <a:off x="6944868"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لِأَنَّهُ</a:t>
            </a:r>
            <a:endParaRPr lang="ar-SA" sz="1800" dirty="0"/>
          </a:p>
        </p:txBody>
      </p:sp>
      <p:sp>
        <p:nvSpPr>
          <p:cNvPr id="34" name="Shape 31"/>
          <p:cNvSpPr/>
          <p:nvPr/>
        </p:nvSpPr>
        <p:spPr>
          <a:xfrm>
            <a:off x="4069080" y="2103120"/>
            <a:ext cx="2414016" cy="512064"/>
          </a:xfrm>
          <a:prstGeom prst="roundRect">
            <a:avLst>
              <a:gd name="adj" fmla="val 10714"/>
            </a:avLst>
          </a:prstGeom>
          <a:solidFill>
            <a:srgbClr val="EEF3FA"/>
          </a:solidFill>
          <a:ln w="9525">
            <a:solidFill>
              <a:srgbClr val="C9D6EA"/>
            </a:solidFill>
            <a:prstDash val="solid"/>
          </a:ln>
        </p:spPr>
      </p:sp>
      <p:sp>
        <p:nvSpPr>
          <p:cNvPr id="35" name="Text 32"/>
          <p:cNvSpPr txBox="1"/>
          <p:nvPr/>
        </p:nvSpPr>
        <p:spPr>
          <a:xfrm>
            <a:off x="4123944"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6" name="Text 33"/>
          <p:cNvSpPr txBox="1"/>
          <p:nvPr/>
        </p:nvSpPr>
        <p:spPr>
          <a:xfrm>
            <a:off x="4389120"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مُفِيدَةٌ.</a:t>
            </a:r>
            <a:endParaRPr lang="ar-SA" sz="1800" dirty="0"/>
          </a:p>
        </p:txBody>
      </p:sp>
      <p:sp>
        <p:nvSpPr>
          <p:cNvPr id="37" name="Shape 34"/>
          <p:cNvSpPr/>
          <p:nvPr/>
        </p:nvSpPr>
        <p:spPr>
          <a:xfrm>
            <a:off x="4069080" y="2670048"/>
            <a:ext cx="2414016" cy="512064"/>
          </a:xfrm>
          <a:prstGeom prst="roundRect">
            <a:avLst>
              <a:gd name="adj" fmla="val 10714"/>
            </a:avLst>
          </a:prstGeom>
          <a:solidFill>
            <a:srgbClr val="EEF3FA"/>
          </a:solidFill>
          <a:ln w="9525">
            <a:solidFill>
              <a:srgbClr val="C9D6EA"/>
            </a:solidFill>
            <a:prstDash val="solid"/>
          </a:ln>
        </p:spPr>
      </p:sp>
      <p:sp>
        <p:nvSpPr>
          <p:cNvPr id="38" name="Text 35"/>
          <p:cNvSpPr txBox="1"/>
          <p:nvPr/>
        </p:nvSpPr>
        <p:spPr>
          <a:xfrm>
            <a:off x="4123944"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9" name="Text 36"/>
          <p:cNvSpPr txBox="1"/>
          <p:nvPr/>
        </p:nvSpPr>
        <p:spPr>
          <a:xfrm>
            <a:off x="4389120"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مُفِيدٌ.</a:t>
            </a:r>
            <a:endParaRPr lang="ar-SA" sz="1800" dirty="0"/>
          </a:p>
        </p:txBody>
      </p:sp>
      <p:sp>
        <p:nvSpPr>
          <p:cNvPr id="40" name="Shape 37"/>
          <p:cNvSpPr/>
          <p:nvPr/>
        </p:nvSpPr>
        <p:spPr>
          <a:xfrm>
            <a:off x="457200" y="3392424"/>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1" name="Shape 38"/>
          <p:cNvSpPr/>
          <p:nvPr/>
        </p:nvSpPr>
        <p:spPr>
          <a:xfrm>
            <a:off x="594360" y="3529584"/>
            <a:ext cx="365760" cy="365760"/>
          </a:xfrm>
          <a:prstGeom prst="ellipse">
            <a:avLst/>
          </a:prstGeom>
          <a:solidFill>
            <a:srgbClr val="2F6FB0"/>
          </a:solidFill>
          <a:ln w="12700">
            <a:solidFill>
              <a:srgbClr val="2F6FB0"/>
            </a:solidFill>
            <a:prstDash val="solid"/>
          </a:ln>
        </p:spPr>
      </p:sp>
      <p:sp>
        <p:nvSpPr>
          <p:cNvPr id="42" name="Text 39"/>
          <p:cNvSpPr txBox="1"/>
          <p:nvPr/>
        </p:nvSpPr>
        <p:spPr>
          <a:xfrm>
            <a:off x="594360" y="3529584"/>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43" name="Text 40"/>
          <p:cNvSpPr txBox="1"/>
          <p:nvPr/>
        </p:nvSpPr>
        <p:spPr>
          <a:xfrm>
            <a:off x="1051560" y="3502152"/>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Art is enjoyable and creative.</a:t>
            </a:r>
            <a:endParaRPr lang="en-US" sz="1400" dirty="0"/>
          </a:p>
        </p:txBody>
      </p:sp>
      <p:sp>
        <p:nvSpPr>
          <p:cNvPr id="44" name="Shape 41"/>
          <p:cNvSpPr/>
          <p:nvPr/>
        </p:nvSpPr>
        <p:spPr>
          <a:xfrm>
            <a:off x="9180576" y="3483864"/>
            <a:ext cx="2414016" cy="512064"/>
          </a:xfrm>
          <a:prstGeom prst="roundRect">
            <a:avLst>
              <a:gd name="adj" fmla="val 10714"/>
            </a:avLst>
          </a:prstGeom>
          <a:solidFill>
            <a:srgbClr val="EEF3FA"/>
          </a:solidFill>
          <a:ln w="9525">
            <a:solidFill>
              <a:srgbClr val="C9D6EA"/>
            </a:solidFill>
            <a:prstDash val="solid"/>
          </a:ln>
        </p:spPr>
      </p:sp>
      <p:sp>
        <p:nvSpPr>
          <p:cNvPr id="45" name="Text 42"/>
          <p:cNvSpPr txBox="1"/>
          <p:nvPr/>
        </p:nvSpPr>
        <p:spPr>
          <a:xfrm>
            <a:off x="9235440"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46" name="Text 43"/>
          <p:cNvSpPr txBox="1"/>
          <p:nvPr/>
        </p:nvSpPr>
        <p:spPr>
          <a:xfrm>
            <a:off x="9500616"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الفَنُّ</a:t>
            </a:r>
            <a:endParaRPr lang="ar-SA" sz="1800" dirty="0"/>
          </a:p>
        </p:txBody>
      </p:sp>
      <p:sp>
        <p:nvSpPr>
          <p:cNvPr id="47" name="Shape 44"/>
          <p:cNvSpPr/>
          <p:nvPr/>
        </p:nvSpPr>
        <p:spPr>
          <a:xfrm>
            <a:off x="9180576" y="4050792"/>
            <a:ext cx="2414016" cy="512064"/>
          </a:xfrm>
          <a:prstGeom prst="roundRect">
            <a:avLst>
              <a:gd name="adj" fmla="val 10714"/>
            </a:avLst>
          </a:prstGeom>
          <a:solidFill>
            <a:srgbClr val="EEF3FA"/>
          </a:solidFill>
          <a:ln w="9525">
            <a:solidFill>
              <a:srgbClr val="C9D6EA"/>
            </a:solidFill>
            <a:prstDash val="solid"/>
          </a:ln>
        </p:spPr>
      </p:sp>
      <p:sp>
        <p:nvSpPr>
          <p:cNvPr id="48" name="Text 45"/>
          <p:cNvSpPr txBox="1"/>
          <p:nvPr/>
        </p:nvSpPr>
        <p:spPr>
          <a:xfrm>
            <a:off x="9235440"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49" name="Text 46"/>
          <p:cNvSpPr txBox="1"/>
          <p:nvPr/>
        </p:nvSpPr>
        <p:spPr>
          <a:xfrm>
            <a:off x="9500616"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الفَنَّ</a:t>
            </a:r>
            <a:endParaRPr lang="ar-SA" sz="1800" dirty="0"/>
          </a:p>
        </p:txBody>
      </p:sp>
      <p:sp>
        <p:nvSpPr>
          <p:cNvPr id="50" name="Shape 47"/>
          <p:cNvSpPr/>
          <p:nvPr/>
        </p:nvSpPr>
        <p:spPr>
          <a:xfrm>
            <a:off x="6624828" y="3483864"/>
            <a:ext cx="2414016" cy="512064"/>
          </a:xfrm>
          <a:prstGeom prst="roundRect">
            <a:avLst>
              <a:gd name="adj" fmla="val 10714"/>
            </a:avLst>
          </a:prstGeom>
          <a:solidFill>
            <a:srgbClr val="EEF3FA"/>
          </a:solidFill>
          <a:ln w="9525">
            <a:solidFill>
              <a:srgbClr val="C9D6EA"/>
            </a:solidFill>
            <a:prstDash val="solid"/>
          </a:ln>
        </p:spPr>
      </p:sp>
      <p:sp>
        <p:nvSpPr>
          <p:cNvPr id="51" name="Text 48"/>
          <p:cNvSpPr txBox="1"/>
          <p:nvPr/>
        </p:nvSpPr>
        <p:spPr>
          <a:xfrm>
            <a:off x="6679692"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2" name="Text 49"/>
          <p:cNvSpPr txBox="1"/>
          <p:nvPr/>
        </p:nvSpPr>
        <p:spPr>
          <a:xfrm>
            <a:off x="6944868"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مُمْتِعٌ</a:t>
            </a:r>
            <a:endParaRPr lang="ar-SA" sz="1800" dirty="0"/>
          </a:p>
        </p:txBody>
      </p:sp>
      <p:sp>
        <p:nvSpPr>
          <p:cNvPr id="53" name="Shape 50"/>
          <p:cNvSpPr/>
          <p:nvPr/>
        </p:nvSpPr>
        <p:spPr>
          <a:xfrm>
            <a:off x="6624828" y="4050792"/>
            <a:ext cx="2414016" cy="512064"/>
          </a:xfrm>
          <a:prstGeom prst="roundRect">
            <a:avLst>
              <a:gd name="adj" fmla="val 10714"/>
            </a:avLst>
          </a:prstGeom>
          <a:solidFill>
            <a:srgbClr val="EEF3FA"/>
          </a:solidFill>
          <a:ln w="9525">
            <a:solidFill>
              <a:srgbClr val="C9D6EA"/>
            </a:solidFill>
            <a:prstDash val="solid"/>
          </a:ln>
        </p:spPr>
      </p:sp>
      <p:sp>
        <p:nvSpPr>
          <p:cNvPr id="54" name="Text 51"/>
          <p:cNvSpPr txBox="1"/>
          <p:nvPr/>
        </p:nvSpPr>
        <p:spPr>
          <a:xfrm>
            <a:off x="6679692"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55" name="Text 52"/>
          <p:cNvSpPr txBox="1"/>
          <p:nvPr/>
        </p:nvSpPr>
        <p:spPr>
          <a:xfrm>
            <a:off x="6944868"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مُمْتِعَةٌ</a:t>
            </a:r>
            <a:endParaRPr lang="ar-SA" sz="1800" dirty="0"/>
          </a:p>
        </p:txBody>
      </p:sp>
      <p:sp>
        <p:nvSpPr>
          <p:cNvPr id="56" name="Shape 53"/>
          <p:cNvSpPr/>
          <p:nvPr/>
        </p:nvSpPr>
        <p:spPr>
          <a:xfrm>
            <a:off x="4069080" y="3483864"/>
            <a:ext cx="2414016" cy="512064"/>
          </a:xfrm>
          <a:prstGeom prst="roundRect">
            <a:avLst>
              <a:gd name="adj" fmla="val 10714"/>
            </a:avLst>
          </a:prstGeom>
          <a:solidFill>
            <a:srgbClr val="EEF3FA"/>
          </a:solidFill>
          <a:ln w="9525">
            <a:solidFill>
              <a:srgbClr val="C9D6EA"/>
            </a:solidFill>
            <a:prstDash val="solid"/>
          </a:ln>
        </p:spPr>
      </p:sp>
      <p:sp>
        <p:nvSpPr>
          <p:cNvPr id="57" name="Text 54"/>
          <p:cNvSpPr txBox="1"/>
          <p:nvPr/>
        </p:nvSpPr>
        <p:spPr>
          <a:xfrm>
            <a:off x="4123944"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8" name="Text 55"/>
          <p:cNvSpPr txBox="1"/>
          <p:nvPr/>
        </p:nvSpPr>
        <p:spPr>
          <a:xfrm>
            <a:off x="4389120"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وَإِبْدَاعِيٌّ.</a:t>
            </a:r>
            <a:endParaRPr lang="ar-SA" sz="1800" dirty="0"/>
          </a:p>
        </p:txBody>
      </p:sp>
      <p:sp>
        <p:nvSpPr>
          <p:cNvPr id="59" name="Shape 56"/>
          <p:cNvSpPr/>
          <p:nvPr/>
        </p:nvSpPr>
        <p:spPr>
          <a:xfrm>
            <a:off x="4069080" y="4050792"/>
            <a:ext cx="2414016" cy="512064"/>
          </a:xfrm>
          <a:prstGeom prst="roundRect">
            <a:avLst>
              <a:gd name="adj" fmla="val 10714"/>
            </a:avLst>
          </a:prstGeom>
          <a:solidFill>
            <a:srgbClr val="EEF3FA"/>
          </a:solidFill>
          <a:ln w="9525">
            <a:solidFill>
              <a:srgbClr val="C9D6EA"/>
            </a:solidFill>
            <a:prstDash val="solid"/>
          </a:ln>
        </p:spPr>
      </p:sp>
      <p:sp>
        <p:nvSpPr>
          <p:cNvPr id="60" name="Text 57"/>
          <p:cNvSpPr txBox="1"/>
          <p:nvPr/>
        </p:nvSpPr>
        <p:spPr>
          <a:xfrm>
            <a:off x="4123944"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61" name="Text 58"/>
          <p:cNvSpPr txBox="1"/>
          <p:nvPr/>
        </p:nvSpPr>
        <p:spPr>
          <a:xfrm>
            <a:off x="4389120"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وَإِبْدَاعِيَّةٌ.</a:t>
            </a:r>
            <a:endParaRPr lang="ar-SA" sz="1800" dirty="0"/>
          </a:p>
        </p:txBody>
      </p:sp>
      <p:sp>
        <p:nvSpPr>
          <p:cNvPr id="62" name="Shape 59"/>
          <p:cNvSpPr/>
          <p:nvPr/>
        </p:nvSpPr>
        <p:spPr>
          <a:xfrm>
            <a:off x="457200" y="4773168"/>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594360" y="4910328"/>
            <a:ext cx="365760" cy="365760"/>
          </a:xfrm>
          <a:prstGeom prst="ellipse">
            <a:avLst/>
          </a:prstGeom>
          <a:solidFill>
            <a:srgbClr val="2F6FB0"/>
          </a:solidFill>
          <a:ln w="12700">
            <a:solidFill>
              <a:srgbClr val="2F6FB0"/>
            </a:solidFill>
            <a:prstDash val="solid"/>
          </a:ln>
        </p:spPr>
      </p:sp>
      <p:sp>
        <p:nvSpPr>
          <p:cNvPr id="64" name="Text 61"/>
          <p:cNvSpPr txBox="1"/>
          <p:nvPr/>
        </p:nvSpPr>
        <p:spPr>
          <a:xfrm>
            <a:off x="59436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65" name="Text 62"/>
          <p:cNvSpPr txBox="1"/>
          <p:nvPr/>
        </p:nvSpPr>
        <p:spPr>
          <a:xfrm>
            <a:off x="1051560" y="4882896"/>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My sister studies computer science.</a:t>
            </a:r>
            <a:endParaRPr lang="en-US" sz="1400" dirty="0"/>
          </a:p>
        </p:txBody>
      </p:sp>
      <p:sp>
        <p:nvSpPr>
          <p:cNvPr id="66" name="Shape 63"/>
          <p:cNvSpPr/>
          <p:nvPr/>
        </p:nvSpPr>
        <p:spPr>
          <a:xfrm>
            <a:off x="9180576" y="4864608"/>
            <a:ext cx="2414016" cy="512064"/>
          </a:xfrm>
          <a:prstGeom prst="roundRect">
            <a:avLst>
              <a:gd name="adj" fmla="val 10714"/>
            </a:avLst>
          </a:prstGeom>
          <a:solidFill>
            <a:srgbClr val="EEF3FA"/>
          </a:solidFill>
          <a:ln w="9525">
            <a:solidFill>
              <a:srgbClr val="C9D6EA"/>
            </a:solidFill>
            <a:prstDash val="solid"/>
          </a:ln>
        </p:spPr>
      </p:sp>
      <p:sp>
        <p:nvSpPr>
          <p:cNvPr id="67" name="Text 64"/>
          <p:cNvSpPr txBox="1"/>
          <p:nvPr/>
        </p:nvSpPr>
        <p:spPr>
          <a:xfrm>
            <a:off x="9235440"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68" name="Text 65"/>
          <p:cNvSpPr txBox="1"/>
          <p:nvPr/>
        </p:nvSpPr>
        <p:spPr>
          <a:xfrm>
            <a:off x="9500616"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أُخْتِي</a:t>
            </a:r>
            <a:endParaRPr lang="ar-SA" sz="1800" dirty="0"/>
          </a:p>
        </p:txBody>
      </p:sp>
      <p:sp>
        <p:nvSpPr>
          <p:cNvPr id="69" name="Shape 66"/>
          <p:cNvSpPr/>
          <p:nvPr/>
        </p:nvSpPr>
        <p:spPr>
          <a:xfrm>
            <a:off x="9180576" y="5431536"/>
            <a:ext cx="2414016" cy="512064"/>
          </a:xfrm>
          <a:prstGeom prst="roundRect">
            <a:avLst>
              <a:gd name="adj" fmla="val 10714"/>
            </a:avLst>
          </a:prstGeom>
          <a:solidFill>
            <a:srgbClr val="EEF3FA"/>
          </a:solidFill>
          <a:ln w="9525">
            <a:solidFill>
              <a:srgbClr val="C9D6EA"/>
            </a:solidFill>
            <a:prstDash val="solid"/>
          </a:ln>
        </p:spPr>
      </p:sp>
      <p:sp>
        <p:nvSpPr>
          <p:cNvPr id="70" name="Text 67"/>
          <p:cNvSpPr txBox="1"/>
          <p:nvPr/>
        </p:nvSpPr>
        <p:spPr>
          <a:xfrm>
            <a:off x="9235440"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1" name="Text 68"/>
          <p:cNvSpPr txBox="1"/>
          <p:nvPr/>
        </p:nvSpPr>
        <p:spPr>
          <a:xfrm>
            <a:off x="9500616"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أَخِي</a:t>
            </a:r>
            <a:endParaRPr lang="ar-SA" sz="1800" dirty="0"/>
          </a:p>
        </p:txBody>
      </p:sp>
      <p:sp>
        <p:nvSpPr>
          <p:cNvPr id="72" name="Shape 69"/>
          <p:cNvSpPr/>
          <p:nvPr/>
        </p:nvSpPr>
        <p:spPr>
          <a:xfrm>
            <a:off x="6624828" y="4864608"/>
            <a:ext cx="2414016" cy="512064"/>
          </a:xfrm>
          <a:prstGeom prst="roundRect">
            <a:avLst>
              <a:gd name="adj" fmla="val 10714"/>
            </a:avLst>
          </a:prstGeom>
          <a:solidFill>
            <a:srgbClr val="EEF3FA"/>
          </a:solidFill>
          <a:ln w="9525">
            <a:solidFill>
              <a:srgbClr val="C9D6EA"/>
            </a:solidFill>
            <a:prstDash val="solid"/>
          </a:ln>
        </p:spPr>
      </p:sp>
      <p:sp>
        <p:nvSpPr>
          <p:cNvPr id="73" name="Text 70"/>
          <p:cNvSpPr txBox="1"/>
          <p:nvPr/>
        </p:nvSpPr>
        <p:spPr>
          <a:xfrm>
            <a:off x="6679692"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74" name="Text 71"/>
          <p:cNvSpPr txBox="1"/>
          <p:nvPr/>
        </p:nvSpPr>
        <p:spPr>
          <a:xfrm>
            <a:off x="6944868"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تَدْرُسُ</a:t>
            </a:r>
            <a:endParaRPr lang="ar-SA" sz="1800" dirty="0"/>
          </a:p>
        </p:txBody>
      </p:sp>
      <p:sp>
        <p:nvSpPr>
          <p:cNvPr id="75" name="Shape 72"/>
          <p:cNvSpPr/>
          <p:nvPr/>
        </p:nvSpPr>
        <p:spPr>
          <a:xfrm>
            <a:off x="6624828" y="5431536"/>
            <a:ext cx="2414016" cy="512064"/>
          </a:xfrm>
          <a:prstGeom prst="roundRect">
            <a:avLst>
              <a:gd name="adj" fmla="val 10714"/>
            </a:avLst>
          </a:prstGeom>
          <a:solidFill>
            <a:srgbClr val="EEF3FA"/>
          </a:solidFill>
          <a:ln w="9525">
            <a:solidFill>
              <a:srgbClr val="C9D6EA"/>
            </a:solidFill>
            <a:prstDash val="solid"/>
          </a:ln>
        </p:spPr>
      </p:sp>
      <p:sp>
        <p:nvSpPr>
          <p:cNvPr id="76" name="Text 73"/>
          <p:cNvSpPr txBox="1"/>
          <p:nvPr/>
        </p:nvSpPr>
        <p:spPr>
          <a:xfrm>
            <a:off x="6679692"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7" name="Text 74"/>
          <p:cNvSpPr txBox="1"/>
          <p:nvPr/>
        </p:nvSpPr>
        <p:spPr>
          <a:xfrm>
            <a:off x="6944868"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يَدْرُسُ</a:t>
            </a:r>
            <a:endParaRPr lang="ar-SA" sz="1800" dirty="0"/>
          </a:p>
        </p:txBody>
      </p:sp>
      <p:sp>
        <p:nvSpPr>
          <p:cNvPr id="78" name="Shape 75"/>
          <p:cNvSpPr/>
          <p:nvPr/>
        </p:nvSpPr>
        <p:spPr>
          <a:xfrm>
            <a:off x="4069080" y="4864608"/>
            <a:ext cx="2414016" cy="512064"/>
          </a:xfrm>
          <a:prstGeom prst="roundRect">
            <a:avLst>
              <a:gd name="adj" fmla="val 10714"/>
            </a:avLst>
          </a:prstGeom>
          <a:solidFill>
            <a:srgbClr val="EEF3FA"/>
          </a:solidFill>
          <a:ln w="9525">
            <a:solidFill>
              <a:srgbClr val="C9D6EA"/>
            </a:solidFill>
            <a:prstDash val="solid"/>
          </a:ln>
        </p:spPr>
      </p:sp>
      <p:sp>
        <p:nvSpPr>
          <p:cNvPr id="79" name="Text 76"/>
          <p:cNvSpPr txBox="1"/>
          <p:nvPr/>
        </p:nvSpPr>
        <p:spPr>
          <a:xfrm>
            <a:off x="4123944"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80" name="Text 77"/>
          <p:cNvSpPr txBox="1"/>
          <p:nvPr/>
        </p:nvSpPr>
        <p:spPr>
          <a:xfrm>
            <a:off x="4389120"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عِلْمَ الحَاسُوبِ.</a:t>
            </a:r>
            <a:endParaRPr lang="ar-SA" sz="1800" dirty="0"/>
          </a:p>
        </p:txBody>
      </p:sp>
      <p:sp>
        <p:nvSpPr>
          <p:cNvPr id="81" name="Shape 78"/>
          <p:cNvSpPr/>
          <p:nvPr/>
        </p:nvSpPr>
        <p:spPr>
          <a:xfrm>
            <a:off x="4069080" y="5431536"/>
            <a:ext cx="2414016" cy="512064"/>
          </a:xfrm>
          <a:prstGeom prst="roundRect">
            <a:avLst>
              <a:gd name="adj" fmla="val 10714"/>
            </a:avLst>
          </a:prstGeom>
          <a:solidFill>
            <a:srgbClr val="EEF3FA"/>
          </a:solidFill>
          <a:ln w="9525">
            <a:solidFill>
              <a:srgbClr val="C9D6EA"/>
            </a:solidFill>
            <a:prstDash val="solid"/>
          </a:ln>
        </p:spPr>
      </p:sp>
      <p:sp>
        <p:nvSpPr>
          <p:cNvPr id="82" name="Text 79"/>
          <p:cNvSpPr txBox="1"/>
          <p:nvPr/>
        </p:nvSpPr>
        <p:spPr>
          <a:xfrm>
            <a:off x="4123944"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83" name="Text 80"/>
          <p:cNvSpPr txBox="1"/>
          <p:nvPr/>
        </p:nvSpPr>
        <p:spPr>
          <a:xfrm>
            <a:off x="4389120"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عِلْمُ الحَاسُوبِ.</a:t>
            </a:r>
            <a:endParaRPr lang="ar-SA" sz="180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22</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F4-L01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6 · CHECK YOUR SENTENCES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builder: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F4-L01 · practice room</a:t>
            </a:r>
            <a:endParaRPr lang="en-US" sz="850" dirty="0"/>
          </a:p>
        </p:txBody>
      </p:sp>
      <p:sp>
        <p:nvSpPr>
          <p:cNvPr id="15" name="Shape 12"/>
          <p:cNvSpPr/>
          <p:nvPr/>
        </p:nvSpPr>
        <p:spPr>
          <a:xfrm>
            <a:off x="457200" y="1810512"/>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47672"/>
            <a:ext cx="365760" cy="365760"/>
          </a:xfrm>
          <a:prstGeom prst="ellipse">
            <a:avLst/>
          </a:prstGeom>
          <a:solidFill>
            <a:srgbClr val="2E8B57"/>
          </a:solidFill>
          <a:ln w="12700">
            <a:solidFill>
              <a:srgbClr val="2E8B57"/>
            </a:solidFill>
            <a:prstDash val="solid"/>
          </a:ln>
        </p:spPr>
      </p:sp>
      <p:sp>
        <p:nvSpPr>
          <p:cNvPr id="17" name="Text 14"/>
          <p:cNvSpPr txBox="1"/>
          <p:nvPr/>
        </p:nvSpPr>
        <p:spPr>
          <a:xfrm>
            <a:off x="640080" y="1947672"/>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Text 15"/>
          <p:cNvSpPr txBox="1"/>
          <p:nvPr/>
        </p:nvSpPr>
        <p:spPr>
          <a:xfrm>
            <a:off x="1143000" y="1901952"/>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I like science because it is useful.</a:t>
            </a:r>
            <a:endParaRPr lang="en-US" sz="1300" dirty="0"/>
          </a:p>
        </p:txBody>
      </p:sp>
      <p:sp>
        <p:nvSpPr>
          <p:cNvPr id="19" name="Text 16"/>
          <p:cNvSpPr txBox="1"/>
          <p:nvPr/>
        </p:nvSpPr>
        <p:spPr>
          <a:xfrm>
            <a:off x="1143000" y="2359152"/>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20" name="Text 17"/>
          <p:cNvSpPr txBox="1"/>
          <p:nvPr/>
        </p:nvSpPr>
        <p:spPr>
          <a:xfrm>
            <a:off x="1143000" y="2633472"/>
            <a:ext cx="3291840" cy="438912"/>
          </a:xfrm>
          <a:prstGeom prst="rect">
            <a:avLst/>
          </a:prstGeom>
          <a:noFill/>
          <a:ln/>
        </p:spPr>
        <p:txBody>
          <a:bodyPr wrap="square" lIns="0" tIns="0" rIns="0" bIns="0" rtlCol="0" anchor="ctr"/>
          <a:lstStyle/>
          <a:p>
            <a:pPr algn="l" indent="0" marL="0">
              <a:buNone/>
            </a:pPr>
            <a:r>
              <a:rPr lang="ar-SA" altLang="en-US" sz="1350" dirty="0">
                <a:solidFill>
                  <a:srgbClr val="5A6472"/>
                </a:solidFill>
                <a:latin typeface="Amiri" pitchFamily="2" charset="-78"/>
                <a:ea typeface="Amiri" pitchFamily="2" charset="-78"/>
                <a:cs typeface="Amiri" pitchFamily="2" charset="-78"/>
              </a:rPr>
              <a:t>العُلُومُ</a:t>
            </a:r>
            <a:pPr algn="l" indent="0" marL="0">
              <a:buNone/>
            </a:pPr>
            <a:r>
              <a:rPr lang="en-US" sz="1050" i="1" dirty="0">
                <a:solidFill>
                  <a:srgbClr val="5A6472"/>
                </a:solidFill>
                <a:latin typeface="Calibri" pitchFamily="34" charset="0"/>
                <a:cs typeface="Amiri" pitchFamily="2" charset="-78"/>
              </a:rPr>
              <a:t> (plural, non-human) → </a:t>
            </a:r>
            <a:pPr algn="l" indent="0" marL="0">
              <a:buNone/>
            </a:pPr>
            <a:r>
              <a:rPr lang="ar-SA" altLang="en-US" sz="1350" dirty="0">
                <a:solidFill>
                  <a:srgbClr val="5A6472"/>
                </a:solidFill>
                <a:latin typeface="Amiri" pitchFamily="2" charset="-78"/>
                <a:ea typeface="Amiri" pitchFamily="2" charset="-78"/>
                <a:cs typeface="Amiri" pitchFamily="2" charset="-78"/>
              </a:rPr>
              <a:t>لِأَنَّهَا مُفِيدَةٌ</a:t>
            </a:r>
            <a:pPr algn="l" indent="0" marL="0">
              <a:buNone/>
            </a:pPr>
            <a:r>
              <a:rPr lang="en-US" sz="1050" i="1" dirty="0">
                <a:solidFill>
                  <a:srgbClr val="5A6472"/>
                </a:solidFill>
                <a:latin typeface="Calibri" pitchFamily="34" charset="0"/>
                <a:cs typeface="Amiri" pitchFamily="2" charset="-78"/>
              </a:rPr>
              <a:t>.</a:t>
            </a:r>
            <a:endParaRPr lang="en-US" sz="1050" dirty="0"/>
          </a:p>
        </p:txBody>
      </p:sp>
      <p:sp>
        <p:nvSpPr>
          <p:cNvPr id="21" name="Text 18"/>
          <p:cNvSpPr txBox="1"/>
          <p:nvPr/>
        </p:nvSpPr>
        <p:spPr>
          <a:xfrm>
            <a:off x="4572000" y="1901952"/>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أُحِبُّ العُلُومَ لِأَنَّهَا مُفِيدَةٌ.</a:t>
            </a:r>
            <a:endParaRPr lang="ar-SA" sz="2800" dirty="0"/>
          </a:p>
        </p:txBody>
      </p:sp>
      <p:sp>
        <p:nvSpPr>
          <p:cNvPr id="22" name="Shape 19"/>
          <p:cNvSpPr/>
          <p:nvPr/>
        </p:nvSpPr>
        <p:spPr>
          <a:xfrm>
            <a:off x="457200" y="3291840"/>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640080" y="3429000"/>
            <a:ext cx="365760" cy="365760"/>
          </a:xfrm>
          <a:prstGeom prst="ellipse">
            <a:avLst/>
          </a:prstGeom>
          <a:solidFill>
            <a:srgbClr val="2E8B57"/>
          </a:solidFill>
          <a:ln w="12700">
            <a:solidFill>
              <a:srgbClr val="2E8B57"/>
            </a:solidFill>
            <a:prstDash val="solid"/>
          </a:ln>
        </p:spPr>
      </p:sp>
      <p:sp>
        <p:nvSpPr>
          <p:cNvPr id="24" name="Text 21"/>
          <p:cNvSpPr txBox="1"/>
          <p:nvPr/>
        </p:nvSpPr>
        <p:spPr>
          <a:xfrm>
            <a:off x="640080" y="342900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25" name="Text 22"/>
          <p:cNvSpPr txBox="1"/>
          <p:nvPr/>
        </p:nvSpPr>
        <p:spPr>
          <a:xfrm>
            <a:off x="1143000" y="3383280"/>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Art is enjoyable and creative.</a:t>
            </a:r>
            <a:endParaRPr lang="en-US" sz="1300" dirty="0"/>
          </a:p>
        </p:txBody>
      </p:sp>
      <p:sp>
        <p:nvSpPr>
          <p:cNvPr id="26" name="Text 23"/>
          <p:cNvSpPr txBox="1"/>
          <p:nvPr/>
        </p:nvSpPr>
        <p:spPr>
          <a:xfrm>
            <a:off x="1143000" y="3840480"/>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27" name="Text 24"/>
          <p:cNvSpPr txBox="1"/>
          <p:nvPr/>
        </p:nvSpPr>
        <p:spPr>
          <a:xfrm>
            <a:off x="1143000" y="4114800"/>
            <a:ext cx="3291840" cy="438912"/>
          </a:xfrm>
          <a:prstGeom prst="rect">
            <a:avLst/>
          </a:prstGeom>
          <a:noFill/>
          <a:ln/>
        </p:spPr>
        <p:txBody>
          <a:bodyPr wrap="square" lIns="0" tIns="0" rIns="0" bIns="0" rtlCol="0" anchor="ctr"/>
          <a:lstStyle/>
          <a:p>
            <a:pPr algn="l" indent="0" marL="0">
              <a:buNone/>
            </a:pPr>
            <a:r>
              <a:rPr lang="ar-SA" altLang="en-US" sz="1350" dirty="0">
                <a:solidFill>
                  <a:srgbClr val="5A6472"/>
                </a:solidFill>
                <a:latin typeface="Amiri" pitchFamily="2" charset="-78"/>
                <a:ea typeface="Amiri" pitchFamily="2" charset="-78"/>
                <a:cs typeface="Amiri" pitchFamily="2" charset="-78"/>
              </a:rPr>
              <a:t>الفَنُّ</a:t>
            </a:r>
            <a:pPr algn="l" indent="0" marL="0">
              <a:buNone/>
            </a:pPr>
            <a:r>
              <a:rPr lang="en-US" sz="1050" i="1" dirty="0">
                <a:solidFill>
                  <a:srgbClr val="5A6472"/>
                </a:solidFill>
                <a:latin typeface="Calibri" pitchFamily="34" charset="0"/>
                <a:cs typeface="Amiri" pitchFamily="2" charset="-78"/>
              </a:rPr>
              <a:t> is masculine → masculine adjectives.</a:t>
            </a:r>
            <a:endParaRPr lang="en-US" sz="1050" dirty="0"/>
          </a:p>
        </p:txBody>
      </p:sp>
      <p:sp>
        <p:nvSpPr>
          <p:cNvPr id="28" name="Text 25"/>
          <p:cNvSpPr txBox="1"/>
          <p:nvPr/>
        </p:nvSpPr>
        <p:spPr>
          <a:xfrm>
            <a:off x="4572000" y="3383280"/>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الفَنُّ مُمْتِعٌ وَإِبْدَاعِيٌّ.</a:t>
            </a:r>
            <a:endParaRPr lang="ar-SA" sz="2800" dirty="0"/>
          </a:p>
        </p:txBody>
      </p:sp>
      <p:sp>
        <p:nvSpPr>
          <p:cNvPr id="29" name="Shape 26"/>
          <p:cNvSpPr/>
          <p:nvPr/>
        </p:nvSpPr>
        <p:spPr>
          <a:xfrm>
            <a:off x="457200" y="4773168"/>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640080" y="4910328"/>
            <a:ext cx="365760" cy="365760"/>
          </a:xfrm>
          <a:prstGeom prst="ellipse">
            <a:avLst/>
          </a:prstGeom>
          <a:solidFill>
            <a:srgbClr val="2E8B57"/>
          </a:solidFill>
          <a:ln w="12700">
            <a:solidFill>
              <a:srgbClr val="2E8B57"/>
            </a:solidFill>
            <a:prstDash val="solid"/>
          </a:ln>
        </p:spPr>
      </p:sp>
      <p:sp>
        <p:nvSpPr>
          <p:cNvPr id="31" name="Text 28"/>
          <p:cNvSpPr txBox="1"/>
          <p:nvPr/>
        </p:nvSpPr>
        <p:spPr>
          <a:xfrm>
            <a:off x="64008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32" name="Text 29"/>
          <p:cNvSpPr txBox="1"/>
          <p:nvPr/>
        </p:nvSpPr>
        <p:spPr>
          <a:xfrm>
            <a:off x="1143000" y="4864608"/>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My sister studies computer science.</a:t>
            </a:r>
            <a:endParaRPr lang="en-US" sz="1300" dirty="0"/>
          </a:p>
        </p:txBody>
      </p:sp>
      <p:sp>
        <p:nvSpPr>
          <p:cNvPr id="33" name="Text 30"/>
          <p:cNvSpPr txBox="1"/>
          <p:nvPr/>
        </p:nvSpPr>
        <p:spPr>
          <a:xfrm>
            <a:off x="1143000" y="5321808"/>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34" name="Text 31"/>
          <p:cNvSpPr txBox="1"/>
          <p:nvPr/>
        </p:nvSpPr>
        <p:spPr>
          <a:xfrm>
            <a:off x="1143000" y="5596128"/>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She → </a:t>
            </a:r>
            <a:pPr algn="l" indent="0" marL="0">
              <a:buNone/>
            </a:pPr>
            <a:r>
              <a:rPr lang="ar-SA" altLang="en-US" sz="1350" dirty="0">
                <a:solidFill>
                  <a:srgbClr val="5A6472"/>
                </a:solidFill>
                <a:latin typeface="Amiri" pitchFamily="2" charset="-78"/>
                <a:ea typeface="Amiri" pitchFamily="2" charset="-78"/>
                <a:cs typeface="Amiri" pitchFamily="2" charset="-78"/>
              </a:rPr>
              <a:t>تَدْرُسُ</a:t>
            </a:r>
            <a:pPr algn="l" indent="0" marL="0">
              <a:buNone/>
            </a:pPr>
            <a:r>
              <a:rPr lang="en-US" sz="1050" i="1" dirty="0">
                <a:solidFill>
                  <a:srgbClr val="5A6472"/>
                </a:solidFill>
                <a:latin typeface="Calibri" pitchFamily="34" charset="0"/>
                <a:cs typeface="Amiri" pitchFamily="2" charset="-78"/>
              </a:rPr>
              <a:t>; the subject is the object → </a:t>
            </a:r>
            <a:pPr algn="l" indent="0" marL="0">
              <a:buNone/>
            </a:pPr>
            <a:r>
              <a:rPr lang="ar-SA" altLang="en-US" sz="1350" dirty="0">
                <a:solidFill>
                  <a:srgbClr val="5A6472"/>
                </a:solidFill>
                <a:latin typeface="Amiri" pitchFamily="2" charset="-78"/>
                <a:ea typeface="Amiri" pitchFamily="2" charset="-78"/>
                <a:cs typeface="Amiri" pitchFamily="2" charset="-78"/>
              </a:rPr>
              <a:t>عِلْمَ</a:t>
            </a:r>
            <a:pPr algn="l" indent="0" marL="0">
              <a:buNone/>
            </a:pPr>
            <a:r>
              <a:rPr lang="en-US" sz="1050" i="1" dirty="0">
                <a:solidFill>
                  <a:srgbClr val="5A6472"/>
                </a:solidFill>
                <a:latin typeface="Calibri" pitchFamily="34" charset="0"/>
                <a:cs typeface="Amiri" pitchFamily="2" charset="-78"/>
              </a:rPr>
              <a:t>.</a:t>
            </a:r>
            <a:endParaRPr lang="en-US" sz="1050" dirty="0"/>
          </a:p>
        </p:txBody>
      </p:sp>
      <p:sp>
        <p:nvSpPr>
          <p:cNvPr id="35" name="Text 32"/>
          <p:cNvSpPr txBox="1"/>
          <p:nvPr/>
        </p:nvSpPr>
        <p:spPr>
          <a:xfrm>
            <a:off x="4572000" y="4864608"/>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أُخْتِي تَدْرُسُ عِلْمَ الحَاسُوبِ.</a:t>
            </a:r>
            <a:endParaRPr lang="ar-SA" sz="280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22</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F4-L01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STEP 7 · SPOT AND FIX · MISTAKES STUDENTS OFTEN MAKE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Find the mistake, fix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F4-L01 · practice room</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أُحِبُّ الرِّيَاضِيَّاتِ لِأَنَّهُ سَهْلٌ.</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ar-SA" altLang="en-US" sz="1700" dirty="0">
                <a:solidFill>
                  <a:srgbClr val="5A6472"/>
                </a:solidFill>
                <a:latin typeface="Amiri" pitchFamily="2" charset="-78"/>
                <a:ea typeface="Amiri" pitchFamily="2" charset="-78"/>
                <a:cs typeface="Amiri" pitchFamily="2" charset="-78"/>
              </a:rPr>
              <a:t>الرِّيَاضِيَّاتُ</a:t>
            </a:r>
            <a:pPr algn="l" indent="0" marL="0">
              <a:buNone/>
            </a:pPr>
            <a:r>
              <a:rPr lang="en-US" sz="1300" i="1" dirty="0">
                <a:solidFill>
                  <a:srgbClr val="5A6472"/>
                </a:solidFill>
                <a:latin typeface="Calibri" pitchFamily="34" charset="0"/>
                <a:cs typeface="Amiri" pitchFamily="2" charset="-78"/>
              </a:rPr>
              <a:t> is a non-human plural.</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مَادَّتِي المُفَضَّلُ الجُغْرَافِيَا.</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ar-SA" altLang="en-US" sz="1700" dirty="0">
                <a:solidFill>
                  <a:srgbClr val="5A6472"/>
                </a:solidFill>
                <a:latin typeface="Amiri" pitchFamily="2" charset="-78"/>
                <a:ea typeface="Amiri" pitchFamily="2" charset="-78"/>
                <a:cs typeface="Amiri" pitchFamily="2" charset="-78"/>
              </a:rPr>
              <a:t>مَادَّةٌ</a:t>
            </a:r>
            <a:pPr algn="l" indent="0" marL="0">
              <a:buNone/>
            </a:pPr>
            <a:r>
              <a:rPr lang="en-US" sz="1300" i="1" dirty="0">
                <a:solidFill>
                  <a:srgbClr val="5A6472"/>
                </a:solidFill>
                <a:latin typeface="Calibri" pitchFamily="34" charset="0"/>
                <a:cs typeface="Amiri" pitchFamily="2" charset="-78"/>
              </a:rPr>
              <a:t> is feminine.</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هُوَ أَدْرُسُ التَّارِيخَ.</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He …</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22</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F4-L01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7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Spot and fix: corrections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F4-L01 · practice room</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أُحِبُّ الرِّيَاضِيَّاتِ لِأَنَّهُ سَهْلٌ.</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أُحِبُّ الرِّيَاضِيَّاتِ لِأَنَّهَا سَهْلَةٌ.</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Non-human plural → feminine singular: </a:t>
            </a:r>
            <a:pPr algn="l" indent="0" marL="0">
              <a:buNone/>
            </a:pPr>
            <a:r>
              <a:rPr lang="ar-SA" altLang="en-US" sz="1500" b="1" dirty="0">
                <a:solidFill>
                  <a:srgbClr val="1B3B6F"/>
                </a:solidFill>
                <a:latin typeface="Amiri" pitchFamily="2" charset="-78"/>
                <a:ea typeface="Amiri" pitchFamily="2" charset="-78"/>
                <a:cs typeface="Amiri" pitchFamily="2" charset="-78"/>
              </a:rPr>
              <a:t>لِأَنَّهَا سَهْلَةٌ</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مَادَّتِي المُفَضَّلُ الجُغْرَافِيَا.</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مَادَّتِي المُفَضَّلَةُ الجُغْرَافِيَا.</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ar-SA" altLang="en-US" sz="1500" b="1" dirty="0">
                <a:solidFill>
                  <a:srgbClr val="1B3B6F"/>
                </a:solidFill>
                <a:latin typeface="Amiri" pitchFamily="2" charset="-78"/>
                <a:ea typeface="Amiri" pitchFamily="2" charset="-78"/>
                <a:cs typeface="Amiri" pitchFamily="2" charset="-78"/>
              </a:rPr>
              <a:t>المُفَضَّلَةُ</a:t>
            </a:r>
            <a:pPr algn="l" indent="0" marL="0">
              <a:buNone/>
            </a:pPr>
            <a:r>
              <a:rPr lang="en-US" sz="1150" b="1" dirty="0">
                <a:solidFill>
                  <a:srgbClr val="1B3B6F"/>
                </a:solidFill>
                <a:latin typeface="Calibri" pitchFamily="34" charset="0"/>
                <a:cs typeface="Amiri" pitchFamily="2" charset="-78"/>
              </a:rPr>
              <a:t> agrees with </a:t>
            </a:r>
            <a:pPr algn="l" indent="0" marL="0">
              <a:buNone/>
            </a:pPr>
            <a:r>
              <a:rPr lang="ar-SA" altLang="en-US" sz="1500" b="1" dirty="0">
                <a:solidFill>
                  <a:srgbClr val="1B3B6F"/>
                </a:solidFill>
                <a:latin typeface="Amiri" pitchFamily="2" charset="-78"/>
                <a:ea typeface="Amiri" pitchFamily="2" charset="-78"/>
                <a:cs typeface="Amiri" pitchFamily="2" charset="-78"/>
              </a:rPr>
              <a:t>مَادَّةٌ</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هُوَ أَدْرُسُ التَّارِيخَ.</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هُوَ يَدْرُسُ التَّارِيخَ.</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He → </a:t>
            </a:r>
            <a:pPr algn="l" indent="0" marL="0">
              <a:buNone/>
            </a:pPr>
            <a:r>
              <a:rPr lang="ar-SA" altLang="en-US" sz="1500" b="1" dirty="0">
                <a:solidFill>
                  <a:srgbClr val="1B3B6F"/>
                </a:solidFill>
                <a:latin typeface="Amiri" pitchFamily="2" charset="-78"/>
                <a:ea typeface="Amiri" pitchFamily="2" charset="-78"/>
                <a:cs typeface="Amiri" pitchFamily="2" charset="-78"/>
              </a:rPr>
              <a:t>يَدْرُسُ</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22</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F4-L01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8 · WRITE YOUR TEXT · FRAMES IF YOU NEED THEM</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Your writing frames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F4-L01 · practice room</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650" b="1" dirty="0">
                <a:solidFill>
                  <a:srgbClr val="1B3B6F"/>
                </a:solidFill>
                <a:latin typeface="Amiri" pitchFamily="2" charset="-78"/>
                <a:ea typeface="Amiri" pitchFamily="2" charset="-78"/>
                <a:cs typeface="Amiri" pitchFamily="2" charset="-78"/>
              </a:rPr>
              <a:t>______ صَعْبٌ / صَعْبَةٌ، لٰكِنَّهُ / لٰكِنَّهَا ______ .</a:t>
            </a:r>
            <a:endParaRPr lang="ar-SA" sz="165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 is difficult, but it is …</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صَدِيقِي يُحِبُّ ______ لِأَنَّهُ ______ .</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My friend likes … because he …</a:t>
            </a:r>
            <a:endParaRPr lang="en-US" sz="1050" dirty="0"/>
          </a:p>
        </p:txBody>
      </p:sp>
      <p:sp>
        <p:nvSpPr>
          <p:cNvPr id="22" name="Shape 19"/>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25" name="Text 22"/>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أَدْرُسُ ______ وَ ______ وَ ______ .</a:t>
            </a:r>
            <a:endParaRPr lang="ar-SA" sz="1800" dirty="0"/>
          </a:p>
        </p:txBody>
      </p:sp>
      <p:sp>
        <p:nvSpPr>
          <p:cNvPr id="26" name="Text 23"/>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study …, … and …</a:t>
            </a:r>
            <a:endParaRPr lang="en-US" sz="1050" dirty="0"/>
          </a:p>
        </p:txBody>
      </p:sp>
      <p:sp>
        <p:nvSpPr>
          <p:cNvPr id="27" name="Text 24"/>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مَادَّتِي المُفَضَّلَةُ ______ .</a:t>
            </a:r>
            <a:endParaRPr lang="ar-SA" sz="1800" dirty="0"/>
          </a:p>
        </p:txBody>
      </p:sp>
      <p:sp>
        <p:nvSpPr>
          <p:cNvPr id="28" name="Text 25"/>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My favourite subject is …</a:t>
            </a:r>
            <a:endParaRPr lang="en-US" sz="1050" dirty="0"/>
          </a:p>
        </p:txBody>
      </p:sp>
      <p:sp>
        <p:nvSpPr>
          <p:cNvPr id="29" name="Text 26"/>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أُحِبُّهُ / أُحِبُّهَا لِأَنَّهُ / لِأَنَّهَا ______ .</a:t>
            </a:r>
            <a:endParaRPr lang="ar-SA" sz="1800" dirty="0"/>
          </a:p>
        </p:txBody>
      </p:sp>
      <p:sp>
        <p:nvSpPr>
          <p:cNvPr id="30" name="Text 27"/>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like it because it is …</a:t>
            </a:r>
            <a:endParaRPr lang="en-US" sz="1050" dirty="0"/>
          </a:p>
        </p:txBody>
      </p:sp>
      <p:sp>
        <p:nvSpPr>
          <p:cNvPr id="31" name="Text 28"/>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لَا أُحِبُّ ______ .</a:t>
            </a:r>
            <a:endParaRPr lang="ar-SA" sz="1800" dirty="0"/>
          </a:p>
        </p:txBody>
      </p:sp>
      <p:sp>
        <p:nvSpPr>
          <p:cNvPr id="32" name="Text 29"/>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don’t like …</a:t>
            </a:r>
            <a:endParaRPr lang="en-US" sz="1050" dirty="0"/>
          </a:p>
        </p:txBody>
      </p:sp>
      <p:sp>
        <p:nvSpPr>
          <p:cNvPr id="33" name="Shape 30"/>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Text 31"/>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35" name="Text 32"/>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الرِّيَاضِيَّاتُ · العُلُومُ  ·  الفَنُّ · التَّارِيخُ  ·  اللُّغَةُ العَرَبِيَّةُ  ·  التَّرْبِيَةُ البَدَنِيَّةُ  ·  لِأَنَّهُ · لِأَنَّهَا  ·  سَهْلٌ · صَعْبٌ  ·  مُفِيدٌ · مُمْتِعٌ  ·  مُمِلٌّ</a:t>
            </a:r>
            <a:endParaRPr lang="ar-SA" sz="160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22</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F4-L01 · Speaking + writing practice room</a:t>
            </a:r>
            <a:endParaRPr lang="en-US" sz="950" dirty="0"/>
          </a:p>
        </p:txBody>
      </p:sp>
      <p:sp>
        <p:nvSpPr>
          <p:cNvPr id="8" name="Shape 6"/>
          <p:cNvSpPr/>
          <p:nvPr/>
        </p:nvSpPr>
        <p:spPr>
          <a:xfrm>
            <a:off x="7219188" y="274320"/>
            <a:ext cx="1540764"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10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8 · WRITE YOUR TEXT · ABOUT 40–60 WORDS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My school subjects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مَوَادِّي الدِّرَاسِيَّةُ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F4-L01 · practice room</a:t>
            </a:r>
            <a:endParaRPr lang="en-US" sz="850" dirty="0"/>
          </a:p>
        </p:txBody>
      </p:sp>
      <p:sp>
        <p:nvSpPr>
          <p:cNvPr id="15" name="Shape 12"/>
          <p:cNvSpPr/>
          <p:nvPr/>
        </p:nvSpPr>
        <p:spPr>
          <a:xfrm>
            <a:off x="457200" y="1810512"/>
            <a:ext cx="557784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828800" cy="292608"/>
          </a:xfrm>
          <a:prstGeom prst="roundRect">
            <a:avLst>
              <a:gd name="adj" fmla="val 50000"/>
            </a:avLst>
          </a:prstGeom>
          <a:solidFill>
            <a:srgbClr val="1B3B6F"/>
          </a:solidFill>
          <a:ln w="12700">
            <a:solidFill>
              <a:srgbClr val="1B3B6F"/>
            </a:solidFill>
            <a:prstDash val="solid"/>
          </a:ln>
        </p:spPr>
      </p:sp>
      <p:sp>
        <p:nvSpPr>
          <p:cNvPr id="17" name="Text 14"/>
          <p:cNvSpPr txBox="1"/>
          <p:nvPr/>
        </p:nvSpPr>
        <p:spPr>
          <a:xfrm>
            <a:off x="640080" y="1938528"/>
            <a:ext cx="18288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WRITING · SHORT TEXT</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350" b="1" dirty="0">
                <a:solidFill>
                  <a:srgbClr val="1F2A37"/>
                </a:solidFill>
                <a:latin typeface="Calibri" pitchFamily="34" charset="0"/>
                <a:cs typeface="Amiri" pitchFamily="2" charset="-78"/>
              </a:rPr>
              <a:t>Write a short text (about 40–60 words) for the school website. Include: • the subjects you study • your favourite subject and why • a subject you don’t like and why • a friend’s or sibling’s favourite subject.</a:t>
            </a:r>
            <a:endParaRPr lang="en-US" sz="135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Every bullet point has at least one sentence.</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Full sentences with the right ending (I · my · he · she).</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Words from today’s word bank.</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At least one </a:t>
            </a:r>
            <a:pPr algn="l" indent="0" marL="0">
              <a:buNone/>
            </a:pPr>
            <a:r>
              <a:rPr lang="ar-SA" altLang="en-US" sz="1550" dirty="0">
                <a:solidFill>
                  <a:srgbClr val="1F2A37"/>
                </a:solidFill>
                <a:latin typeface="Amiri" pitchFamily="2" charset="-78"/>
                <a:ea typeface="Amiri" pitchFamily="2" charset="-78"/>
                <a:cs typeface="Amiri" pitchFamily="2" charset="-78"/>
              </a:rPr>
              <a:t>و</a:t>
            </a:r>
            <a:pPr algn="l" indent="0" marL="0">
              <a:buNone/>
            </a:pPr>
            <a:r>
              <a:rPr lang="en-US" sz="1200" dirty="0">
                <a:solidFill>
                  <a:srgbClr val="1F2A37"/>
                </a:solidFill>
                <a:latin typeface="Calibri" pitchFamily="34" charset="0"/>
                <a:cs typeface="Amiri" pitchFamily="2" charset="-78"/>
              </a:rPr>
              <a:t> and one </a:t>
            </a:r>
            <a:pPr algn="l" indent="0" marL="0">
              <a:buNone/>
            </a:pPr>
            <a:r>
              <a:rPr lang="ar-SA" altLang="en-US" sz="1550" dirty="0">
                <a:solidFill>
                  <a:srgbClr val="1F2A37"/>
                </a:solidFill>
                <a:latin typeface="Amiri" pitchFamily="2" charset="-78"/>
                <a:ea typeface="Amiri" pitchFamily="2" charset="-78"/>
                <a:cs typeface="Amiri" pitchFamily="2" charset="-78"/>
              </a:rPr>
              <a:t>لِأَنَّ</a:t>
            </a:r>
            <a:pPr algn="l" indent="0" marL="0">
              <a:buNone/>
            </a:pPr>
            <a:r>
              <a:rPr lang="en-US" sz="1200" dirty="0">
                <a:solidFill>
                  <a:srgbClr val="1F2A37"/>
                </a:solidFill>
                <a:latin typeface="Calibri" pitchFamily="34" charset="0"/>
                <a:cs typeface="Amiri" pitchFamily="2" charset="-78"/>
              </a:rPr>
              <a:t> (Develop).</a:t>
            </a:r>
            <a:endParaRPr lang="en-US" sz="1200" dirty="0"/>
          </a:p>
        </p:txBody>
      </p:sp>
      <p:sp>
        <p:nvSpPr>
          <p:cNvPr id="23" name="Text 20"/>
          <p:cNvSpPr txBox="1"/>
          <p:nvPr/>
        </p:nvSpPr>
        <p:spPr>
          <a:xfrm>
            <a:off x="685800" y="5431536"/>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Buddy check, then fix one thing.</a:t>
            </a:r>
            <a:endParaRPr lang="en-US" sz="1200" dirty="0"/>
          </a:p>
        </p:txBody>
      </p:sp>
      <p:sp>
        <p:nvSpPr>
          <p:cNvPr id="24" name="Shape 21"/>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Text 22"/>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USEFUL LANGUAGE</a:t>
            </a:r>
            <a:endParaRPr lang="en-US" sz="950" dirty="0"/>
          </a:p>
        </p:txBody>
      </p:sp>
      <p:sp>
        <p:nvSpPr>
          <p:cNvPr id="26" name="Text 23"/>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أَدْرُسُ … وَ… وَ…</a:t>
            </a:r>
            <a:endParaRPr lang="ar-SA" sz="1800" dirty="0"/>
          </a:p>
        </p:txBody>
      </p:sp>
      <p:sp>
        <p:nvSpPr>
          <p:cNvPr id="27" name="Text 24"/>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study …, … and …</a:t>
            </a:r>
            <a:endParaRPr lang="en-US" sz="1050" dirty="0"/>
          </a:p>
        </p:txBody>
      </p:sp>
      <p:sp>
        <p:nvSpPr>
          <p:cNvPr id="28" name="Text 25"/>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مَادَّتِي المُفَضَّلَةُ … لِأَنَّهُ / لِأَنَّهَا …</a:t>
            </a:r>
            <a:endParaRPr lang="ar-SA" sz="1800" dirty="0"/>
          </a:p>
        </p:txBody>
      </p:sp>
      <p:sp>
        <p:nvSpPr>
          <p:cNvPr id="29" name="Text 26"/>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my favourite subject is … because it …</a:t>
            </a:r>
            <a:endParaRPr lang="en-US" sz="1050" dirty="0"/>
          </a:p>
        </p:txBody>
      </p:sp>
      <p:sp>
        <p:nvSpPr>
          <p:cNvPr id="30" name="Text 27"/>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لَا أُحِبُّ … لِأَنَّهُ / لِأَنَّهَا …</a:t>
            </a:r>
            <a:endParaRPr lang="ar-SA" sz="1800" dirty="0"/>
          </a:p>
        </p:txBody>
      </p:sp>
      <p:sp>
        <p:nvSpPr>
          <p:cNvPr id="31" name="Text 28"/>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don’t like … because it …</a:t>
            </a:r>
            <a:endParaRPr lang="en-US" sz="1050" dirty="0"/>
          </a:p>
        </p:txBody>
      </p:sp>
      <p:sp>
        <p:nvSpPr>
          <p:cNvPr id="32" name="Text 29"/>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صَدِيقِي يُحِبُّ … · صَدِيقَتِي تُحِبُّ …</a:t>
            </a:r>
            <a:endParaRPr lang="ar-SA" sz="1800" dirty="0"/>
          </a:p>
        </p:txBody>
      </p:sp>
      <p:sp>
        <p:nvSpPr>
          <p:cNvPr id="33" name="Text 30"/>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my friend likes …</a:t>
            </a:r>
            <a:endParaRPr lang="en-US" sz="1050" dirty="0"/>
          </a:p>
        </p:txBody>
      </p:sp>
      <p:sp>
        <p:nvSpPr>
          <p:cNvPr id="34" name="Text 3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22</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F4-L01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8 · BUDDY CHECK · SWAP AND READ YOUR BUDDY’S TEXT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Buddy check: five points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رَاجِعْ مَعَ زَمِيلِكَ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F4-L01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759952" y="1810512"/>
            <a:ext cx="28986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Line / example</a:t>
            </a:r>
            <a:endParaRPr lang="en-US" sz="1100" dirty="0"/>
          </a:p>
        </p:txBody>
      </p:sp>
      <p:sp>
        <p:nvSpPr>
          <p:cNvPr id="17" name="Text 14"/>
          <p:cNvSpPr txBox="1"/>
          <p:nvPr/>
        </p:nvSpPr>
        <p:spPr>
          <a:xfrm>
            <a:off x="7845552" y="1810512"/>
            <a:ext cx="7680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 / ✗</a:t>
            </a:r>
            <a:endParaRPr lang="en-US" sz="1100" dirty="0"/>
          </a:p>
        </p:txBody>
      </p:sp>
      <p:sp>
        <p:nvSpPr>
          <p:cNvPr id="18" name="Text 15"/>
          <p:cNvSpPr txBox="1"/>
          <p:nvPr/>
        </p:nvSpPr>
        <p:spPr>
          <a:xfrm>
            <a:off x="6565392" y="1810512"/>
            <a:ext cx="1133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Route</a:t>
            </a:r>
            <a:endParaRPr lang="en-US" sz="1100" dirty="0"/>
          </a:p>
        </p:txBody>
      </p:sp>
      <p:sp>
        <p:nvSpPr>
          <p:cNvPr id="19" name="Text 16"/>
          <p:cNvSpPr txBox="1"/>
          <p:nvPr/>
        </p:nvSpPr>
        <p:spPr>
          <a:xfrm>
            <a:off x="530352" y="1810512"/>
            <a:ext cx="5888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Did the writer …</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8796528" y="2267712"/>
            <a:ext cx="2862072" cy="682142"/>
          </a:xfrm>
          <a:prstGeom prst="rect">
            <a:avLst/>
          </a:prstGeom>
          <a:noFill/>
          <a:ln/>
        </p:spPr>
        <p:txBody>
          <a:bodyPr wrap="square" lIns="0" tIns="0" rIns="0" bIns="0" rtlCol="0" anchor="ctr"/>
          <a:lstStyle/>
          <a:p>
            <a:pPr algn="l" indent="0" marL="0">
              <a:buNone/>
            </a:pPr>
            <a:endParaRPr lang="en-US" sz="1100" dirty="0"/>
          </a:p>
        </p:txBody>
      </p:sp>
      <p:sp>
        <p:nvSpPr>
          <p:cNvPr id="22" name="Text 19"/>
          <p:cNvSpPr txBox="1"/>
          <p:nvPr/>
        </p:nvSpPr>
        <p:spPr>
          <a:xfrm>
            <a:off x="7882128" y="2267712"/>
            <a:ext cx="731520" cy="682142"/>
          </a:xfrm>
          <a:prstGeom prst="rect">
            <a:avLst/>
          </a:prstGeom>
          <a:noFill/>
          <a:ln/>
        </p:spPr>
        <p:txBody>
          <a:bodyPr wrap="square" lIns="0" tIns="0" rIns="0" bIns="0" rtlCol="0" anchor="ctr"/>
          <a:lstStyle/>
          <a:p>
            <a:pPr algn="l" indent="0" marL="0">
              <a:buNone/>
            </a:pPr>
            <a:endParaRPr lang="en-US" sz="1100" dirty="0"/>
          </a:p>
        </p:txBody>
      </p:sp>
      <p:sp>
        <p:nvSpPr>
          <p:cNvPr id="23" name="Text 20"/>
          <p:cNvSpPr txBox="1"/>
          <p:nvPr/>
        </p:nvSpPr>
        <p:spPr>
          <a:xfrm>
            <a:off x="6601968" y="2267712"/>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24" name="Text 21"/>
          <p:cNvSpPr txBox="1"/>
          <p:nvPr/>
        </p:nvSpPr>
        <p:spPr>
          <a:xfrm>
            <a:off x="566928" y="2267712"/>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answer EVERY bullet point?</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8" name="Text 25"/>
          <p:cNvSpPr txBox="1"/>
          <p:nvPr/>
        </p:nvSpPr>
        <p:spPr>
          <a:xfrm>
            <a:off x="8796528" y="3004718"/>
            <a:ext cx="2862072" cy="682142"/>
          </a:xfrm>
          <a:prstGeom prst="rect">
            <a:avLst/>
          </a:prstGeom>
          <a:noFill/>
          <a:ln/>
        </p:spPr>
        <p:txBody>
          <a:bodyPr wrap="square" lIns="0" tIns="0" rIns="0" bIns="0" rtlCol="0" anchor="ctr"/>
          <a:lstStyle/>
          <a:p>
            <a:pPr algn="l" indent="0" marL="0">
              <a:buNone/>
            </a:pPr>
            <a:endParaRPr lang="en-US" sz="1100" dirty="0"/>
          </a:p>
        </p:txBody>
      </p:sp>
      <p:sp>
        <p:nvSpPr>
          <p:cNvPr id="29" name="Text 26"/>
          <p:cNvSpPr txBox="1"/>
          <p:nvPr/>
        </p:nvSpPr>
        <p:spPr>
          <a:xfrm>
            <a:off x="7882128" y="3004718"/>
            <a:ext cx="731520" cy="682142"/>
          </a:xfrm>
          <a:prstGeom prst="rect">
            <a:avLst/>
          </a:prstGeom>
          <a:noFill/>
          <a:ln/>
        </p:spPr>
        <p:txBody>
          <a:bodyPr wrap="square" lIns="0" tIns="0" rIns="0" bIns="0" rtlCol="0" anchor="ctr"/>
          <a:lstStyle/>
          <a:p>
            <a:pPr algn="l" indent="0" marL="0">
              <a:buNone/>
            </a:pPr>
            <a:endParaRPr lang="en-US" sz="1100" dirty="0"/>
          </a:p>
        </p:txBody>
      </p:sp>
      <p:sp>
        <p:nvSpPr>
          <p:cNvPr id="30" name="Text 27"/>
          <p:cNvSpPr txBox="1"/>
          <p:nvPr/>
        </p:nvSpPr>
        <p:spPr>
          <a:xfrm>
            <a:off x="6601968" y="300471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31" name="Text 28"/>
          <p:cNvSpPr txBox="1"/>
          <p:nvPr/>
        </p:nvSpPr>
        <p:spPr>
          <a:xfrm>
            <a:off x="566928" y="300471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name subjects and give one opinion each?</a:t>
            </a:r>
            <a:endParaRPr lang="en-US" sz="1100" dirty="0"/>
          </a:p>
        </p:txBody>
      </p:sp>
      <p:sp>
        <p:nvSpPr>
          <p:cNvPr id="32" name="Shape 29"/>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5" name="Text 32"/>
          <p:cNvSpPr txBox="1"/>
          <p:nvPr/>
        </p:nvSpPr>
        <p:spPr>
          <a:xfrm>
            <a:off x="8796528" y="3741725"/>
            <a:ext cx="2862072" cy="682142"/>
          </a:xfrm>
          <a:prstGeom prst="rect">
            <a:avLst/>
          </a:prstGeom>
          <a:noFill/>
          <a:ln/>
        </p:spPr>
        <p:txBody>
          <a:bodyPr wrap="square" lIns="0" tIns="0" rIns="0" bIns="0" rtlCol="0" anchor="ctr"/>
          <a:lstStyle/>
          <a:p>
            <a:pPr algn="l" indent="0" marL="0">
              <a:buNone/>
            </a:pPr>
            <a:endParaRPr lang="en-US" sz="1100" dirty="0"/>
          </a:p>
        </p:txBody>
      </p:sp>
      <p:sp>
        <p:nvSpPr>
          <p:cNvPr id="36" name="Text 33"/>
          <p:cNvSpPr txBox="1"/>
          <p:nvPr/>
        </p:nvSpPr>
        <p:spPr>
          <a:xfrm>
            <a:off x="7882128" y="3741725"/>
            <a:ext cx="731520" cy="682142"/>
          </a:xfrm>
          <a:prstGeom prst="rect">
            <a:avLst/>
          </a:prstGeom>
          <a:noFill/>
          <a:ln/>
        </p:spPr>
        <p:txBody>
          <a:bodyPr wrap="square" lIns="0" tIns="0" rIns="0" bIns="0" rtlCol="0" anchor="ctr"/>
          <a:lstStyle/>
          <a:p>
            <a:pPr algn="l" indent="0" marL="0">
              <a:buNone/>
            </a:pPr>
            <a:endParaRPr lang="en-US" sz="1100" dirty="0"/>
          </a:p>
        </p:txBody>
      </p:sp>
      <p:sp>
        <p:nvSpPr>
          <p:cNvPr id="37" name="Text 34"/>
          <p:cNvSpPr txBox="1"/>
          <p:nvPr/>
        </p:nvSpPr>
        <p:spPr>
          <a:xfrm>
            <a:off x="6601968" y="3741725"/>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38" name="Text 35"/>
          <p:cNvSpPr txBox="1"/>
          <p:nvPr/>
        </p:nvSpPr>
        <p:spPr>
          <a:xfrm>
            <a:off x="566928" y="3741725"/>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choose </a:t>
            </a:r>
            <a:pPr algn="l" indent="0" marL="0">
              <a:buNone/>
            </a:pPr>
            <a:r>
              <a:rPr lang="ar-SA" altLang="en-US" sz="1450" dirty="0">
                <a:solidFill>
                  <a:srgbClr val="5A6472"/>
                </a:solidFill>
                <a:latin typeface="Amiri" pitchFamily="2" charset="-78"/>
                <a:ea typeface="Amiri" pitchFamily="2" charset="-78"/>
                <a:cs typeface="Amiri" pitchFamily="2" charset="-78"/>
              </a:rPr>
              <a:t>لِأَنَّهُ / لِأَنَّهَا</a:t>
            </a:r>
            <a:pPr algn="l" indent="0" marL="0">
              <a:buNone/>
            </a:pPr>
            <a:r>
              <a:rPr lang="en-US" sz="1100" dirty="0">
                <a:solidFill>
                  <a:srgbClr val="5A6472"/>
                </a:solidFill>
                <a:latin typeface="Calibri" pitchFamily="34" charset="0"/>
                <a:cs typeface="Amiri" pitchFamily="2" charset="-78"/>
              </a:rPr>
              <a:t> to match the subject, with an agreeing adjective?</a:t>
            </a:r>
            <a:endParaRPr lang="en-US" sz="1100" dirty="0"/>
          </a:p>
        </p:txBody>
      </p:sp>
      <p:sp>
        <p:nvSpPr>
          <p:cNvPr id="39" name="Shape 36"/>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0" name="Text 37"/>
          <p:cNvSpPr txBox="1"/>
          <p:nvPr/>
        </p:nvSpPr>
        <p:spPr>
          <a:xfrm>
            <a:off x="8796528" y="4478731"/>
            <a:ext cx="2862072" cy="682142"/>
          </a:xfrm>
          <a:prstGeom prst="rect">
            <a:avLst/>
          </a:prstGeom>
          <a:noFill/>
          <a:ln/>
        </p:spPr>
        <p:txBody>
          <a:bodyPr wrap="square" lIns="0" tIns="0" rIns="0" bIns="0" rtlCol="0" anchor="ctr"/>
          <a:lstStyle/>
          <a:p>
            <a:pPr algn="l" indent="0" marL="0">
              <a:buNone/>
            </a:pPr>
            <a:endParaRPr lang="en-US" sz="1100" dirty="0"/>
          </a:p>
        </p:txBody>
      </p:sp>
      <p:sp>
        <p:nvSpPr>
          <p:cNvPr id="41" name="Text 38"/>
          <p:cNvSpPr txBox="1"/>
          <p:nvPr/>
        </p:nvSpPr>
        <p:spPr>
          <a:xfrm>
            <a:off x="7882128" y="4478731"/>
            <a:ext cx="731520" cy="682142"/>
          </a:xfrm>
          <a:prstGeom prst="rect">
            <a:avLst/>
          </a:prstGeom>
          <a:noFill/>
          <a:ln/>
        </p:spPr>
        <p:txBody>
          <a:bodyPr wrap="square" lIns="0" tIns="0" rIns="0" bIns="0" rtlCol="0" anchor="ctr"/>
          <a:lstStyle/>
          <a:p>
            <a:pPr algn="l" indent="0" marL="0">
              <a:buNone/>
            </a:pPr>
            <a:endParaRPr lang="en-US" sz="1100" dirty="0"/>
          </a:p>
        </p:txBody>
      </p:sp>
      <p:sp>
        <p:nvSpPr>
          <p:cNvPr id="42" name="Text 39"/>
          <p:cNvSpPr txBox="1"/>
          <p:nvPr/>
        </p:nvSpPr>
        <p:spPr>
          <a:xfrm>
            <a:off x="6601968" y="4478731"/>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43" name="Text 40"/>
          <p:cNvSpPr txBox="1"/>
          <p:nvPr/>
        </p:nvSpPr>
        <p:spPr>
          <a:xfrm>
            <a:off x="566928" y="4478731"/>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linking words (</a:t>
            </a:r>
            <a:pPr algn="l" indent="0" marL="0">
              <a:buNone/>
            </a:pPr>
            <a:r>
              <a:rPr lang="ar-SA" altLang="en-US" sz="1450" dirty="0">
                <a:solidFill>
                  <a:srgbClr val="5A6472"/>
                </a:solidFill>
                <a:latin typeface="Amiri" pitchFamily="2" charset="-78"/>
                <a:ea typeface="Amiri" pitchFamily="2" charset="-78"/>
                <a:cs typeface="Amiri" pitchFamily="2" charset="-78"/>
              </a:rPr>
              <a:t>وَ</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ثُمَّ</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لِأَنَّ</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لٰكِنَّ</a:t>
            </a:r>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44" name="Shape 41"/>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5" name="Text 42"/>
          <p:cNvSpPr txBox="1"/>
          <p:nvPr/>
        </p:nvSpPr>
        <p:spPr>
          <a:xfrm>
            <a:off x="8796528" y="5215738"/>
            <a:ext cx="2862072" cy="682142"/>
          </a:xfrm>
          <a:prstGeom prst="rect">
            <a:avLst/>
          </a:prstGeom>
          <a:noFill/>
          <a:ln/>
        </p:spPr>
        <p:txBody>
          <a:bodyPr wrap="square" lIns="0" tIns="0" rIns="0" bIns="0" rtlCol="0" anchor="ctr"/>
          <a:lstStyle/>
          <a:p>
            <a:pPr algn="l" indent="0" marL="0">
              <a:buNone/>
            </a:pPr>
            <a:endParaRPr lang="en-US" sz="1100" dirty="0"/>
          </a:p>
        </p:txBody>
      </p:sp>
      <p:sp>
        <p:nvSpPr>
          <p:cNvPr id="46" name="Text 43"/>
          <p:cNvSpPr txBox="1"/>
          <p:nvPr/>
        </p:nvSpPr>
        <p:spPr>
          <a:xfrm>
            <a:off x="7882128" y="5215738"/>
            <a:ext cx="731520" cy="682142"/>
          </a:xfrm>
          <a:prstGeom prst="rect">
            <a:avLst/>
          </a:prstGeom>
          <a:noFill/>
          <a:ln/>
        </p:spPr>
        <p:txBody>
          <a:bodyPr wrap="square" lIns="0" tIns="0" rIns="0" bIns="0" rtlCol="0" anchor="ctr"/>
          <a:lstStyle/>
          <a:p>
            <a:pPr algn="l" indent="0" marL="0">
              <a:buNone/>
            </a:pPr>
            <a:endParaRPr lang="en-US" sz="1100" dirty="0"/>
          </a:p>
        </p:txBody>
      </p:sp>
      <p:sp>
        <p:nvSpPr>
          <p:cNvPr id="47" name="Text 44"/>
          <p:cNvSpPr txBox="1"/>
          <p:nvPr/>
        </p:nvSpPr>
        <p:spPr>
          <a:xfrm>
            <a:off x="6601968" y="521573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Stretch</a:t>
            </a:r>
            <a:endParaRPr lang="en-US" sz="1100" dirty="0"/>
          </a:p>
        </p:txBody>
      </p:sp>
      <p:sp>
        <p:nvSpPr>
          <p:cNvPr id="48" name="Text 45"/>
          <p:cNvSpPr txBox="1"/>
          <p:nvPr/>
        </p:nvSpPr>
        <p:spPr>
          <a:xfrm>
            <a:off x="566928" y="521573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add a reason, a time phrase or an opinion?</a:t>
            </a:r>
            <a:endParaRPr lang="en-US" sz="1100" dirty="0"/>
          </a:p>
        </p:txBody>
      </p:sp>
      <p:sp>
        <p:nvSpPr>
          <p:cNvPr id="49" name="Text 4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Give back: one thing that went well + one thing to improve. The writer fixes ONE thing straight away.</a:t>
            </a:r>
            <a:endParaRPr lang="en-US" sz="1150" dirty="0"/>
          </a:p>
        </p:txBody>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22</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F4-L01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ROLE-PLAY CARD</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50" b="1" dirty="0">
                <a:solidFill>
                  <a:srgbClr val="1B3B6F"/>
                </a:solidFill>
                <a:latin typeface="Cambria" pitchFamily="34" charset="0"/>
                <a:cs typeface="Amiri" pitchFamily="2" charset="-78"/>
              </a:rPr>
              <a:t>Role-play card: compare with a strong answer</a:t>
            </a:r>
            <a:endParaRPr lang="en-US" sz="20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قَارِنْ إِجَابَتَكَ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F4-L01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4782312" y="1810512"/>
            <a:ext cx="68762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 strong answer (with English)</a:t>
            </a:r>
            <a:endParaRPr lang="en-US" sz="1100" dirty="0"/>
          </a:p>
        </p:txBody>
      </p:sp>
      <p:sp>
        <p:nvSpPr>
          <p:cNvPr id="17" name="Text 14"/>
          <p:cNvSpPr txBox="1"/>
          <p:nvPr/>
        </p:nvSpPr>
        <p:spPr>
          <a:xfrm>
            <a:off x="1033272" y="1810512"/>
            <a:ext cx="3602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Leader reads</a:t>
            </a:r>
            <a:endParaRPr lang="en-US" sz="1100" dirty="0"/>
          </a:p>
        </p:txBody>
      </p:sp>
      <p:sp>
        <p:nvSpPr>
          <p:cNvPr id="18" name="Text 15"/>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19" name="Shape 16"/>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0" name="Text 17"/>
          <p:cNvSpPr txBox="1"/>
          <p:nvPr/>
        </p:nvSpPr>
        <p:spPr>
          <a:xfrm>
            <a:off x="4800600" y="2286000"/>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مَادَّتِي المُفَضَّلَةُ العُلُومُ.</a:t>
            </a:r>
            <a:endParaRPr lang="ar-SA" sz="1800" dirty="0"/>
          </a:p>
        </p:txBody>
      </p:sp>
      <p:sp>
        <p:nvSpPr>
          <p:cNvPr id="21" name="Text 18"/>
          <p:cNvSpPr txBox="1"/>
          <p:nvPr/>
        </p:nvSpPr>
        <p:spPr>
          <a:xfrm>
            <a:off x="4754880" y="2706624"/>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My favourite subject is science.</a:t>
            </a:r>
            <a:endParaRPr lang="en-US" sz="950" dirty="0"/>
          </a:p>
        </p:txBody>
      </p:sp>
      <p:sp>
        <p:nvSpPr>
          <p:cNvPr id="22" name="Text 19"/>
          <p:cNvSpPr txBox="1"/>
          <p:nvPr/>
        </p:nvSpPr>
        <p:spPr>
          <a:xfrm>
            <a:off x="1051560" y="2267712"/>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مَا مَادَّتُكَ المُفَضَّلَةُ؟</a:t>
            </a:r>
            <a:endParaRPr lang="ar-SA" sz="1600" dirty="0"/>
          </a:p>
        </p:txBody>
      </p:sp>
      <p:sp>
        <p:nvSpPr>
          <p:cNvPr id="23" name="Text 20"/>
          <p:cNvSpPr txBox="1"/>
          <p:nvPr/>
        </p:nvSpPr>
        <p:spPr>
          <a:xfrm>
            <a:off x="566928" y="2267712"/>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4" name="Shape 21"/>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5" name="Text 22"/>
          <p:cNvSpPr txBox="1"/>
          <p:nvPr/>
        </p:nvSpPr>
        <p:spPr>
          <a:xfrm>
            <a:off x="4800600" y="3072384"/>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لِأَنَّهَا مُفِيدَةٌ وَمُمْتِعَةٌ.</a:t>
            </a:r>
            <a:endParaRPr lang="ar-SA" sz="1800" dirty="0"/>
          </a:p>
        </p:txBody>
      </p:sp>
      <p:sp>
        <p:nvSpPr>
          <p:cNvPr id="26" name="Text 23"/>
          <p:cNvSpPr txBox="1"/>
          <p:nvPr/>
        </p:nvSpPr>
        <p:spPr>
          <a:xfrm>
            <a:off x="4754880" y="3493008"/>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Because it is useful and enjoyable.</a:t>
            </a:r>
            <a:endParaRPr lang="en-US" sz="950" dirty="0"/>
          </a:p>
        </p:txBody>
      </p:sp>
      <p:sp>
        <p:nvSpPr>
          <p:cNvPr id="27" name="Text 24"/>
          <p:cNvSpPr txBox="1"/>
          <p:nvPr/>
        </p:nvSpPr>
        <p:spPr>
          <a:xfrm>
            <a:off x="1051560" y="3054096"/>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لِمَاذَا؟</a:t>
            </a:r>
            <a:endParaRPr lang="ar-SA" sz="1600" dirty="0"/>
          </a:p>
        </p:txBody>
      </p:sp>
      <p:sp>
        <p:nvSpPr>
          <p:cNvPr id="28" name="Text 25"/>
          <p:cNvSpPr txBox="1"/>
          <p:nvPr/>
        </p:nvSpPr>
        <p:spPr>
          <a:xfrm>
            <a:off x="566928" y="3054096"/>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29" name="Shape 26"/>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0" name="Text 27"/>
          <p:cNvSpPr txBox="1"/>
          <p:nvPr/>
        </p:nvSpPr>
        <p:spPr>
          <a:xfrm>
            <a:off x="4800600" y="3858768"/>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نَعَمْ، لِأَنَّهُ إِبْدَاعِيٌّ، وَأُحِبُّ الرَّسْمَ.</a:t>
            </a:r>
            <a:endParaRPr lang="ar-SA" sz="1800" dirty="0"/>
          </a:p>
        </p:txBody>
      </p:sp>
      <p:sp>
        <p:nvSpPr>
          <p:cNvPr id="31" name="Text 28"/>
          <p:cNvSpPr txBox="1"/>
          <p:nvPr/>
        </p:nvSpPr>
        <p:spPr>
          <a:xfrm>
            <a:off x="4754880" y="4279392"/>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Yes, because it is creative, and I love drawing.</a:t>
            </a:r>
            <a:endParaRPr lang="en-US" sz="950" dirty="0"/>
          </a:p>
        </p:txBody>
      </p:sp>
      <p:sp>
        <p:nvSpPr>
          <p:cNvPr id="32" name="Text 29"/>
          <p:cNvSpPr txBox="1"/>
          <p:nvPr/>
        </p:nvSpPr>
        <p:spPr>
          <a:xfrm>
            <a:off x="1051560" y="3840480"/>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هَلْ تُرِيدُ أَنْ تَدْرُسَ الفَنَّ أَيْضًا؟</a:t>
            </a:r>
            <a:endParaRPr lang="ar-SA" sz="1600" dirty="0"/>
          </a:p>
        </p:txBody>
      </p:sp>
      <p:sp>
        <p:nvSpPr>
          <p:cNvPr id="33" name="Text 30"/>
          <p:cNvSpPr txBox="1"/>
          <p:nvPr/>
        </p:nvSpPr>
        <p:spPr>
          <a:xfrm>
            <a:off x="566928" y="3840480"/>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4" name="Shape 31"/>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35" name="Text 32"/>
          <p:cNvSpPr txBox="1"/>
          <p:nvPr/>
        </p:nvSpPr>
        <p:spPr>
          <a:xfrm>
            <a:off x="4800600" y="4645152"/>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لَا أُحِبُّ التَّارِيخَ، لِأَنَّهُ مُمِلٌّ قَلِيلًا.</a:t>
            </a:r>
            <a:endParaRPr lang="ar-SA" sz="1800" dirty="0"/>
          </a:p>
        </p:txBody>
      </p:sp>
      <p:sp>
        <p:nvSpPr>
          <p:cNvPr id="36" name="Text 33"/>
          <p:cNvSpPr txBox="1"/>
          <p:nvPr/>
        </p:nvSpPr>
        <p:spPr>
          <a:xfrm>
            <a:off x="4754880" y="5065776"/>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I don’t like history, because it is a bit boring.</a:t>
            </a:r>
            <a:endParaRPr lang="en-US" sz="950" dirty="0"/>
          </a:p>
        </p:txBody>
      </p:sp>
      <p:sp>
        <p:nvSpPr>
          <p:cNvPr id="37" name="Text 34"/>
          <p:cNvSpPr txBox="1"/>
          <p:nvPr/>
        </p:nvSpPr>
        <p:spPr>
          <a:xfrm>
            <a:off x="1051560" y="4626864"/>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وَمَا المَادَّةُ الَّتِي لَا تُحِبُّهَا؟</a:t>
            </a:r>
            <a:endParaRPr lang="ar-SA" sz="1600" dirty="0"/>
          </a:p>
        </p:txBody>
      </p:sp>
      <p:sp>
        <p:nvSpPr>
          <p:cNvPr id="38" name="Text 35"/>
          <p:cNvSpPr txBox="1"/>
          <p:nvPr/>
        </p:nvSpPr>
        <p:spPr>
          <a:xfrm>
            <a:off x="566928" y="4626864"/>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39" name="Text 3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Did you answer every task in a full sentence? Choose one phrase you did not use and say it aloud.</a:t>
            </a:r>
            <a:endParaRPr lang="en-US" sz="115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22</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F4-L01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WRITE YOUR TEXT · A STRONG ANSWER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00" b="1" dirty="0">
                <a:solidFill>
                  <a:srgbClr val="1B3B6F"/>
                </a:solidFill>
                <a:latin typeface="Cambria" pitchFamily="34" charset="0"/>
                <a:cs typeface="Amiri" pitchFamily="2" charset="-78"/>
              </a:rPr>
              <a:t>Writing: compare with a strong answer</a:t>
            </a:r>
            <a:endParaRPr lang="en-US" sz="24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قَارِنْ إِجَابَتَكَ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F4-L01 · practice room</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600" dirty="0">
                <a:solidFill>
                  <a:srgbClr val="1F2A37"/>
                </a:solidFill>
                <a:latin typeface="Amiri" pitchFamily="2" charset="-78"/>
                <a:ea typeface="Amiri" pitchFamily="2" charset="-78"/>
                <a:cs typeface="Amiri" pitchFamily="2" charset="-78"/>
              </a:rPr>
              <a:t>أَدْرُسُ فِي المَدْرَسَةِ عَشْرَ مَوَادَّ، مِثْلَ الرِّيَاضِيَّاتِ وَالعُلُومِ وَالتَّارِيخِ. مَادَّتِي المُفَضَّلَةُ اللُّغَةُ العَرَبِيَّةُ، لِأَنَّهَا جَمِيلَةٌ وَمُفِيدَةٌ، وَمُعَلِّمَتِي لَطِيفَةٌ. لَا أُحِبُّ الجُغْرَافِيَا كَثِيرًا، لِأَنَّهَا مُمِلَّةٌ قَلِيلًا. صَدِيقِي يُوسُفُ يُحِبُّ التَّرْبِيَةَ البَدَنِيَّةَ، لِأَنَّهُ رِيَاضِيٌّ وَيُحِبُّ كُرَةَ القَدَمِ.</a:t>
            </a:r>
            <a:endParaRPr lang="ar-SA" sz="26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“At school I study ten subjects, such as maths, science and history. My favourite subject is Arabic, because it is beautiful and useful, and my teacher is kind. I don’t like geography much, because it is a bit boring. My friend Yusuf likes PE, because he is sporty and loves football.”</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مَادَّتِي المُفَضَّلَةُ</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لِأَنَّهَا جَمِيلَةٌ وَمُفِيدَةٌ</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لَا أُحِبُّ الجُغْرَافِيَا</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صَدِيقِي يُوسُفُ يُحِبُّ</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22</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F4-L01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F4-L01 · practice room</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answered the questions and the role-play tasks in full sentences.</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wrote a sentence for every bullet point.</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today’s key structure when I spoke AND when I wrote.</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buddy checked my text and I fixed one mistake.</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added reasons (</a:t>
            </a:r>
            <a:pPr algn="l" indent="0" marL="0">
              <a:buNone/>
            </a:pPr>
            <a:r>
              <a:rPr lang="ar-SA" altLang="en-US" sz="1700" dirty="0">
                <a:solidFill>
                  <a:srgbClr val="1F2A37"/>
                </a:solidFill>
                <a:latin typeface="Amiri" pitchFamily="2" charset="-78"/>
                <a:ea typeface="Amiri" pitchFamily="2" charset="-78"/>
                <a:cs typeface="Amiri" pitchFamily="2" charset="-78"/>
              </a:rPr>
              <a:t>لِأَنَّ</a:t>
            </a:r>
            <a:pPr algn="l" indent="0" marL="0">
              <a:buNone/>
            </a:pPr>
            <a:r>
              <a:rPr lang="en-US" sz="1300" dirty="0">
                <a:solidFill>
                  <a:srgbClr val="1F2A37"/>
                </a:solidFill>
                <a:latin typeface="Calibri" pitchFamily="34" charset="0"/>
                <a:cs typeface="Amiri" pitchFamily="2" charset="-78"/>
              </a:rPr>
              <a:t>) and extra details without frames.</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22</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F4-L01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you practised it yourselves!</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2050" b="1" dirty="0">
                <a:solidFill>
                  <a:srgbClr val="FFFFFF"/>
                </a:solidFill>
                <a:latin typeface="Cambria" pitchFamily="34" charset="0"/>
                <a:cs typeface="Amiri" pitchFamily="2" charset="-78"/>
              </a:rPr>
              <a:t>F4-L02 · The School Timetable — Days and Times</a:t>
            </a:r>
            <a:endParaRPr lang="en-US" sz="205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الجَدْوَلُ المَدْرَسِيُّ — الأَيَّامُ وَالأَوْقَاتُ</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say it, then write it — full sentences, every time.</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F4-L01 · Practice Room — School Subjects — What Do You Study?</dc:title>
  <dc:subject>PptxGenJS Presentation</dc:subject>
  <dc:creator>Al Madina Online School · Arabic Department</dc:creator>
  <cp:lastModifiedBy>Al Madina Online School · Arabic Department</cp:lastModifiedBy>
  <cp:revision>1</cp:revision>
  <dcterms:created xsi:type="dcterms:W3CDTF">2026-10-25T17:27:13Z</dcterms:created>
  <dcterms:modified xsi:type="dcterms:W3CDTF">2026-10-25T17:27:13Z</dcterms:modified>
</cp:coreProperties>
</file>