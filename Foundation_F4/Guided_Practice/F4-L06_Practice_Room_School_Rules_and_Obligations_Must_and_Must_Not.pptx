
<file path=[Content_Types].xml><?xml version="1.0" encoding="utf-8"?>
<Types xmlns="http://schemas.openxmlformats.org/package/2006/content-types">
  <Default Extension="fntdata" ContentType="application/x-fontdata"/>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embeddedFontLst>
    <p:embeddedFont>
      <p:font typeface="Amiri" pitchFamily="2" charset="-78"/>
      <p:regular r:id="rIdFont1"/>
      <p:bold r:id="rIdFont2"/>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 Id="rIdFont1" Type="http://schemas.openxmlformats.org/officeDocument/2006/relationships/font" Target="fonts/font1.fntdata"/><Relationship Id="rIdFont2" Type="http://schemas.openxmlformats.org/officeDocument/2006/relationships/font" Target="fonts/font2.fntdata"/></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cs typeface="Amiri" pitchFamily="2" charset="-78"/>
      </a:defRPr>
    </a:lvl1pPr>
    <a:lvl2pPr marL="457200" algn="l" defTabSz="914400" rtl="0" eaLnBrk="1" latinLnBrk="0" hangingPunct="1">
      <a:defRPr sz="1200" kern="1200">
        <a:solidFill>
          <a:schemeClr val="tx1"/>
        </a:solidFill>
        <a:latin typeface="+mn-lt"/>
        <a:cs typeface="Amiri" pitchFamily="2" charset="-78"/>
      </a:defRPr>
    </a:lvl2pPr>
    <a:lvl3pPr marL="914400" algn="l" defTabSz="914400" rtl="0" eaLnBrk="1" latinLnBrk="0" hangingPunct="1">
      <a:defRPr sz="1200" kern="1200">
        <a:solidFill>
          <a:schemeClr val="tx1"/>
        </a:solidFill>
        <a:latin typeface="+mn-lt"/>
        <a:cs typeface="Amiri" pitchFamily="2" charset="-78"/>
      </a:defRPr>
    </a:lvl3pPr>
    <a:lvl4pPr marL="1371600" algn="l" defTabSz="914400" rtl="0" eaLnBrk="1" latinLnBrk="0" hangingPunct="1">
      <a:defRPr sz="1200" kern="1200">
        <a:solidFill>
          <a:schemeClr val="tx1"/>
        </a:solidFill>
        <a:latin typeface="+mn-lt"/>
        <a:cs typeface="Amiri" pitchFamily="2" charset="-78"/>
      </a:defRPr>
    </a:lvl4pPr>
    <a:lvl5pPr marL="1828800" algn="l" defTabSz="914400" rtl="0" eaLnBrk="1" latinLnBrk="0" hangingPunct="1">
      <a:defRPr sz="1200" kern="1200">
        <a:solidFill>
          <a:schemeClr val="tx1"/>
        </a:solidFill>
        <a:latin typeface="+mn-lt"/>
        <a:cs typeface="Amiri" pitchFamily="2" charset="-78"/>
      </a:defRPr>
    </a:lvl5pPr>
    <a:lvl6pPr marL="2286000" algn="l" defTabSz="914400" rtl="0" eaLnBrk="1" latinLnBrk="0" hangingPunct="1">
      <a:defRPr sz="1200" kern="1200">
        <a:solidFill>
          <a:schemeClr val="tx1"/>
        </a:solidFill>
        <a:latin typeface="+mn-lt"/>
        <a:cs typeface="Amiri" pitchFamily="2" charset="-78"/>
      </a:defRPr>
    </a:lvl6pPr>
    <a:lvl7pPr marL="2743200" algn="l" defTabSz="914400" rtl="0" eaLnBrk="1" latinLnBrk="0" hangingPunct="1">
      <a:defRPr sz="1200" kern="1200">
        <a:solidFill>
          <a:schemeClr val="tx1"/>
        </a:solidFill>
        <a:latin typeface="+mn-lt"/>
        <a:cs typeface="Amiri" pitchFamily="2" charset="-78"/>
      </a:defRPr>
    </a:lvl7pPr>
    <a:lvl8pPr marL="3200400" algn="l" defTabSz="914400" rtl="0" eaLnBrk="1" latinLnBrk="0" hangingPunct="1">
      <a:defRPr sz="1200" kern="1200">
        <a:solidFill>
          <a:schemeClr val="tx1"/>
        </a:solidFill>
        <a:latin typeface="+mn-lt"/>
        <a:cs typeface="Amiri" pitchFamily="2" charset="-78"/>
      </a:defRPr>
    </a:lvl8pPr>
    <a:lvl9pPr marL="3657600" algn="l" defTabSz="914400" rtl="0" eaLnBrk="1" latinLnBrk="0" hangingPunct="1">
      <a:defRPr sz="1200" kern="1200">
        <a:solidFill>
          <a:schemeClr val="tx1"/>
        </a:solidFill>
        <a:latin typeface="+mn-lt"/>
        <a:cs typeface="Amiri" pitchFamily="2" charset="-78"/>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PRACTICE ROOM AT A GLANCE — one combined lesson (speaking, then writing), 55–60 minutes: about 6 minutes in the main room, about 45 minutes in breakout rooms of two or three, about 6 minutes back together.
0–2 Welcome · 2–5 How the room works · ROOMS, Part A Speaking: Step 1 Word warm-up (5) · Step 2 Say the model dialogue (5) · Step 3 Question cards (7) · Step 4 Role-play card (7) · Step 5 Short talk (4) · Part B Writing: Step 6 Sentence builder (4) · Step 7 Spot and fix (3) · Step 8 Write your text (12) + buddy check (3) · back in the main room: Check yourself (4) · Self-check + close (2).
PURPOSE: students practise the lesson’s language ON THEIR OWN with a clear structure. The teacher visits each room (about 3 minutes per room), listens, reads one piece of writing per student and gives one live correction.
CONTENT: F4-L06 (School Rules and Obligations — Must and Must Not) — new practice tasks built on the lesson’s own word bank and grammar (yajibu an + verb in -a (must); lā yajūzu an + verb in -a (must not); yumkinu an (may); imperatives to a boy / girl / group (iḥtarim · iḥtarimī · iḥtarimū); lā + jussive (lā taʾkul)).
SET-UP: rooms of two or three (same-level rooms keep the routes simple). Share this deck or its PDF in the chat so every room can follow the steps. Each student writes in their own book or document.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WELCOME (1 min) — while students join.
• Greet each student by name as they arrive: السَّلَامُ عَلَيْكُمْ. Take the register (Pastoral Tracker: attendance 0/1).
• 2-MINUTE CHECK-IN (SEND training): a private chat to any student who seemed unsettled last lesson — “Are you okay today? 👍 / 👎”.
• Point to the four expectations — brief and positive: this is our class agreement.
• Talk code: “I will always give you thinking and practice time before I ask anyone.” Reading aloud is by invitation — a student may say “pass” and you return to them later.
• Follow-up on preparation: who learnt the five words? Quick private reminder to anyone who did not (Flipped Learning: follow up every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MAP (1 min) — Part A is speaking, Part B is writing. The step number is always in the top-left of each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HOW THE ROOM WORKS (3 min, main room). Model the roles quickly with two volunteers using one question from Step 3. Stress: the Coach is kind and specific. Then open the breakout rooms.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(5 min in rooms). The two word slides that follow come from the F4-L06 lesson. Teacher: visit the first room straight away to model the pace.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 — the Leader picks the English, the Speaker gives the Arabic.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1 reference.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2 (5 min). The dialogue models today’s language in a real exchange.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3 (7 min). The starter column is support, not the answer: students finish it with their OWN information. Coach listens for the key structure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ar-SA" dirty="0">
                <a:latin typeface="Amiri" pitchFamily="2" charset="-78"/>
                <a:ea typeface="Amiri" pitchFamily="2" charset="-78"/>
                <a:cs typeface="Amiri" pitchFamily="2" charset="-78"/>
              </a:rPr>
              <a:t>STEP 4 (7 min). SUPPORTED: the plan column models the thinking (first words), not the full answer. Everyone is Speaker once. To a girl the Leader says: this card is written for a new GIRL (-ī endings); to a boy: تَلْبَسَ · تَصِلَ · اذْهَبْ · قُلْ. Language: yajibu an / lā yajūzu an + verb in -a · imperatives to a girl (-ī) · qabla +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5 (4 min). A short talk builds fluency and confidence.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6 (4 min). Read the English, then choose the correct part from each column (start on the RIGHT, column 1). Buddies agree before checking the answer slide. Students copy the three correct sentences into their book — they are useful for Step 8.</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7 (3 min). Pairs agree on each correction before the answer slide. These are the mistakes to look for in the buddy check.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support. Core: use the Core frames for every sentence. Develop: use the Develop frames only if stuck. Stretch: no frames — add a reason, a time phrase and one extra detail.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STEP 8 (10 min writing). Core: frames for every bullet (25–35 words). Develop: 40–60 words, frames only if stuck. Stretch: no frames, add reasons and another time frame. Teacher visits rooms and reads ONE sentence per student.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BUDDY CHECK (3 min). Then everyone returns to the main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 YOURSELF (2 min, main room). Each student finds one task they answered less fully and says it again using the model.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MODEL ANSWER (44 words). CHECK YOURSELF (2 min). Find each bullet point in the model. Then each student copies ONE phrase from the model into their own text.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SELF-CHECK (1 min) against the website success criteria. Students tick privately, then type one WWW and one EBI in the chat (English is fine).
Teacher: one whole-class feedback point from live feedback. Pastoral: Curiosity &amp; Growth for honest reflection and a harder target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 thank students, dismiss calmly. After the lesson: complete the Pastoral Tracker (attendance, character, self-management, curiosity; demerits only for the five listed concerns). Note any student below 2/3 on the exit ticket for a Do Now check-in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cs typeface="Amiri" pitchFamily="2" charset="-78"/>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cs typeface="Amiri" pitchFamily="2" charset="-78"/>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cs typeface="Amiri" pitchFamily="2" charset="-78"/>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cs typeface="Amiri" pitchFamily="2" charset="-78"/>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cs typeface="Amiri" pitchFamily="2" charset="-78"/>
        </a:defRPr>
      </a:lvl9pPr>
    </p:bodyStyle>
    <p:otherStyle>
      <a:defPPr>
        <a:defRPr lang="en-US"/>
      </a:defPPr>
      <a:lvl1pPr marL="0" algn="l" defTabSz="914400" rtl="0" eaLnBrk="1" latinLnBrk="0" hangingPunct="1">
        <a:defRPr sz="1800" kern="1200">
          <a:solidFill>
            <a:schemeClr val="tx1"/>
          </a:solidFill>
          <a:latin typeface="+mn-lt"/>
          <a:cs typeface="Amiri" pitchFamily="2" charset="-78"/>
        </a:defRPr>
      </a:lvl1pPr>
      <a:lvl2pPr marL="457200" algn="l" defTabSz="914400" rtl="0" eaLnBrk="1" latinLnBrk="0" hangingPunct="1">
        <a:defRPr sz="1800" kern="1200">
          <a:solidFill>
            <a:schemeClr val="tx1"/>
          </a:solidFill>
          <a:latin typeface="+mn-lt"/>
          <a:cs typeface="Amiri" pitchFamily="2" charset="-78"/>
        </a:defRPr>
      </a:lvl2pPr>
      <a:lvl3pPr marL="914400" algn="l" defTabSz="914400" rtl="0" eaLnBrk="1" latinLnBrk="0" hangingPunct="1">
        <a:defRPr sz="1800" kern="1200">
          <a:solidFill>
            <a:schemeClr val="tx1"/>
          </a:solidFill>
          <a:latin typeface="+mn-lt"/>
          <a:cs typeface="Amiri" pitchFamily="2" charset="-78"/>
        </a:defRPr>
      </a:lvl3pPr>
      <a:lvl4pPr marL="1371600" algn="l" defTabSz="914400" rtl="0" eaLnBrk="1" latinLnBrk="0" hangingPunct="1">
        <a:defRPr sz="1800" kern="1200">
          <a:solidFill>
            <a:schemeClr val="tx1"/>
          </a:solidFill>
          <a:latin typeface="+mn-lt"/>
          <a:cs typeface="Amiri" pitchFamily="2" charset="-78"/>
        </a:defRPr>
      </a:lvl4pPr>
      <a:lvl5pPr marL="1828800" algn="l" defTabSz="914400" rtl="0" eaLnBrk="1" latinLnBrk="0" hangingPunct="1">
        <a:defRPr sz="1800" kern="1200">
          <a:solidFill>
            <a:schemeClr val="tx1"/>
          </a:solidFill>
          <a:latin typeface="+mn-lt"/>
          <a:cs typeface="Amiri" pitchFamily="2" charset="-78"/>
        </a:defRPr>
      </a:lvl5pPr>
      <a:lvl6pPr marL="2286000" algn="l" defTabSz="914400" rtl="0" eaLnBrk="1" latinLnBrk="0" hangingPunct="1">
        <a:defRPr sz="1800" kern="1200">
          <a:solidFill>
            <a:schemeClr val="tx1"/>
          </a:solidFill>
          <a:latin typeface="+mn-lt"/>
          <a:cs typeface="Amiri" pitchFamily="2" charset="-78"/>
        </a:defRPr>
      </a:lvl6pPr>
      <a:lvl7pPr marL="2743200" algn="l" defTabSz="914400" rtl="0" eaLnBrk="1" latinLnBrk="0" hangingPunct="1">
        <a:defRPr sz="1800" kern="1200">
          <a:solidFill>
            <a:schemeClr val="tx1"/>
          </a:solidFill>
          <a:latin typeface="+mn-lt"/>
          <a:cs typeface="Amiri" pitchFamily="2" charset="-78"/>
        </a:defRPr>
      </a:lvl7pPr>
      <a:lvl8pPr marL="3200400" algn="l" defTabSz="914400" rtl="0" eaLnBrk="1" latinLnBrk="0" hangingPunct="1">
        <a:defRPr sz="1800" kern="1200">
          <a:solidFill>
            <a:schemeClr val="tx1"/>
          </a:solidFill>
          <a:latin typeface="+mn-lt"/>
          <a:cs typeface="Amiri" pitchFamily="2" charset="-78"/>
        </a:defRPr>
      </a:lvl8pPr>
      <a:lvl9pPr marL="3657600" algn="l" defTabSz="914400" rtl="0" eaLnBrk="1" latinLnBrk="0" hangingPunct="1">
        <a:defRPr sz="1800" kern="1200">
          <a:solidFill>
            <a:schemeClr val="tx1"/>
          </a:solidFill>
          <a:latin typeface="+mn-lt"/>
          <a:cs typeface="Amiri" pitchFamily="2" charset="-78"/>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463040"/>
            <a:ext cx="5852160" cy="5852160"/>
          </a:xfrm>
          <a:prstGeom prst="ellipse">
            <a:avLst/>
          </a:prstGeom>
          <a:solidFill>
            <a:srgbClr val="14315C"/>
          </a:solidFill>
          <a:ln w="12700">
            <a:solidFill>
              <a:srgbClr val="14315C"/>
            </a:solidFill>
            <a:prstDash val="solid"/>
          </a:ln>
        </p:spPr>
      </p:sp>
      <p:sp>
        <p:nvSpPr>
          <p:cNvPr id="3" name="Shape 1"/>
          <p:cNvSpPr/>
          <p:nvPr/>
        </p:nvSpPr>
        <p:spPr>
          <a:xfrm>
            <a:off x="8778240" y="-548640"/>
            <a:ext cx="4023360" cy="4023360"/>
          </a:xfrm>
          <a:prstGeom prst="ellipse">
            <a:avLst/>
          </a:prstGeom>
          <a:solidFill>
            <a:srgbClr val="1B3B6F"/>
          </a:solidFill>
          <a:ln w="12700">
            <a:solidFill>
              <a:srgbClr val="1B3B6F"/>
            </a:solidFill>
            <a:prstDash val="solid"/>
          </a:ln>
        </p:spPr>
      </p:sp>
      <p:pic>
        <p:nvPicPr>
          <p:cNvPr id="4" name="Image 0" descr="preencoded.png">    </p:cNvPr>
          <p:cNvPicPr>
            <a:picLocks noChangeAspect="1"/>
          </p:cNvPicPr>
          <p:nvPr/>
        </p:nvPicPr>
        <p:blipFill>
          <a:blip r:embed="rId1"/>
          <a:stretch>
            <a:fillRect/>
          </a:stretch>
        </p:blipFill>
        <p:spPr>
          <a:xfrm>
            <a:off x="10012680" y="685800"/>
            <a:ext cx="1554480" cy="1554480"/>
          </a:xfrm>
          <a:prstGeom prst="rect">
            <a:avLst/>
          </a:prstGeom>
        </p:spPr>
      </p:pic>
      <p:sp>
        <p:nvSpPr>
          <p:cNvPr id="5" name="Shape 2"/>
          <p:cNvSpPr/>
          <p:nvPr/>
        </p:nvSpPr>
        <p:spPr>
          <a:xfrm>
            <a:off x="457200" y="411480"/>
            <a:ext cx="502920" cy="502920"/>
          </a:xfrm>
          <a:prstGeom prst="ellipse">
            <a:avLst/>
          </a:prstGeom>
          <a:solidFill>
            <a:srgbClr val="1B3B6F"/>
          </a:solidFill>
          <a:ln w="15875">
            <a:solidFill>
              <a:srgbClr val="D4AF37"/>
            </a:solidFill>
            <a:prstDash val="solid"/>
          </a:ln>
        </p:spPr>
      </p:sp>
      <p:sp>
        <p:nvSpPr>
          <p:cNvPr id="6" name="Text 3"/>
          <p:cNvSpPr txBox="1"/>
          <p:nvPr/>
        </p:nvSpPr>
        <p:spPr>
          <a:xfrm>
            <a:off x="457200" y="393192"/>
            <a:ext cx="502920" cy="502920"/>
          </a:xfrm>
          <a:prstGeom prst="rect">
            <a:avLst/>
          </a:prstGeom>
          <a:noFill/>
          <a:ln/>
        </p:spPr>
        <p:txBody>
          <a:bodyPr wrap="square" lIns="0" tIns="0" rIns="0" bIns="0" rtlCol="0" anchor="ctr"/>
          <a:lstStyle/>
          <a:p>
            <a:pPr rtl="1" algn="ctr" indent="0" marL="0">
              <a:buNone/>
            </a:pPr>
            <a:r>
              <a:rPr lang="ar-SA" altLang="en-US" sz="2200" b="1" dirty="0">
                <a:solidFill>
                  <a:srgbClr val="D4AF37"/>
                </a:solidFill>
                <a:latin typeface="Amiri" pitchFamily="2" charset="-78"/>
                <a:ea typeface="Amiri" pitchFamily="2" charset="-78"/>
                <a:cs typeface="Amiri" pitchFamily="2" charset="-78"/>
              </a:rPr>
              <a:t>م</a:t>
            </a:r>
            <a:endParaRPr lang="ar-SA" sz="2200" dirty="0"/>
          </a:p>
        </p:txBody>
      </p:sp>
      <p:sp>
        <p:nvSpPr>
          <p:cNvPr id="7" name="Text 4"/>
          <p:cNvSpPr txBox="1"/>
          <p:nvPr/>
        </p:nvSpPr>
        <p:spPr>
          <a:xfrm>
            <a:off x="1078992" y="384048"/>
            <a:ext cx="5486400" cy="566928"/>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cs typeface="Amiri" pitchFamily="2" charset="-78"/>
              </a:rPr>
              <a:t>Al Madina Online School</a:t>
            </a:r>
            <a:endParaRPr lang="en-US" sz="1400" dirty="0"/>
          </a:p>
          <a:p>
            <a:pPr indent="0" marL="0">
              <a:buNone/>
            </a:pPr>
            <a:r>
              <a:rPr lang="en-US" sz="800" b="1" spc="200" kern="0" dirty="0">
                <a:solidFill>
                  <a:srgbClr val="D4AF37"/>
                </a:solidFill>
                <a:latin typeface="Calibri" pitchFamily="34" charset="0"/>
                <a:cs typeface="Amiri" pitchFamily="2" charset="-78"/>
              </a:rPr>
              <a:t>ARABIC DEPARTMENT · MIFTAH ARABIC</a:t>
            </a:r>
            <a:endParaRPr lang="en-US" sz="1400" dirty="0"/>
          </a:p>
        </p:txBody>
      </p:sp>
      <p:sp>
        <p:nvSpPr>
          <p:cNvPr id="8" name="Text 5"/>
          <p:cNvSpPr txBox="1"/>
          <p:nvPr/>
        </p:nvSpPr>
        <p:spPr>
          <a:xfrm>
            <a:off x="457200" y="1600200"/>
            <a:ext cx="8686800" cy="274320"/>
          </a:xfrm>
          <a:prstGeom prst="rect">
            <a:avLst/>
          </a:prstGeom>
          <a:noFill/>
          <a:ln/>
        </p:spPr>
        <p:txBody>
          <a:bodyPr wrap="square" lIns="0" tIns="0" rIns="0" bIns="0" rtlCol="0" anchor="ctr"/>
          <a:lstStyle/>
          <a:p>
            <a:pPr algn="l" indent="0" marL="0">
              <a:buNone/>
            </a:pPr>
            <a:r>
              <a:rPr lang="en-US" sz="1100" b="1" spc="200" kern="0" dirty="0">
                <a:solidFill>
                  <a:srgbClr val="D4AF37"/>
                </a:solidFill>
                <a:latin typeface="Calibri" pitchFamily="34" charset="0"/>
                <a:cs typeface="Amiri" pitchFamily="2" charset="-78"/>
              </a:rPr>
              <a:t>CAMBRIDGE IGCSE ARABIC 0544  ·  YEAR 7  ·  FOUNDATION F4  ·  F4-L06 · PRACTICE ROOM</a:t>
            </a:r>
            <a:endParaRPr lang="en-US" sz="1100" dirty="0"/>
          </a:p>
        </p:txBody>
      </p:sp>
      <p:sp>
        <p:nvSpPr>
          <p:cNvPr id="9" name="Text 6"/>
          <p:cNvSpPr txBox="1"/>
          <p:nvPr/>
        </p:nvSpPr>
        <p:spPr>
          <a:xfrm>
            <a:off x="457200" y="1965960"/>
            <a:ext cx="7315200" cy="548640"/>
          </a:xfrm>
          <a:prstGeom prst="rect">
            <a:avLst/>
          </a:prstGeom>
          <a:noFill/>
          <a:ln/>
        </p:spPr>
        <p:txBody>
          <a:bodyPr wrap="square" lIns="0" tIns="0" rIns="0" bIns="0" rtlCol="0" anchor="ctr"/>
          <a:lstStyle/>
          <a:p>
            <a:pPr algn="l" indent="0" marL="0">
              <a:buNone/>
            </a:pPr>
            <a:r>
              <a:rPr lang="en-US" sz="2600" b="1" dirty="0">
                <a:solidFill>
                  <a:srgbClr val="9FB3D1"/>
                </a:solidFill>
                <a:latin typeface="Cambria" pitchFamily="34" charset="0"/>
                <a:cs typeface="Amiri" pitchFamily="2" charset="-78"/>
              </a:rPr>
              <a:t>F4-L06</a:t>
            </a:r>
            <a:endParaRPr lang="en-US" sz="2600" dirty="0"/>
          </a:p>
        </p:txBody>
      </p:sp>
      <p:sp>
        <p:nvSpPr>
          <p:cNvPr id="10" name="Text 7"/>
          <p:cNvSpPr txBox="1"/>
          <p:nvPr/>
        </p:nvSpPr>
        <p:spPr>
          <a:xfrm>
            <a:off x="457200" y="2487168"/>
            <a:ext cx="8046720" cy="868680"/>
          </a:xfrm>
          <a:prstGeom prst="rect">
            <a:avLst/>
          </a:prstGeom>
          <a:noFill/>
          <a:ln/>
        </p:spPr>
        <p:txBody>
          <a:bodyPr wrap="square" lIns="0" tIns="0" rIns="0" bIns="0" rtlCol="0" anchor="ctr"/>
          <a:lstStyle/>
          <a:p>
            <a:pPr algn="l" indent="0" marL="0">
              <a:buNone/>
            </a:pPr>
            <a:r>
              <a:rPr lang="en-US" sz="2650" b="1" dirty="0">
                <a:solidFill>
                  <a:srgbClr val="FFFFFF"/>
                </a:solidFill>
                <a:latin typeface="Cambria" pitchFamily="34" charset="0"/>
                <a:cs typeface="Amiri" pitchFamily="2" charset="-78"/>
              </a:rPr>
              <a:t>Practice Room — School Rules and Obligations — Must and Must Not</a:t>
            </a:r>
            <a:endParaRPr lang="en-US" sz="2650" dirty="0"/>
          </a:p>
        </p:txBody>
      </p:sp>
      <p:sp>
        <p:nvSpPr>
          <p:cNvPr id="11" name="Text 8"/>
          <p:cNvSpPr txBox="1"/>
          <p:nvPr/>
        </p:nvSpPr>
        <p:spPr>
          <a:xfrm>
            <a:off x="457200" y="3310128"/>
            <a:ext cx="8046720" cy="868680"/>
          </a:xfrm>
          <a:prstGeom prst="rect">
            <a:avLst/>
          </a:prstGeom>
          <a:noFill/>
          <a:ln/>
        </p:spPr>
        <p:txBody>
          <a:bodyPr wrap="square" lIns="0" tIns="0" rIns="0" bIns="0" rtlCol="0" anchor="ctr"/>
          <a:lstStyle/>
          <a:p>
            <a:pPr rtl="1" algn="l" indent="0" marL="0">
              <a:buNone/>
            </a:pPr>
            <a:r>
              <a:rPr lang="ar-SA" altLang="en-US" sz="3600" b="1" dirty="0">
                <a:solidFill>
                  <a:srgbClr val="D4AF37"/>
                </a:solidFill>
                <a:latin typeface="Amiri" pitchFamily="2" charset="-78"/>
                <a:ea typeface="Amiri" pitchFamily="2" charset="-78"/>
                <a:cs typeface="Amiri" pitchFamily="2" charset="-78"/>
              </a:rPr>
              <a:t>غُرْفَةُ التَّدَرُّبِ — القَوَاعِدُ المَدْرَسِيَّةُ</a:t>
            </a:r>
            <a:endParaRPr lang="ar-SA" sz="3600" dirty="0"/>
          </a:p>
        </p:txBody>
      </p:sp>
      <p:sp>
        <p:nvSpPr>
          <p:cNvPr id="12" name="Text 9"/>
          <p:cNvSpPr txBox="1"/>
          <p:nvPr/>
        </p:nvSpPr>
        <p:spPr>
          <a:xfrm>
            <a:off x="457200" y="4224528"/>
            <a:ext cx="7863840" cy="731520"/>
          </a:xfrm>
          <a:prstGeom prst="rect">
            <a:avLst/>
          </a:prstGeom>
          <a:noFill/>
          <a:ln/>
        </p:spPr>
        <p:txBody>
          <a:bodyPr wrap="square" lIns="0" tIns="0" rIns="0" bIns="0" rtlCol="0" anchor="t"/>
          <a:lstStyle/>
          <a:p>
            <a:pPr algn="l" indent="0" marL="0">
              <a:buNone/>
            </a:pPr>
            <a:r>
              <a:rPr lang="en-US" sz="1350" dirty="0">
                <a:solidFill>
                  <a:srgbClr val="C6D2E6"/>
                </a:solidFill>
                <a:latin typeface="Calibri" pitchFamily="34" charset="0"/>
                <a:cs typeface="Amiri" pitchFamily="2" charset="-78"/>
              </a:rPr>
              <a:t>Students run their own speaking and writing practice with school rules: say the rule words, act a short dialogue, answer question cards, do a role-play card showing a new student the rules, give a 30-second talk, then build, fix and write a rulebook for their class or an online classroom.</a:t>
            </a:r>
            <a:endParaRPr lang="en-US" sz="1350" dirty="0"/>
          </a:p>
        </p:txBody>
      </p:sp>
      <p:sp>
        <p:nvSpPr>
          <p:cNvPr id="13" name="Shape 10"/>
          <p:cNvSpPr/>
          <p:nvPr/>
        </p:nvSpPr>
        <p:spPr>
          <a:xfrm>
            <a:off x="457200" y="5166360"/>
            <a:ext cx="2651760" cy="868680"/>
          </a:xfrm>
          <a:prstGeom prst="roundRect">
            <a:avLst>
              <a:gd name="adj" fmla="val 8421"/>
            </a:avLst>
          </a:prstGeom>
          <a:solidFill>
            <a:srgbClr val="16335F"/>
          </a:solidFill>
          <a:ln w="12700">
            <a:solidFill>
              <a:srgbClr val="2A4B7C"/>
            </a:solidFill>
            <a:prstDash val="solid"/>
          </a:ln>
        </p:spPr>
      </p:sp>
      <p:sp>
        <p:nvSpPr>
          <p:cNvPr id="14" name="Text 11"/>
          <p:cNvSpPr txBox="1"/>
          <p:nvPr/>
        </p:nvSpPr>
        <p:spPr>
          <a:xfrm>
            <a:off x="621792"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LESSON</a:t>
            </a:r>
            <a:endParaRPr lang="en-US" sz="850" dirty="0"/>
          </a:p>
          <a:p>
            <a:pPr indent="0" marL="0">
              <a:buNone/>
            </a:pPr>
            <a:r>
              <a:rPr lang="en-US" sz="1200" b="1" dirty="0">
                <a:solidFill>
                  <a:srgbClr val="FFFFFF"/>
                </a:solidFill>
                <a:latin typeface="Calibri" pitchFamily="34" charset="0"/>
                <a:cs typeface="Amiri" pitchFamily="2" charset="-78"/>
              </a:rPr>
              <a:t>F4-L06 · Foundation F4 · My School</a:t>
            </a:r>
            <a:endParaRPr lang="en-US" sz="850" dirty="0"/>
          </a:p>
        </p:txBody>
      </p:sp>
      <p:sp>
        <p:nvSpPr>
          <p:cNvPr id="15" name="Shape 12"/>
          <p:cNvSpPr/>
          <p:nvPr/>
        </p:nvSpPr>
        <p:spPr>
          <a:xfrm>
            <a:off x="3273552" y="5166360"/>
            <a:ext cx="2651760" cy="868680"/>
          </a:xfrm>
          <a:prstGeom prst="roundRect">
            <a:avLst>
              <a:gd name="adj" fmla="val 8421"/>
            </a:avLst>
          </a:prstGeom>
          <a:solidFill>
            <a:srgbClr val="16335F"/>
          </a:solidFill>
          <a:ln w="12700">
            <a:solidFill>
              <a:srgbClr val="2A4B7C"/>
            </a:solidFill>
            <a:prstDash val="solid"/>
          </a:ln>
        </p:spPr>
      </p:sp>
      <p:sp>
        <p:nvSpPr>
          <p:cNvPr id="16" name="Text 13"/>
          <p:cNvSpPr txBox="1"/>
          <p:nvPr/>
        </p:nvSpPr>
        <p:spPr>
          <a:xfrm>
            <a:off x="3438144"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DURATION</a:t>
            </a:r>
            <a:endParaRPr lang="en-US" sz="850" dirty="0"/>
          </a:p>
          <a:p>
            <a:pPr indent="0" marL="0">
              <a:buNone/>
            </a:pPr>
            <a:r>
              <a:rPr lang="en-US" sz="1200" b="1" dirty="0">
                <a:solidFill>
                  <a:srgbClr val="FFFFFF"/>
                </a:solidFill>
                <a:latin typeface="Calibri" pitchFamily="34" charset="0"/>
                <a:cs typeface="Amiri" pitchFamily="2" charset="-78"/>
              </a:rPr>
              <a:t>60 minutes · Teams</a:t>
            </a:r>
            <a:endParaRPr lang="en-US" sz="850" dirty="0"/>
          </a:p>
        </p:txBody>
      </p:sp>
      <p:sp>
        <p:nvSpPr>
          <p:cNvPr id="17" name="Shape 14"/>
          <p:cNvSpPr/>
          <p:nvPr/>
        </p:nvSpPr>
        <p:spPr>
          <a:xfrm>
            <a:off x="6089904" y="5166360"/>
            <a:ext cx="2651760" cy="868680"/>
          </a:xfrm>
          <a:prstGeom prst="roundRect">
            <a:avLst>
              <a:gd name="adj" fmla="val 8421"/>
            </a:avLst>
          </a:prstGeom>
          <a:solidFill>
            <a:srgbClr val="16335F"/>
          </a:solidFill>
          <a:ln w="12700">
            <a:solidFill>
              <a:srgbClr val="2A4B7C"/>
            </a:solidFill>
            <a:prstDash val="solid"/>
          </a:ln>
        </p:spPr>
      </p:sp>
      <p:sp>
        <p:nvSpPr>
          <p:cNvPr id="18" name="Text 15"/>
          <p:cNvSpPr txBox="1"/>
          <p:nvPr/>
        </p:nvSpPr>
        <p:spPr>
          <a:xfrm>
            <a:off x="6254496"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LEVEL</a:t>
            </a:r>
            <a:endParaRPr lang="en-US" sz="850" dirty="0"/>
          </a:p>
          <a:p>
            <a:pPr indent="0" marL="0">
              <a:buNone/>
            </a:pPr>
            <a:r>
              <a:rPr lang="en-US" sz="1200" b="1" dirty="0">
                <a:solidFill>
                  <a:srgbClr val="FFFFFF"/>
                </a:solidFill>
                <a:latin typeface="Calibri" pitchFamily="34" charset="0"/>
                <a:cs typeface="Amiri" pitchFamily="2" charset="-78"/>
              </a:rPr>
              <a:t>Foundation · A1</a:t>
            </a:r>
            <a:endParaRPr lang="en-US" sz="850" dirty="0"/>
          </a:p>
        </p:txBody>
      </p:sp>
      <p:sp>
        <p:nvSpPr>
          <p:cNvPr id="19" name="Shape 16"/>
          <p:cNvSpPr/>
          <p:nvPr/>
        </p:nvSpPr>
        <p:spPr>
          <a:xfrm>
            <a:off x="8906256" y="5166360"/>
            <a:ext cx="2651760" cy="868680"/>
          </a:xfrm>
          <a:prstGeom prst="roundRect">
            <a:avLst>
              <a:gd name="adj" fmla="val 8421"/>
            </a:avLst>
          </a:prstGeom>
          <a:solidFill>
            <a:srgbClr val="16335F"/>
          </a:solidFill>
          <a:ln w="12700">
            <a:solidFill>
              <a:srgbClr val="2A4B7C"/>
            </a:solidFill>
            <a:prstDash val="solid"/>
          </a:ln>
        </p:spPr>
      </p:sp>
      <p:sp>
        <p:nvSpPr>
          <p:cNvPr id="20" name="Text 17"/>
          <p:cNvSpPr txBox="1"/>
          <p:nvPr/>
        </p:nvSpPr>
        <p:spPr>
          <a:xfrm>
            <a:off x="9070848" y="5212080"/>
            <a:ext cx="2377440" cy="777240"/>
          </a:xfrm>
          <a:prstGeom prst="rect">
            <a:avLst/>
          </a:prstGeom>
          <a:noFill/>
          <a:ln/>
        </p:spPr>
        <p:txBody>
          <a:bodyPr wrap="square" lIns="0" tIns="0" rIns="0" bIns="0" rtlCol="0" anchor="ctr"/>
          <a:lstStyle/>
          <a:p>
            <a:pPr indent="0" marL="0">
              <a:buNone/>
            </a:pPr>
            <a:r>
              <a:rPr lang="en-US" sz="850" b="1" spc="200" kern="0" dirty="0">
                <a:solidFill>
                  <a:srgbClr val="D4AF37"/>
                </a:solidFill>
                <a:latin typeface="Calibri" pitchFamily="34" charset="0"/>
                <a:cs typeface="Amiri" pitchFamily="2" charset="-78"/>
              </a:rPr>
              <a:t>ON THE WEBSITE</a:t>
            </a:r>
            <a:endParaRPr lang="en-US" sz="850" dirty="0"/>
          </a:p>
          <a:p>
            <a:pPr indent="0" marL="0">
              <a:buNone/>
            </a:pPr>
            <a:r>
              <a:rPr lang="en-US" sz="1200" b="1" dirty="0">
                <a:solidFill>
                  <a:srgbClr val="FFFFFF"/>
                </a:solidFill>
                <a:latin typeface="Calibri" pitchFamily="34" charset="0"/>
                <a:cs typeface="Amiri" pitchFamily="2" charset="-78"/>
              </a:rPr>
              <a:t>Pathways › Foundation › F4 › F4-L06</a:t>
            </a:r>
            <a:endParaRPr lang="en-US" sz="8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BEFORE WE BEGIN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Our online classroom</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آدَابُ الصَّفِّ</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28800"/>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2002536"/>
            <a:ext cx="585216" cy="585216"/>
          </a:xfrm>
          <a:prstGeom prst="ellipse">
            <a:avLst/>
          </a:prstGeom>
          <a:solidFill>
            <a:srgbClr val="EEF3FA"/>
          </a:solidFill>
          <a:ln w="12700">
            <a:solidFill>
              <a:srgbClr val="EEF3FA"/>
            </a:solidFill>
            <a:prstDash val="solid"/>
          </a:ln>
        </p:spPr>
      </p:sp>
      <p:pic>
        <p:nvPicPr>
          <p:cNvPr id="17" name="Image 0" descr="preencoded.png">    </p:cNvPr>
          <p:cNvPicPr>
            <a:picLocks noChangeAspect="1"/>
          </p:cNvPicPr>
          <p:nvPr/>
        </p:nvPicPr>
        <p:blipFill>
          <a:blip r:embed="rId1"/>
          <a:stretch>
            <a:fillRect/>
          </a:stretch>
        </p:blipFill>
        <p:spPr>
          <a:xfrm>
            <a:off x="777240" y="2139696"/>
            <a:ext cx="310896" cy="310896"/>
          </a:xfrm>
          <a:prstGeom prst="rect">
            <a:avLst/>
          </a:prstGeom>
        </p:spPr>
      </p:pic>
      <p:sp>
        <p:nvSpPr>
          <p:cNvPr id="18" name="Text 14"/>
          <p:cNvSpPr txBox="1"/>
          <p:nvPr/>
        </p:nvSpPr>
        <p:spPr>
          <a:xfrm>
            <a:off x="1371600" y="1901952"/>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Camera on</a:t>
            </a:r>
            <a:endParaRPr lang="en-US" sz="1500" dirty="0"/>
          </a:p>
          <a:p>
            <a:pPr indent="0" marL="0">
              <a:buNone/>
            </a:pPr>
            <a:r>
              <a:rPr lang="en-US" sz="1150" dirty="0">
                <a:solidFill>
                  <a:srgbClr val="5A6472"/>
                </a:solidFill>
                <a:latin typeface="Calibri" pitchFamily="34" charset="0"/>
                <a:cs typeface="Amiri" pitchFamily="2" charset="-78"/>
              </a:rPr>
              <a:t>So I can see you learning and help you quickly.</a:t>
            </a:r>
            <a:endParaRPr lang="en-US" sz="1500" dirty="0"/>
          </a:p>
        </p:txBody>
      </p:sp>
      <p:sp>
        <p:nvSpPr>
          <p:cNvPr id="19" name="Shape 15"/>
          <p:cNvSpPr/>
          <p:nvPr/>
        </p:nvSpPr>
        <p:spPr>
          <a:xfrm>
            <a:off x="457200" y="2907792"/>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0" name="Shape 16"/>
          <p:cNvSpPr/>
          <p:nvPr/>
        </p:nvSpPr>
        <p:spPr>
          <a:xfrm>
            <a:off x="640080" y="3081528"/>
            <a:ext cx="585216" cy="585216"/>
          </a:xfrm>
          <a:prstGeom prst="ellipse">
            <a:avLst/>
          </a:prstGeom>
          <a:solidFill>
            <a:srgbClr val="EEF3FA"/>
          </a:solidFill>
          <a:ln w="12700">
            <a:solidFill>
              <a:srgbClr val="EEF3FA"/>
            </a:solidFill>
            <a:prstDash val="solid"/>
          </a:ln>
        </p:spPr>
      </p:sp>
      <p:pic>
        <p:nvPicPr>
          <p:cNvPr id="21" name="Image 1" descr="preencoded.png">    </p:cNvPr>
          <p:cNvPicPr>
            <a:picLocks noChangeAspect="1"/>
          </p:cNvPicPr>
          <p:nvPr/>
        </p:nvPicPr>
        <p:blipFill>
          <a:blip r:embed="rId2"/>
          <a:stretch>
            <a:fillRect/>
          </a:stretch>
        </p:blipFill>
        <p:spPr>
          <a:xfrm>
            <a:off x="777240" y="3218688"/>
            <a:ext cx="310896" cy="310896"/>
          </a:xfrm>
          <a:prstGeom prst="rect">
            <a:avLst/>
          </a:prstGeom>
        </p:spPr>
      </p:pic>
      <p:sp>
        <p:nvSpPr>
          <p:cNvPr id="22" name="Text 17"/>
          <p:cNvSpPr txBox="1"/>
          <p:nvPr/>
        </p:nvSpPr>
        <p:spPr>
          <a:xfrm>
            <a:off x="1371600" y="2980944"/>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Mic muted</a:t>
            </a:r>
            <a:endParaRPr lang="en-US" sz="1500" dirty="0"/>
          </a:p>
          <a:p>
            <a:pPr indent="0" marL="0">
              <a:buNone/>
            </a:pPr>
            <a:r>
              <a:rPr lang="en-US" sz="1150" dirty="0">
                <a:solidFill>
                  <a:srgbClr val="5A6472"/>
                </a:solidFill>
                <a:latin typeface="Calibri" pitchFamily="34" charset="0"/>
                <a:cs typeface="Amiri" pitchFamily="2" charset="-78"/>
              </a:rPr>
              <a:t>Unmute only when invited to speak.</a:t>
            </a:r>
            <a:endParaRPr lang="en-US" sz="1500" dirty="0"/>
          </a:p>
        </p:txBody>
      </p:sp>
      <p:sp>
        <p:nvSpPr>
          <p:cNvPr id="23" name="Shape 18"/>
          <p:cNvSpPr/>
          <p:nvPr/>
        </p:nvSpPr>
        <p:spPr>
          <a:xfrm>
            <a:off x="457200" y="3986784"/>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19"/>
          <p:cNvSpPr/>
          <p:nvPr/>
        </p:nvSpPr>
        <p:spPr>
          <a:xfrm>
            <a:off x="640080" y="4160520"/>
            <a:ext cx="585216" cy="585216"/>
          </a:xfrm>
          <a:prstGeom prst="ellipse">
            <a:avLst/>
          </a:prstGeom>
          <a:solidFill>
            <a:srgbClr val="EEF3FA"/>
          </a:solidFill>
          <a:ln w="12700">
            <a:solidFill>
              <a:srgbClr val="EEF3FA"/>
            </a:solidFill>
            <a:prstDash val="solid"/>
          </a:ln>
        </p:spPr>
      </p:sp>
      <p:pic>
        <p:nvPicPr>
          <p:cNvPr id="25" name="Image 2" descr="preencoded.png">    </p:cNvPr>
          <p:cNvPicPr>
            <a:picLocks noChangeAspect="1"/>
          </p:cNvPicPr>
          <p:nvPr/>
        </p:nvPicPr>
        <p:blipFill>
          <a:blip r:embed="rId3"/>
          <a:stretch>
            <a:fillRect/>
          </a:stretch>
        </p:blipFill>
        <p:spPr>
          <a:xfrm>
            <a:off x="777240" y="4297680"/>
            <a:ext cx="310896" cy="310896"/>
          </a:xfrm>
          <a:prstGeom prst="rect">
            <a:avLst/>
          </a:prstGeom>
        </p:spPr>
      </p:pic>
      <p:sp>
        <p:nvSpPr>
          <p:cNvPr id="26" name="Text 20"/>
          <p:cNvSpPr txBox="1"/>
          <p:nvPr/>
        </p:nvSpPr>
        <p:spPr>
          <a:xfrm>
            <a:off x="1371600" y="4059936"/>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Chat for learning</a:t>
            </a:r>
            <a:endParaRPr lang="en-US" sz="1500" dirty="0"/>
          </a:p>
          <a:p>
            <a:pPr indent="0" marL="0">
              <a:buNone/>
            </a:pPr>
            <a:r>
              <a:rPr lang="en-US" sz="1150" dirty="0">
                <a:solidFill>
                  <a:srgbClr val="5A6472"/>
                </a:solidFill>
                <a:latin typeface="Calibri" pitchFamily="34" charset="0"/>
                <a:cs typeface="Amiri" pitchFamily="2" charset="-78"/>
              </a:rPr>
              <a:t>Answers, questions and Arabic only.</a:t>
            </a:r>
            <a:endParaRPr lang="en-US" sz="1500" dirty="0"/>
          </a:p>
        </p:txBody>
      </p:sp>
      <p:sp>
        <p:nvSpPr>
          <p:cNvPr id="27" name="Shape 21"/>
          <p:cNvSpPr/>
          <p:nvPr/>
        </p:nvSpPr>
        <p:spPr>
          <a:xfrm>
            <a:off x="457200" y="5065776"/>
            <a:ext cx="5394960" cy="932688"/>
          </a:xfrm>
          <a:prstGeom prst="roundRect">
            <a:avLst>
              <a:gd name="adj" fmla="val 7843"/>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2"/>
          <p:cNvSpPr/>
          <p:nvPr/>
        </p:nvSpPr>
        <p:spPr>
          <a:xfrm>
            <a:off x="640080" y="5239512"/>
            <a:ext cx="585216" cy="585216"/>
          </a:xfrm>
          <a:prstGeom prst="ellipse">
            <a:avLst/>
          </a:prstGeom>
          <a:solidFill>
            <a:srgbClr val="EEF3FA"/>
          </a:solidFill>
          <a:ln w="12700">
            <a:solidFill>
              <a:srgbClr val="EEF3FA"/>
            </a:solidFill>
            <a:prstDash val="solid"/>
          </a:ln>
        </p:spPr>
      </p:sp>
      <p:pic>
        <p:nvPicPr>
          <p:cNvPr id="29" name="Image 3" descr="preencoded.png">    </p:cNvPr>
          <p:cNvPicPr>
            <a:picLocks noChangeAspect="1"/>
          </p:cNvPicPr>
          <p:nvPr/>
        </p:nvPicPr>
        <p:blipFill>
          <a:blip r:embed="rId4"/>
          <a:stretch>
            <a:fillRect/>
          </a:stretch>
        </p:blipFill>
        <p:spPr>
          <a:xfrm>
            <a:off x="777240" y="5376672"/>
            <a:ext cx="310896" cy="310896"/>
          </a:xfrm>
          <a:prstGeom prst="rect">
            <a:avLst/>
          </a:prstGeom>
        </p:spPr>
      </p:pic>
      <p:sp>
        <p:nvSpPr>
          <p:cNvPr id="30" name="Text 23"/>
          <p:cNvSpPr txBox="1"/>
          <p:nvPr/>
        </p:nvSpPr>
        <p:spPr>
          <a:xfrm>
            <a:off x="1371600" y="5138928"/>
            <a:ext cx="4389120" cy="786384"/>
          </a:xfrm>
          <a:prstGeom prst="rect">
            <a:avLst/>
          </a:prstGeom>
          <a:noFill/>
          <a:ln/>
        </p:spPr>
        <p:txBody>
          <a:bodyPr wrap="square" lIns="0" tIns="0" rIns="0" bIns="0" rtlCol="0" anchor="ctr"/>
          <a:lstStyle/>
          <a:p>
            <a:pPr indent="0" marL="0">
              <a:buNone/>
            </a:pPr>
            <a:r>
              <a:rPr lang="en-US" sz="1500" b="1" dirty="0">
                <a:solidFill>
                  <a:srgbClr val="1B3B6F"/>
                </a:solidFill>
                <a:latin typeface="Calibri" pitchFamily="34" charset="0"/>
                <a:cs typeface="Amiri" pitchFamily="2" charset="-78"/>
              </a:rPr>
              <a:t>Raise your hand</a:t>
            </a:r>
            <a:endParaRPr lang="en-US" sz="1500" dirty="0"/>
          </a:p>
          <a:p>
            <a:pPr indent="0" marL="0">
              <a:buNone/>
            </a:pPr>
            <a:r>
              <a:rPr lang="en-US" sz="1150" dirty="0">
                <a:solidFill>
                  <a:srgbClr val="5A6472"/>
                </a:solidFill>
                <a:latin typeface="Calibri" pitchFamily="34" charset="0"/>
                <a:cs typeface="Amiri" pitchFamily="2" charset="-78"/>
              </a:rPr>
              <a:t>Use the hand button to ask for help.</a:t>
            </a:r>
            <a:endParaRPr lang="en-US" sz="1500" dirty="0"/>
          </a:p>
        </p:txBody>
      </p:sp>
      <p:sp>
        <p:nvSpPr>
          <p:cNvPr id="31" name="Shape 24"/>
          <p:cNvSpPr/>
          <p:nvPr/>
        </p:nvSpPr>
        <p:spPr>
          <a:xfrm>
            <a:off x="6172200" y="1828800"/>
            <a:ext cx="5559552" cy="4169664"/>
          </a:xfrm>
          <a:prstGeom prst="roundRect">
            <a:avLst>
              <a:gd name="adj" fmla="val 1754"/>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32" name="Text 25"/>
          <p:cNvSpPr txBox="1"/>
          <p:nvPr/>
        </p:nvSpPr>
        <p:spPr>
          <a:xfrm>
            <a:off x="6400800" y="1938528"/>
            <a:ext cx="5102352" cy="310896"/>
          </a:xfrm>
          <a:prstGeom prst="rect">
            <a:avLst/>
          </a:prstGeom>
          <a:noFill/>
          <a:ln/>
        </p:spPr>
        <p:txBody>
          <a:bodyPr wrap="square" lIns="0" tIns="0" rIns="0" bIns="0" rtlCol="0" anchor="ctr"/>
          <a:lstStyle/>
          <a:p>
            <a:pPr algn="l" indent="0" marL="0">
              <a:buNone/>
            </a:pPr>
            <a:r>
              <a:rPr lang="en-US" sz="1100" b="1" spc="200" kern="0" dirty="0">
                <a:solidFill>
                  <a:srgbClr val="1B3B6F"/>
                </a:solidFill>
                <a:latin typeface="Calibri" pitchFamily="34" charset="0"/>
                <a:cs typeface="Amiri" pitchFamily="2" charset="-78"/>
              </a:rPr>
              <a:t>HOW WE TALK — THE ORACY CODE</a:t>
            </a:r>
            <a:endParaRPr lang="en-US" sz="1100" dirty="0"/>
          </a:p>
        </p:txBody>
      </p:sp>
      <p:sp>
        <p:nvSpPr>
          <p:cNvPr id="33" name="Shape 26"/>
          <p:cNvSpPr/>
          <p:nvPr/>
        </p:nvSpPr>
        <p:spPr>
          <a:xfrm>
            <a:off x="6400800" y="2450592"/>
            <a:ext cx="548640" cy="548640"/>
          </a:xfrm>
          <a:prstGeom prst="ellipse">
            <a:avLst/>
          </a:prstGeom>
          <a:solidFill>
            <a:srgbClr val="1B3B6F"/>
          </a:solidFill>
          <a:ln w="12700">
            <a:solidFill>
              <a:srgbClr val="1B3B6F"/>
            </a:solidFill>
            <a:prstDash val="solid"/>
          </a:ln>
        </p:spPr>
      </p:sp>
      <p:sp>
        <p:nvSpPr>
          <p:cNvPr id="34" name="Text 27"/>
          <p:cNvSpPr txBox="1"/>
          <p:nvPr/>
        </p:nvSpPr>
        <p:spPr>
          <a:xfrm>
            <a:off x="6400800"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5" name="Text 28"/>
          <p:cNvSpPr txBox="1"/>
          <p:nvPr/>
        </p:nvSpPr>
        <p:spPr>
          <a:xfrm>
            <a:off x="7059168"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Think</a:t>
            </a:r>
            <a:endParaRPr lang="en-US" sz="1400" dirty="0"/>
          </a:p>
          <a:p>
            <a:pPr indent="0" marL="0">
              <a:buNone/>
            </a:pPr>
            <a:r>
              <a:rPr lang="en-US" sz="1100" dirty="0">
                <a:solidFill>
                  <a:srgbClr val="5A6472"/>
                </a:solidFill>
                <a:latin typeface="Calibri" pitchFamily="34" charset="0"/>
                <a:cs typeface="Amiri" pitchFamily="2" charset="-78"/>
              </a:rPr>
              <a:t>silent preparation</a:t>
            </a:r>
            <a:endParaRPr lang="en-US" sz="1400" dirty="0"/>
          </a:p>
        </p:txBody>
      </p:sp>
      <p:sp>
        <p:nvSpPr>
          <p:cNvPr id="36" name="Shape 29"/>
          <p:cNvSpPr/>
          <p:nvPr/>
        </p:nvSpPr>
        <p:spPr>
          <a:xfrm>
            <a:off x="8997696" y="2450592"/>
            <a:ext cx="548640" cy="548640"/>
          </a:xfrm>
          <a:prstGeom prst="ellipse">
            <a:avLst/>
          </a:prstGeom>
          <a:solidFill>
            <a:srgbClr val="1B3B6F"/>
          </a:solidFill>
          <a:ln w="12700">
            <a:solidFill>
              <a:srgbClr val="1B3B6F"/>
            </a:solidFill>
            <a:prstDash val="solid"/>
          </a:ln>
        </p:spPr>
      </p:sp>
      <p:sp>
        <p:nvSpPr>
          <p:cNvPr id="37" name="Text 30"/>
          <p:cNvSpPr txBox="1"/>
          <p:nvPr/>
        </p:nvSpPr>
        <p:spPr>
          <a:xfrm>
            <a:off x="8997696" y="24505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38" name="Text 31"/>
          <p:cNvSpPr txBox="1"/>
          <p:nvPr/>
        </p:nvSpPr>
        <p:spPr>
          <a:xfrm>
            <a:off x="9656064" y="23774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Rehearse</a:t>
            </a:r>
            <a:endParaRPr lang="en-US" sz="1400" dirty="0"/>
          </a:p>
          <a:p>
            <a:pPr indent="0" marL="0">
              <a:buNone/>
            </a:pPr>
            <a:r>
              <a:rPr lang="en-US" sz="1100" dirty="0">
                <a:solidFill>
                  <a:srgbClr val="5A6472"/>
                </a:solidFill>
                <a:latin typeface="Calibri" pitchFamily="34" charset="0"/>
                <a:cs typeface="Amiri" pitchFamily="2" charset="-78"/>
              </a:rPr>
              <a:t>both partners speak</a:t>
            </a:r>
            <a:endParaRPr lang="en-US" sz="1400" dirty="0"/>
          </a:p>
        </p:txBody>
      </p:sp>
      <p:sp>
        <p:nvSpPr>
          <p:cNvPr id="39" name="Shape 32"/>
          <p:cNvSpPr/>
          <p:nvPr/>
        </p:nvSpPr>
        <p:spPr>
          <a:xfrm>
            <a:off x="6400800" y="3364992"/>
            <a:ext cx="548640" cy="548640"/>
          </a:xfrm>
          <a:prstGeom prst="ellipse">
            <a:avLst/>
          </a:prstGeom>
          <a:solidFill>
            <a:srgbClr val="1B3B6F"/>
          </a:solidFill>
          <a:ln w="12700">
            <a:solidFill>
              <a:srgbClr val="1B3B6F"/>
            </a:solidFill>
            <a:prstDash val="solid"/>
          </a:ln>
        </p:spPr>
      </p:sp>
      <p:sp>
        <p:nvSpPr>
          <p:cNvPr id="40" name="Text 33"/>
          <p:cNvSpPr txBox="1"/>
          <p:nvPr/>
        </p:nvSpPr>
        <p:spPr>
          <a:xfrm>
            <a:off x="6400800"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1" name="Text 34"/>
          <p:cNvSpPr txBox="1"/>
          <p:nvPr/>
        </p:nvSpPr>
        <p:spPr>
          <a:xfrm>
            <a:off x="7059168"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Build</a:t>
            </a:r>
            <a:endParaRPr lang="en-US" sz="1400" dirty="0"/>
          </a:p>
          <a:p>
            <a:pPr indent="0" marL="0">
              <a:buNone/>
            </a:pPr>
            <a:r>
              <a:rPr lang="en-US" sz="1100" dirty="0">
                <a:solidFill>
                  <a:srgbClr val="5A6472"/>
                </a:solidFill>
                <a:latin typeface="Calibri" pitchFamily="34" charset="0"/>
                <a:cs typeface="Amiri" pitchFamily="2" charset="-78"/>
              </a:rPr>
              <a:t>add a reason or detail</a:t>
            </a:r>
            <a:endParaRPr lang="en-US" sz="1400" dirty="0"/>
          </a:p>
        </p:txBody>
      </p:sp>
      <p:sp>
        <p:nvSpPr>
          <p:cNvPr id="42" name="Shape 35"/>
          <p:cNvSpPr/>
          <p:nvPr/>
        </p:nvSpPr>
        <p:spPr>
          <a:xfrm>
            <a:off x="8997696" y="3364992"/>
            <a:ext cx="548640" cy="548640"/>
          </a:xfrm>
          <a:prstGeom prst="ellipse">
            <a:avLst/>
          </a:prstGeom>
          <a:solidFill>
            <a:srgbClr val="1B3B6F"/>
          </a:solidFill>
          <a:ln w="12700">
            <a:solidFill>
              <a:srgbClr val="1B3B6F"/>
            </a:solidFill>
            <a:prstDash val="solid"/>
          </a:ln>
        </p:spPr>
      </p:sp>
      <p:sp>
        <p:nvSpPr>
          <p:cNvPr id="43" name="Text 36"/>
          <p:cNvSpPr txBox="1"/>
          <p:nvPr/>
        </p:nvSpPr>
        <p:spPr>
          <a:xfrm>
            <a:off x="8997696" y="33649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4" name="Text 37"/>
          <p:cNvSpPr txBox="1"/>
          <p:nvPr/>
        </p:nvSpPr>
        <p:spPr>
          <a:xfrm>
            <a:off x="9656064" y="32918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Challenge</a:t>
            </a:r>
            <a:endParaRPr lang="en-US" sz="1400" dirty="0"/>
          </a:p>
          <a:p>
            <a:pPr indent="0" marL="0">
              <a:buNone/>
            </a:pPr>
            <a:r>
              <a:rPr lang="en-US" sz="1100" dirty="0">
                <a:solidFill>
                  <a:srgbClr val="5A6472"/>
                </a:solidFill>
                <a:latin typeface="Calibri" pitchFamily="34" charset="0"/>
                <a:cs typeface="Amiri" pitchFamily="2" charset="-78"/>
              </a:rPr>
              <a:t>question respectfully</a:t>
            </a:r>
            <a:endParaRPr lang="en-US" sz="1400" dirty="0"/>
          </a:p>
        </p:txBody>
      </p:sp>
      <p:sp>
        <p:nvSpPr>
          <p:cNvPr id="45" name="Shape 38"/>
          <p:cNvSpPr/>
          <p:nvPr/>
        </p:nvSpPr>
        <p:spPr>
          <a:xfrm>
            <a:off x="6400800" y="4279392"/>
            <a:ext cx="548640" cy="548640"/>
          </a:xfrm>
          <a:prstGeom prst="ellipse">
            <a:avLst/>
          </a:prstGeom>
          <a:solidFill>
            <a:srgbClr val="1B3B6F"/>
          </a:solidFill>
          <a:ln w="12700">
            <a:solidFill>
              <a:srgbClr val="1B3B6F"/>
            </a:solidFill>
            <a:prstDash val="solid"/>
          </a:ln>
        </p:spPr>
      </p:sp>
      <p:sp>
        <p:nvSpPr>
          <p:cNvPr id="46" name="Text 39"/>
          <p:cNvSpPr txBox="1"/>
          <p:nvPr/>
        </p:nvSpPr>
        <p:spPr>
          <a:xfrm>
            <a:off x="6400800"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47" name="Text 40"/>
          <p:cNvSpPr txBox="1"/>
          <p:nvPr/>
        </p:nvSpPr>
        <p:spPr>
          <a:xfrm>
            <a:off x="7059168"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Share</a:t>
            </a:r>
            <a:endParaRPr lang="en-US" sz="1400" dirty="0"/>
          </a:p>
          <a:p>
            <a:pPr indent="0" marL="0">
              <a:buNone/>
            </a:pPr>
            <a:r>
              <a:rPr lang="en-US" sz="1100" dirty="0">
                <a:solidFill>
                  <a:srgbClr val="5A6472"/>
                </a:solidFill>
                <a:latin typeface="Calibri" pitchFamily="34" charset="0"/>
                <a:cs typeface="Amiri" pitchFamily="2" charset="-78"/>
              </a:rPr>
              <a:t>anyone may be invited</a:t>
            </a:r>
            <a:endParaRPr lang="en-US" sz="1400" dirty="0"/>
          </a:p>
        </p:txBody>
      </p:sp>
      <p:sp>
        <p:nvSpPr>
          <p:cNvPr id="48" name="Shape 41"/>
          <p:cNvSpPr/>
          <p:nvPr/>
        </p:nvSpPr>
        <p:spPr>
          <a:xfrm>
            <a:off x="8997696" y="4279392"/>
            <a:ext cx="548640" cy="548640"/>
          </a:xfrm>
          <a:prstGeom prst="ellipse">
            <a:avLst/>
          </a:prstGeom>
          <a:solidFill>
            <a:srgbClr val="1B3B6F"/>
          </a:solidFill>
          <a:ln w="12700">
            <a:solidFill>
              <a:srgbClr val="1B3B6F"/>
            </a:solidFill>
            <a:prstDash val="solid"/>
          </a:ln>
        </p:spPr>
      </p:sp>
      <p:sp>
        <p:nvSpPr>
          <p:cNvPr id="49" name="Text 42"/>
          <p:cNvSpPr txBox="1"/>
          <p:nvPr/>
        </p:nvSpPr>
        <p:spPr>
          <a:xfrm>
            <a:off x="8997696" y="4279392"/>
            <a:ext cx="548640" cy="548640"/>
          </a:xfrm>
          <a:prstGeom prst="rect">
            <a:avLst/>
          </a:prstGeom>
          <a:noFill/>
          <a:ln/>
        </p:spPr>
        <p:txBody>
          <a:bodyPr wrap="square" lIns="0" tIns="0" rIns="0" bIns="0" rtlCol="0" anchor="ctr"/>
          <a:lstStyle/>
          <a:p>
            <a:pPr algn="ctr" indent="0" marL="0">
              <a:buNone/>
            </a:pPr>
            <a:r>
              <a:rPr lang="en-US" sz="1800" b="1" dirty="0">
                <a:solidFill>
                  <a:srgbClr val="D4AF37"/>
                </a:solidFill>
                <a:latin typeface="Arial" pitchFamily="34" charset="0"/>
                <a:cs typeface="Amiri" pitchFamily="2" charset="-78"/>
              </a:rPr>
              <a:t>↺</a:t>
            </a:r>
            <a:endParaRPr lang="en-US" sz="1800" dirty="0"/>
          </a:p>
        </p:txBody>
      </p:sp>
      <p:sp>
        <p:nvSpPr>
          <p:cNvPr id="50" name="Text 43"/>
          <p:cNvSpPr txBox="1"/>
          <p:nvPr/>
        </p:nvSpPr>
        <p:spPr>
          <a:xfrm>
            <a:off x="9656064" y="4206240"/>
            <a:ext cx="2011680" cy="694944"/>
          </a:xfrm>
          <a:prstGeom prst="rect">
            <a:avLst/>
          </a:prstGeom>
          <a:noFill/>
          <a:ln/>
        </p:spPr>
        <p:txBody>
          <a:bodyPr wrap="square" lIns="0" tIns="0" rIns="0" bIns="0" rtlCol="0" anchor="ctr"/>
          <a:lstStyle/>
          <a:p>
            <a:pPr indent="0" marL="0">
              <a:buNone/>
            </a:pPr>
            <a:r>
              <a:rPr lang="en-US" sz="1400" b="1" dirty="0">
                <a:solidFill>
                  <a:srgbClr val="1B3B6F"/>
                </a:solidFill>
                <a:latin typeface="Calibri" pitchFamily="34" charset="0"/>
                <a:cs typeface="Amiri" pitchFamily="2" charset="-78"/>
              </a:rPr>
              <a:t>Summarise</a:t>
            </a:r>
            <a:endParaRPr lang="en-US" sz="1400" dirty="0"/>
          </a:p>
          <a:p>
            <a:pPr indent="0" marL="0">
              <a:buNone/>
            </a:pPr>
            <a:r>
              <a:rPr lang="en-US" sz="1100" dirty="0">
                <a:solidFill>
                  <a:srgbClr val="5A6472"/>
                </a:solidFill>
                <a:latin typeface="Calibri" pitchFamily="34" charset="0"/>
                <a:cs typeface="Amiri" pitchFamily="2" charset="-78"/>
              </a:rPr>
              <a:t>say it more precisely</a:t>
            </a:r>
            <a:endParaRPr lang="en-US" sz="1400" dirty="0"/>
          </a:p>
        </p:txBody>
      </p:sp>
      <p:sp>
        <p:nvSpPr>
          <p:cNvPr id="51" name="Text 44"/>
          <p:cNvSpPr txBox="1"/>
          <p:nvPr/>
        </p:nvSpPr>
        <p:spPr>
          <a:xfrm>
            <a:off x="6400800" y="5230368"/>
            <a:ext cx="5102352" cy="694944"/>
          </a:xfrm>
          <a:prstGeom prst="rect">
            <a:avLst/>
          </a:prstGeom>
          <a:noFill/>
          <a:ln/>
        </p:spPr>
        <p:txBody>
          <a:bodyPr wrap="square" lIns="0" tIns="0" rIns="0" bIns="0" rtlCol="0" anchor="ctr"/>
          <a:lstStyle/>
          <a:p>
            <a:pPr algn="l" indent="0" marL="0">
              <a:buNone/>
            </a:pPr>
            <a:r>
              <a:rPr lang="en-US" sz="1150" i="1" dirty="0">
                <a:solidFill>
                  <a:srgbClr val="8A6D1E"/>
                </a:solidFill>
                <a:latin typeface="Calibri" pitchFamily="34" charset="0"/>
                <a:cs typeface="Amiri" pitchFamily="2" charset="-78"/>
              </a:rPr>
              <a:t>I will always give you thinking and practice time before I ask anyone. Reading aloud is by invitation — you can always say “pass, please come back to me”.</a:t>
            </a:r>
            <a:endParaRPr lang="en-US" sz="1150" dirty="0"/>
          </a:p>
        </p:txBody>
      </p:sp>
      <p:sp>
        <p:nvSpPr>
          <p:cNvPr id="52" name="Text 4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 / 22</a:t>
            </a:r>
            <a:endParaRPr lang="en-US" sz="8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388352" y="274320"/>
            <a:ext cx="1371600" cy="329184"/>
          </a:xfrm>
          <a:prstGeom prst="roundRect">
            <a:avLst>
              <a:gd name="adj" fmla="val 50000"/>
            </a:avLst>
          </a:prstGeom>
          <a:solidFill>
            <a:srgbClr val="5A6472"/>
          </a:solidFill>
          <a:ln w="12700">
            <a:solidFill>
              <a:srgbClr val="5A6472"/>
            </a:solidFill>
            <a:prstDash val="solid"/>
          </a:ln>
        </p:spPr>
      </p:sp>
      <p:sp>
        <p:nvSpPr>
          <p:cNvPr id="9" name="Text 7"/>
          <p:cNvSpPr txBox="1"/>
          <p:nvPr/>
        </p:nvSpPr>
        <p:spPr>
          <a:xfrm>
            <a:off x="7388352" y="274320"/>
            <a:ext cx="1371600"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WELCOME</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5A6472"/>
                </a:solidFill>
                <a:latin typeface="Calibri" pitchFamily="34" charset="0"/>
                <a:cs typeface="Amiri" pitchFamily="2" charset="-78"/>
              </a:rPr>
              <a:t>TODAY’S ROOM PLAN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Speak first, then write — you run it yourselves</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خُطُوَاتُ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66928" y="1938528"/>
            <a:ext cx="1933042" cy="566928"/>
          </a:xfrm>
          <a:prstGeom prst="roundRect">
            <a:avLst>
              <a:gd name="adj" fmla="val 9677"/>
            </a:avLst>
          </a:prstGeom>
          <a:solidFill>
            <a:srgbClr val="2F6FB0"/>
          </a:solidFill>
          <a:ln w="12700">
            <a:solidFill>
              <a:srgbClr val="2F6FB0"/>
            </a:solidFill>
            <a:prstDash val="solid"/>
          </a:ln>
        </p:spPr>
      </p:sp>
      <p:sp>
        <p:nvSpPr>
          <p:cNvPr id="17" name="Text 14"/>
          <p:cNvSpPr txBox="1"/>
          <p:nvPr/>
        </p:nvSpPr>
        <p:spPr>
          <a:xfrm>
            <a:off x="603504"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18" name="Text 15"/>
          <p:cNvSpPr txBox="1"/>
          <p:nvPr/>
        </p:nvSpPr>
        <p:spPr>
          <a:xfrm>
            <a:off x="603504"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10 min</a:t>
            </a:r>
            <a:endParaRPr lang="en-US" sz="1000" dirty="0"/>
          </a:p>
        </p:txBody>
      </p:sp>
      <p:sp>
        <p:nvSpPr>
          <p:cNvPr id="19" name="Shape 16"/>
          <p:cNvSpPr/>
          <p:nvPr/>
        </p:nvSpPr>
        <p:spPr>
          <a:xfrm>
            <a:off x="1332281" y="2651760"/>
            <a:ext cx="402336" cy="402336"/>
          </a:xfrm>
          <a:prstGeom prst="ellipse">
            <a:avLst/>
          </a:prstGeom>
          <a:solidFill>
            <a:srgbClr val="F4F1EA"/>
          </a:solidFill>
          <a:ln w="12700">
            <a:solidFill>
              <a:srgbClr val="F4F1EA"/>
            </a:solidFill>
            <a:prstDash val="solid"/>
          </a:ln>
        </p:spPr>
      </p:sp>
      <p:sp>
        <p:nvSpPr>
          <p:cNvPr id="20" name="Text 17"/>
          <p:cNvSpPr txBox="1"/>
          <p:nvPr/>
        </p:nvSpPr>
        <p:spPr>
          <a:xfrm>
            <a:off x="1332281"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1</a:t>
            </a:r>
            <a:endParaRPr lang="en-US" sz="1300" dirty="0"/>
          </a:p>
        </p:txBody>
      </p:sp>
      <p:sp>
        <p:nvSpPr>
          <p:cNvPr id="21" name="Text 18"/>
          <p:cNvSpPr txBox="1"/>
          <p:nvPr/>
        </p:nvSpPr>
        <p:spPr>
          <a:xfrm>
            <a:off x="585216"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1–2: word warm-up · say the model dialogue.</a:t>
            </a:r>
            <a:endParaRPr lang="en-US" sz="1200" dirty="0"/>
          </a:p>
        </p:txBody>
      </p:sp>
      <p:sp>
        <p:nvSpPr>
          <p:cNvPr id="22" name="Text 19"/>
          <p:cNvSpPr txBox="1"/>
          <p:nvPr/>
        </p:nvSpPr>
        <p:spPr>
          <a:xfrm>
            <a:off x="548640"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الكَلِمَاتُ وَالحِوَارُ</a:t>
            </a:r>
            <a:endParaRPr lang="ar-SA" sz="1500" dirty="0"/>
          </a:p>
        </p:txBody>
      </p:sp>
      <p:sp>
        <p:nvSpPr>
          <p:cNvPr id="23" name="Shape 20"/>
          <p:cNvSpPr/>
          <p:nvPr/>
        </p:nvSpPr>
        <p:spPr>
          <a:xfrm>
            <a:off x="273771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4" name="Shape 21"/>
          <p:cNvSpPr/>
          <p:nvPr/>
        </p:nvSpPr>
        <p:spPr>
          <a:xfrm>
            <a:off x="2847442" y="1938528"/>
            <a:ext cx="1933042" cy="566928"/>
          </a:xfrm>
          <a:prstGeom prst="roundRect">
            <a:avLst>
              <a:gd name="adj" fmla="val 9677"/>
            </a:avLst>
          </a:prstGeom>
          <a:solidFill>
            <a:srgbClr val="1E6B52"/>
          </a:solidFill>
          <a:ln w="12700">
            <a:solidFill>
              <a:srgbClr val="1E6B52"/>
            </a:solidFill>
            <a:prstDash val="solid"/>
          </a:ln>
        </p:spPr>
      </p:sp>
      <p:sp>
        <p:nvSpPr>
          <p:cNvPr id="25" name="Text 22"/>
          <p:cNvSpPr txBox="1"/>
          <p:nvPr/>
        </p:nvSpPr>
        <p:spPr>
          <a:xfrm>
            <a:off x="288401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26" name="Text 23"/>
          <p:cNvSpPr txBox="1"/>
          <p:nvPr/>
        </p:nvSpPr>
        <p:spPr>
          <a:xfrm>
            <a:off x="288401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18 min</a:t>
            </a:r>
            <a:endParaRPr lang="en-US" sz="1000" dirty="0"/>
          </a:p>
        </p:txBody>
      </p:sp>
      <p:sp>
        <p:nvSpPr>
          <p:cNvPr id="27" name="Shape 24"/>
          <p:cNvSpPr/>
          <p:nvPr/>
        </p:nvSpPr>
        <p:spPr>
          <a:xfrm>
            <a:off x="3612794" y="2651760"/>
            <a:ext cx="402336" cy="402336"/>
          </a:xfrm>
          <a:prstGeom prst="ellipse">
            <a:avLst/>
          </a:prstGeom>
          <a:solidFill>
            <a:srgbClr val="F4F1EA"/>
          </a:solidFill>
          <a:ln w="12700">
            <a:solidFill>
              <a:srgbClr val="F4F1EA"/>
            </a:solidFill>
            <a:prstDash val="solid"/>
          </a:ln>
        </p:spPr>
      </p:sp>
      <p:sp>
        <p:nvSpPr>
          <p:cNvPr id="28" name="Text 25"/>
          <p:cNvSpPr txBox="1"/>
          <p:nvPr/>
        </p:nvSpPr>
        <p:spPr>
          <a:xfrm>
            <a:off x="3612794"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2</a:t>
            </a:r>
            <a:endParaRPr lang="en-US" sz="1300" dirty="0"/>
          </a:p>
        </p:txBody>
      </p:sp>
      <p:sp>
        <p:nvSpPr>
          <p:cNvPr id="29" name="Text 26"/>
          <p:cNvSpPr txBox="1"/>
          <p:nvPr/>
        </p:nvSpPr>
        <p:spPr>
          <a:xfrm>
            <a:off x="286573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3–5: question cards · role-play card · short talk.</a:t>
            </a:r>
            <a:endParaRPr lang="en-US" sz="1200" dirty="0"/>
          </a:p>
        </p:txBody>
      </p:sp>
      <p:sp>
        <p:nvSpPr>
          <p:cNvPr id="30" name="Text 27"/>
          <p:cNvSpPr txBox="1"/>
          <p:nvPr/>
        </p:nvSpPr>
        <p:spPr>
          <a:xfrm>
            <a:off x="282915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تَكَلَّمْ</a:t>
            </a:r>
            <a:endParaRPr lang="ar-SA" sz="1500" dirty="0"/>
          </a:p>
        </p:txBody>
      </p:sp>
      <p:sp>
        <p:nvSpPr>
          <p:cNvPr id="31" name="Shape 28"/>
          <p:cNvSpPr/>
          <p:nvPr/>
        </p:nvSpPr>
        <p:spPr>
          <a:xfrm>
            <a:off x="5018227"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2" name="Shape 29"/>
          <p:cNvSpPr/>
          <p:nvPr/>
        </p:nvSpPr>
        <p:spPr>
          <a:xfrm>
            <a:off x="5127955" y="1938528"/>
            <a:ext cx="1933042" cy="566928"/>
          </a:xfrm>
          <a:prstGeom prst="roundRect">
            <a:avLst>
              <a:gd name="adj" fmla="val 9677"/>
            </a:avLst>
          </a:prstGeom>
          <a:solidFill>
            <a:srgbClr val="2F6FB0"/>
          </a:solidFill>
          <a:ln w="12700">
            <a:solidFill>
              <a:srgbClr val="2F6FB0"/>
            </a:solidFill>
            <a:prstDash val="solid"/>
          </a:ln>
        </p:spPr>
      </p:sp>
      <p:sp>
        <p:nvSpPr>
          <p:cNvPr id="33" name="Text 30"/>
          <p:cNvSpPr txBox="1"/>
          <p:nvPr/>
        </p:nvSpPr>
        <p:spPr>
          <a:xfrm>
            <a:off x="5164531"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WE DO</a:t>
            </a:r>
            <a:endParaRPr lang="en-US" sz="1000" dirty="0"/>
          </a:p>
        </p:txBody>
      </p:sp>
      <p:sp>
        <p:nvSpPr>
          <p:cNvPr id="34" name="Text 31"/>
          <p:cNvSpPr txBox="1"/>
          <p:nvPr/>
        </p:nvSpPr>
        <p:spPr>
          <a:xfrm>
            <a:off x="5164531"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7 min</a:t>
            </a:r>
            <a:endParaRPr lang="en-US" sz="1000" dirty="0"/>
          </a:p>
        </p:txBody>
      </p:sp>
      <p:sp>
        <p:nvSpPr>
          <p:cNvPr id="35" name="Shape 32"/>
          <p:cNvSpPr/>
          <p:nvPr/>
        </p:nvSpPr>
        <p:spPr>
          <a:xfrm>
            <a:off x="5893308" y="2651760"/>
            <a:ext cx="402336" cy="402336"/>
          </a:xfrm>
          <a:prstGeom prst="ellipse">
            <a:avLst/>
          </a:prstGeom>
          <a:solidFill>
            <a:srgbClr val="F4F1EA"/>
          </a:solidFill>
          <a:ln w="12700">
            <a:solidFill>
              <a:srgbClr val="F4F1EA"/>
            </a:solidFill>
            <a:prstDash val="solid"/>
          </a:ln>
        </p:spPr>
      </p:sp>
      <p:sp>
        <p:nvSpPr>
          <p:cNvPr id="36" name="Text 33"/>
          <p:cNvSpPr txBox="1"/>
          <p:nvPr/>
        </p:nvSpPr>
        <p:spPr>
          <a:xfrm>
            <a:off x="5893308"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3</a:t>
            </a:r>
            <a:endParaRPr lang="en-US" sz="1300" dirty="0"/>
          </a:p>
        </p:txBody>
      </p:sp>
      <p:sp>
        <p:nvSpPr>
          <p:cNvPr id="37" name="Text 34"/>
          <p:cNvSpPr txBox="1"/>
          <p:nvPr/>
        </p:nvSpPr>
        <p:spPr>
          <a:xfrm>
            <a:off x="5146243"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Steps 6–7: sentence builder · spot and fix.</a:t>
            </a:r>
            <a:endParaRPr lang="en-US" sz="1200" dirty="0"/>
          </a:p>
        </p:txBody>
      </p:sp>
      <p:sp>
        <p:nvSpPr>
          <p:cNvPr id="38" name="Text 35"/>
          <p:cNvSpPr txBox="1"/>
          <p:nvPr/>
        </p:nvSpPr>
        <p:spPr>
          <a:xfrm>
            <a:off x="5109667"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2F6FB0"/>
                </a:solidFill>
                <a:latin typeface="Amiri" pitchFamily="2" charset="-78"/>
                <a:ea typeface="Amiri" pitchFamily="2" charset="-78"/>
                <a:cs typeface="Amiri" pitchFamily="2" charset="-78"/>
              </a:rPr>
              <a:t>ابْنِ وَصَحِّحْ</a:t>
            </a:r>
            <a:endParaRPr lang="ar-SA" sz="1500" dirty="0"/>
          </a:p>
        </p:txBody>
      </p:sp>
      <p:sp>
        <p:nvSpPr>
          <p:cNvPr id="39" name="Shape 36"/>
          <p:cNvSpPr/>
          <p:nvPr/>
        </p:nvSpPr>
        <p:spPr>
          <a:xfrm>
            <a:off x="7298741"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0" name="Shape 37"/>
          <p:cNvSpPr/>
          <p:nvPr/>
        </p:nvSpPr>
        <p:spPr>
          <a:xfrm>
            <a:off x="7408469" y="1938528"/>
            <a:ext cx="1933042" cy="566928"/>
          </a:xfrm>
          <a:prstGeom prst="roundRect">
            <a:avLst>
              <a:gd name="adj" fmla="val 9677"/>
            </a:avLst>
          </a:prstGeom>
          <a:solidFill>
            <a:srgbClr val="1E6B52"/>
          </a:solidFill>
          <a:ln w="12700">
            <a:solidFill>
              <a:srgbClr val="1E6B52"/>
            </a:solidFill>
            <a:prstDash val="solid"/>
          </a:ln>
        </p:spPr>
      </p:sp>
      <p:sp>
        <p:nvSpPr>
          <p:cNvPr id="41" name="Text 38"/>
          <p:cNvSpPr txBox="1"/>
          <p:nvPr/>
        </p:nvSpPr>
        <p:spPr>
          <a:xfrm>
            <a:off x="7445045"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YOU DO</a:t>
            </a:r>
            <a:endParaRPr lang="en-US" sz="1000" dirty="0"/>
          </a:p>
        </p:txBody>
      </p:sp>
      <p:sp>
        <p:nvSpPr>
          <p:cNvPr id="42" name="Text 39"/>
          <p:cNvSpPr txBox="1"/>
          <p:nvPr/>
        </p:nvSpPr>
        <p:spPr>
          <a:xfrm>
            <a:off x="7445045"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15 min</a:t>
            </a:r>
            <a:endParaRPr lang="en-US" sz="1000" dirty="0"/>
          </a:p>
        </p:txBody>
      </p:sp>
      <p:sp>
        <p:nvSpPr>
          <p:cNvPr id="43" name="Shape 40"/>
          <p:cNvSpPr/>
          <p:nvPr/>
        </p:nvSpPr>
        <p:spPr>
          <a:xfrm>
            <a:off x="8173822" y="2651760"/>
            <a:ext cx="402336" cy="402336"/>
          </a:xfrm>
          <a:prstGeom prst="ellipse">
            <a:avLst/>
          </a:prstGeom>
          <a:solidFill>
            <a:srgbClr val="F4F1EA"/>
          </a:solidFill>
          <a:ln w="12700">
            <a:solidFill>
              <a:srgbClr val="F4F1EA"/>
            </a:solidFill>
            <a:prstDash val="solid"/>
          </a:ln>
        </p:spPr>
      </p:sp>
      <p:sp>
        <p:nvSpPr>
          <p:cNvPr id="44" name="Text 41"/>
          <p:cNvSpPr txBox="1"/>
          <p:nvPr/>
        </p:nvSpPr>
        <p:spPr>
          <a:xfrm>
            <a:off x="8173822"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4</a:t>
            </a:r>
            <a:endParaRPr lang="en-US" sz="1300" dirty="0"/>
          </a:p>
        </p:txBody>
      </p:sp>
      <p:sp>
        <p:nvSpPr>
          <p:cNvPr id="45" name="Text 42"/>
          <p:cNvSpPr txBox="1"/>
          <p:nvPr/>
        </p:nvSpPr>
        <p:spPr>
          <a:xfrm>
            <a:off x="7426757"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Step 8: write your text · buddy check.</a:t>
            </a:r>
            <a:endParaRPr lang="en-US" sz="1200" dirty="0"/>
          </a:p>
        </p:txBody>
      </p:sp>
      <p:sp>
        <p:nvSpPr>
          <p:cNvPr id="46" name="Text 43"/>
          <p:cNvSpPr txBox="1"/>
          <p:nvPr/>
        </p:nvSpPr>
        <p:spPr>
          <a:xfrm>
            <a:off x="7390181"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1E6B52"/>
                </a:solidFill>
                <a:latin typeface="Amiri" pitchFamily="2" charset="-78"/>
                <a:ea typeface="Amiri" pitchFamily="2" charset="-78"/>
                <a:cs typeface="Amiri" pitchFamily="2" charset="-78"/>
              </a:rPr>
              <a:t>اكْتُبْ</a:t>
            </a:r>
            <a:endParaRPr lang="ar-SA" sz="1500" dirty="0"/>
          </a:p>
        </p:txBody>
      </p:sp>
      <p:sp>
        <p:nvSpPr>
          <p:cNvPr id="47" name="Shape 44"/>
          <p:cNvSpPr/>
          <p:nvPr/>
        </p:nvSpPr>
        <p:spPr>
          <a:xfrm>
            <a:off x="9579254" y="1828800"/>
            <a:ext cx="2152498" cy="3246120"/>
          </a:xfrm>
          <a:prstGeom prst="roundRect">
            <a:avLst>
              <a:gd name="adj" fmla="val 339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8" name="Shape 45"/>
          <p:cNvSpPr/>
          <p:nvPr/>
        </p:nvSpPr>
        <p:spPr>
          <a:xfrm>
            <a:off x="9688982" y="1938528"/>
            <a:ext cx="1933042" cy="566928"/>
          </a:xfrm>
          <a:prstGeom prst="roundRect">
            <a:avLst>
              <a:gd name="adj" fmla="val 9677"/>
            </a:avLst>
          </a:prstGeom>
          <a:solidFill>
            <a:srgbClr val="8A6D1E"/>
          </a:solidFill>
          <a:ln w="12700">
            <a:solidFill>
              <a:srgbClr val="8A6D1E"/>
            </a:solidFill>
            <a:prstDash val="solid"/>
          </a:ln>
        </p:spPr>
      </p:sp>
      <p:sp>
        <p:nvSpPr>
          <p:cNvPr id="49" name="Text 46"/>
          <p:cNvSpPr txBox="1"/>
          <p:nvPr/>
        </p:nvSpPr>
        <p:spPr>
          <a:xfrm>
            <a:off x="9725558" y="1956816"/>
            <a:ext cx="1859890" cy="329184"/>
          </a:xfrm>
          <a:prstGeom prst="rect">
            <a:avLst/>
          </a:prstGeom>
          <a:noFill/>
          <a:ln/>
        </p:spPr>
        <p:txBody>
          <a:bodyPr wrap="square" lIns="0" tIns="0" rIns="0" bIns="0" rtlCol="0" anchor="ctr"/>
          <a:lstStyle/>
          <a:p>
            <a:pPr algn="ctr" indent="0" marL="0">
              <a:buNone/>
            </a:pPr>
            <a:r>
              <a:rPr lang="en-US" sz="1000" b="1" spc="100" kern="0" dirty="0">
                <a:solidFill>
                  <a:srgbClr val="FFFFFF"/>
                </a:solidFill>
                <a:latin typeface="Calibri" pitchFamily="34" charset="0"/>
                <a:cs typeface="Amiri" pitchFamily="2" charset="-78"/>
              </a:rPr>
              <a:t>FEEDBACK</a:t>
            </a:r>
            <a:endParaRPr lang="en-US" sz="1000" dirty="0"/>
          </a:p>
        </p:txBody>
      </p:sp>
      <p:sp>
        <p:nvSpPr>
          <p:cNvPr id="50" name="Text 47"/>
          <p:cNvSpPr txBox="1"/>
          <p:nvPr/>
        </p:nvSpPr>
        <p:spPr>
          <a:xfrm>
            <a:off x="9725558" y="2249424"/>
            <a:ext cx="1859890" cy="237744"/>
          </a:xfrm>
          <a:prstGeom prst="rect">
            <a:avLst/>
          </a:prstGeom>
          <a:noFill/>
          <a:ln/>
        </p:spPr>
        <p:txBody>
          <a:bodyPr wrap="square" lIns="0" tIns="0" rIns="0" bIns="0" rtlCol="0" anchor="ctr"/>
          <a:lstStyle/>
          <a:p>
            <a:pPr algn="ctr" indent="0" marL="0">
              <a:buNone/>
            </a:pPr>
            <a:r>
              <a:rPr lang="en-US" sz="1000" dirty="0">
                <a:solidFill>
                  <a:srgbClr val="E8EDF5"/>
                </a:solidFill>
                <a:latin typeface="Calibri" pitchFamily="34" charset="0"/>
                <a:cs typeface="Amiri" pitchFamily="2" charset="-78"/>
              </a:rPr>
              <a:t>4 min</a:t>
            </a:r>
            <a:endParaRPr lang="en-US" sz="1000" dirty="0"/>
          </a:p>
        </p:txBody>
      </p:sp>
      <p:sp>
        <p:nvSpPr>
          <p:cNvPr id="51" name="Shape 48"/>
          <p:cNvSpPr/>
          <p:nvPr/>
        </p:nvSpPr>
        <p:spPr>
          <a:xfrm>
            <a:off x="10454335" y="2651760"/>
            <a:ext cx="402336" cy="402336"/>
          </a:xfrm>
          <a:prstGeom prst="ellipse">
            <a:avLst/>
          </a:prstGeom>
          <a:solidFill>
            <a:srgbClr val="F4F1EA"/>
          </a:solidFill>
          <a:ln w="12700">
            <a:solidFill>
              <a:srgbClr val="F4F1EA"/>
            </a:solidFill>
            <a:prstDash val="solid"/>
          </a:ln>
        </p:spPr>
      </p:sp>
      <p:sp>
        <p:nvSpPr>
          <p:cNvPr id="52" name="Text 49"/>
          <p:cNvSpPr txBox="1"/>
          <p:nvPr/>
        </p:nvSpPr>
        <p:spPr>
          <a:xfrm>
            <a:off x="10454335" y="2651760"/>
            <a:ext cx="402336" cy="402336"/>
          </a:xfrm>
          <a:prstGeom prst="rect">
            <a:avLst/>
          </a:prstGeom>
          <a:noFill/>
          <a:ln/>
        </p:spPr>
        <p:txBody>
          <a:bodyPr wrap="square" lIns="0" tIns="0" rIns="0" bIns="0" rtlCol="0" anchor="ctr"/>
          <a:lstStyle/>
          <a:p>
            <a:pPr algn="ctr" indent="0" marL="0">
              <a:buNone/>
            </a:pPr>
            <a:r>
              <a:rPr lang="en-US" sz="1300" b="1" dirty="0">
                <a:solidFill>
                  <a:srgbClr val="1B3B6F"/>
                </a:solidFill>
                <a:latin typeface="Calibri" pitchFamily="34" charset="0"/>
                <a:cs typeface="Amiri" pitchFamily="2" charset="-78"/>
              </a:rPr>
              <a:t>5</a:t>
            </a:r>
            <a:endParaRPr lang="en-US" sz="1300" dirty="0"/>
          </a:p>
        </p:txBody>
      </p:sp>
      <p:sp>
        <p:nvSpPr>
          <p:cNvPr id="53" name="Text 50"/>
          <p:cNvSpPr txBox="1"/>
          <p:nvPr/>
        </p:nvSpPr>
        <p:spPr>
          <a:xfrm>
            <a:off x="9707270" y="3145536"/>
            <a:ext cx="1896466" cy="1417320"/>
          </a:xfrm>
          <a:prstGeom prst="rect">
            <a:avLst/>
          </a:prstGeom>
          <a:noFill/>
          <a:ln/>
        </p:spPr>
        <p:txBody>
          <a:bodyPr wrap="square" lIns="0" tIns="0" rIns="0" bIns="0" rtlCol="0" anchor="t"/>
          <a:lstStyle/>
          <a:p>
            <a:pPr algn="ctr" indent="0" marL="0">
              <a:buNone/>
            </a:pPr>
            <a:r>
              <a:rPr lang="en-US" sz="1200" dirty="0">
                <a:solidFill>
                  <a:srgbClr val="1F2A37"/>
                </a:solidFill>
                <a:latin typeface="Calibri" pitchFamily="34" charset="0"/>
                <a:cs typeface="Amiri" pitchFamily="2" charset="-78"/>
              </a:rPr>
              <a:t>Check yourself with the models.</a:t>
            </a:r>
            <a:endParaRPr lang="en-US" sz="1200" dirty="0"/>
          </a:p>
        </p:txBody>
      </p:sp>
      <p:sp>
        <p:nvSpPr>
          <p:cNvPr id="54" name="Text 51"/>
          <p:cNvSpPr txBox="1"/>
          <p:nvPr/>
        </p:nvSpPr>
        <p:spPr>
          <a:xfrm>
            <a:off x="9670694" y="4526280"/>
            <a:ext cx="1969618" cy="438912"/>
          </a:xfrm>
          <a:prstGeom prst="rect">
            <a:avLst/>
          </a:prstGeom>
          <a:noFill/>
          <a:ln/>
        </p:spPr>
        <p:txBody>
          <a:bodyPr wrap="square" lIns="0" tIns="0" rIns="0" bIns="0" rtlCol="0" anchor="ctr"/>
          <a:lstStyle/>
          <a:p>
            <a:pPr rtl="1" algn="ctr" indent="0" marL="0">
              <a:buNone/>
            </a:pPr>
            <a:r>
              <a:rPr lang="ar-SA" altLang="en-US" sz="1500" b="1" dirty="0">
                <a:solidFill>
                  <a:srgbClr val="8A6D1E"/>
                </a:solidFill>
                <a:latin typeface="Amiri" pitchFamily="2" charset="-78"/>
                <a:ea typeface="Amiri" pitchFamily="2" charset="-78"/>
                <a:cs typeface="Amiri" pitchFamily="2" charset="-78"/>
              </a:rPr>
              <a:t>قَارِنْ</a:t>
            </a:r>
            <a:endParaRPr lang="ar-SA" sz="1500" dirty="0"/>
          </a:p>
        </p:txBody>
      </p:sp>
      <p:sp>
        <p:nvSpPr>
          <p:cNvPr id="55" name="Shape 52"/>
          <p:cNvSpPr/>
          <p:nvPr/>
        </p:nvSpPr>
        <p:spPr>
          <a:xfrm>
            <a:off x="457200" y="5285232"/>
            <a:ext cx="11274552" cy="1024128"/>
          </a:xfrm>
          <a:prstGeom prst="roundRect">
            <a:avLst>
              <a:gd name="adj" fmla="val 7143"/>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56" name="Text 53"/>
          <p:cNvSpPr txBox="1"/>
          <p:nvPr/>
        </p:nvSpPr>
        <p:spPr>
          <a:xfrm>
            <a:off x="685800" y="5358384"/>
            <a:ext cx="4572000" cy="274320"/>
          </a:xfrm>
          <a:prstGeom prst="rect">
            <a:avLst/>
          </a:prstGeom>
          <a:noFill/>
          <a:ln/>
        </p:spPr>
        <p:txBody>
          <a:bodyPr wrap="square" lIns="0" tIns="0" rIns="0" bIns="0" rtlCol="0" anchor="ctr"/>
          <a:lstStyle/>
          <a:p>
            <a:pPr algn="l" indent="0" marL="0">
              <a:buNone/>
            </a:pPr>
            <a:r>
              <a:rPr lang="en-US" sz="1000" b="1" spc="200" kern="0" dirty="0">
                <a:solidFill>
                  <a:srgbClr val="1E6B52"/>
                </a:solidFill>
                <a:latin typeface="Calibri" pitchFamily="34" charset="0"/>
                <a:cs typeface="Amiri" pitchFamily="2" charset="-78"/>
              </a:rPr>
              <a:t>HOW THE ROOM RUNS</a:t>
            </a:r>
            <a:endParaRPr lang="en-US" sz="1000" dirty="0"/>
          </a:p>
        </p:txBody>
      </p:sp>
      <p:sp>
        <p:nvSpPr>
          <p:cNvPr id="57" name="Text 54"/>
          <p:cNvSpPr txBox="1"/>
          <p:nvPr/>
        </p:nvSpPr>
        <p:spPr>
          <a:xfrm>
            <a:off x="685800" y="5632704"/>
            <a:ext cx="10881360" cy="621792"/>
          </a:xfrm>
          <a:prstGeom prst="rect">
            <a:avLst/>
          </a:prstGeom>
          <a:noFill/>
          <a:ln/>
        </p:spPr>
        <p:txBody>
          <a:bodyPr wrap="square" lIns="0" tIns="0" rIns="0" bIns="0" rtlCol="0" anchor="t"/>
          <a:lstStyle/>
          <a:p>
            <a:pPr algn="l" indent="0" marL="0">
              <a:buNone/>
            </a:pPr>
            <a:r>
              <a:rPr lang="en-US" sz="1250" dirty="0">
                <a:solidFill>
                  <a:srgbClr val="1F2A37"/>
                </a:solidFill>
                <a:latin typeface="Calibri" pitchFamily="34" charset="0"/>
                <a:cs typeface="Amiri" pitchFamily="2" charset="-78"/>
              </a:rPr>
              <a:t>Everybody speaks in every step and everybody writes their own text. Swap roles after each task. If you finish early, do the step again with the Stretch route.</a:t>
            </a:r>
            <a:endParaRPr lang="en-US" sz="125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3 / 22</a:t>
            </a:r>
            <a:endParaRPr lang="en-US" sz="8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BEFORE THE ROOMS · HOW YOUR ROOM WORKS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00" b="1" dirty="0">
                <a:solidFill>
                  <a:srgbClr val="1B3B6F"/>
                </a:solidFill>
                <a:latin typeface="Cambria" pitchFamily="34" charset="0"/>
                <a:cs typeface="Amiri" pitchFamily="2" charset="-78"/>
              </a:rPr>
              <a:t>Three roles — then write alone, check together</a:t>
            </a:r>
            <a:endParaRPr lang="en-US" sz="20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كَيْفَ نَعْمَلُ فِي الغُرْفَةِ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617220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58368" y="1883664"/>
            <a:ext cx="5806440" cy="274320"/>
          </a:xfrm>
          <a:prstGeom prst="rect">
            <a:avLst/>
          </a:prstGeom>
          <a:noFill/>
          <a:ln/>
        </p:spPr>
        <p:txBody>
          <a:bodyPr wrap="square" lIns="0" tIns="0" rIns="0" bIns="0" rtlCol="0" anchor="ctr"/>
          <a:lstStyle/>
          <a:p>
            <a:pPr algn="l" indent="0" marL="0">
              <a:buNone/>
            </a:pPr>
            <a:r>
              <a:rPr lang="en-US" sz="1000" b="1" spc="200" kern="0" dirty="0">
                <a:solidFill>
                  <a:srgbClr val="1B3B6F"/>
                </a:solidFill>
                <a:latin typeface="Calibri" pitchFamily="34" charset="0"/>
                <a:cs typeface="Amiri" pitchFamily="2" charset="-78"/>
              </a:rPr>
              <a:t>ROLES (SWAP AFTER EVERY TASK)</a:t>
            </a:r>
            <a:endParaRPr lang="en-US" sz="1000" dirty="0"/>
          </a:p>
        </p:txBody>
      </p:sp>
      <p:sp>
        <p:nvSpPr>
          <p:cNvPr id="17" name="Shape 14"/>
          <p:cNvSpPr/>
          <p:nvPr/>
        </p:nvSpPr>
        <p:spPr>
          <a:xfrm>
            <a:off x="658368" y="2286000"/>
            <a:ext cx="310896" cy="310896"/>
          </a:xfrm>
          <a:prstGeom prst="ellipse">
            <a:avLst/>
          </a:prstGeom>
          <a:solidFill>
            <a:srgbClr val="1B3B6F"/>
          </a:solidFill>
          <a:ln w="12700">
            <a:solidFill>
              <a:srgbClr val="1B3B6F"/>
            </a:solidFill>
            <a:prstDash val="solid"/>
          </a:ln>
        </p:spPr>
      </p:sp>
      <p:sp>
        <p:nvSpPr>
          <p:cNvPr id="18" name="Text 15"/>
          <p:cNvSpPr txBox="1"/>
          <p:nvPr/>
        </p:nvSpPr>
        <p:spPr>
          <a:xfrm>
            <a:off x="658368" y="2286000"/>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1</a:t>
            </a:r>
            <a:endParaRPr lang="en-US" sz="1100" dirty="0"/>
          </a:p>
        </p:txBody>
      </p:sp>
      <p:sp>
        <p:nvSpPr>
          <p:cNvPr id="19" name="Text 16"/>
          <p:cNvSpPr txBox="1"/>
          <p:nvPr/>
        </p:nvSpPr>
        <p:spPr>
          <a:xfrm>
            <a:off x="1078992" y="2176272"/>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LEADER — opens the next step, keeps the time and reads the questions.</a:t>
            </a:r>
            <a:endParaRPr lang="en-US" sz="1300" dirty="0"/>
          </a:p>
        </p:txBody>
      </p:sp>
      <p:sp>
        <p:nvSpPr>
          <p:cNvPr id="20" name="Shape 17"/>
          <p:cNvSpPr/>
          <p:nvPr/>
        </p:nvSpPr>
        <p:spPr>
          <a:xfrm>
            <a:off x="658368" y="3296412"/>
            <a:ext cx="310896" cy="310896"/>
          </a:xfrm>
          <a:prstGeom prst="ellipse">
            <a:avLst/>
          </a:prstGeom>
          <a:solidFill>
            <a:srgbClr val="1B3B6F"/>
          </a:solidFill>
          <a:ln w="12700">
            <a:solidFill>
              <a:srgbClr val="1B3B6F"/>
            </a:solidFill>
            <a:prstDash val="solid"/>
          </a:ln>
        </p:spPr>
      </p:sp>
      <p:sp>
        <p:nvSpPr>
          <p:cNvPr id="21" name="Text 18"/>
          <p:cNvSpPr txBox="1"/>
          <p:nvPr/>
        </p:nvSpPr>
        <p:spPr>
          <a:xfrm>
            <a:off x="658368" y="3296412"/>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2</a:t>
            </a:r>
            <a:endParaRPr lang="en-US" sz="1100" dirty="0"/>
          </a:p>
        </p:txBody>
      </p:sp>
      <p:sp>
        <p:nvSpPr>
          <p:cNvPr id="22" name="Text 19"/>
          <p:cNvSpPr txBox="1"/>
          <p:nvPr/>
        </p:nvSpPr>
        <p:spPr>
          <a:xfrm>
            <a:off x="1078992" y="3186684"/>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SPEAKER — answers in Arabic, in a full sentence. Think for a few seconds, then speak.</a:t>
            </a:r>
            <a:endParaRPr lang="en-US" sz="1300" dirty="0"/>
          </a:p>
        </p:txBody>
      </p:sp>
      <p:sp>
        <p:nvSpPr>
          <p:cNvPr id="23" name="Shape 20"/>
          <p:cNvSpPr/>
          <p:nvPr/>
        </p:nvSpPr>
        <p:spPr>
          <a:xfrm>
            <a:off x="658368" y="4306824"/>
            <a:ext cx="310896" cy="310896"/>
          </a:xfrm>
          <a:prstGeom prst="ellipse">
            <a:avLst/>
          </a:prstGeom>
          <a:solidFill>
            <a:srgbClr val="1B3B6F"/>
          </a:solidFill>
          <a:ln w="12700">
            <a:solidFill>
              <a:srgbClr val="1B3B6F"/>
            </a:solidFill>
            <a:prstDash val="solid"/>
          </a:ln>
        </p:spPr>
      </p:sp>
      <p:sp>
        <p:nvSpPr>
          <p:cNvPr id="24" name="Text 21"/>
          <p:cNvSpPr txBox="1"/>
          <p:nvPr/>
        </p:nvSpPr>
        <p:spPr>
          <a:xfrm>
            <a:off x="658368" y="4306824"/>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3</a:t>
            </a:r>
            <a:endParaRPr lang="en-US" sz="1100" dirty="0"/>
          </a:p>
        </p:txBody>
      </p:sp>
      <p:sp>
        <p:nvSpPr>
          <p:cNvPr id="25" name="Text 22"/>
          <p:cNvSpPr txBox="1"/>
          <p:nvPr/>
        </p:nvSpPr>
        <p:spPr>
          <a:xfrm>
            <a:off x="1078992" y="4197096"/>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COACH — listens, checks with the slide, then says one thing that went well and one thing to improve. (In a pair, the Leader is also the Coach.)</a:t>
            </a:r>
            <a:endParaRPr lang="en-US" sz="1300" dirty="0"/>
          </a:p>
        </p:txBody>
      </p:sp>
      <p:sp>
        <p:nvSpPr>
          <p:cNvPr id="26" name="Shape 23"/>
          <p:cNvSpPr/>
          <p:nvPr/>
        </p:nvSpPr>
        <p:spPr>
          <a:xfrm>
            <a:off x="658368" y="5317236"/>
            <a:ext cx="310896" cy="310896"/>
          </a:xfrm>
          <a:prstGeom prst="ellipse">
            <a:avLst/>
          </a:prstGeom>
          <a:solidFill>
            <a:srgbClr val="1B3B6F"/>
          </a:solidFill>
          <a:ln w="12700">
            <a:solidFill>
              <a:srgbClr val="1B3B6F"/>
            </a:solidFill>
            <a:prstDash val="solid"/>
          </a:ln>
        </p:spPr>
      </p:sp>
      <p:sp>
        <p:nvSpPr>
          <p:cNvPr id="27" name="Text 24"/>
          <p:cNvSpPr txBox="1"/>
          <p:nvPr/>
        </p:nvSpPr>
        <p:spPr>
          <a:xfrm>
            <a:off x="658368" y="5317236"/>
            <a:ext cx="310896" cy="310896"/>
          </a:xfrm>
          <a:prstGeom prst="rect">
            <a:avLst/>
          </a:prstGeom>
          <a:noFill/>
          <a:ln/>
        </p:spPr>
        <p:txBody>
          <a:bodyPr wrap="square" lIns="0" tIns="0" rIns="0" bIns="0" rtlCol="0" anchor="ctr"/>
          <a:lstStyle/>
          <a:p>
            <a:pPr algn="ctr" indent="0" marL="0">
              <a:buNone/>
            </a:pPr>
            <a:r>
              <a:rPr lang="en-US" sz="1100" b="1" dirty="0">
                <a:solidFill>
                  <a:srgbClr val="D4AF37"/>
                </a:solidFill>
                <a:latin typeface="Calibri" pitchFamily="34" charset="0"/>
                <a:cs typeface="Amiri" pitchFamily="2" charset="-78"/>
              </a:rPr>
              <a:t>4</a:t>
            </a:r>
            <a:endParaRPr lang="en-US" sz="1100" dirty="0"/>
          </a:p>
        </p:txBody>
      </p:sp>
      <p:sp>
        <p:nvSpPr>
          <p:cNvPr id="28" name="Text 25"/>
          <p:cNvSpPr txBox="1"/>
          <p:nvPr/>
        </p:nvSpPr>
        <p:spPr>
          <a:xfrm>
            <a:off x="1078992" y="5207508"/>
            <a:ext cx="5394960" cy="973836"/>
          </a:xfrm>
          <a:prstGeom prst="rect">
            <a:avLst/>
          </a:prstGeom>
          <a:noFill/>
          <a:ln/>
        </p:spPr>
        <p:txBody>
          <a:bodyPr wrap="square" lIns="0" tIns="0" rIns="0" bIns="0" rtlCol="0" anchor="t"/>
          <a:lstStyle/>
          <a:p>
            <a:pPr algn="l" indent="0" marL="0">
              <a:buNone/>
            </a:pPr>
            <a:r>
              <a:rPr lang="en-US" sz="1300" dirty="0">
                <a:solidFill>
                  <a:srgbClr val="1F2A37"/>
                </a:solidFill>
                <a:latin typeface="Calibri" pitchFamily="34" charset="0"/>
                <a:cs typeface="Amiri" pitchFamily="2" charset="-78"/>
              </a:rPr>
              <a:t>WRITING (Part B): everyone writes their OWN text; then swap with a buddy and check.</a:t>
            </a:r>
            <a:endParaRPr lang="en-US" sz="1300" dirty="0"/>
          </a:p>
        </p:txBody>
      </p:sp>
      <p:sp>
        <p:nvSpPr>
          <p:cNvPr id="29" name="Shape 26"/>
          <p:cNvSpPr/>
          <p:nvPr/>
        </p:nvSpPr>
        <p:spPr>
          <a:xfrm>
            <a:off x="6812280" y="1810512"/>
            <a:ext cx="491947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Text 27"/>
          <p:cNvSpPr txBox="1"/>
          <p:nvPr/>
        </p:nvSpPr>
        <p:spPr>
          <a:xfrm>
            <a:off x="6995160" y="1883664"/>
            <a:ext cx="4553712" cy="274320"/>
          </a:xfrm>
          <a:prstGeom prst="rect">
            <a:avLst/>
          </a:prstGeom>
          <a:noFill/>
          <a:ln/>
        </p:spPr>
        <p:txBody>
          <a:bodyPr wrap="square" lIns="0" tIns="0" rIns="0" bIns="0" rtlCol="0" anchor="ctr"/>
          <a:lstStyle/>
          <a:p>
            <a:pPr algn="l" indent="0" marL="0">
              <a:buNone/>
            </a:pPr>
            <a:r>
              <a:rPr lang="en-US" sz="1000" b="1" spc="200" kern="0" dirty="0">
                <a:solidFill>
                  <a:srgbClr val="8A6D1E"/>
                </a:solidFill>
                <a:latin typeface="Calibri" pitchFamily="34" charset="0"/>
                <a:cs typeface="Amiri" pitchFamily="2" charset="-78"/>
              </a:rPr>
              <a:t>USEFUL ROOM PHRASES</a:t>
            </a:r>
            <a:endParaRPr lang="en-US" sz="1000" dirty="0"/>
          </a:p>
        </p:txBody>
      </p:sp>
      <p:sp>
        <p:nvSpPr>
          <p:cNvPr id="31" name="Text 28"/>
          <p:cNvSpPr txBox="1"/>
          <p:nvPr/>
        </p:nvSpPr>
        <p:spPr>
          <a:xfrm>
            <a:off x="6949440" y="2194560"/>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دَوْرُكَ! / دَوْرُكِ!</a:t>
            </a:r>
            <a:endParaRPr lang="ar-SA" sz="2800" dirty="0"/>
          </a:p>
        </p:txBody>
      </p:sp>
      <p:sp>
        <p:nvSpPr>
          <p:cNvPr id="32" name="Text 29"/>
          <p:cNvSpPr txBox="1"/>
          <p:nvPr/>
        </p:nvSpPr>
        <p:spPr>
          <a:xfrm>
            <a:off x="6949440" y="2955828"/>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Your turn! (m. / f.)</a:t>
            </a:r>
            <a:endParaRPr lang="en-US" sz="1100" dirty="0"/>
          </a:p>
        </p:txBody>
      </p:sp>
      <p:sp>
        <p:nvSpPr>
          <p:cNvPr id="33" name="Shape 30"/>
          <p:cNvSpPr/>
          <p:nvPr/>
        </p:nvSpPr>
        <p:spPr>
          <a:xfrm>
            <a:off x="6995160" y="3535680"/>
            <a:ext cx="4553712" cy="0"/>
          </a:xfrm>
          <a:prstGeom prst="line">
            <a:avLst/>
          </a:prstGeom>
          <a:noFill/>
          <a:ln w="9525">
            <a:solidFill>
              <a:srgbClr val="E4DCCB"/>
            </a:solidFill>
            <a:prstDash val="dash"/>
          </a:ln>
        </p:spPr>
      </p:sp>
      <p:sp>
        <p:nvSpPr>
          <p:cNvPr id="34" name="Text 31"/>
          <p:cNvSpPr txBox="1"/>
          <p:nvPr/>
        </p:nvSpPr>
        <p:spPr>
          <a:xfrm>
            <a:off x="6949440" y="3553968"/>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عَفْوًا، أَعِدْ مِنْ فَضْلِكَ.</a:t>
            </a:r>
            <a:endParaRPr lang="ar-SA" sz="2800" dirty="0"/>
          </a:p>
        </p:txBody>
      </p:sp>
      <p:sp>
        <p:nvSpPr>
          <p:cNvPr id="35" name="Text 32"/>
          <p:cNvSpPr txBox="1"/>
          <p:nvPr/>
        </p:nvSpPr>
        <p:spPr>
          <a:xfrm>
            <a:off x="6949440" y="4315236"/>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Sorry, repeat please.</a:t>
            </a:r>
            <a:endParaRPr lang="en-US" sz="1100" dirty="0"/>
          </a:p>
        </p:txBody>
      </p:sp>
      <p:sp>
        <p:nvSpPr>
          <p:cNvPr id="36" name="Shape 33"/>
          <p:cNvSpPr/>
          <p:nvPr/>
        </p:nvSpPr>
        <p:spPr>
          <a:xfrm>
            <a:off x="6995160" y="4895088"/>
            <a:ext cx="4553712" cy="0"/>
          </a:xfrm>
          <a:prstGeom prst="line">
            <a:avLst/>
          </a:prstGeom>
          <a:noFill/>
          <a:ln w="9525">
            <a:solidFill>
              <a:srgbClr val="E4DCCB"/>
            </a:solidFill>
            <a:prstDash val="dash"/>
          </a:ln>
        </p:spPr>
      </p:sp>
      <p:sp>
        <p:nvSpPr>
          <p:cNvPr id="37" name="Text 34"/>
          <p:cNvSpPr txBox="1"/>
          <p:nvPr/>
        </p:nvSpPr>
        <p:spPr>
          <a:xfrm>
            <a:off x="6949440" y="4913376"/>
            <a:ext cx="4645152" cy="761268"/>
          </a:xfrm>
          <a:prstGeom prst="rect">
            <a:avLst/>
          </a:prstGeom>
          <a:noFill/>
          <a:ln/>
        </p:spPr>
        <p:txBody>
          <a:bodyPr wrap="square" lIns="0" tIns="0" rIns="0" bIns="0" rtlCol="0" anchor="ctr"/>
          <a:lstStyle/>
          <a:p>
            <a:pPr rtl="1" algn="ctr" indent="0" marL="0">
              <a:buNone/>
            </a:pPr>
            <a:r>
              <a:rPr lang="ar-SA" altLang="en-US" sz="2800" b="1" dirty="0">
                <a:solidFill>
                  <a:srgbClr val="1B3B6F"/>
                </a:solidFill>
                <a:latin typeface="Amiri" pitchFamily="2" charset="-78"/>
                <a:ea typeface="Amiri" pitchFamily="2" charset="-78"/>
                <a:cs typeface="Amiri" pitchFamily="2" charset="-78"/>
              </a:rPr>
              <a:t>لَحْظَةً، أُفَكِّرُ …</a:t>
            </a:r>
            <a:endParaRPr lang="ar-SA" sz="2800" dirty="0"/>
          </a:p>
        </p:txBody>
      </p:sp>
      <p:sp>
        <p:nvSpPr>
          <p:cNvPr id="38" name="Text 35"/>
          <p:cNvSpPr txBox="1"/>
          <p:nvPr/>
        </p:nvSpPr>
        <p:spPr>
          <a:xfrm>
            <a:off x="6949440" y="5674644"/>
            <a:ext cx="4645152" cy="543763"/>
          </a:xfrm>
          <a:prstGeom prst="rect">
            <a:avLst/>
          </a:prstGeom>
          <a:noFill/>
          <a:ln/>
        </p:spPr>
        <p:txBody>
          <a:bodyPr wrap="square" lIns="0" tIns="0" rIns="0" bIns="0" rtlCol="0" anchor="ctr"/>
          <a:lstStyle/>
          <a:p>
            <a:pPr algn="ctr" indent="0" marL="0">
              <a:buNone/>
            </a:pPr>
            <a:r>
              <a:rPr lang="en-US" sz="1100" i="1" dirty="0">
                <a:solidFill>
                  <a:srgbClr val="5A6472"/>
                </a:solidFill>
                <a:latin typeface="Calibri" pitchFamily="34" charset="0"/>
                <a:cs typeface="Amiri" pitchFamily="2" charset="-78"/>
              </a:rPr>
              <a:t>One moment, I’m thinking …</a:t>
            </a:r>
            <a:endParaRPr lang="en-US" sz="1100" dirty="0"/>
          </a:p>
        </p:txBody>
      </p:sp>
      <p:sp>
        <p:nvSpPr>
          <p:cNvPr id="39" name="Text 3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4 / 22</a:t>
            </a:r>
            <a:endParaRPr lang="en-US" sz="8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PART A · STEP 1 · WORD WARM-UP · 5 MINUTES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Say it — then use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قُلْهَا وَاسْتَعْمِلْهَا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1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Word ping-pong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The Leader says a word in ENGLISH from the next two slides. The Speaker says it in ARABIC. The Coach checks the Arabic (and the ending) on the slide.</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Leader: say 4 English words; Speaker answers in Arabic.</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checks the word on the slide.</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roles — new words each time.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Last round: use each word in a short sentence.</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Arabic word clearly.</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Say the word, then a short sentence: </a:t>
            </a:r>
            <a:pPr algn="l" indent="0" marL="0">
              <a:buNone/>
            </a:pPr>
            <a:r>
              <a:rPr lang="ar-SA" altLang="en-US" sz="1500" dirty="0">
                <a:solidFill>
                  <a:srgbClr val="1F2A37"/>
                </a:solidFill>
                <a:latin typeface="Amiri" pitchFamily="2" charset="-78"/>
                <a:ea typeface="Amiri" pitchFamily="2" charset="-78"/>
                <a:cs typeface="Amiri" pitchFamily="2" charset="-78"/>
              </a:rPr>
              <a:t>أَنَا … / عِنْدِي … / هٰذَا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feminine or plural form too, then a sentence with two words.</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دَوْرُكَ! / دَوْرُكِ!</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your turn! (m. / f.)</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أَعِدْ مِنْ فَضْلِكَ / أَعِيدِي</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repeat please (m. / f.)</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أَحْسَنْتَ! / أَحْسَنْتِ!</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well done! (m. / f.)</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بِبُطْءٍ مِنْ فَضْلِكَ</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slowly, please</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5 / 22</a:t>
            </a:r>
            <a:endParaRPr lang="en-US" sz="8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(1)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Rules and school life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a:t>
            </a:r>
            <a:endParaRPr lang="en-US" sz="1000" dirty="0"/>
          </a:p>
        </p:txBody>
      </p:sp>
      <p:sp>
        <p:nvSpPr>
          <p:cNvPr id="18" name="Shape 15"/>
          <p:cNvSpPr/>
          <p:nvPr/>
        </p:nvSpPr>
        <p:spPr>
          <a:xfrm>
            <a:off x="8604504" y="1938528"/>
            <a:ext cx="704088" cy="256032"/>
          </a:xfrm>
          <a:prstGeom prst="roundRect">
            <a:avLst>
              <a:gd name="adj" fmla="val 50000"/>
            </a:avLst>
          </a:prstGeom>
          <a:solidFill>
            <a:srgbClr val="EFE7D2"/>
          </a:solidFill>
          <a:ln w="12700">
            <a:solidFill>
              <a:srgbClr val="EFE7D2"/>
            </a:solidFill>
            <a:prstDash val="solid"/>
          </a:ln>
        </p:spPr>
      </p:sp>
      <p:sp>
        <p:nvSpPr>
          <p:cNvPr id="19" name="Text 16"/>
          <p:cNvSpPr txBox="1"/>
          <p:nvPr/>
        </p:nvSpPr>
        <p:spPr>
          <a:xfrm>
            <a:off x="8604504"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f.</a:t>
            </a:r>
            <a:endParaRPr lang="en-US" sz="800" dirty="0"/>
          </a:p>
        </p:txBody>
      </p:sp>
      <p:sp>
        <p:nvSpPr>
          <p:cNvPr id="20" name="Shape 17"/>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21" name="Text 18"/>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2" name="Text 19"/>
          <p:cNvSpPr txBox="1"/>
          <p:nvPr/>
        </p:nvSpPr>
        <p:spPr>
          <a:xfrm>
            <a:off x="8211312" y="2212848"/>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قَاعِدَةٌ</a:t>
            </a:r>
            <a:endParaRPr lang="ar-SA" sz="3000" dirty="0"/>
          </a:p>
        </p:txBody>
      </p:sp>
      <p:sp>
        <p:nvSpPr>
          <p:cNvPr id="23" name="Text 20"/>
          <p:cNvSpPr txBox="1"/>
          <p:nvPr/>
        </p:nvSpPr>
        <p:spPr>
          <a:xfrm>
            <a:off x="8238744" y="290779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rule</a:t>
            </a:r>
            <a:endParaRPr lang="en-US" sz="1350" dirty="0"/>
          </a:p>
          <a:p>
            <a:pPr indent="0" marL="0">
              <a:buNone/>
            </a:pPr>
            <a:r>
              <a:rPr lang="en-US" sz="1100" i="1" dirty="0">
                <a:solidFill>
                  <a:srgbClr val="5A6472"/>
                </a:solidFill>
                <a:latin typeface="Calibri" pitchFamily="34" charset="0"/>
                <a:cs typeface="Amiri" pitchFamily="2" charset="-78"/>
              </a:rPr>
              <a:t>qā-‘i-da</a:t>
            </a:r>
            <a:endParaRPr lang="en-US" sz="1350" dirty="0"/>
          </a:p>
        </p:txBody>
      </p:sp>
      <p:sp>
        <p:nvSpPr>
          <p:cNvPr id="24" name="Shape 21"/>
          <p:cNvSpPr/>
          <p:nvPr/>
        </p:nvSpPr>
        <p:spPr>
          <a:xfrm>
            <a:off x="8238744" y="3438144"/>
            <a:ext cx="3364992" cy="438912"/>
          </a:xfrm>
          <a:prstGeom prst="roundRect">
            <a:avLst>
              <a:gd name="adj" fmla="val 10417"/>
            </a:avLst>
          </a:prstGeom>
          <a:solidFill>
            <a:srgbClr val="F4F1EA"/>
          </a:solidFill>
          <a:ln w="9525">
            <a:solidFill>
              <a:srgbClr val="F4F1EA"/>
            </a:solidFill>
            <a:prstDash val="solid"/>
          </a:ln>
        </p:spPr>
      </p:sp>
      <p:sp>
        <p:nvSpPr>
          <p:cNvPr id="25" name="Text 22"/>
          <p:cNvSpPr txBox="1"/>
          <p:nvPr/>
        </p:nvSpPr>
        <p:spPr>
          <a:xfrm>
            <a:off x="8293608" y="3447288"/>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26" name="Text 23"/>
          <p:cNvSpPr txBox="1"/>
          <p:nvPr/>
        </p:nvSpPr>
        <p:spPr>
          <a:xfrm>
            <a:off x="8284464" y="3483864"/>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قَوَاعِدُ</a:t>
            </a:r>
            <a:endParaRPr lang="ar-SA" sz="1500" dirty="0"/>
          </a:p>
        </p:txBody>
      </p:sp>
      <p:sp>
        <p:nvSpPr>
          <p:cNvPr id="27" name="Shape 24"/>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8" name="Shape 25"/>
          <p:cNvSpPr/>
          <p:nvPr/>
        </p:nvSpPr>
        <p:spPr>
          <a:xfrm>
            <a:off x="4389120" y="1920240"/>
            <a:ext cx="310896" cy="310896"/>
          </a:xfrm>
          <a:prstGeom prst="ellipse">
            <a:avLst/>
          </a:prstGeom>
          <a:solidFill>
            <a:srgbClr val="F4F1EA"/>
          </a:solidFill>
          <a:ln w="12700">
            <a:solidFill>
              <a:srgbClr val="F4F1EA"/>
            </a:solidFill>
            <a:prstDash val="solid"/>
          </a:ln>
        </p:spPr>
      </p:sp>
      <p:sp>
        <p:nvSpPr>
          <p:cNvPr id="29" name="Text 26"/>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2</a:t>
            </a:r>
            <a:endParaRPr lang="en-US" sz="1000" dirty="0"/>
          </a:p>
        </p:txBody>
      </p:sp>
      <p:sp>
        <p:nvSpPr>
          <p:cNvPr id="30" name="Shape 27"/>
          <p:cNvSpPr/>
          <p:nvPr/>
        </p:nvSpPr>
        <p:spPr>
          <a:xfrm>
            <a:off x="4782312" y="1938528"/>
            <a:ext cx="704088" cy="256032"/>
          </a:xfrm>
          <a:prstGeom prst="roundRect">
            <a:avLst>
              <a:gd name="adj" fmla="val 50000"/>
            </a:avLst>
          </a:prstGeom>
          <a:solidFill>
            <a:srgbClr val="EFE7D2"/>
          </a:solidFill>
          <a:ln w="12700">
            <a:solidFill>
              <a:srgbClr val="EFE7D2"/>
            </a:solidFill>
            <a:prstDash val="solid"/>
          </a:ln>
        </p:spPr>
      </p:sp>
      <p:sp>
        <p:nvSpPr>
          <p:cNvPr id="31" name="Text 28"/>
          <p:cNvSpPr txBox="1"/>
          <p:nvPr/>
        </p:nvSpPr>
        <p:spPr>
          <a:xfrm>
            <a:off x="4782312"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32" name="Shape 29"/>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اللِّبَاسُ الْمَدْرَسِيُّ</a:t>
            </a:r>
            <a:endParaRPr lang="ar-SA" sz="3000" dirty="0"/>
          </a:p>
        </p:txBody>
      </p:sp>
      <p:sp>
        <p:nvSpPr>
          <p:cNvPr id="35" name="Text 32"/>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school uniform</a:t>
            </a:r>
            <a:endParaRPr lang="en-US" sz="1350" dirty="0"/>
          </a:p>
          <a:p>
            <a:pPr indent="0" marL="0">
              <a:buNone/>
            </a:pPr>
            <a:r>
              <a:rPr lang="en-US" sz="1100" i="1" dirty="0">
                <a:solidFill>
                  <a:srgbClr val="5A6472"/>
                </a:solidFill>
                <a:latin typeface="Calibri" pitchFamily="34" charset="0"/>
                <a:cs typeface="Amiri" pitchFamily="2" charset="-78"/>
              </a:rPr>
              <a:t>al-li-bās al-mad-ra-siyy</a:t>
            </a:r>
            <a:endParaRPr lang="en-US" sz="1350" dirty="0"/>
          </a:p>
        </p:txBody>
      </p:sp>
      <p:sp>
        <p:nvSpPr>
          <p:cNvPr id="36" name="Shape 33"/>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566928" y="1920240"/>
            <a:ext cx="310896" cy="310896"/>
          </a:xfrm>
          <a:prstGeom prst="ellipse">
            <a:avLst/>
          </a:prstGeom>
          <a:solidFill>
            <a:srgbClr val="F4F1EA"/>
          </a:solidFill>
          <a:ln w="12700">
            <a:solidFill>
              <a:srgbClr val="F4F1EA"/>
            </a:solidFill>
            <a:prstDash val="solid"/>
          </a:ln>
        </p:spPr>
      </p:sp>
      <p:sp>
        <p:nvSpPr>
          <p:cNvPr id="38" name="Text 35"/>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3</a:t>
            </a:r>
            <a:endParaRPr lang="en-US" sz="1000" dirty="0"/>
          </a:p>
        </p:txBody>
      </p:sp>
      <p:sp>
        <p:nvSpPr>
          <p:cNvPr id="39" name="Shape 36"/>
          <p:cNvSpPr/>
          <p:nvPr/>
        </p:nvSpPr>
        <p:spPr>
          <a:xfrm>
            <a:off x="960120" y="1938528"/>
            <a:ext cx="704088" cy="256032"/>
          </a:xfrm>
          <a:prstGeom prst="roundRect">
            <a:avLst>
              <a:gd name="adj" fmla="val 50000"/>
            </a:avLst>
          </a:prstGeom>
          <a:solidFill>
            <a:srgbClr val="EFE7D2"/>
          </a:solidFill>
          <a:ln w="12700">
            <a:solidFill>
              <a:srgbClr val="EFE7D2"/>
            </a:solidFill>
            <a:prstDash val="solid"/>
          </a:ln>
        </p:spPr>
      </p:sp>
      <p:sp>
        <p:nvSpPr>
          <p:cNvPr id="40" name="Text 37"/>
          <p:cNvSpPr txBox="1"/>
          <p:nvPr/>
        </p:nvSpPr>
        <p:spPr>
          <a:xfrm>
            <a:off x="960120" y="1938528"/>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41" name="Shape 38"/>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42" name="Text 39"/>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3" name="Text 40"/>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الاِحْتِرَامُ</a:t>
            </a:r>
            <a:endParaRPr lang="ar-SA" sz="3000" dirty="0"/>
          </a:p>
        </p:txBody>
      </p:sp>
      <p:sp>
        <p:nvSpPr>
          <p:cNvPr id="44" name="Text 41"/>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a:t>
            </a:r>
            <a:endParaRPr lang="en-US" sz="1350" dirty="0"/>
          </a:p>
          <a:p>
            <a:pPr indent="0" marL="0">
              <a:buNone/>
            </a:pPr>
            <a:r>
              <a:rPr lang="en-US" sz="1100" i="1" dirty="0">
                <a:solidFill>
                  <a:srgbClr val="5A6472"/>
                </a:solidFill>
                <a:latin typeface="Calibri" pitchFamily="34" charset="0"/>
                <a:cs typeface="Amiri" pitchFamily="2" charset="-78"/>
              </a:rPr>
              <a:t>al-iḥ-ti-rām</a:t>
            </a:r>
            <a:endParaRPr lang="en-US" sz="1350" dirty="0"/>
          </a:p>
        </p:txBody>
      </p:sp>
      <p:sp>
        <p:nvSpPr>
          <p:cNvPr id="45" name="Shape 42"/>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Shape 43"/>
          <p:cNvSpPr/>
          <p:nvPr/>
        </p:nvSpPr>
        <p:spPr>
          <a:xfrm>
            <a:off x="8211312" y="4261104"/>
            <a:ext cx="310896" cy="310896"/>
          </a:xfrm>
          <a:prstGeom prst="ellipse">
            <a:avLst/>
          </a:prstGeom>
          <a:solidFill>
            <a:srgbClr val="F4F1EA"/>
          </a:solidFill>
          <a:ln w="12700">
            <a:solidFill>
              <a:srgbClr val="F4F1EA"/>
            </a:solidFill>
            <a:prstDash val="solid"/>
          </a:ln>
        </p:spPr>
      </p:sp>
      <p:sp>
        <p:nvSpPr>
          <p:cNvPr id="47" name="Text 44"/>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4</a:t>
            </a:r>
            <a:endParaRPr lang="en-US" sz="1000" dirty="0"/>
          </a:p>
        </p:txBody>
      </p:sp>
      <p:sp>
        <p:nvSpPr>
          <p:cNvPr id="48" name="Shape 45"/>
          <p:cNvSpPr/>
          <p:nvPr/>
        </p:nvSpPr>
        <p:spPr>
          <a:xfrm>
            <a:off x="8604504" y="4279392"/>
            <a:ext cx="704088" cy="256032"/>
          </a:xfrm>
          <a:prstGeom prst="roundRect">
            <a:avLst>
              <a:gd name="adj" fmla="val 50000"/>
            </a:avLst>
          </a:prstGeom>
          <a:solidFill>
            <a:srgbClr val="EFE7D2"/>
          </a:solidFill>
          <a:ln w="12700">
            <a:solidFill>
              <a:srgbClr val="EFE7D2"/>
            </a:solidFill>
            <a:prstDash val="solid"/>
          </a:ln>
        </p:spPr>
      </p:sp>
      <p:sp>
        <p:nvSpPr>
          <p:cNvPr id="49" name="Text 46"/>
          <p:cNvSpPr txBox="1"/>
          <p:nvPr/>
        </p:nvSpPr>
        <p:spPr>
          <a:xfrm>
            <a:off x="8604504"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0" name="Shape 47"/>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51" name="Text 48"/>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2" name="Text 49"/>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الْوَاجِبُ الْمَنْزِلِيُّ</a:t>
            </a:r>
            <a:endParaRPr lang="ar-SA" sz="3000" dirty="0"/>
          </a:p>
        </p:txBody>
      </p:sp>
      <p:sp>
        <p:nvSpPr>
          <p:cNvPr id="53" name="Text 50"/>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homework</a:t>
            </a:r>
            <a:endParaRPr lang="en-US" sz="1350" dirty="0"/>
          </a:p>
          <a:p>
            <a:pPr indent="0" marL="0">
              <a:buNone/>
            </a:pPr>
            <a:r>
              <a:rPr lang="en-US" sz="1100" i="1" dirty="0">
                <a:solidFill>
                  <a:srgbClr val="5A6472"/>
                </a:solidFill>
                <a:latin typeface="Calibri" pitchFamily="34" charset="0"/>
                <a:cs typeface="Amiri" pitchFamily="2" charset="-78"/>
              </a:rPr>
              <a:t>al-wā-jib al-man-zi-liyy</a:t>
            </a:r>
            <a:endParaRPr lang="en-US" sz="1350" dirty="0"/>
          </a:p>
        </p:txBody>
      </p:sp>
      <p:sp>
        <p:nvSpPr>
          <p:cNvPr id="54" name="Shape 51"/>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5" name="Shape 52"/>
          <p:cNvSpPr/>
          <p:nvPr/>
        </p:nvSpPr>
        <p:spPr>
          <a:xfrm>
            <a:off x="4389120" y="4261104"/>
            <a:ext cx="310896" cy="310896"/>
          </a:xfrm>
          <a:prstGeom prst="ellipse">
            <a:avLst/>
          </a:prstGeom>
          <a:solidFill>
            <a:srgbClr val="F4F1EA"/>
          </a:solidFill>
          <a:ln w="12700">
            <a:solidFill>
              <a:srgbClr val="F4F1EA"/>
            </a:solidFill>
            <a:prstDash val="solid"/>
          </a:ln>
        </p:spPr>
      </p:sp>
      <p:sp>
        <p:nvSpPr>
          <p:cNvPr id="56" name="Text 53"/>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5</a:t>
            </a:r>
            <a:endParaRPr lang="en-US" sz="1000" dirty="0"/>
          </a:p>
        </p:txBody>
      </p:sp>
      <p:sp>
        <p:nvSpPr>
          <p:cNvPr id="57" name="Shape 54"/>
          <p:cNvSpPr/>
          <p:nvPr/>
        </p:nvSpPr>
        <p:spPr>
          <a:xfrm>
            <a:off x="4782312" y="4279392"/>
            <a:ext cx="704088" cy="256032"/>
          </a:xfrm>
          <a:prstGeom prst="roundRect">
            <a:avLst>
              <a:gd name="adj" fmla="val 50000"/>
            </a:avLst>
          </a:prstGeom>
          <a:solidFill>
            <a:srgbClr val="EFE7D2"/>
          </a:solidFill>
          <a:ln w="12700">
            <a:solidFill>
              <a:srgbClr val="EFE7D2"/>
            </a:solidFill>
            <a:prstDash val="solid"/>
          </a:ln>
        </p:spPr>
      </p:sp>
      <p:sp>
        <p:nvSpPr>
          <p:cNvPr id="58" name="Text 55"/>
          <p:cNvSpPr txBox="1"/>
          <p:nvPr/>
        </p:nvSpPr>
        <p:spPr>
          <a:xfrm>
            <a:off x="4782312"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59" name="Shape 56"/>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60" name="Text 57"/>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61" name="Text 58"/>
          <p:cNvSpPr txBox="1"/>
          <p:nvPr/>
        </p:nvSpPr>
        <p:spPr>
          <a:xfrm>
            <a:off x="4389120" y="4553712"/>
            <a:ext cx="3401568" cy="713232"/>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الْهَاتِفُ الْمَحْمُولُ</a:t>
            </a:r>
            <a:endParaRPr lang="ar-SA" sz="3000" dirty="0"/>
          </a:p>
        </p:txBody>
      </p:sp>
      <p:sp>
        <p:nvSpPr>
          <p:cNvPr id="62" name="Text 59"/>
          <p:cNvSpPr txBox="1"/>
          <p:nvPr/>
        </p:nvSpPr>
        <p:spPr>
          <a:xfrm>
            <a:off x="4416552" y="5248656"/>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mobile phone</a:t>
            </a:r>
            <a:endParaRPr lang="en-US" sz="1350" dirty="0"/>
          </a:p>
          <a:p>
            <a:pPr indent="0" marL="0">
              <a:buNone/>
            </a:pPr>
            <a:r>
              <a:rPr lang="en-US" sz="1100" i="1" dirty="0">
                <a:solidFill>
                  <a:srgbClr val="5A6472"/>
                </a:solidFill>
                <a:latin typeface="Calibri" pitchFamily="34" charset="0"/>
                <a:cs typeface="Amiri" pitchFamily="2" charset="-78"/>
              </a:rPr>
              <a:t>al-hā-tif al-maḥ-mūl</a:t>
            </a:r>
            <a:endParaRPr lang="en-US" sz="1350" dirty="0"/>
          </a:p>
        </p:txBody>
      </p:sp>
      <p:sp>
        <p:nvSpPr>
          <p:cNvPr id="63" name="Shape 60"/>
          <p:cNvSpPr/>
          <p:nvPr/>
        </p:nvSpPr>
        <p:spPr>
          <a:xfrm>
            <a:off x="4416552" y="5779008"/>
            <a:ext cx="3364992" cy="438912"/>
          </a:xfrm>
          <a:prstGeom prst="roundRect">
            <a:avLst>
              <a:gd name="adj" fmla="val 10417"/>
            </a:avLst>
          </a:prstGeom>
          <a:solidFill>
            <a:srgbClr val="F4F1EA"/>
          </a:solidFill>
          <a:ln w="9525">
            <a:solidFill>
              <a:srgbClr val="F4F1EA"/>
            </a:solidFill>
            <a:prstDash val="solid"/>
          </a:ln>
        </p:spPr>
      </p:sp>
      <p:sp>
        <p:nvSpPr>
          <p:cNvPr id="64" name="Text 61"/>
          <p:cNvSpPr txBox="1"/>
          <p:nvPr/>
        </p:nvSpPr>
        <p:spPr>
          <a:xfrm>
            <a:off x="4471416" y="5788152"/>
            <a:ext cx="3255264" cy="155448"/>
          </a:xfrm>
          <a:prstGeom prst="rect">
            <a:avLst/>
          </a:prstGeom>
          <a:noFill/>
          <a:ln/>
        </p:spPr>
        <p:txBody>
          <a:bodyPr wrap="square" lIns="0" tIns="0" rIns="0" bIns="0" rtlCol="0" anchor="ctr"/>
          <a:lstStyle/>
          <a:p>
            <a:pPr algn="l" indent="0" marL="0">
              <a:buNone/>
            </a:pPr>
            <a:r>
              <a:rPr lang="en-US" sz="750" b="1" dirty="0">
                <a:solidFill>
                  <a:srgbClr val="8A6D1E"/>
                </a:solidFill>
                <a:latin typeface="Calibri" pitchFamily="34" charset="0"/>
                <a:cs typeface="Amiri" pitchFamily="2" charset="-78"/>
              </a:rPr>
              <a:t>pl.</a:t>
            </a:r>
            <a:endParaRPr lang="en-US" sz="750" dirty="0"/>
          </a:p>
        </p:txBody>
      </p:sp>
      <p:sp>
        <p:nvSpPr>
          <p:cNvPr id="65" name="Text 62"/>
          <p:cNvSpPr txBox="1"/>
          <p:nvPr/>
        </p:nvSpPr>
        <p:spPr>
          <a:xfrm>
            <a:off x="4462272" y="5824728"/>
            <a:ext cx="3273552" cy="384048"/>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الْهَوَاتِفُ</a:t>
            </a:r>
            <a:endParaRPr lang="ar-SA" sz="1500" dirty="0"/>
          </a:p>
        </p:txBody>
      </p:sp>
      <p:sp>
        <p:nvSpPr>
          <p:cNvPr id="66" name="Shape 63"/>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7" name="Shape 64"/>
          <p:cNvSpPr/>
          <p:nvPr/>
        </p:nvSpPr>
        <p:spPr>
          <a:xfrm>
            <a:off x="566928" y="4261104"/>
            <a:ext cx="310896" cy="310896"/>
          </a:xfrm>
          <a:prstGeom prst="ellipse">
            <a:avLst/>
          </a:prstGeom>
          <a:solidFill>
            <a:srgbClr val="F4F1EA"/>
          </a:solidFill>
          <a:ln w="12700">
            <a:solidFill>
              <a:srgbClr val="F4F1EA"/>
            </a:solidFill>
            <a:prstDash val="solid"/>
          </a:ln>
        </p:spPr>
      </p:sp>
      <p:sp>
        <p:nvSpPr>
          <p:cNvPr id="68" name="Text 65"/>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6</a:t>
            </a:r>
            <a:endParaRPr lang="en-US" sz="1000" dirty="0"/>
          </a:p>
        </p:txBody>
      </p:sp>
      <p:sp>
        <p:nvSpPr>
          <p:cNvPr id="69" name="Shape 66"/>
          <p:cNvSpPr/>
          <p:nvPr/>
        </p:nvSpPr>
        <p:spPr>
          <a:xfrm>
            <a:off x="960120" y="4279392"/>
            <a:ext cx="704088" cy="256032"/>
          </a:xfrm>
          <a:prstGeom prst="roundRect">
            <a:avLst>
              <a:gd name="adj" fmla="val 50000"/>
            </a:avLst>
          </a:prstGeom>
          <a:solidFill>
            <a:srgbClr val="EFE7D2"/>
          </a:solidFill>
          <a:ln w="12700">
            <a:solidFill>
              <a:srgbClr val="EFE7D2"/>
            </a:solidFill>
            <a:prstDash val="solid"/>
          </a:ln>
        </p:spPr>
      </p:sp>
      <p:sp>
        <p:nvSpPr>
          <p:cNvPr id="70" name="Text 67"/>
          <p:cNvSpPr txBox="1"/>
          <p:nvPr/>
        </p:nvSpPr>
        <p:spPr>
          <a:xfrm>
            <a:off x="960120" y="4279392"/>
            <a:ext cx="704088" cy="256032"/>
          </a:xfrm>
          <a:prstGeom prst="rect">
            <a:avLst/>
          </a:prstGeom>
          <a:noFill/>
          <a:ln/>
        </p:spPr>
        <p:txBody>
          <a:bodyPr wrap="square" lIns="0" tIns="0" rIns="0" bIns="0" rtlCol="0" anchor="ctr"/>
          <a:lstStyle/>
          <a:p>
            <a:pPr algn="ctr" indent="0" marL="0">
              <a:buNone/>
            </a:pPr>
            <a:r>
              <a:rPr lang="en-US" sz="800" b="1" dirty="0">
                <a:solidFill>
                  <a:srgbClr val="8A6D1E"/>
                </a:solidFill>
                <a:latin typeface="Calibri" pitchFamily="34" charset="0"/>
                <a:cs typeface="Amiri" pitchFamily="2" charset="-78"/>
              </a:rPr>
              <a:t>m.</a:t>
            </a:r>
            <a:endParaRPr lang="en-US" sz="800" dirty="0"/>
          </a:p>
        </p:txBody>
      </p:sp>
      <p:sp>
        <p:nvSpPr>
          <p:cNvPr id="71" name="Text 68"/>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التَّأَخُّرُ · الْغِيَابُ</a:t>
            </a:r>
            <a:endParaRPr lang="ar-SA" sz="3000" dirty="0"/>
          </a:p>
        </p:txBody>
      </p:sp>
      <p:sp>
        <p:nvSpPr>
          <p:cNvPr id="72" name="Text 69"/>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lateness · absence</a:t>
            </a:r>
            <a:endParaRPr lang="en-US" sz="1350" dirty="0"/>
          </a:p>
          <a:p>
            <a:pPr indent="0" marL="0">
              <a:buNone/>
            </a:pPr>
            <a:r>
              <a:rPr lang="en-US" sz="1100" i="1" dirty="0">
                <a:solidFill>
                  <a:srgbClr val="5A6472"/>
                </a:solidFill>
                <a:latin typeface="Calibri" pitchFamily="34" charset="0"/>
                <a:cs typeface="Amiri" pitchFamily="2" charset="-78"/>
              </a:rPr>
              <a:t>at-ta-’akh-khur · al-ghi-yāb</a:t>
            </a:r>
            <a:endParaRPr lang="en-US" sz="1350" dirty="0"/>
          </a:p>
        </p:txBody>
      </p:sp>
      <p:sp>
        <p:nvSpPr>
          <p:cNvPr id="73" name="Text 7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6 / 22</a:t>
            </a:r>
            <a:endParaRPr lang="en-US" sz="8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6308446" y="274320"/>
            <a:ext cx="2451506" cy="329184"/>
          </a:xfrm>
          <a:prstGeom prst="roundRect">
            <a:avLst>
              <a:gd name="adj" fmla="val 50000"/>
            </a:avLst>
          </a:prstGeom>
          <a:solidFill>
            <a:srgbClr val="1B3B6F"/>
          </a:solidFill>
          <a:ln w="12700">
            <a:solidFill>
              <a:srgbClr val="1B3B6F"/>
            </a:solidFill>
            <a:prstDash val="solid"/>
          </a:ln>
        </p:spPr>
      </p:sp>
      <p:sp>
        <p:nvSpPr>
          <p:cNvPr id="9" name="Text 7"/>
          <p:cNvSpPr txBox="1"/>
          <p:nvPr/>
        </p:nvSpPr>
        <p:spPr>
          <a:xfrm>
            <a:off x="6308446" y="274320"/>
            <a:ext cx="2451506"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TEACHER INSTRUCTION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B3B6F"/>
                </a:solidFill>
                <a:latin typeface="Calibri" pitchFamily="34" charset="0"/>
                <a:cs typeface="Amiri" pitchFamily="2" charset="-78"/>
              </a:rPr>
              <a:t>STEP 1 · WORD BANK (2) · FROM THE LESSON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Must, must not, may</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كَلِمَاتُ الدَّرْسِ</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8101584"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8211312" y="1920240"/>
            <a:ext cx="310896" cy="310896"/>
          </a:xfrm>
          <a:prstGeom prst="ellipse">
            <a:avLst/>
          </a:prstGeom>
          <a:solidFill>
            <a:srgbClr val="F4F1EA"/>
          </a:solidFill>
          <a:ln w="12700">
            <a:solidFill>
              <a:srgbClr val="F4F1EA"/>
            </a:solidFill>
            <a:prstDash val="solid"/>
          </a:ln>
        </p:spPr>
      </p:sp>
      <p:sp>
        <p:nvSpPr>
          <p:cNvPr id="17" name="Text 14"/>
          <p:cNvSpPr txBox="1"/>
          <p:nvPr/>
        </p:nvSpPr>
        <p:spPr>
          <a:xfrm>
            <a:off x="8211312"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7</a:t>
            </a:r>
            <a:endParaRPr lang="en-US" sz="1000" dirty="0"/>
          </a:p>
        </p:txBody>
      </p:sp>
      <p:sp>
        <p:nvSpPr>
          <p:cNvPr id="18" name="Shape 15"/>
          <p:cNvSpPr/>
          <p:nvPr/>
        </p:nvSpPr>
        <p:spPr>
          <a:xfrm>
            <a:off x="10872216" y="1938528"/>
            <a:ext cx="73152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10872216"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Text 17"/>
          <p:cNvSpPr txBox="1"/>
          <p:nvPr/>
        </p:nvSpPr>
        <p:spPr>
          <a:xfrm>
            <a:off x="8211312"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يَجِبُ أَنْ …</a:t>
            </a:r>
            <a:endParaRPr lang="ar-SA" sz="3000" dirty="0"/>
          </a:p>
        </p:txBody>
      </p:sp>
      <p:sp>
        <p:nvSpPr>
          <p:cNvPr id="21" name="Text 18"/>
          <p:cNvSpPr txBox="1"/>
          <p:nvPr/>
        </p:nvSpPr>
        <p:spPr>
          <a:xfrm>
            <a:off x="8238744"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must …</a:t>
            </a:r>
            <a:endParaRPr lang="en-US" sz="1350" dirty="0"/>
          </a:p>
          <a:p>
            <a:pPr indent="0" marL="0">
              <a:buNone/>
            </a:pPr>
            <a:r>
              <a:rPr lang="en-US" sz="1100" i="1" dirty="0">
                <a:solidFill>
                  <a:srgbClr val="5A6472"/>
                </a:solidFill>
                <a:latin typeface="Calibri" pitchFamily="34" charset="0"/>
                <a:cs typeface="Amiri" pitchFamily="2" charset="-78"/>
              </a:rPr>
              <a:t>ya-ji-bu an …</a:t>
            </a:r>
            <a:endParaRPr lang="en-US" sz="1350" dirty="0"/>
          </a:p>
        </p:txBody>
      </p:sp>
      <p:sp>
        <p:nvSpPr>
          <p:cNvPr id="22" name="Shape 19"/>
          <p:cNvSpPr/>
          <p:nvPr/>
        </p:nvSpPr>
        <p:spPr>
          <a:xfrm>
            <a:off x="4279392"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4389120" y="1920240"/>
            <a:ext cx="310896" cy="310896"/>
          </a:xfrm>
          <a:prstGeom prst="ellipse">
            <a:avLst/>
          </a:prstGeom>
          <a:solidFill>
            <a:srgbClr val="F4F1EA"/>
          </a:solidFill>
          <a:ln w="12700">
            <a:solidFill>
              <a:srgbClr val="F4F1EA"/>
            </a:solidFill>
            <a:prstDash val="solid"/>
          </a:ln>
        </p:spPr>
      </p:sp>
      <p:sp>
        <p:nvSpPr>
          <p:cNvPr id="24" name="Text 21"/>
          <p:cNvSpPr txBox="1"/>
          <p:nvPr/>
        </p:nvSpPr>
        <p:spPr>
          <a:xfrm>
            <a:off x="4389120"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8</a:t>
            </a:r>
            <a:endParaRPr lang="en-US" sz="1000" dirty="0"/>
          </a:p>
        </p:txBody>
      </p:sp>
      <p:sp>
        <p:nvSpPr>
          <p:cNvPr id="25" name="Shape 22"/>
          <p:cNvSpPr/>
          <p:nvPr/>
        </p:nvSpPr>
        <p:spPr>
          <a:xfrm>
            <a:off x="7050024" y="1938528"/>
            <a:ext cx="731520" cy="256032"/>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7050024"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7" name="Text 24"/>
          <p:cNvSpPr txBox="1"/>
          <p:nvPr/>
        </p:nvSpPr>
        <p:spPr>
          <a:xfrm>
            <a:off x="4389120"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يَجُوزُ أَنْ …</a:t>
            </a:r>
            <a:endParaRPr lang="ar-SA" sz="3000" dirty="0"/>
          </a:p>
        </p:txBody>
      </p:sp>
      <p:sp>
        <p:nvSpPr>
          <p:cNvPr id="28" name="Text 25"/>
          <p:cNvSpPr txBox="1"/>
          <p:nvPr/>
        </p:nvSpPr>
        <p:spPr>
          <a:xfrm>
            <a:off x="4416552"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must not …</a:t>
            </a:r>
            <a:endParaRPr lang="en-US" sz="1350" dirty="0"/>
          </a:p>
          <a:p>
            <a:pPr indent="0" marL="0">
              <a:buNone/>
            </a:pPr>
            <a:r>
              <a:rPr lang="en-US" sz="1100" i="1" dirty="0">
                <a:solidFill>
                  <a:srgbClr val="5A6472"/>
                </a:solidFill>
                <a:latin typeface="Calibri" pitchFamily="34" charset="0"/>
                <a:cs typeface="Amiri" pitchFamily="2" charset="-78"/>
              </a:rPr>
              <a:t>lā ya-jū-zu an …</a:t>
            </a:r>
            <a:endParaRPr lang="en-US" sz="1350" dirty="0"/>
          </a:p>
        </p:txBody>
      </p:sp>
      <p:sp>
        <p:nvSpPr>
          <p:cNvPr id="29" name="Shape 26"/>
          <p:cNvSpPr/>
          <p:nvPr/>
        </p:nvSpPr>
        <p:spPr>
          <a:xfrm>
            <a:off x="457200" y="1810512"/>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566928" y="1920240"/>
            <a:ext cx="310896" cy="310896"/>
          </a:xfrm>
          <a:prstGeom prst="ellipse">
            <a:avLst/>
          </a:prstGeom>
          <a:solidFill>
            <a:srgbClr val="F4F1EA"/>
          </a:solidFill>
          <a:ln w="12700">
            <a:solidFill>
              <a:srgbClr val="F4F1EA"/>
            </a:solidFill>
            <a:prstDash val="solid"/>
          </a:ln>
        </p:spPr>
      </p:sp>
      <p:sp>
        <p:nvSpPr>
          <p:cNvPr id="31" name="Text 28"/>
          <p:cNvSpPr txBox="1"/>
          <p:nvPr/>
        </p:nvSpPr>
        <p:spPr>
          <a:xfrm>
            <a:off x="566928" y="1920240"/>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9</a:t>
            </a:r>
            <a:endParaRPr lang="en-US" sz="1000" dirty="0"/>
          </a:p>
        </p:txBody>
      </p:sp>
      <p:sp>
        <p:nvSpPr>
          <p:cNvPr id="32" name="Shape 29"/>
          <p:cNvSpPr/>
          <p:nvPr/>
        </p:nvSpPr>
        <p:spPr>
          <a:xfrm>
            <a:off x="3227832" y="1938528"/>
            <a:ext cx="731520" cy="256032"/>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3227832" y="1938528"/>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34" name="Text 31"/>
          <p:cNvSpPr txBox="1"/>
          <p:nvPr/>
        </p:nvSpPr>
        <p:spPr>
          <a:xfrm>
            <a:off x="566928" y="2212848"/>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يُمْكِنُ أَنْ …</a:t>
            </a:r>
            <a:endParaRPr lang="ar-SA" sz="3000" dirty="0"/>
          </a:p>
        </p:txBody>
      </p:sp>
      <p:sp>
        <p:nvSpPr>
          <p:cNvPr id="35" name="Text 32"/>
          <p:cNvSpPr txBox="1"/>
          <p:nvPr/>
        </p:nvSpPr>
        <p:spPr>
          <a:xfrm>
            <a:off x="594360" y="3127248"/>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you may / can …</a:t>
            </a:r>
            <a:endParaRPr lang="en-US" sz="1350" dirty="0"/>
          </a:p>
          <a:p>
            <a:pPr indent="0" marL="0">
              <a:buNone/>
            </a:pPr>
            <a:r>
              <a:rPr lang="en-US" sz="1100" i="1" dirty="0">
                <a:solidFill>
                  <a:srgbClr val="5A6472"/>
                </a:solidFill>
                <a:latin typeface="Calibri" pitchFamily="34" charset="0"/>
                <a:cs typeface="Amiri" pitchFamily="2" charset="-78"/>
              </a:rPr>
              <a:t>yum-ki-nu an …</a:t>
            </a:r>
            <a:endParaRPr lang="en-US" sz="1350" dirty="0"/>
          </a:p>
        </p:txBody>
      </p:sp>
      <p:sp>
        <p:nvSpPr>
          <p:cNvPr id="36" name="Shape 33"/>
          <p:cNvSpPr/>
          <p:nvPr/>
        </p:nvSpPr>
        <p:spPr>
          <a:xfrm>
            <a:off x="8101584"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7" name="Shape 34"/>
          <p:cNvSpPr/>
          <p:nvPr/>
        </p:nvSpPr>
        <p:spPr>
          <a:xfrm>
            <a:off x="8211312" y="4261104"/>
            <a:ext cx="310896" cy="310896"/>
          </a:xfrm>
          <a:prstGeom prst="ellipse">
            <a:avLst/>
          </a:prstGeom>
          <a:solidFill>
            <a:srgbClr val="F4F1EA"/>
          </a:solidFill>
          <a:ln w="12700">
            <a:solidFill>
              <a:srgbClr val="F4F1EA"/>
            </a:solidFill>
            <a:prstDash val="solid"/>
          </a:ln>
        </p:spPr>
      </p:sp>
      <p:sp>
        <p:nvSpPr>
          <p:cNvPr id="38" name="Text 35"/>
          <p:cNvSpPr txBox="1"/>
          <p:nvPr/>
        </p:nvSpPr>
        <p:spPr>
          <a:xfrm>
            <a:off x="8211312"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10</a:t>
            </a:r>
            <a:endParaRPr lang="en-US" sz="1000" dirty="0"/>
          </a:p>
        </p:txBody>
      </p:sp>
      <p:sp>
        <p:nvSpPr>
          <p:cNvPr id="39" name="Shape 36"/>
          <p:cNvSpPr/>
          <p:nvPr/>
        </p:nvSpPr>
        <p:spPr>
          <a:xfrm>
            <a:off x="10872216" y="4279392"/>
            <a:ext cx="731520" cy="256032"/>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0872216"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1" name="Text 38"/>
          <p:cNvSpPr txBox="1"/>
          <p:nvPr/>
        </p:nvSpPr>
        <p:spPr>
          <a:xfrm>
            <a:off x="8211312"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احْتَرِمْ · احْتَرِمِي</a:t>
            </a:r>
            <a:endParaRPr lang="ar-SA" sz="3000" dirty="0"/>
          </a:p>
        </p:txBody>
      </p:sp>
      <p:sp>
        <p:nvSpPr>
          <p:cNvPr id="42" name="Text 39"/>
          <p:cNvSpPr txBox="1"/>
          <p:nvPr/>
        </p:nvSpPr>
        <p:spPr>
          <a:xfrm>
            <a:off x="8238744"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respect! (boy · girl)</a:t>
            </a:r>
            <a:endParaRPr lang="en-US" sz="1350" dirty="0"/>
          </a:p>
          <a:p>
            <a:pPr indent="0" marL="0">
              <a:buNone/>
            </a:pPr>
            <a:r>
              <a:rPr lang="en-US" sz="1100" i="1" dirty="0">
                <a:solidFill>
                  <a:srgbClr val="5A6472"/>
                </a:solidFill>
                <a:latin typeface="Calibri" pitchFamily="34" charset="0"/>
                <a:cs typeface="Amiri" pitchFamily="2" charset="-78"/>
              </a:rPr>
              <a:t>aḥ-ta-rim · aḥ-ta-ri-mī</a:t>
            </a:r>
            <a:endParaRPr lang="en-US" sz="1350" dirty="0"/>
          </a:p>
        </p:txBody>
      </p:sp>
      <p:sp>
        <p:nvSpPr>
          <p:cNvPr id="43" name="Shape 40"/>
          <p:cNvSpPr/>
          <p:nvPr/>
        </p:nvSpPr>
        <p:spPr>
          <a:xfrm>
            <a:off x="4279392"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4" name="Shape 41"/>
          <p:cNvSpPr/>
          <p:nvPr/>
        </p:nvSpPr>
        <p:spPr>
          <a:xfrm>
            <a:off x="4389120" y="4261104"/>
            <a:ext cx="310896" cy="310896"/>
          </a:xfrm>
          <a:prstGeom prst="ellipse">
            <a:avLst/>
          </a:prstGeom>
          <a:solidFill>
            <a:srgbClr val="F4F1EA"/>
          </a:solidFill>
          <a:ln w="12700">
            <a:solidFill>
              <a:srgbClr val="F4F1EA"/>
            </a:solidFill>
            <a:prstDash val="solid"/>
          </a:ln>
        </p:spPr>
      </p:sp>
      <p:sp>
        <p:nvSpPr>
          <p:cNvPr id="45" name="Text 42"/>
          <p:cNvSpPr txBox="1"/>
          <p:nvPr/>
        </p:nvSpPr>
        <p:spPr>
          <a:xfrm>
            <a:off x="4389120"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11</a:t>
            </a:r>
            <a:endParaRPr lang="en-US" sz="1000" dirty="0"/>
          </a:p>
        </p:txBody>
      </p:sp>
      <p:sp>
        <p:nvSpPr>
          <p:cNvPr id="46" name="Shape 43"/>
          <p:cNvSpPr/>
          <p:nvPr/>
        </p:nvSpPr>
        <p:spPr>
          <a:xfrm>
            <a:off x="7050024" y="4279392"/>
            <a:ext cx="731520" cy="256032"/>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7050024"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48" name="Text 45"/>
          <p:cNvSpPr txBox="1"/>
          <p:nvPr/>
        </p:nvSpPr>
        <p:spPr>
          <a:xfrm>
            <a:off x="4389120"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لَا تَأْكُلْ</a:t>
            </a:r>
            <a:endParaRPr lang="ar-SA" sz="3000" dirty="0"/>
          </a:p>
        </p:txBody>
      </p:sp>
      <p:sp>
        <p:nvSpPr>
          <p:cNvPr id="49" name="Text 46"/>
          <p:cNvSpPr txBox="1"/>
          <p:nvPr/>
        </p:nvSpPr>
        <p:spPr>
          <a:xfrm>
            <a:off x="4416552"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don’t eat! (to a boy)</a:t>
            </a:r>
            <a:endParaRPr lang="en-US" sz="1350" dirty="0"/>
          </a:p>
          <a:p>
            <a:pPr indent="0" marL="0">
              <a:buNone/>
            </a:pPr>
            <a:r>
              <a:rPr lang="en-US" sz="1100" i="1" dirty="0">
                <a:solidFill>
                  <a:srgbClr val="5A6472"/>
                </a:solidFill>
                <a:latin typeface="Calibri" pitchFamily="34" charset="0"/>
                <a:cs typeface="Amiri" pitchFamily="2" charset="-78"/>
              </a:rPr>
              <a:t>lā taʾ-kul</a:t>
            </a:r>
            <a:endParaRPr lang="en-US" sz="1350" dirty="0"/>
          </a:p>
        </p:txBody>
      </p:sp>
      <p:sp>
        <p:nvSpPr>
          <p:cNvPr id="50" name="Shape 47"/>
          <p:cNvSpPr/>
          <p:nvPr/>
        </p:nvSpPr>
        <p:spPr>
          <a:xfrm>
            <a:off x="457200" y="4151376"/>
            <a:ext cx="3639312" cy="2157984"/>
          </a:xfrm>
          <a:prstGeom prst="roundRect">
            <a:avLst>
              <a:gd name="adj" fmla="val 3390"/>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51" name="Shape 48"/>
          <p:cNvSpPr/>
          <p:nvPr/>
        </p:nvSpPr>
        <p:spPr>
          <a:xfrm>
            <a:off x="566928" y="4261104"/>
            <a:ext cx="310896" cy="310896"/>
          </a:xfrm>
          <a:prstGeom prst="ellipse">
            <a:avLst/>
          </a:prstGeom>
          <a:solidFill>
            <a:srgbClr val="F4F1EA"/>
          </a:solidFill>
          <a:ln w="12700">
            <a:solidFill>
              <a:srgbClr val="F4F1EA"/>
            </a:solidFill>
            <a:prstDash val="solid"/>
          </a:ln>
        </p:spPr>
      </p:sp>
      <p:sp>
        <p:nvSpPr>
          <p:cNvPr id="52" name="Text 49"/>
          <p:cNvSpPr txBox="1"/>
          <p:nvPr/>
        </p:nvSpPr>
        <p:spPr>
          <a:xfrm>
            <a:off x="566928" y="4261104"/>
            <a:ext cx="310896" cy="310896"/>
          </a:xfrm>
          <a:prstGeom prst="rect">
            <a:avLst/>
          </a:prstGeom>
          <a:noFill/>
          <a:ln/>
        </p:spPr>
        <p:txBody>
          <a:bodyPr wrap="square" lIns="0" tIns="0" rIns="0" bIns="0" rtlCol="0" anchor="ctr"/>
          <a:lstStyle/>
          <a:p>
            <a:pPr algn="ctr" indent="0" marL="0">
              <a:buNone/>
            </a:pPr>
            <a:r>
              <a:rPr lang="en-US" sz="1000" b="1" dirty="0">
                <a:solidFill>
                  <a:srgbClr val="1B3B6F"/>
                </a:solidFill>
                <a:latin typeface="Calibri" pitchFamily="34" charset="0"/>
                <a:cs typeface="Amiri" pitchFamily="2" charset="-78"/>
              </a:rPr>
              <a:t>12</a:t>
            </a:r>
            <a:endParaRPr lang="en-US" sz="1000" dirty="0"/>
          </a:p>
        </p:txBody>
      </p:sp>
      <p:sp>
        <p:nvSpPr>
          <p:cNvPr id="53" name="Shape 50"/>
          <p:cNvSpPr/>
          <p:nvPr/>
        </p:nvSpPr>
        <p:spPr>
          <a:xfrm>
            <a:off x="3227832" y="4279392"/>
            <a:ext cx="731520" cy="256032"/>
          </a:xfrm>
          <a:prstGeom prst="roundRect">
            <a:avLst>
              <a:gd name="adj" fmla="val 50000"/>
            </a:avLst>
          </a:prstGeom>
          <a:solidFill>
            <a:srgbClr val="2E8B57"/>
          </a:solidFill>
          <a:ln w="12700">
            <a:solidFill>
              <a:srgbClr val="2E8B57"/>
            </a:solidFill>
            <a:prstDash val="solid"/>
          </a:ln>
        </p:spPr>
      </p:sp>
      <p:sp>
        <p:nvSpPr>
          <p:cNvPr id="54" name="Text 51"/>
          <p:cNvSpPr txBox="1"/>
          <p:nvPr/>
        </p:nvSpPr>
        <p:spPr>
          <a:xfrm>
            <a:off x="3227832" y="4279392"/>
            <a:ext cx="73152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55" name="Text 52"/>
          <p:cNvSpPr txBox="1"/>
          <p:nvPr/>
        </p:nvSpPr>
        <p:spPr>
          <a:xfrm>
            <a:off x="566928" y="4553712"/>
            <a:ext cx="3401568" cy="868680"/>
          </a:xfrm>
          <a:prstGeom prst="rect">
            <a:avLst/>
          </a:prstGeom>
          <a:noFill/>
          <a:ln/>
        </p:spPr>
        <p:txBody>
          <a:bodyPr wrap="square" lIns="0" tIns="0" rIns="0" bIns="0" rtlCol="0" anchor="ctr"/>
          <a:lstStyle/>
          <a:p>
            <a:pPr rtl="1" algn="r" indent="0" marL="0">
              <a:buNone/>
            </a:pPr>
            <a:r>
              <a:rPr lang="ar-SA" altLang="en-US" sz="3000" b="1" dirty="0">
                <a:solidFill>
                  <a:srgbClr val="1B3B6F"/>
                </a:solidFill>
                <a:latin typeface="Amiri" pitchFamily="2" charset="-78"/>
                <a:ea typeface="Amiri" pitchFamily="2" charset="-78"/>
                <a:cs typeface="Amiri" pitchFamily="2" charset="-78"/>
              </a:rPr>
              <a:t>فِي الوَقْتِ</a:t>
            </a:r>
            <a:endParaRPr lang="ar-SA" sz="3000" dirty="0"/>
          </a:p>
        </p:txBody>
      </p:sp>
      <p:sp>
        <p:nvSpPr>
          <p:cNvPr id="56" name="Text 53"/>
          <p:cNvSpPr txBox="1"/>
          <p:nvPr/>
        </p:nvSpPr>
        <p:spPr>
          <a:xfrm>
            <a:off x="594360" y="5468112"/>
            <a:ext cx="3364992" cy="512064"/>
          </a:xfrm>
          <a:prstGeom prst="rect">
            <a:avLst/>
          </a:prstGeom>
          <a:noFill/>
          <a:ln/>
        </p:spPr>
        <p:txBody>
          <a:bodyPr wrap="square" lIns="0" tIns="0" rIns="0" bIns="0" rtlCol="0" anchor="t"/>
          <a:lstStyle/>
          <a:p>
            <a:pPr indent="0" marL="0">
              <a:buNone/>
            </a:pPr>
            <a:r>
              <a:rPr lang="en-US" sz="1350" b="1" dirty="0">
                <a:solidFill>
                  <a:srgbClr val="1F2A37"/>
                </a:solidFill>
                <a:latin typeface="Calibri" pitchFamily="34" charset="0"/>
                <a:cs typeface="Amiri" pitchFamily="2" charset="-78"/>
              </a:rPr>
              <a:t>on time</a:t>
            </a:r>
            <a:endParaRPr lang="en-US" sz="1350" dirty="0"/>
          </a:p>
          <a:p>
            <a:pPr indent="0" marL="0">
              <a:buNone/>
            </a:pPr>
            <a:r>
              <a:rPr lang="en-US" sz="1100" i="1" dirty="0">
                <a:solidFill>
                  <a:srgbClr val="5A6472"/>
                </a:solidFill>
                <a:latin typeface="Calibri" pitchFamily="34" charset="0"/>
                <a:cs typeface="Amiri" pitchFamily="2" charset="-78"/>
              </a:rPr>
              <a:t>fī al-waq-ti</a:t>
            </a:r>
            <a:endParaRPr lang="en-US" sz="1350" dirty="0"/>
          </a:p>
        </p:txBody>
      </p:sp>
      <p:sp>
        <p:nvSpPr>
          <p:cNvPr id="57" name="Text 54"/>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7 / 22</a:t>
            </a:r>
            <a:endParaRPr lang="en-US" sz="8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5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STEP 2 · SAY THE MODEL DIALOGUE · READ IT, THEN SAY IT WITHOUT LOOKING</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What are the rules here?</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مَا القَوَاعِدُ هُنَا؟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7754112" y="1810512"/>
            <a:ext cx="39044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7" name="Text 14"/>
          <p:cNvSpPr txBox="1"/>
          <p:nvPr/>
        </p:nvSpPr>
        <p:spPr>
          <a:xfrm>
            <a:off x="1444752" y="1810512"/>
            <a:ext cx="61630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Say it in Arabic</a:t>
            </a:r>
            <a:endParaRPr lang="en-US" sz="1100" dirty="0"/>
          </a:p>
        </p:txBody>
      </p:sp>
      <p:sp>
        <p:nvSpPr>
          <p:cNvPr id="18" name="Text 15"/>
          <p:cNvSpPr txBox="1"/>
          <p:nvPr/>
        </p:nvSpPr>
        <p:spPr>
          <a:xfrm>
            <a:off x="5303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Who</a:t>
            </a:r>
            <a:endParaRPr lang="en-US" sz="1100" dirty="0"/>
          </a:p>
        </p:txBody>
      </p:sp>
      <p:sp>
        <p:nvSpPr>
          <p:cNvPr id="19" name="Shape 16"/>
          <p:cNvSpPr/>
          <p:nvPr/>
        </p:nvSpPr>
        <p:spPr>
          <a:xfrm>
            <a:off x="457200" y="2267712"/>
            <a:ext cx="11274552" cy="559308"/>
          </a:xfrm>
          <a:prstGeom prst="roundRect">
            <a:avLst>
              <a:gd name="adj" fmla="val 8174"/>
            </a:avLst>
          </a:prstGeom>
          <a:solidFill>
            <a:srgbClr val="FFFFFF"/>
          </a:solidFill>
          <a:ln w="9525">
            <a:solidFill>
              <a:srgbClr val="D8D0BF"/>
            </a:solidFill>
            <a:prstDash val="solid"/>
          </a:ln>
        </p:spPr>
      </p:sp>
      <p:sp>
        <p:nvSpPr>
          <p:cNvPr id="20" name="Text 17"/>
          <p:cNvSpPr txBox="1"/>
          <p:nvPr/>
        </p:nvSpPr>
        <p:spPr>
          <a:xfrm>
            <a:off x="7790688" y="226771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are the rules at your school?</a:t>
            </a:r>
            <a:endParaRPr lang="en-US" sz="1100" dirty="0"/>
          </a:p>
        </p:txBody>
      </p:sp>
      <p:sp>
        <p:nvSpPr>
          <p:cNvPr id="21" name="Text 18"/>
          <p:cNvSpPr txBox="1"/>
          <p:nvPr/>
        </p:nvSpPr>
        <p:spPr>
          <a:xfrm>
            <a:off x="1463040" y="226771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مَا القَوَاعِدُ فِي مَدْرَسَتِكُمْ؟</a:t>
            </a:r>
            <a:endParaRPr lang="ar-SA" sz="2000" dirty="0"/>
          </a:p>
        </p:txBody>
      </p:sp>
      <p:sp>
        <p:nvSpPr>
          <p:cNvPr id="22" name="Text 19"/>
          <p:cNvSpPr txBox="1"/>
          <p:nvPr/>
        </p:nvSpPr>
        <p:spPr>
          <a:xfrm>
            <a:off x="566928" y="226771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23" name="Shape 20"/>
          <p:cNvSpPr/>
          <p:nvPr/>
        </p:nvSpPr>
        <p:spPr>
          <a:xfrm>
            <a:off x="457200" y="2881884"/>
            <a:ext cx="11274552" cy="559308"/>
          </a:xfrm>
          <a:prstGeom prst="roundRect">
            <a:avLst>
              <a:gd name="adj" fmla="val 8174"/>
            </a:avLst>
          </a:prstGeom>
          <a:solidFill>
            <a:srgbClr val="F4F1EA"/>
          </a:solidFill>
          <a:ln w="9525">
            <a:solidFill>
              <a:srgbClr val="D8D0BF"/>
            </a:solidFill>
            <a:prstDash val="solid"/>
          </a:ln>
        </p:spPr>
      </p:sp>
      <p:sp>
        <p:nvSpPr>
          <p:cNvPr id="24" name="Text 21"/>
          <p:cNvSpPr txBox="1"/>
          <p:nvPr/>
        </p:nvSpPr>
        <p:spPr>
          <a:xfrm>
            <a:off x="7790688" y="2881884"/>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must wear school uniform every day.</a:t>
            </a:r>
            <a:endParaRPr lang="en-US" sz="1100" dirty="0"/>
          </a:p>
        </p:txBody>
      </p:sp>
      <p:sp>
        <p:nvSpPr>
          <p:cNvPr id="25" name="Text 22"/>
          <p:cNvSpPr txBox="1"/>
          <p:nvPr/>
        </p:nvSpPr>
        <p:spPr>
          <a:xfrm>
            <a:off x="1463040" y="2881884"/>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يَجِبُ أَنْ نَلْبَسَ اللِّبَاسَ المَدْرَسِيَّ كُلَّ يَوْمٍ.</a:t>
            </a:r>
            <a:endParaRPr lang="ar-SA" sz="2000" dirty="0"/>
          </a:p>
        </p:txBody>
      </p:sp>
      <p:sp>
        <p:nvSpPr>
          <p:cNvPr id="26" name="Text 23"/>
          <p:cNvSpPr txBox="1"/>
          <p:nvPr/>
        </p:nvSpPr>
        <p:spPr>
          <a:xfrm>
            <a:off x="566928" y="2881884"/>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27" name="Shape 24"/>
          <p:cNvSpPr/>
          <p:nvPr/>
        </p:nvSpPr>
        <p:spPr>
          <a:xfrm>
            <a:off x="457200" y="3496056"/>
            <a:ext cx="11274552" cy="559308"/>
          </a:xfrm>
          <a:prstGeom prst="roundRect">
            <a:avLst>
              <a:gd name="adj" fmla="val 8174"/>
            </a:avLst>
          </a:prstGeom>
          <a:solidFill>
            <a:srgbClr val="FFFFFF"/>
          </a:solidFill>
          <a:ln w="9525">
            <a:solidFill>
              <a:srgbClr val="D8D0BF"/>
            </a:solidFill>
            <a:prstDash val="solid"/>
          </a:ln>
        </p:spPr>
      </p:sp>
      <p:sp>
        <p:nvSpPr>
          <p:cNvPr id="28" name="Text 25"/>
          <p:cNvSpPr txBox="1"/>
          <p:nvPr/>
        </p:nvSpPr>
        <p:spPr>
          <a:xfrm>
            <a:off x="7790688" y="3496056"/>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we use the phone?</a:t>
            </a:r>
            <a:endParaRPr lang="en-US" sz="1100" dirty="0"/>
          </a:p>
        </p:txBody>
      </p:sp>
      <p:sp>
        <p:nvSpPr>
          <p:cNvPr id="29" name="Text 26"/>
          <p:cNvSpPr txBox="1"/>
          <p:nvPr/>
        </p:nvSpPr>
        <p:spPr>
          <a:xfrm>
            <a:off x="1463040" y="3496056"/>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هَلْ يُمْكِنُ أَنْ نَسْتَعْمِلَ الهَاتِفَ؟</a:t>
            </a:r>
            <a:endParaRPr lang="ar-SA" sz="2000" dirty="0"/>
          </a:p>
        </p:txBody>
      </p:sp>
      <p:sp>
        <p:nvSpPr>
          <p:cNvPr id="30" name="Text 27"/>
          <p:cNvSpPr txBox="1"/>
          <p:nvPr/>
        </p:nvSpPr>
        <p:spPr>
          <a:xfrm>
            <a:off x="566928" y="3496056"/>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1" name="Shape 28"/>
          <p:cNvSpPr/>
          <p:nvPr/>
        </p:nvSpPr>
        <p:spPr>
          <a:xfrm>
            <a:off x="457200" y="4110228"/>
            <a:ext cx="11274552" cy="559308"/>
          </a:xfrm>
          <a:prstGeom prst="roundRect">
            <a:avLst>
              <a:gd name="adj" fmla="val 8174"/>
            </a:avLst>
          </a:prstGeom>
          <a:solidFill>
            <a:srgbClr val="F4F1EA"/>
          </a:solidFill>
          <a:ln w="9525">
            <a:solidFill>
              <a:srgbClr val="D8D0BF"/>
            </a:solidFill>
            <a:prstDash val="solid"/>
          </a:ln>
        </p:spPr>
      </p:sp>
      <p:sp>
        <p:nvSpPr>
          <p:cNvPr id="32" name="Text 29"/>
          <p:cNvSpPr txBox="1"/>
          <p:nvPr/>
        </p:nvSpPr>
        <p:spPr>
          <a:xfrm>
            <a:off x="7790688" y="4110228"/>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No, we must not use the phone in class.</a:t>
            </a:r>
            <a:endParaRPr lang="en-US" sz="1100" dirty="0"/>
          </a:p>
        </p:txBody>
      </p:sp>
      <p:sp>
        <p:nvSpPr>
          <p:cNvPr id="33" name="Text 30"/>
          <p:cNvSpPr txBox="1"/>
          <p:nvPr/>
        </p:nvSpPr>
        <p:spPr>
          <a:xfrm>
            <a:off x="1463040" y="4110228"/>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لَا، لَا يَجُوزُ أَنْ نَسْتَعْمِلَ الهَاتِفَ فِي الصَّفِّ.</a:t>
            </a:r>
            <a:endParaRPr lang="ar-SA" sz="2000" dirty="0"/>
          </a:p>
        </p:txBody>
      </p:sp>
      <p:sp>
        <p:nvSpPr>
          <p:cNvPr id="34" name="Text 31"/>
          <p:cNvSpPr txBox="1"/>
          <p:nvPr/>
        </p:nvSpPr>
        <p:spPr>
          <a:xfrm>
            <a:off x="566928" y="4110228"/>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35" name="Shape 32"/>
          <p:cNvSpPr/>
          <p:nvPr/>
        </p:nvSpPr>
        <p:spPr>
          <a:xfrm>
            <a:off x="457200" y="4724400"/>
            <a:ext cx="11274552" cy="559308"/>
          </a:xfrm>
          <a:prstGeom prst="roundRect">
            <a:avLst>
              <a:gd name="adj" fmla="val 8174"/>
            </a:avLst>
          </a:prstGeom>
          <a:solidFill>
            <a:srgbClr val="FFFFFF"/>
          </a:solidFill>
          <a:ln w="9525">
            <a:solidFill>
              <a:srgbClr val="D8D0BF"/>
            </a:solidFill>
            <a:prstDash val="solid"/>
          </a:ln>
        </p:spPr>
      </p:sp>
      <p:sp>
        <p:nvSpPr>
          <p:cNvPr id="36" name="Text 33"/>
          <p:cNvSpPr txBox="1"/>
          <p:nvPr/>
        </p:nvSpPr>
        <p:spPr>
          <a:xfrm>
            <a:off x="7790688" y="4724400"/>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And what about homework?</a:t>
            </a:r>
            <a:endParaRPr lang="en-US" sz="1100" dirty="0"/>
          </a:p>
        </p:txBody>
      </p:sp>
      <p:sp>
        <p:nvSpPr>
          <p:cNvPr id="37" name="Text 34"/>
          <p:cNvSpPr txBox="1"/>
          <p:nvPr/>
        </p:nvSpPr>
        <p:spPr>
          <a:xfrm>
            <a:off x="1463040" y="4724400"/>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وَمَاذَا عَنِ الوَاجِبِ المَنْزِلِيِّ؟</a:t>
            </a:r>
            <a:endParaRPr lang="ar-SA" sz="2000" dirty="0"/>
          </a:p>
        </p:txBody>
      </p:sp>
      <p:sp>
        <p:nvSpPr>
          <p:cNvPr id="38" name="Text 35"/>
          <p:cNvSpPr txBox="1"/>
          <p:nvPr/>
        </p:nvSpPr>
        <p:spPr>
          <a:xfrm>
            <a:off x="566928" y="4724400"/>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a:t>
            </a:r>
            <a:endParaRPr lang="en-US" sz="1100" dirty="0"/>
          </a:p>
        </p:txBody>
      </p:sp>
      <p:sp>
        <p:nvSpPr>
          <p:cNvPr id="39" name="Shape 36"/>
          <p:cNvSpPr/>
          <p:nvPr/>
        </p:nvSpPr>
        <p:spPr>
          <a:xfrm>
            <a:off x="457200" y="5338572"/>
            <a:ext cx="11274552" cy="559308"/>
          </a:xfrm>
          <a:prstGeom prst="roundRect">
            <a:avLst>
              <a:gd name="adj" fmla="val 8174"/>
            </a:avLst>
          </a:prstGeom>
          <a:solidFill>
            <a:srgbClr val="F4F1EA"/>
          </a:solidFill>
          <a:ln w="9525">
            <a:solidFill>
              <a:srgbClr val="D8D0BF"/>
            </a:solidFill>
            <a:prstDash val="solid"/>
          </a:ln>
        </p:spPr>
      </p:sp>
      <p:sp>
        <p:nvSpPr>
          <p:cNvPr id="40" name="Text 37"/>
          <p:cNvSpPr txBox="1"/>
          <p:nvPr/>
        </p:nvSpPr>
        <p:spPr>
          <a:xfrm>
            <a:off x="7790688" y="5338572"/>
            <a:ext cx="3867912"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We must hand it in on time, and we must not be late.</a:t>
            </a:r>
            <a:endParaRPr lang="en-US" sz="1100" dirty="0"/>
          </a:p>
        </p:txBody>
      </p:sp>
      <p:sp>
        <p:nvSpPr>
          <p:cNvPr id="41" name="Text 38"/>
          <p:cNvSpPr txBox="1"/>
          <p:nvPr/>
        </p:nvSpPr>
        <p:spPr>
          <a:xfrm>
            <a:off x="1463040" y="5338572"/>
            <a:ext cx="6126480" cy="559308"/>
          </a:xfrm>
          <a:prstGeom prst="rect">
            <a:avLst/>
          </a:prstGeom>
          <a:noFill/>
          <a:ln/>
        </p:spPr>
        <p:txBody>
          <a:bodyPr wrap="square" lIns="0" tIns="0" rIns="0" bIns="0" rtlCol="0" anchor="ctr"/>
          <a:lstStyle/>
          <a:p>
            <a:pPr rtl="1" algn="ctr" indent="0" marL="0">
              <a:buNone/>
            </a:pPr>
            <a:r>
              <a:rPr lang="ar-SA" altLang="en-US" sz="2000" b="1" dirty="0">
                <a:solidFill>
                  <a:srgbClr val="1B3B6F"/>
                </a:solidFill>
                <a:latin typeface="Amiri" pitchFamily="2" charset="-78"/>
                <a:ea typeface="Amiri" pitchFamily="2" charset="-78"/>
                <a:cs typeface="Amiri" pitchFamily="2" charset="-78"/>
              </a:rPr>
              <a:t>يَجِبُ أَنْ نُسَلِّمَهُ فِي الوَقْتِ، وَلَا يَجُوزُ أَنْ نَتَأَخَّرَ.</a:t>
            </a:r>
            <a:endParaRPr lang="ar-SA" sz="2000" dirty="0"/>
          </a:p>
        </p:txBody>
      </p:sp>
      <p:sp>
        <p:nvSpPr>
          <p:cNvPr id="42" name="Text 39"/>
          <p:cNvSpPr txBox="1"/>
          <p:nvPr/>
        </p:nvSpPr>
        <p:spPr>
          <a:xfrm>
            <a:off x="566928" y="5338572"/>
            <a:ext cx="731520" cy="559308"/>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B</a:t>
            </a:r>
            <a:endParaRPr lang="en-US" sz="1100" dirty="0"/>
          </a:p>
        </p:txBody>
      </p:sp>
      <p:sp>
        <p:nvSpPr>
          <p:cNvPr id="43" name="Text 40"/>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Round 1: read it in pairs. Round 2: swap letters. Round 3: give YOUR school’s real rules — one “must”, one “must not”, one “may”.</a:t>
            </a:r>
            <a:endParaRPr lang="en-US" sz="115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8 / 22</a:t>
            </a:r>
            <a:endParaRPr lang="en-US" sz="8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3 · QUESTION CARDS · THE LEADER ASKS, THE SPEAKER ANSWERS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250" b="1" dirty="0">
                <a:solidFill>
                  <a:srgbClr val="1B3B6F"/>
                </a:solidFill>
                <a:latin typeface="Cambria" pitchFamily="34" charset="0"/>
                <a:cs typeface="Amiri" pitchFamily="2" charset="-78"/>
              </a:rPr>
              <a:t>Answer in a full sentence — then add more</a:t>
            </a:r>
            <a:endParaRPr lang="en-US" sz="22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أَسْئِلَةٌ وَأَجْوِبَةٌ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9720072" y="1810512"/>
            <a:ext cx="193852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Add more (Develop · Stretch)</a:t>
            </a:r>
            <a:endParaRPr lang="en-US" sz="1100" dirty="0"/>
          </a:p>
        </p:txBody>
      </p:sp>
      <p:sp>
        <p:nvSpPr>
          <p:cNvPr id="17" name="Text 14"/>
          <p:cNvSpPr txBox="1"/>
          <p:nvPr/>
        </p:nvSpPr>
        <p:spPr>
          <a:xfrm>
            <a:off x="6976872" y="1810512"/>
            <a:ext cx="25968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Start your answer (Core)</a:t>
            </a:r>
            <a:endParaRPr lang="en-US" sz="1100" dirty="0"/>
          </a:p>
        </p:txBody>
      </p:sp>
      <p:sp>
        <p:nvSpPr>
          <p:cNvPr id="18" name="Text 15"/>
          <p:cNvSpPr txBox="1"/>
          <p:nvPr/>
        </p:nvSpPr>
        <p:spPr>
          <a:xfrm>
            <a:off x="4599432" y="1810512"/>
            <a:ext cx="22311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Meaning</a:t>
            </a:r>
            <a:endParaRPr lang="en-US" sz="1100" dirty="0"/>
          </a:p>
        </p:txBody>
      </p:sp>
      <p:sp>
        <p:nvSpPr>
          <p:cNvPr id="19" name="Text 16"/>
          <p:cNvSpPr txBox="1"/>
          <p:nvPr/>
        </p:nvSpPr>
        <p:spPr>
          <a:xfrm>
            <a:off x="1033272" y="1810512"/>
            <a:ext cx="3419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asks</a:t>
            </a:r>
            <a:endParaRPr lang="en-US" sz="1100" dirty="0"/>
          </a:p>
        </p:txBody>
      </p:sp>
      <p:sp>
        <p:nvSpPr>
          <p:cNvPr id="20" name="Text 17"/>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1" name="Shape 18"/>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2" name="Text 19"/>
          <p:cNvSpPr txBox="1"/>
          <p:nvPr/>
        </p:nvSpPr>
        <p:spPr>
          <a:xfrm>
            <a:off x="9738360" y="2267712"/>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لَوْنُهُ …</a:t>
            </a:r>
            <a:endParaRPr lang="ar-SA" sz="1500" dirty="0"/>
          </a:p>
        </p:txBody>
      </p:sp>
      <p:sp>
        <p:nvSpPr>
          <p:cNvPr id="23" name="Text 20"/>
          <p:cNvSpPr txBox="1"/>
          <p:nvPr/>
        </p:nvSpPr>
        <p:spPr>
          <a:xfrm>
            <a:off x="6995160" y="2267712"/>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يَجِبُ أَنْ أَلْبَسَ …</a:t>
            </a:r>
            <a:endParaRPr lang="ar-SA" sz="1600" dirty="0"/>
          </a:p>
        </p:txBody>
      </p:sp>
      <p:sp>
        <p:nvSpPr>
          <p:cNvPr id="24" name="Text 21"/>
          <p:cNvSpPr txBox="1"/>
          <p:nvPr/>
        </p:nvSpPr>
        <p:spPr>
          <a:xfrm>
            <a:off x="4636008" y="2267712"/>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you wear at school?</a:t>
            </a:r>
            <a:endParaRPr lang="en-US" sz="1100" dirty="0"/>
          </a:p>
        </p:txBody>
      </p:sp>
      <p:sp>
        <p:nvSpPr>
          <p:cNvPr id="25" name="Text 22"/>
          <p:cNvSpPr txBox="1"/>
          <p:nvPr/>
        </p:nvSpPr>
        <p:spPr>
          <a:xfrm>
            <a:off x="1051560" y="2267712"/>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يَجِبُ أَنْ تَلْبَسَ فِي المَدْرَسَةِ؟</a:t>
            </a:r>
            <a:endParaRPr lang="ar-SA" sz="1700" dirty="0"/>
          </a:p>
        </p:txBody>
      </p:sp>
      <p:sp>
        <p:nvSpPr>
          <p:cNvPr id="26" name="Text 23"/>
          <p:cNvSpPr txBox="1"/>
          <p:nvPr/>
        </p:nvSpPr>
        <p:spPr>
          <a:xfrm>
            <a:off x="566928" y="2267712"/>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7" name="Shape 24"/>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8" name="Text 25"/>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9" name="Shape 26"/>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30" name="Text 27"/>
          <p:cNvSpPr txBox="1"/>
          <p:nvPr/>
        </p:nvSpPr>
        <p:spPr>
          <a:xfrm>
            <a:off x="9738360" y="300471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a:t>
            </a:r>
            <a:endParaRPr lang="ar-SA" sz="1500" dirty="0"/>
          </a:p>
        </p:txBody>
      </p:sp>
      <p:sp>
        <p:nvSpPr>
          <p:cNvPr id="31" name="Text 28"/>
          <p:cNvSpPr txBox="1"/>
          <p:nvPr/>
        </p:nvSpPr>
        <p:spPr>
          <a:xfrm>
            <a:off x="6995160" y="300471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يَجُوزُ أَنْ …</a:t>
            </a:r>
            <a:endParaRPr lang="ar-SA" sz="1600" dirty="0"/>
          </a:p>
        </p:txBody>
      </p:sp>
      <p:sp>
        <p:nvSpPr>
          <p:cNvPr id="32" name="Text 29"/>
          <p:cNvSpPr txBox="1"/>
          <p:nvPr/>
        </p:nvSpPr>
        <p:spPr>
          <a:xfrm>
            <a:off x="4636008" y="300471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must you not do in class?</a:t>
            </a:r>
            <a:endParaRPr lang="en-US" sz="1100" dirty="0"/>
          </a:p>
        </p:txBody>
      </p:sp>
      <p:sp>
        <p:nvSpPr>
          <p:cNvPr id="33" name="Text 30"/>
          <p:cNvSpPr txBox="1"/>
          <p:nvPr/>
        </p:nvSpPr>
        <p:spPr>
          <a:xfrm>
            <a:off x="1051560" y="300471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مَاذَا لَا يَجُوزُ أَنْ تَفْعَلَ فِي الصَّفِّ؟</a:t>
            </a:r>
            <a:endParaRPr lang="ar-SA" sz="1700" dirty="0"/>
          </a:p>
        </p:txBody>
      </p:sp>
      <p:sp>
        <p:nvSpPr>
          <p:cNvPr id="34" name="Text 31"/>
          <p:cNvSpPr txBox="1"/>
          <p:nvPr/>
        </p:nvSpPr>
        <p:spPr>
          <a:xfrm>
            <a:off x="566928" y="300471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5" name="Shape 32"/>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6" name="Text 33"/>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7" name="Shape 34"/>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8" name="Text 35"/>
          <p:cNvSpPr txBox="1"/>
          <p:nvPr/>
        </p:nvSpPr>
        <p:spPr>
          <a:xfrm>
            <a:off x="9738360" y="3741725"/>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لٰكِنْ يُمْكِنُ أَنْ نَأْكُلَ فِي …</a:t>
            </a:r>
            <a:endParaRPr lang="ar-SA" sz="1500" dirty="0"/>
          </a:p>
        </p:txBody>
      </p:sp>
      <p:sp>
        <p:nvSpPr>
          <p:cNvPr id="39" name="Text 36"/>
          <p:cNvSpPr txBox="1"/>
          <p:nvPr/>
        </p:nvSpPr>
        <p:spPr>
          <a:xfrm>
            <a:off x="6995160" y="3741725"/>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لَا، لَا يَجُوزُ … / نَعَمْ، يُمْكِنُ …</a:t>
            </a:r>
            <a:endParaRPr lang="ar-SA" sz="1600" dirty="0"/>
          </a:p>
        </p:txBody>
      </p:sp>
      <p:sp>
        <p:nvSpPr>
          <p:cNvPr id="40" name="Text 37"/>
          <p:cNvSpPr txBox="1"/>
          <p:nvPr/>
        </p:nvSpPr>
        <p:spPr>
          <a:xfrm>
            <a:off x="4636008" y="3741725"/>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Can you eat in class?</a:t>
            </a:r>
            <a:endParaRPr lang="en-US" sz="1100" dirty="0"/>
          </a:p>
        </p:txBody>
      </p:sp>
      <p:sp>
        <p:nvSpPr>
          <p:cNvPr id="41" name="Text 38"/>
          <p:cNvSpPr txBox="1"/>
          <p:nvPr/>
        </p:nvSpPr>
        <p:spPr>
          <a:xfrm>
            <a:off x="1051560" y="3741725"/>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تَأْكُلَ فِي الصَّفِّ؟</a:t>
            </a:r>
            <a:endParaRPr lang="ar-SA" sz="1700" dirty="0"/>
          </a:p>
        </p:txBody>
      </p:sp>
      <p:sp>
        <p:nvSpPr>
          <p:cNvPr id="42" name="Text 39"/>
          <p:cNvSpPr txBox="1"/>
          <p:nvPr/>
        </p:nvSpPr>
        <p:spPr>
          <a:xfrm>
            <a:off x="566928" y="3741725"/>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43" name="Shape 40"/>
          <p:cNvSpPr/>
          <p:nvPr/>
        </p:nvSpPr>
        <p:spPr>
          <a:xfrm>
            <a:off x="11091672" y="3787445"/>
            <a:ext cx="548640" cy="182880"/>
          </a:xfrm>
          <a:prstGeom prst="roundRect">
            <a:avLst>
              <a:gd name="adj" fmla="val 50000"/>
            </a:avLst>
          </a:prstGeom>
          <a:solidFill>
            <a:srgbClr val="2E8B57"/>
          </a:solidFill>
          <a:ln w="12700">
            <a:solidFill>
              <a:srgbClr val="2E8B57"/>
            </a:solidFill>
            <a:prstDash val="solid"/>
          </a:ln>
        </p:spPr>
      </p:sp>
      <p:sp>
        <p:nvSpPr>
          <p:cNvPr id="44" name="Text 41"/>
          <p:cNvSpPr txBox="1"/>
          <p:nvPr/>
        </p:nvSpPr>
        <p:spPr>
          <a:xfrm>
            <a:off x="11091672" y="3787445"/>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5" name="Shape 42"/>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6" name="Text 43"/>
          <p:cNvSpPr txBox="1"/>
          <p:nvPr/>
        </p:nvSpPr>
        <p:spPr>
          <a:xfrm>
            <a:off x="9738360" y="4478731"/>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لِأَنَّهُ …</a:t>
            </a:r>
            <a:endParaRPr lang="ar-SA" sz="1500" dirty="0"/>
          </a:p>
        </p:txBody>
      </p:sp>
      <p:sp>
        <p:nvSpPr>
          <p:cNvPr id="47" name="Text 44"/>
          <p:cNvSpPr txBox="1"/>
          <p:nvPr/>
        </p:nvSpPr>
        <p:spPr>
          <a:xfrm>
            <a:off x="6995160" y="4478731"/>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فِي رَأْيِي …</a:t>
            </a:r>
            <a:endParaRPr lang="ar-SA" sz="1600" dirty="0"/>
          </a:p>
        </p:txBody>
      </p:sp>
      <p:sp>
        <p:nvSpPr>
          <p:cNvPr id="48" name="Text 45"/>
          <p:cNvSpPr txBox="1"/>
          <p:nvPr/>
        </p:nvSpPr>
        <p:spPr>
          <a:xfrm>
            <a:off x="4636008" y="4478731"/>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do you think of school uniform?</a:t>
            </a:r>
            <a:endParaRPr lang="en-US" sz="1100" dirty="0"/>
          </a:p>
        </p:txBody>
      </p:sp>
      <p:sp>
        <p:nvSpPr>
          <p:cNvPr id="49" name="Text 46"/>
          <p:cNvSpPr txBox="1"/>
          <p:nvPr/>
        </p:nvSpPr>
        <p:spPr>
          <a:xfrm>
            <a:off x="1051560" y="4478731"/>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رَأْيُكَ فِي اللِّبَاسِ المَدْرَسِيِّ؟</a:t>
            </a:r>
            <a:endParaRPr lang="ar-SA" sz="1700" dirty="0"/>
          </a:p>
        </p:txBody>
      </p:sp>
      <p:sp>
        <p:nvSpPr>
          <p:cNvPr id="50" name="Text 47"/>
          <p:cNvSpPr txBox="1"/>
          <p:nvPr/>
        </p:nvSpPr>
        <p:spPr>
          <a:xfrm>
            <a:off x="566928" y="4478731"/>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51" name="Shape 48"/>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52" name="Text 49"/>
          <p:cNvSpPr txBox="1"/>
          <p:nvPr/>
        </p:nvSpPr>
        <p:spPr>
          <a:xfrm>
            <a:off x="9738360" y="5215738"/>
            <a:ext cx="1901952" cy="682142"/>
          </a:xfrm>
          <a:prstGeom prst="rect">
            <a:avLst/>
          </a:prstGeom>
          <a:noFill/>
          <a:ln/>
        </p:spPr>
        <p:txBody>
          <a:bodyPr wrap="square" lIns="0" tIns="0" rIns="0" bIns="0" rtlCol="0" anchor="ctr"/>
          <a:lstStyle/>
          <a:p>
            <a:pPr rtl="1" algn="ctr" indent="0" marL="0">
              <a:buNone/>
            </a:pPr>
            <a:r>
              <a:rPr lang="ar-SA" altLang="en-US" sz="1500" b="1" dirty="0">
                <a:solidFill>
                  <a:srgbClr val="1B3B6F"/>
                </a:solidFill>
                <a:latin typeface="Amiri" pitchFamily="2" charset="-78"/>
                <a:ea typeface="Amiri" pitchFamily="2" charset="-78"/>
                <a:cs typeface="Amiri" pitchFamily="2" charset="-78"/>
              </a:rPr>
              <a:t>… لِأَنَّ الاحْتِرَامَ …</a:t>
            </a:r>
            <a:endParaRPr lang="ar-SA" sz="1500" dirty="0"/>
          </a:p>
        </p:txBody>
      </p:sp>
      <p:sp>
        <p:nvSpPr>
          <p:cNvPr id="53" name="Text 50"/>
          <p:cNvSpPr txBox="1"/>
          <p:nvPr/>
        </p:nvSpPr>
        <p:spPr>
          <a:xfrm>
            <a:off x="6995160" y="5215738"/>
            <a:ext cx="2560320" cy="682142"/>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أَهَمُّ قَاعِدَةٍ: يَجِبُ أَنْ …</a:t>
            </a:r>
            <a:endParaRPr lang="ar-SA" sz="1600" dirty="0"/>
          </a:p>
        </p:txBody>
      </p:sp>
      <p:sp>
        <p:nvSpPr>
          <p:cNvPr id="54" name="Text 51"/>
          <p:cNvSpPr txBox="1"/>
          <p:nvPr/>
        </p:nvSpPr>
        <p:spPr>
          <a:xfrm>
            <a:off x="4636008" y="5215738"/>
            <a:ext cx="21945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What is the most important rule?</a:t>
            </a:r>
            <a:endParaRPr lang="en-US" sz="1100" dirty="0"/>
          </a:p>
        </p:txBody>
      </p:sp>
      <p:sp>
        <p:nvSpPr>
          <p:cNvPr id="55" name="Text 52"/>
          <p:cNvSpPr txBox="1"/>
          <p:nvPr/>
        </p:nvSpPr>
        <p:spPr>
          <a:xfrm>
            <a:off x="1051560" y="5215738"/>
            <a:ext cx="3383280" cy="682142"/>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مَا أَهَمُّ قَاعِدَةٍ فِي رَأْيِكَ؟</a:t>
            </a:r>
            <a:endParaRPr lang="ar-SA" sz="1700" dirty="0"/>
          </a:p>
        </p:txBody>
      </p:sp>
      <p:sp>
        <p:nvSpPr>
          <p:cNvPr id="56" name="Text 53"/>
          <p:cNvSpPr txBox="1"/>
          <p:nvPr/>
        </p:nvSpPr>
        <p:spPr>
          <a:xfrm>
            <a:off x="566928" y="5215738"/>
            <a:ext cx="32004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5</a:t>
            </a:r>
            <a:endParaRPr lang="en-US" sz="1100" dirty="0"/>
          </a:p>
        </p:txBody>
      </p:sp>
      <p:sp>
        <p:nvSpPr>
          <p:cNvPr id="57" name="Text 54"/>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00" b="1" dirty="0">
                <a:solidFill>
                  <a:srgbClr val="1B3B6F"/>
                </a:solidFill>
                <a:latin typeface="Calibri" pitchFamily="34" charset="0"/>
                <a:cs typeface="Amiri" pitchFamily="2" charset="-78"/>
              </a:rPr>
              <a:t>Each Speaker answers every question. Core: a full sentence from the starter. Develop: add the “more” part. Stretch: add a reason with </a:t>
            </a:r>
            <a:pPr algn="l" indent="0" marL="0">
              <a:buNone/>
            </a:pPr>
            <a:r>
              <a:rPr lang="ar-SA" altLang="en-US" sz="1450" b="1" dirty="0">
                <a:solidFill>
                  <a:srgbClr val="1B3B6F"/>
                </a:solidFill>
                <a:latin typeface="Amiri" pitchFamily="2" charset="-78"/>
                <a:ea typeface="Amiri" pitchFamily="2" charset="-78"/>
                <a:cs typeface="Amiri" pitchFamily="2" charset="-78"/>
              </a:rPr>
              <a:t>لِأَنَّ</a:t>
            </a:r>
            <a:pPr algn="l" indent="0" marL="0">
              <a:buNone/>
            </a:pPr>
            <a:r>
              <a:rPr lang="en-US" sz="1100" b="1" dirty="0">
                <a:solidFill>
                  <a:srgbClr val="1B3B6F"/>
                </a:solidFill>
                <a:latin typeface="Calibri" pitchFamily="34" charset="0"/>
                <a:cs typeface="Amiri" pitchFamily="2" charset="-78"/>
              </a:rPr>
              <a:t> or a second detail. Swap after each question.</a:t>
            </a:r>
            <a:endParaRPr lang="en-US" sz="1100" dirty="0"/>
          </a:p>
        </p:txBody>
      </p:sp>
      <p:sp>
        <p:nvSpPr>
          <p:cNvPr id="58" name="Text 5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9 / 22</a:t>
            </a:r>
            <a:endParaRPr lang="en-US" sz="8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7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1E6B52"/>
                </a:solidFill>
                <a:latin typeface="Calibri" pitchFamily="34" charset="0"/>
                <a:cs typeface="Amiri" pitchFamily="2" charset="-78"/>
              </a:rPr>
              <a:t>STEP 4 · ROLE-PLAY CARD · USE THE PLAN, THEN HIDE IT AND SPEAK</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1750" b="1" dirty="0">
                <a:solidFill>
                  <a:srgbClr val="1B3B6F"/>
                </a:solidFill>
                <a:latin typeface="Cambria" pitchFamily="34" charset="0"/>
                <a:cs typeface="Amiri" pitchFamily="2" charset="-78"/>
              </a:rPr>
              <a:t>Role-play card — explaining the rules to a new student</a:t>
            </a:r>
            <a:endParaRPr lang="en-US" sz="17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أَشْرَحُ القَوَاعِدَ</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257032" y="1810512"/>
            <a:ext cx="340156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Plan: first words</a:t>
            </a:r>
            <a:endParaRPr lang="en-US" sz="1100" dirty="0"/>
          </a:p>
        </p:txBody>
      </p:sp>
      <p:sp>
        <p:nvSpPr>
          <p:cNvPr id="17" name="Text 14"/>
          <p:cNvSpPr txBox="1"/>
          <p:nvPr/>
        </p:nvSpPr>
        <p:spPr>
          <a:xfrm>
            <a:off x="4965192" y="1810512"/>
            <a:ext cx="31455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Speaker’s task</a:t>
            </a:r>
            <a:endParaRPr lang="en-US" sz="1100" dirty="0"/>
          </a:p>
        </p:txBody>
      </p:sp>
      <p:sp>
        <p:nvSpPr>
          <p:cNvPr id="18" name="Text 15"/>
          <p:cNvSpPr txBox="1"/>
          <p:nvPr/>
        </p:nvSpPr>
        <p:spPr>
          <a:xfrm>
            <a:off x="1033272" y="1810512"/>
            <a:ext cx="3785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9" name="Text 16"/>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20" name="Shape 17"/>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1" name="Text 18"/>
          <p:cNvSpPr txBox="1"/>
          <p:nvPr/>
        </p:nvSpPr>
        <p:spPr>
          <a:xfrm>
            <a:off x="8275320" y="2267712"/>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نَعَمْ، يَجِبُ أَنْ تَلْبَسِي …</a:t>
            </a:r>
            <a:endParaRPr lang="ar-SA" sz="1600" dirty="0"/>
          </a:p>
        </p:txBody>
      </p:sp>
      <p:sp>
        <p:nvSpPr>
          <p:cNvPr id="22" name="Text 19"/>
          <p:cNvSpPr txBox="1"/>
          <p:nvPr/>
        </p:nvSpPr>
        <p:spPr>
          <a:xfrm>
            <a:off x="5001768" y="2267712"/>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yes + what it is.</a:t>
            </a:r>
            <a:endParaRPr lang="en-US" sz="1100" dirty="0"/>
          </a:p>
        </p:txBody>
      </p:sp>
      <p:sp>
        <p:nvSpPr>
          <p:cNvPr id="23" name="Text 20"/>
          <p:cNvSpPr txBox="1"/>
          <p:nvPr/>
        </p:nvSpPr>
        <p:spPr>
          <a:xfrm>
            <a:off x="1051560" y="2267712"/>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يَجِبُ أَنْ أَلْبَسَ اللِّبَاسَ المَدْرَسِيَّ؟</a:t>
            </a:r>
            <a:endParaRPr lang="ar-SA" sz="1700" dirty="0"/>
          </a:p>
        </p:txBody>
      </p:sp>
      <p:sp>
        <p:nvSpPr>
          <p:cNvPr id="24" name="Text 21"/>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8" name="Text 25"/>
          <p:cNvSpPr txBox="1"/>
          <p:nvPr/>
        </p:nvSpPr>
        <p:spPr>
          <a:xfrm>
            <a:off x="8275320" y="3054096"/>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 لَا، لَا يَجُوزُ … ، لٰكِنْ يُمْكِنُ فِي …</a:t>
            </a:r>
            <a:endParaRPr lang="ar-SA" sz="1600" dirty="0"/>
          </a:p>
        </p:txBody>
      </p:sp>
      <p:sp>
        <p:nvSpPr>
          <p:cNvPr id="29" name="Text 26"/>
          <p:cNvSpPr txBox="1"/>
          <p:nvPr/>
        </p:nvSpPr>
        <p:spPr>
          <a:xfrm>
            <a:off x="5001768" y="3054096"/>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Say no + when it is allowed.</a:t>
            </a:r>
            <a:endParaRPr lang="en-US" sz="1100" dirty="0"/>
          </a:p>
        </p:txBody>
      </p:sp>
      <p:sp>
        <p:nvSpPr>
          <p:cNvPr id="30" name="Text 27"/>
          <p:cNvSpPr txBox="1"/>
          <p:nvPr/>
        </p:nvSpPr>
        <p:spPr>
          <a:xfrm>
            <a:off x="1051560" y="3054096"/>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هَلْ يُمْكِنُ أَنْ أَسْتَعْمِلَ هَاتِفِي؟</a:t>
            </a:r>
            <a:endParaRPr lang="ar-SA" sz="1700" dirty="0"/>
          </a:p>
        </p:txBody>
      </p:sp>
      <p:sp>
        <p:nvSpPr>
          <p:cNvPr id="31" name="Text 28"/>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32" name="Shape 29"/>
          <p:cNvSpPr/>
          <p:nvPr/>
        </p:nvSpPr>
        <p:spPr>
          <a:xfrm>
            <a:off x="11091672" y="3099816"/>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99816"/>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5" name="Text 32"/>
          <p:cNvSpPr txBox="1"/>
          <p:nvPr/>
        </p:nvSpPr>
        <p:spPr>
          <a:xfrm>
            <a:off x="8275320" y="3840480"/>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 يَجِبُ أَنْ تَصِلِي قَبْلَ …</a:t>
            </a:r>
            <a:endParaRPr lang="ar-SA" sz="1600" dirty="0"/>
          </a:p>
        </p:txBody>
      </p:sp>
      <p:sp>
        <p:nvSpPr>
          <p:cNvPr id="36" name="Text 33"/>
          <p:cNvSpPr txBox="1"/>
          <p:nvPr/>
        </p:nvSpPr>
        <p:spPr>
          <a:xfrm>
            <a:off x="5001768" y="3840480"/>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the time.</a:t>
            </a:r>
            <a:endParaRPr lang="en-US" sz="1100" dirty="0"/>
          </a:p>
        </p:txBody>
      </p:sp>
      <p:sp>
        <p:nvSpPr>
          <p:cNvPr id="37" name="Text 34"/>
          <p:cNvSpPr txBox="1"/>
          <p:nvPr/>
        </p:nvSpPr>
        <p:spPr>
          <a:xfrm>
            <a:off x="1051560" y="3840480"/>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مَتَى يَجِبُ أَنْ أَصِلَ؟</a:t>
            </a:r>
            <a:endParaRPr lang="ar-SA" sz="1700" dirty="0"/>
          </a:p>
        </p:txBody>
      </p:sp>
      <p:sp>
        <p:nvSpPr>
          <p:cNvPr id="38" name="Text 35"/>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9" name="Shape 36"/>
          <p:cNvSpPr/>
          <p:nvPr/>
        </p:nvSpPr>
        <p:spPr>
          <a:xfrm>
            <a:off x="11091672" y="3886200"/>
            <a:ext cx="548640" cy="182880"/>
          </a:xfrm>
          <a:prstGeom prst="roundRect">
            <a:avLst>
              <a:gd name="adj" fmla="val 50000"/>
            </a:avLst>
          </a:prstGeom>
          <a:solidFill>
            <a:srgbClr val="2E8B57"/>
          </a:solidFill>
          <a:ln w="12700">
            <a:solidFill>
              <a:srgbClr val="2E8B57"/>
            </a:solidFill>
            <a:prstDash val="solid"/>
          </a:ln>
        </p:spPr>
      </p:sp>
      <p:sp>
        <p:nvSpPr>
          <p:cNvPr id="40" name="Text 37"/>
          <p:cNvSpPr txBox="1"/>
          <p:nvPr/>
        </p:nvSpPr>
        <p:spPr>
          <a:xfrm>
            <a:off x="11091672" y="3886200"/>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1" name="Shape 38"/>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42" name="Text 39"/>
          <p:cNvSpPr txBox="1"/>
          <p:nvPr/>
        </p:nvSpPr>
        <p:spPr>
          <a:xfrm>
            <a:off x="8275320" y="4626864"/>
            <a:ext cx="3364992"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إِذَا ← اذْهَبِي إِلَى …</a:t>
            </a:r>
            <a:endParaRPr lang="ar-SA" sz="1600" dirty="0"/>
          </a:p>
        </p:txBody>
      </p:sp>
      <p:sp>
        <p:nvSpPr>
          <p:cNvPr id="43" name="Text 40"/>
          <p:cNvSpPr txBox="1"/>
          <p:nvPr/>
        </p:nvSpPr>
        <p:spPr>
          <a:xfrm>
            <a:off x="5001768" y="4626864"/>
            <a:ext cx="310896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Give advice (an imperative).</a:t>
            </a:r>
            <a:endParaRPr lang="en-US" sz="1100" dirty="0"/>
          </a:p>
        </p:txBody>
      </p:sp>
      <p:sp>
        <p:nvSpPr>
          <p:cNvPr id="44" name="Text 41"/>
          <p:cNvSpPr txBox="1"/>
          <p:nvPr/>
        </p:nvSpPr>
        <p:spPr>
          <a:xfrm>
            <a:off x="1051560" y="4626864"/>
            <a:ext cx="3749040" cy="731520"/>
          </a:xfrm>
          <a:prstGeom prst="rect">
            <a:avLst/>
          </a:prstGeom>
          <a:noFill/>
          <a:ln/>
        </p:spPr>
        <p:txBody>
          <a:bodyPr wrap="square" lIns="0" tIns="0" rIns="0" bIns="0" rtlCol="0" anchor="ctr"/>
          <a:lstStyle/>
          <a:p>
            <a:pPr rtl="1" algn="ctr" indent="0" marL="0">
              <a:buNone/>
            </a:pPr>
            <a:r>
              <a:rPr lang="ar-SA" altLang="en-US" sz="1700" b="1" dirty="0">
                <a:solidFill>
                  <a:srgbClr val="1B3B6F"/>
                </a:solidFill>
                <a:latin typeface="Amiri" pitchFamily="2" charset="-78"/>
                <a:ea typeface="Amiri" pitchFamily="2" charset="-78"/>
                <a:cs typeface="Amiri" pitchFamily="2" charset="-78"/>
              </a:rPr>
              <a:t>وَمَاذَا أَفْعَلُ إِذَا تَأَخَّرْتُ؟</a:t>
            </a:r>
            <a:endParaRPr lang="ar-SA" sz="1700" dirty="0"/>
          </a:p>
        </p:txBody>
      </p:sp>
      <p:sp>
        <p:nvSpPr>
          <p:cNvPr id="45" name="Text 42"/>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46" name="Shape 43"/>
          <p:cNvSpPr/>
          <p:nvPr/>
        </p:nvSpPr>
        <p:spPr>
          <a:xfrm>
            <a:off x="11091672" y="4672584"/>
            <a:ext cx="548640" cy="182880"/>
          </a:xfrm>
          <a:prstGeom prst="roundRect">
            <a:avLst>
              <a:gd name="adj" fmla="val 50000"/>
            </a:avLst>
          </a:prstGeom>
          <a:solidFill>
            <a:srgbClr val="2E8B57"/>
          </a:solidFill>
          <a:ln w="12700">
            <a:solidFill>
              <a:srgbClr val="2E8B57"/>
            </a:solidFill>
            <a:prstDash val="solid"/>
          </a:ln>
        </p:spPr>
      </p:sp>
      <p:sp>
        <p:nvSpPr>
          <p:cNvPr id="47" name="Text 44"/>
          <p:cNvSpPr txBox="1"/>
          <p:nvPr/>
        </p:nvSpPr>
        <p:spPr>
          <a:xfrm>
            <a:off x="11091672" y="4672584"/>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48" name="Text 45"/>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Speaker = a school buddy · Leader = a new student (a girl). Read the plan for 1 minute, then hide it and speak. Then swap roles.</a:t>
            </a:r>
            <a:endParaRPr lang="en-US" sz="1150" dirty="0"/>
          </a:p>
        </p:txBody>
      </p:sp>
      <p:sp>
        <p:nvSpPr>
          <p:cNvPr id="49" name="Text 46"/>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10 / 22</a:t>
            </a:r>
            <a:endParaRPr lang="en-US" sz="8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5 · SHORT TALK · 30 SECONDS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100" b="1" dirty="0">
                <a:solidFill>
                  <a:srgbClr val="1B3B6F"/>
                </a:solidFill>
                <a:latin typeface="Cambria" pitchFamily="34" charset="0"/>
                <a:cs typeface="Amiri" pitchFamily="2" charset="-78"/>
              </a:rPr>
              <a:t>30 seconds: the rules of our online classroom</a:t>
            </a:r>
            <a:endParaRPr lang="en-US" sz="21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قَوَاعِدُ صَفِّنَا عَلَى الإِنْتَرْنِتِ</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5715000" cy="4498848"/>
          </a:xfrm>
          <a:prstGeom prst="roundRect">
            <a:avLst>
              <a:gd name="adj" fmla="val 1626"/>
            </a:avLst>
          </a:prstGeom>
          <a:solidFill>
            <a:srgbClr val="F4F1EA"/>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20240"/>
            <a:ext cx="3108960" cy="292608"/>
          </a:xfrm>
          <a:prstGeom prst="roundRect">
            <a:avLst>
              <a:gd name="adj" fmla="val 50000"/>
            </a:avLst>
          </a:prstGeom>
          <a:solidFill>
            <a:srgbClr val="8A6D1E"/>
          </a:solidFill>
          <a:ln w="12700">
            <a:solidFill>
              <a:srgbClr val="8A6D1E"/>
            </a:solidFill>
            <a:prstDash val="solid"/>
          </a:ln>
        </p:spPr>
      </p:sp>
      <p:sp>
        <p:nvSpPr>
          <p:cNvPr id="17" name="Text 14"/>
          <p:cNvSpPr txBox="1"/>
          <p:nvPr/>
        </p:nvSpPr>
        <p:spPr>
          <a:xfrm>
            <a:off x="640080" y="1920240"/>
            <a:ext cx="3108960" cy="292608"/>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STEP 5 · IN YOUR ROOM</a:t>
            </a:r>
            <a:endParaRPr lang="en-US" sz="900" dirty="0"/>
          </a:p>
        </p:txBody>
      </p:sp>
      <p:sp>
        <p:nvSpPr>
          <p:cNvPr id="18" name="Text 15"/>
          <p:cNvSpPr txBox="1"/>
          <p:nvPr/>
        </p:nvSpPr>
        <p:spPr>
          <a:xfrm>
            <a:off x="640080" y="2286000"/>
            <a:ext cx="5349240" cy="502920"/>
          </a:xfrm>
          <a:prstGeom prst="rect">
            <a:avLst/>
          </a:prstGeom>
          <a:noFill/>
          <a:ln/>
        </p:spPr>
        <p:txBody>
          <a:bodyPr wrap="square" lIns="0" tIns="0" rIns="0" bIns="0" rtlCol="0" anchor="ctr"/>
          <a:lstStyle/>
          <a:p>
            <a:pPr algn="l" indent="0" marL="0">
              <a:buNone/>
            </a:pPr>
            <a:r>
              <a:rPr lang="en-US" sz="2200" b="1" dirty="0">
                <a:solidFill>
                  <a:srgbClr val="1B3B6F"/>
                </a:solidFill>
                <a:latin typeface="Calibri" pitchFamily="34" charset="0"/>
                <a:cs typeface="Amiri" pitchFamily="2" charset="-78"/>
              </a:rPr>
              <a:t>⏱  Talk for 30 seconds — no stopping</a:t>
            </a:r>
            <a:endParaRPr lang="en-US" sz="2200" dirty="0"/>
          </a:p>
        </p:txBody>
      </p:sp>
      <p:sp>
        <p:nvSpPr>
          <p:cNvPr id="19" name="Text 16"/>
          <p:cNvSpPr txBox="1"/>
          <p:nvPr/>
        </p:nvSpPr>
        <p:spPr>
          <a:xfrm>
            <a:off x="640080" y="2816352"/>
            <a:ext cx="5349240" cy="1188720"/>
          </a:xfrm>
          <a:prstGeom prst="rect">
            <a:avLst/>
          </a:prstGeom>
          <a:noFill/>
          <a:ln/>
        </p:spPr>
        <p:txBody>
          <a:bodyPr wrap="square" lIns="0" tIns="0" rIns="0" bIns="0" rtlCol="0" anchor="t"/>
          <a:lstStyle/>
          <a:p>
            <a:pPr algn="l" indent="0" marL="0">
              <a:buNone/>
            </a:pPr>
            <a:r>
              <a:rPr lang="en-US" sz="1350" dirty="0">
                <a:solidFill>
                  <a:srgbClr val="1F2A37"/>
                </a:solidFill>
                <a:latin typeface="Calibri" pitchFamily="34" charset="0"/>
                <a:cs typeface="Amiri" pitchFamily="2" charset="-78"/>
              </a:rPr>
              <a:t>Give the rules of your Teams lesson in 30 seconds: what you must do, what you must not do, and what you may do — with one reason.</a:t>
            </a:r>
            <a:endParaRPr lang="en-US" sz="1350" dirty="0"/>
          </a:p>
        </p:txBody>
      </p:sp>
      <p:sp>
        <p:nvSpPr>
          <p:cNvPr id="20" name="Text 17"/>
          <p:cNvSpPr txBox="1"/>
          <p:nvPr/>
        </p:nvSpPr>
        <p:spPr>
          <a:xfrm>
            <a:off x="640080" y="4041648"/>
            <a:ext cx="530352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HOW WE RUN IT ONLINE</a:t>
            </a:r>
            <a:endParaRPr lang="en-US" sz="950" dirty="0"/>
          </a:p>
        </p:txBody>
      </p:sp>
      <p:sp>
        <p:nvSpPr>
          <p:cNvPr id="21" name="Shape 18"/>
          <p:cNvSpPr/>
          <p:nvPr/>
        </p:nvSpPr>
        <p:spPr>
          <a:xfrm>
            <a:off x="658368" y="4407408"/>
            <a:ext cx="274320" cy="274320"/>
          </a:xfrm>
          <a:prstGeom prst="ellipse">
            <a:avLst/>
          </a:prstGeom>
          <a:solidFill>
            <a:srgbClr val="1B3B6F"/>
          </a:solidFill>
          <a:ln w="12700">
            <a:solidFill>
              <a:srgbClr val="1B3B6F"/>
            </a:solidFill>
            <a:prstDash val="solid"/>
          </a:ln>
        </p:spPr>
      </p:sp>
      <p:sp>
        <p:nvSpPr>
          <p:cNvPr id="22" name="Text 19"/>
          <p:cNvSpPr txBox="1"/>
          <p:nvPr/>
        </p:nvSpPr>
        <p:spPr>
          <a:xfrm>
            <a:off x="658368" y="44074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1</a:t>
            </a:r>
            <a:endParaRPr lang="en-US" sz="1000" dirty="0"/>
          </a:p>
        </p:txBody>
      </p:sp>
      <p:sp>
        <p:nvSpPr>
          <p:cNvPr id="23" name="Text 20"/>
          <p:cNvSpPr txBox="1"/>
          <p:nvPr/>
        </p:nvSpPr>
        <p:spPr>
          <a:xfrm>
            <a:off x="1024128" y="43342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Think for 30 seconds: 3–4 key words, no sentences.</a:t>
            </a:r>
            <a:endParaRPr lang="en-US" sz="1150" dirty="0"/>
          </a:p>
        </p:txBody>
      </p:sp>
      <p:sp>
        <p:nvSpPr>
          <p:cNvPr id="24" name="Shape 21"/>
          <p:cNvSpPr/>
          <p:nvPr/>
        </p:nvSpPr>
        <p:spPr>
          <a:xfrm>
            <a:off x="658368" y="4864608"/>
            <a:ext cx="274320" cy="274320"/>
          </a:xfrm>
          <a:prstGeom prst="ellipse">
            <a:avLst/>
          </a:prstGeom>
          <a:solidFill>
            <a:srgbClr val="1B3B6F"/>
          </a:solidFill>
          <a:ln w="12700">
            <a:solidFill>
              <a:srgbClr val="1B3B6F"/>
            </a:solidFill>
            <a:prstDash val="solid"/>
          </a:ln>
        </p:spPr>
      </p:sp>
      <p:sp>
        <p:nvSpPr>
          <p:cNvPr id="25" name="Text 22"/>
          <p:cNvSpPr txBox="1"/>
          <p:nvPr/>
        </p:nvSpPr>
        <p:spPr>
          <a:xfrm>
            <a:off x="658368" y="48646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2</a:t>
            </a:r>
            <a:endParaRPr lang="en-US" sz="1000" dirty="0"/>
          </a:p>
        </p:txBody>
      </p:sp>
      <p:sp>
        <p:nvSpPr>
          <p:cNvPr id="26" name="Text 23"/>
          <p:cNvSpPr txBox="1"/>
          <p:nvPr/>
        </p:nvSpPr>
        <p:spPr>
          <a:xfrm>
            <a:off x="1024128" y="47914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Speaker talks; the Leader times it.</a:t>
            </a:r>
            <a:endParaRPr lang="en-US" sz="1150" dirty="0"/>
          </a:p>
        </p:txBody>
      </p:sp>
      <p:sp>
        <p:nvSpPr>
          <p:cNvPr id="27" name="Shape 24"/>
          <p:cNvSpPr/>
          <p:nvPr/>
        </p:nvSpPr>
        <p:spPr>
          <a:xfrm>
            <a:off x="658368" y="5321808"/>
            <a:ext cx="274320" cy="274320"/>
          </a:xfrm>
          <a:prstGeom prst="ellipse">
            <a:avLst/>
          </a:prstGeom>
          <a:solidFill>
            <a:srgbClr val="1B3B6F"/>
          </a:solidFill>
          <a:ln w="12700">
            <a:solidFill>
              <a:srgbClr val="1B3B6F"/>
            </a:solidFill>
            <a:prstDash val="solid"/>
          </a:ln>
        </p:spPr>
      </p:sp>
      <p:sp>
        <p:nvSpPr>
          <p:cNvPr id="28" name="Text 25"/>
          <p:cNvSpPr txBox="1"/>
          <p:nvPr/>
        </p:nvSpPr>
        <p:spPr>
          <a:xfrm>
            <a:off x="658368" y="53218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3</a:t>
            </a:r>
            <a:endParaRPr lang="en-US" sz="1000" dirty="0"/>
          </a:p>
        </p:txBody>
      </p:sp>
      <p:sp>
        <p:nvSpPr>
          <p:cNvPr id="29" name="Text 26"/>
          <p:cNvSpPr txBox="1"/>
          <p:nvPr/>
        </p:nvSpPr>
        <p:spPr>
          <a:xfrm>
            <a:off x="1024128" y="52486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Coach: one thing that went well + one thing to improve.</a:t>
            </a:r>
            <a:endParaRPr lang="en-US" sz="1150" dirty="0"/>
          </a:p>
        </p:txBody>
      </p:sp>
      <p:sp>
        <p:nvSpPr>
          <p:cNvPr id="30" name="Shape 27"/>
          <p:cNvSpPr/>
          <p:nvPr/>
        </p:nvSpPr>
        <p:spPr>
          <a:xfrm>
            <a:off x="658368" y="5779008"/>
            <a:ext cx="274320" cy="274320"/>
          </a:xfrm>
          <a:prstGeom prst="ellipse">
            <a:avLst/>
          </a:prstGeom>
          <a:solidFill>
            <a:srgbClr val="1B3B6F"/>
          </a:solidFill>
          <a:ln w="12700">
            <a:solidFill>
              <a:srgbClr val="1B3B6F"/>
            </a:solidFill>
            <a:prstDash val="solid"/>
          </a:ln>
        </p:spPr>
      </p:sp>
      <p:sp>
        <p:nvSpPr>
          <p:cNvPr id="31" name="Text 28"/>
          <p:cNvSpPr txBox="1"/>
          <p:nvPr/>
        </p:nvSpPr>
        <p:spPr>
          <a:xfrm>
            <a:off x="658368" y="5779008"/>
            <a:ext cx="274320" cy="274320"/>
          </a:xfrm>
          <a:prstGeom prst="rect">
            <a:avLst/>
          </a:prstGeom>
          <a:noFill/>
          <a:ln/>
        </p:spPr>
        <p:txBody>
          <a:bodyPr wrap="square" lIns="0" tIns="0" rIns="0" bIns="0" rtlCol="0" anchor="ctr"/>
          <a:lstStyle/>
          <a:p>
            <a:pPr algn="ctr" indent="0" marL="0">
              <a:buNone/>
            </a:pPr>
            <a:r>
              <a:rPr lang="en-US" sz="1000" b="1" dirty="0">
                <a:solidFill>
                  <a:srgbClr val="FFFFFF"/>
                </a:solidFill>
                <a:latin typeface="Calibri" pitchFamily="34" charset="0"/>
                <a:cs typeface="Amiri" pitchFamily="2" charset="-78"/>
              </a:rPr>
              <a:t>4</a:t>
            </a:r>
            <a:endParaRPr lang="en-US" sz="1000" dirty="0"/>
          </a:p>
        </p:txBody>
      </p:sp>
      <p:sp>
        <p:nvSpPr>
          <p:cNvPr id="32" name="Text 29"/>
          <p:cNvSpPr txBox="1"/>
          <p:nvPr/>
        </p:nvSpPr>
        <p:spPr>
          <a:xfrm>
            <a:off x="1024128" y="5705856"/>
            <a:ext cx="4983480" cy="457200"/>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Swap until everyone has spoken.</a:t>
            </a:r>
            <a:endParaRPr lang="en-US" sz="1150" dirty="0"/>
          </a:p>
        </p:txBody>
      </p:sp>
      <p:sp>
        <p:nvSpPr>
          <p:cNvPr id="33" name="Shape 30"/>
          <p:cNvSpPr/>
          <p:nvPr/>
        </p:nvSpPr>
        <p:spPr>
          <a:xfrm>
            <a:off x="6355080" y="1810512"/>
            <a:ext cx="5376672" cy="896112"/>
          </a:xfrm>
          <a:prstGeom prst="roundRect">
            <a:avLst>
              <a:gd name="adj" fmla="val 8163"/>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34" name="Shape 31"/>
          <p:cNvSpPr/>
          <p:nvPr/>
        </p:nvSpPr>
        <p:spPr>
          <a:xfrm>
            <a:off x="6473952" y="1901952"/>
            <a:ext cx="1051560" cy="256032"/>
          </a:xfrm>
          <a:prstGeom prst="roundRect">
            <a:avLst>
              <a:gd name="adj" fmla="val 50000"/>
            </a:avLst>
          </a:prstGeom>
          <a:solidFill>
            <a:srgbClr val="2E8B57"/>
          </a:solidFill>
          <a:ln w="12700">
            <a:solidFill>
              <a:srgbClr val="2E8B57"/>
            </a:solidFill>
            <a:prstDash val="solid"/>
          </a:ln>
        </p:spPr>
      </p:sp>
      <p:sp>
        <p:nvSpPr>
          <p:cNvPr id="35" name="Text 32"/>
          <p:cNvSpPr txBox="1"/>
          <p:nvPr/>
        </p:nvSpPr>
        <p:spPr>
          <a:xfrm>
            <a:off x="6473952" y="190195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36" name="Text 33"/>
          <p:cNvSpPr txBox="1"/>
          <p:nvPr/>
        </p:nvSpPr>
        <p:spPr>
          <a:xfrm>
            <a:off x="6473952" y="217627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Two </a:t>
            </a:r>
            <a:pPr algn="l" indent="0" marL="0">
              <a:buNone/>
            </a:pPr>
            <a:r>
              <a:rPr lang="ar-SA" altLang="en-US" sz="1500" dirty="0">
                <a:solidFill>
                  <a:srgbClr val="1F2A37"/>
                </a:solidFill>
                <a:latin typeface="Amiri" pitchFamily="2" charset="-78"/>
                <a:ea typeface="Amiri" pitchFamily="2" charset="-78"/>
                <a:cs typeface="Amiri" pitchFamily="2" charset="-78"/>
              </a:rPr>
              <a:t>يَجِبُ أَنْ</a:t>
            </a:r>
            <a:pPr algn="l" indent="0" marL="0">
              <a:buNone/>
            </a:pPr>
            <a:r>
              <a:rPr lang="en-US" sz="1150" dirty="0">
                <a:solidFill>
                  <a:srgbClr val="1F2A37"/>
                </a:solidFill>
                <a:latin typeface="Calibri" pitchFamily="34" charset="0"/>
                <a:cs typeface="Amiri" pitchFamily="2" charset="-78"/>
              </a:rPr>
              <a:t> … and one </a:t>
            </a:r>
            <a:pPr algn="l" indent="0" marL="0">
              <a:buNone/>
            </a:pPr>
            <a:r>
              <a:rPr lang="ar-SA" altLang="en-US" sz="1500" dirty="0">
                <a:solidFill>
                  <a:srgbClr val="1F2A37"/>
                </a:solidFill>
                <a:latin typeface="Amiri" pitchFamily="2" charset="-78"/>
                <a:ea typeface="Amiri" pitchFamily="2" charset="-78"/>
                <a:cs typeface="Amiri" pitchFamily="2" charset="-78"/>
              </a:rPr>
              <a:t>لَا يَجُوزُ أَنْ</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37" name="Shape 34"/>
          <p:cNvSpPr/>
          <p:nvPr/>
        </p:nvSpPr>
        <p:spPr>
          <a:xfrm>
            <a:off x="6355080" y="2816352"/>
            <a:ext cx="5376672" cy="896112"/>
          </a:xfrm>
          <a:prstGeom prst="roundRect">
            <a:avLst>
              <a:gd name="adj" fmla="val 8163"/>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38" name="Shape 35"/>
          <p:cNvSpPr/>
          <p:nvPr/>
        </p:nvSpPr>
        <p:spPr>
          <a:xfrm>
            <a:off x="6473952" y="2907792"/>
            <a:ext cx="1051560" cy="256032"/>
          </a:xfrm>
          <a:prstGeom prst="roundRect">
            <a:avLst>
              <a:gd name="adj" fmla="val 50000"/>
            </a:avLst>
          </a:prstGeom>
          <a:solidFill>
            <a:srgbClr val="C9780A"/>
          </a:solidFill>
          <a:ln w="12700">
            <a:solidFill>
              <a:srgbClr val="C9780A"/>
            </a:solidFill>
            <a:prstDash val="solid"/>
          </a:ln>
        </p:spPr>
      </p:sp>
      <p:sp>
        <p:nvSpPr>
          <p:cNvPr id="39" name="Text 36"/>
          <p:cNvSpPr txBox="1"/>
          <p:nvPr/>
        </p:nvSpPr>
        <p:spPr>
          <a:xfrm>
            <a:off x="6473952" y="290779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40" name="Text 37"/>
          <p:cNvSpPr txBox="1"/>
          <p:nvPr/>
        </p:nvSpPr>
        <p:spPr>
          <a:xfrm>
            <a:off x="6473952" y="318211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Add </a:t>
            </a:r>
            <a:pPr algn="l" indent="0" marL="0">
              <a:buNone/>
            </a:pPr>
            <a:r>
              <a:rPr lang="ar-SA" altLang="en-US" sz="1500" dirty="0">
                <a:solidFill>
                  <a:srgbClr val="1F2A37"/>
                </a:solidFill>
                <a:latin typeface="Amiri" pitchFamily="2" charset="-78"/>
                <a:ea typeface="Amiri" pitchFamily="2" charset="-78"/>
                <a:cs typeface="Amiri" pitchFamily="2" charset="-78"/>
              </a:rPr>
              <a:t>يُمْكِنُ أَنْ</a:t>
            </a:r>
            <a:pPr algn="l" indent="0" marL="0">
              <a:buNone/>
            </a:pPr>
            <a:r>
              <a:rPr lang="en-US" sz="1150" dirty="0">
                <a:solidFill>
                  <a:srgbClr val="1F2A37"/>
                </a:solidFill>
                <a:latin typeface="Calibri" pitchFamily="34" charset="0"/>
                <a:cs typeface="Amiri" pitchFamily="2" charset="-78"/>
              </a:rPr>
              <a:t> … and a reason with </a:t>
            </a:r>
            <a:pPr algn="l" indent="0" marL="0">
              <a:buNone/>
            </a:pPr>
            <a:r>
              <a:rPr lang="ar-SA" altLang="en-US" sz="1500" dirty="0">
                <a:solidFill>
                  <a:srgbClr val="1F2A37"/>
                </a:solidFill>
                <a:latin typeface="Amiri" pitchFamily="2" charset="-78"/>
                <a:ea typeface="Amiri" pitchFamily="2" charset="-78"/>
                <a:cs typeface="Amiri" pitchFamily="2" charset="-78"/>
              </a:rPr>
              <a:t>لِأَنَّ</a:t>
            </a:r>
            <a:pPr algn="l" indent="0" marL="0">
              <a:buNone/>
            </a:pPr>
            <a:r>
              <a:rPr lang="en-US" sz="1150" dirty="0">
                <a:solidFill>
                  <a:srgbClr val="1F2A37"/>
                </a:solidFill>
                <a:latin typeface="Calibri" pitchFamily="34" charset="0"/>
                <a:cs typeface="Amiri" pitchFamily="2" charset="-78"/>
              </a:rPr>
              <a:t>.</a:t>
            </a:r>
            <a:endParaRPr lang="en-US" sz="1150" dirty="0"/>
          </a:p>
        </p:txBody>
      </p:sp>
      <p:sp>
        <p:nvSpPr>
          <p:cNvPr id="41" name="Shape 38"/>
          <p:cNvSpPr/>
          <p:nvPr/>
        </p:nvSpPr>
        <p:spPr>
          <a:xfrm>
            <a:off x="6355080" y="3822192"/>
            <a:ext cx="5376672" cy="896112"/>
          </a:xfrm>
          <a:prstGeom prst="roundRect">
            <a:avLst>
              <a:gd name="adj" fmla="val 8163"/>
            </a:avLst>
          </a:prstGeom>
          <a:solidFill>
            <a:srgbClr val="FBEAEA"/>
          </a:solidFill>
          <a:ln w="9525">
            <a:solidFill>
              <a:srgbClr val="B83227"/>
            </a:solidFill>
            <a:prstDash val="solid"/>
          </a:ln>
          <a:effectLst>
            <a:outerShdw sx="100000" sy="100000" kx="0" ky="0" algn="bl" rotWithShape="0" blurRad="50800" dist="19050" dir="5400000">
              <a:srgbClr val="000000">
                <a:alpha val="10000"/>
              </a:srgbClr>
            </a:outerShdw>
          </a:effectLst>
        </p:spPr>
      </p:sp>
      <p:sp>
        <p:nvSpPr>
          <p:cNvPr id="42" name="Shape 39"/>
          <p:cNvSpPr/>
          <p:nvPr/>
        </p:nvSpPr>
        <p:spPr>
          <a:xfrm>
            <a:off x="6473952" y="3913632"/>
            <a:ext cx="1051560" cy="256032"/>
          </a:xfrm>
          <a:prstGeom prst="roundRect">
            <a:avLst>
              <a:gd name="adj" fmla="val 50000"/>
            </a:avLst>
          </a:prstGeom>
          <a:solidFill>
            <a:srgbClr val="B83227"/>
          </a:solidFill>
          <a:ln w="12700">
            <a:solidFill>
              <a:srgbClr val="B83227"/>
            </a:solidFill>
            <a:prstDash val="solid"/>
          </a:ln>
        </p:spPr>
      </p:sp>
      <p:sp>
        <p:nvSpPr>
          <p:cNvPr id="43" name="Text 40"/>
          <p:cNvSpPr txBox="1"/>
          <p:nvPr/>
        </p:nvSpPr>
        <p:spPr>
          <a:xfrm>
            <a:off x="6473952" y="3913632"/>
            <a:ext cx="1051560" cy="256032"/>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STRETCH</a:t>
            </a:r>
            <a:endParaRPr lang="en-US" sz="850" dirty="0"/>
          </a:p>
        </p:txBody>
      </p:sp>
      <p:sp>
        <p:nvSpPr>
          <p:cNvPr id="44" name="Text 41"/>
          <p:cNvSpPr txBox="1"/>
          <p:nvPr/>
        </p:nvSpPr>
        <p:spPr>
          <a:xfrm>
            <a:off x="6473952" y="4187952"/>
            <a:ext cx="5120640" cy="475488"/>
          </a:xfrm>
          <a:prstGeom prst="rect">
            <a:avLst/>
          </a:prstGeom>
          <a:noFill/>
          <a:ln/>
        </p:spPr>
        <p:txBody>
          <a:bodyPr wrap="square" lIns="0" tIns="0" rIns="0" bIns="0" rtlCol="0" anchor="ctr"/>
          <a:lstStyle/>
          <a:p>
            <a:pPr algn="l" indent="0" marL="0">
              <a:buNone/>
            </a:pPr>
            <a:r>
              <a:rPr lang="en-US" sz="1150" dirty="0">
                <a:solidFill>
                  <a:srgbClr val="1F2A37"/>
                </a:solidFill>
                <a:latin typeface="Calibri" pitchFamily="34" charset="0"/>
                <a:cs typeface="Amiri" pitchFamily="2" charset="-78"/>
              </a:rPr>
              <a:t>Give the rules as instructions to the group: </a:t>
            </a:r>
            <a:pPr algn="l" indent="0" marL="0">
              <a:buNone/>
            </a:pPr>
            <a:r>
              <a:rPr lang="ar-SA" altLang="en-US" sz="1500" dirty="0">
                <a:solidFill>
                  <a:srgbClr val="1F2A37"/>
                </a:solidFill>
                <a:latin typeface="Amiri" pitchFamily="2" charset="-78"/>
                <a:ea typeface="Amiri" pitchFamily="2" charset="-78"/>
                <a:cs typeface="Amiri" pitchFamily="2" charset="-78"/>
              </a:rPr>
              <a:t>افْتَحُوا</a:t>
            </a:r>
            <a:pPr algn="l" indent="0" marL="0">
              <a:buNone/>
            </a:pPr>
            <a:r>
              <a:rPr lang="en-US" sz="1150" dirty="0">
                <a:solidFill>
                  <a:srgbClr val="1F2A37"/>
                </a:solidFill>
                <a:latin typeface="Calibri" pitchFamily="34" charset="0"/>
                <a:cs typeface="Amiri" pitchFamily="2" charset="-78"/>
              </a:rPr>
              <a:t> … · </a:t>
            </a:r>
            <a:pPr algn="l" indent="0" marL="0">
              <a:buNone/>
            </a:pPr>
            <a:r>
              <a:rPr lang="ar-SA" altLang="en-US" sz="1500" dirty="0">
                <a:solidFill>
                  <a:srgbClr val="1F2A37"/>
                </a:solidFill>
                <a:latin typeface="Amiri" pitchFamily="2" charset="-78"/>
                <a:ea typeface="Amiri" pitchFamily="2" charset="-78"/>
                <a:cs typeface="Amiri" pitchFamily="2" charset="-78"/>
              </a:rPr>
              <a:t>لَا تَتَكَلَّمُوا</a:t>
            </a:r>
            <a:pPr algn="l" indent="0" marL="0">
              <a:buNone/>
            </a:pPr>
            <a:r>
              <a:rPr lang="en-US" sz="1150" dirty="0">
                <a:solidFill>
                  <a:srgbClr val="1F2A37"/>
                </a:solidFill>
                <a:latin typeface="Calibri" pitchFamily="34" charset="0"/>
                <a:cs typeface="Amiri" pitchFamily="2" charset="-78"/>
              </a:rPr>
              <a:t> …</a:t>
            </a:r>
            <a:endParaRPr lang="en-US" sz="1150" dirty="0"/>
          </a:p>
        </p:txBody>
      </p:sp>
      <p:sp>
        <p:nvSpPr>
          <p:cNvPr id="45" name="Shape 42"/>
          <p:cNvSpPr/>
          <p:nvPr/>
        </p:nvSpPr>
        <p:spPr>
          <a:xfrm>
            <a:off x="6355080" y="4828032"/>
            <a:ext cx="5376672" cy="1481328"/>
          </a:xfrm>
          <a:prstGeom prst="roundRect">
            <a:avLst>
              <a:gd name="adj" fmla="val 4938"/>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6" name="Text 43"/>
          <p:cNvSpPr txBox="1"/>
          <p:nvPr/>
        </p:nvSpPr>
        <p:spPr>
          <a:xfrm>
            <a:off x="6492240" y="4882896"/>
            <a:ext cx="27432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USEFUL LANGUAGE</a:t>
            </a:r>
            <a:endParaRPr lang="en-US" sz="950" dirty="0"/>
          </a:p>
        </p:txBody>
      </p:sp>
      <p:sp>
        <p:nvSpPr>
          <p:cNvPr id="47" name="Text 44"/>
          <p:cNvSpPr txBox="1"/>
          <p:nvPr/>
        </p:nvSpPr>
        <p:spPr>
          <a:xfrm>
            <a:off x="8732520" y="5138928"/>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أَنَا … وَ…</a:t>
            </a:r>
            <a:endParaRPr lang="ar-SA" sz="1300" dirty="0"/>
          </a:p>
        </p:txBody>
      </p:sp>
      <p:sp>
        <p:nvSpPr>
          <p:cNvPr id="48" name="Text 45"/>
          <p:cNvSpPr txBox="1"/>
          <p:nvPr/>
        </p:nvSpPr>
        <p:spPr>
          <a:xfrm>
            <a:off x="6492240" y="5138928"/>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am … and …</a:t>
            </a:r>
            <a:endParaRPr lang="en-US" sz="1000" dirty="0"/>
          </a:p>
        </p:txBody>
      </p:sp>
      <p:sp>
        <p:nvSpPr>
          <p:cNvPr id="49" name="Text 46"/>
          <p:cNvSpPr txBox="1"/>
          <p:nvPr/>
        </p:nvSpPr>
        <p:spPr>
          <a:xfrm>
            <a:off x="8732520" y="5422392"/>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عِنْدِي …</a:t>
            </a:r>
            <a:endParaRPr lang="ar-SA" sz="1300" dirty="0"/>
          </a:p>
        </p:txBody>
      </p:sp>
      <p:sp>
        <p:nvSpPr>
          <p:cNvPr id="50" name="Text 47"/>
          <p:cNvSpPr txBox="1"/>
          <p:nvPr/>
        </p:nvSpPr>
        <p:spPr>
          <a:xfrm>
            <a:off x="6492240" y="5422392"/>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have …</a:t>
            </a:r>
            <a:endParaRPr lang="en-US" sz="1000" dirty="0"/>
          </a:p>
        </p:txBody>
      </p:sp>
      <p:sp>
        <p:nvSpPr>
          <p:cNvPr id="51" name="Text 48"/>
          <p:cNvSpPr txBox="1"/>
          <p:nvPr/>
        </p:nvSpPr>
        <p:spPr>
          <a:xfrm>
            <a:off x="8732520" y="5705856"/>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أُحِبُّ … لِأَنَّ …</a:t>
            </a:r>
            <a:endParaRPr lang="ar-SA" sz="1300" dirty="0"/>
          </a:p>
        </p:txBody>
      </p:sp>
      <p:sp>
        <p:nvSpPr>
          <p:cNvPr id="52" name="Text 49"/>
          <p:cNvSpPr txBox="1"/>
          <p:nvPr/>
        </p:nvSpPr>
        <p:spPr>
          <a:xfrm>
            <a:off x="6492240" y="5705856"/>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I like … because …</a:t>
            </a:r>
            <a:endParaRPr lang="en-US" sz="1000" dirty="0"/>
          </a:p>
        </p:txBody>
      </p:sp>
      <p:sp>
        <p:nvSpPr>
          <p:cNvPr id="53" name="Text 50"/>
          <p:cNvSpPr txBox="1"/>
          <p:nvPr/>
        </p:nvSpPr>
        <p:spPr>
          <a:xfrm>
            <a:off x="8732520" y="5989320"/>
            <a:ext cx="2880360" cy="283464"/>
          </a:xfrm>
          <a:prstGeom prst="rect">
            <a:avLst/>
          </a:prstGeom>
          <a:noFill/>
          <a:ln/>
        </p:spPr>
        <p:txBody>
          <a:bodyPr wrap="square" lIns="0" tIns="0" rIns="0" bIns="0" rtlCol="0" anchor="ctr"/>
          <a:lstStyle/>
          <a:p>
            <a:pPr rtl="1" algn="r" indent="0" marL="0">
              <a:buNone/>
            </a:pPr>
            <a:r>
              <a:rPr lang="ar-SA" altLang="en-US" sz="1300" b="1" dirty="0">
                <a:solidFill>
                  <a:srgbClr val="1B3B6F"/>
                </a:solidFill>
                <a:latin typeface="Amiri" pitchFamily="2" charset="-78"/>
                <a:ea typeface="Amiri" pitchFamily="2" charset="-78"/>
                <a:cs typeface="Amiri" pitchFamily="2" charset="-78"/>
              </a:rPr>
              <a:t>وَأَيْضًا …</a:t>
            </a:r>
            <a:endParaRPr lang="ar-SA" sz="1300" dirty="0"/>
          </a:p>
        </p:txBody>
      </p:sp>
      <p:sp>
        <p:nvSpPr>
          <p:cNvPr id="54" name="Text 51"/>
          <p:cNvSpPr txBox="1"/>
          <p:nvPr/>
        </p:nvSpPr>
        <p:spPr>
          <a:xfrm>
            <a:off x="6492240" y="5989320"/>
            <a:ext cx="2194560" cy="283464"/>
          </a:xfrm>
          <a:prstGeom prst="rect">
            <a:avLst/>
          </a:prstGeom>
          <a:noFill/>
          <a:ln/>
        </p:spPr>
        <p:txBody>
          <a:bodyPr wrap="square" lIns="0" tIns="0" rIns="0" bIns="0" rtlCol="0" anchor="ctr"/>
          <a:lstStyle/>
          <a:p>
            <a:pPr algn="l" indent="0" marL="0">
              <a:buNone/>
            </a:pPr>
            <a:r>
              <a:rPr lang="en-US" sz="1000" i="1" dirty="0">
                <a:solidFill>
                  <a:srgbClr val="5A6472"/>
                </a:solidFill>
                <a:latin typeface="Calibri" pitchFamily="34" charset="0"/>
                <a:cs typeface="Amiri" pitchFamily="2" charset="-78"/>
              </a:rPr>
              <a:t>and also …</a:t>
            </a:r>
            <a:endParaRPr lang="en-US" sz="1000" dirty="0"/>
          </a:p>
        </p:txBody>
      </p:sp>
      <p:sp>
        <p:nvSpPr>
          <p:cNvPr id="55" name="Text 52"/>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11 / 22</a:t>
            </a:r>
            <a:endParaRPr lang="en-US" sz="8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4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150" kern="0" dirty="0">
                <a:solidFill>
                  <a:srgbClr val="2F6FB0"/>
                </a:solidFill>
                <a:latin typeface="Calibri" pitchFamily="34" charset="0"/>
                <a:cs typeface="Amiri" pitchFamily="2" charset="-78"/>
              </a:rPr>
              <a:t>PART B · STEP 6 · SENTENCE BUILDER · CHOOSE A OR B IN EACH COLUMN</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Build three correct sentences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Text 12"/>
          <p:cNvSpPr txBox="1"/>
          <p:nvPr/>
        </p:nvSpPr>
        <p:spPr>
          <a:xfrm>
            <a:off x="9180576"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1 · start here</a:t>
            </a:r>
            <a:endParaRPr lang="en-US" sz="1000" dirty="0"/>
          </a:p>
        </p:txBody>
      </p:sp>
      <p:sp>
        <p:nvSpPr>
          <p:cNvPr id="16" name="Text 13"/>
          <p:cNvSpPr txBox="1"/>
          <p:nvPr/>
        </p:nvSpPr>
        <p:spPr>
          <a:xfrm>
            <a:off x="6624828"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2</a:t>
            </a:r>
            <a:endParaRPr lang="en-US" sz="1000" dirty="0"/>
          </a:p>
        </p:txBody>
      </p:sp>
      <p:sp>
        <p:nvSpPr>
          <p:cNvPr id="17" name="Text 14"/>
          <p:cNvSpPr txBox="1"/>
          <p:nvPr/>
        </p:nvSpPr>
        <p:spPr>
          <a:xfrm>
            <a:off x="4069080" y="1700784"/>
            <a:ext cx="2414016" cy="256032"/>
          </a:xfrm>
          <a:prstGeom prst="rect">
            <a:avLst/>
          </a:prstGeom>
          <a:noFill/>
          <a:ln/>
        </p:spPr>
        <p:txBody>
          <a:bodyPr wrap="square" lIns="0" tIns="0" rIns="0" bIns="0" rtlCol="0" anchor="ctr"/>
          <a:lstStyle/>
          <a:p>
            <a:pPr algn="ctr" indent="0" marL="0">
              <a:buNone/>
            </a:pPr>
            <a:r>
              <a:rPr lang="en-US" sz="1000" b="1" dirty="0">
                <a:solidFill>
                  <a:srgbClr val="2F6FB0"/>
                </a:solidFill>
                <a:latin typeface="Calibri" pitchFamily="34" charset="0"/>
                <a:cs typeface="Amiri" pitchFamily="2" charset="-78"/>
              </a:rPr>
              <a:t>Column 3</a:t>
            </a:r>
            <a:endParaRPr lang="en-US" sz="1000" dirty="0"/>
          </a:p>
        </p:txBody>
      </p:sp>
      <p:sp>
        <p:nvSpPr>
          <p:cNvPr id="18" name="Shape 15"/>
          <p:cNvSpPr/>
          <p:nvPr/>
        </p:nvSpPr>
        <p:spPr>
          <a:xfrm>
            <a:off x="457200" y="2011680"/>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9" name="Shape 16"/>
          <p:cNvSpPr/>
          <p:nvPr/>
        </p:nvSpPr>
        <p:spPr>
          <a:xfrm>
            <a:off x="594360" y="2148840"/>
            <a:ext cx="365760" cy="365760"/>
          </a:xfrm>
          <a:prstGeom prst="ellipse">
            <a:avLst/>
          </a:prstGeom>
          <a:solidFill>
            <a:srgbClr val="2F6FB0"/>
          </a:solidFill>
          <a:ln w="12700">
            <a:solidFill>
              <a:srgbClr val="2F6FB0"/>
            </a:solidFill>
            <a:prstDash val="solid"/>
          </a:ln>
        </p:spPr>
      </p:sp>
      <p:sp>
        <p:nvSpPr>
          <p:cNvPr id="20" name="Text 17"/>
          <p:cNvSpPr txBox="1"/>
          <p:nvPr/>
        </p:nvSpPr>
        <p:spPr>
          <a:xfrm>
            <a:off x="594360" y="214884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21" name="Text 18"/>
          <p:cNvSpPr txBox="1"/>
          <p:nvPr/>
        </p:nvSpPr>
        <p:spPr>
          <a:xfrm>
            <a:off x="1051560" y="2121408"/>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We must respect the teachers.</a:t>
            </a:r>
            <a:endParaRPr lang="en-US" sz="1400" dirty="0"/>
          </a:p>
        </p:txBody>
      </p:sp>
      <p:sp>
        <p:nvSpPr>
          <p:cNvPr id="22" name="Shape 19"/>
          <p:cNvSpPr/>
          <p:nvPr/>
        </p:nvSpPr>
        <p:spPr>
          <a:xfrm>
            <a:off x="9180576" y="2103120"/>
            <a:ext cx="2414016" cy="512064"/>
          </a:xfrm>
          <a:prstGeom prst="roundRect">
            <a:avLst>
              <a:gd name="adj" fmla="val 10714"/>
            </a:avLst>
          </a:prstGeom>
          <a:solidFill>
            <a:srgbClr val="EEF3FA"/>
          </a:solidFill>
          <a:ln w="9525">
            <a:solidFill>
              <a:srgbClr val="C9D6EA"/>
            </a:solidFill>
            <a:prstDash val="solid"/>
          </a:ln>
        </p:spPr>
      </p:sp>
      <p:sp>
        <p:nvSpPr>
          <p:cNvPr id="23" name="Text 20"/>
          <p:cNvSpPr txBox="1"/>
          <p:nvPr/>
        </p:nvSpPr>
        <p:spPr>
          <a:xfrm>
            <a:off x="9235440"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24" name="Text 21"/>
          <p:cNvSpPr txBox="1"/>
          <p:nvPr/>
        </p:nvSpPr>
        <p:spPr>
          <a:xfrm>
            <a:off x="9500616"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25" name="Shape 22"/>
          <p:cNvSpPr/>
          <p:nvPr/>
        </p:nvSpPr>
        <p:spPr>
          <a:xfrm>
            <a:off x="9180576" y="2670048"/>
            <a:ext cx="2414016" cy="512064"/>
          </a:xfrm>
          <a:prstGeom prst="roundRect">
            <a:avLst>
              <a:gd name="adj" fmla="val 10714"/>
            </a:avLst>
          </a:prstGeom>
          <a:solidFill>
            <a:srgbClr val="EEF3FA"/>
          </a:solidFill>
          <a:ln w="9525">
            <a:solidFill>
              <a:srgbClr val="C9D6EA"/>
            </a:solidFill>
            <a:prstDash val="solid"/>
          </a:ln>
        </p:spPr>
      </p:sp>
      <p:sp>
        <p:nvSpPr>
          <p:cNvPr id="26" name="Text 23"/>
          <p:cNvSpPr txBox="1"/>
          <p:nvPr/>
        </p:nvSpPr>
        <p:spPr>
          <a:xfrm>
            <a:off x="9235440"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27" name="Text 24"/>
          <p:cNvSpPr txBox="1"/>
          <p:nvPr/>
        </p:nvSpPr>
        <p:spPr>
          <a:xfrm>
            <a:off x="9500616"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 يَجُوزُ</a:t>
            </a:r>
            <a:endParaRPr lang="ar-SA" sz="1800" dirty="0"/>
          </a:p>
        </p:txBody>
      </p:sp>
      <p:sp>
        <p:nvSpPr>
          <p:cNvPr id="28" name="Shape 25"/>
          <p:cNvSpPr/>
          <p:nvPr/>
        </p:nvSpPr>
        <p:spPr>
          <a:xfrm>
            <a:off x="6624828" y="2103120"/>
            <a:ext cx="2414016" cy="512064"/>
          </a:xfrm>
          <a:prstGeom prst="roundRect">
            <a:avLst>
              <a:gd name="adj" fmla="val 10714"/>
            </a:avLst>
          </a:prstGeom>
          <a:solidFill>
            <a:srgbClr val="EEF3FA"/>
          </a:solidFill>
          <a:ln w="9525">
            <a:solidFill>
              <a:srgbClr val="C9D6EA"/>
            </a:solidFill>
            <a:prstDash val="solid"/>
          </a:ln>
        </p:spPr>
      </p:sp>
      <p:sp>
        <p:nvSpPr>
          <p:cNvPr id="29" name="Text 26"/>
          <p:cNvSpPr txBox="1"/>
          <p:nvPr/>
        </p:nvSpPr>
        <p:spPr>
          <a:xfrm>
            <a:off x="6679692"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0" name="Text 27"/>
          <p:cNvSpPr txBox="1"/>
          <p:nvPr/>
        </p:nvSpPr>
        <p:spPr>
          <a:xfrm>
            <a:off x="6944868"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نَحْتَرِمَ</a:t>
            </a:r>
            <a:endParaRPr lang="ar-SA" sz="1800" dirty="0"/>
          </a:p>
        </p:txBody>
      </p:sp>
      <p:sp>
        <p:nvSpPr>
          <p:cNvPr id="31" name="Shape 28"/>
          <p:cNvSpPr/>
          <p:nvPr/>
        </p:nvSpPr>
        <p:spPr>
          <a:xfrm>
            <a:off x="6624828" y="2670048"/>
            <a:ext cx="2414016" cy="512064"/>
          </a:xfrm>
          <a:prstGeom prst="roundRect">
            <a:avLst>
              <a:gd name="adj" fmla="val 10714"/>
            </a:avLst>
          </a:prstGeom>
          <a:solidFill>
            <a:srgbClr val="EEF3FA"/>
          </a:solidFill>
          <a:ln w="9525">
            <a:solidFill>
              <a:srgbClr val="C9D6EA"/>
            </a:solidFill>
            <a:prstDash val="solid"/>
          </a:ln>
        </p:spPr>
      </p:sp>
      <p:sp>
        <p:nvSpPr>
          <p:cNvPr id="32" name="Text 29"/>
          <p:cNvSpPr txBox="1"/>
          <p:nvPr/>
        </p:nvSpPr>
        <p:spPr>
          <a:xfrm>
            <a:off x="6679692"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3" name="Text 30"/>
          <p:cNvSpPr txBox="1"/>
          <p:nvPr/>
        </p:nvSpPr>
        <p:spPr>
          <a:xfrm>
            <a:off x="6944868"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نَحْتَرِمُ</a:t>
            </a:r>
            <a:endParaRPr lang="ar-SA" sz="1800" dirty="0"/>
          </a:p>
        </p:txBody>
      </p:sp>
      <p:sp>
        <p:nvSpPr>
          <p:cNvPr id="34" name="Shape 31"/>
          <p:cNvSpPr/>
          <p:nvPr/>
        </p:nvSpPr>
        <p:spPr>
          <a:xfrm>
            <a:off x="4069080" y="2103120"/>
            <a:ext cx="2414016" cy="512064"/>
          </a:xfrm>
          <a:prstGeom prst="roundRect">
            <a:avLst>
              <a:gd name="adj" fmla="val 10714"/>
            </a:avLst>
          </a:prstGeom>
          <a:solidFill>
            <a:srgbClr val="EEF3FA"/>
          </a:solidFill>
          <a:ln w="9525">
            <a:solidFill>
              <a:srgbClr val="C9D6EA"/>
            </a:solidFill>
            <a:prstDash val="solid"/>
          </a:ln>
        </p:spPr>
      </p:sp>
      <p:sp>
        <p:nvSpPr>
          <p:cNvPr id="35" name="Text 32"/>
          <p:cNvSpPr txBox="1"/>
          <p:nvPr/>
        </p:nvSpPr>
        <p:spPr>
          <a:xfrm>
            <a:off x="4123944" y="2103120"/>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36" name="Text 33"/>
          <p:cNvSpPr txBox="1"/>
          <p:nvPr/>
        </p:nvSpPr>
        <p:spPr>
          <a:xfrm>
            <a:off x="4389120" y="2103120"/>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المُعَلِّمِينَ.</a:t>
            </a:r>
            <a:endParaRPr lang="ar-SA" sz="1800" dirty="0"/>
          </a:p>
        </p:txBody>
      </p:sp>
      <p:sp>
        <p:nvSpPr>
          <p:cNvPr id="37" name="Shape 34"/>
          <p:cNvSpPr/>
          <p:nvPr/>
        </p:nvSpPr>
        <p:spPr>
          <a:xfrm>
            <a:off x="4069080" y="2670048"/>
            <a:ext cx="2414016" cy="512064"/>
          </a:xfrm>
          <a:prstGeom prst="roundRect">
            <a:avLst>
              <a:gd name="adj" fmla="val 10714"/>
            </a:avLst>
          </a:prstGeom>
          <a:solidFill>
            <a:srgbClr val="EEF3FA"/>
          </a:solidFill>
          <a:ln w="9525">
            <a:solidFill>
              <a:srgbClr val="C9D6EA"/>
            </a:solidFill>
            <a:prstDash val="solid"/>
          </a:ln>
        </p:spPr>
      </p:sp>
      <p:sp>
        <p:nvSpPr>
          <p:cNvPr id="38" name="Text 35"/>
          <p:cNvSpPr txBox="1"/>
          <p:nvPr/>
        </p:nvSpPr>
        <p:spPr>
          <a:xfrm>
            <a:off x="4123944" y="267004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39" name="Text 36"/>
          <p:cNvSpPr txBox="1"/>
          <p:nvPr/>
        </p:nvSpPr>
        <p:spPr>
          <a:xfrm>
            <a:off x="4389120" y="267004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المُعَلِّمُونَ.</a:t>
            </a:r>
            <a:endParaRPr lang="ar-SA" sz="1800" dirty="0"/>
          </a:p>
        </p:txBody>
      </p:sp>
      <p:sp>
        <p:nvSpPr>
          <p:cNvPr id="40" name="Shape 37"/>
          <p:cNvSpPr/>
          <p:nvPr/>
        </p:nvSpPr>
        <p:spPr>
          <a:xfrm>
            <a:off x="457200" y="3392424"/>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41" name="Shape 38"/>
          <p:cNvSpPr/>
          <p:nvPr/>
        </p:nvSpPr>
        <p:spPr>
          <a:xfrm>
            <a:off x="594360" y="3529584"/>
            <a:ext cx="365760" cy="365760"/>
          </a:xfrm>
          <a:prstGeom prst="ellipse">
            <a:avLst/>
          </a:prstGeom>
          <a:solidFill>
            <a:srgbClr val="2F6FB0"/>
          </a:solidFill>
          <a:ln w="12700">
            <a:solidFill>
              <a:srgbClr val="2F6FB0"/>
            </a:solidFill>
            <a:prstDash val="solid"/>
          </a:ln>
        </p:spPr>
      </p:sp>
      <p:sp>
        <p:nvSpPr>
          <p:cNvPr id="42" name="Text 39"/>
          <p:cNvSpPr txBox="1"/>
          <p:nvPr/>
        </p:nvSpPr>
        <p:spPr>
          <a:xfrm>
            <a:off x="594360" y="3529584"/>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43" name="Text 40"/>
          <p:cNvSpPr txBox="1"/>
          <p:nvPr/>
        </p:nvSpPr>
        <p:spPr>
          <a:xfrm>
            <a:off x="1051560" y="3502152"/>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You must not run in the corridor.</a:t>
            </a:r>
            <a:endParaRPr lang="en-US" sz="1400" dirty="0"/>
          </a:p>
        </p:txBody>
      </p:sp>
      <p:sp>
        <p:nvSpPr>
          <p:cNvPr id="44" name="Shape 41"/>
          <p:cNvSpPr/>
          <p:nvPr/>
        </p:nvSpPr>
        <p:spPr>
          <a:xfrm>
            <a:off x="9180576" y="3483864"/>
            <a:ext cx="2414016" cy="512064"/>
          </a:xfrm>
          <a:prstGeom prst="roundRect">
            <a:avLst>
              <a:gd name="adj" fmla="val 10714"/>
            </a:avLst>
          </a:prstGeom>
          <a:solidFill>
            <a:srgbClr val="EEF3FA"/>
          </a:solidFill>
          <a:ln w="9525">
            <a:solidFill>
              <a:srgbClr val="C9D6EA"/>
            </a:solidFill>
            <a:prstDash val="solid"/>
          </a:ln>
        </p:spPr>
      </p:sp>
      <p:sp>
        <p:nvSpPr>
          <p:cNvPr id="45" name="Text 42"/>
          <p:cNvSpPr txBox="1"/>
          <p:nvPr/>
        </p:nvSpPr>
        <p:spPr>
          <a:xfrm>
            <a:off x="9235440"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46" name="Text 43"/>
          <p:cNvSpPr txBox="1"/>
          <p:nvPr/>
        </p:nvSpPr>
        <p:spPr>
          <a:xfrm>
            <a:off x="9500616"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لَا يَجُوزُ</a:t>
            </a:r>
            <a:endParaRPr lang="ar-SA" sz="1800" dirty="0"/>
          </a:p>
        </p:txBody>
      </p:sp>
      <p:sp>
        <p:nvSpPr>
          <p:cNvPr id="47" name="Shape 44"/>
          <p:cNvSpPr/>
          <p:nvPr/>
        </p:nvSpPr>
        <p:spPr>
          <a:xfrm>
            <a:off x="9180576" y="4050792"/>
            <a:ext cx="2414016" cy="512064"/>
          </a:xfrm>
          <a:prstGeom prst="roundRect">
            <a:avLst>
              <a:gd name="adj" fmla="val 10714"/>
            </a:avLst>
          </a:prstGeom>
          <a:solidFill>
            <a:srgbClr val="EEF3FA"/>
          </a:solidFill>
          <a:ln w="9525">
            <a:solidFill>
              <a:srgbClr val="C9D6EA"/>
            </a:solidFill>
            <a:prstDash val="solid"/>
          </a:ln>
        </p:spPr>
      </p:sp>
      <p:sp>
        <p:nvSpPr>
          <p:cNvPr id="48" name="Text 45"/>
          <p:cNvSpPr txBox="1"/>
          <p:nvPr/>
        </p:nvSpPr>
        <p:spPr>
          <a:xfrm>
            <a:off x="9235440"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49" name="Text 46"/>
          <p:cNvSpPr txBox="1"/>
          <p:nvPr/>
        </p:nvSpPr>
        <p:spPr>
          <a:xfrm>
            <a:off x="9500616"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يَجِبُ</a:t>
            </a:r>
            <a:endParaRPr lang="ar-SA" sz="1800" dirty="0"/>
          </a:p>
        </p:txBody>
      </p:sp>
      <p:sp>
        <p:nvSpPr>
          <p:cNvPr id="50" name="Shape 47"/>
          <p:cNvSpPr/>
          <p:nvPr/>
        </p:nvSpPr>
        <p:spPr>
          <a:xfrm>
            <a:off x="6624828" y="3483864"/>
            <a:ext cx="2414016" cy="512064"/>
          </a:xfrm>
          <a:prstGeom prst="roundRect">
            <a:avLst>
              <a:gd name="adj" fmla="val 10714"/>
            </a:avLst>
          </a:prstGeom>
          <a:solidFill>
            <a:srgbClr val="EEF3FA"/>
          </a:solidFill>
          <a:ln w="9525">
            <a:solidFill>
              <a:srgbClr val="C9D6EA"/>
            </a:solidFill>
            <a:prstDash val="solid"/>
          </a:ln>
        </p:spPr>
      </p:sp>
      <p:sp>
        <p:nvSpPr>
          <p:cNvPr id="51" name="Text 48"/>
          <p:cNvSpPr txBox="1"/>
          <p:nvPr/>
        </p:nvSpPr>
        <p:spPr>
          <a:xfrm>
            <a:off x="6679692"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2" name="Text 49"/>
          <p:cNvSpPr txBox="1"/>
          <p:nvPr/>
        </p:nvSpPr>
        <p:spPr>
          <a:xfrm>
            <a:off x="6944868"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أَنْ تَرْكُضَ</a:t>
            </a:r>
            <a:endParaRPr lang="ar-SA" sz="1800" dirty="0"/>
          </a:p>
        </p:txBody>
      </p:sp>
      <p:sp>
        <p:nvSpPr>
          <p:cNvPr id="53" name="Shape 50"/>
          <p:cNvSpPr/>
          <p:nvPr/>
        </p:nvSpPr>
        <p:spPr>
          <a:xfrm>
            <a:off x="6624828" y="4050792"/>
            <a:ext cx="2414016" cy="512064"/>
          </a:xfrm>
          <a:prstGeom prst="roundRect">
            <a:avLst>
              <a:gd name="adj" fmla="val 10714"/>
            </a:avLst>
          </a:prstGeom>
          <a:solidFill>
            <a:srgbClr val="EEF3FA"/>
          </a:solidFill>
          <a:ln w="9525">
            <a:solidFill>
              <a:srgbClr val="C9D6EA"/>
            </a:solidFill>
            <a:prstDash val="solid"/>
          </a:ln>
        </p:spPr>
      </p:sp>
      <p:sp>
        <p:nvSpPr>
          <p:cNvPr id="54" name="Text 51"/>
          <p:cNvSpPr txBox="1"/>
          <p:nvPr/>
        </p:nvSpPr>
        <p:spPr>
          <a:xfrm>
            <a:off x="6679692"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55" name="Text 52"/>
          <p:cNvSpPr txBox="1"/>
          <p:nvPr/>
        </p:nvSpPr>
        <p:spPr>
          <a:xfrm>
            <a:off x="6944868"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تَرْكُضُ</a:t>
            </a:r>
            <a:endParaRPr lang="ar-SA" sz="1800" dirty="0"/>
          </a:p>
        </p:txBody>
      </p:sp>
      <p:sp>
        <p:nvSpPr>
          <p:cNvPr id="56" name="Shape 53"/>
          <p:cNvSpPr/>
          <p:nvPr/>
        </p:nvSpPr>
        <p:spPr>
          <a:xfrm>
            <a:off x="4069080" y="3483864"/>
            <a:ext cx="2414016" cy="512064"/>
          </a:xfrm>
          <a:prstGeom prst="roundRect">
            <a:avLst>
              <a:gd name="adj" fmla="val 10714"/>
            </a:avLst>
          </a:prstGeom>
          <a:solidFill>
            <a:srgbClr val="EEF3FA"/>
          </a:solidFill>
          <a:ln w="9525">
            <a:solidFill>
              <a:srgbClr val="C9D6EA"/>
            </a:solidFill>
            <a:prstDash val="solid"/>
          </a:ln>
        </p:spPr>
      </p:sp>
      <p:sp>
        <p:nvSpPr>
          <p:cNvPr id="57" name="Text 54"/>
          <p:cNvSpPr txBox="1"/>
          <p:nvPr/>
        </p:nvSpPr>
        <p:spPr>
          <a:xfrm>
            <a:off x="4123944" y="3483864"/>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58" name="Text 55"/>
          <p:cNvSpPr txBox="1"/>
          <p:nvPr/>
        </p:nvSpPr>
        <p:spPr>
          <a:xfrm>
            <a:off x="4389120" y="3483864"/>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المَمَرِّ.</a:t>
            </a:r>
            <a:endParaRPr lang="ar-SA" sz="1800" dirty="0"/>
          </a:p>
        </p:txBody>
      </p:sp>
      <p:sp>
        <p:nvSpPr>
          <p:cNvPr id="59" name="Shape 56"/>
          <p:cNvSpPr/>
          <p:nvPr/>
        </p:nvSpPr>
        <p:spPr>
          <a:xfrm>
            <a:off x="4069080" y="4050792"/>
            <a:ext cx="2414016" cy="512064"/>
          </a:xfrm>
          <a:prstGeom prst="roundRect">
            <a:avLst>
              <a:gd name="adj" fmla="val 10714"/>
            </a:avLst>
          </a:prstGeom>
          <a:solidFill>
            <a:srgbClr val="EEF3FA"/>
          </a:solidFill>
          <a:ln w="9525">
            <a:solidFill>
              <a:srgbClr val="C9D6EA"/>
            </a:solidFill>
            <a:prstDash val="solid"/>
          </a:ln>
        </p:spPr>
      </p:sp>
      <p:sp>
        <p:nvSpPr>
          <p:cNvPr id="60" name="Text 57"/>
          <p:cNvSpPr txBox="1"/>
          <p:nvPr/>
        </p:nvSpPr>
        <p:spPr>
          <a:xfrm>
            <a:off x="4123944" y="4050792"/>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61" name="Text 58"/>
          <p:cNvSpPr txBox="1"/>
          <p:nvPr/>
        </p:nvSpPr>
        <p:spPr>
          <a:xfrm>
            <a:off x="4389120" y="4050792"/>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فِي المَمَرُّ.</a:t>
            </a:r>
            <a:endParaRPr lang="ar-SA" sz="1800" dirty="0"/>
          </a:p>
        </p:txBody>
      </p:sp>
      <p:sp>
        <p:nvSpPr>
          <p:cNvPr id="62" name="Shape 59"/>
          <p:cNvSpPr/>
          <p:nvPr/>
        </p:nvSpPr>
        <p:spPr>
          <a:xfrm>
            <a:off x="457200" y="4773168"/>
            <a:ext cx="11274552" cy="1261872"/>
          </a:xfrm>
          <a:prstGeom prst="roundRect">
            <a:avLst>
              <a:gd name="adj" fmla="val 5797"/>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63" name="Shape 60"/>
          <p:cNvSpPr/>
          <p:nvPr/>
        </p:nvSpPr>
        <p:spPr>
          <a:xfrm>
            <a:off x="594360" y="4910328"/>
            <a:ext cx="365760" cy="365760"/>
          </a:xfrm>
          <a:prstGeom prst="ellipse">
            <a:avLst/>
          </a:prstGeom>
          <a:solidFill>
            <a:srgbClr val="2F6FB0"/>
          </a:solidFill>
          <a:ln w="12700">
            <a:solidFill>
              <a:srgbClr val="2F6FB0"/>
            </a:solidFill>
            <a:prstDash val="solid"/>
          </a:ln>
        </p:spPr>
      </p:sp>
      <p:sp>
        <p:nvSpPr>
          <p:cNvPr id="64" name="Text 61"/>
          <p:cNvSpPr txBox="1"/>
          <p:nvPr/>
        </p:nvSpPr>
        <p:spPr>
          <a:xfrm>
            <a:off x="59436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65" name="Text 62"/>
          <p:cNvSpPr txBox="1"/>
          <p:nvPr/>
        </p:nvSpPr>
        <p:spPr>
          <a:xfrm>
            <a:off x="1051560" y="4882896"/>
            <a:ext cx="2834640" cy="1042416"/>
          </a:xfrm>
          <a:prstGeom prst="rect">
            <a:avLst/>
          </a:prstGeom>
          <a:noFill/>
          <a:ln/>
        </p:spPr>
        <p:txBody>
          <a:bodyPr wrap="square" lIns="0" tIns="0" rIns="0" bIns="0" rtlCol="0" anchor="t"/>
          <a:lstStyle/>
          <a:p>
            <a:pPr algn="l" indent="0" marL="0">
              <a:buNone/>
            </a:pPr>
            <a:r>
              <a:rPr lang="en-US" sz="1400" b="1" dirty="0">
                <a:solidFill>
                  <a:srgbClr val="1B3B6F"/>
                </a:solidFill>
                <a:latin typeface="Calibri" pitchFamily="34" charset="0"/>
                <a:cs typeface="Amiri" pitchFamily="2" charset="-78"/>
              </a:rPr>
              <a:t>Listen, everyone! (to a group)</a:t>
            </a:r>
            <a:endParaRPr lang="en-US" sz="1400" dirty="0"/>
          </a:p>
        </p:txBody>
      </p:sp>
      <p:sp>
        <p:nvSpPr>
          <p:cNvPr id="66" name="Shape 63"/>
          <p:cNvSpPr/>
          <p:nvPr/>
        </p:nvSpPr>
        <p:spPr>
          <a:xfrm>
            <a:off x="9180576" y="4864608"/>
            <a:ext cx="2414016" cy="512064"/>
          </a:xfrm>
          <a:prstGeom prst="roundRect">
            <a:avLst>
              <a:gd name="adj" fmla="val 10714"/>
            </a:avLst>
          </a:prstGeom>
          <a:solidFill>
            <a:srgbClr val="EEF3FA"/>
          </a:solidFill>
          <a:ln w="9525">
            <a:solidFill>
              <a:srgbClr val="C9D6EA"/>
            </a:solidFill>
            <a:prstDash val="solid"/>
          </a:ln>
        </p:spPr>
      </p:sp>
      <p:sp>
        <p:nvSpPr>
          <p:cNvPr id="67" name="Text 64"/>
          <p:cNvSpPr txBox="1"/>
          <p:nvPr/>
        </p:nvSpPr>
        <p:spPr>
          <a:xfrm>
            <a:off x="9235440"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68" name="Text 65"/>
          <p:cNvSpPr txBox="1"/>
          <p:nvPr/>
        </p:nvSpPr>
        <p:spPr>
          <a:xfrm>
            <a:off x="9500616"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اسْتَمِعُوا</a:t>
            </a:r>
            <a:endParaRPr lang="ar-SA" sz="1800" dirty="0"/>
          </a:p>
        </p:txBody>
      </p:sp>
      <p:sp>
        <p:nvSpPr>
          <p:cNvPr id="69" name="Shape 66"/>
          <p:cNvSpPr/>
          <p:nvPr/>
        </p:nvSpPr>
        <p:spPr>
          <a:xfrm>
            <a:off x="9180576" y="5431536"/>
            <a:ext cx="2414016" cy="512064"/>
          </a:xfrm>
          <a:prstGeom prst="roundRect">
            <a:avLst>
              <a:gd name="adj" fmla="val 10714"/>
            </a:avLst>
          </a:prstGeom>
          <a:solidFill>
            <a:srgbClr val="EEF3FA"/>
          </a:solidFill>
          <a:ln w="9525">
            <a:solidFill>
              <a:srgbClr val="C9D6EA"/>
            </a:solidFill>
            <a:prstDash val="solid"/>
          </a:ln>
        </p:spPr>
      </p:sp>
      <p:sp>
        <p:nvSpPr>
          <p:cNvPr id="70" name="Text 67"/>
          <p:cNvSpPr txBox="1"/>
          <p:nvPr/>
        </p:nvSpPr>
        <p:spPr>
          <a:xfrm>
            <a:off x="9235440"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1" name="Text 68"/>
          <p:cNvSpPr txBox="1"/>
          <p:nvPr/>
        </p:nvSpPr>
        <p:spPr>
          <a:xfrm>
            <a:off x="9500616"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اسْتَمِعْ</a:t>
            </a:r>
            <a:endParaRPr lang="ar-SA" sz="1800" dirty="0"/>
          </a:p>
        </p:txBody>
      </p:sp>
      <p:sp>
        <p:nvSpPr>
          <p:cNvPr id="72" name="Shape 69"/>
          <p:cNvSpPr/>
          <p:nvPr/>
        </p:nvSpPr>
        <p:spPr>
          <a:xfrm>
            <a:off x="6624828" y="4864608"/>
            <a:ext cx="2414016" cy="512064"/>
          </a:xfrm>
          <a:prstGeom prst="roundRect">
            <a:avLst>
              <a:gd name="adj" fmla="val 10714"/>
            </a:avLst>
          </a:prstGeom>
          <a:solidFill>
            <a:srgbClr val="EEF3FA"/>
          </a:solidFill>
          <a:ln w="9525">
            <a:solidFill>
              <a:srgbClr val="C9D6EA"/>
            </a:solidFill>
            <a:prstDash val="solid"/>
          </a:ln>
        </p:spPr>
      </p:sp>
      <p:sp>
        <p:nvSpPr>
          <p:cNvPr id="73" name="Text 70"/>
          <p:cNvSpPr txBox="1"/>
          <p:nvPr/>
        </p:nvSpPr>
        <p:spPr>
          <a:xfrm>
            <a:off x="6679692"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74" name="Text 71"/>
          <p:cNvSpPr txBox="1"/>
          <p:nvPr/>
        </p:nvSpPr>
        <p:spPr>
          <a:xfrm>
            <a:off x="6944868"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جَمِيعًا</a:t>
            </a:r>
            <a:endParaRPr lang="ar-SA" sz="1800" dirty="0"/>
          </a:p>
        </p:txBody>
      </p:sp>
      <p:sp>
        <p:nvSpPr>
          <p:cNvPr id="75" name="Shape 72"/>
          <p:cNvSpPr/>
          <p:nvPr/>
        </p:nvSpPr>
        <p:spPr>
          <a:xfrm>
            <a:off x="6624828" y="5431536"/>
            <a:ext cx="2414016" cy="512064"/>
          </a:xfrm>
          <a:prstGeom prst="roundRect">
            <a:avLst>
              <a:gd name="adj" fmla="val 10714"/>
            </a:avLst>
          </a:prstGeom>
          <a:solidFill>
            <a:srgbClr val="EEF3FA"/>
          </a:solidFill>
          <a:ln w="9525">
            <a:solidFill>
              <a:srgbClr val="C9D6EA"/>
            </a:solidFill>
            <a:prstDash val="solid"/>
          </a:ln>
        </p:spPr>
      </p:sp>
      <p:sp>
        <p:nvSpPr>
          <p:cNvPr id="76" name="Text 73"/>
          <p:cNvSpPr txBox="1"/>
          <p:nvPr/>
        </p:nvSpPr>
        <p:spPr>
          <a:xfrm>
            <a:off x="6679692"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77" name="Text 74"/>
          <p:cNvSpPr txBox="1"/>
          <p:nvPr/>
        </p:nvSpPr>
        <p:spPr>
          <a:xfrm>
            <a:off x="6944868"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وَحْدَكَ</a:t>
            </a:r>
            <a:endParaRPr lang="ar-SA" sz="1800" dirty="0"/>
          </a:p>
        </p:txBody>
      </p:sp>
      <p:sp>
        <p:nvSpPr>
          <p:cNvPr id="78" name="Shape 75"/>
          <p:cNvSpPr/>
          <p:nvPr/>
        </p:nvSpPr>
        <p:spPr>
          <a:xfrm>
            <a:off x="4069080" y="4864608"/>
            <a:ext cx="2414016" cy="512064"/>
          </a:xfrm>
          <a:prstGeom prst="roundRect">
            <a:avLst>
              <a:gd name="adj" fmla="val 10714"/>
            </a:avLst>
          </a:prstGeom>
          <a:solidFill>
            <a:srgbClr val="EEF3FA"/>
          </a:solidFill>
          <a:ln w="9525">
            <a:solidFill>
              <a:srgbClr val="C9D6EA"/>
            </a:solidFill>
            <a:prstDash val="solid"/>
          </a:ln>
        </p:spPr>
      </p:sp>
      <p:sp>
        <p:nvSpPr>
          <p:cNvPr id="79" name="Text 76"/>
          <p:cNvSpPr txBox="1"/>
          <p:nvPr/>
        </p:nvSpPr>
        <p:spPr>
          <a:xfrm>
            <a:off x="4123944" y="4864608"/>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A</a:t>
            </a:r>
            <a:endParaRPr lang="en-US" sz="1000" dirty="0"/>
          </a:p>
        </p:txBody>
      </p:sp>
      <p:sp>
        <p:nvSpPr>
          <p:cNvPr id="80" name="Text 77"/>
          <p:cNvSpPr txBox="1"/>
          <p:nvPr/>
        </p:nvSpPr>
        <p:spPr>
          <a:xfrm>
            <a:off x="4389120" y="4864608"/>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فَضْلِكُمْ!</a:t>
            </a:r>
            <a:endParaRPr lang="ar-SA" sz="1800" dirty="0"/>
          </a:p>
        </p:txBody>
      </p:sp>
      <p:sp>
        <p:nvSpPr>
          <p:cNvPr id="81" name="Shape 78"/>
          <p:cNvSpPr/>
          <p:nvPr/>
        </p:nvSpPr>
        <p:spPr>
          <a:xfrm>
            <a:off x="4069080" y="5431536"/>
            <a:ext cx="2414016" cy="512064"/>
          </a:xfrm>
          <a:prstGeom prst="roundRect">
            <a:avLst>
              <a:gd name="adj" fmla="val 10714"/>
            </a:avLst>
          </a:prstGeom>
          <a:solidFill>
            <a:srgbClr val="EEF3FA"/>
          </a:solidFill>
          <a:ln w="9525">
            <a:solidFill>
              <a:srgbClr val="C9D6EA"/>
            </a:solidFill>
            <a:prstDash val="solid"/>
          </a:ln>
        </p:spPr>
      </p:sp>
      <p:sp>
        <p:nvSpPr>
          <p:cNvPr id="82" name="Text 79"/>
          <p:cNvSpPr txBox="1"/>
          <p:nvPr/>
        </p:nvSpPr>
        <p:spPr>
          <a:xfrm>
            <a:off x="4123944" y="5431536"/>
            <a:ext cx="274320" cy="512064"/>
          </a:xfrm>
          <a:prstGeom prst="rect">
            <a:avLst/>
          </a:prstGeom>
          <a:noFill/>
          <a:ln/>
        </p:spPr>
        <p:txBody>
          <a:bodyPr wrap="square" lIns="0" tIns="0" rIns="0" bIns="0" rtlCol="0" anchor="ctr"/>
          <a:lstStyle/>
          <a:p>
            <a:pPr algn="l" indent="0" marL="0">
              <a:buNone/>
            </a:pPr>
            <a:r>
              <a:rPr lang="en-US" sz="1000" b="1" dirty="0">
                <a:solidFill>
                  <a:srgbClr val="2F6FB0"/>
                </a:solidFill>
                <a:latin typeface="Calibri" pitchFamily="34" charset="0"/>
                <a:cs typeface="Amiri" pitchFamily="2" charset="-78"/>
              </a:rPr>
              <a:t>B</a:t>
            </a:r>
            <a:endParaRPr lang="en-US" sz="1000" dirty="0"/>
          </a:p>
        </p:txBody>
      </p:sp>
      <p:sp>
        <p:nvSpPr>
          <p:cNvPr id="83" name="Text 80"/>
          <p:cNvSpPr txBox="1"/>
          <p:nvPr/>
        </p:nvSpPr>
        <p:spPr>
          <a:xfrm>
            <a:off x="4389120" y="5431536"/>
            <a:ext cx="2002536" cy="512064"/>
          </a:xfrm>
          <a:prstGeom prst="rect">
            <a:avLst/>
          </a:prstGeom>
          <a:noFill/>
          <a:ln/>
        </p:spPr>
        <p:txBody>
          <a:bodyPr wrap="square" lIns="0" tIns="0" rIns="0" bIns="0" rtlCol="0" anchor="ctr"/>
          <a:lstStyle/>
          <a:p>
            <a:pPr rtl="1" algn="r" indent="0" marL="0">
              <a:buNone/>
            </a:pPr>
            <a:r>
              <a:rPr lang="ar-SA" altLang="en-US" sz="1800" dirty="0">
                <a:solidFill>
                  <a:srgbClr val="1F2A37"/>
                </a:solidFill>
                <a:latin typeface="Amiri" pitchFamily="2" charset="-78"/>
                <a:ea typeface="Amiri" pitchFamily="2" charset="-78"/>
                <a:cs typeface="Amiri" pitchFamily="2" charset="-78"/>
              </a:rPr>
              <a:t>مِنْ فَضْلِكَ!</a:t>
            </a:r>
            <a:endParaRPr lang="ar-SA" sz="1800" dirty="0"/>
          </a:p>
        </p:txBody>
      </p:sp>
      <p:sp>
        <p:nvSpPr>
          <p:cNvPr id="84" name="Text 8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12 / 22</a:t>
            </a:r>
            <a:endParaRPr lang="en-US" sz="8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6 · CHECK YOUR SENTENCES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Sentence builder: answers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ابْنِ الجُمْلَةَ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47672"/>
            <a:ext cx="365760" cy="365760"/>
          </a:xfrm>
          <a:prstGeom prst="ellipse">
            <a:avLst/>
          </a:prstGeom>
          <a:solidFill>
            <a:srgbClr val="2E8B57"/>
          </a:solidFill>
          <a:ln w="12700">
            <a:solidFill>
              <a:srgbClr val="2E8B57"/>
            </a:solidFill>
            <a:prstDash val="solid"/>
          </a:ln>
        </p:spPr>
      </p:sp>
      <p:sp>
        <p:nvSpPr>
          <p:cNvPr id="17" name="Text 14"/>
          <p:cNvSpPr txBox="1"/>
          <p:nvPr/>
        </p:nvSpPr>
        <p:spPr>
          <a:xfrm>
            <a:off x="640080" y="1947672"/>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1</a:t>
            </a:r>
            <a:endParaRPr lang="en-US" sz="1200" dirty="0"/>
          </a:p>
        </p:txBody>
      </p:sp>
      <p:sp>
        <p:nvSpPr>
          <p:cNvPr id="18" name="Text 15"/>
          <p:cNvSpPr txBox="1"/>
          <p:nvPr/>
        </p:nvSpPr>
        <p:spPr>
          <a:xfrm>
            <a:off x="1143000" y="1901952"/>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We must respect the teachers.</a:t>
            </a:r>
            <a:endParaRPr lang="en-US" sz="1300" dirty="0"/>
          </a:p>
        </p:txBody>
      </p:sp>
      <p:sp>
        <p:nvSpPr>
          <p:cNvPr id="19" name="Text 16"/>
          <p:cNvSpPr txBox="1"/>
          <p:nvPr/>
        </p:nvSpPr>
        <p:spPr>
          <a:xfrm>
            <a:off x="1143000" y="2359152"/>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0" name="Text 17"/>
          <p:cNvSpPr txBox="1"/>
          <p:nvPr/>
        </p:nvSpPr>
        <p:spPr>
          <a:xfrm>
            <a:off x="1143000" y="2633472"/>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Must = </a:t>
            </a:r>
            <a:pPr algn="l" indent="0" marL="0">
              <a:buNone/>
            </a:pPr>
            <a:r>
              <a:rPr lang="ar-SA" altLang="en-US" sz="1350" dirty="0">
                <a:solidFill>
                  <a:srgbClr val="5A6472"/>
                </a:solidFill>
                <a:latin typeface="Amiri" pitchFamily="2" charset="-78"/>
                <a:ea typeface="Amiri" pitchFamily="2" charset="-78"/>
                <a:cs typeface="Amiri" pitchFamily="2" charset="-78"/>
              </a:rPr>
              <a:t>يَجِبُ أَنْ</a:t>
            </a:r>
            <a:pPr algn="l" indent="0" marL="0">
              <a:buNone/>
            </a:pPr>
            <a:r>
              <a:rPr lang="en-US" sz="1050" i="1" dirty="0">
                <a:solidFill>
                  <a:srgbClr val="5A6472"/>
                </a:solidFill>
                <a:latin typeface="Calibri" pitchFamily="34" charset="0"/>
                <a:cs typeface="Amiri" pitchFamily="2" charset="-78"/>
              </a:rPr>
              <a:t> + verb ending in -a (</a:t>
            </a:r>
            <a:pPr algn="l" indent="0" marL="0">
              <a:buNone/>
            </a:pPr>
            <a:r>
              <a:rPr lang="ar-SA" altLang="en-US" sz="1350" dirty="0">
                <a:solidFill>
                  <a:srgbClr val="5A6472"/>
                </a:solidFill>
                <a:latin typeface="Amiri" pitchFamily="2" charset="-78"/>
                <a:ea typeface="Amiri" pitchFamily="2" charset="-78"/>
                <a:cs typeface="Amiri" pitchFamily="2" charset="-78"/>
              </a:rPr>
              <a:t>نَحْتَرِمَ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21" name="Text 18"/>
          <p:cNvSpPr txBox="1"/>
          <p:nvPr/>
        </p:nvSpPr>
        <p:spPr>
          <a:xfrm>
            <a:off x="4572000" y="1901952"/>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يَجِبُ أَنْ نَحْتَرِمَ المُعَلِّمِينَ.</a:t>
            </a:r>
            <a:endParaRPr lang="ar-SA" sz="2800" dirty="0"/>
          </a:p>
        </p:txBody>
      </p:sp>
      <p:sp>
        <p:nvSpPr>
          <p:cNvPr id="22" name="Shape 19"/>
          <p:cNvSpPr/>
          <p:nvPr/>
        </p:nvSpPr>
        <p:spPr>
          <a:xfrm>
            <a:off x="457200" y="3291840"/>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640080" y="3429000"/>
            <a:ext cx="365760" cy="365760"/>
          </a:xfrm>
          <a:prstGeom prst="ellipse">
            <a:avLst/>
          </a:prstGeom>
          <a:solidFill>
            <a:srgbClr val="2E8B57"/>
          </a:solidFill>
          <a:ln w="12700">
            <a:solidFill>
              <a:srgbClr val="2E8B57"/>
            </a:solidFill>
            <a:prstDash val="solid"/>
          </a:ln>
        </p:spPr>
      </p:sp>
      <p:sp>
        <p:nvSpPr>
          <p:cNvPr id="24" name="Text 21"/>
          <p:cNvSpPr txBox="1"/>
          <p:nvPr/>
        </p:nvSpPr>
        <p:spPr>
          <a:xfrm>
            <a:off x="640080" y="3429000"/>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2</a:t>
            </a:r>
            <a:endParaRPr lang="en-US" sz="1200" dirty="0"/>
          </a:p>
        </p:txBody>
      </p:sp>
      <p:sp>
        <p:nvSpPr>
          <p:cNvPr id="25" name="Text 22"/>
          <p:cNvSpPr txBox="1"/>
          <p:nvPr/>
        </p:nvSpPr>
        <p:spPr>
          <a:xfrm>
            <a:off x="1143000" y="3383280"/>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You must not run in the corridor.</a:t>
            </a:r>
            <a:endParaRPr lang="en-US" sz="1300" dirty="0"/>
          </a:p>
        </p:txBody>
      </p:sp>
      <p:sp>
        <p:nvSpPr>
          <p:cNvPr id="26" name="Text 23"/>
          <p:cNvSpPr txBox="1"/>
          <p:nvPr/>
        </p:nvSpPr>
        <p:spPr>
          <a:xfrm>
            <a:off x="1143000" y="3840480"/>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27" name="Text 24"/>
          <p:cNvSpPr txBox="1"/>
          <p:nvPr/>
        </p:nvSpPr>
        <p:spPr>
          <a:xfrm>
            <a:off x="1143000" y="4114800"/>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Must not = </a:t>
            </a:r>
            <a:pPr algn="l" indent="0" marL="0">
              <a:buNone/>
            </a:pPr>
            <a:r>
              <a:rPr lang="ar-SA" altLang="en-US" sz="1350" dirty="0">
                <a:solidFill>
                  <a:srgbClr val="5A6472"/>
                </a:solidFill>
                <a:latin typeface="Amiri" pitchFamily="2" charset="-78"/>
                <a:ea typeface="Amiri" pitchFamily="2" charset="-78"/>
                <a:cs typeface="Amiri" pitchFamily="2" charset="-78"/>
              </a:rPr>
              <a:t>لَا يَجُوزُ أَنْ</a:t>
            </a:r>
            <a:pPr algn="l" indent="0" marL="0">
              <a:buNone/>
            </a:pPr>
            <a:r>
              <a:rPr lang="en-US" sz="1050" i="1" dirty="0">
                <a:solidFill>
                  <a:srgbClr val="5A6472"/>
                </a:solidFill>
                <a:latin typeface="Calibri" pitchFamily="34" charset="0"/>
                <a:cs typeface="Amiri" pitchFamily="2" charset="-78"/>
              </a:rPr>
              <a:t> + verb in -a.</a:t>
            </a:r>
            <a:endParaRPr lang="en-US" sz="1050" dirty="0"/>
          </a:p>
        </p:txBody>
      </p:sp>
      <p:sp>
        <p:nvSpPr>
          <p:cNvPr id="28" name="Text 25"/>
          <p:cNvSpPr txBox="1"/>
          <p:nvPr/>
        </p:nvSpPr>
        <p:spPr>
          <a:xfrm>
            <a:off x="4572000" y="3383280"/>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لَا يَجُوزُ أَنْ تَرْكُضَ فِي المَمَرِّ.</a:t>
            </a:r>
            <a:endParaRPr lang="ar-SA" sz="2800" dirty="0"/>
          </a:p>
        </p:txBody>
      </p:sp>
      <p:sp>
        <p:nvSpPr>
          <p:cNvPr id="29" name="Shape 26"/>
          <p:cNvSpPr/>
          <p:nvPr/>
        </p:nvSpPr>
        <p:spPr>
          <a:xfrm>
            <a:off x="457200" y="4773168"/>
            <a:ext cx="11274552" cy="1353312"/>
          </a:xfrm>
          <a:prstGeom prst="roundRect">
            <a:avLst>
              <a:gd name="adj" fmla="val 5405"/>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30" name="Shape 27"/>
          <p:cNvSpPr/>
          <p:nvPr/>
        </p:nvSpPr>
        <p:spPr>
          <a:xfrm>
            <a:off x="640080" y="4910328"/>
            <a:ext cx="365760" cy="365760"/>
          </a:xfrm>
          <a:prstGeom prst="ellipse">
            <a:avLst/>
          </a:prstGeom>
          <a:solidFill>
            <a:srgbClr val="2E8B57"/>
          </a:solidFill>
          <a:ln w="12700">
            <a:solidFill>
              <a:srgbClr val="2E8B57"/>
            </a:solidFill>
            <a:prstDash val="solid"/>
          </a:ln>
        </p:spPr>
      </p:sp>
      <p:sp>
        <p:nvSpPr>
          <p:cNvPr id="31" name="Text 28"/>
          <p:cNvSpPr txBox="1"/>
          <p:nvPr/>
        </p:nvSpPr>
        <p:spPr>
          <a:xfrm>
            <a:off x="640080" y="4910328"/>
            <a:ext cx="365760" cy="365760"/>
          </a:xfrm>
          <a:prstGeom prst="rect">
            <a:avLst/>
          </a:prstGeom>
          <a:noFill/>
          <a:ln/>
        </p:spPr>
        <p:txBody>
          <a:bodyPr wrap="square" lIns="0" tIns="0" rIns="0" bIns="0" rtlCol="0" anchor="ctr"/>
          <a:lstStyle/>
          <a:p>
            <a:pPr algn="ctr" indent="0" marL="0">
              <a:buNone/>
            </a:pPr>
            <a:r>
              <a:rPr lang="en-US" sz="1200" b="1" dirty="0">
                <a:solidFill>
                  <a:srgbClr val="FFFFFF"/>
                </a:solidFill>
                <a:latin typeface="Calibri" pitchFamily="34" charset="0"/>
                <a:cs typeface="Amiri" pitchFamily="2" charset="-78"/>
              </a:rPr>
              <a:t>3</a:t>
            </a:r>
            <a:endParaRPr lang="en-US" sz="1200" dirty="0"/>
          </a:p>
        </p:txBody>
      </p:sp>
      <p:sp>
        <p:nvSpPr>
          <p:cNvPr id="32" name="Text 29"/>
          <p:cNvSpPr txBox="1"/>
          <p:nvPr/>
        </p:nvSpPr>
        <p:spPr>
          <a:xfrm>
            <a:off x="1143000" y="4864608"/>
            <a:ext cx="3291840" cy="457200"/>
          </a:xfrm>
          <a:prstGeom prst="rect">
            <a:avLst/>
          </a:prstGeom>
          <a:noFill/>
          <a:ln/>
        </p:spPr>
        <p:txBody>
          <a:bodyPr wrap="square" lIns="0" tIns="0" rIns="0" bIns="0" rtlCol="0" anchor="ctr"/>
          <a:lstStyle/>
          <a:p>
            <a:pPr algn="l" indent="0" marL="0">
              <a:buNone/>
            </a:pPr>
            <a:r>
              <a:rPr lang="en-US" sz="1300" b="1" dirty="0">
                <a:solidFill>
                  <a:srgbClr val="1B3B6F"/>
                </a:solidFill>
                <a:latin typeface="Calibri" pitchFamily="34" charset="0"/>
                <a:cs typeface="Amiri" pitchFamily="2" charset="-78"/>
              </a:rPr>
              <a:t>Listen, everyone! (to a group)</a:t>
            </a:r>
            <a:endParaRPr lang="en-US" sz="1300" dirty="0"/>
          </a:p>
        </p:txBody>
      </p:sp>
      <p:sp>
        <p:nvSpPr>
          <p:cNvPr id="33" name="Text 30"/>
          <p:cNvSpPr txBox="1"/>
          <p:nvPr/>
        </p:nvSpPr>
        <p:spPr>
          <a:xfrm>
            <a:off x="1143000" y="5321808"/>
            <a:ext cx="3291840" cy="256032"/>
          </a:xfrm>
          <a:prstGeom prst="rect">
            <a:avLst/>
          </a:prstGeom>
          <a:noFill/>
          <a:ln/>
        </p:spPr>
        <p:txBody>
          <a:bodyPr wrap="square" lIns="0" tIns="0" rIns="0" bIns="0" rtlCol="0" anchor="ctr"/>
          <a:lstStyle/>
          <a:p>
            <a:pPr algn="l" indent="0" marL="0">
              <a:buNone/>
            </a:pPr>
            <a:r>
              <a:rPr lang="en-US" sz="1050" b="1" dirty="0">
                <a:solidFill>
                  <a:srgbClr val="1E6B52"/>
                </a:solidFill>
                <a:latin typeface="Calibri" pitchFamily="34" charset="0"/>
                <a:cs typeface="Amiri" pitchFamily="2" charset="-78"/>
              </a:rPr>
              <a:t>Columns = A · A · A</a:t>
            </a:r>
            <a:endParaRPr lang="en-US" sz="1050" dirty="0"/>
          </a:p>
        </p:txBody>
      </p:sp>
      <p:sp>
        <p:nvSpPr>
          <p:cNvPr id="34" name="Text 31"/>
          <p:cNvSpPr txBox="1"/>
          <p:nvPr/>
        </p:nvSpPr>
        <p:spPr>
          <a:xfrm>
            <a:off x="1143000" y="5596128"/>
            <a:ext cx="3291840" cy="43891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To a group → -ū (</a:t>
            </a:r>
            <a:pPr algn="l" indent="0" marL="0">
              <a:buNone/>
            </a:pPr>
            <a:r>
              <a:rPr lang="ar-SA" altLang="en-US" sz="1350" dirty="0">
                <a:solidFill>
                  <a:srgbClr val="5A6472"/>
                </a:solidFill>
                <a:latin typeface="Amiri" pitchFamily="2" charset="-78"/>
                <a:ea typeface="Amiri" pitchFamily="2" charset="-78"/>
                <a:cs typeface="Amiri" pitchFamily="2" charset="-78"/>
              </a:rPr>
              <a:t>اسْتَمِعُوا</a:t>
            </a:r>
            <a:pPr algn="l" indent="0" marL="0">
              <a:buNone/>
            </a:pPr>
            <a:r>
              <a:rPr lang="en-US" sz="1050" i="1" dirty="0">
                <a:solidFill>
                  <a:srgbClr val="5A6472"/>
                </a:solidFill>
                <a:latin typeface="Calibri" pitchFamily="34" charset="0"/>
                <a:cs typeface="Amiri" pitchFamily="2" charset="-78"/>
              </a:rPr>
              <a:t>) and </a:t>
            </a:r>
            <a:pPr algn="l" indent="0" marL="0">
              <a:buNone/>
            </a:pPr>
            <a:r>
              <a:rPr lang="ar-SA" altLang="en-US" sz="1350" dirty="0">
                <a:solidFill>
                  <a:srgbClr val="5A6472"/>
                </a:solidFill>
                <a:latin typeface="Amiri" pitchFamily="2" charset="-78"/>
                <a:ea typeface="Amiri" pitchFamily="2" charset="-78"/>
                <a:cs typeface="Amiri" pitchFamily="2" charset="-78"/>
              </a:rPr>
              <a:t>فَضْلِكُمْ</a:t>
            </a:r>
            <a:pPr algn="l" indent="0" marL="0">
              <a:buNone/>
            </a:pPr>
            <a:r>
              <a:rPr lang="en-US" sz="1050" i="1" dirty="0">
                <a:solidFill>
                  <a:srgbClr val="5A6472"/>
                </a:solidFill>
                <a:latin typeface="Calibri" pitchFamily="34" charset="0"/>
                <a:cs typeface="Amiri" pitchFamily="2" charset="-78"/>
              </a:rPr>
              <a:t>.</a:t>
            </a:r>
            <a:endParaRPr lang="en-US" sz="1050" dirty="0"/>
          </a:p>
        </p:txBody>
      </p:sp>
      <p:sp>
        <p:nvSpPr>
          <p:cNvPr id="35" name="Text 32"/>
          <p:cNvSpPr txBox="1"/>
          <p:nvPr/>
        </p:nvSpPr>
        <p:spPr>
          <a:xfrm>
            <a:off x="4572000" y="4864608"/>
            <a:ext cx="6949440" cy="1170432"/>
          </a:xfrm>
          <a:prstGeom prst="rect">
            <a:avLst/>
          </a:prstGeom>
          <a:noFill/>
          <a:ln/>
        </p:spPr>
        <p:txBody>
          <a:bodyPr wrap="square" lIns="0" tIns="0" rIns="0" bIns="0" rtlCol="0" anchor="ctr"/>
          <a:lstStyle/>
          <a:p>
            <a:pPr rtl="1" algn="r" indent="0" marL="0">
              <a:buNone/>
            </a:pPr>
            <a:r>
              <a:rPr lang="ar-SA" altLang="en-US" sz="2800" b="1" dirty="0">
                <a:solidFill>
                  <a:srgbClr val="1B3B6F"/>
                </a:solidFill>
                <a:latin typeface="Amiri" pitchFamily="2" charset="-78"/>
                <a:ea typeface="Amiri" pitchFamily="2" charset="-78"/>
                <a:cs typeface="Amiri" pitchFamily="2" charset="-78"/>
              </a:rPr>
              <a:t>اسْتَمِعُوا جَمِيعًا مِنْ فَضْلِكُمْ!</a:t>
            </a:r>
            <a:endParaRPr lang="ar-SA" sz="28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13 / 22</a:t>
            </a:r>
            <a:endParaRPr lang="en-US" sz="8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370978" y="274320"/>
            <a:ext cx="1388974" cy="329184"/>
          </a:xfrm>
          <a:prstGeom prst="roundRect">
            <a:avLst>
              <a:gd name="adj" fmla="val 50000"/>
            </a:avLst>
          </a:prstGeom>
          <a:solidFill>
            <a:srgbClr val="2F6FB0"/>
          </a:solidFill>
          <a:ln w="12700">
            <a:solidFill>
              <a:srgbClr val="2F6FB0"/>
            </a:solidFill>
            <a:prstDash val="solid"/>
          </a:ln>
        </p:spPr>
      </p:sp>
      <p:sp>
        <p:nvSpPr>
          <p:cNvPr id="9" name="Text 7"/>
          <p:cNvSpPr txBox="1"/>
          <p:nvPr/>
        </p:nvSpPr>
        <p:spPr>
          <a:xfrm>
            <a:off x="7370978" y="274320"/>
            <a:ext cx="138897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WE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2F6FB0"/>
                </a:solidFill>
                <a:latin typeface="Calibri" pitchFamily="34" charset="0"/>
                <a:cs typeface="Amiri" pitchFamily="2" charset="-78"/>
              </a:rPr>
              <a:t>STEP 7 · SPOT AND FIX · MISTAKES STUDENTS OFTEN MAKE</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Find the mistake, fix it</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11183112" y="2249424"/>
            <a:ext cx="402336" cy="402336"/>
          </a:xfrm>
          <a:prstGeom prst="ellipse">
            <a:avLst/>
          </a:prstGeom>
          <a:solidFill>
            <a:srgbClr val="B83227"/>
          </a:solidFill>
          <a:ln w="12700">
            <a:solidFill>
              <a:srgbClr val="B83227"/>
            </a:solidFill>
            <a:prstDash val="solid"/>
          </a:ln>
        </p:spPr>
      </p:sp>
      <p:sp>
        <p:nvSpPr>
          <p:cNvPr id="17" name="Text 14"/>
          <p:cNvSpPr txBox="1"/>
          <p:nvPr/>
        </p:nvSpPr>
        <p:spPr>
          <a:xfrm>
            <a:off x="11183112" y="2249424"/>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1</a:t>
            </a:r>
            <a:endParaRPr lang="en-US" sz="1300" dirty="0"/>
          </a:p>
        </p:txBody>
      </p:sp>
      <p:sp>
        <p:nvSpPr>
          <p:cNvPr id="18" name="Text 15"/>
          <p:cNvSpPr txBox="1"/>
          <p:nvPr/>
        </p:nvSpPr>
        <p:spPr>
          <a:xfrm>
            <a:off x="4023360" y="1901952"/>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يَجِبُ أَنْ نَلْبَسُ اللِّبَاسَ المَدْرَسِيَّ.</a:t>
            </a:r>
            <a:endParaRPr lang="ar-SA" sz="3000" dirty="0"/>
          </a:p>
        </p:txBody>
      </p:sp>
      <p:sp>
        <p:nvSpPr>
          <p:cNvPr id="19" name="Text 16"/>
          <p:cNvSpPr txBox="1"/>
          <p:nvPr/>
        </p:nvSpPr>
        <p:spPr>
          <a:xfrm>
            <a:off x="731520" y="1901952"/>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The verb after </a:t>
            </a:r>
            <a:pPr algn="l" indent="0" marL="0">
              <a:buNone/>
            </a:pPr>
            <a:r>
              <a:rPr lang="ar-SA" altLang="en-US" sz="1700" dirty="0">
                <a:solidFill>
                  <a:srgbClr val="5A6472"/>
                </a:solidFill>
                <a:latin typeface="Amiri" pitchFamily="2" charset="-78"/>
                <a:ea typeface="Amiri" pitchFamily="2" charset="-78"/>
                <a:cs typeface="Amiri" pitchFamily="2" charset="-78"/>
              </a:rPr>
              <a:t>أَنْ</a:t>
            </a:r>
            <a:pPr algn="l" indent="0" marL="0">
              <a:buNone/>
            </a:pPr>
            <a:r>
              <a:rPr lang="en-US" sz="1300" i="1" dirty="0">
                <a:solidFill>
                  <a:srgbClr val="5A6472"/>
                </a:solidFill>
                <a:latin typeface="Calibri" pitchFamily="34" charset="0"/>
                <a:cs typeface="Amiri" pitchFamily="2" charset="-78"/>
              </a:rPr>
              <a:t>.</a:t>
            </a:r>
            <a:endParaRPr lang="en-US" sz="1300" dirty="0"/>
          </a:p>
        </p:txBody>
      </p:sp>
      <p:sp>
        <p:nvSpPr>
          <p:cNvPr id="20" name="Shape 17"/>
          <p:cNvSpPr/>
          <p:nvPr/>
        </p:nvSpPr>
        <p:spPr>
          <a:xfrm>
            <a:off x="457200" y="3255264"/>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11183112" y="3694176"/>
            <a:ext cx="402336" cy="402336"/>
          </a:xfrm>
          <a:prstGeom prst="ellipse">
            <a:avLst/>
          </a:prstGeom>
          <a:solidFill>
            <a:srgbClr val="B83227"/>
          </a:solidFill>
          <a:ln w="12700">
            <a:solidFill>
              <a:srgbClr val="B83227"/>
            </a:solidFill>
            <a:prstDash val="solid"/>
          </a:ln>
        </p:spPr>
      </p:sp>
      <p:sp>
        <p:nvSpPr>
          <p:cNvPr id="22" name="Text 19"/>
          <p:cNvSpPr txBox="1"/>
          <p:nvPr/>
        </p:nvSpPr>
        <p:spPr>
          <a:xfrm>
            <a:off x="11183112" y="3694176"/>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2</a:t>
            </a:r>
            <a:endParaRPr lang="en-US" sz="1300" dirty="0"/>
          </a:p>
        </p:txBody>
      </p:sp>
      <p:sp>
        <p:nvSpPr>
          <p:cNvPr id="23" name="Text 20"/>
          <p:cNvSpPr txBox="1"/>
          <p:nvPr/>
        </p:nvSpPr>
        <p:spPr>
          <a:xfrm>
            <a:off x="4023360" y="3346704"/>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لَا يَجِبُ أَنْ تَأْكُلَ فِي الصَّفِّ.</a:t>
            </a:r>
            <a:endParaRPr lang="ar-SA" sz="3000" dirty="0"/>
          </a:p>
        </p:txBody>
      </p:sp>
      <p:sp>
        <p:nvSpPr>
          <p:cNvPr id="24" name="Text 21"/>
          <p:cNvSpPr txBox="1"/>
          <p:nvPr/>
        </p:nvSpPr>
        <p:spPr>
          <a:xfrm>
            <a:off x="731520" y="3346704"/>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Must not — Which phrase means “must not”?</a:t>
            </a:r>
            <a:endParaRPr lang="en-US" sz="1300" dirty="0"/>
          </a:p>
        </p:txBody>
      </p:sp>
      <p:sp>
        <p:nvSpPr>
          <p:cNvPr id="25" name="Shape 22"/>
          <p:cNvSpPr/>
          <p:nvPr/>
        </p:nvSpPr>
        <p:spPr>
          <a:xfrm>
            <a:off x="457200" y="4700016"/>
            <a:ext cx="11274552" cy="1298448"/>
          </a:xfrm>
          <a:prstGeom prst="roundRect">
            <a:avLst>
              <a:gd name="adj" fmla="val 5634"/>
            </a:avLst>
          </a:prstGeom>
          <a:solidFill>
            <a:srgbClr val="FBEAEA"/>
          </a:solidFill>
          <a:ln w="9525">
            <a:solidFill>
              <a:srgbClr val="E3B4AE"/>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11183112" y="5138928"/>
            <a:ext cx="402336" cy="402336"/>
          </a:xfrm>
          <a:prstGeom prst="ellipse">
            <a:avLst/>
          </a:prstGeom>
          <a:solidFill>
            <a:srgbClr val="B83227"/>
          </a:solidFill>
          <a:ln w="12700">
            <a:solidFill>
              <a:srgbClr val="B83227"/>
            </a:solidFill>
            <a:prstDash val="solid"/>
          </a:ln>
        </p:spPr>
      </p:sp>
      <p:sp>
        <p:nvSpPr>
          <p:cNvPr id="27" name="Text 24"/>
          <p:cNvSpPr txBox="1"/>
          <p:nvPr/>
        </p:nvSpPr>
        <p:spPr>
          <a:xfrm>
            <a:off x="11183112" y="5138928"/>
            <a:ext cx="402336" cy="402336"/>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cs typeface="Amiri" pitchFamily="2" charset="-78"/>
              </a:rPr>
              <a:t>3</a:t>
            </a:r>
            <a:endParaRPr lang="en-US" sz="1300" dirty="0"/>
          </a:p>
        </p:txBody>
      </p:sp>
      <p:sp>
        <p:nvSpPr>
          <p:cNvPr id="28" name="Text 25"/>
          <p:cNvSpPr txBox="1"/>
          <p:nvPr/>
        </p:nvSpPr>
        <p:spPr>
          <a:xfrm>
            <a:off x="4023360" y="4791456"/>
            <a:ext cx="6976872" cy="1097280"/>
          </a:xfrm>
          <a:prstGeom prst="rect">
            <a:avLst/>
          </a:prstGeom>
          <a:noFill/>
          <a:ln/>
        </p:spPr>
        <p:txBody>
          <a:bodyPr wrap="square" lIns="0" tIns="0" rIns="0" bIns="0" rtlCol="0" anchor="ctr"/>
          <a:lstStyle/>
          <a:p>
            <a:pPr rtl="1" algn="r" indent="0" marL="0">
              <a:buNone/>
            </a:pPr>
            <a:r>
              <a:rPr lang="ar-SA" altLang="en-US" sz="3000" b="1" dirty="0">
                <a:solidFill>
                  <a:srgbClr val="B83227"/>
                </a:solidFill>
                <a:latin typeface="Amiri" pitchFamily="2" charset="-78"/>
                <a:ea typeface="Amiri" pitchFamily="2" charset="-78"/>
                <a:cs typeface="Amiri" pitchFamily="2" charset="-78"/>
              </a:rPr>
              <a:t>افْتَحْ كِتَابَكِ يَا هُدَى.</a:t>
            </a:r>
            <a:endParaRPr lang="ar-SA" sz="3000" dirty="0"/>
          </a:p>
        </p:txBody>
      </p:sp>
      <p:sp>
        <p:nvSpPr>
          <p:cNvPr id="29" name="Text 26"/>
          <p:cNvSpPr txBox="1"/>
          <p:nvPr/>
        </p:nvSpPr>
        <p:spPr>
          <a:xfrm>
            <a:off x="731520" y="4791456"/>
            <a:ext cx="3200400" cy="1097280"/>
          </a:xfrm>
          <a:prstGeom prst="rect">
            <a:avLst/>
          </a:prstGeom>
          <a:noFill/>
          <a:ln/>
        </p:spPr>
        <p:txBody>
          <a:bodyPr wrap="square" lIns="0" tIns="0" rIns="0" bIns="0" rtlCol="0" anchor="ctr"/>
          <a:lstStyle/>
          <a:p>
            <a:pPr algn="l" indent="0" marL="0">
              <a:buNone/>
            </a:pPr>
            <a:r>
              <a:rPr lang="en-US" sz="1300" i="1" dirty="0">
                <a:solidFill>
                  <a:srgbClr val="5A6472"/>
                </a:solidFill>
                <a:latin typeface="Calibri" pitchFamily="34" charset="0"/>
                <a:cs typeface="Amiri" pitchFamily="2" charset="-78"/>
              </a:rPr>
              <a:t>Huda is a girl.</a:t>
            </a:r>
            <a:endParaRPr lang="en-US" sz="1300" dirty="0"/>
          </a:p>
        </p:txBody>
      </p:sp>
      <p:sp>
        <p:nvSpPr>
          <p:cNvPr id="30" name="Text 2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14 / 22</a:t>
            </a:r>
            <a:endParaRPr lang="en-US" sz="8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STEP 7 · CORRECTIONS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Spot and fix: corrections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اكْتَشِفِ الخَطَأَ</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8503920" y="1901952"/>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يَجِبُ أَنْ نَلْبَسُ اللِّبَاسَ المَدْرَسِيَّ.</a:t>
            </a:r>
            <a:endParaRPr lang="ar-SA" sz="1800" dirty="0"/>
          </a:p>
        </p:txBody>
      </p:sp>
      <p:sp>
        <p:nvSpPr>
          <p:cNvPr id="17" name="Shape 14"/>
          <p:cNvSpPr/>
          <p:nvPr/>
        </p:nvSpPr>
        <p:spPr>
          <a:xfrm>
            <a:off x="8641080" y="2459736"/>
            <a:ext cx="2834640" cy="0"/>
          </a:xfrm>
          <a:prstGeom prst="line">
            <a:avLst/>
          </a:prstGeom>
          <a:noFill/>
          <a:ln w="15875">
            <a:solidFill>
              <a:srgbClr val="B83227"/>
            </a:solidFill>
            <a:prstDash val="solid"/>
          </a:ln>
        </p:spPr>
      </p:sp>
      <p:sp>
        <p:nvSpPr>
          <p:cNvPr id="18" name="Text 15"/>
          <p:cNvSpPr txBox="1"/>
          <p:nvPr/>
        </p:nvSpPr>
        <p:spPr>
          <a:xfrm>
            <a:off x="8138160" y="1901952"/>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19" name="Text 16"/>
          <p:cNvSpPr txBox="1"/>
          <p:nvPr/>
        </p:nvSpPr>
        <p:spPr>
          <a:xfrm>
            <a:off x="3566160" y="1901952"/>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يَجِبُ أَنْ نَلْبَسَ اللِّبَاسَ المَدْرَسِيَّ.</a:t>
            </a:r>
            <a:endParaRPr lang="ar-SA" sz="2400" dirty="0"/>
          </a:p>
        </p:txBody>
      </p:sp>
      <p:sp>
        <p:nvSpPr>
          <p:cNvPr id="20" name="Text 17"/>
          <p:cNvSpPr txBox="1"/>
          <p:nvPr/>
        </p:nvSpPr>
        <p:spPr>
          <a:xfrm>
            <a:off x="685800" y="1901952"/>
            <a:ext cx="2788920" cy="1097280"/>
          </a:xfrm>
          <a:prstGeom prst="rect">
            <a:avLst/>
          </a:prstGeom>
          <a:noFill/>
          <a:ln/>
        </p:spPr>
        <p:txBody>
          <a:bodyPr wrap="square" lIns="0" tIns="0" rIns="0" bIns="0" rtlCol="0" anchor="ctr"/>
          <a:lstStyle/>
          <a:p>
            <a:pPr algn="l" indent="0" marL="0">
              <a:buNone/>
            </a:pPr>
            <a:r>
              <a:rPr lang="ar-SA" altLang="en-US" sz="1500" b="1" dirty="0">
                <a:solidFill>
                  <a:srgbClr val="1B3B6F"/>
                </a:solidFill>
                <a:latin typeface="Amiri" pitchFamily="2" charset="-78"/>
                <a:ea typeface="Amiri" pitchFamily="2" charset="-78"/>
                <a:cs typeface="Amiri" pitchFamily="2" charset="-78"/>
              </a:rPr>
              <a:t>أَنْ</a:t>
            </a:r>
            <a:pPr algn="l" indent="0" marL="0">
              <a:buNone/>
            </a:pPr>
            <a:r>
              <a:rPr lang="en-US" sz="1150" b="1" dirty="0">
                <a:solidFill>
                  <a:srgbClr val="1B3B6F"/>
                </a:solidFill>
                <a:latin typeface="Calibri" pitchFamily="34" charset="0"/>
                <a:cs typeface="Amiri" pitchFamily="2" charset="-78"/>
              </a:rPr>
              <a:t> + verb ending in -a.</a:t>
            </a:r>
            <a:endParaRPr lang="en-US" sz="1150" dirty="0"/>
          </a:p>
        </p:txBody>
      </p:sp>
      <p:sp>
        <p:nvSpPr>
          <p:cNvPr id="21" name="Shape 18"/>
          <p:cNvSpPr/>
          <p:nvPr/>
        </p:nvSpPr>
        <p:spPr>
          <a:xfrm>
            <a:off x="457200" y="3255264"/>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2" name="Text 19"/>
          <p:cNvSpPr txBox="1"/>
          <p:nvPr/>
        </p:nvSpPr>
        <p:spPr>
          <a:xfrm>
            <a:off x="8503920" y="3346704"/>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لَا يَجِبُ أَنْ تَأْكُلَ فِي الصَّفِّ.</a:t>
            </a:r>
            <a:endParaRPr lang="ar-SA" sz="1800" dirty="0"/>
          </a:p>
        </p:txBody>
      </p:sp>
      <p:sp>
        <p:nvSpPr>
          <p:cNvPr id="23" name="Shape 20"/>
          <p:cNvSpPr/>
          <p:nvPr/>
        </p:nvSpPr>
        <p:spPr>
          <a:xfrm>
            <a:off x="8641080" y="3904488"/>
            <a:ext cx="2834640" cy="0"/>
          </a:xfrm>
          <a:prstGeom prst="line">
            <a:avLst/>
          </a:prstGeom>
          <a:noFill/>
          <a:ln w="15875">
            <a:solidFill>
              <a:srgbClr val="B83227"/>
            </a:solidFill>
            <a:prstDash val="solid"/>
          </a:ln>
        </p:spPr>
      </p:sp>
      <p:sp>
        <p:nvSpPr>
          <p:cNvPr id="24" name="Text 21"/>
          <p:cNvSpPr txBox="1"/>
          <p:nvPr/>
        </p:nvSpPr>
        <p:spPr>
          <a:xfrm>
            <a:off x="8138160" y="3346704"/>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25" name="Text 22"/>
          <p:cNvSpPr txBox="1"/>
          <p:nvPr/>
        </p:nvSpPr>
        <p:spPr>
          <a:xfrm>
            <a:off x="3566160" y="3346704"/>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لَا يَجُوزُ أَنْ تَأْكُلَ فِي الصَّفِّ.</a:t>
            </a:r>
            <a:endParaRPr lang="ar-SA" sz="2400" dirty="0"/>
          </a:p>
        </p:txBody>
      </p:sp>
      <p:sp>
        <p:nvSpPr>
          <p:cNvPr id="26" name="Text 23"/>
          <p:cNvSpPr txBox="1"/>
          <p:nvPr/>
        </p:nvSpPr>
        <p:spPr>
          <a:xfrm>
            <a:off x="685800" y="3346704"/>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Must not = </a:t>
            </a:r>
            <a:pPr algn="l" indent="0" marL="0">
              <a:buNone/>
            </a:pPr>
            <a:r>
              <a:rPr lang="ar-SA" altLang="en-US" sz="1500" b="1" dirty="0">
                <a:solidFill>
                  <a:srgbClr val="1B3B6F"/>
                </a:solidFill>
                <a:latin typeface="Amiri" pitchFamily="2" charset="-78"/>
                <a:ea typeface="Amiri" pitchFamily="2" charset="-78"/>
                <a:cs typeface="Amiri" pitchFamily="2" charset="-78"/>
              </a:rPr>
              <a:t>لَا يَجُوزُ أَنْ</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27" name="Shape 24"/>
          <p:cNvSpPr/>
          <p:nvPr/>
        </p:nvSpPr>
        <p:spPr>
          <a:xfrm>
            <a:off x="457200" y="4700016"/>
            <a:ext cx="11274552" cy="1298448"/>
          </a:xfrm>
          <a:prstGeom prst="roundRect">
            <a:avLst>
              <a:gd name="adj" fmla="val 5634"/>
            </a:avLst>
          </a:prstGeom>
          <a:solidFill>
            <a:srgbClr val="E6F4EC"/>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28" name="Text 25"/>
          <p:cNvSpPr txBox="1"/>
          <p:nvPr/>
        </p:nvSpPr>
        <p:spPr>
          <a:xfrm>
            <a:off x="8503920" y="4791456"/>
            <a:ext cx="3063240" cy="1097280"/>
          </a:xfrm>
          <a:prstGeom prst="rect">
            <a:avLst/>
          </a:prstGeom>
          <a:noFill/>
          <a:ln/>
        </p:spPr>
        <p:txBody>
          <a:bodyPr wrap="square" lIns="0" tIns="0" rIns="0" bIns="0" rtlCol="0" anchor="ctr"/>
          <a:lstStyle/>
          <a:p>
            <a:pPr rtl="1" algn="r" indent="0" marL="0">
              <a:buNone/>
            </a:pPr>
            <a:r>
              <a:rPr lang="ar-SA" altLang="en-US" sz="1800" b="1" dirty="0">
                <a:solidFill>
                  <a:srgbClr val="B83227"/>
                </a:solidFill>
                <a:latin typeface="Amiri" pitchFamily="2" charset="-78"/>
                <a:ea typeface="Amiri" pitchFamily="2" charset="-78"/>
                <a:cs typeface="Amiri" pitchFamily="2" charset="-78"/>
              </a:rPr>
              <a:t>افْتَحْ كِتَابَكِ يَا هُدَى.</a:t>
            </a:r>
            <a:endParaRPr lang="ar-SA" sz="1800" dirty="0"/>
          </a:p>
        </p:txBody>
      </p:sp>
      <p:sp>
        <p:nvSpPr>
          <p:cNvPr id="29" name="Shape 26"/>
          <p:cNvSpPr/>
          <p:nvPr/>
        </p:nvSpPr>
        <p:spPr>
          <a:xfrm>
            <a:off x="8641080" y="5349240"/>
            <a:ext cx="2834640" cy="0"/>
          </a:xfrm>
          <a:prstGeom prst="line">
            <a:avLst/>
          </a:prstGeom>
          <a:noFill/>
          <a:ln w="15875">
            <a:solidFill>
              <a:srgbClr val="B83227"/>
            </a:solidFill>
            <a:prstDash val="solid"/>
          </a:ln>
        </p:spPr>
      </p:sp>
      <p:sp>
        <p:nvSpPr>
          <p:cNvPr id="30" name="Text 27"/>
          <p:cNvSpPr txBox="1"/>
          <p:nvPr/>
        </p:nvSpPr>
        <p:spPr>
          <a:xfrm>
            <a:off x="8138160" y="4791456"/>
            <a:ext cx="365760" cy="1097280"/>
          </a:xfrm>
          <a:prstGeom prst="rect">
            <a:avLst/>
          </a:prstGeom>
          <a:noFill/>
          <a:ln/>
        </p:spPr>
        <p:txBody>
          <a:bodyPr wrap="square" lIns="0" tIns="0" rIns="0" bIns="0" rtlCol="0" anchor="ctr"/>
          <a:lstStyle/>
          <a:p>
            <a:pPr algn="ctr" indent="0" marL="0">
              <a:buNone/>
            </a:pPr>
            <a:r>
              <a:rPr lang="en-US" sz="2000" dirty="0">
                <a:solidFill>
                  <a:srgbClr val="5A6472"/>
                </a:solidFill>
                <a:latin typeface="Calibri" pitchFamily="34" charset="0"/>
                <a:cs typeface="Amiri" pitchFamily="2" charset="-78"/>
              </a:rPr>
              <a:t>←</a:t>
            </a:r>
            <a:endParaRPr lang="en-US" sz="2000" dirty="0"/>
          </a:p>
        </p:txBody>
      </p:sp>
      <p:sp>
        <p:nvSpPr>
          <p:cNvPr id="31" name="Text 28"/>
          <p:cNvSpPr txBox="1"/>
          <p:nvPr/>
        </p:nvSpPr>
        <p:spPr>
          <a:xfrm>
            <a:off x="3566160" y="4791456"/>
            <a:ext cx="4526280" cy="1097280"/>
          </a:xfrm>
          <a:prstGeom prst="rect">
            <a:avLst/>
          </a:prstGeom>
          <a:noFill/>
          <a:ln/>
        </p:spPr>
        <p:txBody>
          <a:bodyPr wrap="square" lIns="0" tIns="0" rIns="0" bIns="0" rtlCol="0" anchor="ctr"/>
          <a:lstStyle/>
          <a:p>
            <a:pPr rtl="1" algn="r" indent="0" marL="0">
              <a:buNone/>
            </a:pPr>
            <a:r>
              <a:rPr lang="ar-SA" altLang="en-US" sz="2400" b="1" dirty="0">
                <a:solidFill>
                  <a:srgbClr val="1E6B52"/>
                </a:solidFill>
                <a:latin typeface="Amiri" pitchFamily="2" charset="-78"/>
                <a:ea typeface="Amiri" pitchFamily="2" charset="-78"/>
                <a:cs typeface="Amiri" pitchFamily="2" charset="-78"/>
              </a:rPr>
              <a:t>افْتَحِي كِتَابَكِ يَا هُدَى.</a:t>
            </a:r>
            <a:endParaRPr lang="ar-SA" sz="2400" dirty="0"/>
          </a:p>
        </p:txBody>
      </p:sp>
      <p:sp>
        <p:nvSpPr>
          <p:cNvPr id="32" name="Text 29"/>
          <p:cNvSpPr txBox="1"/>
          <p:nvPr/>
        </p:nvSpPr>
        <p:spPr>
          <a:xfrm>
            <a:off x="685800" y="4791456"/>
            <a:ext cx="2788920" cy="109728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Imperative to a girl → -ī: </a:t>
            </a:r>
            <a:pPr algn="l" indent="0" marL="0">
              <a:buNone/>
            </a:pPr>
            <a:r>
              <a:rPr lang="ar-SA" altLang="en-US" sz="1500" b="1" dirty="0">
                <a:solidFill>
                  <a:srgbClr val="1B3B6F"/>
                </a:solidFill>
                <a:latin typeface="Amiri" pitchFamily="2" charset="-78"/>
                <a:ea typeface="Amiri" pitchFamily="2" charset="-78"/>
                <a:cs typeface="Amiri" pitchFamily="2" charset="-78"/>
              </a:rPr>
              <a:t>افْتَحِي</a:t>
            </a:r>
            <a:pPr algn="l" indent="0" marL="0">
              <a:buNone/>
            </a:pPr>
            <a:r>
              <a:rPr lang="en-US" sz="1150" b="1" dirty="0">
                <a:solidFill>
                  <a:srgbClr val="1B3B6F"/>
                </a:solidFill>
                <a:latin typeface="Calibri" pitchFamily="34" charset="0"/>
                <a:cs typeface="Amiri" pitchFamily="2" charset="-78"/>
              </a:rPr>
              <a:t>.</a:t>
            </a:r>
            <a:endParaRPr lang="en-US" sz="1150" dirty="0"/>
          </a:p>
        </p:txBody>
      </p:sp>
      <p:sp>
        <p:nvSpPr>
          <p:cNvPr id="33" name="Text 30"/>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15 / 22</a:t>
            </a:r>
            <a:endParaRPr lang="en-US" sz="8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FRAMES IF YOU NEED THEM</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Your writing frames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قَوَالِبُ الكِتَابَةِ</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5541264" cy="3566160"/>
          </a:xfrm>
          <a:prstGeom prst="roundRect">
            <a:avLst>
              <a:gd name="adj" fmla="val 2051"/>
            </a:avLst>
          </a:prstGeom>
          <a:solidFill>
            <a:srgbClr val="FCF1E0"/>
          </a:solidFill>
          <a:ln w="9525">
            <a:solidFill>
              <a:srgbClr val="C9780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594360" y="1901952"/>
            <a:ext cx="1051560" cy="274320"/>
          </a:xfrm>
          <a:prstGeom prst="roundRect">
            <a:avLst>
              <a:gd name="adj" fmla="val 50000"/>
            </a:avLst>
          </a:prstGeom>
          <a:solidFill>
            <a:srgbClr val="C9780A"/>
          </a:solidFill>
          <a:ln w="12700">
            <a:solidFill>
              <a:srgbClr val="C9780A"/>
            </a:solidFill>
            <a:prstDash val="solid"/>
          </a:ln>
        </p:spPr>
      </p:sp>
      <p:sp>
        <p:nvSpPr>
          <p:cNvPr id="17" name="Text 14"/>
          <p:cNvSpPr txBox="1"/>
          <p:nvPr/>
        </p:nvSpPr>
        <p:spPr>
          <a:xfrm>
            <a:off x="594360"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DEVELOP</a:t>
            </a:r>
            <a:endParaRPr lang="en-US" sz="850" dirty="0"/>
          </a:p>
        </p:txBody>
      </p:sp>
      <p:sp>
        <p:nvSpPr>
          <p:cNvPr id="18" name="Text 15"/>
          <p:cNvSpPr txBox="1"/>
          <p:nvPr/>
        </p:nvSpPr>
        <p:spPr>
          <a:xfrm>
            <a:off x="2468880" y="2249424"/>
            <a:ext cx="3383280" cy="538582"/>
          </a:xfrm>
          <a:prstGeom prst="rect">
            <a:avLst/>
          </a:prstGeom>
          <a:noFill/>
          <a:ln/>
        </p:spPr>
        <p:txBody>
          <a:bodyPr wrap="square" lIns="0" tIns="0" rIns="0" bIns="0" rtlCol="0" anchor="ctr"/>
          <a:lstStyle/>
          <a:p>
            <a:pPr rtl="1" algn="r" indent="0" marL="0">
              <a:lnSpc>
                <a:spcPct val="120000"/>
              </a:lnSpc>
              <a:buNone/>
            </a:pPr>
            <a:r>
              <a:rPr lang="ar-SA" altLang="en-US" sz="1150" b="1" dirty="0">
                <a:solidFill>
                  <a:srgbClr val="1B3B6F"/>
                </a:solidFill>
                <a:latin typeface="Amiri" pitchFamily="2" charset="-78"/>
                <a:ea typeface="Amiri" pitchFamily="2" charset="-78"/>
                <a:cs typeface="Amiri" pitchFamily="2" charset="-78"/>
              </a:rPr>
              <a:t>فِي الصَّفِّ عَلَى الإِنْتَرْنِتِ يَجِبُ أَنْ ______ ، وَلَا يَجُوزُ أَنْ ______ .</a:t>
            </a:r>
            <a:endParaRPr lang="ar-SA" sz="1150" dirty="0"/>
          </a:p>
        </p:txBody>
      </p:sp>
      <p:sp>
        <p:nvSpPr>
          <p:cNvPr id="19" name="Text 16"/>
          <p:cNvSpPr txBox="1"/>
          <p:nvPr/>
        </p:nvSpPr>
        <p:spPr>
          <a:xfrm>
            <a:off x="594360"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In the online class we must …, and we must not …</a:t>
            </a:r>
            <a:endParaRPr lang="en-US" sz="1050" dirty="0"/>
          </a:p>
        </p:txBody>
      </p:sp>
      <p:sp>
        <p:nvSpPr>
          <p:cNvPr id="20" name="Text 17"/>
          <p:cNvSpPr txBox="1"/>
          <p:nvPr/>
        </p:nvSpPr>
        <p:spPr>
          <a:xfrm>
            <a:off x="2468880"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أَهَمُّ قَاعِدَةٍ ______ لِأَنَّ ______ .</a:t>
            </a:r>
            <a:endParaRPr lang="ar-SA" sz="1800" dirty="0"/>
          </a:p>
        </p:txBody>
      </p:sp>
      <p:sp>
        <p:nvSpPr>
          <p:cNvPr id="21" name="Text 18"/>
          <p:cNvSpPr txBox="1"/>
          <p:nvPr/>
        </p:nvSpPr>
        <p:spPr>
          <a:xfrm>
            <a:off x="594360"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The most important rule is … because …</a:t>
            </a:r>
            <a:endParaRPr lang="en-US" sz="1050" dirty="0"/>
          </a:p>
        </p:txBody>
      </p:sp>
      <p:sp>
        <p:nvSpPr>
          <p:cNvPr id="22" name="Shape 19"/>
          <p:cNvSpPr/>
          <p:nvPr/>
        </p:nvSpPr>
        <p:spPr>
          <a:xfrm>
            <a:off x="6190488" y="1810512"/>
            <a:ext cx="5541264" cy="3566160"/>
          </a:xfrm>
          <a:prstGeom prst="roundRect">
            <a:avLst>
              <a:gd name="adj" fmla="val 2051"/>
            </a:avLst>
          </a:prstGeom>
          <a:solidFill>
            <a:srgbClr val="E9F5EE"/>
          </a:solidFill>
          <a:ln w="9525">
            <a:solidFill>
              <a:srgbClr val="2E8B57"/>
            </a:solidFill>
            <a:prstDash val="solid"/>
          </a:ln>
          <a:effectLst>
            <a:outerShdw sx="100000" sy="100000" kx="0" ky="0" algn="bl" rotWithShape="0" blurRad="50800" dist="19050" dir="5400000">
              <a:srgbClr val="000000">
                <a:alpha val="10000"/>
              </a:srgbClr>
            </a:outerShdw>
          </a:effectLst>
        </p:spPr>
      </p:sp>
      <p:sp>
        <p:nvSpPr>
          <p:cNvPr id="23" name="Shape 20"/>
          <p:cNvSpPr/>
          <p:nvPr/>
        </p:nvSpPr>
        <p:spPr>
          <a:xfrm>
            <a:off x="10543032" y="1901952"/>
            <a:ext cx="1051560" cy="274320"/>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10543032" y="1901952"/>
            <a:ext cx="1051560" cy="274320"/>
          </a:xfrm>
          <a:prstGeom prst="rect">
            <a:avLst/>
          </a:prstGeom>
          <a:noFill/>
          <a:ln/>
        </p:spPr>
        <p:txBody>
          <a:bodyPr wrap="square" lIns="0" tIns="0" rIns="0" bIns="0" rtlCol="0" anchor="ctr"/>
          <a:lstStyle/>
          <a:p>
            <a:pPr algn="ctr" indent="0" marL="0">
              <a:buNone/>
            </a:pPr>
            <a:r>
              <a:rPr lang="en-US" sz="850" b="1" spc="100" kern="0" dirty="0">
                <a:solidFill>
                  <a:srgbClr val="FFFFFF"/>
                </a:solidFill>
                <a:latin typeface="Calibri" pitchFamily="34" charset="0"/>
                <a:cs typeface="Amiri" pitchFamily="2" charset="-78"/>
              </a:rPr>
              <a:t>CORE</a:t>
            </a:r>
            <a:endParaRPr lang="en-US" sz="850" dirty="0"/>
          </a:p>
        </p:txBody>
      </p:sp>
      <p:sp>
        <p:nvSpPr>
          <p:cNvPr id="25" name="Text 22"/>
          <p:cNvSpPr txBox="1"/>
          <p:nvPr/>
        </p:nvSpPr>
        <p:spPr>
          <a:xfrm>
            <a:off x="8202168" y="2249424"/>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نَصِلَ ______ .</a:t>
            </a:r>
            <a:endParaRPr lang="ar-SA" sz="1800" dirty="0"/>
          </a:p>
        </p:txBody>
      </p:sp>
      <p:sp>
        <p:nvSpPr>
          <p:cNvPr id="26" name="Text 23"/>
          <p:cNvSpPr txBox="1"/>
          <p:nvPr/>
        </p:nvSpPr>
        <p:spPr>
          <a:xfrm>
            <a:off x="6327648" y="2249424"/>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arrive …</a:t>
            </a:r>
            <a:endParaRPr lang="en-US" sz="1050" dirty="0"/>
          </a:p>
        </p:txBody>
      </p:sp>
      <p:sp>
        <p:nvSpPr>
          <p:cNvPr id="27" name="Text 24"/>
          <p:cNvSpPr txBox="1"/>
          <p:nvPr/>
        </p:nvSpPr>
        <p:spPr>
          <a:xfrm>
            <a:off x="8202168" y="2816352"/>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______ .</a:t>
            </a:r>
            <a:endParaRPr lang="ar-SA" sz="1800" dirty="0"/>
          </a:p>
        </p:txBody>
      </p:sp>
      <p:sp>
        <p:nvSpPr>
          <p:cNvPr id="28" name="Text 25"/>
          <p:cNvSpPr txBox="1"/>
          <p:nvPr/>
        </p:nvSpPr>
        <p:spPr>
          <a:xfrm>
            <a:off x="6327648" y="2816352"/>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a:t>
            </a:r>
            <a:endParaRPr lang="en-US" sz="1050" dirty="0"/>
          </a:p>
        </p:txBody>
      </p:sp>
      <p:sp>
        <p:nvSpPr>
          <p:cNvPr id="29" name="Text 26"/>
          <p:cNvSpPr txBox="1"/>
          <p:nvPr/>
        </p:nvSpPr>
        <p:spPr>
          <a:xfrm>
            <a:off x="8202168" y="3383280"/>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______ .</a:t>
            </a:r>
            <a:endParaRPr lang="ar-SA" sz="1800" dirty="0"/>
          </a:p>
        </p:txBody>
      </p:sp>
      <p:sp>
        <p:nvSpPr>
          <p:cNvPr id="30" name="Text 27"/>
          <p:cNvSpPr txBox="1"/>
          <p:nvPr/>
        </p:nvSpPr>
        <p:spPr>
          <a:xfrm>
            <a:off x="6327648" y="3383280"/>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must not …</a:t>
            </a:r>
            <a:endParaRPr lang="en-US" sz="1050" dirty="0"/>
          </a:p>
        </p:txBody>
      </p:sp>
      <p:sp>
        <p:nvSpPr>
          <p:cNvPr id="31" name="Text 28"/>
          <p:cNvSpPr txBox="1"/>
          <p:nvPr/>
        </p:nvSpPr>
        <p:spPr>
          <a:xfrm>
            <a:off x="8202168" y="3950208"/>
            <a:ext cx="3383280" cy="538582"/>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______ .</a:t>
            </a:r>
            <a:endParaRPr lang="ar-SA" sz="1800" dirty="0"/>
          </a:p>
        </p:txBody>
      </p:sp>
      <p:sp>
        <p:nvSpPr>
          <p:cNvPr id="32" name="Text 29"/>
          <p:cNvSpPr txBox="1"/>
          <p:nvPr/>
        </p:nvSpPr>
        <p:spPr>
          <a:xfrm>
            <a:off x="6327648" y="3950208"/>
            <a:ext cx="1828800" cy="538582"/>
          </a:xfrm>
          <a:prstGeom prst="rect">
            <a:avLst/>
          </a:prstGeom>
          <a:noFill/>
          <a:ln/>
        </p:spPr>
        <p:txBody>
          <a:bodyPr wrap="square" lIns="0" tIns="0" rIns="0" bIns="0" rtlCol="0" anchor="ctr"/>
          <a:lstStyle/>
          <a:p>
            <a:pPr algn="l" indent="0" marL="0">
              <a:buNone/>
            </a:pPr>
            <a:r>
              <a:rPr lang="en-US" sz="1050" i="1" dirty="0">
                <a:solidFill>
                  <a:srgbClr val="5A6472"/>
                </a:solidFill>
                <a:latin typeface="Calibri" pitchFamily="34" charset="0"/>
                <a:cs typeface="Amiri" pitchFamily="2" charset="-78"/>
              </a:rPr>
              <a:t>We may …</a:t>
            </a:r>
            <a:endParaRPr lang="en-US" sz="1050" dirty="0"/>
          </a:p>
        </p:txBody>
      </p:sp>
      <p:sp>
        <p:nvSpPr>
          <p:cNvPr id="33" name="Shape 30"/>
          <p:cNvSpPr/>
          <p:nvPr/>
        </p:nvSpPr>
        <p:spPr>
          <a:xfrm>
            <a:off x="457200" y="5504688"/>
            <a:ext cx="11274552" cy="804672"/>
          </a:xfrm>
          <a:prstGeom prst="roundRect">
            <a:avLst>
              <a:gd name="adj" fmla="val 9091"/>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4" name="Text 31"/>
          <p:cNvSpPr txBox="1"/>
          <p:nvPr/>
        </p:nvSpPr>
        <p:spPr>
          <a:xfrm>
            <a:off x="640080" y="5541264"/>
            <a:ext cx="1828800" cy="237744"/>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WORD BANK</a:t>
            </a:r>
            <a:endParaRPr lang="en-US" sz="950" dirty="0"/>
          </a:p>
        </p:txBody>
      </p:sp>
      <p:sp>
        <p:nvSpPr>
          <p:cNvPr id="35" name="Text 32"/>
          <p:cNvSpPr txBox="1"/>
          <p:nvPr/>
        </p:nvSpPr>
        <p:spPr>
          <a:xfrm>
            <a:off x="640080" y="5760720"/>
            <a:ext cx="10908792" cy="512064"/>
          </a:xfrm>
          <a:prstGeom prst="rect">
            <a:avLst/>
          </a:prstGeom>
          <a:noFill/>
          <a:ln/>
        </p:spPr>
        <p:txBody>
          <a:bodyPr wrap="square" lIns="0" tIns="0" rIns="0" bIns="0" rtlCol="0" anchor="ctr"/>
          <a:lstStyle/>
          <a:p>
            <a:pPr rtl="1" algn="r" indent="0" marL="0">
              <a:buNone/>
            </a:pPr>
            <a:r>
              <a:rPr lang="ar-SA" altLang="en-US" sz="1600" b="1" dirty="0">
                <a:solidFill>
                  <a:srgbClr val="1B3B6F"/>
                </a:solidFill>
                <a:latin typeface="Amiri" pitchFamily="2" charset="-78"/>
                <a:ea typeface="Amiri" pitchFamily="2" charset="-78"/>
                <a:cs typeface="Amiri" pitchFamily="2" charset="-78"/>
              </a:rPr>
              <a:t>يَجِبُ أَنْ  ·  لَا يَجُوزُ أَنْ  ·  يُمْكِنُ أَنْ  ·  نَحْتَرِمَ · نَسْتَمِعَ  ·  نَلْبَسَ · نَصِلَ  ·  الهَاتِفُ المَحْمُولُ  ·  الوَاجِبُ المَنْزِلِيُّ  ·  فِي الوَقْتِ</a:t>
            </a:r>
            <a:endParaRPr lang="ar-SA" sz="1600" dirty="0"/>
          </a:p>
        </p:txBody>
      </p:sp>
      <p:sp>
        <p:nvSpPr>
          <p:cNvPr id="36" name="Text 33"/>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16 / 22</a:t>
            </a:r>
            <a:endParaRPr lang="en-US" sz="8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219188" y="274320"/>
            <a:ext cx="1540764"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19188" y="274320"/>
            <a:ext cx="1540764"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10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WRITE YOUR TEXT · ABOUT 40–60 WORDS</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A rulebook for our class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قَوَاعِدُ صَفِّنَا</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5577840" cy="4498848"/>
          </a:xfrm>
          <a:prstGeom prst="roundRect">
            <a:avLst>
              <a:gd name="adj" fmla="val 1626"/>
            </a:avLst>
          </a:prstGeom>
          <a:solidFill>
            <a:srgbClr val="F7F9FC"/>
          </a:solidFill>
          <a:ln w="9525">
            <a:solidFill>
              <a:srgbClr val="C9D6EA"/>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40080" y="1938528"/>
            <a:ext cx="1828800" cy="292608"/>
          </a:xfrm>
          <a:prstGeom prst="roundRect">
            <a:avLst>
              <a:gd name="adj" fmla="val 50000"/>
            </a:avLst>
          </a:prstGeom>
          <a:solidFill>
            <a:srgbClr val="1B3B6F"/>
          </a:solidFill>
          <a:ln w="12700">
            <a:solidFill>
              <a:srgbClr val="1B3B6F"/>
            </a:solidFill>
            <a:prstDash val="solid"/>
          </a:ln>
        </p:spPr>
      </p:sp>
      <p:sp>
        <p:nvSpPr>
          <p:cNvPr id="17" name="Text 14"/>
          <p:cNvSpPr txBox="1"/>
          <p:nvPr/>
        </p:nvSpPr>
        <p:spPr>
          <a:xfrm>
            <a:off x="640080" y="1938528"/>
            <a:ext cx="1828800" cy="292608"/>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WRITING · SHORT TEXT</a:t>
            </a:r>
            <a:endParaRPr lang="en-US" sz="950" dirty="0"/>
          </a:p>
        </p:txBody>
      </p:sp>
      <p:sp>
        <p:nvSpPr>
          <p:cNvPr id="18" name="Text 15"/>
          <p:cNvSpPr txBox="1"/>
          <p:nvPr/>
        </p:nvSpPr>
        <p:spPr>
          <a:xfrm>
            <a:off x="640080" y="2331720"/>
            <a:ext cx="5212080" cy="914400"/>
          </a:xfrm>
          <a:prstGeom prst="rect">
            <a:avLst/>
          </a:prstGeom>
          <a:noFill/>
          <a:ln/>
        </p:spPr>
        <p:txBody>
          <a:bodyPr wrap="square" lIns="0" tIns="0" rIns="0" bIns="0" rtlCol="0" anchor="ctr"/>
          <a:lstStyle/>
          <a:p>
            <a:pPr algn="l" indent="0" marL="0">
              <a:buNone/>
            </a:pPr>
            <a:r>
              <a:rPr lang="en-US" sz="1350" b="1" dirty="0">
                <a:solidFill>
                  <a:srgbClr val="1F2A37"/>
                </a:solidFill>
                <a:latin typeface="Calibri" pitchFamily="34" charset="0"/>
                <a:cs typeface="Amiri" pitchFamily="2" charset="-78"/>
              </a:rPr>
              <a:t>Write a rulebook (about 40–60 words) for your class or your online lesson. Include: • three things you must do • two things you must not do • one thing you may do • one reason why a rule is important.</a:t>
            </a:r>
            <a:endParaRPr lang="en-US" sz="1350" dirty="0"/>
          </a:p>
        </p:txBody>
      </p:sp>
      <p:sp>
        <p:nvSpPr>
          <p:cNvPr id="19" name="Text 16"/>
          <p:cNvSpPr txBox="1"/>
          <p:nvPr/>
        </p:nvSpPr>
        <p:spPr>
          <a:xfrm>
            <a:off x="685800" y="3310128"/>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Every bullet point has at least one sentence.</a:t>
            </a:r>
            <a:endParaRPr lang="en-US" sz="1200" dirty="0"/>
          </a:p>
        </p:txBody>
      </p:sp>
      <p:sp>
        <p:nvSpPr>
          <p:cNvPr id="20" name="Text 17"/>
          <p:cNvSpPr txBox="1"/>
          <p:nvPr/>
        </p:nvSpPr>
        <p:spPr>
          <a:xfrm>
            <a:off x="685800" y="3840480"/>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Full sentences with the right ending (I · my · he · she).</a:t>
            </a:r>
            <a:endParaRPr lang="en-US" sz="1200" dirty="0"/>
          </a:p>
        </p:txBody>
      </p:sp>
      <p:sp>
        <p:nvSpPr>
          <p:cNvPr id="21" name="Text 18"/>
          <p:cNvSpPr txBox="1"/>
          <p:nvPr/>
        </p:nvSpPr>
        <p:spPr>
          <a:xfrm>
            <a:off x="685800" y="4370832"/>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Words from today’s word bank.</a:t>
            </a:r>
            <a:endParaRPr lang="en-US" sz="1200" dirty="0"/>
          </a:p>
        </p:txBody>
      </p:sp>
      <p:sp>
        <p:nvSpPr>
          <p:cNvPr id="22" name="Text 19"/>
          <p:cNvSpPr txBox="1"/>
          <p:nvPr/>
        </p:nvSpPr>
        <p:spPr>
          <a:xfrm>
            <a:off x="685800" y="4901184"/>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At least one </a:t>
            </a:r>
            <a:pPr algn="l" indent="0" marL="0">
              <a:buNone/>
            </a:pPr>
            <a:r>
              <a:rPr lang="ar-SA" altLang="en-US" sz="1550" dirty="0">
                <a:solidFill>
                  <a:srgbClr val="1F2A37"/>
                </a:solidFill>
                <a:latin typeface="Amiri" pitchFamily="2" charset="-78"/>
                <a:ea typeface="Amiri" pitchFamily="2" charset="-78"/>
                <a:cs typeface="Amiri" pitchFamily="2" charset="-78"/>
              </a:rPr>
              <a:t>و</a:t>
            </a:r>
            <a:pPr algn="l" indent="0" marL="0">
              <a:buNone/>
            </a:pPr>
            <a:r>
              <a:rPr lang="en-US" sz="1200" dirty="0">
                <a:solidFill>
                  <a:srgbClr val="1F2A37"/>
                </a:solidFill>
                <a:latin typeface="Calibri" pitchFamily="34" charset="0"/>
                <a:cs typeface="Amiri" pitchFamily="2" charset="-78"/>
              </a:rPr>
              <a:t> and one </a:t>
            </a:r>
            <a:pPr algn="l" indent="0" marL="0">
              <a:buNone/>
            </a:pPr>
            <a:r>
              <a:rPr lang="ar-SA" altLang="en-US" sz="1550" dirty="0">
                <a:solidFill>
                  <a:srgbClr val="1F2A37"/>
                </a:solidFill>
                <a:latin typeface="Amiri" pitchFamily="2" charset="-78"/>
                <a:ea typeface="Amiri" pitchFamily="2" charset="-78"/>
                <a:cs typeface="Amiri" pitchFamily="2" charset="-78"/>
              </a:rPr>
              <a:t>لِأَنَّ</a:t>
            </a:r>
            <a:pPr algn="l" indent="0" marL="0">
              <a:buNone/>
            </a:pPr>
            <a:r>
              <a:rPr lang="en-US" sz="1200" dirty="0">
                <a:solidFill>
                  <a:srgbClr val="1F2A37"/>
                </a:solidFill>
                <a:latin typeface="Calibri" pitchFamily="34" charset="0"/>
                <a:cs typeface="Amiri" pitchFamily="2" charset="-78"/>
              </a:rPr>
              <a:t> (Develop).</a:t>
            </a:r>
            <a:endParaRPr lang="en-US" sz="1200" dirty="0"/>
          </a:p>
        </p:txBody>
      </p:sp>
      <p:sp>
        <p:nvSpPr>
          <p:cNvPr id="23" name="Text 20"/>
          <p:cNvSpPr txBox="1"/>
          <p:nvPr/>
        </p:nvSpPr>
        <p:spPr>
          <a:xfrm>
            <a:off x="685800" y="5431536"/>
            <a:ext cx="5212080" cy="530352"/>
          </a:xfrm>
          <a:prstGeom prst="rect">
            <a:avLst/>
          </a:prstGeom>
          <a:noFill/>
          <a:ln/>
        </p:spPr>
        <p:txBody>
          <a:bodyPr wrap="square" lIns="0" tIns="0" rIns="0" bIns="0" rtlCol="0" anchor="ctr"/>
          <a:lstStyle/>
          <a:p>
            <a:pPr algn="l" indent="0" marL="0">
              <a:buNone/>
            </a:pPr>
            <a:r>
              <a:rPr lang="en-US" sz="1200" dirty="0">
                <a:solidFill>
                  <a:srgbClr val="1F2A37"/>
                </a:solidFill>
                <a:latin typeface="Calibri" pitchFamily="34" charset="0"/>
                <a:cs typeface="Amiri" pitchFamily="2" charset="-78"/>
              </a:rPr>
              <a:t>☐  Buddy check, then fix one thing.</a:t>
            </a:r>
            <a:endParaRPr lang="en-US" sz="1200" dirty="0"/>
          </a:p>
        </p:txBody>
      </p:sp>
      <p:sp>
        <p:nvSpPr>
          <p:cNvPr id="24" name="Shape 21"/>
          <p:cNvSpPr/>
          <p:nvPr/>
        </p:nvSpPr>
        <p:spPr>
          <a:xfrm>
            <a:off x="6217920" y="1810512"/>
            <a:ext cx="5513832" cy="4498848"/>
          </a:xfrm>
          <a:prstGeom prst="roundRect">
            <a:avLst>
              <a:gd name="adj" fmla="val 1626"/>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5" name="Text 22"/>
          <p:cNvSpPr txBox="1"/>
          <p:nvPr/>
        </p:nvSpPr>
        <p:spPr>
          <a:xfrm>
            <a:off x="6400800" y="1901952"/>
            <a:ext cx="5120640" cy="274320"/>
          </a:xfrm>
          <a:prstGeom prst="rect">
            <a:avLst/>
          </a:prstGeom>
          <a:noFill/>
          <a:ln/>
        </p:spPr>
        <p:txBody>
          <a:bodyPr wrap="square" lIns="0" tIns="0" rIns="0" bIns="0" rtlCol="0" anchor="ctr"/>
          <a:lstStyle/>
          <a:p>
            <a:pPr algn="l" indent="0" marL="0">
              <a:buNone/>
            </a:pPr>
            <a:r>
              <a:rPr lang="en-US" sz="950" b="1" spc="100" kern="0" dirty="0">
                <a:solidFill>
                  <a:srgbClr val="8A6D1E"/>
                </a:solidFill>
                <a:latin typeface="Calibri" pitchFamily="34" charset="0"/>
                <a:cs typeface="Amiri" pitchFamily="2" charset="-78"/>
              </a:rPr>
              <a:t>USEFUL LANGUAGE</a:t>
            </a:r>
            <a:endParaRPr lang="en-US" sz="950" dirty="0"/>
          </a:p>
        </p:txBody>
      </p:sp>
      <p:sp>
        <p:nvSpPr>
          <p:cNvPr id="26" name="Text 23"/>
          <p:cNvSpPr txBox="1"/>
          <p:nvPr/>
        </p:nvSpPr>
        <p:spPr>
          <a:xfrm>
            <a:off x="8412480" y="2231136"/>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يَجِبُ أَنْ …</a:t>
            </a:r>
            <a:endParaRPr lang="ar-SA" sz="1800" dirty="0"/>
          </a:p>
        </p:txBody>
      </p:sp>
      <p:sp>
        <p:nvSpPr>
          <p:cNvPr id="27" name="Text 24"/>
          <p:cNvSpPr txBox="1"/>
          <p:nvPr/>
        </p:nvSpPr>
        <p:spPr>
          <a:xfrm>
            <a:off x="6400800" y="2560320"/>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a:t>
            </a:r>
            <a:endParaRPr lang="en-US" sz="1050" dirty="0"/>
          </a:p>
        </p:txBody>
      </p:sp>
      <p:sp>
        <p:nvSpPr>
          <p:cNvPr id="28" name="Text 25"/>
          <p:cNvSpPr txBox="1"/>
          <p:nvPr/>
        </p:nvSpPr>
        <p:spPr>
          <a:xfrm>
            <a:off x="8412480" y="2889504"/>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لَا يَجُوزُ أَنْ …</a:t>
            </a:r>
            <a:endParaRPr lang="ar-SA" sz="1800" dirty="0"/>
          </a:p>
        </p:txBody>
      </p:sp>
      <p:sp>
        <p:nvSpPr>
          <p:cNvPr id="29" name="Text 26"/>
          <p:cNvSpPr txBox="1"/>
          <p:nvPr/>
        </p:nvSpPr>
        <p:spPr>
          <a:xfrm>
            <a:off x="6400800" y="3218688"/>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must not …</a:t>
            </a:r>
            <a:endParaRPr lang="en-US" sz="1050" dirty="0"/>
          </a:p>
        </p:txBody>
      </p:sp>
      <p:sp>
        <p:nvSpPr>
          <p:cNvPr id="30" name="Text 27"/>
          <p:cNvSpPr txBox="1"/>
          <p:nvPr/>
        </p:nvSpPr>
        <p:spPr>
          <a:xfrm>
            <a:off x="8412480" y="3547872"/>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يُمْكِنُ أَنْ …</a:t>
            </a:r>
            <a:endParaRPr lang="ar-SA" sz="1800" dirty="0"/>
          </a:p>
        </p:txBody>
      </p:sp>
      <p:sp>
        <p:nvSpPr>
          <p:cNvPr id="31" name="Text 28"/>
          <p:cNvSpPr txBox="1"/>
          <p:nvPr/>
        </p:nvSpPr>
        <p:spPr>
          <a:xfrm>
            <a:off x="6400800" y="3877056"/>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we may …</a:t>
            </a:r>
            <a:endParaRPr lang="en-US" sz="1050" dirty="0"/>
          </a:p>
        </p:txBody>
      </p:sp>
      <p:sp>
        <p:nvSpPr>
          <p:cNvPr id="32" name="Text 29"/>
          <p:cNvSpPr txBox="1"/>
          <p:nvPr/>
        </p:nvSpPr>
        <p:spPr>
          <a:xfrm>
            <a:off x="8412480" y="4206240"/>
            <a:ext cx="3154680" cy="408188"/>
          </a:xfrm>
          <a:prstGeom prst="rect">
            <a:avLst/>
          </a:prstGeom>
          <a:noFill/>
          <a:ln/>
        </p:spPr>
        <p:txBody>
          <a:bodyPr wrap="square" lIns="0" tIns="0" rIns="0" bIns="0" rtlCol="0" anchor="ctr"/>
          <a:lstStyle/>
          <a:p>
            <a:pPr rtl="1" algn="r" indent="0" marL="0">
              <a:buNone/>
            </a:pPr>
            <a:r>
              <a:rPr lang="ar-SA" altLang="en-US" sz="1800" b="1" dirty="0">
                <a:solidFill>
                  <a:srgbClr val="1B3B6F"/>
                </a:solidFill>
                <a:latin typeface="Amiri" pitchFamily="2" charset="-78"/>
                <a:ea typeface="Amiri" pitchFamily="2" charset="-78"/>
                <a:cs typeface="Amiri" pitchFamily="2" charset="-78"/>
              </a:rPr>
              <a:t>هٰذِهِ القَاعِدَةُ مُهِمَّةٌ لِأَنَّ …</a:t>
            </a:r>
            <a:endParaRPr lang="ar-SA" sz="1800" dirty="0"/>
          </a:p>
        </p:txBody>
      </p:sp>
      <p:sp>
        <p:nvSpPr>
          <p:cNvPr id="33" name="Text 30"/>
          <p:cNvSpPr txBox="1"/>
          <p:nvPr/>
        </p:nvSpPr>
        <p:spPr>
          <a:xfrm>
            <a:off x="6400800" y="4535424"/>
            <a:ext cx="5166360" cy="276515"/>
          </a:xfrm>
          <a:prstGeom prst="rect">
            <a:avLst/>
          </a:prstGeom>
          <a:noFill/>
          <a:ln/>
        </p:spPr>
        <p:txBody>
          <a:bodyPr wrap="square" lIns="0" tIns="0" rIns="0" bIns="0" rtlCol="0" anchor="ctr"/>
          <a:lstStyle/>
          <a:p>
            <a:pPr algn="r" indent="0" marL="0">
              <a:buNone/>
            </a:pPr>
            <a:r>
              <a:rPr lang="en-US" sz="1050" i="1" dirty="0">
                <a:solidFill>
                  <a:srgbClr val="5A6472"/>
                </a:solidFill>
                <a:latin typeface="Calibri" pitchFamily="34" charset="0"/>
                <a:cs typeface="Amiri" pitchFamily="2" charset="-78"/>
              </a:rPr>
              <a:t>this rule is important because …</a:t>
            </a:r>
            <a:endParaRPr lang="en-US" sz="1050" dirty="0"/>
          </a:p>
        </p:txBody>
      </p:sp>
      <p:sp>
        <p:nvSpPr>
          <p:cNvPr id="34" name="Text 3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17 / 22</a:t>
            </a:r>
            <a:endParaRPr lang="en-US" sz="8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295083" y="274320"/>
            <a:ext cx="1464869" cy="329184"/>
          </a:xfrm>
          <a:prstGeom prst="roundRect">
            <a:avLst>
              <a:gd name="adj" fmla="val 50000"/>
            </a:avLst>
          </a:prstGeom>
          <a:solidFill>
            <a:srgbClr val="1E6B52"/>
          </a:solidFill>
          <a:ln w="12700">
            <a:solidFill>
              <a:srgbClr val="1E6B52"/>
            </a:solidFill>
            <a:prstDash val="solid"/>
          </a:ln>
        </p:spPr>
      </p:sp>
      <p:sp>
        <p:nvSpPr>
          <p:cNvPr id="9" name="Text 7"/>
          <p:cNvSpPr txBox="1"/>
          <p:nvPr/>
        </p:nvSpPr>
        <p:spPr>
          <a:xfrm>
            <a:off x="7295083" y="274320"/>
            <a:ext cx="146486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YOU DO · 3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1E6B52"/>
                </a:solidFill>
                <a:latin typeface="Calibri" pitchFamily="34" charset="0"/>
                <a:cs typeface="Amiri" pitchFamily="2" charset="-78"/>
              </a:rPr>
              <a:t>STEP 8 · BUDDY CHECK · SWAP AND READ YOUR BUDDY’S TEXT</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Buddy check: five points</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رَاجِعْ مَعَ زَمِيلِكَ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8759952" y="1810512"/>
            <a:ext cx="289864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Line / example</a:t>
            </a:r>
            <a:endParaRPr lang="en-US" sz="1100" dirty="0"/>
          </a:p>
        </p:txBody>
      </p:sp>
      <p:sp>
        <p:nvSpPr>
          <p:cNvPr id="17" name="Text 14"/>
          <p:cNvSpPr txBox="1"/>
          <p:nvPr/>
        </p:nvSpPr>
        <p:spPr>
          <a:xfrm>
            <a:off x="7845552" y="1810512"/>
            <a:ext cx="76809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 / ✗</a:t>
            </a:r>
            <a:endParaRPr lang="en-US" sz="1100" dirty="0"/>
          </a:p>
        </p:txBody>
      </p:sp>
      <p:sp>
        <p:nvSpPr>
          <p:cNvPr id="18" name="Text 15"/>
          <p:cNvSpPr txBox="1"/>
          <p:nvPr/>
        </p:nvSpPr>
        <p:spPr>
          <a:xfrm>
            <a:off x="6565392" y="1810512"/>
            <a:ext cx="113385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Route</a:t>
            </a:r>
            <a:endParaRPr lang="en-US" sz="1100" dirty="0"/>
          </a:p>
        </p:txBody>
      </p:sp>
      <p:sp>
        <p:nvSpPr>
          <p:cNvPr id="19" name="Text 16"/>
          <p:cNvSpPr txBox="1"/>
          <p:nvPr/>
        </p:nvSpPr>
        <p:spPr>
          <a:xfrm>
            <a:off x="530352" y="1810512"/>
            <a:ext cx="5888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Did the writer …</a:t>
            </a:r>
            <a:endParaRPr lang="en-US" sz="1100" dirty="0"/>
          </a:p>
        </p:txBody>
      </p:sp>
      <p:sp>
        <p:nvSpPr>
          <p:cNvPr id="20" name="Shape 17"/>
          <p:cNvSpPr/>
          <p:nvPr/>
        </p:nvSpPr>
        <p:spPr>
          <a:xfrm>
            <a:off x="457200" y="2267712"/>
            <a:ext cx="11274552" cy="682142"/>
          </a:xfrm>
          <a:prstGeom prst="roundRect">
            <a:avLst>
              <a:gd name="adj" fmla="val 6702"/>
            </a:avLst>
          </a:prstGeom>
          <a:solidFill>
            <a:srgbClr val="FFFFFF"/>
          </a:solidFill>
          <a:ln w="9525">
            <a:solidFill>
              <a:srgbClr val="D8D0BF"/>
            </a:solidFill>
            <a:prstDash val="solid"/>
          </a:ln>
        </p:spPr>
      </p:sp>
      <p:sp>
        <p:nvSpPr>
          <p:cNvPr id="21" name="Text 18"/>
          <p:cNvSpPr txBox="1"/>
          <p:nvPr/>
        </p:nvSpPr>
        <p:spPr>
          <a:xfrm>
            <a:off x="8796528" y="2267712"/>
            <a:ext cx="2862072" cy="682142"/>
          </a:xfrm>
          <a:prstGeom prst="rect">
            <a:avLst/>
          </a:prstGeom>
          <a:noFill/>
          <a:ln/>
        </p:spPr>
        <p:txBody>
          <a:bodyPr wrap="square" lIns="0" tIns="0" rIns="0" bIns="0" rtlCol="0" anchor="ctr"/>
          <a:lstStyle/>
          <a:p>
            <a:pPr algn="l" indent="0" marL="0">
              <a:buNone/>
            </a:pPr>
            <a:endParaRPr lang="en-US" sz="1100" dirty="0"/>
          </a:p>
        </p:txBody>
      </p:sp>
      <p:sp>
        <p:nvSpPr>
          <p:cNvPr id="22" name="Text 19"/>
          <p:cNvSpPr txBox="1"/>
          <p:nvPr/>
        </p:nvSpPr>
        <p:spPr>
          <a:xfrm>
            <a:off x="7882128" y="2267712"/>
            <a:ext cx="731520" cy="682142"/>
          </a:xfrm>
          <a:prstGeom prst="rect">
            <a:avLst/>
          </a:prstGeom>
          <a:noFill/>
          <a:ln/>
        </p:spPr>
        <p:txBody>
          <a:bodyPr wrap="square" lIns="0" tIns="0" rIns="0" bIns="0" rtlCol="0" anchor="ctr"/>
          <a:lstStyle/>
          <a:p>
            <a:pPr algn="l" indent="0" marL="0">
              <a:buNone/>
            </a:pPr>
            <a:endParaRPr lang="en-US" sz="1100" dirty="0"/>
          </a:p>
        </p:txBody>
      </p:sp>
      <p:sp>
        <p:nvSpPr>
          <p:cNvPr id="23" name="Text 20"/>
          <p:cNvSpPr txBox="1"/>
          <p:nvPr/>
        </p:nvSpPr>
        <p:spPr>
          <a:xfrm>
            <a:off x="6601968" y="2267712"/>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24" name="Text 21"/>
          <p:cNvSpPr txBox="1"/>
          <p:nvPr/>
        </p:nvSpPr>
        <p:spPr>
          <a:xfrm>
            <a:off x="566928" y="2267712"/>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answer EVERY bullet point?</a:t>
            </a:r>
            <a:endParaRPr lang="en-US" sz="1100" dirty="0"/>
          </a:p>
        </p:txBody>
      </p:sp>
      <p:sp>
        <p:nvSpPr>
          <p:cNvPr id="25" name="Shape 22"/>
          <p:cNvSpPr/>
          <p:nvPr/>
        </p:nvSpPr>
        <p:spPr>
          <a:xfrm>
            <a:off x="11091672" y="2313432"/>
            <a:ext cx="548640" cy="182880"/>
          </a:xfrm>
          <a:prstGeom prst="roundRect">
            <a:avLst>
              <a:gd name="adj" fmla="val 50000"/>
            </a:avLst>
          </a:prstGeom>
          <a:solidFill>
            <a:srgbClr val="2E8B57"/>
          </a:solidFill>
          <a:ln w="12700">
            <a:solidFill>
              <a:srgbClr val="2E8B57"/>
            </a:solidFill>
            <a:prstDash val="solid"/>
          </a:ln>
        </p:spPr>
      </p:sp>
      <p:sp>
        <p:nvSpPr>
          <p:cNvPr id="26" name="Text 23"/>
          <p:cNvSpPr txBox="1"/>
          <p:nvPr/>
        </p:nvSpPr>
        <p:spPr>
          <a:xfrm>
            <a:off x="11091672" y="2313432"/>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27" name="Shape 24"/>
          <p:cNvSpPr/>
          <p:nvPr/>
        </p:nvSpPr>
        <p:spPr>
          <a:xfrm>
            <a:off x="457200" y="3004718"/>
            <a:ext cx="11274552" cy="682142"/>
          </a:xfrm>
          <a:prstGeom prst="roundRect">
            <a:avLst>
              <a:gd name="adj" fmla="val 6702"/>
            </a:avLst>
          </a:prstGeom>
          <a:solidFill>
            <a:srgbClr val="F4F1EA"/>
          </a:solidFill>
          <a:ln w="9525">
            <a:solidFill>
              <a:srgbClr val="D8D0BF"/>
            </a:solidFill>
            <a:prstDash val="solid"/>
          </a:ln>
        </p:spPr>
      </p:sp>
      <p:sp>
        <p:nvSpPr>
          <p:cNvPr id="28" name="Text 25"/>
          <p:cNvSpPr txBox="1"/>
          <p:nvPr/>
        </p:nvSpPr>
        <p:spPr>
          <a:xfrm>
            <a:off x="8796528" y="3004718"/>
            <a:ext cx="2862072" cy="682142"/>
          </a:xfrm>
          <a:prstGeom prst="rect">
            <a:avLst/>
          </a:prstGeom>
          <a:noFill/>
          <a:ln/>
        </p:spPr>
        <p:txBody>
          <a:bodyPr wrap="square" lIns="0" tIns="0" rIns="0" bIns="0" rtlCol="0" anchor="ctr"/>
          <a:lstStyle/>
          <a:p>
            <a:pPr algn="l" indent="0" marL="0">
              <a:buNone/>
            </a:pPr>
            <a:endParaRPr lang="en-US" sz="1100" dirty="0"/>
          </a:p>
        </p:txBody>
      </p:sp>
      <p:sp>
        <p:nvSpPr>
          <p:cNvPr id="29" name="Text 26"/>
          <p:cNvSpPr txBox="1"/>
          <p:nvPr/>
        </p:nvSpPr>
        <p:spPr>
          <a:xfrm>
            <a:off x="7882128" y="3004718"/>
            <a:ext cx="731520" cy="682142"/>
          </a:xfrm>
          <a:prstGeom prst="rect">
            <a:avLst/>
          </a:prstGeom>
          <a:noFill/>
          <a:ln/>
        </p:spPr>
        <p:txBody>
          <a:bodyPr wrap="square" lIns="0" tIns="0" rIns="0" bIns="0" rtlCol="0" anchor="ctr"/>
          <a:lstStyle/>
          <a:p>
            <a:pPr algn="l" indent="0" marL="0">
              <a:buNone/>
            </a:pPr>
            <a:endParaRPr lang="en-US" sz="1100" dirty="0"/>
          </a:p>
        </p:txBody>
      </p:sp>
      <p:sp>
        <p:nvSpPr>
          <p:cNvPr id="30" name="Text 27"/>
          <p:cNvSpPr txBox="1"/>
          <p:nvPr/>
        </p:nvSpPr>
        <p:spPr>
          <a:xfrm>
            <a:off x="6601968" y="300471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Core</a:t>
            </a:r>
            <a:endParaRPr lang="en-US" sz="1100" dirty="0"/>
          </a:p>
        </p:txBody>
      </p:sp>
      <p:sp>
        <p:nvSpPr>
          <p:cNvPr id="31" name="Text 28"/>
          <p:cNvSpPr txBox="1"/>
          <p:nvPr/>
        </p:nvSpPr>
        <p:spPr>
          <a:xfrm>
            <a:off x="566928" y="300471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a:t>
            </a:r>
            <a:pPr algn="l" indent="0" marL="0">
              <a:buNone/>
            </a:pPr>
            <a:r>
              <a:rPr lang="ar-SA" altLang="en-US" sz="1450" dirty="0">
                <a:solidFill>
                  <a:srgbClr val="5A6472"/>
                </a:solidFill>
                <a:latin typeface="Amiri" pitchFamily="2" charset="-78"/>
                <a:ea typeface="Amiri" pitchFamily="2" charset="-78"/>
                <a:cs typeface="Amiri" pitchFamily="2" charset="-78"/>
              </a:rPr>
              <a:t>يَجِبُ أَنْ</a:t>
            </a:r>
            <a:pPr algn="l" indent="0" marL="0">
              <a:buNone/>
            </a:pPr>
            <a:r>
              <a:rPr lang="en-US" sz="1100" dirty="0">
                <a:solidFill>
                  <a:srgbClr val="5A6472"/>
                </a:solidFill>
                <a:latin typeface="Calibri" pitchFamily="34" charset="0"/>
                <a:cs typeface="Amiri" pitchFamily="2" charset="-78"/>
              </a:rPr>
              <a:t> and </a:t>
            </a:r>
            <a:pPr algn="l" indent="0" marL="0">
              <a:buNone/>
            </a:pPr>
            <a:r>
              <a:rPr lang="ar-SA" altLang="en-US" sz="1450" dirty="0">
                <a:solidFill>
                  <a:srgbClr val="5A6472"/>
                </a:solidFill>
                <a:latin typeface="Amiri" pitchFamily="2" charset="-78"/>
                <a:ea typeface="Amiri" pitchFamily="2" charset="-78"/>
                <a:cs typeface="Amiri" pitchFamily="2" charset="-78"/>
              </a:rPr>
              <a:t>لَا يَجُوزُ أَنْ</a:t>
            </a:r>
            <a:pPr algn="l" indent="0" marL="0">
              <a:buNone/>
            </a:pPr>
            <a:r>
              <a:rPr lang="en-US" sz="1100" dirty="0">
                <a:solidFill>
                  <a:srgbClr val="5A6472"/>
                </a:solidFill>
                <a:latin typeface="Calibri" pitchFamily="34" charset="0"/>
                <a:cs typeface="Amiri" pitchFamily="2" charset="-78"/>
              </a:rPr>
              <a:t> correctly?</a:t>
            </a:r>
            <a:endParaRPr lang="en-US" sz="1100" dirty="0"/>
          </a:p>
        </p:txBody>
      </p:sp>
      <p:sp>
        <p:nvSpPr>
          <p:cNvPr id="32" name="Shape 29"/>
          <p:cNvSpPr/>
          <p:nvPr/>
        </p:nvSpPr>
        <p:spPr>
          <a:xfrm>
            <a:off x="11091672" y="3050438"/>
            <a:ext cx="548640" cy="182880"/>
          </a:xfrm>
          <a:prstGeom prst="roundRect">
            <a:avLst>
              <a:gd name="adj" fmla="val 50000"/>
            </a:avLst>
          </a:prstGeom>
          <a:solidFill>
            <a:srgbClr val="2E8B57"/>
          </a:solidFill>
          <a:ln w="12700">
            <a:solidFill>
              <a:srgbClr val="2E8B57"/>
            </a:solidFill>
            <a:prstDash val="solid"/>
          </a:ln>
        </p:spPr>
      </p:sp>
      <p:sp>
        <p:nvSpPr>
          <p:cNvPr id="33" name="Text 30"/>
          <p:cNvSpPr txBox="1"/>
          <p:nvPr/>
        </p:nvSpPr>
        <p:spPr>
          <a:xfrm>
            <a:off x="11091672" y="3050438"/>
            <a:ext cx="548640" cy="182880"/>
          </a:xfrm>
          <a:prstGeom prst="rect">
            <a:avLst/>
          </a:prstGeom>
          <a:noFill/>
          <a:ln/>
        </p:spPr>
        <p:txBody>
          <a:bodyPr wrap="square" lIns="0" tIns="0" rIns="0" bIns="0" rtlCol="0" anchor="ctr"/>
          <a:lstStyle/>
          <a:p>
            <a:pPr algn="ctr" indent="0" marL="0">
              <a:buNone/>
            </a:pPr>
            <a:r>
              <a:rPr lang="en-US" sz="650" b="1" spc="100" kern="0" dirty="0">
                <a:solidFill>
                  <a:srgbClr val="FFFFFF"/>
                </a:solidFill>
                <a:latin typeface="Calibri" pitchFamily="34" charset="0"/>
                <a:cs typeface="Amiri" pitchFamily="2" charset="-78"/>
              </a:rPr>
              <a:t>CORE</a:t>
            </a:r>
            <a:endParaRPr lang="en-US" sz="650" dirty="0"/>
          </a:p>
        </p:txBody>
      </p:sp>
      <p:sp>
        <p:nvSpPr>
          <p:cNvPr id="34" name="Shape 31"/>
          <p:cNvSpPr/>
          <p:nvPr/>
        </p:nvSpPr>
        <p:spPr>
          <a:xfrm>
            <a:off x="457200" y="3741725"/>
            <a:ext cx="11274552" cy="682142"/>
          </a:xfrm>
          <a:prstGeom prst="roundRect">
            <a:avLst>
              <a:gd name="adj" fmla="val 6702"/>
            </a:avLst>
          </a:prstGeom>
          <a:solidFill>
            <a:srgbClr val="FFFFFF"/>
          </a:solidFill>
          <a:ln w="9525">
            <a:solidFill>
              <a:srgbClr val="D8D0BF"/>
            </a:solidFill>
            <a:prstDash val="solid"/>
          </a:ln>
        </p:spPr>
      </p:sp>
      <p:sp>
        <p:nvSpPr>
          <p:cNvPr id="35" name="Text 32"/>
          <p:cNvSpPr txBox="1"/>
          <p:nvPr/>
        </p:nvSpPr>
        <p:spPr>
          <a:xfrm>
            <a:off x="8796528" y="3741725"/>
            <a:ext cx="2862072" cy="682142"/>
          </a:xfrm>
          <a:prstGeom prst="rect">
            <a:avLst/>
          </a:prstGeom>
          <a:noFill/>
          <a:ln/>
        </p:spPr>
        <p:txBody>
          <a:bodyPr wrap="square" lIns="0" tIns="0" rIns="0" bIns="0" rtlCol="0" anchor="ctr"/>
          <a:lstStyle/>
          <a:p>
            <a:pPr algn="l" indent="0" marL="0">
              <a:buNone/>
            </a:pPr>
            <a:endParaRPr lang="en-US" sz="1100" dirty="0"/>
          </a:p>
        </p:txBody>
      </p:sp>
      <p:sp>
        <p:nvSpPr>
          <p:cNvPr id="36" name="Text 33"/>
          <p:cNvSpPr txBox="1"/>
          <p:nvPr/>
        </p:nvSpPr>
        <p:spPr>
          <a:xfrm>
            <a:off x="7882128" y="3741725"/>
            <a:ext cx="731520" cy="682142"/>
          </a:xfrm>
          <a:prstGeom prst="rect">
            <a:avLst/>
          </a:prstGeom>
          <a:noFill/>
          <a:ln/>
        </p:spPr>
        <p:txBody>
          <a:bodyPr wrap="square" lIns="0" tIns="0" rIns="0" bIns="0" rtlCol="0" anchor="ctr"/>
          <a:lstStyle/>
          <a:p>
            <a:pPr algn="l" indent="0" marL="0">
              <a:buNone/>
            </a:pPr>
            <a:endParaRPr lang="en-US" sz="1100" dirty="0"/>
          </a:p>
        </p:txBody>
      </p:sp>
      <p:sp>
        <p:nvSpPr>
          <p:cNvPr id="37" name="Text 34"/>
          <p:cNvSpPr txBox="1"/>
          <p:nvPr/>
        </p:nvSpPr>
        <p:spPr>
          <a:xfrm>
            <a:off x="6601968" y="3741725"/>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38" name="Text 35"/>
          <p:cNvSpPr txBox="1"/>
          <p:nvPr/>
        </p:nvSpPr>
        <p:spPr>
          <a:xfrm>
            <a:off x="566928" y="3741725"/>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end every verb after </a:t>
            </a:r>
            <a:pPr algn="l" indent="0" marL="0">
              <a:buNone/>
            </a:pPr>
            <a:r>
              <a:rPr lang="ar-SA" altLang="en-US" sz="1450" dirty="0">
                <a:solidFill>
                  <a:srgbClr val="5A6472"/>
                </a:solidFill>
                <a:latin typeface="Amiri" pitchFamily="2" charset="-78"/>
                <a:ea typeface="Amiri" pitchFamily="2" charset="-78"/>
                <a:cs typeface="Amiri" pitchFamily="2" charset="-78"/>
              </a:rPr>
              <a:t>أَنْ</a:t>
            </a:r>
            <a:pPr algn="l" indent="0" marL="0">
              <a:buNone/>
            </a:pPr>
            <a:r>
              <a:rPr lang="en-US" sz="1100" dirty="0">
                <a:solidFill>
                  <a:srgbClr val="5A6472"/>
                </a:solidFill>
                <a:latin typeface="Calibri" pitchFamily="34" charset="0"/>
                <a:cs typeface="Amiri" pitchFamily="2" charset="-78"/>
              </a:rPr>
              <a:t> in -a?</a:t>
            </a:r>
            <a:endParaRPr lang="en-US" sz="1100" dirty="0"/>
          </a:p>
        </p:txBody>
      </p:sp>
      <p:sp>
        <p:nvSpPr>
          <p:cNvPr id="39" name="Shape 36"/>
          <p:cNvSpPr/>
          <p:nvPr/>
        </p:nvSpPr>
        <p:spPr>
          <a:xfrm>
            <a:off x="457200" y="4478731"/>
            <a:ext cx="11274552" cy="682142"/>
          </a:xfrm>
          <a:prstGeom prst="roundRect">
            <a:avLst>
              <a:gd name="adj" fmla="val 6702"/>
            </a:avLst>
          </a:prstGeom>
          <a:solidFill>
            <a:srgbClr val="F4F1EA"/>
          </a:solidFill>
          <a:ln w="9525">
            <a:solidFill>
              <a:srgbClr val="D8D0BF"/>
            </a:solidFill>
            <a:prstDash val="solid"/>
          </a:ln>
        </p:spPr>
      </p:sp>
      <p:sp>
        <p:nvSpPr>
          <p:cNvPr id="40" name="Text 37"/>
          <p:cNvSpPr txBox="1"/>
          <p:nvPr/>
        </p:nvSpPr>
        <p:spPr>
          <a:xfrm>
            <a:off x="8796528" y="4478731"/>
            <a:ext cx="2862072" cy="682142"/>
          </a:xfrm>
          <a:prstGeom prst="rect">
            <a:avLst/>
          </a:prstGeom>
          <a:noFill/>
          <a:ln/>
        </p:spPr>
        <p:txBody>
          <a:bodyPr wrap="square" lIns="0" tIns="0" rIns="0" bIns="0" rtlCol="0" anchor="ctr"/>
          <a:lstStyle/>
          <a:p>
            <a:pPr algn="l" indent="0" marL="0">
              <a:buNone/>
            </a:pPr>
            <a:endParaRPr lang="en-US" sz="1100" dirty="0"/>
          </a:p>
        </p:txBody>
      </p:sp>
      <p:sp>
        <p:nvSpPr>
          <p:cNvPr id="41" name="Text 38"/>
          <p:cNvSpPr txBox="1"/>
          <p:nvPr/>
        </p:nvSpPr>
        <p:spPr>
          <a:xfrm>
            <a:off x="7882128" y="4478731"/>
            <a:ext cx="731520" cy="682142"/>
          </a:xfrm>
          <a:prstGeom prst="rect">
            <a:avLst/>
          </a:prstGeom>
          <a:noFill/>
          <a:ln/>
        </p:spPr>
        <p:txBody>
          <a:bodyPr wrap="square" lIns="0" tIns="0" rIns="0" bIns="0" rtlCol="0" anchor="ctr"/>
          <a:lstStyle/>
          <a:p>
            <a:pPr algn="l" indent="0" marL="0">
              <a:buNone/>
            </a:pPr>
            <a:endParaRPr lang="en-US" sz="1100" dirty="0"/>
          </a:p>
        </p:txBody>
      </p:sp>
      <p:sp>
        <p:nvSpPr>
          <p:cNvPr id="42" name="Text 39"/>
          <p:cNvSpPr txBox="1"/>
          <p:nvPr/>
        </p:nvSpPr>
        <p:spPr>
          <a:xfrm>
            <a:off x="6601968" y="4478731"/>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Develop</a:t>
            </a:r>
            <a:endParaRPr lang="en-US" sz="1100" dirty="0"/>
          </a:p>
        </p:txBody>
      </p:sp>
      <p:sp>
        <p:nvSpPr>
          <p:cNvPr id="43" name="Text 40"/>
          <p:cNvSpPr txBox="1"/>
          <p:nvPr/>
        </p:nvSpPr>
        <p:spPr>
          <a:xfrm>
            <a:off x="566928" y="4478731"/>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use linking words (</a:t>
            </a:r>
            <a:pPr algn="l" indent="0" marL="0">
              <a:buNone/>
            </a:pPr>
            <a:r>
              <a:rPr lang="ar-SA" altLang="en-US" sz="1450" dirty="0">
                <a:solidFill>
                  <a:srgbClr val="5A6472"/>
                </a:solidFill>
                <a:latin typeface="Amiri" pitchFamily="2" charset="-78"/>
                <a:ea typeface="Amiri" pitchFamily="2" charset="-78"/>
                <a:cs typeface="Amiri" pitchFamily="2" charset="-78"/>
              </a:rPr>
              <a:t>وَ</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ثُمَّ</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لِأَنَّ</a:t>
            </a:r>
            <a:pPr algn="l" indent="0" marL="0">
              <a:buNone/>
            </a:pPr>
            <a:r>
              <a:rPr lang="en-US" sz="1100" dirty="0">
                <a:solidFill>
                  <a:srgbClr val="5A6472"/>
                </a:solidFill>
                <a:latin typeface="Calibri" pitchFamily="34" charset="0"/>
                <a:cs typeface="Amiri" pitchFamily="2" charset="-78"/>
              </a:rPr>
              <a:t> · </a:t>
            </a:r>
            <a:pPr algn="l" indent="0" marL="0">
              <a:buNone/>
            </a:pPr>
            <a:r>
              <a:rPr lang="ar-SA" altLang="en-US" sz="1450" dirty="0">
                <a:solidFill>
                  <a:srgbClr val="5A6472"/>
                </a:solidFill>
                <a:latin typeface="Amiri" pitchFamily="2" charset="-78"/>
                <a:ea typeface="Amiri" pitchFamily="2" charset="-78"/>
                <a:cs typeface="Amiri" pitchFamily="2" charset="-78"/>
              </a:rPr>
              <a:t>لٰكِنَّ</a:t>
            </a:r>
            <a:pPr algn="l" indent="0" marL="0">
              <a:buNone/>
            </a:pPr>
            <a:r>
              <a:rPr lang="en-US" sz="1100" dirty="0">
                <a:solidFill>
                  <a:srgbClr val="5A6472"/>
                </a:solidFill>
                <a:latin typeface="Calibri" pitchFamily="34" charset="0"/>
                <a:cs typeface="Amiri" pitchFamily="2" charset="-78"/>
              </a:rPr>
              <a:t>)?</a:t>
            </a:r>
            <a:endParaRPr lang="en-US" sz="1100" dirty="0"/>
          </a:p>
        </p:txBody>
      </p:sp>
      <p:sp>
        <p:nvSpPr>
          <p:cNvPr id="44" name="Shape 41"/>
          <p:cNvSpPr/>
          <p:nvPr/>
        </p:nvSpPr>
        <p:spPr>
          <a:xfrm>
            <a:off x="457200" y="5215738"/>
            <a:ext cx="11274552" cy="682142"/>
          </a:xfrm>
          <a:prstGeom prst="roundRect">
            <a:avLst>
              <a:gd name="adj" fmla="val 6702"/>
            </a:avLst>
          </a:prstGeom>
          <a:solidFill>
            <a:srgbClr val="FFFFFF"/>
          </a:solidFill>
          <a:ln w="9525">
            <a:solidFill>
              <a:srgbClr val="D8D0BF"/>
            </a:solidFill>
            <a:prstDash val="solid"/>
          </a:ln>
        </p:spPr>
      </p:sp>
      <p:sp>
        <p:nvSpPr>
          <p:cNvPr id="45" name="Text 42"/>
          <p:cNvSpPr txBox="1"/>
          <p:nvPr/>
        </p:nvSpPr>
        <p:spPr>
          <a:xfrm>
            <a:off x="8796528" y="5215738"/>
            <a:ext cx="2862072" cy="682142"/>
          </a:xfrm>
          <a:prstGeom prst="rect">
            <a:avLst/>
          </a:prstGeom>
          <a:noFill/>
          <a:ln/>
        </p:spPr>
        <p:txBody>
          <a:bodyPr wrap="square" lIns="0" tIns="0" rIns="0" bIns="0" rtlCol="0" anchor="ctr"/>
          <a:lstStyle/>
          <a:p>
            <a:pPr algn="l" indent="0" marL="0">
              <a:buNone/>
            </a:pPr>
            <a:endParaRPr lang="en-US" sz="1100" dirty="0"/>
          </a:p>
        </p:txBody>
      </p:sp>
      <p:sp>
        <p:nvSpPr>
          <p:cNvPr id="46" name="Text 43"/>
          <p:cNvSpPr txBox="1"/>
          <p:nvPr/>
        </p:nvSpPr>
        <p:spPr>
          <a:xfrm>
            <a:off x="7882128" y="5215738"/>
            <a:ext cx="731520" cy="682142"/>
          </a:xfrm>
          <a:prstGeom prst="rect">
            <a:avLst/>
          </a:prstGeom>
          <a:noFill/>
          <a:ln/>
        </p:spPr>
        <p:txBody>
          <a:bodyPr wrap="square" lIns="0" tIns="0" rIns="0" bIns="0" rtlCol="0" anchor="ctr"/>
          <a:lstStyle/>
          <a:p>
            <a:pPr algn="l" indent="0" marL="0">
              <a:buNone/>
            </a:pPr>
            <a:endParaRPr lang="en-US" sz="1100" dirty="0"/>
          </a:p>
        </p:txBody>
      </p:sp>
      <p:sp>
        <p:nvSpPr>
          <p:cNvPr id="47" name="Text 44"/>
          <p:cNvSpPr txBox="1"/>
          <p:nvPr/>
        </p:nvSpPr>
        <p:spPr>
          <a:xfrm>
            <a:off x="6601968" y="5215738"/>
            <a:ext cx="109728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Stretch</a:t>
            </a:r>
            <a:endParaRPr lang="en-US" sz="1100" dirty="0"/>
          </a:p>
        </p:txBody>
      </p:sp>
      <p:sp>
        <p:nvSpPr>
          <p:cNvPr id="48" name="Text 45"/>
          <p:cNvSpPr txBox="1"/>
          <p:nvPr/>
        </p:nvSpPr>
        <p:spPr>
          <a:xfrm>
            <a:off x="566928" y="5215738"/>
            <a:ext cx="5852160" cy="682142"/>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add a reason, a time phrase or an opinion?</a:t>
            </a:r>
            <a:endParaRPr lang="en-US" sz="1100" dirty="0"/>
          </a:p>
        </p:txBody>
      </p:sp>
      <p:sp>
        <p:nvSpPr>
          <p:cNvPr id="49" name="Text 4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Give back: one thing that went well + one thing to improve. The writer fixes ONE thing straight away.</a:t>
            </a:r>
            <a:endParaRPr lang="en-US" sz="1150" dirty="0"/>
          </a:p>
        </p:txBody>
      </p:sp>
      <p:sp>
        <p:nvSpPr>
          <p:cNvPr id="50" name="Text 4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18 / 22</a:t>
            </a:r>
            <a:endParaRPr lang="en-US" sz="8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ROLE-PLAY CARD</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050" b="1" dirty="0">
                <a:solidFill>
                  <a:srgbClr val="1B3B6F"/>
                </a:solidFill>
                <a:latin typeface="Cambria" pitchFamily="34" charset="0"/>
                <a:cs typeface="Amiri" pitchFamily="2" charset="-78"/>
              </a:rPr>
              <a:t>Role-play card: compare with a strong answer</a:t>
            </a:r>
            <a:endParaRPr lang="en-US" sz="205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11274552" cy="384048"/>
          </a:xfrm>
          <a:prstGeom prst="rect">
            <a:avLst/>
          </a:prstGeom>
          <a:solidFill>
            <a:srgbClr val="1B3B6F"/>
          </a:solidFill>
          <a:ln w="12700">
            <a:solidFill>
              <a:srgbClr val="1B3B6F"/>
            </a:solidFill>
            <a:prstDash val="solid"/>
          </a:ln>
        </p:spPr>
      </p:sp>
      <p:sp>
        <p:nvSpPr>
          <p:cNvPr id="16" name="Text 13"/>
          <p:cNvSpPr txBox="1"/>
          <p:nvPr/>
        </p:nvSpPr>
        <p:spPr>
          <a:xfrm>
            <a:off x="4782312" y="1810512"/>
            <a:ext cx="6876288"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 strong answer (with English)</a:t>
            </a:r>
            <a:endParaRPr lang="en-US" sz="1100" dirty="0"/>
          </a:p>
        </p:txBody>
      </p:sp>
      <p:sp>
        <p:nvSpPr>
          <p:cNvPr id="17" name="Text 14"/>
          <p:cNvSpPr txBox="1"/>
          <p:nvPr/>
        </p:nvSpPr>
        <p:spPr>
          <a:xfrm>
            <a:off x="1033272" y="1810512"/>
            <a:ext cx="360273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Leader reads</a:t>
            </a:r>
            <a:endParaRPr lang="en-US" sz="1100" dirty="0"/>
          </a:p>
        </p:txBody>
      </p:sp>
      <p:sp>
        <p:nvSpPr>
          <p:cNvPr id="18" name="Text 15"/>
          <p:cNvSpPr txBox="1"/>
          <p:nvPr/>
        </p:nvSpPr>
        <p:spPr>
          <a:xfrm>
            <a:off x="530352" y="1810512"/>
            <a:ext cx="356616" cy="384048"/>
          </a:xfrm>
          <a:prstGeom prst="rect">
            <a:avLst/>
          </a:prstGeom>
          <a:noFill/>
          <a:ln/>
        </p:spPr>
        <p:txBody>
          <a:bodyPr wrap="square" lIns="0" tIns="0" rIns="0" bIns="0" rtlCol="0" anchor="ctr"/>
          <a:lstStyle/>
          <a:p>
            <a:pPr algn="ctr" indent="0" marL="0">
              <a:buNone/>
            </a:pPr>
            <a:r>
              <a:rPr lang="en-US" sz="1100" b="1" dirty="0">
                <a:solidFill>
                  <a:srgbClr val="FFFFFF"/>
                </a:solidFill>
                <a:latin typeface="Calibri" pitchFamily="34" charset="0"/>
                <a:cs typeface="Amiri" pitchFamily="2" charset="-78"/>
              </a:rPr>
              <a:t>#</a:t>
            </a:r>
            <a:endParaRPr lang="en-US" sz="1100" dirty="0"/>
          </a:p>
        </p:txBody>
      </p:sp>
      <p:sp>
        <p:nvSpPr>
          <p:cNvPr id="19" name="Shape 16"/>
          <p:cNvSpPr/>
          <p:nvPr/>
        </p:nvSpPr>
        <p:spPr>
          <a:xfrm>
            <a:off x="457200" y="2267712"/>
            <a:ext cx="11274552" cy="731520"/>
          </a:xfrm>
          <a:prstGeom prst="roundRect">
            <a:avLst>
              <a:gd name="adj" fmla="val 6250"/>
            </a:avLst>
          </a:prstGeom>
          <a:solidFill>
            <a:srgbClr val="FFFFFF"/>
          </a:solidFill>
          <a:ln w="9525">
            <a:solidFill>
              <a:srgbClr val="D8D0BF"/>
            </a:solidFill>
            <a:prstDash val="solid"/>
          </a:ln>
        </p:spPr>
      </p:sp>
      <p:sp>
        <p:nvSpPr>
          <p:cNvPr id="20" name="Text 17"/>
          <p:cNvSpPr txBox="1"/>
          <p:nvPr/>
        </p:nvSpPr>
        <p:spPr>
          <a:xfrm>
            <a:off x="4800600" y="2286000"/>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نَعَمْ، يَجِبُ أَنْ تَلْبَسِي التَّنُّورَةَ الزَّرْقَاءَ وَالقَمِيصَ الأَبْيَضَ.</a:t>
            </a:r>
            <a:endParaRPr lang="ar-SA" sz="1800" dirty="0"/>
          </a:p>
        </p:txBody>
      </p:sp>
      <p:sp>
        <p:nvSpPr>
          <p:cNvPr id="21" name="Text 18"/>
          <p:cNvSpPr txBox="1"/>
          <p:nvPr/>
        </p:nvSpPr>
        <p:spPr>
          <a:xfrm>
            <a:off x="4754880" y="2706624"/>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Yes, you must wear the blue skirt and the white shirt.</a:t>
            </a:r>
            <a:endParaRPr lang="en-US" sz="950" dirty="0"/>
          </a:p>
        </p:txBody>
      </p:sp>
      <p:sp>
        <p:nvSpPr>
          <p:cNvPr id="22" name="Text 19"/>
          <p:cNvSpPr txBox="1"/>
          <p:nvPr/>
        </p:nvSpPr>
        <p:spPr>
          <a:xfrm>
            <a:off x="1051560" y="2267712"/>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يَجِبُ أَنْ أَلْبَسَ اللِّبَاسَ المَدْرَسِيَّ؟</a:t>
            </a:r>
            <a:endParaRPr lang="ar-SA" sz="1600" dirty="0"/>
          </a:p>
        </p:txBody>
      </p:sp>
      <p:sp>
        <p:nvSpPr>
          <p:cNvPr id="23" name="Text 20"/>
          <p:cNvSpPr txBox="1"/>
          <p:nvPr/>
        </p:nvSpPr>
        <p:spPr>
          <a:xfrm>
            <a:off x="566928" y="2267712"/>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1</a:t>
            </a:r>
            <a:endParaRPr lang="en-US" sz="1100" dirty="0"/>
          </a:p>
        </p:txBody>
      </p:sp>
      <p:sp>
        <p:nvSpPr>
          <p:cNvPr id="24" name="Shape 21"/>
          <p:cNvSpPr/>
          <p:nvPr/>
        </p:nvSpPr>
        <p:spPr>
          <a:xfrm>
            <a:off x="457200" y="3054096"/>
            <a:ext cx="11274552" cy="731520"/>
          </a:xfrm>
          <a:prstGeom prst="roundRect">
            <a:avLst>
              <a:gd name="adj" fmla="val 6250"/>
            </a:avLst>
          </a:prstGeom>
          <a:solidFill>
            <a:srgbClr val="F4F1EA"/>
          </a:solidFill>
          <a:ln w="9525">
            <a:solidFill>
              <a:srgbClr val="D8D0BF"/>
            </a:solidFill>
            <a:prstDash val="solid"/>
          </a:ln>
        </p:spPr>
      </p:sp>
      <p:sp>
        <p:nvSpPr>
          <p:cNvPr id="25" name="Text 22"/>
          <p:cNvSpPr txBox="1"/>
          <p:nvPr/>
        </p:nvSpPr>
        <p:spPr>
          <a:xfrm>
            <a:off x="4800600" y="3072384"/>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لَا، لَا يَجُوزُ فِي الصَّفِّ، لٰكِنْ يُمْكِنُ فِي الاسْتِرَاحَةِ.</a:t>
            </a:r>
            <a:endParaRPr lang="ar-SA" sz="1800" dirty="0"/>
          </a:p>
        </p:txBody>
      </p:sp>
      <p:sp>
        <p:nvSpPr>
          <p:cNvPr id="26" name="Text 23"/>
          <p:cNvSpPr txBox="1"/>
          <p:nvPr/>
        </p:nvSpPr>
        <p:spPr>
          <a:xfrm>
            <a:off x="4754880" y="3493008"/>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No, not in class, but you can at break.</a:t>
            </a:r>
            <a:endParaRPr lang="en-US" sz="950" dirty="0"/>
          </a:p>
        </p:txBody>
      </p:sp>
      <p:sp>
        <p:nvSpPr>
          <p:cNvPr id="27" name="Text 24"/>
          <p:cNvSpPr txBox="1"/>
          <p:nvPr/>
        </p:nvSpPr>
        <p:spPr>
          <a:xfrm>
            <a:off x="1051560" y="3054096"/>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هَلْ يُمْكِنُ أَنْ أَسْتَعْمِلَ هَاتِفِي؟</a:t>
            </a:r>
            <a:endParaRPr lang="ar-SA" sz="1600" dirty="0"/>
          </a:p>
        </p:txBody>
      </p:sp>
      <p:sp>
        <p:nvSpPr>
          <p:cNvPr id="28" name="Text 25"/>
          <p:cNvSpPr txBox="1"/>
          <p:nvPr/>
        </p:nvSpPr>
        <p:spPr>
          <a:xfrm>
            <a:off x="566928" y="3054096"/>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2</a:t>
            </a:r>
            <a:endParaRPr lang="en-US" sz="1100" dirty="0"/>
          </a:p>
        </p:txBody>
      </p:sp>
      <p:sp>
        <p:nvSpPr>
          <p:cNvPr id="29" name="Shape 26"/>
          <p:cNvSpPr/>
          <p:nvPr/>
        </p:nvSpPr>
        <p:spPr>
          <a:xfrm>
            <a:off x="457200" y="3840480"/>
            <a:ext cx="11274552" cy="731520"/>
          </a:xfrm>
          <a:prstGeom prst="roundRect">
            <a:avLst>
              <a:gd name="adj" fmla="val 6250"/>
            </a:avLst>
          </a:prstGeom>
          <a:solidFill>
            <a:srgbClr val="FFFFFF"/>
          </a:solidFill>
          <a:ln w="9525">
            <a:solidFill>
              <a:srgbClr val="D8D0BF"/>
            </a:solidFill>
            <a:prstDash val="solid"/>
          </a:ln>
        </p:spPr>
      </p:sp>
      <p:sp>
        <p:nvSpPr>
          <p:cNvPr id="30" name="Text 27"/>
          <p:cNvSpPr txBox="1"/>
          <p:nvPr/>
        </p:nvSpPr>
        <p:spPr>
          <a:xfrm>
            <a:off x="4800600" y="3858768"/>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يَجِبُ أَنْ تَصِلِي قَبْلَ السَّاعَةِ الثَّامِنَةِ وَالرُّبْعِ.</a:t>
            </a:r>
            <a:endParaRPr lang="ar-SA" sz="1800" dirty="0"/>
          </a:p>
        </p:txBody>
      </p:sp>
      <p:sp>
        <p:nvSpPr>
          <p:cNvPr id="31" name="Text 28"/>
          <p:cNvSpPr txBox="1"/>
          <p:nvPr/>
        </p:nvSpPr>
        <p:spPr>
          <a:xfrm>
            <a:off x="4754880" y="4279392"/>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You must arrive before quarter past eight.</a:t>
            </a:r>
            <a:endParaRPr lang="en-US" sz="950" dirty="0"/>
          </a:p>
        </p:txBody>
      </p:sp>
      <p:sp>
        <p:nvSpPr>
          <p:cNvPr id="32" name="Text 29"/>
          <p:cNvSpPr txBox="1"/>
          <p:nvPr/>
        </p:nvSpPr>
        <p:spPr>
          <a:xfrm>
            <a:off x="1051560" y="3840480"/>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مَتَى يَجِبُ أَنْ أَصِلَ؟</a:t>
            </a:r>
            <a:endParaRPr lang="ar-SA" sz="1600" dirty="0"/>
          </a:p>
        </p:txBody>
      </p:sp>
      <p:sp>
        <p:nvSpPr>
          <p:cNvPr id="33" name="Text 30"/>
          <p:cNvSpPr txBox="1"/>
          <p:nvPr/>
        </p:nvSpPr>
        <p:spPr>
          <a:xfrm>
            <a:off x="566928" y="3840480"/>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3</a:t>
            </a:r>
            <a:endParaRPr lang="en-US" sz="1100" dirty="0"/>
          </a:p>
        </p:txBody>
      </p:sp>
      <p:sp>
        <p:nvSpPr>
          <p:cNvPr id="34" name="Shape 31"/>
          <p:cNvSpPr/>
          <p:nvPr/>
        </p:nvSpPr>
        <p:spPr>
          <a:xfrm>
            <a:off x="457200" y="4626864"/>
            <a:ext cx="11274552" cy="731520"/>
          </a:xfrm>
          <a:prstGeom prst="roundRect">
            <a:avLst>
              <a:gd name="adj" fmla="val 6250"/>
            </a:avLst>
          </a:prstGeom>
          <a:solidFill>
            <a:srgbClr val="F4F1EA"/>
          </a:solidFill>
          <a:ln w="9525">
            <a:solidFill>
              <a:srgbClr val="D8D0BF"/>
            </a:solidFill>
            <a:prstDash val="solid"/>
          </a:ln>
        </p:spPr>
      </p:sp>
      <p:sp>
        <p:nvSpPr>
          <p:cNvPr id="35" name="Text 32"/>
          <p:cNvSpPr txBox="1"/>
          <p:nvPr/>
        </p:nvSpPr>
        <p:spPr>
          <a:xfrm>
            <a:off x="4800600" y="4645152"/>
            <a:ext cx="6839712" cy="453542"/>
          </a:xfrm>
          <a:prstGeom prst="rect">
            <a:avLst/>
          </a:prstGeom>
          <a:noFill/>
          <a:ln/>
        </p:spPr>
        <p:txBody>
          <a:bodyPr wrap="square" lIns="0" tIns="0" rIns="0" bIns="0" rtlCol="0" anchor="ctr"/>
          <a:lstStyle/>
          <a:p>
            <a:pPr rtl="1" algn="ctr" indent="0" marL="0">
              <a:buNone/>
            </a:pPr>
            <a:r>
              <a:rPr lang="ar-SA" altLang="en-US" sz="1800" b="1" dirty="0">
                <a:solidFill>
                  <a:srgbClr val="1B3B6F"/>
                </a:solidFill>
                <a:latin typeface="Amiri" pitchFamily="2" charset="-78"/>
                <a:ea typeface="Amiri" pitchFamily="2" charset="-78"/>
                <a:cs typeface="Amiri" pitchFamily="2" charset="-78"/>
              </a:rPr>
              <a:t>اذْهَبِي إِلَى المَكْتَبِ أَوَّلًا، وَقُولِي: أَنَا آسِفَةٌ.</a:t>
            </a:r>
            <a:endParaRPr lang="ar-SA" sz="1800" dirty="0"/>
          </a:p>
        </p:txBody>
      </p:sp>
      <p:sp>
        <p:nvSpPr>
          <p:cNvPr id="36" name="Text 33"/>
          <p:cNvSpPr txBox="1"/>
          <p:nvPr/>
        </p:nvSpPr>
        <p:spPr>
          <a:xfrm>
            <a:off x="4754880" y="5065776"/>
            <a:ext cx="6931152" cy="277978"/>
          </a:xfrm>
          <a:prstGeom prst="rect">
            <a:avLst/>
          </a:prstGeom>
          <a:noFill/>
          <a:ln/>
        </p:spPr>
        <p:txBody>
          <a:bodyPr wrap="square" lIns="0" tIns="0" rIns="0" bIns="0" rtlCol="0" anchor="ctr"/>
          <a:lstStyle/>
          <a:p>
            <a:pPr algn="ctr" indent="0" marL="0">
              <a:buNone/>
            </a:pPr>
            <a:r>
              <a:rPr lang="en-US" sz="950" i="1" dirty="0">
                <a:solidFill>
                  <a:srgbClr val="5A6472"/>
                </a:solidFill>
                <a:latin typeface="Calibri" pitchFamily="34" charset="0"/>
                <a:cs typeface="Amiri" pitchFamily="2" charset="-78"/>
              </a:rPr>
              <a:t>Go to the office first, and say: I’m sorry.</a:t>
            </a:r>
            <a:endParaRPr lang="en-US" sz="950" dirty="0"/>
          </a:p>
        </p:txBody>
      </p:sp>
      <p:sp>
        <p:nvSpPr>
          <p:cNvPr id="37" name="Text 34"/>
          <p:cNvSpPr txBox="1"/>
          <p:nvPr/>
        </p:nvSpPr>
        <p:spPr>
          <a:xfrm>
            <a:off x="1051560" y="4626864"/>
            <a:ext cx="3566160" cy="731520"/>
          </a:xfrm>
          <a:prstGeom prst="rect">
            <a:avLst/>
          </a:prstGeom>
          <a:noFill/>
          <a:ln/>
        </p:spPr>
        <p:txBody>
          <a:bodyPr wrap="square" lIns="0" tIns="0" rIns="0" bIns="0" rtlCol="0" anchor="ctr"/>
          <a:lstStyle/>
          <a:p>
            <a:pPr rtl="1" algn="ctr" indent="0" marL="0">
              <a:buNone/>
            </a:pPr>
            <a:r>
              <a:rPr lang="ar-SA" altLang="en-US" sz="1600" b="1" dirty="0">
                <a:solidFill>
                  <a:srgbClr val="1B3B6F"/>
                </a:solidFill>
                <a:latin typeface="Amiri" pitchFamily="2" charset="-78"/>
                <a:ea typeface="Amiri" pitchFamily="2" charset="-78"/>
                <a:cs typeface="Amiri" pitchFamily="2" charset="-78"/>
              </a:rPr>
              <a:t>وَمَاذَا أَفْعَلُ إِذَا تَأَخَّرْتُ؟</a:t>
            </a:r>
            <a:endParaRPr lang="ar-SA" sz="1600" dirty="0"/>
          </a:p>
        </p:txBody>
      </p:sp>
      <p:sp>
        <p:nvSpPr>
          <p:cNvPr id="38" name="Text 35"/>
          <p:cNvSpPr txBox="1"/>
          <p:nvPr/>
        </p:nvSpPr>
        <p:spPr>
          <a:xfrm>
            <a:off x="566928" y="4626864"/>
            <a:ext cx="320040" cy="731520"/>
          </a:xfrm>
          <a:prstGeom prst="rect">
            <a:avLst/>
          </a:prstGeom>
          <a:noFill/>
          <a:ln/>
        </p:spPr>
        <p:txBody>
          <a:bodyPr wrap="square" lIns="0" tIns="0" rIns="0" bIns="0" rtlCol="0" anchor="ctr"/>
          <a:lstStyle/>
          <a:p>
            <a:pPr algn="l" indent="0" marL="0">
              <a:buNone/>
            </a:pPr>
            <a:r>
              <a:rPr lang="en-US" sz="1100" dirty="0">
                <a:solidFill>
                  <a:srgbClr val="5A6472"/>
                </a:solidFill>
                <a:latin typeface="Calibri" pitchFamily="34" charset="0"/>
                <a:cs typeface="Amiri" pitchFamily="2" charset="-78"/>
              </a:rPr>
              <a:t>4</a:t>
            </a:r>
            <a:endParaRPr lang="en-US" sz="1100" dirty="0"/>
          </a:p>
        </p:txBody>
      </p:sp>
      <p:sp>
        <p:nvSpPr>
          <p:cNvPr id="39" name="Text 36"/>
          <p:cNvSpPr txBox="1"/>
          <p:nvPr/>
        </p:nvSpPr>
        <p:spPr>
          <a:xfrm>
            <a:off x="457200" y="5943600"/>
            <a:ext cx="11274552" cy="365760"/>
          </a:xfrm>
          <a:prstGeom prst="rect">
            <a:avLst/>
          </a:prstGeom>
          <a:noFill/>
          <a:ln/>
        </p:spPr>
        <p:txBody>
          <a:bodyPr wrap="square" lIns="0" tIns="0" rIns="0" bIns="0" rtlCol="0" anchor="ctr"/>
          <a:lstStyle/>
          <a:p>
            <a:pPr algn="l" indent="0" marL="0">
              <a:buNone/>
            </a:pPr>
            <a:r>
              <a:rPr lang="en-US" sz="1150" b="1" dirty="0">
                <a:solidFill>
                  <a:srgbClr val="1B3B6F"/>
                </a:solidFill>
                <a:latin typeface="Calibri" pitchFamily="34" charset="0"/>
                <a:cs typeface="Amiri" pitchFamily="2" charset="-78"/>
              </a:rPr>
              <a:t>Did you answer every task in a full sentence? Choose one phrase you did not use and say it aloud.</a:t>
            </a:r>
            <a:endParaRPr lang="en-US" sz="1150" dirty="0"/>
          </a:p>
        </p:txBody>
      </p:sp>
      <p:sp>
        <p:nvSpPr>
          <p:cNvPr id="40" name="Text 37"/>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19 / 22</a:t>
            </a:r>
            <a:endParaRPr lang="en-US" sz="8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2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CHECK YOURSELF · WRITE YOUR TEXT · A STRONG ANSWER</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400" b="1" dirty="0">
                <a:solidFill>
                  <a:srgbClr val="1B3B6F"/>
                </a:solidFill>
                <a:latin typeface="Cambria" pitchFamily="34" charset="0"/>
                <a:cs typeface="Amiri" pitchFamily="2" charset="-78"/>
              </a:rPr>
              <a:t>Writing: compare with a strong answer</a:t>
            </a:r>
            <a:endParaRPr lang="en-US" sz="24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قَارِنْ إِجَابَتَكَ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11274552" cy="3246120"/>
          </a:xfrm>
          <a:prstGeom prst="roundRect">
            <a:avLst>
              <a:gd name="adj" fmla="val 2254"/>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Text 13"/>
          <p:cNvSpPr txBox="1"/>
          <p:nvPr/>
        </p:nvSpPr>
        <p:spPr>
          <a:xfrm>
            <a:off x="685800" y="1938528"/>
            <a:ext cx="10817352" cy="2990088"/>
          </a:xfrm>
          <a:prstGeom prst="rect">
            <a:avLst/>
          </a:prstGeom>
          <a:noFill/>
          <a:ln/>
        </p:spPr>
        <p:txBody>
          <a:bodyPr wrap="square" lIns="0" tIns="0" rIns="0" bIns="0" rtlCol="0" anchor="ctr"/>
          <a:lstStyle/>
          <a:p>
            <a:pPr rtl="1" algn="r" indent="0" marL="0">
              <a:lnSpc>
                <a:spcPct val="120000"/>
              </a:lnSpc>
              <a:buNone/>
            </a:pPr>
            <a:r>
              <a:rPr lang="ar-SA" altLang="en-US" sz="2600" dirty="0">
                <a:solidFill>
                  <a:srgbClr val="1F2A37"/>
                </a:solidFill>
                <a:latin typeface="Amiri" pitchFamily="2" charset="-78"/>
                <a:ea typeface="Amiri" pitchFamily="2" charset="-78"/>
                <a:cs typeface="Amiri" pitchFamily="2" charset="-78"/>
              </a:rPr>
              <a:t>قَوَاعِدُ صَفِّنَا: يَجِبُ أَنْ نَصِلَ فِي الوَقْتِ، وَيَجِبُ أَنْ نَحْتَرِمَ المُعَلِّمَةَ وَالزُّمَلَاءَ. يَجِبُ أَنْ نُسَلِّمَ الوَاجِبَ يَوْمَ الخَمِيسِ. لَا يَجُوزُ أَنْ نَسْتَعْمِلَ الهَاتِفَ فِي الحِصَّةِ، وَلَا يَجُوزُ أَنْ نَتَكَلَّمَ مَعًا عِنْدَمَا تَشْرَحُ المُعَلِّمَةُ. يُمْكِنُ أَنْ نَشْرَبَ المَاءَ. أَهَمُّ قَاعِدَةٍ الاحْتِرَامُ، لِأَنَّ الصَّفَّ عَائِلَةٌ وَاحِدَةٌ.</a:t>
            </a:r>
            <a:endParaRPr lang="ar-SA" sz="2600" dirty="0"/>
          </a:p>
        </p:txBody>
      </p:sp>
      <p:sp>
        <p:nvSpPr>
          <p:cNvPr id="17" name="Shape 14"/>
          <p:cNvSpPr/>
          <p:nvPr/>
        </p:nvSpPr>
        <p:spPr>
          <a:xfrm>
            <a:off x="457200" y="5166360"/>
            <a:ext cx="11274552" cy="1024128"/>
          </a:xfrm>
          <a:prstGeom prst="roundRect">
            <a:avLst>
              <a:gd name="adj" fmla="val 7143"/>
            </a:avLst>
          </a:prstGeom>
          <a:solidFill>
            <a:srgbClr val="F4F1EA"/>
          </a:solidFill>
          <a:ln w="9525">
            <a:solidFill>
              <a:srgbClr val="F4F1EA"/>
            </a:solidFill>
            <a:prstDash val="solid"/>
          </a:ln>
        </p:spPr>
      </p:sp>
      <p:sp>
        <p:nvSpPr>
          <p:cNvPr id="18" name="Text 15"/>
          <p:cNvSpPr txBox="1"/>
          <p:nvPr/>
        </p:nvSpPr>
        <p:spPr>
          <a:xfrm>
            <a:off x="640080" y="5202936"/>
            <a:ext cx="10908792" cy="950976"/>
          </a:xfrm>
          <a:prstGeom prst="rect">
            <a:avLst/>
          </a:prstGeom>
          <a:noFill/>
          <a:ln/>
        </p:spPr>
        <p:txBody>
          <a:bodyPr wrap="square" lIns="0" tIns="0" rIns="0" bIns="0" rtlCol="0" anchor="t"/>
          <a:lstStyle/>
          <a:p>
            <a:pPr algn="l" indent="0" marL="0">
              <a:buNone/>
            </a:pPr>
            <a:r>
              <a:rPr lang="en-US" sz="1150" i="1" dirty="0">
                <a:solidFill>
                  <a:srgbClr val="5A6472"/>
                </a:solidFill>
                <a:latin typeface="Calibri" pitchFamily="34" charset="0"/>
                <a:cs typeface="Amiri" pitchFamily="2" charset="-78"/>
              </a:rPr>
              <a:t>“Our class rules: we must arrive on time, and we must respect the teacher and our classmates. We must hand in homework on Thursday. We must not use our phones in the lesson, and we must not talk together when the teacher is explaining. We may drink water. The most important rule is respect, because the class is one family.”</a:t>
            </a:r>
            <a:endParaRPr lang="en-US" sz="1150" dirty="0"/>
          </a:p>
        </p:txBody>
      </p:sp>
      <p:sp>
        <p:nvSpPr>
          <p:cNvPr id="19" name="Text 16"/>
          <p:cNvSpPr txBox="1"/>
          <p:nvPr/>
        </p:nvSpPr>
        <p:spPr>
          <a:xfrm>
            <a:off x="457200" y="6053328"/>
            <a:ext cx="2194560" cy="256032"/>
          </a:xfrm>
          <a:prstGeom prst="rect">
            <a:avLst/>
          </a:prstGeom>
          <a:noFill/>
          <a:ln/>
        </p:spPr>
        <p:txBody>
          <a:bodyPr wrap="square" lIns="0" tIns="0" rIns="0" bIns="0" rtlCol="0" anchor="ctr"/>
          <a:lstStyle/>
          <a:p>
            <a:pPr algn="l" indent="0" marL="0">
              <a:buNone/>
            </a:pPr>
            <a:r>
              <a:rPr lang="en-US" sz="950" b="1" spc="200" kern="0" dirty="0">
                <a:solidFill>
                  <a:srgbClr val="8A6D1E"/>
                </a:solidFill>
                <a:latin typeface="Calibri" pitchFamily="34" charset="0"/>
                <a:cs typeface="Amiri" pitchFamily="2" charset="-78"/>
              </a:rPr>
              <a:t>FIND IN THE MODEL:</a:t>
            </a:r>
            <a:endParaRPr lang="en-US" sz="950" dirty="0"/>
          </a:p>
        </p:txBody>
      </p:sp>
      <p:sp>
        <p:nvSpPr>
          <p:cNvPr id="20" name="Shape 17"/>
          <p:cNvSpPr/>
          <p:nvPr/>
        </p:nvSpPr>
        <p:spPr>
          <a:xfrm>
            <a:off x="2697480" y="6035040"/>
            <a:ext cx="2148840" cy="274320"/>
          </a:xfrm>
          <a:prstGeom prst="roundRect">
            <a:avLst>
              <a:gd name="adj" fmla="val 50000"/>
            </a:avLst>
          </a:prstGeom>
          <a:solidFill>
            <a:srgbClr val="1D5FBF"/>
          </a:solidFill>
          <a:ln w="12700">
            <a:solidFill>
              <a:srgbClr val="1D5FBF"/>
            </a:solidFill>
            <a:prstDash val="solid"/>
          </a:ln>
        </p:spPr>
      </p:sp>
      <p:sp>
        <p:nvSpPr>
          <p:cNvPr id="21" name="Text 18"/>
          <p:cNvSpPr txBox="1"/>
          <p:nvPr/>
        </p:nvSpPr>
        <p:spPr>
          <a:xfrm>
            <a:off x="2697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يَجِبُ أَنْ نَصِلَ فِي الوَقْتِ</a:t>
            </a:r>
            <a:endParaRPr lang="en-US" sz="950" dirty="0"/>
          </a:p>
        </p:txBody>
      </p:sp>
      <p:sp>
        <p:nvSpPr>
          <p:cNvPr id="22" name="Shape 19"/>
          <p:cNvSpPr/>
          <p:nvPr/>
        </p:nvSpPr>
        <p:spPr>
          <a:xfrm>
            <a:off x="4983480" y="6035040"/>
            <a:ext cx="2148840" cy="274320"/>
          </a:xfrm>
          <a:prstGeom prst="roundRect">
            <a:avLst>
              <a:gd name="adj" fmla="val 50000"/>
            </a:avLst>
          </a:prstGeom>
          <a:solidFill>
            <a:srgbClr val="1B3B6F"/>
          </a:solidFill>
          <a:ln w="12700">
            <a:solidFill>
              <a:srgbClr val="1B3B6F"/>
            </a:solidFill>
            <a:prstDash val="solid"/>
          </a:ln>
        </p:spPr>
      </p:sp>
      <p:sp>
        <p:nvSpPr>
          <p:cNvPr id="23" name="Text 20"/>
          <p:cNvSpPr txBox="1"/>
          <p:nvPr/>
        </p:nvSpPr>
        <p:spPr>
          <a:xfrm>
            <a:off x="4983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لَا يَجُوزُ أَنْ نَسْتَعْمِلَ</a:t>
            </a:r>
            <a:endParaRPr lang="en-US" sz="950" dirty="0"/>
          </a:p>
        </p:txBody>
      </p:sp>
      <p:sp>
        <p:nvSpPr>
          <p:cNvPr id="24" name="Shape 21"/>
          <p:cNvSpPr/>
          <p:nvPr/>
        </p:nvSpPr>
        <p:spPr>
          <a:xfrm>
            <a:off x="7269480" y="6035040"/>
            <a:ext cx="2148840" cy="274320"/>
          </a:xfrm>
          <a:prstGeom prst="roundRect">
            <a:avLst>
              <a:gd name="adj" fmla="val 50000"/>
            </a:avLst>
          </a:prstGeom>
          <a:solidFill>
            <a:srgbClr val="C77700"/>
          </a:solidFill>
          <a:ln w="12700">
            <a:solidFill>
              <a:srgbClr val="C77700"/>
            </a:solidFill>
            <a:prstDash val="solid"/>
          </a:ln>
        </p:spPr>
      </p:sp>
      <p:sp>
        <p:nvSpPr>
          <p:cNvPr id="25" name="Text 22"/>
          <p:cNvSpPr txBox="1"/>
          <p:nvPr/>
        </p:nvSpPr>
        <p:spPr>
          <a:xfrm>
            <a:off x="7269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يُمْكِنُ أَنْ نَشْرَبَ</a:t>
            </a:r>
            <a:endParaRPr lang="en-US" sz="950" dirty="0"/>
          </a:p>
        </p:txBody>
      </p:sp>
      <p:sp>
        <p:nvSpPr>
          <p:cNvPr id="26" name="Shape 23"/>
          <p:cNvSpPr/>
          <p:nvPr/>
        </p:nvSpPr>
        <p:spPr>
          <a:xfrm>
            <a:off x="9555480" y="6035040"/>
            <a:ext cx="2148840" cy="274320"/>
          </a:xfrm>
          <a:prstGeom prst="roundRect">
            <a:avLst>
              <a:gd name="adj" fmla="val 50000"/>
            </a:avLst>
          </a:prstGeom>
          <a:solidFill>
            <a:srgbClr val="7B3FA0"/>
          </a:solidFill>
          <a:ln w="12700">
            <a:solidFill>
              <a:srgbClr val="7B3FA0"/>
            </a:solidFill>
            <a:prstDash val="solid"/>
          </a:ln>
        </p:spPr>
      </p:sp>
      <p:sp>
        <p:nvSpPr>
          <p:cNvPr id="27" name="Text 24"/>
          <p:cNvSpPr txBox="1"/>
          <p:nvPr/>
        </p:nvSpPr>
        <p:spPr>
          <a:xfrm>
            <a:off x="9555480" y="6035040"/>
            <a:ext cx="2148840" cy="274320"/>
          </a:xfrm>
          <a:prstGeom prst="rect">
            <a:avLst/>
          </a:prstGeom>
          <a:noFill/>
          <a:ln/>
        </p:spPr>
        <p:txBody>
          <a:bodyPr wrap="square" lIns="0" tIns="0" rIns="0" bIns="0" rtlCol="0" anchor="ctr"/>
          <a:lstStyle/>
          <a:p>
            <a:pPr algn="ctr" indent="0" marL="0">
              <a:buNone/>
            </a:pPr>
            <a:r>
              <a:rPr lang="ar-SA" sz="950" b="1" dirty="0">
                <a:solidFill>
                  <a:srgbClr val="FFFFFF"/>
                </a:solidFill>
                <a:latin typeface="Amiri" pitchFamily="2" charset="-78"/>
                <a:ea typeface="Amiri" pitchFamily="2" charset="-78"/>
                <a:cs typeface="Amiri" pitchFamily="2" charset="-78"/>
              </a:rPr>
              <a:t>لِأَنَّ الصَّفَّ</a:t>
            </a:r>
            <a:endParaRPr lang="en-US" sz="950" dirty="0"/>
          </a:p>
        </p:txBody>
      </p:sp>
      <p:sp>
        <p:nvSpPr>
          <p:cNvPr id="28" name="Text 25"/>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20 / 22</a:t>
            </a:r>
            <a:endParaRPr lang="en-US" sz="8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DF8"/>
        </a:solidFill>
      </p:bgPr>
    </p:bg>
    <p:spTree>
      <p:nvGrpSpPr>
        <p:cNvPr id="1" name=""/>
        <p:cNvGrpSpPr/>
        <p:nvPr/>
      </p:nvGrpSpPr>
      <p:grpSpPr>
        <a:xfrm>
          <a:off x="0" y="0"/>
          <a:ext cx="0" cy="0"/>
          <a:chOff x="0" y="0"/>
          <a:chExt cx="0" cy="0"/>
        </a:xfrm>
      </p:grpSpPr>
      <p:sp>
        <p:nvSpPr>
          <p:cNvPr id="2" name="Shape 0"/>
          <p:cNvSpPr/>
          <p:nvPr/>
        </p:nvSpPr>
        <p:spPr>
          <a:xfrm>
            <a:off x="457200" y="237744"/>
            <a:ext cx="420624" cy="420624"/>
          </a:xfrm>
          <a:prstGeom prst="ellipse">
            <a:avLst/>
          </a:prstGeom>
          <a:solidFill>
            <a:srgbClr val="1B3B6F"/>
          </a:solidFill>
          <a:ln w="12700">
            <a:solidFill>
              <a:srgbClr val="D4AF37"/>
            </a:solidFill>
            <a:prstDash val="solid"/>
          </a:ln>
        </p:spPr>
      </p:sp>
      <p:sp>
        <p:nvSpPr>
          <p:cNvPr id="3" name="Text 1"/>
          <p:cNvSpPr txBox="1"/>
          <p:nvPr/>
        </p:nvSpPr>
        <p:spPr>
          <a:xfrm>
            <a:off x="457200" y="219456"/>
            <a:ext cx="420624" cy="420624"/>
          </a:xfrm>
          <a:prstGeom prst="rect">
            <a:avLst/>
          </a:prstGeom>
          <a:noFill/>
          <a:ln/>
        </p:spPr>
        <p:txBody>
          <a:bodyPr wrap="square" lIns="0" tIns="0" rIns="0" bIns="0" rtlCol="0" anchor="ctr"/>
          <a:lstStyle/>
          <a:p>
            <a:pPr rtl="1" algn="ctr" indent="0" marL="0">
              <a:buNone/>
            </a:pPr>
            <a:r>
              <a:rPr lang="ar-SA" altLang="en-US" sz="1800" b="1" dirty="0">
                <a:solidFill>
                  <a:srgbClr val="D4AF37"/>
                </a:solidFill>
                <a:latin typeface="Amiri" pitchFamily="2" charset="-78"/>
                <a:ea typeface="Amiri" pitchFamily="2" charset="-78"/>
                <a:cs typeface="Amiri" pitchFamily="2" charset="-78"/>
              </a:rPr>
              <a:t>م</a:t>
            </a:r>
            <a:endParaRPr lang="ar-SA" sz="1800" dirty="0"/>
          </a:p>
        </p:txBody>
      </p:sp>
      <p:sp>
        <p:nvSpPr>
          <p:cNvPr id="4" name="Text 2"/>
          <p:cNvSpPr txBox="1"/>
          <p:nvPr/>
        </p:nvSpPr>
        <p:spPr>
          <a:xfrm>
            <a:off x="960120" y="219456"/>
            <a:ext cx="3657600" cy="256032"/>
          </a:xfrm>
          <a:prstGeom prst="rect">
            <a:avLst/>
          </a:prstGeom>
          <a:noFill/>
          <a:ln/>
        </p:spPr>
        <p:txBody>
          <a:bodyPr wrap="square" lIns="0" tIns="0" rIns="0" bIns="0" rtlCol="0" anchor="ctr"/>
          <a:lstStyle/>
          <a:p>
            <a:pPr indent="0" marL="0">
              <a:buNone/>
            </a:pPr>
            <a:r>
              <a:rPr lang="en-US" sz="1200" b="1" dirty="0">
                <a:solidFill>
                  <a:srgbClr val="1B3B6F"/>
                </a:solidFill>
                <a:latin typeface="Cambria" pitchFamily="34" charset="0"/>
                <a:cs typeface="Amiri" pitchFamily="2" charset="-78"/>
              </a:rPr>
              <a:t>Al Madina Online School</a:t>
            </a:r>
            <a:endParaRPr lang="en-US" sz="1200" dirty="0"/>
          </a:p>
        </p:txBody>
      </p:sp>
      <p:sp>
        <p:nvSpPr>
          <p:cNvPr id="5" name="Text 3"/>
          <p:cNvSpPr txBox="1"/>
          <p:nvPr/>
        </p:nvSpPr>
        <p:spPr>
          <a:xfrm>
            <a:off x="960120" y="457200"/>
            <a:ext cx="4572000" cy="182880"/>
          </a:xfrm>
          <a:prstGeom prst="rect">
            <a:avLst/>
          </a:prstGeom>
          <a:noFill/>
          <a:ln/>
        </p:spPr>
        <p:txBody>
          <a:bodyPr wrap="square" lIns="0" tIns="0" rIns="0" bIns="0" rtlCol="0" anchor="ctr"/>
          <a:lstStyle/>
          <a:p>
            <a:pPr indent="0" marL="0">
              <a:buNone/>
            </a:pPr>
            <a:r>
              <a:rPr lang="en-US" sz="800" b="1" spc="200" kern="0" dirty="0">
                <a:solidFill>
                  <a:srgbClr val="8A6D1E"/>
                </a:solidFill>
                <a:latin typeface="Calibri" pitchFamily="34" charset="0"/>
                <a:cs typeface="Amiri" pitchFamily="2" charset="-78"/>
              </a:rPr>
              <a:t>ARABIC DEPARTMENT · MIFTAH ARABIC · IGCSE 0544</a:t>
            </a:r>
            <a:endParaRPr lang="en-US" sz="800" dirty="0"/>
          </a:p>
        </p:txBody>
      </p:sp>
      <p:sp>
        <p:nvSpPr>
          <p:cNvPr id="6" name="Shape 4"/>
          <p:cNvSpPr/>
          <p:nvPr/>
        </p:nvSpPr>
        <p:spPr>
          <a:xfrm>
            <a:off x="8897112" y="274320"/>
            <a:ext cx="2834640" cy="329184"/>
          </a:xfrm>
          <a:prstGeom prst="roundRect">
            <a:avLst>
              <a:gd name="adj" fmla="val 50000"/>
            </a:avLst>
          </a:prstGeom>
          <a:solidFill>
            <a:srgbClr val="1B3B6F"/>
          </a:solidFill>
          <a:ln w="12700">
            <a:solidFill>
              <a:srgbClr val="1B3B6F"/>
            </a:solidFill>
            <a:prstDash val="solid"/>
          </a:ln>
        </p:spPr>
      </p:sp>
      <p:sp>
        <p:nvSpPr>
          <p:cNvPr id="7" name="Text 5"/>
          <p:cNvSpPr txBox="1"/>
          <p:nvPr/>
        </p:nvSpPr>
        <p:spPr>
          <a:xfrm>
            <a:off x="8897112" y="274320"/>
            <a:ext cx="2834640" cy="329184"/>
          </a:xfrm>
          <a:prstGeom prst="rect">
            <a:avLst/>
          </a:prstGeom>
          <a:noFill/>
          <a:ln/>
        </p:spPr>
        <p:txBody>
          <a:bodyPr wrap="square" lIns="0" tIns="0" rIns="0" bIns="0" rtlCol="0" anchor="ctr"/>
          <a:lstStyle/>
          <a:p>
            <a:pPr algn="ctr" indent="0" marL="0">
              <a:buNone/>
            </a:pPr>
            <a:r>
              <a:rPr lang="en-US" sz="950" b="1" spc="100" kern="0" dirty="0">
                <a:solidFill>
                  <a:srgbClr val="FFFFFF"/>
                </a:solidFill>
                <a:latin typeface="Calibri" pitchFamily="34" charset="0"/>
                <a:cs typeface="Amiri" pitchFamily="2" charset="-78"/>
              </a:rPr>
              <a:t>F4-L06 · Speaking + writing practice room</a:t>
            </a:r>
            <a:endParaRPr lang="en-US" sz="950" dirty="0"/>
          </a:p>
        </p:txBody>
      </p:sp>
      <p:sp>
        <p:nvSpPr>
          <p:cNvPr id="8" name="Shape 6"/>
          <p:cNvSpPr/>
          <p:nvPr/>
        </p:nvSpPr>
        <p:spPr>
          <a:xfrm>
            <a:off x="7143293" y="274320"/>
            <a:ext cx="1616659" cy="329184"/>
          </a:xfrm>
          <a:prstGeom prst="roundRect">
            <a:avLst>
              <a:gd name="adj" fmla="val 50000"/>
            </a:avLst>
          </a:prstGeom>
          <a:solidFill>
            <a:srgbClr val="8A6D1E"/>
          </a:solidFill>
          <a:ln w="12700">
            <a:solidFill>
              <a:srgbClr val="8A6D1E"/>
            </a:solidFill>
            <a:prstDash val="solid"/>
          </a:ln>
        </p:spPr>
      </p:sp>
      <p:sp>
        <p:nvSpPr>
          <p:cNvPr id="9" name="Text 7"/>
          <p:cNvSpPr txBox="1"/>
          <p:nvPr/>
        </p:nvSpPr>
        <p:spPr>
          <a:xfrm>
            <a:off x="7143293" y="274320"/>
            <a:ext cx="1616659" cy="329184"/>
          </a:xfrm>
          <a:prstGeom prst="rect">
            <a:avLst/>
          </a:prstGeom>
          <a:noFill/>
          <a:ln/>
        </p:spPr>
        <p:txBody>
          <a:bodyPr wrap="square" lIns="0" tIns="0" rIns="0" bIns="0" rtlCol="0" anchor="ctr"/>
          <a:lstStyle/>
          <a:p>
            <a:pPr algn="ctr" indent="0" marL="0">
              <a:buNone/>
            </a:pPr>
            <a:r>
              <a:rPr lang="en-US" sz="900" b="1" spc="100" kern="0" dirty="0">
                <a:solidFill>
                  <a:srgbClr val="FFFFFF"/>
                </a:solidFill>
                <a:latin typeface="Calibri" pitchFamily="34" charset="0"/>
                <a:cs typeface="Amiri" pitchFamily="2" charset="-78"/>
              </a:rPr>
              <a:t>FEEDBACK · 1 MIN</a:t>
            </a:r>
            <a:endParaRPr lang="en-US" sz="900" dirty="0"/>
          </a:p>
        </p:txBody>
      </p:sp>
      <p:sp>
        <p:nvSpPr>
          <p:cNvPr id="10" name="Text 8"/>
          <p:cNvSpPr txBox="1"/>
          <p:nvPr/>
        </p:nvSpPr>
        <p:spPr>
          <a:xfrm>
            <a:off x="457200" y="822960"/>
            <a:ext cx="6949440" cy="237744"/>
          </a:xfrm>
          <a:prstGeom prst="rect">
            <a:avLst/>
          </a:prstGeom>
          <a:noFill/>
          <a:ln/>
        </p:spPr>
        <p:txBody>
          <a:bodyPr wrap="square" lIns="0" tIns="0" rIns="0" bIns="0" rtlCol="0" anchor="ctr"/>
          <a:lstStyle/>
          <a:p>
            <a:pPr algn="l" indent="0" marL="0">
              <a:buNone/>
            </a:pPr>
            <a:r>
              <a:rPr lang="en-US" sz="1000" b="1" spc="300" kern="0" dirty="0">
                <a:solidFill>
                  <a:srgbClr val="8A6D1E"/>
                </a:solidFill>
                <a:latin typeface="Calibri" pitchFamily="34" charset="0"/>
                <a:cs typeface="Amiri" pitchFamily="2" charset="-78"/>
              </a:rPr>
              <a:t>FEEDBACK · SUCCESS CRITERIA</a:t>
            </a:r>
            <a:endParaRPr lang="en-US" sz="1000" dirty="0"/>
          </a:p>
        </p:txBody>
      </p:sp>
      <p:sp>
        <p:nvSpPr>
          <p:cNvPr id="11" name="Text 9"/>
          <p:cNvSpPr txBox="1"/>
          <p:nvPr/>
        </p:nvSpPr>
        <p:spPr>
          <a:xfrm>
            <a:off x="457200" y="1033272"/>
            <a:ext cx="6949440" cy="566928"/>
          </a:xfrm>
          <a:prstGeom prst="rect">
            <a:avLst/>
          </a:prstGeom>
          <a:noFill/>
          <a:ln/>
        </p:spPr>
        <p:txBody>
          <a:bodyPr wrap="square" lIns="0" tIns="0" rIns="0" bIns="0" rtlCol="0" anchor="ctr"/>
          <a:lstStyle/>
          <a:p>
            <a:pPr algn="l" indent="0" marL="0">
              <a:buNone/>
            </a:pPr>
            <a:r>
              <a:rPr lang="en-US" sz="2800" b="1" dirty="0">
                <a:solidFill>
                  <a:srgbClr val="1B3B6F"/>
                </a:solidFill>
                <a:latin typeface="Cambria" pitchFamily="34" charset="0"/>
                <a:cs typeface="Amiri" pitchFamily="2" charset="-78"/>
              </a:rPr>
              <a:t>Check your work</a:t>
            </a:r>
            <a:endParaRPr lang="en-US" sz="2800" dirty="0"/>
          </a:p>
        </p:txBody>
      </p:sp>
      <p:sp>
        <p:nvSpPr>
          <p:cNvPr id="12" name="Text 10"/>
          <p:cNvSpPr txBox="1"/>
          <p:nvPr/>
        </p:nvSpPr>
        <p:spPr>
          <a:xfrm>
            <a:off x="7498080" y="868680"/>
            <a:ext cx="4233672" cy="749808"/>
          </a:xfrm>
          <a:prstGeom prst="rect">
            <a:avLst/>
          </a:prstGeom>
          <a:noFill/>
          <a:ln/>
        </p:spPr>
        <p:txBody>
          <a:bodyPr wrap="square" lIns="0" tIns="0" rIns="0" bIns="0" rtlCol="0" anchor="ctr"/>
          <a:lstStyle/>
          <a:p>
            <a:pPr rtl="1" algn="r" indent="0" marL="0">
              <a:buNone/>
            </a:pPr>
            <a:r>
              <a:rPr lang="ar-SA" altLang="en-US" sz="2800" b="1" dirty="0">
                <a:solidFill>
                  <a:srgbClr val="8A6D1E"/>
                </a:solidFill>
                <a:latin typeface="Amiri" pitchFamily="2" charset="-78"/>
                <a:ea typeface="Amiri" pitchFamily="2" charset="-78"/>
                <a:cs typeface="Amiri" pitchFamily="2" charset="-78"/>
              </a:rPr>
              <a:t>قَيِّمْ عَمَلَكَ</a:t>
            </a:r>
            <a:endParaRPr lang="ar-SA" sz="2800" dirty="0"/>
          </a:p>
        </p:txBody>
      </p:sp>
      <p:sp>
        <p:nvSpPr>
          <p:cNvPr id="13" name="Text 11"/>
          <p:cNvSpPr txBox="1"/>
          <p:nvPr/>
        </p:nvSpPr>
        <p:spPr>
          <a:xfrm>
            <a:off x="457200" y="6455664"/>
            <a:ext cx="6400800" cy="219456"/>
          </a:xfrm>
          <a:prstGeom prst="rect">
            <a:avLst/>
          </a:prstGeom>
          <a:noFill/>
          <a:ln/>
        </p:spPr>
        <p:txBody>
          <a:bodyPr wrap="square" lIns="0" tIns="0" rIns="0" bIns="0" rtlCol="0" anchor="ctr"/>
          <a:lstStyle/>
          <a:p>
            <a:pPr indent="0" marL="0">
              <a:buNone/>
            </a:pPr>
            <a:r>
              <a:rPr lang="en-US" sz="850" dirty="0">
                <a:solidFill>
                  <a:srgbClr val="8A93A0"/>
                </a:solidFill>
                <a:latin typeface="Calibri" pitchFamily="34" charset="0"/>
                <a:cs typeface="Amiri" pitchFamily="2" charset="-78"/>
              </a:rPr>
              <a:t>Miftah Arabic · Foundation F4 · My School · F4-L06 · practice room</a:t>
            </a:r>
            <a:endParaRPr lang="en-US" sz="850" dirty="0"/>
          </a:p>
        </p:txBody>
      </p:sp>
      <p:sp>
        <p:nvSpPr>
          <p:cNvPr id="15" name="Shape 12"/>
          <p:cNvSpPr/>
          <p:nvPr/>
        </p:nvSpPr>
        <p:spPr>
          <a:xfrm>
            <a:off x="457200" y="181051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16" name="Shape 13"/>
          <p:cNvSpPr/>
          <p:nvPr/>
        </p:nvSpPr>
        <p:spPr>
          <a:xfrm>
            <a:off x="685800" y="2086661"/>
            <a:ext cx="219456" cy="219456"/>
          </a:xfrm>
          <a:prstGeom prst="rect">
            <a:avLst/>
          </a:prstGeom>
          <a:solidFill>
            <a:srgbClr val="FFFFFF"/>
          </a:solidFill>
          <a:ln w="19050">
            <a:solidFill>
              <a:srgbClr val="2E8B57"/>
            </a:solidFill>
            <a:prstDash val="solid"/>
          </a:ln>
        </p:spPr>
      </p:sp>
      <p:sp>
        <p:nvSpPr>
          <p:cNvPr id="17" name="Text 14"/>
          <p:cNvSpPr txBox="1"/>
          <p:nvPr/>
        </p:nvSpPr>
        <p:spPr>
          <a:xfrm>
            <a:off x="1097280" y="181051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answered the questions and the role-play tasks in full sentences.</a:t>
            </a:r>
            <a:endParaRPr lang="en-US" sz="1300" dirty="0"/>
          </a:p>
        </p:txBody>
      </p:sp>
      <p:sp>
        <p:nvSpPr>
          <p:cNvPr id="18" name="Shape 15"/>
          <p:cNvSpPr/>
          <p:nvPr/>
        </p:nvSpPr>
        <p:spPr>
          <a:xfrm>
            <a:off x="6583680" y="2068373"/>
            <a:ext cx="1097280" cy="256032"/>
          </a:xfrm>
          <a:prstGeom prst="roundRect">
            <a:avLst>
              <a:gd name="adj" fmla="val 50000"/>
            </a:avLst>
          </a:prstGeom>
          <a:solidFill>
            <a:srgbClr val="2E8B57"/>
          </a:solidFill>
          <a:ln w="12700">
            <a:solidFill>
              <a:srgbClr val="2E8B57"/>
            </a:solidFill>
            <a:prstDash val="solid"/>
          </a:ln>
        </p:spPr>
      </p:sp>
      <p:sp>
        <p:nvSpPr>
          <p:cNvPr id="19" name="Text 16"/>
          <p:cNvSpPr txBox="1"/>
          <p:nvPr/>
        </p:nvSpPr>
        <p:spPr>
          <a:xfrm>
            <a:off x="6583680" y="2068373"/>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0" name="Shape 17"/>
          <p:cNvSpPr/>
          <p:nvPr/>
        </p:nvSpPr>
        <p:spPr>
          <a:xfrm>
            <a:off x="457200" y="2710282"/>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1" name="Shape 18"/>
          <p:cNvSpPr/>
          <p:nvPr/>
        </p:nvSpPr>
        <p:spPr>
          <a:xfrm>
            <a:off x="685800" y="2986430"/>
            <a:ext cx="219456" cy="219456"/>
          </a:xfrm>
          <a:prstGeom prst="rect">
            <a:avLst/>
          </a:prstGeom>
          <a:solidFill>
            <a:srgbClr val="FFFFFF"/>
          </a:solidFill>
          <a:ln w="19050">
            <a:solidFill>
              <a:srgbClr val="2E8B57"/>
            </a:solidFill>
            <a:prstDash val="solid"/>
          </a:ln>
        </p:spPr>
      </p:sp>
      <p:sp>
        <p:nvSpPr>
          <p:cNvPr id="22" name="Text 19"/>
          <p:cNvSpPr txBox="1"/>
          <p:nvPr/>
        </p:nvSpPr>
        <p:spPr>
          <a:xfrm>
            <a:off x="1097280" y="2710282"/>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wrote a sentence for every bullet point.</a:t>
            </a:r>
            <a:endParaRPr lang="en-US" sz="1300" dirty="0"/>
          </a:p>
        </p:txBody>
      </p:sp>
      <p:sp>
        <p:nvSpPr>
          <p:cNvPr id="23" name="Shape 20"/>
          <p:cNvSpPr/>
          <p:nvPr/>
        </p:nvSpPr>
        <p:spPr>
          <a:xfrm>
            <a:off x="6583680" y="2968142"/>
            <a:ext cx="1097280" cy="256032"/>
          </a:xfrm>
          <a:prstGeom prst="roundRect">
            <a:avLst>
              <a:gd name="adj" fmla="val 50000"/>
            </a:avLst>
          </a:prstGeom>
          <a:solidFill>
            <a:srgbClr val="2E8B57"/>
          </a:solidFill>
          <a:ln w="12700">
            <a:solidFill>
              <a:srgbClr val="2E8B57"/>
            </a:solidFill>
            <a:prstDash val="solid"/>
          </a:ln>
        </p:spPr>
      </p:sp>
      <p:sp>
        <p:nvSpPr>
          <p:cNvPr id="24" name="Text 21"/>
          <p:cNvSpPr txBox="1"/>
          <p:nvPr/>
        </p:nvSpPr>
        <p:spPr>
          <a:xfrm>
            <a:off x="6583680" y="296814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CORE</a:t>
            </a:r>
            <a:endParaRPr lang="en-US" sz="800" dirty="0"/>
          </a:p>
        </p:txBody>
      </p:sp>
      <p:sp>
        <p:nvSpPr>
          <p:cNvPr id="25" name="Shape 22"/>
          <p:cNvSpPr/>
          <p:nvPr/>
        </p:nvSpPr>
        <p:spPr>
          <a:xfrm>
            <a:off x="457200" y="361005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26" name="Shape 23"/>
          <p:cNvSpPr/>
          <p:nvPr/>
        </p:nvSpPr>
        <p:spPr>
          <a:xfrm>
            <a:off x="685800" y="3886200"/>
            <a:ext cx="219456" cy="219456"/>
          </a:xfrm>
          <a:prstGeom prst="rect">
            <a:avLst/>
          </a:prstGeom>
          <a:solidFill>
            <a:srgbClr val="FFFFFF"/>
          </a:solidFill>
          <a:ln w="19050">
            <a:solidFill>
              <a:srgbClr val="C9780A"/>
            </a:solidFill>
            <a:prstDash val="solid"/>
          </a:ln>
        </p:spPr>
      </p:sp>
      <p:sp>
        <p:nvSpPr>
          <p:cNvPr id="27" name="Text 24"/>
          <p:cNvSpPr txBox="1"/>
          <p:nvPr/>
        </p:nvSpPr>
        <p:spPr>
          <a:xfrm>
            <a:off x="1097280" y="361005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used today’s key structure when I spoke AND when I wrote.</a:t>
            </a:r>
            <a:endParaRPr lang="en-US" sz="1300" dirty="0"/>
          </a:p>
        </p:txBody>
      </p:sp>
      <p:sp>
        <p:nvSpPr>
          <p:cNvPr id="28" name="Shape 25"/>
          <p:cNvSpPr/>
          <p:nvPr/>
        </p:nvSpPr>
        <p:spPr>
          <a:xfrm>
            <a:off x="6583680" y="3867912"/>
            <a:ext cx="1097280" cy="256032"/>
          </a:xfrm>
          <a:prstGeom prst="roundRect">
            <a:avLst>
              <a:gd name="adj" fmla="val 50000"/>
            </a:avLst>
          </a:prstGeom>
          <a:solidFill>
            <a:srgbClr val="C9780A"/>
          </a:solidFill>
          <a:ln w="12700">
            <a:solidFill>
              <a:srgbClr val="C9780A"/>
            </a:solidFill>
            <a:prstDash val="solid"/>
          </a:ln>
        </p:spPr>
      </p:sp>
      <p:sp>
        <p:nvSpPr>
          <p:cNvPr id="29" name="Text 26"/>
          <p:cNvSpPr txBox="1"/>
          <p:nvPr/>
        </p:nvSpPr>
        <p:spPr>
          <a:xfrm>
            <a:off x="6583680" y="386791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0" name="Shape 27"/>
          <p:cNvSpPr/>
          <p:nvPr/>
        </p:nvSpPr>
        <p:spPr>
          <a:xfrm>
            <a:off x="457200" y="4509821"/>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1" name="Shape 28"/>
          <p:cNvSpPr/>
          <p:nvPr/>
        </p:nvSpPr>
        <p:spPr>
          <a:xfrm>
            <a:off x="685800" y="4785970"/>
            <a:ext cx="219456" cy="219456"/>
          </a:xfrm>
          <a:prstGeom prst="rect">
            <a:avLst/>
          </a:prstGeom>
          <a:solidFill>
            <a:srgbClr val="FFFFFF"/>
          </a:solidFill>
          <a:ln w="19050">
            <a:solidFill>
              <a:srgbClr val="C9780A"/>
            </a:solidFill>
            <a:prstDash val="solid"/>
          </a:ln>
        </p:spPr>
      </p:sp>
      <p:sp>
        <p:nvSpPr>
          <p:cNvPr id="32" name="Text 29"/>
          <p:cNvSpPr txBox="1"/>
          <p:nvPr/>
        </p:nvSpPr>
        <p:spPr>
          <a:xfrm>
            <a:off x="1097280" y="4509821"/>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My buddy checked my text and I fixed one mistake.</a:t>
            </a:r>
            <a:endParaRPr lang="en-US" sz="1300" dirty="0"/>
          </a:p>
        </p:txBody>
      </p:sp>
      <p:sp>
        <p:nvSpPr>
          <p:cNvPr id="33" name="Shape 30"/>
          <p:cNvSpPr/>
          <p:nvPr/>
        </p:nvSpPr>
        <p:spPr>
          <a:xfrm>
            <a:off x="6583680" y="4767682"/>
            <a:ext cx="1097280" cy="256032"/>
          </a:xfrm>
          <a:prstGeom prst="roundRect">
            <a:avLst>
              <a:gd name="adj" fmla="val 50000"/>
            </a:avLst>
          </a:prstGeom>
          <a:solidFill>
            <a:srgbClr val="C9780A"/>
          </a:solidFill>
          <a:ln w="12700">
            <a:solidFill>
              <a:srgbClr val="C9780A"/>
            </a:solidFill>
            <a:prstDash val="solid"/>
          </a:ln>
        </p:spPr>
      </p:sp>
      <p:sp>
        <p:nvSpPr>
          <p:cNvPr id="34" name="Text 31"/>
          <p:cNvSpPr txBox="1"/>
          <p:nvPr/>
        </p:nvSpPr>
        <p:spPr>
          <a:xfrm>
            <a:off x="6583680" y="4767682"/>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DEVELOP</a:t>
            </a:r>
            <a:endParaRPr lang="en-US" sz="800" dirty="0"/>
          </a:p>
        </p:txBody>
      </p:sp>
      <p:sp>
        <p:nvSpPr>
          <p:cNvPr id="35" name="Shape 32"/>
          <p:cNvSpPr/>
          <p:nvPr/>
        </p:nvSpPr>
        <p:spPr>
          <a:xfrm>
            <a:off x="457200" y="5409590"/>
            <a:ext cx="7406640" cy="771754"/>
          </a:xfrm>
          <a:prstGeom prst="roundRect">
            <a:avLst>
              <a:gd name="adj" fmla="val 9479"/>
            </a:avLst>
          </a:prstGeom>
          <a:solidFill>
            <a:srgbClr val="FFFFFF"/>
          </a:solidFill>
          <a:ln w="9525">
            <a:solidFill>
              <a:srgbClr val="D8D0BF"/>
            </a:solidFill>
            <a:prstDash val="solid"/>
          </a:ln>
          <a:effectLst>
            <a:outerShdw sx="100000" sy="100000" kx="0" ky="0" algn="bl" rotWithShape="0" blurRad="50800" dist="19050" dir="5400000">
              <a:srgbClr val="000000">
                <a:alpha val="10000"/>
              </a:srgbClr>
            </a:outerShdw>
          </a:effectLst>
        </p:spPr>
      </p:sp>
      <p:sp>
        <p:nvSpPr>
          <p:cNvPr id="36" name="Shape 33"/>
          <p:cNvSpPr/>
          <p:nvPr/>
        </p:nvSpPr>
        <p:spPr>
          <a:xfrm>
            <a:off x="685800" y="5685739"/>
            <a:ext cx="219456" cy="219456"/>
          </a:xfrm>
          <a:prstGeom prst="rect">
            <a:avLst/>
          </a:prstGeom>
          <a:solidFill>
            <a:srgbClr val="FFFFFF"/>
          </a:solidFill>
          <a:ln w="19050">
            <a:solidFill>
              <a:srgbClr val="B83227"/>
            </a:solidFill>
            <a:prstDash val="solid"/>
          </a:ln>
        </p:spPr>
      </p:sp>
      <p:sp>
        <p:nvSpPr>
          <p:cNvPr id="37" name="Text 34"/>
          <p:cNvSpPr txBox="1"/>
          <p:nvPr/>
        </p:nvSpPr>
        <p:spPr>
          <a:xfrm>
            <a:off x="1097280" y="5409590"/>
            <a:ext cx="5394960" cy="771754"/>
          </a:xfrm>
          <a:prstGeom prst="rect">
            <a:avLst/>
          </a:prstGeom>
          <a:noFill/>
          <a:ln/>
        </p:spPr>
        <p:txBody>
          <a:bodyPr wrap="square" lIns="0" tIns="0" rIns="0" bIns="0" rtlCol="0" anchor="ctr"/>
          <a:lstStyle/>
          <a:p>
            <a:pPr algn="l" indent="0" marL="0">
              <a:buNone/>
            </a:pPr>
            <a:r>
              <a:rPr lang="en-US" sz="1300" dirty="0">
                <a:solidFill>
                  <a:srgbClr val="1F2A37"/>
                </a:solidFill>
                <a:latin typeface="Calibri" pitchFamily="34" charset="0"/>
                <a:cs typeface="Amiri" pitchFamily="2" charset="-78"/>
              </a:rPr>
              <a:t>I added reasons (</a:t>
            </a:r>
            <a:pPr algn="l" indent="0" marL="0">
              <a:buNone/>
            </a:pPr>
            <a:r>
              <a:rPr lang="ar-SA" altLang="en-US" sz="1700" dirty="0">
                <a:solidFill>
                  <a:srgbClr val="1F2A37"/>
                </a:solidFill>
                <a:latin typeface="Amiri" pitchFamily="2" charset="-78"/>
                <a:ea typeface="Amiri" pitchFamily="2" charset="-78"/>
                <a:cs typeface="Amiri" pitchFamily="2" charset="-78"/>
              </a:rPr>
              <a:t>لِأَنَّ</a:t>
            </a:r>
            <a:pPr algn="l" indent="0" marL="0">
              <a:buNone/>
            </a:pPr>
            <a:r>
              <a:rPr lang="en-US" sz="1300" dirty="0">
                <a:solidFill>
                  <a:srgbClr val="1F2A37"/>
                </a:solidFill>
                <a:latin typeface="Calibri" pitchFamily="34" charset="0"/>
                <a:cs typeface="Amiri" pitchFamily="2" charset="-78"/>
              </a:rPr>
              <a:t>) and extra details without frames.</a:t>
            </a:r>
            <a:endParaRPr lang="en-US" sz="1300" dirty="0"/>
          </a:p>
        </p:txBody>
      </p:sp>
      <p:sp>
        <p:nvSpPr>
          <p:cNvPr id="38" name="Shape 35"/>
          <p:cNvSpPr/>
          <p:nvPr/>
        </p:nvSpPr>
        <p:spPr>
          <a:xfrm>
            <a:off x="6583680" y="5667451"/>
            <a:ext cx="1097280" cy="256032"/>
          </a:xfrm>
          <a:prstGeom prst="roundRect">
            <a:avLst>
              <a:gd name="adj" fmla="val 50000"/>
            </a:avLst>
          </a:prstGeom>
          <a:solidFill>
            <a:srgbClr val="B83227"/>
          </a:solidFill>
          <a:ln w="12700">
            <a:solidFill>
              <a:srgbClr val="B83227"/>
            </a:solidFill>
            <a:prstDash val="solid"/>
          </a:ln>
        </p:spPr>
      </p:sp>
      <p:sp>
        <p:nvSpPr>
          <p:cNvPr id="39" name="Text 36"/>
          <p:cNvSpPr txBox="1"/>
          <p:nvPr/>
        </p:nvSpPr>
        <p:spPr>
          <a:xfrm>
            <a:off x="6583680" y="5667451"/>
            <a:ext cx="1097280" cy="256032"/>
          </a:xfrm>
          <a:prstGeom prst="rect">
            <a:avLst/>
          </a:prstGeom>
          <a:noFill/>
          <a:ln/>
        </p:spPr>
        <p:txBody>
          <a:bodyPr wrap="square" lIns="0" tIns="0" rIns="0" bIns="0" rtlCol="0" anchor="ctr"/>
          <a:lstStyle/>
          <a:p>
            <a:pPr algn="ctr" indent="0" marL="0">
              <a:buNone/>
            </a:pPr>
            <a:r>
              <a:rPr lang="en-US" sz="800" b="1" spc="100" kern="0" dirty="0">
                <a:solidFill>
                  <a:srgbClr val="FFFFFF"/>
                </a:solidFill>
                <a:latin typeface="Calibri" pitchFamily="34" charset="0"/>
                <a:cs typeface="Amiri" pitchFamily="2" charset="-78"/>
              </a:rPr>
              <a:t>STRETCH</a:t>
            </a:r>
            <a:endParaRPr lang="en-US" sz="800" dirty="0"/>
          </a:p>
        </p:txBody>
      </p:sp>
      <p:sp>
        <p:nvSpPr>
          <p:cNvPr id="40" name="Shape 37"/>
          <p:cNvSpPr/>
          <p:nvPr/>
        </p:nvSpPr>
        <p:spPr>
          <a:xfrm>
            <a:off x="8092440" y="1810512"/>
            <a:ext cx="3639312" cy="2084832"/>
          </a:xfrm>
          <a:prstGeom prst="roundRect">
            <a:avLst>
              <a:gd name="adj" fmla="val 3509"/>
            </a:avLst>
          </a:prstGeom>
          <a:solidFill>
            <a:srgbClr val="E9F5EE"/>
          </a:solidFill>
          <a:ln w="9525">
            <a:solidFill>
              <a:srgbClr val="9CCFB0"/>
            </a:solidFill>
            <a:prstDash val="solid"/>
          </a:ln>
          <a:effectLst>
            <a:outerShdw sx="100000" sy="100000" kx="0" ky="0" algn="bl" rotWithShape="0" blurRad="50800" dist="19050" dir="5400000">
              <a:srgbClr val="000000">
                <a:alpha val="10000"/>
              </a:srgbClr>
            </a:outerShdw>
          </a:effectLst>
        </p:spPr>
      </p:sp>
      <p:sp>
        <p:nvSpPr>
          <p:cNvPr id="41" name="Text 38"/>
          <p:cNvSpPr txBox="1"/>
          <p:nvPr/>
        </p:nvSpPr>
        <p:spPr>
          <a:xfrm>
            <a:off x="8275320" y="1920240"/>
            <a:ext cx="3273552" cy="1828800"/>
          </a:xfrm>
          <a:prstGeom prst="rect">
            <a:avLst/>
          </a:prstGeom>
          <a:noFill/>
          <a:ln/>
        </p:spPr>
        <p:txBody>
          <a:bodyPr wrap="square" lIns="0" tIns="0" rIns="0" bIns="0" rtlCol="0" anchor="ctr"/>
          <a:lstStyle/>
          <a:p>
            <a:pPr indent="0" marL="0">
              <a:buNone/>
            </a:pPr>
            <a:r>
              <a:rPr lang="en-US" sz="1800" b="1" dirty="0">
                <a:solidFill>
                  <a:srgbClr val="2E8B57"/>
                </a:solidFill>
                <a:latin typeface="Calibri" pitchFamily="34" charset="0"/>
                <a:cs typeface="Amiri" pitchFamily="2" charset="-78"/>
              </a:rPr>
              <a:t>WWW</a:t>
            </a:r>
            <a:endParaRPr lang="en-US" sz="1800" dirty="0"/>
          </a:p>
          <a:p>
            <a:pPr indent="0" marL="0">
              <a:buNone/>
            </a:pPr>
            <a:r>
              <a:rPr lang="en-US" sz="1200" dirty="0">
                <a:solidFill>
                  <a:srgbClr val="1F2A37"/>
                </a:solidFill>
                <a:latin typeface="Calibri" pitchFamily="34" charset="0"/>
                <a:cs typeface="Amiri" pitchFamily="2" charset="-78"/>
              </a:rPr>
              <a:t>What went well? One thing you did accurately.</a:t>
            </a:r>
            <a:endParaRPr lang="en-US" sz="1800" dirty="0"/>
          </a:p>
        </p:txBody>
      </p:sp>
      <p:sp>
        <p:nvSpPr>
          <p:cNvPr id="42" name="Shape 39"/>
          <p:cNvSpPr/>
          <p:nvPr/>
        </p:nvSpPr>
        <p:spPr>
          <a:xfrm>
            <a:off x="8092440" y="4041648"/>
            <a:ext cx="3639312" cy="2084832"/>
          </a:xfrm>
          <a:prstGeom prst="roundRect">
            <a:avLst>
              <a:gd name="adj" fmla="val 3509"/>
            </a:avLst>
          </a:prstGeom>
          <a:solidFill>
            <a:srgbClr val="FFF4E0"/>
          </a:solidFill>
          <a:ln w="9525">
            <a:solidFill>
              <a:srgbClr val="E8D49A"/>
            </a:solidFill>
            <a:prstDash val="solid"/>
          </a:ln>
          <a:effectLst>
            <a:outerShdw sx="100000" sy="100000" kx="0" ky="0" algn="bl" rotWithShape="0" blurRad="50800" dist="19050" dir="5400000">
              <a:srgbClr val="000000">
                <a:alpha val="10000"/>
              </a:srgbClr>
            </a:outerShdw>
          </a:effectLst>
        </p:spPr>
      </p:sp>
      <p:sp>
        <p:nvSpPr>
          <p:cNvPr id="43" name="Text 40"/>
          <p:cNvSpPr txBox="1"/>
          <p:nvPr/>
        </p:nvSpPr>
        <p:spPr>
          <a:xfrm>
            <a:off x="8275320" y="4151376"/>
            <a:ext cx="3273552" cy="1828800"/>
          </a:xfrm>
          <a:prstGeom prst="rect">
            <a:avLst/>
          </a:prstGeom>
          <a:noFill/>
          <a:ln/>
        </p:spPr>
        <p:txBody>
          <a:bodyPr wrap="square" lIns="0" tIns="0" rIns="0" bIns="0" rtlCol="0" anchor="ctr"/>
          <a:lstStyle/>
          <a:p>
            <a:pPr indent="0" marL="0">
              <a:buNone/>
            </a:pPr>
            <a:r>
              <a:rPr lang="en-US" sz="1800" b="1" dirty="0">
                <a:solidFill>
                  <a:srgbClr val="C9780A"/>
                </a:solidFill>
                <a:latin typeface="Calibri" pitchFamily="34" charset="0"/>
                <a:cs typeface="Amiri" pitchFamily="2" charset="-78"/>
              </a:rPr>
              <a:t>EBI</a:t>
            </a:r>
            <a:endParaRPr lang="en-US" sz="1800" dirty="0"/>
          </a:p>
          <a:p>
            <a:pPr indent="0" marL="0">
              <a:buNone/>
            </a:pPr>
            <a:r>
              <a:rPr lang="en-US" sz="1200" dirty="0">
                <a:solidFill>
                  <a:srgbClr val="1F2A37"/>
                </a:solidFill>
                <a:latin typeface="Calibri" pitchFamily="34" charset="0"/>
                <a:cs typeface="Amiri" pitchFamily="2" charset="-78"/>
              </a:rPr>
              <a:t>Even better if… One thing you will fix or add.</a:t>
            </a:r>
            <a:endParaRPr lang="en-US" sz="1800" dirty="0"/>
          </a:p>
        </p:txBody>
      </p:sp>
      <p:sp>
        <p:nvSpPr>
          <p:cNvPr id="44" name="Text 41"/>
          <p:cNvSpPr txBox="1"/>
          <p:nvPr/>
        </p:nvSpPr>
        <p:spPr>
          <a:xfrm>
            <a:off x="10360152" y="6455664"/>
            <a:ext cx="1371600" cy="219456"/>
          </a:xfrm>
          <a:prstGeom prst="rect">
            <a:avLst/>
          </a:prstGeom>
          <a:noFill/>
          <a:ln/>
        </p:spPr>
        <p:txBody>
          <a:bodyPr wrap="square" lIns="0" tIns="0" rIns="0" bIns="0" rtlCol="0" anchor="ctr"/>
          <a:lstStyle/>
          <a:p>
            <a:pPr algn="r" indent="0" marL="0">
              <a:buNone/>
            </a:pPr>
            <a:r>
              <a:rPr lang="en-US" sz="850" dirty="0">
                <a:solidFill>
                  <a:srgbClr val="8A93A0"/>
                </a:solidFill>
                <a:latin typeface="Calibri" pitchFamily="34" charset="0"/>
                <a:cs typeface="Amiri" pitchFamily="2" charset="-78"/>
              </a:rPr>
              <a:t>21 / 22</a:t>
            </a:r>
            <a:endParaRPr lang="en-US" sz="8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F3C"/>
        </a:solidFill>
      </p:bgPr>
    </p:bg>
    <p:spTree>
      <p:nvGrpSpPr>
        <p:cNvPr id="1" name=""/>
        <p:cNvGrpSpPr/>
        <p:nvPr/>
      </p:nvGrpSpPr>
      <p:grpSpPr>
        <a:xfrm>
          <a:off x="0" y="0"/>
          <a:ext cx="0" cy="0"/>
          <a:chOff x="0" y="0"/>
          <a:chExt cx="0" cy="0"/>
        </a:xfrm>
      </p:grpSpPr>
      <p:sp>
        <p:nvSpPr>
          <p:cNvPr id="2" name="Shape 0"/>
          <p:cNvSpPr/>
          <p:nvPr/>
        </p:nvSpPr>
        <p:spPr>
          <a:xfrm>
            <a:off x="7863840" y="1097280"/>
            <a:ext cx="5852160" cy="5852160"/>
          </a:xfrm>
          <a:prstGeom prst="ellipse">
            <a:avLst/>
          </a:prstGeom>
          <a:solidFill>
            <a:srgbClr val="14315C"/>
          </a:solidFill>
          <a:ln w="12700">
            <a:solidFill>
              <a:srgbClr val="14315C"/>
            </a:solidFill>
            <a:prstDash val="solid"/>
          </a:ln>
        </p:spPr>
      </p:sp>
      <p:sp>
        <p:nvSpPr>
          <p:cNvPr id="3" name="Shape 1"/>
          <p:cNvSpPr/>
          <p:nvPr/>
        </p:nvSpPr>
        <p:spPr>
          <a:xfrm>
            <a:off x="9372600" y="2606040"/>
            <a:ext cx="1737360" cy="1737360"/>
          </a:xfrm>
          <a:prstGeom prst="ellipse">
            <a:avLst/>
          </a:prstGeom>
          <a:solidFill>
            <a:srgbClr val="D4AF37"/>
          </a:solidFill>
          <a:ln w="12700">
            <a:solidFill>
              <a:srgbClr val="D4AF37"/>
            </a:solidFill>
            <a:prstDash val="solid"/>
          </a:ln>
        </p:spPr>
      </p:sp>
      <p:pic>
        <p:nvPicPr>
          <p:cNvPr id="4" name="Image 0" descr="preencoded.png">    </p:cNvPr>
          <p:cNvPicPr>
            <a:picLocks noChangeAspect="1"/>
          </p:cNvPicPr>
          <p:nvPr/>
        </p:nvPicPr>
        <p:blipFill>
          <a:blip r:embed="rId1"/>
          <a:stretch>
            <a:fillRect/>
          </a:stretch>
        </p:blipFill>
        <p:spPr>
          <a:xfrm>
            <a:off x="9710928" y="2944368"/>
            <a:ext cx="1060704" cy="1060704"/>
          </a:xfrm>
          <a:prstGeom prst="rect">
            <a:avLst/>
          </a:prstGeom>
        </p:spPr>
      </p:pic>
      <p:sp>
        <p:nvSpPr>
          <p:cNvPr id="5" name="Text 2"/>
          <p:cNvSpPr txBox="1"/>
          <p:nvPr/>
        </p:nvSpPr>
        <p:spPr>
          <a:xfrm>
            <a:off x="457200" y="1280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F4-L06 COMPLETE</a:t>
            </a:r>
            <a:endParaRPr lang="en-US" sz="1100" dirty="0"/>
          </a:p>
        </p:txBody>
      </p:sp>
      <p:sp>
        <p:nvSpPr>
          <p:cNvPr id="6" name="Text 3"/>
          <p:cNvSpPr txBox="1"/>
          <p:nvPr/>
        </p:nvSpPr>
        <p:spPr>
          <a:xfrm>
            <a:off x="457200" y="1691640"/>
            <a:ext cx="7315200" cy="914400"/>
          </a:xfrm>
          <a:prstGeom prst="rect">
            <a:avLst/>
          </a:prstGeom>
          <a:noFill/>
          <a:ln/>
        </p:spPr>
        <p:txBody>
          <a:bodyPr wrap="square" lIns="0" tIns="0" rIns="0" bIns="0" rtlCol="0" anchor="ctr"/>
          <a:lstStyle/>
          <a:p>
            <a:pPr rtl="1" algn="l" indent="0" marL="0">
              <a:buNone/>
            </a:pPr>
            <a:r>
              <a:rPr lang="ar-SA" altLang="en-US" sz="4000" b="1" dirty="0">
                <a:solidFill>
                  <a:srgbClr val="FFFFFF"/>
                </a:solidFill>
                <a:latin typeface="Amiri" pitchFamily="2" charset="-78"/>
                <a:ea typeface="Amiri" pitchFamily="2" charset="-78"/>
                <a:cs typeface="Amiri" pitchFamily="2" charset="-78"/>
              </a:rPr>
              <a:t>أَحْسَنْتُمْ! إِلَى اللِّقَاءِ</a:t>
            </a:r>
            <a:endParaRPr lang="ar-SA" sz="4000" dirty="0"/>
          </a:p>
        </p:txBody>
      </p:sp>
      <p:sp>
        <p:nvSpPr>
          <p:cNvPr id="7" name="Text 4"/>
          <p:cNvSpPr txBox="1"/>
          <p:nvPr/>
        </p:nvSpPr>
        <p:spPr>
          <a:xfrm>
            <a:off x="457200" y="2606040"/>
            <a:ext cx="7315200" cy="411480"/>
          </a:xfrm>
          <a:prstGeom prst="rect">
            <a:avLst/>
          </a:prstGeom>
          <a:noFill/>
          <a:ln/>
        </p:spPr>
        <p:txBody>
          <a:bodyPr wrap="square" lIns="0" tIns="0" rIns="0" bIns="0" rtlCol="0" anchor="ctr"/>
          <a:lstStyle/>
          <a:p>
            <a:pPr algn="l" indent="0" marL="0">
              <a:buNone/>
            </a:pPr>
            <a:r>
              <a:rPr lang="en-US" sz="1600" i="1" dirty="0">
                <a:solidFill>
                  <a:srgbClr val="C6D2E6"/>
                </a:solidFill>
                <a:latin typeface="Calibri" pitchFamily="34" charset="0"/>
                <a:cs typeface="Amiri" pitchFamily="2" charset="-78"/>
              </a:rPr>
              <a:t>Well done — you practised it yourselves!</a:t>
            </a:r>
            <a:endParaRPr lang="en-US" sz="1600" dirty="0"/>
          </a:p>
        </p:txBody>
      </p:sp>
      <p:sp>
        <p:nvSpPr>
          <p:cNvPr id="8" name="Text 5"/>
          <p:cNvSpPr txBox="1"/>
          <p:nvPr/>
        </p:nvSpPr>
        <p:spPr>
          <a:xfrm>
            <a:off x="457200" y="3566160"/>
            <a:ext cx="5486400" cy="274320"/>
          </a:xfrm>
          <a:prstGeom prst="rect">
            <a:avLst/>
          </a:prstGeom>
          <a:noFill/>
          <a:ln/>
        </p:spPr>
        <p:txBody>
          <a:bodyPr wrap="square" lIns="0" tIns="0" rIns="0" bIns="0" rtlCol="0" anchor="ctr"/>
          <a:lstStyle/>
          <a:p>
            <a:pPr algn="l" indent="0" marL="0">
              <a:buNone/>
            </a:pPr>
            <a:r>
              <a:rPr lang="en-US" sz="1100" b="1" spc="300" kern="0" dirty="0">
                <a:solidFill>
                  <a:srgbClr val="D4AF37"/>
                </a:solidFill>
                <a:latin typeface="Calibri" pitchFamily="34" charset="0"/>
                <a:cs typeface="Amiri" pitchFamily="2" charset="-78"/>
              </a:rPr>
              <a:t>NEXT</a:t>
            </a:r>
            <a:endParaRPr lang="en-US" sz="1100" dirty="0"/>
          </a:p>
        </p:txBody>
      </p:sp>
      <p:sp>
        <p:nvSpPr>
          <p:cNvPr id="9" name="Text 6"/>
          <p:cNvSpPr txBox="1"/>
          <p:nvPr/>
        </p:nvSpPr>
        <p:spPr>
          <a:xfrm>
            <a:off x="457200" y="3886200"/>
            <a:ext cx="7315200" cy="548640"/>
          </a:xfrm>
          <a:prstGeom prst="rect">
            <a:avLst/>
          </a:prstGeom>
          <a:noFill/>
          <a:ln/>
        </p:spPr>
        <p:txBody>
          <a:bodyPr wrap="square" lIns="0" tIns="0" rIns="0" bIns="0" rtlCol="0" anchor="ctr"/>
          <a:lstStyle/>
          <a:p>
            <a:pPr algn="l" indent="0" marL="0">
              <a:buNone/>
            </a:pPr>
            <a:r>
              <a:rPr lang="en-US" sz="1850" b="1" dirty="0">
                <a:solidFill>
                  <a:srgbClr val="FFFFFF"/>
                </a:solidFill>
                <a:latin typeface="Cambria" pitchFamily="34" charset="0"/>
                <a:cs typeface="Amiri" pitchFamily="2" charset="-78"/>
              </a:rPr>
              <a:t>F4-L07 · A Typical School Day — Narrating a Sequence</a:t>
            </a:r>
            <a:endParaRPr lang="en-US" sz="1850" dirty="0"/>
          </a:p>
        </p:txBody>
      </p:sp>
      <p:sp>
        <p:nvSpPr>
          <p:cNvPr id="10" name="Text 7"/>
          <p:cNvSpPr txBox="1"/>
          <p:nvPr/>
        </p:nvSpPr>
        <p:spPr>
          <a:xfrm>
            <a:off x="457200" y="4434840"/>
            <a:ext cx="7315200" cy="548640"/>
          </a:xfrm>
          <a:prstGeom prst="rect">
            <a:avLst/>
          </a:prstGeom>
          <a:noFill/>
          <a:ln/>
        </p:spPr>
        <p:txBody>
          <a:bodyPr wrap="square" lIns="0" tIns="0" rIns="0" bIns="0" rtlCol="0" anchor="ctr"/>
          <a:lstStyle/>
          <a:p>
            <a:pPr rtl="1" algn="l" indent="0" marL="0">
              <a:buNone/>
            </a:pPr>
            <a:r>
              <a:rPr lang="ar-SA" altLang="en-US" sz="2400" b="1" dirty="0">
                <a:solidFill>
                  <a:srgbClr val="D4AF37"/>
                </a:solidFill>
                <a:latin typeface="Amiri" pitchFamily="2" charset="-78"/>
                <a:ea typeface="Amiri" pitchFamily="2" charset="-78"/>
                <a:cs typeface="Amiri" pitchFamily="2" charset="-78"/>
              </a:rPr>
              <a:t>يَوْمٌ مَدْرَسِيٌّ عَادِيٌّ — سَرْدُ التَّسَلْسُلِ</a:t>
            </a:r>
            <a:endParaRPr lang="ar-SA" sz="2400" dirty="0"/>
          </a:p>
        </p:txBody>
      </p:sp>
      <p:sp>
        <p:nvSpPr>
          <p:cNvPr id="11" name="Text 8"/>
          <p:cNvSpPr txBox="1"/>
          <p:nvPr/>
        </p:nvSpPr>
        <p:spPr>
          <a:xfrm>
            <a:off x="457200" y="5303520"/>
            <a:ext cx="7315200" cy="365760"/>
          </a:xfrm>
          <a:prstGeom prst="rect">
            <a:avLst/>
          </a:prstGeom>
          <a:noFill/>
          <a:ln/>
        </p:spPr>
        <p:txBody>
          <a:bodyPr wrap="square" lIns="0" tIns="0" rIns="0" bIns="0" rtlCol="0" anchor="ctr"/>
          <a:lstStyle/>
          <a:p>
            <a:pPr algn="l" indent="0" marL="0">
              <a:buNone/>
            </a:pPr>
            <a:r>
              <a:rPr lang="en-US" sz="1300" b="1" dirty="0">
                <a:solidFill>
                  <a:srgbClr val="FFFFFF"/>
                </a:solidFill>
                <a:latin typeface="Calibri" pitchFamily="34" charset="0"/>
                <a:cs typeface="Amiri" pitchFamily="2" charset="-78"/>
              </a:rPr>
              <a:t>Remember: say it, then write it — full sentences, every time.</a:t>
            </a:r>
            <a:endParaRPr lang="en-US" sz="13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Amiri" pitchFamily="2" charset="-78"/>
        <a:cs typeface="Amiri" pitchFamily="2" charset="-78"/>
        <a:font script="Arab" typeface="Amiri"/>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Amiri" pitchFamily="2" charset="-78"/>
        <a:cs typeface="Amiri" pitchFamily="2" charset="-78"/>
        <a:font script="Arab" typeface="Amiri"/>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Al Madina Online School</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F4-L06 · Practice Room — School Rules and Obligations — Must and Must Not</dc:title>
  <dc:subject>PptxGenJS Presentation</dc:subject>
  <dc:creator>Al Madina Online School · Arabic Department</dc:creator>
  <cp:lastModifiedBy>Al Madina Online School · Arabic Department</cp:lastModifiedBy>
  <cp:revision>1</cp:revision>
  <dcterms:created xsi:type="dcterms:W3CDTF">2026-10-25T18:35:00Z</dcterms:created>
  <dcterms:modified xsi:type="dcterms:W3CDTF">2026-10-25T18:35:00Z</dcterms:modified>
</cp:coreProperties>
</file>