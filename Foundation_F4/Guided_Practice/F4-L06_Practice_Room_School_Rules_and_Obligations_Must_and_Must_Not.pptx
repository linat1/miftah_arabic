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F4-L06 (School Rules and Obligations — Must and Must Not) — new practice tasks built on the lesson’s own word bank and grammar (yajibu an + verb in -a (must); lā yajūzu an + verb in -a (must not); yumkinu an (may); imperatives to a boy / girl / group (iḥtarim · iḥtarimī · iḥtarimū); lā + jussive (lā taʾkul)).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F4-L06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this card is written for a new GIRL (-ī endings); to a boy: تَلْبَسَ · تَصِلَ · اذْهَبْ · قُلْ. Language: yajibu an / lā yajūzu an + verb in -a · imperatives to a girl (-ī) · qabla +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(44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F4-L06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School Rules and Obligations — Must and Must Not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القَوَاعِدُ المَدْرَسِيَّةُ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with school rules: say the rule words, act a short dialogue, answer question cards, do a role-play card showing a new student the rules, give a 30-second talk, then build, fix and write a rulebook for their class or an online classroom.</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F4-L06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Rules and school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قَاعِدَةٌ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rule</a:t>
            </a:r>
            <a:endParaRPr lang="en-US" sz="1350" dirty="0"/>
          </a:p>
          <a:p>
            <a:pPr indent="0" marL="0">
              <a:buNone/>
            </a:pPr>
            <a:r>
              <a:rPr lang="en-US" sz="1100" i="1" dirty="0">
                <a:solidFill>
                  <a:srgbClr val="5A6472"/>
                </a:solidFill>
                <a:latin typeface="Calibri" pitchFamily="34" charset="0"/>
                <a:cs typeface="Amiri" pitchFamily="2" charset="-78"/>
              </a:rPr>
              <a:t>qā-‘i-da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قَوَاعِدُ</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اللِّبَاسُ الْمَدْرَسِيُّ</a:t>
            </a:r>
            <a:endParaRPr lang="ar-SA" sz="3000" dirty="0"/>
          </a:p>
        </p:txBody>
      </p:sp>
      <p:sp>
        <p:nvSpPr>
          <p:cNvPr id="35" name="Text 3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uniform</a:t>
            </a:r>
            <a:endParaRPr lang="en-US" sz="1350" dirty="0"/>
          </a:p>
          <a:p>
            <a:pPr indent="0" marL="0">
              <a:buNone/>
            </a:pPr>
            <a:r>
              <a:rPr lang="en-US" sz="1100" i="1" dirty="0">
                <a:solidFill>
                  <a:srgbClr val="5A6472"/>
                </a:solidFill>
                <a:latin typeface="Calibri" pitchFamily="34" charset="0"/>
                <a:cs typeface="Amiri" pitchFamily="2" charset="-78"/>
              </a:rPr>
              <a:t>al-li-bās al-mad-ra-siyy</a:t>
            </a:r>
            <a:endParaRPr lang="en-US"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9" name="Shape 36"/>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الاِحْتِرَامُ</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a:t>
            </a:r>
            <a:endParaRPr lang="en-US" sz="1350" dirty="0"/>
          </a:p>
          <a:p>
            <a:pPr indent="0" marL="0">
              <a:buNone/>
            </a:pPr>
            <a:r>
              <a:rPr lang="en-US" sz="1100" i="1" dirty="0">
                <a:solidFill>
                  <a:srgbClr val="5A6472"/>
                </a:solidFill>
                <a:latin typeface="Calibri" pitchFamily="34" charset="0"/>
                <a:cs typeface="Amiri" pitchFamily="2" charset="-78"/>
              </a:rPr>
              <a:t>al-iḥ-ti-rām</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الْوَاجِبُ الْمَنْزِلِيُّ</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homework</a:t>
            </a:r>
            <a:endParaRPr lang="en-US" sz="1350" dirty="0"/>
          </a:p>
          <a:p>
            <a:pPr indent="0" marL="0">
              <a:buNone/>
            </a:pPr>
            <a:r>
              <a:rPr lang="en-US" sz="1100" i="1" dirty="0">
                <a:solidFill>
                  <a:srgbClr val="5A6472"/>
                </a:solidFill>
                <a:latin typeface="Calibri" pitchFamily="34" charset="0"/>
                <a:cs typeface="Amiri" pitchFamily="2" charset="-78"/>
              </a:rPr>
              <a:t>al-wā-jib al-man-zi-liyy</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الْهَاتِفُ الْمَحْمُولُ</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mobile phone</a:t>
            </a:r>
            <a:endParaRPr lang="en-US" sz="1350" dirty="0"/>
          </a:p>
          <a:p>
            <a:pPr indent="0" marL="0">
              <a:buNone/>
            </a:pPr>
            <a:r>
              <a:rPr lang="en-US" sz="1100" i="1" dirty="0">
                <a:solidFill>
                  <a:srgbClr val="5A6472"/>
                </a:solidFill>
                <a:latin typeface="Calibri" pitchFamily="34" charset="0"/>
                <a:cs typeface="Amiri" pitchFamily="2" charset="-78"/>
              </a:rPr>
              <a:t>al-hā-tif al-maḥ-mūl</a:t>
            </a:r>
            <a:endParaRPr lang="en-US" sz="1350" dirty="0"/>
          </a:p>
        </p:txBody>
      </p:sp>
      <p:sp>
        <p:nvSpPr>
          <p:cNvPr id="63" name="Shape 60"/>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الْهَوَاتِفُ</a:t>
            </a:r>
            <a:endParaRPr lang="ar-SA" sz="150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9" name="Shape 6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التَّأَخُّرُ · الْغِيَابُ</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lateness · absence</a:t>
            </a:r>
            <a:endParaRPr lang="en-US" sz="1350" dirty="0"/>
          </a:p>
          <a:p>
            <a:pPr indent="0" marL="0">
              <a:buNone/>
            </a:pPr>
            <a:r>
              <a:rPr lang="en-US" sz="1100" i="1" dirty="0">
                <a:solidFill>
                  <a:srgbClr val="5A6472"/>
                </a:solidFill>
                <a:latin typeface="Calibri" pitchFamily="34" charset="0"/>
                <a:cs typeface="Amiri" pitchFamily="2" charset="-78"/>
              </a:rPr>
              <a:t>at-ta-’akh-khur · al-ghi-yāb</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Must, must not, may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 …</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 must …</a:t>
            </a:r>
            <a:endParaRPr lang="en-US" sz="1350" dirty="0"/>
          </a:p>
          <a:p>
            <a:pPr indent="0" marL="0">
              <a:buNone/>
            </a:pPr>
            <a:r>
              <a:rPr lang="en-US" sz="1100" i="1" dirty="0">
                <a:solidFill>
                  <a:srgbClr val="5A6472"/>
                </a:solidFill>
                <a:latin typeface="Calibri" pitchFamily="34" charset="0"/>
                <a:cs typeface="Amiri" pitchFamily="2" charset="-78"/>
              </a:rPr>
              <a:t>ya-ji-bu an …</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يَجُوزُ أَنْ …</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 must not …</a:t>
            </a:r>
            <a:endParaRPr lang="en-US" sz="1350" dirty="0"/>
          </a:p>
          <a:p>
            <a:pPr indent="0" marL="0">
              <a:buNone/>
            </a:pPr>
            <a:r>
              <a:rPr lang="en-US" sz="1100" i="1" dirty="0">
                <a:solidFill>
                  <a:srgbClr val="5A6472"/>
                </a:solidFill>
                <a:latin typeface="Calibri" pitchFamily="34" charset="0"/>
                <a:cs typeface="Amiri" pitchFamily="2" charset="-78"/>
              </a:rPr>
              <a:t>lā ya-jū-zu an …</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يُمْكِنُ أَنْ …</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 may / can …</a:t>
            </a:r>
            <a:endParaRPr lang="en-US" sz="1350" dirty="0"/>
          </a:p>
          <a:p>
            <a:pPr indent="0" marL="0">
              <a:buNone/>
            </a:pPr>
            <a:r>
              <a:rPr lang="en-US" sz="1100" i="1" dirty="0">
                <a:solidFill>
                  <a:srgbClr val="5A6472"/>
                </a:solidFill>
                <a:latin typeface="Calibri" pitchFamily="34" charset="0"/>
                <a:cs typeface="Amiri" pitchFamily="2" charset="-78"/>
              </a:rPr>
              <a:t>yum-ki-nu an …</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احْتَرِمْ · احْتَرِمِي</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 (boy · girl)</a:t>
            </a:r>
            <a:endParaRPr lang="en-US" sz="1350" dirty="0"/>
          </a:p>
          <a:p>
            <a:pPr indent="0" marL="0">
              <a:buNone/>
            </a:pPr>
            <a:r>
              <a:rPr lang="en-US" sz="1100" i="1" dirty="0">
                <a:solidFill>
                  <a:srgbClr val="5A6472"/>
                </a:solidFill>
                <a:latin typeface="Calibri" pitchFamily="34" charset="0"/>
                <a:cs typeface="Amiri" pitchFamily="2" charset="-78"/>
              </a:rPr>
              <a:t>aḥ-ta-rim · aḥ-ta-ri-mī</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تَأْكُلْ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don’t eat! (to a boy)</a:t>
            </a:r>
            <a:endParaRPr lang="en-US" sz="1350" dirty="0"/>
          </a:p>
          <a:p>
            <a:pPr indent="0" marL="0">
              <a:buNone/>
            </a:pPr>
            <a:r>
              <a:rPr lang="en-US" sz="1100" i="1" dirty="0">
                <a:solidFill>
                  <a:srgbClr val="5A6472"/>
                </a:solidFill>
                <a:latin typeface="Calibri" pitchFamily="34" charset="0"/>
                <a:cs typeface="Amiri" pitchFamily="2" charset="-78"/>
              </a:rPr>
              <a:t>lā taʾ-kul</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الوَقْتِ</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time</a:t>
            </a:r>
            <a:endParaRPr lang="en-US" sz="1350" dirty="0"/>
          </a:p>
          <a:p>
            <a:pPr indent="0" marL="0">
              <a:buNone/>
            </a:pPr>
            <a:r>
              <a:rPr lang="en-US" sz="1100" i="1" dirty="0">
                <a:solidFill>
                  <a:srgbClr val="5A6472"/>
                </a:solidFill>
                <a:latin typeface="Calibri" pitchFamily="34" charset="0"/>
                <a:cs typeface="Amiri" pitchFamily="2" charset="-78"/>
              </a:rPr>
              <a:t>fī al-waq-ti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are the rules here?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 القَوَاعِدُ هُنَا؟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the rules at your school?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القَوَاعِدُ فِي مَدْرَسَتِكُمْ؟</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must wear school uniform every day.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يَجِبُ أَنْ نَلْبَسَ اللِّبَاسَ المَدْرَسِيَّ كُلَّ يَوْمٍ.</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Can we use the phone?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يُمْكِنُ أَنْ نَسْتَعْمِلَ الهَاتِفَ؟</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we must not use the phone in class.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لَا يَجُوزُ أَنْ نَسْتَعْمِلَ الهَاتِفَ فِي الصَّفِّ.</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about homework?</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عَنِ الوَاجِبِ المَنْزِلِيِّ؟</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must hand it in on time, and we must not be late.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يَجِبُ أَنْ نُسَلِّمَهُ فِي الوَقْتِ، وَلَا يَجُوزُ أَنْ نَتَأَخَّرَ.</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school’s real rules — one “must”, one “must not”, one “may”.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لَوْنُهُ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أَنْ أَلْبَسَ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 you wear at school?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يَجِبُ أَنْ تَلْبَسَ فِي المَدْرَسَةِ؟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يَجُوزُ أَنْ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 you not do in class?</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لَا يَجُوزُ أَنْ تَفْعَلَ فِي الصَّفِّ؟</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يُمْكِنُ أَنْ نَأْكُلَ فِي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لَا يَجُوزُ … / نَعَمْ، يُمْكِنُ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Can you eat in class?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يُمْكِنُ أَنْ تَأْكُلَ فِي الصَّفِّ؟</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school uniform?</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اللِّبَاسِ المَدْرَسِيِّ؟</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الاحْتِرَامَ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أَهَمُّ قَاعِدَةٍ: يَجِبُ 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most important rule?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أَهَمُّ قَاعِدَةٍ فِي رَأْيِكَ؟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explaining the rules to a new student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أَشْرَحُ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يَجِبُ أَنْ تَلْبَسِي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yes + what it is.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يَجِبُ أَنْ أَلْبَسَ اللِّبَاسَ المَدْرَسِيَّ؟</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لَا، لَا يَجُوزُ … ، لٰكِنْ يُمْكِنُ فِي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no + when it is allowed.</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يُمْكِنُ أَنْ أَسْتَعْمِلَ هَاتِفِي؟</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يَجِبُ أَنْ تَصِلِي قَبْلَ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time.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يَجِبُ أَنْ أَصِلَ؟</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 اذْهَبِي إِلَى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advice (an imperative).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أَفْعَلُ إِذَا تَأَخَّرْتُ؟</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school buddy · Leader = a new student (a girl).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30 seconds: the rules of our online classroom</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قَوَاعِدُ صَفِّنَا عَلَى الإِنْتَرْنِتِ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the rules of your Teams lesson in 30 seconds: what you must do, what you must not do, and what you may do — with one reason.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a:t>
            </a:r>
            <a:pPr algn="l" indent="0" marL="0">
              <a:buNone/>
            </a:pPr>
            <a:r>
              <a:rPr lang="ar-SA" altLang="en-US" sz="1500" dirty="0">
                <a:solidFill>
                  <a:srgbClr val="1F2A37"/>
                </a:solidFill>
                <a:latin typeface="Amiri" pitchFamily="2" charset="-78"/>
                <a:ea typeface="Amiri" pitchFamily="2" charset="-78"/>
                <a:cs typeface="Amiri" pitchFamily="2" charset="-78"/>
              </a:rPr>
              <a:t>يَجِبُ أَنْ</a:t>
            </a:r>
            <a:pPr algn="l" indent="0" marL="0">
              <a:buNone/>
            </a:pPr>
            <a:r>
              <a:rPr lang="en-US" sz="1150" dirty="0">
                <a:solidFill>
                  <a:srgbClr val="1F2A37"/>
                </a:solidFill>
                <a:latin typeface="Calibri" pitchFamily="34" charset="0"/>
                <a:cs typeface="Amiri" pitchFamily="2" charset="-78"/>
              </a:rPr>
              <a:t> … and one </a:t>
            </a:r>
            <a:pPr algn="l" indent="0" marL="0">
              <a:buNone/>
            </a:pPr>
            <a:r>
              <a:rPr lang="ar-SA" altLang="en-US" sz="1500" dirty="0">
                <a:solidFill>
                  <a:srgbClr val="1F2A37"/>
                </a:solidFill>
                <a:latin typeface="Amiri" pitchFamily="2" charset="-78"/>
                <a:ea typeface="Amiri" pitchFamily="2" charset="-78"/>
                <a:cs typeface="Amiri" pitchFamily="2" charset="-78"/>
              </a:rPr>
              <a:t>لَا يَجُوزُ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يُمْكِنُ أَنْ</a:t>
            </a:r>
            <a:pPr algn="l" indent="0" marL="0">
              <a:buNone/>
            </a:pPr>
            <a:r>
              <a:rPr lang="en-US" sz="1150" dirty="0">
                <a:solidFill>
                  <a:srgbClr val="1F2A37"/>
                </a:solidFill>
                <a:latin typeface="Calibri" pitchFamily="34" charset="0"/>
                <a:cs typeface="Amiri" pitchFamily="2" charset="-78"/>
              </a:rPr>
              <a:t> … and a reason with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rules as instructions to the group: </a:t>
            </a:r>
            <a:pPr algn="l" indent="0" marL="0">
              <a:buNone/>
            </a:pPr>
            <a:r>
              <a:rPr lang="ar-SA" altLang="en-US" sz="1500" dirty="0">
                <a:solidFill>
                  <a:srgbClr val="1F2A37"/>
                </a:solidFill>
                <a:latin typeface="Amiri" pitchFamily="2" charset="-78"/>
                <a:ea typeface="Amiri" pitchFamily="2" charset="-78"/>
                <a:cs typeface="Amiri" pitchFamily="2" charset="-78"/>
              </a:rPr>
              <a:t>افْتَحُوا</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لَا تَتَكَلَّمُوا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must respect the teachers.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يَجُوزُ</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نَحْتَرِمَ</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نَحْتَرِمُ</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المُعَلِّمِينَ.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المُعَلِّمُونَ.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You must not run in the corridor.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يَجُوزُ</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تَرْكُضَ</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تَرْكُضُ</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المَمَرِّ.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المَمَرُّ.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Listen, everyone! (to a group)</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اسْتَمِعُوا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اسْتَمِعْ</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جَمِيعًا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وَحْدَكَ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فَضْلِكُمْ!</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فَضْلِكَ!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must respect the teachers.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Must = </a:t>
            </a:r>
            <a:pPr algn="l" indent="0" marL="0">
              <a:buNone/>
            </a:pPr>
            <a:r>
              <a:rPr lang="ar-SA" altLang="en-US" sz="1350" dirty="0">
                <a:solidFill>
                  <a:srgbClr val="5A6472"/>
                </a:solidFill>
                <a:latin typeface="Amiri" pitchFamily="2" charset="-78"/>
                <a:ea typeface="Amiri" pitchFamily="2" charset="-78"/>
                <a:cs typeface="Amiri" pitchFamily="2" charset="-78"/>
              </a:rPr>
              <a:t>يَجِبُ أَنْ</a:t>
            </a:r>
            <a:pPr algn="l" indent="0" marL="0">
              <a:buNone/>
            </a:pPr>
            <a:r>
              <a:rPr lang="en-US" sz="1050" i="1" dirty="0">
                <a:solidFill>
                  <a:srgbClr val="5A6472"/>
                </a:solidFill>
                <a:latin typeface="Calibri" pitchFamily="34" charset="0"/>
                <a:cs typeface="Amiri" pitchFamily="2" charset="-78"/>
              </a:rPr>
              <a:t> + verb ending in -a (</a:t>
            </a:r>
            <a:pPr algn="l" indent="0" marL="0">
              <a:buNone/>
            </a:pPr>
            <a:r>
              <a:rPr lang="ar-SA" altLang="en-US" sz="1350" dirty="0">
                <a:solidFill>
                  <a:srgbClr val="5A6472"/>
                </a:solidFill>
                <a:latin typeface="Amiri" pitchFamily="2" charset="-78"/>
                <a:ea typeface="Amiri" pitchFamily="2" charset="-78"/>
                <a:cs typeface="Amiri" pitchFamily="2" charset="-78"/>
              </a:rPr>
              <a:t>نَحْتَرِمَ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أَنْ نَحْتَرِمَ المُعَلِّمِينَ.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You must not run in the corridor.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Must not = </a:t>
            </a:r>
            <a:pPr algn="l" indent="0" marL="0">
              <a:buNone/>
            </a:pPr>
            <a:r>
              <a:rPr lang="ar-SA" altLang="en-US" sz="1350" dirty="0">
                <a:solidFill>
                  <a:srgbClr val="5A6472"/>
                </a:solidFill>
                <a:latin typeface="Amiri" pitchFamily="2" charset="-78"/>
                <a:ea typeface="Amiri" pitchFamily="2" charset="-78"/>
                <a:cs typeface="Amiri" pitchFamily="2" charset="-78"/>
              </a:rPr>
              <a:t>لَا يَجُوزُ أَنْ</a:t>
            </a:r>
            <a:pPr algn="l" indent="0" marL="0">
              <a:buNone/>
            </a:pPr>
            <a:r>
              <a:rPr lang="en-US" sz="1050" i="1" dirty="0">
                <a:solidFill>
                  <a:srgbClr val="5A6472"/>
                </a:solidFill>
                <a:latin typeface="Calibri" pitchFamily="34" charset="0"/>
                <a:cs typeface="Amiri" pitchFamily="2" charset="-78"/>
              </a:rPr>
              <a:t> + verb in -a.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يَجُوزُ أَنْ تَرْكُضَ فِي المَمَرِّ.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Listen, everyone! (to a group)</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group → -ū (</a:t>
            </a:r>
            <a:pPr algn="l" indent="0" marL="0">
              <a:buNone/>
            </a:pPr>
            <a:r>
              <a:rPr lang="ar-SA" altLang="en-US" sz="1350" dirty="0">
                <a:solidFill>
                  <a:srgbClr val="5A6472"/>
                </a:solidFill>
                <a:latin typeface="Amiri" pitchFamily="2" charset="-78"/>
                <a:ea typeface="Amiri" pitchFamily="2" charset="-78"/>
                <a:cs typeface="Amiri" pitchFamily="2" charset="-78"/>
              </a:rPr>
              <a:t>اسْتَمِعُوا</a:t>
            </a:r>
            <a:pPr algn="l" indent="0" marL="0">
              <a:buNone/>
            </a:pPr>
            <a:r>
              <a:rPr lang="en-US" sz="1050" i="1" dirty="0">
                <a:solidFill>
                  <a:srgbClr val="5A6472"/>
                </a:solidFill>
                <a:latin typeface="Calibri" pitchFamily="34" charset="0"/>
                <a:cs typeface="Amiri" pitchFamily="2" charset="-78"/>
              </a:rPr>
              <a:t>) and </a:t>
            </a:r>
            <a:pPr algn="l" indent="0" marL="0">
              <a:buNone/>
            </a:pPr>
            <a:r>
              <a:rPr lang="ar-SA" altLang="en-US" sz="1350" dirty="0">
                <a:solidFill>
                  <a:srgbClr val="5A6472"/>
                </a:solidFill>
                <a:latin typeface="Amiri" pitchFamily="2" charset="-78"/>
                <a:ea typeface="Amiri" pitchFamily="2" charset="-78"/>
                <a:cs typeface="Amiri" pitchFamily="2" charset="-78"/>
              </a:rPr>
              <a:t>فَضْلِكُمْ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اسْتَمِعُوا جَمِيعًا مِنْ فَضْلِكُمْ!</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نَلْبَسُ اللِّبَاسَ المَدْرَسِيَّ.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verb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لَا يَجِبُ أَنْ تَأْكُلَ فِي الصَّفِّ</a:t>
            </a:r>
            <a:pPr algn="l" indent="0" marL="0">
              <a:buNone/>
            </a:pPr>
            <a:r>
              <a:rPr lang="en-US" sz="3000" b="1" dirty="0">
                <a:solidFill>
                  <a:srgbClr val="B83227"/>
                </a:solidFill>
                <a:latin typeface="Calibri" pitchFamily="34" charset="0"/>
                <a:cs typeface="Amiri" pitchFamily="2" charset="-78"/>
              </a:rPr>
              <a:t>. (must not)</a:t>
            </a:r>
            <a:endParaRPr lang="en-US"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phrase means “must not”?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افْتَحْ كِتَابَكِ يَا هُدَى.</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Huda is a girl.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نَلْبَسُ اللِّبَاسَ المَدْرَسِيَّ.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نَلْبَسَ اللِّبَاسَ المَدْرَسِيَّ.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verb ending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لَا يَجِبُ أَنْ تَأْكُلَ فِي الصَّفِّ</a:t>
            </a:r>
            <a:pPr algn="l" indent="0" marL="0">
              <a:buNone/>
            </a:pPr>
            <a:r>
              <a:rPr lang="en-US" sz="1800" dirty="0">
                <a:solidFill>
                  <a:srgbClr val="B83227"/>
                </a:solidFill>
                <a:latin typeface="Calibri" pitchFamily="34" charset="0"/>
                <a:cs typeface="Amiri" pitchFamily="2" charset="-78"/>
              </a:rPr>
              <a:t>. (must not)</a:t>
            </a:r>
            <a:endParaRPr lang="en-US"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يَجُوزُ أَنْ تَأْكُلَ فِي الصَّفِّ.</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Must not = </a:t>
            </a:r>
            <a:pPr algn="l" indent="0" marL="0">
              <a:buNone/>
            </a:pPr>
            <a:r>
              <a:rPr lang="ar-SA" altLang="en-US" sz="1500" b="1" dirty="0">
                <a:solidFill>
                  <a:srgbClr val="1B3B6F"/>
                </a:solidFill>
                <a:latin typeface="Amiri" pitchFamily="2" charset="-78"/>
                <a:ea typeface="Amiri" pitchFamily="2" charset="-78"/>
                <a:cs typeface="Amiri" pitchFamily="2" charset="-78"/>
              </a:rPr>
              <a:t>لَا يَجُوزُ 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افْتَحْ كِتَابَكِ يَا هُدَى.</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افْتَحِي كِتَابَكِ يَا هُدَى.</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Imperative to a girl → -ī: </a:t>
            </a:r>
            <a:pPr algn="l" indent="0" marL="0">
              <a:buNone/>
            </a:pPr>
            <a:r>
              <a:rPr lang="ar-SA" altLang="en-US" sz="1500" b="1" dirty="0">
                <a:solidFill>
                  <a:srgbClr val="1B3B6F"/>
                </a:solidFill>
                <a:latin typeface="Amiri" pitchFamily="2" charset="-78"/>
                <a:ea typeface="Amiri" pitchFamily="2" charset="-78"/>
                <a:cs typeface="Amiri" pitchFamily="2" charset="-78"/>
              </a:rPr>
              <a:t>افْتَحِي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B3B6F"/>
                </a:solidFill>
                <a:latin typeface="Amiri" pitchFamily="2" charset="-78"/>
                <a:ea typeface="Amiri" pitchFamily="2" charset="-78"/>
                <a:cs typeface="Amiri" pitchFamily="2" charset="-78"/>
              </a:rPr>
              <a:t>فِي الصَّفِّ عَلَى الإِنْتَرْنِتِ يَجِبُ أَنْ ______ ، وَلَا يَجُوزُ أَنْ ______ .</a:t>
            </a:r>
            <a:endParaRPr lang="ar-SA" sz="11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online class we must …, and we must not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أَهَمُّ قَاعِدَةٍ ______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most important rule is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نَصِلَ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arrive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يَجُوزُ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not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يُمْكِنُ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may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يَجِبُ أَنْ  ·  لَا يَجُوزُ أَنْ  ·  يُمْكِنُ أَنْ  ·  نَحْتَرِمَ · نَسْتَمِعَ  ·  نَلْبَسَ · نَصِلَ  ·  الهَاتِفُ المَحْمُولُ  ·  الوَاجِبُ المَنْزِلِيُّ  ·  فِي الوَقْتِ</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rulebook for our class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قَوَاعِدُ صَفِّنَا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rulebook (about 40–60 words) for your class or your online lesson. Include: • three things you must do • two things you must not do • one thing you may do • one reason why a rule is important.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must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يَجُوزُ 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must not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يُمْكِنُ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may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القَاعِدَةُ مُهِمَّةٌ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rule is important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يَجِبُ أَنْ</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لَا يَجُوزُ أَنْ</a:t>
            </a:r>
            <a:pPr algn="l" indent="0" marL="0">
              <a:buNone/>
            </a:pPr>
            <a:r>
              <a:rPr lang="en-US" sz="1100" dirty="0">
                <a:solidFill>
                  <a:srgbClr val="5A6472"/>
                </a:solidFill>
                <a:latin typeface="Calibri" pitchFamily="34" charset="0"/>
                <a:cs typeface="Amiri" pitchFamily="2" charset="-78"/>
              </a:rPr>
              <a:t>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 every verb after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 in -a?</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يَجِبُ أَنْ تَلْبَسِي التَّنُّورَةَ الزَّرْقَاءَ وَالقَمِيصَ الأَبْيَضَ.</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you must wear the blue skirt and the white shirt.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يَجِبُ أَنْ أَلْبَسَ اللِّبَاسَ المَدْرَسِيَّ؟</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لَا يَجُوزُ فِي الصَّفِّ، لٰكِنْ يُمْكِنُ فِي الاسْتِرَاحَةِ.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not in class, but you can at break.</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يُمْكِنُ أَنْ أَسْتَعْمِلَ هَاتِفِي؟</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تَصِلِي قَبْلَ السَّاعَةِ الثَّامِنَةِ وَالرُّبْعِ.</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must arrive before quarter past eight.</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يَجِبُ أَنْ أَصِلَ؟</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اذْهَبِي إِلَى المَكْتَبِ أَوَّلًا، وَقُولِي: أَنَا آسِفَةٌ.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 to the office first, and say: I’m sorry.</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أَفْعَلُ إِذَا تَأَخَّرْتُ؟</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قَوَاعِدُ صَفِّنَا: يَجِبُ أَنْ نَصِلَ فِي الوَقْتِ، وَيَجِبُ أَنْ نَحْتَرِمَ المُعَلِّمَةَ وَالزُّمَلَاءَ. يَجِبُ أَنْ نُسَلِّمَ الوَاجِبَ يَوْمَ الخَمِيسِ. لَا يَجُوزُ أَنْ نَسْتَعْمِلَ الهَاتِفَ فِي الحِصَّةِ، وَلَا يَجُوزُ أَنْ نَتَكَلَّمَ مَعًا عِنْدَمَا تَشْرَحُ المُعَلِّمَةُ. يُمْكِنُ أَنْ نَشْرَبَ المَاءَ. أَهَمُّ قَاعِدَةٍ الاحْتِرَامُ، لِأَنَّ الصَّفَّ عَائِلَةٌ وَاحِدَةٌ.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“Our class rules: we must arrive on time, and we must respect the teacher and our classmates. We must hand in homework on Thursday. We must not use our phones in the lesson, and we must not talk together when the teacher is explaining. We may drink water. The most important rule is respect, because the class is one family.”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نَصِلَ فِي الوَقْتِ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يَجُوزُ أَنْ نَسْتَعْمِلَ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يُمْكِنُ أَنْ نَشْرَبَ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 الصَّفَّ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F4-L06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F4-L07 · A Typical School Day — Narrating a Sequence</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يَوْمٌ مَدْرَسِيٌّ عَادِيٌّ — سَرْدُ التَّسَلْسُلِ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F4-L06 · Practice Room — School Rules and Obligations — Must and Must Not</dc:title>
  <dc:subject>PptxGenJS Presentation</dc:subject>
  <dc:creator>Al Madina Online School · Arabic Department</dc:creator>
  <cp:lastModifiedBy>Al Madina Online School · Arabic Department</cp:lastModifiedBy>
  <cp:revision>1</cp:revision>
  <dcterms:created xsi:type="dcterms:W3CDTF">2026-10-25T17:30:04Z</dcterms:created>
  <dcterms:modified xsi:type="dcterms:W3CDTF">2026-10-25T17:30:04Z</dcterms:modified>
</cp:coreProperties>
</file>