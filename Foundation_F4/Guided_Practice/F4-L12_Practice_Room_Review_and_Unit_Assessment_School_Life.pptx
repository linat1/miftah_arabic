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F4-L12 (Review and Unit Assessment: School Life) — new practice tasks built on the lesson’s own word bank and grammar (all of F4: subjects + li-annahu / li-annahā; days and clock times; classroom objects (hādhā / hādhihi, ʿindī / laysa ʿindī); preferences; yajibu an / lā yajūzu an; sequencing).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F4-L12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اسْمُكِ · أَنْتِ · تُحِبِّينَهَا · عِنْدَكِ · مَدْرَسَتِكِ. Five prompts, task ! unexpected — exactly as in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F4-L12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Review and Unit Assessment: School Life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تَدْرِيبٌ لِلتَّقْيِيمِ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Assessment practice for F4: students run their own speaking and writing rehearsal in breakout rooms — a quick word check, a model exchange, exam-style question cards, a five-prompt role play, a 45-second talk, then build, fix and write a timed text about school life.</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F4-L12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F4</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F4 check: subjects and opinions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الرِّيَاضِيَّاتُ · العُلُومُ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maths · science</a:t>
            </a:r>
            <a:endParaRPr lang="en-US" sz="1350" dirty="0"/>
          </a:p>
          <a:p>
            <a:pPr indent="0" marL="0">
              <a:buNone/>
            </a:pPr>
            <a:r>
              <a:rPr lang="en-US" sz="1100" i="1" dirty="0">
                <a:solidFill>
                  <a:srgbClr val="5A6472"/>
                </a:solidFill>
                <a:latin typeface="Calibri" pitchFamily="34" charset="0"/>
                <a:cs typeface="Amiri" pitchFamily="2" charset="-78"/>
              </a:rPr>
              <a:t>ar-ri-yā-ḍiy-yā-tu · al-ʿu-lū-mu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التَّارِيخُ · الفَنُّ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history · art</a:t>
            </a:r>
            <a:endParaRPr lang="en-US" sz="1350" dirty="0"/>
          </a:p>
          <a:p>
            <a:pPr indent="0" marL="0">
              <a:buNone/>
            </a:pPr>
            <a:r>
              <a:rPr lang="en-US" sz="1100" i="1" dirty="0">
                <a:solidFill>
                  <a:srgbClr val="5A6472"/>
                </a:solidFill>
                <a:latin typeface="Calibri" pitchFamily="34" charset="0"/>
                <a:cs typeface="Amiri" pitchFamily="2" charset="-78"/>
              </a:rPr>
              <a:t>at-tā-rī-khu · al-fan-nu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مُفِيدٌ · مُمْتِعٌ</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useful · enjoyable</a:t>
            </a:r>
            <a:endParaRPr lang="en-US" sz="1350" dirty="0"/>
          </a:p>
          <a:p>
            <a:pPr indent="0" marL="0">
              <a:buNone/>
            </a:pPr>
            <a:r>
              <a:rPr lang="en-US" sz="1100" i="1" dirty="0">
                <a:solidFill>
                  <a:srgbClr val="5A6472"/>
                </a:solidFill>
                <a:latin typeface="Calibri" pitchFamily="34" charset="0"/>
                <a:cs typeface="Amiri" pitchFamily="2" charset="-78"/>
              </a:rPr>
              <a:t>mu-fī-dun · mum-ti-ʿun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صَعْبٌ · مُمِلٌّ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difficult · boring</a:t>
            </a:r>
            <a:endParaRPr lang="en-US" sz="1350" dirty="0"/>
          </a:p>
          <a:p>
            <a:pPr indent="0" marL="0">
              <a:buNone/>
            </a:pPr>
            <a:r>
              <a:rPr lang="en-US" sz="1100" i="1" dirty="0">
                <a:solidFill>
                  <a:srgbClr val="5A6472"/>
                </a:solidFill>
                <a:latin typeface="Calibri" pitchFamily="34" charset="0"/>
                <a:cs typeface="Amiri" pitchFamily="2" charset="-78"/>
              </a:rPr>
              <a:t>ṣaʿ-bun · mu-mil-lun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prefer</a:t>
            </a:r>
            <a:endParaRPr lang="en-US" sz="1350" dirty="0"/>
          </a:p>
          <a:p>
            <a:pPr indent="0" marL="0">
              <a:buNone/>
            </a:pPr>
            <a:r>
              <a:rPr lang="en-US" sz="1100" i="1" dirty="0">
                <a:solidFill>
                  <a:srgbClr val="5A6472"/>
                </a:solidFill>
                <a:latin typeface="Calibri" pitchFamily="34" charset="0"/>
                <a:cs typeface="Amiri" pitchFamily="2" charset="-78"/>
              </a:rPr>
              <a:t>u-faḍ-ḍi-lu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لِأَنَّهُ · لِأَنَّهَا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it (m. · f.)</a:t>
            </a:r>
            <a:endParaRPr lang="en-US" sz="1350" dirty="0"/>
          </a:p>
          <a:p>
            <a:pPr indent="0" marL="0">
              <a:buNone/>
            </a:pPr>
            <a:r>
              <a:rPr lang="en-US" sz="1100" i="1" dirty="0">
                <a:solidFill>
                  <a:srgbClr val="5A6472"/>
                </a:solidFill>
                <a:latin typeface="Calibri" pitchFamily="34" charset="0"/>
                <a:cs typeface="Amiri" pitchFamily="2" charset="-78"/>
              </a:rPr>
              <a:t>li-ʾan-na-hu · li-ʾan-na-hā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F4 check: time, rules,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الإِثْنَيْنِ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Monday</a:t>
            </a:r>
            <a:endParaRPr lang="en-US" sz="1350" dirty="0"/>
          </a:p>
          <a:p>
            <a:pPr indent="0" marL="0">
              <a:buNone/>
            </a:pPr>
            <a:r>
              <a:rPr lang="en-US" sz="1100" i="1" dirty="0">
                <a:solidFill>
                  <a:srgbClr val="5A6472"/>
                </a:solidFill>
                <a:latin typeface="Calibri" pitchFamily="34" charset="0"/>
                <a:cs typeface="Amiri" pitchFamily="2" charset="-78"/>
              </a:rPr>
              <a:t>yaw-ma al-ith-nay-ni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السَّاعَةِ الثَّامِنَةِ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eight o’clock</a:t>
            </a:r>
            <a:endParaRPr lang="en-US" sz="1350" dirty="0"/>
          </a:p>
          <a:p>
            <a:pPr indent="0" marL="0">
              <a:buNone/>
            </a:pPr>
            <a:r>
              <a:rPr lang="en-US" sz="1100" i="1" dirty="0">
                <a:solidFill>
                  <a:srgbClr val="5A6472"/>
                </a:solidFill>
                <a:latin typeface="Calibri" pitchFamily="34" charset="0"/>
                <a:cs typeface="Amiri" pitchFamily="2" charset="-78"/>
              </a:rPr>
              <a:t>fī as-sā-ʿa-ti ath-thā-mi-na-ti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حِصَّةٌ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lesson</a:t>
            </a:r>
            <a:endParaRPr lang="en-US" sz="1350" dirty="0"/>
          </a:p>
          <a:p>
            <a:pPr indent="0" marL="0">
              <a:buNone/>
            </a:pPr>
            <a:r>
              <a:rPr lang="en-US" sz="1100" i="1" dirty="0">
                <a:solidFill>
                  <a:srgbClr val="5A6472"/>
                </a:solidFill>
                <a:latin typeface="Calibri" pitchFamily="34" charset="0"/>
                <a:cs typeface="Amiri" pitchFamily="2" charset="-78"/>
              </a:rPr>
              <a:t>ḥiṣ-ṣa-tun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must</a:t>
            </a:r>
            <a:endParaRPr lang="en-US" sz="1350" dirty="0"/>
          </a:p>
          <a:p>
            <a:pPr indent="0" marL="0">
              <a:buNone/>
            </a:pPr>
            <a:r>
              <a:rPr lang="en-US" sz="1100" i="1" dirty="0">
                <a:solidFill>
                  <a:srgbClr val="5A6472"/>
                </a:solidFill>
                <a:latin typeface="Calibri" pitchFamily="34" charset="0"/>
                <a:cs typeface="Amiri" pitchFamily="2" charset="-78"/>
              </a:rPr>
              <a:t>ya-ji-bu an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يَجُوزُ أَنْ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must not</a:t>
            </a:r>
            <a:endParaRPr lang="en-US" sz="1350" dirty="0"/>
          </a:p>
          <a:p>
            <a:pPr indent="0" marL="0">
              <a:buNone/>
            </a:pPr>
            <a:r>
              <a:rPr lang="en-US" sz="1100" i="1" dirty="0">
                <a:solidFill>
                  <a:srgbClr val="5A6472"/>
                </a:solidFill>
                <a:latin typeface="Calibri" pitchFamily="34" charset="0"/>
                <a:cs typeface="Amiri" pitchFamily="2" charset="-78"/>
              </a:rPr>
              <a:t>lā ya-jū-zu an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 · بَعْدَ ذٰلِكَ</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 · after that</a:t>
            </a:r>
            <a:endParaRPr lang="en-US" sz="1350" dirty="0"/>
          </a:p>
          <a:p>
            <a:pPr indent="0" marL="0">
              <a:buNone/>
            </a:pPr>
            <a:r>
              <a:rPr lang="en-US" sz="1100" i="1" dirty="0">
                <a:solidFill>
                  <a:srgbClr val="5A6472"/>
                </a:solidFill>
                <a:latin typeface="Calibri" pitchFamily="34" charset="0"/>
                <a:cs typeface="Amiri" pitchFamily="2" charset="-78"/>
              </a:rPr>
              <a:t>thum-ma · baʿ-da dhā-li-ka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exam-style exchange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حِوَارٌ مِثْلَ الامْتِحَانِ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subject, and why?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مَادَّتُكَ المُفَضَّلَةُ؟ وَلِمَاذَا؟</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favourite subject is art, because it is creative and enjoyable.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مَادَّتِي المُفَضَّلَةُ الفَنُّ، لِأَنَّهُ إِبْدَاعِيٌّ وَمُمْتِعٌ.</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Monday at your school.</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يَوْمَ الإِثْنَيْنِ فِي مَدْرَسَتِكَ.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 starts at half past eight. First I have science, then maths.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تَبْدَأُ المَدْرَسَةُ فِي الثَّامِنَةِ وَالنِّصْفِ. أَوَّلًا عِنْدِي عُلُومٌ، ثُمَّ رِيَاضِيَّاتٌ.</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the rules at your school?</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القَوَاعِدُ فِي مَدْرَسَتِكَ؟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must wear uniform, and we must not be late.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يَجِبُ أَنْ نَلْبَسَ اللِّبَاسَ المَدْرَسِيَّ، وَلَا يَجُوزُ أَنْ نَتَأَخَّرَ.</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Round 3: answer with your own facts under exam conditions — no slide.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وَالحِصَّةُ الأُولَى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 الأَرْبِعَاءِ أَدْرُسُ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study on Wednesday?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تَدْرُسُ يَوْمَ الأَرْبِعَاءِ؟</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 لِأَنَّهُ / لِأَنَّهَا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do you prefer: science or history?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العُلُومَ أَمِ التَّارِيخَ؟</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وَلَيْسَ عِنْدِي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حَقِيبَتِي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bag?</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فِي حَقِيبَتِكَ؟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 النِّهَايَةِ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أَعُودُ إِلَى البَيْتِ فِي … ، ثُمَّ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after school?</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بَعْدَ المَدْرَسَةِ؟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school uniform?</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اللِّبَاسِ المَدْرَسِيِّ؟</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your first day at a new school (five prompts)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أَوَّلُ يَوْمٍ فِي مَدْرَسَةٍ 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اسْمِي … ، وَأَنَا فِي الصَّفِّ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year.</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مَا اسْمُكَ وَفِي أَيِّ صَفٍّ أَنْتَ؟</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أُحِبُّ … لِأَنَّهُ / لِأَنَّهَا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subject + reason.</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المَادَّةُ الَّتِي تُحِبُّهَا؟</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عِنْدِي … ، لٰكِنْ لَيْسَ عِنْدِي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don’t have.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عِنْدَكَ كُلُّ الأَدَوَاتِ؟</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سُؤَالٌ ← نَعَمْ، مَتَى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when lunch is.</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عِنْدَكَ سُؤَالٌ؟</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كَانَ يَجِبُ أَنْ … ← يَجِبُ أَنْ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القَاعِدَةُ المُهِمَّةُ فِي مَدْرَسَتِكَ القَدِيمَةِ؟</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new student · Leader = a teacher. Read the plan for 1 minute, then hide it and speak.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45 seconds: school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حَيَاتِي المَدْرَسِيَّةُ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45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for 45 seconds without stopping about your school life: subjects and opinions, your timetable, rules and your day.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30 seconds: one sentence each on subjects, times, rules.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45 seconds with reasons and connectors.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45 seconds + a preference, a “but” and no agreement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On Thursday the first lesson is Arabic.</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الخَمِيسِ</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الخَمِيسُ</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الحِصَّةُ الأُولَى</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الحِصَّةُ الأَوَّلُ</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لُغَةٌ عَرَبِيَّةٌ.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لُغَةٌ عَرَبِيٌّ.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prefer maths because it is clear.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 الرِّيَاضِيَّاتِ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 الرِّيَاضِيَّاتُ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وَاضِحَةٌ.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وَاضِحٌ.</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must not eat in the library.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يَجُوزُ</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نَأْكُلَ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نَأْكُلُ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المَكْتَبَةِ.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المَكْتَبَةُ.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On Thursday the first lesson is Arabic.</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Thursday = </a:t>
            </a:r>
            <a:pPr algn="l" indent="0" marL="0">
              <a:buNone/>
            </a:pPr>
            <a:r>
              <a:rPr lang="ar-SA" altLang="en-US" sz="1350" dirty="0">
                <a:solidFill>
                  <a:srgbClr val="5A6472"/>
                </a:solidFill>
                <a:latin typeface="Amiri" pitchFamily="2" charset="-78"/>
                <a:ea typeface="Amiri" pitchFamily="2" charset="-78"/>
                <a:cs typeface="Amiri" pitchFamily="2" charset="-78"/>
              </a:rPr>
              <a:t>يَوْمَ الخَمِيسِ</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حِصَّةٌ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الأُولَى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يَوْمَ الخَمِيسِ الحِصَّةُ الأُولَى لُغَةٌ عَرَبِيَّةٌ.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prefer maths because it is clear.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a:t>
            </a:r>
            <a:pPr algn="l" indent="0" marL="0">
              <a:buNone/>
            </a:pPr>
            <a:r>
              <a:rPr lang="ar-SA" altLang="en-US" sz="1350" dirty="0">
                <a:solidFill>
                  <a:srgbClr val="5A6472"/>
                </a:solidFill>
                <a:latin typeface="Amiri" pitchFamily="2" charset="-78"/>
                <a:ea typeface="Amiri" pitchFamily="2" charset="-78"/>
                <a:cs typeface="Amiri" pitchFamily="2" charset="-78"/>
              </a:rPr>
              <a:t>لِأَنَّهَا وَاضِحَةٌ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أُفَضِّلُ الرِّيَاضِيَّاتِ لِأَنَّهَا وَاضِحَةٌ.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must not eat in the library.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Must not = </a:t>
            </a:r>
            <a:pPr algn="l" indent="0" marL="0">
              <a:buNone/>
            </a:pPr>
            <a:r>
              <a:rPr lang="ar-SA" altLang="en-US" sz="1350" dirty="0">
                <a:solidFill>
                  <a:srgbClr val="5A6472"/>
                </a:solidFill>
                <a:latin typeface="Amiri" pitchFamily="2" charset="-78"/>
                <a:ea typeface="Amiri" pitchFamily="2" charset="-78"/>
                <a:cs typeface="Amiri" pitchFamily="2" charset="-78"/>
              </a:rPr>
              <a:t>لَا يَجُوزُ أَنْ</a:t>
            </a:r>
            <a:pPr algn="l" indent="0" marL="0">
              <a:buNone/>
            </a:pPr>
            <a:r>
              <a:rPr lang="en-US" sz="1050" i="1" dirty="0">
                <a:solidFill>
                  <a:srgbClr val="5A6472"/>
                </a:solidFill>
                <a:latin typeface="Calibri" pitchFamily="34" charset="0"/>
                <a:cs typeface="Amiri" pitchFamily="2" charset="-78"/>
              </a:rPr>
              <a:t> + verb in -a;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يَجُوزُ أَنْ نَأْكُلَ فِي المَكْتَبَةِ.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مِقْلَمَتِي.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مِقْلَمَةٌ</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تَبْدَأُ المَدْرَسَةُ فِي السَّاعَةِ تِسْعٍ.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Clock time.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التَّارِيخَ لِأَنَّهَا مُمْتِعَةٌ.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التَّارِيخُ</a:t>
            </a:r>
            <a:pPr algn="l" indent="0" marL="0">
              <a:buNone/>
            </a:pPr>
            <a:r>
              <a:rPr lang="en-US" sz="1300" i="1" dirty="0">
                <a:solidFill>
                  <a:srgbClr val="5A6472"/>
                </a:solidFill>
                <a:latin typeface="Calibri" pitchFamily="34" charset="0"/>
                <a:cs typeface="Amiri" pitchFamily="2" charset="-78"/>
              </a:rPr>
              <a:t> is masculine.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مِقْلَمَتِي.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مِقْلَمَتِي.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تَبْدَأُ المَدْرَسَةُ فِي السَّاعَةِ تِسْعٍ.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تَبْدَأُ المَدْرَسَةُ فِي السَّاعَةِ التَّاسِعَةِ.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Clock time = feminine ordinal.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التَّارِيخَ لِأَنَّهَا مُمْتِعَةٌ.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التَّارِيخَ لِأَنَّهُ مُمْتِعٌ.</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subject → </a:t>
            </a:r>
            <a:pPr algn="l" indent="0" marL="0">
              <a:buNone/>
            </a:pPr>
            <a:r>
              <a:rPr lang="ar-SA" altLang="en-US" sz="1500" b="1" dirty="0">
                <a:solidFill>
                  <a:srgbClr val="1B3B6F"/>
                </a:solidFill>
                <a:latin typeface="Amiri" pitchFamily="2" charset="-78"/>
                <a:ea typeface="Amiri" pitchFamily="2" charset="-78"/>
                <a:cs typeface="Amiri" pitchFamily="2" charset="-78"/>
              </a:rPr>
              <a:t>لِأَنَّهُ مُمْتِعٌ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أُحِبُّ ______ كَثِيرًا لِأَنَّهُ / لِأَنَّهَا ______ .</a:t>
            </a:r>
            <a:endParaRPr lang="ar-SA" sz="16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 much because it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مَدْرَسَتِي ______ ، لٰكِنَّ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my school is …, but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أَدْرُسُ فِي ______ . تَبْدَأُ المَدْرَسَةُ فِي ______ .</a:t>
            </a:r>
            <a:endParaRPr lang="ar-SA" sz="16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at … School starts at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 / لِأَنَّهَا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because it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حَقِيبَتِي ______ وَ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bag there is … and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______ ، وَلَا يَجُوزُ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 and we must not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أَدْرُسُ فِي  ·  تَبْدَأُ · تَنْتَهِي  ·  فِي السَّاعَةِ …  ·  لِأَنَّهُ · لِأَنَّهَا  ·  عِنْدِي · لَيْسَ عِنْدِي  ·  يَجِبُ أَنْ  ·  لَا يَجُوزُ أَنْ  ·  فِي رَأْيِي</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Timed writing: my school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كِتَابَةٌ مُؤَقَّتَةٌ: حَيَاتِي المَدْرَسِيَّةُ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Timed practice (12 minutes). Write about 55–75 words for an e-pal. Include: • your school and when it starts / ends • two subjects: one you love, one you don’t, with reasons • what is in your bag • one “must” and one “must not” rule • your opinion of your school.</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تَبْدَأُ المَدْرَسَةُ فِي … وَتَنْتَهِي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school starts at … and ends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love … because it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 · لَا يَجُوزُ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must … · we must not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مَدْرَسَتِي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my school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cover every bullet point in full sentences within the time?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get the agreements right (</a:t>
            </a:r>
            <a:pPr algn="l" indent="0" marL="0">
              <a:buNone/>
            </a:pPr>
            <a:r>
              <a:rPr lang="ar-SA" altLang="en-US" sz="1450" dirty="0">
                <a:solidFill>
                  <a:srgbClr val="5A6472"/>
                </a:solidFill>
                <a:latin typeface="Amiri" pitchFamily="2" charset="-78"/>
                <a:ea typeface="Amiri" pitchFamily="2" charset="-78"/>
                <a:cs typeface="Amiri" pitchFamily="2" charset="-78"/>
              </a:rPr>
              <a:t>لِأَنَّهُ / لِأَنَّهَا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هٰذَا / هٰذِهِ</a:t>
            </a:r>
            <a:pPr algn="l" indent="0" marL="0">
              <a:buNone/>
            </a:pPr>
            <a:r>
              <a:rPr lang="en-US" sz="1100" dirty="0">
                <a:solidFill>
                  <a:srgbClr val="5A6472"/>
                </a:solidFill>
                <a:latin typeface="Calibri" pitchFamily="34" charset="0"/>
                <a:cs typeface="Amiri" pitchFamily="2" charset="-78"/>
              </a:rPr>
              <a:t> · times)?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عَلِيٌّ، وَأَنَا فِي الصَّفِّ التَّاسِعِ.</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name is Ali, and I am in Year 9.</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مَا اسْمُكَ وَفِي أَيِّ صَفٍّ أَنْتَ؟</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الجُغْرَافِيَا، لِأَنَّهَا مُثِيرَةٌ لِلِاهْتِمَامِ.</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like geography, because it is interesting.</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المَادَّةُ الَّتِي تُحِبُّهَا؟</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كُتُبِي وَدَفْتَرِي، لٰكِنْ لَيْسَ عِنْدِي آلَةٌ حَاسِبَةٌ.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my books and exercise book, but I don’t have a calculator.</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عِنْدَكَ كُلُّ الأَدَوَاتِ؟</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مَتَى وَقْتُ الغَدَاءِ؟</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when is lunchtime?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عِنْدَكَ سُؤَالٌ؟</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نَصِلَ فِي الوَقْتِ، لِأَنَّ البَابَ يُغْلَقُ فِي الثَّامِنَةِ.</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must arrive on time, because the gate closes at eight.</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القَاعِدَةُ المُهِمَّةُ فِي مَدْرَسَتِكَ القَدِيمَةِ؟</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أَدْرُسُ فِي مَدْرَسَةِ السَّلَامِ فِي لِيدْزَ. تَبْدَأُ المَدْرَسَةُ فِي الثَّامِنَةِ وَالنِّصْفِ، وَتَنْتَهِي فِي الثَّالِثَةِ. أُحِبُّ الكِيمْيَاءَ لِأَنَّهَا عَمَلِيَّةٌ، لٰكِنِّي لَا أُحِبُّ التَّارِيخَ كَثِيرًا لِأَنَّهُ صَعْبٌ. فِي حَقِيبَتِي كُتُبٌ وَمِقْلَمَةٌ وَآلَةٌ حَاسِبَةٌ. يَجِبُ أَنْ نَلْبَسَ اللِّبَاسَ المَدْرَسِيَّ، وَلَا يَجُوزُ أَنْ نَسْتَعْمِلَ الهَاتِفَ فِي الصَّفِّ. فِي رَأْيِي مَدْرَسَتِي جَيِّدَةٌ جِدًّا.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I study at Al-Salam School in Leeds. School starts at half past eight and finishes at three. I love chemistry because it is practical, but I don’t like history much because it is difficult. In my bag there are books, a pencil case and a calculator. We must wear uniform, and we must not use phones in class. In my opinion my school is very good.”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تَبْدَأُ المَدْرَسَةُ فِي الثَّامِنَةِ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عَمَلِيَّةٌ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يَجُوزُ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رَأْيِي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F4 review · Well done — the unit is complete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the question word, answer in full sentences, check every agreement.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F4-L12 · Practice Room — Review and Unit Assessment: School Life</dc:title>
  <dc:subject>PptxGenJS Presentation</dc:subject>
  <dc:creator>Al Madina Online School · Arabic Department</dc:creator>
  <cp:lastModifiedBy>Al Madina Online School · Arabic Department</cp:lastModifiedBy>
  <cp:revision>1</cp:revision>
  <dcterms:created xsi:type="dcterms:W3CDTF">2026-10-25T17:33:06Z</dcterms:created>
  <dcterms:modified xsi:type="dcterms:W3CDTF">2026-10-25T17:33:06Z</dcterms:modified>
</cp:coreProperties>
</file>