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F4-L10 (Listening and Speaking: School Conversations) — new practice tasks built on the lesson’s own word bank and grammar (repair phrases (lam afham · hal yumkinuka an tuʿīda …?); precise school questions (matā · ayna · kam · man); five-prompt role plays; -ka / -ki to the listener).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F4-L10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اسْمُكِ · أَنْتِ · تُرِيدِينَ · تَنْضَمِّي · عِنْدَكِ · لَعِبْتِ — and the Speaker says آسِفَةٌ. Five prompts, as in the real role play; task 3 practises a repair; task ! is unexpected.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(40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F4  ·  F4-L10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F4-L10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Listening and Speaking: School Conversations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مُحَادَثَاتٌ مَدْرَسِيَّةٌ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00" dirty="0">
                <a:solidFill>
                  <a:srgbClr val="C6D2E6"/>
                </a:solidFill>
                <a:latin typeface="Calibri" pitchFamily="34" charset="0"/>
                <a:cs typeface="Amiri" pitchFamily="2" charset="-78"/>
              </a:rPr>
              <a:t>Students run their own listening-and-speaking practice: say the repair phrases, act a model conversation with a repair, answer question cards with a partner who “misunderstands”, perform a five-prompt role play, give a 30-second talk, then build, fix and write a short message from a conversation.</a:t>
            </a:r>
            <a:endParaRPr lang="en-US" sz="12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F4-L10 · Foundation F4 · My School</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F4 › F4-L10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phrases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speaker</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آسِفٌ / آسِفَةٌ، لَمْ أَفْهَمْ.</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Sorry, I didn’t understand. (m. / f. speaker)</a:t>
            </a:r>
            <a:endParaRPr lang="en-US" sz="1350" dirty="0"/>
          </a:p>
          <a:p>
            <a:pPr indent="0" marL="0">
              <a:buNone/>
            </a:pPr>
            <a:r>
              <a:rPr lang="en-US" sz="1100" i="1" dirty="0">
                <a:solidFill>
                  <a:srgbClr val="5A6472"/>
                </a:solidFill>
                <a:latin typeface="Calibri" pitchFamily="34" charset="0"/>
                <a:cs typeface="Amiri" pitchFamily="2" charset="-78"/>
              </a:rPr>
              <a:t>ā-sif / ā-si-fa, lam af-ham</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4782312" y="1938528"/>
            <a:ext cx="958291"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listener m.</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هَلْ يُمْكِنُكَ أَنْ تُعِيدَ ذَلِكَ؟</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Could you repeat that? (to a male)</a:t>
            </a:r>
            <a:endParaRPr lang="en-US" sz="1350" dirty="0"/>
          </a:p>
          <a:p>
            <a:pPr indent="0" marL="0">
              <a:buNone/>
            </a:pPr>
            <a:r>
              <a:rPr lang="en-US" sz="1100" i="1" dirty="0">
                <a:solidFill>
                  <a:srgbClr val="5A6472"/>
                </a:solidFill>
                <a:latin typeface="Calibri" pitchFamily="34" charset="0"/>
                <a:cs typeface="Amiri" pitchFamily="2" charset="-78"/>
              </a:rPr>
              <a:t>hal yum-ki-nu-ka an tu-‘ī-da dhā-lik</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6" name="Shape 33"/>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listener f.</a:t>
            </a:r>
            <a:endParaRPr lang="en-US" sz="800" dirty="0"/>
          </a:p>
        </p:txBody>
      </p:sp>
      <p:sp>
        <p:nvSpPr>
          <p:cNvPr id="38" name="Text 3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هَلْ يُمْكِنُكِ أَنْ تُعِيدِي ذَلِكَ؟</a:t>
            </a:r>
            <a:endParaRPr lang="ar-SA" sz="3000" dirty="0"/>
          </a:p>
        </p:txBody>
      </p:sp>
      <p:sp>
        <p:nvSpPr>
          <p:cNvPr id="39" name="Text 3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Could you repeat that? (to a female)</a:t>
            </a:r>
            <a:endParaRPr lang="en-US" sz="1350" dirty="0"/>
          </a:p>
          <a:p>
            <a:pPr indent="0" marL="0">
              <a:buNone/>
            </a:pPr>
            <a:r>
              <a:rPr lang="en-US" sz="1100" i="1" dirty="0">
                <a:solidFill>
                  <a:srgbClr val="5A6472"/>
                </a:solidFill>
                <a:latin typeface="Calibri" pitchFamily="34" charset="0"/>
                <a:cs typeface="Amiri" pitchFamily="2" charset="-78"/>
              </a:rPr>
              <a:t>hal yum-ki-nu-ki an tu-‘ī-dī dhā-lik</a:t>
            </a:r>
            <a:endParaRPr lang="en-US" sz="135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3" name="Shape 40"/>
          <p:cNvSpPr/>
          <p:nvPr/>
        </p:nvSpPr>
        <p:spPr>
          <a:xfrm>
            <a:off x="8604504" y="4279392"/>
            <a:ext cx="771754"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8604504"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listener</a:t>
            </a:r>
            <a:endParaRPr lang="en-US" sz="800" dirty="0"/>
          </a:p>
        </p:txBody>
      </p:sp>
      <p:sp>
        <p:nvSpPr>
          <p:cNvPr id="45" name="Shape 4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تَكَلَّمْ / تَكَلَّمِي بِبُطْءٍ</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Speak slowly (m. / f.)</a:t>
            </a:r>
            <a:endParaRPr lang="en-US" sz="1350" dirty="0"/>
          </a:p>
          <a:p>
            <a:pPr indent="0" marL="0">
              <a:buNone/>
            </a:pPr>
            <a:r>
              <a:rPr lang="en-US" sz="1100" i="1" dirty="0">
                <a:solidFill>
                  <a:srgbClr val="5A6472"/>
                </a:solidFill>
                <a:latin typeface="Calibri" pitchFamily="34" charset="0"/>
                <a:cs typeface="Amiri" pitchFamily="2" charset="-78"/>
              </a:rPr>
              <a:t>ta-kal-lam / ta-kal-la-mī bi-buṭ’</a:t>
            </a:r>
            <a:endParaRPr lang="en-US" sz="1350" dirty="0"/>
          </a:p>
        </p:txBody>
      </p:sp>
      <p:sp>
        <p:nvSpPr>
          <p:cNvPr id="49" name="Shape 4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4389120"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2" name="Shape 49"/>
          <p:cNvSpPr/>
          <p:nvPr/>
        </p:nvSpPr>
        <p:spPr>
          <a:xfrm>
            <a:off x="4782312" y="4279392"/>
            <a:ext cx="771754"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4782312"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listener</a:t>
            </a:r>
            <a:endParaRPr lang="en-US" sz="800" dirty="0"/>
          </a:p>
        </p:txBody>
      </p:sp>
      <p:sp>
        <p:nvSpPr>
          <p:cNvPr id="54" name="Shape 5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فَضْلِكَ / مِنْ فَضْلِكِ</a:t>
            </a:r>
            <a:endParaRPr lang="ar-SA" sz="3000" dirty="0"/>
          </a:p>
        </p:txBody>
      </p:sp>
      <p:sp>
        <p:nvSpPr>
          <p:cNvPr id="57" name="Text 5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please (to a male / female)</a:t>
            </a:r>
            <a:endParaRPr lang="en-US" sz="1350" dirty="0"/>
          </a:p>
          <a:p>
            <a:pPr indent="0" marL="0">
              <a:buNone/>
            </a:pPr>
            <a:r>
              <a:rPr lang="en-US" sz="1100" i="1" dirty="0">
                <a:solidFill>
                  <a:srgbClr val="5A6472"/>
                </a:solidFill>
                <a:latin typeface="Calibri" pitchFamily="34" charset="0"/>
                <a:cs typeface="Amiri" pitchFamily="2" charset="-78"/>
              </a:rPr>
              <a:t>min faḍ-li-ka / faḍ-li-ki</a:t>
            </a:r>
            <a:endParaRPr lang="en-US" sz="1350" dirty="0"/>
          </a:p>
        </p:txBody>
      </p:sp>
      <p:sp>
        <p:nvSpPr>
          <p:cNvPr id="58" name="Shape 5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566928"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1" name="Shape 58"/>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close</a:t>
            </a:r>
            <a:endParaRPr lang="en-US" sz="800" dirty="0"/>
          </a:p>
        </p:txBody>
      </p:sp>
      <p:sp>
        <p:nvSpPr>
          <p:cNvPr id="63" name="Text 6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شُكْرًا، فَهِمْتُ الآنَ.</a:t>
            </a:r>
            <a:endParaRPr lang="ar-SA" sz="3000" dirty="0"/>
          </a:p>
        </p:txBody>
      </p:sp>
      <p:sp>
        <p:nvSpPr>
          <p:cNvPr id="64" name="Text 6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Thank you, I understand now.</a:t>
            </a:r>
            <a:endParaRPr lang="en-US" sz="1350" dirty="0"/>
          </a:p>
          <a:p>
            <a:pPr indent="0" marL="0">
              <a:buNone/>
            </a:pPr>
            <a:r>
              <a:rPr lang="en-US" sz="1100" i="1" dirty="0">
                <a:solidFill>
                  <a:srgbClr val="5A6472"/>
                </a:solidFill>
                <a:latin typeface="Calibri" pitchFamily="34" charset="0"/>
                <a:cs typeface="Amiri" pitchFamily="2" charset="-78"/>
              </a:rPr>
              <a:t>shuk-ran, fa-him-tu l-ān</a:t>
            </a:r>
            <a:endParaRPr lang="en-US" sz="13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School question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مَتَى؟</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when?</a:t>
            </a:r>
            <a:endParaRPr lang="en-US" sz="1350" dirty="0"/>
          </a:p>
          <a:p>
            <a:pPr indent="0" marL="0">
              <a:buNone/>
            </a:pPr>
            <a:r>
              <a:rPr lang="en-US" sz="1100" i="1" dirty="0">
                <a:solidFill>
                  <a:srgbClr val="5A6472"/>
                </a:solidFill>
                <a:latin typeface="Calibri" pitchFamily="34" charset="0"/>
                <a:cs typeface="Amiri" pitchFamily="2" charset="-78"/>
              </a:rPr>
              <a:t>ma-tā?</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أَيْنَ؟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t>
            </a:r>
            <a:endParaRPr lang="en-US" sz="1350" dirty="0"/>
          </a:p>
          <a:p>
            <a:pPr indent="0" marL="0">
              <a:buNone/>
            </a:pPr>
            <a:r>
              <a:rPr lang="en-US" sz="1100" i="1" dirty="0">
                <a:solidFill>
                  <a:srgbClr val="5A6472"/>
                </a:solidFill>
                <a:latin typeface="Calibri" pitchFamily="34" charset="0"/>
                <a:cs typeface="Amiri" pitchFamily="2" charset="-78"/>
              </a:rPr>
              <a:t>ay-na?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many / how much?</a:t>
            </a:r>
            <a:endParaRPr lang="en-US" sz="1350" dirty="0"/>
          </a:p>
          <a:p>
            <a:pPr indent="0" marL="0">
              <a:buNone/>
            </a:pPr>
            <a:r>
              <a:rPr lang="en-US" sz="1100" i="1" dirty="0">
                <a:solidFill>
                  <a:srgbClr val="5A6472"/>
                </a:solidFill>
                <a:latin typeface="Calibri" pitchFamily="34" charset="0"/>
                <a:cs typeface="Amiri" pitchFamily="2" charset="-78"/>
              </a:rPr>
              <a:t>kam?</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who?</a:t>
            </a:r>
            <a:endParaRPr lang="en-US" sz="1350" dirty="0"/>
          </a:p>
          <a:p>
            <a:pPr indent="0" marL="0">
              <a:buNone/>
            </a:pPr>
            <a:r>
              <a:rPr lang="en-US" sz="1100" i="1" dirty="0">
                <a:solidFill>
                  <a:srgbClr val="5A6472"/>
                </a:solidFill>
                <a:latin typeface="Calibri" pitchFamily="34" charset="0"/>
                <a:cs typeface="Amiri" pitchFamily="2" charset="-78"/>
              </a:rPr>
              <a:t>man?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 مَنْ؟</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with whom?</a:t>
            </a:r>
            <a:endParaRPr lang="en-US" sz="1350" dirty="0"/>
          </a:p>
          <a:p>
            <a:pPr indent="0" marL="0">
              <a:buNone/>
            </a:pPr>
            <a:r>
              <a:rPr lang="en-US" sz="1100" i="1" dirty="0">
                <a:solidFill>
                  <a:srgbClr val="5A6472"/>
                </a:solidFill>
                <a:latin typeface="Calibri" pitchFamily="34" charset="0"/>
                <a:cs typeface="Amiri" pitchFamily="2" charset="-78"/>
              </a:rPr>
              <a:t>ma-ʿa man?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لِمَاذَا؟</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why?</a:t>
            </a:r>
            <a:endParaRPr lang="en-US" sz="1350" dirty="0"/>
          </a:p>
          <a:p>
            <a:pPr indent="0" marL="0">
              <a:buNone/>
            </a:pPr>
            <a:r>
              <a:rPr lang="en-US" sz="1100" i="1" dirty="0">
                <a:solidFill>
                  <a:srgbClr val="5A6472"/>
                </a:solidFill>
                <a:latin typeface="Calibri" pitchFamily="34" charset="0"/>
                <a:cs typeface="Amiri" pitchFamily="2" charset="-78"/>
              </a:rPr>
              <a:t>li-mā-dhā?</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conversation with a repair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لَمْ أَفْهَمْ!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does the music club start?</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مَتَى يَبْدَأُ النَّادِي المُوسِيقِيُّ؟</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starts on Tuesday after school, at quarter past three.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يَبْدَأُ يَوْمَ الثُّلَاثَاءِ بَعْدَ المَدْرَسَةِ، فِي الثَّالِثَةِ وَالرُّبْعِ.</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Sorry, I didn’t understand. Could you repeat that? (to a girl)</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آسِفٌ، لَمْ أَفْهَمْ. هَلْ يُمْكِنُكِ أَنْ تُعِيدِي ذٰلِكَ؟</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Of course. On Tuesday, at quarter past three.</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طَبْعًا. يَوْمَ الثُّلَاثَاءِ، فِي السَّاعَةِ الثَّالِثَةِ وَالرُّبْعِ.</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Thank you, I understand now. And where?</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شُكْرًا، فَهِمْتُ الآنَ. وَأَيْنَ؟</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the music room, next to the library.</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فِي قَاعَةِ المُوسِيقَى، بِجَانِبِ المَكْتَبَةِ.</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the Leader speaks FAST on purpose — the Speaker must use a repair phrase before answering.</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Answer — the Leader may pretend not to understand!</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وَيَوْمَ الجُمُعَةِ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يَنْتَهِي فِي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does the school day end?</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يَنْتَهِي اليَوْمُ المَدْرَسِيُّ؟</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56648" y="300471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مَكْتَبُ المُدِيرِ … بِجَانِبِ / أَمَامَ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is the head’s office?</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مَكْتَبُ المُدِيرِ؟</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 طَالِبَةً</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صَفِّي … طَالِبًا</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students are in your class?</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طَالِبًا فِي صَفِّكَ؟</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 لِأَنَّهَا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مُعَلِّمِي المُفَضَّلُ … / مُعَلِّمَتِي المُفَضَّلَةُ …</a:t>
            </a:r>
            <a:endParaRPr lang="ar-SA" sz="15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your favourite teacher?</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مُعَلِّمُكَ المُفَضَّلُ؟</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 لِأَنَّهَا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أَجْلِسُ مَعَ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do you sit with in class?</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مَعَ مَنْ تَجْلِسُ فِي الصَّفِّ؟</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Role-play card — joining the chess club (five prompts)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نَادِي الشِّطْرَنْجِ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أَيِّ ← اسْمِي … ، وَأَنَا فِي الصَّفِّ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and year group.</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أَهْلًا! مَا اسْمُكَ؟ وَفِي أَيِّ صَفٍّ أَنْتَ؟</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 لِأَنَّنِي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 reason.</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تُرِيدُ أَنْ تَنْضَمَّ إِلَى النَّادِي؟</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75320" y="3741725"/>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آسِفٌ ، لَمْ أَفْهَمْ … تُعِيدَ …؟</a:t>
            </a:r>
            <a:endParaRPr lang="ar-SA" sz="16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the teacher to repeat.</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النَّادِي يَوْمَ الأَرْبِعَاءِ فِي الغُرْفَةِ عِشْرِينَ.</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275320" y="4478731"/>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سُؤَالٌ ← نَعَمْ، مَتَى يَنْتَهِي …؟</a:t>
            </a:r>
            <a:endParaRPr lang="ar-SA" sz="1600" dirty="0"/>
          </a:p>
        </p:txBody>
      </p:sp>
      <p:sp>
        <p:nvSpPr>
          <p:cNvPr id="43" name="Text 40"/>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when it ends.</a:t>
            </a:r>
            <a:endParaRPr lang="en-US" sz="1100" dirty="0"/>
          </a:p>
        </p:txBody>
      </p:sp>
      <p:sp>
        <p:nvSpPr>
          <p:cNvPr id="44" name="Text 41"/>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الغُرْفَةُ عِشْرُونَ. هَلْ عِنْدَكَ سُؤَالٌ؟</a:t>
            </a:r>
            <a:endParaRPr lang="ar-SA" sz="1700" dirty="0"/>
          </a:p>
        </p:txBody>
      </p:sp>
      <p:sp>
        <p:nvSpPr>
          <p:cNvPr id="45" name="Text 42"/>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275320" y="521573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نَعَمْ / لَا ، …</a:t>
            </a:r>
            <a:endParaRPr lang="ar-SA" sz="1600" dirty="0"/>
          </a:p>
        </p:txBody>
      </p:sp>
      <p:sp>
        <p:nvSpPr>
          <p:cNvPr id="50" name="Text 47"/>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surprise question.</a:t>
            </a:r>
            <a:endParaRPr lang="en-US" sz="1100" dirty="0"/>
          </a:p>
        </p:txBody>
      </p:sp>
      <p:sp>
        <p:nvSpPr>
          <p:cNvPr id="51" name="Text 48"/>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لَعِبْتَ فِي مُسَابَقَةٍ مِنْ قَبْلُ؟</a:t>
            </a:r>
            <a:endParaRPr lang="ar-SA" sz="1700" dirty="0"/>
          </a:p>
        </p:txBody>
      </p:sp>
      <p:sp>
        <p:nvSpPr>
          <p:cNvPr id="52" name="Text 49"/>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student · Leader = the club teacher. Read the plan for 1 minute, then hide it and speak. Then swap roles.</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30 seconds: my school, then two follow-ups</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مَدْرَسَتِي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 seconds about your school. Then the Leader asks two quick follow-up questions (one fast, so you must use a repair phrase first!).</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sentences + one repair phrase.</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Five sentences + answer both follow-ups.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Answer the follow-ups in two sentences, with a reason.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Sorry, I didn’t understand. (a girl speaking)</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آسِفَةٌ،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آسِفٌ،</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لَمْ</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لَا</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أَفْهَمْ.</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فَهِمْتُ.</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Could you repeat that? (to a boy)</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هَلْ يُمْكِنُكَ</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هَلْ يُمْكِنُكِ</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تُعِيدَ</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تُعِيدِي</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ذٰلِكَ؟</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ذٰلِكِ؟</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Speak slowly, please. (to a girl)</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تَكَلَّمِي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تَكَلَّمْ</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بِبُطْءٍ،</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بُطْءٌ،</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فَضْلِكِ.</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فَضْلِكَ.</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Sorry, I didn’t understand. (a girl speaking)</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girl → </a:t>
            </a:r>
            <a:pPr algn="l" indent="0" marL="0">
              <a:buNone/>
            </a:pPr>
            <a:r>
              <a:rPr lang="ar-SA" altLang="en-US" sz="1350" dirty="0">
                <a:solidFill>
                  <a:srgbClr val="5A6472"/>
                </a:solidFill>
                <a:latin typeface="Amiri" pitchFamily="2" charset="-78"/>
                <a:ea typeface="Amiri" pitchFamily="2" charset="-78"/>
                <a:cs typeface="Amiri" pitchFamily="2" charset="-78"/>
              </a:rPr>
              <a:t>آسِفَةٌ</a:t>
            </a:r>
            <a:pPr algn="l" indent="0" marL="0">
              <a:buNone/>
            </a:pPr>
            <a:r>
              <a:rPr lang="en-US" sz="1050" i="1" dirty="0">
                <a:solidFill>
                  <a:srgbClr val="5A6472"/>
                </a:solidFill>
                <a:latin typeface="Calibri" pitchFamily="34" charset="0"/>
                <a:cs typeface="Amiri" pitchFamily="2" charset="-78"/>
              </a:rPr>
              <a:t>; didn’t understand = </a:t>
            </a:r>
            <a:pPr algn="l" indent="0" marL="0">
              <a:buNone/>
            </a:pPr>
            <a:r>
              <a:rPr lang="ar-SA" altLang="en-US" sz="1350" dirty="0">
                <a:solidFill>
                  <a:srgbClr val="5A6472"/>
                </a:solidFill>
                <a:latin typeface="Amiri" pitchFamily="2" charset="-78"/>
                <a:ea typeface="Amiri" pitchFamily="2" charset="-78"/>
                <a:cs typeface="Amiri" pitchFamily="2" charset="-78"/>
              </a:rPr>
              <a:t>لَمْ أَفْهَمْ</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آسِفَةٌ، لَمْ أَفْهَمْ.</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Could you repeat that? (to a boy)</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 a boy → -ka … </a:t>
            </a:r>
            <a:pPr algn="l" indent="0" marL="0">
              <a:buNone/>
            </a:pPr>
            <a:r>
              <a:rPr lang="ar-SA" altLang="en-US" sz="1350" dirty="0">
                <a:solidFill>
                  <a:srgbClr val="5A6472"/>
                </a:solidFill>
                <a:latin typeface="Amiri" pitchFamily="2" charset="-78"/>
                <a:ea typeface="Amiri" pitchFamily="2" charset="-78"/>
                <a:cs typeface="Amiri" pitchFamily="2" charset="-78"/>
              </a:rPr>
              <a:t>تُعِيدَ</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هَلْ يُمْكِنُكَ أَنْ تُعِيدَ ذٰلِكَ؟</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Speak slowly, please. (to a girl)</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 a girl → </a:t>
            </a:r>
            <a:pPr algn="l" indent="0" marL="0">
              <a:buNone/>
            </a:pPr>
            <a:r>
              <a:rPr lang="ar-SA" altLang="en-US" sz="1350" dirty="0">
                <a:solidFill>
                  <a:srgbClr val="5A6472"/>
                </a:solidFill>
                <a:latin typeface="Amiri" pitchFamily="2" charset="-78"/>
                <a:ea typeface="Amiri" pitchFamily="2" charset="-78"/>
                <a:cs typeface="Amiri" pitchFamily="2" charset="-78"/>
              </a:rPr>
              <a:t>تَكَلَّمِي … فَضْلِكِ</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تَكَلَّمِي بِبُطْءٍ، مِنْ فَضْلِكِ.</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هَلْ يُمْكِنُكَ أَنْ تُعِيدَ يَا مُعَلِّمَةُ؟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The teacher is a woman.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لَمْ أَفْهَمُ.</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لَمْ</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مَعَ مَنْ تَجْلِسُ؟ — فِي الصَّفِّ.</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مَعَ مَنْ</a:t>
            </a:r>
            <a:pPr algn="l" indent="0" marL="0">
              <a:buNone/>
            </a:pPr>
            <a:r>
              <a:rPr lang="en-US" sz="1300" i="1" dirty="0">
                <a:solidFill>
                  <a:srgbClr val="5A6472"/>
                </a:solidFill>
                <a:latin typeface="Calibri" pitchFamily="34" charset="0"/>
                <a:cs typeface="Amiri" pitchFamily="2" charset="-78"/>
              </a:rPr>
              <a:t> = with whom.</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هَلْ يُمْكِنُكَ أَنْ تُعِيدَ يَا مُعَلِّمَةُ؟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هَلْ يُمْكِنُكِ أَنْ تُعِيدِي يَا مُعَلِّمَةُ؟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To a woman: </a:t>
            </a:r>
            <a:pPr algn="l" indent="0" marL="0">
              <a:buNone/>
            </a:pPr>
            <a:r>
              <a:rPr lang="ar-SA" altLang="en-US" sz="1500" b="1" dirty="0">
                <a:solidFill>
                  <a:srgbClr val="1B3B6F"/>
                </a:solidFill>
                <a:latin typeface="Amiri" pitchFamily="2" charset="-78"/>
                <a:ea typeface="Amiri" pitchFamily="2" charset="-78"/>
                <a:cs typeface="Amiri" pitchFamily="2" charset="-78"/>
              </a:rPr>
              <a:t>يُمْكِنُكِ … تُعِيدِي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لَمْ أَفْهَمُ.</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لَمْ أَفْهَمْ.</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لَمْ</a:t>
            </a:r>
            <a:pPr algn="l" indent="0" marL="0">
              <a:buNone/>
            </a:pPr>
            <a:r>
              <a:rPr lang="en-US" sz="1150" b="1" dirty="0">
                <a:solidFill>
                  <a:srgbClr val="1B3B6F"/>
                </a:solidFill>
                <a:latin typeface="Calibri" pitchFamily="34" charset="0"/>
                <a:cs typeface="Amiri" pitchFamily="2" charset="-78"/>
              </a:rPr>
              <a:t> + verb with sukūn: </a:t>
            </a:r>
            <a:pPr algn="l" indent="0" marL="0">
              <a:buNone/>
            </a:pPr>
            <a:r>
              <a:rPr lang="ar-SA" altLang="en-US" sz="1500" b="1" dirty="0">
                <a:solidFill>
                  <a:srgbClr val="1B3B6F"/>
                </a:solidFill>
                <a:latin typeface="Amiri" pitchFamily="2" charset="-78"/>
                <a:ea typeface="Amiri" pitchFamily="2" charset="-78"/>
                <a:cs typeface="Amiri" pitchFamily="2" charset="-78"/>
              </a:rPr>
              <a:t>أَفْهَمْ</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مَعَ مَنْ تَجْلِسُ؟ — فِي الصَّفِّ.</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أَجْلِسُ مَعَ صَدِيقِي زَيْدٍ.</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Answer the question word: a person.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نُحْضِرَ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must bring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أَنْ أَذْهَبَ لِأَنَّنِي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want to go because I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مَرْحَبًا يَا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Hello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تَكَلَّمْتُ مَعَ ______ عَنْ نَادِي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spoke with … about the … club.</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النَّادِي يَوْمَ ______ فِي السَّاعَةِ ______ ، فِي ______ .</a:t>
            </a:r>
            <a:endParaRPr lang="ar-SA" sz="135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club is on … at …, in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تُرِيدُ أَنْ تَأْتِيَ مَعِي؟</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Do you want to come with me?</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تَكَلَّمْتُ مَعَ  ·  نَادِي …  ·  يَوْمَ … فِي السَّاعَةِ …  ·  فِي قَاعَةِ … · فِي الغُرْفَةِ …  ·  يَجِبُ أَنْ نُحْضِرَ  ·  لِأَنَّنِي  ·  تَأْتِيَ · تَأْتِي  ·  مَعِي</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A message after the conversation</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بَعْدَ المُحَادَثَةِ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You spoke to a teacher about a club. Write a short message (about 40–60 words) to a friend with the information you heard. Include: • which club • the day and time • the place • one thing you must bring or do • why you want to go • an invitation to come with you.</a:t>
            </a:r>
            <a:endParaRPr lang="en-US" sz="12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تَكَلَّمْتُ مَعَ … عَنْ نَادِي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spoke with … about the … club</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النَّادِي يَوْمَ … فِي السَّاعَةِ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club is on … at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نُحْضِرَ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must bring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تُرِيدُ أَنْ تَأْتِيَ مَعِي؟</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do you want to come with me?</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 repair phrase instead of silence?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exact question word (when → time, where → place …)?</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اسْمِي نَبِيلٌ، وَأَنَا فِي الصَّفِّ الثَّامِنِ.</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name is Nabil, and I am in Year 8.</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أَهْلًا! مَا اسْمُكَ؟ وَفِي أَيِّ صَفٍّ أَنْتَ؟</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لِأَنَّنِي أُحِبُّ الشِّطْرَنْجَ، وَأَلْعَبُهُ مَعَ أَبِي.</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Because I love chess, and I play it with my dad.</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تُرِيدُ أَنْ تَنْضَمَّ إِلَى النَّادِي؟</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آسِفٌ، لَمْ أَفْهَمْ. هَلْ يُمْكِنُكَ أَنْ تُعِيدَ رَقْمَ الغُرْفَةِ؟</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Sorry, I didn’t understand. Could you repeat the room number?</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النَّادِي يَوْمَ الأَرْبِعَاءِ فِي الغُرْفَةِ عِشْرِينَ.</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مَتَى يَنْتَهِي النَّادِي؟</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when does the club end?</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الغُرْفَةُ عِشْرُونَ. هَلْ عِنْدَكَ سُؤَالٌ؟</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لٰكِنَّنِي أُرِيدُ أَنْ أَلْعَبَ فِي مُسَابَقَةٍ هٰذِهِ السَّنَةَ.</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No, but I want to play in a competition this year.</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لَعِبْتَ فِي مُسَابَقَةٍ مِنْ قَبْلُ؟</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مَرْحَبًا يَا زَيْدُ! اليَوْمَ تَكَلَّمْتُ مَعَ الأُسْتَاذِ أَحْمَدَ عَنْ نَادِي الشِّطْرَنْجِ. النَّادِي يَوْمَ الأَرْبِعَاءِ فِي السَّاعَةِ الثَّالِثَةِ وَالنِّصْفِ، فِي الغُرْفَةِ عِشْرِينَ بِجَانِبِ المَكْتَبَةِ. يَجِبُ أَنْ نُحْضِرَ دَفْتَرًا صَغِيرًا. أُرِيدُ أَنْ أَذْهَبَ لِأَنَّنِي أُحِبُّ الشِّطْرَنْجَ كَثِيرًا. هَلْ تُرِيدُ أَنْ تَأْتِيَ مَعِي؟</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“Hi Zaid! Today I spoke with Mr Ahmed about the chess club. The club is on Wednesday at half past three, in room twenty next to the library. We must bring a small notebook. I want to go because I love chess a lot. Do you want to come with me?”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تَكَلَّمْتُ مَعَ الأُسْتَاذِ</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يَوْمَ الأَرْبِعَاءِ فِي السَّاعَةِ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يَجِبُ أَنْ نُحْضِرَ</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هَلْ تُرِيدُ أَنْ تَأْتِيَ مَعِي؟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F4-L10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250" b="1" dirty="0">
                <a:solidFill>
                  <a:srgbClr val="FFFFFF"/>
                </a:solidFill>
                <a:latin typeface="Cambria" pitchFamily="34" charset="0"/>
                <a:cs typeface="Amiri" pitchFamily="2" charset="-78"/>
              </a:rPr>
              <a:t>F4-L11 · Speaking and Writing About School</a:t>
            </a:r>
            <a:endParaRPr lang="en-US" sz="22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التَّحَدُّثُ وَالكِتَابَةُ عَنِ المَدْرَسَةِ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F4-L10 · Practice Room — Listening and Speaking: School Conversations</dc:title>
  <dc:subject>PptxGenJS Presentation</dc:subject>
  <dc:creator>Al Madina Online School · Arabic Department</dc:creator>
  <cp:lastModifiedBy>Al Madina Online School · Arabic Department</cp:lastModifiedBy>
  <cp:revision>1</cp:revision>
  <dcterms:created xsi:type="dcterms:W3CDTF">2026-10-25T17:33:30Z</dcterms:created>
  <dcterms:modified xsi:type="dcterms:W3CDTF">2026-10-25T17:33:30Z</dcterms:modified>
</cp:coreProperties>
</file>