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F4-L02 (The School Timetable — Days and Times) — new practice tasks built on the lesson’s own word bank and grammar (days (yawma al-aḥadi …); times fī al-sāʿati + feminine ordinal (al-thāniya · al-thālitha …) + wa-l-rubʿ / wa-l-niṣf / illā rubʿan; yabdaʾu / yantahī; kam ḥiṣṣatan).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تُرِيدِينَ. Language: yawma + day · fī al-sāʿati + feminine ordinal · li- + subject · tantahī.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The School Timetable — Days and Times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الجَدْوَلُ المَدْرَسِيُّ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and writing practice about their timetable: say the days and time words, act a short dialogue, answer timetable question cards, do a role-play card planning a revision timetable, give a 30-second talk about their school week, then build, fix and write about their favourite school day.</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F4-L02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Days of the week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الأَحَدُ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Sunday · day 1</a:t>
            </a:r>
            <a:endParaRPr lang="en-US" sz="1350" dirty="0"/>
          </a:p>
          <a:p>
            <a:pPr indent="0" marL="0">
              <a:buNone/>
            </a:pPr>
            <a:r>
              <a:rPr lang="en-US" sz="1100" i="1" dirty="0">
                <a:solidFill>
                  <a:srgbClr val="5A6472"/>
                </a:solidFill>
                <a:latin typeface="Calibri" pitchFamily="34" charset="0"/>
                <a:cs typeface="Amiri" pitchFamily="2" charset="-78"/>
              </a:rPr>
              <a:t>al-a-ḥad</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يَوْمِ الأَحَدِ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الاِثْنَيْنُ</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Monday · day 2</a:t>
            </a:r>
            <a:endParaRPr lang="en-US" sz="1350" dirty="0"/>
          </a:p>
          <a:p>
            <a:pPr indent="0" marL="0">
              <a:buNone/>
            </a:pPr>
            <a:r>
              <a:rPr lang="en-US" sz="1100" i="1" dirty="0">
                <a:solidFill>
                  <a:srgbClr val="5A6472"/>
                </a:solidFill>
                <a:latin typeface="Calibri" pitchFamily="34" charset="0"/>
                <a:cs typeface="Amiri" pitchFamily="2" charset="-78"/>
              </a:rPr>
              <a:t>al-ith-nayn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يَوْمِ الاِثْنَيْنِ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الثُّلَاثَاءُ</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Tuesday · day 3</a:t>
            </a:r>
            <a:endParaRPr lang="en-US" sz="1350" dirty="0"/>
          </a:p>
          <a:p>
            <a:pPr indent="0" marL="0">
              <a:buNone/>
            </a:pPr>
            <a:r>
              <a:rPr lang="en-US" sz="1100" i="1" dirty="0">
                <a:solidFill>
                  <a:srgbClr val="5A6472"/>
                </a:solidFill>
                <a:latin typeface="Calibri" pitchFamily="34" charset="0"/>
                <a:cs typeface="Amiri" pitchFamily="2" charset="-78"/>
              </a:rPr>
              <a:t>ath-thu-lā-thā’</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يَوْمِ الثُّلَاثَاءِ</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الأَرْبِعَاءُ</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Wednesday · day 4</a:t>
            </a:r>
            <a:endParaRPr lang="en-US" sz="1350" dirty="0"/>
          </a:p>
          <a:p>
            <a:pPr indent="0" marL="0">
              <a:buNone/>
            </a:pPr>
            <a:r>
              <a:rPr lang="en-US" sz="1100" i="1" dirty="0">
                <a:solidFill>
                  <a:srgbClr val="5A6472"/>
                </a:solidFill>
                <a:latin typeface="Calibri" pitchFamily="34" charset="0"/>
                <a:cs typeface="Amiri" pitchFamily="2" charset="-78"/>
              </a:rPr>
              <a:t>al-ar-bi-‘ā’</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يَوْمِ الأَرْبِعَاءِ</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الخَمِيسُ</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Thursday · day 5</a:t>
            </a:r>
            <a:endParaRPr lang="en-US" sz="1350" dirty="0"/>
          </a:p>
          <a:p>
            <a:pPr indent="0" marL="0">
              <a:buNone/>
            </a:pPr>
            <a:r>
              <a:rPr lang="en-US" sz="1100" i="1" dirty="0">
                <a:solidFill>
                  <a:srgbClr val="5A6472"/>
                </a:solidFill>
                <a:latin typeface="Calibri" pitchFamily="34" charset="0"/>
                <a:cs typeface="Amiri" pitchFamily="2" charset="-78"/>
              </a:rPr>
              <a:t>al-kha-mīs</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74" name="Text 71"/>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يَوْمِ الخَمِيسِ</a:t>
            </a:r>
            <a:endParaRPr lang="ar-SA" sz="150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الجُمُعَةُ · السَّبْتُ</a:t>
            </a:r>
            <a:endParaRPr lang="ar-SA" sz="30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Friday · Saturday</a:t>
            </a:r>
            <a:endParaRPr lang="en-US" sz="1350" dirty="0"/>
          </a:p>
          <a:p>
            <a:pPr indent="0" marL="0">
              <a:buNone/>
            </a:pPr>
            <a:r>
              <a:rPr lang="en-US" sz="1100" i="1" dirty="0">
                <a:solidFill>
                  <a:srgbClr val="5A6472"/>
                </a:solidFill>
                <a:latin typeface="Calibri" pitchFamily="34" charset="0"/>
                <a:cs typeface="Amiri" pitchFamily="2" charset="-78"/>
              </a:rPr>
              <a:t>al-ju-mu-‘a · as-sabt</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a:t>
            </a:r>
            <a:endParaRPr lang="en-US" sz="750" dirty="0"/>
          </a:p>
        </p:txBody>
      </p:sp>
      <p:sp>
        <p:nvSpPr>
          <p:cNvPr id="86" name="Text 83"/>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 يَوْمِ الجُمُعَةِ</a:t>
            </a:r>
            <a:endParaRPr lang="ar-SA" sz="15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Times and periods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حِصَّةٌ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lesson / period</a:t>
            </a:r>
            <a:endParaRPr lang="en-US" sz="1350" dirty="0"/>
          </a:p>
          <a:p>
            <a:pPr indent="0" marL="0">
              <a:buNone/>
            </a:pPr>
            <a:r>
              <a:rPr lang="en-US" sz="1100" i="1" dirty="0">
                <a:solidFill>
                  <a:srgbClr val="5A6472"/>
                </a:solidFill>
                <a:latin typeface="Calibri" pitchFamily="34" charset="0"/>
                <a:cs typeface="Amiri" pitchFamily="2" charset="-78"/>
              </a:rPr>
              <a:t>ḥiṣ-ṣa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حِصَصٌ</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1st</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الحِصَّةُ الأُولَى</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verbs</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يَبْدَأُ · يَنْتَهِي</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begins · ends</a:t>
            </a:r>
            <a:endParaRPr lang="en-US" sz="1350" dirty="0"/>
          </a:p>
          <a:p>
            <a:pPr indent="0" marL="0">
              <a:buNone/>
            </a:pPr>
            <a:r>
              <a:rPr lang="en-US" sz="1100" i="1" dirty="0">
                <a:solidFill>
                  <a:srgbClr val="5A6472"/>
                </a:solidFill>
                <a:latin typeface="Calibri" pitchFamily="34" charset="0"/>
                <a:cs typeface="Amiri" pitchFamily="2" charset="-78"/>
              </a:rPr>
              <a:t>yab-da’u · yan-ta-hī</a:t>
            </a:r>
            <a:endParaRPr lang="en-US" sz="1350" dirty="0"/>
          </a:p>
        </p:txBody>
      </p:sp>
      <p:sp>
        <p:nvSpPr>
          <p:cNvPr id="39" name="Shape 3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41" name="Text 38"/>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يَبْدَأُ الدَّرْسُ</a:t>
            </a:r>
            <a:endParaRPr lang="ar-SA" sz="135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5" name="Shape 42"/>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الاِسْتِرَاحَةُ</a:t>
            </a:r>
            <a:endParaRPr lang="ar-SA" sz="3000" dirty="0"/>
          </a:p>
        </p:txBody>
      </p:sp>
      <p:sp>
        <p:nvSpPr>
          <p:cNvPr id="50" name="Text 4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break time</a:t>
            </a:r>
            <a:endParaRPr lang="en-US" sz="1350" dirty="0"/>
          </a:p>
          <a:p>
            <a:pPr indent="0" marL="0">
              <a:buNone/>
            </a:pPr>
            <a:r>
              <a:rPr lang="en-US" sz="1100" i="1" dirty="0">
                <a:solidFill>
                  <a:srgbClr val="5A6472"/>
                </a:solidFill>
                <a:latin typeface="Calibri" pitchFamily="34" charset="0"/>
                <a:cs typeface="Amiri" pitchFamily="2" charset="-78"/>
              </a:rPr>
              <a:t>al-is-ti-rā-ḥa</a:t>
            </a:r>
            <a:endParaRPr lang="en-US"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وَقْتُ الغَدَاءِ</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lunchtime</a:t>
            </a:r>
            <a:endParaRPr lang="en-US" sz="1350" dirty="0"/>
          </a:p>
          <a:p>
            <a:pPr indent="0" marL="0">
              <a:buNone/>
            </a:pPr>
            <a:r>
              <a:rPr lang="en-US" sz="1100" i="1" dirty="0">
                <a:solidFill>
                  <a:srgbClr val="5A6472"/>
                </a:solidFill>
                <a:latin typeface="Calibri" pitchFamily="34" charset="0"/>
                <a:cs typeface="Amiri" pitchFamily="2" charset="-78"/>
              </a:rPr>
              <a:t>waqt al-gha-dā’</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Shape 58"/>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questions</a:t>
            </a:r>
            <a:endParaRPr lang="en-US" sz="800" dirty="0"/>
          </a:p>
        </p:txBody>
      </p:sp>
      <p:sp>
        <p:nvSpPr>
          <p:cNvPr id="63" name="Shape 6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 · فِي أَيِّ يَوْمٍ؟</a:t>
            </a:r>
            <a:endParaRPr lang="ar-SA" sz="3000" dirty="0"/>
          </a:p>
        </p:txBody>
      </p:sp>
      <p:sp>
        <p:nvSpPr>
          <p:cNvPr id="66" name="Text 6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 on which day?</a:t>
            </a:r>
            <a:endParaRPr lang="en-US" sz="1350" dirty="0"/>
          </a:p>
          <a:p>
            <a:pPr indent="0" marL="0">
              <a:buNone/>
            </a:pPr>
            <a:r>
              <a:rPr lang="en-US" sz="1100" i="1" dirty="0">
                <a:solidFill>
                  <a:srgbClr val="5A6472"/>
                </a:solidFill>
                <a:latin typeface="Calibri" pitchFamily="34" charset="0"/>
                <a:cs typeface="Amiri" pitchFamily="2" charset="-78"/>
              </a:rPr>
              <a:t>ma-tā · fī ay-yi yaw-min</a:t>
            </a:r>
            <a:endParaRPr lang="en-US" sz="1350" dirty="0"/>
          </a:p>
        </p:txBody>
      </p:sp>
      <p:sp>
        <p:nvSpPr>
          <p:cNvPr id="67" name="Shape 6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66928"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0" name="Shape 67"/>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question</a:t>
            </a:r>
            <a:endParaRPr lang="en-US" sz="800" dirty="0"/>
          </a:p>
        </p:txBody>
      </p:sp>
      <p:sp>
        <p:nvSpPr>
          <p:cNvPr id="72" name="Text 6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حِصَّةً؟</a:t>
            </a:r>
            <a:endParaRPr lang="ar-SA" sz="3000" dirty="0"/>
          </a:p>
        </p:txBody>
      </p:sp>
      <p:sp>
        <p:nvSpPr>
          <p:cNvPr id="73" name="Text 7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periods?</a:t>
            </a:r>
            <a:endParaRPr lang="en-US" sz="1350" dirty="0"/>
          </a:p>
          <a:p>
            <a:pPr indent="0" marL="0">
              <a:buNone/>
            </a:pPr>
            <a:r>
              <a:rPr lang="en-US" sz="1100" i="1" dirty="0">
                <a:solidFill>
                  <a:srgbClr val="5A6472"/>
                </a:solidFill>
                <a:latin typeface="Calibri" pitchFamily="34" charset="0"/>
                <a:cs typeface="Amiri" pitchFamily="2" charset="-78"/>
              </a:rPr>
              <a:t>kam ḥiṣ-ṣa-tan</a:t>
            </a:r>
            <a:endParaRPr lang="en-US" sz="13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does school start?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مَتَى تَبْدَأُ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school start?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مَتَى تَبْدَأُ المَدْرَسَةُ؟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starts at half past eight.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تَبْدَأُ فِي السَّاعَةِ الثَّامِنَةِ وَالنِّصْفِ.</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when does it finish?</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وَمَتَى تَنْتَهِي؟</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finishes at quarter to three.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تَنْتَهِي فِي السَّاعَةِ الثَّالِثَةِ إِلَّا رُبْعًا.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lessons do you have on Wednesday?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حِصَّةً عِنْدَكَ يَوْمَ الأَرْبِعَاءِ؟</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six lessons, and the first lesson is maths.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عِنْدِي سِتُّ حِصَصٍ، وَالحِصَّةُ الأُولَى رِيَاضِيَّاتٌ.</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use YOUR real school times and timetable.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وَتَنْتَهِي فِي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تَبْدَأُ فِي السَّاعَةِ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school start?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تَبْدَأُ المَدْرَسَةُ؟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وَوَقْتُ الغَدَاءِ فِي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الاسْتِرَاحَةُ فِي السَّاعَةِ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is break?</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الاسْتِرَاحَةُ؟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وَالحِصَّةُ الأُولَى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الثُّلَاثَاءِ أَدْرُسُ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study on Tuesday?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تَدْرُسُ يَوْمَ الثُّلَاثَاءِ؟</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كُلُّ حِصَّةٍ سَاعَةٌ</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عِنْدِي … حِصَصٍ</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lessons a day?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حِصَّةً عِنْدَكَ فِي اليَوْمِ؟</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عِنْدِي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يَوْمِي المُفَضَّلُ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school day?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يَوْمُكَ المُفَضَّلُ فِي المَدْرَسَةِ؟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Role-play card — booking a revision session</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حَجْزُ حِصَّةِ مُرَاجَعَةٍ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 يَوْمَ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 day.</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يَوْمٍ تُرِيدُ؟</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سَاعَةٍ ← فِي السَّاعَةِ … وَالنِّصْفِ</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 time.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فِي أَيِّ سَاعَةٍ؟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لِأَيِّ ← لِلرِّيَاضِيَّاتِ / لِلْعُلُومِ … لِأَنَّ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subject + why.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لِأَيِّ مَادَّةٍ؟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مَتَى تَنْتَهِي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when it ends.</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الحِصَّةُ سَاعَةٌ وَاحِدَةٌ.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the school librarian.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school week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أُسْبُوعِي المَدْرَسِيُّ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when school starts and finishes, how many lessons, what you study on two days — and your favourite day.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time, finish time, one day’s subjects.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break / lunch times and two days.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your favourite day and a reason with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School starts at quarter past eight.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تَبْدَأُ المَدْرَسَةُ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يَبْدَأُ المَدْرَسَةُ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 الثَّامِنَةِ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 ثَمَانِيَةٍ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وَالرُّبْعِ.</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إِلَّا رُبْعًا.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On Friday I have five lessons.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الجُمُعَةُ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خَمْسُ حِصَصٍ.</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خَمْسَةُ حِصَّةٍ.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Lunch is at half past twelve.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وَقْتُ الغَدَاءِ</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الغَدَاءُ وَقْتُ</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فِي السَّاعَةِ الثَّانِيَةَ عَشْرَةَ</a:t>
            </a:r>
            <a:endParaRPr lang="ar-SA" sz="175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 اثْنَا عَشَرَ</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وَالنِّصْفِ.</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وَالرُّبْعِ.</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School starts at quarter past eight.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School (f.) → </a:t>
            </a:r>
            <a:pPr algn="l" indent="0" marL="0">
              <a:buNone/>
            </a:pPr>
            <a:r>
              <a:rPr lang="ar-SA" altLang="en-US" sz="1350" dirty="0">
                <a:solidFill>
                  <a:srgbClr val="5A6472"/>
                </a:solidFill>
                <a:latin typeface="Amiri" pitchFamily="2" charset="-78"/>
                <a:ea typeface="Amiri" pitchFamily="2" charset="-78"/>
                <a:cs typeface="Amiri" pitchFamily="2" charset="-78"/>
              </a:rPr>
              <a:t>تَبْدَأُ</a:t>
            </a:r>
            <a:pPr algn="l" indent="0" marL="0">
              <a:buNone/>
            </a:pPr>
            <a:r>
              <a:rPr lang="en-US" sz="1050" i="1" dirty="0">
                <a:solidFill>
                  <a:srgbClr val="5A6472"/>
                </a:solidFill>
                <a:latin typeface="Calibri" pitchFamily="34" charset="0"/>
                <a:cs typeface="Amiri" pitchFamily="2" charset="-78"/>
              </a:rPr>
              <a:t>; times use the feminine ordinal; quarter past = </a:t>
            </a:r>
            <a:pPr algn="l" indent="0" marL="0">
              <a:buNone/>
            </a:pPr>
            <a:r>
              <a:rPr lang="ar-SA" altLang="en-US" sz="1350" dirty="0">
                <a:solidFill>
                  <a:srgbClr val="5A6472"/>
                </a:solidFill>
                <a:latin typeface="Amiri" pitchFamily="2" charset="-78"/>
                <a:ea typeface="Amiri" pitchFamily="2" charset="-78"/>
                <a:cs typeface="Amiri" pitchFamily="2" charset="-78"/>
              </a:rPr>
              <a:t>وَالرُّبْعِ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تَبْدَأُ المَدْرَسَةُ فِي السَّاعَةِ الثَّامِنَةِ وَالرُّبْعِ.</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On Friday I have five lessons.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 day = </a:t>
            </a:r>
            <a:pPr algn="l" indent="0" marL="0">
              <a:buNone/>
            </a:pPr>
            <a:r>
              <a:rPr lang="ar-SA" altLang="en-US" sz="1350" dirty="0">
                <a:solidFill>
                  <a:srgbClr val="5A6472"/>
                </a:solidFill>
                <a:latin typeface="Amiri" pitchFamily="2" charset="-78"/>
                <a:ea typeface="Amiri" pitchFamily="2" charset="-78"/>
                <a:cs typeface="Amiri" pitchFamily="2" charset="-78"/>
              </a:rPr>
              <a:t>يَوْمَ</a:t>
            </a:r>
            <a:pPr algn="l" indent="0" marL="0">
              <a:buNone/>
            </a:pPr>
            <a:r>
              <a:rPr lang="en-US" sz="1050" i="1" dirty="0">
                <a:solidFill>
                  <a:srgbClr val="5A6472"/>
                </a:solidFill>
                <a:latin typeface="Calibri" pitchFamily="34" charset="0"/>
                <a:cs typeface="Amiri" pitchFamily="2" charset="-78"/>
              </a:rPr>
              <a:t> …; 3–10 + plural: </a:t>
            </a:r>
            <a:pPr algn="l" indent="0" marL="0">
              <a:buNone/>
            </a:pPr>
            <a:r>
              <a:rPr lang="ar-SA" altLang="en-US" sz="1350" dirty="0">
                <a:solidFill>
                  <a:srgbClr val="5A6472"/>
                </a:solidFill>
                <a:latin typeface="Amiri" pitchFamily="2" charset="-78"/>
                <a:ea typeface="Amiri" pitchFamily="2" charset="-78"/>
                <a:cs typeface="Amiri" pitchFamily="2" charset="-78"/>
              </a:rPr>
              <a:t>خَمْسُ حِصَصٍ</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حِصَّةٌ</a:t>
            </a:r>
            <a:pPr algn="l" indent="0" marL="0">
              <a:buNone/>
            </a:pPr>
            <a:r>
              <a:rPr lang="en-US" sz="1050" i="1" dirty="0">
                <a:solidFill>
                  <a:srgbClr val="5A6472"/>
                </a:solidFill>
                <a:latin typeface="Calibri" pitchFamily="34" charset="0"/>
                <a:cs typeface="Amiri" pitchFamily="2" charset="-78"/>
              </a:rPr>
              <a:t> is f. → </a:t>
            </a:r>
            <a:pPr algn="l" indent="0" marL="0">
              <a:buNone/>
            </a:pPr>
            <a:r>
              <a:rPr lang="ar-SA" altLang="en-US" sz="1350" dirty="0">
                <a:solidFill>
                  <a:srgbClr val="5A6472"/>
                </a:solidFill>
                <a:latin typeface="Amiri" pitchFamily="2" charset="-78"/>
                <a:ea typeface="Amiri" pitchFamily="2" charset="-78"/>
                <a:cs typeface="Amiri" pitchFamily="2" charset="-78"/>
              </a:rPr>
              <a:t>خَمْسُ</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يَوْمَ الجُمُعَةِ عِنْدِي خَمْسُ حِصَصٍ.</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Lunch is at half past twelve.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Half past = </a:t>
            </a:r>
            <a:pPr algn="l" indent="0" marL="0">
              <a:buNone/>
            </a:pPr>
            <a:r>
              <a:rPr lang="ar-SA" altLang="en-US" sz="1350" dirty="0">
                <a:solidFill>
                  <a:srgbClr val="5A6472"/>
                </a:solidFill>
                <a:latin typeface="Amiri" pitchFamily="2" charset="-78"/>
                <a:ea typeface="Amiri" pitchFamily="2" charset="-78"/>
                <a:cs typeface="Amiri" pitchFamily="2" charset="-78"/>
              </a:rPr>
              <a:t>وَالنِّصْفِ</a:t>
            </a:r>
            <a:pPr algn="l" indent="0" marL="0">
              <a:buNone/>
            </a:pPr>
            <a:r>
              <a:rPr lang="en-US" sz="1050" i="1" dirty="0">
                <a:solidFill>
                  <a:srgbClr val="5A6472"/>
                </a:solidFill>
                <a:latin typeface="Calibri" pitchFamily="34" charset="0"/>
                <a:cs typeface="Amiri" pitchFamily="2" charset="-78"/>
              </a:rPr>
              <a:t>; twelve o’clock = </a:t>
            </a:r>
            <a:pPr algn="l" indent="0" marL="0">
              <a:buNone/>
            </a:pPr>
            <a:r>
              <a:rPr lang="ar-SA" altLang="en-US" sz="1350" dirty="0">
                <a:solidFill>
                  <a:srgbClr val="5A6472"/>
                </a:solidFill>
                <a:latin typeface="Amiri" pitchFamily="2" charset="-78"/>
                <a:ea typeface="Amiri" pitchFamily="2" charset="-78"/>
                <a:cs typeface="Amiri" pitchFamily="2" charset="-78"/>
              </a:rPr>
              <a:t>السَّاعَةُ الثَّانِيَةَ عَشْرَةَ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وَقْتُ الغَدَاءِ فِي السَّاعَةِ الثَّانِيَةَ عَشْرَةَ وَالنِّصْفِ.</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المَدْرَسَةُ تَبْدَأُ فِي السَّاعَةِ ثَمَانِيَةٌ.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Times use a different number form.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الأَحَدِ أَدْرُسُ العُلُومَ.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 Sunday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عِنْدِي سِتَّةُ حِصَّةٍ.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حِصَّةٌ</a:t>
            </a:r>
            <a:pPr algn="l" indent="0" marL="0">
              <a:buNone/>
            </a:pPr>
            <a:r>
              <a:rPr lang="en-US" sz="1300" i="1" dirty="0">
                <a:solidFill>
                  <a:srgbClr val="5A6472"/>
                </a:solidFill>
                <a:latin typeface="Calibri" pitchFamily="34" charset="0"/>
                <a:cs typeface="Amiri" pitchFamily="2" charset="-78"/>
              </a:rPr>
              <a:t> is feminine; 3–10 + plural.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المَدْرَسَةُ تَبْدَأُ فِي السَّاعَةِ ثَمَانِيَةٌ.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المَدْرَسَةُ تَبْدَأُ فِي السَّاعَةِ الثَّامِنَةِ.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Clock time = feminine ordinal: </a:t>
            </a:r>
            <a:pPr algn="l" indent="0" marL="0">
              <a:buNone/>
            </a:pPr>
            <a:r>
              <a:rPr lang="ar-SA" altLang="en-US" sz="1500" b="1" dirty="0">
                <a:solidFill>
                  <a:srgbClr val="1B3B6F"/>
                </a:solidFill>
                <a:latin typeface="Amiri" pitchFamily="2" charset="-78"/>
                <a:ea typeface="Amiri" pitchFamily="2" charset="-78"/>
                <a:cs typeface="Amiri" pitchFamily="2" charset="-78"/>
              </a:rPr>
              <a:t>الثَّامِنَةِ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الأَحَدِ أَدْرُسُ العُلُومَ.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يَوْمَ الأَحَدِ أَدْرُسُ العُلُومَ.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 + day = </a:t>
            </a:r>
            <a:pPr algn="l" indent="0" marL="0">
              <a:buNone/>
            </a:pPr>
            <a:r>
              <a:rPr lang="ar-SA" altLang="en-US" sz="1500" b="1" dirty="0">
                <a:solidFill>
                  <a:srgbClr val="1B3B6F"/>
                </a:solidFill>
                <a:latin typeface="Amiri" pitchFamily="2" charset="-78"/>
                <a:ea typeface="Amiri" pitchFamily="2" charset="-78"/>
                <a:cs typeface="Amiri" pitchFamily="2" charset="-78"/>
              </a:rPr>
              <a:t>يَوْمَ</a:t>
            </a:r>
            <a:pPr algn="l" indent="0" marL="0">
              <a:buNone/>
            </a:pPr>
            <a:r>
              <a:rPr lang="en-US" sz="1150" b="1" dirty="0">
                <a:solidFill>
                  <a:srgbClr val="1B3B6F"/>
                </a:solidFill>
                <a:latin typeface="Calibri" pitchFamily="34" charset="0"/>
                <a:cs typeface="Amiri" pitchFamily="2" charset="-78"/>
              </a:rPr>
              <a:t> + day.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عِنْدِي سِتَّةُ حِصَّةٍ.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عِنْدِي سِتُّ حِصَصٍ.</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سِتُّ</a:t>
            </a:r>
            <a:pPr algn="l" indent="0" marL="0">
              <a:buNone/>
            </a:pPr>
            <a:r>
              <a:rPr lang="en-US" sz="1150" b="1" dirty="0">
                <a:solidFill>
                  <a:srgbClr val="1B3B6F"/>
                </a:solidFill>
                <a:latin typeface="Calibri" pitchFamily="34" charset="0"/>
                <a:cs typeface="Amiri" pitchFamily="2" charset="-78"/>
              </a:rPr>
              <a:t>; plural </a:t>
            </a:r>
            <a:pPr algn="l" indent="0" marL="0">
              <a:buNone/>
            </a:pPr>
            <a:r>
              <a:rPr lang="ar-SA" altLang="en-US" sz="1500" b="1" dirty="0">
                <a:solidFill>
                  <a:srgbClr val="1B3B6F"/>
                </a:solidFill>
                <a:latin typeface="Amiri" pitchFamily="2" charset="-78"/>
                <a:ea typeface="Amiri" pitchFamily="2" charset="-78"/>
                <a:cs typeface="Amiri" pitchFamily="2" charset="-78"/>
              </a:rPr>
              <a:t>حِصَصٍ</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الاسْتِرَاحَةُ فِي السَّاعَةِ ______ ، وَوَقْتُ الغَدَاءِ ______ .</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Break is at …, and lunch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هٰذَا اليَوْمَ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this day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يَوْمِي المُفَضَّلُ يَوْمُ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day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تَبْدَأُ المَدْرَسَةُ فِي السَّاعَةِ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School starts 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الحِصَّةُ الأُولَى ______ ، ثُمَّ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first lesson is …, then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تَنْتَهِي المَدْرَسَةُ فِي السَّاعَةِ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School finishes 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يَوْمَ الأَحَدِ · الإِثْنَيْنِ  ·  الثُّلَاثَاءِ · الأَرْبِعَاءِ  ·  الخَمِيسِ · الجُمُعَةِ  ·  فِي السَّاعَةِ …  ·  وَالرُّبْعِ · وَالنِّصْفِ  ·  إِلَّا رُبْعًا  ·  حِصَّةٌ · حِصَصٌ  ·  تَبْدَأُ · تَنْتَهِي</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favourite school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يَوْمِي المَدْرَسِيُّ المُفَضَّلُ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text (about 40–60 words) for a class poster. Include: • your favourite school day • when school starts and finishes • the lessons that day, in order, with one time • break or lunch • why it is your favourite day.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يَوْمِي المُفَضَّلُ يَوْمُ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day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تَبْدَأُ المَدْرَسَةُ فِي السَّاعَةِ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school starts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الحِصَّةُ الأُولَى … ، ثُمَّ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first lesson is …, then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هٰذَا اليَوْمَ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this day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clock times with </a:t>
            </a:r>
            <a:pPr algn="l" indent="0" marL="0">
              <a:buNone/>
            </a:pPr>
            <a:r>
              <a:rPr lang="ar-SA" altLang="en-US" sz="1450" dirty="0">
                <a:solidFill>
                  <a:srgbClr val="5A6472"/>
                </a:solidFill>
                <a:latin typeface="Amiri" pitchFamily="2" charset="-78"/>
                <a:ea typeface="Amiri" pitchFamily="2" charset="-78"/>
                <a:cs typeface="Amiri" pitchFamily="2" charset="-78"/>
              </a:rPr>
              <a:t>فِي السَّاعَةِ</a:t>
            </a:r>
            <a:pPr algn="l" indent="0" marL="0">
              <a:buNone/>
            </a:pPr>
            <a:r>
              <a:rPr lang="en-US" sz="1100" dirty="0">
                <a:solidFill>
                  <a:srgbClr val="5A6472"/>
                </a:solidFill>
                <a:latin typeface="Calibri" pitchFamily="34" charset="0"/>
                <a:cs typeface="Amiri" pitchFamily="2" charset="-78"/>
              </a:rPr>
              <a:t> + ordinal?</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يَوْمَ</a:t>
            </a:r>
            <a:pPr algn="l" indent="0" marL="0">
              <a:buNone/>
            </a:pPr>
            <a:r>
              <a:rPr lang="en-US" sz="1100" dirty="0">
                <a:solidFill>
                  <a:srgbClr val="5A6472"/>
                </a:solidFill>
                <a:latin typeface="Calibri" pitchFamily="34" charset="0"/>
                <a:cs typeface="Amiri" pitchFamily="2" charset="-78"/>
              </a:rPr>
              <a:t> + day and put the lessons in order?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الخَمِيسِ، مِنْ فَضْلِكَ.</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Thursday, please.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يَوْمٍ تُرِيدُ؟</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السَّاعَةِ الثَّالِثَةِ وَالنِّصْفِ، بَعْدَ المَدْرَسَةِ.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half past three, after school.</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أَيِّ سَاعَةٍ؟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لِلرِّيَاضِيَّاتِ، لِأَنَّ عِنْدِي امْتِحَانًا يَوْمَ الإِثْنَيْنِ.</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 maths, because I have a test on Monday.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لِأَيِّ مَادَّةٍ؟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حَسَنًا. إِذَنْ تَنْتَهِي فِي السَّاعَةِ الرَّابِعَةِ وَالنِّصْفِ؟</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OK. So it ends at half past four?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الحِصَّةُ سَاعَةٌ وَاحِدَةٌ.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يَوْمِي المُفَضَّلُ يَوْمُ الأَرْبِعَاءِ. تَبْدَأُ المَدْرَسَةُ فِي السَّاعَةِ الثَّامِنَةِ وَالنِّصْفِ. الحِصَّةُ الأُولَى لُغَةٌ عَرَبِيَّةٌ، ثُمَّ رِيَاضِيَّاتٌ. الاسْتِرَاحَةُ فِي السَّاعَةِ العَاشِرَةِ وَالنِّصْفِ، وَبَعْدَهَا عِنْدِي فَنٌّ وَعُلُومٌ. وَقْتُ الغَدَاءِ فِي الثَّانِيَةَ عَشْرَةَ وَالنِّصْفِ، وَتَنْتَهِي المَدْرَسَةُ فِي الثَّالِثَةِ. أُحِبُّ هٰذَا اليَوْمَ لِأَنَّ عِنْدِي تَرْبِيَةً بَدَنِيَّةً فِي آخِرِ اليَوْمِ.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favourite day is Wednesday. School starts at half past eight. The first lesson is Arabic, then maths. Break is at half past ten, and after it I have art and science. Lunch is at half past twelve, and school finishes at three. I love this day because I have PE at the end of the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يَوْمِي المُفَضَّلُ يَوْمُ الأَرْبِعَاءِ</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السَّاعَةِ الثَّامِنَةِ وَالنِّصْفِ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الحِصَّةُ الأُولَى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وَتَنْتَهِي المَدْرَسَةُ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F4-L03 · Classroom Objects — What Is in Your Bag?</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أَدَوَاتُ الفَصْلِ — مَاذَا فِي حَقِيبَتِكَ؟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F4-L02 · Practice Room — The School Timetable — Days and Times</dc:title>
  <dc:subject>PptxGenJS Presentation</dc:subject>
  <dc:creator>Al Madina Online School · Arabic Department</dc:creator>
  <cp:lastModifiedBy>Al Madina Online School · Arabic Department</cp:lastModifiedBy>
  <cp:revision>1</cp:revision>
  <dcterms:created xsi:type="dcterms:W3CDTF">2026-10-25T17:27:23Z</dcterms:created>
  <dcterms:modified xsi:type="dcterms:W3CDTF">2026-10-25T17:27:23Z</dcterms:modified>
</cp:coreProperties>
</file>