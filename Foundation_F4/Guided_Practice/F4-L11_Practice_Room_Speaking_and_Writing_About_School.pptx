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F4-L11 (Speaking and Writing About School) — new practice tasks built on the lesson’s own word bank and grammar (the whole F4 system in one talk and one paragraph: subjects + reasons, times, objects, rules (yajibu / lā yajūzu), sequence; connectors thumma · ayḍan · lākinna · min al-ḍarūriyyi an · fī al-nihāya).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if the parent is a man or woman, nothing changes in the Leader’s lines; a girl guide says the same. Mixes subjects, reasons, numbers, times and rules from the whole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Speaking and Writing About School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أَتَكَلَّمُ وَأَكْتُبُ عَنِ المَدْرَسَةِ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bringing all of F4 together: say the connectors, act a model exchange, answer mixed question cards, do a role-play card for a school open evening, deliver a one-minute school talk, then build, fix and write a 6–8 sentence paragraph about school.</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F4-L11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Connectors for a talk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sequence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 / بَعْدَ ذَلِكَ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 / after that</a:t>
            </a:r>
            <a:endParaRPr lang="en-US" sz="1350" dirty="0"/>
          </a:p>
          <a:p>
            <a:pPr indent="0" marL="0">
              <a:buNone/>
            </a:pPr>
            <a:r>
              <a:rPr lang="en-US" sz="1100" i="1" dirty="0">
                <a:solidFill>
                  <a:srgbClr val="5A6472"/>
                </a:solidFill>
                <a:latin typeface="Calibri" pitchFamily="34" charset="0"/>
                <a:cs typeface="Amiri" pitchFamily="2" charset="-78"/>
              </a:rPr>
              <a:t>thum-ma / ba‘-da dhā-lik</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add</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أَيْضًا</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a:t>
            </a:r>
            <a:endParaRPr lang="en-US" sz="1350" dirty="0"/>
          </a:p>
          <a:p>
            <a:pPr indent="0" marL="0">
              <a:buNone/>
            </a:pPr>
            <a:r>
              <a:rPr lang="en-US" sz="1100" i="1" dirty="0">
                <a:solidFill>
                  <a:srgbClr val="5A6472"/>
                </a:solidFill>
                <a:latin typeface="Calibri" pitchFamily="34" charset="0"/>
                <a:cs typeface="Amiri" pitchFamily="2" charset="-78"/>
              </a:rPr>
              <a:t>ay-ḍan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contrast</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 (+ noun)</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reason</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 / لِأَنَّهَا</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it (m. / f.)</a:t>
            </a:r>
            <a:endParaRPr lang="en-US" sz="1350" dirty="0"/>
          </a:p>
          <a:p>
            <a:pPr indent="0" marL="0">
              <a:buNone/>
            </a:pPr>
            <a:r>
              <a:rPr lang="en-US" sz="1100" i="1" dirty="0">
                <a:solidFill>
                  <a:srgbClr val="5A6472"/>
                </a:solidFill>
                <a:latin typeface="Calibri" pitchFamily="34" charset="0"/>
                <a:cs typeface="Amiri" pitchFamily="2" charset="-78"/>
              </a:rPr>
              <a:t>li-an-na-hu / li-an-na-hā</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rule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الضَّرُورِيِّ أَنْ</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important that …</a:t>
            </a:r>
            <a:endParaRPr lang="en-US" sz="1350" dirty="0"/>
          </a:p>
          <a:p>
            <a:pPr indent="0" marL="0">
              <a:buNone/>
            </a:pPr>
            <a:r>
              <a:rPr lang="en-US" sz="1100" i="1" dirty="0">
                <a:solidFill>
                  <a:srgbClr val="5A6472"/>
                </a:solidFill>
                <a:latin typeface="Calibri" pitchFamily="34" charset="0"/>
                <a:cs typeface="Amiri" pitchFamily="2" charset="-78"/>
              </a:rPr>
              <a:t>mi-na ḍ-ḍa-rū-riy-yi an</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conclude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finally / in the end</a:t>
            </a:r>
            <a:endParaRPr lang="en-US" sz="1350" dirty="0"/>
          </a:p>
          <a:p>
            <a:pPr indent="0" marL="0">
              <a:buNone/>
            </a:pPr>
            <a:r>
              <a:rPr lang="en-US" sz="1100" i="1" dirty="0">
                <a:solidFill>
                  <a:srgbClr val="5A6472"/>
                </a:solidFill>
                <a:latin typeface="Calibri" pitchFamily="34" charset="0"/>
                <a:cs typeface="Amiri" pitchFamily="2" charset="-78"/>
              </a:rPr>
              <a:t>fi n-ni-hā-ya</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F4 key language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أَدْرُسُ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study</a:t>
            </a:r>
            <a:endParaRPr lang="en-US" sz="1350" dirty="0"/>
          </a:p>
          <a:p>
            <a:pPr indent="0" marL="0">
              <a:buNone/>
            </a:pPr>
            <a:r>
              <a:rPr lang="en-US" sz="1100" i="1" dirty="0">
                <a:solidFill>
                  <a:srgbClr val="5A6472"/>
                </a:solidFill>
                <a:latin typeface="Calibri" pitchFamily="34" charset="0"/>
                <a:cs typeface="Amiri" pitchFamily="2" charset="-78"/>
              </a:rPr>
              <a:t>ad-ru-su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مَادَّتِي المُفَضَّلَةُ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favourite subject</a:t>
            </a:r>
            <a:endParaRPr lang="en-US" sz="1350" dirty="0"/>
          </a:p>
          <a:p>
            <a:pPr indent="0" marL="0">
              <a:buNone/>
            </a:pPr>
            <a:r>
              <a:rPr lang="en-US" sz="1100" i="1" dirty="0">
                <a:solidFill>
                  <a:srgbClr val="5A6472"/>
                </a:solidFill>
                <a:latin typeface="Calibri" pitchFamily="34" charset="0"/>
                <a:cs typeface="Amiri" pitchFamily="2" charset="-78"/>
              </a:rPr>
              <a:t>mād-da-tī al-mu-faḍ-ḍa-la-tu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must</a:t>
            </a:r>
            <a:endParaRPr lang="en-US" sz="1350" dirty="0"/>
          </a:p>
          <a:p>
            <a:pPr indent="0" marL="0">
              <a:buNone/>
            </a:pPr>
            <a:r>
              <a:rPr lang="en-US" sz="1100" i="1" dirty="0">
                <a:solidFill>
                  <a:srgbClr val="5A6472"/>
                </a:solidFill>
                <a:latin typeface="Calibri" pitchFamily="34" charset="0"/>
                <a:cs typeface="Amiri" pitchFamily="2" charset="-78"/>
              </a:rPr>
              <a:t>ya-ji-bu 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السَّاعَةِ …</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 o’clock</a:t>
            </a:r>
            <a:endParaRPr lang="en-US" sz="1350" dirty="0"/>
          </a:p>
          <a:p>
            <a:pPr indent="0" marL="0">
              <a:buNone/>
            </a:pPr>
            <a:r>
              <a:rPr lang="en-US" sz="1100" i="1" dirty="0">
                <a:solidFill>
                  <a:srgbClr val="5A6472"/>
                </a:solidFill>
                <a:latin typeface="Calibri" pitchFamily="34" charset="0"/>
                <a:cs typeface="Amiri" pitchFamily="2" charset="-78"/>
              </a:rPr>
              <a:t>fī as-sā-ʿa-ti …</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 · حِصَصٌ</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lesson · lessons</a:t>
            </a:r>
            <a:endParaRPr lang="en-US" sz="1350" dirty="0"/>
          </a:p>
          <a:p>
            <a:pPr indent="0" marL="0">
              <a:buNone/>
            </a:pPr>
            <a:r>
              <a:rPr lang="en-US" sz="1100" i="1" dirty="0">
                <a:solidFill>
                  <a:srgbClr val="5A6472"/>
                </a:solidFill>
                <a:latin typeface="Calibri" pitchFamily="34" charset="0"/>
                <a:cs typeface="Amiri" pitchFamily="2" charset="-78"/>
              </a:rPr>
              <a:t>ḥiṣ-ṣa-tun · ḥi-ṣa-ṣun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حَقِيبَتِي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bag</a:t>
            </a:r>
            <a:endParaRPr lang="en-US" sz="1350" dirty="0"/>
          </a:p>
          <a:p>
            <a:pPr indent="0" marL="0">
              <a:buNone/>
            </a:pPr>
            <a:r>
              <a:rPr lang="en-US" sz="1100" i="1" dirty="0">
                <a:solidFill>
                  <a:srgbClr val="5A6472"/>
                </a:solidFill>
                <a:latin typeface="Calibri" pitchFamily="34" charset="0"/>
                <a:cs typeface="Amiri" pitchFamily="2" charset="-78"/>
              </a:rPr>
              <a:t>fī ḥa-qī-ba-tī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open evening chat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يَوْمِ المَدْرَسَةِ المَفْتُوحِ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this school?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رَأْيُكَ فِي هٰذِهِ المَدْرَسَةِ؟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it a lot, because the teachers are kind and the classrooms are modern.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أُحِبُّهَا كَثِيرًا، لِأَنَّ المُعَلِّمِينَ لُطَفَاءُ، وَالصُّفُوفَ حَدِيثَةٌ.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day like here?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يَوْمُكَ هُنَا؟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starts at half past eight, then I have six lessons, and finally I go to science club.</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يَبْدَأُ فِي الثَّامِنَةِ وَالنِّصْفِ، ثُمَّ عِنْدِي سِتُّ حِصَصٍ، وَفِي النِّهَايَةِ أَذْهَبُ إِلَى نَادِي العُلُومِ.</a:t>
            </a:r>
            <a:endParaRPr lang="ar-SA" sz="165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rules?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وَالقَوَاعِدُ؟</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important that we arrive on time, and we must not use phones.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الضَّرُورِيِّ أَنْ نَصِلَ فِي الوَقْتِ، وَلَا يَجُوزُ أَنْ نَسْتَعْمِلَ الهَاتِفَ.</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with YOUR school — and add one more connector to each answer.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وَأَيْضًا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مَادَّتِي المُفَضَّلَةُ … لِأَنَّهُ / لِأَنَّهَا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subject? Why?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مَادَّتُكَ المُفَضَّلَةُ؟ لِمَاذَا؟</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أَعُودُ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تَبْدَأُ فِي … وَتَنْتَهِي 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school start and end?</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تَبْدَأُ المَدْرَسَةُ وَمَتَى تَنْتَهِي؟</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لَيْسَ عِنْدِي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حَقِيبَتِي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bag today?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فِي حَقِيبَتِكَ اليَوْمَ؟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الضَّرُورِيِّ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an important rule?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القَاعِدَةُ المُهِمَّةُ فِي مَدْرَسَتِكَ؟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النِّهَايَةِ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أَوَّلًا … ثُمَّ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school day.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يَوْمَكَ المَدْرَسِيَّ.</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guiding a family at the open evening</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أَسْتَقْبِلُ 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نَدْرُسُ … وَ…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four subjects.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مَسَاءَ الخَيْرِ! مَا المَوَادُّ هُنَا؟</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لِأَنَّهُمْ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a reason.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المُعَلِّمُونَ جَيِّدُونَ؟</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 حِصَصٍ ، تَبْدَأُ فِي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number + a time.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حِصَّةً فِي اليَوْمِ؟</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لَا يَجُوزُ أَنْ … ، لٰكِنَّ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rule + opinion.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أَصْعَبُ قَاعِدَةٍ؟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guide · Leader = a parent visiting with their child.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دَقِيقَةٌ عَنْ مَدْرَسَتِي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Deliver a ONE-MINUTE talk about your school: the school, your day, subjects and reasons, one rule, your opinion. Use at least five connectors.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one sentence for each part.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two sentences per part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 seconds: add </a:t>
            </a:r>
            <a:pPr algn="l" indent="0" marL="0">
              <a:buNone/>
            </a:pPr>
            <a:r>
              <a:rPr lang="ar-SA" altLang="en-US" sz="1500" dirty="0">
                <a:solidFill>
                  <a:srgbClr val="1F2A37"/>
                </a:solidFill>
                <a:latin typeface="Amiri" pitchFamily="2" charset="-78"/>
                <a:ea typeface="Amiri" pitchFamily="2" charset="-78"/>
                <a:cs typeface="Amiri" pitchFamily="2" charset="-78"/>
              </a:rPr>
              <a:t>مِنَ الضَّرُورِيِّ أَنْ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فِي النِّهَايَةِ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important that we listen to the teacher.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الضَّرُورِيِّ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الضَّرُورِيُّ مِنْ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نَسْتَمِعَ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نَسْتَمِعُ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المُعَلِّمِ.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المُعَلِّمَ إِلَى.</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study Arabic, and I also study French.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 العَرَبِيَّةَ،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يَدْرُسُ العَرَبِيَّةَ،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وَأَدْرُسُ الفَرَنْسِيَّةَ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وَأَدْرُسُ فَرَنْسَا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Finally, I go home at four.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النِّهَايَةِ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البِدَايَةِ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أَعُودُ إِلَى البَيْتِ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أَعُودُ البَيْتَ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الرَّابِعَةِ.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أَرْبَعَةٍ.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important that we listen to the teacher.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 الضَّرُورِيِّ أَنْ</a:t>
            </a:r>
            <a:pPr algn="l" indent="0" marL="0">
              <a:buNone/>
            </a:pPr>
            <a:r>
              <a:rPr lang="en-US" sz="1050" i="1" dirty="0">
                <a:solidFill>
                  <a:srgbClr val="5A6472"/>
                </a:solidFill>
                <a:latin typeface="Calibri" pitchFamily="34" charset="0"/>
                <a:cs typeface="Amiri" pitchFamily="2" charset="-78"/>
              </a:rPr>
              <a:t> + verb in -a; listen TO =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الضَّرُورِيِّ أَنْ نَسْتَمِعَ إِلَى المُعَلِّمِ.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study Arabic, and I also study French.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 </a:t>
            </a:r>
            <a:pPr algn="l" indent="0" marL="0">
              <a:buNone/>
            </a:pPr>
            <a:r>
              <a:rPr lang="ar-SA" altLang="en-US" sz="1350" dirty="0">
                <a:solidFill>
                  <a:srgbClr val="5A6472"/>
                </a:solidFill>
                <a:latin typeface="Amiri" pitchFamily="2" charset="-78"/>
                <a:ea typeface="Amiri" pitchFamily="2" charset="-78"/>
                <a:cs typeface="Amiri" pitchFamily="2" charset="-78"/>
              </a:rPr>
              <a:t>أَدْرُسُ</a:t>
            </a:r>
            <a:pPr algn="l" indent="0" marL="0">
              <a:buNone/>
            </a:pPr>
            <a:r>
              <a:rPr lang="en-US" sz="1050" i="1" dirty="0">
                <a:solidFill>
                  <a:srgbClr val="5A6472"/>
                </a:solidFill>
                <a:latin typeface="Calibri" pitchFamily="34" charset="0"/>
                <a:cs typeface="Amiri" pitchFamily="2" charset="-78"/>
              </a:rPr>
              <a:t>; also = </a:t>
            </a:r>
            <a:pPr algn="l" indent="0" marL="0">
              <a:buNone/>
            </a:pPr>
            <a:r>
              <a:rPr lang="ar-SA" altLang="en-US" sz="1350" dirty="0">
                <a:solidFill>
                  <a:srgbClr val="5A6472"/>
                </a:solidFill>
                <a:latin typeface="Amiri" pitchFamily="2" charset="-78"/>
                <a:ea typeface="Amiri" pitchFamily="2" charset="-78"/>
                <a:cs typeface="Amiri" pitchFamily="2" charset="-78"/>
              </a:rPr>
              <a:t>أَيْضًا</a:t>
            </a:r>
            <a:pPr algn="l" indent="0" marL="0">
              <a:buNone/>
            </a:pPr>
            <a:r>
              <a:rPr lang="en-US" sz="1050" i="1" dirty="0">
                <a:solidFill>
                  <a:srgbClr val="5A6472"/>
                </a:solidFill>
                <a:latin typeface="Calibri" pitchFamily="34" charset="0"/>
                <a:cs typeface="Amiri" pitchFamily="2" charset="-78"/>
              </a:rPr>
              <a:t> at the end.</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أَدْرُسُ العَرَبِيَّةَ، وَأَدْرُسُ الفَرَنْسِيَّةَ أَيْضًا.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Finally, I go home at four.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 </a:t>
            </a:r>
            <a:pPr algn="l" indent="0" marL="0">
              <a:buNone/>
            </a:pPr>
            <a:r>
              <a:rPr lang="ar-SA" altLang="en-US" sz="1350" dirty="0">
                <a:solidFill>
                  <a:srgbClr val="5A6472"/>
                </a:solidFill>
                <a:latin typeface="Amiri" pitchFamily="2" charset="-78"/>
                <a:ea typeface="Amiri" pitchFamily="2" charset="-78"/>
                <a:cs typeface="Amiri" pitchFamily="2" charset="-78"/>
              </a:rPr>
              <a:t>فِي النِّهَايَةِ</a:t>
            </a:r>
            <a:pPr algn="l" indent="0" marL="0">
              <a:buNone/>
            </a:pPr>
            <a:r>
              <a:rPr lang="en-US" sz="1050" i="1" dirty="0">
                <a:solidFill>
                  <a:srgbClr val="5A6472"/>
                </a:solidFill>
                <a:latin typeface="Calibri" pitchFamily="34" charset="0"/>
                <a:cs typeface="Amiri" pitchFamily="2" charset="-78"/>
              </a:rPr>
              <a:t>; return TO =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 time = </a:t>
            </a:r>
            <a:pPr algn="l" indent="0" marL="0">
              <a:buNone/>
            </a:pPr>
            <a:r>
              <a:rPr lang="ar-SA" altLang="en-US" sz="1350" dirty="0">
                <a:solidFill>
                  <a:srgbClr val="5A6472"/>
                </a:solidFill>
                <a:latin typeface="Amiri" pitchFamily="2" charset="-78"/>
                <a:ea typeface="Amiri" pitchFamily="2" charset="-78"/>
                <a:cs typeface="Amiri" pitchFamily="2" charset="-78"/>
              </a:rPr>
              <a:t>الرَّابِعَةِ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النِّهَايَةِ أَعُودُ إِلَى البَيْتِ فِي الرَّابِعَةِ.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وَلٰكِنَّ المَدْرَسَةُ كَبِيرَةٌ.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لٰكِنَّ</a:t>
            </a:r>
            <a:pPr algn="l" indent="0" marL="0">
              <a:buNone/>
            </a:pPr>
            <a:r>
              <a:rPr lang="en-US" sz="1300" i="1" dirty="0">
                <a:solidFill>
                  <a:srgbClr val="5A6472"/>
                </a:solidFill>
                <a:latin typeface="Calibri" pitchFamily="34" charset="0"/>
                <a:cs typeface="Amiri" pitchFamily="2" charset="-78"/>
              </a:rPr>
              <a:t> the noun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ثُمَّ ثُمَّ ثُمَّ …</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Vary your connectors.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الفَنَّ لِأَنَّهَا إِبْدَاعِيَّةٌ.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الفَنُّ</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وَلٰكِنَّ المَدْرَسَةُ كَبِيرَةٌ.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وَلٰكِنَّ المَدْرَسَةَ كَبِيرَةٌ.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لٰكِنَّ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ثُمَّ ثُمَّ ثُمَّ …</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أَوَّلًا … ثُمَّ … بَعْدَ ذٰلِكَ … فِي النِّهَايَةِ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Varied connectors make a stronger talk and text.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الفَنَّ لِأَنَّهَا إِبْدَاعِيَّةٌ.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الفَنَّ لِأَنَّهُ إِبْدَاعِيٌّ.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subject → </a:t>
            </a:r>
            <a:pPr algn="l" indent="0" marL="0">
              <a:buNone/>
            </a:pPr>
            <a:r>
              <a:rPr lang="ar-SA" altLang="en-US" sz="1500" b="1" dirty="0">
                <a:solidFill>
                  <a:srgbClr val="1B3B6F"/>
                </a:solidFill>
                <a:latin typeface="Amiri" pitchFamily="2" charset="-78"/>
                <a:ea typeface="Amiri" pitchFamily="2" charset="-78"/>
                <a:cs typeface="Amiri" pitchFamily="2" charset="-78"/>
              </a:rPr>
              <a:t>لِأَنَّهُ إِبْدَاعِيٌّ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كَثِيرًا، وَلٰكِنَّ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 much,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فِي ______ ، وَهِيَ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at …; it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يَوْمِي فِي ______ ، ثُمَّ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day starts at …, then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 لِأَنَّهَا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الضَّرُورِيِّ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important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ثُمَّ · بَعْدَ ذٰلِكَ  ·  أَيْضًا  ·  وَلٰكِنَّ  ·  لِأَنَّهُ · لِأَنَّهَا  ·  مِنَ الضَّرُورِيِّ أَنْ  ·  لَا يَجُوزُ أَنْ  ·  فِي النِّهَايَةِ  ·  فِي رَأْيِي</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paragraph about my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فِقْرَةٌ عَنْ مَدْرَسَتِي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Turn your one-minute talk into a connected paragraph of 6–8 sentences (about 55–75 words). Include: • your school • your day (times, sequence) • two subjects with reasons • one rule with </a:t>
            </a:r>
            <a:pPr algn="l" indent="0" marL="0">
              <a:buNone/>
            </a:pPr>
            <a:r>
              <a:rPr lang="ar-SA" altLang="en-US" sz="1500" b="1" dirty="0">
                <a:solidFill>
                  <a:srgbClr val="1F2A37"/>
                </a:solidFill>
                <a:latin typeface="Amiri" pitchFamily="2" charset="-78"/>
                <a:ea typeface="Amiri" pitchFamily="2" charset="-78"/>
                <a:cs typeface="Amiri" pitchFamily="2" charset="-78"/>
              </a:rPr>
              <a:t>مِنَ الضَّرُورِيِّ أَنْ</a:t>
            </a:r>
            <a:pPr algn="l" indent="0" marL="0">
              <a:buNone/>
            </a:pPr>
            <a:r>
              <a:rPr lang="en-US" sz="1150" b="1" dirty="0">
                <a:solidFill>
                  <a:srgbClr val="1F2A37"/>
                </a:solidFill>
                <a:latin typeface="Calibri" pitchFamily="34" charset="0"/>
                <a:cs typeface="Amiri" pitchFamily="2" charset="-78"/>
              </a:rPr>
              <a:t> or </a:t>
            </a:r>
            <a:pPr algn="l" indent="0" marL="0">
              <a:buNone/>
            </a:pPr>
            <a:r>
              <a:rPr lang="ar-SA" altLang="en-US" sz="1500" b="1" dirty="0">
                <a:solidFill>
                  <a:srgbClr val="1F2A37"/>
                </a:solidFill>
                <a:latin typeface="Amiri" pitchFamily="2" charset="-78"/>
                <a:ea typeface="Amiri" pitchFamily="2" charset="-78"/>
                <a:cs typeface="Amiri" pitchFamily="2" charset="-78"/>
              </a:rPr>
              <a:t>لَا يَجُوزُ أَنْ</a:t>
            </a:r>
            <a:pPr algn="l" indent="0" marL="0">
              <a:buNone/>
            </a:pPr>
            <a:r>
              <a:rPr lang="en-US" sz="1150" b="1" dirty="0">
                <a:solidFill>
                  <a:srgbClr val="1F2A37"/>
                </a:solidFill>
                <a:latin typeface="Calibri" pitchFamily="34" charset="0"/>
                <a:cs typeface="Amiri" pitchFamily="2" charset="-78"/>
              </a:rPr>
              <a:t> • your opinion. Then improve ONE sentence with your buddy.</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فِي … ، وَهِيَ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study at …; it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يَوْمِي فِي … ، ثُمَّ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day starts at …, then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الضَّرُورِيِّ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important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finally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6–8 connected sentences covering every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five different connectors?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مَسَاءَ النُّورِ! نَدْرُسُ الرِّيَاضِيَّاتِ وَالعُلُومَ وَالعَرَبِيَّةَ وَالفَنَّ.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evening! We study maths, science, Arabic and art.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مَسَاءَ الخَيْرِ! مَا المَوَادُّ هُنَا؟</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لِأَنَّهُمْ لُطَفَاءُ وَيَشْرَحُونَ بِوُضُوحٍ.</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because they are kind and explain clearly.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المُعَلِّمُونَ جَيِّدُونَ؟</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 حِصَصٍ، وَالحِصَّةُ الأُولَى تَبْدَأُ فِي الثَّامِنَةِ وَالنِّصْفِ.</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Six lessons, and the first starts at half past eight.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حِصَّةً فِي اليَوْمِ؟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يَجُوزُ أَنْ نَأْكُلَ فِي الصَّفِّ، لٰكِنَّ هٰذِهِ القَاعِدَةَ مُهِمَّةٌ.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not eat in class, but this rule is important.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أَصْعَبُ قَاعِدَةٍ؟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أَدْرُسُ فِي مَدْرَسَةِ الأَمَلِ فِي بِرْمِنْغْهَامَ، وَهِيَ صَغِيرَةٌ وَهَادِئَةٌ. يَبْدَأُ يَوْمِي فِي الثَّامِنَةِ وَالرُّبْعِ، ثُمَّ عِنْدِي خَمْسُ حِصَصٍ. أُحِبُّ التَّارِيخَ لِأَنَّهُ مُثِيرٌ لِلِاهْتِمَامِ، وَأُحِبُّ العَرَبِيَّةَ أَيْضًا لِأَنَّهَا جَمِيلَةٌ. لَا أُحِبُّ الرِّيَاضِيَّاتِ كَثِيرًا، وَلٰكِنَّ المُعَلِّمَةَ صَبُورَةٌ. مِنَ الضَّرُورِيِّ أَنْ نَحْتَرِمَ الآخَرِينَ. فِي النِّهَايَةِ، فِي رَأْيِي مَدْرَسَتِي مُمْتَازَةٌ.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study at Al-Amal School in Birmingham; it is small and calm. My day starts at quarter past eight, then I have five lessons. I like history because it is interesting, and I like Arabic too because it is beautiful. I don’t like maths much, but the teacher is patient. It is important that we respect others. Finally, in my opinion my school is excellent.”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ثُمَّ عِنْدِي خَمْسُ حِصَصٍ</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مُثِيرٌ لِلِاهْتِمَامِ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وَلٰكِنَّ المُعَلِّمَةَ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الضَّرُورِيِّ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F4-L12 · Review and Unit Assessment: School Life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 — الحَيَاةُ المَدْرَسِيَّةُ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F4-L11 · Practice Room — Speaking and Writing About School</dc:title>
  <dc:subject>PptxGenJS Presentation</dc:subject>
  <dc:creator>Al Madina Online School · Arabic Department</dc:creator>
  <cp:lastModifiedBy>Al Madina Online School · Arabic Department</cp:lastModifiedBy>
  <cp:revision>1</cp:revision>
  <dcterms:created xsi:type="dcterms:W3CDTF">2026-10-25T17:33:05Z</dcterms:created>
  <dcterms:modified xsi:type="dcterms:W3CDTF">2026-10-25T17:33:05Z</dcterms:modified>
</cp:coreProperties>
</file>