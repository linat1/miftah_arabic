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ROOM AT A GLANCE — one combined lesson (speaking, then writing), 55–60 minutes: about 6 minutes in the main room, about 45 minutes in breakout rooms of two or three, about 6 minutes back together.
0–2 Welcome · 2–5 How the room works · ROOMS, Part A Speaking: Step 1 Word warm-up (5) · Step 2 Say the model dialogue (5) · Step 3 Question cards (7) · Step 4 Role-play card (7) · Step 5 Short talk (4) · Part B Writing: Step 6 Sentence builder (4) · Step 7 Spot and fix (3) · Step 8 Write your text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F4-L07 (A Typical School Day — Narrating a Sequence) — new practice tasks built on the lesson’s own word bank and grammar (“I” verbs (asta- · a- · u-); exact and approximate times (fī al-sāʿati … · ḥawālay …); connectors awwalan · thumma · baʿda dhālika · ʿindamā · fī al-nihāya).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F4-L07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starter column is support, not the answer: students finish it with their OWN information. Coach listens for the key structure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4 (7 min). SUPPORTED: the plan column models the thinking (first words), not the full answer. Everyone is Speaker once. To a girl the Leader says: يَوْمَكِ · تَذْهَبِينَ · تَفْعَلِينَ. Language: a chain of “I” verbs with time words and connectors.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writing). Core: frames for every bullet (25–35 words). Develop: 40–60 words, frames only if stuck. Stretch: no frames, add reasons and another time frame. Teacher visits rooms and reads ONE sentence per student.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(49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F4  ·  F4-L07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F4-L07</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Practice Room — A Typical School Day — Narrating a Sequence</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يَوْمٌ مَدْرَسِيٌّ</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300" dirty="0">
                <a:solidFill>
                  <a:srgbClr val="C6D2E6"/>
                </a:solidFill>
                <a:latin typeface="Calibri" pitchFamily="34" charset="0"/>
                <a:cs typeface="Amiri" pitchFamily="2" charset="-78"/>
              </a:rPr>
              <a:t>Students run their own speaking and writing practice narrating a school day: say the action verbs, act a short dialogue, answer question cards, do a role-play card describing your day to a visiting student, give a 30-second narrative, then build, fix and write their typical school day in order.</a:t>
            </a:r>
            <a:endParaRPr lang="en-US" sz="13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F4-L07 · Foundation F4 · My School</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F4 › F4-L07</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F4-L07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F4-L07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F4-L07 · Speaking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F4-L07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word warm-up · say the model 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question cards · role-play card · short talk.</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sentence builder · spot and fix.</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F4-L07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F4-L07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opens the next step, keeps the time and reads the questions.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answers in Arabic, in a full sentence. Think for a few seconds, then speak.</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listens,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their OWN text;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F4-L07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WORD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use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قُلْهَا وَاسْتَعْمِلْهَا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F4-L07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Word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word in ENGLISH from the next two slides. The Speaker says it in ARABIC. The Coach checks the Arabic (and the ending)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English words; Speaker answers in Arabic.</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word on the slide.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words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each word in a short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a:t>
            </a:r>
            <a:pPr algn="l" indent="0" marL="0">
              <a:buNone/>
            </a:pPr>
            <a:r>
              <a:rPr lang="ar-SA" altLang="en-US" sz="1500" dirty="0">
                <a:solidFill>
                  <a:srgbClr val="1F2A37"/>
                </a:solidFill>
                <a:latin typeface="Amiri" pitchFamily="2" charset="-78"/>
                <a:ea typeface="Amiri" pitchFamily="2" charset="-78"/>
                <a:cs typeface="Amiri" pitchFamily="2" charset="-78"/>
              </a:rPr>
              <a:t>أَنَا … / عِنْدِي … / هٰذَا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the feminine or plural form too, then a sentence with two words.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F4-L07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Morning and school</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F4-L07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أَسْتَيْقِظُ</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wake up</a:t>
            </a:r>
            <a:endParaRPr lang="en-US" sz="1350" dirty="0"/>
          </a:p>
          <a:p>
            <a:pPr indent="0" marL="0">
              <a:buNone/>
            </a:pPr>
            <a:r>
              <a:rPr lang="en-US" sz="1100" i="1" dirty="0">
                <a:solidFill>
                  <a:srgbClr val="5A6472"/>
                </a:solidFill>
                <a:latin typeface="Calibri" pitchFamily="34" charset="0"/>
                <a:cs typeface="Amiri" pitchFamily="2" charset="-78"/>
              </a:rPr>
              <a:t>as-tay-qi-ẓu</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7" name="Shape 24"/>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28" name="Text 25"/>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a:t>
            </a:r>
            <a:endParaRPr lang="en-US" sz="800" dirty="0"/>
          </a:p>
        </p:txBody>
      </p:sp>
      <p:sp>
        <p:nvSpPr>
          <p:cNvPr id="29" name="Shape 26"/>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1" name="Text 28"/>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أَتَنَاوَلُ الْفُطُورَ</a:t>
            </a:r>
            <a:endParaRPr lang="ar-SA" sz="3000" dirty="0"/>
          </a:p>
        </p:txBody>
      </p:sp>
      <p:sp>
        <p:nvSpPr>
          <p:cNvPr id="32" name="Text 29"/>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have breakfast</a:t>
            </a:r>
            <a:endParaRPr lang="en-US" sz="1350" dirty="0"/>
          </a:p>
          <a:p>
            <a:pPr indent="0" marL="0">
              <a:buNone/>
            </a:pPr>
            <a:r>
              <a:rPr lang="en-US" sz="1100" i="1" dirty="0">
                <a:solidFill>
                  <a:srgbClr val="5A6472"/>
                </a:solidFill>
                <a:latin typeface="Calibri" pitchFamily="34" charset="0"/>
                <a:cs typeface="Amiri" pitchFamily="2" charset="-78"/>
              </a:rPr>
              <a:t>a-ta-nā-wa-lu l-fu-ṭūr</a:t>
            </a:r>
            <a:endParaRPr lang="en-US" sz="1350" dirty="0"/>
          </a:p>
        </p:txBody>
      </p:sp>
      <p:sp>
        <p:nvSpPr>
          <p:cNvPr id="33" name="Shape 30"/>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566928"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6" name="Shape 33"/>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ilā</a:t>
            </a:r>
            <a:endParaRPr lang="en-US" sz="800" dirty="0"/>
          </a:p>
        </p:txBody>
      </p:sp>
      <p:sp>
        <p:nvSpPr>
          <p:cNvPr id="38" name="Shape 35"/>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أَذْهَبُ إِلَى الْمَدْرَسَةِ</a:t>
            </a:r>
            <a:endParaRPr lang="ar-SA" sz="3000" dirty="0"/>
          </a:p>
        </p:txBody>
      </p:sp>
      <p:sp>
        <p:nvSpPr>
          <p:cNvPr id="41" name="Text 3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go to school</a:t>
            </a:r>
            <a:endParaRPr lang="en-US" sz="1350" dirty="0"/>
          </a:p>
          <a:p>
            <a:pPr indent="0" marL="0">
              <a:buNone/>
            </a:pPr>
            <a:r>
              <a:rPr lang="en-US" sz="1100" i="1" dirty="0">
                <a:solidFill>
                  <a:srgbClr val="5A6472"/>
                </a:solidFill>
                <a:latin typeface="Calibri" pitchFamily="34" charset="0"/>
                <a:cs typeface="Amiri" pitchFamily="2" charset="-78"/>
              </a:rPr>
              <a:t>adh-ha-bu i-lā l-mad-ra-sa</a:t>
            </a:r>
            <a:endParaRPr lang="en-US" sz="1350" dirty="0"/>
          </a:p>
        </p:txBody>
      </p:sp>
      <p:sp>
        <p:nvSpPr>
          <p:cNvPr id="42" name="Shape 3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11312"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5" name="Shape 42"/>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46" name="Text 43"/>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ilā</a:t>
            </a:r>
            <a:endParaRPr lang="en-US" sz="800" dirty="0"/>
          </a:p>
        </p:txBody>
      </p:sp>
      <p:sp>
        <p:nvSpPr>
          <p:cNvPr id="47" name="Shape 44"/>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9" name="Text 4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أَصِلُ إِلَى الْمَدْرَسَةِ</a:t>
            </a:r>
            <a:endParaRPr lang="ar-SA" sz="3000" dirty="0"/>
          </a:p>
        </p:txBody>
      </p:sp>
      <p:sp>
        <p:nvSpPr>
          <p:cNvPr id="50" name="Text 4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arrive at school</a:t>
            </a:r>
            <a:endParaRPr lang="en-US" sz="1350" dirty="0"/>
          </a:p>
          <a:p>
            <a:pPr indent="0" marL="0">
              <a:buNone/>
            </a:pPr>
            <a:r>
              <a:rPr lang="en-US" sz="1100" i="1" dirty="0">
                <a:solidFill>
                  <a:srgbClr val="5A6472"/>
                </a:solidFill>
                <a:latin typeface="Calibri" pitchFamily="34" charset="0"/>
                <a:cs typeface="Amiri" pitchFamily="2" charset="-78"/>
              </a:rPr>
              <a:t>a-ṣi-lu i-lā l-mad-ra-sa</a:t>
            </a:r>
            <a:endParaRPr lang="en-US" sz="1350" dirty="0"/>
          </a:p>
        </p:txBody>
      </p:sp>
      <p:sp>
        <p:nvSpPr>
          <p:cNvPr id="51" name="Shape 4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4389120" y="4261104"/>
            <a:ext cx="310896" cy="310896"/>
          </a:xfrm>
          <a:prstGeom prst="ellipse">
            <a:avLst/>
          </a:prstGeom>
          <a:solidFill>
            <a:srgbClr val="F4F1EA"/>
          </a:solidFill>
          <a:ln w="12700">
            <a:solidFill>
              <a:srgbClr val="F4F1EA"/>
            </a:solidFill>
            <a:prstDash val="solid"/>
          </a:ln>
        </p:spPr>
      </p:sp>
      <p:sp>
        <p:nvSpPr>
          <p:cNvPr id="53" name="Text 5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4" name="Shape 51"/>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a:t>
            </a:r>
            <a:endParaRPr lang="en-US" sz="800" dirty="0"/>
          </a:p>
        </p:txBody>
      </p:sp>
      <p:sp>
        <p:nvSpPr>
          <p:cNvPr id="56" name="Shape 5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7" name="Text 5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8" name="Text 5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أَدْخُلُ الْفَصْلَ</a:t>
            </a:r>
            <a:endParaRPr lang="ar-SA" sz="3000" dirty="0"/>
          </a:p>
        </p:txBody>
      </p:sp>
      <p:sp>
        <p:nvSpPr>
          <p:cNvPr id="59" name="Text 5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enter the classroom</a:t>
            </a:r>
            <a:endParaRPr lang="en-US" sz="1350" dirty="0"/>
          </a:p>
          <a:p>
            <a:pPr indent="0" marL="0">
              <a:buNone/>
            </a:pPr>
            <a:r>
              <a:rPr lang="en-US" sz="1100" i="1" dirty="0">
                <a:solidFill>
                  <a:srgbClr val="5A6472"/>
                </a:solidFill>
                <a:latin typeface="Calibri" pitchFamily="34" charset="0"/>
                <a:cs typeface="Amiri" pitchFamily="2" charset="-78"/>
              </a:rPr>
              <a:t>ad-khu-lu l-faṣl</a:t>
            </a:r>
            <a:endParaRPr lang="en-US" sz="1350" dirty="0"/>
          </a:p>
        </p:txBody>
      </p:sp>
      <p:sp>
        <p:nvSpPr>
          <p:cNvPr id="60" name="Shape 5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66928" y="4261104"/>
            <a:ext cx="310896" cy="310896"/>
          </a:xfrm>
          <a:prstGeom prst="ellipse">
            <a:avLst/>
          </a:prstGeom>
          <a:solidFill>
            <a:srgbClr val="F4F1EA"/>
          </a:solidFill>
          <a:ln w="12700">
            <a:solidFill>
              <a:srgbClr val="F4F1EA"/>
            </a:solidFill>
            <a:prstDash val="solid"/>
          </a:ln>
        </p:spPr>
      </p:sp>
      <p:sp>
        <p:nvSpPr>
          <p:cNvPr id="62" name="Text 5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63" name="Shape 60"/>
          <p:cNvSpPr/>
          <p:nvPr/>
        </p:nvSpPr>
        <p:spPr>
          <a:xfrm>
            <a:off x="960120" y="4279392"/>
            <a:ext cx="704088" cy="256032"/>
          </a:xfrm>
          <a:prstGeom prst="roundRect">
            <a:avLst>
              <a:gd name="adj" fmla="val 50000"/>
            </a:avLst>
          </a:prstGeom>
          <a:solidFill>
            <a:srgbClr val="EFE7D2"/>
          </a:solidFill>
          <a:ln w="12700">
            <a:solidFill>
              <a:srgbClr val="EFE7D2"/>
            </a:solidFill>
            <a:prstDash val="solid"/>
          </a:ln>
        </p:spPr>
      </p:sp>
      <p:sp>
        <p:nvSpPr>
          <p:cNvPr id="64" name="Text 61"/>
          <p:cNvSpPr txBox="1"/>
          <p:nvPr/>
        </p:nvSpPr>
        <p:spPr>
          <a:xfrm>
            <a:off x="960120"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fī</a:t>
            </a:r>
            <a:endParaRPr lang="en-US" sz="800" dirty="0"/>
          </a:p>
        </p:txBody>
      </p:sp>
      <p:sp>
        <p:nvSpPr>
          <p:cNvPr id="65" name="Text 6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أَجْلِسُ فِي مَكَانِي</a:t>
            </a:r>
            <a:endParaRPr lang="ar-SA" sz="3000" dirty="0"/>
          </a:p>
        </p:txBody>
      </p:sp>
      <p:sp>
        <p:nvSpPr>
          <p:cNvPr id="66" name="Text 6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sit in my place</a:t>
            </a:r>
            <a:endParaRPr lang="en-US" sz="1350" dirty="0"/>
          </a:p>
          <a:p>
            <a:pPr indent="0" marL="0">
              <a:buNone/>
            </a:pPr>
            <a:r>
              <a:rPr lang="en-US" sz="1100" i="1" dirty="0">
                <a:solidFill>
                  <a:srgbClr val="5A6472"/>
                </a:solidFill>
                <a:latin typeface="Calibri" pitchFamily="34" charset="0"/>
                <a:cs typeface="Amiri" pitchFamily="2" charset="-78"/>
              </a:rPr>
              <a:t>aj-li-su fī ma-kā-nī</a:t>
            </a:r>
            <a:endParaRPr lang="en-US" sz="13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F4-L07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Lunch, afternoon and home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F4-L07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ma‘a</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أَتَحَدَّثُ مَعَ زُمَلَائِي</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talk with my classmates</a:t>
            </a:r>
            <a:endParaRPr lang="en-US" sz="1350" dirty="0"/>
          </a:p>
          <a:p>
            <a:pPr indent="0" marL="0">
              <a:buNone/>
            </a:pPr>
            <a:r>
              <a:rPr lang="en-US" sz="1100" i="1" dirty="0">
                <a:solidFill>
                  <a:srgbClr val="5A6472"/>
                </a:solidFill>
                <a:latin typeface="Calibri" pitchFamily="34" charset="0"/>
                <a:cs typeface="Amiri" pitchFamily="2" charset="-78"/>
              </a:rPr>
              <a:t>a-ta-ḥad-da-thu ma-‘a zu-ma-lā-’ī</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5" name="Shape 22"/>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26" name="Text 23"/>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fī</a:t>
            </a:r>
            <a:endParaRPr lang="en-US" sz="800" dirty="0"/>
          </a:p>
        </p:txBody>
      </p:sp>
      <p:sp>
        <p:nvSpPr>
          <p:cNvPr id="27" name="Shape 24"/>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9" name="Text 26"/>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آكُلُ فِي الْمَقْصَفِ</a:t>
            </a:r>
            <a:endParaRPr lang="ar-SA" sz="3000" dirty="0"/>
          </a:p>
        </p:txBody>
      </p:sp>
      <p:sp>
        <p:nvSpPr>
          <p:cNvPr id="30" name="Text 27"/>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eat in the canteen</a:t>
            </a:r>
            <a:endParaRPr lang="en-US" sz="1350" dirty="0"/>
          </a:p>
          <a:p>
            <a:pPr indent="0" marL="0">
              <a:buNone/>
            </a:pPr>
            <a:r>
              <a:rPr lang="en-US" sz="1100" i="1" dirty="0">
                <a:solidFill>
                  <a:srgbClr val="5A6472"/>
                </a:solidFill>
                <a:latin typeface="Calibri" pitchFamily="34" charset="0"/>
                <a:cs typeface="Amiri" pitchFamily="2" charset="-78"/>
              </a:rPr>
              <a:t>ā-ku-lu fī l-maq-ṣaf</a:t>
            </a:r>
            <a:endParaRPr lang="en-US" sz="135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4" name="Shape 31"/>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35" name="Text 32"/>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fī</a:t>
            </a:r>
            <a:endParaRPr lang="en-US" sz="800" dirty="0"/>
          </a:p>
        </p:txBody>
      </p:sp>
      <p:sp>
        <p:nvSpPr>
          <p:cNvPr id="36" name="Shape 33"/>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7" name="Text 34"/>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8" name="Text 35"/>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أَلْعَبُ فِي الْمَلْعَبِ</a:t>
            </a:r>
            <a:endParaRPr lang="ar-SA" sz="3000" dirty="0"/>
          </a:p>
        </p:txBody>
      </p:sp>
      <p:sp>
        <p:nvSpPr>
          <p:cNvPr id="39" name="Text 36"/>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play in the playground</a:t>
            </a:r>
            <a:endParaRPr lang="en-US" sz="1350" dirty="0"/>
          </a:p>
          <a:p>
            <a:pPr indent="0" marL="0">
              <a:buNone/>
            </a:pPr>
            <a:r>
              <a:rPr lang="en-US" sz="1100" i="1" dirty="0">
                <a:solidFill>
                  <a:srgbClr val="5A6472"/>
                </a:solidFill>
                <a:latin typeface="Calibri" pitchFamily="34" charset="0"/>
                <a:cs typeface="Amiri" pitchFamily="2" charset="-78"/>
              </a:rPr>
              <a:t>al-‘a-bu fī l-mal-‘ab</a:t>
            </a:r>
            <a:endParaRPr lang="en-US" sz="1350" dirty="0"/>
          </a:p>
        </p:txBody>
      </p:sp>
      <p:sp>
        <p:nvSpPr>
          <p:cNvPr id="40" name="Shape 3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8211312" y="4261104"/>
            <a:ext cx="310896" cy="310896"/>
          </a:xfrm>
          <a:prstGeom prst="ellipse">
            <a:avLst/>
          </a:prstGeom>
          <a:solidFill>
            <a:srgbClr val="F4F1EA"/>
          </a:solidFill>
          <a:ln w="12700">
            <a:solidFill>
              <a:srgbClr val="F4F1EA"/>
            </a:solidFill>
            <a:prstDash val="solid"/>
          </a:ln>
        </p:spPr>
      </p:sp>
      <p:sp>
        <p:nvSpPr>
          <p:cNvPr id="42" name="Text 3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43" name="Shape 40"/>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44" name="Text 41"/>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ilā</a:t>
            </a:r>
            <a:endParaRPr lang="en-US" sz="800" dirty="0"/>
          </a:p>
        </p:txBody>
      </p:sp>
      <p:sp>
        <p:nvSpPr>
          <p:cNvPr id="45" name="Shape 42"/>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6" name="Text 43"/>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7" name="Text 4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أَعُودُ إِلَى الْبَيْتِ</a:t>
            </a:r>
            <a:endParaRPr lang="ar-SA" sz="3000" dirty="0"/>
          </a:p>
        </p:txBody>
      </p:sp>
      <p:sp>
        <p:nvSpPr>
          <p:cNvPr id="48" name="Text 4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return home</a:t>
            </a:r>
            <a:endParaRPr lang="en-US" sz="1350" dirty="0"/>
          </a:p>
          <a:p>
            <a:pPr indent="0" marL="0">
              <a:buNone/>
            </a:pPr>
            <a:r>
              <a:rPr lang="en-US" sz="1100" i="1" dirty="0">
                <a:solidFill>
                  <a:srgbClr val="5A6472"/>
                </a:solidFill>
                <a:latin typeface="Calibri" pitchFamily="34" charset="0"/>
                <a:cs typeface="Amiri" pitchFamily="2" charset="-78"/>
              </a:rPr>
              <a:t>a-‘ū-du i-lā l-bayt</a:t>
            </a:r>
            <a:endParaRPr lang="en-US" sz="1350" dirty="0"/>
          </a:p>
        </p:txBody>
      </p:sp>
      <p:sp>
        <p:nvSpPr>
          <p:cNvPr id="49" name="Shape 46"/>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0" name="Shape 47"/>
          <p:cNvSpPr/>
          <p:nvPr/>
        </p:nvSpPr>
        <p:spPr>
          <a:xfrm>
            <a:off x="4389120" y="4261104"/>
            <a:ext cx="310896" cy="310896"/>
          </a:xfrm>
          <a:prstGeom prst="ellipse">
            <a:avLst/>
          </a:prstGeom>
          <a:solidFill>
            <a:srgbClr val="F4F1EA"/>
          </a:solidFill>
          <a:ln w="12700">
            <a:solidFill>
              <a:srgbClr val="F4F1EA"/>
            </a:solidFill>
            <a:prstDash val="solid"/>
          </a:ln>
        </p:spPr>
      </p:sp>
      <p:sp>
        <p:nvSpPr>
          <p:cNvPr id="51" name="Text 48"/>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52" name="Shape 49"/>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53" name="Text 50"/>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a:t>
            </a:r>
            <a:endParaRPr lang="en-US" sz="800" dirty="0"/>
          </a:p>
        </p:txBody>
      </p:sp>
      <p:sp>
        <p:nvSpPr>
          <p:cNvPr id="54" name="Shape 51"/>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5" name="Text 52"/>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6" name="Text 53"/>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أُكْمِلُ وَاجِبِي الْمَنْزِلِيَّ</a:t>
            </a:r>
            <a:endParaRPr lang="ar-SA" sz="3000" dirty="0"/>
          </a:p>
        </p:txBody>
      </p:sp>
      <p:sp>
        <p:nvSpPr>
          <p:cNvPr id="57" name="Text 54"/>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complete my homework</a:t>
            </a:r>
            <a:endParaRPr lang="en-US" sz="1350" dirty="0"/>
          </a:p>
          <a:p>
            <a:pPr indent="0" marL="0">
              <a:buNone/>
            </a:pPr>
            <a:r>
              <a:rPr lang="en-US" sz="1100" i="1" dirty="0">
                <a:solidFill>
                  <a:srgbClr val="5A6472"/>
                </a:solidFill>
                <a:latin typeface="Calibri" pitchFamily="34" charset="0"/>
                <a:cs typeface="Amiri" pitchFamily="2" charset="-78"/>
              </a:rPr>
              <a:t>uk-mi-lu wā-ji-bī l-man-zi-liyy</a:t>
            </a:r>
            <a:endParaRPr lang="en-US" sz="1350" dirty="0"/>
          </a:p>
        </p:txBody>
      </p:sp>
      <p:sp>
        <p:nvSpPr>
          <p:cNvPr id="58" name="Shape 55"/>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9" name="Shape 56"/>
          <p:cNvSpPr/>
          <p:nvPr/>
        </p:nvSpPr>
        <p:spPr>
          <a:xfrm>
            <a:off x="566928" y="4261104"/>
            <a:ext cx="310896" cy="310896"/>
          </a:xfrm>
          <a:prstGeom prst="ellipse">
            <a:avLst/>
          </a:prstGeom>
          <a:solidFill>
            <a:srgbClr val="F4F1EA"/>
          </a:solidFill>
          <a:ln w="12700">
            <a:solidFill>
              <a:srgbClr val="F4F1EA"/>
            </a:solidFill>
            <a:prstDash val="solid"/>
          </a:ln>
        </p:spPr>
      </p:sp>
      <p:sp>
        <p:nvSpPr>
          <p:cNvPr id="60" name="Text 57"/>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61" name="Shape 58"/>
          <p:cNvSpPr/>
          <p:nvPr/>
        </p:nvSpPr>
        <p:spPr>
          <a:xfrm>
            <a:off x="960120" y="4279392"/>
            <a:ext cx="704088" cy="256032"/>
          </a:xfrm>
          <a:prstGeom prst="roundRect">
            <a:avLst>
              <a:gd name="adj" fmla="val 50000"/>
            </a:avLst>
          </a:prstGeom>
          <a:solidFill>
            <a:srgbClr val="EFE7D2"/>
          </a:solidFill>
          <a:ln w="12700">
            <a:solidFill>
              <a:srgbClr val="EFE7D2"/>
            </a:solidFill>
            <a:prstDash val="solid"/>
          </a:ln>
        </p:spPr>
      </p:sp>
      <p:sp>
        <p:nvSpPr>
          <p:cNvPr id="62" name="Text 59"/>
          <p:cNvSpPr txBox="1"/>
          <p:nvPr/>
        </p:nvSpPr>
        <p:spPr>
          <a:xfrm>
            <a:off x="960120"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a:t>
            </a:r>
            <a:endParaRPr lang="en-US" sz="800" dirty="0"/>
          </a:p>
        </p:txBody>
      </p:sp>
      <p:sp>
        <p:nvSpPr>
          <p:cNvPr id="63" name="Text 60"/>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أَسْتَرِيحُ</a:t>
            </a:r>
            <a:endParaRPr lang="ar-SA" sz="3000" dirty="0"/>
          </a:p>
        </p:txBody>
      </p:sp>
      <p:sp>
        <p:nvSpPr>
          <p:cNvPr id="64" name="Text 61"/>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rest</a:t>
            </a:r>
            <a:endParaRPr lang="en-US" sz="1350" dirty="0"/>
          </a:p>
          <a:p>
            <a:pPr indent="0" marL="0">
              <a:buNone/>
            </a:pPr>
            <a:r>
              <a:rPr lang="en-US" sz="1100" i="1" dirty="0">
                <a:solidFill>
                  <a:srgbClr val="5A6472"/>
                </a:solidFill>
                <a:latin typeface="Calibri" pitchFamily="34" charset="0"/>
                <a:cs typeface="Amiri" pitchFamily="2" charset="-78"/>
              </a:rPr>
              <a:t>as-ta-rī-ḥu</a:t>
            </a:r>
            <a:endParaRPr lang="en-US" sz="1350" dirty="0"/>
          </a:p>
        </p:txBody>
      </p:sp>
      <p:sp>
        <p:nvSpPr>
          <p:cNvPr id="65" name="Text 6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F4-L07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MODEL 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do you do at school?</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مَاذَا تَفْعَلُ فِي المَدْرَسَةِ؟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F4-L07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 you do when you arrive at school?</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مَاذَا تَفْعَلُ عِنْدَمَا تَصِلُ إِلَى المَدْرَسَةِ؟</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First I enter the classroom, then I sit in my place.</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أَوَّلًا أَدْخُلُ الفَصْلَ، ثُمَّ أَجْلِسُ فِي مَكَانِي.</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where do you eat lunch?</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وَأَيْنَ تَأْكُلُ الغَدَاءَ؟</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eat in the canteen at about half past twelve.</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آكُلُ فِي المَقْصَفِ حَوَالَيِ السَّاعَةِ الثَّانِيَةَ عَشْرَةَ وَالنِّصْفِ.</a:t>
            </a:r>
            <a:endParaRPr lang="ar-SA" sz="20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after lunch?</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وَبَعْدَ الغَدَاءِ؟</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After that I play in the playground with my classmates, then we go back to class.</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بَعْدَ ذٰلِكَ أَلْعَبُ فِي المَلْعَبِ مَعَ زُمَلَائِي، ثُمَّ نَرْجِعُ إِلَى الصَّفِّ.</a:t>
            </a:r>
            <a:endParaRPr lang="ar-SA" sz="20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Round 1: read it in pairs. Round 2: swap letters. Round 3: tell YOUR real day — and add one time to every answer.</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F4-L07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QUESTION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Answer in a full sentence — then add more</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F4-L07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38360" y="2267712"/>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ثُمَّ أَتَنَاوَلُ الفُطُورَ</a:t>
            </a:r>
            <a:endParaRPr lang="ar-SA" sz="15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أَسْتَيْقِظُ فِي السَّاعَةِ …</a:t>
            </a:r>
            <a:endParaRPr lang="ar-SA" sz="1600" dirty="0"/>
          </a:p>
        </p:txBody>
      </p:sp>
      <p:sp>
        <p:nvSpPr>
          <p:cNvPr id="24" name="Text 21"/>
          <p:cNvSpPr txBox="1"/>
          <p:nvPr/>
        </p:nvSpPr>
        <p:spPr>
          <a:xfrm>
            <a:off x="463600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When do you wake up?</a:t>
            </a:r>
            <a:endParaRPr lang="en-US" sz="1100" dirty="0"/>
          </a:p>
        </p:txBody>
      </p:sp>
      <p:sp>
        <p:nvSpPr>
          <p:cNvPr id="25" name="Text 22"/>
          <p:cNvSpPr txBox="1"/>
          <p:nvPr/>
        </p:nvSpPr>
        <p:spPr>
          <a:xfrm>
            <a:off x="1051560" y="2267712"/>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مَتَى تَسْتَيْقِظُ؟</a:t>
            </a:r>
            <a:endParaRPr lang="ar-SA" sz="17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38360" y="300471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وَأَصِلُ حَوَالَيِ …</a:t>
            </a:r>
            <a:endParaRPr lang="ar-SA" sz="15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lnSpc>
                <a:spcPct val="120000"/>
              </a:lnSpc>
              <a:buNone/>
            </a:pPr>
            <a:r>
              <a:rPr lang="ar-SA" altLang="en-US" sz="1500" b="1" dirty="0">
                <a:solidFill>
                  <a:srgbClr val="1B3B6F"/>
                </a:solidFill>
                <a:latin typeface="Amiri" pitchFamily="2" charset="-78"/>
                <a:ea typeface="Amiri" pitchFamily="2" charset="-78"/>
                <a:cs typeface="Amiri" pitchFamily="2" charset="-78"/>
              </a:rPr>
              <a:t>أَذْهَبُ بِالحَافِلَةِ / بِالسَّيَّارَةِ / مَشْيًا …</a:t>
            </a:r>
            <a:endParaRPr lang="ar-SA" sz="1500" dirty="0"/>
          </a:p>
        </p:txBody>
      </p:sp>
      <p:sp>
        <p:nvSpPr>
          <p:cNvPr id="32" name="Text 29"/>
          <p:cNvSpPr txBox="1"/>
          <p:nvPr/>
        </p:nvSpPr>
        <p:spPr>
          <a:xfrm>
            <a:off x="463600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do you go to school?</a:t>
            </a:r>
            <a:endParaRPr lang="en-US" sz="1100" dirty="0"/>
          </a:p>
        </p:txBody>
      </p:sp>
      <p:sp>
        <p:nvSpPr>
          <p:cNvPr id="33" name="Text 30"/>
          <p:cNvSpPr txBox="1"/>
          <p:nvPr/>
        </p:nvSpPr>
        <p:spPr>
          <a:xfrm>
            <a:off x="1051560" y="300471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تَذْهَبُ إِلَى المَدْرَسَةِ؟</a:t>
            </a:r>
            <a:endParaRPr lang="ar-SA" sz="17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38360" y="3741725"/>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وَآكُلُ …</a:t>
            </a:r>
            <a:endParaRPr lang="ar-SA" sz="15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أَتَحَدَّثُ مَعَ … / أَلْعَبُ …</a:t>
            </a:r>
            <a:endParaRPr lang="ar-SA" sz="1600" dirty="0"/>
          </a:p>
        </p:txBody>
      </p:sp>
      <p:sp>
        <p:nvSpPr>
          <p:cNvPr id="40" name="Text 37"/>
          <p:cNvSpPr txBox="1"/>
          <p:nvPr/>
        </p:nvSpPr>
        <p:spPr>
          <a:xfrm>
            <a:off x="463600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 you do at break?</a:t>
            </a:r>
            <a:endParaRPr lang="en-US" sz="1100" dirty="0"/>
          </a:p>
        </p:txBody>
      </p:sp>
      <p:sp>
        <p:nvSpPr>
          <p:cNvPr id="41" name="Text 38"/>
          <p:cNvSpPr txBox="1"/>
          <p:nvPr/>
        </p:nvSpPr>
        <p:spPr>
          <a:xfrm>
            <a:off x="1051560" y="3741725"/>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تَفْعَلُ فِي الاسْتِرَاحَةِ؟</a:t>
            </a:r>
            <a:endParaRPr lang="ar-SA" sz="17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38360" y="4478731"/>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ثُمَّ أَسْتَرِيحُ</a:t>
            </a:r>
            <a:endParaRPr lang="ar-SA" sz="15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أَعُودُ إِلَى البَيْتِ فِي …</a:t>
            </a:r>
            <a:endParaRPr lang="ar-SA" sz="1600" dirty="0"/>
          </a:p>
        </p:txBody>
      </p:sp>
      <p:sp>
        <p:nvSpPr>
          <p:cNvPr id="48" name="Text 45"/>
          <p:cNvSpPr txBox="1"/>
          <p:nvPr/>
        </p:nvSpPr>
        <p:spPr>
          <a:xfrm>
            <a:off x="463600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When do you return home?</a:t>
            </a:r>
            <a:endParaRPr lang="en-US" sz="1100" dirty="0"/>
          </a:p>
        </p:txBody>
      </p:sp>
      <p:sp>
        <p:nvSpPr>
          <p:cNvPr id="49" name="Text 46"/>
          <p:cNvSpPr txBox="1"/>
          <p:nvPr/>
        </p:nvSpPr>
        <p:spPr>
          <a:xfrm>
            <a:off x="1051560" y="4478731"/>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مَتَى تَعُودُ إِلَى البَيْتِ؟</a:t>
            </a:r>
            <a:endParaRPr lang="ar-SA" sz="17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38360" y="521573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وَفِي النِّهَايَةِ …</a:t>
            </a:r>
            <a:endParaRPr lang="ar-SA" sz="15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أُكْمِلُ وَاجِبِي …</a:t>
            </a:r>
            <a:endParaRPr lang="ar-SA" sz="1600" dirty="0"/>
          </a:p>
        </p:txBody>
      </p:sp>
      <p:sp>
        <p:nvSpPr>
          <p:cNvPr id="54" name="Text 51"/>
          <p:cNvSpPr txBox="1"/>
          <p:nvPr/>
        </p:nvSpPr>
        <p:spPr>
          <a:xfrm>
            <a:off x="463600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 you do in the evening?</a:t>
            </a:r>
            <a:endParaRPr lang="en-US" sz="1100" dirty="0"/>
          </a:p>
        </p:txBody>
      </p:sp>
      <p:sp>
        <p:nvSpPr>
          <p:cNvPr id="55" name="Text 52"/>
          <p:cNvSpPr txBox="1"/>
          <p:nvPr/>
        </p:nvSpPr>
        <p:spPr>
          <a:xfrm>
            <a:off x="1051560" y="521573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تَفْعَلُ فِي المَسَاءِ؟</a:t>
            </a:r>
            <a:endParaRPr lang="ar-SA" sz="17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answers every question. Core: a full sentence from the starter. Develop: add the “more” part. Stretch: add a reason with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 second detail. Swap after each question.</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F4-L07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4 · ROLE-PLAY CARD · USE THE PLAN, THEN HIDE IT AND SPEAK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Role-play card — a visiting student asks about your day</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طَالِبٌ زَائِرٌ يَسْأَلُ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F4-L07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75320" y="2267712"/>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مَتَى ← أَسْتَيْقِظُ فِي … ، ثُمَّ …</a:t>
            </a:r>
            <a:endParaRPr lang="ar-SA" sz="16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Wake-up time + first action.</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مَتَى تَبْدَأُ يَوْمَكَ؟</a:t>
            </a:r>
            <a:endParaRPr lang="ar-SA" sz="17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75320" y="3054096"/>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كَيْفَ ← أَذْهَبُ … ، وَأَصِلُ …</a:t>
            </a:r>
            <a:endParaRPr lang="ar-SA" sz="16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Transport + arrival time.</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تَذْهَبُ إِلَى المَدْرَسَةِ؟</a:t>
            </a:r>
            <a:endParaRPr lang="ar-SA" sz="17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75320" y="3840480"/>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 أَوَّلًا … ، ثُمَّ …</a:t>
            </a:r>
            <a:endParaRPr lang="ar-SA" sz="16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Two actions in order.</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تَفْعَلُ فِي وَقْتِ الغَدَاءِ؟</a:t>
            </a:r>
            <a:endParaRPr lang="ar-SA" sz="17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2" name="Text 39"/>
          <p:cNvSpPr txBox="1"/>
          <p:nvPr/>
        </p:nvSpPr>
        <p:spPr>
          <a:xfrm>
            <a:off x="8275320" y="4626864"/>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بَعْدَ ← أَعُودُ … ، وَفِي النِّهَايَةِ …</a:t>
            </a:r>
            <a:endParaRPr lang="ar-SA" sz="1600" dirty="0"/>
          </a:p>
        </p:txBody>
      </p:sp>
      <p:sp>
        <p:nvSpPr>
          <p:cNvPr id="43" name="Text 40"/>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Afternoon + finally.</a:t>
            </a:r>
            <a:endParaRPr lang="en-US" sz="1100" dirty="0"/>
          </a:p>
        </p:txBody>
      </p:sp>
      <p:sp>
        <p:nvSpPr>
          <p:cNvPr id="44" name="Text 41"/>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وَبَعْدَ المَدْرَسَةِ؟</a:t>
            </a:r>
            <a:endParaRPr lang="ar-SA" sz="1700" dirty="0"/>
          </a:p>
        </p:txBody>
      </p:sp>
      <p:sp>
        <p:nvSpPr>
          <p:cNvPr id="45" name="Text 42"/>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Text 45"/>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Speaker = yourself · Leader = a visiting student from Jordan. Read the plan for 1 minute, then hide it and speak. Then swap roles.</a:t>
            </a:r>
            <a:endParaRPr lang="en-US" sz="115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F4-L07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SHORT TALK · 30 SECONDS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30 seconds: my school day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يَوْمِي المَدْرَسِيُّ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F4-L07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30 seconds — no stopping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Narrate your whole school day in 30 seconds — morning to evening — with at least four connectors and three times.</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3–4 key words,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Leader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until everyone has spoken.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Six “I” verbs with </a:t>
            </a:r>
            <a:pPr algn="l" indent="0" marL="0">
              <a:buNone/>
            </a:pPr>
            <a:r>
              <a:rPr lang="ar-SA" altLang="en-US" sz="1500" dirty="0">
                <a:solidFill>
                  <a:srgbClr val="1F2A37"/>
                </a:solidFill>
                <a:latin typeface="Amiri" pitchFamily="2" charset="-78"/>
                <a:ea typeface="Amiri" pitchFamily="2" charset="-78"/>
                <a:cs typeface="Amiri" pitchFamily="2" charset="-78"/>
              </a:rPr>
              <a:t>أَوَّلًا</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ثُمَّ</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times (</a:t>
            </a:r>
            <a:pPr algn="l" indent="0" marL="0">
              <a:buNone/>
            </a:pPr>
            <a:r>
              <a:rPr lang="ar-SA" altLang="en-US" sz="1500" dirty="0">
                <a:solidFill>
                  <a:srgbClr val="1F2A37"/>
                </a:solidFill>
                <a:latin typeface="Amiri" pitchFamily="2" charset="-78"/>
                <a:ea typeface="Amiri" pitchFamily="2" charset="-78"/>
                <a:cs typeface="Amiri" pitchFamily="2" charset="-78"/>
              </a:rPr>
              <a:t>فِي السَّاعَةِ</a:t>
            </a:r>
            <a:pPr algn="l" indent="0" marL="0">
              <a:buNone/>
            </a:pPr>
            <a:r>
              <a:rPr lang="en-US" sz="1150" dirty="0">
                <a:solidFill>
                  <a:srgbClr val="1F2A37"/>
                </a:solidFill>
                <a:latin typeface="Calibri" pitchFamily="34" charset="0"/>
                <a:cs typeface="Amiri" pitchFamily="2" charset="-78"/>
              </a:rPr>
              <a:t> … · </a:t>
            </a:r>
            <a:pPr algn="l" indent="0" marL="0">
              <a:buNone/>
            </a:pPr>
            <a:r>
              <a:rPr lang="ar-SA" altLang="en-US" sz="1500" dirty="0">
                <a:solidFill>
                  <a:srgbClr val="1F2A37"/>
                </a:solidFill>
                <a:latin typeface="Amiri" pitchFamily="2" charset="-78"/>
                <a:ea typeface="Amiri" pitchFamily="2" charset="-78"/>
                <a:cs typeface="Amiri" pitchFamily="2" charset="-78"/>
              </a:rPr>
              <a:t>حَوَالَيِ</a:t>
            </a:r>
            <a:pPr algn="l" indent="0" marL="0">
              <a:buNone/>
            </a:pPr>
            <a:r>
              <a:rPr lang="en-US" sz="1150" dirty="0">
                <a:solidFill>
                  <a:srgbClr val="1F2A37"/>
                </a:solidFill>
                <a:latin typeface="Calibri" pitchFamily="34" charset="0"/>
                <a:cs typeface="Amiri" pitchFamily="2" charset="-78"/>
              </a:rPr>
              <a:t> …) and </a:t>
            </a:r>
            <a:pPr algn="l" indent="0" marL="0">
              <a:buNone/>
            </a:pPr>
            <a:r>
              <a:rPr lang="ar-SA" altLang="en-US" sz="1500" dirty="0">
                <a:solidFill>
                  <a:srgbClr val="1F2A37"/>
                </a:solidFill>
                <a:latin typeface="Amiri" pitchFamily="2" charset="-78"/>
                <a:ea typeface="Amiri" pitchFamily="2" charset="-78"/>
                <a:cs typeface="Amiri" pitchFamily="2" charset="-78"/>
              </a:rPr>
              <a:t>بَعْدَ ذٰلِكَ</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عِنْدَمَا</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what is different on Friday, or a reason (</a:t>
            </a:r>
            <a:pPr algn="l" indent="0" marL="0">
              <a:buNone/>
            </a:pPr>
            <a:r>
              <a:rPr lang="ar-SA" altLang="en-US" sz="1500" dirty="0">
                <a:solidFill>
                  <a:srgbClr val="1F2A37"/>
                </a:solidFill>
                <a:latin typeface="Amiri" pitchFamily="2" charset="-78"/>
                <a:ea typeface="Amiri" pitchFamily="2" charset="-78"/>
                <a:cs typeface="Amiri" pitchFamily="2" charset="-78"/>
              </a:rPr>
              <a:t>لِأَنَّ</a:t>
            </a:r>
            <a:pPr algn="l" indent="0" marL="0">
              <a:buNone/>
            </a:pPr>
            <a:r>
              <a:rPr lang="en-US" sz="1150" dirty="0">
                <a:solidFill>
                  <a:srgbClr val="1F2A37"/>
                </a:solidFill>
                <a:latin typeface="Calibri" pitchFamily="34" charset="0"/>
                <a:cs typeface="Amiri" pitchFamily="2" charset="-78"/>
              </a:rPr>
              <a:t>) for one part of your day.</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أَنَا … وَ…</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am … and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عِنْدِي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have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أُحِبُّ … لِأَنَّ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like … because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وَأَيْضًا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and also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F4-L07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SENTENCE BUILDER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F4-L07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When I arrive at school, I talk with my classmates.</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750" dirty="0">
                <a:solidFill>
                  <a:srgbClr val="1F2A37"/>
                </a:solidFill>
                <a:latin typeface="Amiri" pitchFamily="2" charset="-78"/>
                <a:ea typeface="Amiri" pitchFamily="2" charset="-78"/>
                <a:cs typeface="Amiri" pitchFamily="2" charset="-78"/>
              </a:rPr>
              <a:t>عِنْدَمَا أَصِلُ إِلَى المَدْرَسَةِ،</a:t>
            </a:r>
            <a:endParaRPr lang="ar-SA" sz="175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750" dirty="0">
                <a:solidFill>
                  <a:srgbClr val="1F2A37"/>
                </a:solidFill>
                <a:latin typeface="Amiri" pitchFamily="2" charset="-78"/>
                <a:ea typeface="Amiri" pitchFamily="2" charset="-78"/>
                <a:cs typeface="Amiri" pitchFamily="2" charset="-78"/>
              </a:rPr>
              <a:t>عِنْدَمَا يَصِلُ إِلَى المَدْرَسَةِ،</a:t>
            </a:r>
            <a:endParaRPr lang="ar-SA" sz="175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أَتَحَدَّثُ</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نَتَحَدَّثُ</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مَعَ زُمَلَائِي.</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زُمَلَائِي.</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At about one o’clock I eat in the canteen.</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حَوَالَيِ السَّاعَةِ</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السَّاعَةُ حَوَالَيْ</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الوَاحِدَةِ</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وَاحِدٍ</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آكُلُ فِي المَقْصَفِ.</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أَكَلَ فِي المَقْصَفِ.</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Finally, I rest.</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وَفِي النِّهَايَةِ</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وَفِي البِدَايَةِ</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أَسْتَرِيحُ</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يَسْتَرِيحُ</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algn="l" indent="0" marL="0">
              <a:buNone/>
            </a:pPr>
            <a:r>
              <a:rPr lang="en-US" sz="1800" dirty="0">
                <a:solidFill>
                  <a:srgbClr val="1F2A37"/>
                </a:solidFill>
                <a:latin typeface="Calibri" pitchFamily="34" charset="0"/>
                <a:cs typeface="Amiri" pitchFamily="2" charset="-78"/>
              </a:rPr>
              <a:t>.</a:t>
            </a:r>
            <a:endParaRPr lang="en-US"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أَمْسِ.</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F4-L07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F4-L07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When I arrive at school, I talk with my classmates.</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Both verbs are “I” (a-); talk WITH = </a:t>
            </a:r>
            <a:pPr algn="l" indent="0" marL="0">
              <a:buNone/>
            </a:pPr>
            <a:r>
              <a:rPr lang="ar-SA" altLang="en-US" sz="1350" dirty="0">
                <a:solidFill>
                  <a:srgbClr val="5A6472"/>
                </a:solidFill>
                <a:latin typeface="Amiri" pitchFamily="2" charset="-78"/>
                <a:ea typeface="Amiri" pitchFamily="2" charset="-78"/>
                <a:cs typeface="Amiri" pitchFamily="2" charset="-78"/>
              </a:rPr>
              <a:t>مَعَ</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عِنْدَمَا أَصِلُ إِلَى المَدْرَسَةِ، أَتَحَدَّثُ مَعَ زُمَلَائِي.</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At about one o’clock I eat in the canteen.</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About = </a:t>
            </a:r>
            <a:pPr algn="l" indent="0" marL="0">
              <a:buNone/>
            </a:pPr>
            <a:r>
              <a:rPr lang="ar-SA" altLang="en-US" sz="1350" dirty="0">
                <a:solidFill>
                  <a:srgbClr val="5A6472"/>
                </a:solidFill>
                <a:latin typeface="Amiri" pitchFamily="2" charset="-78"/>
                <a:ea typeface="Amiri" pitchFamily="2" charset="-78"/>
                <a:cs typeface="Amiri" pitchFamily="2" charset="-78"/>
              </a:rPr>
              <a:t>حَوَالَيِ</a:t>
            </a:r>
            <a:pPr algn="l" indent="0" marL="0">
              <a:buNone/>
            </a:pPr>
            <a:r>
              <a:rPr lang="en-US" sz="1050" i="1" dirty="0">
                <a:solidFill>
                  <a:srgbClr val="5A6472"/>
                </a:solidFill>
                <a:latin typeface="Calibri" pitchFamily="34" charset="0"/>
                <a:cs typeface="Amiri" pitchFamily="2" charset="-78"/>
              </a:rPr>
              <a:t>; one o’clock = </a:t>
            </a:r>
            <a:pPr algn="l" indent="0" marL="0">
              <a:buNone/>
            </a:pPr>
            <a:r>
              <a:rPr lang="ar-SA" altLang="en-US" sz="1350" dirty="0">
                <a:solidFill>
                  <a:srgbClr val="5A6472"/>
                </a:solidFill>
                <a:latin typeface="Amiri" pitchFamily="2" charset="-78"/>
                <a:ea typeface="Amiri" pitchFamily="2" charset="-78"/>
                <a:cs typeface="Amiri" pitchFamily="2" charset="-78"/>
              </a:rPr>
              <a:t>السَّاعَةُ الوَاحِدَةُ</a:t>
            </a:r>
            <a:pPr algn="l" indent="0" marL="0">
              <a:buNone/>
            </a:pPr>
            <a:r>
              <a:rPr lang="en-US" sz="1050" i="1" dirty="0">
                <a:solidFill>
                  <a:srgbClr val="5A6472"/>
                </a:solidFill>
                <a:latin typeface="Calibri" pitchFamily="34" charset="0"/>
                <a:cs typeface="Amiri" pitchFamily="2" charset="-78"/>
              </a:rPr>
              <a:t>; I eat = </a:t>
            </a:r>
            <a:pPr algn="l" indent="0" marL="0">
              <a:buNone/>
            </a:pPr>
            <a:r>
              <a:rPr lang="ar-SA" altLang="en-US" sz="1350" dirty="0">
                <a:solidFill>
                  <a:srgbClr val="5A6472"/>
                </a:solidFill>
                <a:latin typeface="Amiri" pitchFamily="2" charset="-78"/>
                <a:ea typeface="Amiri" pitchFamily="2" charset="-78"/>
                <a:cs typeface="Amiri" pitchFamily="2" charset="-78"/>
              </a:rPr>
              <a:t>آكُلُ</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حَوَالَيِ السَّاعَةِ الوَاحِدَةِ آكُلُ فِي المَقْصَفِ.</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Finally, I rest.</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Finally = </a:t>
            </a:r>
            <a:pPr algn="l" indent="0" marL="0">
              <a:buNone/>
            </a:pPr>
            <a:r>
              <a:rPr lang="ar-SA" altLang="en-US" sz="1350" dirty="0">
                <a:solidFill>
                  <a:srgbClr val="5A6472"/>
                </a:solidFill>
                <a:latin typeface="Amiri" pitchFamily="2" charset="-78"/>
                <a:ea typeface="Amiri" pitchFamily="2" charset="-78"/>
                <a:cs typeface="Amiri" pitchFamily="2" charset="-78"/>
              </a:rPr>
              <a:t>فِي النِّهَايَةِ</a:t>
            </a:r>
            <a:pPr algn="l" indent="0" marL="0">
              <a:buNone/>
            </a:pPr>
            <a:r>
              <a:rPr lang="en-US" sz="1050" i="1" dirty="0">
                <a:solidFill>
                  <a:srgbClr val="5A6472"/>
                </a:solidFill>
                <a:latin typeface="Calibri" pitchFamily="34" charset="0"/>
                <a:cs typeface="Amiri" pitchFamily="2" charset="-78"/>
              </a:rPr>
              <a:t>; I rest = </a:t>
            </a:r>
            <a:pPr algn="l" indent="0" marL="0">
              <a:buNone/>
            </a:pPr>
            <a:r>
              <a:rPr lang="ar-SA" altLang="en-US" sz="1350" dirty="0">
                <a:solidFill>
                  <a:srgbClr val="5A6472"/>
                </a:solidFill>
                <a:latin typeface="Amiri" pitchFamily="2" charset="-78"/>
                <a:ea typeface="Amiri" pitchFamily="2" charset="-78"/>
                <a:cs typeface="Amiri" pitchFamily="2" charset="-78"/>
              </a:rPr>
              <a:t>أَسْتَرِيحُ</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وَفِي النِّهَايَةِ أَسْتَرِيحُ .</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F4-L07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AND FIX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F4-L07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أَوَّلًا أَسْتَيْقِظُ، أَوَّلًا آكُلُ، أَوَّلًا أَذْهَبُ.</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Vary the connectors.</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أَنَا يَعُودُ إِلَى البَيْتِ.</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Who returns?</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أَصِلُ إِلَى المَدْرَسَةِ فِي السَّاعَةِ ثَمَانٍ.</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Clock times …</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F4-L07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F4-L07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أَوَّلًا أَسْتَيْقِظُ، أَوَّلًا آكُلُ، أَوَّلًا أَذْهَبُ.</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أَوَّلًا أَسْتَيْقِظُ، ثُمَّ آكُلُ، وَبَعْدَ ذٰلِكَ أَذْهَبُ.</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Use different connectors: </a:t>
            </a:r>
            <a:pPr algn="l" indent="0" marL="0">
              <a:buNone/>
            </a:pPr>
            <a:r>
              <a:rPr lang="ar-SA" altLang="en-US" sz="1500" b="1" dirty="0">
                <a:solidFill>
                  <a:srgbClr val="1B3B6F"/>
                </a:solidFill>
                <a:latin typeface="Amiri" pitchFamily="2" charset="-78"/>
                <a:ea typeface="Amiri" pitchFamily="2" charset="-78"/>
                <a:cs typeface="Amiri" pitchFamily="2" charset="-78"/>
              </a:rPr>
              <a:t>أَوَّلًا</a:t>
            </a:r>
            <a:pPr algn="l" indent="0" marL="0">
              <a:buNone/>
            </a:pPr>
            <a:r>
              <a:rPr lang="en-US" sz="1150" b="1" dirty="0">
                <a:solidFill>
                  <a:srgbClr val="1B3B6F"/>
                </a:solidFill>
                <a:latin typeface="Calibri" pitchFamily="34" charset="0"/>
                <a:cs typeface="Amiri" pitchFamily="2" charset="-78"/>
              </a:rPr>
              <a:t> · </a:t>
            </a:r>
            <a:pPr algn="l" indent="0" marL="0">
              <a:buNone/>
            </a:pPr>
            <a:r>
              <a:rPr lang="ar-SA" altLang="en-US" sz="1500" b="1" dirty="0">
                <a:solidFill>
                  <a:srgbClr val="1B3B6F"/>
                </a:solidFill>
                <a:latin typeface="Amiri" pitchFamily="2" charset="-78"/>
                <a:ea typeface="Amiri" pitchFamily="2" charset="-78"/>
                <a:cs typeface="Amiri" pitchFamily="2" charset="-78"/>
              </a:rPr>
              <a:t>ثُمَّ</a:t>
            </a:r>
            <a:pPr algn="l" indent="0" marL="0">
              <a:buNone/>
            </a:pPr>
            <a:r>
              <a:rPr lang="en-US" sz="1150" b="1" dirty="0">
                <a:solidFill>
                  <a:srgbClr val="1B3B6F"/>
                </a:solidFill>
                <a:latin typeface="Calibri" pitchFamily="34" charset="0"/>
                <a:cs typeface="Amiri" pitchFamily="2" charset="-78"/>
              </a:rPr>
              <a:t> · </a:t>
            </a:r>
            <a:pPr algn="l" indent="0" marL="0">
              <a:buNone/>
            </a:pPr>
            <a:r>
              <a:rPr lang="ar-SA" altLang="en-US" sz="1500" b="1" dirty="0">
                <a:solidFill>
                  <a:srgbClr val="1B3B6F"/>
                </a:solidFill>
                <a:latin typeface="Amiri" pitchFamily="2" charset="-78"/>
                <a:ea typeface="Amiri" pitchFamily="2" charset="-78"/>
                <a:cs typeface="Amiri" pitchFamily="2" charset="-78"/>
              </a:rPr>
              <a:t>بَعْدَ ذٰلِكَ</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أَنَا يَعُودُ إِلَى البَيْتِ.</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أَنَا أَعُودُ إِلَى البَيْتِ.</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“I” → </a:t>
            </a:r>
            <a:pPr algn="l" indent="0" marL="0">
              <a:buNone/>
            </a:pPr>
            <a:r>
              <a:rPr lang="ar-SA" altLang="en-US" sz="1500" b="1" dirty="0">
                <a:solidFill>
                  <a:srgbClr val="1B3B6F"/>
                </a:solidFill>
                <a:latin typeface="Amiri" pitchFamily="2" charset="-78"/>
                <a:ea typeface="Amiri" pitchFamily="2" charset="-78"/>
                <a:cs typeface="Amiri" pitchFamily="2" charset="-78"/>
              </a:rPr>
              <a:t>أَعُودُ</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أَصِلُ إِلَى المَدْرَسَةِ فِي السَّاعَةِ ثَمَانٍ.</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أَصِلُ إِلَى المَدْرَسَةِ فِي السَّاعَةِ الثَّامِنَةِ.</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Clock time = feminine ordinal: </a:t>
            </a:r>
            <a:pPr algn="l" indent="0" marL="0">
              <a:buNone/>
            </a:pPr>
            <a:r>
              <a:rPr lang="ar-SA" altLang="en-US" sz="1500" b="1" dirty="0">
                <a:solidFill>
                  <a:srgbClr val="1B3B6F"/>
                </a:solidFill>
                <a:latin typeface="Amiri" pitchFamily="2" charset="-78"/>
                <a:ea typeface="Amiri" pitchFamily="2" charset="-78"/>
                <a:cs typeface="Amiri" pitchFamily="2" charset="-78"/>
              </a:rPr>
              <a:t>الثَّامِنَةِ</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F4-L07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F4-L07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عِنْدَمَا أَصِلُ إِلَى المَدْرَسَةِ،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When I arrive at school, I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بَعْدَ ذٰلِكَ ______ ، وَفِي النِّهَايَةِ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After that I …, and finally I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أَسْتَيْقِظُ فِي السَّاعَةِ ______ .</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wake up at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أَوَّلًا ______ ، ثُمَّ ______ .</a:t>
            </a:r>
            <a:endParaRPr lang="ar-SA" sz="18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First I …, then I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أَذْهَبُ إِلَى المَدْرَسَةِ ______ .</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go to school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أَعُودُ إِلَى البَيْتِ فِي ______ .</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return home at …</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أَسْتَيْقِظُ · أَتَنَاوَلُ الفُطُورَ  ·  أَذْهَبُ · أَصِلُ  ·  أَدْخُلُ الفَصْلَ  ·  آكُلُ فِي المَقْصَفِ  ·  أَعُودُ · أَسْتَرِيحُ  ·  أَوَّلًا · ثُمَّ  ·  بَعْدَ ذٰلِكَ · عِنْدَمَا  ·  فِي النِّهَايَةِ</a:t>
            </a:r>
            <a:endParaRPr lang="ar-SA" sz="16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F4-L07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ABOUT 40–60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My typical school day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يَوْمِي المَدْرَسِيُّ العَادِيُّ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F4-L07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828800"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8288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SHORT TEXT</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your typical school day (about 45–65 words) for a pen-friend. Include: • the morning (wake up, breakfast, travel) • at school (lessons, break, lunch) • after school and the evening • at least four connectors and three times.</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Every bullet point has at least one sentence.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Full sentences with the right ending (I · my · he · she).</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Words from today’s word bank.</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one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and one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(Develop).</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أَسْتَيْقِظُ فِي السَّاعَةِ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wake up at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أَوَّلًا … ثُمَّ … وَبَعْدَ ذٰلِكَ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first … then … after that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عِنْدَمَا أَصِلُ إِلَى المَدْرَسَةِ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when I arrive at school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وَفِي النِّهَايَةِ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and finally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F4-L07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F4-L07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“I” verbs in order with at least two times?</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four different connectors?</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add a reason, a time phrase or an opinion?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F4-L07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F4-L07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أَسْتَيْقِظُ فِي السَّادِسَةِ وَالنِّصْفِ، ثُمَّ أُصَلِّي الفَجْرَ.</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wake up at half past six, then I pray Fajr.</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مَتَى تَبْدَأُ يَوْمَكَ؟</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أَذْهَبُ بِالحَافِلَةِ، وَأَصِلُ حَوَالَيِ الثَّامِنَةِ.</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go by bus, and I arrive at about eight.</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كَيْفَ تَذْهَبُ إِلَى المَدْرَسَةِ؟</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أَوَّلًا آكُلُ فِي المَقْصَفِ، ثُمَّ أَلْعَبُ كُرَةَ القَدَمِ.</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First I eat in the canteen, then I play football.</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تَفْعَلُ فِي وَقْتِ الغَدَاءِ؟</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أَعُودُ إِلَى البَيْتِ، وَأُكْمِلُ وَاجِبِي، وَفِي النِّهَايَةِ أَسْتَرِيحُ.</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return home, finish my homework, and finally I rest.</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وَبَعْدَ المَدْرَسَةِ؟</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Choose one phrase you did not use and say it aloud.</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F4-L07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F4-L07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أَسْتَيْقِظُ فِي السَّاعَةِ السَّادِسَةِ وَالنِّصْفِ. أَوَّلًا أَتَوَضَّأُ وَأُصَلِّي، ثُمَّ أَتَنَاوَلُ الفُطُورَ مَعَ عَائِلَتِي. أَذْهَبُ إِلَى المَدْرَسَةِ مَشْيًا، وَأَصِلُ حَوَالَيِ الثَّامِنَةِ. عِنْدَمَا أَصِلُ، أَتَحَدَّثُ مَعَ زُمَلَائِي، ثُمَّ أَدْخُلُ الفَصْلَ. فِي الثَّانِيَةَ عَشْرَةَ آكُلُ فِي المَقْصَفِ، وَبَعْدَ ذٰلِكَ أَلْعَبُ فِي المَلْعَبِ. أَعُودُ إِلَى البَيْتِ فِي الرَّابِعَةِ، وَأُكْمِلُ وَاجِبِي، وَفِي النِّهَايَةِ أَسْتَرِيحُ.</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 wake up at half past six. First I do wudu and pray, then I have breakfast with my family. I walk to school and arrive at about eight. When I arrive, I talk with my classmates, then I go into the classroom. At twelve I eat in the canteen, and after that I play in the playground. I return home at four, finish my homework, and finally I rest.”</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أَوَّلًا … ثُمَّ</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حَوَالَيِ الثَّامِنَةِ</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عِنْدَمَا أَصِلُ</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وَفِي النِّهَايَةِ أَسْتَرِيحُ</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F4-L07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F4-L07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questions and the role-play tasks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today’s key structure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added reasons (</a:t>
            </a:r>
            <a:pPr algn="l" indent="0" marL="0">
              <a:buNone/>
            </a:pPr>
            <a:r>
              <a:rPr lang="ar-SA" altLang="en-US" sz="1700" dirty="0">
                <a:solidFill>
                  <a:srgbClr val="1F2A37"/>
                </a:solidFill>
                <a:latin typeface="Amiri" pitchFamily="2" charset="-78"/>
                <a:ea typeface="Amiri" pitchFamily="2" charset="-78"/>
                <a:cs typeface="Amiri" pitchFamily="2" charset="-78"/>
              </a:rPr>
              <a:t>لِأَنَّ</a:t>
            </a:r>
            <a:pPr algn="l" indent="0" marL="0">
              <a:buNone/>
            </a:pPr>
            <a:r>
              <a:rPr lang="en-US" sz="1300" dirty="0">
                <a:solidFill>
                  <a:srgbClr val="1F2A37"/>
                </a:solidFill>
                <a:latin typeface="Calibri" pitchFamily="34" charset="0"/>
                <a:cs typeface="Amiri" pitchFamily="2" charset="-78"/>
              </a:rPr>
              <a:t>) and extra details without frames.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F4-L07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150" b="1" dirty="0">
                <a:solidFill>
                  <a:srgbClr val="FFFFFF"/>
                </a:solidFill>
                <a:latin typeface="Cambria" pitchFamily="34" charset="0"/>
                <a:cs typeface="Amiri" pitchFamily="2" charset="-78"/>
              </a:rPr>
              <a:t>F4-L08 · Reading School Texts and Timetables</a:t>
            </a:r>
            <a:endParaRPr lang="en-US" sz="21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القِرَاءَةُ — نُصُوصٌ وَجَدَاوِلُ مَدْرَسِيَّةٌ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say it, then write it — full sentences,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F4-L07 · Practice Room — A Typical School Day — Narrating a Sequence</dc:title>
  <dc:subject>PptxGenJS Presentation</dc:subject>
  <dc:creator>Al Madina Online School · Arabic Department</dc:creator>
  <cp:lastModifiedBy>Al Madina Online School · Arabic Department</cp:lastModifiedBy>
  <cp:revision>1</cp:revision>
  <dcterms:created xsi:type="dcterms:W3CDTF">2026-10-25T17:30:04Z</dcterms:created>
  <dcterms:modified xsi:type="dcterms:W3CDTF">2026-10-25T17:30:04Z</dcterms:modified>
</cp:coreProperties>
</file>