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F4-L03 (Classroom Objects — What Is in Your Bag?) — new practice tasks built on the lesson’s own word bank and grammar (hādhā / hādhihi by gender; ʿindī / laysa ʿindī; fī ḥaqībatī; positions (ʿalā · taḥta · fī · bi-jānibi); duals (qalamāni · mimḥātāni)).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F4-L03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تَبْحَثِينَ · عِنْدَكِ · تَفَضَّلِي · تَحْتَاجِينَ — and the Speaker says to a girl: مَكْتَبِكِ. Language: aḥtāju ilā + genitive · nasītuhā · laysa ʿindī · sa-aḍaʿuhumā (dual).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(35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F4-L03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Classroom Objects — What Is in Your Bag?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مَاذَا فِي حَقِيبَتِكَ؟</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about classroom objects: say the object words, act a short dialogue, answer question cards, do a role-play card borrowing and lending in class, give a 30-second “what’s in my bag” talk, then build, fix and write about their school bag and desk.</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F4-L03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 my bag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كِتَابٌ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a:t>
            </a:r>
            <a:endParaRPr lang="en-US" sz="1350" dirty="0"/>
          </a:p>
          <a:p>
            <a:pPr indent="0" marL="0">
              <a:buNone/>
            </a:pPr>
            <a:r>
              <a:rPr lang="en-US" sz="1100" i="1" dirty="0">
                <a:solidFill>
                  <a:srgbClr val="5A6472"/>
                </a:solidFill>
                <a:latin typeface="Calibri" pitchFamily="34" charset="0"/>
                <a:cs typeface="Amiri" pitchFamily="2" charset="-78"/>
              </a:rPr>
              <a:t>ki-tāb</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كُتُبٌ</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دَفْتَرٌ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notebook / exercise book</a:t>
            </a:r>
            <a:endParaRPr lang="en-US" sz="1350" dirty="0"/>
          </a:p>
          <a:p>
            <a:pPr indent="0" marL="0">
              <a:buNone/>
            </a:pPr>
            <a:r>
              <a:rPr lang="en-US" sz="1100" i="1" dirty="0">
                <a:solidFill>
                  <a:srgbClr val="5A6472"/>
                </a:solidFill>
                <a:latin typeface="Calibri" pitchFamily="34" charset="0"/>
                <a:cs typeface="Amiri" pitchFamily="2" charset="-78"/>
              </a:rPr>
              <a:t>daf-tar</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دَفَاتِرُ</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قَلَمٌ</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pen</a:t>
            </a:r>
            <a:endParaRPr lang="en-US" sz="1350" dirty="0"/>
          </a:p>
          <a:p>
            <a:pPr indent="0" marL="0">
              <a:buNone/>
            </a:pPr>
            <a:r>
              <a:rPr lang="en-US" sz="1100" i="1" dirty="0">
                <a:solidFill>
                  <a:srgbClr val="5A6472"/>
                </a:solidFill>
                <a:latin typeface="Calibri" pitchFamily="34" charset="0"/>
                <a:cs typeface="Amiri" pitchFamily="2" charset="-78"/>
              </a:rPr>
              <a:t>qa-lam</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أَقْلَامٌ</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قَامُوسٌ</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dictionary</a:t>
            </a:r>
            <a:endParaRPr lang="en-US" sz="1350" dirty="0"/>
          </a:p>
          <a:p>
            <a:pPr indent="0" marL="0">
              <a:buNone/>
            </a:pPr>
            <a:r>
              <a:rPr lang="en-US" sz="1100" i="1" dirty="0">
                <a:solidFill>
                  <a:srgbClr val="5A6472"/>
                </a:solidFill>
                <a:latin typeface="Calibri" pitchFamily="34" charset="0"/>
                <a:cs typeface="Amiri" pitchFamily="2" charset="-78"/>
              </a:rPr>
              <a:t>qā-mūs</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قَوَامِيسُ</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desk (also: office)</a:t>
            </a:r>
            <a:endParaRPr lang="en-US" sz="1350" dirty="0"/>
          </a:p>
          <a:p>
            <a:pPr indent="0" marL="0">
              <a:buNone/>
            </a:pPr>
            <a:r>
              <a:rPr lang="en-US" sz="1100" i="1" dirty="0">
                <a:solidFill>
                  <a:srgbClr val="5A6472"/>
                </a:solidFill>
                <a:latin typeface="Calibri" pitchFamily="34" charset="0"/>
                <a:cs typeface="Amiri" pitchFamily="2" charset="-78"/>
              </a:rPr>
              <a:t>mak-tab</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مَكَاتِبُ</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95" name="Text 9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جَرَسٌ</a:t>
            </a:r>
            <a:endParaRPr lang="ar-SA" sz="3000" dirty="0"/>
          </a:p>
        </p:txBody>
      </p:sp>
      <p:sp>
        <p:nvSpPr>
          <p:cNvPr id="96" name="Text 9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bell</a:t>
            </a:r>
            <a:endParaRPr lang="en-US" sz="1350" dirty="0"/>
          </a:p>
          <a:p>
            <a:pPr indent="0" marL="0">
              <a:buNone/>
            </a:pPr>
            <a:r>
              <a:rPr lang="en-US" sz="1100" i="1" dirty="0">
                <a:solidFill>
                  <a:srgbClr val="5A6472"/>
                </a:solidFill>
                <a:latin typeface="Calibri" pitchFamily="34" charset="0"/>
                <a:cs typeface="Amiri" pitchFamily="2" charset="-78"/>
              </a:rPr>
              <a:t>ja-ras</a:t>
            </a:r>
            <a:endParaRPr lang="en-US" sz="1350" dirty="0"/>
          </a:p>
        </p:txBody>
      </p:sp>
      <p:sp>
        <p:nvSpPr>
          <p:cNvPr id="97" name="Shape 9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9" name="Text 96"/>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أَجْرَاسٌ</a:t>
            </a:r>
            <a:endParaRPr lang="ar-SA" sz="1500" dirty="0"/>
          </a:p>
        </p:txBody>
      </p:sp>
      <p:sp>
        <p:nvSpPr>
          <p:cNvPr id="100" name="Shape 9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102" name="Text 99"/>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103" name="Text 10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 the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مِسْطَرَةٌ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ruler</a:t>
            </a:r>
            <a:endParaRPr lang="en-US" sz="1350" dirty="0"/>
          </a:p>
          <a:p>
            <a:pPr indent="0" marL="0">
              <a:buNone/>
            </a:pPr>
            <a:r>
              <a:rPr lang="en-US" sz="1100" i="1" dirty="0">
                <a:solidFill>
                  <a:srgbClr val="5A6472"/>
                </a:solidFill>
                <a:latin typeface="Calibri" pitchFamily="34" charset="0"/>
                <a:cs typeface="Amiri" pitchFamily="2" charset="-78"/>
              </a:rPr>
              <a:t>mis-ṭa-ra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مَسَاطِرُ</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مِقْلَمَةٌ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pencil case</a:t>
            </a:r>
            <a:endParaRPr lang="en-US" sz="1350" dirty="0"/>
          </a:p>
          <a:p>
            <a:pPr indent="0" marL="0">
              <a:buNone/>
            </a:pPr>
            <a:r>
              <a:rPr lang="en-US" sz="1100" i="1" dirty="0">
                <a:solidFill>
                  <a:srgbClr val="5A6472"/>
                </a:solidFill>
                <a:latin typeface="Calibri" pitchFamily="34" charset="0"/>
                <a:cs typeface="Amiri" pitchFamily="2" charset="-78"/>
              </a:rPr>
              <a:t>miq-la-ma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مَقَالِمُ</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مِمْحَاةٌ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eraser / rubber</a:t>
            </a:r>
            <a:endParaRPr lang="en-US" sz="1350" dirty="0"/>
          </a:p>
          <a:p>
            <a:pPr indent="0" marL="0">
              <a:buNone/>
            </a:pPr>
            <a:r>
              <a:rPr lang="en-US" sz="1100" i="1" dirty="0">
                <a:solidFill>
                  <a:srgbClr val="5A6472"/>
                </a:solidFill>
                <a:latin typeface="Calibri" pitchFamily="34" charset="0"/>
                <a:cs typeface="Amiri" pitchFamily="2" charset="-78"/>
              </a:rPr>
              <a:t>mim-ḥā</a:t>
            </a:r>
            <a:endParaRPr lang="en-US" sz="1350" dirty="0"/>
          </a:p>
        </p:txBody>
      </p:sp>
      <p:sp>
        <p:nvSpPr>
          <p:cNvPr id="54" name="Shape 5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56" name="Text 53"/>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57" name="Shape 5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8211312"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0" name="Shape 57"/>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2" name="Text 5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سَبُّورَةٌ</a:t>
            </a:r>
            <a:endParaRPr lang="ar-SA" sz="3000" dirty="0"/>
          </a:p>
        </p:txBody>
      </p:sp>
      <p:sp>
        <p:nvSpPr>
          <p:cNvPr id="63" name="Text 6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board / interactive board</a:t>
            </a:r>
            <a:endParaRPr lang="en-US" sz="1350" dirty="0"/>
          </a:p>
          <a:p>
            <a:pPr indent="0" marL="0">
              <a:buNone/>
            </a:pPr>
            <a:r>
              <a:rPr lang="en-US" sz="1100" i="1" dirty="0">
                <a:solidFill>
                  <a:srgbClr val="5A6472"/>
                </a:solidFill>
                <a:latin typeface="Calibri" pitchFamily="34" charset="0"/>
                <a:cs typeface="Amiri" pitchFamily="2" charset="-78"/>
              </a:rPr>
              <a:t>sab-bū-ra</a:t>
            </a:r>
            <a:endParaRPr lang="en-US" sz="1350" dirty="0"/>
          </a:p>
        </p:txBody>
      </p:sp>
      <p:sp>
        <p:nvSpPr>
          <p:cNvPr id="64" name="Shape 61"/>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6" name="Text 63"/>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سَبُّورَاتٌ</a:t>
            </a:r>
            <a:endParaRPr lang="ar-SA" sz="1500" dirty="0"/>
          </a:p>
        </p:txBody>
      </p:sp>
      <p:sp>
        <p:nvSpPr>
          <p:cNvPr id="67" name="Shape 64"/>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69" name="Text 66"/>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3" name="Shape 70"/>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75" name="Shape 7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حَقِيبَةٌ</a:t>
            </a:r>
            <a:endParaRPr lang="ar-SA" sz="3000" dirty="0"/>
          </a:p>
        </p:txBody>
      </p:sp>
      <p:sp>
        <p:nvSpPr>
          <p:cNvPr id="78" name="Text 7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bag / backpack</a:t>
            </a:r>
            <a:endParaRPr lang="en-US" sz="1350" dirty="0"/>
          </a:p>
          <a:p>
            <a:pPr indent="0" marL="0">
              <a:buNone/>
            </a:pPr>
            <a:r>
              <a:rPr lang="en-US" sz="1100" i="1" dirty="0">
                <a:solidFill>
                  <a:srgbClr val="5A6472"/>
                </a:solidFill>
                <a:latin typeface="Calibri" pitchFamily="34" charset="0"/>
                <a:cs typeface="Amiri" pitchFamily="2" charset="-78"/>
              </a:rPr>
              <a:t>ḥa-qī-ba</a:t>
            </a:r>
            <a:endParaRPr lang="en-US" sz="1350" dirty="0"/>
          </a:p>
        </p:txBody>
      </p:sp>
      <p:sp>
        <p:nvSpPr>
          <p:cNvPr id="79" name="Shape 76"/>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1" name="Text 78"/>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حَقَائِبُ</a:t>
            </a:r>
            <a:endParaRPr lang="ar-SA" sz="1500" dirty="0"/>
          </a:p>
        </p:txBody>
      </p:sp>
      <p:sp>
        <p:nvSpPr>
          <p:cNvPr id="82" name="Shape 79"/>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84" name="Text 81"/>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85" name="Shape 8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566928"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8" name="Shape 8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90" name="Text 8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آلَةٌ حَاسِبَةٌ</a:t>
            </a:r>
            <a:endParaRPr lang="ar-SA" sz="3000" dirty="0"/>
          </a:p>
        </p:txBody>
      </p:sp>
      <p:sp>
        <p:nvSpPr>
          <p:cNvPr id="91" name="Text 8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calculator</a:t>
            </a:r>
            <a:endParaRPr lang="en-US" sz="1350" dirty="0"/>
          </a:p>
          <a:p>
            <a:pPr indent="0" marL="0">
              <a:buNone/>
            </a:pPr>
            <a:r>
              <a:rPr lang="en-US" sz="1100" i="1" dirty="0">
                <a:solidFill>
                  <a:srgbClr val="5A6472"/>
                </a:solidFill>
                <a:latin typeface="Calibri" pitchFamily="34" charset="0"/>
                <a:cs typeface="Amiri" pitchFamily="2" charset="-78"/>
              </a:rPr>
              <a:t>ā-la ḥā-si-ba</a:t>
            </a:r>
            <a:endParaRPr lang="en-US" sz="1350" dirty="0"/>
          </a:p>
        </p:txBody>
      </p:sp>
      <p:sp>
        <p:nvSpPr>
          <p:cNvPr id="92" name="Shape 89"/>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94" name="Text 91"/>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in your bag?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فِي حَقِيبَتِكَ؟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bag?</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فِي حَقِيبَتِكَ؟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my bag there is a book, two exercise books and a pencil case.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حَقِيبَتِي كِتَابٌ وَدَفْتَرَانِ وَمِقْلَمَةٌ.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a ruler?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عِنْدَكَ مِسْطَرَةٌ؟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I don’t have a ruler, but I have a calculator.</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لَيْسَ عِنْدِي مِسْطَرَةٌ، لٰكِنْ عِنْدِي آلَةٌ حَاسِبَةٌ.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this (f.) on the desk?</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هٰذِهِ عَلَى المَكْتَبِ؟</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my rubber, and this is my pen.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هٰذِهِ مِمْحَاتِي، وَهٰذَا قَلَمِي.</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open your REAL bag or pencil case and say what is in it.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 أَيْضًا</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مِقْلَمَتِي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pencil case?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فِي مِقْلَمَتِكَ؟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عِنْدِي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عِنْدِي … / لَا، لَيْسَ عِنْدِي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a dictionary?</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عِنْدَكَ قَامُوسٌ؟</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لَوْنُهُ / لَوْنُهَا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هٰذَا … / هٰذِهِ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this? (show an object)</a:t>
            </a:r>
            <a:endParaRPr lang="en-US" sz="1100" dirty="0"/>
          </a:p>
        </p:txBody>
      </p:sp>
      <p:sp>
        <p:nvSpPr>
          <p:cNvPr id="41" name="Text 38"/>
          <p:cNvSpPr txBox="1"/>
          <p:nvPr/>
        </p:nvSpPr>
        <p:spPr>
          <a:xfrm>
            <a:off x="1069848" y="3741725"/>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هٰذَا؟ / مَا هٰذِهِ؟</a:t>
            </a:r>
            <a:pPr algn="l" indent="0" marL="0">
              <a:buNone/>
            </a:pPr>
            <a:r>
              <a:rPr lang="en-US" sz="1100" dirty="0">
                <a:solidFill>
                  <a:srgbClr val="5A6472"/>
                </a:solidFill>
                <a:latin typeface="Calibri" pitchFamily="34" charset="0"/>
                <a:cs typeface="Amiri" pitchFamily="2" charset="-78"/>
              </a:rPr>
              <a:t> (hold up an object)</a:t>
            </a:r>
            <a:endParaRPr lang="en-US" sz="11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بِجَانِبِ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قَلَمِي عَلَى / فِي / تَحْتَ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your pen?</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قَلَمُكَ؟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عِنْدِي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حَقِيبَتِي … كُتُبٍ</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books are in your bag today?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كِتَابًا فِي حَقِيبَتِكَ اليَوْمَ؟</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Role-play card — borrowing things in class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أَسْتَعِيرُ أَغْرَاضًا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أَحْتَاجُ إِلَى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you need a ruler.</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تَبْحَثُ عَنْهُ؟</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أَلَيْسَ ← لَا، نَسِيتُهَا فِي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you forgot it.</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أَلَيْسَ عِنْدَكَ مِسْطَرَةٌ؟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شَيْءٍ آخَرَ ← شُكْرًا! هَلْ عِنْدَكَ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 ask for one more thing.</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تَفَضَّلْ. هَلْ تَحْتَاجُ إِلَى شَيْءٍ آخَرَ؟</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أَرُدُّهَا ← سَأَضَعُهَا عَلَى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you will return them.</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نَعَمْ، هِيَ فِي مِقْلَمَتِي.</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 Leader = a classmate.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what’s in my bag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فِي حَقِيبَتِي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Show and tell for 30 seconds: what is in your bag or pencil case, what you don’t have, and where three things are on your desk.</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objects with </a:t>
            </a:r>
            <a:pPr algn="l" indent="0" marL="0">
              <a:buNone/>
            </a:pPr>
            <a:r>
              <a:rPr lang="ar-SA" altLang="en-US" sz="1500" dirty="0">
                <a:solidFill>
                  <a:srgbClr val="1F2A37"/>
                </a:solidFill>
                <a:latin typeface="Amiri" pitchFamily="2" charset="-78"/>
                <a:ea typeface="Amiri" pitchFamily="2" charset="-78"/>
                <a:cs typeface="Amiri" pitchFamily="2" charset="-78"/>
              </a:rPr>
              <a:t>عِنْدِي / فِي حَقِيبَتِي</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لَيْسَ عِنْدِي</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هٰذَا / هٰذِهِ</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duals (</a:t>
            </a:r>
            <a:pPr algn="l" indent="0" marL="0">
              <a:buNone/>
            </a:pPr>
            <a:r>
              <a:rPr lang="ar-SA" altLang="en-US" sz="1500" dirty="0">
                <a:solidFill>
                  <a:srgbClr val="1F2A37"/>
                </a:solidFill>
                <a:latin typeface="Amiri" pitchFamily="2" charset="-78"/>
                <a:ea typeface="Amiri" pitchFamily="2" charset="-78"/>
                <a:cs typeface="Amiri" pitchFamily="2" charset="-78"/>
              </a:rPr>
              <a:t>قَلَمَانِ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دَفْتَرَانِ</a:t>
            </a:r>
            <a:pPr algn="l" indent="0" marL="0">
              <a:buNone/>
            </a:pPr>
            <a:r>
              <a:rPr lang="en-US" sz="1150" dirty="0">
                <a:solidFill>
                  <a:srgbClr val="1F2A37"/>
                </a:solidFill>
                <a:latin typeface="Calibri" pitchFamily="34" charset="0"/>
                <a:cs typeface="Amiri" pitchFamily="2" charset="-78"/>
              </a:rPr>
              <a:t>), colours and positions.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is my calculator.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آلَتِي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آلَتِيَ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الحَاسِبَةُ.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الحَاسِبُ.</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don’t have a dictionary.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عِنْدَهَا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قَامُوسٌ.</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قَامُوسًا.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are two pens in my pencil case.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مِقْلَمَتِي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مِقْلَمَتِي فِي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قَلَمَانِ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قَلَمٌ اثْنَانِ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أَزْرَقَانِ.</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أَزْرَقُ.</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is my calculator.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آلَةٌ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هٰذِهِ … الحَاسِبَةُ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هٰذِهِ آلَتِي الحَاسِبَةُ.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don’t have a dictionary.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have = </a:t>
            </a:r>
            <a:pPr algn="l" indent="0" marL="0">
              <a:buNone/>
            </a:pPr>
            <a:r>
              <a:rPr lang="ar-SA" altLang="en-US" sz="1350" dirty="0">
                <a:solidFill>
                  <a:srgbClr val="5A6472"/>
                </a:solidFill>
                <a:latin typeface="Amiri" pitchFamily="2" charset="-78"/>
                <a:ea typeface="Amiri" pitchFamily="2" charset="-78"/>
                <a:cs typeface="Amiri" pitchFamily="2" charset="-78"/>
              </a:rPr>
              <a:t>لَيْسَ عِنْدِي</a:t>
            </a:r>
            <a:pPr algn="l" indent="0" marL="0">
              <a:buNone/>
            </a:pPr>
            <a:r>
              <a:rPr lang="en-US" sz="1050" i="1" dirty="0">
                <a:solidFill>
                  <a:srgbClr val="5A6472"/>
                </a:solidFill>
                <a:latin typeface="Calibri" pitchFamily="34" charset="0"/>
                <a:cs typeface="Amiri" pitchFamily="2" charset="-78"/>
              </a:rPr>
              <a:t> + noun.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لَيْسَ عِنْدِي قَامُوسٌ.</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are two pens in my pencil case.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Two = the dual: </a:t>
            </a:r>
            <a:pPr algn="l" indent="0" marL="0">
              <a:buNone/>
            </a:pPr>
            <a:r>
              <a:rPr lang="ar-SA" altLang="en-US" sz="1350" dirty="0">
                <a:solidFill>
                  <a:srgbClr val="5A6472"/>
                </a:solidFill>
                <a:latin typeface="Amiri" pitchFamily="2" charset="-78"/>
                <a:ea typeface="Amiri" pitchFamily="2" charset="-78"/>
                <a:cs typeface="Amiri" pitchFamily="2" charset="-78"/>
              </a:rPr>
              <a:t>قَلَمَانِ أَزْرَقَانِ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مِقْلَمَتِي قَلَمَانِ أَزْرَقَانِ.</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مِسْطَرَةٌ.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مِسْطَرَةٌ</a:t>
            </a:r>
            <a:pPr algn="l" indent="0" marL="0">
              <a:buNone/>
            </a:pPr>
            <a:r>
              <a:rPr lang="en-US" sz="1300" i="1" dirty="0">
                <a:solidFill>
                  <a:srgbClr val="5A6472"/>
                </a:solidFill>
                <a:latin typeface="Calibri" pitchFamily="34" charset="0"/>
                <a:cs typeface="Amiri" pitchFamily="2" charset="-78"/>
              </a:rPr>
              <a:t> ends in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عِنْدِي لَيْسَ قَلَمٌ.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Word order.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الكِتَابُ عَلَى المَكْتَبُ.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after </a:t>
            </a:r>
            <a:pPr algn="l" indent="0" marL="0">
              <a:buNone/>
            </a:pPr>
            <a:r>
              <a:rPr lang="ar-SA" altLang="en-US" sz="1700" dirty="0">
                <a:solidFill>
                  <a:srgbClr val="5A6472"/>
                </a:solidFill>
                <a:latin typeface="Amiri" pitchFamily="2" charset="-78"/>
                <a:ea typeface="Amiri" pitchFamily="2" charset="-78"/>
                <a:cs typeface="Amiri" pitchFamily="2" charset="-78"/>
              </a:rPr>
              <a:t>عَلَى</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مِسْطَرَةٌ.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مِسْطَرَةٌ.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عِنْدِي لَيْسَ قَلَمٌ.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لَيْسَ عِنْدِي قَلَمٌ.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لَيْسَ</a:t>
            </a:r>
            <a:pPr algn="l" indent="0" marL="0">
              <a:buNone/>
            </a:pPr>
            <a:r>
              <a:rPr lang="en-US" sz="1150" b="1" dirty="0">
                <a:solidFill>
                  <a:srgbClr val="1B3B6F"/>
                </a:solidFill>
                <a:latin typeface="Calibri" pitchFamily="34" charset="0"/>
                <a:cs typeface="Amiri" pitchFamily="2" charset="-78"/>
              </a:rPr>
              <a:t> comes first: </a:t>
            </a:r>
            <a:pPr algn="l" indent="0" marL="0">
              <a:buNone/>
            </a:pPr>
            <a:r>
              <a:rPr lang="ar-SA" altLang="en-US" sz="1500" b="1" dirty="0">
                <a:solidFill>
                  <a:srgbClr val="1B3B6F"/>
                </a:solidFill>
                <a:latin typeface="Amiri" pitchFamily="2" charset="-78"/>
                <a:ea typeface="Amiri" pitchFamily="2" charset="-78"/>
                <a:cs typeface="Amiri" pitchFamily="2" charset="-78"/>
              </a:rPr>
              <a:t>لَيْسَ عِنْدِي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الكِتَابُ عَلَى المَكْتَبُ.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الكِتَابُ عَلَى المَكْتَبِ.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قَلَمَانِ / دَفْتَرَانِ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two pens / two exercise books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لِأَنَّهُ / لِأَنَّهَا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 because it is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حَقِيبَتِي ______ وَ ______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bag there is …,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عِنْدِي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have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عَلَى المَكْتَبِ.</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on the desk.</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 هٰذِهِ ______ المُفَضَّلُ / المُفَضَّلَةُ.</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favourite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كِتَابٌ · دَفْتَرٌ  ·  قَلَمٌ · مِسْطَرَةٌ  ·  مِمْحَاةٌ · مِقْلَمَةٌ  ·  آلَةٌ حَاسِبَةٌ  ·  عِنْدِي · لَيْسَ عِنْدِي  ·  هٰذَا · هٰذِهِ  ·  عَلَى · تَحْتَ  ·  بِجَانِبِ</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bag and my desk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حَقِيبَتِي وَمَكْتَبِي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text (about 40–60 words) for a “back to school” post. Include: • what is in your bag (at least five things) • one thing you don’t have • where three things are on your desk • your favourite object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حَقِيبَتِي … وَ… وَ…</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bag there is …, … and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عِنْدِي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don’t have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عَلَى / تَحْتَ / بِجَانِبِ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on / under / next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love … because 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هٰذَا / هٰذِهِ</a:t>
            </a:r>
            <a:pPr algn="l" indent="0" marL="0">
              <a:buNone/>
            </a:pPr>
            <a:r>
              <a:rPr lang="en-US" sz="1100" dirty="0">
                <a:solidFill>
                  <a:srgbClr val="5A6472"/>
                </a:solidFill>
                <a:latin typeface="Calibri" pitchFamily="34" charset="0"/>
                <a:cs typeface="Amiri" pitchFamily="2" charset="-78"/>
              </a:rPr>
              <a:t> correctly and </a:t>
            </a:r>
            <a:pPr algn="l" indent="0" marL="0">
              <a:buNone/>
            </a:pPr>
            <a:r>
              <a:rPr lang="ar-SA" altLang="en-US" sz="1450" dirty="0">
                <a:solidFill>
                  <a:srgbClr val="5A6472"/>
                </a:solidFill>
                <a:latin typeface="Amiri" pitchFamily="2" charset="-78"/>
                <a:ea typeface="Amiri" pitchFamily="2" charset="-78"/>
                <a:cs typeface="Amiri" pitchFamily="2" charset="-78"/>
              </a:rPr>
              <a:t>لَيْسَ عِنْدِي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positions with the genitive and use a dual?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أَحْتَاجُ إِلَى مِسْطَرَةٍ، مِنْ فَضْلِكَ.</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need a ruler, please.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تَبْحَثُ عَنْهُ؟</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نَسِيتُهَا فِي البَيْتِ.</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I forgot it at home.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أَلَيْسَ عِنْدَكَ مِسْطَرَةٌ؟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جَزِيلًا! هَلْ عِنْدَكَ مِمْحَاةٌ أَيْضًا؟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Thank you very much! Do you have a rubber too?</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تَفَضَّلْ. هَلْ تَحْتَاجُ إِلَى شَيْءٍ آخَرَ؟</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سَأَضَعُهُمَا عَلَى مَكْتَبِكَ بَعْدَ الحِصَّةِ.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Thanks! I’ll put them both on your desk after the lesson.</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هِيَ فِي مِقْلَمَتِي.</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حَقِيبَتِي كِتَابَانِ وَثَلَاثَةُ دَفَاتِرَ وَمِقْلَمَةٌ زَرْقَاءُ. فِي المِقْلَمَةِ قَلَمَانِ وَمِسْطَرَةٌ وَمِمْحَاةٌ. لَيْسَ عِنْدِي آلَةٌ حَاسِبَةٌ، لِذٰلِكَ أَسْتَعِيرُهَا مِنْ صَدِيقِي. عَلَى مَكْتَبِي حَاسُوبٌ، وَبِجَانِبِهِ قَامُوسٌ عَرَبِيٌّ. هٰذَا القَامُوسُ هُوَ شَيْئِي المُفَضَّلُ، لِأَنَّهُ هَدِيَّةٌ مِنْ جَدِّي.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bag there are two books, three exercise books and a blue pencil case. In the pencil case there are two pens, a ruler and a rubber. I don’t have a calculator, so I borrow one from my friend. On my desk there is a computer, and next to it an Arabic dictionary. This dictionary is my favourite thing, because it is a present from my grandfather.”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كِتَابَانِ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لَيْسَ عِنْدِي آلَةٌ حَاسِبَةٌ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وَبِجَانِبِهِ قَامُوسٌ</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 هَدِيَّةٌ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50" b="1" dirty="0">
                <a:solidFill>
                  <a:srgbClr val="FFFFFF"/>
                </a:solidFill>
                <a:latin typeface="Cambria" pitchFamily="34" charset="0"/>
                <a:cs typeface="Amiri" pitchFamily="2" charset="-78"/>
              </a:rPr>
              <a:t>F4-L04 · Likes, Dislikes and Preferences</a:t>
            </a:r>
            <a:endParaRPr lang="en-US" sz="24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مَا أُحِبُّ وَمَا لَا أُحِبُّ وَمَا أُفَضِّلُ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F4-L03 · Practice Room — Classroom Objects — What Is in Your Bag?</dc:title>
  <dc:subject>PptxGenJS Presentation</dc:subject>
  <dc:creator>Al Madina Online School · Arabic Department</dc:creator>
  <cp:lastModifiedBy>Al Madina Online School · Arabic Department</cp:lastModifiedBy>
  <cp:revision>1</cp:revision>
  <dcterms:created xsi:type="dcterms:W3CDTF">2026-10-25T17:27:24Z</dcterms:created>
  <dcterms:modified xsi:type="dcterms:W3CDTF">2026-10-25T17:27:24Z</dcterms:modified>
</cp:coreProperties>
</file>