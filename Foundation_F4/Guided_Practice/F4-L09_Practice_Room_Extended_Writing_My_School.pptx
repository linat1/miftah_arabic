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F4-L09 (Extended Writing: My School) — new practice tasks built on the lesson’s own word bank and grammar (email vs article format; three purposeful paragraphs (my school · my day and subjects · rules and opinion); connectors; topic sentences).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F4-L09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مَدْرَسَتِكِ · عِنْدَكِ · تُحِبِّينَهَا. Peer interview turns into each writer’s plan for the extended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(54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Extended Writing: My School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مَدْرَسَتِي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for an extended text about school: say the format words, rehearse a model plan aloud, answer planning cards, interview a buddy to build a plan, give a 30-second oral draft, then build, fix and write a three-paragraph email about their school.</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F4-L09 · Foundation F4 · My School</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Formats: email and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named reader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إِلِكْتُرُونِيَّةٌ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email</a:t>
            </a:r>
            <a:endParaRPr lang="en-US" sz="1350" dirty="0"/>
          </a:p>
          <a:p>
            <a:pPr indent="0" marL="0">
              <a:buNone/>
            </a:pPr>
            <a:r>
              <a:rPr lang="en-US" sz="1100" i="1" dirty="0">
                <a:solidFill>
                  <a:srgbClr val="5A6472"/>
                </a:solidFill>
                <a:latin typeface="Calibri" pitchFamily="34" charset="0"/>
                <a:cs typeface="Amiri" pitchFamily="2" charset="-78"/>
              </a:rPr>
              <a:t>ri-sā-la i-lik-trū-niy-ya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wider audience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مَقَالٌ / مُدَوَّنَةٌ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article / blog</a:t>
            </a:r>
            <a:endParaRPr lang="en-US" sz="1350" dirty="0"/>
          </a:p>
          <a:p>
            <a:pPr indent="0" marL="0">
              <a:buNone/>
            </a:pPr>
            <a:r>
              <a:rPr lang="en-US" sz="1100" i="1" dirty="0">
                <a:solidFill>
                  <a:srgbClr val="5A6472"/>
                </a:solidFill>
                <a:latin typeface="Calibri" pitchFamily="34" charset="0"/>
                <a:cs typeface="Amiri" pitchFamily="2" charset="-78"/>
              </a:rPr>
              <a:t>ma-qāl / mu-daw-wa-na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article</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عُنْوَانٌ</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title</a:t>
            </a:r>
            <a:endParaRPr lang="en-US" sz="1350" dirty="0"/>
          </a:p>
          <a:p>
            <a:pPr indent="0" marL="0">
              <a:buNone/>
            </a:pPr>
            <a:r>
              <a:rPr lang="en-US" sz="1100" i="1" dirty="0">
                <a:solidFill>
                  <a:srgbClr val="5A6472"/>
                </a:solidFill>
                <a:latin typeface="Calibri" pitchFamily="34" charset="0"/>
                <a:cs typeface="Amiri" pitchFamily="2" charset="-78"/>
              </a:rPr>
              <a:t>‘un-wān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email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تَحِيَّةٌ · تَوْقِيعٌ</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greeting · signature</a:t>
            </a:r>
            <a:endParaRPr lang="en-US" sz="1350" dirty="0"/>
          </a:p>
          <a:p>
            <a:pPr indent="0" marL="0">
              <a:buNone/>
            </a:pPr>
            <a:r>
              <a:rPr lang="en-US" sz="1100" i="1" dirty="0">
                <a:solidFill>
                  <a:srgbClr val="5A6472"/>
                </a:solidFill>
                <a:latin typeface="Calibri" pitchFamily="34" charset="0"/>
                <a:cs typeface="Amiri" pitchFamily="2" charset="-78"/>
              </a:rPr>
              <a:t>ta-ḥiy-ya · taw-qī‘</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Shape 5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both</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مُقَدِّمَةٌ · خَاتِمَةٌ</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introduction · conclusion</a:t>
            </a:r>
            <a:endParaRPr lang="en-US" sz="1350" dirty="0"/>
          </a:p>
          <a:p>
            <a:pPr indent="0" marL="0">
              <a:buNone/>
            </a:pPr>
            <a:r>
              <a:rPr lang="en-US" sz="1100" i="1" dirty="0">
                <a:solidFill>
                  <a:srgbClr val="5A6472"/>
                </a:solidFill>
                <a:latin typeface="Calibri" pitchFamily="34" charset="0"/>
                <a:cs typeface="Amiri" pitchFamily="2" charset="-78"/>
              </a:rPr>
              <a:t>mu-qad-di-ma · khā-ti-ma</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paragraph</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جُمْلَةٌ مِحْوَرِيَّةٌ</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topic sentence</a:t>
            </a:r>
            <a:endParaRPr lang="en-US" sz="1350" dirty="0"/>
          </a:p>
          <a:p>
            <a:pPr indent="0" marL="0">
              <a:buNone/>
            </a:pPr>
            <a:r>
              <a:rPr lang="en-US" sz="1100" i="1" dirty="0">
                <a:solidFill>
                  <a:srgbClr val="5A6472"/>
                </a:solidFill>
                <a:latin typeface="Calibri" pitchFamily="34" charset="0"/>
                <a:cs typeface="Amiri" pitchFamily="2" charset="-78"/>
              </a:rPr>
              <a:t>jum-la miḥ-wa-riy-ya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 for a longer text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أَوَّلًا · ثُمَّ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first · then</a:t>
            </a:r>
            <a:endParaRPr lang="en-US" sz="1350" dirty="0"/>
          </a:p>
          <a:p>
            <a:pPr indent="0" marL="0">
              <a:buNone/>
            </a:pPr>
            <a:r>
              <a:rPr lang="en-US" sz="1100" i="1" dirty="0">
                <a:solidFill>
                  <a:srgbClr val="5A6472"/>
                </a:solidFill>
                <a:latin typeface="Calibri" pitchFamily="34" charset="0"/>
                <a:cs typeface="Amiri" pitchFamily="2" charset="-78"/>
              </a:rPr>
              <a:t>aw-wa-lan · thum-ma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بِالإِضَافَةِ إِلَى 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bil-ʾi-ḍā-fa-ti i-lā 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 · لِذٰلِكَ</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 · so</a:t>
            </a:r>
            <a:endParaRPr lang="en-US" sz="1350" dirty="0"/>
          </a:p>
          <a:p>
            <a:pPr indent="0" marL="0">
              <a:buNone/>
            </a:pPr>
            <a:r>
              <a:rPr lang="en-US" sz="1100" i="1" dirty="0">
                <a:solidFill>
                  <a:srgbClr val="5A6472"/>
                </a:solidFill>
                <a:latin typeface="Calibri" pitchFamily="34" charset="0"/>
                <a:cs typeface="Amiri" pitchFamily="2" charset="-78"/>
              </a:rPr>
              <a:t>li-ʾan-na · li-dhā-li-ka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a:t>
            </a:r>
            <a:endParaRPr lang="en-US" sz="1350" dirty="0"/>
          </a:p>
          <a:p>
            <a:pPr indent="0" marL="0">
              <a:buNone/>
            </a:pPr>
            <a:r>
              <a:rPr lang="en-US" sz="1100" i="1" dirty="0">
                <a:solidFill>
                  <a:srgbClr val="5A6472"/>
                </a:solidFill>
                <a:latin typeface="Calibri" pitchFamily="34" charset="0"/>
                <a:cs typeface="Amiri" pitchFamily="2" charset="-78"/>
              </a:rPr>
              <a:t>lā-kin-na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رَأْيِي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finally</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Say the plan out loud — an email to a pen-friend</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الرِّسَالَةِ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790688" y="2267712"/>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Yasser! (the greeting)</a:t>
            </a:r>
            <a:endParaRPr lang="en-US" sz="1100" dirty="0"/>
          </a:p>
        </p:txBody>
      </p:sp>
      <p:sp>
        <p:nvSpPr>
          <p:cNvPr id="21" name="Text 18"/>
          <p:cNvSpPr txBox="1"/>
          <p:nvPr/>
        </p:nvSpPr>
        <p:spPr>
          <a:xfrm>
            <a:off x="1463040" y="2267712"/>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مَرْحَبًا يَا يَاسِرُ! (التَّحِيَّةُ)</a:t>
            </a:r>
            <a:endParaRPr lang="ar-SA" sz="2000" dirty="0"/>
          </a:p>
        </p:txBody>
      </p:sp>
      <p:sp>
        <p:nvSpPr>
          <p:cNvPr id="22" name="Text 19"/>
          <p:cNvSpPr txBox="1"/>
          <p:nvPr/>
        </p:nvSpPr>
        <p:spPr>
          <a:xfrm>
            <a:off x="5669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790688" y="300471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 at Al Madina School; it is big and modern.</a:t>
            </a:r>
            <a:endParaRPr lang="en-US" sz="1100" dirty="0"/>
          </a:p>
        </p:txBody>
      </p:sp>
      <p:sp>
        <p:nvSpPr>
          <p:cNvPr id="25" name="Text 22"/>
          <p:cNvSpPr txBox="1"/>
          <p:nvPr/>
        </p:nvSpPr>
        <p:spPr>
          <a:xfrm>
            <a:off x="1463040" y="300471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أَدْرُسُ فِي مَدْرَسَةِ المَدِينَةِ، وَهِيَ كَبِيرَةٌ وَحَدِيثَةٌ.</a:t>
            </a:r>
            <a:endParaRPr lang="ar-SA" sz="2000" dirty="0"/>
          </a:p>
        </p:txBody>
      </p:sp>
      <p:sp>
        <p:nvSpPr>
          <p:cNvPr id="26" name="Text 23"/>
          <p:cNvSpPr txBox="1"/>
          <p:nvPr/>
        </p:nvSpPr>
        <p:spPr>
          <a:xfrm>
            <a:off x="566928" y="300471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790688" y="3741725"/>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day starts at eight, and my favourite subject is science because it is practical.</a:t>
            </a:r>
            <a:endParaRPr lang="en-US" sz="1100" dirty="0"/>
          </a:p>
        </p:txBody>
      </p:sp>
      <p:sp>
        <p:nvSpPr>
          <p:cNvPr id="29" name="Text 26"/>
          <p:cNvSpPr txBox="1"/>
          <p:nvPr/>
        </p:nvSpPr>
        <p:spPr>
          <a:xfrm>
            <a:off x="1463040" y="3741725"/>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يَبْدَأُ يَوْمِي فِي الثَّامِنَةِ، وَمَادَّتِي المُفَضَّلَةُ العُلُومُ لِأَنَّهَا عَمَلِيَّةٌ.</a:t>
            </a:r>
            <a:endParaRPr lang="ar-SA" sz="2000" dirty="0"/>
          </a:p>
        </p:txBody>
      </p:sp>
      <p:sp>
        <p:nvSpPr>
          <p:cNvPr id="30" name="Text 27"/>
          <p:cNvSpPr txBox="1"/>
          <p:nvPr/>
        </p:nvSpPr>
        <p:spPr>
          <a:xfrm>
            <a:off x="566928" y="3741725"/>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790688" y="4478731"/>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must wear uniform. In my opinion this rule is useful.</a:t>
            </a:r>
            <a:endParaRPr lang="en-US" sz="1100" dirty="0"/>
          </a:p>
        </p:txBody>
      </p:sp>
      <p:sp>
        <p:nvSpPr>
          <p:cNvPr id="33" name="Text 30"/>
          <p:cNvSpPr txBox="1"/>
          <p:nvPr/>
        </p:nvSpPr>
        <p:spPr>
          <a:xfrm>
            <a:off x="1463040" y="4478731"/>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يَجِبُ أَنْ نَلْبَسَ اللِّبَاسَ المَدْرَسِيَّ. فِي رَأْيِي هٰذِهِ القَاعِدَةُ مُفِيدَةٌ.</a:t>
            </a:r>
            <a:endParaRPr lang="ar-SA" sz="2000" dirty="0"/>
          </a:p>
        </p:txBody>
      </p:sp>
      <p:sp>
        <p:nvSpPr>
          <p:cNvPr id="34" name="Text 31"/>
          <p:cNvSpPr txBox="1"/>
          <p:nvPr/>
        </p:nvSpPr>
        <p:spPr>
          <a:xfrm>
            <a:off x="566928" y="4478731"/>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790688" y="521573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(the closing and signature)</a:t>
            </a:r>
            <a:endParaRPr lang="en-US" sz="1100" dirty="0"/>
          </a:p>
        </p:txBody>
      </p:sp>
      <p:sp>
        <p:nvSpPr>
          <p:cNvPr id="37" name="Text 34"/>
          <p:cNvSpPr txBox="1"/>
          <p:nvPr/>
        </p:nvSpPr>
        <p:spPr>
          <a:xfrm>
            <a:off x="1463040" y="521573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 السَّلَامَةِ! (الخَاتِمَةُ وَالتَّوْقِيعُ)</a:t>
            </a:r>
            <a:endParaRPr lang="ar-SA" sz="2000" dirty="0"/>
          </a:p>
        </p:txBody>
      </p:sp>
      <p:sp>
        <p:nvSpPr>
          <p:cNvPr id="38" name="Text 35"/>
          <p:cNvSpPr txBox="1"/>
          <p:nvPr/>
        </p:nvSpPr>
        <p:spPr>
          <a:xfrm>
            <a:off x="5669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Take turns reading the plan. Then each Speaker says THEIR OWN three-paragraph plan aloud — greeting, one sentence per paragraph, closing.</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Plan by speaking: one card per paragraph</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فِيهَا … طَالِبٍ</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أَدْرُسُ فِي … ، وَهِيَ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study? Describe it. (paragraph 1)</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تَدْرُسُ؟ صِفْ مَدْرَسَتَكَ.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يَبْدَأُ يَوْمِي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school day like? (paragraph 2)</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يَوْمُكَ فِي المَدْرَسَةِ؟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مَادَّتِي المُفَضَّلَةُ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subject and why? (paragraph 2)</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 وَلِمَاذَا؟</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رَأْيِي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يَجِبُ أَنْ … · لَا يَجُوزُ 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rules? (paragraph 3)</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القَوَاعِدُ فِي مَدْرَسَتِكَ؟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your school? (paragraph 3)</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مَدْرَسَتَكَ؟ لِمَاذَا؟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Card — interview your buddy, then swap plans</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أُقَابِلُ 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فِي مَدْرَسَتِي حَوَالَيْ … طَالِبٍ</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answers; you note the number.</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طَالِبًا فِي مَدْرَسَتِكَ؟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أَجْمَلُ مَكَانٍ … لِأَنَّ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names a place + why.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مَكَانٍ فِيهَا؟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 صَعْبٌ / صَعْبَةٌ ، لٰكِنَّ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names one + a “but”.</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المَادَّةُ الصَّعْبَةُ عِنْدَكَ؟</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لَا يَجُوزُ أَنْ … ، وَفِي رَأْيِي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Buddy gives a rule + opinion.</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القَاعِدَةُ الَّتِي لَا تُحِبُّهَا؟</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Interviewer asks and notes English keywords; the writer answers in full Arabic. Give the notes to the writer — that is their plan for Step 8.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email, said aloud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رِسَالَتِي بِصَوْتٍ عَالٍ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Say your whole email aloud in 30 seconds BEFORE you write it: greeting, three paragraphs (one or two sentences each), closing.</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Greeting + three sentences + closing.</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sentences per paragraph with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بِالإِضَافَةِ إِلَى ذٰلِكَ</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فِي رَأْيِي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school is big, and in addition it has a swimming pool.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مَدْرَسَتِي كَبِيرَةٌ،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مَدْرَسَتِي كَبِيرٌ،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وَبِالإِضَافَةِ إِلَى ذٰلِكَ</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وَلِأَنَّ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فِيهَا مَسْبَحٌ.</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فِيهِ مَسْبَحٌ.</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day starts at eight, then I have maths.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يَوْمِي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يَوْمِي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الثَّامِنَةِ،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ثَمَانِيَةٍ،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عِنْدِي رِيَاضِيَّاتٌ.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 عِنْدَهُ رِيَاضِيَّاتٌ.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my opinion this rule is important.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رَأْيُ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القَاعِدَةُ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القَاعِدَةُ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school is big, and in addition it has a swimming pool.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(f.) → </a:t>
            </a:r>
            <a:pPr algn="l" indent="0" marL="0">
              <a:buNone/>
            </a:pPr>
            <a:r>
              <a:rPr lang="ar-SA" altLang="en-US" sz="1350" dirty="0">
                <a:solidFill>
                  <a:srgbClr val="5A6472"/>
                </a:solidFill>
                <a:latin typeface="Amiri" pitchFamily="2" charset="-78"/>
                <a:ea typeface="Amiri" pitchFamily="2" charset="-78"/>
                <a:cs typeface="Amiri" pitchFamily="2" charset="-78"/>
              </a:rPr>
              <a:t>كَبِيرَةٌ … فِيهَا</a:t>
            </a:r>
            <a:pPr algn="l" indent="0" marL="0">
              <a:buNone/>
            </a:pPr>
            <a:r>
              <a:rPr lang="en-US" sz="1050" i="1" dirty="0">
                <a:solidFill>
                  <a:srgbClr val="5A6472"/>
                </a:solidFill>
                <a:latin typeface="Calibri" pitchFamily="34" charset="0"/>
                <a:cs typeface="Amiri" pitchFamily="2" charset="-78"/>
              </a:rPr>
              <a:t>; in addition = </a:t>
            </a:r>
            <a:pPr algn="l" indent="0" marL="0">
              <a:buNone/>
            </a:pPr>
            <a:r>
              <a:rPr lang="ar-SA" altLang="en-US" sz="1350" dirty="0">
                <a:solidFill>
                  <a:srgbClr val="5A6472"/>
                </a:solidFill>
                <a:latin typeface="Amiri" pitchFamily="2" charset="-78"/>
                <a:ea typeface="Amiri" pitchFamily="2" charset="-78"/>
                <a:cs typeface="Amiri" pitchFamily="2" charset="-78"/>
              </a:rPr>
              <a:t>بِالإِضَافَةِ إِلَى ذٰلِكَ</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مَدْرَسَتِي كَبِيرَةٌ، وَبِالإِضَافَةِ إِلَى ذٰلِكَ فِيهَا مَسْبَحٌ.</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day starts at eight, then I have maths.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يَوْمٌ</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يَبْدَأُ</a:t>
            </a:r>
            <a:pPr algn="l" indent="0" marL="0">
              <a:buNone/>
            </a:pPr>
            <a:r>
              <a:rPr lang="en-US" sz="1050" i="1" dirty="0">
                <a:solidFill>
                  <a:srgbClr val="5A6472"/>
                </a:solidFill>
                <a:latin typeface="Calibri" pitchFamily="34" charset="0"/>
                <a:cs typeface="Amiri" pitchFamily="2" charset="-78"/>
              </a:rPr>
              <a:t>; the time = </a:t>
            </a:r>
            <a:pPr algn="l" indent="0" marL="0">
              <a:buNone/>
            </a:pPr>
            <a:r>
              <a:rPr lang="ar-SA" altLang="en-US" sz="1350" dirty="0">
                <a:solidFill>
                  <a:srgbClr val="5A6472"/>
                </a:solidFill>
                <a:latin typeface="Amiri" pitchFamily="2" charset="-78"/>
                <a:ea typeface="Amiri" pitchFamily="2" charset="-78"/>
                <a:cs typeface="Amiri" pitchFamily="2" charset="-78"/>
              </a:rPr>
              <a:t>الثَّامِنَةِ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يَبْدَأُ يَوْمِي فِي الثَّامِنَةِ، ثُمَّ عِنْدِي رِيَاضِيَّاتٌ.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my opinion this rule is important.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قَاعِدَةٌ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هٰذِهِ … مُهِمَّةٌ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رَأْيِي هٰذِهِ القَاعِدَةُ مُهِمَّةٌ.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مَرْحَبًا</a:t>
            </a:r>
            <a:pPr algn="l" indent="0" marL="0">
              <a:buNone/>
            </a:pPr>
            <a:r>
              <a:rPr lang="en-US" sz="3000" b="1" dirty="0">
                <a:solidFill>
                  <a:srgbClr val="B83227"/>
                </a:solidFill>
                <a:latin typeface="Calibri" pitchFamily="34" charset="0"/>
                <a:cs typeface="Amiri" pitchFamily="2" charset="-78"/>
              </a:rPr>
              <a:t>! </a:t>
            </a:r>
            <a:pPr algn="l" indent="0" marL="0">
              <a:buNone/>
            </a:pPr>
            <a:r>
              <a:rPr lang="ar-SA" altLang="en-US" sz="3900" b="1" dirty="0">
                <a:solidFill>
                  <a:srgbClr val="B83227"/>
                </a:solidFill>
                <a:latin typeface="Amiri" pitchFamily="2" charset="-78"/>
                <a:ea typeface="Amiri" pitchFamily="2" charset="-78"/>
                <a:cs typeface="Amiri" pitchFamily="2" charset="-78"/>
              </a:rPr>
              <a:t>أَدْرُسُ فِي مَدْرَسَةِ</a:t>
            </a:r>
            <a:pPr algn="l" indent="0" marL="0">
              <a:buNone/>
            </a:pPr>
            <a:r>
              <a:rPr lang="en-US" sz="3000" b="1" dirty="0">
                <a:solidFill>
                  <a:srgbClr val="B83227"/>
                </a:solidFill>
                <a:latin typeface="Calibri" pitchFamily="34" charset="0"/>
                <a:cs typeface="Amiri" pitchFamily="2" charset="-78"/>
              </a:rPr>
              <a:t> … (no closing at the end)</a:t>
            </a:r>
            <a:endParaRPr lang="en-US"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email needs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أُحِبُّ مَدْرَسَتِي لِأَنَّهُ كَبِيرٌ.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مَدْرَسَةٌ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نَلْبَسُ اللِّبَاسَ المَدْرَسِيَّ.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مَرْحَبًا</a:t>
            </a:r>
            <a:pPr algn="l" indent="0" marL="0">
              <a:buNone/>
            </a:pPr>
            <a:r>
              <a:rPr lang="en-US" sz="1800" dirty="0">
                <a:solidFill>
                  <a:srgbClr val="B83227"/>
                </a:solidFill>
                <a:latin typeface="Calibri" pitchFamily="34" charset="0"/>
                <a:cs typeface="Amiri" pitchFamily="2" charset="-78"/>
              </a:rPr>
              <a:t>! </a:t>
            </a:r>
            <a:pPr algn="l" indent="0" marL="0">
              <a:buNone/>
            </a:pPr>
            <a:r>
              <a:rPr lang="ar-SA" altLang="en-US" sz="2350" dirty="0">
                <a:solidFill>
                  <a:srgbClr val="B83227"/>
                </a:solidFill>
                <a:latin typeface="Amiri" pitchFamily="2" charset="-78"/>
                <a:ea typeface="Amiri" pitchFamily="2" charset="-78"/>
                <a:cs typeface="Amiri" pitchFamily="2" charset="-78"/>
              </a:rPr>
              <a:t>أَدْرُسُ فِي مَدْرَسَةِ</a:t>
            </a:r>
            <a:pPr algn="l" indent="0" marL="0">
              <a:buNone/>
            </a:pPr>
            <a:r>
              <a:rPr lang="en-US" sz="1800" dirty="0">
                <a:solidFill>
                  <a:srgbClr val="B83227"/>
                </a:solidFill>
                <a:latin typeface="Calibri" pitchFamily="34" charset="0"/>
                <a:cs typeface="Amiri" pitchFamily="2" charset="-78"/>
              </a:rPr>
              <a:t> … (no closing at the end)</a:t>
            </a:r>
            <a:endParaRPr lang="en-US"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 مَعَ السَّلَامَةِ، سَلْمَى.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 email needs a greeting AND a closing + signature.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أُحِبُّ مَدْرَسَتِي لِأَنَّهُ كَبِيرٌ.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أُحِبُّ مَدْرَسَتِي لِأَنَّهَا كَبِيرَةٌ.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لِأَنَّهَا كَبِيرَةٌ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نَلْبَسُ اللِّبَاسَ المَدْرَسِيَّ.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نَلْبَسَ اللِّبَاسَ المَدْرَسِيَّ.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verb ending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بِالإِضَافَةِ إِلَى ذٰلِكَ، فِي مَدْرَسَتِي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addition, my school has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صَعْبٌ / صَعْبَةٌ، لٰكِنَّ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difficult, but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أَدْرُسُ فِي ______ ، وَهِيَ ______ وَ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at …; it is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ea typeface="Amiri" pitchFamily="2" charset="-78"/>
                <a:cs typeface="Amiri" pitchFamily="2" charset="-78"/>
              </a:rPr>
              <a:t>يَبْدَأُ يَوْمِي فِي ______ . مَادَّتِي المُفَضَّلَةُ ______ لِأَنَّهُ / لِأَنَّهَا ______ .</a:t>
            </a:r>
            <a:endParaRPr lang="ar-SA" sz="10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day starts at … My favourite subject is … because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 فِي رَأْيِي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 In my opinion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Goodbye,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مَرْحَبًا يَا …  ·  أَدْرُسُ فِي  ·  يَبْدَأُ يَوْمِي  ·  مَادَّتِي المُفَضَّلَةُ  ·  يَجِبُ أَنْ · لَا يَجُوزُ أَنْ  ·  بِالإِضَافَةِ إِلَى ذٰلِكَ  ·  لِأَنَّ · لٰكِنَّ  ·  مَعَ السَّلَامَةِ</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email about my school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مَدْرَسَتِي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(about 60–80 words) to a pen-friend in Jordan, using your buddy’s notes as your plan. Paragraph 1: your school (where, size, one place you like). Paragraph 2: your day and favourite subject, with a reason. Paragraph 3: one rule and your opinion of school. Include a greeting, a closing and at least four connectors.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فِي … ، وَهِيَ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study at …;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يَبْدَأُ يَوْمِي فِي … ، ثُمَّ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day starts at …, then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 ، وَفِي رَأْيِي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 and in my opinion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بِالإِضَافَةِ إِلَى ذٰلِكَ · لٰكِنَّ</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addition · but</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three paragraphs with a greeting and a closing?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least four connectors and a reason in each paragraph?</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مَدْرَسَتِي حَوَالَيْ أَلْفِ طَالِبٍ.</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There are about a thousand students in my school.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طَالِبًا فِي مَدْرَسَتِكَ؟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أَجْمَلُ مَكَانٍ المَكْتَبَةُ، لِأَنَّهَا هَادِئَةٌ.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nicest place is the library, because it is quiet.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مَكَانٍ فِيهَا؟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الرِّيَاضِيَّاتُ صَعْبَةٌ، لٰكِنَّ المُعَلِّمَ يُسَاعِدُنَا.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Maths is difficult, but the teacher helps us.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المَادَّةُ الصَّعْبَةُ عِنْدَكَ؟</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نَأْكُلَ فِي الصَّفِّ، وَفِي رَأْيِي هٰذَا صَعْبٌ!</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not eat in class — in my opinion that is hard!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القَاعِدَةُ الَّتِي لَا تُحِبُّهَا؟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يَاسِرُ،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أَدْرُسُ فِي مَدْرَسَةِ النُّورِ فِي لَنْدَنَ، وَهِيَ كَبِيرَةٌ وَحَدِيثَةٌ. بِالإِضَافَةِ إِلَى ذٰلِكَ، فِيهَا مَكْتَبَةٌ جَمِيلَةٌ وَمَلْعَبٌ وَاسِعٌ.</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يَبْدَأُ يَوْمِي فِي الثَّامِنَةِ وَالنِّصْفِ، وَعِنْدِي سِتُّ حِصَصٍ. مَادَّتِي المُفَضَّلَةُ العُلُومُ، لِأَنَّهَا عَمَلِيَّةٌ وَشَيِّقَةٌ.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يَجِبُ أَنْ نَلْبَسَ اللِّبَاسَ المَدْرَسِيَّ، وَلَا يَجُوزُ أَنْ نَسْتَعْمِلَ الهَاتِفَ. فِي رَأْيِي القَوَاعِدُ مُفِيدَةٌ، لٰكِنَّ الوَاجِبَاتِ كَثِيرَةٌ!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Yasser, I study at Al-Nour School in London; it is big and modern. In addition, it has a lovely library and a wide playground. / My day starts at half past eight, and I have six lessons. My favourite subject is science, because it is practical and engaging. / We must wear uniform, and we must not use phones. In my opinion the rules are useful, but there is a lot of homework! Goodbye,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وَهِيَ كَبِيرَةٌ وَحَدِيثَةٌ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بِالإِضَافَةِ إِلَى ذٰلِكَ</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عَمَلِيَّةٌ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الوَاجِبَاتِ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F4-L10 · Listening and Speaking: School Conversations</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وَالتَّحَدُّثُ — مُحَادَثَاتٌ مَدْرَسِيَّةٌ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F4-L09 · Practice Room — Extended Writing: My School</dc:title>
  <dc:subject>PptxGenJS Presentation</dc:subject>
  <dc:creator>Al Madina Online School · Arabic Department</dc:creator>
  <cp:lastModifiedBy>Al Madina Online School · Arabic Department</cp:lastModifiedBy>
  <cp:revision>1</cp:revision>
  <dcterms:created xsi:type="dcterms:W3CDTF">2026-10-25T17:33:03Z</dcterms:created>
  <dcterms:modified xsi:type="dcterms:W3CDTF">2026-10-25T17:33:03Z</dcterms:modified>
</cp:coreProperties>
</file>