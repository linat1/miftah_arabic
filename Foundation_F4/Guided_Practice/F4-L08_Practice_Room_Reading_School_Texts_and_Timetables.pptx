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F4-L08 (Reading School Texts and Timetables) — new practice tasks built on the lesson’s own word bank and grammar (question words as clues (matā → a time · ayna → a place · kam → a number · man → a person); scanning day → time → subject; notice language (yurjā · ʿalā jamīʿi al-ṭullābi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The “dialogue” step is a shared read-aloud of a short notice. Step 3 then trains scanning: question word → the kind of answer → the line with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أُسَاعِدُكِ · عِنْدَكِ. Turning reading into speaking: refer to the notice, ask for missing information, use the facts in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School Texts and Timetables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نُصُوصٌ مَدْرَسِيَّةٌ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reading-into-speaking-and-writing practice: say the text-type words, read a school notice aloud together, answer scanning questions about it, do a role-play card asking the office about a notice, give a 30-second summary, then build, fix and write their own school notice.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F4-L08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at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rows · columns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دِرَاسِيٌّ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timetable</a:t>
            </a:r>
            <a:endParaRPr lang="en-US" sz="1350" dirty="0"/>
          </a:p>
          <a:p>
            <a:pPr indent="0" marL="0">
              <a:buNone/>
            </a:pPr>
            <a:r>
              <a:rPr lang="en-US" sz="1100" i="1" dirty="0">
                <a:solidFill>
                  <a:srgbClr val="5A6472"/>
                </a:solidFill>
                <a:latin typeface="Calibri" pitchFamily="34" charset="0"/>
                <a:cs typeface="Amiri" pitchFamily="2" charset="-78"/>
              </a:rPr>
              <a:t>jad-wal di-rā-siyy</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heading · date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إِعْلَانٌ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announcement / notice</a:t>
            </a:r>
            <a:endParaRPr lang="en-US" sz="1350" dirty="0"/>
          </a:p>
          <a:p>
            <a:pPr indent="0" marL="0">
              <a:buNone/>
            </a:pPr>
            <a:r>
              <a:rPr lang="en-US" sz="1100" i="1" dirty="0">
                <a:solidFill>
                  <a:srgbClr val="5A6472"/>
                </a:solidFill>
                <a:latin typeface="Calibri" pitchFamily="34" charset="0"/>
                <a:cs typeface="Amiri" pitchFamily="2" charset="-78"/>
              </a:rPr>
              <a:t>i‘-lān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news paragraphs</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نَشْرَةٌ مَدْرَسِيَّةٌ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newsletter</a:t>
            </a:r>
            <a:endParaRPr lang="en-US" sz="1350" dirty="0"/>
          </a:p>
          <a:p>
            <a:pPr indent="0" marL="0">
              <a:buNone/>
            </a:pPr>
            <a:r>
              <a:rPr lang="en-US" sz="1100" i="1" dirty="0">
                <a:solidFill>
                  <a:srgbClr val="5A6472"/>
                </a:solidFill>
                <a:latin typeface="Calibri" pitchFamily="34" charset="0"/>
                <a:cs typeface="Amiri" pitchFamily="2" charset="-78"/>
              </a:rPr>
              <a:t>nash-ra mad-ra-siy-ya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1393546"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greeting · closing</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letter / message</a:t>
            </a:r>
            <a:endParaRPr lang="en-US" sz="1350" dirty="0"/>
          </a:p>
          <a:p>
            <a:pPr indent="0" marL="0">
              <a:buNone/>
            </a:pPr>
            <a:r>
              <a:rPr lang="en-US" sz="1100" i="1" dirty="0">
                <a:solidFill>
                  <a:srgbClr val="5A6472"/>
                </a:solidFill>
                <a:latin typeface="Calibri" pitchFamily="34" charset="0"/>
                <a:cs typeface="Amiri" pitchFamily="2" charset="-78"/>
              </a:rPr>
              <a:t>ri-sā-la</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1455725"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very short · symbol</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لَافِتَةٌ</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a:t>
            </a:r>
            <a:endParaRPr lang="en-US" sz="1350" dirty="0"/>
          </a:p>
          <a:p>
            <a:pPr indent="0" marL="0">
              <a:buNone/>
            </a:pPr>
            <a:r>
              <a:rPr lang="en-US" sz="1100" i="1" dirty="0">
                <a:solidFill>
                  <a:srgbClr val="5A6472"/>
                </a:solidFill>
                <a:latin typeface="Calibri" pitchFamily="34" charset="0"/>
                <a:cs typeface="Amiri" pitchFamily="2" charset="-78"/>
              </a:rPr>
              <a:t>lā-fi-ta</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1331366"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short information</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مَنْشُورٌ</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circular / leaflet</a:t>
            </a:r>
            <a:endParaRPr lang="en-US" sz="1350" dirty="0"/>
          </a:p>
          <a:p>
            <a:pPr indent="0" marL="0">
              <a:buNone/>
            </a:pPr>
            <a:r>
              <a:rPr lang="en-US" sz="1100" i="1" dirty="0">
                <a:solidFill>
                  <a:srgbClr val="5A6472"/>
                </a:solidFill>
                <a:latin typeface="Calibri" pitchFamily="34" charset="0"/>
                <a:cs typeface="Amiri" pitchFamily="2" charset="-78"/>
              </a:rPr>
              <a:t>man-shūr</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words as clues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 ← وَقْتٌ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 a time</a:t>
            </a:r>
            <a:endParaRPr lang="en-US" sz="1350" dirty="0"/>
          </a:p>
          <a:p>
            <a:pPr indent="0" marL="0">
              <a:buNone/>
            </a:pPr>
            <a:r>
              <a:rPr lang="en-US" sz="1100" i="1" dirty="0">
                <a:solidFill>
                  <a:srgbClr val="5A6472"/>
                </a:solidFill>
                <a:latin typeface="Calibri" pitchFamily="34" charset="0"/>
                <a:cs typeface="Amiri" pitchFamily="2" charset="-78"/>
              </a:rPr>
              <a:t>ma-tā? ← waq-tun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 ← مَكَانٌ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 → a place</a:t>
            </a:r>
            <a:endParaRPr lang="en-US" sz="1350" dirty="0"/>
          </a:p>
          <a:p>
            <a:pPr indent="0" marL="0">
              <a:buNone/>
            </a:pPr>
            <a:r>
              <a:rPr lang="en-US" sz="1100" i="1" dirty="0">
                <a:solidFill>
                  <a:srgbClr val="5A6472"/>
                </a:solidFill>
                <a:latin typeface="Calibri" pitchFamily="34" charset="0"/>
                <a:cs typeface="Amiri" pitchFamily="2" charset="-78"/>
              </a:rPr>
              <a:t>ay-na? ← ma-kā-nun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 رَقْمٌ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 a number</a:t>
            </a:r>
            <a:endParaRPr lang="en-US" sz="1350" dirty="0"/>
          </a:p>
          <a:p>
            <a:pPr indent="0" marL="0">
              <a:buNone/>
            </a:pPr>
            <a:r>
              <a:rPr lang="en-US" sz="1100" i="1" dirty="0">
                <a:solidFill>
                  <a:srgbClr val="5A6472"/>
                </a:solidFill>
                <a:latin typeface="Calibri" pitchFamily="34" charset="0"/>
                <a:cs typeface="Amiri" pitchFamily="2" charset="-78"/>
              </a:rPr>
              <a:t>kam? ← raq-mun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 شَخْصٌ</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 a person</a:t>
            </a:r>
            <a:endParaRPr lang="en-US" sz="1350" dirty="0"/>
          </a:p>
          <a:p>
            <a:pPr indent="0" marL="0">
              <a:buNone/>
            </a:pPr>
            <a:r>
              <a:rPr lang="en-US" sz="1100" i="1" dirty="0">
                <a:solidFill>
                  <a:srgbClr val="5A6472"/>
                </a:solidFill>
                <a:latin typeface="Calibri" pitchFamily="34" charset="0"/>
                <a:cs typeface="Amiri" pitchFamily="2" charset="-78"/>
              </a:rPr>
              <a:t>man? ← shakh-ṣun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يُرْجَى …</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 (on notices)</a:t>
            </a:r>
            <a:endParaRPr lang="en-US" sz="1350" dirty="0"/>
          </a:p>
          <a:p>
            <a:pPr indent="0" marL="0">
              <a:buNone/>
            </a:pPr>
            <a:r>
              <a:rPr lang="en-US" sz="1100" i="1" dirty="0">
                <a:solidFill>
                  <a:srgbClr val="5A6472"/>
                </a:solidFill>
                <a:latin typeface="Calibri" pitchFamily="34" charset="0"/>
                <a:cs typeface="Amiri" pitchFamily="2" charset="-78"/>
              </a:rPr>
              <a:t>yur-jā …</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جَمِيعِ الطُّلَّابِ</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all students must …</a:t>
            </a:r>
            <a:endParaRPr lang="en-US" sz="1350" dirty="0"/>
          </a:p>
          <a:p>
            <a:pPr indent="0" marL="0">
              <a:buNone/>
            </a:pPr>
            <a:r>
              <a:rPr lang="en-US" sz="1100" i="1" dirty="0">
                <a:solidFill>
                  <a:srgbClr val="5A6472"/>
                </a:solidFill>
                <a:latin typeface="Calibri" pitchFamily="34" charset="0"/>
                <a:cs typeface="Amiri" pitchFamily="2" charset="-78"/>
              </a:rPr>
              <a:t>ʿa-lā ja-mī-ʿi aṭ-ṭul-lā-bi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notice aloud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مَدْرَسِيٌّ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Notice: a trip to the museum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إِعْلَانٌ: رِحْلَةٌ إِلَى المَتْحَفِ</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Thursday, Year 8 will visit the Science Museum.</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الخَمِيسِ القَادِمِ، يَزُورُ الصَّفُّ الثَّامِنُ مَتْحَفَ العُلُومِ.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coach leaves from in front of the school at nine o’clock.</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تَخْرُجُ الحَافِلَةُ مِنْ أَمَامِ المَدْرَسَةِ فِي السَّاعَةِ التَّاسِعَةِ.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ticket costs five pounds.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ثَمَنُ التَّذْكِرَةِ خَمْسَةُ جُنَيْهَاتٍ.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students must wear uniform and bring a lunch.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عَلَى جَمِيعِ الطُّلَّابِ أَنْ يَلْبَسُوا اللِّبَاسَ المَدْرَسِيَّ وَيُحْضِرُوا غَدَاءً.</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hand in the form before Monday.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يُرْجَى تَسْلِيمُ الاسْتِمَارَةِ قَبْلَ يَوْمِ الإِثْنَيْنِ.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Take turns reading one line each, aloud and clearly. Then the Leader asks the questions on the next slide — the Speaker finds the evidence WITHOUT reading the English.</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Scan for the evidence: question word → answer type → line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السَّطْرُ رَقْمُ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is the trip?</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الرِّحْلَةُ؟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السَّطْرِ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the students going?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يَذْهَبُ الطُّلَّابُ؟</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 فِي السَّاعَةِ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the coach leave from, and when?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تَخْرُجُ الحَافِلَةُ؟ وَمَتَى؟</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جُنَيْهَاتٍ</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the ticket?</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التَّذْكِرَةِ؟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وَيُسَلِّمُوا … قَبْلَ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يَلْبَسُوا … وَ…</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the students do?</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عَلَى الطُّلَّابِ أَنْ يَفْعَلُوا؟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asking the school office about the trip</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مَكْتَبِ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قَرَأْتُ الإِعْلَانَ عَنْ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read the notice.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 كَيْفَ أُسَاعِدُكَ؟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مَتَى …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when you come back.</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هَلْ عِنْدَكَ سُؤَالٌ؟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هَلْ يُمْكِنُ أَنْ أَدْفَعَ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price / payment.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السَّاعَةِ الثَّالِثَةِ.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الاسْتِمَارَةُ ← سَأُحْضِرُهَا يَوْمَ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when you will bring it.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طَبْعًا. وَالاسْتِمَارَةُ؟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school secretary.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summarise the notice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لَخِّصِ الإِعْلَانَ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Without looking, summarise the museum notice in 30 seconds: what, when, where from, how much, and what students must do.</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facts: when, where, how much.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facts, including the time and the rules.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the facts + your opinion: </a:t>
            </a:r>
            <a:pPr algn="l" indent="0" marL="0">
              <a:buNone/>
            </a:pPr>
            <a:r>
              <a:rPr lang="ar-SA" altLang="en-US" sz="1500" dirty="0">
                <a:solidFill>
                  <a:srgbClr val="1F2A37"/>
                </a:solidFill>
                <a:latin typeface="Amiri" pitchFamily="2" charset="-78"/>
                <a:ea typeface="Amiri" pitchFamily="2" charset="-78"/>
                <a:cs typeface="Amiri" pitchFamily="2" charset="-78"/>
              </a:rPr>
              <a:t>هَلْ تُرِيدُ أَنْ تَذْهَبَ؟ لِمَاذَا؟</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trip is next Thursday.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الخَمِيسِ</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خَمِيسٍ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القَادِمِ.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القَادِمَةِ.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All students must bring a lunch.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جَمِيعِ الطُّلَّابِ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جَمِيعُ عَلَى الطُّلَّابِ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يُحْضِرُوا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يُحْضِرُونَ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Please hand in the form before Monday.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يُرْجَى</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نَرْجُو أَنَا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تَسْلِيمُ الاسْتِمَارَةِ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تَسْلِيمَ الاسْتِمَارَةُ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يَوْمِ الإِثْنَيْنِ.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يَوْمُ الإِثْنَيْنِ.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trip is next Thursday.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day =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القَادِمِ</a:t>
            </a:r>
            <a:pPr algn="l" indent="0" marL="0">
              <a:buNone/>
            </a:pPr>
            <a:r>
              <a:rPr lang="en-US" sz="1050" i="1" dirty="0">
                <a:solidFill>
                  <a:srgbClr val="5A6472"/>
                </a:solidFill>
                <a:latin typeface="Calibri" pitchFamily="34" charset="0"/>
                <a:cs typeface="Amiri" pitchFamily="2" charset="-78"/>
              </a:rPr>
              <a:t> agrees with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(m.).</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الرِّحْلَةُ يَوْمَ الخَمِيسِ القَادِمِ.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All students must bring a lunch.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Notice language: </a:t>
            </a:r>
            <a:pPr algn="l" indent="0" marL="0">
              <a:buNone/>
            </a:pPr>
            <a:r>
              <a:rPr lang="ar-SA" altLang="en-US" sz="1350" dirty="0">
                <a:solidFill>
                  <a:srgbClr val="5A6472"/>
                </a:solidFill>
                <a:latin typeface="Amiri" pitchFamily="2" charset="-78"/>
                <a:ea typeface="Amiri" pitchFamily="2" charset="-78"/>
                <a:cs typeface="Amiri" pitchFamily="2" charset="-78"/>
              </a:rPr>
              <a:t>عَلَى … أَنْ</a:t>
            </a:r>
            <a:pPr algn="l" indent="0" marL="0">
              <a:buNone/>
            </a:pPr>
            <a:r>
              <a:rPr lang="en-US" sz="1050" i="1" dirty="0">
                <a:solidFill>
                  <a:srgbClr val="5A6472"/>
                </a:solidFill>
                <a:latin typeface="Calibri" pitchFamily="34" charset="0"/>
                <a:cs typeface="Amiri" pitchFamily="2" charset="-78"/>
              </a:rPr>
              <a:t> + verb (they → -ū, no nūn 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جَمِيعِ الطُّلَّابِ أَنْ يُحْضِرُوا غَدَاءً.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Please hand in the form before Monday.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 (notice) = </a:t>
            </a:r>
            <a:pPr algn="l" indent="0" marL="0">
              <a:buNone/>
            </a:pPr>
            <a:r>
              <a:rPr lang="ar-SA" altLang="en-US" sz="1350" dirty="0">
                <a:solidFill>
                  <a:srgbClr val="5A6472"/>
                </a:solidFill>
                <a:latin typeface="Amiri" pitchFamily="2" charset="-78"/>
                <a:ea typeface="Amiri" pitchFamily="2" charset="-78"/>
                <a:cs typeface="Amiri" pitchFamily="2" charset="-78"/>
              </a:rPr>
              <a:t>يُرْجَى</a:t>
            </a:r>
            <a:pPr algn="l" indent="0" marL="0">
              <a:buNone/>
            </a:pPr>
            <a:r>
              <a:rPr lang="en-US" sz="1050" i="1" dirty="0">
                <a:solidFill>
                  <a:srgbClr val="5A6472"/>
                </a:solidFill>
                <a:latin typeface="Calibri" pitchFamily="34" charset="0"/>
                <a:cs typeface="Amiri" pitchFamily="2" charset="-78"/>
              </a:rPr>
              <a:t> + verbal noun; before = </a:t>
            </a:r>
            <a:pPr algn="l" indent="0" marL="0">
              <a:buNone/>
            </a:pPr>
            <a:r>
              <a:rPr lang="ar-SA" altLang="en-US" sz="1350" dirty="0">
                <a:solidFill>
                  <a:srgbClr val="5A6472"/>
                </a:solidFill>
                <a:latin typeface="Amiri" pitchFamily="2" charset="-78"/>
                <a:ea typeface="Amiri" pitchFamily="2" charset="-78"/>
                <a:cs typeface="Amiri" pitchFamily="2" charset="-78"/>
              </a:rPr>
              <a:t>قَبْلَ</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يُرْجَى تَسْلِيمُ الاسْتِمَارَةِ قَبْلَ يَوْمِ الإِثْنَيْنِ.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مَتَى الرِّحْلَةُ؟ — فِي المَتْحَفِ.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مَتَى</a:t>
            </a:r>
            <a:pPr algn="l" indent="0" marL="0">
              <a:buNone/>
            </a:pPr>
            <a:r>
              <a:rPr lang="en-US" sz="1300" i="1" dirty="0">
                <a:solidFill>
                  <a:srgbClr val="5A6472"/>
                </a:solidFill>
                <a:latin typeface="Calibri" pitchFamily="34" charset="0"/>
                <a:cs typeface="Amiri" pitchFamily="2" charset="-78"/>
              </a:rPr>
              <a:t> asks for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ثَمَنُ التَّذْكِرَةِ؟ — فِي السَّاعَةِ التَّاسِعَةِ.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Price, not time.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الحَافِلَةُ يَخْرُجُ فِي التَّاسِعَةِ.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حَافِلَةٌ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مَتَى الرِّحْلَةُ؟ — فِي المَتْحَفِ.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مَتَى الرِّحْلَةُ؟ — يَوْمَ الخَمِيسِ.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مَتَى</a:t>
            </a:r>
            <a:pPr algn="l" indent="0" marL="0">
              <a:buNone/>
            </a:pPr>
            <a:r>
              <a:rPr lang="en-US" sz="1150" b="1" dirty="0">
                <a:solidFill>
                  <a:srgbClr val="1B3B6F"/>
                </a:solidFill>
                <a:latin typeface="Calibri" pitchFamily="34" charset="0"/>
                <a:cs typeface="Amiri" pitchFamily="2" charset="-78"/>
              </a:rPr>
              <a:t> → a time or a day, not a place.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كَمْ ثَمَنُ التَّذْكِرَةِ؟ — فِي السَّاعَةِ التَّاسِعَةِ.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ثَمَنُهَا خَمْسَةُ جُنَيْهَاتٍ.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كَمْ ثَمَنُ</a:t>
            </a:r>
            <a:pPr algn="l" indent="0" marL="0">
              <a:buNone/>
            </a:pPr>
            <a:r>
              <a:rPr lang="en-US" sz="1150" b="1" dirty="0">
                <a:solidFill>
                  <a:srgbClr val="1B3B6F"/>
                </a:solidFill>
                <a:latin typeface="Calibri" pitchFamily="34" charset="0"/>
                <a:cs typeface="Amiri" pitchFamily="2" charset="-78"/>
              </a:rPr>
              <a:t> → a price.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الحَافِلَةُ يَخْرُجُ فِي التَّاسِعَةِ.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الحَافِلَةُ تَخْرُجُ فِي التَّاسِعَةِ.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تَخْرُجُ</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جَمِيعِ الطُّلَّابِ أَنْ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All students must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يُرْجَى ______ قَبْلَ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 … before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إِعْلَانٌ: ______</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Notice: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______ فِي السَّاعَةِ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المَكَانُ: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Place: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الثَّمَنُ: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Price: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إِعْلَانٌ  ·  رِحْلَةٌ · حَفْلَةٌ  ·  يَوْمَ … فِي السَّاعَةِ …  ·  مِنْ أَمَامِ المَدْرَسَةِ  ·  ثَمَنُ التَّذْكِرَةِ · مَجَّانًا  ·  عَلَى جَمِيعِ الطُّلَّابِ أَنْ  ·  يُرْجَى  ·  قَبْلَ</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 school notice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إِعْلَانًا مَدْرَسِيًّا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your own school notice (about 40–60 words) for an event (a sports day, a trip, a club or an Eid party). Include: • a title • what and when (day + time) • where • the price (or free) • two things students must do • a “please” line with a deadline.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إِعْلَانٌ: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notice: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 فِي السَّاعَةِ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جَمِيعِ الطُّلَّابِ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all students must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يُرْجَى … قَبْلَ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please … before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what, when, where and price clearly?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notice language (</a:t>
            </a:r>
            <a:pPr algn="l" indent="0" marL="0">
              <a:buNone/>
            </a:pPr>
            <a:r>
              <a:rPr lang="ar-SA" altLang="en-US" sz="1450" dirty="0">
                <a:solidFill>
                  <a:srgbClr val="5A6472"/>
                </a:solidFill>
                <a:latin typeface="Amiri" pitchFamily="2" charset="-78"/>
                <a:ea typeface="Amiri" pitchFamily="2" charset="-78"/>
                <a:cs typeface="Amiri" pitchFamily="2" charset="-78"/>
              </a:rPr>
              <a:t>عَلَى جَمِيعِ الطُّلَّابِ أَنْ</a:t>
            </a:r>
            <a:pPr algn="l" indent="0" marL="0">
              <a:buNone/>
            </a:pPr>
            <a:r>
              <a:rPr lang="en-US" sz="1100" dirty="0">
                <a:solidFill>
                  <a:srgbClr val="5A6472"/>
                </a:solidFill>
                <a:latin typeface="Calibri" pitchFamily="34" charset="0"/>
                <a:cs typeface="Amiri" pitchFamily="2" charset="-78"/>
              </a:rPr>
              <a:t> … · </a:t>
            </a:r>
            <a:pPr algn="l" indent="0" marL="0">
              <a:buNone/>
            </a:pPr>
            <a:r>
              <a:rPr lang="ar-SA" altLang="en-US" sz="1450" dirty="0">
                <a:solidFill>
                  <a:srgbClr val="5A6472"/>
                </a:solidFill>
                <a:latin typeface="Amiri" pitchFamily="2" charset="-78"/>
                <a:ea typeface="Amiri" pitchFamily="2" charset="-78"/>
                <a:cs typeface="Amiri" pitchFamily="2" charset="-78"/>
              </a:rPr>
              <a:t>يُرْجَى</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 قَرَأْتُ الإِعْلَانَ عَنِ الرِّحْلَةِ إِلَى المَتْحَفِ.</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morning! I read the notice about the trip to the museum.</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الخَيْرِ! كَيْفَ أُسَاعِدُكَ؟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مَتَى نَرْجِعُ إِلَى المَدْرَسَةِ؟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when do we come back to school?</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هَلْ عِنْدَكَ سُؤَالٌ؟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هَلْ يُمْكِنُ أَنْ أَدْفَعَ الخَمْسَةَ جُنَيْهَاتٍ الآنَ؟</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Thanks. Can I pay the five pounds now?</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السَّاعَةِ الثَّالِثَةِ.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سَأُحْضِرُهَا غَدًا، قَبْلَ يَوْمِ الإِثْنَيْنِ.</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bring it tomorrow, before Monday.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طَبْعًا. وَالاسْتِمَارَةُ؟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إِعْلَانٌ: حَفْلَةُ العِيدِ. يَوْمَ الجُمُعَةِ القَادِمِ، فِي السَّاعَةِ الثَّانِيَةِ، تُقَامُ حَفْلَةُ العِيدِ فِي قَاعَةِ المَدْرَسَةِ. الدُّخُولُ مَجَّانًا. سَيَكُونُ هُنَاكَ طَعَامٌ وَمُسَابَقَاتٌ وَهَدَايَا. عَلَى جَمِيعِ الطُّلَّابِ أَنْ يَلْبَسُوا مَلَابِسَ العِيدِ، وَأَنْ يُحْضِرُوا طَبَقًا صَغِيرًا. يُرْجَى كِتَابَةُ اسْمِكَ عِنْدَ المُعَلِّمَةِ قَبْلَ يَوْمِ الأَرْبِعَاءِ.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“Notice: the Eid party. Next Friday at two o’clock the Eid party will take place in the school hall. Entry is free. There will be food, competitions and presents. All students must wear Eid clothes and bring a small dish. Please give your name to the teacher before Wednesday.”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يَوْمَ الجُمُعَةِ القَادِمِ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الدُّخُولُ مَجَّانًا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جَمِيعِ الطُّلَّابِ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يُرْجَى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F4-L09 · Extended Writing: My School</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المُطَوَّلَةُ — مَدْرَسَتِي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F4-L08 · Practice Room — Reading School Texts and Timetables</dc:title>
  <dc:subject>PptxGenJS Presentation</dc:subject>
  <dc:creator>Al Madina Online School · Arabic Department</dc:creator>
  <cp:lastModifiedBy>Al Madina Online School · Arabic Department</cp:lastModifiedBy>
  <cp:revision>1</cp:revision>
  <dcterms:created xsi:type="dcterms:W3CDTF">2026-10-25T17:30:05Z</dcterms:created>
  <dcterms:modified xsi:type="dcterms:W3CDTF">2026-10-25T17:30:05Z</dcterms:modified>
</cp:coreProperties>
</file>