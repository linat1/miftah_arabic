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F4-L05 (Giving Reasons — Why?) — new practice tasks built on the lesson’s own word bank and grammar (li-mādhā? → li-annahu / li-annahā + adjective that agrees with the subject; li-annanī + verb (because I …); li-anna + noun).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تُرِيدِينَ · عِنْدَكِ. Language: three ways to give a reason: li-annahu + adj · li-annanī + verb · li-anna +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Practice Room — Giving Reasons — Why?</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لِمَاذَا؟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giving reasons: say the reason adjectives, act a short dialogue, answer “why?” cards, do a role-play card persuading a parent about an after-school club, give a 30-second talk with three reasons, then build, fix and write a short text full of reasons.</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F4-L05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Positive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سَهْلٌ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easy</a:t>
            </a:r>
            <a:endParaRPr lang="en-US" sz="1350" dirty="0"/>
          </a:p>
          <a:p>
            <a:pPr indent="0" marL="0">
              <a:buNone/>
            </a:pPr>
            <a:r>
              <a:rPr lang="en-US" sz="1100" i="1" dirty="0">
                <a:solidFill>
                  <a:srgbClr val="5A6472"/>
                </a:solidFill>
                <a:latin typeface="Calibri" pitchFamily="34" charset="0"/>
                <a:cs typeface="Amiri" pitchFamily="2" charset="-78"/>
              </a:rPr>
              <a:t>sahl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صَعْبٌ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difficult</a:t>
            </a:r>
            <a:endParaRPr lang="en-US" sz="1350" dirty="0"/>
          </a:p>
          <a:p>
            <a:pPr indent="0" marL="0">
              <a:buNone/>
            </a:pPr>
            <a:r>
              <a:rPr lang="en-US" sz="1100" i="1" dirty="0">
                <a:solidFill>
                  <a:srgbClr val="5A6472"/>
                </a:solidFill>
                <a:latin typeface="Calibri" pitchFamily="34" charset="0"/>
                <a:cs typeface="Amiri" pitchFamily="2" charset="-78"/>
              </a:rPr>
              <a:t>ṣa‘b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صَعْبَةٌ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صَعْبٌ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مُهِمٌّ</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important</a:t>
            </a:r>
            <a:endParaRPr lang="en-US" sz="1350" dirty="0"/>
          </a:p>
          <a:p>
            <a:pPr indent="0" marL="0">
              <a:buNone/>
            </a:pPr>
            <a:r>
              <a:rPr lang="en-US" sz="1100" i="1" dirty="0">
                <a:solidFill>
                  <a:srgbClr val="5A6472"/>
                </a:solidFill>
                <a:latin typeface="Calibri" pitchFamily="34" charset="0"/>
                <a:cs typeface="Amiri" pitchFamily="2" charset="-78"/>
              </a:rPr>
              <a:t>mu-himm</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a:t>
            </a:r>
            <a:endParaRPr lang="en-US" sz="1350" dirty="0"/>
          </a:p>
          <a:p>
            <a:pPr indent="0" marL="0">
              <a:buNone/>
            </a:pPr>
            <a:r>
              <a:rPr lang="en-US" sz="1100" i="1" dirty="0">
                <a:solidFill>
                  <a:srgbClr val="5A6472"/>
                </a:solidFill>
                <a:latin typeface="Calibri" pitchFamily="34" charset="0"/>
                <a:cs typeface="Amiri" pitchFamily="2" charset="-78"/>
              </a:rPr>
              <a:t>mu-fīd</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وَاضِحٌ</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clear</a:t>
            </a:r>
            <a:endParaRPr lang="en-US" sz="1350" dirty="0"/>
          </a:p>
          <a:p>
            <a:pPr indent="0" marL="0">
              <a:buNone/>
            </a:pPr>
            <a:r>
              <a:rPr lang="en-US" sz="1100" i="1" dirty="0">
                <a:solidFill>
                  <a:srgbClr val="5A6472"/>
                </a:solidFill>
                <a:latin typeface="Calibri" pitchFamily="34" charset="0"/>
                <a:cs typeface="Amiri" pitchFamily="2" charset="-78"/>
              </a:rPr>
              <a:t>wā-ḍiḥ</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وَاضِحَةٌ</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وَاضِحٌ</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مُنَظَّمٌ</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organised</a:t>
            </a:r>
            <a:endParaRPr lang="en-US" sz="1350" dirty="0"/>
          </a:p>
          <a:p>
            <a:pPr indent="0" marL="0">
              <a:buNone/>
            </a:pPr>
            <a:r>
              <a:rPr lang="en-US" sz="1100" i="1" dirty="0">
                <a:solidFill>
                  <a:srgbClr val="5A6472"/>
                </a:solidFill>
                <a:latin typeface="Calibri" pitchFamily="34" charset="0"/>
                <a:cs typeface="Amiri" pitchFamily="2" charset="-78"/>
              </a:rPr>
              <a:t>mu-naẓ-ẓam</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مُنَظَّمَةٌ</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مُنَظَّمٌ</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More reasons — positive and negative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مُمِلٌّ</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شَيِّقٌ</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engaging</a:t>
            </a:r>
            <a:endParaRPr lang="en-US" sz="1350" dirty="0"/>
          </a:p>
          <a:p>
            <a:pPr indent="0" marL="0">
              <a:buNone/>
            </a:pPr>
            <a:r>
              <a:rPr lang="en-US" sz="1100" i="1" dirty="0">
                <a:solidFill>
                  <a:srgbClr val="5A6472"/>
                </a:solidFill>
                <a:latin typeface="Calibri" pitchFamily="34" charset="0"/>
                <a:cs typeface="Amiri" pitchFamily="2" charset="-78"/>
              </a:rPr>
              <a:t>shay-yiq</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شَيِّقَةٌ</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شَيِّقٌ</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إِبْدَاعِيٌّ</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creative</a:t>
            </a:r>
            <a:endParaRPr lang="en-US" sz="1350" dirty="0"/>
          </a:p>
          <a:p>
            <a:pPr indent="0" marL="0">
              <a:buNone/>
            </a:pPr>
            <a:r>
              <a:rPr lang="en-US" sz="1100" i="1" dirty="0">
                <a:solidFill>
                  <a:srgbClr val="5A6472"/>
                </a:solidFill>
                <a:latin typeface="Calibri" pitchFamily="34" charset="0"/>
                <a:cs typeface="Amiri" pitchFamily="2" charset="-78"/>
              </a:rPr>
              <a:t>ib-dā-‘iyy</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إِبْدَاعِيَّةٌ</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إِبْدَاعِيٌّ</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‘a-ma-liyy</a:t>
            </a:r>
            <a:endParaRPr lang="en-US" sz="1350" dirty="0"/>
          </a:p>
        </p:txBody>
      </p:sp>
      <p:sp>
        <p:nvSpPr>
          <p:cNvPr id="78" name="Shape 7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0" name="Text 7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81" name="Shape 7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3" name="Text 8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84" name="Shape 8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566928" y="4261104"/>
            <a:ext cx="310896" cy="310896"/>
          </a:xfrm>
          <a:prstGeom prst="ellipse">
            <a:avLst/>
          </a:prstGeom>
          <a:solidFill>
            <a:srgbClr val="F4F1EA"/>
          </a:solidFill>
          <a:ln w="12700">
            <a:solidFill>
              <a:srgbClr val="F4F1EA"/>
            </a:solidFill>
            <a:prstDash val="solid"/>
          </a:ln>
        </p:spPr>
      </p:sp>
      <p:sp>
        <p:nvSpPr>
          <p:cNvPr id="86" name="Text 8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7" name="Shape 8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8" name="Text 8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9" name="Text 8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مُعَقَّدٌ</a:t>
            </a:r>
            <a:endParaRPr lang="ar-SA" sz="3000" dirty="0"/>
          </a:p>
        </p:txBody>
      </p:sp>
      <p:sp>
        <p:nvSpPr>
          <p:cNvPr id="90" name="Text 8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complicated</a:t>
            </a:r>
            <a:endParaRPr lang="en-US" sz="1350" dirty="0"/>
          </a:p>
          <a:p>
            <a:pPr indent="0" marL="0">
              <a:buNone/>
            </a:pPr>
            <a:r>
              <a:rPr lang="en-US" sz="1100" i="1" dirty="0">
                <a:solidFill>
                  <a:srgbClr val="5A6472"/>
                </a:solidFill>
                <a:latin typeface="Calibri" pitchFamily="34" charset="0"/>
                <a:cs typeface="Amiri" pitchFamily="2" charset="-78"/>
              </a:rPr>
              <a:t>mu-‘aq-qad</a:t>
            </a:r>
            <a:endParaRPr lang="en-US" sz="1350" dirty="0"/>
          </a:p>
        </p:txBody>
      </p:sp>
      <p:sp>
        <p:nvSpPr>
          <p:cNvPr id="91" name="Shape 8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مُعَقَّدَةٌ</a:t>
            </a:r>
            <a:endParaRPr lang="ar-SA" sz="1500" dirty="0"/>
          </a:p>
        </p:txBody>
      </p:sp>
      <p:sp>
        <p:nvSpPr>
          <p:cNvPr id="94" name="Shape 9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مُعَقَّدٌ</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do you like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تُحِبُّهَا؟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Arabic?</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تُحِبُّ اللُّغَةَ العَرَبِيَّةَ؟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useful, and because I want to read the Qur’an.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لِأَنَّهَا مُفِيدَةٌ، وَلِأَنَّنِي أُرِيدُ أَنْ أَقْرَأَ القُرْآنَ.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why don’t you like history?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وَلِمَاذَا لَا تُحِبُّ التَّارِيخَ؟</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a bit boring, and it has lots of dates.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لِأَنَّهُ مُمِلٌّ قَلِيلًا، وَفِيهِ تَوَارِيخُ كَثِيرَةٌ.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science?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وَالعُلُومُ؟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it because the experiments are engaging and the teacher is clear.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أُحِبُّهَا لِأَنَّ التَّجَارِبَ شَيِّقَةٌ، وَالمُعَلِّمَ وَاضِحٌ.</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reasons — try all three types: </a:t>
            </a:r>
            <a:pPr algn="l" indent="0" marL="0">
              <a:buNone/>
            </a:pPr>
            <a:r>
              <a:rPr lang="ar-SA" altLang="en-US" sz="1500" b="1" dirty="0">
                <a:solidFill>
                  <a:srgbClr val="1B3B6F"/>
                </a:solidFill>
                <a:latin typeface="Amiri" pitchFamily="2" charset="-78"/>
                <a:ea typeface="Amiri" pitchFamily="2" charset="-78"/>
                <a:cs typeface="Amiri" pitchFamily="2" charset="-78"/>
              </a:rPr>
              <a:t>لِأَنَّهُ / لِأَنَّهَا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لِأَنَّنِي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 + noun.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Every answer starts with a reason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وَلِأَنَّنِي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 / 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your favourite subject?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مَادَّتَكَ المُفَضَّلَةَ؟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وَنَسْتَعْمِلُهَا كُلَّ يَوْمٍ</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maths important?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الرِّيَاضِيَّاتُ مُهِمَّةٌ؟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وَلِأَنَّ عَائِلَتِي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لِأَنَّنِي أُرِيدُ 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study Arabic?</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تَدْرُسُ العَرَبِيَّةَ؟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 / لِأَنَّهَا صَعْبٌ / صَعْبَةٌ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don’t you like …? (Leader picks)</a:t>
            </a:r>
            <a:endParaRPr lang="en-US" sz="1100" dirty="0"/>
          </a:p>
        </p:txBody>
      </p:sp>
      <p:sp>
        <p:nvSpPr>
          <p:cNvPr id="49" name="Text 46"/>
          <p:cNvSpPr txBox="1"/>
          <p:nvPr/>
        </p:nvSpPr>
        <p:spPr>
          <a:xfrm>
            <a:off x="1069848" y="4478731"/>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 لَا تُحِبُّ … ؟</a:t>
            </a:r>
            <a:pPr algn="l" indent="0" marL="0">
              <a:buNone/>
            </a:pPr>
            <a:r>
              <a:rPr lang="en-US" sz="1100" dirty="0">
                <a:solidFill>
                  <a:srgbClr val="5A6472"/>
                </a:solidFill>
                <a:latin typeface="Calibri" pitchFamily="34" charset="0"/>
                <a:cs typeface="Amiri" pitchFamily="2" charset="-78"/>
              </a:rPr>
              <a:t> (the Leader chooses a subject)</a:t>
            </a:r>
            <a:endParaRPr lang="en-US" sz="11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وَلِأَنَّ أَصْدِقَائِي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 المُعَلِّمِينَ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your school?</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مَدْرَسَتَكَ؟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persuading your parent about a club</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أُقْنِعُ أُمِّي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أُرِيدُ نَادِيَ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club.</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نَادٍ تُرِيدُ؟</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1: it is …</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لٰكِنَّ ← لِأَنَّنِي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2: because I …</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لٰكِنَّ عِنْدَكَ وَاجِبَاتٍ كَثِيرَةً!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فِي السَّاعَةِ … ، وَصَدِيقِي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time + one more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وَمَتَى يَنْتَهِي النَّادِي؟</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yourself · Leader = your mother or father.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three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ثَلَاثَةُ أَسْبَابٍ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subject (or your school). Give three different reasons in 30 seconds why you like it — or don’t.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reasons with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reasons, including </a:t>
            </a:r>
            <a:pPr algn="l" indent="0" marL="0">
              <a:buNone/>
            </a:pPr>
            <a:r>
              <a:rPr lang="ar-SA" altLang="en-US" sz="1500" dirty="0">
                <a:solidFill>
                  <a:srgbClr val="1F2A37"/>
                </a:solidFill>
                <a:latin typeface="Amiri" pitchFamily="2" charset="-78"/>
                <a:ea typeface="Amiri" pitchFamily="2" charset="-78"/>
                <a:cs typeface="Amiri" pitchFamily="2" charset="-78"/>
              </a:rPr>
              <a:t>لِأَنَّنِي</a:t>
            </a:r>
            <a:pPr algn="l" indent="0" marL="0">
              <a:buNone/>
            </a:pPr>
            <a:r>
              <a:rPr lang="en-US" sz="1150" dirty="0">
                <a:solidFill>
                  <a:srgbClr val="1F2A37"/>
                </a:solidFill>
                <a:latin typeface="Calibri" pitchFamily="34" charset="0"/>
                <a:cs typeface="Amiri" pitchFamily="2" charset="-78"/>
              </a:rPr>
              <a:t> + verb.</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reasons +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 noun + a “but”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geography because it is interesting.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الجُغْرَافِيَا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الجُغْرَافِيَا هُوَ</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مُثِيرَةٌ لِلِاهْتِمَامِ.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مُثِيرٌ لِلِاهْتِمَامِ.</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study Arabic because I love the language.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العَرَبِيَّةَ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تَدْرُسُ العَرَبِيَّةَ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اللُّغَةَ.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اللُّغَةُ.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PE because the teacher is kind.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التَّرْبِيَةَ البَدَنِيَّةَ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التَّرْبِيَةُ البَدَنِيَّةُ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 المُعَلِّمَ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 المُعَلِّمُ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لَطِيفٌ.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لَطِيفًا.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geography because it is interesting.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الجُغْرَافِيَا</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لِأَنَّهَا مُثِيرَةٌ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الجُغْرَافِيَا لِأَنَّهَا مُثِيرَةٌ لِلِاهْتِمَامِ.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study Arabic because I love the language.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I + verb = </a:t>
            </a:r>
            <a:pPr algn="l" indent="0" marL="0">
              <a:buNone/>
            </a:pPr>
            <a:r>
              <a:rPr lang="ar-SA" altLang="en-US" sz="1350" dirty="0">
                <a:solidFill>
                  <a:srgbClr val="5A6472"/>
                </a:solidFill>
                <a:latin typeface="Amiri" pitchFamily="2" charset="-78"/>
                <a:ea typeface="Amiri" pitchFamily="2" charset="-78"/>
                <a:cs typeface="Amiri" pitchFamily="2" charset="-78"/>
              </a:rPr>
              <a:t>لِأَنَّنِي أُحِبُّ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أَدْرُسُ العَرَبِيَّةَ لِأَنَّنِي أُحِبُّ اللُّغَةَ.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PE because the teacher is kind.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لِأَنَّ</a:t>
            </a:r>
            <a:pPr algn="l" indent="0" marL="0">
              <a:buNone/>
            </a:pPr>
            <a:r>
              <a:rPr lang="en-US" sz="1050" i="1" dirty="0">
                <a:solidFill>
                  <a:srgbClr val="5A6472"/>
                </a:solidFill>
                <a:latin typeface="Calibri" pitchFamily="34" charset="0"/>
                <a:cs typeface="Amiri" pitchFamily="2" charset="-78"/>
              </a:rPr>
              <a:t> the noun takes -a (</a:t>
            </a:r>
            <a:pPr algn="l" indent="0" marL="0">
              <a:buNone/>
            </a:pPr>
            <a:r>
              <a:rPr lang="ar-SA" altLang="en-US" sz="1350" dirty="0">
                <a:solidFill>
                  <a:srgbClr val="5A6472"/>
                </a:solidFill>
                <a:latin typeface="Amiri" pitchFamily="2" charset="-78"/>
                <a:ea typeface="Amiri" pitchFamily="2" charset="-78"/>
                <a:cs typeface="Amiri" pitchFamily="2" charset="-78"/>
              </a:rPr>
              <a:t>المُعَلِّمَ</a:t>
            </a:r>
            <a:pPr algn="l" indent="0" marL="0">
              <a:buNone/>
            </a:pPr>
            <a:r>
              <a:rPr lang="en-US" sz="1050" i="1" dirty="0">
                <a:solidFill>
                  <a:srgbClr val="5A6472"/>
                </a:solidFill>
                <a:latin typeface="Calibri" pitchFamily="34" charset="0"/>
                <a:cs typeface="Amiri" pitchFamily="2" charset="-78"/>
              </a:rPr>
              <a:t>); the adjective stays -un.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التَّرْبِيَةَ البَدَنِيَّةَ لِأَنَّ المُعَلِّمَ لَطِيفٌ.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الفَنَّ لِأَنَّهَا مُمْتِعَةٌ.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الفَنُّ</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أَدْرُسُ كَثِيرًا لِأَنَّ أُرِيدُ النَّجَاحَ.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I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لِمَاذَا تُحِبُّ العُلُومَ؟ — نَعَمْ، أُحِبُّهَا.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Did it answer “why”?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الفَنَّ لِأَنَّهَا مُمْتِعَةٌ.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الفَنَّ لِأَنَّهُ مُمْتِعٌ.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subject → </a:t>
            </a:r>
            <a:pPr algn="l" indent="0" marL="0">
              <a:buNone/>
            </a:pPr>
            <a:r>
              <a:rPr lang="ar-SA" altLang="en-US" sz="1500" b="1" dirty="0">
                <a:solidFill>
                  <a:srgbClr val="1B3B6F"/>
                </a:solidFill>
                <a:latin typeface="Amiri" pitchFamily="2" charset="-78"/>
                <a:ea typeface="Amiri" pitchFamily="2" charset="-78"/>
                <a:cs typeface="Amiri" pitchFamily="2" charset="-78"/>
              </a:rPr>
              <a:t>لِأَنَّهُ مُمْتِعٌ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أَدْرُسُ كَثِيرًا لِأَنَّ أُرِيدُ النَّجَاحَ.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أَدْرُسُ كَثِيرًا لِأَنَّنِي أُرِيدُ النَّجَاحَ.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a verb: </a:t>
            </a:r>
            <a:pPr algn="l" indent="0" marL="0">
              <a:buNone/>
            </a:pPr>
            <a:r>
              <a:rPr lang="ar-SA" altLang="en-US" sz="1500" b="1" dirty="0">
                <a:solidFill>
                  <a:srgbClr val="1B3B6F"/>
                </a:solidFill>
                <a:latin typeface="Amiri" pitchFamily="2" charset="-78"/>
                <a:ea typeface="Amiri" pitchFamily="2" charset="-78"/>
                <a:cs typeface="Amiri" pitchFamily="2" charset="-78"/>
              </a:rPr>
              <a:t>لِأَنَّنِي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لِمَاذَا تُحِبُّ العُلُومَ؟ — نَعَمْ، أُحِبُّهَا.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أُحِبُّهَا لِأَنَّهَا عَمَلِيَّةٌ.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لِمَاذَا</a:t>
            </a:r>
            <a:pPr algn="l" indent="0" marL="0">
              <a:buNone/>
            </a:pPr>
            <a:r>
              <a:rPr lang="en-US" sz="1150" b="1" dirty="0">
                <a:solidFill>
                  <a:srgbClr val="1B3B6F"/>
                </a:solidFill>
                <a:latin typeface="Calibri" pitchFamily="34" charset="0"/>
                <a:cs typeface="Amiri" pitchFamily="2" charset="-78"/>
              </a:rPr>
              <a:t> → always a reason with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أُحِبُّ ______ لِأَنَّ المُعَلِّمَ / المُعَلِّمَةَ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the teacher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صَعْبٌ، لٰكِنَّنِي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difficult, but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مَدْرَسَتِي لِأَنَّهَا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school because it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مَادَّتِي المُفَضَّلَةُ ______ لِأَنَّهُ / لِأَنَّهَا ______ .</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 because it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______ لِأَنَّنِي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 because I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لِأَنَّهُ / لِأَنَّهَا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 because it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لِأَنَّهُ</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لِأَنَّهَا</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لِأَنَّنِي</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لِأَنَّ</a:t>
            </a:r>
            <a:pPr algn="l" indent="0" marL="0">
              <a:buNone/>
            </a:pPr>
            <a:r>
              <a:rPr lang="en-US" sz="1550" b="1" dirty="0">
                <a:solidFill>
                  <a:srgbClr val="1B3B6F"/>
                </a:solidFill>
                <a:latin typeface="Calibri" pitchFamily="34" charset="0"/>
                <a:cs typeface="Amiri" pitchFamily="2" charset="-78"/>
              </a:rPr>
              <a:t> + noun  ·  </a:t>
            </a:r>
            <a:pPr algn="l" indent="0" marL="0">
              <a:buNone/>
            </a:pPr>
            <a:r>
              <a:rPr lang="ar-SA" altLang="en-US" sz="2000" b="1" dirty="0">
                <a:solidFill>
                  <a:srgbClr val="1B3B6F"/>
                </a:solidFill>
                <a:latin typeface="Amiri" pitchFamily="2" charset="-78"/>
                <a:ea typeface="Amiri" pitchFamily="2" charset="-78"/>
                <a:cs typeface="Amiri" pitchFamily="2" charset="-78"/>
              </a:rPr>
              <a:t>سَهْلٌ</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صَعْبٌ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مُهِمٌّ</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مُفِيدٌ</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وَاضِحٌ</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مُنَظَّمٌ</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شَيِّقٌ</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مُمِلٌّ</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لٰكِنَّ</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I like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أُحِبُّ مَدْرَسَتِي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the school prospectus: why you like (or don’t like) your school and your subjects. Include at least FOUR reasons, using all three forms: </a:t>
            </a:r>
            <a:pPr algn="l" indent="0" marL="0">
              <a:buNone/>
            </a:pPr>
            <a:r>
              <a:rPr lang="ar-SA" altLang="en-US" sz="1750" b="1" dirty="0">
                <a:solidFill>
                  <a:srgbClr val="1F2A37"/>
                </a:solidFill>
                <a:latin typeface="Amiri" pitchFamily="2" charset="-78"/>
                <a:ea typeface="Amiri" pitchFamily="2" charset="-78"/>
                <a:cs typeface="Amiri" pitchFamily="2" charset="-78"/>
              </a:rPr>
              <a:t>لِأَنَّهُ / لِأَنَّهَا</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لِأَنَّنِي</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لِأَنَّ</a:t>
            </a:r>
            <a:pPr algn="l" indent="0" marL="0">
              <a:buNone/>
            </a:pPr>
            <a:r>
              <a:rPr lang="en-US" sz="1350" b="1" dirty="0">
                <a:solidFill>
                  <a:srgbClr val="1F2A37"/>
                </a:solidFill>
                <a:latin typeface="Calibri" pitchFamily="34" charset="0"/>
                <a:cs typeface="Amiri" pitchFamily="2" charset="-78"/>
              </a:rPr>
              <a:t> + noun.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because it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لِأَنَّنِي أُرِيدُ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because I want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لِأَنَّ المُعَلِّمِينَ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because the teachers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“why” with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all three reason types (</a:t>
            </a:r>
            <a:pPr algn="l" indent="0" marL="0">
              <a:buNone/>
            </a:pPr>
            <a:r>
              <a:rPr lang="ar-SA" altLang="en-US" sz="1450" dirty="0">
                <a:solidFill>
                  <a:srgbClr val="5A6472"/>
                </a:solidFill>
                <a:latin typeface="Amiri" pitchFamily="2" charset="-78"/>
                <a:ea typeface="Amiri" pitchFamily="2" charset="-78"/>
                <a:cs typeface="Amiri" pitchFamily="2" charset="-78"/>
              </a:rPr>
              <a:t>لِأَنَّهُ / لِأَنَّهَا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لِأَنَّنِي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noun)?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نَادِيَ العُلُومِ بَعْدَ المَدْرَسَةِ.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the science club after school.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نَادٍ تُرِيدُ؟</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مُمْتِعٌ وَمُفِيدٌ.</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enjoyable and useful.</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أَعْرِفُ، لٰكِنَّنِي أَعْمَلُ وَاجِبَاتِي يَوْمَ الأَحَدِ.</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know, but I do my homework on Sunday.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لٰكِنَّ عِنْدَكَ وَاجِبَاتٍ كَثِيرَةً!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السَّاعَةِ الرَّابِعَةِ، وَصَدِيقِي يَذْهَبُ أَيْضًا، لِذٰلِكَ نَرْجِعُ مَعًا.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four o’clock, and my friend goes too, so we come back together.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وَمَتَى يَنْتَهِي النَّادِي؟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مَدْرَسَتِي لِأَنَّهَا كَبِيرَةٌ وَمُنَظَّمَةٌ. مَادَّتِي المُفَضَّلَةُ الكِيمْيَاءُ، لِأَنَّهَا عَمَلِيَّةٌ وَشَيِّقَةٌ. أَدْرُسُ العَرَبِيَّةَ لِأَنَّنِي أُرِيدُ أَنْ أَزُورَ مِصْرَ. أُحِبُّ التَّرْبِيَةَ البَدَنِيَّةَ أَيْضًا، لِأَنَّ المُعَلِّمَ مُضْحِكٌ. لَا أُحِبُّ الرِّيَاضِيَّاتِ كَثِيرًا لِأَنَّهَا صَعْبَةٌ، لٰكِنَّنِي أَعْمَلُ بِجِدٍّ.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my school because it is big and organised. My favourite subject is chemistry, because it is practical and engaging. I study Arabic because I want to visit Egypt. I like PE too, because the teacher is funny. I don’t like maths much because it is difficult, but I work hard.”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كَبِيرَةٌ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لِأَنَّنِي أُرِيدُ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المُعَلِّمَ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لٰكِنَّنِي أَعْمَلُ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F4-L06 · School Rules and Obligations — Must and Must Not</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القَوَاعِدُ المَدْرَسِيَّةُ — يَجِبُ وَلَا يَجُوزُ</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F4-L05 · Practice Room — Giving Reasons — Why?</dc:title>
  <dc:subject>PptxGenJS Presentation</dc:subject>
  <dc:creator>Al Madina Online School · Arabic Department</dc:creator>
  <cp:lastModifiedBy>Al Madina Online School · Arabic Department</cp:lastModifiedBy>
  <cp:revision>1</cp:revision>
  <dcterms:created xsi:type="dcterms:W3CDTF">2026-10-25T17:30:03Z</dcterms:created>
  <dcterms:modified xsi:type="dcterms:W3CDTF">2026-10-25T17:30:03Z</dcterms:modified>
</cp:coreProperties>
</file>