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F4-L05 (Giving Reasons — Why?) — new practice tasks built on the lesson’s own word bank and grammar (li-mādhā? → li-annahu / li-annahā + adjective that agrees with the subject; li-annanī + verb (because I …); li-anna + noun).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F4-L05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تُرِيدِينَ · عِنْدَكِ. Language: three ways to give a reason: li-annahu + adj · li-annanī + verb · li-anna +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(34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F4-L05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Practice Room — Giving Reasons — Why?</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لِمَاذَا؟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run their own speaking and writing practice giving reasons: say the reason adjectives, act a short dialogue, answer “why?” cards, do a role-play card persuading a parent about an after-school club, give a 30-second talk with three reasons, then build, fix and write a short text full of reasons.</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F4-L05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Positive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سَهْلٌ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easy</a:t>
            </a:r>
            <a:endParaRPr lang="en-US" sz="1350" dirty="0"/>
          </a:p>
          <a:p>
            <a:pPr indent="0" marL="0">
              <a:buNone/>
            </a:pPr>
            <a:r>
              <a:rPr lang="en-US" sz="1100" i="1" dirty="0">
                <a:solidFill>
                  <a:srgbClr val="5A6472"/>
                </a:solidFill>
                <a:latin typeface="Calibri" pitchFamily="34" charset="0"/>
                <a:cs typeface="Amiri" pitchFamily="2" charset="-78"/>
              </a:rPr>
              <a:t>sahl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صَعْبٌ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difficult</a:t>
            </a:r>
            <a:endParaRPr lang="en-US" sz="1350" dirty="0"/>
          </a:p>
          <a:p>
            <a:pPr indent="0" marL="0">
              <a:buNone/>
            </a:pPr>
            <a:r>
              <a:rPr lang="en-US" sz="1100" i="1" dirty="0">
                <a:solidFill>
                  <a:srgbClr val="5A6472"/>
                </a:solidFill>
                <a:latin typeface="Calibri" pitchFamily="34" charset="0"/>
                <a:cs typeface="Amiri" pitchFamily="2" charset="-78"/>
              </a:rPr>
              <a:t>ṣa‘b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صَعْبَةٌ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صَعْبٌ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important</a:t>
            </a:r>
            <a:endParaRPr lang="en-US" sz="1350" dirty="0"/>
          </a:p>
          <a:p>
            <a:pPr indent="0" marL="0">
              <a:buNone/>
            </a:pPr>
            <a:r>
              <a:rPr lang="en-US" sz="1100" i="1" dirty="0">
                <a:solidFill>
                  <a:srgbClr val="5A6472"/>
                </a:solidFill>
                <a:latin typeface="Calibri" pitchFamily="34" charset="0"/>
                <a:cs typeface="Amiri" pitchFamily="2" charset="-78"/>
              </a:rPr>
              <a:t>mu-himm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مُفِيدٌ</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useful</a:t>
            </a:r>
            <a:endParaRPr lang="en-US" sz="1350" dirty="0"/>
          </a:p>
          <a:p>
            <a:pPr indent="0" marL="0">
              <a:buNone/>
            </a:pPr>
            <a:r>
              <a:rPr lang="en-US" sz="1100" i="1" dirty="0">
                <a:solidFill>
                  <a:srgbClr val="5A6472"/>
                </a:solidFill>
                <a:latin typeface="Calibri" pitchFamily="34" charset="0"/>
                <a:cs typeface="Amiri" pitchFamily="2" charset="-78"/>
              </a:rPr>
              <a:t>mu-fīd</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مُفِيدَةٌ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مُفِيدٌ</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وَاضِحٌ</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clear</a:t>
            </a:r>
            <a:endParaRPr lang="en-US" sz="1350" dirty="0"/>
          </a:p>
          <a:p>
            <a:pPr indent="0" marL="0">
              <a:buNone/>
            </a:pPr>
            <a:r>
              <a:rPr lang="en-US" sz="1100" i="1" dirty="0">
                <a:solidFill>
                  <a:srgbClr val="5A6472"/>
                </a:solidFill>
                <a:latin typeface="Calibri" pitchFamily="34" charset="0"/>
                <a:cs typeface="Amiri" pitchFamily="2" charset="-78"/>
              </a:rPr>
              <a:t>wā-ḍiḥ</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وَاضِحَةٌ</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وَاضِحٌ</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مُنَظَّمٌ</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organised</a:t>
            </a:r>
            <a:endParaRPr lang="en-US" sz="1350" dirty="0"/>
          </a:p>
          <a:p>
            <a:pPr indent="0" marL="0">
              <a:buNone/>
            </a:pPr>
            <a:r>
              <a:rPr lang="en-US" sz="1100" i="1" dirty="0">
                <a:solidFill>
                  <a:srgbClr val="5A6472"/>
                </a:solidFill>
                <a:latin typeface="Calibri" pitchFamily="34" charset="0"/>
                <a:cs typeface="Amiri" pitchFamily="2" charset="-78"/>
              </a:rPr>
              <a:t>mu-naẓ-ẓam</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مُنَظَّمَةٌ</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More reasons — positive and negative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مُمِلٌّ</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boring</a:t>
            </a:r>
            <a:endParaRPr lang="en-US" sz="1350" dirty="0"/>
          </a:p>
          <a:p>
            <a:pPr indent="0" marL="0">
              <a:buNone/>
            </a:pPr>
            <a:r>
              <a:rPr lang="en-US" sz="1100" i="1" dirty="0">
                <a:solidFill>
                  <a:srgbClr val="5A6472"/>
                </a:solidFill>
                <a:latin typeface="Calibri" pitchFamily="34" charset="0"/>
                <a:cs typeface="Amiri" pitchFamily="2" charset="-78"/>
              </a:rPr>
              <a:t>mu-mill</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مُمِلَّةٌ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مُمِلٌّ</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شَيِّقٌ</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engaging</a:t>
            </a:r>
            <a:endParaRPr lang="en-US" sz="1350" dirty="0"/>
          </a:p>
          <a:p>
            <a:pPr indent="0" marL="0">
              <a:buNone/>
            </a:pPr>
            <a:r>
              <a:rPr lang="en-US" sz="1100" i="1" dirty="0">
                <a:solidFill>
                  <a:srgbClr val="5A6472"/>
                </a:solidFill>
                <a:latin typeface="Calibri" pitchFamily="34" charset="0"/>
                <a:cs typeface="Amiri" pitchFamily="2" charset="-78"/>
              </a:rPr>
              <a:t>shay-yiq</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شَيِّقَةٌ</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شَيِّقٌ</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إِبْدَاعِيٌّ</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creative</a:t>
            </a:r>
            <a:endParaRPr lang="en-US" sz="1350" dirty="0"/>
          </a:p>
          <a:p>
            <a:pPr indent="0" marL="0">
              <a:buNone/>
            </a:pPr>
            <a:r>
              <a:rPr lang="en-US" sz="1100" i="1" dirty="0">
                <a:solidFill>
                  <a:srgbClr val="5A6472"/>
                </a:solidFill>
                <a:latin typeface="Calibri" pitchFamily="34" charset="0"/>
                <a:cs typeface="Amiri" pitchFamily="2" charset="-78"/>
              </a:rPr>
              <a:t>ib-dā-‘iyy</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إِبْدَاعِيَّةٌ</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إِبْدَاعِيٌّ</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4" name="Shape 7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‘a-ma-liyy</a:t>
            </a:r>
            <a:endParaRPr lang="en-US" sz="1350" dirty="0"/>
          </a:p>
        </p:txBody>
      </p:sp>
      <p:sp>
        <p:nvSpPr>
          <p:cNvPr id="78" name="Shape 7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0" name="Text 7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81" name="Shape 7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3" name="Text 8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84" name="Shape 8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566928" y="4261104"/>
            <a:ext cx="310896" cy="310896"/>
          </a:xfrm>
          <a:prstGeom prst="ellipse">
            <a:avLst/>
          </a:prstGeom>
          <a:solidFill>
            <a:srgbClr val="F4F1EA"/>
          </a:solidFill>
          <a:ln w="12700">
            <a:solidFill>
              <a:srgbClr val="F4F1EA"/>
            </a:solidFill>
            <a:prstDash val="solid"/>
          </a:ln>
        </p:spPr>
      </p:sp>
      <p:sp>
        <p:nvSpPr>
          <p:cNvPr id="86" name="Text 8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7" name="Shape 8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8" name="Text 8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مُعَقَّدٌ</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complicated</a:t>
            </a:r>
            <a:endParaRPr lang="en-US" sz="1350" dirty="0"/>
          </a:p>
          <a:p>
            <a:pPr indent="0" marL="0">
              <a:buNone/>
            </a:pPr>
            <a:r>
              <a:rPr lang="en-US" sz="1100" i="1" dirty="0">
                <a:solidFill>
                  <a:srgbClr val="5A6472"/>
                </a:solidFill>
                <a:latin typeface="Calibri" pitchFamily="34" charset="0"/>
                <a:cs typeface="Amiri" pitchFamily="2" charset="-78"/>
              </a:rPr>
              <a:t>mu-‘aq-qad</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مُعَقَّدَةٌ</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مُعَقَّدٌ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do you like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لِمَاذَا تُحِبُّهَا؟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like Arabic?</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لِمَاذَا تُحِبُّ اللُّغَةَ العَرَبِيَّةَ؟</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is useful, and because I want to read the Qur’an.</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لِأَنَّهَا مُفِيدَةٌ، وَلِأَنَّنِي أُرِيدُ أَنْ أَقْرَأَ القُرْآنَ.</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why don’t you like history?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وَلِمَاذَا لَا تُحِبُّ التَّارِيخَ؟</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is a bit boring, and it has lots of dates.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لِأَنَّهُ مُمِلٌّ قَلِيلًا، وَفِيهِ تَوَارِيخُ كَثِيرَةٌ.</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science?</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وَالعُلُومُ؟</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it because the experiments are engaging and the teacher is clear.</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أُحِبُّهَا لِأَنَّ التَّجَارِبَ شَيِّقَةٌ، وَالمُعَلِّمَ وَاضِحٌ.</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give YOUR real reasons — try all three types: </a:t>
            </a:r>
            <a:pPr algn="l" indent="0" marL="0">
              <a:buNone/>
            </a:pPr>
            <a:r>
              <a:rPr lang="ar-SA" altLang="en-US" sz="1500" b="1" dirty="0">
                <a:solidFill>
                  <a:srgbClr val="1B3B6F"/>
                </a:solidFill>
                <a:latin typeface="Amiri" pitchFamily="2" charset="-78"/>
                <a:ea typeface="Amiri" pitchFamily="2" charset="-78"/>
                <a:cs typeface="Amiri" pitchFamily="2" charset="-78"/>
              </a:rPr>
              <a:t>لِأَنَّهُ / لِأَنَّهَا</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لِأَنَّنِي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لِأَنَّ</a:t>
            </a:r>
            <a:pPr algn="l" indent="0" marL="0">
              <a:buNone/>
            </a:pPr>
            <a:r>
              <a:rPr lang="en-US" sz="1150" b="1" dirty="0">
                <a:solidFill>
                  <a:srgbClr val="1B3B6F"/>
                </a:solidFill>
                <a:latin typeface="Calibri" pitchFamily="34" charset="0"/>
                <a:cs typeface="Amiri" pitchFamily="2" charset="-78"/>
              </a:rPr>
              <a:t> + noun.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Every answer starts with a reason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وَلِأَنَّنِي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لِأَنَّهُ / لِأَنَّهَا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like your favourite subject?</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تُحِبُّ مَادَّتَكَ المُفَضَّلَةَ؟</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وَنَسْتَعْمِلُهَا كُلَّ يَوْمٍ</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لِأَنَّهَا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is maths important?</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الرِّيَاضِيَّاتُ مُهِمَّةٌ؟</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وَلِأَنَّ عَائِلَتِي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لِأَنَّنِي أُرِيدُ أَنْ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study Arabic?</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تَدْرُسُ العَرَبِيَّةَ؟</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لِأَنَّهُ / لِأَنَّهَا صَعْبٌ / صَعْبَةٌ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don’t you like …? (Leader picks)</a:t>
            </a:r>
            <a:endParaRPr lang="en-US" sz="1100" dirty="0"/>
          </a:p>
        </p:txBody>
      </p:sp>
      <p:sp>
        <p:nvSpPr>
          <p:cNvPr id="49" name="Text 46"/>
          <p:cNvSpPr txBox="1"/>
          <p:nvPr/>
        </p:nvSpPr>
        <p:spPr>
          <a:xfrm>
            <a:off x="1069848" y="4478731"/>
            <a:ext cx="33832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لِمَاذَا لَا تُحِبُّ … ؟</a:t>
            </a:r>
            <a:pPr algn="l" indent="0" marL="0">
              <a:buNone/>
            </a:pPr>
            <a:r>
              <a:rPr lang="en-US" sz="1100" dirty="0">
                <a:solidFill>
                  <a:srgbClr val="5A6472"/>
                </a:solidFill>
                <a:latin typeface="Calibri" pitchFamily="34" charset="0"/>
                <a:cs typeface="Amiri" pitchFamily="2" charset="-78"/>
              </a:rPr>
              <a:t> (the Leader chooses a subject)</a:t>
            </a:r>
            <a:endParaRPr lang="en-US" sz="11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وَلِأَنَّ أَصْدِقَائِي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 المُعَلِّمِينَ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like your school?</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تُحِبُّ مَدْرَسَتَكَ؟</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Role-play card — persuading your parent about a club</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أُقْنِعُ أُمِّي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أُرِيدُ نَادِيَ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club.</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نَادٍ تُرِيدُ؟</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لِأَنَّهُ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1: it is …</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لٰكِنَّ ← لِأَنَّنِي …</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2: because I …</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لٰكِنَّ عِنْدَكَ وَاجِبَاتٍ كَثِيرَةً!</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فِي السَّاعَةِ … ، وَصَدِيقِي …</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time + one more reason.</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وَمَتَى يَنْتَهِي النَّادِي؟</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yourself · Leader = your mother or father. Read the plan for 1 minute, then hide it and speak. Then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30 seconds: three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ثَلَاثَةُ أَسْبَابٍ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Choose one subject (or your school). Give three different reasons in 30 seconds why you like it — or don’t.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reasons with </a:t>
            </a:r>
            <a:pPr algn="l" indent="0" marL="0">
              <a:buNone/>
            </a:pPr>
            <a:r>
              <a:rPr lang="ar-SA" altLang="en-US" sz="1500" dirty="0">
                <a:solidFill>
                  <a:srgbClr val="1F2A37"/>
                </a:solidFill>
                <a:latin typeface="Amiri" pitchFamily="2" charset="-78"/>
                <a:ea typeface="Amiri" pitchFamily="2" charset="-78"/>
                <a:cs typeface="Amiri" pitchFamily="2" charset="-78"/>
              </a:rPr>
              <a:t>لِأَنَّهُ / لِأَنَّهَا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reasons, including </a:t>
            </a:r>
            <a:pPr algn="l" indent="0" marL="0">
              <a:buNone/>
            </a:pPr>
            <a:r>
              <a:rPr lang="ar-SA" altLang="en-US" sz="1500" dirty="0">
                <a:solidFill>
                  <a:srgbClr val="1F2A37"/>
                </a:solidFill>
                <a:latin typeface="Amiri" pitchFamily="2" charset="-78"/>
                <a:ea typeface="Amiri" pitchFamily="2" charset="-78"/>
                <a:cs typeface="Amiri" pitchFamily="2" charset="-78"/>
              </a:rPr>
              <a:t>لِأَنَّنِي</a:t>
            </a:r>
            <a:pPr algn="l" indent="0" marL="0">
              <a:buNone/>
            </a:pPr>
            <a:r>
              <a:rPr lang="en-US" sz="1150" dirty="0">
                <a:solidFill>
                  <a:srgbClr val="1F2A37"/>
                </a:solidFill>
                <a:latin typeface="Calibri" pitchFamily="34" charset="0"/>
                <a:cs typeface="Amiri" pitchFamily="2" charset="-78"/>
              </a:rPr>
              <a:t> + verb.</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reasons +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 + noun + a “but” (</a:t>
            </a:r>
            <a:pPr algn="l" indent="0" marL="0">
              <a:buNone/>
            </a:pPr>
            <a:r>
              <a:rPr lang="ar-SA" altLang="en-US" sz="1500" dirty="0">
                <a:solidFill>
                  <a:srgbClr val="1F2A37"/>
                </a:solidFill>
                <a:latin typeface="Amiri" pitchFamily="2" charset="-78"/>
                <a:ea typeface="Amiri" pitchFamily="2" charset="-78"/>
                <a:cs typeface="Amiri" pitchFamily="2" charset="-78"/>
              </a:rPr>
              <a:t>لٰكِنَّ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وَ…</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and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وَأَيْضًا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and also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like geography because it is interesting.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الجُغْرَافِيَا</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الجُغْرَافِيَا هُوَ</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مُثِيرَةٌ لِلِاهْتِمَامِ.</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مُثِيرٌ لِلِاهْتِمَامِ.</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study Arabic because I love the language.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أَدْرُسُ العَرَبِيَّةَ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تَدْرُسُ العَرَبِيَّةَ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لِأَنَّنِي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اللُّغَةَ.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اللُّغَةُ.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like PE because the teacher is kind.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التَّرْبِيَةَ البَدَنِيَّةَ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التَّرْبِيَةُ البَدَنِيَّةُ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 المُعَلِّمَ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 المُعَلِّمُ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لَطِيفٌ.</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لَطِيفًا.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like geography because it is interesting.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الجُغْرَافِيَا</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لِأَنَّهَا مُثِيرَةٌ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أُحِبُّ الجُغْرَافِيَا لِأَنَّهَا مُثِيرَةٌ لِلِاهْتِمَامِ.</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study Arabic because I love the language.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I + verb = </a:t>
            </a:r>
            <a:pPr algn="l" indent="0" marL="0">
              <a:buNone/>
            </a:pPr>
            <a:r>
              <a:rPr lang="ar-SA" altLang="en-US" sz="1350" dirty="0">
                <a:solidFill>
                  <a:srgbClr val="5A6472"/>
                </a:solidFill>
                <a:latin typeface="Amiri" pitchFamily="2" charset="-78"/>
                <a:ea typeface="Amiri" pitchFamily="2" charset="-78"/>
                <a:cs typeface="Amiri" pitchFamily="2" charset="-78"/>
              </a:rPr>
              <a:t>لِأَنَّنِي أُحِبُّ</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أَدْرُسُ العَرَبِيَّةَ لِأَنَّنِي أُحِبُّ اللُّغَةَ.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like PE because the teacher is kind.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a:t>
            </a:r>
            <a:pPr algn="l" indent="0" marL="0">
              <a:buNone/>
            </a:pPr>
            <a:r>
              <a:rPr lang="ar-SA" altLang="en-US" sz="1350" dirty="0">
                <a:solidFill>
                  <a:srgbClr val="5A6472"/>
                </a:solidFill>
                <a:latin typeface="Amiri" pitchFamily="2" charset="-78"/>
                <a:ea typeface="Amiri" pitchFamily="2" charset="-78"/>
                <a:cs typeface="Amiri" pitchFamily="2" charset="-78"/>
              </a:rPr>
              <a:t>لِأَنَّ</a:t>
            </a:r>
            <a:pPr algn="l" indent="0" marL="0">
              <a:buNone/>
            </a:pPr>
            <a:r>
              <a:rPr lang="en-US" sz="1050" i="1" dirty="0">
                <a:solidFill>
                  <a:srgbClr val="5A6472"/>
                </a:solidFill>
                <a:latin typeface="Calibri" pitchFamily="34" charset="0"/>
                <a:cs typeface="Amiri" pitchFamily="2" charset="-78"/>
              </a:rPr>
              <a:t> the noun takes -a (</a:t>
            </a:r>
            <a:pPr algn="l" indent="0" marL="0">
              <a:buNone/>
            </a:pPr>
            <a:r>
              <a:rPr lang="ar-SA" altLang="en-US" sz="1350" dirty="0">
                <a:solidFill>
                  <a:srgbClr val="5A6472"/>
                </a:solidFill>
                <a:latin typeface="Amiri" pitchFamily="2" charset="-78"/>
                <a:ea typeface="Amiri" pitchFamily="2" charset="-78"/>
                <a:cs typeface="Amiri" pitchFamily="2" charset="-78"/>
              </a:rPr>
              <a:t>المُعَلِّمَ</a:t>
            </a:r>
            <a:pPr algn="l" indent="0" marL="0">
              <a:buNone/>
            </a:pPr>
            <a:r>
              <a:rPr lang="en-US" sz="1050" i="1" dirty="0">
                <a:solidFill>
                  <a:srgbClr val="5A6472"/>
                </a:solidFill>
                <a:latin typeface="Calibri" pitchFamily="34" charset="0"/>
                <a:cs typeface="Amiri" pitchFamily="2" charset="-78"/>
              </a:rPr>
              <a:t>); the adjective stays -un.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أُحِبُّ التَّرْبِيَةَ البَدَنِيَّةَ لِأَنَّ المُعَلِّمَ لَطِيفٌ.</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الفَنَّ لِأَنَّهَا مُمْتِعَةٌ.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الفَنُّ</a:t>
            </a:r>
            <a:pPr algn="l" indent="0" marL="0">
              <a:buNone/>
            </a:pPr>
            <a:r>
              <a:rPr lang="en-US" sz="1300" i="1" dirty="0">
                <a:solidFill>
                  <a:srgbClr val="5A6472"/>
                </a:solidFill>
                <a:latin typeface="Calibri" pitchFamily="34" charset="0"/>
                <a:cs typeface="Amiri" pitchFamily="2" charset="-78"/>
              </a:rPr>
              <a:t> is masculine.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أَدْرُسُ كَثِيرًا لِأَنَّ أُرِيدُ النَّجَاحَ.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I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لِمَاذَا تُحِبُّ العُلُومَ؟ — نَعَمْ، أُحِبُّهَا.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Did it answer “why”?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الفَنَّ لِأَنَّهَا مُمْتِعَةٌ.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الفَنَّ لِأَنَّهُ مُمْتِعٌ.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Masculine subject → </a:t>
            </a:r>
            <a:pPr algn="l" indent="0" marL="0">
              <a:buNone/>
            </a:pPr>
            <a:r>
              <a:rPr lang="ar-SA" altLang="en-US" sz="1500" b="1" dirty="0">
                <a:solidFill>
                  <a:srgbClr val="1B3B6F"/>
                </a:solidFill>
                <a:latin typeface="Amiri" pitchFamily="2" charset="-78"/>
                <a:ea typeface="Amiri" pitchFamily="2" charset="-78"/>
                <a:cs typeface="Amiri" pitchFamily="2" charset="-78"/>
              </a:rPr>
              <a:t>لِأَنَّهُ مُمْتِعٌ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أَدْرُسُ كَثِيرًا لِأَنَّ أُرِيدُ النَّجَاحَ.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أَدْرُسُ كَثِيرًا لِأَنَّنِي أُرِيدُ النَّجَاحَ.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a verb: </a:t>
            </a:r>
            <a:pPr algn="l" indent="0" marL="0">
              <a:buNone/>
            </a:pPr>
            <a:r>
              <a:rPr lang="ar-SA" altLang="en-US" sz="1500" b="1" dirty="0">
                <a:solidFill>
                  <a:srgbClr val="1B3B6F"/>
                </a:solidFill>
                <a:latin typeface="Amiri" pitchFamily="2" charset="-78"/>
                <a:ea typeface="Amiri" pitchFamily="2" charset="-78"/>
                <a:cs typeface="Amiri" pitchFamily="2" charset="-78"/>
              </a:rPr>
              <a:t>لِأَنَّنِي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لِمَاذَا تُحِبُّ العُلُومَ؟ — نَعَمْ، أُحِبُّهَا.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أُحِبُّهَا لِأَنَّهَا عَمَلِيَّةٌ.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لِمَاذَا</a:t>
            </a:r>
            <a:pPr algn="l" indent="0" marL="0">
              <a:buNone/>
            </a:pPr>
            <a:r>
              <a:rPr lang="en-US" sz="1150" b="1" dirty="0">
                <a:solidFill>
                  <a:srgbClr val="1B3B6F"/>
                </a:solidFill>
                <a:latin typeface="Calibri" pitchFamily="34" charset="0"/>
                <a:cs typeface="Amiri" pitchFamily="2" charset="-78"/>
              </a:rPr>
              <a:t> → always a reason with </a:t>
            </a:r>
            <a:pPr algn="l" indent="0" marL="0">
              <a:buNone/>
            </a:pPr>
            <a:r>
              <a:rPr lang="ar-SA" altLang="en-US" sz="1500" b="1" dirty="0">
                <a:solidFill>
                  <a:srgbClr val="1B3B6F"/>
                </a:solidFill>
                <a:latin typeface="Amiri" pitchFamily="2" charset="-78"/>
                <a:ea typeface="Amiri" pitchFamily="2" charset="-78"/>
                <a:cs typeface="Amiri" pitchFamily="2" charset="-78"/>
              </a:rPr>
              <a:t>لِأَنَّ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أُحِبُّ ______ لِأَنَّ المُعَلِّمَ / المُعَلِّمَةَ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the teacher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صَعْبٌ، لٰكِنَّنِي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difficult, but I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مَدْرَسَتِي لِأَنَّهَا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my school because it is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مَادَّتِي المُفَضَّلَةُ ______ لِأَنَّهُ / لِأَنَّهَا ______ .</a:t>
            </a:r>
            <a:endParaRPr lang="ar-SA" sz="15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subject is … because it is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______ لِأَنَّنِي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 because I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______ لِأَنَّهُ / لِأَنَّهَا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 because it is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لِأَنَّهُ · لِأَنَّهَا  ·  لِأَنَّنِي  ·  لِأَنَّ الطَّقْسَ …  ·  سَهْلٌ · صَعْبٌ  ·  مُهِمٌّ · مُفِيدٌ  ·  وَاضِحٌ · مُنَظَّمٌ  ·  شَيِّقٌ · مُمِلٌّ  ·  لٰكِنَّ</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I like my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لِمَاذَا أُحِبُّ مَدْرَسَتِي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short text (about 40–60 words) for the school prospectus: why you like (or don’t like) your school and your subjects. Include at least FOUR reasons, using all three forms: </a:t>
            </a:r>
            <a:pPr algn="l" indent="0" marL="0">
              <a:buNone/>
            </a:pPr>
            <a:r>
              <a:rPr lang="ar-SA" altLang="en-US" sz="1750" b="1" dirty="0">
                <a:solidFill>
                  <a:srgbClr val="1F2A37"/>
                </a:solidFill>
                <a:latin typeface="Amiri" pitchFamily="2" charset="-78"/>
                <a:ea typeface="Amiri" pitchFamily="2" charset="-78"/>
                <a:cs typeface="Amiri" pitchFamily="2" charset="-78"/>
              </a:rPr>
              <a:t>لِأَنَّهُ / لِأَنَّهَا</a:t>
            </a:r>
            <a:pPr algn="l" indent="0" marL="0">
              <a:buNone/>
            </a:pPr>
            <a:r>
              <a:rPr lang="en-US" sz="1350" b="1" dirty="0">
                <a:solidFill>
                  <a:srgbClr val="1F2A37"/>
                </a:solidFill>
                <a:latin typeface="Calibri" pitchFamily="34" charset="0"/>
                <a:cs typeface="Amiri" pitchFamily="2" charset="-78"/>
              </a:rPr>
              <a:t> · </a:t>
            </a:r>
            <a:pPr algn="l" indent="0" marL="0">
              <a:buNone/>
            </a:pPr>
            <a:r>
              <a:rPr lang="ar-SA" altLang="en-US" sz="1750" b="1" dirty="0">
                <a:solidFill>
                  <a:srgbClr val="1F2A37"/>
                </a:solidFill>
                <a:latin typeface="Amiri" pitchFamily="2" charset="-78"/>
                <a:ea typeface="Amiri" pitchFamily="2" charset="-78"/>
                <a:cs typeface="Amiri" pitchFamily="2" charset="-78"/>
              </a:rPr>
              <a:t>لِأَنَّنِي</a:t>
            </a:r>
            <a:pPr algn="l" indent="0" marL="0">
              <a:buNone/>
            </a:pPr>
            <a:r>
              <a:rPr lang="en-US" sz="1350" b="1" dirty="0">
                <a:solidFill>
                  <a:srgbClr val="1F2A37"/>
                </a:solidFill>
                <a:latin typeface="Calibri" pitchFamily="34" charset="0"/>
                <a:cs typeface="Amiri" pitchFamily="2" charset="-78"/>
              </a:rPr>
              <a:t> · </a:t>
            </a:r>
            <a:pPr algn="l" indent="0" marL="0">
              <a:buNone/>
            </a:pPr>
            <a:r>
              <a:rPr lang="ar-SA" altLang="en-US" sz="1750" b="1" dirty="0">
                <a:solidFill>
                  <a:srgbClr val="1F2A37"/>
                </a:solidFill>
                <a:latin typeface="Amiri" pitchFamily="2" charset="-78"/>
                <a:ea typeface="Amiri" pitchFamily="2" charset="-78"/>
                <a:cs typeface="Amiri" pitchFamily="2" charset="-78"/>
              </a:rPr>
              <a:t>لِأَنَّ</a:t>
            </a:r>
            <a:pPr algn="l" indent="0" marL="0">
              <a:buNone/>
            </a:pPr>
            <a:r>
              <a:rPr lang="en-US" sz="1350" b="1" dirty="0">
                <a:solidFill>
                  <a:srgbClr val="1F2A37"/>
                </a:solidFill>
                <a:latin typeface="Calibri" pitchFamily="34" charset="0"/>
                <a:cs typeface="Amiri" pitchFamily="2" charset="-78"/>
              </a:rPr>
              <a:t> + noun.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 because it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لِأَنَّنِي أُرِيدُ 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because I want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لِأَنَّ المُعَلِّمِينَ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because the teachers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“why” with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all three reason types (</a:t>
            </a:r>
            <a:pPr algn="l" indent="0" marL="0">
              <a:buNone/>
            </a:pPr>
            <a:r>
              <a:rPr lang="ar-SA" altLang="en-US" sz="1450" dirty="0">
                <a:solidFill>
                  <a:srgbClr val="5A6472"/>
                </a:solidFill>
                <a:latin typeface="Amiri" pitchFamily="2" charset="-78"/>
                <a:ea typeface="Amiri" pitchFamily="2" charset="-78"/>
                <a:cs typeface="Amiri" pitchFamily="2" charset="-78"/>
              </a:rPr>
              <a:t>لِأَنَّهُ / لِأَنَّهَا</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لِأَنَّنِي</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noun)?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نَادِيَ العُلُومِ بَعْدَ المَدْرَسَةِ.</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the science club after school.</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نَادٍ تُرِيدُ؟</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مُمْتِعٌ وَمُفِيدٌ.</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it is enjoyable and useful.</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أَعْرِفُ، لٰكِنَّنِي أَعْمَلُ وَاجِبَاتِي يَوْمَ الأَحَدِ.</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know, but I do my homework on Sunday.</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لٰكِنَّ عِنْدَكَ وَاجِبَاتٍ كَثِيرَةً!</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الرَّابِعَةِ، وَصَدِيقِي يَذْهَبُ أَيْضًا، لِذٰلِكَ نَرْجِعُ مَعًا.</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four o’clock, and my friend goes too, so we come back together.</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وَمَتَى يَنْتَهِي النَّادِي؟</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أُحِبُّ مَدْرَسَتِي لِأَنَّهَا كَبِيرَةٌ وَمُنَظَّمَةٌ. مَادَّتِي المُفَضَّلَةُ الكِيمْيَاءُ، لِأَنَّهَا عَمَلِيَّةٌ وَشَيِّقَةٌ. أَدْرُسُ العَرَبِيَّةَ لِأَنَّنِي أُرِيدُ أَنْ أَزُورَ مِصْرَ. أُحِبُّ التَّرْبِيَةَ البَدَنِيَّةَ أَيْضًا، لِأَنَّ المُعَلِّمَ مُضْحِكٌ. لَا أُحِبُّ الرِّيَاضِيَّاتِ كَثِيرًا لِأَنَّهَا صَعْبَةٌ، لٰكِنَّنِي أَعْمَلُ بِجِدٍّ.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my school because it is big and organised. My favourite subject is chemistry, because it is practical and engaging. I study Arabic because I want to visit Egypt. I like PE too, because the teacher is funny. I don’t like maths much because it is difficult, but I work hard.”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كَبِيرَةٌ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لِأَنَّنِي أُرِيدُ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 المُعَلِّمَ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لٰكِنَّنِي أَعْمَلُ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F4-L06 · School Rules and Obligations — Must and Must Not</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القَوَاعِدُ المَدْرَسِيَّةُ — يَجِبُ وَلَا يَجُوزُ</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F4-L05 · Practice Room — Giving Reasons — Why?</dc:title>
  <dc:subject>PptxGenJS Presentation</dc:subject>
  <dc:creator>Al Madina Online School · Arabic Department</dc:creator>
  <cp:lastModifiedBy>Al Madina Online School · Arabic Department</cp:lastModifiedBy>
  <cp:revision>1</cp:revision>
  <dcterms:created xsi:type="dcterms:W3CDTF">2026-10-25T18:35:00Z</dcterms:created>
  <dcterms:modified xsi:type="dcterms:W3CDTF">2026-10-25T18:35:00Z</dcterms:modified>
</cp:coreProperties>
</file>