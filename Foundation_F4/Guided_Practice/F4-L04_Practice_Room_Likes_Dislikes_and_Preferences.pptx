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F4-L04 (Likes, Dislikes and Preferences) — new practice tasks built on the lesson’s own word bank and grammar (uḥibbu … jiddan / kathīran / qalīlan; lā uḥibbu; ufaḍḍilu … ʿalā …; tuḥibbu / tuḥibbīna (to a boy / girl); yuḥibbu / tuḥibbu (he / she reports)).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مَادَّتُكِ · تُفَضِّلِينَ · رَأْيِكِ. Language: degrees of liking · ufaḍḍilu + li-annahā · polite criticism with qalīlan + lākinna.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Likes, Dislikes and Preferences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مَا أُحِبُّ وَمَا أُفَضِّلُ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with likes and preferences: say the opinion words, act a short dialogue, answer question cards, do a role-play card for a class survey, give a 30-second opinion talk, then build, fix and write a short opinion piece about subjects.</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F4-L04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Like, dislike, prefer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verbs</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أُحِبُّ · لَا أُحِبُّ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like · I do not like</a:t>
            </a:r>
            <a:endParaRPr lang="en-US" sz="1350" dirty="0"/>
          </a:p>
          <a:p>
            <a:pPr indent="0" marL="0">
              <a:buNone/>
            </a:pPr>
            <a:r>
              <a:rPr lang="en-US" sz="1100" i="1" dirty="0">
                <a:solidFill>
                  <a:srgbClr val="5A6472"/>
                </a:solidFill>
                <a:latin typeface="Calibri" pitchFamily="34" charset="0"/>
                <a:cs typeface="Amiri" pitchFamily="2" charset="-78"/>
              </a:rPr>
              <a:t>u-ḥib-bu · lā u-ḥib-bu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verb</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a:t>
            </a:r>
            <a:endParaRPr lang="ar-SA" sz="3000" dirty="0"/>
          </a:p>
        </p:txBody>
      </p:sp>
      <p:sp>
        <p:nvSpPr>
          <p:cNvPr id="32" name="Text 29"/>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a:t>
            </a:r>
            <a:endParaRPr lang="en-US" sz="1350" dirty="0"/>
          </a:p>
          <a:p>
            <a:pPr indent="0" marL="0">
              <a:buNone/>
            </a:pPr>
            <a:r>
              <a:rPr lang="en-US" sz="1100" i="1" dirty="0">
                <a:solidFill>
                  <a:srgbClr val="5A6472"/>
                </a:solidFill>
                <a:latin typeface="Calibri" pitchFamily="34" charset="0"/>
                <a:cs typeface="Amiri" pitchFamily="2" charset="-78"/>
              </a:rPr>
              <a:t>u-faḍ-ḍi-lu</a:t>
            </a:r>
            <a:endParaRPr lang="en-US" sz="1350" dirty="0"/>
          </a:p>
        </p:txBody>
      </p:sp>
      <p:sp>
        <p:nvSpPr>
          <p:cNvPr id="33" name="Shape 30"/>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a:t>
            </a:r>
            <a:endParaRPr lang="en-US" sz="700" dirty="0"/>
          </a:p>
        </p:txBody>
      </p:sp>
      <p:sp>
        <p:nvSpPr>
          <p:cNvPr id="35" name="Text 32"/>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أُفَضِّلُ … عَلَى …</a:t>
            </a:r>
            <a:endParaRPr lang="ar-SA"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9" name="Shape 36"/>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degree</a:t>
            </a:r>
            <a:endParaRPr lang="en-US" sz="8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جِدًّا · كَثِيرًا</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very much · a lot</a:t>
            </a:r>
            <a:endParaRPr lang="en-US" sz="1350" dirty="0"/>
          </a:p>
          <a:p>
            <a:pPr indent="0" marL="0">
              <a:buNone/>
            </a:pPr>
            <a:r>
              <a:rPr lang="en-US" sz="1100" i="1" dirty="0">
                <a:solidFill>
                  <a:srgbClr val="5A6472"/>
                </a:solidFill>
                <a:latin typeface="Calibri" pitchFamily="34" charset="0"/>
                <a:cs typeface="Amiri" pitchFamily="2" charset="-78"/>
              </a:rPr>
              <a:t>jid-dan · ka-thī-ran</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degree</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قَلِيلًا</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little</a:t>
            </a:r>
            <a:endParaRPr lang="en-US" sz="1350" dirty="0"/>
          </a:p>
          <a:p>
            <a:pPr indent="0" marL="0">
              <a:buNone/>
            </a:pPr>
            <a:r>
              <a:rPr lang="en-US" sz="1100" i="1" dirty="0">
                <a:solidFill>
                  <a:srgbClr val="5A6472"/>
                </a:solidFill>
                <a:latin typeface="Calibri" pitchFamily="34" charset="0"/>
                <a:cs typeface="Amiri" pitchFamily="2" charset="-78"/>
              </a:rPr>
              <a:t>qa-lī-lan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compare</a:t>
            </a:r>
            <a:endParaRPr lang="en-US" sz="800" dirty="0"/>
          </a:p>
        </p:txBody>
      </p:sp>
      <p:sp>
        <p:nvSpPr>
          <p:cNvPr id="59" name="Text 5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أَقَلَّ</a:t>
            </a:r>
            <a:endParaRPr lang="ar-SA" sz="3000" dirty="0"/>
          </a:p>
        </p:txBody>
      </p:sp>
      <p:sp>
        <p:nvSpPr>
          <p:cNvPr id="60" name="Text 5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less</a:t>
            </a:r>
            <a:endParaRPr lang="en-US" sz="1350" dirty="0"/>
          </a:p>
          <a:p>
            <a:pPr indent="0" marL="0">
              <a:buNone/>
            </a:pPr>
            <a:r>
              <a:rPr lang="en-US" sz="1100" i="1" dirty="0">
                <a:solidFill>
                  <a:srgbClr val="5A6472"/>
                </a:solidFill>
                <a:latin typeface="Calibri" pitchFamily="34" charset="0"/>
                <a:cs typeface="Amiri" pitchFamily="2" charset="-78"/>
              </a:rPr>
              <a:t>ak-tha-ra · a-qal-la</a:t>
            </a:r>
            <a:endParaRPr lang="en-US" sz="1350" dirty="0"/>
          </a:p>
        </p:txBody>
      </p:sp>
      <p:sp>
        <p:nvSpPr>
          <p:cNvPr id="61" name="Shape 58"/>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than</a:t>
            </a:r>
            <a:endParaRPr lang="en-US" sz="700" dirty="0"/>
          </a:p>
        </p:txBody>
      </p:sp>
      <p:sp>
        <p:nvSpPr>
          <p:cNvPr id="63" name="Text 60"/>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أَكْثَرَ مِنْ …</a:t>
            </a:r>
            <a:endParaRPr lang="ar-SA" sz="1350" dirty="0"/>
          </a:p>
        </p:txBody>
      </p:sp>
      <p:sp>
        <p:nvSpPr>
          <p:cNvPr id="64" name="Shape 6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566928"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7" name="Shape 64"/>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openers</a:t>
            </a:r>
            <a:endParaRPr lang="en-US" sz="800" dirty="0"/>
          </a:p>
        </p:txBody>
      </p:sp>
      <p:sp>
        <p:nvSpPr>
          <p:cNvPr id="69" name="Text 6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 · خُصُوصًا</a:t>
            </a:r>
            <a:endParaRPr lang="ar-SA" sz="3000" dirty="0"/>
          </a:p>
        </p:txBody>
      </p:sp>
      <p:sp>
        <p:nvSpPr>
          <p:cNvPr id="70" name="Text 6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 · especially</a:t>
            </a:r>
            <a:endParaRPr lang="en-US" sz="1350" dirty="0"/>
          </a:p>
          <a:p>
            <a:pPr indent="0" marL="0">
              <a:buNone/>
            </a:pPr>
            <a:r>
              <a:rPr lang="en-US" sz="1100" i="1" dirty="0">
                <a:solidFill>
                  <a:srgbClr val="5A6472"/>
                </a:solidFill>
                <a:latin typeface="Calibri" pitchFamily="34" charset="0"/>
                <a:cs typeface="Amiri" pitchFamily="2" charset="-78"/>
              </a:rPr>
              <a:t>fī ra’-yī · khu-ṣū-ṣan</a:t>
            </a:r>
            <a:endParaRPr lang="en-US" sz="13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adjectives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إِبْدَاعِيٌّ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creative</a:t>
            </a:r>
            <a:endParaRPr lang="en-US" sz="1350" dirty="0"/>
          </a:p>
          <a:p>
            <a:pPr indent="0" marL="0">
              <a:buNone/>
            </a:pPr>
            <a:r>
              <a:rPr lang="en-US" sz="1100" i="1" dirty="0">
                <a:solidFill>
                  <a:srgbClr val="5A6472"/>
                </a:solidFill>
                <a:latin typeface="Calibri" pitchFamily="34" charset="0"/>
                <a:cs typeface="Amiri" pitchFamily="2" charset="-78"/>
              </a:rPr>
              <a:t>ib-dā-‘iyy</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إِبْدَاعِيَّةٌ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إِبْدَاعِيٌّ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عَمَلِيٌّ</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‘a-ma-liyy</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عَمَلِيَّةٌ</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مُعَقَّدٌ</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complicated</a:t>
            </a:r>
            <a:endParaRPr lang="en-US" sz="1350" dirty="0"/>
          </a:p>
          <a:p>
            <a:pPr indent="0" marL="0">
              <a:buNone/>
            </a:pPr>
            <a:r>
              <a:rPr lang="en-US" sz="1100" i="1" dirty="0">
                <a:solidFill>
                  <a:srgbClr val="5A6472"/>
                </a:solidFill>
                <a:latin typeface="Calibri" pitchFamily="34" charset="0"/>
                <a:cs typeface="Amiri" pitchFamily="2" charset="-78"/>
              </a:rPr>
              <a:t>mu-‘aq-qad</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مُعَقَّدَةٌ</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5" name="Text 5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مُعَقَّدٌ</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9" name="Shape 5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مُثِيرٌ لِلاهْتِمَامِ</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interesting</a:t>
            </a:r>
            <a:endParaRPr lang="en-US" sz="1350" dirty="0"/>
          </a:p>
          <a:p>
            <a:pPr indent="0" marL="0">
              <a:buNone/>
            </a:pPr>
            <a:r>
              <a:rPr lang="en-US" sz="1100" i="1" dirty="0">
                <a:solidFill>
                  <a:srgbClr val="5A6472"/>
                </a:solidFill>
                <a:latin typeface="Calibri" pitchFamily="34" charset="0"/>
                <a:cs typeface="Amiri" pitchFamily="2" charset="-78"/>
              </a:rPr>
              <a:t>mu-thīr lil-ih-ti-mām</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مُثِيرَةٌ</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مُثِيرٌ</a:t>
            </a:r>
            <a:endParaRPr lang="ar-SA" sz="15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4" name="Shape 7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6" name="Shape 7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مُمْتِعٌ</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a:t>
            </a:r>
            <a:endParaRPr lang="en-US" sz="1350" dirty="0"/>
          </a:p>
        </p:txBody>
      </p:sp>
      <p:sp>
        <p:nvSpPr>
          <p:cNvPr id="80" name="Shape 7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2" name="Text 7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مُمْتِعَةٌ</a:t>
            </a:r>
            <a:endParaRPr lang="ar-SA" sz="1500" dirty="0"/>
          </a:p>
        </p:txBody>
      </p:sp>
      <p:sp>
        <p:nvSpPr>
          <p:cNvPr id="83" name="Shape 8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5" name="Text 8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مُمْتِعٌ</a:t>
            </a:r>
            <a:endParaRPr lang="ar-SA" sz="150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9" name="Shape 8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0" name="Text 8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1" name="Shape 8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مُمِلٌّ</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boring</a:t>
            </a:r>
            <a:endParaRPr lang="en-US" sz="1350" dirty="0"/>
          </a:p>
          <a:p>
            <a:pPr indent="0" marL="0">
              <a:buNone/>
            </a:pPr>
            <a:r>
              <a:rPr lang="en-US" sz="1100" i="1" dirty="0">
                <a:solidFill>
                  <a:srgbClr val="5A6472"/>
                </a:solidFill>
                <a:latin typeface="Calibri" pitchFamily="34" charset="0"/>
                <a:cs typeface="Amiri" pitchFamily="2" charset="-78"/>
              </a:rPr>
              <a:t>mu-mill</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مُمِلَّةٌ</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مُمِلٌّ</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do you prefer?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أَيُّهُمَا تُفَضِّلُ؟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science?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تُحِبُّ العُلُومَ؟</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it a little, but I like art a lot.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أُحِبُّهَا قَلِيلًا، لٰكِنِّي أُحِبُّ الفَنَّ كَثِيرًا.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do you prefer (to a girl): history or geography?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أَيُّهُمَا تُفَضِّلِينَ: التَّارِيخَ أَمِ الجُغْرَافِيَا؟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prefer history, because it is interesting.</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أُفَضِّلُ التَّارِيخَ، لِأَنَّهُ مُثِيرٌ لِلِاهْتِمَامِ.</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don’t you like?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لَا تُحِبِّينَ؟</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don’t like maths at all! It is very complicated.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أُحِبُّ الرِّيَاضِيَّاتِ أَبَدًا! هِيَ مُعَقَّدَةٌ جِدًّا.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in threes (A asks, B is a boy, C is a girl). Round 2: swap letters. Round 3: give YOUR real opinions with </a:t>
            </a:r>
            <a:pPr algn="l" indent="0" marL="0">
              <a:buNone/>
            </a:pPr>
            <a:r>
              <a:rPr lang="ar-SA" altLang="en-US" sz="1500" b="1" dirty="0">
                <a:solidFill>
                  <a:srgbClr val="1B3B6F"/>
                </a:solidFill>
                <a:latin typeface="Amiri" pitchFamily="2" charset="-78"/>
                <a:ea typeface="Amiri" pitchFamily="2" charset="-78"/>
                <a:cs typeface="Amiri" pitchFamily="2" charset="-78"/>
              </a:rPr>
              <a:t>جِدًّا</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كَثِيرًا</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قَلِيلًا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أُحِبُّ … جِدًّا</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subject do you like very much?</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المَادَّةُ الَّتِي تُحِبُّهَا جِدًّا؟</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do you prefer: art or music?</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الفَنَّ أَمِ المُوسِيقَى؟</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مُمِلٌّ / مُمِلَّةٌ</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أُحِبُّ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don’t you like at school?</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لَا تُحِبُّ فِي المَدْرَسَةِ؟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خُصُوصًا كُرَةُ السَّلَّةِ</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هِيَ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PE?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التَّرْبِيَةِ البَدَنِيَّةِ؟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أَكْثَرَ مِنْ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صَدِيقِي يُحِبُّ … / صَدِيقَتِي تُحِبُّ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friend like?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يُحِبُّ صَدِيقُكَ؟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Role-play card — answering a class survey</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اسْتِبْيَانُ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أُحِبُّ … جِدًّا</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it + how much.</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مَادَّتُكَ المُفَضَّلَةُ؟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لِأَنَّهَا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أَيُّهُمَا ← أُفَضِّلُ … لِأَنَّهَا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 reason.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العُلُومَ أَمِ الرِّيَاضِيَّاتِ؟</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فِي رَأْيِي … مُمِلٌّ / مُمِلَّةٌ قَلِيلًا</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one politely.</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هُنَاكَ مَادَّةٌ مُمِلَّةٌ فِي رَأْيِكَ؟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a classmate with a survey.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30 seconds: what I love and what I don’t</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أُحِبُّ وَمَا لَا أُحِبُّ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your school likes and dislikes — use three different strengths (</a:t>
            </a:r>
            <a:pPr algn="l" indent="0" marL="0">
              <a:buNone/>
            </a:pPr>
            <a:r>
              <a:rPr lang="ar-SA" altLang="en-US" sz="1750" dirty="0">
                <a:solidFill>
                  <a:srgbClr val="1F2A37"/>
                </a:solidFill>
                <a:latin typeface="Amiri" pitchFamily="2" charset="-78"/>
                <a:ea typeface="Amiri" pitchFamily="2" charset="-78"/>
                <a:cs typeface="Amiri" pitchFamily="2" charset="-78"/>
              </a:rPr>
              <a:t>جِدًّا</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كَثِيرًا</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قَلِيلًا</a:t>
            </a:r>
            <a:pPr algn="l" indent="0" marL="0">
              <a:buNone/>
            </a:pPr>
            <a:r>
              <a:rPr lang="en-US" sz="1350" dirty="0">
                <a:solidFill>
                  <a:srgbClr val="1F2A37"/>
                </a:solidFill>
                <a:latin typeface="Calibri" pitchFamily="34" charset="0"/>
                <a:cs typeface="Amiri" pitchFamily="2" charset="-78"/>
              </a:rPr>
              <a:t>) and one preference.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أُحِبُّ … · لَا أُحِبُّ … · أُفَضِّلُ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strength words and </a:t>
            </a:r>
            <a:pPr algn="l" indent="0" marL="0">
              <a:buNone/>
            </a:pPr>
            <a:r>
              <a:rPr lang="ar-SA" altLang="en-US" sz="1500" dirty="0">
                <a:solidFill>
                  <a:srgbClr val="1F2A37"/>
                </a:solidFill>
                <a:latin typeface="Amiri" pitchFamily="2" charset="-78"/>
                <a:ea typeface="Amiri" pitchFamily="2" charset="-78"/>
                <a:cs typeface="Amiri" pitchFamily="2" charset="-78"/>
              </a:rPr>
              <a:t>لِأَنَّهُ / لِأَنَّهَا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comparison (</a:t>
            </a:r>
            <a:pPr algn="l" indent="0" marL="0">
              <a:buNone/>
            </a:pPr>
            <a:r>
              <a:rPr lang="ar-SA" altLang="en-US" sz="1500" dirty="0">
                <a:solidFill>
                  <a:srgbClr val="1F2A37"/>
                </a:solidFill>
                <a:latin typeface="Amiri" pitchFamily="2" charset="-78"/>
                <a:ea typeface="Amiri" pitchFamily="2" charset="-78"/>
                <a:cs typeface="Amiri" pitchFamily="2" charset="-78"/>
              </a:rPr>
              <a:t>أُحِبُّ … أَكْثَرَ مِنْ</a:t>
            </a:r>
            <a:pPr algn="l" indent="0" marL="0">
              <a:buNone/>
            </a:pPr>
            <a:r>
              <a:rPr lang="en-US" sz="1150" dirty="0">
                <a:solidFill>
                  <a:srgbClr val="1F2A37"/>
                </a:solidFill>
                <a:latin typeface="Calibri" pitchFamily="34" charset="0"/>
                <a:cs typeface="Amiri" pitchFamily="2" charset="-78"/>
              </a:rPr>
              <a:t> …) and a friend’s opinion.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prefer music because it is creative.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 المُوسِيقَى</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يُفَضِّلُ المُوسِيقَى</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إِبْدَاعِيَّةٌ.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إِبْدَاعِيٌّ.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Do you like history? (to a girl)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تُحِبِّينَ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تُحِبُّ</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التَّارِيخَ؟</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التَّارِيخُ؟</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art more than science.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الفَنَّ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الفَنُّ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العُلُومِ.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العُلُومَ.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prefer music because it is creative.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المُوسِيقَى</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لِأَنَّهَا إِبْدَاعِيَّةٌ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أُفَضِّلُ المُوسِيقَى لِأَنَّهَا إِبْدَاعِيَّةٌ.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Do you like history? (to a girl)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 </a:t>
            </a:r>
            <a:pPr algn="l" indent="0" marL="0">
              <a:buNone/>
            </a:pPr>
            <a:r>
              <a:rPr lang="ar-SA" altLang="en-US" sz="1350" dirty="0">
                <a:solidFill>
                  <a:srgbClr val="5A6472"/>
                </a:solidFill>
                <a:latin typeface="Amiri" pitchFamily="2" charset="-78"/>
                <a:ea typeface="Amiri" pitchFamily="2" charset="-78"/>
                <a:cs typeface="Amiri" pitchFamily="2" charset="-78"/>
              </a:rPr>
              <a:t>تُحِبِّينَ</a:t>
            </a:r>
            <a:pPr algn="l" indent="0" marL="0">
              <a:buNone/>
            </a:pPr>
            <a:r>
              <a:rPr lang="en-US" sz="1050" i="1" dirty="0">
                <a:solidFill>
                  <a:srgbClr val="5A6472"/>
                </a:solidFill>
                <a:latin typeface="Calibri" pitchFamily="34" charset="0"/>
                <a:cs typeface="Amiri" pitchFamily="2" charset="-78"/>
              </a:rPr>
              <a:t>; the subject is the object → </a:t>
            </a:r>
            <a:pPr algn="l" indent="0" marL="0">
              <a:buNone/>
            </a:pPr>
            <a:r>
              <a:rPr lang="ar-SA" altLang="en-US" sz="1350" dirty="0">
                <a:solidFill>
                  <a:srgbClr val="5A6472"/>
                </a:solidFill>
                <a:latin typeface="Amiri" pitchFamily="2" charset="-78"/>
                <a:ea typeface="Amiri" pitchFamily="2" charset="-78"/>
                <a:cs typeface="Amiri" pitchFamily="2" charset="-78"/>
              </a:rPr>
              <a:t>التَّارِيخَ</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تُحِبِّينَ التَّارِيخَ؟</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art more than science.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 than = </a:t>
            </a:r>
            <a:pPr algn="l" indent="0" marL="0">
              <a:buNone/>
            </a:pPr>
            <a:r>
              <a:rPr lang="ar-SA" altLang="en-US" sz="1350" dirty="0">
                <a:solidFill>
                  <a:srgbClr val="5A6472"/>
                </a:solidFill>
                <a:latin typeface="Amiri" pitchFamily="2" charset="-78"/>
                <a:ea typeface="Amiri" pitchFamily="2" charset="-78"/>
                <a:cs typeface="Amiri" pitchFamily="2" charset="-78"/>
              </a:rPr>
              <a:t>أَكْثَرَ 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الفَنَّ أَكْثَرَ مِنَ العُلُومِ.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لَا أُحِبُّ جِدًّا الرِّيَاضِيَّاتِ.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a:t>
            </a:r>
            <a:pPr algn="l" indent="0" marL="0">
              <a:buNone/>
            </a:pPr>
            <a:r>
              <a:rPr lang="ar-SA" altLang="en-US" sz="1700" dirty="0">
                <a:solidFill>
                  <a:srgbClr val="5A6472"/>
                </a:solidFill>
                <a:latin typeface="Amiri" pitchFamily="2" charset="-78"/>
                <a:ea typeface="Amiri" pitchFamily="2" charset="-78"/>
                <a:cs typeface="Amiri" pitchFamily="2" charset="-78"/>
              </a:rPr>
              <a:t>جِدًّا</a:t>
            </a:r>
            <a:pPr algn="l" indent="0" marL="0">
              <a:buNone/>
            </a:pPr>
            <a:r>
              <a:rPr lang="en-US" sz="1300" i="1" dirty="0">
                <a:solidFill>
                  <a:srgbClr val="5A6472"/>
                </a:solidFill>
                <a:latin typeface="Calibri" pitchFamily="34" charset="0"/>
                <a:cs typeface="Amiri" pitchFamily="2" charset="-78"/>
              </a:rPr>
              <a:t> go?</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هَلْ تُحِبُّ الفَنَّ يَا سَارَةُ؟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Sara is a girl.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يُحِبُّ الجُغْرَافِيَا.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sister = she.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لَا أُحِبُّ جِدًّا الرِّيَاضِيَّاتِ.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لَا أُحِبُّ الرِّيَاضِيَّاتِ كَثِيرًا.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Strength words go at the end; with </a:t>
            </a:r>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 use </a:t>
            </a:r>
            <a:pPr algn="l" indent="0" marL="0">
              <a:buNone/>
            </a:pPr>
            <a:r>
              <a:rPr lang="ar-SA" altLang="en-US" sz="1500" b="1" dirty="0">
                <a:solidFill>
                  <a:srgbClr val="1B3B6F"/>
                </a:solidFill>
                <a:latin typeface="Amiri" pitchFamily="2" charset="-78"/>
                <a:ea typeface="Amiri" pitchFamily="2" charset="-78"/>
                <a:cs typeface="Amiri" pitchFamily="2" charset="-78"/>
              </a:rPr>
              <a:t>كَثِيرًا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هَلْ تُحِبُّ الفَنَّ يَا سَارَةُ؟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هَلْ تُحِبِّينَ الفَنَّ يَا سَارَةُ؟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a:t>
            </a:r>
            <a:pPr algn="l" indent="0" marL="0">
              <a:buNone/>
            </a:pPr>
            <a:r>
              <a:rPr lang="ar-SA" altLang="en-US" sz="1500" b="1" dirty="0">
                <a:solidFill>
                  <a:srgbClr val="1B3B6F"/>
                </a:solidFill>
                <a:latin typeface="Amiri" pitchFamily="2" charset="-78"/>
                <a:ea typeface="Amiri" pitchFamily="2" charset="-78"/>
                <a:cs typeface="Amiri" pitchFamily="2" charset="-78"/>
              </a:rPr>
              <a:t>تُحِبِّينَ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يُحِبُّ الجُغْرَافِيَا.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تُحِبُّ الجُغْرَافِيَا.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a:t>
            </a:r>
            <a:pPr algn="l" indent="0" marL="0">
              <a:buNone/>
            </a:pPr>
            <a:r>
              <a:rPr lang="ar-SA" altLang="en-US" sz="1500" b="1" dirty="0">
                <a:solidFill>
                  <a:srgbClr val="1B3B6F"/>
                </a:solidFill>
                <a:latin typeface="Amiri" pitchFamily="2" charset="-78"/>
                <a:ea typeface="Amiri" pitchFamily="2" charset="-78"/>
                <a:cs typeface="Amiri" pitchFamily="2" charset="-78"/>
              </a:rPr>
              <a:t>تُحِبُّ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يُحِبُّ ______ أَكْثَرَ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likes … more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رَأْيِي ______ مُمِلٌّ قَلِيلًا، لٰكِنَّهُ ______ .</a:t>
            </a:r>
            <a:endParaRPr lang="ar-SA" sz="17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 is a bit boring, but it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جِدًّا.</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very much.</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قَلِيلًا.</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a little.</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لِأَنَّهُ / لِأَنَّهَا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it is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أُحِبُّ · لَا أُحِبُّ  ·  أُفَضِّلُ  ·  جِدًّا · كَثِيرًا · قَلِيلًا  ·  أَكْثَرَ مِنْ  ·  فِي رَأْيِي  ·  إِبْدَاعِيٌّ · عَمَلِيٌّ  ·  مُعَقَّدٌ · مُمِلٌّ  ·  لٰكِنَّ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My opinions about school subjects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رَأْيِي فِي المَوَادِّ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opinion piece (about 40–60 words) for the school magazine. Include: • a subject you love very much, and why • a subject you like a little • a preference between two subjects • a friend’s opinion • a polite criticism with </a:t>
            </a:r>
            <a:pPr algn="l" indent="0" marL="0">
              <a:buNone/>
            </a:pPr>
            <a:r>
              <a:rPr lang="ar-SA" altLang="en-US" sz="1750" b="1" dirty="0">
                <a:solidFill>
                  <a:srgbClr val="1F2A37"/>
                </a:solidFill>
                <a:latin typeface="Amiri" pitchFamily="2" charset="-78"/>
                <a:ea typeface="Amiri" pitchFamily="2" charset="-78"/>
                <a:cs typeface="Amiri" pitchFamily="2" charset="-78"/>
              </a:rPr>
              <a:t>لٰكِنَّ</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جِدًّا لِأَنَّهُ / لِأَنَّهَا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 very much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قَلِيلًا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 a little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عَلَى …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to …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مُمِلٌّ قَلِيلًا، لٰكِنَّهُ مُفِيدٌ</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a bit boring, but useful</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three different strengths (</a:t>
            </a:r>
            <a:pPr algn="l" indent="0" marL="0">
              <a:buNone/>
            </a:pPr>
            <a:r>
              <a:rPr lang="ar-SA" altLang="en-US" sz="1450" dirty="0">
                <a:solidFill>
                  <a:srgbClr val="5A6472"/>
                </a:solidFill>
                <a:latin typeface="Amiri" pitchFamily="2" charset="-78"/>
                <a:ea typeface="Amiri" pitchFamily="2" charset="-78"/>
                <a:cs typeface="Amiri" pitchFamily="2" charset="-78"/>
              </a:rPr>
              <a:t>جِدًّا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كَثِيرًا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قَلِيلًا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preference with a reason that agrees with the subject?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اللُّغَةَ العَرَبِيَّةَ جِدًّا.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like Arabic very much.</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مَادَّتُكَ المُفَضَّلَةُ؟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مُمْتِعَةٌ وَإِبْدَاعِيَّةٌ.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it is enjoyable and creative.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العُلُومَ، لِأَنَّهَا عَمَلِيَّةٌ.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science, because it is practical.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أَيُّهُمَا تُفَضِّلُ: العُلُومَ أَمِ الرِّيَاضِيَّاتِ؟</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التَّارِيخُ مُمِلٌّ قَلِيلًا، لٰكِنَّهُ مُفِيدٌ.</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my opinion history is a bit boring, but it is useful.</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هُنَاكَ مَادَّةٌ مُمِلَّةٌ فِي رَأْيِكَ؟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أُحِبُّ التَّرْبِيَةَ البَدَنِيَّةَ جِدًّا، لِأَنَّهَا مُمْتِعَةٌ وَعَمَلِيَّةٌ، خُصُوصًا كُرَةَ السَّلَّةِ. أُحِبُّ العُلُومَ قَلِيلًا. أُفَضِّلُ الفَنَّ عَلَى المُوسِيقَى، لِأَنَّهُ إِبْدَاعِيٌّ. صَدِيقَتِي مَرْيَمُ تُحِبُّ الرِّيَاضِيَّاتِ أَكْثَرَ مِنْ كُلِّ المَوَادِّ! فِي رَأْيِي الجُغْرَافِيَا مُمِلَّةٌ قَلِيلًا، لٰكِنَّهَا مُفِيدَةٌ.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love PE very much, because it is enjoyable and practical, especially basketball. I like science a little. I prefer art to music, because it is creative. My friend Maryam likes maths more than any subject! In my opinion geography is a bit boring, but it is useful.”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أُحِبُّ … جِدًّا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أُحِبُّ العُلُومَ قَلِيلًا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الفَنَّ عَلَى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لٰكِنَّهَا مُفِيدَةٌ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F4-L05 · Giving Reasons — Why?</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إِعْطَاءُ الأَسْبَابِ — لِمَاذَا؟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F4-L04 · Practice Room — Likes, Dislikes and Preferences</dc:title>
  <dc:subject>PptxGenJS Presentation</dc:subject>
  <dc:creator>Al Madina Online School · Arabic Department</dc:creator>
  <cp:lastModifiedBy>Al Madina Online School · Arabic Department</cp:lastModifiedBy>
  <cp:revision>1</cp:revision>
  <dcterms:created xsi:type="dcterms:W3CDTF">2026-10-25T17:27:15Z</dcterms:created>
  <dcterms:modified xsi:type="dcterms:W3CDTF">2026-10-25T17:27:15Z</dcterms:modified>
</cp:coreProperties>
</file>