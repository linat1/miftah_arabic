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2–6 Revision arcade (not marked) · 6–7 Assessment map · 7–22 Listening (20) · 22–32 Reading (10) · 32–48 Writing (20) · 48–56 Speaking (10, one-to-one or trusted pairs) · 56–60 Profile and F5 habit.
FLEX slides are optional. Use them if the class is moving quickly; otherwise the same activities are on the website for homework.
Content source: Miftah Arabic website, Pathways › Foundation › F4 My School › Lesson 12 (F4-L12). The website F4-L12 is a four-skill, 60-mark unit assessment: the F4 language vault and grammar system (with a ten-question grammar check and three sentence builders), the revision arcade (not marked), Part A listening 20 (Text 1 Salma at Al-Nour school: 8 multiple-choice · Text 2 Mariam and Yusuf’s timetables: 8 matches + 4 true / false), Part B reading 10 (Omar’s article, six questions), Part C writing 20 (registration form 5 + a 70–90-word email to a new student 15: task completion, range, accuracy), Part D speaking 10 (role play 6 + topic response 4), the /60 profile with bands and a three-prompt exit ticket.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Read each listening script twice at natural pace (website: first for the main message, second for precise detail). Do NOT show scripts or answers until the section is finished.
• Website: “These original Miftah tasks develop familiar skills used in external Arabic qualifications. They are not official examination-board papers or grade thresholds.”
• Privacy: own or fictional details are accepted in the form, the email and the speaking.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route: 01 Retrieve (revision arcade and gap check) · 02 Listen (two school-life texts, 20) · 03 Read (school article, 10) · 04 Write (form and email, 20) · 05 Speak (role play and topic response, 10) · 06 Respond (profile, feedback and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assessment words prepared at home at the end of F4-L11. Questions 3–5 are from the website F4 revision arcade (reason agreement, rules, question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Read every question fully — then look for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“F4 grammar system and sentence builders”): Present-tense person — أَنَا أَدْرُسُ · هُوَ يَدْرُسُ · هِيَ تَدْرُسُ. Days and time — فِي يَوْمِ + day · عِنْدَ السَّاعَةِ + time. Reasons — لِأَنَّهُ + masculine · لِأَنَّهَا + feminine. Rules — يَجِبُ أَنْ + verb · لَا يَجُوزُ + verbal noun.
Website sentence builders (correct choices): أُفَضِّلُ العُلُومَ لِأَنَّهَا مُفِيدَةٌ. · فِي يَوْمِ الاِثْنَيْنِ عِنْدِي اللُّغَةُ العَرَبِيَّةُ عِنْدَ السَّاعَةِ التَّاسِعَةِ. · يَجِبُ أَنْ نَصِلَ فِي الوَقْتِ.
The website language vault (places and people, subjects, timetable, classroom objects and routines, opinions, rules and connectives)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Website outcomes: Recall — retrieve F4 language · Understand — extract spoken and written detail · Produce — communicate clearly · Reflect — record one strength, one gap and one manageable improvement action before 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(website, 8 marks). Read twice at natural pace; students answer after the second reading.
SCRIPT: اِسْمِي سَلْمَى، وَأَدْرُسُ فِي مَدْرَسَةِ النُّورِ. فِي مَدْرَسَتِنَا نَحْوُ سِتِّمِئَةِ طَالِبٍ وَطَالِبَةٍ. أَدْرُسُ اللُّغَةَ العَرَبِيَّةَ وَاللُّغَةَ الإِنْجِلِيزِيَّةَ وَالرِّيَاضِيَّاتِ وَالعُلُومَ وَالتَّارِيخَ. مَادَّتِي المُفَضَّلَةُ هِيَ العُلُومُ لِأَنَّهَا مُفِيدَةٌ وَمُمْتِعَةٌ. لَا أُحِبُّ التَّارِيخَ لِأَنَّهُ طَوِيلٌ وَصَعْبٌ. يَجِبُ عَلَى الطُّلَّابِ أَنْ يَصِلُوا فِي الوَقْتِ، وَلَا يَجُوزُ لَهُمْ أَنْ يَسْتَخْدِمُوا الهَوَاتِفَ أَثْنَاءَ الدَّرْسِ.
Private chat: 1_ 2_ 3_ 4_ 5_ 6_ 7_ 8_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(website, 12 marks: 8 matches + 4 true / false). Read twice — use two voices if possible.
SCRIPT: فِي يَوْمِ الاِثْنَيْنِ تَدْرُسُ مَرْيَمُ اللُّغَةَ العَرَبِيَّةَ وَاللُّغَةَ الإِنْجِلِيزِيَّةَ، أَمَّا يُوسُفُ فَيَدْرُسُ الرِّيَاضِيَّاتِ وَالجُغْرَافِيَا. وَفِي يَوْمِ الأَرْبِعَاءِ يَدْرُسُ كِلَاهُمَا الفَنَّ، وَلَكِنَّ يُوسُفَ يَدْرُسُ العُلُومَ أَيْضًا. وَفِي يَوْمِ الخَمِيسِ يَدْرُسُ كِلَاهُمَا اللُّغَةَ العَرَبِيَّةَ، وَتَدْرُسُ مَرْيَمُ العُلُومَ بَيْنَمَا يَدْرُسُ يُوسُفُ التَّرْبِيَةَ البَدَنِيَّةَ. تَنْتَهِي دِرَاسَةُ مَرْيَمَ فِي السَّاعَةِ الثَّالِثَةِ، وَتَنْتَهِي دِرَاسَةُ يُوسُفَ فِي السَّاعَةِ الثَّالِثَةِ وَالنِّصْفِ.
ANSWERS 1–6: 1 Mariam · 2 Yusuf · 3 Both · 4 Both · 5 Yusuf · 6 Mariam.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ANSWERS 7–12: 7 Mariam · 8 Yusuf · 9 True · 10 False (Yusuf studies maths on Monday) · 11 True · 12 False (3:00 and 3:30).
Website after both texts: reveal the script, compare the exact wording with your answers, then identify one listening cue to remember (e.g. أَمَّا … فَـ introduces a contrast between two people; كِلَاهُمَا = both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Website: “Read once for the overall message. Read again to underline the exact words that support each answer.” No English support on the assessment text. Keep this slide on screen while students answer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10 marks across six questions). Suggested weighting for a /10 record: questions 1, 2, 5 and 6 one mark each; questions 3 and 4 (reason and evidence) three marks each — one for the choice and two for quoting the Arabic evidence in the chat (Develop / Stretch). Core: the choice alone earns the first mark.
Access arrangement: the text is on the previous slide —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/10. Ask Stretch students which phrase shows Omar keeps trying (وَلَكِنِّي أُحَاوِلُ كُلَّ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Example answers: الاِسْمُ: مَرْيَمُ · العُمْرُ: اِثْنَتَا عَشْرَةَ سَنَةً / ١٢ · الجِنْسِيَّةُ: بِرِيطَانِيَّةٌ · المَوَادُّ: العَرَبِيَّةُ وَالعُلُومُ وَالتَّارِيخُ · المَادَّةُ المُفَضَّلَةُ: العُلُومُ.
Accept numerals for age; accept masculine or feminine nationality matching the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task completion 5 · range 5 · accuracy 5). Word count 70–90 Arabic words.
Guidance for each strand /5: 5 = consistently secure · 4 = secure with minor gaps · 3 = generally successful · 2 = partial · 1 = very limited · 0 = no creditable response.
A teacher-written full-mark model is on the next slide — show ONLY after students have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TEACHER-WRITTEN FULL-MARK MODEL (about 75 words). Students compare and add ONE improvement in green pen (self-assessment only — the mark stands). Point out: three connectives (ثُمَّ، وَلَكِنَّ، وَ), a masculine reason (لِأَنَّهُ مُمْتِعٌ), a feminine adjective (صَعْبَةٌ), a timetable detail and two rules with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ROLE PLAY (website, 6 marks). Website: “Respond naturally. Short accurate answers can earn credit; developed answers show greater range.”
Criteria: Communication — relevant information, completed prompts and understandable meaning · Language quality — accurate core structures, some range, clear pronunciation and manageable hesitation.
ORGANISATION: one-to-one with the teacher while others finish writing, or trusted pairs with the teacher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RESPONSE (website, 4 marks): give a relevant answer, develop it with at least two details and justify one opinion. The route examples are teacher-written starters — hide lines 2–4 during the assessed response if you want independent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“Evidence into action”): “A mark becomes useful when it leads to a specific decision and a later opportunity to improve.” Bands are the website’s. Compare percentages across sections, as the sections have different totals (20 · 10 · 20 · 10).
Website exit ticket: 1 write one accurate school sentence · 2 name the skill you improved most · 3 choose your first F5 habit: retrieve vocabulary little and often · give one reason in every opinion · check gender and agreement · extend speaking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(F5-L01 · Food and Drinks) will spend class time USING this language, so students prepare it tonight — short, simple, easy to access (school guidance: “Simple, Short, Interesting, Relevant, Easy to access”). F5 begins with food and drinks (website F5-L01 “Food and Drinks”, vocabulary group “Staples and proteins”).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School Life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 — الحَيَاةُ المَدْرَسِيَّةُ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school life across listening, reading, writing and speaking — then turn the result into one precise next step for F5.</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F4-L12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Revision arcade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24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next step.</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F5: food.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arcade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اِخْتِبَارٌ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answer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تَعْلِيمَاتٌ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instructions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questions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العُلُومَ</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مُفِيدَةٌ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يَجُوزُ اسْتِخْدَامُ الهَاتِفِ.</a:t>
            </a:r>
            <a:endParaRPr lang="ar-SA"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use is allowed.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use is preferred.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use is not allowed.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timetable question, what does </a:t>
            </a:r>
            <a:pPr algn="l" indent="0" marL="0">
              <a:buNone/>
            </a:pPr>
            <a:r>
              <a:rPr lang="ar-SA" altLang="en-US" sz="1650" b="1" dirty="0">
                <a:solidFill>
                  <a:srgbClr val="1B3B6F"/>
                </a:solidFill>
                <a:latin typeface="Amiri" pitchFamily="2" charset="-78"/>
                <a:ea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ask for?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 or 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اِخْتِبَارٌ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test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answer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تَعْلِيمَاتٌ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instructions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questions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answers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العُلُومَ</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مُفِيدَةٌ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 is treated as feminine: li-annahā + mufīda (website revision arcade).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يَجُوزُ اسْتِخْدَامُ الهَاتِفِ.</a:t>
            </a:r>
            <a:endParaRPr lang="ar-SA"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use is allowed.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use is preferred.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Phone use is not allowed.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yajūzu introduces something prohibited (website revision arcade).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timetable question, what does </a:t>
            </a:r>
            <a:pPr algn="l" indent="0" marL="0">
              <a:buNone/>
            </a:pPr>
            <a:r>
              <a:rPr lang="ar-SA" altLang="en-US" sz="1650" b="1" dirty="0">
                <a:solidFill>
                  <a:srgbClr val="1B3B6F"/>
                </a:solidFill>
                <a:latin typeface="Amiri" pitchFamily="2" charset="-78"/>
                <a:ea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ask for?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time or day</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matā = when (website revision arcade).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Read every question fully — then look for the evidence.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اِقْرَأْ · اِبْحَثْ عَنِ الدَّلِيلِ · أَجِبْ</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F4 GRAMMAR SYSTEM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patterns to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نِظَامُ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VERB PERSON</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أَنَا أَدْرُسُ · هِيَ تَدْرُسُ</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هُوَ يَدْرُسُ التَّارِيخَ.</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studies history.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prefix shows the person.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REASON AGREEMENT</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أُحِبُّ العَرَبِيَّةَ لِأَنَّهَا مُمْتِعَةٌ.</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Arabic because it is enjoyable.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Pronoun + adjective agree.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RULES</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يَجِبُ أَنْ · لَا يَجُوزُ</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يَجِبُ أَنْ نَصِلَ فِي الوَقْتِ.</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must arrive on time.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Obligation + an + verb.</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do not keep the first-person form when the subject changes.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تَدْرُسُ التَّارِيخَ.</a:t>
            </a:r>
            <a:endParaRPr lang="ar-SA" sz="20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ea typeface="Amiri" pitchFamily="2" charset="-78"/>
                <a:cs typeface="Amiri" pitchFamily="2" charset="-78"/>
              </a:rPr>
              <a:t>هِيَ أَدْرُسُ التَّارِيخَ.</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sections,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texts: school description (8 multiple-choice) · two timetables (8 matches + 4 true / false)</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short school article: detail, evidence and inference questions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five-line registration form (5) · a 70–90-word email to a new student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short school role play (6) · one developed opinion response (4)</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SCHOOL DESCRIPTION · 8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 Text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 النَّصُّ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school called?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Al-Salam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Al-Nour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Al-Amal</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Approximately how many students attend the school?</a:t>
            </a:r>
            <a:endParaRPr lang="en-US" sz="120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1,600</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mentioned?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Salma’s favourite subject?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it?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easy and short.</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useful and enjoyable.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new and important.</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on time</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bring lunch</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 blue</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allowed during the lesson?</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questions</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school called?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Al-Salam</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Al-Nour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Al-Amal</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مَدْرَسَةِ النُّورِ</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Approximately how many students attend the school?</a:t>
            </a:r>
            <a:endParaRPr lang="en-US" sz="1200" dirty="0"/>
          </a:p>
        </p:txBody>
      </p:sp>
      <p:sp>
        <p:nvSpPr>
          <p:cNvPr id="34" name="Shape 31"/>
          <p:cNvSpPr/>
          <p:nvPr/>
        </p:nvSpPr>
        <p:spPr>
          <a:xfrm>
            <a:off x="3412998" y="2453640"/>
            <a:ext cx="2498598"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3504438"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38" name="Shape 35"/>
          <p:cNvSpPr/>
          <p:nvPr/>
        </p:nvSpPr>
        <p:spPr>
          <a:xfrm>
            <a:off x="3504438"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1,600</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نَحْوُ سِتِّمِئَةِ طَالِبٍ وَطَالِبَةٍ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mentioned?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وَالعُلُومَ</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Salma’s favourite subject?</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مَادَّتِي المُفَضَّلَةُ هِيَ العُلُومُ</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it?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easy and short.</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useful and enjoyable.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new and important.</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مُفِيدَةٌ وَمُمْتِعَةٌ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أُحِبُّ التَّارِيخَ</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109" name="Shape 106"/>
          <p:cNvSpPr/>
          <p:nvPr/>
        </p:nvSpPr>
        <p:spPr>
          <a:xfrm>
            <a:off x="6277356" y="4794504"/>
            <a:ext cx="2498598" cy="347472"/>
          </a:xfrm>
          <a:prstGeom prst="roundRect">
            <a:avLst>
              <a:gd name="adj" fmla="val 15789"/>
            </a:avLst>
          </a:prstGeom>
          <a:solidFill>
            <a:srgbClr val="E6F4EC"/>
          </a:solidFill>
          <a:ln w="9525">
            <a:solidFill>
              <a:srgbClr val="2E8B57"/>
            </a:solidFill>
            <a:prstDash val="solid"/>
          </a:ln>
        </p:spPr>
      </p:sp>
      <p:sp>
        <p:nvSpPr>
          <p:cNvPr id="110" name="Shape 107"/>
          <p:cNvSpPr/>
          <p:nvPr/>
        </p:nvSpPr>
        <p:spPr>
          <a:xfrm>
            <a:off x="6368796" y="4831080"/>
            <a:ext cx="256032" cy="256032"/>
          </a:xfrm>
          <a:prstGeom prst="ellipse">
            <a:avLst/>
          </a:prstGeom>
          <a:solidFill>
            <a:srgbClr val="2E8B57"/>
          </a:solidFill>
          <a:ln w="12700">
            <a:solidFill>
              <a:srgbClr val="2E8B57"/>
            </a:solidFill>
            <a:prstDash val="solid"/>
          </a:ln>
        </p:spPr>
      </p:sp>
      <p:sp>
        <p:nvSpPr>
          <p:cNvPr id="111" name="Text 10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12" name="Text 109"/>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arrive on time</a:t>
            </a:r>
            <a:endParaRPr lang="en-US" sz="1250" dirty="0"/>
          </a:p>
        </p:txBody>
      </p:sp>
      <p:sp>
        <p:nvSpPr>
          <p:cNvPr id="113" name="Shape 110"/>
          <p:cNvSpPr/>
          <p:nvPr/>
        </p:nvSpPr>
        <p:spPr>
          <a:xfrm>
            <a:off x="6368796" y="5202936"/>
            <a:ext cx="256032" cy="256032"/>
          </a:xfrm>
          <a:prstGeom prst="ellipse">
            <a:avLst/>
          </a:prstGeom>
          <a:solidFill>
            <a:srgbClr val="C9CED6"/>
          </a:solidFill>
          <a:ln w="12700">
            <a:solidFill>
              <a:srgbClr val="C9CED6"/>
            </a:solidFill>
            <a:prstDash val="solid"/>
          </a:ln>
        </p:spPr>
      </p:sp>
      <p:sp>
        <p:nvSpPr>
          <p:cNvPr id="114" name="Text 11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bring lunch</a:t>
            </a:r>
            <a:endParaRPr lang="en-US" sz="1250" dirty="0"/>
          </a:p>
        </p:txBody>
      </p:sp>
      <p:sp>
        <p:nvSpPr>
          <p:cNvPr id="116" name="Shape 113"/>
          <p:cNvSpPr/>
          <p:nvPr/>
        </p:nvSpPr>
        <p:spPr>
          <a:xfrm>
            <a:off x="6368796" y="5574792"/>
            <a:ext cx="256032" cy="256032"/>
          </a:xfrm>
          <a:prstGeom prst="ellipse">
            <a:avLst/>
          </a:prstGeom>
          <a:solidFill>
            <a:srgbClr val="C9CED6"/>
          </a:solidFill>
          <a:ln w="12700">
            <a:solidFill>
              <a:srgbClr val="C9CED6"/>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 blue</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 يَصِلُوا فِي الوَقْتِ</a:t>
            </a:r>
            <a:endParaRPr lang="ar-SA" sz="13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allowed during the lesson?</a:t>
            </a:r>
            <a:endParaRPr lang="en-US" sz="1250" dirty="0"/>
          </a:p>
        </p:txBody>
      </p:sp>
      <p:sp>
        <p:nvSpPr>
          <p:cNvPr id="124" name="Shape 121"/>
          <p:cNvSpPr/>
          <p:nvPr/>
        </p:nvSpPr>
        <p:spPr>
          <a:xfrm>
            <a:off x="9233154" y="4831080"/>
            <a:ext cx="256032" cy="256032"/>
          </a:xfrm>
          <a:prstGeom prst="ellipse">
            <a:avLst/>
          </a:prstGeom>
          <a:solidFill>
            <a:srgbClr val="C9CED6"/>
          </a:solidFill>
          <a:ln w="12700">
            <a:solidFill>
              <a:srgbClr val="C9CED6"/>
            </a:solidFill>
            <a:prstDash val="solid"/>
          </a:ln>
        </p:spPr>
      </p:sp>
      <p:sp>
        <p:nvSpPr>
          <p:cNvPr id="125" name="Text 122"/>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26" name="Text 123"/>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127" name="Shape 124"/>
          <p:cNvSpPr/>
          <p:nvPr/>
        </p:nvSpPr>
        <p:spPr>
          <a:xfrm>
            <a:off x="9141714" y="5166360"/>
            <a:ext cx="2498598" cy="347472"/>
          </a:xfrm>
          <a:prstGeom prst="roundRect">
            <a:avLst>
              <a:gd name="adj" fmla="val 15789"/>
            </a:avLst>
          </a:prstGeom>
          <a:solidFill>
            <a:srgbClr val="E6F4EC"/>
          </a:solidFill>
          <a:ln w="9525">
            <a:solidFill>
              <a:srgbClr val="2E8B57"/>
            </a:solidFill>
            <a:prstDash val="solid"/>
          </a:ln>
        </p:spPr>
      </p:sp>
      <p:sp>
        <p:nvSpPr>
          <p:cNvPr id="128" name="Shape 125"/>
          <p:cNvSpPr/>
          <p:nvPr/>
        </p:nvSpPr>
        <p:spPr>
          <a:xfrm>
            <a:off x="9233154" y="5202936"/>
            <a:ext cx="256032" cy="256032"/>
          </a:xfrm>
          <a:prstGeom prst="ellipse">
            <a:avLst/>
          </a:prstGeom>
          <a:solidFill>
            <a:srgbClr val="2E8B57"/>
          </a:solidFill>
          <a:ln w="12700">
            <a:solidFill>
              <a:srgbClr val="2E8B57"/>
            </a:solidFill>
            <a:prstDash val="solid"/>
          </a:ln>
        </p:spPr>
      </p:sp>
      <p:sp>
        <p:nvSpPr>
          <p:cNvPr id="129" name="Text 126"/>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30" name="Text 127"/>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phones</a:t>
            </a:r>
            <a:endParaRPr lang="en-US" sz="1250" dirty="0"/>
          </a:p>
        </p:txBody>
      </p:sp>
      <p:sp>
        <p:nvSpPr>
          <p:cNvPr id="131" name="Shape 128"/>
          <p:cNvSpPr/>
          <p:nvPr/>
        </p:nvSpPr>
        <p:spPr>
          <a:xfrm>
            <a:off x="9233154" y="5574792"/>
            <a:ext cx="256032" cy="256032"/>
          </a:xfrm>
          <a:prstGeom prst="ellipse">
            <a:avLst/>
          </a:prstGeom>
          <a:solidFill>
            <a:srgbClr val="C9CED6"/>
          </a:solidFill>
          <a:ln w="12700">
            <a:solidFill>
              <a:srgbClr val="C9CED6"/>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questions</a:t>
            </a:r>
            <a:endParaRPr lang="en-US" sz="12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الهَوَاتِفَ أَثْنَاءَ الدَّرْسِ</a:t>
            </a:r>
            <a:endParaRPr lang="ar-SA" sz="13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LISTENING · TEXT 2 · MARIAM AND YUSUF · MATCHES 1–6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Mariam, Yusuf, both or neither?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 · Y · Both · Neither</a:t>
            </a:r>
            <a:endParaRPr lang="en-US" sz="1100" dirty="0"/>
          </a:p>
        </p:txBody>
      </p:sp>
      <p:sp>
        <p:nvSpPr>
          <p:cNvPr id="17" name="Text 14"/>
          <p:cNvSpPr txBox="1"/>
          <p:nvPr/>
        </p:nvSpPr>
        <p:spPr>
          <a:xfrm>
            <a:off x="162763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Statement</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21" name="Text 18"/>
          <p:cNvSpPr txBox="1"/>
          <p:nvPr/>
        </p:nvSpPr>
        <p:spPr>
          <a:xfrm>
            <a:off x="1664208" y="2267712"/>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 Arabic on Monday</a:t>
            </a:r>
            <a:endParaRPr lang="en-US" sz="11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27" name="Text 24"/>
          <p:cNvSpPr txBox="1"/>
          <p:nvPr/>
        </p:nvSpPr>
        <p:spPr>
          <a:xfrm>
            <a:off x="1664208" y="2881884"/>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 mathematics on Monday</a:t>
            </a:r>
            <a:endParaRPr lang="en-US" sz="11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33" name="Text 30"/>
          <p:cNvSpPr txBox="1"/>
          <p:nvPr/>
        </p:nvSpPr>
        <p:spPr>
          <a:xfrm>
            <a:off x="1664208" y="3496056"/>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 Arabic on Thursday</a:t>
            </a:r>
            <a:endParaRPr lang="en-US" sz="11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39" name="Text 36"/>
          <p:cNvSpPr txBox="1"/>
          <p:nvPr/>
        </p:nvSpPr>
        <p:spPr>
          <a:xfrm>
            <a:off x="1664208" y="4110228"/>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Has art on Wednesday</a:t>
            </a:r>
            <a:endParaRPr lang="en-US" sz="11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43" name="Text 40"/>
          <p:cNvSpPr txBox="1"/>
          <p:nvPr/>
        </p:nvSpPr>
        <p:spPr>
          <a:xfrm>
            <a:off x="1664208" y="4724400"/>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Has science on Wednesday</a:t>
            </a:r>
            <a:endParaRPr lang="en-US" sz="1100" dirty="0"/>
          </a:p>
        </p:txBody>
      </p:sp>
      <p:sp>
        <p:nvSpPr>
          <p:cNvPr id="44" name="Text 41"/>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47" name="Text 44"/>
          <p:cNvSpPr txBox="1"/>
          <p:nvPr/>
        </p:nvSpPr>
        <p:spPr>
          <a:xfrm>
            <a:off x="1664208" y="5338572"/>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Has science on Thursday</a:t>
            </a:r>
            <a:endParaRPr lang="en-US" sz="1100" dirty="0"/>
          </a:p>
        </p:txBody>
      </p:sp>
      <p:sp>
        <p:nvSpPr>
          <p:cNvPr id="48" name="Text 45"/>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M, Y, Both or Neither for each statement. One mark each.</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MATCHES 7–8 AND TRUE / FALSE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Finish Text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162763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Statement</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21" name="Text 18"/>
          <p:cNvSpPr txBox="1"/>
          <p:nvPr/>
        </p:nvSpPr>
        <p:spPr>
          <a:xfrm>
            <a:off x="1664208" y="2267712"/>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Finishes school at 3:00 (M · Y · Both · Neither)</a:t>
            </a:r>
            <a:endParaRPr lang="en-US" sz="11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a:t>
            </a:r>
            <a:endParaRPr lang="en-US" sz="1100" dirty="0"/>
          </a:p>
        </p:txBody>
      </p:sp>
      <p:sp>
        <p:nvSpPr>
          <p:cNvPr id="27" name="Text 24"/>
          <p:cNvSpPr txBox="1"/>
          <p:nvPr/>
        </p:nvSpPr>
        <p:spPr>
          <a:xfrm>
            <a:off x="1664208" y="2881884"/>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Finishes school at 3:30 (M · Y · Both · Neither)</a:t>
            </a:r>
            <a:endParaRPr lang="en-US" sz="11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 False</a:t>
            </a:r>
            <a:endParaRPr lang="en-US" sz="1100" dirty="0"/>
          </a:p>
        </p:txBody>
      </p:sp>
      <p:sp>
        <p:nvSpPr>
          <p:cNvPr id="33" name="Text 30"/>
          <p:cNvSpPr txBox="1"/>
          <p:nvPr/>
        </p:nvSpPr>
        <p:spPr>
          <a:xfrm>
            <a:off x="1664208" y="3496056"/>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students study Arabic on Thursday.</a:t>
            </a:r>
            <a:endParaRPr lang="en-US" sz="11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 False</a:t>
            </a:r>
            <a:endParaRPr lang="en-US" sz="1100" dirty="0"/>
          </a:p>
        </p:txBody>
      </p:sp>
      <p:sp>
        <p:nvSpPr>
          <p:cNvPr id="39" name="Text 36"/>
          <p:cNvSpPr txBox="1"/>
          <p:nvPr/>
        </p:nvSpPr>
        <p:spPr>
          <a:xfrm>
            <a:off x="1664208" y="4110228"/>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Mariam studies mathematics on Monday.</a:t>
            </a:r>
            <a:endParaRPr lang="en-US" sz="11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 False</a:t>
            </a:r>
            <a:endParaRPr lang="en-US" sz="1100" dirty="0"/>
          </a:p>
        </p:txBody>
      </p:sp>
      <p:sp>
        <p:nvSpPr>
          <p:cNvPr id="43" name="Text 40"/>
          <p:cNvSpPr txBox="1"/>
          <p:nvPr/>
        </p:nvSpPr>
        <p:spPr>
          <a:xfrm>
            <a:off x="1664208" y="4724400"/>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 has art and science on Wednesday.</a:t>
            </a:r>
            <a:endParaRPr lang="en-US" sz="1100" dirty="0"/>
          </a:p>
        </p:txBody>
      </p:sp>
      <p:sp>
        <p:nvSpPr>
          <p:cNvPr id="44" name="Text 41"/>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 False</a:t>
            </a:r>
            <a:endParaRPr lang="en-US" sz="1100" dirty="0"/>
          </a:p>
        </p:txBody>
      </p:sp>
      <p:sp>
        <p:nvSpPr>
          <p:cNvPr id="47" name="Text 44"/>
          <p:cNvSpPr txBox="1"/>
          <p:nvPr/>
        </p:nvSpPr>
        <p:spPr>
          <a:xfrm>
            <a:off x="1664208" y="5338572"/>
            <a:ext cx="6583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students finish school at the same time.</a:t>
            </a:r>
            <a:endParaRPr lang="en-US" sz="1100" dirty="0"/>
          </a:p>
        </p:txBody>
      </p:sp>
      <p:sp>
        <p:nvSpPr>
          <p:cNvPr id="48" name="Text 45"/>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Listening total: Text 1 (8) + Text 2 (12) = 20.</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A SCHOOL ARTICLE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My school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حَيَاتِي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أَنَا عُمَرُ، وَأَدْرُسُ فِي مَدْرَسَةٍ كَبِيرَةٍ قَرِيبَةٍ مِنْ بَيْتِي. تَبْدَأُ الدِّرَاسَةُ فِي السَّاعَةِ الثَّامِنَةِ، وَتَنْتَهِي فِي السَّاعَةِ الثَّالِثَةِ. أَدْرُسُ سِتَّ مَوَادَّ، وَأُفَضِّلُ الحَاسُوبَ لِأَنَّهُ مُفِيدٌ وَمُمْتِعٌ. مُعَلِّمُ الحَاسُوبِ صَبُورٌ وَيَشْرَحُ الدَّرْسَ بِوُضُوحٍ. لَا أُحِبُّ الرِّيَاضِيَّاتِ كَثِيرًا لِأَنَّهَا صَعْبَةٌ، وَلَكِنِّي أُحَاوِلُ كُلَّ يَوْمٍ. فِي مَدْرَسَتِنَا مَكْتَبَةٌ جَيِّدَةٌ وَمَلْعَبٌ وَاسِعٌ. يَجِبُ أَنْ نَحْتَرِمَ المُعَلِّمِينَ، وَلَا يَجُوزُ الأَكْلُ فِي المَكْتَبَةِ.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10 MARKS · SIX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about Omar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the station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 from his home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his home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school begin and 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8:00–3:30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8:00–3:00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9:00–3:00</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he prefer, and why?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 — it is easy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computing — useful and enjoyable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 it is important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shows the computing teacher supports learning?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strict and gives homework.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young and funny.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patient and explains clearly.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facilities are mentioned?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 and a playground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hall and a canteen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office and a laboratory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school-rule summary is accurate?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not use phones; wear a uniform.</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teachers; do not eat in the library.</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 homework; remain silent.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near the station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far from his home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his home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قَرِيبَةٍ مِنْ بَيْتِي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school begin and 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8:00–3:30</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8:00–3:00</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9:00–3:00</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السَّاعَةِ الثَّامِنَةِ … فِي السَّاعَةِ الثَّالِثَةِ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he prefer, and why?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maths — it is easy</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computing — useful and enjoyable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 it is important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أُفَضِّلُ الحَاسُوبَ لِأَنَّهُ مُفِيدٌ وَمُمْتِعٌ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shows the computing teacher supports learning?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strict and gives homework.</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young and funny.</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patient and explains clearly.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صَبُورٌ وَيَشْرَحُ الدَّرْسَ بِوُضُوحٍ</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facilities are mentioned?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library and a playground</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hall and a canteen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office and a laboratory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مَكْتَبَةٌ جَيِّدَةٌ وَمَلْعَبٌ وَاسِعٌ</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school-rule summary is accurate?</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 not use phones; wear a uniform.</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Respect teachers; do not eat in the library.</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Complete homework; remain silent.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نَحْتَرِمَ المُعَلِّمِينَ … لَا يَجُوزُ الأَكْلُ فِي المَكْتَبَةِ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التَّسْجِيلِ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43708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38912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الاِسْمُ</a:t>
            </a:r>
            <a:endParaRPr lang="ar-SA" sz="2200" dirty="0"/>
          </a:p>
        </p:txBody>
      </p:sp>
      <p:sp>
        <p:nvSpPr>
          <p:cNvPr id="22" name="Text 19"/>
          <p:cNvSpPr txBox="1"/>
          <p:nvPr/>
        </p:nvSpPr>
        <p:spPr>
          <a:xfrm>
            <a:off x="566928" y="2267712"/>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Name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38912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العُمْرُ</a:t>
            </a:r>
            <a:endParaRPr lang="ar-SA" sz="2200" dirty="0"/>
          </a:p>
        </p:txBody>
      </p:sp>
      <p:sp>
        <p:nvSpPr>
          <p:cNvPr id="28" name="Text 25"/>
          <p:cNvSpPr txBox="1"/>
          <p:nvPr/>
        </p:nvSpPr>
        <p:spPr>
          <a:xfrm>
            <a:off x="566928" y="300471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Age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38912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الجِنْسِيَّةُ</a:t>
            </a:r>
            <a:endParaRPr lang="ar-SA" sz="2200" dirty="0"/>
          </a:p>
        </p:txBody>
      </p:sp>
      <p:sp>
        <p:nvSpPr>
          <p:cNvPr id="34" name="Text 31"/>
          <p:cNvSpPr txBox="1"/>
          <p:nvPr/>
        </p:nvSpPr>
        <p:spPr>
          <a:xfrm>
            <a:off x="566928" y="3741725"/>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Nationality</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438912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المَوَادُّ</a:t>
            </a:r>
            <a:endParaRPr lang="ar-SA" sz="2200" dirty="0"/>
          </a:p>
        </p:txBody>
      </p:sp>
      <p:sp>
        <p:nvSpPr>
          <p:cNvPr id="40" name="Text 37"/>
          <p:cNvSpPr txBox="1"/>
          <p:nvPr/>
        </p:nvSpPr>
        <p:spPr>
          <a:xfrm>
            <a:off x="566928" y="4478731"/>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Subjects studied</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438912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المَادَّةُ المُفَضَّلَةُ</a:t>
            </a:r>
            <a:endParaRPr lang="ar-SA" sz="2200" dirty="0"/>
          </a:p>
        </p:txBody>
      </p:sp>
      <p:sp>
        <p:nvSpPr>
          <p:cNvPr id="46" name="Text 43"/>
          <p:cNvSpPr txBox="1"/>
          <p:nvPr/>
        </p:nvSpPr>
        <p:spPr>
          <a:xfrm>
            <a:off x="566928" y="521573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Favourite subject</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mark for each relevant, readable line in Arabic. Own or fictional details are fine.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Email a new student (70–90 words)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طَالِبٍ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 scheme (15)</a:t>
            </a:r>
            <a:endParaRPr lang="en-US" sz="1100" dirty="0"/>
          </a:p>
        </p:txBody>
      </p:sp>
      <p:sp>
        <p:nvSpPr>
          <p:cNvPr id="17" name="Text 14"/>
          <p:cNvSpPr txBox="1"/>
          <p:nvPr/>
        </p:nvSpPr>
        <p:spPr>
          <a:xfrm>
            <a:off x="53035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967728" y="2267712"/>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/5</a:t>
            </a:r>
            <a:endParaRPr lang="en-US" sz="1100" dirty="0"/>
          </a:p>
        </p:txBody>
      </p:sp>
      <p:sp>
        <p:nvSpPr>
          <p:cNvPr id="20" name="Text 17"/>
          <p:cNvSpPr txBox="1"/>
          <p:nvPr/>
        </p:nvSpPr>
        <p:spPr>
          <a:xfrm>
            <a:off x="566928" y="2267712"/>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 greeting and a short description of the school.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967728" y="300471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points, 70–90 words</a:t>
            </a:r>
            <a:endParaRPr lang="en-US" sz="1100" dirty="0"/>
          </a:p>
        </p:txBody>
      </p:sp>
      <p:sp>
        <p:nvSpPr>
          <p:cNvPr id="25" name="Text 22"/>
          <p:cNvSpPr txBox="1"/>
          <p:nvPr/>
        </p:nvSpPr>
        <p:spPr>
          <a:xfrm>
            <a:off x="566928" y="300471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Subjects and at least one timetable detail.</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967728" y="3741725"/>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connectives, reasons,</a:t>
            </a:r>
            <a:endParaRPr lang="en-US" sz="1100" dirty="0"/>
          </a:p>
        </p:txBody>
      </p:sp>
      <p:sp>
        <p:nvSpPr>
          <p:cNvPr id="30" name="Text 27"/>
          <p:cNvSpPr txBox="1"/>
          <p:nvPr/>
        </p:nvSpPr>
        <p:spPr>
          <a:xfrm>
            <a:off x="566928" y="3741725"/>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One rule with yajibu an or lā yajūzu an.</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967728" y="4478731"/>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times, rules, varied openings</a:t>
            </a:r>
            <a:endParaRPr lang="en-US" sz="1100" dirty="0"/>
          </a:p>
        </p:txBody>
      </p:sp>
      <p:sp>
        <p:nvSpPr>
          <p:cNvPr id="35" name="Text 32"/>
          <p:cNvSpPr txBox="1"/>
          <p:nvPr/>
        </p:nvSpPr>
        <p:spPr>
          <a:xfrm>
            <a:off x="566928" y="4478731"/>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Your opinion with a reason.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967728" y="521573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verbs, agreement, li-annahu / li-annahā</a:t>
            </a:r>
            <a:endParaRPr lang="en-US" sz="1100" dirty="0"/>
          </a:p>
        </p:txBody>
      </p:sp>
      <p:sp>
        <p:nvSpPr>
          <p:cNvPr id="40" name="Text 37"/>
          <p:cNvSpPr txBox="1"/>
          <p:nvPr/>
        </p:nvSpPr>
        <p:spPr>
          <a:xfrm>
            <a:off x="566928" y="521573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 suitable closing.</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self-check: all content points · three connectives · verbs and agreement checked · a correct reason · 70–90 words.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WRITING · A FULL-MARK MODEL (TEACHER-WRITTEN) · SHOW AFTER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full-mark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الدَّرَجَةِ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عَزِيزِي آدَمُ، أَهْلًا وَسَهْلًا فِي مَدْرَسَتِنَا! مَدْرَسَتُنَا كَبِيرَةٌ، وَفِيهَا مَكْتَبَةٌ وَمُخْتَبَرٌ.</a:t>
            </a:r>
            <a:endParaRPr lang="ar-SA" sz="19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 school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نَدْرُسُ ثَمَانِيَ مَوَادَّ. فِي يَوْمِ الاِثْنَيْنِ عِنْدَنَا العَرَبِيَّةُ عِنْدَ السَّاعَةِ التَّاسِعَةِ، ثُمَّ العُلُومُ.</a:t>
            </a:r>
            <a:endParaRPr lang="ar-SA" sz="17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subjects + timetable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نَصِلَ فِي الوَقْتِ، وَلَا يَجُوزُ أَنْ نَسْتَعْمِلَ الهَاتِفَ فِي الدَّرْسِ.</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rules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أُفَضِّلُ التَّارِيخَ لِأَنَّهُ مُمْتِعٌ، وَلَكِنَّ الرِّيَاضِيَّاتِ صَعْبَةٌ قَلِيلًا. المُعَلِّمُونَ صَبُورُونَ.</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 reason + contrast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أَتَمَنَّى أَنْ تُحِبَّ المَدْرَسَةَ. إِلَى اللِّقَاءِ! صَدِيقُكَ، يُوسُفُ</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ROLE PLAY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 are a new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تَمْثِيلُ الدَّوْرِ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Support</a:t>
            </a:r>
            <a:endParaRPr lang="en-US" sz="1100" dirty="0"/>
          </a:p>
        </p:txBody>
      </p:sp>
      <p:sp>
        <p:nvSpPr>
          <p:cNvPr id="17" name="Text 14"/>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5669280" y="2267712"/>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السَّلَامُ عَلَيْكُمْ. اِسْمِي …</a:t>
            </a:r>
            <a:endParaRPr lang="ar-SA" sz="2200" dirty="0"/>
          </a:p>
        </p:txBody>
      </p:sp>
      <p:sp>
        <p:nvSpPr>
          <p:cNvPr id="20" name="Text 17"/>
          <p:cNvSpPr txBox="1"/>
          <p:nvPr/>
        </p:nvSpPr>
        <p:spPr>
          <a:xfrm>
            <a:off x="566928" y="2267712"/>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Greet the teacher and say your name.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5669280" y="300471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 وَ …</a:t>
            </a:r>
            <a:endParaRPr lang="ar-SA" sz="2200" dirty="0"/>
          </a:p>
        </p:txBody>
      </p:sp>
      <p:sp>
        <p:nvSpPr>
          <p:cNvPr id="25" name="Text 22"/>
          <p:cNvSpPr txBox="1"/>
          <p:nvPr/>
        </p:nvSpPr>
        <p:spPr>
          <a:xfrm>
            <a:off x="566928" y="3004718"/>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Say two subjects you study.</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5669280" y="3741725"/>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عِنْدِي … يَوْمَ …</a:t>
            </a:r>
            <a:endParaRPr lang="ar-SA" sz="2200" dirty="0"/>
          </a:p>
        </p:txBody>
      </p:sp>
      <p:sp>
        <p:nvSpPr>
          <p:cNvPr id="30" name="Text 27"/>
          <p:cNvSpPr txBox="1"/>
          <p:nvPr/>
        </p:nvSpPr>
        <p:spPr>
          <a:xfrm>
            <a:off x="566928" y="3741725"/>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Say when you study one subject.</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5669280" y="4478731"/>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مَادَّتِي المُفَضَّلَةُ … لِأَنَّهَا …</a:t>
            </a:r>
            <a:endParaRPr lang="ar-SA" sz="2200" dirty="0"/>
          </a:p>
        </p:txBody>
      </p:sp>
      <p:sp>
        <p:nvSpPr>
          <p:cNvPr id="35" name="Text 32"/>
          <p:cNvSpPr txBox="1"/>
          <p:nvPr/>
        </p:nvSpPr>
        <p:spPr>
          <a:xfrm>
            <a:off x="566928" y="4478731"/>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Your favourite subject and a reason.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5669280" y="521573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a:t>
            </a:r>
            <a:endParaRPr lang="ar-SA" sz="2200" dirty="0"/>
          </a:p>
        </p:txBody>
      </p:sp>
      <p:sp>
        <p:nvSpPr>
          <p:cNvPr id="40" name="Text 37"/>
          <p:cNvSpPr txBox="1"/>
          <p:nvPr/>
        </p:nvSpPr>
        <p:spPr>
          <a:xfrm>
            <a:off x="566928" y="5215738"/>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State one school rule.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teacher asks about your timetable, favourite subjects and one rule. Short accurate answers earn credit.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TOPIC RESPONSE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think of your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رَأْيُكَ فِي مَدْرَسَتِكَ؟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رَأْيُكَ فِي مَدْرَسَتِكَ؟ هَلْ تُحِبُّ المَدْرَسَةَ؟ لِمَاذَا؟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question (to a girl: raʼyuki, madrasatiki, tuḥibbīna)</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مَدْرَسَتِي لِأَنَّ المُعَلِّمِينَ صَبُورُونَ.</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 two accurate sentences and one reason</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مَدْرَسَتِي كَبِيرَةٌ، وَفِيهَا مَلْعَبٌ. أُحِبُّ العُلُومَ، وَلَكِنَّ اليَوْمَ طَوِيلٌ.</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 · four connected sentences with a contrast</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فِي رَأْيِي، مَدْرَسَتِي جَيِّدَةٌ لِأَنَّنِي أَتَعَلَّمُ كَثِيرًا، وَلَكِنَّ الوَاجِبَاتِ كَثِيرَةٌ أَحْيَانًا.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STRETCH · a balanced opinion with evidence</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F4 ASSESSMENT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F4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bands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accurate school-life 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progress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0–29 Needs support — return to selected F4 cycles</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one strength supported by evidence · one precise gap · my next action.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subjects, places and classroom objects.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 study and when.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opinions with an accurate reason.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state school rules with yajibu an / lā yajūzu.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70–90 connected words to a new student.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F4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F5-L01 · Food and Drinks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خُبْزٌ</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bread</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أَرُزٌّ</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rice</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دَجَاجٌ</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chicken</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تُفَّاحٌ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apples</a:t>
            </a:r>
            <a:pPr indent="0" marL="0">
              <a:buNone/>
            </a:pPr>
            <a:r>
              <a:rPr lang="en-US" sz="1000" i="1" dirty="0">
                <a:solidFill>
                  <a:srgbClr val="5A6472"/>
                </a:solidFill>
                <a:latin typeface="Calibri" pitchFamily="34" charset="0"/>
                <a:cs typeface="Amiri" pitchFamily="2" charset="-78"/>
              </a:rPr>
              <a:t>  coll.</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مَاءٌ</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Choose your first F5 habit and write one accurate school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عَادَتِي الأُولَى</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F4-L12 section with your lowest score; learn the five food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sentence of your assessed email, then learn the five food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I like … · I do not like … · because … (using the food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F5-L01 · Food and Drinks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الطَّعَامُ وَالشَّرَابُ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F4 complete — well done! Carry one reason in every opinion into F5.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F4-L12 · Review and Unit Assessment: School Life</dc:title>
  <dc:subject>PptxGenJS Presentation</dc:subject>
  <dc:creator>Al Madina Online School · Arabic Department</dc:creator>
  <cp:lastModifiedBy>Al Madina Online School · Arabic Department</cp:lastModifiedBy>
  <cp:revision>1</cp:revision>
  <dcterms:created xsi:type="dcterms:W3CDTF">2026-10-11T06:41:43Z</dcterms:created>
  <dcterms:modified xsi:type="dcterms:W3CDTF">2026-10-11T06:41:43Z</dcterms:modified>
</cp:coreProperties>
</file>