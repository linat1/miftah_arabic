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2 (F4-L02). Website sections used: the eight-question F4-L01 bridge, the seven days (+ فِي يَوْمِ …, school-week awareness) and the 14-question day check, the timetable language vault and the 12-question check, the twelve-hour clock (feminine ordinals, quarter past / half past / quarter to) and the 16-question time check, the authentic-style timetable and the 12-question reading check, the timetable builder, the Timetable Mission (14), Amal’s timetable update (listening, 10), Samir and Layla (reading, 12), speaking (4 prompts), the 6–8-sentence description and the 16-question checkpoint. Website game: “Beat the School Clock” (used as the clock quiz).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seven days + فِي يَوْمِ + the hours 1–12 + “I have … on … at …”. Develop: quarter past / half past / quarter to, يَبْدَأُ / يَنْتَهِي and the three questions. Stretch: compare two days and give a preference.
• Website “Time depth”: this lesson teaches only the timetable times needed here; the separate Time Mastery lesson covers minute-by-minute time.
• School-week awareness (website): many Arabic-speaking schools begin on Sunday; others begin on Monday. Invite students to describe their own (real or invented) week.
• Urdu bridge: ہفتہ (Urdu “week” / Saturday) — Arabic أُسْبُوعٌ; جمعہ = الجُمُعَةُ; گھنٹہ vs سَاعَةٌ (Urdu ساعت = moment); وقت = وَقْتٌ.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timetable words prepared at home at the end of F4-L01. Questions 3–5 are the website “F4-L01 retrieval bridge” (favourite subject, feminine reason, asking a girl).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timetable sentence = day + subject + time. Sā‘a (hour) is feminine, so every hour takes the feminine ordinal.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جمعہ، وقت and نصف are shared. The Arabic day names count from Sunday: الأَحَدُ (one), الاِثْنَيْنُ (two), الثُّلَاثَاءُ (three), الأَرْبِعَاءُ (four), الخَمِيسُ (five). CAREFUL: Urdu ہفتہ = week AND Saturday; Arabic week = أُسْبُوعٌ, Saturday =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(website): all seven are treated as masculine. After فِي يَوْمِ use the modelled genitive form (الأَحَدِ، الاِثْنَيْنِ، الخَمِيسِ …). Website examples: فِي يَوْمِ الاِثْنَيْنِ عِنْدِي الرِّيَاضِيَّاتُ · فِي يَوْمِ الخَمِيسِ عِنْدِي الفَنُّ. Also: يَوْمٌ / أَيَّامٌ (day / days), أُسْبُوعٌ / أَسَابِيعُ (week /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TIMETABLE VAULT (website). Also: جَدْوَلٌ مَدْرَسِيٌّ / دِرَاسِيٌّ (timetable), الحِصَّةُ الثَّانِيَةُ / الثَّالِثَةُ / الرَّابِعَةُ (2nd / 3rd / 4th period), الآنَ (now), صَبَاحًا / مَسَاءً (in the morning / evening). Website models: يَبْدَأُ دَرْسُ العُلُومِ فِي السَّاعَةِ التَّاسِعَةِ صَبَاحًا · يَنْتَهِي الدَّرْسُ فِي السَّاعَةِ العَاشِرَةِ · مَتَى عِنْدَكَ العَرَبِيَّةُ؟ · فِي أَيِّ يَوْمٍ عِنْدَكِ الكِيمِيَاءُ؟ · كَمْ حِصَّةً لِلُّغَةِ العَرَبِيَّةِ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“Read the twelve-hour clock”: Arabic names each clock hour with a FEMININE ordinal because سَاعَةٌ is feminine (1 = الوَاحِدَةُ, not the cardinal).
Website fractions: السَّاعَةُ التَّاسِعَةُ وَالرُّبُعُ (9:15) · السَّاعَةُ العَاشِرَةُ وَالنِّصْفُ (10:30) · السَّاعَةُ الحَادِيَةُ عَشْرَةَ إِلَّا رُبُعًا (10:45 — the NEXT hour minus a quarter).
After فِي the endings change to -i (فِي السَّاعَةِ الثَّامِنَةِ) — model it, no case teaching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“Ask the timetable” and “Begin and end”: يَبْدَأُ دَرْسُ العُلُومِ فِي السَّاعَةِ التَّاسِعَةِ صَبَاحًا · يَنْتَهِي الدَّرْسُ فِي السَّاعَةِ العَاشِرَةِ.
Frequency answers (reading text): مَرَّتَيْنِ فِي الأُسْبُوعِ (twice a week). Asking a girl: عِنْدَكِ (‘indaki).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checkpoint questions 3, 5, 7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“authentic-style school timetable”. Model three questions aloud (website):
• مَا الحِصَّةُ الأُولَى يَوْمَ الأَحَدِ؟ → اللُّغَةُ العَرَبِيَّةُ
• مَتَى عِنْدَ الطُّلَّابِ الكِيمِيَاءُ؟ → يَوْمَ الثُّلَاثَاءِ فِي السَّاعَةِ الثَّامِنَةِ
• فِي أَيِّ يَوْمٍ عِنْدَهُمْ عِلْمُ الحَاسُوبِ؟ → يَوْمَ الاِثْنَيْنِ
Then say one full model sentence: فِي يَوْمِ الأَرْبِعَاءِ عِنْدَهُمُ العَرَبِيَّةُ فِي السَّاعَةِ العَاشِرَةِ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timetable reading check questions 4, 6, 7, 9 and 11. The timetable is on the previous slide — flick back or paste it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says the full sentence: fī yawmi … ‘indahum … fī s-sā‘a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GAME “Beat the School Clock” — its eight clock times as a quick-fire quiz (5 here: 9:15, 10:30, 10:45, 7:15, 8:30). Then play the website game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Choral response: the class says each correct time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Timetable Mission rounds (Friday, quarter to, which day?, ends, complete sentence).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reads the correct option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هَذَا تَغْيِيرٌ فِي الجَدْوَلِ المَدْرَسِيِّ. فِي يَوْمِ الأَحَدِ يَبْدَأُ دَرْسُ اللُّغَةِ العَرَبِيَّةِ فِي السَّاعَةِ الثَّامِنَةِ صَبَاحًا. فِي يَوْمِ الاِثْنَيْنِ عِنْدَنَا التَّارِيخُ فِي الحِصَّةِ الثَّانِيَةِ، ثُمَّ الاِسْتِرَاحَةُ فِي السَّاعَةِ العَاشِرَةِ. أَمَّا يَوْمَ الثُّلَاثَاءِ فَدَرْسُ الكِيمِيَاءِ يَبْدَأُ فِي السَّاعَةِ التَّاسِعَةِ وَالرُّبُعِ. يَوْمَ الأَرْبِعَاءِ عِنْدَنَا اللُّغَةُ العَرَبِيَّةُ مَرَّةً أُخْرَى فِي السَّاعَةِ العَاشِرَةِ وَالنِّصْفِ. وَفِي يَوْمِ الخَمِيسِ يَنْتَهِي دَرْسُ الفَنِّ فِي السَّاعَةِ الثَّانِيَةِ عَشْرَةَ.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PROFILES A and B (website, complete). Website instruction: underline the day, circle the time and box the subject in each sentence. Notice تَبْدَأُ (not يَبْدَأُ) because حِصَّةٌ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7 and 9.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a school timetable”. Prompts (website):
• My timetable: Describe three lessons on three different days.
• Timetable interview: Ask and answer when, which day and how many periods.
• Begins and ends: Give the start and end time of one lesson.
• Compare two days: Say which day you prefer and why.
Website checklist (1–6): three days · three subjects · accurate times · مَتَى؟ asked or answered · ثُمَّ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modelled sentences: day + subject + time. · Develop — Add yabda’u, yantahī, thumma and a question. · Stretch — Compare two days and explain which day you prefer.
Website writing task (Stretch): Website writing task: 6–8 connected sentences — at least four days, five subjects, four times, one break or lunch detail and two questions or answers (a real or invented timetable).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speaking models and Samir’s profile. Stretch: add the website “Compare two days” model (أُفَضِّلُ يَوْمَ الخَمِيسِ لِأَنَّ …، وَلَكِنَّ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(F4-L03 · Classroom Objects — What Is in Your Bag?) will spend class time USING this language, so students prepare it tonight — short, simple, easy to access (school guidance: “Simple, Short, Interesting, Relevant, Easy to access”). The five words come from the website F4-L03 classroom-object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The School Timetable — Days and Times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الجَدْوَلُ المَدْرَسِيُّ — الأَيَّامُ وَالأَوْقَاتُ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and order the seven days, read the twelve-hour clock (with quarter past, half past and quarter to), read a timetable and describe your school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F4-L02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Seven days, timetable words, then the twelve-hour clock.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 a timetable, clock quiz, listen to Amal,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جَدْوَلٌ مَدْرَسِيٌّ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timetable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bag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many?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الكَبِيرَةُ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حِصَّتِي الأُولَى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العُلُومَ لِأَنَّهَا ___.</a:t>
            </a:r>
            <a:endParaRPr lang="ar-SA" sz="14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مُفِيدُونَ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“What do you study?” to one female listener.</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تَدْرُسِينَ؟</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جَدْوَلٌ مَدْرَسِيٌّ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school timetable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bag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many?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مَدْرَسَتِي الكَبِيرَةُ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حِصَّتِي الأُولَى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مَادَّتِي المُفَضَّلَةُ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مَادَّتِي المُفَضَّلَةُ</a:t>
            </a:r>
            <a:pPr algn="l" indent="0" marL="0">
              <a:buNone/>
            </a:pPr>
            <a:r>
              <a:rPr lang="en-US" sz="1050" i="1" dirty="0">
                <a:solidFill>
                  <a:srgbClr val="8A6D1E"/>
                </a:solidFill>
                <a:latin typeface="Calibri" pitchFamily="34" charset="0"/>
                <a:ea typeface="Calibri" pitchFamily="34" charset="-122"/>
                <a:cs typeface="Calibri" pitchFamily="34" charset="-120"/>
              </a:rPr>
              <a:t> means my favourite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العُلُومَ لِأَنَّهَا ___.</a:t>
            </a:r>
            <a:endParaRPr lang="ar-SA" sz="14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مُفِيدُونَ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مُفِيدَةٌ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 takes feminine singular agreement.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“What do you study?” to one female listener.</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تَدْرُسِينَ؟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تَدْرُسِينَ؟</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timetable sentence = day + subject + time. Sā‘a (hour) is feminine, so every hour takes the feminine ordinal.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فِي يَوْمِ الأَحَدِ عِنْدِي العُلُومُ فِي السَّاعَةِ الثَّامِنَ</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and order all seven days.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say the twelve hours plus quarter past, half past and quarter to.</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fī yawmi …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when, on which day and how many periods — and describe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 seven days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have on a day at a time.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quarter past, half past, quarter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when and on which day.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whole school week.</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and give a preference.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Seven days, timetable words and clock times. Core: the days, the hours and “I have … on … at …”.</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Days of the week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Timetable language · 15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Clock times · 12 + ¼ ½ ¾</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الجُمُعَةُ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‎جمعہ‎ </a:t>
            </a:r>
            <a:pPr indent="0" marL="0">
              <a:buNone/>
            </a:pPr>
            <a:r>
              <a:rPr lang="en-US" sz="950" b="1" dirty="0">
                <a:solidFill>
                  <a:srgbClr val="2E8B57"/>
                </a:solidFill>
                <a:latin typeface="Calibri" pitchFamily="34" charset="0"/>
                <a:ea typeface="Calibri" pitchFamily="34" charset="-122"/>
                <a:cs typeface="Calibri" pitchFamily="34" charset="-120"/>
              </a:rPr>
              <a:t> al-jumu‘a · Friday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وَقْتٌ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الأَرْبِعَاءُ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‎اربعاء‎ </a:t>
            </a:r>
            <a:pPr indent="0" marL="0">
              <a:buNone/>
            </a:pPr>
            <a:r>
              <a:rPr lang="en-US" sz="950" b="1" dirty="0">
                <a:solidFill>
                  <a:srgbClr val="2E8B57"/>
                </a:solidFill>
                <a:latin typeface="Calibri" pitchFamily="34" charset="0"/>
                <a:ea typeface="Calibri" pitchFamily="34" charset="-122"/>
                <a:cs typeface="Calibri" pitchFamily="34" charset="-120"/>
              </a:rPr>
              <a:t> al-arbi‘ā’ · Wednesday (root: four)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نِصْفٌ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‎نصف‎ </a:t>
            </a:r>
            <a:pPr indent="0" marL="0">
              <a:buNone/>
            </a:pPr>
            <a:r>
              <a:rPr lang="en-US" sz="950" b="1" dirty="0">
                <a:solidFill>
                  <a:srgbClr val="2E8B57"/>
                </a:solidFill>
                <a:latin typeface="Calibri" pitchFamily="34" charset="0"/>
                <a:ea typeface="Calibri" pitchFamily="34" charset="-122"/>
                <a:cs typeface="Calibri" pitchFamily="34" charset="-120"/>
              </a:rPr>
              <a:t> niṣf · half</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أُسْبُوعٌ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‎ہفتہ‎ </a:t>
            </a:r>
            <a:pPr indent="0" marL="0">
              <a:buNone/>
            </a:pPr>
            <a:r>
              <a:rPr lang="en-US" sz="950" b="1" dirty="0">
                <a:solidFill>
                  <a:srgbClr val="2E8B57"/>
                </a:solidFill>
                <a:latin typeface="Calibri" pitchFamily="34" charset="0"/>
                <a:ea typeface="Calibri" pitchFamily="34" charset="-122"/>
                <a:cs typeface="Calibri" pitchFamily="34" charset="-120"/>
              </a:rPr>
              <a:t> usbū‘ · week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SEVEN DAYS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Sunday to Saturday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أَيَّامُ الأُسْبُوعِ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الأَحَدُ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 · day 1</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al-a-ḥad</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يَوْمِ الأَحَدِ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الاِثْنَيْنُ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Monday · day 2</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al-ith-nayn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يَوْمِ الاِثْنَيْنِ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الثُّلَاثَاءُ</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Tuesday · day 3</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ath-thu-lā-thā’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يَوْمِ الثُّلَاثَاءِ</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الأَرْبِعَاءُ</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Wednesday · day 4</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al-ar-bi-‘ā’</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يَوْمِ الأَرْبِعَاءِ</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الخَمِيسُ</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Thursday · day 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al-kha-mīs</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a:t>
            </a:r>
            <a:endParaRPr lang="en-US" sz="750" dirty="0"/>
          </a:p>
        </p:txBody>
      </p:sp>
      <p:sp>
        <p:nvSpPr>
          <p:cNvPr id="74" name="Text 7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يَوْمِ الخَمِيسِ</a:t>
            </a:r>
            <a:endParaRPr lang="ar-SA" sz="15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الجُمُعَةُ · السَّبْتُ</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Friday · Saturday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al-ju-mu-‘a · as-sabt</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a:t>
            </a:r>
            <a:endParaRPr lang="en-US" sz="750" dirty="0"/>
          </a:p>
        </p:txBody>
      </p:sp>
      <p:sp>
        <p:nvSpPr>
          <p:cNvPr id="86" name="Text 83"/>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يَوْمِ الجُمُعَةِ</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TIMETABLE LANGUAGE (WEBSITE VAULT)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Period, begins, ends, break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lesson / period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1st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الحِصَّةُ الأُولَى</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verbs</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 · يَنْتَهِي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 · 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yab-da’u · yan-ta-hī</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e.g.</a:t>
            </a:r>
            <a:endParaRPr lang="en-US" sz="700" dirty="0"/>
          </a:p>
        </p:txBody>
      </p:sp>
      <p:sp>
        <p:nvSpPr>
          <p:cNvPr id="41" name="Text 3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 الدَّرْسُ</a:t>
            </a:r>
            <a:endParaRPr lang="ar-SA" sz="135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الاِسْتِرَاحَةُ</a:t>
            </a:r>
            <a:endParaRPr lang="ar-SA" sz="3000" dirty="0"/>
          </a:p>
        </p:txBody>
      </p:sp>
      <p:sp>
        <p:nvSpPr>
          <p:cNvPr id="50" name="Text 4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al-is-ti-rā-ḥa</a:t>
            </a:r>
            <a:endParaRPr lang="en-US"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الغَدَاءِ</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lunchtime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 al-gha-dā’</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1" name="Shape 5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questions</a:t>
            </a:r>
            <a:endParaRPr lang="en-US" sz="800" dirty="0"/>
          </a:p>
        </p:txBody>
      </p:sp>
      <p:sp>
        <p:nvSpPr>
          <p:cNvPr id="63" name="Shape 6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 فِي أَيِّ يَوْمٍ؟</a:t>
            </a:r>
            <a:endParaRPr lang="ar-SA" sz="3000" dirty="0"/>
          </a:p>
        </p:txBody>
      </p:sp>
      <p:sp>
        <p:nvSpPr>
          <p:cNvPr id="66" name="Text 6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 on which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 fī ay-yi yaw-min</a:t>
            </a:r>
            <a:endParaRPr lang="en-US" sz="135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0" name="Shape 67"/>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question</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حِصَّةً؟</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periods?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ḥiṣ-ṣa-tan</a:t>
            </a:r>
            <a:endParaRPr lang="en-US" sz="13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TWELVE-HOUR CLOCK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hour is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7" name="Text 14"/>
          <p:cNvSpPr txBox="1"/>
          <p:nvPr/>
        </p:nvSpPr>
        <p:spPr>
          <a:xfrm>
            <a:off x="619963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190195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589520" y="2267712"/>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السَّابِعَةُ</a:t>
            </a:r>
            <a:endParaRPr lang="ar-SA" sz="2200" dirty="0"/>
          </a:p>
        </p:txBody>
      </p:sp>
      <p:sp>
        <p:nvSpPr>
          <p:cNvPr id="22" name="Text 19"/>
          <p:cNvSpPr txBox="1"/>
          <p:nvPr/>
        </p:nvSpPr>
        <p:spPr>
          <a:xfrm>
            <a:off x="623620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7:00</a:t>
            </a:r>
            <a:endParaRPr lang="en-US" sz="1100" dirty="0"/>
          </a:p>
        </p:txBody>
      </p:sp>
      <p:sp>
        <p:nvSpPr>
          <p:cNvPr id="23" name="Text 20"/>
          <p:cNvSpPr txBox="1"/>
          <p:nvPr/>
        </p:nvSpPr>
        <p:spPr>
          <a:xfrm>
            <a:off x="1920240" y="2267712"/>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الوَاحِدَةُ</a:t>
            </a:r>
            <a:endParaRPr lang="ar-SA" sz="2200" dirty="0"/>
          </a:p>
        </p:txBody>
      </p:sp>
      <p:sp>
        <p:nvSpPr>
          <p:cNvPr id="24" name="Text 21"/>
          <p:cNvSpPr txBox="1"/>
          <p:nvPr/>
        </p:nvSpPr>
        <p:spPr>
          <a:xfrm>
            <a:off x="56692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589520" y="2881884"/>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الثَّامِنَةُ</a:t>
            </a:r>
            <a:endParaRPr lang="ar-SA" sz="2200" dirty="0"/>
          </a:p>
        </p:txBody>
      </p:sp>
      <p:sp>
        <p:nvSpPr>
          <p:cNvPr id="29" name="Text 26"/>
          <p:cNvSpPr txBox="1"/>
          <p:nvPr/>
        </p:nvSpPr>
        <p:spPr>
          <a:xfrm>
            <a:off x="623620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8:00</a:t>
            </a:r>
            <a:endParaRPr lang="en-US" sz="1100" dirty="0"/>
          </a:p>
        </p:txBody>
      </p:sp>
      <p:sp>
        <p:nvSpPr>
          <p:cNvPr id="30" name="Text 27"/>
          <p:cNvSpPr txBox="1"/>
          <p:nvPr/>
        </p:nvSpPr>
        <p:spPr>
          <a:xfrm>
            <a:off x="1920240" y="2881884"/>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الثَّانِيَةُ</a:t>
            </a:r>
            <a:endParaRPr lang="ar-SA" sz="2200" dirty="0"/>
          </a:p>
        </p:txBody>
      </p:sp>
      <p:sp>
        <p:nvSpPr>
          <p:cNvPr id="31" name="Text 28"/>
          <p:cNvSpPr txBox="1"/>
          <p:nvPr/>
        </p:nvSpPr>
        <p:spPr>
          <a:xfrm>
            <a:off x="56692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2:00</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589520" y="3496056"/>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التَّاسِعَةُ</a:t>
            </a:r>
            <a:endParaRPr lang="ar-SA" sz="2200" dirty="0"/>
          </a:p>
        </p:txBody>
      </p:sp>
      <p:sp>
        <p:nvSpPr>
          <p:cNvPr id="36" name="Text 33"/>
          <p:cNvSpPr txBox="1"/>
          <p:nvPr/>
        </p:nvSpPr>
        <p:spPr>
          <a:xfrm>
            <a:off x="623620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9:00</a:t>
            </a:r>
            <a:endParaRPr lang="en-US" sz="1100" dirty="0"/>
          </a:p>
        </p:txBody>
      </p:sp>
      <p:sp>
        <p:nvSpPr>
          <p:cNvPr id="37" name="Text 34"/>
          <p:cNvSpPr txBox="1"/>
          <p:nvPr/>
        </p:nvSpPr>
        <p:spPr>
          <a:xfrm>
            <a:off x="1920240" y="3496056"/>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الثَّالِثَةُ</a:t>
            </a:r>
            <a:endParaRPr lang="ar-SA" sz="2200" dirty="0"/>
          </a:p>
        </p:txBody>
      </p:sp>
      <p:sp>
        <p:nvSpPr>
          <p:cNvPr id="38" name="Text 35"/>
          <p:cNvSpPr txBox="1"/>
          <p:nvPr/>
        </p:nvSpPr>
        <p:spPr>
          <a:xfrm>
            <a:off x="56692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589520" y="4110228"/>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العَاشِرَةُ</a:t>
            </a:r>
            <a:endParaRPr lang="ar-SA" sz="2200" dirty="0"/>
          </a:p>
        </p:txBody>
      </p:sp>
      <p:sp>
        <p:nvSpPr>
          <p:cNvPr id="43" name="Text 40"/>
          <p:cNvSpPr txBox="1"/>
          <p:nvPr/>
        </p:nvSpPr>
        <p:spPr>
          <a:xfrm>
            <a:off x="623620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10:00</a:t>
            </a:r>
            <a:endParaRPr lang="en-US" sz="1100" dirty="0"/>
          </a:p>
        </p:txBody>
      </p:sp>
      <p:sp>
        <p:nvSpPr>
          <p:cNvPr id="44" name="Text 41"/>
          <p:cNvSpPr txBox="1"/>
          <p:nvPr/>
        </p:nvSpPr>
        <p:spPr>
          <a:xfrm>
            <a:off x="1920240" y="4110228"/>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الرَّابِعَةُ</a:t>
            </a:r>
            <a:endParaRPr lang="ar-SA" sz="2200" dirty="0"/>
          </a:p>
        </p:txBody>
      </p:sp>
      <p:sp>
        <p:nvSpPr>
          <p:cNvPr id="45" name="Text 42"/>
          <p:cNvSpPr txBox="1"/>
          <p:nvPr/>
        </p:nvSpPr>
        <p:spPr>
          <a:xfrm>
            <a:off x="56692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4:00</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589520" y="4724400"/>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الحَادِيَةُ عَشْرَةَ</a:t>
            </a:r>
            <a:endParaRPr lang="ar-SA" sz="2200" dirty="0"/>
          </a:p>
        </p:txBody>
      </p:sp>
      <p:sp>
        <p:nvSpPr>
          <p:cNvPr id="50" name="Text 47"/>
          <p:cNvSpPr txBox="1"/>
          <p:nvPr/>
        </p:nvSpPr>
        <p:spPr>
          <a:xfrm>
            <a:off x="623620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11:00</a:t>
            </a:r>
            <a:endParaRPr lang="en-US" sz="1100" dirty="0"/>
          </a:p>
        </p:txBody>
      </p:sp>
      <p:sp>
        <p:nvSpPr>
          <p:cNvPr id="51" name="Text 48"/>
          <p:cNvSpPr txBox="1"/>
          <p:nvPr/>
        </p:nvSpPr>
        <p:spPr>
          <a:xfrm>
            <a:off x="1920240" y="4724400"/>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الخَامِسَةُ</a:t>
            </a:r>
            <a:endParaRPr lang="ar-SA" sz="2200" dirty="0"/>
          </a:p>
        </p:txBody>
      </p:sp>
      <p:sp>
        <p:nvSpPr>
          <p:cNvPr id="52" name="Text 49"/>
          <p:cNvSpPr txBox="1"/>
          <p:nvPr/>
        </p:nvSpPr>
        <p:spPr>
          <a:xfrm>
            <a:off x="56692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5:00</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589520" y="5338572"/>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الثَّانِيَةُ عَشْرَةَ</a:t>
            </a:r>
            <a:endParaRPr lang="ar-SA" sz="2200" dirty="0"/>
          </a:p>
        </p:txBody>
      </p:sp>
      <p:sp>
        <p:nvSpPr>
          <p:cNvPr id="57" name="Text 54"/>
          <p:cNvSpPr txBox="1"/>
          <p:nvPr/>
        </p:nvSpPr>
        <p:spPr>
          <a:xfrm>
            <a:off x="623620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12:00</a:t>
            </a:r>
            <a:endParaRPr lang="en-US" sz="1100" dirty="0"/>
          </a:p>
        </p:txBody>
      </p:sp>
      <p:sp>
        <p:nvSpPr>
          <p:cNvPr id="58" name="Text 55"/>
          <p:cNvSpPr txBox="1"/>
          <p:nvPr/>
        </p:nvSpPr>
        <p:spPr>
          <a:xfrm>
            <a:off x="1920240" y="5338572"/>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السَّادِسَةُ</a:t>
            </a:r>
            <a:endParaRPr lang="ar-SA" sz="2200" dirty="0"/>
          </a:p>
        </p:txBody>
      </p:sp>
      <p:sp>
        <p:nvSpPr>
          <p:cNvPr id="59" name="Text 56"/>
          <p:cNvSpPr txBox="1"/>
          <p:nvPr/>
        </p:nvSpPr>
        <p:spPr>
          <a:xfrm>
            <a:off x="56692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6:00</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Quarter past: wa-r-rubu‘ (9:15) · half past: wa-n-niṣf (10:30) · quarter to: next hour + illā rubu‘an (10:45 = 11 illā rubu‘an).</a:t>
            </a:r>
            <a:endParaRPr lang="en-US" sz="11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ASK AND ANSWER THE TIMETABLE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Which day? How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عَنِ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172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WHEN?</a:t>
            </a:r>
            <a:endParaRPr lang="en-US" sz="850" dirty="0"/>
          </a:p>
        </p:txBody>
      </p:sp>
      <p:sp>
        <p:nvSpPr>
          <p:cNvPr id="18" name="Text 15"/>
          <p:cNvSpPr txBox="1"/>
          <p:nvPr/>
        </p:nvSpPr>
        <p:spPr>
          <a:xfrm>
            <a:off x="8895588"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مَتَى؟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مَتَى عِنْدَكَ العَرَبِيَّةُ؟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When do you have Arabic?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 at +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WHICH DAY?</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أَيِّ يَوْمٍ؟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فِي أَيِّ يَوْمٍ عِنْدَكِ الكِيمِيَاءُ؟</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which day do you (f.) have chemistry?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 fī yawmi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MANY?</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حِصَّةً؟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كَمْ حِصَّةً لِلعَرَبِيَّةِ فِي الأُسْبُوعِ؟</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many Arabic periods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 twice, three times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model: day + subject + time in one sentence.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يَوْمِ الاِثْنَيْنِ عِنْدِي العُلُومُ فِي السَّاعَةِ التَّاسِعَةِ.</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الاِثْنَيْنُ العُلُومُ التَّاسِعَةُ.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“lesson period”.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حِصَّةٌ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9:15.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وَالنِّصْفُ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إِلَّا رُبُعًا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10:45.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وَالرُّبُعُ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 إِلَّا رُبُعًا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 وَالرُّبُعُ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on which day?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يَوْمٍ؟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حِصَّةً؟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“lesson period”.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حِصَّةٌ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حِصَّةٌ</a:t>
            </a:r>
            <a:pPr algn="l" indent="0" marL="0">
              <a:buNone/>
            </a:pPr>
            <a:r>
              <a:rPr lang="en-US" sz="1050" i="1" dirty="0">
                <a:solidFill>
                  <a:srgbClr val="8A6D1E"/>
                </a:solidFill>
                <a:latin typeface="Calibri" pitchFamily="34" charset="0"/>
                <a:ea typeface="Calibri" pitchFamily="34" charset="-122"/>
                <a:cs typeface="Calibri" pitchFamily="34" charset="-120"/>
              </a:rPr>
              <a:t> is a period.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9:15.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التَّاسِعَةُ وَالرُّبُعُ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التَّاسِعَةُ وَالنِّصْفُ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رُبُعًا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Quarter past nine is 9:15.</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10:45.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وَالرُّبُعُ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رُبُعًا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الحَادِيَةُ عَشْرَةَ وَالرُّبُعُ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Quarter to eleven is 10:45.</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on which day?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أَيِّ يَوْمٍ؟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حِصَّةً؟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question requests a day.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READ THE WEBSITE TIMETABLE WITH 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row, then the column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الجَدْوَلُ المَدْرَسِيُّ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Day</a:t>
            </a:r>
            <a:endParaRPr lang="en-US" sz="1100" dirty="0"/>
          </a:p>
        </p:txBody>
      </p:sp>
      <p:sp>
        <p:nvSpPr>
          <p:cNvPr id="17" name="Text 14"/>
          <p:cNvSpPr txBox="1"/>
          <p:nvPr/>
        </p:nvSpPr>
        <p:spPr>
          <a:xfrm>
            <a:off x="7964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P1 · 8:00</a:t>
            </a:r>
            <a:endParaRPr lang="en-US" sz="1100" dirty="0"/>
          </a:p>
        </p:txBody>
      </p:sp>
      <p:sp>
        <p:nvSpPr>
          <p:cNvPr id="18" name="Text 15"/>
          <p:cNvSpPr txBox="1"/>
          <p:nvPr/>
        </p:nvSpPr>
        <p:spPr>
          <a:xfrm>
            <a:off x="613562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P2 · 9:00</a:t>
            </a:r>
            <a:endParaRPr lang="en-US" sz="1100" dirty="0"/>
          </a:p>
        </p:txBody>
      </p:sp>
      <p:sp>
        <p:nvSpPr>
          <p:cNvPr id="19" name="Text 16"/>
          <p:cNvSpPr txBox="1"/>
          <p:nvPr/>
        </p:nvSpPr>
        <p:spPr>
          <a:xfrm>
            <a:off x="4581144"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Break 10:00</a:t>
            </a:r>
            <a:endParaRPr lang="en-US" sz="1100" dirty="0"/>
          </a:p>
        </p:txBody>
      </p:sp>
      <p:sp>
        <p:nvSpPr>
          <p:cNvPr id="20" name="Text 17"/>
          <p:cNvSpPr txBox="1"/>
          <p:nvPr/>
        </p:nvSpPr>
        <p:spPr>
          <a:xfrm>
            <a:off x="25694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P3 · 10:30</a:t>
            </a:r>
            <a:endParaRPr lang="en-US" sz="1100" dirty="0"/>
          </a:p>
        </p:txBody>
      </p:sp>
      <p:sp>
        <p:nvSpPr>
          <p:cNvPr id="21" name="Text 18"/>
          <p:cNvSpPr txBox="1"/>
          <p:nvPr/>
        </p:nvSpPr>
        <p:spPr>
          <a:xfrm>
            <a:off x="53035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P4 · 11:30</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94392" y="2267712"/>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الأَحَدُ</a:t>
            </a:r>
            <a:endParaRPr lang="ar-SA" sz="1800" dirty="0"/>
          </a:p>
        </p:txBody>
      </p:sp>
      <p:sp>
        <p:nvSpPr>
          <p:cNvPr id="24" name="Text 21"/>
          <p:cNvSpPr txBox="1"/>
          <p:nvPr/>
        </p:nvSpPr>
        <p:spPr>
          <a:xfrm>
            <a:off x="7982712" y="2267712"/>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اللُّغَةُ العَرَبِيَّةُ</a:t>
            </a:r>
            <a:endParaRPr lang="ar-SA" sz="1600" dirty="0"/>
          </a:p>
        </p:txBody>
      </p:sp>
      <p:sp>
        <p:nvSpPr>
          <p:cNvPr id="25" name="Text 22"/>
          <p:cNvSpPr txBox="1"/>
          <p:nvPr/>
        </p:nvSpPr>
        <p:spPr>
          <a:xfrm>
            <a:off x="6153912" y="2267712"/>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الرِّيَاضِيَّاتُ</a:t>
            </a:r>
            <a:endParaRPr lang="ar-SA" sz="1600" dirty="0"/>
          </a:p>
        </p:txBody>
      </p:sp>
      <p:sp>
        <p:nvSpPr>
          <p:cNvPr id="26" name="Text 23"/>
          <p:cNvSpPr txBox="1"/>
          <p:nvPr/>
        </p:nvSpPr>
        <p:spPr>
          <a:xfrm>
            <a:off x="4599432" y="2267712"/>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اِسْتِرَاحَةٌ</a:t>
            </a:r>
            <a:endParaRPr lang="ar-SA" sz="1600" dirty="0"/>
          </a:p>
        </p:txBody>
      </p:sp>
      <p:sp>
        <p:nvSpPr>
          <p:cNvPr id="27" name="Text 24"/>
          <p:cNvSpPr txBox="1"/>
          <p:nvPr/>
        </p:nvSpPr>
        <p:spPr>
          <a:xfrm>
            <a:off x="2587752" y="2267712"/>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العُلُومُ</a:t>
            </a:r>
            <a:endParaRPr lang="ar-SA" sz="1600" dirty="0"/>
          </a:p>
        </p:txBody>
      </p:sp>
      <p:sp>
        <p:nvSpPr>
          <p:cNvPr id="28" name="Text 25"/>
          <p:cNvSpPr txBox="1"/>
          <p:nvPr/>
        </p:nvSpPr>
        <p:spPr>
          <a:xfrm>
            <a:off x="548640" y="2267712"/>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الفَنُّ</a:t>
            </a:r>
            <a:endParaRPr lang="ar-SA" sz="16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94392" y="3004718"/>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الاِثْنَيْنُ</a:t>
            </a:r>
            <a:endParaRPr lang="ar-SA" sz="1800" dirty="0"/>
          </a:p>
        </p:txBody>
      </p:sp>
      <p:sp>
        <p:nvSpPr>
          <p:cNvPr id="31" name="Text 28"/>
          <p:cNvSpPr txBox="1"/>
          <p:nvPr/>
        </p:nvSpPr>
        <p:spPr>
          <a:xfrm>
            <a:off x="7982712" y="300471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الإِنْجِلِيزِيَّةُ</a:t>
            </a:r>
            <a:endParaRPr lang="ar-SA" sz="1600" dirty="0"/>
          </a:p>
        </p:txBody>
      </p:sp>
      <p:sp>
        <p:nvSpPr>
          <p:cNvPr id="32" name="Text 29"/>
          <p:cNvSpPr txBox="1"/>
          <p:nvPr/>
        </p:nvSpPr>
        <p:spPr>
          <a:xfrm>
            <a:off x="6153912" y="3004718"/>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التَّارِيخُ</a:t>
            </a:r>
            <a:endParaRPr lang="ar-SA" sz="1600" dirty="0"/>
          </a:p>
        </p:txBody>
      </p:sp>
      <p:sp>
        <p:nvSpPr>
          <p:cNvPr id="33" name="Text 30"/>
          <p:cNvSpPr txBox="1"/>
          <p:nvPr/>
        </p:nvSpPr>
        <p:spPr>
          <a:xfrm>
            <a:off x="4599432" y="3004718"/>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اِسْتِرَاحَةٌ</a:t>
            </a:r>
            <a:endParaRPr lang="ar-SA" sz="1600" dirty="0"/>
          </a:p>
        </p:txBody>
      </p:sp>
      <p:sp>
        <p:nvSpPr>
          <p:cNvPr id="34" name="Text 31"/>
          <p:cNvSpPr txBox="1"/>
          <p:nvPr/>
        </p:nvSpPr>
        <p:spPr>
          <a:xfrm>
            <a:off x="2587752" y="300471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الجُغْرَافِيَا</a:t>
            </a:r>
            <a:endParaRPr lang="ar-SA" sz="1600" dirty="0"/>
          </a:p>
        </p:txBody>
      </p:sp>
      <p:sp>
        <p:nvSpPr>
          <p:cNvPr id="35" name="Text 32"/>
          <p:cNvSpPr txBox="1"/>
          <p:nvPr/>
        </p:nvSpPr>
        <p:spPr>
          <a:xfrm>
            <a:off x="548640" y="3004718"/>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عِلْمُ الحَاسُوبِ</a:t>
            </a:r>
            <a:endParaRPr lang="ar-SA" sz="160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9994392" y="3741725"/>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الثُّلَاثَاءُ</a:t>
            </a:r>
            <a:endParaRPr lang="ar-SA" sz="1800" dirty="0"/>
          </a:p>
        </p:txBody>
      </p:sp>
      <p:sp>
        <p:nvSpPr>
          <p:cNvPr id="38" name="Text 35"/>
          <p:cNvSpPr txBox="1"/>
          <p:nvPr/>
        </p:nvSpPr>
        <p:spPr>
          <a:xfrm>
            <a:off x="7982712" y="3741725"/>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الكِيمِيَاءُ</a:t>
            </a:r>
            <a:endParaRPr lang="ar-SA" sz="1600" dirty="0"/>
          </a:p>
        </p:txBody>
      </p:sp>
      <p:sp>
        <p:nvSpPr>
          <p:cNvPr id="39" name="Text 36"/>
          <p:cNvSpPr txBox="1"/>
          <p:nvPr/>
        </p:nvSpPr>
        <p:spPr>
          <a:xfrm>
            <a:off x="6153912" y="3741725"/>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الأَحْيَاءُ</a:t>
            </a:r>
            <a:endParaRPr lang="ar-SA" sz="1600" dirty="0"/>
          </a:p>
        </p:txBody>
      </p:sp>
      <p:sp>
        <p:nvSpPr>
          <p:cNvPr id="40" name="Text 37"/>
          <p:cNvSpPr txBox="1"/>
          <p:nvPr/>
        </p:nvSpPr>
        <p:spPr>
          <a:xfrm>
            <a:off x="4599432" y="3741725"/>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اِسْتِرَاحَةٌ</a:t>
            </a:r>
            <a:endParaRPr lang="ar-SA" sz="1600" dirty="0"/>
          </a:p>
        </p:txBody>
      </p:sp>
      <p:sp>
        <p:nvSpPr>
          <p:cNvPr id="41" name="Text 38"/>
          <p:cNvSpPr txBox="1"/>
          <p:nvPr/>
        </p:nvSpPr>
        <p:spPr>
          <a:xfrm>
            <a:off x="2587752" y="3741725"/>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التَّرْبِيَةُ البَدَنِيَّةُ</a:t>
            </a:r>
            <a:endParaRPr lang="ar-SA" sz="1600" dirty="0"/>
          </a:p>
        </p:txBody>
      </p:sp>
      <p:sp>
        <p:nvSpPr>
          <p:cNvPr id="42" name="Text 39"/>
          <p:cNvSpPr txBox="1"/>
          <p:nvPr/>
        </p:nvSpPr>
        <p:spPr>
          <a:xfrm>
            <a:off x="548640" y="3741725"/>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المُوسِيقَى</a:t>
            </a:r>
            <a:endParaRPr lang="ar-SA" sz="16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994392" y="4478731"/>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الأَرْبِعَاءُ</a:t>
            </a:r>
            <a:endParaRPr lang="ar-SA" sz="1800" dirty="0"/>
          </a:p>
        </p:txBody>
      </p:sp>
      <p:sp>
        <p:nvSpPr>
          <p:cNvPr id="45" name="Text 42"/>
          <p:cNvSpPr txBox="1"/>
          <p:nvPr/>
        </p:nvSpPr>
        <p:spPr>
          <a:xfrm>
            <a:off x="7982712" y="4478731"/>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الفِيزِيَاءُ</a:t>
            </a:r>
            <a:endParaRPr lang="ar-SA" sz="1600" dirty="0"/>
          </a:p>
        </p:txBody>
      </p:sp>
      <p:sp>
        <p:nvSpPr>
          <p:cNvPr id="46" name="Text 43"/>
          <p:cNvSpPr txBox="1"/>
          <p:nvPr/>
        </p:nvSpPr>
        <p:spPr>
          <a:xfrm>
            <a:off x="6153912" y="4478731"/>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الرِّيَاضِيَّاتُ</a:t>
            </a:r>
            <a:endParaRPr lang="ar-SA" sz="1600" dirty="0"/>
          </a:p>
        </p:txBody>
      </p:sp>
      <p:sp>
        <p:nvSpPr>
          <p:cNvPr id="47" name="Text 44"/>
          <p:cNvSpPr txBox="1"/>
          <p:nvPr/>
        </p:nvSpPr>
        <p:spPr>
          <a:xfrm>
            <a:off x="4599432" y="4478731"/>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اِسْتِرَاحَةٌ</a:t>
            </a:r>
            <a:endParaRPr lang="ar-SA" sz="1600" dirty="0"/>
          </a:p>
        </p:txBody>
      </p:sp>
      <p:sp>
        <p:nvSpPr>
          <p:cNvPr id="48" name="Text 45"/>
          <p:cNvSpPr txBox="1"/>
          <p:nvPr/>
        </p:nvSpPr>
        <p:spPr>
          <a:xfrm>
            <a:off x="2587752" y="4478731"/>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اللُّغَةُ العَرَبِيَّةُ</a:t>
            </a:r>
            <a:endParaRPr lang="ar-SA" sz="1600" dirty="0"/>
          </a:p>
        </p:txBody>
      </p:sp>
      <p:sp>
        <p:nvSpPr>
          <p:cNvPr id="49" name="Text 46"/>
          <p:cNvSpPr txBox="1"/>
          <p:nvPr/>
        </p:nvSpPr>
        <p:spPr>
          <a:xfrm>
            <a:off x="548640" y="4478731"/>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التِّقْنِيَّةُ</a:t>
            </a:r>
            <a:endParaRPr lang="ar-SA" sz="1600" dirty="0"/>
          </a:p>
        </p:txBody>
      </p:sp>
      <p:sp>
        <p:nvSpPr>
          <p:cNvPr id="50" name="Shape 4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1" name="Text 48"/>
          <p:cNvSpPr txBox="1"/>
          <p:nvPr/>
        </p:nvSpPr>
        <p:spPr>
          <a:xfrm>
            <a:off x="9994392" y="5215738"/>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الخَمِيسُ</a:t>
            </a:r>
            <a:endParaRPr lang="ar-SA" sz="1800" dirty="0"/>
          </a:p>
        </p:txBody>
      </p:sp>
      <p:sp>
        <p:nvSpPr>
          <p:cNvPr id="52" name="Text 49"/>
          <p:cNvSpPr txBox="1"/>
          <p:nvPr/>
        </p:nvSpPr>
        <p:spPr>
          <a:xfrm>
            <a:off x="7982712" y="521573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التَّرْبِيَةُ الدِّينِيَّةُ</a:t>
            </a:r>
            <a:endParaRPr lang="ar-SA" sz="1600" dirty="0"/>
          </a:p>
        </p:txBody>
      </p:sp>
      <p:sp>
        <p:nvSpPr>
          <p:cNvPr id="53" name="Text 50"/>
          <p:cNvSpPr txBox="1"/>
          <p:nvPr/>
        </p:nvSpPr>
        <p:spPr>
          <a:xfrm>
            <a:off x="6153912" y="5215738"/>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الفَلْسَفَةُ</a:t>
            </a:r>
            <a:endParaRPr lang="ar-SA" sz="1600" dirty="0"/>
          </a:p>
        </p:txBody>
      </p:sp>
      <p:sp>
        <p:nvSpPr>
          <p:cNvPr id="54" name="Text 51"/>
          <p:cNvSpPr txBox="1"/>
          <p:nvPr/>
        </p:nvSpPr>
        <p:spPr>
          <a:xfrm>
            <a:off x="4599432" y="5215738"/>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اِسْتِرَاحَةٌ</a:t>
            </a:r>
            <a:endParaRPr lang="ar-SA" sz="1600" dirty="0"/>
          </a:p>
        </p:txBody>
      </p:sp>
      <p:sp>
        <p:nvSpPr>
          <p:cNvPr id="55" name="Text 52"/>
          <p:cNvSpPr txBox="1"/>
          <p:nvPr/>
        </p:nvSpPr>
        <p:spPr>
          <a:xfrm>
            <a:off x="2587752" y="521573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المَسْرَحُ</a:t>
            </a:r>
            <a:endParaRPr lang="ar-SA" sz="1600" dirty="0"/>
          </a:p>
        </p:txBody>
      </p:sp>
      <p:sp>
        <p:nvSpPr>
          <p:cNvPr id="56" name="Text 53"/>
          <p:cNvSpPr txBox="1"/>
          <p:nvPr/>
        </p:nvSpPr>
        <p:spPr>
          <a:xfrm>
            <a:off x="548640" y="5215738"/>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الفَنُّ</a:t>
            </a:r>
            <a:endParaRPr lang="ar-SA" sz="16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Think aloud: “Sunday row → first column → Arabic. So: fī yawmi l-aḥadi ‘indī l-‘arabiyya fī s-sā‘ati th-thāmina.”</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TIMETABLE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history?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students have chemistry?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at 8:00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 at 8:00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at 9:00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Tuesday Period 4?</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biology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includes philosophy?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art periods are shown?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ROW + COLUMN</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day (row),</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time (column).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Flick back to the timetable.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TIMETABLE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history?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History appears on Monday.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students have chemistry?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 at 8:00</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Wednesday at 8:00</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at 9:00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Chemistry is Tuesday Period 1 at 8:00.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Tuesday Period 4?</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biology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Tuesday Period 4 is music.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includes philosophy?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Wednesday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Philosophy is Thursday Period 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art periods are shown?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Art appears Sunday Period 4 and Thursday Period 4.</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ROW + COLUMN</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day (row),</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time (column).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Flick back to the timetable.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SCHOOL CLOCK”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school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السَّاعَةِ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9:15?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وَالنِّصْفُ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10:30?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وَالنِّصْفُ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10:45?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 إِلَّا رُبُعًا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7:15?</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8:30?</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وَالنِّصْفُ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¼ past → wa-r-rubu‘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½ past → wa-n-niṣf</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¼ to → NEXT hour illā rubu‘an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9:15?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التَّاسِعَةُ وَالرُّبُعُ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وَالنِّصْفُ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9:15 = السَّاعَةُ التَّاسِعَةُ وَالرُّبُعُ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10:30?</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العَاشِرَةُ وَالنِّصْفُ</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التَّاسِعَةُ وَالرُّبُعُ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10:30 = السَّاعَةُ العَاشِرَةُ وَالنِّصْفُ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10:45?</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التَّاسِعَةُ وَالرُّبُعُ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رُبُعًا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10:45 = السَّاعَةُ الحَادِيَةُ عَشْرَةَ إِلَّا رُبُعًا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7:15?</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التَّاسِعَةُ وَالرُّبُعُ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7:15 = السَّاعَةُ السَّابِعَةُ وَالرُّبُعُ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8:30?</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الثَّامِنَةُ وَالنِّصْفُ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التَّاسِعَةُ وَالرُّبُعُ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8:30 = السَّاعَةُ الثَّامِنَةُ وَالنِّصْفُ</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¼ past → wa-r-rubu‘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½ past → wa-n-niṣf</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¼ to → NEXT hour illā rubu‘an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“TIMETABLE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timetable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Friday: Choose Friday.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الجُمُعَةُ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الأَرْبِعَاءُ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Quarter to: Choose 10:45.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 وَالرُّبُعُ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 إِلَّا رُبُعًا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Choose “On which 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حِصَّةً؟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يَوْمٍ؟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Ends: Choose “the lesson 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الدَّرْسُ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 الدَّرْسُ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sentence: Choose the strongest timetable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الخَمِيسُ الفَنُّ.</a:t>
            </a:r>
            <a:endParaRPr lang="ar-SA"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يَوْمِ الخَمِيسِ عِنْدِي الفَنُّ فِي السَّاعَةِ الحَادِيَةِ عَشْرَةَ.</a:t>
            </a:r>
            <a:endParaRPr lang="ar-SA"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السَّاعَةُ حِصَّةٌ.</a:t>
            </a:r>
            <a:endParaRPr lang="ar-SA"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day + subject + time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fī yawmi … fī s-sā‘a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 thumma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Friday: Choose Friday.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الجُمُعَةُ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السَّبْتُ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الأَرْبِعَاءُ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الجُمُعَةُ</a:t>
            </a:r>
            <a:pPr algn="l" indent="0" marL="0">
              <a:buNone/>
            </a:pPr>
            <a:r>
              <a:rPr lang="en-US" sz="1050" i="1" dirty="0">
                <a:solidFill>
                  <a:srgbClr val="8A6D1E"/>
                </a:solidFill>
                <a:latin typeface="Calibri" pitchFamily="34" charset="0"/>
                <a:ea typeface="Calibri" pitchFamily="34" charset="-122"/>
                <a:cs typeface="Calibri" pitchFamily="34" charset="-120"/>
              </a:rPr>
              <a:t> is Friday.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Quarter to: Choose 10:45.</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وَالرُّبُعُ</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الحَادِيَةُ عَشْرَةَ وَالرُّبُعُ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رُبُعًا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Quarter to eleven is 10:45.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Choose “On which day?”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حِصَّةً؟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أَيِّ يَوْمٍ؟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question asks for a day.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Ends: Choose “the lesson 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يَنْتَهِي الدَّرْسُ</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يَفْتَحُ الدَّرْسُ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ends.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sentence: Choose the strongest timetable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الخَمِيسُ الفَنُّ.</a:t>
            </a:r>
            <a:endParaRPr lang="ar-SA"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فِي يَوْمِ الخَمِيسِ عِنْدِي الفَنُّ فِي السَّاعَةِ الحَادِيَةِ عَشْرَةَ.</a:t>
            </a:r>
            <a:endParaRPr lang="ar-SA"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السَّاعَةُ حِصَّةٌ.</a:t>
            </a:r>
            <a:endParaRPr lang="ar-SA"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gives day, subject and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day + subject + time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fī yawmi … fī s-sā‘a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 thumma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يَوْمُ الخَمِيسُ عِنْدِي الفَنُّ.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fī yawmi: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السَّاعَةُ الثَّامِنُ.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Hour: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مَتَى يَوْمٍ عِنْدَكَ الكِيمِيَاءُ؟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day? — which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يَوْمُ الخَمِيسُ عِنْدِي الفَنُّ.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يَوْمِ الخَمِيسِ عِنْدِي الفَنُّ.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fī yawmi, copy the modelled -i endings.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السَّاعَةُ الثَّامِنُ.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السَّاعَةُ الثَّامِنَةُ.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Sā‘a is feminine: every hour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مَتَى يَوْمٍ عِنْدَكَ الكِيمِيَاءُ؟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أَيِّ يَوْمٍ عِنْدَكَ الكِيمِيَاءُ؟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 which day? = fī ayyi yawmin.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Amal’s timetable update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begins at 8:00 on Sunday?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Monday Period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chemistry begin?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9:30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10:15</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the Wednesday Arabic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10:15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 begins at 12:00.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 ends at 12:00.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ends at 12:00.</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day · subject · time · period · change.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هَذَا تَغْيِيرٌ فِي الجَدْوَلِ المَدْرَسِيِّ.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This is a change to the school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يَوْمِ الأَحَدِ يَبْدَأُ دَرْسُ اللُّغَةِ العَرَبِيَّةِ فِي السَّاعَةِ الثَّامِنَةِ صَبَاحًا.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 the Arabic lesson begins at eight in the morning.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فِي يَوْمِ الاِثْنَيْنِ عِنْدَنَا التَّارِيخُ فِي الحِصَّةِ الثَّانِيَةِ، ثُمَّ الاِسْتِرَاحَةُ فِي السَّاعَةِ العَاشِرَةِ.</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Monday we have history in second period, then break at ten.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أَمَّا يَوْمَ الثُّلَاثَاءِ فَدَرْسُ الكِيمِيَاءِ يَبْدَأُ فِي السَّاعَةِ التَّاسِعَةِ وَالرُّبُعِ. يَوْمَ الأَرْبِعَاءِ عِنْدَنَا اللُّغَةُ العَرَبِيَّةُ مَرَّةً أُخْرَى فِي السَّاعَةِ العَاشِرَةِ وَالنِّصْفِ.</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chemistry begins at 9:15. On Wednesday we have Arabic again at 10:30.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يَوْمِ الخَمِيسِ يَنْتَهِي دَرْسُ الفَنِّ فِي السَّاعَةِ الثَّانِيَةِ عَشْرَةَ.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on Thursday the art lesson ends at twelve.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begins at 8:00 on Sunday?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announcement says Arabic begins at eight on Sunday.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Monday Period 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mathematics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History is in the second period.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chemistry begin?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9:30</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10:15</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9:15</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begins at quarter past 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the Wednesday Arabic lesson?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10:15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begins at half past ten.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 begins at 12:00.</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 ends at 12:00.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 ends at 12:00.</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 lesson ends at twelve.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day · subject · time · period · change.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TWO TIMETABLE DESCRIPTIONS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and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وَصْفَانِ لِجَدْوَلَيْنِ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سَامِرٌ: فِي يَوْمِ الأَحَدِ عِنْدِي العُلُومُ فِي السَّاعَةِ الثَّامِنَةِ.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 Sunday: science at 8:00</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يَوْمِ الاِثْنَيْنِ عِنْدِي الرِّيَاضِيَّاتُ فِي الحِصَّةِ الثَّانِيَةِ.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maths, 2nd period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يَوْمَ الأَرْبِعَاءِ لِأَنَّ دَرْسَ الفَنِّ يَبْدَأُ فِي السَّاعَةِ العَاشِرَةِ وَالنِّصْفِ.</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Wednesday: art begins at 10:30</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لَيْلَى: عِنْدِي اللُّغَةُ العَرَبِيَّةُ مَرَّتَيْنِ فِي الأُسْبُوعِ: يَوْمَ الثُّلَاثَاءِ وَيَوْمَ الخَمِيسِ.</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Arabic twice a week · Tue + Thu</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تَبْدَأُ حِصَّةُ الثُّلَاثَاءِ فِي السَّاعَةِ التَّاسِعَةِ، وَتَبْدَأُ حِصَّةُ الخَمِيسِ فِي السَّاعَةِ الحَادِيَةِ عَشْرَةَ. الاِسْتِرَاحَةُ فِي السَّاعَةِ العَاشِرَةِ وَالرُّبُعِ.</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 9:00 · Thu 11:00 · break 10:15</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Samir have on Sunday at 8:00?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does Samir prefer?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Layla have Arabic?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Tuesday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11:00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10:15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Layla’s break?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10:15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Underline the day,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circle the time,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box the subject.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Samir have on Sunday at 8:00?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عِنْدِي العُلُومُ فِي السَّاعَةِ الثَّامِنَةِ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does Samir prefer?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Sunday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Wednesday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أُفَضِّلُ يَوْمَ الأَرْبِعَاءِ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Layla have Arabic?</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Tuesday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11:00</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10:15</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Tuesday Arabic begins at 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Layla’s break?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10:15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gives quarter past ten.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Underline the day,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circle the time,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box the subject.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about a school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عِنْدَكَ يَوْمَ الأَحَدِ؟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عِنْدَكَ العَرَبِيَّةُ؟ / مَتَى عِنْدَكِ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الدَّرْسُ؟ وَمَتَى يَنْتَهِي؟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يَوْمٍ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فِي يَوْمِ ___ عِنْدِي ___ فِي السَّاعَةِ ___ .</a:t>
            </a:r>
            <a:endParaRPr lang="ar-SA" sz="15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عِنْدِي العَرَبِيَّةُ يَوْمَ ___ فِي السَّاعَةِ ___ ، ثُمَّ ___ .</a:t>
            </a:r>
            <a:endParaRPr lang="ar-SA" sz="11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يَبْدَأُ دَرْسُ ___ فِي ___ ، وَيَنْتَهِي فِي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يَوْمَ ___ لِأَنَّ عِنْدِي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عِنْدَكَ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have Arabic?</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العَرَبِيَّةُ يَوْمَ الأَحَدِ فِي السَّاعَةِ الثَّامِنَةِ، ثُمَّ الرِّيَاضِيَّاتُ.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Arabic on Sunday at eight, then maths.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modelled sentences: day + subject + time.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Day + subject + time, using the model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yabda’u, yantahī, thumma and a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yabda’u, yantahī, thumma and one question.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and explain which day you prefer.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say which day you prefer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الدَّرْسُ فِي السَّاعَةِ التَّاسِعَةِ وَالرُّبُعِ.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lesson begins at 9:15.</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الدَّرْسُ فِي السَّاعَةِ العَاشِرَةِ وَالنِّصْفِ.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lesson ends at 10:30.</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العَرَبِيَّةُ مَرَّتَيْنِ فِي الأُسْبُوعِ.</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Arabic twice a week.</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 يَوْمٍ عِنْدَكَ الكِيمِيَاءُ؟</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which day do you have chemistry?</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يَوْمَ الخَمِيسِ لِأَنَّ عِنْدِي الفَنَّ.</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Thursday because I have art.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يَوْمِ الأَحَدِ عِنْدِي 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Sunday I have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فِي السَّاعَةِ الثَّامِنَةِ.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at eight o’clock.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اللُّغَةُ العَرَبِيَّةُ.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period is Arabic.</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الاِسْتِرَاحَةُ فِي السَّاعَةِ العَاشِرَةِ.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Break is at ten.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عِنْدَكَ الرِّيَاضِيَّاتُ؟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do you have maths?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الأَحَدُ  ·  الاِثْنَيْنُ  ·  الثُّلَاثَاءُ  ·  الأَرْبِعَاءُ  ·  الخَمِيسُ  ·  فِي يَوْمِ  ·  فِي السَّاعَةِ  ·  حِصَّةٌ  ·  يَبْدَأُ  ·  يَنْتَهِي  ·  ثُمَّ  ·  مَتَى؟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يَوْمِ الأَحَدِ عِنْدِي العُلُومُ فِي السَّاعَةِ الثَّامِنَةِ، ثُمَّ الرِّيَاضِيَّاتُ. وَفِي يَوْمِ الاِثْنَيْنِ عِنْدِي التَّارِيخُ فِي الحِصَّةِ الثَّانِيَةِ. الاِسْتِرَاحَةُ فِي السَّاعَةِ العَاشِرَةِ. يَبْدَأُ دَرْسُ الكِيمِيَاءِ يَوْمَ الثُّلَاثَاءِ فِي السَّاعَةِ التَّاسِعَةِ وَالرُّبُعِ. أُفَضِّلُ يَوْمَ الخَمِيسِ لِأَنَّ عِنْدِي الفَنَّ.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Sunday I have science at eight o’clock, then maths. On Monday I have history in the second period. Break is at ten. The chemistry lesson begins on Tuesday at 9:15. I prefer Thursday because I have art.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days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begins / then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days with fī yawmi.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hour is feminine: al-thāmina, al-‘āshira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quarter past / half past / quarter to.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yabda’u / yantahī, thumma and a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days and gave a preference.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Wednesday.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الأَرْبِعَاءُ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الثُّلَاثَاءُ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الخَمِيسُ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10:30.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وَالنِّصْفُ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 day, subject and time?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فِي يَوْمِ الاِثْنَيْنِ عِنْدِي العُلُومُ فِي السَّاعَةِ التَّاسِعَةِ.</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أُحِبُّ العُلُومَ.</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السَّاعَةُ التَّاسِعَةُ.</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Wednesday.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الأَرْبِعَاءُ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الثُّلَاثَاءُ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الخَمِيسُ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الأَرْبِعَاءُ</a:t>
            </a:r>
            <a:pPr algn="l" indent="0" marL="0">
              <a:buNone/>
            </a:pPr>
            <a:r>
              <a:rPr lang="en-US" sz="1050" i="1" dirty="0">
                <a:solidFill>
                  <a:srgbClr val="8A6D1E"/>
                </a:solidFill>
                <a:latin typeface="Calibri" pitchFamily="34" charset="0"/>
                <a:ea typeface="Calibri" pitchFamily="34" charset="-122"/>
                <a:cs typeface="Calibri" pitchFamily="34" charset="-120"/>
              </a:rPr>
              <a:t> is Wednesday.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10:30.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السَّاعَةُ العَاشِرَةُ وَالرُّبُعُ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السَّاعَةُ العَاشِرَةُ وَالنِّصْفُ</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السَّاعَةُ الحَادِيَةُ عَشْرَةَ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Half past ten is 10:30.</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 day, subject and time?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فِي يَوْمِ الاِثْنَيْنِ عِنْدِي العُلُومُ فِي السَّاعَةِ التَّاسِعَةِ.</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أُحِبُّ العُلُومَ.</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السَّاعَةُ التَّاسِعَةُ.</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contains all three schedule details.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F4-L02 · School Timetable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F4-L03 · Classroom Objects — What Is in Your Bag?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book</a:t>
            </a:r>
            <a:pPr indent="0" marL="0">
              <a:buNone/>
            </a:pPr>
            <a:r>
              <a:rPr lang="en-US" sz="1000" i="1" dirty="0">
                <a:solidFill>
                  <a:srgbClr val="5A6472"/>
                </a:solidFill>
                <a:latin typeface="Calibri" pitchFamily="34" charset="0"/>
                <a:ea typeface="Calibri" pitchFamily="34" charset="-122"/>
                <a:cs typeface="Calibri" pitchFamily="34" charset="-120"/>
              </a:rPr>
              <a:t>  pl.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دَفْتَرٌ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exercise book</a:t>
            </a:r>
            <a:pPr indent="0" marL="0">
              <a:buNone/>
            </a:pPr>
            <a:r>
              <a:rPr lang="en-US" sz="1000" i="1" dirty="0">
                <a:solidFill>
                  <a:srgbClr val="5A6472"/>
                </a:solidFill>
                <a:latin typeface="Calibri" pitchFamily="34" charset="0"/>
                <a:ea typeface="Calibri" pitchFamily="34" charset="-122"/>
                <a:cs typeface="Calibri" pitchFamily="34" charset="-120"/>
              </a:rPr>
              <a:t>  pl. دَفَاتِرُ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pen</a:t>
            </a:r>
            <a:pPr indent="0" marL="0">
              <a:buNone/>
            </a:pPr>
            <a:r>
              <a:rPr lang="en-US" sz="1000" i="1" dirty="0">
                <a:solidFill>
                  <a:srgbClr val="5A6472"/>
                </a:solidFill>
                <a:latin typeface="Calibri" pitchFamily="34" charset="0"/>
                <a:ea typeface="Calibri" pitchFamily="34" charset="-122"/>
                <a:cs typeface="Calibri" pitchFamily="34" charset="-120"/>
              </a:rPr>
              <a:t>  pl. أَقْلَامٌ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bag</a:t>
            </a:r>
            <a:pPr indent="0" marL="0">
              <a:buNone/>
            </a:pPr>
            <a:r>
              <a:rPr lang="en-US" sz="1000" i="1" dirty="0">
                <a:solidFill>
                  <a:srgbClr val="5A6472"/>
                </a:solidFill>
                <a:latin typeface="Calibri" pitchFamily="34" charset="0"/>
                <a:ea typeface="Calibri" pitchFamily="34" charset="-122"/>
                <a:cs typeface="Calibri" pitchFamily="34" charset="-120"/>
              </a:rPr>
              <a:t>  pl. حَقَائِبُ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مِسْطَرَةٌ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ruler</a:t>
            </a:r>
            <a:pPr indent="0" marL="0">
              <a:buNone/>
            </a:pPr>
            <a:r>
              <a:rPr lang="en-US" sz="1000" i="1" dirty="0">
                <a:solidFill>
                  <a:srgbClr val="5A6472"/>
                </a:solidFill>
                <a:latin typeface="Calibri" pitchFamily="34" charset="0"/>
                <a:ea typeface="Calibri" pitchFamily="34" charset="-122"/>
                <a:cs typeface="Calibri" pitchFamily="34" charset="-120"/>
              </a:rPr>
              <a:t>  pl. مَسَاطِرُ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in your school bag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فِي حَقِيبَتِكَ؟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F4-L02: the Timetable Mission (14) and “Beat the School Clock”.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timetable builder: five timetable lines, then copy them into your book.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describing your school week and your favourite day.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F4-L03 · Classroom Objects — What Is in Your Bag?</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أَدَوَاتُ الفَصْلِ — مَاذَا فِي حَقِيبَتِكَ؟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day + subject + time · fī yawmi … · the hour is feminine.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F4-L02 · The School Timetable — Days and Times</dc:title>
  <dc:subject>PptxGenJS Presentation</dc:subject>
  <dc:creator>Al Madina Online School · Arabic Department</dc:creator>
  <cp:lastModifiedBy>Al Madina Online School · Arabic Department</cp:lastModifiedBy>
  <cp:revision>1</cp:revision>
  <dcterms:created xsi:type="dcterms:W3CDTF">2026-09-27T19:23:15Z</dcterms:created>
  <dcterms:modified xsi:type="dcterms:W3CDTF">2026-09-27T19:23:15Z</dcterms:modified>
</cp:coreProperties>
</file>