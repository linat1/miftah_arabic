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2 (F4-L02). Website sections used: the eight-question F4-L01 bridge, the seven days (+ فِي يَوْمِ …, school-week awareness) and the 14-question day check, the timetable language vault and the 12-question check, the twelve-hour clock (feminine ordinals, quarter past / half past / quarter to) and the 16-question time check, the authentic-style timetable and the 12-question reading check, the timetable builder, the Timetable Mission (14), Amal’s timetable update (listening, 10), Samir and Layla (reading, 12), speaking (4 prompts), the 6–8-sentence description and the 16-question checkpoint. Website game: “Beat the School Clock” (used as the clock quiz).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seven days + فِي يَوْمِ + the hours 1–12 + “I have … on … at …”. Develop: quarter past / half past / quarter to, يَبْدَأُ / يَنْتَهِي and the three questions. Stretch: compare two days and give a preference.
• Website “Time depth”: this lesson teaches only the timetable times needed here; the separate Time Mastery lesson covers minute-by-minute time.
• School-week awareness (website): many Arabic-speaking schools begin on Sunday; others begin on Monday. Invite students to describe their own (real or invented) week.
• Urdu bridge: ہفتہ (Urdu “week” / Saturday) — Arabic أُسْبُوعٌ; جمعہ = الجُمُعَةُ; گھنٹہ vs سَاعَةٌ (Urdu ساعت = moment); وقت = وَقْتٌ.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timetable words prepared at home at the end of F4-L01. Questions 3–5 are the website “F4-L01 retrieval bridge” (favourite subject, feminine reason, asking a girl).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timetable sentence = day + subject + time. Sā‘a (hour) is feminine, so every hour takes the feminine ordinal.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جمعہ، وقت and نصف are shared. The Arabic day names count from Sunday: الأَحَدُ (one), الاِثْنَيْنُ (two), الثُّلَاثَاءُ (three), الأَرْبِعَاءُ (four), الخَمِيسُ (five). CAREFUL: Urdu ہفتہ = week AND Saturday; Arabic week = أُسْبُوعٌ, Saturday = السَّبْتُ.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(website): all seven are treated as masculine. After فِي يَوْمِ use the modelled genitive form (الأَحَدِ، الاِثْنَيْنِ، الخَمِيسِ …). Website examples: فِي يَوْمِ الاِثْنَيْنِ عِنْدِي الرِّيَاضِيَّاتُ · فِي يَوْمِ الخَمِيسِ عِنْدِي الفَنُّ. Also: يَوْمٌ / أَيَّامٌ (day / days), أُسْبُوعٌ / أَسَابِيعُ (week /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TIMETABLE VAULT (website). Also: جَدْوَلٌ مَدْرَسِيٌّ / دِرَاسِيٌّ (timetable), الحِصَّةُ الثَّانِيَةُ / الثَّالِثَةُ / الرَّابِعَةُ (2nd / 3rd / 4th period), الآنَ (now), صَبَاحًا / مَسَاءً (in the morning / evening). Website models: يَبْدَأُ دَرْسُ العُلُومِ فِي السَّاعَةِ التَّاسِعَةِ صَبَاحًا · يَنْتَهِي الدَّرْسُ فِي السَّاعَةِ العَاشِرَةِ · مَتَى عِنْدَكَ العَرَبِيَّةُ؟ · فِي أَيِّ يَوْمٍ عِنْدَكِ الكِيمِيَاءُ؟ · كَمْ حِصَّةً لِلُّغَةِ العَرَبِيَّةِ فِي الأُسْبُوعِ؟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section 4 “Read the twelve-hour clock”: Arabic names each clock hour with a FEMININE ordinal because سَاعَةٌ is feminine (1 = الوَاحِدَةُ, not the cardinal).
Website fractions: السَّاعَةُ التَّاسِعَةُ وَالرُّبُعُ (9:15) · السَّاعَةُ العَاشِرَةُ وَالنِّصْفُ (10:30) · السَّاعَةُ الحَادِيَةُ عَشْرَةَ إِلَّا رُبُعًا (10:45 — the NEXT hour minus a quarter).
After فِي the endings change to -i (فِي السَّاعَةِ الثَّامِنَةِ) — model it, no case teaching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“Ask the timetable” and “Begin and end”: يَبْدَأُ دَرْسُ العُلُومِ فِي السَّاعَةِ التَّاسِعَةِ صَبَاحًا · يَنْتَهِي الدَّرْسُ فِي السَّاعَةِ العَاشِرَةِ.
Frequency answers (reading text): مَرَّتَيْنِ فِي الأُسْبُوعِ (twice a week). Asking a girl: عِنْدَكِ (‘indaki).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checkpoint questions 3, 5, 7 and 9.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“authentic-style school timetable”. Model three questions aloud (website):
• مَا الحِصَّةُ الأُولَى يَوْمَ الأَحَدِ؟ → اللُّغَةُ العَرَبِيَّةُ
• مَتَى عِنْدَ الطُّلَّابِ الكِيمِيَاءُ؟ → يَوْمَ الثُّلَاثَاءِ فِي السَّاعَةِ الثَّامِنَةِ
• فِي أَيِّ يَوْمٍ عِنْدَهُمْ عِلْمُ الحَاسُوبِ؟ → يَوْمَ الاِثْنَيْنِ
Then say one full model sentence: فِي يَوْمِ الأَرْبِعَاءِ عِنْدَهُمُ العَرَبِيَّةُ فِي السَّاعَةِ العَاشِرَةِ وَالنِّصْفِ.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timetable reading check questions 4, 6, 7, 9 and 11. The timetable is on the previous slide — flick back or paste it into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says the full sentence: fī yawmi … ‘indahum … fī s-sā‘a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GAME “Beat the School Clock” — its eight clock times as a quick-fire quiz (5 here: 9:15, 10:30, 10:45, 7:15, 8:30). Then play the website game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Choral response: the class says each correct time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Timetable Mission rounds (Friday, quarter to, which day?, ends, complete sentence).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 student reads the correct option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مَرْحَبًا. هَذَا تَغْيِيرٌ فِي الجَدْوَلِ المَدْرَسِيِّ. فِي يَوْمِ الأَحَدِ يَبْدَأُ دَرْسُ اللُّغَةِ العَرَبِيَّةِ فِي السَّاعَةِ الثَّامِنَةِ صَبَاحًا. فِي يَوْمِ الاِثْنَيْنِ عِنْدَنَا التَّارِيخُ فِي الحِصَّةِ الثَّانِيَةِ، ثُمَّ الاِسْتِرَاحَةُ فِي السَّاعَةِ العَاشِرَةِ. أَمَّا يَوْمَ الثُّلَاثَاءِ فَدَرْسُ الكِيمِيَاءِ يَبْدَأُ فِي السَّاعَةِ التَّاسِعَةِ وَالرُّبُعِ. يَوْمَ الأَرْبِعَاءِ عِنْدَنَا اللُّغَةُ العَرَبِيَّةُ مَرَّةً أُخْرَى فِي السَّاعَةِ العَاشِرَةِ وَالنِّصْفِ. وَفِي يَوْمِ الخَمِيسِ يَنْتَهِي دَرْسُ الفَنِّ فِي السَّاعَةِ الثَّانِيَةِ عَشْرَةَ.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PROFILES A and B (website, complete). Website instruction: underline the day, circle the time and box the subject in each sentence. Notice تَبْدَأُ (not يَبْدَأُ) because حِصَّةٌ is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 3, 5, 7 and 9.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“Speak about a school timetable”. Prompts (website):
• My timetable: Describe three lessons on three different days.
• Timetable interview: Ask and answer when, which day and how many periods.
• Begins and ends: Give the start and end time of one lesson.
• Compare two days: Say which day you prefer and why.
Website checklist (1–6): three days · three subjects · accurate times · مَتَى؟ asked or answered · ثُمَّ · clear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accurate modelled sentences: day + subject + time. · Develop — Add yabda’u, yantahī, thumma and a question. · Stretch — Compare two days and explain which day you prefer.
Website writing task (Stretch): Website writing task: 6–8 connected sentences — at least four days, five subjects, four times, one break or lunch detail and two questions or answers (a real or invented timetable).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Built from the website speaking models and Samir’s profile. Stretch: add the website “Compare two days” model (أُفَضِّلُ يَوْمَ الخَمِيسِ لِأَنَّ …، وَلَكِنَّ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(F4-L03 · Classroom Objects — What Is in Your Bag?) will spend class time USING this language, so students prepare it tonight — short, simple, easy to access (school guidance: “Simple, Short, Interesting, Relevant, Easy to access”). The five words come from the website F4-L03 classroom-object vault.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The School Timetable — Days and Times</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الجَدْوَلُ المَدْرَسِيُّ — الأَيَّامُ وَالأَوْقَاتُ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and order the seven days, read the twelve-hour clock (with quarter past, half past and quarter to), read a timetable and describe your school week.</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F4-L02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Seven days, timetable words, then the twelve-hour clock.</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 a timetable, clock quiz, listen to Amal, read two profiles.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جَدْوَلٌ مَدْرَسِيٌّ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subject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timetable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bag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مَتَى؟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many?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favourite subject”.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مَدْرَسَتِي الكَبِيرَةُ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حِصَّتِي الأُولَى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مَادَّتِي المُفَضَّلَةُ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أُحِبُّ العُلُومَ لِأَنَّهَا ___.</a:t>
            </a:r>
            <a:endParaRPr lang="ar-SA" sz="14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مُفِيدٌ</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مُفِيدُونَ</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مُفِيدَةٌ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question “What do you study?” to one female listener.</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تَدْرُسِينَ؟</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تَدْرُسُ؟</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تَدْرُسِينَ؟</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جَدْوَلٌ مَدْرَسِيٌّ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subject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school timetable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bag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مَتَى؟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when?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how many?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favourite subject”.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مَدْرَسَتِي الكَبِيرَةُ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حِصَّتِي الأُولَى</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مَادَّتِي المُفَضَّلَةُ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مَادَّتِي المُفَضَّلَةُ</a:t>
            </a:r>
            <a:pPr algn="l" indent="0" marL="0">
              <a:buNone/>
            </a:pPr>
            <a:r>
              <a:rPr lang="en-US" sz="1050" i="1" dirty="0">
                <a:solidFill>
                  <a:srgbClr val="8A6D1E"/>
                </a:solidFill>
                <a:latin typeface="Calibri" pitchFamily="34" charset="0"/>
                <a:cs typeface="Amiri" pitchFamily="2" charset="-78"/>
              </a:rPr>
              <a:t> means my favourite subject.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أُحِبُّ العُلُومَ لِأَنَّهَا ___.</a:t>
            </a:r>
            <a:endParaRPr lang="ar-SA" sz="14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مُفِيدٌ</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مُفِيدُونَ</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مُفِيدَةٌ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العُلُومُ</a:t>
            </a:r>
            <a:pPr algn="l" indent="0" marL="0">
              <a:buNone/>
            </a:pPr>
            <a:r>
              <a:rPr lang="en-US" sz="1050" i="1" dirty="0">
                <a:solidFill>
                  <a:srgbClr val="8A6D1E"/>
                </a:solidFill>
                <a:latin typeface="Calibri" pitchFamily="34" charset="0"/>
                <a:cs typeface="Amiri" pitchFamily="2" charset="-78"/>
              </a:rPr>
              <a:t> takes feminine singular agreement.</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question “What do you study?” to one female listener.</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مَاذَا تَدْرُسِينَ؟</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تَدْرُسُ؟</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تَدْرُسِينَ؟</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listener form ends in </a:t>
            </a:r>
            <a:pPr algn="l" indent="0" marL="0">
              <a:buNone/>
            </a:pPr>
            <a:r>
              <a:rPr lang="ar-SA" altLang="en-US" sz="1350" dirty="0">
                <a:solidFill>
                  <a:srgbClr val="8A6D1E"/>
                </a:solidFill>
                <a:latin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timetable sentence = day + subject + time. Sā‘a (hour) is feminine, so every hour takes the feminine ordinal.</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فِي يَوْمِ الأَحَدِ عِنْدِي العُلُومُ فِي السَّاعَةِ الثَّامِنَ</a:t>
            </a:r>
            <a:pPr rtl="1" algn="ctr" indent="0" marL="0">
              <a:lnSpc>
                <a:spcPct val="120000"/>
              </a:lnSpc>
              <a:buNone/>
            </a:pPr>
            <a:r>
              <a:rPr lang="ar-SA" altLang="en-US" sz="1950" b="1" dirty="0">
                <a:solidFill>
                  <a:srgbClr val="D6336C"/>
                </a:solidFill>
                <a:latin typeface="Amiri" pitchFamily="2" charset="-78"/>
                <a:cs typeface="Amiri" pitchFamily="2" charset="-78"/>
              </a:rPr>
              <a:t>ةِ</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and order all seven days.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and say the twelve hours plus quarter past, half past and quarter to.</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fī yawmi …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when, on which day and how many periods — and describe a timetable.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the seven days in order.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have on a day at a time.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quarter past, half past, quarter to.</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when and on which day.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a whole school week.</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days and give a preference.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Seven days, timetable words and clock times. Core: the days, the hours and “I have … on … at …”.</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Days of the week · 7</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Timetable language · 15</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Clock times · 12 + ¼ ½ ¾</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الجُمُعَةُ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‎جمعہ‎ </a:t>
            </a:r>
            <a:pPr indent="0" marL="0">
              <a:buNone/>
            </a:pPr>
            <a:r>
              <a:rPr lang="en-US" sz="950" b="1" dirty="0">
                <a:solidFill>
                  <a:srgbClr val="2E8B57"/>
                </a:solidFill>
                <a:latin typeface="Calibri" pitchFamily="34" charset="0"/>
                <a:cs typeface="Amiri" pitchFamily="2" charset="-78"/>
              </a:rPr>
              <a:t> al-jumu‘a · Friday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وَقْتٌ</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‎وقت‎ </a:t>
            </a:r>
            <a:pPr indent="0" marL="0">
              <a:buNone/>
            </a:pPr>
            <a:r>
              <a:rPr lang="en-US" sz="950" b="1" dirty="0">
                <a:solidFill>
                  <a:srgbClr val="2E8B57"/>
                </a:solidFill>
                <a:latin typeface="Calibri" pitchFamily="34" charset="0"/>
                <a:cs typeface="Amiri" pitchFamily="2" charset="-78"/>
              </a:rPr>
              <a:t> waqt · time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الأَرْبِعَاءُ</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‎اربعاء‎ </a:t>
            </a:r>
            <a:pPr indent="0" marL="0">
              <a:buNone/>
            </a:pPr>
            <a:r>
              <a:rPr lang="en-US" sz="950" b="1" dirty="0">
                <a:solidFill>
                  <a:srgbClr val="2E8B57"/>
                </a:solidFill>
                <a:latin typeface="Calibri" pitchFamily="34" charset="0"/>
                <a:cs typeface="Amiri" pitchFamily="2" charset="-78"/>
              </a:rPr>
              <a:t> al-arbi‘ā’ · Wednesday (root: four)</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نِصْفٌ</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‎نصف‎ </a:t>
            </a:r>
            <a:pPr indent="0" marL="0">
              <a:buNone/>
            </a:pPr>
            <a:r>
              <a:rPr lang="en-US" sz="950" b="1" dirty="0">
                <a:solidFill>
                  <a:srgbClr val="2E8B57"/>
                </a:solidFill>
                <a:latin typeface="Calibri" pitchFamily="34" charset="0"/>
                <a:cs typeface="Amiri" pitchFamily="2" charset="-78"/>
              </a:rPr>
              <a:t> niṣf · half</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أُسْبُوعٌ</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‎ہفتہ‎ </a:t>
            </a:r>
            <a:pPr indent="0" marL="0">
              <a:buNone/>
            </a:pPr>
            <a:r>
              <a:rPr lang="en-US" sz="950" b="1" dirty="0">
                <a:solidFill>
                  <a:srgbClr val="2E8B57"/>
                </a:solidFill>
                <a:latin typeface="Calibri" pitchFamily="34" charset="0"/>
                <a:cs typeface="Amiri" pitchFamily="2" charset="-78"/>
              </a:rPr>
              <a:t> usbū‘ · week (different word)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THE SEVEN DAYS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Sunday to Saturday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أَيَّامُ الأُسْبُوعِ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الأَحَدُ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Sunday · day 1</a:t>
            </a:r>
            <a:endParaRPr lang="en-US" sz="1350" dirty="0"/>
          </a:p>
          <a:p>
            <a:pPr indent="0" marL="0">
              <a:buNone/>
            </a:pPr>
            <a:r>
              <a:rPr lang="en-US" sz="1100" i="1" dirty="0">
                <a:solidFill>
                  <a:srgbClr val="5A6472"/>
                </a:solidFill>
                <a:latin typeface="Calibri" pitchFamily="34" charset="0"/>
                <a:cs typeface="Amiri" pitchFamily="2" charset="-78"/>
              </a:rPr>
              <a:t>al-a-ḥad</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يَوْمِ الأَحَدِ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الاِثْنَيْنُ</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Monday · day 2</a:t>
            </a:r>
            <a:endParaRPr lang="en-US" sz="1350" dirty="0"/>
          </a:p>
          <a:p>
            <a:pPr indent="0" marL="0">
              <a:buNone/>
            </a:pPr>
            <a:r>
              <a:rPr lang="en-US" sz="1100" i="1" dirty="0">
                <a:solidFill>
                  <a:srgbClr val="5A6472"/>
                </a:solidFill>
                <a:latin typeface="Calibri" pitchFamily="34" charset="0"/>
                <a:cs typeface="Amiri" pitchFamily="2" charset="-78"/>
              </a:rPr>
              <a:t>al-ith-nayn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يَوْمِ الاِثْنَيْنِ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الثُّلَاثَاءُ</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Tuesday · day 3</a:t>
            </a:r>
            <a:endParaRPr lang="en-US" sz="1350" dirty="0"/>
          </a:p>
          <a:p>
            <a:pPr indent="0" marL="0">
              <a:buNone/>
            </a:pPr>
            <a:r>
              <a:rPr lang="en-US" sz="1100" i="1" dirty="0">
                <a:solidFill>
                  <a:srgbClr val="5A6472"/>
                </a:solidFill>
                <a:latin typeface="Calibri" pitchFamily="34" charset="0"/>
                <a:cs typeface="Amiri" pitchFamily="2" charset="-78"/>
              </a:rPr>
              <a:t>ath-thu-lā-thā’</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يَوْمِ الثُّلَاثَاءِ</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الأَرْبِعَاءُ</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Wednesday · day 4</a:t>
            </a:r>
            <a:endParaRPr lang="en-US" sz="1350" dirty="0"/>
          </a:p>
          <a:p>
            <a:pPr indent="0" marL="0">
              <a:buNone/>
            </a:pPr>
            <a:r>
              <a:rPr lang="en-US" sz="1100" i="1" dirty="0">
                <a:solidFill>
                  <a:srgbClr val="5A6472"/>
                </a:solidFill>
                <a:latin typeface="Calibri" pitchFamily="34" charset="0"/>
                <a:cs typeface="Amiri" pitchFamily="2" charset="-78"/>
              </a:rPr>
              <a:t>al-ar-bi-‘ā’</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يَوْمِ الأَرْبِعَاءِ</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الخَمِيسُ</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Thursday · day 5</a:t>
            </a:r>
            <a:endParaRPr lang="en-US" sz="1350" dirty="0"/>
          </a:p>
          <a:p>
            <a:pPr indent="0" marL="0">
              <a:buNone/>
            </a:pPr>
            <a:r>
              <a:rPr lang="en-US" sz="1100" i="1" dirty="0">
                <a:solidFill>
                  <a:srgbClr val="5A6472"/>
                </a:solidFill>
                <a:latin typeface="Calibri" pitchFamily="34" charset="0"/>
                <a:cs typeface="Amiri" pitchFamily="2" charset="-78"/>
              </a:rPr>
              <a:t>al-kha-mīs</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74" name="Text 71"/>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يَوْمِ الخَمِيسِ</a:t>
            </a:r>
            <a:endParaRPr lang="ar-SA" sz="150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الجُمُعَةُ · السَّبْتُ</a:t>
            </a:r>
            <a:endParaRPr lang="ar-SA" sz="30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Friday · Saturday</a:t>
            </a:r>
            <a:endParaRPr lang="en-US" sz="1350" dirty="0"/>
          </a:p>
          <a:p>
            <a:pPr indent="0" marL="0">
              <a:buNone/>
            </a:pPr>
            <a:r>
              <a:rPr lang="en-US" sz="1100" i="1" dirty="0">
                <a:solidFill>
                  <a:srgbClr val="5A6472"/>
                </a:solidFill>
                <a:latin typeface="Calibri" pitchFamily="34" charset="0"/>
                <a:cs typeface="Amiri" pitchFamily="2" charset="-78"/>
              </a:rPr>
              <a:t>al-ju-mu-‘a · as-sabt</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86" name="Text 83"/>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 يَوْمِ الجُمُعَةِ</a:t>
            </a:r>
            <a:endParaRPr lang="ar-SA" sz="15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TIMETABLE LANGUAGE (WEBSITE VAULT)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Period, begins, ends, break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لُغَةُ الجَدْوَلِ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حِصَّةٌ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lesson / period</a:t>
            </a:r>
            <a:endParaRPr lang="en-US" sz="1350" dirty="0"/>
          </a:p>
          <a:p>
            <a:pPr indent="0" marL="0">
              <a:buNone/>
            </a:pPr>
            <a:r>
              <a:rPr lang="en-US" sz="1100" i="1" dirty="0">
                <a:solidFill>
                  <a:srgbClr val="5A6472"/>
                </a:solidFill>
                <a:latin typeface="Calibri" pitchFamily="34" charset="0"/>
                <a:cs typeface="Amiri" pitchFamily="2" charset="-78"/>
              </a:rPr>
              <a:t>ḥiṣ-ṣa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حِصَصٌ</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1st</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الحِصَّةُ الأُولَى</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verbs</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يَبْدَأُ · يَنْتَهِي</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begins · ends</a:t>
            </a:r>
            <a:endParaRPr lang="en-US" sz="1350" dirty="0"/>
          </a:p>
          <a:p>
            <a:pPr indent="0" marL="0">
              <a:buNone/>
            </a:pPr>
            <a:r>
              <a:rPr lang="en-US" sz="1100" i="1" dirty="0">
                <a:solidFill>
                  <a:srgbClr val="5A6472"/>
                </a:solidFill>
                <a:latin typeface="Calibri" pitchFamily="34" charset="0"/>
                <a:cs typeface="Amiri" pitchFamily="2" charset="-78"/>
              </a:rPr>
              <a:t>yab-da’u · yan-ta-hī</a:t>
            </a:r>
            <a:endParaRPr lang="en-US" sz="1350" dirty="0"/>
          </a:p>
        </p:txBody>
      </p:sp>
      <p:sp>
        <p:nvSpPr>
          <p:cNvPr id="39" name="Shape 3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41" name="Text 38"/>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يَبْدَأُ الدَّرْسُ</a:t>
            </a:r>
            <a:endParaRPr lang="ar-SA" sz="135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5" name="Shape 42"/>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الاِسْتِرَاحَةُ</a:t>
            </a:r>
            <a:endParaRPr lang="ar-SA" sz="3000" dirty="0"/>
          </a:p>
        </p:txBody>
      </p:sp>
      <p:sp>
        <p:nvSpPr>
          <p:cNvPr id="50" name="Text 4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break time</a:t>
            </a:r>
            <a:endParaRPr lang="en-US" sz="1350" dirty="0"/>
          </a:p>
          <a:p>
            <a:pPr indent="0" marL="0">
              <a:buNone/>
            </a:pPr>
            <a:r>
              <a:rPr lang="en-US" sz="1100" i="1" dirty="0">
                <a:solidFill>
                  <a:srgbClr val="5A6472"/>
                </a:solidFill>
                <a:latin typeface="Calibri" pitchFamily="34" charset="0"/>
                <a:cs typeface="Amiri" pitchFamily="2" charset="-78"/>
              </a:rPr>
              <a:t>al-is-ti-rā-ḥa</a:t>
            </a:r>
            <a:endParaRPr lang="en-US"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وَقْتُ الغَدَاءِ</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lunchtime</a:t>
            </a:r>
            <a:endParaRPr lang="en-US" sz="1350" dirty="0"/>
          </a:p>
          <a:p>
            <a:pPr indent="0" marL="0">
              <a:buNone/>
            </a:pPr>
            <a:r>
              <a:rPr lang="en-US" sz="1100" i="1" dirty="0">
                <a:solidFill>
                  <a:srgbClr val="5A6472"/>
                </a:solidFill>
                <a:latin typeface="Calibri" pitchFamily="34" charset="0"/>
                <a:cs typeface="Amiri" pitchFamily="2" charset="-78"/>
              </a:rPr>
              <a:t>waqt al-gha-dā’</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Shape 58"/>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questions</a:t>
            </a:r>
            <a:endParaRPr lang="en-US" sz="800" dirty="0"/>
          </a:p>
        </p:txBody>
      </p:sp>
      <p:sp>
        <p:nvSpPr>
          <p:cNvPr id="63" name="Shape 6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مَتَى؟ · فِي أَيِّ يَوْمٍ؟</a:t>
            </a:r>
            <a:endParaRPr lang="ar-SA" sz="3000" dirty="0"/>
          </a:p>
        </p:txBody>
      </p:sp>
      <p:sp>
        <p:nvSpPr>
          <p:cNvPr id="66" name="Text 6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 on which day?</a:t>
            </a:r>
            <a:endParaRPr lang="en-US" sz="1350" dirty="0"/>
          </a:p>
          <a:p>
            <a:pPr indent="0" marL="0">
              <a:buNone/>
            </a:pPr>
            <a:r>
              <a:rPr lang="en-US" sz="1100" i="1" dirty="0">
                <a:solidFill>
                  <a:srgbClr val="5A6472"/>
                </a:solidFill>
                <a:latin typeface="Calibri" pitchFamily="34" charset="0"/>
                <a:cs typeface="Amiri" pitchFamily="2" charset="-78"/>
              </a:rPr>
              <a:t>ma-tā · fī ay-yi yaw-min</a:t>
            </a:r>
            <a:endParaRPr lang="en-US" sz="1350" dirty="0"/>
          </a:p>
        </p:txBody>
      </p:sp>
      <p:sp>
        <p:nvSpPr>
          <p:cNvPr id="67" name="Shape 6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66928"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0" name="Shape 67"/>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question</a:t>
            </a:r>
            <a:endParaRPr lang="en-US" sz="800" dirty="0"/>
          </a:p>
        </p:txBody>
      </p:sp>
      <p:sp>
        <p:nvSpPr>
          <p:cNvPr id="72" name="Text 6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كَمْ حِصَّةً؟</a:t>
            </a:r>
            <a:endParaRPr lang="ar-SA" sz="3000" dirty="0"/>
          </a:p>
        </p:txBody>
      </p:sp>
      <p:sp>
        <p:nvSpPr>
          <p:cNvPr id="73" name="Text 7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periods?</a:t>
            </a:r>
            <a:endParaRPr lang="en-US" sz="1350" dirty="0"/>
          </a:p>
          <a:p>
            <a:pPr indent="0" marL="0">
              <a:buNone/>
            </a:pPr>
            <a:r>
              <a:rPr lang="en-US" sz="1100" i="1" dirty="0">
                <a:solidFill>
                  <a:srgbClr val="5A6472"/>
                </a:solidFill>
                <a:latin typeface="Calibri" pitchFamily="34" charset="0"/>
                <a:cs typeface="Amiri" pitchFamily="2" charset="-78"/>
              </a:rPr>
              <a:t>kam ḥiṣ-ṣa-tan</a:t>
            </a:r>
            <a:endParaRPr lang="en-US" sz="13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TWELVE-HOUR CLOCK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hour is feminine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السَّاعَةُ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7" name="Text 14"/>
          <p:cNvSpPr txBox="1"/>
          <p:nvPr/>
        </p:nvSpPr>
        <p:spPr>
          <a:xfrm>
            <a:off x="6199632"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8" name="Text 15"/>
          <p:cNvSpPr txBox="1"/>
          <p:nvPr/>
        </p:nvSpPr>
        <p:spPr>
          <a:xfrm>
            <a:off x="190195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9" name="Text 16"/>
          <p:cNvSpPr txBox="1"/>
          <p:nvPr/>
        </p:nvSpPr>
        <p:spPr>
          <a:xfrm>
            <a:off x="530352"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589520" y="2267712"/>
            <a:ext cx="40507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السَّابِعَةُ</a:t>
            </a:r>
            <a:endParaRPr lang="ar-SA" sz="2200" dirty="0"/>
          </a:p>
        </p:txBody>
      </p:sp>
      <p:sp>
        <p:nvSpPr>
          <p:cNvPr id="22" name="Text 19"/>
          <p:cNvSpPr txBox="1"/>
          <p:nvPr/>
        </p:nvSpPr>
        <p:spPr>
          <a:xfrm>
            <a:off x="6236208" y="2267712"/>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7:00</a:t>
            </a:r>
            <a:endParaRPr lang="en-US" sz="1100" dirty="0"/>
          </a:p>
        </p:txBody>
      </p:sp>
      <p:sp>
        <p:nvSpPr>
          <p:cNvPr id="23" name="Text 20"/>
          <p:cNvSpPr txBox="1"/>
          <p:nvPr/>
        </p:nvSpPr>
        <p:spPr>
          <a:xfrm>
            <a:off x="1920240" y="2267712"/>
            <a:ext cx="4114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الوَاحِدَةُ</a:t>
            </a:r>
            <a:endParaRPr lang="ar-SA" sz="2200" dirty="0"/>
          </a:p>
        </p:txBody>
      </p:sp>
      <p:sp>
        <p:nvSpPr>
          <p:cNvPr id="24" name="Text 21"/>
          <p:cNvSpPr txBox="1"/>
          <p:nvPr/>
        </p:nvSpPr>
        <p:spPr>
          <a:xfrm>
            <a:off x="566928" y="2267712"/>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589520" y="2881884"/>
            <a:ext cx="40507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الثَّامِنَةُ</a:t>
            </a:r>
            <a:endParaRPr lang="ar-SA" sz="2200" dirty="0"/>
          </a:p>
        </p:txBody>
      </p:sp>
      <p:sp>
        <p:nvSpPr>
          <p:cNvPr id="29" name="Text 26"/>
          <p:cNvSpPr txBox="1"/>
          <p:nvPr/>
        </p:nvSpPr>
        <p:spPr>
          <a:xfrm>
            <a:off x="6236208" y="2881884"/>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8:00</a:t>
            </a:r>
            <a:endParaRPr lang="en-US" sz="1100" dirty="0"/>
          </a:p>
        </p:txBody>
      </p:sp>
      <p:sp>
        <p:nvSpPr>
          <p:cNvPr id="30" name="Text 27"/>
          <p:cNvSpPr txBox="1"/>
          <p:nvPr/>
        </p:nvSpPr>
        <p:spPr>
          <a:xfrm>
            <a:off x="1920240" y="2881884"/>
            <a:ext cx="4114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الثَّانِيَةُ</a:t>
            </a:r>
            <a:endParaRPr lang="ar-SA" sz="2200" dirty="0"/>
          </a:p>
        </p:txBody>
      </p:sp>
      <p:sp>
        <p:nvSpPr>
          <p:cNvPr id="31" name="Text 28"/>
          <p:cNvSpPr txBox="1"/>
          <p:nvPr/>
        </p:nvSpPr>
        <p:spPr>
          <a:xfrm>
            <a:off x="566928" y="2881884"/>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2:00</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589520" y="3496056"/>
            <a:ext cx="40507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التَّاسِعَةُ</a:t>
            </a:r>
            <a:endParaRPr lang="ar-SA" sz="2200" dirty="0"/>
          </a:p>
        </p:txBody>
      </p:sp>
      <p:sp>
        <p:nvSpPr>
          <p:cNvPr id="36" name="Text 33"/>
          <p:cNvSpPr txBox="1"/>
          <p:nvPr/>
        </p:nvSpPr>
        <p:spPr>
          <a:xfrm>
            <a:off x="6236208" y="3496056"/>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9:00</a:t>
            </a:r>
            <a:endParaRPr lang="en-US" sz="1100" dirty="0"/>
          </a:p>
        </p:txBody>
      </p:sp>
      <p:sp>
        <p:nvSpPr>
          <p:cNvPr id="37" name="Text 34"/>
          <p:cNvSpPr txBox="1"/>
          <p:nvPr/>
        </p:nvSpPr>
        <p:spPr>
          <a:xfrm>
            <a:off x="1920240" y="3496056"/>
            <a:ext cx="4114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الثَّالِثَةُ</a:t>
            </a:r>
            <a:endParaRPr lang="ar-SA" sz="2200" dirty="0"/>
          </a:p>
        </p:txBody>
      </p:sp>
      <p:sp>
        <p:nvSpPr>
          <p:cNvPr id="38" name="Text 35"/>
          <p:cNvSpPr txBox="1"/>
          <p:nvPr/>
        </p:nvSpPr>
        <p:spPr>
          <a:xfrm>
            <a:off x="566928" y="3496056"/>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3:00</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589520" y="4110228"/>
            <a:ext cx="40507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العَاشِرَةُ</a:t>
            </a:r>
            <a:endParaRPr lang="ar-SA" sz="2200" dirty="0"/>
          </a:p>
        </p:txBody>
      </p:sp>
      <p:sp>
        <p:nvSpPr>
          <p:cNvPr id="43" name="Text 40"/>
          <p:cNvSpPr txBox="1"/>
          <p:nvPr/>
        </p:nvSpPr>
        <p:spPr>
          <a:xfrm>
            <a:off x="6236208" y="4110228"/>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10:00</a:t>
            </a:r>
            <a:endParaRPr lang="en-US" sz="1100" dirty="0"/>
          </a:p>
        </p:txBody>
      </p:sp>
      <p:sp>
        <p:nvSpPr>
          <p:cNvPr id="44" name="Text 41"/>
          <p:cNvSpPr txBox="1"/>
          <p:nvPr/>
        </p:nvSpPr>
        <p:spPr>
          <a:xfrm>
            <a:off x="1920240" y="4110228"/>
            <a:ext cx="4114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الرَّابِعَةُ</a:t>
            </a:r>
            <a:endParaRPr lang="ar-SA" sz="2200" dirty="0"/>
          </a:p>
        </p:txBody>
      </p:sp>
      <p:sp>
        <p:nvSpPr>
          <p:cNvPr id="45" name="Text 42"/>
          <p:cNvSpPr txBox="1"/>
          <p:nvPr/>
        </p:nvSpPr>
        <p:spPr>
          <a:xfrm>
            <a:off x="566928" y="4110228"/>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4:00</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589520" y="4724400"/>
            <a:ext cx="40507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الحَادِيَةُ عَشْرَةَ</a:t>
            </a:r>
            <a:endParaRPr lang="ar-SA" sz="2200" dirty="0"/>
          </a:p>
        </p:txBody>
      </p:sp>
      <p:sp>
        <p:nvSpPr>
          <p:cNvPr id="50" name="Text 47"/>
          <p:cNvSpPr txBox="1"/>
          <p:nvPr/>
        </p:nvSpPr>
        <p:spPr>
          <a:xfrm>
            <a:off x="6236208" y="4724400"/>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11:00</a:t>
            </a:r>
            <a:endParaRPr lang="en-US" sz="1100" dirty="0"/>
          </a:p>
        </p:txBody>
      </p:sp>
      <p:sp>
        <p:nvSpPr>
          <p:cNvPr id="51" name="Text 48"/>
          <p:cNvSpPr txBox="1"/>
          <p:nvPr/>
        </p:nvSpPr>
        <p:spPr>
          <a:xfrm>
            <a:off x="1920240" y="4724400"/>
            <a:ext cx="4114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الخَامِسَةُ</a:t>
            </a:r>
            <a:endParaRPr lang="ar-SA" sz="2200" dirty="0"/>
          </a:p>
        </p:txBody>
      </p:sp>
      <p:sp>
        <p:nvSpPr>
          <p:cNvPr id="52" name="Text 49"/>
          <p:cNvSpPr txBox="1"/>
          <p:nvPr/>
        </p:nvSpPr>
        <p:spPr>
          <a:xfrm>
            <a:off x="566928" y="4724400"/>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5:00</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589520" y="5338572"/>
            <a:ext cx="40507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الثَّانِيَةُ عَشْرَةَ</a:t>
            </a:r>
            <a:endParaRPr lang="ar-SA" sz="2200" dirty="0"/>
          </a:p>
        </p:txBody>
      </p:sp>
      <p:sp>
        <p:nvSpPr>
          <p:cNvPr id="57" name="Text 54"/>
          <p:cNvSpPr txBox="1"/>
          <p:nvPr/>
        </p:nvSpPr>
        <p:spPr>
          <a:xfrm>
            <a:off x="6236208" y="5338572"/>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12:00</a:t>
            </a:r>
            <a:endParaRPr lang="en-US" sz="1100" dirty="0"/>
          </a:p>
        </p:txBody>
      </p:sp>
      <p:sp>
        <p:nvSpPr>
          <p:cNvPr id="58" name="Text 55"/>
          <p:cNvSpPr txBox="1"/>
          <p:nvPr/>
        </p:nvSpPr>
        <p:spPr>
          <a:xfrm>
            <a:off x="1920240" y="5338572"/>
            <a:ext cx="4114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السَّاعَةُ السَّادِسَةُ</a:t>
            </a:r>
            <a:endParaRPr lang="ar-SA" sz="2200" dirty="0"/>
          </a:p>
        </p:txBody>
      </p:sp>
      <p:sp>
        <p:nvSpPr>
          <p:cNvPr id="59" name="Text 56"/>
          <p:cNvSpPr txBox="1"/>
          <p:nvPr/>
        </p:nvSpPr>
        <p:spPr>
          <a:xfrm>
            <a:off x="566928" y="5338572"/>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6:00</a:t>
            </a:r>
            <a:endParaRPr lang="en-US" sz="1100" dirty="0"/>
          </a:p>
        </p:txBody>
      </p:sp>
      <p:sp>
        <p:nvSpPr>
          <p:cNvPr id="60" name="Shape 57"/>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Text 5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Quarter past: wa-r-rubu‘ (9:15) · half past: wa-n-niṣf (10:30) · quarter to: next hour + illā rubu‘an (10:45 = 11 illā rubu‘an).</a:t>
            </a:r>
            <a:endParaRPr lang="en-US" sz="11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ASK AND ANSWER THE TIMETABLE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Which day? How many?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اِسْأَلْ عَنِ الجَدْوَلِ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6172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WHEN?</a:t>
            </a:r>
            <a:endParaRPr lang="en-US" sz="850" dirty="0"/>
          </a:p>
        </p:txBody>
      </p:sp>
      <p:sp>
        <p:nvSpPr>
          <p:cNvPr id="18" name="Text 15"/>
          <p:cNvSpPr txBox="1"/>
          <p:nvPr/>
        </p:nvSpPr>
        <p:spPr>
          <a:xfrm>
            <a:off x="8895588"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مَتَى؟</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مَتَى عِنْدَكَ العَرَبِيَّةُ؟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When do you have Arabic?</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Answer: at + time.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96012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WHICH DAY?</a:t>
            </a:r>
            <a:endParaRPr lang="en-US" sz="850" dirty="0"/>
          </a:p>
        </p:txBody>
      </p:sp>
      <p:sp>
        <p:nvSpPr>
          <p:cNvPr id="26" name="Text 23"/>
          <p:cNvSpPr txBox="1"/>
          <p:nvPr/>
        </p:nvSpPr>
        <p:spPr>
          <a:xfrm>
            <a:off x="5419344"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فِي أَيِّ يَوْمٍ؟</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فِي أَيِّ يَوْمٍ عِنْدَكِ الكِيمِيَاءُ؟</a:t>
            </a:r>
            <a:endParaRPr lang="ar-SA" sz="27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 which day do you (f.) have chemistry?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Answer: fī yawmi …</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9154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HOW MANY?</a:t>
            </a:r>
            <a:endParaRPr lang="en-US" sz="850" dirty="0"/>
          </a:p>
        </p:txBody>
      </p:sp>
      <p:sp>
        <p:nvSpPr>
          <p:cNvPr id="34" name="Text 31"/>
          <p:cNvSpPr txBox="1"/>
          <p:nvPr/>
        </p:nvSpPr>
        <p:spPr>
          <a:xfrm>
            <a:off x="1531620"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كَمْ حِصَّةً؟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كَمْ حِصَّةً لِلعَرَبِيَّةِ فِي الأُسْبُوعِ؟</a:t>
            </a:r>
            <a:endParaRPr lang="ar-SA" sz="25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 many Arabic periods a week?</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Answer: twice, three times …</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model: day + subject + time in one sentence.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فِي يَوْمِ الاِثْنَيْنِ عِنْدِي العُلُومُ فِي السَّاعَةِ التَّاسِعَةِ.</a:t>
            </a:r>
            <a:endParaRPr lang="ar-SA" sz="14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الاِثْنَيْنُ العُلُومُ التَّاسِعَةُ.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“lesson period”.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أُسْبُوعٌ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حِصَّةٌ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9:15.</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التَّاسِعَةُ وَالرُّبُعُ</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التَّاسِعَةُ وَالنِّصْفُ</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العَاشِرَةُ إِلَّا رُبُعًا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10:45.</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العَاشِرَةُ وَالرُّبُعُ</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الحَادِيَةُ عَشْرَةَ إِلَّا رُبُعًا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الحَادِيَةُ عَشْرَةَ وَالرُّبُعُ</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on which day?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أَيِّ يَوْمٍ؟</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حِصَّةً؟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السَّاعَةُ؟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“lesson period”.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أُسْبُوعٌ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حِصَّةٌ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حِصَّةٌ</a:t>
            </a:r>
            <a:pPr algn="l" indent="0" marL="0">
              <a:buNone/>
            </a:pPr>
            <a:r>
              <a:rPr lang="en-US" sz="1050" i="1" dirty="0">
                <a:solidFill>
                  <a:srgbClr val="8A6D1E"/>
                </a:solidFill>
                <a:latin typeface="Calibri" pitchFamily="34" charset="0"/>
                <a:cs typeface="Amiri" pitchFamily="2" charset="-78"/>
              </a:rPr>
              <a:t> is a period.</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9:15.</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التَّاسِعَةُ وَالرُّبُعُ</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التَّاسِعَةُ وَالنِّصْفُ</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العَاشِرَةُ إِلَّا رُبُعًا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Quarter past nine is 9:15.</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10:45.</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العَاشِرَةُ وَالرُّبُعُ</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الحَادِيَةُ عَشْرَةَ إِلَّا رُبُعًا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الحَادِيَةُ عَشْرَةَ وَالرُّبُعُ</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Quarter to eleven is 10:45.</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on which day?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أَيِّ يَوْمٍ؟</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حِصَّةً؟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السَّاعَةُ؟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question requests a day.</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READ THE WEBSITE TIMETABLE WITH 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row, then the column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الجَدْوَلُ المَدْرَسِيُّ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Day</a:t>
            </a:r>
            <a:endParaRPr lang="en-US" sz="1100" dirty="0"/>
          </a:p>
        </p:txBody>
      </p:sp>
      <p:sp>
        <p:nvSpPr>
          <p:cNvPr id="17" name="Text 14"/>
          <p:cNvSpPr txBox="1"/>
          <p:nvPr/>
        </p:nvSpPr>
        <p:spPr>
          <a:xfrm>
            <a:off x="7964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P1 · 8:00</a:t>
            </a:r>
            <a:endParaRPr lang="en-US" sz="1100" dirty="0"/>
          </a:p>
        </p:txBody>
      </p:sp>
      <p:sp>
        <p:nvSpPr>
          <p:cNvPr id="18" name="Text 15"/>
          <p:cNvSpPr txBox="1"/>
          <p:nvPr/>
        </p:nvSpPr>
        <p:spPr>
          <a:xfrm>
            <a:off x="613562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P2 · 9:00</a:t>
            </a:r>
            <a:endParaRPr lang="en-US" sz="1100" dirty="0"/>
          </a:p>
        </p:txBody>
      </p:sp>
      <p:sp>
        <p:nvSpPr>
          <p:cNvPr id="19" name="Text 16"/>
          <p:cNvSpPr txBox="1"/>
          <p:nvPr/>
        </p:nvSpPr>
        <p:spPr>
          <a:xfrm>
            <a:off x="4581144"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Break 10:00</a:t>
            </a:r>
            <a:endParaRPr lang="en-US" sz="1100" dirty="0"/>
          </a:p>
        </p:txBody>
      </p:sp>
      <p:sp>
        <p:nvSpPr>
          <p:cNvPr id="20" name="Text 17"/>
          <p:cNvSpPr txBox="1"/>
          <p:nvPr/>
        </p:nvSpPr>
        <p:spPr>
          <a:xfrm>
            <a:off x="25694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P3 · 10:30</a:t>
            </a:r>
            <a:endParaRPr lang="en-US" sz="1100" dirty="0"/>
          </a:p>
        </p:txBody>
      </p:sp>
      <p:sp>
        <p:nvSpPr>
          <p:cNvPr id="21" name="Text 18"/>
          <p:cNvSpPr txBox="1"/>
          <p:nvPr/>
        </p:nvSpPr>
        <p:spPr>
          <a:xfrm>
            <a:off x="530352" y="1810512"/>
            <a:ext cx="1892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P4 · 11:30</a:t>
            </a: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94392" y="2267712"/>
            <a:ext cx="1645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الأَحَدُ</a:t>
            </a:r>
            <a:endParaRPr lang="ar-SA" sz="1800" dirty="0"/>
          </a:p>
        </p:txBody>
      </p:sp>
      <p:sp>
        <p:nvSpPr>
          <p:cNvPr id="24" name="Text 21"/>
          <p:cNvSpPr txBox="1"/>
          <p:nvPr/>
        </p:nvSpPr>
        <p:spPr>
          <a:xfrm>
            <a:off x="7982712" y="2267712"/>
            <a:ext cx="18288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اللُّغَةُ العَرَبِيَّةُ</a:t>
            </a:r>
            <a:endParaRPr lang="ar-SA" sz="1600" dirty="0"/>
          </a:p>
        </p:txBody>
      </p:sp>
      <p:sp>
        <p:nvSpPr>
          <p:cNvPr id="25" name="Text 22"/>
          <p:cNvSpPr txBox="1"/>
          <p:nvPr/>
        </p:nvSpPr>
        <p:spPr>
          <a:xfrm>
            <a:off x="6153912" y="2267712"/>
            <a:ext cx="16459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الرِّيَاضِيَّاتُ</a:t>
            </a:r>
            <a:endParaRPr lang="ar-SA" sz="1600" dirty="0"/>
          </a:p>
        </p:txBody>
      </p:sp>
      <p:sp>
        <p:nvSpPr>
          <p:cNvPr id="26" name="Text 23"/>
          <p:cNvSpPr txBox="1"/>
          <p:nvPr/>
        </p:nvSpPr>
        <p:spPr>
          <a:xfrm>
            <a:off x="4599432" y="2267712"/>
            <a:ext cx="13716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اِسْتِرَاحَةٌ</a:t>
            </a:r>
            <a:endParaRPr lang="ar-SA" sz="1600" dirty="0"/>
          </a:p>
        </p:txBody>
      </p:sp>
      <p:sp>
        <p:nvSpPr>
          <p:cNvPr id="27" name="Text 24"/>
          <p:cNvSpPr txBox="1"/>
          <p:nvPr/>
        </p:nvSpPr>
        <p:spPr>
          <a:xfrm>
            <a:off x="2587752" y="2267712"/>
            <a:ext cx="18288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العُلُومُ</a:t>
            </a:r>
            <a:endParaRPr lang="ar-SA" sz="1600" dirty="0"/>
          </a:p>
        </p:txBody>
      </p:sp>
      <p:sp>
        <p:nvSpPr>
          <p:cNvPr id="28" name="Text 25"/>
          <p:cNvSpPr txBox="1"/>
          <p:nvPr/>
        </p:nvSpPr>
        <p:spPr>
          <a:xfrm>
            <a:off x="548640" y="2267712"/>
            <a:ext cx="18562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الفَنُّ</a:t>
            </a:r>
            <a:endParaRPr lang="ar-SA" sz="16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94392" y="3004718"/>
            <a:ext cx="1645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الاِثْنَيْنُ</a:t>
            </a:r>
            <a:endParaRPr lang="ar-SA" sz="1800" dirty="0"/>
          </a:p>
        </p:txBody>
      </p:sp>
      <p:sp>
        <p:nvSpPr>
          <p:cNvPr id="31" name="Text 28"/>
          <p:cNvSpPr txBox="1"/>
          <p:nvPr/>
        </p:nvSpPr>
        <p:spPr>
          <a:xfrm>
            <a:off x="7982712" y="3004718"/>
            <a:ext cx="18288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الإِنْجِلِيزِيَّةُ</a:t>
            </a:r>
            <a:endParaRPr lang="ar-SA" sz="1600" dirty="0"/>
          </a:p>
        </p:txBody>
      </p:sp>
      <p:sp>
        <p:nvSpPr>
          <p:cNvPr id="32" name="Text 29"/>
          <p:cNvSpPr txBox="1"/>
          <p:nvPr/>
        </p:nvSpPr>
        <p:spPr>
          <a:xfrm>
            <a:off x="6153912" y="3004718"/>
            <a:ext cx="16459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التَّارِيخُ</a:t>
            </a:r>
            <a:endParaRPr lang="ar-SA" sz="1600" dirty="0"/>
          </a:p>
        </p:txBody>
      </p:sp>
      <p:sp>
        <p:nvSpPr>
          <p:cNvPr id="33" name="Text 30"/>
          <p:cNvSpPr txBox="1"/>
          <p:nvPr/>
        </p:nvSpPr>
        <p:spPr>
          <a:xfrm>
            <a:off x="4599432" y="3004718"/>
            <a:ext cx="13716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اِسْتِرَاحَةٌ</a:t>
            </a:r>
            <a:endParaRPr lang="ar-SA" sz="1600" dirty="0"/>
          </a:p>
        </p:txBody>
      </p:sp>
      <p:sp>
        <p:nvSpPr>
          <p:cNvPr id="34" name="Text 31"/>
          <p:cNvSpPr txBox="1"/>
          <p:nvPr/>
        </p:nvSpPr>
        <p:spPr>
          <a:xfrm>
            <a:off x="2587752" y="3004718"/>
            <a:ext cx="18288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الجُغْرَافِيَا</a:t>
            </a:r>
            <a:endParaRPr lang="ar-SA" sz="1600" dirty="0"/>
          </a:p>
        </p:txBody>
      </p:sp>
      <p:sp>
        <p:nvSpPr>
          <p:cNvPr id="35" name="Text 32"/>
          <p:cNvSpPr txBox="1"/>
          <p:nvPr/>
        </p:nvSpPr>
        <p:spPr>
          <a:xfrm>
            <a:off x="548640" y="3004718"/>
            <a:ext cx="18562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عِلْمُ الحَاسُوبِ</a:t>
            </a:r>
            <a:endParaRPr lang="ar-SA" sz="1600" dirty="0"/>
          </a:p>
        </p:txBody>
      </p:sp>
      <p:sp>
        <p:nvSpPr>
          <p:cNvPr id="36" name="Shape 33"/>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7" name="Text 34"/>
          <p:cNvSpPr txBox="1"/>
          <p:nvPr/>
        </p:nvSpPr>
        <p:spPr>
          <a:xfrm>
            <a:off x="9994392" y="3741725"/>
            <a:ext cx="1645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الثُّلَاثَاءُ</a:t>
            </a:r>
            <a:endParaRPr lang="ar-SA" sz="1800" dirty="0"/>
          </a:p>
        </p:txBody>
      </p:sp>
      <p:sp>
        <p:nvSpPr>
          <p:cNvPr id="38" name="Text 35"/>
          <p:cNvSpPr txBox="1"/>
          <p:nvPr/>
        </p:nvSpPr>
        <p:spPr>
          <a:xfrm>
            <a:off x="7982712" y="3741725"/>
            <a:ext cx="18288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الكِيمِيَاءُ</a:t>
            </a:r>
            <a:endParaRPr lang="ar-SA" sz="1600" dirty="0"/>
          </a:p>
        </p:txBody>
      </p:sp>
      <p:sp>
        <p:nvSpPr>
          <p:cNvPr id="39" name="Text 36"/>
          <p:cNvSpPr txBox="1"/>
          <p:nvPr/>
        </p:nvSpPr>
        <p:spPr>
          <a:xfrm>
            <a:off x="6153912" y="3741725"/>
            <a:ext cx="16459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الأَحْيَاءُ</a:t>
            </a:r>
            <a:endParaRPr lang="ar-SA" sz="1600" dirty="0"/>
          </a:p>
        </p:txBody>
      </p:sp>
      <p:sp>
        <p:nvSpPr>
          <p:cNvPr id="40" name="Text 37"/>
          <p:cNvSpPr txBox="1"/>
          <p:nvPr/>
        </p:nvSpPr>
        <p:spPr>
          <a:xfrm>
            <a:off x="4599432" y="3741725"/>
            <a:ext cx="13716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اِسْتِرَاحَةٌ</a:t>
            </a:r>
            <a:endParaRPr lang="ar-SA" sz="1600" dirty="0"/>
          </a:p>
        </p:txBody>
      </p:sp>
      <p:sp>
        <p:nvSpPr>
          <p:cNvPr id="41" name="Text 38"/>
          <p:cNvSpPr txBox="1"/>
          <p:nvPr/>
        </p:nvSpPr>
        <p:spPr>
          <a:xfrm>
            <a:off x="2587752" y="3741725"/>
            <a:ext cx="18288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التَّرْبِيَةُ البَدَنِيَّةُ</a:t>
            </a:r>
            <a:endParaRPr lang="ar-SA" sz="1600" dirty="0"/>
          </a:p>
        </p:txBody>
      </p:sp>
      <p:sp>
        <p:nvSpPr>
          <p:cNvPr id="42" name="Text 39"/>
          <p:cNvSpPr txBox="1"/>
          <p:nvPr/>
        </p:nvSpPr>
        <p:spPr>
          <a:xfrm>
            <a:off x="548640" y="3741725"/>
            <a:ext cx="18562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المُوسِيقَى</a:t>
            </a:r>
            <a:endParaRPr lang="ar-SA" sz="160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9994392" y="4478731"/>
            <a:ext cx="1645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الأَرْبِعَاءُ</a:t>
            </a:r>
            <a:endParaRPr lang="ar-SA" sz="1800" dirty="0"/>
          </a:p>
        </p:txBody>
      </p:sp>
      <p:sp>
        <p:nvSpPr>
          <p:cNvPr id="45" name="Text 42"/>
          <p:cNvSpPr txBox="1"/>
          <p:nvPr/>
        </p:nvSpPr>
        <p:spPr>
          <a:xfrm>
            <a:off x="7982712" y="4478731"/>
            <a:ext cx="18288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الفِيزِيَاءُ</a:t>
            </a:r>
            <a:endParaRPr lang="ar-SA" sz="1600" dirty="0"/>
          </a:p>
        </p:txBody>
      </p:sp>
      <p:sp>
        <p:nvSpPr>
          <p:cNvPr id="46" name="Text 43"/>
          <p:cNvSpPr txBox="1"/>
          <p:nvPr/>
        </p:nvSpPr>
        <p:spPr>
          <a:xfrm>
            <a:off x="6153912" y="4478731"/>
            <a:ext cx="16459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الرِّيَاضِيَّاتُ</a:t>
            </a:r>
            <a:endParaRPr lang="ar-SA" sz="1600" dirty="0"/>
          </a:p>
        </p:txBody>
      </p:sp>
      <p:sp>
        <p:nvSpPr>
          <p:cNvPr id="47" name="Text 44"/>
          <p:cNvSpPr txBox="1"/>
          <p:nvPr/>
        </p:nvSpPr>
        <p:spPr>
          <a:xfrm>
            <a:off x="4599432" y="4478731"/>
            <a:ext cx="13716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اِسْتِرَاحَةٌ</a:t>
            </a:r>
            <a:endParaRPr lang="ar-SA" sz="1600" dirty="0"/>
          </a:p>
        </p:txBody>
      </p:sp>
      <p:sp>
        <p:nvSpPr>
          <p:cNvPr id="48" name="Text 45"/>
          <p:cNvSpPr txBox="1"/>
          <p:nvPr/>
        </p:nvSpPr>
        <p:spPr>
          <a:xfrm>
            <a:off x="2587752" y="4478731"/>
            <a:ext cx="18288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اللُّغَةُ العَرَبِيَّةُ</a:t>
            </a:r>
            <a:endParaRPr lang="ar-SA" sz="1600" dirty="0"/>
          </a:p>
        </p:txBody>
      </p:sp>
      <p:sp>
        <p:nvSpPr>
          <p:cNvPr id="49" name="Text 46"/>
          <p:cNvSpPr txBox="1"/>
          <p:nvPr/>
        </p:nvSpPr>
        <p:spPr>
          <a:xfrm>
            <a:off x="548640" y="4478731"/>
            <a:ext cx="18562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التِّقْنِيَّةُ</a:t>
            </a:r>
            <a:endParaRPr lang="ar-SA" sz="1600" dirty="0"/>
          </a:p>
        </p:txBody>
      </p:sp>
      <p:sp>
        <p:nvSpPr>
          <p:cNvPr id="50" name="Shape 4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1" name="Text 48"/>
          <p:cNvSpPr txBox="1"/>
          <p:nvPr/>
        </p:nvSpPr>
        <p:spPr>
          <a:xfrm>
            <a:off x="9994392" y="5215738"/>
            <a:ext cx="1645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الخَمِيسُ</a:t>
            </a:r>
            <a:endParaRPr lang="ar-SA" sz="1800" dirty="0"/>
          </a:p>
        </p:txBody>
      </p:sp>
      <p:sp>
        <p:nvSpPr>
          <p:cNvPr id="52" name="Text 49"/>
          <p:cNvSpPr txBox="1"/>
          <p:nvPr/>
        </p:nvSpPr>
        <p:spPr>
          <a:xfrm>
            <a:off x="7982712" y="5215738"/>
            <a:ext cx="18288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التَّرْبِيَةُ الدِّينِيَّةُ</a:t>
            </a:r>
            <a:endParaRPr lang="ar-SA" sz="1600" dirty="0"/>
          </a:p>
        </p:txBody>
      </p:sp>
      <p:sp>
        <p:nvSpPr>
          <p:cNvPr id="53" name="Text 50"/>
          <p:cNvSpPr txBox="1"/>
          <p:nvPr/>
        </p:nvSpPr>
        <p:spPr>
          <a:xfrm>
            <a:off x="6153912" y="5215738"/>
            <a:ext cx="16459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الفَلْسَفَةُ</a:t>
            </a:r>
            <a:endParaRPr lang="ar-SA" sz="1600" dirty="0"/>
          </a:p>
        </p:txBody>
      </p:sp>
      <p:sp>
        <p:nvSpPr>
          <p:cNvPr id="54" name="Text 51"/>
          <p:cNvSpPr txBox="1"/>
          <p:nvPr/>
        </p:nvSpPr>
        <p:spPr>
          <a:xfrm>
            <a:off x="4599432" y="5215738"/>
            <a:ext cx="13716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اِسْتِرَاحَةٌ</a:t>
            </a:r>
            <a:endParaRPr lang="ar-SA" sz="1600" dirty="0"/>
          </a:p>
        </p:txBody>
      </p:sp>
      <p:sp>
        <p:nvSpPr>
          <p:cNvPr id="55" name="Text 52"/>
          <p:cNvSpPr txBox="1"/>
          <p:nvPr/>
        </p:nvSpPr>
        <p:spPr>
          <a:xfrm>
            <a:off x="2587752" y="5215738"/>
            <a:ext cx="18288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المَسْرَحُ</a:t>
            </a:r>
            <a:endParaRPr lang="ar-SA" sz="1600" dirty="0"/>
          </a:p>
        </p:txBody>
      </p:sp>
      <p:sp>
        <p:nvSpPr>
          <p:cNvPr id="56" name="Text 53"/>
          <p:cNvSpPr txBox="1"/>
          <p:nvPr/>
        </p:nvSpPr>
        <p:spPr>
          <a:xfrm>
            <a:off x="548640" y="5215738"/>
            <a:ext cx="18562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الفَنُّ</a:t>
            </a:r>
            <a:endParaRPr lang="ar-SA" sz="16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Think aloud: “Sunday row → first column → Arabic. So: fī yawmi l-aḥadi ‘indī l-‘arabiyya fī s-sā‘ati th-thāmina.”</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TIMETABLE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timetable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الجَدْوَلَ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 is history?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students have chemistry?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 at 8:00</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Wednesday at 8:00</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 at 9:00</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Tuesday Period 4?</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biology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includes philosophy?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Wednesday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art periods are shown?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ROW + COLUMN</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day (row),</a:t>
            </a:r>
            <a:endParaRPr lang="en-US" sz="1250" dirty="0"/>
          </a:p>
          <a:p>
            <a:pPr algn="l" indent="0" marL="0">
              <a:buNone/>
            </a:pPr>
            <a:r>
              <a:rPr lang="en-US" sz="1250" dirty="0">
                <a:solidFill>
                  <a:srgbClr val="1F2A37"/>
                </a:solidFill>
                <a:latin typeface="Calibri" pitchFamily="34" charset="0"/>
                <a:cs typeface="Amiri" pitchFamily="2" charset="-78"/>
              </a:rPr>
              <a:t>then the time (column).</a:t>
            </a:r>
            <a:endParaRPr lang="en-US" sz="1250" dirty="0"/>
          </a:p>
          <a:p>
            <a:pPr algn="l" indent="0" marL="0">
              <a:buNone/>
            </a:pPr>
            <a:r>
              <a:rPr lang="en-US" sz="1250" dirty="0">
                <a:solidFill>
                  <a:srgbClr val="1F2A37"/>
                </a:solidFill>
                <a:latin typeface="Calibri" pitchFamily="34" charset="0"/>
                <a:cs typeface="Amiri" pitchFamily="2" charset="-78"/>
              </a:rPr>
              <a:t>Flick back to the timetable.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TIMETABLE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Timetable: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 is history?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Monday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Thursday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History appears on Monday.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students have chemistry?</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Tuesday at 8:00</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Wednesday at 8:00</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 at 9:00</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Chemistry is Tuesday Period 1 at 8:00.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Tuesday Period 4?</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biology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music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Tuesday Period 4 is music.</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includes philosophy?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Monday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Thursday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Wednesday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Philosophy is Thursday Period 2.</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art periods are shown?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Art appears Sunday Period 4 and Thursday Period 4.</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ROW + COLUMN</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day (row),</a:t>
            </a:r>
            <a:endParaRPr lang="en-US" sz="1250" dirty="0"/>
          </a:p>
          <a:p>
            <a:pPr algn="l" indent="0" marL="0">
              <a:buNone/>
            </a:pPr>
            <a:r>
              <a:rPr lang="en-US" sz="1250" dirty="0">
                <a:solidFill>
                  <a:srgbClr val="1F2A37"/>
                </a:solidFill>
                <a:latin typeface="Calibri" pitchFamily="34" charset="0"/>
                <a:cs typeface="Amiri" pitchFamily="2" charset="-78"/>
              </a:rPr>
              <a:t>then the time (column).</a:t>
            </a:r>
            <a:endParaRPr lang="en-US" sz="1250" dirty="0"/>
          </a:p>
          <a:p>
            <a:pPr algn="l" indent="0" marL="0">
              <a:buNone/>
            </a:pPr>
            <a:r>
              <a:rPr lang="en-US" sz="1250" dirty="0">
                <a:solidFill>
                  <a:srgbClr val="1F2A37"/>
                </a:solidFill>
                <a:latin typeface="Calibri" pitchFamily="34" charset="0"/>
                <a:cs typeface="Amiri" pitchFamily="2" charset="-78"/>
              </a:rPr>
              <a:t>Flick back to the timetable.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“BEAT THE SCHOOL CLOCK”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Beat the school clock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السَّاعَةِ المَدْرَسِيَّةِ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9:15?</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الثَّامِنَةُ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التَّاسِعَةُ وَالرُّبُعُ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العَاشِرَةُ وَالنِّصْفُ</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10:30?</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العَاشِرَةُ وَالنِّصْفُ</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الثَّامِنَةُ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التَّاسِعَةُ وَالرُّبُعُ</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10:45?</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الثَّامِنَةُ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التَّاسِعَةُ وَالرُّبُعُ</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الحَادِيَةُ عَشْرَةَ إِلَّا رُبُعًا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7:15?</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الثَّامِنَةُ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السَّابِعَةُ وَالرُّبُعُ</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التَّاسِعَةُ وَالرُّبُعُ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8:30?</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الثَّامِنَةُ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الثَّامِنَةُ وَالنِّصْفُ</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التَّاسِعَةُ وَالرُّبُعُ</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¼ past → wa-r-rubu‘</a:t>
            </a:r>
            <a:endParaRPr lang="en-US" sz="1250" dirty="0"/>
          </a:p>
          <a:p>
            <a:pPr algn="l" indent="0" marL="0">
              <a:buNone/>
            </a:pPr>
            <a:r>
              <a:rPr lang="en-US" sz="1250" dirty="0">
                <a:solidFill>
                  <a:srgbClr val="1E6B52"/>
                </a:solidFill>
                <a:latin typeface="Calibri" pitchFamily="34" charset="0"/>
                <a:cs typeface="Amiri" pitchFamily="2" charset="-78"/>
              </a:rPr>
              <a:t>½ past → wa-n-niṣf</a:t>
            </a:r>
            <a:endParaRPr lang="en-US" sz="1250" dirty="0"/>
          </a:p>
          <a:p>
            <a:pPr algn="l" indent="0" marL="0">
              <a:buNone/>
            </a:pPr>
            <a:r>
              <a:rPr lang="en-US" sz="1250" dirty="0">
                <a:solidFill>
                  <a:srgbClr val="1E6B52"/>
                </a:solidFill>
                <a:latin typeface="Calibri" pitchFamily="34" charset="0"/>
                <a:cs typeface="Amiri" pitchFamily="2" charset="-78"/>
              </a:rPr>
              <a:t>¼ to → NEXT hour illā rubu‘an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CLOCK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Clock: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9:15?</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الثَّامِنَةُ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التَّاسِعَةُ وَالرُّبُعُ</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العَاشِرَةُ وَالنِّصْفُ</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9:15 = السَّاعَةُ التَّاسِعَةُ وَالرُّبُعُ</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10:30?</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العَاشِرَةُ وَالنِّصْفُ</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الثَّامِنَةُ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التَّاسِعَةُ وَالرُّبُعُ</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10:30 = السَّاعَةُ العَاشِرَةُ وَالنِّصْفُ</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10:45?</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الثَّامِنَةُ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التَّاسِعَةُ وَالرُّبُعُ</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الحَادِيَةُ عَشْرَةَ إِلَّا رُبُعًا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10:45 = السَّاعَةُ الحَادِيَةُ عَشْرَةَ إِلَّا رُبُعًا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7:15?</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الثَّامِنَةُ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السَّابِعَةُ وَالرُّبُعُ</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التَّاسِعَةُ وَالرُّبُعُ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7:15 = السَّاعَةُ السَّابِعَةُ وَالرُّبُعُ</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8:30?</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الثَّامِنَةُ</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الثَّامِنَةُ وَالنِّصْفُ</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التَّاسِعَةُ وَالرُّبُعُ</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8:30 = السَّاعَةُ الثَّامِنَةُ وَالنِّصْفُ</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¼ past → wa-r-rubu‘</a:t>
            </a:r>
            <a:endParaRPr lang="en-US" sz="1250" dirty="0"/>
          </a:p>
          <a:p>
            <a:pPr algn="l" indent="0" marL="0">
              <a:buNone/>
            </a:pPr>
            <a:r>
              <a:rPr lang="en-US" sz="1250" dirty="0">
                <a:solidFill>
                  <a:srgbClr val="1E6B52"/>
                </a:solidFill>
                <a:latin typeface="Calibri" pitchFamily="34" charset="0"/>
                <a:cs typeface="Amiri" pitchFamily="2" charset="-78"/>
              </a:rPr>
              <a:t>½ past → wa-n-niṣf</a:t>
            </a:r>
            <a:endParaRPr lang="en-US" sz="1250" dirty="0"/>
          </a:p>
          <a:p>
            <a:pPr algn="l" indent="0" marL="0">
              <a:buNone/>
            </a:pPr>
            <a:r>
              <a:rPr lang="en-US" sz="1250" dirty="0">
                <a:solidFill>
                  <a:srgbClr val="1E6B52"/>
                </a:solidFill>
                <a:latin typeface="Calibri" pitchFamily="34" charset="0"/>
                <a:cs typeface="Amiri" pitchFamily="2" charset="-78"/>
              </a:rPr>
              <a:t>¼ to → NEXT hour illā rubu‘an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“TIMETABLE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timetable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الجَدْوَلِ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Friday: Choose Friday.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الجُمُعَةُ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السَّبْتُ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الأَرْبِعَاءُ</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Quarter to: Choose 10:45.</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العَاشِرَةُ وَالرُّبُعُ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الحَادِيَةُ عَشْرَةَ وَالرُّبُعُ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الحَادِيَةُ عَشْرَةَ إِلَّا رُبُعًا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Choose “On which day?”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حِصَّةً؟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السَّاعَةُ؟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أَيِّ يَوْمٍ؟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Ends: Choose “the lesson ends”.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يَنْتَهِي الدَّرْسُ</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يَبْدَأُ الدَّرْسُ</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يَفْتَحُ الدَّرْسُ</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sentence: Choose the strongest timetable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الخَمِيسُ الفَنُّ.</a:t>
            </a:r>
            <a:endParaRPr lang="ar-SA"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فِي يَوْمِ الخَمِيسِ عِنْدِي الفَنُّ فِي السَّاعَةِ الحَادِيَةِ عَشْرَةَ.</a:t>
            </a:r>
            <a:endParaRPr lang="ar-SA"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السَّاعَةُ حِصَّةٌ.</a:t>
            </a:r>
            <a:endParaRPr lang="ar-SA"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day + subject + time</a:t>
            </a:r>
            <a:endParaRPr lang="en-US" sz="1250" dirty="0"/>
          </a:p>
          <a:p>
            <a:pPr algn="l" indent="0" marL="0">
              <a:buNone/>
            </a:pPr>
            <a:r>
              <a:rPr lang="en-US" sz="1250" dirty="0">
                <a:solidFill>
                  <a:srgbClr val="1E6B52"/>
                </a:solidFill>
                <a:latin typeface="Calibri" pitchFamily="34" charset="0"/>
                <a:cs typeface="Amiri" pitchFamily="2" charset="-78"/>
              </a:rPr>
              <a:t>fī yawmi … fī s-sā‘a …</a:t>
            </a:r>
            <a:endParaRPr lang="en-US" sz="1250" dirty="0"/>
          </a:p>
          <a:p>
            <a:pPr algn="l" indent="0" marL="0">
              <a:buNone/>
            </a:pPr>
            <a:r>
              <a:rPr lang="en-US" sz="1250" dirty="0">
                <a:solidFill>
                  <a:srgbClr val="1E6B52"/>
                </a:solidFill>
                <a:latin typeface="Calibri" pitchFamily="34" charset="0"/>
                <a:cs typeface="Amiri" pitchFamily="2" charset="-78"/>
              </a:rPr>
              <a:t>then = thumma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Friday: Choose Friday.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الجُمُعَةُ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السَّبْتُ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الأَرْبِعَاءُ</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الجُمُعَةُ</a:t>
            </a:r>
            <a:pPr algn="l" indent="0" marL="0">
              <a:buNone/>
            </a:pPr>
            <a:r>
              <a:rPr lang="en-US" sz="1050" i="1" dirty="0">
                <a:solidFill>
                  <a:srgbClr val="8A6D1E"/>
                </a:solidFill>
                <a:latin typeface="Calibri" pitchFamily="34" charset="0"/>
                <a:cs typeface="Amiri" pitchFamily="2" charset="-78"/>
              </a:rPr>
              <a:t> is Friday.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Quarter to: Choose 10:45.</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العَاشِرَةُ وَالرُّبُعُ</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الحَادِيَةُ عَشْرَةَ وَالرُّبُعُ</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الحَادِيَةُ عَشْرَةَ إِلَّا رُبُعًا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Quarter to eleven is 10:45.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Choose “On which day?”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حِصَّةً؟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السَّاعَةُ؟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أَيِّ يَوْمٍ؟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question asks for a day.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Ends: Choose “the lesson ends”.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يَنْتَهِي الدَّرْسُ</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يَبْدَأُ الدَّرْسُ</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يَفْتَحُ الدَّرْسُ</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يَنْتَهِي</a:t>
            </a:r>
            <a:pPr algn="l" indent="0" marL="0">
              <a:buNone/>
            </a:pPr>
            <a:r>
              <a:rPr lang="en-US" sz="1050" i="1" dirty="0">
                <a:solidFill>
                  <a:srgbClr val="8A6D1E"/>
                </a:solidFill>
                <a:latin typeface="Calibri" pitchFamily="34" charset="0"/>
                <a:cs typeface="Amiri" pitchFamily="2" charset="-78"/>
              </a:rPr>
              <a:t> means ends.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sentence: Choose the strongest timetable sentence.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الخَمِيسُ الفَنُّ.</a:t>
            </a:r>
            <a:endParaRPr lang="ar-SA"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فِي يَوْمِ الخَمِيسِ عِنْدِي الفَنُّ فِي السَّاعَةِ الحَادِيَةِ عَشْرَةَ.</a:t>
            </a:r>
            <a:endParaRPr lang="ar-SA"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السَّاعَةُ حِصَّةٌ.</a:t>
            </a:r>
            <a:endParaRPr lang="ar-SA"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sentence gives day, subject and time.</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day + subject + time</a:t>
            </a:r>
            <a:endParaRPr lang="en-US" sz="1250" dirty="0"/>
          </a:p>
          <a:p>
            <a:pPr algn="l" indent="0" marL="0">
              <a:buNone/>
            </a:pPr>
            <a:r>
              <a:rPr lang="en-US" sz="1250" dirty="0">
                <a:solidFill>
                  <a:srgbClr val="1E6B52"/>
                </a:solidFill>
                <a:latin typeface="Calibri" pitchFamily="34" charset="0"/>
                <a:cs typeface="Amiri" pitchFamily="2" charset="-78"/>
              </a:rPr>
              <a:t>fī yawmi … fī s-sā‘a …</a:t>
            </a:r>
            <a:endParaRPr lang="en-US" sz="1250" dirty="0"/>
          </a:p>
          <a:p>
            <a:pPr algn="l" indent="0" marL="0">
              <a:buNone/>
            </a:pPr>
            <a:r>
              <a:rPr lang="en-US" sz="1250" dirty="0">
                <a:solidFill>
                  <a:srgbClr val="1E6B52"/>
                </a:solidFill>
                <a:latin typeface="Calibri" pitchFamily="34" charset="0"/>
                <a:cs typeface="Amiri" pitchFamily="2" charset="-78"/>
              </a:rPr>
              <a:t>then = thumma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فِي يَوْمُ الخَمِيسُ عِنْدِي الفَنُّ.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fī yawmi: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السَّاعَةُ الثَّامِنُ.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Hour: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مَتَى يَوْمٍ عِنْدَكَ الكِيمِيَاءُ؟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day? — which question?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فِي يَوْمُ الخَمِيسُ عِنْدِي الفَنُّ.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يَوْمِ الخَمِيسِ عِنْدِي الفَنُّ.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fī yawmi, copy the modelled -i endings.</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السَّاعَةُ الثَّامِنُ.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السَّاعَةُ الثَّامِنَةُ.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Sā‘a is feminine: every hour ends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مَتَى يَوْمٍ عِنْدَكَ الكِيمِيَاءُ؟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أَيِّ يَوْمٍ عِنْدَكَ الكِيمِيَاءُ؟</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 which day? = fī ayyi yawmin.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Amal’s timetable update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begins at 8:00 on Sunday?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Monday Period 2?</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mathematics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chemistry begin?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9:30</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10:15</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9:15</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the Wednesday Arabic lesson?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10:30</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10:15</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11:30</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on Thursday?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 begins at 12:00.</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 ends at 12:00.</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 ends at 12:00.</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Five headings: day · subject · time · period · change.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مَرْحَبًا. هَذَا تَغْيِيرٌ فِي الجَدْوَلِ المَدْرَسِيِّ.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This is a change to the school timetable.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يَوْمِ الأَحَدِ يَبْدَأُ دَرْسُ اللُّغَةِ العَرَبِيَّةِ فِي السَّاعَةِ الثَّامِنَةِ صَبَاحًا.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Sunday the Arabic lesson begins at eight in the morning.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فِي يَوْمِ الاِثْنَيْنِ عِنْدَنَا التَّارِيخُ فِي الحِصَّةِ الثَّانِيَةِ، ثُمَّ الاِسْتِرَاحَةُ فِي السَّاعَةِ العَاشِرَةِ.</a:t>
            </a:r>
            <a:endParaRPr lang="ar-SA" sz="16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Monday we have history in second period, then break at ten.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أَمَّا يَوْمَ الثُّلَاثَاءِ فَدَرْسُ الكِيمِيَاءِ يَبْدَأُ فِي السَّاعَةِ التَّاسِعَةِ وَالرُّبُعِ. يَوْمَ الأَرْبِعَاءِ عِنْدَنَا اللُّغَةُ العَرَبِيَّةُ مَرَّةً أُخْرَى فِي السَّاعَةِ العَاشِرَةِ وَالنِّصْفِ.</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Tuesday, chemistry begins at 9:15. On Wednesday we have Arabic again at 10:30.</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يَوْمِ الخَمِيسِ يَنْتَهِي دَرْسُ الفَنِّ فِي السَّاعَةِ الثَّانِيَةِ عَشْرَةَ.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on Thursday the art lesson ends at twelve.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begins at 8:00 on Sunday?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science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announcement says Arabic begins at eight on Sunday.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Monday Period 2?</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mathematics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history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History is in the second period.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chemistry begin?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9:30</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10:15</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9:15</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begins at quarter past 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the Wednesday Arabic lesson?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10:30</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10:15</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11:30</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begins at half past ten.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on Thursday?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 begins at 12:00.</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Art ends at 12:00.</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Science ends at 12:00.</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art lesson ends at twelve.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Five headings: day · subject · time · period · change.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TWO TIMETABLE DESCRIPTIONS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 and Layla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وَصْفَانِ لِجَدْوَلَيْنِ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سَامِرٌ: فِي يَوْمِ الأَحَدِ عِنْدِي العُلُومُ فِي السَّاعَةِ الثَّامِنَةِ.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Samir · Sunday: science at 8:00</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يَوْمِ الاِثْنَيْنِ عِنْدِي الرِّيَاضِيَّاتُ فِي الحِصَّةِ الثَّانِيَةِ.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 maths, 2nd period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أُفَضِّلُ يَوْمَ الأَرْبِعَاءِ لِأَنَّ دَرْسَ الفَنِّ يَبْدَأُ فِي السَّاعَةِ العَاشِرَةِ وَالنِّصْفِ.</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Prefers Wednesday: art begins at 10:30</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لَيْلَى: عِنْدِي اللُّغَةُ العَرَبِيَّةُ مَرَّتَيْنِ فِي الأُسْبُوعِ: يَوْمَ الثُّلَاثَاءِ وَيَوْمَ الخَمِيسِ.</a:t>
            </a:r>
            <a:endParaRPr lang="ar-SA" sz="19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Arabic twice a week · Tue + Thu</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تَبْدَأُ حِصَّةُ الثُّلَاثَاءِ فِي السَّاعَةِ التَّاسِعَةِ، وَتَبْدَأُ حِصَّةُ الخَمِيسِ فِي السَّاعَةِ الحَادِيَةِ عَشْرَةَ. الاِسْتِرَاحَةُ فِي السَّاعَةِ العَاشِرَةِ وَالرُّبُعِ.</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 9:00 · Thu 11:00 · break 10:15</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 or Layla?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Samir have on Sunday at 8:00?</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does Samir prefer?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Sunday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Wednesday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Layla have Arabic?</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week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Tuesday Arabic?</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11:00</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10:15</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9:00</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Layla’s break?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10:15</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10:00</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9:15</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Underline the day,</a:t>
            </a:r>
            <a:endParaRPr lang="en-US" sz="1250" dirty="0"/>
          </a:p>
          <a:p>
            <a:pPr algn="l" indent="0" marL="0">
              <a:buNone/>
            </a:pPr>
            <a:r>
              <a:rPr lang="en-US" sz="1250" dirty="0">
                <a:solidFill>
                  <a:srgbClr val="1F2A37"/>
                </a:solidFill>
                <a:latin typeface="Calibri" pitchFamily="34" charset="0"/>
                <a:cs typeface="Amiri" pitchFamily="2" charset="-78"/>
              </a:rPr>
              <a:t>circle the time,</a:t>
            </a:r>
            <a:endParaRPr lang="en-US" sz="1250" dirty="0"/>
          </a:p>
          <a:p>
            <a:pPr algn="l" indent="0" marL="0">
              <a:buNone/>
            </a:pPr>
            <a:r>
              <a:rPr lang="en-US" sz="1250" dirty="0">
                <a:solidFill>
                  <a:srgbClr val="1F2A37"/>
                </a:solidFill>
                <a:latin typeface="Calibri" pitchFamily="34" charset="0"/>
                <a:cs typeface="Amiri" pitchFamily="2" charset="-78"/>
              </a:rPr>
              <a:t>box the subject.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Samir have on Sunday at 8:00?</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عِنْدِي العُلُومُ فِي السَّاعَةِ الثَّامِنَةِ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does Samir prefer?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Sunday</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Wednesday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Monday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أُفَضِّلُ يَوْمَ الأَرْبِعَاءِ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Layla have Arabic?</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week</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times a week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مَرَّتَيْنِ فِي الأُسْبُوعِ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Tuesday Arabic?</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11:00</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10:15</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9:00</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Tuesday Arabic begins at nine.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Layla’s break?</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10:15</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10:00</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9:15</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gives quarter past ten.</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Underline the day,</a:t>
            </a:r>
            <a:endParaRPr lang="en-US" sz="1250" dirty="0"/>
          </a:p>
          <a:p>
            <a:pPr algn="l" indent="0" marL="0">
              <a:buNone/>
            </a:pPr>
            <a:r>
              <a:rPr lang="en-US" sz="1250" dirty="0">
                <a:solidFill>
                  <a:srgbClr val="1F2A37"/>
                </a:solidFill>
                <a:latin typeface="Calibri" pitchFamily="34" charset="0"/>
                <a:cs typeface="Amiri" pitchFamily="2" charset="-78"/>
              </a:rPr>
              <a:t>circle the time,</a:t>
            </a:r>
            <a:endParaRPr lang="en-US" sz="1250" dirty="0"/>
          </a:p>
          <a:p>
            <a:pPr algn="l" indent="0" marL="0">
              <a:buNone/>
            </a:pPr>
            <a:r>
              <a:rPr lang="en-US" sz="1250" dirty="0">
                <a:solidFill>
                  <a:srgbClr val="1F2A37"/>
                </a:solidFill>
                <a:latin typeface="Calibri" pitchFamily="34" charset="0"/>
                <a:cs typeface="Amiri" pitchFamily="2" charset="-78"/>
              </a:rPr>
              <a:t>box the subject.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 about a school timetable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عِنْدَكَ يَوْمَ الأَحَدِ؟</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عِنْدَكَ العَرَبِيَّةُ؟ / مَتَى عِنْدَكِ العَرَبِيَّةُ؟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يَبْدَأُ الدَّرْسُ؟ وَمَتَى يَنْتَهِي؟</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يَوْمٍ تُفَضِّلُ؟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D5FBF"/>
                </a:solidFill>
                <a:latin typeface="Amiri" pitchFamily="2" charset="-78"/>
                <a:cs typeface="Amiri" pitchFamily="2" charset="-78"/>
              </a:rPr>
              <a:t>فِي يَوْمِ ___ عِنْدِي ___ فِي السَّاعَةِ ___ .</a:t>
            </a:r>
            <a:endParaRPr lang="ar-SA" sz="15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F2A37"/>
                </a:solidFill>
                <a:latin typeface="Amiri" pitchFamily="2" charset="-78"/>
                <a:cs typeface="Amiri" pitchFamily="2" charset="-78"/>
              </a:rPr>
              <a:t>عِنْدِي العَرَبِيَّةُ يَوْمَ ___ فِي السَّاعَةِ ___ ، ثُمَّ ___ .</a:t>
            </a:r>
            <a:endParaRPr lang="ar-SA" sz="115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يَبْدَأُ دَرْسُ ___ فِي ___ ، وَيَنْتَهِي فِي ___ .</a:t>
            </a:r>
            <a:endParaRPr lang="ar-SA" sz="14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أُفَضِّلُ يَوْمَ ___ لِأَنَّ عِنْدِي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مَتَى عِنْدَكَ العَرَبِيَّةُ؟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do you have Arabic?</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عِنْدِي العَرَبِيَّةُ يَوْمَ الأَحَدِ فِي السَّاعَةِ الثَّامِنَةِ، ثُمَّ الرِّيَاضِيَّاتُ.</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have Arabic on Sunday at eight, then maths.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accurate modelled sentences: day + subject + time.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Day + subject + time, using the model sentences.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yabda’u, yantahī, thumma and a question.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yabda’u, yantahī, thumma and one question.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days and explain which day you prefer.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days and say which day you prefer and why.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يَبْدَأُ الدَّرْسُ فِي السَّاعَةِ التَّاسِعَةِ وَالرُّبُعِ.</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lesson begins at 9:15.</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يَنْتَهِي الدَّرْسُ فِي السَّاعَةِ العَاشِرَةِ وَالنِّصْفِ.</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lesson ends at 10:30.</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العَرَبِيَّةُ مَرَّتَيْنِ فِي الأُسْبُوعِ.</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Arabic twice a week.</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أَيِّ يَوْمٍ عِنْدَكَ الكِيمِيَاءُ؟</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which day do you have chemistry?</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يَوْمَ الخَمِيسِ لِأَنَّ عِنْدِي الفَنَّ.</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Thursday because I have art.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يَوْمِ الأَحَدِ عِنْدِي العُلُومُ.</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Sunday I have science.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فِي السَّاعَةِ الثَّامِنَةِ.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at eight o’clock.</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الحِصَّةُ الأُولَى اللُّغَةُ العَرَبِيَّةُ.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first period is Arabic.</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الاِسْتِرَاحَةُ فِي السَّاعَةِ العَاشِرَةِ.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Break is at ten.</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عِنْدَكَ الرِّيَاضِيَّاتُ؟</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do you have maths?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الأَحَدُ  ·  الاِثْنَيْنُ  ·  الثُّلَاثَاءُ  ·  الأَرْبِعَاءُ  ·  الخَمِيسُ  ·  فِي يَوْمِ  ·  فِي السَّاعَةِ  ·  حِصَّةٌ  ·  يَبْدَأُ  ·  يَنْتَهِي  ·  ثُمَّ  ·  مَتَى؟</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يَوْمِ الأَحَدِ عِنْدِي العُلُومُ فِي السَّاعَةِ الثَّامِنَةِ، ثُمَّ الرِّيَاضِيَّاتُ. وَفِي يَوْمِ الاِثْنَيْنِ عِنْدِي التَّارِيخُ فِي الحِصَّةِ الثَّانِيَةِ. الاِسْتِرَاحَةُ فِي السَّاعَةِ العَاشِرَةِ. يَبْدَأُ دَرْسُ الكِيمِيَاءِ يَوْمَ الثُّلَاثَاءِ فِي السَّاعَةِ التَّاسِعَةِ وَالرُّبُعِ. أُفَضِّلُ يَوْمَ الخَمِيسِ لِأَنَّ عِنْدِي الفَنَّ.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 Sunday I have science at eight o’clock, then maths. On Monday I have history in the second period. Break is at ten. The chemistry lesson begins on Tuesday at 9:15. I prefer Thursday because I have art.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days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times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begins / then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preference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four days with fī yawmi.</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hour is feminine: al-thāmina, al-‘āshira …</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quarter past / half past / quarter to.</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yabda’u / yantahī, thumma and a question.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two days and gave a preference.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Wednesday.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الأَرْبِعَاءُ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الثُّلَاثَاءُ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الخَمِيسُ</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10:30.</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العَاشِرَةُ وَالرُّبُعُ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العَاشِرَةُ وَالنِّصْفُ</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الحَادِيَةُ عَشْرَةَ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contains a day, subject and time?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cs typeface="Amiri" pitchFamily="2" charset="-78"/>
              </a:rPr>
              <a:t>فِي يَوْمِ الاِثْنَيْنِ عِنْدِي العُلُومُ فِي السَّاعَةِ التَّاسِعَةِ.</a:t>
            </a:r>
            <a:endParaRPr lang="ar-SA" sz="13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cs typeface="Amiri" pitchFamily="2" charset="-78"/>
              </a:rPr>
              <a:t>أُحِبُّ العُلُومَ.</a:t>
            </a:r>
            <a:endParaRPr lang="ar-SA" sz="13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cs typeface="Amiri" pitchFamily="2" charset="-78"/>
              </a:rPr>
              <a:t>السَّاعَةُ التَّاسِعَةُ.</a:t>
            </a:r>
            <a:endParaRPr lang="ar-SA" sz="13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Wednesday.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الأَرْبِعَاءُ</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الثُّلَاثَاءُ</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الخَمِيسُ</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الأَرْبِعَاءُ</a:t>
            </a:r>
            <a:pPr algn="l" indent="0" marL="0">
              <a:buNone/>
            </a:pPr>
            <a:r>
              <a:rPr lang="en-US" sz="1050" i="1" dirty="0">
                <a:solidFill>
                  <a:srgbClr val="8A6D1E"/>
                </a:solidFill>
                <a:latin typeface="Calibri" pitchFamily="34" charset="0"/>
                <a:cs typeface="Amiri" pitchFamily="2" charset="-78"/>
              </a:rPr>
              <a:t> is Wednesday.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10:30.</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السَّاعَةُ العَاشِرَةُ وَالرُّبُعُ</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السَّاعَةُ العَاشِرَةُ وَالنِّصْفُ</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السَّاعَةُ الحَادِيَةُ عَشْرَةَ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Half past ten is 10:30.</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contains a day, subject and time?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فِي يَوْمِ الاِثْنَيْنِ عِنْدِي العُلُومُ فِي السَّاعَةِ التَّاسِعَةِ.</a:t>
            </a:r>
            <a:endParaRPr lang="ar-SA" sz="13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cs typeface="Amiri" pitchFamily="2" charset="-78"/>
              </a:rPr>
              <a:t>أُحِبُّ العُلُومَ.</a:t>
            </a:r>
            <a:endParaRPr lang="ar-SA" sz="13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cs typeface="Amiri" pitchFamily="2" charset="-78"/>
              </a:rPr>
              <a:t>السَّاعَةُ التَّاسِعَةُ.</a:t>
            </a:r>
            <a:endParaRPr lang="ar-SA" sz="13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sentence contains all three schedule details.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School Timetable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F4-L03 · Classroom Objects — What Is in Your Bag?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book</a:t>
            </a:r>
            <a:pPr indent="0" marL="0">
              <a:buNone/>
            </a:pPr>
            <a:r>
              <a:rPr lang="en-US" sz="1000" i="1" dirty="0">
                <a:solidFill>
                  <a:srgbClr val="5A6472"/>
                </a:solidFill>
                <a:latin typeface="Calibri" pitchFamily="34" charset="0"/>
                <a:cs typeface="Amiri" pitchFamily="2" charset="-78"/>
              </a:rPr>
              <a:t>  pl. كُتُبٌ</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دَفْتَرٌ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exercise book</a:t>
            </a:r>
            <a:pPr indent="0" marL="0">
              <a:buNone/>
            </a:pPr>
            <a:r>
              <a:rPr lang="en-US" sz="1000" i="1" dirty="0">
                <a:solidFill>
                  <a:srgbClr val="5A6472"/>
                </a:solidFill>
                <a:latin typeface="Calibri" pitchFamily="34" charset="0"/>
                <a:cs typeface="Amiri" pitchFamily="2" charset="-78"/>
              </a:rPr>
              <a:t>  pl. دَفَاتِرُ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قَلَمٌ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pen</a:t>
            </a:r>
            <a:pPr indent="0" marL="0">
              <a:buNone/>
            </a:pPr>
            <a:r>
              <a:rPr lang="en-US" sz="1000" i="1" dirty="0">
                <a:solidFill>
                  <a:srgbClr val="5A6472"/>
                </a:solidFill>
                <a:latin typeface="Calibri" pitchFamily="34" charset="0"/>
                <a:cs typeface="Amiri" pitchFamily="2" charset="-78"/>
              </a:rPr>
              <a:t>  pl. أَقْلَامٌ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حَقِيبَةٌ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bag</a:t>
            </a:r>
            <a:pPr indent="0" marL="0">
              <a:buNone/>
            </a:pPr>
            <a:r>
              <a:rPr lang="en-US" sz="1000" i="1" dirty="0">
                <a:solidFill>
                  <a:srgbClr val="5A6472"/>
                </a:solidFill>
                <a:latin typeface="Calibri" pitchFamily="34" charset="0"/>
                <a:cs typeface="Amiri" pitchFamily="2" charset="-78"/>
              </a:rPr>
              <a:t>  pl. حَقَائِبُ</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مِسْطَرَةٌ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ruler</a:t>
            </a:r>
            <a:pPr indent="0" marL="0">
              <a:buNone/>
            </a:pPr>
            <a:r>
              <a:rPr lang="en-US" sz="1000" i="1" dirty="0">
                <a:solidFill>
                  <a:srgbClr val="5A6472"/>
                </a:solidFill>
                <a:latin typeface="Calibri" pitchFamily="34" charset="0"/>
                <a:cs typeface="Amiri" pitchFamily="2" charset="-78"/>
              </a:rPr>
              <a:t>  pl. مَسَاطِرُ</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is in your school bag today?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مَاذَا فِي حَقِيبَتِكَ؟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F4-L02: the Timetable Mission (14) and “Beat the School Clock”.</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timetable builder: five timetable lines, then copy them into your book.</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6–8 sentences describing your school week and your favourite day.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F4-L03 · Classroom Objects — What Is in Your Bag?</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أَدَوَاتُ الفَصْلِ — مَاذَا فِي حَقِيبَتِكَ؟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day + subject + time · fī yawmi … · the hour is feminine.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F4-L02 · The School Timetable — Days and Times</dc:title>
  <dc:subject>PptxGenJS Presentation</dc:subject>
  <dc:creator>Al Madina Online School · Arabic Department</dc:creator>
  <cp:lastModifiedBy>Al Madina Online School · Arabic Department</cp:lastModifiedBy>
  <cp:revision>1</cp:revision>
  <dcterms:created xsi:type="dcterms:W3CDTF">2026-10-11T06:41:36Z</dcterms:created>
  <dcterms:modified xsi:type="dcterms:W3CDTF">2026-10-11T06:41:36Z</dcterms:modified>
</cp:coreProperties>
</file>