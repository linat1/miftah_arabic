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F4-L01 · Learn F4-L02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F4-L01 (School Subjects — What Do You Study?) and F4-L02 (The School Timetable — Days and Times).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F4-L01 and F4-L02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F4-L01? After F4-L02?” Take two answers in the chat for each lesson (one word or one sentence is enough). Then read objective 3 — today’s new situation that needs BOTH lessons. Students tick their route goals at the end of the lesson.
F4-L01 language: adrusu / yadrusu / tadrusu + subject; uḥibbu …; li-annahu (m. subject) / li-annahā (f. subject) + adjective that agrees
F4-L02 language: days (yawma al-aḥadi …); times fī al-sāʿati + feminine ordinal (al-thāniya · al-thālitha …) + wa-l-rubʿ / wa-l-niṣf / illā rubʿan; yabdaʾu / yantahī; kam ḥiṣṣatan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F4-L01 and F4-L02. Teacher reads it once with a confident student; then pairs. Ask: “Which lines are from F4-L01? Which from F4-L02?” Times and days (فِي السَّاعَةِ الثَّامِنَةِ وَالنِّصْفِ · يَوْمَ الاِثْنَيْنِ) come from F4-L02; subjects and opinions with لِأَنَّهُ / لِأَنَّهَا from F4-L01. Point out: العُلُومُ / الرِّيَاضِيَّاتُ are plural things → لِأَنَّهَا … مُمْتِعَةٌ (feminine singular).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days, times and periods (F4-L02) with subjects, favourites and reasons that agree (F4-L01). SUPPORTED: the plan column gives the first words, not the full answer. To a girl Partner A says: مَا مَادَّتُكِ المُفَضَّلَةُ؟ · هَلْ تُحِبِّينَ …؟.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F4-L01 and F4-L02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F4-L01 and F4-L02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(43 words). CHECK YOURSELF (2 min). Find each bullet point in the model, and one phrase from F4-L01 and one from F4-L02.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F4  ·  F4-L01 + F4-L02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F4-W01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Helping a New Student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نُسَاعِدُ طَالِبًا جَدِيدًا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subjects, opinions and the timetable: they help a new student understand the week — which subjects on which day, at what time, and what they think of them — then give a short talk and write a timetable guide for the new student.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F4-L01 + F4-L02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F4 › F4-L02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F4-L01 and F4-L02.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F4-L01 + F4-L02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F4-L01: School Subjects — What Do You Study?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F4-L02: The School Timetable — Days and Times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new student’s first morning · A timetable guide for the new student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F4-L01 and F4-L02.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F4-L01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F4-L01 · School Subjects — What Do You Study?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العَرَبِيَّةُ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Arabic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al-lugha al-‘arabiyya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العُلُومُ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al-‘u-lūm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al-fann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…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عِلْمُ الحَاسُوبِ</a:t>
            </a:r>
            <a:endParaRPr lang="ar-SA" sz="3000" dirty="0"/>
          </a:p>
        </p:txBody>
      </p:sp>
      <p:sp>
        <p:nvSpPr>
          <p:cNvPr id="57" name="Text 5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computer science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‘ilm al-ḥā-sūb</a:t>
            </a:r>
            <a:endParaRPr lang="en-US" sz="1350" dirty="0"/>
          </a:p>
        </p:txBody>
      </p:sp>
      <p:sp>
        <p:nvSpPr>
          <p:cNvPr id="58" name="Shape 55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60" name="Text 57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…</a:t>
            </a:r>
            <a:endParaRPr lang="ar-SA" sz="1350" dirty="0"/>
          </a:p>
        </p:txBody>
      </p:sp>
      <p:sp>
        <p:nvSpPr>
          <p:cNvPr id="61" name="Shape 5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سَهْلٌ</a:t>
            </a:r>
            <a:endParaRPr lang="ar-SA" sz="3000" dirty="0"/>
          </a:p>
        </p:txBody>
      </p:sp>
      <p:sp>
        <p:nvSpPr>
          <p:cNvPr id="69" name="Text 6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easy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sahl</a:t>
            </a:r>
            <a:endParaRPr lang="en-US" sz="1350" dirty="0"/>
          </a:p>
        </p:txBody>
      </p:sp>
      <p:sp>
        <p:nvSpPr>
          <p:cNvPr id="70" name="Shape 6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سَهْلَةٌ</a:t>
            </a:r>
            <a:endParaRPr lang="ar-SA" sz="1500" dirty="0"/>
          </a:p>
        </p:txBody>
      </p:sp>
      <p:sp>
        <p:nvSpPr>
          <p:cNvPr id="73" name="Shape 7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سَهْلٌ</a:t>
            </a:r>
            <a:endParaRPr lang="ar-SA" sz="1500" dirty="0"/>
          </a:p>
        </p:txBody>
      </p:sp>
      <p:sp>
        <p:nvSpPr>
          <p:cNvPr id="76" name="Shape 7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7" name="Shape 7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</a:t>
            </a:r>
            <a:endParaRPr lang="en-US" sz="800" dirty="0"/>
          </a:p>
        </p:txBody>
      </p:sp>
      <p:sp>
        <p:nvSpPr>
          <p:cNvPr id="81" name="Shape 7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3" name="Text 8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3000" dirty="0"/>
          </a:p>
        </p:txBody>
      </p:sp>
      <p:sp>
        <p:nvSpPr>
          <p:cNvPr id="84" name="Text 8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enjoyable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mum-ti‘</a:t>
            </a:r>
            <a:endParaRPr lang="en-US" sz="1350" dirty="0"/>
          </a:p>
        </p:txBody>
      </p:sp>
      <p:sp>
        <p:nvSpPr>
          <p:cNvPr id="85" name="Shape 8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مُمْتِعَةٌ</a:t>
            </a:r>
            <a:endParaRPr lang="ar-SA" sz="1500" dirty="0"/>
          </a:p>
        </p:txBody>
      </p:sp>
      <p:sp>
        <p:nvSpPr>
          <p:cNvPr id="88" name="Shape 8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1500" dirty="0"/>
          </a:p>
        </p:txBody>
      </p:sp>
      <p:sp>
        <p:nvSpPr>
          <p:cNvPr id="91" name="Text 8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F4-L02 · The School Timetable — Days and Times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الأَحَدُ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Sunday · day 1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al-a-ḥad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 الأَحَدِ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الثُّلَاثَاءُ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Tuesday · day 3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ath-thu-lā-thā’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 الثُّلَاثَاءِ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الخَمِيسُ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Thursday · day 5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al-kha-mīs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 الخَمِيسِ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حِصَّةٌ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lesson / period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ḥiṣ-ṣa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حِصَصٌ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1st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الاِسْتِرَاحَةُ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al-is-ti-rā-ḥa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questions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مَتَى؟ · فِي أَيِّ يَوْمٍ؟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when? · on which day?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ma-tā · fī ay-yi yaw-min</a:t>
            </a:r>
            <a:endParaRPr lang="en-US" sz="135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وَ… وَ…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…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لِأَنَّهُ / لِأَنَّهَا …</a:t>
            </a:r>
            <a:endParaRPr lang="ar-SA" sz="165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لِأَنَّهُ / لِأَنَّهَا …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… ، ثُمَّ 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هٰذَا اليَوْمَ لِأَنَّ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يُحِبُّ … · صَدِيقَتِي تُحِبُّ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F4-L01 · School Subjects — What Do You Study?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F4-L02 · The School Timetable — Days and Times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F4-L01 · School Subjects — What Do You Study?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وَ… وَ…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لِأَنَّهُ / لِأَنَّهَا …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لِأَنَّهُ / لِأَنَّهَا …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يُحِبُّ … · صَدِيقَتِي تُحِبُّ …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F4-L02 · The School Timetable — Days and Times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… ، ثُمَّ 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هٰذَا اليَوْمَ لِأَنَّ …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 new student asks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يَسْأَلُ الطَّالِبُ الجَدِيدُ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school start?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half past eight.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الثَّامِنَةِ وَالنِّصْفِ.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we study on Monday?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نَدْرُسُ يَوْمَ الاِثْنَيْنِ؟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is maths, then science, then art.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الرِّيَاضِيَّاتُ، ثُمَّ العُلُومُ، ثُمَّ الفَنُّ.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science?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العُلُومَ؟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 because it is enjoyable, but maths is a little difficult.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لِأَنَّهَا مُمْتِعَةٌ، لٰكِنَّ الرِّيَاضِيَّاتِ صَعْبَةٌ قَلِيلًا.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وَأَيْضًا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وَ… وَ…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study at school?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تَدْرُسُ فِي المَدْرَسَةِ؟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وَتَنْتَهِي فِي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school start?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/ لِأَنَّهَا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وَوَقْتُ الغَدَاءِ فِي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الاسْتِرَاحَةُ فِي السَّاعَةِ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break?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الاسْتِرَاحَةُ؟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لِأَنَّهَا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… / لَا،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maths?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الرِّيَاضِيَّاتِ؟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وَالحِصَّةُ الأُولَى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الثُّلَاثَاءِ أَدْرُسُ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study on Tuesday?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تَدْرُسُ يَوْمَ الثُّلَاثَاءِ؟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F4-L01, even numbers from F4-L02.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the new student’s first morning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الصَّبَاحُ الأَوَّلُ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تَبْدَأُ فِي … وَتَنْتَهِي فِي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start and finish time.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 وَمَتَى تَنْتَهِي؟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عِنْدَنَا … حِصَصٍ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number of lessons.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عِنْدَنَا فِي اليَوْمِ؟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أَوَّلًا … ثُمَّ … ثُمَّ …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subjects in order.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نَدْرُسُ يَوْمَ الثُّلَاثَاءِ؟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مَادَّتِي المُفَضَّلَةُ … لِأَنَّهُ / لِأَنَّهَا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favourite subject and a reason that agrees.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 لِمَاذَا؟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الاِسْتِرَاحَةُ فِي السَّاعَةِ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break time.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الاِسْتِرَاحَةُ؟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guide · Partner A = the new student.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best day at school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أَفْضَلُ يَوْمٍ فِي مَدْرَسَتِي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about your favourite school day: which day, when school starts, the lessons in order, one subject you love and one you don’t, with reasons.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 · أَدْرُسُ … وَ…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one time and the order: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Give two reasons that agree (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/ لِأَنَّهَا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a “but” (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day is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لِأَنَّهُ / لِأَنَّهَا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… because it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… ثُمَّ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… then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science because it is useful.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العُلُومَ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العُلُومُ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مُفِيدَةٌ.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مُفِيدٌ.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starts at quarter past eight.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المَدْرَسَةُ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الثَّامِنَةِ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ثَمَانِيَةٍ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وَالرُّبْعِ.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إِلَّا رُبْعًا.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Art is enjoyable and creative.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الفَنَّ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مُمْتِعَةٌ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وَإِبْدَاعِيٌّ.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وَإِبْدَاعِيَّةٌ.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science because it is useful.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العُلُومُ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(plural, non-human)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مُفِيدَةٌ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العُلُومَ لِأَنَّهَا مُفِيدَةٌ.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starts at quarter past eight.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times use the feminine ordinal; quarter past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وَالرُّبْعِ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الثَّامِنَةِ وَالرُّبْعِ.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Art is enjoyable and creative.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masculine → masculine adjectives.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 مُمْتِعٌ وَإِبْدَاعِيٌّ.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الرِّيَاضِيَّاتِ لِأَنَّهُ سَهْلٌ.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الرِّيَاضِيَّاتُ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non-human plural.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تَبْدَأُ فِي السَّاعَةِ ثَمَانِيَةٌ.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Times use a different number form.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المُفَضَّلُ الجُغْرَافِيَا.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مَادَّةٌ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feminine.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الرِّيَاضِيَّاتِ لِأَنَّهُ سَهْلٌ.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الرِّيَاضِيَّاتِ لِأَنَّهَا سَهْلَةٌ.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Non-human plural → feminine singular: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سَهْلَةٌ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تَبْدَأُ فِي السَّاعَةِ ثَمَانِيَةٌ.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تَبْدَأُ فِي السَّاعَةِ الثَّامِنَةِ.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Clock time = feminine ordinal: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الثَّامِنَةِ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المُفَضَّلُ الجُغْرَافِيَا.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الجُغْرَافِيَا.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المُفَضَّلَةُ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agrees with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مَادَّةٌ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______ لِأَنَّهُ / لِأَنَّهَا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… because it is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وَتَنْتَهِي فِي السَّاعَةِ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it finishes at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فِي مَدْرَسَتِنَا!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 to our school!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الاِسْتِرَاحَةُ فِي السَّاعَةِ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Break is at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day is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______ ، ثُمَّ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is …, then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______ لِأَنَّهُ / لِأَنَّهَا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… because it is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الرِّيَاضِيَّاتُ · العُلُومُ  ·  الفَنُّ · الجُغْرَافِيَا  ·  يَوْمَ الاِثْنَيْنِ  ·  فِي السَّاعَةِ الثَّامِنَةِ  ·  وَالنِّصْفِ · وَالرُّبْعِ  ·  حِصَّةٌ · حِصَصٌ  ·  مُمْتِعٌ · مُفِيدٌ · سَهْلٌ  ·  لِأَنَّهُ · لِأَنَّهَا</a:t>
            </a:r>
            <a:endParaRPr lang="ar-SA" sz="155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45–65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timetable guide for the new student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دَلِيلُ الجَدْوَلِ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short guide (about 45–65 words) for a new student. Include: • when school starts and finishes • break or lunchtime • your favourite day and its lessons, in order • your favourite subject and why • one subject you don’t like and why • a friendly closing.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F4-L01 AND F4-L02.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… وَتَنْتَهِي فِي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… and finishes at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… الحِصَّةُ الأُولَى … ، ثُمَّ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… the first lesson is …, then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لِأَنَّهُ / لِأَنَّهَا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… because it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لِأَنَّهُ / لِأَنَّهَا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… because it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subjects and give one opinion each?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day and put the lessons in order?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الثَّامِنَةِ، وَتَنْتَهِي فِي السَّاعَةِ الثَّالِثَةِ.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eight o’clock and finishes at three o’clock.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 وَمَتَى تَنْتَهِي؟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خَمْسُ حِصَصٍ فِي اليَوْمِ.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have five lessons a 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عِنْدَنَا فِي اليَوْمِ؟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العَرَبِيَّةُ، ثُمَّ الجُغْرَافِيَا، ثُمَّ التَّرْبِيَةُ البَدَنِيَّةُ.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Arabic, then geography, then PE.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نَدْرُسُ يَوْمَ الثُّلَاثَاءِ؟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الفَنُّ لِأَنَّهُ مُمْتِعٌ وَسَهْلٌ.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art because it is enjoyable and easy.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 لِمَاذَا؟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الاِسْتِرَاحَةُ فِي السَّاعَةِ العَاشِرَةِ وَالرُّبْعِ.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Break is at a quarter past ten.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الاِسْتِرَاحَةُ؟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فِي مَدْرَسَتِنَا! تَبْدَأُ المَدْرَسَةُ فِي السَّاعَةِ الثَّامِنَةِ وَالنِّصْفِ، وَتَنْتَهِي فِي السَّاعَةِ الثَّالِثَةِ. الاِسْتِرَاحَةُ فِي السَّاعَةِ العَاشِرَةِ وَالرُّبْعِ. يَوْمِي المُفَضَّلُ يَوْمُ الخَمِيسِ: الحِصَّةُ الأُولَى العَرَبِيَّةُ، ثُمَّ العُلُومُ، ثُمَّ الفَنُّ. أُحِبُّ الفَنَّ لِأَنَّهُ مُمْتِعٌ وَإِبْدَاعِيٌّ. لَا أُحِبُّ الجُغْرَافِيَا كَثِيرًا لِأَنَّهَا صَعْبَةٌ، لٰكِنَّهَا مُفِيدَةٌ.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“Welcome to our school! School starts at half past eight and finishes at three o’clock. Break is at a quarter past ten. My favourite day is Thursday: the first lesson is Arabic, then science, then art. I like art because it is enjoyable and creative. I don’t like geography much because it is difficult, but it is useful.”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الثَّامِنَةِ وَالنِّصْفِ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الخَمِيسِ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مُمْتِعٌ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لٰكِنَّهَا مُفِيدَةٌ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F4-L01 and F4-L02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F4-W01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F4-L03 · Classroom Objects — What Is in Your Bag?</a:t>
            </a:r>
            <a:endParaRPr lang="en-US" sz="1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الفَصْلِ — مَاذَا فِي حَقِيبَتِكَ؟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F4-W01 · Apply Workshop — Helping a New Student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2026-10-26T15:03:56Z</dcterms:created>
  <dcterms:modified xsi:type="dcterms:W3CDTF">2026-10-26T15:03:56Z</dcterms:modified>
</cp:coreProperties>
</file>