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F4-L07 · Learn F4-L08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F4-L07 (A Typical School Day — Narrating a Sequence) and F4-L08 (Reading School Texts and Timetables).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F4-L07 and F4-L08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F4-L07? After F4-L08?” Take two answers in the chat for each lesson (one word or one sentence is enough). Then read objective 3 — today’s new situation that needs BOTH lessons. Students tick their route goals at the end of the lesson.
F4-L07 language: “I” verbs (asta- · a- · u-); exact and approximate times (fī al-sāʿati … · ḥawālay …); connectors awwalan · thumma · baʿda dhālika · ʿindamā · fī al-nihāya
F4-L08 language: question words as clues (matā → a time · ayna → a place · kam → a number · man → a person); scanning day → time → subject; notice language (yurjā · ʿalā jamīʿi al-ṭullābi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F4-L07 and F4-L08. Teacher reads it once with a confident student; then pairs. Ask: “Which lines are from F4-L07? Which from F4-L08?” Reading the notice for clues (مَتَى → time · كَمْ → number · عَلَى جَمِيعِ الطُّلَّابِ أَنْ …) comes from F4-L08; the day in sequence with “I” verbs and times from F4-L07.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facts scanned from the notice (F4-L08) with the sequence of the trip day, times and connectors (F4-L07). SUPPORTED: the plan column gives the first words, not the full answer. To a girl Partner A says: مَتَى تَسْتَيْقِظِينَ؟ · مَاذَا تَفْعَلِينَ بَعْدَ ذٰلِكَ؟. Before the card, put a short invented notice on screen or in the chat: إِعْلَانٌ: رِحْلَةٌ إِلَى مَتْحَفِ العُلُومِ — يَوْمَ الخَمِيسِ — تَخْرُجُ الحَافِلَةُ مِنْ أَمَامِ المَدْرَسَةِ فِي السَّاعَةِ الثَّامِنَةِ — الثَّمَنُ: خَمْسَةُ جُنَيْهَاتٍ — عَلَى جَمِيعِ الطُّلَّابِ أَنْ يُحْضِرُوا غَدَاءً وَمَاءً — يُرْجَى دَفْعُ الثَّمَنِ قَبْلَ يَوْمِ الاِثْنَيْنِ.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F4-L07 and F4-L08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F4-L07 and F4-L08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and one phrase from F4-L07 and one from F4-L08.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F4-L07 + F4-L08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Science Museum Trip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رِحْلَةٌ إِلَى مَتْحَفِ العُلُومِ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reading a school notice with narrating a day: they read a trip notice for the key facts (when, where, how much, what to bring), plan the day of the trip in sequence with times, tell a partner, and write a message about their trip day.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F4-L07 + F4-L08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F4-L07 and F4-L08.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F4-L07 + F4-L08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F4-L07: A Typical School Day — Narrating a Sequence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F4-L08: Reading School Texts and Timetables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phoning a friend about the trip · A message about the trip day</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F4-L07 and F4-L08.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F4-L07 · A Typical School Day — Narrating a Sequence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أَسْتَيْقِظُ</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ilā</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إِلَى الْمَدْرَسَةِ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school</a:t>
            </a:r>
            <a:endParaRPr lang="en-US" sz="1350" dirty="0"/>
          </a:p>
          <a:p>
            <a:pPr indent="0" marL="0">
              <a:buNone/>
            </a:pPr>
            <a:r>
              <a:rPr lang="en-US" sz="1100" i="1" dirty="0">
                <a:solidFill>
                  <a:srgbClr val="5A6472"/>
                </a:solidFill>
                <a:latin typeface="Calibri" pitchFamily="34" charset="0"/>
                <a:cs typeface="Amiri" pitchFamily="2" charset="-78"/>
              </a:rPr>
              <a:t>adh-ha-bu i-lā l-mad-ra-sa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أَدْخُلُ الْفَصْلَ</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enter the classroom</a:t>
            </a:r>
            <a:endParaRPr lang="en-US" sz="1350" dirty="0"/>
          </a:p>
          <a:p>
            <a:pPr indent="0" marL="0">
              <a:buNone/>
            </a:pPr>
            <a:r>
              <a:rPr lang="en-US" sz="1100" i="1" dirty="0">
                <a:solidFill>
                  <a:srgbClr val="5A6472"/>
                </a:solidFill>
                <a:latin typeface="Calibri" pitchFamily="34" charset="0"/>
                <a:cs typeface="Amiri" pitchFamily="2" charset="-78"/>
              </a:rPr>
              <a:t>ad-khu-lu l-faṣl</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ma‘a</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أَتَحَدَّثُ مَعَ زُمَلَائِي</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talk with my classmates</a:t>
            </a:r>
            <a:endParaRPr lang="en-US" sz="1350" dirty="0"/>
          </a:p>
          <a:p>
            <a:pPr indent="0" marL="0">
              <a:buNone/>
            </a:pPr>
            <a:r>
              <a:rPr lang="en-US" sz="1100" i="1" dirty="0">
                <a:solidFill>
                  <a:srgbClr val="5A6472"/>
                </a:solidFill>
                <a:latin typeface="Calibri" pitchFamily="34" charset="0"/>
                <a:cs typeface="Amiri" pitchFamily="2" charset="-78"/>
              </a:rPr>
              <a:t>a-ta-ḥad-da-thu ma-‘a zu-ma-lā-’ī</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fī</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أَلْعَبُ فِي الْمَلْعَبِ</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play in the playground</a:t>
            </a:r>
            <a:endParaRPr lang="en-US" sz="1350" dirty="0"/>
          </a:p>
          <a:p>
            <a:pPr indent="0" marL="0">
              <a:buNone/>
            </a:pPr>
            <a:r>
              <a:rPr lang="en-US" sz="1100" i="1" dirty="0">
                <a:solidFill>
                  <a:srgbClr val="5A6472"/>
                </a:solidFill>
                <a:latin typeface="Calibri" pitchFamily="34" charset="0"/>
                <a:cs typeface="Amiri" pitchFamily="2" charset="-78"/>
              </a:rPr>
              <a:t>al-‘a-bu fī l-mal-‘ab</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63" name="Shape 6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أُكْمِلُ وَاجِبِي الْمَنْزِلِيَّ</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 l-man-zi-liyy</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F4-L08 · Reading School Texts and Timetables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rows · columns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جَدْوَلٌ دِرَاسِيٌّ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timetable</a:t>
            </a:r>
            <a:endParaRPr lang="en-US" sz="1350" dirty="0"/>
          </a:p>
          <a:p>
            <a:pPr indent="0" marL="0">
              <a:buNone/>
            </a:pPr>
            <a:r>
              <a:rPr lang="en-US" sz="1100" i="1" dirty="0">
                <a:solidFill>
                  <a:srgbClr val="5A6472"/>
                </a:solidFill>
                <a:latin typeface="Calibri" pitchFamily="34" charset="0"/>
                <a:cs typeface="Amiri" pitchFamily="2" charset="-78"/>
              </a:rPr>
              <a:t>jad-wal di-rā-siyy</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news paragraphs</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نَشْرَةٌ مَدْرَسِيَّةٌ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newsletter</a:t>
            </a:r>
            <a:endParaRPr lang="en-US" sz="1350" dirty="0"/>
          </a:p>
          <a:p>
            <a:pPr indent="0" marL="0">
              <a:buNone/>
            </a:pPr>
            <a:r>
              <a:rPr lang="en-US" sz="1100" i="1" dirty="0">
                <a:solidFill>
                  <a:srgbClr val="5A6472"/>
                </a:solidFill>
                <a:latin typeface="Calibri" pitchFamily="34" charset="0"/>
                <a:cs typeface="Amiri" pitchFamily="2" charset="-78"/>
              </a:rPr>
              <a:t>nash-ra mad-ra-siy-ya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1455725"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very short · symbol</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لَافِتَةٌ</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sign</a:t>
            </a:r>
            <a:endParaRPr lang="en-US" sz="1350" dirty="0"/>
          </a:p>
          <a:p>
            <a:pPr indent="0" marL="0">
              <a:buNone/>
            </a:pPr>
            <a:r>
              <a:rPr lang="en-US" sz="1100" i="1" dirty="0">
                <a:solidFill>
                  <a:srgbClr val="5A6472"/>
                </a:solidFill>
                <a:latin typeface="Calibri" pitchFamily="34" charset="0"/>
                <a:cs typeface="Amiri" pitchFamily="2" charset="-78"/>
              </a:rPr>
              <a:t>lā-fi-ta</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 ← وَقْتٌ</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 a time</a:t>
            </a:r>
            <a:endParaRPr lang="en-US" sz="1350" dirty="0"/>
          </a:p>
          <a:p>
            <a:pPr indent="0" marL="0">
              <a:buNone/>
            </a:pPr>
            <a:r>
              <a:rPr lang="en-US" sz="1100" i="1" dirty="0">
                <a:solidFill>
                  <a:srgbClr val="5A6472"/>
                </a:solidFill>
                <a:latin typeface="Calibri" pitchFamily="34" charset="0"/>
                <a:cs typeface="Amiri" pitchFamily="2" charset="-78"/>
              </a:rPr>
              <a:t>ma-tā? ← waq-tun</a:t>
            </a:r>
            <a:endParaRPr lang="en-US" sz="135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 رَقْمٌ</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 a number</a:t>
            </a:r>
            <a:endParaRPr lang="en-US" sz="1350" dirty="0"/>
          </a:p>
          <a:p>
            <a:pPr indent="0" marL="0">
              <a:buNone/>
            </a:pPr>
            <a:r>
              <a:rPr lang="en-US" sz="1100" i="1" dirty="0">
                <a:solidFill>
                  <a:srgbClr val="5A6472"/>
                </a:solidFill>
                <a:latin typeface="Calibri" pitchFamily="34" charset="0"/>
                <a:cs typeface="Amiri" pitchFamily="2" charset="-78"/>
              </a:rPr>
              <a:t>kam? ← raq-mun</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7" name="Shape 5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يُرْجَى …</a:t>
            </a:r>
            <a:endParaRPr lang="ar-SA" sz="3000" dirty="0"/>
          </a:p>
        </p:txBody>
      </p:sp>
      <p:sp>
        <p:nvSpPr>
          <p:cNvPr id="60" name="Text 5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 (on notices)</a:t>
            </a:r>
            <a:endParaRPr lang="en-US" sz="1350" dirty="0"/>
          </a:p>
          <a:p>
            <a:pPr indent="0" marL="0">
              <a:buNone/>
            </a:pPr>
            <a:r>
              <a:rPr lang="en-US" sz="1100" i="1" dirty="0">
                <a:solidFill>
                  <a:srgbClr val="5A6472"/>
                </a:solidFill>
                <a:latin typeface="Calibri" pitchFamily="34" charset="0"/>
                <a:cs typeface="Amiri" pitchFamily="2" charset="-78"/>
              </a:rPr>
              <a:t>yur-jā …</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إِعْلَانٌ: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 فِي السَّاعَةِ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عِنْدَمَا أَصِلُ إِلَى المَدْرَسَةِ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جَمِيعِ الطُّلَّابِ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يُرْجَى … قَبْلَ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وَفِي النِّهَايَةِ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F4-L07 · A Typical School Day — Narrating a Sequence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F4-L08 · Reading School Texts and Timetables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F4-L07 · A Typical School Day — Narrating a Sequence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عِنْدَمَا أَصِلُ إِلَى المَدْرَسَةِ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وَفِي النِّهَايَةِ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F4-L08 · Reading School Texts and Timetables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إِعْلَانٌ: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 فِي السَّاعَةِ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جَمِيعِ الطُّلَّابِ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يُرْجَى … قَبْلَ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Did you read the notice?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قَرَأْتَ الإِعْلَانَ؟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Did you read the notice? When is the trip?</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قَرَأْتَ الإِعْلَانَ؟ مَتَى الرِّحْلَةُ؟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Thursday. The bus leaves at eight o’clock.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يَوْمَ الخَمِيسِ. تَخْرُجُ الحَافِلَةُ فِي السَّاعَةِ الثَّامِنَةِ.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the ticket?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كَمْ ثَمَنُ التَّذْكِرَةِ؟</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pounds. And all students must bring lunch.</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خَمْسَةُ جُنَيْهَاتٍ. وَعَلَى جَمِيعِ الطُّلَّابِ أَنْ يُحْضِرُوا غَدَاءً.</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on Thursday I wake up at half past six!</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إِذَنْ يَوْمَ الخَمِيسِ أَسْتَيْقِظُ فِي السَّاعَةِ السَّادِسَةِ وَالنِّصْفِ!</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 have breakfast, then I go to school early.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وَأَنَا أَتَنَاوَلُ الفُطُورَ، ثُمَّ أَذْهَبُ إِلَى المَدْرَسَةِ مُبَكِّرًا.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أَتَنَاوَلُ الفُطُورَ</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أَسْتَيْقِظُ فِي السَّاعَةِ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السَّطْرُ رَقْمُ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is the trip?</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الرِّحْلَةُ؟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وَأَصِلُ حَوَالَيِ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أَذْهَبُ بِالحَافِلَةِ / بِالسَّيَّارَةِ / مَشْيًا …</a:t>
            </a:r>
            <a:endParaRPr lang="ar-SA" sz="15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السَّطْرِ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the students going?</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يَذْهَبُ الطُّلَّابُ؟</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وَآكُلُ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أَتَحَدَّثُ مَعَ … / أَلْعَبُ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at break?</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الاسْتِرَاحَةِ؟</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56648" y="533857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 فِي السَّاعَةِ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the coach leave from, and when?</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تَخْرُجُ الحَافِلَةُ؟ وَمَتَى؟</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F4-L07, even numbers from F4-L08.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phoning a friend about the trip</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مُكَالَمَةٌ عَنِ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مَتَى ← إِلَى … يَوْمَ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place and the day.</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أَيْنَ الرِّحْلَةُ؟ وَمَتَى؟</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مِنْ أَمَامِ … فِي السَّاعَةِ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place and the time.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تَخْرُجُ الحَافِلَةُ؟ وَفِي أَيِّ سَاعَةٍ؟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يَجِبُ أَنْ نُحْضِرَ … وَ…</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things from the notice.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نُحْضِرَ؟</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أَسْتَيْقِظُ فِي … ثُمَّ … وَبَعْدَ ذٰلِكَ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your morning in sequence with a time.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 يَوْمَ الرِّحْلَةِ؟ وَمَاذَا تَفْعَلُ بَعْدَ ذٰلِكَ؟</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نَعُودُ فِي … ، وَعِنْدَمَا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return time and what you do then.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نَعُودُ إِلَى المَدْرَسَةِ؟</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who read the notice · Partner A = a friend who was absent. Read the plan for 1 minute, then hide it and speak. Task ! is a surprise. Then swap roles.</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My trip day, from morning to evening</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the day of the trip: when you wake up and what you do before school, the key facts from the notice (time, place, what to bring), and what you do when you get home.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أَسْتَيْقِظُ فِي السَّاعَةِ … · أَذْهَبُ إِلَى المَدْرَسَةِ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three connectors: </a:t>
            </a:r>
            <a:pPr algn="l" indent="0" marL="0">
              <a:buNone/>
            </a:pPr>
            <a:r>
              <a:rPr lang="ar-SA" altLang="en-US" sz="1500" dirty="0">
                <a:solidFill>
                  <a:srgbClr val="1F2A37"/>
                </a:solidFill>
                <a:latin typeface="Amiri" pitchFamily="2" charset="-78"/>
                <a:ea typeface="Amiri" pitchFamily="2" charset="-78"/>
                <a:cs typeface="Amiri" pitchFamily="2" charset="-78"/>
              </a:rPr>
              <a:t>أَوَّلًا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بَعْدَ ذٰلِكَ</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وَفِي النِّهَايَةِ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facts from the notice (… </a:t>
            </a:r>
            <a:pPr algn="l" indent="0" marL="0">
              <a:buNone/>
            </a:pPr>
            <a:r>
              <a:rPr lang="ar-SA" altLang="en-US" sz="1500" dirty="0">
                <a:solidFill>
                  <a:srgbClr val="1F2A37"/>
                </a:solidFill>
                <a:latin typeface="Amiri" pitchFamily="2" charset="-78"/>
                <a:ea typeface="Amiri" pitchFamily="2" charset="-78"/>
                <a:cs typeface="Amiri" pitchFamily="2" charset="-78"/>
              </a:rPr>
              <a:t>تَخْرُجُ الحَافِلَةُ فِي</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عِنْدَمَا أَصِلُ</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أَسْتَيْقِظُ فِي السَّاعَةِ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wake up at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تَخْرُجُ الحَافِلَةُ فِي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bus leaves at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عِنْدَمَا أَصِلُ … · وَفِي النِّهَايَةِ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when I arrive … · finally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When I arrive at school, I talk with my classmates.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عِنْدَمَا أَصِلُ إِلَى المَدْرَسَةِ،</a:t>
            </a:r>
            <a:endParaRPr lang="ar-SA" sz="175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عِنْدَمَا يَصِلُ إِلَى المَدْرَسَةِ،</a:t>
            </a:r>
            <a:endParaRPr lang="ar-SA" sz="175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أَتَحَدَّثُ</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نَتَحَدَّثُ</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زُمَلَائِي.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زُمَلَائِي.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trip is next Thursday.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الخَمِيسِ</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خَمِيسٍ</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القَادِمِ.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القَادِمَةِ.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At about one o’clock I eat in the canteen.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حَوَالَيِ السَّاعَةِ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السَّاعَةُ حَوَالَيْ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الوَاحِدَةِ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وَاحِدٍ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آكُلُ فِي المَقْصَفِ.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أَكَلَ فِي المَقْصَفِ.</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When I arrive at school, I talk with my classmates.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verbs are “I” (a-); talk WITH = </a:t>
            </a:r>
            <a:pPr algn="l" indent="0" marL="0">
              <a:buNone/>
            </a:pPr>
            <a:r>
              <a:rPr lang="ar-SA" altLang="en-US" sz="1350" dirty="0">
                <a:solidFill>
                  <a:srgbClr val="5A6472"/>
                </a:solidFill>
                <a:latin typeface="Amiri" pitchFamily="2" charset="-78"/>
                <a:ea typeface="Amiri" pitchFamily="2" charset="-78"/>
                <a:cs typeface="Amiri" pitchFamily="2" charset="-78"/>
              </a:rPr>
              <a:t>مَعَ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عِنْدَمَا أَصِلُ إِلَى المَدْرَسَةِ، أَتَحَدَّثُ مَعَ زُمَلَائِي.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trip is next Thursday.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 day = </a:t>
            </a:r>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القَادِمِ</a:t>
            </a:r>
            <a:pPr algn="l" indent="0" marL="0">
              <a:buNone/>
            </a:pPr>
            <a:r>
              <a:rPr lang="en-US" sz="1050" i="1" dirty="0">
                <a:solidFill>
                  <a:srgbClr val="5A6472"/>
                </a:solidFill>
                <a:latin typeface="Calibri" pitchFamily="34" charset="0"/>
                <a:cs typeface="Amiri" pitchFamily="2" charset="-78"/>
              </a:rPr>
              <a:t> agrees with </a:t>
            </a:r>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(m.).</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الرِّحْلَةُ يَوْمَ الخَمِيسِ القَادِمِ.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At about one o’clock I eat in the canteen.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About = </a:t>
            </a:r>
            <a:pPr algn="l" indent="0" marL="0">
              <a:buNone/>
            </a:pPr>
            <a:r>
              <a:rPr lang="ar-SA" altLang="en-US" sz="1350" dirty="0">
                <a:solidFill>
                  <a:srgbClr val="5A6472"/>
                </a:solidFill>
                <a:latin typeface="Amiri" pitchFamily="2" charset="-78"/>
                <a:ea typeface="Amiri" pitchFamily="2" charset="-78"/>
                <a:cs typeface="Amiri" pitchFamily="2" charset="-78"/>
              </a:rPr>
              <a:t>حَوَالَيِ</a:t>
            </a:r>
            <a:pPr algn="l" indent="0" marL="0">
              <a:buNone/>
            </a:pPr>
            <a:r>
              <a:rPr lang="en-US" sz="1050" i="1" dirty="0">
                <a:solidFill>
                  <a:srgbClr val="5A6472"/>
                </a:solidFill>
                <a:latin typeface="Calibri" pitchFamily="34" charset="0"/>
                <a:cs typeface="Amiri" pitchFamily="2" charset="-78"/>
              </a:rPr>
              <a:t>; one o’clock = </a:t>
            </a:r>
            <a:pPr algn="l" indent="0" marL="0">
              <a:buNone/>
            </a:pPr>
            <a:r>
              <a:rPr lang="ar-SA" altLang="en-US" sz="1350" dirty="0">
                <a:solidFill>
                  <a:srgbClr val="5A6472"/>
                </a:solidFill>
                <a:latin typeface="Amiri" pitchFamily="2" charset="-78"/>
                <a:ea typeface="Amiri" pitchFamily="2" charset="-78"/>
                <a:cs typeface="Amiri" pitchFamily="2" charset="-78"/>
              </a:rPr>
              <a:t>السَّاعَةُ الوَاحِدَةُ</a:t>
            </a:r>
            <a:pPr algn="l" indent="0" marL="0">
              <a:buNone/>
            </a:pPr>
            <a:r>
              <a:rPr lang="en-US" sz="1050" i="1" dirty="0">
                <a:solidFill>
                  <a:srgbClr val="5A6472"/>
                </a:solidFill>
                <a:latin typeface="Calibri" pitchFamily="34" charset="0"/>
                <a:cs typeface="Amiri" pitchFamily="2" charset="-78"/>
              </a:rPr>
              <a:t>; I eat = </a:t>
            </a:r>
            <a:pPr algn="l" indent="0" marL="0">
              <a:buNone/>
            </a:pPr>
            <a:r>
              <a:rPr lang="ar-SA" altLang="en-US" sz="1350" dirty="0">
                <a:solidFill>
                  <a:srgbClr val="5A6472"/>
                </a:solidFill>
                <a:latin typeface="Amiri" pitchFamily="2" charset="-78"/>
                <a:ea typeface="Amiri" pitchFamily="2" charset="-78"/>
                <a:cs typeface="Amiri" pitchFamily="2" charset="-78"/>
              </a:rPr>
              <a:t>آكُلُ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حَوَالَيِ السَّاعَةِ الوَاحِدَةِ آكُلُ فِي المَقْصَفِ.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أَوَّلًا أَسْتَيْقِظُ، أَوَّلًا آكُلُ، أَوَّلًا أَذْهَبُ.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Vary the connectors.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مَتَى الرِّحْلَةُ؟ — فِي المَتْحَفِ.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مَتَى</a:t>
            </a:r>
            <a:pPr algn="l" indent="0" marL="0">
              <a:buNone/>
            </a:pPr>
            <a:r>
              <a:rPr lang="en-US" sz="1300" i="1" dirty="0">
                <a:solidFill>
                  <a:srgbClr val="5A6472"/>
                </a:solidFill>
                <a:latin typeface="Calibri" pitchFamily="34" charset="0"/>
                <a:cs typeface="Amiri" pitchFamily="2" charset="-78"/>
              </a:rPr>
              <a:t> asks for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يَعُودُ إِلَى البَيْتِ.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returns?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أَوَّلًا أَسْتَيْقِظُ، أَوَّلًا آكُلُ، أَوَّلًا أَذْهَبُ.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أَوَّلًا أَسْتَيْقِظُ، ثُمَّ آكُلُ، وَبَعْدَ ذٰلِكَ أَذْهَبُ.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different connectors: </a:t>
            </a:r>
            <a:pPr algn="l" indent="0" marL="0">
              <a:buNone/>
            </a:pPr>
            <a:r>
              <a:rPr lang="ar-SA" altLang="en-US" sz="1500" b="1" dirty="0">
                <a:solidFill>
                  <a:srgbClr val="1B3B6F"/>
                </a:solidFill>
                <a:latin typeface="Amiri" pitchFamily="2" charset="-78"/>
                <a:ea typeface="Amiri" pitchFamily="2" charset="-78"/>
                <a:cs typeface="Amiri" pitchFamily="2" charset="-78"/>
              </a:rPr>
              <a:t>أَوَّلًا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ثُمَّ</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بَعْدَ ذٰلِكَ</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مَتَى الرِّحْلَةُ؟ — فِي المَتْحَفِ.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مَتَى الرِّحْلَةُ؟ — يَوْمَ الخَمِيسِ.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مَتَى</a:t>
            </a:r>
            <a:pPr algn="l" indent="0" marL="0">
              <a:buNone/>
            </a:pPr>
            <a:r>
              <a:rPr lang="en-US" sz="1150" b="1" dirty="0">
                <a:solidFill>
                  <a:srgbClr val="1B3B6F"/>
                </a:solidFill>
                <a:latin typeface="Calibri" pitchFamily="34" charset="0"/>
                <a:cs typeface="Amiri" pitchFamily="2" charset="-78"/>
              </a:rPr>
              <a:t> → a time or a day, not a place.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يَعُودُ إِلَى البَيْتِ.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أَعُودُ إِلَى البَيْتِ.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 </a:t>
            </a:r>
            <a:pPr algn="l" indent="0" marL="0">
              <a:buNone/>
            </a:pPr>
            <a:r>
              <a:rPr lang="ar-SA" altLang="en-US" sz="1500" b="1" dirty="0">
                <a:solidFill>
                  <a:srgbClr val="1B3B6F"/>
                </a:solidFill>
                <a:latin typeface="Amiri" pitchFamily="2" charset="-78"/>
                <a:ea typeface="Amiri" pitchFamily="2" charset="-78"/>
                <a:cs typeface="Amiri" pitchFamily="2" charset="-78"/>
              </a:rPr>
              <a:t>أَعُودُ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أَصِلُ إِلَى البَيْتِ،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I get home,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يُرْجَى ______ قَبْلَ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 … before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الرِّحْلَةُ إِلَى ______ يَوْمَ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trip is to … on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تَخْرُجُ الحَافِلَةُ فِي السَّاعَةِ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 leaves at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الثَّمَنُ ______ ، وَيَجِبُ أَنْ نُحْضِرَ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price is …, and we must bring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 ثُمَّ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 then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 النِّهَايَةِ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finally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أَتَنَاوَلُ الفُطُورَ  ·  أَذْهَبُ · أَصِلُ  ·  أَعُودُ إِلَى البَيْتِ  ·  أَوَّلًا · ثُمَّ  ·  بَعْدَ ذٰلِكَ · عِنْدَمَا  ·  فِي السَّاعَةِ …  ·  يَجِبُ أَنْ نُحْضِرَ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message about the trip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يَوْمِ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message (about 45–65 words) to the friend who missed the notice. Include: • where and when the trip is • the bus time and place • the price and two things to bring • your plan for the morning, in sequence with times • what you do when you get home. Use at least four connectors.</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F4-L07 AND F4-L08.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الرِّحْلَةُ إِلَى … يَوْمَ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trip is to … on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تَخْرُجُ الحَافِلَةُ مِنْ … فِي السَّاعَةِ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bus leaves from …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نُحْضِرَ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bring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and after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“I” verbs in order with at least two times?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notice language (</a:t>
            </a:r>
            <a:pPr algn="l" indent="0" marL="0">
              <a:buNone/>
            </a:pPr>
            <a:r>
              <a:rPr lang="ar-SA" altLang="en-US" sz="1450" dirty="0">
                <a:solidFill>
                  <a:srgbClr val="5A6472"/>
                </a:solidFill>
                <a:latin typeface="Amiri" pitchFamily="2" charset="-78"/>
                <a:ea typeface="Amiri" pitchFamily="2" charset="-78"/>
                <a:cs typeface="Amiri" pitchFamily="2" charset="-78"/>
              </a:rPr>
              <a:t>عَلَى جَمِيعِ الطُّلَّابِ أَنْ</a:t>
            </a:r>
            <a:pPr algn="l" indent="0" marL="0">
              <a:buNone/>
            </a:pPr>
            <a:r>
              <a:rPr lang="en-US" sz="1100" dirty="0">
                <a:solidFill>
                  <a:srgbClr val="5A6472"/>
                </a:solidFill>
                <a:latin typeface="Calibri" pitchFamily="34" charset="0"/>
                <a:cs typeface="Amiri" pitchFamily="2" charset="-78"/>
              </a:rPr>
              <a:t> … · </a:t>
            </a:r>
            <a:pPr algn="l" indent="0" marL="0">
              <a:buNone/>
            </a:pPr>
            <a:r>
              <a:rPr lang="ar-SA" altLang="en-US" sz="1450" dirty="0">
                <a:solidFill>
                  <a:srgbClr val="5A6472"/>
                </a:solidFill>
                <a:latin typeface="Amiri" pitchFamily="2" charset="-78"/>
                <a:ea typeface="Amiri" pitchFamily="2" charset="-78"/>
                <a:cs typeface="Amiri" pitchFamily="2" charset="-78"/>
              </a:rPr>
              <a:t>يُرْجَى</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مَتْحَفِ العُلُومِ، يَوْمَ الخَمِيسِ.</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the science museum, on Thursday.</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أَيْنَ الرِّحْلَةُ؟ وَمَتَى؟</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أَمَامِ المَدْرَسَةِ، فِي السَّاعَةِ الثَّامِنَةِ تَمَامًا.</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From in front of the school, at exactly eight o’clock.</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تَخْرُجُ الحَافِلَةُ؟ وَفِي أَيِّ سَاعَةٍ؟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نُحْضِرَ غَدَاءً وَمَاءً، وَخَمْسَةَ جُنَيْهَاتٍ.</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bring lunch and water, and five pounds.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يَجِبُ أَنْ نُحْضِرَ؟</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أَسْتَيْقِظُ فِي السَّاعَةِ السَّادِسَةِ وَالنِّصْفِ، ثُمَّ أَتَنَاوَلُ الفُطُورَ، وَبَعْدَ ذٰلِكَ أَذْهَبُ إِلَى المَدْرَسَةِ.</a:t>
            </a:r>
            <a:endParaRPr lang="ar-SA" sz="175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 at half past six, then I have breakfast, and after that I go to school.</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تَسْتَيْقِظُ يَوْمَ الرِّحْلَةِ؟ وَمَاذَا تَفْعَلُ بَعْدَ ذٰلِكَ؟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نَعُودُ فِي السَّاعَةِ الثَّالِثَةِ، وَعِنْدَمَا أَصِلُ إِلَى البَيْتِ أَسْتَرِيحُ.</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return at three o’clock, and when I get home I rest.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نَعُودُ إِلَى المَدْرَسَةِ؟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يَا رِيمُ! الرِّحْلَةُ إِلَى مَتْحَفِ العُلُومِ يَوْمَ الخَمِيسِ. تَخْرُجُ الحَافِلَةُ مِنْ أَمَامِ المَدْرَسَةِ فِي السَّاعَةِ الثَّامِنَةِ. الثَّمَنُ خَمْسَةُ جُنَيْهَاتٍ، وَيَجِبُ أَنْ نُحْضِرَ غَدَاءً وَمَاءً. يَوْمَ الخَمِيسِ أَسْتَيْقِظُ فِي السَّاعَةِ السَّادِسَةِ وَالنِّصْفِ. أَوَّلًا أُصَلِّي، ثُمَّ أَتَنَاوَلُ الفُطُورَ، وَبَعْدَ ذٰلِكَ أَذْهَبُ إِلَى المَدْرَسَةِ. نَعُودُ فِي السَّاعَةِ الثَّالِثَةِ، وَعِنْدَمَا أَصِلُ إِلَى البَيْتِ أَسْتَرِيحُ. يُرْجَى دَفْعُ الثَّمَنِ قَبْلَ يَوْمِ الاِثْنَيْنِ!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Reem! The trip is to the science museum on Thursday. The bus leaves from in front of the school at eight o’clock. The price is five pounds, and we must bring lunch and water. On Thursday I wake up at half past six. First I pray, then I have breakfast, and after that I go to school. We come back at three o’clock, and when I get home I rest. Please pay before Monday!”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يَوْمَ الخَمِيسِ</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نُحْضِرَ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أَسْتَيْقِظُ فِي السَّاعَةِ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وَبَعْدَ ذٰلِكَ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F4-W04 · Apply workshop (F4-L07 + F4-L08)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F4-L07 and F4-L08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F4-L09 · Extended Writing: My School</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المُطَوَّلَةُ — مَدْرَسَتِي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F4-W04 · Apply Workshop — The Science Museum Trip</dc:title>
  <dc:subject>PptxGenJS Presentation</dc:subject>
  <dc:creator>Al Madina Online School · Arabic Department</dc:creator>
  <cp:lastModifiedBy>Al Madina Online School · Arabic Department</cp:lastModifiedBy>
  <cp:revision>1</cp:revision>
  <dcterms:created xsi:type="dcterms:W3CDTF">2026-10-26T15:03:59Z</dcterms:created>
  <dcterms:modified xsi:type="dcterms:W3CDTF">2026-10-26T15:03:59Z</dcterms:modified>
</cp:coreProperties>
</file>