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F4-L03 · Learn F4-L04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F4-L03 (Classroom Objects — What Is in Your Bag?) and F4-L04 (Likes, Dislikes and Preferences).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F4-L03 and F4-L04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F4-L03? After F4-L04?” Take two answers in the chat for each lesson (one word or one sentence is enough). Then read objective 3 — today’s new situation that needs BOTH lessons. Students tick their route goals at the end of the lesson.
F4-L03 language: hādhā / hādhihi by gender; ʿindī / laysa ʿindī; fī ḥaqībatī; positions (ʿalā · taḥta · fī · bi-jānibi); duals (qalamāni · mimḥātāni)
F4-L04 language: uḥibbu … jiddan / kathīran / qalīlan; lā uḥibbu; ufaḍḍilu … ʿalā …; tuḥibbu / tuḥibbīna (to a boy / girl); yuḥibbu / tuḥibbu (he / she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F4-L03 and F4-L04. Teacher reads it once with a confident student; then pairs. Ask: “Which lines are from F4-L03? Which from F4-L04?” Objects, لَيْسَ عِنْدِي and duals (قَلَمَيْنِ) come from F4-L03; أُحِبُّ … كَثِيرًا and أُفَضِّلُ … عَلَى … from F4-L04.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classroom objects, عِنْدِي / لَيْسَ عِنْدِي and duals (F4-L03) with likes, dislikes and أُفَضِّلُ … عَلَى … (F4-L04). SUPPORTED: the plan column gives the first words, not the full answer. To a girl Partner A says: مَاذَا تُرِيدِينَ؟ · أَيُّهُمَا تُفَضِّلِينَ؟ · هَلْ تُحِبِّينَ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F4-L03 and F4-L04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F4-L03 and F4-L04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and one phrase from F4-L03 and one from F4-L04.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F4-L03 + F4-L04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At the School Stationery 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فِي مَكْتَبَةِ المَدْرَسَةِ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classroom objects with likes and preferences: they check what is in their bag, buy what they don’t have at the school shop, choose between two items and explain why, then write a back-to-school post about their bag and their preferences.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F4-L03 + F4-L04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F4-L03 and F4-L04.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F4-L03 + F4-L04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F4-L03: Classroom Objects — What Is in Your Bag?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F4-L04: Likes, Dislikes and Preferences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at the school shop · Back to school: my bag and my choices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F4-L03 and F4-L04.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F4-L03 · Classroom Objects — What Is in Your Bag?</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قَلَمٌ</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qa-lam</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أَقْلَامٌ</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desk (also: office)</a:t>
            </a:r>
            <a:endParaRPr lang="en-US" sz="1350" dirty="0"/>
          </a:p>
          <a:p>
            <a:pPr indent="0" marL="0">
              <a:buNone/>
            </a:pPr>
            <a:r>
              <a:rPr lang="en-US" sz="1100" i="1" dirty="0">
                <a:solidFill>
                  <a:srgbClr val="5A6472"/>
                </a:solidFill>
                <a:latin typeface="Calibri" pitchFamily="34" charset="0"/>
                <a:cs typeface="Amiri" pitchFamily="2" charset="-78"/>
              </a:rPr>
              <a:t>mak-tab</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مَكَاتِبُ</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مِسْطَرَةٌ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ruler</a:t>
            </a:r>
            <a:endParaRPr lang="en-US" sz="1350" dirty="0"/>
          </a:p>
          <a:p>
            <a:pPr indent="0" marL="0">
              <a:buNone/>
            </a:pPr>
            <a:r>
              <a:rPr lang="en-US" sz="1100" i="1" dirty="0">
                <a:solidFill>
                  <a:srgbClr val="5A6472"/>
                </a:solidFill>
                <a:latin typeface="Calibri" pitchFamily="34" charset="0"/>
                <a:cs typeface="Amiri" pitchFamily="2" charset="-78"/>
              </a:rPr>
              <a:t>mis-ṭa-ra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مَسَاطِرُ</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مِمْحَاةٌ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eraser / rubber</a:t>
            </a:r>
            <a:endParaRPr lang="en-US" sz="1350" dirty="0"/>
          </a:p>
          <a:p>
            <a:pPr indent="0" marL="0">
              <a:buNone/>
            </a:pPr>
            <a:r>
              <a:rPr lang="en-US" sz="1100" i="1" dirty="0">
                <a:solidFill>
                  <a:srgbClr val="5A6472"/>
                </a:solidFill>
                <a:latin typeface="Calibri" pitchFamily="34" charset="0"/>
                <a:cs typeface="Amiri" pitchFamily="2" charset="-78"/>
              </a:rPr>
              <a:t>mim-ḥā</a:t>
            </a:r>
            <a:endParaRPr lang="en-US" sz="1350" dirty="0"/>
          </a:p>
        </p:txBody>
      </p:sp>
      <p:sp>
        <p:nvSpPr>
          <p:cNvPr id="84" name="Shape 81"/>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6" name="Text 83"/>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87" name="Shape 8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566928"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0" name="Shape 8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2" name="Shape 8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95" name="Text 9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 / backpack</a:t>
            </a:r>
            <a:endParaRPr lang="en-US" sz="1350" dirty="0"/>
          </a:p>
          <a:p>
            <a:pPr indent="0" marL="0">
              <a:buNone/>
            </a:pPr>
            <a:r>
              <a:rPr lang="en-US" sz="1100" i="1" dirty="0">
                <a:solidFill>
                  <a:srgbClr val="5A6472"/>
                </a:solidFill>
                <a:latin typeface="Calibri" pitchFamily="34" charset="0"/>
                <a:cs typeface="Amiri" pitchFamily="2" charset="-78"/>
              </a:rPr>
              <a:t>ḥa-qī-ba</a:t>
            </a:r>
            <a:endParaRPr lang="en-US" sz="1350" dirty="0"/>
          </a:p>
        </p:txBody>
      </p:sp>
      <p:sp>
        <p:nvSpPr>
          <p:cNvPr id="96" name="Shape 93"/>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99" name="Shape 96"/>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01" name="Text 98"/>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102" name="Text 9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F4-L04 · Likes, Dislikes and Preferences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أُحِبُّ · لَا أُحِبُّ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I do not like</a:t>
            </a:r>
            <a:endParaRPr lang="en-US" sz="1350" dirty="0"/>
          </a:p>
          <a:p>
            <a:pPr indent="0" marL="0">
              <a:buNone/>
            </a:pPr>
            <a:r>
              <a:rPr lang="en-US" sz="1100" i="1" dirty="0">
                <a:solidFill>
                  <a:srgbClr val="5A6472"/>
                </a:solidFill>
                <a:latin typeface="Calibri" pitchFamily="34" charset="0"/>
                <a:cs typeface="Amiri" pitchFamily="2" charset="-78"/>
              </a:rPr>
              <a:t>u-ḥib-bu · lā u-ḥib-bu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degree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جِدًّا · كَثِيرًا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 much · a lot</a:t>
            </a:r>
            <a:endParaRPr lang="en-US" sz="1350" dirty="0"/>
          </a:p>
          <a:p>
            <a:pPr indent="0" marL="0">
              <a:buNone/>
            </a:pPr>
            <a:r>
              <a:rPr lang="en-US" sz="1100" i="1" dirty="0">
                <a:solidFill>
                  <a:srgbClr val="5A6472"/>
                </a:solidFill>
                <a:latin typeface="Calibri" pitchFamily="34" charset="0"/>
                <a:cs typeface="Amiri" pitchFamily="2" charset="-78"/>
              </a:rPr>
              <a:t>jid-dan · ka-thī-ran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أَقَلَّ</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a:t>
            </a:r>
            <a:endParaRPr lang="en-US" sz="1350" dirty="0"/>
          </a:p>
          <a:p>
            <a:pPr indent="0" marL="0">
              <a:buNone/>
            </a:pPr>
            <a:r>
              <a:rPr lang="en-US" sz="1100" i="1" dirty="0">
                <a:solidFill>
                  <a:srgbClr val="5A6472"/>
                </a:solidFill>
                <a:latin typeface="Calibri" pitchFamily="34" charset="0"/>
                <a:cs typeface="Amiri" pitchFamily="2" charset="-78"/>
              </a:rPr>
              <a:t>ak-tha-ra · a-qal-la</a:t>
            </a:r>
            <a:endParaRPr lang="en-US" sz="1350" dirty="0"/>
          </a:p>
        </p:txBody>
      </p:sp>
      <p:sp>
        <p:nvSpPr>
          <p:cNvPr id="40" name="Shape 37"/>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than</a:t>
            </a:r>
            <a:endParaRPr lang="en-US" sz="700" dirty="0"/>
          </a:p>
        </p:txBody>
      </p:sp>
      <p:sp>
        <p:nvSpPr>
          <p:cNvPr id="42" name="Text 39"/>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أَكْثَرَ مِنْ …</a:t>
            </a:r>
            <a:endParaRPr lang="ar-SA"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إِبْدَاعِيٌّ</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a:t>
            </a:r>
            <a:endParaRPr lang="en-US" sz="1350" dirty="0"/>
          </a:p>
          <a:p>
            <a:pPr indent="0" marL="0">
              <a:buNone/>
            </a:pPr>
            <a:r>
              <a:rPr lang="en-US" sz="1100" i="1" dirty="0">
                <a:solidFill>
                  <a:srgbClr val="5A6472"/>
                </a:solidFill>
                <a:latin typeface="Calibri" pitchFamily="34" charset="0"/>
                <a:cs typeface="Amiri" pitchFamily="2" charset="-78"/>
              </a:rPr>
              <a:t>ib-dā-‘iyy</a:t>
            </a:r>
            <a:endParaRPr lang="en-US" sz="1350" dirty="0"/>
          </a:p>
        </p:txBody>
      </p:sp>
      <p:sp>
        <p:nvSpPr>
          <p:cNvPr id="52" name="Shape 49"/>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إِبْدَاعِيَّةٌ</a:t>
            </a:r>
            <a:endParaRPr lang="ar-SA" sz="1500" dirty="0"/>
          </a:p>
        </p:txBody>
      </p:sp>
      <p:sp>
        <p:nvSpPr>
          <p:cNvPr id="55" name="Shape 52"/>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7" name="Text 54"/>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3" name="Text 6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مُعَقَّدٌ</a:t>
            </a:r>
            <a:endParaRPr lang="ar-SA" sz="3000" dirty="0"/>
          </a:p>
        </p:txBody>
      </p:sp>
      <p:sp>
        <p:nvSpPr>
          <p:cNvPr id="64" name="Text 6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complicated</a:t>
            </a:r>
            <a:endParaRPr lang="en-US" sz="1350" dirty="0"/>
          </a:p>
          <a:p>
            <a:pPr indent="0" marL="0">
              <a:buNone/>
            </a:pPr>
            <a:r>
              <a:rPr lang="en-US" sz="1100" i="1" dirty="0">
                <a:solidFill>
                  <a:srgbClr val="5A6472"/>
                </a:solidFill>
                <a:latin typeface="Calibri" pitchFamily="34" charset="0"/>
                <a:cs typeface="Amiri" pitchFamily="2" charset="-78"/>
              </a:rPr>
              <a:t>mu-‘aq-qad</a:t>
            </a:r>
            <a:endParaRPr lang="en-US" sz="1350" dirty="0"/>
          </a:p>
        </p:txBody>
      </p:sp>
      <p:sp>
        <p:nvSpPr>
          <p:cNvPr id="65" name="Shape 62"/>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مُعَقَّدَةٌ</a:t>
            </a:r>
            <a:endParaRPr lang="ar-SA" sz="1500" dirty="0"/>
          </a:p>
        </p:txBody>
      </p:sp>
      <p:sp>
        <p:nvSpPr>
          <p:cNvPr id="68" name="Shape 65"/>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6" name="Shape 7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80" name="Shape 7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83" name="Shape 8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5" name="Text 8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حَقِيبَتِي … وَ… وَ…</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جِدًّا لِأَنَّهُ / لِأَنَّهَا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قَلِيلًا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عِنْدِي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مُمِلٌّ قَلِيلًا، لٰكِنَّهُ مُفِيدٌ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F4-L03 · Classroom Objects — What Is in Your Bag?</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F4-L04 · Likes, Dislikes and Preferences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F4-L03 · Classroom Objects — What Is in Your Bag?</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حَقِيبَتِي … وَ… 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عِنْدِي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F4-L04 · Likes, Dislikes and Preferences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جِدًّا لِأَنَّهُ / لِأَنَّهَا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قَلِيلًا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مُمِلٌّ قَلِيلًا، لٰكِنَّهُ مُفِيدٌ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need?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تَحْتَاجُ؟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فِي حَقِيبَتِكَ؟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bag there is a book, a notebook and a pencil case, but I don’t have a ruler.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حَقِيبَتِي كِتَابٌ وَدَفْتَرٌ وَمِقْلَمَةٌ، لٰكِنْ لَيْسَ عِنْدِي مِسْطَرَةٌ.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 this is a blue ruler, and this one is red.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تَفَضَّلْ، هٰذِهِ مِسْطَرَةٌ زَرْقَاءُ، وَهٰذِهِ حَمْرَاءُ.</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the blue one to the red one.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أُفَضِّلُ الزَّرْقَاءَ عَلَى الحَمْرَاءِ.</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لِمَاذَا؟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 like blue a lot. And I want two pens too, please.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لِأَنِّي أُحِبُّ اللَّوْنَ الأَزْرَقَ كَثِيرًا. وَأُرِيدُ قَلَمَيْنِ أَيْضًا، مِنْ فَضْلِكَ.</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مِقْلَمَتِي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pencil case?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مِقْلَمَتِكَ؟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جِدًّا</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subject do you like very much?</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المَادَّةُ الَّتِي تُحِبُّهَا جِدًّا؟</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عِنْدِي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عِنْدِي … / لَا، لَيْسَ عِنْدِي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dictionary?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قَامُوسٌ؟</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art or music?</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الفَنَّ أَمِ المُوسِيقَى؟</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 لَوْنُهَا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(show an object)</a:t>
            </a:r>
            <a:endParaRPr lang="en-US" sz="1100" dirty="0"/>
          </a:p>
        </p:txBody>
      </p:sp>
      <p:sp>
        <p:nvSpPr>
          <p:cNvPr id="57" name="Text 54"/>
          <p:cNvSpPr txBox="1"/>
          <p:nvPr/>
        </p:nvSpPr>
        <p:spPr>
          <a:xfrm>
            <a:off x="1069848" y="4724400"/>
            <a:ext cx="338328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هٰذَا؟ / مَا هٰذِهِ؟</a:t>
            </a:r>
            <a:pPr algn="l" indent="0" marL="0">
              <a:buNone/>
            </a:pPr>
            <a:r>
              <a:rPr lang="en-US" sz="1100" dirty="0">
                <a:solidFill>
                  <a:srgbClr val="5A6472"/>
                </a:solidFill>
                <a:latin typeface="Calibri" pitchFamily="34" charset="0"/>
                <a:cs typeface="Amiri" pitchFamily="2" charset="-78"/>
              </a:rPr>
              <a:t> (hold up an object)</a:t>
            </a:r>
            <a:endParaRPr lang="en-US" sz="11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مُمِلٌّ / مُمِلَّةٌ</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don’t you like at school?</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تُحِبُّ فِي المَدْرَسَةِ؟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F4-L03, even numbers from F4-L04.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Role-play card — at the school shop</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لَيْسَ عِنْدِي … ، أُرِيدُ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one thing you don’t have and ask for it.</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تُرِيدُ؟</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أُرِيدُ قَلَمَيْنِ</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two (a dual).</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قَلَمًا تُرِيدُ؟</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أُفَضِّلُ … عَلَى … لِأَنَّ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and give a reason.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هٰذَا دَفْتَرٌ كَبِيرٌ، وَهٰذَا صَغِيرٌ. أَيُّهُمَا تُفَضِّلُ؟</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أُحِبُّ … قَلِيلًا / لَا أُحِبُّ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with </a:t>
            </a:r>
            <a:pPr algn="l" indent="0" marL="0">
              <a:buNone/>
            </a:pPr>
            <a:r>
              <a:rPr lang="ar-SA" altLang="en-US" sz="1450" dirty="0">
                <a:solidFill>
                  <a:srgbClr val="5A6472"/>
                </a:solidFill>
                <a:latin typeface="Amiri" pitchFamily="2" charset="-78"/>
                <a:ea typeface="Amiri" pitchFamily="2" charset="-78"/>
                <a:cs typeface="Amiri" pitchFamily="2" charset="-78"/>
              </a:rPr>
              <a:t>جِدًّا / قَلِيلًا / لَا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القَوَامِيسَ الإِلِكْتُرُونِيَّةَ؟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أَهَمُّ شَيْءٍ … لِأَنَّهُ / لِأَنَّهَا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your most important object and why.</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شَيْءٍ فِي حَقِيبَتِكَ؟</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 Partner A = the shop assistant.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bag — and what I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حَقِيبَتِي وَمَا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what is in your bag today (five things), one thing you don’t have, your favourite object and why, and one preference between two school things.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فِي حَقِيبَتِي … وَ… · لَيْسَ عِنْدِي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dual (</a:t>
            </a:r>
            <a:pPr algn="l" indent="0" marL="0">
              <a:buNone/>
            </a:pPr>
            <a:r>
              <a:rPr lang="ar-SA" altLang="en-US" sz="1500" dirty="0">
                <a:solidFill>
                  <a:srgbClr val="1F2A37"/>
                </a:solidFill>
                <a:latin typeface="Amiri" pitchFamily="2" charset="-78"/>
                <a:ea typeface="Amiri" pitchFamily="2" charset="-78"/>
                <a:cs typeface="Amiri" pitchFamily="2" charset="-78"/>
              </a:rPr>
              <a:t>قَلَمَانِ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كِتَابَانِ</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أُحِبُّ … كَثِيرًا لِأَنَّهُ / لِأَنَّهَا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أُفَضِّلُ … عَلَى … لِأَنَّ</a:t>
            </a:r>
            <a:pPr algn="l" indent="0" marL="0">
              <a:buNone/>
            </a:pPr>
            <a:r>
              <a:rPr lang="en-US" sz="1150" dirty="0">
                <a:solidFill>
                  <a:srgbClr val="1F2A37"/>
                </a:solidFill>
                <a:latin typeface="Calibri" pitchFamily="34" charset="0"/>
                <a:cs typeface="Amiri" pitchFamily="2" charset="-78"/>
              </a:rPr>
              <a:t> … and a position (</a:t>
            </a:r>
            <a:pPr algn="l" indent="0" marL="0">
              <a:buNone/>
            </a:pPr>
            <a:r>
              <a:rPr lang="ar-SA" altLang="en-US" sz="1500" dirty="0">
                <a:solidFill>
                  <a:srgbClr val="1F2A37"/>
                </a:solidFill>
                <a:latin typeface="Amiri" pitchFamily="2" charset="-78"/>
                <a:ea typeface="Amiri" pitchFamily="2" charset="-78"/>
                <a:cs typeface="Amiri" pitchFamily="2" charset="-78"/>
              </a:rPr>
              <a:t>عَلَى</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تَحْتَ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حَقِيبَتِي … وَ…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bag there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لَيْسَ 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don’t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كَثِيرًا / قَلِيلًا</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a lot / a little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أُفَضِّلُ … عَلَى … لِأَنَّ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prefer … to … because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calculator.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آلَتِي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آلَتِيَ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الحَاسِبَةُ.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الحَاسِبُ.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music because it is creative.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المُوسِيقَى</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يُفَضِّلُ المُوسِيقَى</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إِبْدَاعِيَّةٌ.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إِبْدَاعِيٌّ.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don’t have a dictionary.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قَامُوسٌ.</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قَامُوسًا.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calculator.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آلَةٌ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الحَاسِبَةُ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آلَتِي الحَاسِبَةُ.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music because it is creative.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المُوسِيقَى</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لِأَنَّهَا إِبْدَاعِيَّةٌ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المُوسِيقَى لِأَنَّهَا إِبْدَاعِيَّةٌ.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don’t have a dictionary.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have = </a:t>
            </a:r>
            <a:pPr algn="l" indent="0" marL="0">
              <a:buNone/>
            </a:pPr>
            <a:r>
              <a:rPr lang="ar-SA" altLang="en-US" sz="1350" dirty="0">
                <a:solidFill>
                  <a:srgbClr val="5A6472"/>
                </a:solidFill>
                <a:latin typeface="Amiri" pitchFamily="2" charset="-78"/>
                <a:ea typeface="Amiri" pitchFamily="2" charset="-78"/>
                <a:cs typeface="Amiri" pitchFamily="2" charset="-78"/>
              </a:rPr>
              <a:t>لَيْسَ عِنْدِي</a:t>
            </a:r>
            <a:pPr algn="l" indent="0" marL="0">
              <a:buNone/>
            </a:pPr>
            <a:r>
              <a:rPr lang="en-US" sz="1050" i="1" dirty="0">
                <a:solidFill>
                  <a:srgbClr val="5A6472"/>
                </a:solidFill>
                <a:latin typeface="Calibri" pitchFamily="34" charset="0"/>
                <a:cs typeface="Amiri" pitchFamily="2" charset="-78"/>
              </a:rPr>
              <a:t> + noun.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 عِنْدِي قَامُوسٌ.</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مِسْطَرَةٌ.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مِسْطَرَةٌ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لَا أُحِبُّ جِدًّا الرِّيَاضِيَّاتِ.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a:t>
            </a:r>
            <a:pPr algn="l" indent="0" marL="0">
              <a:buNone/>
            </a:pPr>
            <a:r>
              <a:rPr lang="ar-SA" altLang="en-US" sz="1700" dirty="0">
                <a:solidFill>
                  <a:srgbClr val="5A6472"/>
                </a:solidFill>
                <a:latin typeface="Amiri" pitchFamily="2" charset="-78"/>
                <a:ea typeface="Amiri" pitchFamily="2" charset="-78"/>
                <a:cs typeface="Amiri" pitchFamily="2" charset="-78"/>
              </a:rPr>
              <a:t>جِدًّا</a:t>
            </a:r>
            <a:pPr algn="l" indent="0" marL="0">
              <a:buNone/>
            </a:pPr>
            <a:r>
              <a:rPr lang="en-US" sz="1300" i="1" dirty="0">
                <a:solidFill>
                  <a:srgbClr val="5A6472"/>
                </a:solidFill>
                <a:latin typeface="Calibri" pitchFamily="34" charset="0"/>
                <a:cs typeface="Amiri" pitchFamily="2" charset="-78"/>
              </a:rPr>
              <a:t> go?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لَيْسَ قَلَمٌ.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Word order.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مِسْطَرَةٌ.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مِسْطَرَةٌ.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لَا أُحِبُّ جِدًّا الرِّيَاضِيَّاتِ.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لَا أُحِبُّ الرِّيَاضِيَّاتِ كَثِيرًا.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Strength words go at the end; with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use </a:t>
            </a:r>
            <a:pPr algn="l" indent="0" marL="0">
              <a:buNone/>
            </a:pPr>
            <a:r>
              <a:rPr lang="ar-SA" altLang="en-US" sz="1500" b="1" dirty="0">
                <a:solidFill>
                  <a:srgbClr val="1B3B6F"/>
                </a:solidFill>
                <a:latin typeface="Amiri" pitchFamily="2" charset="-78"/>
                <a:ea typeface="Amiri" pitchFamily="2" charset="-78"/>
                <a:cs typeface="Amiri" pitchFamily="2" charset="-78"/>
              </a:rPr>
              <a:t>كَثِيرًا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لَيْسَ قَلَمٌ.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 عِنْدِي قَلَمٌ.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لَيْسَ</a:t>
            </a:r>
            <a:pPr algn="l" indent="0" marL="0">
              <a:buNone/>
            </a:pPr>
            <a:r>
              <a:rPr lang="en-US" sz="1150" b="1" dirty="0">
                <a:solidFill>
                  <a:srgbClr val="1B3B6F"/>
                </a:solidFill>
                <a:latin typeface="Calibri" pitchFamily="34" charset="0"/>
                <a:cs typeface="Amiri" pitchFamily="2" charset="-78"/>
              </a:rPr>
              <a:t> comes first: </a:t>
            </a:r>
            <a:pPr algn="l" indent="0" marL="0">
              <a:buNone/>
            </a:pPr>
            <a:r>
              <a:rPr lang="ar-SA" altLang="en-US" sz="1500" b="1" dirty="0">
                <a:solidFill>
                  <a:srgbClr val="1B3B6F"/>
                </a:solidFill>
                <a:latin typeface="Amiri" pitchFamily="2" charset="-78"/>
                <a:ea typeface="Amiri" pitchFamily="2" charset="-78"/>
                <a:cs typeface="Amiri" pitchFamily="2" charset="-78"/>
              </a:rPr>
              <a:t>لَيْسَ عِنْدِي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 لِذٰلِكَ سَأَشْتَرِي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I will buy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 and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وَعِنْدِي قَلَمَانِ / ______ أَيْضًا.</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have two pens / two … too.</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عِنْدِي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have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عَلَى المَكْتَبِ.</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on the desk.</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أُحِبُّ ______ كَثِيرًا لِأَنَّهُ / لِأَنَّهَا ______ .</a:t>
            </a:r>
            <a:endParaRPr lang="ar-SA" sz="175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 lot because it is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كِتَابٌ · دَفْتَرٌ  ·  مِقْلَمَةٌ · مِسْطَرَةٌ  ·  قَلَمَانِ · كِتَابَانِ  ·  لَيْسَ عِنْدِي  ·  عَلَى · تَحْتَ · بِجَانِبِ  ·  أُحِبُّ · لَا أُحِبُّ  ·  أُفَضِّلُ … عَلَى …  ·  كَثِيرًا · قَلِيلًا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Back to school: my bag and my choices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العَوْدَةُ إِلَى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back-to-school post (about 45–65 words). Include: • what is in your bag (at least five things, one dual) • one thing you don’t have and will buy • where two things are on your desk • your favourite object and why • one preference between two things, with a reason.</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F4-L03 AND F4-L04.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 وَ…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bag there is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عِنْدِي … ، لِذٰلِكَ سَأَشْتَرِي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have …, so I will buy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كَثِيرًا لِأَنَّهُ / لِأَنَّهَا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a lot because it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correctly and </a:t>
            </a:r>
            <a:pPr algn="l" indent="0" marL="0">
              <a:buNone/>
            </a:pPr>
            <a:r>
              <a:rPr lang="ar-SA" altLang="en-US" sz="1450" dirty="0">
                <a:solidFill>
                  <a:srgbClr val="5A6472"/>
                </a:solidFill>
                <a:latin typeface="Amiri" pitchFamily="2" charset="-78"/>
                <a:ea typeface="Amiri" pitchFamily="2" charset="-78"/>
                <a:cs typeface="Amiri" pitchFamily="2" charset="-78"/>
              </a:rPr>
              <a:t>لَيْسَ عِنْدِي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preference with a reason that agrees with the subject?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عِنْدِي مِمْحَاةٌ، أُرِيدُ مِمْحَاةً،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have a rubber; I would like a rubber,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تُرِيدُ؟</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قَلَمَيْنِ: أَزْرَقَ وَأَسْوَدَ.</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two pens: a blue one and a black one.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قَلَمًا تُرِيدُ؟</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الكَبِيرَ عَلَى الصَّغِيرِ لِأَنِّي أَكْتُبُ كَثِيرًا.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the big one to the small one because I write a lot.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دَفْتَرٌ كَبِيرٌ، وَهٰذَا صَغِيرٌ. أَيُّهُمَا تُفَضِّلُ؟</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أُحِبُّهَا قَلِيلًا، لٰكِنِّي أُفَضِّلُ القَامُوسَ العَادِيَّ.</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them a little, but I prefer an ordinary dictionary.</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القَوَامِيسَ الإِلِكْتُرُونِيَّةَ؟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أَهَمُّ شَيْءٍ الآلَةُ الحَاسِبَةُ لِأَنَّهَا مُفِيدَةٌ فِي الرِّيَاضِيَّاتِ.</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most important thing is the calculator because it is useful in maths.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أَهَمُّ شَيْءٍ فِي حَقِيبَتِكَ؟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حَقِيبَتِي كِتَابَانِ وَدَفْتَرٌ وَمِقْلَمَةٌ وَآلَةٌ حَاسِبَةٌ. فِي المِقْلَمَةِ قَلَمَانِ وَمِمْحَاةٌ. لَيْسَ عِنْدِي مِسْطَرَةٌ، لِذٰلِكَ سَأَشْتَرِي مِسْطَرَةً زَرْقَاءَ. عَلَى مَكْتَبِي قَامُوسٌ، وَبِجَانِبِهِ مِصْبَاحٌ. أُحِبُّ مِقْلَمَتِي كَثِيرًا لِأَنَّهَا كَبِيرَةٌ وَجَمِيلَةٌ. أُفَضِّلُ الدَّفْتَرَ عَلَى الحَاسُوبِ فِي الصَّفِّ لِأَنِّي أَتَذَكَّرُ أَكْثَرَ عِنْدَمَا أَكْتُبُ بِيَدِي.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bag there are two books, a notebook, a pencil case and a calculator. In the pencil case there are two pens and a rubber. I don’t have a ruler, so I will buy a blue ruler. On my desk there is a dictionary, and next to it a lamp. I like my pencil case a lot because it is big and pretty. I prefer a notebook to a computer in class because I remember more when I write by hand.”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كِتَابَانِ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عِنْدِي مِسْطَرَةٌ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كَبِيرَةٌ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الدَّفْتَرَ عَلَى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F4-W02 · Apply workshop (F4-L03 + F4-L04)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F4-L03 and F4-L04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F4-L05 · Giving Reasons — Why?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إِعْطَاءُ الأَسْبَابِ — لِمَاذَا؟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F4-W02 · Apply Workshop — At the School Stationery Shop</dc:title>
  <dc:subject>PptxGenJS Presentation</dc:subject>
  <dc:creator>Al Madina Online School · Arabic Department</dc:creator>
  <cp:lastModifiedBy>Al Madina Online School · Arabic Department</cp:lastModifiedBy>
  <cp:revision>1</cp:revision>
  <dcterms:created xsi:type="dcterms:W3CDTF">2026-10-26T15:17:28Z</dcterms:created>
  <dcterms:modified xsi:type="dcterms:W3CDTF">2026-10-26T15:17:28Z</dcterms:modified>
</cp:coreProperties>
</file>