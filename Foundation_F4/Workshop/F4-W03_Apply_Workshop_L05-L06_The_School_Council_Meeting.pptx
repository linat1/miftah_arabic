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F4-L05 · Learn F4-L06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F4-L05 (Giving Reasons — Why?) and F4-L06 (School Rules and Obligations — Must and Must Not).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F4-L05 and F4-L06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F4-L05? After F4-L06?” Take two answers in the chat for each lesson (one word or one sentence is enough). Then read objective 3 — today’s new situation that needs BOTH lessons. Students tick their route goals at the end of the lesson.
F4-L05 language: li-mādhā? → li-annahu / li-annahā + adjective that agrees with the subject; li-annanī + verb (because I …); li-anna + noun
F4-L06 language: yajibu an + verb in -a (must); lā yajūzu an + verb in -a (must not); yumkinu an (may); imperatives to a boy / girl / group (iḥtarim · iḥtarimī · iḥtarimū); lā + jussive (lā taʾkul)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F4-L05.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F4-L06.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F4-L05 and F4-L06. Teacher reads it once with a confident student; then pairs. Ask: “Which lines are from F4-L05? Which from F4-L06?” يَجِبُ أَنْ · لَا يَجُوزُ أَنْ · يُمْكِنُ أَنْ come from F4-L06; لِمَاذَا؟ → لِأَنَّ + noun / لِأَنَّهُ from F4-L05. Remind: after أَنْ the verb ends in -a (نَصِلَ · نَسْتَعْمِلَ).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must / must not / may + verb in -a (F4-L06) with a reason for every answer in three forms (F4-L05). SUPPORTED: the plan column gives the first words, not the full answer. To a girl Partner A says: لِمَاذَا تُرِيدِينَ …؟ — and she answers: لِأَنَّنِي أُرِيدُ أَنْ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F4-L05 and F4-L06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F4-L05 and F4-L06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(49 words). CHECK YOURSELF (2 min). Find each bullet point in the model, and one phrase from F4-L05 and one from F4-L06.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F4-L05 + F4-L06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F4-W03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The School Council Meeting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اجْتِمَاعُ مَجْلِسِ الطُّلَّابِ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rules and reasons: as the school council they say what students must, must not and may do, and give a reason for every rule (</a:t>
            </a:r>
            <a:pPr algn="l" indent="0" marL="0">
              <a:buNone/>
            </a:pPr>
            <a:r>
              <a:rPr lang="ar-SA" altLang="en-US" sz="1800" dirty="0">
                <a:solidFill>
                  <a:srgbClr val="C6D2E6"/>
                </a:solidFill>
                <a:latin typeface="Amiri" pitchFamily="2" charset="-78"/>
                <a:ea typeface="Amiri" pitchFamily="2" charset="-78"/>
                <a:cs typeface="Amiri" pitchFamily="2" charset="-78"/>
              </a:rPr>
              <a:t>لِأَنَّهُ / لِأَنَّهَا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لِأَنَّنِي</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لِأَنَّ</a:t>
            </a:r>
            <a:pPr algn="l" indent="0" marL="0">
              <a:buNone/>
            </a:pPr>
            <a:r>
              <a:rPr lang="en-US" sz="1400" dirty="0">
                <a:solidFill>
                  <a:srgbClr val="C6D2E6"/>
                </a:solidFill>
                <a:latin typeface="Calibri" pitchFamily="34" charset="0"/>
                <a:cs typeface="Amiri" pitchFamily="2" charset="-78"/>
              </a:rPr>
              <a:t> + noun), then present their ideas and write a council proposal.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F4-L05 + F4-L06</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F4-L05 and F4-L06.</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F4-L05 + F4-L06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F4-L05: Giving Reasons — Why?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F4-L06: School Rules and Obligations — Must and Must Not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council interview · Our school council proposal</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F4-L05 and F4-L06.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F4-L05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F4-L05 · Giving Reasons —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سَهْلٌ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easy</a:t>
            </a:r>
            <a:endParaRPr lang="en-US" sz="1350" dirty="0"/>
          </a:p>
          <a:p>
            <a:pPr indent="0" marL="0">
              <a:buNone/>
            </a:pPr>
            <a:r>
              <a:rPr lang="en-US" sz="1100" i="1" dirty="0">
                <a:solidFill>
                  <a:srgbClr val="5A6472"/>
                </a:solidFill>
                <a:latin typeface="Calibri" pitchFamily="34" charset="0"/>
                <a:cs typeface="Amiri" pitchFamily="2" charset="-78"/>
              </a:rPr>
              <a:t>sahl</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سَهْلَةٌ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سَهْلٌ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مُهِمٌّ</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important</a:t>
            </a:r>
            <a:endParaRPr lang="en-US" sz="1350" dirty="0"/>
          </a:p>
          <a:p>
            <a:pPr indent="0" marL="0">
              <a:buNone/>
            </a:pPr>
            <a:r>
              <a:rPr lang="en-US" sz="1100" i="1" dirty="0">
                <a:solidFill>
                  <a:srgbClr val="5A6472"/>
                </a:solidFill>
                <a:latin typeface="Calibri" pitchFamily="34" charset="0"/>
                <a:cs typeface="Amiri" pitchFamily="2" charset="-78"/>
              </a:rPr>
              <a:t>mu-himm</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مُهِمَّةٌ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مُهِمٌّ</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وَاضِحٌ</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clear</a:t>
            </a:r>
            <a:endParaRPr lang="en-US" sz="1350" dirty="0"/>
          </a:p>
          <a:p>
            <a:pPr indent="0" marL="0">
              <a:buNone/>
            </a:pPr>
            <a:r>
              <a:rPr lang="en-US" sz="1100" i="1" dirty="0">
                <a:solidFill>
                  <a:srgbClr val="5A6472"/>
                </a:solidFill>
                <a:latin typeface="Calibri" pitchFamily="34" charset="0"/>
                <a:cs typeface="Amiri" pitchFamily="2" charset="-78"/>
              </a:rPr>
              <a:t>wā-ḍiḥ</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وَاضِحَةٌ</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وَاضِحٌ</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1" name="Shape 58"/>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مُمْتِعٌ</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enjoyable</a:t>
            </a:r>
            <a:endParaRPr lang="en-US" sz="1350" dirty="0"/>
          </a:p>
          <a:p>
            <a:pPr indent="0" marL="0">
              <a:buNone/>
            </a:pPr>
            <a:r>
              <a:rPr lang="en-US" sz="1100" i="1" dirty="0">
                <a:solidFill>
                  <a:srgbClr val="5A6472"/>
                </a:solidFill>
                <a:latin typeface="Calibri" pitchFamily="34" charset="0"/>
                <a:cs typeface="Amiri" pitchFamily="2" charset="-78"/>
              </a:rPr>
              <a:t>mum-ti‘</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مُمْتِعَةٌ</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مُمْتِعٌ</a:t>
            </a:r>
            <a:endParaRPr lang="ar-SA" sz="1500" dirty="0"/>
          </a:p>
        </p:txBody>
      </p:sp>
      <p:sp>
        <p:nvSpPr>
          <p:cNvPr id="73" name="Shape 7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389120"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6" name="Shape 7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78" name="Text 7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شَيِّقٌ</a:t>
            </a:r>
            <a:endParaRPr lang="ar-SA" sz="3000" dirty="0"/>
          </a:p>
        </p:txBody>
      </p:sp>
      <p:sp>
        <p:nvSpPr>
          <p:cNvPr id="79" name="Text 7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engaging</a:t>
            </a:r>
            <a:endParaRPr lang="en-US" sz="1350" dirty="0"/>
          </a:p>
          <a:p>
            <a:pPr indent="0" marL="0">
              <a:buNone/>
            </a:pPr>
            <a:r>
              <a:rPr lang="en-US" sz="1100" i="1" dirty="0">
                <a:solidFill>
                  <a:srgbClr val="5A6472"/>
                </a:solidFill>
                <a:latin typeface="Calibri" pitchFamily="34" charset="0"/>
                <a:cs typeface="Amiri" pitchFamily="2" charset="-78"/>
              </a:rPr>
              <a:t>shay-yiq</a:t>
            </a:r>
            <a:endParaRPr lang="en-US" sz="1350" dirty="0"/>
          </a:p>
        </p:txBody>
      </p:sp>
      <p:sp>
        <p:nvSpPr>
          <p:cNvPr id="80" name="Shape 7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2" name="Text 7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شَيِّقَةٌ</a:t>
            </a:r>
            <a:endParaRPr lang="ar-SA" sz="1500" dirty="0"/>
          </a:p>
        </p:txBody>
      </p:sp>
      <p:sp>
        <p:nvSpPr>
          <p:cNvPr id="83" name="Shape 8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5" name="Text 82"/>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شَيِّقٌ</a:t>
            </a:r>
            <a:endParaRPr lang="ar-SA" sz="150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9" name="Shape 8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0" name="Text 8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91" name="Text 8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عَمَلِيٌّ</a:t>
            </a:r>
            <a:endParaRPr lang="ar-SA" sz="3000" dirty="0"/>
          </a:p>
        </p:txBody>
      </p:sp>
      <p:sp>
        <p:nvSpPr>
          <p:cNvPr id="92" name="Text 8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practical</a:t>
            </a:r>
            <a:endParaRPr lang="en-US" sz="1350" dirty="0"/>
          </a:p>
          <a:p>
            <a:pPr indent="0" marL="0">
              <a:buNone/>
            </a:pPr>
            <a:r>
              <a:rPr lang="en-US" sz="1100" i="1" dirty="0">
                <a:solidFill>
                  <a:srgbClr val="5A6472"/>
                </a:solidFill>
                <a:latin typeface="Calibri" pitchFamily="34" charset="0"/>
                <a:cs typeface="Amiri" pitchFamily="2" charset="-78"/>
              </a:rPr>
              <a:t>‘a-ma-liyy</a:t>
            </a:r>
            <a:endParaRPr lang="en-US" sz="1350" dirty="0"/>
          </a:p>
        </p:txBody>
      </p:sp>
      <p:sp>
        <p:nvSpPr>
          <p:cNvPr id="93" name="Shape 9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5" name="Text 92"/>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عَمَلِيَّةٌ</a:t>
            </a:r>
            <a:endParaRPr lang="ar-SA" sz="1500" dirty="0"/>
          </a:p>
        </p:txBody>
      </p:sp>
      <p:sp>
        <p:nvSpPr>
          <p:cNvPr id="96" name="Shape 9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a:t>
            </a:r>
            <a:endParaRPr lang="ar-SA" sz="150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F4-L06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F4-L06 · School Rules and Obligations — Must and Must Not</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قَاعِدَةٌ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rule</a:t>
            </a:r>
            <a:endParaRPr lang="en-US" sz="1350" dirty="0"/>
          </a:p>
          <a:p>
            <a:pPr indent="0" marL="0">
              <a:buNone/>
            </a:pPr>
            <a:r>
              <a:rPr lang="en-US" sz="1100" i="1" dirty="0">
                <a:solidFill>
                  <a:srgbClr val="5A6472"/>
                </a:solidFill>
                <a:latin typeface="Calibri" pitchFamily="34" charset="0"/>
                <a:cs typeface="Amiri" pitchFamily="2" charset="-78"/>
              </a:rPr>
              <a:t>qā-‘i-da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قَوَاعِدُ</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الاِحْتِرَامُ</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a:t>
            </a:r>
            <a:endParaRPr lang="en-US" sz="1350" dirty="0"/>
          </a:p>
          <a:p>
            <a:pPr indent="0" marL="0">
              <a:buNone/>
            </a:pPr>
            <a:r>
              <a:rPr lang="en-US" sz="1100" i="1" dirty="0">
                <a:solidFill>
                  <a:srgbClr val="5A6472"/>
                </a:solidFill>
                <a:latin typeface="Calibri" pitchFamily="34" charset="0"/>
                <a:cs typeface="Amiri" pitchFamily="2" charset="-78"/>
              </a:rPr>
              <a:t>al-iḥ-ti-rām</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9" name="Shape 36"/>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الْهَاتِفُ الْمَحْمُولُ</a:t>
            </a:r>
            <a:endParaRPr lang="ar-SA" sz="3000" dirty="0"/>
          </a:p>
        </p:txBody>
      </p:sp>
      <p:sp>
        <p:nvSpPr>
          <p:cNvPr id="44" name="Text 41"/>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mobile phone</a:t>
            </a:r>
            <a:endParaRPr lang="en-US" sz="1350" dirty="0"/>
          </a:p>
          <a:p>
            <a:pPr indent="0" marL="0">
              <a:buNone/>
            </a:pPr>
            <a:r>
              <a:rPr lang="en-US" sz="1100" i="1" dirty="0">
                <a:solidFill>
                  <a:srgbClr val="5A6472"/>
                </a:solidFill>
                <a:latin typeface="Calibri" pitchFamily="34" charset="0"/>
                <a:cs typeface="Amiri" pitchFamily="2" charset="-78"/>
              </a:rPr>
              <a:t>al-hā-tif al-maḥ-mūl</a:t>
            </a:r>
            <a:endParaRPr lang="en-US" sz="1350" dirty="0"/>
          </a:p>
        </p:txBody>
      </p:sp>
      <p:sp>
        <p:nvSpPr>
          <p:cNvPr id="45" name="Shape 42"/>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7" name="Text 44"/>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الْهَوَاتِفُ</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يَجِبُ أَنْ …</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 must …</a:t>
            </a:r>
            <a:endParaRPr lang="en-US" sz="1350" dirty="0"/>
          </a:p>
          <a:p>
            <a:pPr indent="0" marL="0">
              <a:buNone/>
            </a:pPr>
            <a:r>
              <a:rPr lang="en-US" sz="1100" i="1" dirty="0">
                <a:solidFill>
                  <a:srgbClr val="5A6472"/>
                </a:solidFill>
                <a:latin typeface="Calibri" pitchFamily="34" charset="0"/>
                <a:cs typeface="Amiri" pitchFamily="2" charset="-78"/>
              </a:rPr>
              <a:t>ya-ji-bu an …</a:t>
            </a:r>
            <a:endParaRPr lang="en-US" sz="135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8" name="Shape 5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يُمْكِنُ أَنْ …</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 may / can …</a:t>
            </a:r>
            <a:endParaRPr lang="en-US" sz="1350" dirty="0"/>
          </a:p>
          <a:p>
            <a:pPr indent="0" marL="0">
              <a:buNone/>
            </a:pPr>
            <a:r>
              <a:rPr lang="en-US" sz="1100" i="1" dirty="0">
                <a:solidFill>
                  <a:srgbClr val="5A6472"/>
                </a:solidFill>
                <a:latin typeface="Calibri" pitchFamily="34" charset="0"/>
                <a:cs typeface="Amiri" pitchFamily="2" charset="-78"/>
              </a:rPr>
              <a:t>yum-ki-nu an …</a:t>
            </a:r>
            <a:endParaRPr lang="en-US" sz="1350" dirty="0"/>
          </a:p>
        </p:txBody>
      </p:sp>
      <p:sp>
        <p:nvSpPr>
          <p:cNvPr id="62" name="Shape 5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66928"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5" name="Shape 6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تَأْكُلْ</a:t>
            </a:r>
            <a:endParaRPr lang="ar-SA" sz="3000" dirty="0"/>
          </a:p>
        </p:txBody>
      </p:sp>
      <p:sp>
        <p:nvSpPr>
          <p:cNvPr id="68" name="Text 6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don’t eat! (to a boy)</a:t>
            </a:r>
            <a:endParaRPr lang="en-US" sz="1350" dirty="0"/>
          </a:p>
          <a:p>
            <a:pPr indent="0" marL="0">
              <a:buNone/>
            </a:pPr>
            <a:r>
              <a:rPr lang="en-US" sz="1100" i="1" dirty="0">
                <a:solidFill>
                  <a:srgbClr val="5A6472"/>
                </a:solidFill>
                <a:latin typeface="Calibri" pitchFamily="34" charset="0"/>
                <a:cs typeface="Amiri" pitchFamily="2" charset="-78"/>
              </a:rPr>
              <a:t>lā taʾ-kul</a:t>
            </a:r>
            <a:endParaRPr lang="en-US" sz="13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لِأَنَّهُ / لِأَنَّهَا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يَجُوزُ أَنْ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لِأَنَّنِي أُرِيدُ أَنْ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لِأَنَّ المُعَلِّمِينَ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يُمْكِنُ أَنْ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هٰذِهِ القَاعِدَةُ مُهِمَّةٌ لِأَنَّ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لٰكِنَّ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F4-L05 · Giving Reasons — Why?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F4-L06 · School Rules and Obligations — Must and Must Not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F4-L05 · Giving Reasons — Why?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لِأَنَّهُ / لِأَنَّهَا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لِأَنَّنِي أُرِيدُ أَنْ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لِأَنَّ المُعَلِّمِينَ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لٰكِنَّ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F4-L06 · School Rules and Obligations — Must and Must Not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يَجُوزُ أَنْ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يُمْكِنُ أَنْ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هٰذِهِ القَاعِدَةُ مُهِمَّةٌ لِأَنَّ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rule — and a reason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قَاعِدَةٌ وَسَبَبٌ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most important rule, in your opinion?</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أَهَمُّ قَاعِدَةٍ فِي رَأْيِكَ؟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must arrive on time.</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يَجِبُ أَنْ نَصِلَ فِي الوَقْتِ.</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لِمَاذَا؟</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the first lesson is very important.</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لِأَنَّ الحِصَّةَ الأُولَى مُهِمَّةٌ جِدًّا.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may we use the phone in class?</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وَهَلْ يُمْكِنُ أَنْ نَسْتَعْمِلَ الهَاتِفَ فِي الصَّفِّ؟</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we must not use it, because it wastes time.</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لَا، لَا يَجُوزُ أَنْ نَسْتَعْمِلَهُ، لِأَنَّهُ يُضَيِّعُ الوَقْتَ.</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وَلِأَنَّنِي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لِأَنَّهُ / لِأَنَّهَا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do you like your favourite subject?</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تُحِبُّ مَادَّتَكَ المُفَضَّلَةَ؟</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لَوْنُهُ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يَجِبُ أَنْ أَلْبَسَ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must you wear at school?</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يَجِبُ أَنْ تَلْبَسَ فِي المَدْرَسَةِ؟</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وَنَسْتَعْمِلُهَا كُلَّ يَوْمٍ</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لِأَنَّهَا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is maths important?</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الرِّيَاضِيَّاتُ مُهِمَّةٌ؟</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يَجُوزُ أَنْ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must you not do in class?</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لَا يَجُوزُ أَنْ تَفْعَلَ فِي الصَّفِّ؟</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وَلِأَنَّ عَائِلَتِي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لِأَنَّنِي أُرِيدُ أَنْ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do you study Arabic?</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تَدْرُسُ العَرَبِيَّةَ؟</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يُمْكِنُ أَنْ نَأْكُلَ فِي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لَا يَجُوزُ … / نَعَمْ، يُمْكِنُ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Can you eat in class?</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يُمْكِنُ أَنْ تَأْكُلَ فِي الصَّفِّ؟</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F4-L05, even numbers from F4-L06.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Role-play card — the council interview</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المَجْلِسِ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يَجِبُ أَنْ نَلْبَسَ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uniform rule.</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يَجِبُ أَنْ يَلْبَسَ الطُّلَّابُ؟</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 لِأَنَّهُ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reason with </a:t>
            </a:r>
            <a:pPr algn="l" indent="0" marL="0">
              <a:buNone/>
            </a:pPr>
            <a:r>
              <a:rPr lang="ar-SA" altLang="en-US" sz="1450" dirty="0">
                <a:solidFill>
                  <a:srgbClr val="5A6472"/>
                </a:solidFill>
                <a:latin typeface="Amiri" pitchFamily="2" charset="-78"/>
                <a:ea typeface="Amiri" pitchFamily="2" charset="-78"/>
                <a:cs typeface="Amiri" pitchFamily="2" charset="-78"/>
              </a:rPr>
              <a:t>لِأَنَّهُ</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لَا يَجُوزُ أَنْ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“must not” rule.</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لَا يَجُوزُ فِي المَقْصَفِ؟</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لَا … لِأَنَّ الصَّفَّ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and give a reason with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noun.</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يُمْكِنُ أَنْ نَأْكُلَ فِي الصَّفِّ؟</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 لِأَنَّنِي أُرِيدُ أَنْ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reason with </a:t>
            </a:r>
            <a:pPr algn="l" indent="0" marL="0">
              <a:buNone/>
            </a:pPr>
            <a:r>
              <a:rPr lang="ar-SA" altLang="en-US" sz="1450" dirty="0">
                <a:solidFill>
                  <a:srgbClr val="5A6472"/>
                </a:solidFill>
                <a:latin typeface="Amiri" pitchFamily="2" charset="-78"/>
                <a:ea typeface="Amiri" pitchFamily="2" charset="-78"/>
                <a:cs typeface="Amiri" pitchFamily="2" charset="-78"/>
              </a:rPr>
              <a:t>لِأَنَّنِي</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تُرِيدُ أَنْ تَكُونَ فِي المَجْلِسِ؟</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council member · Partner A = the head teacher.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rules for a better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ثَلَاثُ قَوَاعِدَ لِمَدْرَسَةٍ أَفْضَلَ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as a council member: one thing students must do, one thing they must not do and one thing they may do — with a reason for each.</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يَجِبُ أَنْ … · لَا يَجُوزُ أَنْ … · يُمْكِنُ أَنْ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reason for each rule: </a:t>
            </a:r>
            <a:pPr algn="l" indent="0" marL="0">
              <a:buNone/>
            </a:pPr>
            <a:r>
              <a:rPr lang="ar-SA" altLang="en-US" sz="1500" dirty="0">
                <a:solidFill>
                  <a:srgbClr val="1F2A37"/>
                </a:solidFill>
                <a:latin typeface="Amiri" pitchFamily="2" charset="-78"/>
                <a:ea typeface="Amiri" pitchFamily="2" charset="-78"/>
                <a:cs typeface="Amiri" pitchFamily="2" charset="-78"/>
              </a:rPr>
              <a:t>لِأَنَّهُ / لِأَنَّهَا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Use all three reason forms (</a:t>
            </a:r>
            <a:pPr algn="l" indent="0" marL="0">
              <a:buNone/>
            </a:pPr>
            <a:r>
              <a:rPr lang="ar-SA" altLang="en-US" sz="1500" dirty="0">
                <a:solidFill>
                  <a:srgbClr val="1F2A37"/>
                </a:solidFill>
                <a:latin typeface="Amiri" pitchFamily="2" charset="-78"/>
                <a:ea typeface="Amiri" pitchFamily="2" charset="-78"/>
                <a:cs typeface="Amiri" pitchFamily="2" charset="-78"/>
              </a:rPr>
              <a:t>لِأَنَّهُ</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لِأَنَّنِي</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 + noun) and one imperative: </a:t>
            </a:r>
            <a:pPr algn="l" indent="0" marL="0">
              <a:buNone/>
            </a:pPr>
            <a:r>
              <a:rPr lang="ar-SA" altLang="en-US" sz="1500" dirty="0">
                <a:solidFill>
                  <a:srgbClr val="1F2A37"/>
                </a:solidFill>
                <a:latin typeface="Amiri" pitchFamily="2" charset="-78"/>
                <a:ea typeface="Amiri" pitchFamily="2" charset="-78"/>
                <a:cs typeface="Amiri" pitchFamily="2" charset="-78"/>
              </a:rPr>
              <a:t>احْتَرِمُوا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يَجِبُ أَنْ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 must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لَا يَجُوزُ أَنْ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 must not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يُمْكِنُ 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 may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لِأَنَّهُ · لِأَنَّنِي · لِأَنَّ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it · because I · because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like geography because it is interesting.</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الجُغْرَافِيَا</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الجُغْرَافِيَا هُوَ</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لِأَنَّهَا</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لِأَنَّهُ</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مُثِيرَةٌ لِلِاهْتِمَامِ.</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مُثِيرٌ لِلِاهْتِمَامِ.</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We must respect the teachers.</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لَا يَجُوزُ</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نَحْتَرِمَ</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نَحْتَرِمُ</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المُعَلِّمِينَ.</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المُعَلِّمُونَ.</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study Arabic because I love the language.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أَدْرُسُ العَرَبِيَّةَ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تَدْرُسُ العَرَبِيَّةَ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لِأَنَّنِي</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اللُّغَةَ.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اللُّغَةُ.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like geography because it is interesting.</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الجُغْرَافِيَا</a:t>
            </a:r>
            <a:pPr algn="l" indent="0" marL="0">
              <a:buNone/>
            </a:pPr>
            <a:r>
              <a:rPr lang="en-US" sz="1050" i="1" dirty="0">
                <a:solidFill>
                  <a:srgbClr val="5A6472"/>
                </a:solidFill>
                <a:latin typeface="Calibri" pitchFamily="34" charset="0"/>
                <a:cs typeface="Amiri" pitchFamily="2" charset="-78"/>
              </a:rPr>
              <a:t> is feminine → </a:t>
            </a:r>
            <a:pPr algn="l" indent="0" marL="0">
              <a:buNone/>
            </a:pPr>
            <a:r>
              <a:rPr lang="ar-SA" altLang="en-US" sz="1350" dirty="0">
                <a:solidFill>
                  <a:srgbClr val="5A6472"/>
                </a:solidFill>
                <a:latin typeface="Amiri" pitchFamily="2" charset="-78"/>
                <a:ea typeface="Amiri" pitchFamily="2" charset="-78"/>
                <a:cs typeface="Amiri" pitchFamily="2" charset="-78"/>
              </a:rPr>
              <a:t>لِأَنَّهَا مُثِيرَةٌ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أُحِبُّ الجُغْرَافِيَا لِأَنَّهَا مُثِيرَةٌ لِلِاهْتِمَامِ.</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We must respect the teachers.</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Must = </a:t>
            </a:r>
            <a:pPr algn="l" indent="0" marL="0">
              <a:buNone/>
            </a:pPr>
            <a:r>
              <a:rPr lang="ar-SA" altLang="en-US" sz="1350" dirty="0">
                <a:solidFill>
                  <a:srgbClr val="5A6472"/>
                </a:solidFill>
                <a:latin typeface="Amiri" pitchFamily="2" charset="-78"/>
                <a:ea typeface="Amiri" pitchFamily="2" charset="-78"/>
                <a:cs typeface="Amiri" pitchFamily="2" charset="-78"/>
              </a:rPr>
              <a:t>يَجِبُ أَنْ</a:t>
            </a:r>
            <a:pPr algn="l" indent="0" marL="0">
              <a:buNone/>
            </a:pPr>
            <a:r>
              <a:rPr lang="en-US" sz="1050" i="1" dirty="0">
                <a:solidFill>
                  <a:srgbClr val="5A6472"/>
                </a:solidFill>
                <a:latin typeface="Calibri" pitchFamily="34" charset="0"/>
                <a:cs typeface="Amiri" pitchFamily="2" charset="-78"/>
              </a:rPr>
              <a:t> + verb ending in -a (</a:t>
            </a:r>
            <a:pPr algn="l" indent="0" marL="0">
              <a:buNone/>
            </a:pPr>
            <a:r>
              <a:rPr lang="ar-SA" altLang="en-US" sz="1350" dirty="0">
                <a:solidFill>
                  <a:srgbClr val="5A6472"/>
                </a:solidFill>
                <a:latin typeface="Amiri" pitchFamily="2" charset="-78"/>
                <a:ea typeface="Amiri" pitchFamily="2" charset="-78"/>
                <a:cs typeface="Amiri" pitchFamily="2" charset="-78"/>
              </a:rPr>
              <a:t>نَحْتَرِمَ</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يَجِبُ أَنْ نَحْتَرِمَ المُعَلِّمِينَ.</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study Arabic because I love the language.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Because I + verb = </a:t>
            </a:r>
            <a:pPr algn="l" indent="0" marL="0">
              <a:buNone/>
            </a:pPr>
            <a:r>
              <a:rPr lang="ar-SA" altLang="en-US" sz="1350" dirty="0">
                <a:solidFill>
                  <a:srgbClr val="5A6472"/>
                </a:solidFill>
                <a:latin typeface="Amiri" pitchFamily="2" charset="-78"/>
                <a:ea typeface="Amiri" pitchFamily="2" charset="-78"/>
                <a:cs typeface="Amiri" pitchFamily="2" charset="-78"/>
              </a:rPr>
              <a:t>لِأَنَّنِي أُحِبُّ</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أَدْرُسُ العَرَبِيَّةَ لِأَنَّنِي أُحِبُّ اللُّغَةَ.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الفَنَّ لِأَنَّهَا مُمْتِعَةٌ.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الفَنُّ</a:t>
            </a:r>
            <a:pPr algn="l" indent="0" marL="0">
              <a:buNone/>
            </a:pPr>
            <a:r>
              <a:rPr lang="en-US" sz="1300" i="1" dirty="0">
                <a:solidFill>
                  <a:srgbClr val="5A6472"/>
                </a:solidFill>
                <a:latin typeface="Calibri" pitchFamily="34" charset="0"/>
                <a:cs typeface="Amiri" pitchFamily="2" charset="-78"/>
              </a:rPr>
              <a:t> is masculine.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أَنْ نَلْبَسُ اللِّبَاسَ المَدْرَسِيَّ.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verb 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أَدْرُسُ كَثِيرًا لِأَنَّ أُرِيدُ النَّجَاحَ.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Because I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الفَنَّ لِأَنَّهَا مُمْتِعَةٌ.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الفَنَّ لِأَنَّهُ مُمْتِعٌ.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Masculine subject → </a:t>
            </a:r>
            <a:pPr algn="l" indent="0" marL="0">
              <a:buNone/>
            </a:pPr>
            <a:r>
              <a:rPr lang="ar-SA" altLang="en-US" sz="1500" b="1" dirty="0">
                <a:solidFill>
                  <a:srgbClr val="1B3B6F"/>
                </a:solidFill>
                <a:latin typeface="Amiri" pitchFamily="2" charset="-78"/>
                <a:ea typeface="Amiri" pitchFamily="2" charset="-78"/>
                <a:cs typeface="Amiri" pitchFamily="2" charset="-78"/>
              </a:rPr>
              <a:t>لِأَنَّهُ مُمْتِعٌ</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أَنْ نَلْبَسُ اللِّبَاسَ المَدْرَسِيَّ.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أَنْ نَلْبَسَ اللِّبَاسَ المَدْرَسِيَّ.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 verb ending in -a.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أَدْرُسُ كَثِيرًا لِأَنَّ أُرِيدُ النَّجَاحَ.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أَدْرُسُ كَثِيرًا لِأَنَّنِي أُرِيدُ النَّجَاحَ.</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Before a verb: </a:t>
            </a:r>
            <a:pPr algn="l" indent="0" marL="0">
              <a:buNone/>
            </a:pPr>
            <a:r>
              <a:rPr lang="ar-SA" altLang="en-US" sz="1500" b="1" dirty="0">
                <a:solidFill>
                  <a:srgbClr val="1B3B6F"/>
                </a:solidFill>
                <a:latin typeface="Amiri" pitchFamily="2" charset="-78"/>
                <a:ea typeface="Amiri" pitchFamily="2" charset="-78"/>
                <a:cs typeface="Amiri" pitchFamily="2" charset="-78"/>
              </a:rPr>
              <a:t>لِأَنَّنِي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نَقْتَرِحُ هٰذِهِ القَوَاعِدَ لِأَنَّنَا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suggest these rules because we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وَأَيْضًا يَجِبُ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also we must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السَّلَامُ عَلَيْكُمْ يَا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Peace be upon you, (head teacher).</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______ لِأَنَّ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 because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يَجُوزُ أَنْ ______ لِأَنَّهُ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not … because it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يُمْكِنُ أَنْ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may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شُكْرًا جَزِيلًا.</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very much.</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يَجِبُ أَنْ  ·  لَا يَجُوزُ أَنْ  ·  يُمْكِنُ أَنْ  ·  نَصِلَ فِي الوَقْتِ  ·  نَحْتَرِمَ  ·  نَلْبَسَ  ·  لِأَنَّهُ · لِأَنَّهَا  ·  لِأَنَّنِي · لِأَنَّنَا</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school council proposal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اقْتِرَاحُ مَجْلِسِ الطُّلَّابِ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Write a proposal (about 45–65 words) to the head teacher. Include: • a polite greeting • two things students must do • two things students must not do • one thing students may do • a reason for every rule, using at least three different reason forms • a polite closing.</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F4-L05 AND F4-L06.</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 لِأَنَّهُ / لِأَنَّهَا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must … because it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يَجُوزُ أَنْ … لِأَنَّ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must not … because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يُمْكِنُ 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may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نَقْتَرِحُ هٰذِهِ القَوَاعِدَ لِأَنَّنَا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suggest these rules because we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“why” with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 every verb after </a:t>
            </a:r>
            <a:pPr algn="l" indent="0" marL="0">
              <a:buNone/>
            </a:pPr>
            <a:r>
              <a:rPr lang="ar-SA" altLang="en-US" sz="1450" dirty="0">
                <a:solidFill>
                  <a:srgbClr val="5A6472"/>
                </a:solidFill>
                <a:latin typeface="Amiri" pitchFamily="2" charset="-78"/>
                <a:ea typeface="Amiri" pitchFamily="2" charset="-78"/>
                <a:cs typeface="Amiri" pitchFamily="2" charset="-78"/>
              </a:rPr>
              <a:t>أَنْ</a:t>
            </a:r>
            <a:pPr algn="l" indent="0" marL="0">
              <a:buNone/>
            </a:pPr>
            <a:r>
              <a:rPr lang="en-US" sz="1100" dirty="0">
                <a:solidFill>
                  <a:srgbClr val="5A6472"/>
                </a:solidFill>
                <a:latin typeface="Calibri" pitchFamily="34" charset="0"/>
                <a:cs typeface="Amiri" pitchFamily="2" charset="-78"/>
              </a:rPr>
              <a:t> in -a?</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نَلْبَسَ اللِّبَاسَ المَدْرَسِيَّ كُلَّ يَوْمٍ.</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must wear the school uniform every day.</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يَجِبُ أَنْ يَلْبَسَ الطُّلَّابُ؟</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 مُرَتَّبٌ وَعَمَلِيٌّ.</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Because it is smart and practical.</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يَجُوزُ أَنْ نَرْكُضَ فِي المَقْصَفِ.</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must not run in the canteen.</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لَا يَجُوزُ فِي المَقْصَفِ؟</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لِأَنَّ الصَّفَّ يَجِبُ أَنْ يَكُونَ نَظِيفًا.</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No, because the classroom must be clean.</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يُمْكِنُ أَنْ نَأْكُلَ فِي الصَّفِّ؟</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لِأَنَّنِي أُرِيدُ أَنْ أُسَاعِدَ زُمَلَائِي.</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Because I want to help my classmates.</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تُرِيدُ أَنْ تَكُونَ فِي المَجْلِسِ؟</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يَا حَضْرَةَ المُدِيرِ. يَجِبُ أَنْ نَصِلَ فِي الوَقْتِ لِأَنَّ الحِصَّةَ الأُولَى مُهِمَّةٌ. وَيَجِبُ أَنْ نَحْتَرِمَ المُعَلِّمِينَ لِأَنَّهُمْ يُسَاعِدُونَنَا. لَا يَجُوزُ أَنْ نَسْتَعْمِلَ الهَاتِفَ فِي الصَّفِّ لِأَنَّهُ يُضَيِّعُ الوَقْتَ، وَلَا يَجُوزُ أَنْ نَأْكُلَ فِي المَكْتَبَةِ. يُمْكِنُ أَنْ نَقْرَأَ فِي الاِسْتِرَاحَةِ. نَقْتَرِحُ هٰذِهِ القَوَاعِدَ لِأَنَّنَا نُحِبُّ مَدْرَسَتَنَا. شُكْرًا جَزِيلًا.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Head Teacher. We must arrive on time because the first lesson is important. And we must respect the teachers because they help us. We must not use the phone in class because it wastes time, and we must not eat in the library. We may read at break time. We suggest these rules because we love our school. Thank you very much.”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يَجِبُ أَنْ نَصِلَ</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لِأَنَّهُمْ يُسَاعِدُونَنَا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يَجُوزُ أَنْ نَسْتَعْمِلَ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لِأَنَّنَا نُحِبُّ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F4-W03 · Apply workshop (F4-L05 + F4-L06)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F4-L05 and F4-L06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F4-W03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F4-L07 · A Typical School Day — Narrating a Sequence</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يَوْمٌ مَدْرَسِيٌّ عَادِيٌّ — سَرْدُ التَّسَلْسُلِ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F4-W03 · Apply Workshop — The School Council Meeting</dc:title>
  <dc:subject>PptxGenJS Presentation</dc:subject>
  <dc:creator>Al Madina Online School · Arabic Department</dc:creator>
  <cp:lastModifiedBy>Al Madina Online School · Arabic Department</cp:lastModifiedBy>
  <cp:revision>1</cp:revision>
  <dcterms:created xsi:type="dcterms:W3CDTF">2026-10-26T15:17:29Z</dcterms:created>
  <dcterms:modified xsi:type="dcterms:W3CDTF">2026-10-26T15:17:29Z</dcterms:modified>
</cp:coreProperties>
</file>