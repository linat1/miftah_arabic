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F4-L05 · Learn F4-L06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F4-L05 (Giving Reasons — Why?) and F4-L06 (School Rules and Obligations — Must and Must Not).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F4-L05 and F4-L06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F4-L05? After F4-L06?” Take two answers in the chat for each lesson (one word or one sentence is enough). Then read objective 3 — today’s new situation that needs BOTH lessons. Students tick their route goals at the end of the lesson.
F4-L05 language: li-mādhā? → li-annahu / li-annahā + adjective that agrees with the subject; li-annanī + verb (because I …); li-anna + noun
F4-L06 language: yajibu an + verb in -a (must); lā yajūzu an + verb in -a (must not); yumkinu an (may); imperatives to a boy / girl / group (iḥtarim · iḥtarimī · iḥtarimū); lā + jussive (lā taʾkul)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F4-L05 and F4-L06. Teacher reads it once with a confident student; then pairs. Ask: “Which lines are from F4-L05? Which from F4-L06?” يَجِبُ أَنْ · لَا يَجُوزُ أَنْ · يُمْكِنُ أَنْ come from F4-L06; لِمَاذَا؟ → لِأَنَّ + noun / لِأَنَّهُ from F4-L05. Remind: after أَنْ the verb ends in -a (نَصِلَ · نَسْتَعْمِلَ).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must / must not / may + verb in -a (F4-L06) with a reason for every answer in three forms (F4-L05). SUPPORTED: the plan column gives the first words, not the full answer. To a girl Partner A says: لِمَاذَا تُرِيدِينَ …؟ — and she answers: لِأَنَّنِي أُرِيدُ أَنْ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F4-L05 and F4-L06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F4-L05 and F4-L06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and one phrase from F4-L05 and one from F4-L06.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F4-L05 + F4-L06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School Council Meeting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اجْتِمَاعُ مَجْلِسِ الطُّلَّابِ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rules and reasons: as the school council they say what students must, must not and may do, and give a reason for every rule (</a:t>
            </a:r>
            <a:pPr algn="l" indent="0" marL="0">
              <a:buNone/>
            </a:pPr>
            <a:r>
              <a:rPr lang="ar-SA" altLang="en-US" sz="1800" dirty="0">
                <a:solidFill>
                  <a:srgbClr val="C6D2E6"/>
                </a:solidFill>
                <a:latin typeface="Amiri" pitchFamily="2" charset="-78"/>
                <a:ea typeface="Amiri" pitchFamily="2" charset="-78"/>
                <a:cs typeface="Amiri" pitchFamily="2" charset="-78"/>
              </a:rPr>
              <a:t>لِأَنَّهُ / لِأَنَّهَا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لِأَنَّنِي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لِأَنَّ</a:t>
            </a:r>
            <a:pPr algn="l" indent="0" marL="0">
              <a:buNone/>
            </a:pPr>
            <a:r>
              <a:rPr lang="en-US" sz="1400" dirty="0">
                <a:solidFill>
                  <a:srgbClr val="C6D2E6"/>
                </a:solidFill>
                <a:latin typeface="Calibri" pitchFamily="34" charset="0"/>
                <a:cs typeface="Amiri" pitchFamily="2" charset="-78"/>
              </a:rPr>
              <a:t> + noun), then present their ideas and write a council proposal.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F4-L05 + F4-L06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F4-L05 and F4-L06.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F4-L05 + F4-L06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F4-L05: Giving Reasons — Why?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F4-L06: School Rules and Obligations — Must and Must Not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council interview · Our school council proposal</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F4-L05 and F4-L06.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F4-L05 · Giving Reasons —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سَهْلٌ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مُهِمٌّ</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وَاضِحٌ</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clear</a:t>
            </a:r>
            <a:endParaRPr lang="en-US" sz="1350" dirty="0"/>
          </a:p>
          <a:p>
            <a:pPr indent="0" marL="0">
              <a:buNone/>
            </a:pPr>
            <a:r>
              <a:rPr lang="en-US" sz="1100" i="1" dirty="0">
                <a:solidFill>
                  <a:srgbClr val="5A6472"/>
                </a:solidFill>
                <a:latin typeface="Calibri" pitchFamily="34" charset="0"/>
                <a:cs typeface="Amiri" pitchFamily="2" charset="-78"/>
              </a:rPr>
              <a:t>wā-ḍiḥ</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وَاضِحَةٌ</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وَاضِحٌ</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6" name="Shape 7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شَيِّقٌ</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engaging</a:t>
            </a:r>
            <a:endParaRPr lang="en-US" sz="1350" dirty="0"/>
          </a:p>
          <a:p>
            <a:pPr indent="0" marL="0">
              <a:buNone/>
            </a:pPr>
            <a:r>
              <a:rPr lang="en-US" sz="1100" i="1" dirty="0">
                <a:solidFill>
                  <a:srgbClr val="5A6472"/>
                </a:solidFill>
                <a:latin typeface="Calibri" pitchFamily="34" charset="0"/>
                <a:cs typeface="Amiri" pitchFamily="2" charset="-78"/>
              </a:rPr>
              <a:t>shay-yiq</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شَيِّقَةٌ</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شَيِّقٌ</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‘a-ma-liyy</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F4-L06 · School Rules and Obligations — Must and Must Not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قَاعِدَةٌ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a:t>
            </a:r>
            <a:endParaRPr lang="en-US" sz="1350" dirty="0"/>
          </a:p>
          <a:p>
            <a:pPr indent="0" marL="0">
              <a:buNone/>
            </a:pPr>
            <a:r>
              <a:rPr lang="en-US" sz="1100" i="1" dirty="0">
                <a:solidFill>
                  <a:srgbClr val="5A6472"/>
                </a:solidFill>
                <a:latin typeface="Calibri" pitchFamily="34" charset="0"/>
                <a:cs typeface="Amiri" pitchFamily="2" charset="-78"/>
              </a:rPr>
              <a:t>qā-‘i-da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قَوَاعِدُ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الاِحْتِرَامُ</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al-iḥ-ti-rām</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الْهَاتِفُ الْمَحْمُولُ</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mobile phone</a:t>
            </a:r>
            <a:endParaRPr lang="en-US" sz="1350" dirty="0"/>
          </a:p>
          <a:p>
            <a:pPr indent="0" marL="0">
              <a:buNone/>
            </a:pPr>
            <a:r>
              <a:rPr lang="en-US" sz="1100" i="1" dirty="0">
                <a:solidFill>
                  <a:srgbClr val="5A6472"/>
                </a:solidFill>
                <a:latin typeface="Calibri" pitchFamily="34" charset="0"/>
                <a:cs typeface="Amiri" pitchFamily="2" charset="-78"/>
              </a:rPr>
              <a:t>al-hā-tif al-maḥ-mūl</a:t>
            </a:r>
            <a:endParaRPr lang="en-US" sz="1350" dirty="0"/>
          </a:p>
        </p:txBody>
      </p:sp>
      <p:sp>
        <p:nvSpPr>
          <p:cNvPr id="45" name="Shape 42"/>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الْهَوَاتِفُ</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must …</a:t>
            </a:r>
            <a:endParaRPr lang="en-US" sz="1350" dirty="0"/>
          </a:p>
          <a:p>
            <a:pPr indent="0" marL="0">
              <a:buNone/>
            </a:pPr>
            <a:r>
              <a:rPr lang="en-US" sz="1100" i="1" dirty="0">
                <a:solidFill>
                  <a:srgbClr val="5A6472"/>
                </a:solidFill>
                <a:latin typeface="Calibri" pitchFamily="34" charset="0"/>
                <a:cs typeface="Amiri" pitchFamily="2" charset="-78"/>
              </a:rPr>
              <a:t>ya-ji-bu an …</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يُمْكِنُ أَنْ …</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may / can …</a:t>
            </a:r>
            <a:endParaRPr lang="en-US" sz="1350" dirty="0"/>
          </a:p>
          <a:p>
            <a:pPr indent="0" marL="0">
              <a:buNone/>
            </a:pPr>
            <a:r>
              <a:rPr lang="en-US" sz="1100" i="1" dirty="0">
                <a:solidFill>
                  <a:srgbClr val="5A6472"/>
                </a:solidFill>
                <a:latin typeface="Calibri" pitchFamily="34" charset="0"/>
                <a:cs typeface="Amiri" pitchFamily="2" charset="-78"/>
              </a:rPr>
              <a:t>yum-ki-nu an …</a:t>
            </a:r>
            <a:endParaRPr lang="en-US" sz="135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تَأْكُلْ</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don’t eat! (to a boy)</a:t>
            </a:r>
            <a:endParaRPr lang="en-US" sz="1350" dirty="0"/>
          </a:p>
          <a:p>
            <a:pPr indent="0" marL="0">
              <a:buNone/>
            </a:pPr>
            <a:r>
              <a:rPr lang="en-US" sz="1100" i="1" dirty="0">
                <a:solidFill>
                  <a:srgbClr val="5A6472"/>
                </a:solidFill>
                <a:latin typeface="Calibri" pitchFamily="34" charset="0"/>
                <a:cs typeface="Amiri" pitchFamily="2" charset="-78"/>
              </a:rPr>
              <a:t>lā taʾ-kul</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لِأَنَّنِي أُرِيدُ أَنْ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لِأَنَّ المُعَلِّمِينَ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يُمْكِنُ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القَاعِدَةُ مُهِمَّةٌ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F4-L05 · Giving Reasons — Why?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F4-L06 · School Rules and Obligations — Must and Must Not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F4-L05 · Giving Reasons — Why?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لِأَنَّنِي أُرِيدُ أَنْ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لِأَنَّ المُعَلِّمِينَ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F4-L06 · School Rules and Obligations — Must and Must Not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يُمْكِنُ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القَاعِدَةُ مُهِمَّةٌ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rule — and a reason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قَاعِدَةٌ وَسَبَبٌ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most important rule, in your opinion?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أَهَمُّ قَاعِدَةٍ فِي رَأْيِكَ؟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arrive on time.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يَجِبُ أَنْ نَصِلَ فِي الوَقْتِ.</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لِمَاذَا؟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the first lesson is very important.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لِأَنَّ الحِصَّةَ الأُولَى مُهِمَّةٌ جِدًّا.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may we use the phone in class?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يُمْكِنُ أَنْ نَسْتَعْمِلَ الهَاتِفَ فِي الصَّفِّ؟</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we must not use it, because it wastes time.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لَا يَجُوزُ أَنْ نَسْتَعْمِلَهُ، لِأَنَّهُ يُضَيِّعُ الوَقْتَ.</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وَلِأَنَّنِي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 / لِأَنَّهَا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your favourite subject?</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مَادَّتَكَ المُفَضَّلَةَ؟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أَلْبَسَ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you wear at school?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تَلْبَسَ فِي المَدْرَسَةِ؟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وَنَسْتَعْمِلُهَا كُلَّ يَوْمٍ</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maths important?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الرِّيَاضِيَّاتُ مُهِمَّةٌ؟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يَجُوزُ 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you not do in class?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يَجُوزُ أَنْ تَفْعَلَ فِي الصَّفِّ؟</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وَلِأَنَّ عَائِلَتِي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لِأَنَّنِي أُرِيدُ أَنْ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study Arabic?</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تَدْرُسُ العَرَبِيَّةَ؟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يُمْكِنُ أَنْ نَأْكُلَ فِي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لَا يَجُوزُ … / نَعَمْ، يُمْكِنُ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you eat in class?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تَأْكُلَ فِي الصَّفِّ؟</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F4-L05, even numbers from F4-L06.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Role-play card — the council interview</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المَجْلِسِ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يَجِبُ أَنْ نَلْبَسَ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uniform rule.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يَلْبَسَ الطُّلَّابُ؟</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with </a:t>
            </a:r>
            <a:pPr algn="l" indent="0" marL="0">
              <a:buNone/>
            </a:pPr>
            <a:r>
              <a:rPr lang="ar-SA" altLang="en-US" sz="1450" dirty="0">
                <a:solidFill>
                  <a:srgbClr val="5A6472"/>
                </a:solidFill>
                <a:latin typeface="Amiri" pitchFamily="2" charset="-78"/>
                <a:ea typeface="Amiri" pitchFamily="2" charset="-78"/>
                <a:cs typeface="Amiri" pitchFamily="2" charset="-78"/>
              </a:rPr>
              <a:t>لِأَنَّهُ</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لَا يَجُوزُ أَنْ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“must not” rule.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يَجُوزُ فِي المَقْصَفِ؟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 لِأَنَّ الصَّفَّ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and give a reason with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noun.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نَأْكُلَ فِي الصَّفِّ؟</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لِأَنَّنِي أُرِيدُ أَنْ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with </a:t>
            </a:r>
            <a:pPr algn="l" indent="0" marL="0">
              <a:buNone/>
            </a:pPr>
            <a:r>
              <a:rPr lang="ar-SA" altLang="en-US" sz="1450" dirty="0">
                <a:solidFill>
                  <a:srgbClr val="5A6472"/>
                </a:solidFill>
                <a:latin typeface="Amiri" pitchFamily="2" charset="-78"/>
                <a:ea typeface="Amiri" pitchFamily="2" charset="-78"/>
                <a:cs typeface="Amiri" pitchFamily="2" charset="-78"/>
              </a:rPr>
              <a:t>لِأَنَّنِي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أَنْ تَكُونَ فِي المَجْلِسِ؟</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council member · Partner A = the head teacher.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rules for a better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قَوَاعِدَ لِمَدْرَسَةٍ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as a council member: one thing students must do, one thing they must not do and one thing they may do — with a reason for each.</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يَجِبُ أَنْ … · لَا يَجُوزُ أَنْ … · يُمْكِنُ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reason for each rule: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all three reason forms (</a:t>
            </a:r>
            <a:pPr algn="l" indent="0" marL="0">
              <a:buNone/>
            </a:pPr>
            <a:r>
              <a:rPr lang="ar-SA" altLang="en-US" sz="1500" dirty="0">
                <a:solidFill>
                  <a:srgbClr val="1F2A37"/>
                </a:solidFill>
                <a:latin typeface="Amiri" pitchFamily="2" charset="-78"/>
                <a:ea typeface="Amiri" pitchFamily="2" charset="-78"/>
                <a:cs typeface="Amiri" pitchFamily="2" charset="-78"/>
              </a:rPr>
              <a:t>لِأَنَّهُ</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لِأَنَّنِي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 noun) and one imperative: </a:t>
            </a:r>
            <a:pPr algn="l" indent="0" marL="0">
              <a:buNone/>
            </a:pPr>
            <a:r>
              <a:rPr lang="ar-SA" altLang="en-US" sz="1500" dirty="0">
                <a:solidFill>
                  <a:srgbClr val="1F2A37"/>
                </a:solidFill>
                <a:latin typeface="Amiri" pitchFamily="2" charset="-78"/>
                <a:ea typeface="Amiri" pitchFamily="2" charset="-78"/>
                <a:cs typeface="Amiri" pitchFamily="2" charset="-78"/>
              </a:rPr>
              <a:t>احْتَرِمُوا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يَجِبُ أَنْ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must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لَا يَجُوزُ أَنْ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must not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يُمْكِنُ 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may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لِأَنَّهُ · لِأَنَّنِي · لِأَنَّ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it · because I · because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geography because it is interesting.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الجُغْرَافِيَا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الجُغْرَافِيَا هُوَ</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مُثِيرَةٌ لِلِاهْتِمَامِ.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مُثِيرٌ لِلِاهْتِمَامِ.</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respect the teachers.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يَجُوزُ</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نَحْتَرِمَ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نَحْتَرِمُ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المُعَلِّمِينَ.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study Arabic because I love the language.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العَرَبِيَّةَ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تَدْرُسُ العَرَبِيَّةَ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اللُّغَةَ.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اللُّغَةُ.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geography because it is interesting.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الجُغْرَافِيَا</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لِأَنَّهَا مُثِيرَةٌ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الجُغْرَافِيَا لِأَنَّهَا مُثِيرَةٌ لِلِاهْتِمَامِ.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respect the teachers.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Must = </a:t>
            </a:r>
            <a:pPr algn="l" indent="0" marL="0">
              <a:buNone/>
            </a:pPr>
            <a:r>
              <a:rPr lang="ar-SA" altLang="en-US" sz="1350" dirty="0">
                <a:solidFill>
                  <a:srgbClr val="5A6472"/>
                </a:solidFill>
                <a:latin typeface="Amiri" pitchFamily="2" charset="-78"/>
                <a:ea typeface="Amiri" pitchFamily="2" charset="-78"/>
                <a:cs typeface="Amiri" pitchFamily="2" charset="-78"/>
              </a:rPr>
              <a:t>يَجِبُ أَنْ</a:t>
            </a:r>
            <a:pPr algn="l" indent="0" marL="0">
              <a:buNone/>
            </a:pPr>
            <a:r>
              <a:rPr lang="en-US" sz="1050" i="1" dirty="0">
                <a:solidFill>
                  <a:srgbClr val="5A6472"/>
                </a:solidFill>
                <a:latin typeface="Calibri" pitchFamily="34" charset="0"/>
                <a:cs typeface="Amiri" pitchFamily="2" charset="-78"/>
              </a:rPr>
              <a:t> + verb ending in -a (</a:t>
            </a:r>
            <a:pPr algn="l" indent="0" marL="0">
              <a:buNone/>
            </a:pPr>
            <a:r>
              <a:rPr lang="ar-SA" altLang="en-US" sz="1350" dirty="0">
                <a:solidFill>
                  <a:srgbClr val="5A6472"/>
                </a:solidFill>
                <a:latin typeface="Amiri" pitchFamily="2" charset="-78"/>
                <a:ea typeface="Amiri" pitchFamily="2" charset="-78"/>
                <a:cs typeface="Amiri" pitchFamily="2" charset="-78"/>
              </a:rPr>
              <a:t>نَحْتَرِمَ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نَحْتَرِمَ المُعَلِّمِينَ.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study Arabic because I love the language.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 verb = </a:t>
            </a:r>
            <a:pPr algn="l" indent="0" marL="0">
              <a:buNone/>
            </a:pPr>
            <a:r>
              <a:rPr lang="ar-SA" altLang="en-US" sz="1350" dirty="0">
                <a:solidFill>
                  <a:srgbClr val="5A6472"/>
                </a:solidFill>
                <a:latin typeface="Amiri" pitchFamily="2" charset="-78"/>
                <a:ea typeface="Amiri" pitchFamily="2" charset="-78"/>
                <a:cs typeface="Amiri" pitchFamily="2" charset="-78"/>
              </a:rPr>
              <a:t>لِأَنَّنِي أُحِبُّ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أَدْرُسُ العَرَبِيَّةَ لِأَنَّنِي أُحِبُّ اللُّغَةَ.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الفَنَّ لِأَنَّهَا مُمْتِعَةٌ.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الفَنُّ</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نَلْبَسُ اللِّبَاسَ المَدْرَسِيَّ.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أَدْرُسُ كَثِيرًا لِأَنَّ أُرِيدُ النَّجَاحَ.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I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الفَنَّ لِأَنَّهَا مُمْتِعَةٌ.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الفَنَّ لِأَنَّهُ مُمْتِعٌ.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subject → </a:t>
            </a:r>
            <a:pPr algn="l" indent="0" marL="0">
              <a:buNone/>
            </a:pPr>
            <a:r>
              <a:rPr lang="ar-SA" altLang="en-US" sz="1500" b="1" dirty="0">
                <a:solidFill>
                  <a:srgbClr val="1B3B6F"/>
                </a:solidFill>
                <a:latin typeface="Amiri" pitchFamily="2" charset="-78"/>
                <a:ea typeface="Amiri" pitchFamily="2" charset="-78"/>
                <a:cs typeface="Amiri" pitchFamily="2" charset="-78"/>
              </a:rPr>
              <a:t>لِأَنَّهُ مُمْتِعٌ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نَلْبَسُ اللِّبَاسَ المَدْرَسِيَّ.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نَلْبَسَ اللِّبَاسَ المَدْرَسِيَّ.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أَدْرُسُ كَثِيرًا لِأَنَّ أُرِيدُ النَّجَاحَ.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أَدْرُسُ كَثِيرًا لِأَنَّنِي أُرِيدُ النَّجَاحَ.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a verb: </a:t>
            </a:r>
            <a:pPr algn="l" indent="0" marL="0">
              <a:buNone/>
            </a:pPr>
            <a:r>
              <a:rPr lang="ar-SA" altLang="en-US" sz="1500" b="1" dirty="0">
                <a:solidFill>
                  <a:srgbClr val="1B3B6F"/>
                </a:solidFill>
                <a:latin typeface="Amiri" pitchFamily="2" charset="-78"/>
                <a:ea typeface="Amiri" pitchFamily="2" charset="-78"/>
                <a:cs typeface="Amiri" pitchFamily="2" charset="-78"/>
              </a:rPr>
              <a:t>لِأَنَّنِي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نَقْتَرِحُ هٰذِهِ القَوَاعِدَ لِأَنَّنَا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suggest these rules because we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وَأَيْضًا يَجِبُ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also we must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(head teacher).</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______ لِأَنَّهُ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not … because it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may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 أَنْ  ·  لَا يَجُوزُ أَنْ  ·  يُمْكِنُ أَنْ  ·  نَصِلَ فِي الوَقْتِ  ·  نَحْتَرِمَ  ·  نَلْبَسَ  ·  لِأَنَّهُ · لِأَنَّهَا  ·  لِأَنَّنِي · لِأَنَّنَا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council proposal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اقْتِرَاحُ مَجْلِسِ الطُّلَّابِ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proposal (about 45–65 words) to the head teacher. Include: • a polite greeting • two things students must do • two things students must not do • one thing students may do • a reason for every rule, using at least three different reason forms • a polite closing.</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F4-L05 AND F4-L06.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 لِأَنَّهُ / لِأَنَّهَا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 because it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not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نَقْتَرِحُ هٰذِهِ القَوَاعِدَ لِأَنَّنَا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suggest these rules because we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“why” with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 every verb after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نَلْبَسَ اللِّبَاسَ المَدْرَسِيَّ كُلَّ يَوْمٍ.</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wear the school uniform every day.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يَجِبُ أَنْ يَلْبَسَ الطُّلَّابُ؟</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مُرَتَّبٌ وَعَمَلِيٌّ.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smart and practical.</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نَرْكُضَ فِي المَقْصَفِ.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not run in the canteen.</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لَا يَجُوزُ فِي المَقْصَفِ؟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لِأَنَّ الصَّفَّ يَجِبُ أَنْ يَكُونَ نَظِيفًا.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because the classroom must be clean.</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يُمْكِنُ أَنْ نَأْكُلَ فِي الصَّفِّ؟</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أُرِيدُ أَنْ أُسَاعِدَ زُمَلَائِي.</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want to help my classmates.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تُرِيدُ أَنْ تَكُونَ فِي المَجْلِسِ؟</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حَضْرَةَ المُدِيرِ. يَجِبُ أَنْ نَصِلَ فِي الوَقْتِ لِأَنَّ الحِصَّةَ الأُولَى مُهِمَّةٌ. وَيَجِبُ أَنْ نَحْتَرِمَ المُعَلِّمِينَ لِأَنَّهُمْ يُسَاعِدُونَنَا. لَا يَجُوزُ أَنْ نَسْتَعْمِلَ الهَاتِفَ فِي الصَّفِّ لِأَنَّهُ يُضَيِّعُ الوَقْتَ، وَلَا يَجُوزُ أَنْ نَأْكُلَ فِي المَكْتَبَةِ. يُمْكِنُ أَنْ نَقْرَأَ فِي الاِسْتِرَاحَةِ. نَقْتَرِحُ هٰذِهِ القَوَاعِدَ لِأَنَّنَا نُحِبُّ مَدْرَسَتَنَا. شُكْرًا جَزِيلًا.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Head Teacher. We must arrive on time because the first lesson is important. And we must respect the teachers because they help us. We must not use the phone in class because it wastes time, and we must not eat in the library. We may read at break time. We suggest these rules because we love our school.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نَصِلَ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لِأَنَّهُمْ يُسَاعِدُونَنَا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يَجُوزُ أَنْ نَسْتَعْمِلَ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لِأَنَّنَا نُحِبُّ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F4-W03 · Apply workshop (F4-L05 + F4-L06)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F4-L05 and F4-L06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F4-L07 · A Typical School Day — Narrating a Sequence</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يَوْمٌ مَدْرَسِيٌّ عَادِيٌّ — سَرْدُ التَّسَلْسُلِ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F4-W03 · Apply Workshop — The School Council Meeting</dc:title>
  <dc:subject>PptxGenJS Presentation</dc:subject>
  <dc:creator>Al Madina Online School · Arabic Department</dc:creator>
  <cp:lastModifiedBy>Al Madina Online School · Arabic Department</cp:lastModifiedBy>
  <cp:revision>1</cp:revision>
  <dcterms:created xsi:type="dcterms:W3CDTF">2026-10-26T15:03:58Z</dcterms:created>
  <dcterms:modified xsi:type="dcterms:W3CDTF">2026-10-26T15:03:58Z</dcterms:modified>
</cp:coreProperties>
</file>