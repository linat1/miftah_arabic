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F4-L09 · Learn F4-L10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F4-L09 (Extended Writing: My School) and F4-L10 (Listening and Speaking: School Conversations).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F4-L09 and F4-L10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F4-L09? After F4-L10?” Take two answers in the chat for each lesson (one word or one sentence is enough). Then read objective 3 — today’s new situation that needs BOTH lessons. Students tick their route goals at the end of the lesson.
F4-L09 language: email vs article format; three purposeful paragraphs (my school · my day and subjects · rules and opinion); connectors; topic sentences
F4-L10 language: repair phrases (lam afham · hal yumkinuka an tuʿīda …?); precise school questions (matā · ayna · kam · man); five-prompt role plays; -ka / -ki to the listener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F4-L09.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F4-L10.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F4-L09 and F4-L10. Teacher reads it once with a confident student; then pairs. Ask: “Which lines are from F4-L09? Which from F4-L10?” Precise questions and repair phrases come from F4-L10 (note -ki to a female teacher: هَلْ يُمْكِنُكِ أَنْ تُعِيدِي …؟). The facts collected become paragraph 2 of the F4-L09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precise questions, listening and repair phrases (F4-L10) to collect the facts for an email (F4-L09). SUPPORTED: the plan column gives the first words, not the full answer. To a girl Partner A says: هَلْ عِنْدَكِ سُؤَالٌ؟ · أَيُّ نَادٍ يُعْجِبُكِ؟ — and she says: آسِفَةٌ، لَمْ أَفْهَمْ.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F4-L09 and F4-L10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F4-L09 and F4-L10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(55 words). CHECK YOURSELF (2 min). Find each bullet point in the model, and one phrase from F4-L09 and one from F4-L10.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F4  ·  F4-L09 + F4-L10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F4-W05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Open Evening: Ask, Listen, Then Email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الأُمْسِيَةُ المَفْتُوحَةُ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school conversations with extended writing: at an open evening they ask precise questions about the school and a club, use repair phrases when they don’t understand, then write a three-paragraph email about the school to a pen-friend in Jordan.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F4-L09 + F4-L10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A1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F4 › F4-L10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F4-L09 and F4-L10.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F4-L09 + F4-L10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F4-L09: Extended Writing: My School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F4-L10: Listening and Speaking: School Conversations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asking a teacher at the open evening · An email to my pen-friend in Jordan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(‏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‏)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F4-L09 and F4-L10.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F4-L09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F4-L09 · Extended Writing: My School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named reader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 إِلِكْتُرُونِيَّةٌ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email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ri-sā-la i-lik-trū-niy-ya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article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عُنْوَانٌ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title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‘un-wān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both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مُقَدِّمَةٌ · خَاتِمَةٌ</a:t>
            </a:r>
            <a:endParaRPr lang="ar-SA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introduction · conclusion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mu-qad-di-ma · khā-ti-ma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</a:t>
            </a:r>
            <a:endParaRPr lang="ar-SA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· لِذٰلِكَ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· so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 · li-dhā-li-ka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60" name="Text 57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61" name="Text 5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F4-L10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F4-L10 · Listening and Speaking: School Conversations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speaker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 / آسِفَةٌ، لَمْ أَفْهَمْ.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Sorry, I didn’t understand. (m. / f. speaker)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ā-sif / ā-si-fa, lam af-ham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listener f.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يُمْكِنُكِ أَنْ تُعِيدِي ذَلِكَ؟</a:t>
            </a:r>
            <a:endParaRPr lang="ar-SA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Could you repeat that? (to a female)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hal yum-ki-nu-ki an tu-‘ī-dī dhā-lik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listener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فَضْلِكَ / مِنْ فَضْلِكِ</a:t>
            </a:r>
            <a:endParaRPr lang="ar-SA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please (to a male / female)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 faḍ-li-ka / faḍ-li-ki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مَتَى؟</a:t>
            </a:r>
            <a:endParaRPr lang="ar-SA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ma-tā?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كَمْ؟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many / how much?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kam?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3000" dirty="0"/>
          </a:p>
        </p:txBody>
      </p:sp>
      <p:sp>
        <p:nvSpPr>
          <p:cNvPr id="60" name="Text 57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with whom?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ma-ʿa man?</a:t>
            </a:r>
            <a:endParaRPr lang="en-US" sz="1350" dirty="0"/>
          </a:p>
        </p:txBody>
      </p:sp>
      <p:sp>
        <p:nvSpPr>
          <p:cNvPr id="61" name="Text 5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Speaking phrase or writing phrase?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أَفْهَمْ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بِبُطْءٍ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النِّهَايَةِ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سَامِي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تُعِيدَ ذٰلِكَ؟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فَهِمْتُ الآنَ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تَحِيَّاتِي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Writing an email · F4-L09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Repair in conversation · F4-L10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Writing an email · F4-L09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النِّهَايَةِ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سَامِي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تَحِيَّاتِي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Repair in conversation · F4-L10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أَفْهَمْ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بِبُطْءٍ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تُعِيدَ ذٰلِكَ؟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فَهِمْتُ الآنَ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At the open evening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الأُمْسِيَةِ المَفْتُوحَةِ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robotics club start?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يَبْدَأُ نَادِي الرُّوبُوتَاتِ؟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Wednesday, after school, at a quarter past three.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الأَرْبِعَاءِ، بَعْدَ المَدْرَسَةِ، فِي السَّاعَةِ الثَّالِثَةِ وَالرُّبْعِ.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I didn’t understand. Could you repeat that?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لَمْ أَفْهَمْ. هَلْ يُمْكِنُكِ أَنْ تُعِيدِي ذٰلِكَ؟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Of course: on Wednesday, at a quarter past three.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طَبْعًا: يَوْمَ الأَرْبِعَاءِ، فِي السَّاعَةِ الثَّالِثَةِ وَالرُّبْعِ.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you, I understand now. And where is the club? And how many students are in it?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فَهِمْتُ الآنَ. وَأَيْنَ النَّادِي؟ وَكَمْ طَالِبًا فِيهِ؟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science lab, and there are fifteen students in it.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مُخْتَبَرِ العُلُومِ، وَفِيهِ خَمْسَةَ عَشَرَ طَالِبًا.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فِيهَا … طَالِبٍ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أَدْرُسُ فِي … ، وَهِيَ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study? Describe it. (paragraph 1)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تَدْرُسُ؟ صِفْ مَدْرَسَتَكَ.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وَيَوْمَ الجُمُعَةِ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يَنْتَهِي فِي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school day end?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يَنْتَهِي اليَوْمُ المَدْرَسِيُّ؟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ثُمَّ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يَوْمِي فِي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school day like? (paragraph 2)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يَوْمُكَ فِي المَدْرَسَةِ؟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56648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مَكْتَبُ المُدِيرِ … بِجَانِبِ / أَمَامَ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the head’s office?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مَكْتَبُ المُدِيرِ؟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/ لِأَنَّهَا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Favourite subject and why? (paragraph 2)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 وَلِمَاذَا؟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وَ… طَالِبَةً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صَفِّي … طَالِبًا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students are in your class?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صَفِّكَ؟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F4-L09, even numbers from F4-L10.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 — asking a teacher at the open evening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أَسْأَلُ المُعَلِّمَ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سُؤَالٌ ← مَتَى يَبْدَأُ … وَمَتَى يَنْتَهِي؟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the school day starts and ends.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عِنْدَكَ سُؤَالٌ؟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أَفْهَمْ ← آسِفٌ … تَكَلَّمْ بِبُطْءٍ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didn’t catch it — use a repair phrase.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الثَّامِنَةِ وَالنِّصْفِ، وَيَنْتَهِي فِي الثَّالِثَةِ وَالرُّبْعِ.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فِي صَفِّي … طَالِبًا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the question back and comment on the answer.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الصَّفِّ؟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← نَادِي … · أَيْنَ؟ · مَتَى؟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 club and ask where and when.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نَادٍ يُعْجِبُكَ؟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← مُعَلِّمِي المُفَضَّلُ … لِأَنَّهُ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with a reason.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مُعَلِّمُكَ المُفَضَّلُ فِي مَدْرَسَتِكَ الآنَ؟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visiting student · Partner A = a teacher at the open evening. Read the plan for 1 minute, then hide it and speak. Task ! is a surprise.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What I found out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عَرَفْتُ؟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30–45 seconds and report what you found out at the open evening: when the day starts and ends, how many students are in a class, one club (day, time, place) and your opinion of the school.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اليَوْمُ فِي … · النَّادِي يَوْمَ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the place and number: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فِيهِ … طَالِبًا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your opinion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and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اليَوْمُ المَدْرَسِيُّ فِي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school day starts at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النَّادِي يَوْمَ … فِي السَّاعَةِ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club is on … at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أُرِيدُ أَنْ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want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school is big, and in addition it has a swimming pool.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كَبِيرَةٌ،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كَبِيرٌ،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وَبِالإِضَافَةِ إِلَى ذٰلِكَ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وَلِأَنَّ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فِيهَا مَسْبَحٌ.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فِيهِ مَسْبَحٌ.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Sorry, I didn’t understand. (a girl speaking)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آسِفَةٌ،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أَفْهَمْ.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فَهِمْتُ.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day starts at eight, then I have maths.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يَوْمِي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تَبْدَأُ يَوْمِي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الثَّامِنَةِ،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ثَمَانِيَةٍ،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عِنْدِي رِيَاضِيَّاتٌ.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 عِنْدَهُ رِيَاضِيَّاتٌ.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school is big, and in addition it has a swimming pool.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School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كَبِيرَةٌ … فِيهَا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in addition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كَبِيرَةٌ، وَبِالإِضَافَةِ إِلَى ذٰلِكَ فِيهَا مَسْبَحٌ.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Sorry, I didn’t understand. (a girl speaking)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girl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didn’t understand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أَفْهَمْ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آسِفَةٌ، لَمْ أَفْهَمْ.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day starts at eight, then I have maths.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(m.)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the time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الثَّامِنَةِ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يَوْمِي فِي الثَّامِنَةِ، ثُمَّ عِنْدِي رِيَاضِيَّاتٌ.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أَدْرُسُ فِي مَدْرَسَةِ …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closing at the end — An email needs …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تُعِيدَ يَا مُعَلِّمَةُ؟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teacher is a woman.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مَدْرَسَتِي لِأَنَّهُ كَبِيرٌ.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مَدْرَسَةٌ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feminine.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مَرْحَبًا! أَدْرُسُ فِي مَدْرَسَةِ …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مَعَ السَّلَامَةِ، سَلْمَى.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An email needs a greeting AND a closing + signature.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يُمْكِنُكَ أَنْ تُعِيدَ يَا مُعَلِّمَةُ؟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يُمْكِنُكِ أَنْ تُعِيدِي يَا مُعَلِّمَةُ؟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 a woman: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يُمْكِنُكِ … تُعِيدِي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مَدْرَسَتِي لِأَنَّهُ كَبِيرٌ.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مَدْرَسَتِي لِأَنَّهَا كَبِيرَةٌ.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Feminine →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كَبِيرَةٌ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ذٰلِكَ،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In addition,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المَدْرَسَةُ ______ ، لِذٰلِكَ ______ .</a:t>
            </a:r>
            <a:endParaRPr lang="ar-SA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In my opinion the school is …, so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 / وَأَنْتِ، مَا نَادِيكَ / نَادِيكِ المُفَضَّلُ؟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And you, what is your favourite club?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/ عَزِيزَتِي ______ ،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Dear …,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مَدْرَسَةَ ______ ، وَهِيَ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I visited … school, and it is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اليَوْمُ فِي ______ ، وَيَنْتَهِي فِي ______ .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The day starts at … and ends at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نَادِي ______ يَوْمَ ______ فِي السَّاعَةِ ______ .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The … club is on … at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تَحِيَّاتِي، ______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With my greetings, (name)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· عَزِيزَتِي  ·  زُرْتُ  ·  يَبْدَأُ · يَنْتَهِي  ·  نَادِي …  ·  فِي السَّاعَةِ …  ·  بِالإِضَافَةِ إِلَى ذٰلِكَ  ·  لِذٰلِكَ · لِأَنَّ  ·  مَعَ تَحِيَّاتِي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50–70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An email to my pen-friend in Jordan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 إِلَى صَدِيقِي فِي الأُرْدُنِّ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an email (about 50–70 words) in three paragraphs, using the facts you collected today. Paragraph 1: greeting + the school you visited. Paragraph 2: the school day and one club (day, time, place, number of students). Paragraph 3: your opinion with a reason, and a closing. Use at least four connectors.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F4-L09 AND F4-L10.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and one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… / عَزِيزَتِي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dear … (m. / f.)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مَدْرَسَةَ … ، وَهِيَ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… school, and it is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اليَوْمُ فِي … ، وَيَنْتَهِي فِي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day starts at … and ends at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 · لِذٰلِكَ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 · so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three paragraphs with a greeting and a closing?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exact question word (when → time, where → place …)?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فَضْلِكَ: مَتَى يَبْدَأُ اليَوْمُ المَدْرَسِيُّ، وَمَتَى يَنْتَهِي؟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please: when does the school day start, and when does it end?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هَلْ عِنْدَكَ سُؤَالٌ؟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لَمْ أَفْهَمْ. تَكَلَّمْ بِبُطْءٍ، مِنْ فَضْلِكَ.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I didn’t understand. Speak slowly, please.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فِي الثَّامِنَةِ وَالنِّصْفِ، وَيَنْتَهِي فِي الثَّالِثَةِ وَالرُّبْعِ.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صَفِّي الآنَ خَمْسَةٌ وَعِشْرُونَ طَالِبًا. وَفِي صَفِّكُمْ؟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class now there are twenty-five students. And in your class?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طَالِبًا فِي الصَّفِّ؟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نَادِي الكُتُبِ يُعْجِبُنِي. أَيْنَ هُوَ، وَمَتَى؟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the book club. Where is it, and when?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نَادٍ يُعْجِبُكَ؟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مُعَلِّمَتِي المُفَضَّلَةُ مُعَلِّمَةُ العُلُومِ لِأَنَّهَا وَاضِحَةٌ وَلَطِيفَةٌ.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teacher is the science teacher because she is clear and kind.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مُعَلِّمُكَ المُفَضَّلُ فِي مَدْرَسَتِكَ الآنَ؟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عَزِيزِي سَامِي،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السَّلَامُ عَلَيْكُمْ! زُرْتُ أَمْسِ مَدْرَسَةَ النُّورِ، وَهِيَ كَبِيرَةٌ وَجَمِيلَةٌ.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يَبْدَأُ اليَوْمُ فِي السَّاعَةِ الثَّامِنَةِ وَالنِّصْفِ، وَيَنْتَهِي فِي الثَّالِثَةِ وَالرُّبْعِ. بِالإِضَافَةِ إِلَى ذٰلِكَ، فِيهَا نَادِي رُوبُوتَاتٍ يَوْمَ الأَرْبِعَاءِ فِي مُخْتَبَرِ العُلُومِ، وَفِيهِ خَمْسَةَ عَشَرَ طَالِبًا.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المَدْرَسَةُ مُمْتَازَةٌ لِأَنَّ المُعَلِّمِينَ لُطَفَاءُ، لِذٰلِكَ أُرِيدُ أَنْ أَدْرُسَ فِيهَا. وَأَنْتَ، مَا نَادِيكَ المُفَضَّلُ؟</a:t>
            </a:r>
            <a:endParaRPr lang="ar-SA" sz="19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9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تَحِيَّاتِي، آدَمُ</a:t>
            </a:r>
            <a:endParaRPr lang="ar-SA" sz="19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“Dear Sami, peace be upon you! Yesterday I visited Al-Nour School, and it is big and beautiful. / The day starts at half past eight and ends at a quarter past three. In addition, it has a robotics club on Wednesday in the science lab, with fifteen students. / In my opinion the school is excellent because the teachers are kind, so I want to study there. And you, what is your favourite club? With my greetings, Adam”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أَمْسِ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خَمْسَةَ عَشَرَ طَالِبًا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أُرِيدُ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F4 · My School · F4-W05 · Apply workshop (F4-L09 + F4-L10)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F4-L09 and F4-L10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(‏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F4-W05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F4-L11 · Speaking and Writing About School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التَّحَدُّثُ وَالكِتَابَةُ عَنِ المَدْرَسَةِ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F4-W05 · Apply Workshop — Open Evening: Ask, Listen, Then Email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2026-10-26T15:47:36Z</dcterms:created>
  <dcterms:modified xsi:type="dcterms:W3CDTF">2026-10-26T15:47:36Z</dcterms:modified>
</cp:coreProperties>
</file>