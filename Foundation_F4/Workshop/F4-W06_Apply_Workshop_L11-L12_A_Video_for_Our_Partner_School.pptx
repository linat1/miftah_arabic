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F4-L11 · Learn F4-L12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F4-L11 (Speaking and Writing About School) and F4-L12 (Review and Unit Assessment: School Life).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F4-L11 and F4-L12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F4-L11? After F4-L12?” Take two answers in the chat for each lesson (one word or one sentence is enough). Then read objective 3 — today’s new situation that needs BOTH lessons. Students tick their route goals at the end of the lesson.
F4-L11 language: the whole F4 system in one talk and one paragraph: subjects + reasons, times, objects, rules (yajibu / lā yajūzu), sequence; connectors thumma · ayḍan · lākinna · min al-ḍarūriyyi an · fī al-nihāya
F4-L12 language: all of F4: subjects + li-annahu / li-annahā; days and clock times; classroom objects (hādhā / hādhihi, ʿindī / laysa ʿindī); preferences; yajibu an / lā yajūzu an; sequencing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F4-L11 and F4-L12. Teacher reads it once with a confident student; then pairs. Ask: “Which lines are from F4-L11? Which from F4-L12?” The sequence and connectors (أَوَّلًا · ثُمَّ · بَعْدَ ذٰلِكَ · فِي النِّهَايَةِ · مِنَ الضَّرُورِيِّ أَنْ) come from F4-L11; the content revises the whole unit as in F4-L12.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whole F4 system (F4-L12 review) in a connected spoken answer with sequence and connectors (F4-L11). SUPPORTED: the plan column gives the first words, not the full answer. To a girl Partner A says: أَيُّهُمَا تُفَضِّلِينَ؟ · مَاذَا فِي حَقِيبَتِكِ؟ · صِفِي يَوْمَكِ.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F4-L11 and F4-L12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F4-L11 and F4-L12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(51 words). CHECK YOURSELF (2 min). Find each bullet point in the model, and one phrase from F4-L11 and one from F4-L12.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F4-L11 + F4-L12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Video for Our Partner School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فِيدْيُو لِمَدْرَسَتِنَا الشَّقِيقَةِ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all of F4 for one real purpose: a partner school in Jordan wants to know about school life in Britain, so students plan, rehearse and present a short video script — subjects and reasons, the timetable, the bag, rules and a typical day — then write it up as a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F4-L11 + F4-L12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F4-L11 and F4-L12.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F4-L11 + F4-L12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F4-L11: Speaking and Writing About School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F4-L12: Review and Unit Assessment: School Life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partner school asks · Our video script, written up</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F4-L11 and F4-L12.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F4-L11 · Speaking and Writing About School</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sequence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 / بَعْدَ 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 after that</a:t>
            </a:r>
            <a:endParaRPr lang="en-US" sz="1350" dirty="0"/>
          </a:p>
          <a:p>
            <a:pPr indent="0" marL="0">
              <a:buNone/>
            </a:pPr>
            <a:r>
              <a:rPr lang="en-US" sz="1100" i="1" dirty="0">
                <a:solidFill>
                  <a:srgbClr val="5A6472"/>
                </a:solidFill>
                <a:latin typeface="Calibri" pitchFamily="34" charset="0"/>
                <a:cs typeface="Amiri" pitchFamily="2" charset="-78"/>
              </a:rPr>
              <a:t>thum-ma / ba‘-da dhā-lik</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contrast</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 (+ noun)</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rule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الضَّرُورِيِّ أَنْ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that …</a:t>
            </a:r>
            <a:endParaRPr lang="en-US" sz="1350" dirty="0"/>
          </a:p>
          <a:p>
            <a:pPr indent="0" marL="0">
              <a:buNone/>
            </a:pPr>
            <a:r>
              <a:rPr lang="en-US" sz="1100" i="1" dirty="0">
                <a:solidFill>
                  <a:srgbClr val="5A6472"/>
                </a:solidFill>
                <a:latin typeface="Calibri" pitchFamily="34" charset="0"/>
                <a:cs typeface="Amiri" pitchFamily="2" charset="-78"/>
              </a:rPr>
              <a:t>mi-na ḍ-ḍa-rū-riy-yi an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أَدْرُسُ</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study</a:t>
            </a:r>
            <a:endParaRPr lang="en-US" sz="1350" dirty="0"/>
          </a:p>
          <a:p>
            <a:pPr indent="0" marL="0">
              <a:buNone/>
            </a:pPr>
            <a:r>
              <a:rPr lang="en-US" sz="1100" i="1" dirty="0">
                <a:solidFill>
                  <a:srgbClr val="5A6472"/>
                </a:solidFill>
                <a:latin typeface="Calibri" pitchFamily="34" charset="0"/>
                <a:cs typeface="Amiri" pitchFamily="2" charset="-78"/>
              </a:rPr>
              <a:t>ad-ru-su</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must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7" name="Shape 5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 حِصَصٌ</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lesson · lessons</a:t>
            </a:r>
            <a:endParaRPr lang="en-US" sz="1350" dirty="0"/>
          </a:p>
          <a:p>
            <a:pPr indent="0" marL="0">
              <a:buNone/>
            </a:pPr>
            <a:r>
              <a:rPr lang="en-US" sz="1100" i="1" dirty="0">
                <a:solidFill>
                  <a:srgbClr val="5A6472"/>
                </a:solidFill>
                <a:latin typeface="Calibri" pitchFamily="34" charset="0"/>
                <a:cs typeface="Amiri" pitchFamily="2" charset="-78"/>
              </a:rPr>
              <a:t>ḥiṣ-ṣa-tun · ḥi-ṣa-ṣun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F4-L12 · Review and Unit Assessment: School Life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الرِّيَاضِيَّاتُ · العُلُومُ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maths · science</a:t>
            </a:r>
            <a:endParaRPr lang="en-US" sz="1350" dirty="0"/>
          </a:p>
          <a:p>
            <a:pPr indent="0" marL="0">
              <a:buNone/>
            </a:pPr>
            <a:r>
              <a:rPr lang="en-US" sz="1100" i="1" dirty="0">
                <a:solidFill>
                  <a:srgbClr val="5A6472"/>
                </a:solidFill>
                <a:latin typeface="Calibri" pitchFamily="34" charset="0"/>
                <a:cs typeface="Amiri" pitchFamily="2" charset="-78"/>
              </a:rPr>
              <a:t>ar-ri-yā-ḍiy-yā-tu · al-ʿu-lū-mu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 · مُمْتِعٌ</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useful · enjoyable</a:t>
            </a:r>
            <a:endParaRPr lang="en-US" sz="1350" dirty="0"/>
          </a:p>
          <a:p>
            <a:pPr indent="0" marL="0">
              <a:buNone/>
            </a:pPr>
            <a:r>
              <a:rPr lang="en-US" sz="1100" i="1" dirty="0">
                <a:solidFill>
                  <a:srgbClr val="5A6472"/>
                </a:solidFill>
                <a:latin typeface="Calibri" pitchFamily="34" charset="0"/>
                <a:cs typeface="Amiri" pitchFamily="2" charset="-78"/>
              </a:rPr>
              <a:t>mu-fī-dun · mum-ti-ʿun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a:t>
            </a:r>
            <a:endParaRPr lang="en-US" sz="1350" dirty="0"/>
          </a:p>
          <a:p>
            <a:pPr indent="0" marL="0">
              <a:buNone/>
            </a:pPr>
            <a:r>
              <a:rPr lang="en-US" sz="1100" i="1" dirty="0">
                <a:solidFill>
                  <a:srgbClr val="5A6472"/>
                </a:solidFill>
                <a:latin typeface="Calibri" pitchFamily="34" charset="0"/>
                <a:cs typeface="Amiri" pitchFamily="2" charset="-78"/>
              </a:rPr>
              <a:t>u-faḍ-ḍi-lu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الإِثْنَيْنِ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Monday</a:t>
            </a:r>
            <a:endParaRPr lang="en-US" sz="1350" dirty="0"/>
          </a:p>
          <a:p>
            <a:pPr indent="0" marL="0">
              <a:buNone/>
            </a:pPr>
            <a:r>
              <a:rPr lang="en-US" sz="1100" i="1" dirty="0">
                <a:solidFill>
                  <a:srgbClr val="5A6472"/>
                </a:solidFill>
                <a:latin typeface="Calibri" pitchFamily="34" charset="0"/>
                <a:cs typeface="Amiri" pitchFamily="2" charset="-78"/>
              </a:rPr>
              <a:t>yaw-ma al-ith-nay-ni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lesson</a:t>
            </a:r>
            <a:endParaRPr lang="en-US" sz="1350" dirty="0"/>
          </a:p>
          <a:p>
            <a:pPr indent="0" marL="0">
              <a:buNone/>
            </a:pPr>
            <a:r>
              <a:rPr lang="en-US" sz="1100" i="1" dirty="0">
                <a:solidFill>
                  <a:srgbClr val="5A6472"/>
                </a:solidFill>
                <a:latin typeface="Calibri" pitchFamily="34" charset="0"/>
                <a:cs typeface="Amiri" pitchFamily="2" charset="-78"/>
              </a:rPr>
              <a:t>ḥiṣ-ṣa-tun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يَجُوزُ أَنْ</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must not</a:t>
            </a:r>
            <a:endParaRPr lang="en-US" sz="1350" dirty="0"/>
          </a:p>
          <a:p>
            <a:pPr indent="0" marL="0">
              <a:buNone/>
            </a:pPr>
            <a:r>
              <a:rPr lang="en-US" sz="1100" i="1" dirty="0">
                <a:solidFill>
                  <a:srgbClr val="5A6472"/>
                </a:solidFill>
                <a:latin typeface="Calibri" pitchFamily="34" charset="0"/>
                <a:cs typeface="Amiri" pitchFamily="2" charset="-78"/>
              </a:rPr>
              <a:t>lā ya-jū-zu an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Subjects and opinions, or times and rules?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العُلُومَ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الثَّامِنَةِ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الإِثْنَيْنِ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الفَنُّ مُمْتِعٌ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مُفِيدَةٌ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نَصِلَ مُبَكِّرًا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نَأْكُلَ فِي الصَّفِّ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التَّارِيخُ مُمِلٌّ قَلِيلًا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Subjects and opinions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Times, days and rules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Subjects and opinions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العُلُومَ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الفَنُّ مُمْتِعٌ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مُفِيدَةٌ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التَّارِيخُ مُمِلٌّ قَلِيلًا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Times, days and rules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الثَّامِنَةِ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الإِثْنَيْنِ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نَصِلَ مُبَكِّرًا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نَأْكُلَ فِي الصَّفِّ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Planning the video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نُخَطِّطُ لِلْفِيدْيُو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we say first?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نَقُولُ أَوَّلًا؟</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we say: school starts at half past eight and ends at three.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أَوَّلًا نَقُولُ: تَبْدَأُ المَدْرَسَةُ فِي الثَّامِنَةِ وَالنِّصْفِ، وَتَنْتَهِي فِي الثَّالِثَةِ.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Then the subjects. I like history because it is enjoyable.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ثُمَّ المَوَادُّ. أَنَا أُحِبُّ التَّارِيخَ لِأَنَّهُ مُمْتِعٌ.</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 prefer science to history because it is practical.</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وَأَنَا أُفَضِّلُ العُلُومَ عَلَى التَّارِيخِ لِأَنَّهَا عَمَلِيَّةٌ.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after that, the rules: we must wear the school uniform.</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وَبَعْدَ ذٰلِكَ القَوَاعِدُ: يَجِبُ أَنْ نَلْبَسَ اللِّبَاسَ المَدْرَسِيَّ.</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finally: it is important that we respect everyone!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وَفِي النِّهَايَةِ: مِنَ الضَّرُورِيِّ أَنْ نَحْتَرِمَ الجَمِيعَ!</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وَأَيْضًا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مَادَّتِي المُفَضَّلَةُ … لِأَنَّهُ / لِأَنَّهَا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subject? Why?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مَادَّتُكَ المُفَضَّلَةُ؟ لِمَاذَا؟</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وَالحِصَّةُ الأُولَى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يَوْمَ الأَرْبِعَاءِ أَدْرُسُ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study on Wednesday?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تَدْرُسُ يَوْمَ الأَرْبِعَاءِ؟</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أَعُودُ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تَبْدَأُ فِي … وَتَنْتَهِي فِي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school start and end?</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تَبْدَأُ المَدْرَسَةُ وَمَتَى تَنْتَهِي؟</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 لِأَنَّهُ / لِأَنَّهَا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do you prefer: science or history?</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العُلُومَ أَمِ التَّارِيخَ؟</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لَيْسَ عِنْدِي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حَقِيبَتِي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bag today?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فِي حَقِيبَتِكَ اليَوْمَ؟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وَلَيْسَ عِنْدِي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حَقِيبَتِي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bag?</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فِي حَقِيبَتِكَ؟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F4-L11, even numbers from F4-L12.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the partner school asks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تَسْأَلُ المَدْرَسَةُ الشَّقِيقَةُ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تَبْدَأُ فِي … وَتَنْتَهِي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two times.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تَبْدَأُ مَدْرَسَتُكُمْ وَمَتَى تَنْتَهِي؟</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 أُفَضِّلُ … عَلَى … لِأَنَّهُ / لِأَنَّهَا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 one and give a reason that agrees.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الرِّيَاضِيَّاتِ أَمِ الفَنَّ؟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فِي حَقِيبَتِي … ، لٰكِنْ لَيْسَ عِنْدِي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four things, and one you don’t have.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فِي حَقِيبَتِكَ اليَوْمَ؟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يَجِبُ أَنْ … · لَا يَجُوزُ أَنْ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“must” and one “must not”.</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القَوَاعِدُ فِي مَدْرَسَتِكُمْ؟</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 أَوَّلًا … ثُمَّ … وَفِي النِّهَايَةِ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steps with connectors.</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يَوْمَكَ المَدْرَسِيَّ بِثَلَاثِ جُمَلٍ.</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student in Britain · Partner A = a student in Jordan.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video: school life in Britain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الحَيَاةُ المَدْرَسِيَّةُ فِي بِرِيطَانِيَا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Present your part of the video for 30–45 seconds without stopping: when school starts and ends, two subjects with reasons, what is in your bag, one rule, and your opinion of your school. Your partner times you and checks the connectors.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تَبْدَأُ المَدْرَسَةُ فِي … · أُحِبُّ … لِأَنَّهُ / لِأَنَّهَا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rule (</a:t>
            </a:r>
            <a:pPr algn="l" indent="0" marL="0">
              <a:buNone/>
            </a:pPr>
            <a:r>
              <a:rPr lang="ar-SA" altLang="en-US" sz="1500" dirty="0">
                <a:solidFill>
                  <a:srgbClr val="1F2A37"/>
                </a:solidFill>
                <a:latin typeface="Amiri" pitchFamily="2" charset="-78"/>
                <a:ea typeface="Amiri" pitchFamily="2" charset="-78"/>
                <a:cs typeface="Amiri" pitchFamily="2" charset="-78"/>
              </a:rPr>
              <a:t>يَجِبُ أَنْ</a:t>
            </a:r>
            <a:pPr algn="l" indent="0" marL="0">
              <a:buNone/>
            </a:pPr>
            <a:r>
              <a:rPr lang="en-US" sz="1150" dirty="0">
                <a:solidFill>
                  <a:srgbClr val="1F2A37"/>
                </a:solidFill>
                <a:latin typeface="Calibri" pitchFamily="34" charset="0"/>
                <a:cs typeface="Amiri" pitchFamily="2" charset="-78"/>
              </a:rPr>
              <a:t> …) and three connectors.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أُفَضِّلُ … عَلَى</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مِنَ الضَّرُورِيِّ أَنْ</a:t>
            </a:r>
            <a:pPr algn="l" indent="0" marL="0">
              <a:buNone/>
            </a:pPr>
            <a:r>
              <a:rPr lang="en-US" sz="1150" dirty="0">
                <a:solidFill>
                  <a:srgbClr val="1F2A37"/>
                </a:solidFill>
                <a:latin typeface="Calibri" pitchFamily="34" charset="0"/>
                <a:cs typeface="Amiri" pitchFamily="2" charset="-78"/>
              </a:rPr>
              <a:t> … — speak without notes.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 فِي النِّهَايَةِ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finally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أُفَضِّلُ … عَلَى … لِأَنَّ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prefer … to … because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يَجِبُ أَنْ … · لَا يَجُوزُ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must … · we must not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الضَّرُورِيِّ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important that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 is important that we listen to the teacher.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الضَّرُورِيِّ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الضَّرُورِيُّ مِنْ</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نَسْتَمِعَ</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نَسْتَمِعُ</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المُعَلِّمِ.</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 إِلَى.</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On Thursday the first lesson is Arabic.</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الخَمِيسِ</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الخَمِيسُ</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الحِصَّةُ الأُولَى</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الحِصَّةُ الأَوَّلُ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لُغَةٌ عَرَبِيَّةٌ.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لُغَةٌ عَرَبِيٌّ.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study Arabic, and I also study French.</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أَدْرُسُ العَرَبِيَّةَ،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يَدْرُسُ العَرَبِيَّةَ،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وَأَدْرُسُ الفَرَنْسِيَّةَ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وَأَدْرُسُ فَرَنْسَا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أَيْضًا.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 is important that we listen to the teacher.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مِنَ الضَّرُورِيِّ أَنْ</a:t>
            </a:r>
            <a:pPr algn="l" indent="0" marL="0">
              <a:buNone/>
            </a:pPr>
            <a:r>
              <a:rPr lang="en-US" sz="1050" i="1" dirty="0">
                <a:solidFill>
                  <a:srgbClr val="5A6472"/>
                </a:solidFill>
                <a:latin typeface="Calibri" pitchFamily="34" charset="0"/>
                <a:cs typeface="Amiri" pitchFamily="2" charset="-78"/>
              </a:rPr>
              <a:t> + verb in -a; listen TO = </a:t>
            </a:r>
            <a:pPr algn="l" indent="0" marL="0">
              <a:buNone/>
            </a:pPr>
            <a:r>
              <a:rPr lang="ar-SA" altLang="en-US" sz="1350" dirty="0">
                <a:solidFill>
                  <a:srgbClr val="5A6472"/>
                </a:solidFill>
                <a:latin typeface="Amiri" pitchFamily="2" charset="-78"/>
                <a:ea typeface="Amiri" pitchFamily="2" charset="-78"/>
                <a:cs typeface="Amiri" pitchFamily="2" charset="-78"/>
              </a:rPr>
              <a:t>إِلَى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مِنَ الضَّرُورِيِّ أَنْ نَسْتَمِعَ إِلَى المُعَلِّمِ.</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On Thursday the first lesson is Arabic.</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Thursday = </a:t>
            </a:r>
            <a:pPr algn="l" indent="0" marL="0">
              <a:buNone/>
            </a:pPr>
            <a:r>
              <a:rPr lang="ar-SA" altLang="en-US" sz="1350" dirty="0">
                <a:solidFill>
                  <a:srgbClr val="5A6472"/>
                </a:solidFill>
                <a:latin typeface="Amiri" pitchFamily="2" charset="-78"/>
                <a:ea typeface="Amiri" pitchFamily="2" charset="-78"/>
                <a:cs typeface="Amiri" pitchFamily="2" charset="-78"/>
              </a:rPr>
              <a:t>يَوْمَ الخَمِيسِ</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حِصَّةٌ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الأُولَى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يَوْمَ الخَمِيسِ الحِصَّةُ الأُولَى لُغَةٌ عَرَبِيَّةٌ.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study Arabic, and I also study French.</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 </a:t>
            </a:r>
            <a:pPr algn="l" indent="0" marL="0">
              <a:buNone/>
            </a:pPr>
            <a:r>
              <a:rPr lang="ar-SA" altLang="en-US" sz="1350" dirty="0">
                <a:solidFill>
                  <a:srgbClr val="5A6472"/>
                </a:solidFill>
                <a:latin typeface="Amiri" pitchFamily="2" charset="-78"/>
                <a:ea typeface="Amiri" pitchFamily="2" charset="-78"/>
                <a:cs typeface="Amiri" pitchFamily="2" charset="-78"/>
              </a:rPr>
              <a:t>أَدْرُسُ</a:t>
            </a:r>
            <a:pPr algn="l" indent="0" marL="0">
              <a:buNone/>
            </a:pPr>
            <a:r>
              <a:rPr lang="en-US" sz="1050" i="1" dirty="0">
                <a:solidFill>
                  <a:srgbClr val="5A6472"/>
                </a:solidFill>
                <a:latin typeface="Calibri" pitchFamily="34" charset="0"/>
                <a:cs typeface="Amiri" pitchFamily="2" charset="-78"/>
              </a:rPr>
              <a:t>; also = </a:t>
            </a:r>
            <a:pPr algn="l" indent="0" marL="0">
              <a:buNone/>
            </a:pPr>
            <a:r>
              <a:rPr lang="ar-SA" altLang="en-US" sz="1350" dirty="0">
                <a:solidFill>
                  <a:srgbClr val="5A6472"/>
                </a:solidFill>
                <a:latin typeface="Amiri" pitchFamily="2" charset="-78"/>
                <a:ea typeface="Amiri" pitchFamily="2" charset="-78"/>
                <a:cs typeface="Amiri" pitchFamily="2" charset="-78"/>
              </a:rPr>
              <a:t>أَيْضًا</a:t>
            </a:r>
            <a:pPr algn="l" indent="0" marL="0">
              <a:buNone/>
            </a:pPr>
            <a:r>
              <a:rPr lang="en-US" sz="1050" i="1" dirty="0">
                <a:solidFill>
                  <a:srgbClr val="5A6472"/>
                </a:solidFill>
                <a:latin typeface="Calibri" pitchFamily="34" charset="0"/>
                <a:cs typeface="Amiri" pitchFamily="2" charset="-78"/>
              </a:rPr>
              <a:t> at the end.</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أَدْرُسُ العَرَبِيَّةَ، وَأَدْرُسُ الفَرَنْسِيَّةَ أَيْضًا.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وَلٰكِنَّ المَدْرَسَةُ كَبِيرَةٌ.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لٰكِنَّ</a:t>
            </a:r>
            <a:pPr algn="l" indent="0" marL="0">
              <a:buNone/>
            </a:pPr>
            <a:r>
              <a:rPr lang="en-US" sz="1300" i="1" dirty="0">
                <a:solidFill>
                  <a:srgbClr val="5A6472"/>
                </a:solidFill>
                <a:latin typeface="Calibri" pitchFamily="34" charset="0"/>
                <a:cs typeface="Amiri" pitchFamily="2" charset="-78"/>
              </a:rPr>
              <a:t> the noun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مِقْلَمَتِي.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مِقْلَمَةٌ</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ثُمَّ ثُمَّ ثُمَّ …</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Vary your connectors.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وَلٰكِنَّ المَدْرَسَةُ كَبِيرَةٌ.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وَلٰكِنَّ المَدْرَسَةَ كَبِيرَةٌ.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لٰكِنَّ</a:t>
            </a:r>
            <a:pPr algn="l" indent="0" marL="0">
              <a:buNone/>
            </a:pPr>
            <a:r>
              <a:rPr lang="en-US" sz="1150" b="1" dirty="0">
                <a:solidFill>
                  <a:srgbClr val="1B3B6F"/>
                </a:solidFill>
                <a:latin typeface="Calibri" pitchFamily="34" charset="0"/>
                <a:cs typeface="Amiri" pitchFamily="2" charset="-78"/>
              </a:rPr>
              <a:t> + noun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مِقْلَمَتِي.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مِقْلَمَتِي.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ثُمَّ ثُمَّ ثُمَّ …</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أَوَّلًا … ثُمَّ … بَعْدَ ذٰلِكَ … فِي النِّهَايَةِ …</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Varied connectors make a stronger talk and text.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لٰكِنِّي لَا أُحِبُّ ______ لِأَنَّهُ / لِأَنَّهَا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 don’t like … because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فِي رَأْيِي مَدْرَسَتِي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in my opinion my school is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مِنْ بِرِيطَانِيَا! اسْمِي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from Britain! My name is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تَبْدَأُ المَدْرَسَةُ فِي ______ ، وَتَنْتَهِي فِي ______ .</a:t>
            </a:r>
            <a:endParaRPr lang="ar-SA" sz="15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starts at … and ends 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 / لِأَنَّهَا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is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______ وَ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 and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 وَلَا يَجُوزُ 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 and we must not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تَبْدَأُ · تَنْتَهِي  ·  فِي السَّاعَةِ …  ·  مُمْتِعٌ · مُفِيدٌ  ·  صَعْبٌ · مُمِلٌّ  ·  لِأَنَّهُ · لِأَنَّهَا  ·  يَجِبُ أَنْ · لَا يَجُوزُ أَنْ  ·  أَوَّلًا · ثُمَّ  ·  فِي النِّهَايَةِ</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50–70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video script, written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الفِيدْيُو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your video script as one connected paragraph (about 50–70 words) for the partner school. Include: • when school starts and ends • two subjects: one you love, one you don’t, with reasons that agree • what is in your bag • one “must” and one “must not” rule • your opinion of your school. Use at least four connectors.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F4-L11 AND F4-L12.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تَبْدَأُ المَدْرَسَةُ فِي … وَتَنْتَهِي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school starts at … and ends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أُحِبُّ … لِأَنَّهُ / لِأَنَّهَا … ، لٰكِنِّي لَا أُحِبُّ …</a:t>
            </a:r>
            <a:endParaRPr lang="ar-SA" sz="17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 because it …, but I don’t like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 · لَا يَجُوزُ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 · we must not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مَدْرَسَتِي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my school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6–8 connected sentences covering every bullet?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the agreements right (</a:t>
            </a:r>
            <a:pPr algn="l" indent="0" marL="0">
              <a:buNone/>
            </a:pPr>
            <a:r>
              <a:rPr lang="ar-SA" altLang="en-US" sz="1450" dirty="0">
                <a:solidFill>
                  <a:srgbClr val="5A6472"/>
                </a:solidFill>
                <a:latin typeface="Amiri" pitchFamily="2" charset="-78"/>
                <a:ea typeface="Amiri" pitchFamily="2" charset="-78"/>
                <a:cs typeface="Amiri" pitchFamily="2" charset="-78"/>
              </a:rPr>
              <a:t>لِأَنَّهُ / لِأَنَّهَا</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هٰذَا / هٰذِهِ</a:t>
            </a:r>
            <a:pPr algn="l" indent="0" marL="0">
              <a:buNone/>
            </a:pPr>
            <a:r>
              <a:rPr lang="en-US" sz="1100" dirty="0">
                <a:solidFill>
                  <a:srgbClr val="5A6472"/>
                </a:solidFill>
                <a:latin typeface="Calibri" pitchFamily="34" charset="0"/>
                <a:cs typeface="Amiri" pitchFamily="2" charset="-78"/>
              </a:rPr>
              <a:t> · times)?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تَبْدَأُ فِي السَّاعَةِ الثَّامِنَةِ وَالرُّبْعِ، وَتَنْتَهِي فِي السَّاعَةِ الثَّالِثَةِ.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starts at a quarter past eight and ends at three o’clock.</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تَبْدَأُ مَدْرَسَتُكُمْ وَمَتَى تَنْتَهِي؟</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الفَنَّ عَلَى الرِّيَاضِيَّاتِ لِأَنَّهُ إِبْدَاعِيٌّ وَمُمْتِعٌ.</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art to maths because it is creative and enjoyable.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تُفَضِّلُ: الرِّيَاضِيَّاتِ أَمِ الفَنَّ؟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حَقِيبَتِي دَفْتَرَانِ وَكِتَابٌ وَمِقْلَمَةٌ وَمَاءٌ، لٰكِنْ لَيْسَ عِنْدِي قَامُوسٌ.</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my bag there are two notebooks, a book, a pencil case and water, but I don’t have a dictionary.</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فِي حَقِيبَتِكَ اليَوْمَ؟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نَصِلَ فِي الوَقْتِ، وَلَا يَجُوزُ أَنْ نَسْتَعْمِلَ الهَاتِفَ.</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arrive on time, and we must not use the phone.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القَوَاعِدُ فِي مَدْرَسَتِكُمْ؟</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أَصِلُ إِلَى المَدْرَسَةِ، ثُمَّ أَدْرُسُ أَرْبَعَ حِصَصٍ، وَفِي النِّهَايَةِ أَلْعَبُ فِي المَلْعَبِ.</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I arrive at school, then I study four lessons, and finally I play in the playground.</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يَوْمَكَ المَدْرَسِيَّ بِثَلَاثِ جُمَلٍ.</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مِنْ بِرِيطَانِيَا! اسْمِي يَاسِمِينُ. تَبْدَأُ مَدْرَسَتِي فِي السَّاعَةِ الثَّامِنَةِ وَالنِّصْفِ، وَتَنْتَهِي فِي الثَّالِثَةِ. أُحِبُّ العُلُومَ كَثِيرًا لِأَنَّهَا عَمَلِيَّةٌ وَمُمْتِعَةٌ، لٰكِنِّي لَا أُحِبُّ التَّارِيخَ لِأَنَّهُ صَعْبٌ. فِي حَقِيبَتِي كِتَابَانِ وَدَفْتَرٌ وَمِقْلَمَةٌ. يَجِبُ أَنْ نَلْبَسَ اللِّبَاسَ المَدْرَسِيَّ، وَلَا يَجُوزُ أَنْ نَأْكُلَ فِي الصَّفِّ. فِي النِّهَايَةِ، فِي رَأْيِي مَدْرَسَتِي مُمْتَازَةٌ لِأَنَّ المُعَلِّمِينَ لُطَفَاءُ.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from Britain! My name is Yasmin. My school starts at half past eight and ends at three. I like science a lot because it is practical and enjoyable, but I don’t like history because it is difficult. In my bag there are two books, a notebook and a pencil case. We must wear the school uniform, and we must not eat in class. Finally, in my opinion my school is excellent because the teachers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عَمَلِيَّةٌ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لٰكِنِّي لَا أُحِبُّ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نَلْبَسَ</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النِّهَايَةِ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F4-L11 and F4-L12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F4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F4-W06 · Apply Workshop — A Video for Our Partner School</dc:title>
  <dc:subject>PptxGenJS Presentation</dc:subject>
  <dc:creator>Al Madina Online School · Arabic Department</dc:creator>
  <cp:lastModifiedBy>Al Madina Online School · Arabic Department</cp:lastModifiedBy>
  <cp:revision>1</cp:revision>
  <dcterms:created xsi:type="dcterms:W3CDTF">2026-10-26T15:04:35Z</dcterms:created>
  <dcterms:modified xsi:type="dcterms:W3CDTF">2026-10-26T15:04:35Z</dcterms:modified>
</cp:coreProperties>
</file>